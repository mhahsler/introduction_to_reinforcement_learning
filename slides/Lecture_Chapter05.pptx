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68" r:id="rId5"/>
    <p:sldId id="403" r:id="rId6"/>
    <p:sldId id="482" r:id="rId7"/>
    <p:sldId id="382" r:id="rId8"/>
    <p:sldId id="385" r:id="rId9"/>
    <p:sldId id="387" r:id="rId10"/>
    <p:sldId id="391" r:id="rId11"/>
    <p:sldId id="386" r:id="rId12"/>
    <p:sldId id="485" r:id="rId13"/>
    <p:sldId id="388" r:id="rId14"/>
    <p:sldId id="486" r:id="rId15"/>
    <p:sldId id="390" r:id="rId16"/>
    <p:sldId id="481" r:id="rId17"/>
    <p:sldId id="394" r:id="rId18"/>
    <p:sldId id="392" r:id="rId19"/>
    <p:sldId id="393" r:id="rId20"/>
    <p:sldId id="480" r:id="rId21"/>
    <p:sldId id="404" r:id="rId22"/>
    <p:sldId id="484" r:id="rId23"/>
    <p:sldId id="483" r:id="rId24"/>
    <p:sldId id="396" r:id="rId25"/>
    <p:sldId id="397" r:id="rId26"/>
    <p:sldId id="399" r:id="rId27"/>
    <p:sldId id="398" r:id="rId28"/>
    <p:sldId id="405" r:id="rId29"/>
    <p:sldId id="400" r:id="rId30"/>
    <p:sldId id="401" r:id="rId31"/>
    <p:sldId id="40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nte carlo" id="{83286E67-F0F0-421C-8F74-7B93ABA17FBF}">
          <p14:sldIdLst>
            <p14:sldId id="256"/>
            <p14:sldId id="313"/>
            <p14:sldId id="478"/>
          </p14:sldIdLst>
        </p14:section>
        <p14:section name="Introduction" id="{2482C7AA-3485-41BD-83FB-6BA5452DCE27}">
          <p14:sldIdLst>
            <p14:sldId id="368"/>
          </p14:sldIdLst>
        </p14:section>
        <p14:section name="On-Policy Prediction" id="{C91BF2B2-F859-471B-849F-927606614870}">
          <p14:sldIdLst>
            <p14:sldId id="403"/>
            <p14:sldId id="482"/>
            <p14:sldId id="382"/>
          </p14:sldIdLst>
        </p14:section>
        <p14:section name="MC Control" id="{9082A117-CBDB-4A41-BA4A-590A11BC768B}">
          <p14:sldIdLst>
            <p14:sldId id="385"/>
            <p14:sldId id="387"/>
            <p14:sldId id="391"/>
            <p14:sldId id="386"/>
            <p14:sldId id="485"/>
            <p14:sldId id="388"/>
            <p14:sldId id="486"/>
            <p14:sldId id="390"/>
          </p14:sldIdLst>
        </p14:section>
        <p14:section name="On-Policy Control" id="{A03E4B76-6E41-4A94-9A11-DF9EDD4B8C64}">
          <p14:sldIdLst>
            <p14:sldId id="481"/>
            <p14:sldId id="394"/>
            <p14:sldId id="392"/>
            <p14:sldId id="393"/>
            <p14:sldId id="480"/>
          </p14:sldIdLst>
        </p14:section>
        <p14:section name="Off-policy Prediciton" id="{51E355B1-9A61-41B1-AD67-E45726DBD2A6}">
          <p14:sldIdLst>
            <p14:sldId id="404"/>
            <p14:sldId id="484"/>
            <p14:sldId id="483"/>
            <p14:sldId id="396"/>
            <p14:sldId id="397"/>
            <p14:sldId id="399"/>
            <p14:sldId id="398"/>
          </p14:sldIdLst>
        </p14:section>
        <p14:section name="Off-policy Control" id="{3F7EB257-6FD7-4E3A-86D7-23A72E6862AC}">
          <p14:sldIdLst>
            <p14:sldId id="405"/>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lumMod val="80000"/>
            </a:schemeClr>
          </a:solidFill>
        </a:fill>
      </a:tcStyle>
    </a:lastCol>
    <a:firstCol>
      <a:tcTxStyle b="on">
        <a:fontRef idx="minor">
          <a:prstClr val="black"/>
        </a:fontRef>
        <a:schemeClr val="lt1"/>
      </a:tcTxStyle>
      <a:tcStyle>
        <a:tcBdr/>
        <a:fill>
          <a:solidFill>
            <a:schemeClr val="accent6">
              <a:lumMod val="80000"/>
            </a:schemeClr>
          </a:solidFill>
        </a:fill>
      </a:tcStyle>
    </a:firstCol>
    <a:lastRow>
      <a:tcTxStyle b="on">
        <a:fontRef idx="minor">
          <a:prstClr val="black"/>
        </a:fontRef>
        <a:schemeClr val="lt1"/>
      </a:tcTxStyle>
      <a:tcStyle>
        <a:tcBdr>
          <a:top>
            <a:ln w="38100" cmpd="sng">
              <a:solidFill>
                <a:schemeClr val="lt1"/>
              </a:solidFill>
            </a:ln>
          </a:top>
        </a:tcBdr>
        <a:fill>
          <a:solidFill>
            <a:schemeClr val="accent6">
              <a:lumMod val="80000"/>
            </a:schemeClr>
          </a:solidFill>
        </a:fill>
      </a:tcStyle>
    </a:lastRow>
    <a:firstRow>
      <a:tcTxStyle b="on">
        <a:fontRef idx="minor">
          <a:prstClr val="black"/>
        </a:fontRef>
        <a:schemeClr val="lt1"/>
      </a:tcTxStyle>
      <a:tcStyle>
        <a:tcBdr>
          <a:bottom>
            <a:ln w="38100" cmpd="sng">
              <a:solidFill>
                <a:schemeClr val="lt1"/>
              </a:solidFill>
            </a:ln>
          </a:bottom>
        </a:tcBdr>
        <a:fill>
          <a:solidFill>
            <a:schemeClr val="accent6">
              <a:lumMod val="8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59" autoAdjust="0"/>
    <p:restoredTop sz="94653"/>
  </p:normalViewPr>
  <p:slideViewPr>
    <p:cSldViewPr snapToGrid="0">
      <p:cViewPr varScale="1">
        <p:scale>
          <a:sx n="114" d="100"/>
          <a:sy n="114" d="100"/>
        </p:scale>
        <p:origin x="130" y="11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10/25/2026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png"/><Relationship Id="rId7" Type="http://schemas.openxmlformats.org/officeDocument/2006/relationships/image" Target="../media/image80.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81.png"/><Relationship Id="rId4" Type="http://schemas.openxmlformats.org/officeDocument/2006/relationships/image" Target="../media/image9.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0.png"/><Relationship Id="rId7"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34.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Monte Carlo Methods</a:t>
            </a:r>
            <a:br>
              <a:rPr lang="en-US" sz="4000" dirty="0">
                <a:solidFill>
                  <a:schemeClr val="bg1"/>
                </a:solidFill>
              </a:rPr>
            </a:br>
            <a:r>
              <a:rPr lang="en-US" sz="2800" dirty="0">
                <a:solidFill>
                  <a:schemeClr val="bg1"/>
                </a:solidFill>
              </a:rPr>
              <a:t>Sutton/Barto*</a:t>
            </a:r>
            <a:r>
              <a:rPr lang="en-US" sz="2700" dirty="0">
                <a:solidFill>
                  <a:schemeClr val="bg1"/>
                </a:solidFill>
              </a:rPr>
              <a:t> Chapter 5</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7" name="Picture 6">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23656"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6" name="Group 5">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b="1"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E431-EDDE-8F36-4640-902EF247D5D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0F0BC304-9F53-1D52-E987-0090E50732AE}"/>
              </a:ext>
            </a:extLst>
          </p:cNvPr>
          <p:cNvSpPr>
            <a:spLocks noGrp="1"/>
          </p:cNvSpPr>
          <p:nvPr>
            <p:ph idx="1"/>
          </p:nvPr>
        </p:nvSpPr>
        <p:spPr>
          <a:xfrm>
            <a:off x="838200" y="1410346"/>
            <a:ext cx="7740408" cy="4440264"/>
          </a:xfrm>
        </p:spPr>
        <p:txBody>
          <a:bodyPr>
            <a:normAutofit fontScale="70000" lnSpcReduction="20000"/>
          </a:bodyPr>
          <a:lstStyle/>
          <a:p>
            <a:r>
              <a:rPr lang="en-US" b="1" dirty="0"/>
              <a:t>Model-free method</a:t>
            </a:r>
            <a:r>
              <a:rPr lang="en-US" dirty="0"/>
              <a:t>: </a:t>
            </a:r>
          </a:p>
          <a:p>
            <a:pPr lvl="1"/>
            <a:r>
              <a:rPr lang="en-US" dirty="0"/>
              <a:t>We do not assume knowledge of the environment model (the MDP). </a:t>
            </a:r>
          </a:p>
          <a:p>
            <a:pPr lvl="1"/>
            <a:r>
              <a:rPr lang="en-US" dirty="0"/>
              <a:t>We use “experience” = </a:t>
            </a:r>
            <a:r>
              <a:rPr lang="en-US" b="1" dirty="0"/>
              <a:t>sample sequences </a:t>
            </a:r>
            <a:r>
              <a:rPr lang="en-US" dirty="0"/>
              <a:t>of states, actions, and rewards from actual or simulated interactions with the environment.</a:t>
            </a:r>
          </a:p>
          <a:p>
            <a:r>
              <a:rPr lang="en-US" b="1" dirty="0"/>
              <a:t>Remember from AI</a:t>
            </a:r>
            <a:r>
              <a:rPr lang="en-US" dirty="0"/>
              <a:t>: model-free means the agent faces an unknown, fully observable, possibly stochastic environment.</a:t>
            </a:r>
          </a:p>
          <a:p>
            <a:r>
              <a:rPr lang="en-US" b="1" dirty="0"/>
              <a:t>Advantages</a:t>
            </a:r>
            <a:r>
              <a:rPr lang="en-US" dirty="0"/>
              <a:t>: </a:t>
            </a:r>
          </a:p>
          <a:p>
            <a:pPr lvl="1"/>
            <a:r>
              <a:rPr lang="en-US" dirty="0"/>
              <a:t>We often have </a:t>
            </a:r>
            <a:r>
              <a:rPr lang="en-US" b="1" dirty="0"/>
              <a:t>sample access </a:t>
            </a:r>
            <a:r>
              <a:rPr lang="en-US" dirty="0"/>
              <a:t>to systems. </a:t>
            </a:r>
          </a:p>
          <a:p>
            <a:pPr lvl="1"/>
            <a:r>
              <a:rPr lang="en-US" dirty="0"/>
              <a:t>It is easier to simulate transitions than to specify the complete MDP.</a:t>
            </a:r>
          </a:p>
          <a:p>
            <a:endParaRPr lang="en-US" dirty="0"/>
          </a:p>
          <a:p>
            <a:r>
              <a:rPr lang="en-US" b="1" dirty="0"/>
              <a:t>Monte Carlo (MC) methods </a:t>
            </a:r>
            <a:r>
              <a:rPr lang="en-US" dirty="0"/>
              <a:t>are a family of algorithms that rely on repeated random sampling to obtain numerical results (see example to the right).</a:t>
            </a:r>
          </a:p>
          <a:p>
            <a:endParaRPr lang="en-US" dirty="0"/>
          </a:p>
          <a:p>
            <a:r>
              <a:rPr lang="en-US" b="1" dirty="0"/>
              <a:t>Idea</a:t>
            </a:r>
            <a:r>
              <a:rPr lang="en-US" dirty="0"/>
              <a:t>: Use MC to sample sequences from the environment and use them to estimate the value function.</a:t>
            </a:r>
          </a:p>
          <a:p>
            <a:endParaRPr lang="en-US" b="1" dirty="0"/>
          </a:p>
          <a:p>
            <a:pPr lvl="1"/>
            <a:endParaRPr lang="en-US" sz="1400" dirty="0"/>
          </a:p>
        </p:txBody>
      </p:sp>
      <p:pic>
        <p:nvPicPr>
          <p:cNvPr id="1026" name="Picture 2" descr="Monte Carlo estimate of pi: a quarter circle of radius 1 inside the unit square, with counters r = 0 (red, points inside the circle), b = 0 (blue, points outside) and n = r + b = 0. The formula below reads pi over 4 ≈ r over n, so pi ≈ 4 r over n, which equals 4 times 0 over 0, a question mark, because no points have been sampled yet.">
            <a:extLst>
              <a:ext uri="{FF2B5EF4-FFF2-40B4-BE49-F238E27FC236}">
                <a16:creationId xmlns:a16="http://schemas.microsoft.com/office/drawing/2014/main" id="{2E5BBE28-6746-AC67-4CA0-832813EC39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19447" y="1706406"/>
            <a:ext cx="3143250" cy="37147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C250BAF-41C6-59F7-4096-81676F51238E}"/>
              </a:ext>
            </a:extLst>
          </p:cNvPr>
          <p:cNvSpPr txBox="1"/>
          <p:nvPr/>
        </p:nvSpPr>
        <p:spPr>
          <a:xfrm>
            <a:off x="8785832" y="5530632"/>
            <a:ext cx="3143250" cy="646331"/>
          </a:xfrm>
          <a:prstGeom prst="rect">
            <a:avLst/>
          </a:prstGeom>
          <a:noFill/>
        </p:spPr>
        <p:txBody>
          <a:bodyPr wrap="square" rtlCol="0">
            <a:spAutoFit/>
          </a:bodyPr>
          <a:lstStyle/>
          <a:p>
            <a:pPr algn="ctr"/>
            <a:r>
              <a:rPr lang="en-US" sz="1200" dirty="0"/>
              <a:t>Monte Carlo method applied to approximating the value of π</a:t>
            </a:r>
            <a:br>
              <a:rPr lang="en-US" sz="1200" dirty="0"/>
            </a:br>
            <a:r>
              <a:rPr lang="en-US" sz="1200" dirty="0"/>
              <a:t>Source: Wikipedia</a:t>
            </a:r>
          </a:p>
        </p:txBody>
      </p:sp>
      <p:sp>
        <p:nvSpPr>
          <p:cNvPr id="5" name="Speech Bubble: Rectangle with Corners Rounded 4">
            <a:extLst>
              <a:ext uri="{FF2B5EF4-FFF2-40B4-BE49-F238E27FC236}">
                <a16:creationId xmlns:a16="http://schemas.microsoft.com/office/drawing/2014/main" id="{C3A7A3DE-08D7-B48D-7AF1-83E3C0372968}"/>
              </a:ext>
              <a:ext uri="{C183D7F6-B498-43B3-948B-1728B52AA6E4}">
                <adec:decorative xmlns:adec="http://schemas.microsoft.com/office/drawing/2017/decorative" val="1"/>
              </a:ext>
            </a:extLst>
          </p:cNvPr>
          <p:cNvSpPr/>
          <p:nvPr/>
        </p:nvSpPr>
        <p:spPr>
          <a:xfrm>
            <a:off x="9550866" y="681036"/>
            <a:ext cx="1992385" cy="669591"/>
          </a:xfrm>
          <a:prstGeom prst="wedgeRoundRectCallout">
            <a:avLst>
              <a:gd name="adj1" fmla="val -29465"/>
              <a:gd name="adj2" fmla="val 18516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The number of randomly sampled points is proportional to the area.</a:t>
            </a:r>
          </a:p>
        </p:txBody>
      </p:sp>
    </p:spTree>
    <p:extLst>
      <p:ext uri="{BB962C8B-B14F-4D97-AF65-F5344CB8AC3E}">
        <p14:creationId xmlns:p14="http://schemas.microsoft.com/office/powerpoint/2010/main" val="143394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69BE52-795C-043C-CCA6-287BC2A4DDE5}"/>
              </a:ext>
            </a:extLst>
          </p:cNvPr>
          <p:cNvSpPr>
            <a:spLocks noGrp="1"/>
          </p:cNvSpPr>
          <p:nvPr>
            <p:ph type="title"/>
          </p:nvPr>
        </p:nvSpPr>
        <p:spPr/>
        <p:txBody>
          <a:bodyPr/>
          <a:lstStyle/>
          <a:p>
            <a:r>
              <a:rPr lang="en-US" dirty="0"/>
              <a:t>Monte Carlo Prediction</a:t>
            </a:r>
          </a:p>
        </p:txBody>
      </p:sp>
      <p:sp>
        <p:nvSpPr>
          <p:cNvPr id="5" name="Text Placeholder 4">
            <a:extLst>
              <a:ext uri="{FF2B5EF4-FFF2-40B4-BE49-F238E27FC236}">
                <a16:creationId xmlns:a16="http://schemas.microsoft.com/office/drawing/2014/main" id="{DA589223-75A8-17BF-92B9-9328E92A3F4C}"/>
              </a:ext>
            </a:extLst>
          </p:cNvPr>
          <p:cNvSpPr>
            <a:spLocks noGrp="1"/>
          </p:cNvSpPr>
          <p:nvPr>
            <p:ph type="body" idx="1"/>
          </p:nvPr>
        </p:nvSpPr>
        <p:spPr/>
        <p:txBody>
          <a:bodyPr/>
          <a:lstStyle/>
          <a:p>
            <a:r>
              <a:rPr lang="en-US" dirty="0"/>
              <a:t>Estimate state values by sampling with a given policy.</a:t>
            </a:r>
          </a:p>
        </p:txBody>
      </p:sp>
    </p:spTree>
    <p:extLst>
      <p:ext uri="{BB962C8B-B14F-4D97-AF65-F5344CB8AC3E}">
        <p14:creationId xmlns:p14="http://schemas.microsoft.com/office/powerpoint/2010/main" val="3542963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8304-5614-6981-E0C5-60E8EDCDF0BA}"/>
              </a:ext>
            </a:extLst>
          </p:cNvPr>
          <p:cNvSpPr>
            <a:spLocks noGrp="1"/>
          </p:cNvSpPr>
          <p:nvPr>
            <p:ph type="title"/>
          </p:nvPr>
        </p:nvSpPr>
        <p:spPr/>
        <p:txBody>
          <a:bodyPr/>
          <a:lstStyle/>
          <a:p>
            <a:r>
              <a:rPr lang="en-US" dirty="0"/>
              <a:t>MC Value Function Approximation</a:t>
            </a:r>
          </a:p>
        </p:txBody>
      </p:sp>
      <mc:AlternateContent xmlns:mc="http://schemas.openxmlformats.org/markup-compatibility/2006" xmlns:a14="http://schemas.microsoft.com/office/drawing/2010/main">
        <mc:Choice Requires="a14">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p:cNvSpPr>
              <p:nvPr>
                <p:ph idx="1"/>
              </p:nvPr>
            </p:nvSpPr>
            <p:spPr>
              <a:xfrm>
                <a:off x="838200" y="1397330"/>
                <a:ext cx="10515600" cy="4941477"/>
              </a:xfrm>
            </p:spPr>
            <p:txBody>
              <a:bodyPr>
                <a:normAutofit fontScale="62500" lnSpcReduction="20000"/>
              </a:bodyPr>
              <a:lstStyle/>
              <a:p>
                <a:r>
                  <a:rPr lang="en-US" dirty="0"/>
                  <a:t>Use the sample-average method to approximate the expectation in:</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br>
                  <a:rPr lang="en-US" i="1" dirty="0">
                    <a:latin typeface="Cambria Math" panose="02040503050406030204" pitchFamily="18" charset="0"/>
                  </a:rPr>
                </a:br>
                <a:br>
                  <a:rPr lang="en-US" i="1" dirty="0">
                    <a:latin typeface="Cambria Math" panose="02040503050406030204" pitchFamily="18" charset="0"/>
                  </a:rPr>
                </a:br>
                <a:endParaRPr lang="en-US" i="1" dirty="0">
                  <a:latin typeface="Cambria Math" panose="02040503050406030204" pitchFamily="18" charset="0"/>
                </a:endParaRPr>
              </a:p>
              <a:p>
                <a:r>
                  <a:rPr lang="en-US" b="1" dirty="0"/>
                  <a:t>Convergence</a:t>
                </a:r>
                <a:r>
                  <a:rPr lang="en-US" dirty="0"/>
                  <a:t>: The average return of many sampled sequences (called episodes or trajectories) starting at </a:t>
                </a:r>
                <a14:m>
                  <m:oMath xmlns:m="http://schemas.openxmlformats.org/officeDocument/2006/math">
                    <m:r>
                      <a:rPr lang="en-US" i="1">
                        <a:latin typeface="Cambria Math" panose="02040503050406030204" pitchFamily="18" charset="0"/>
                      </a:rPr>
                      <m:t>𝑠</m:t>
                    </m:r>
                  </m:oMath>
                </a14:m>
                <a:r>
                  <a:rPr lang="en-US" dirty="0"/>
                  <a:t> and following </a:t>
                </a:r>
                <a14:m>
                  <m:oMath xmlns:m="http://schemas.openxmlformats.org/officeDocument/2006/math">
                    <m:r>
                      <a:rPr lang="en-US" i="1">
                        <a:latin typeface="Cambria Math" panose="02040503050406030204" pitchFamily="18" charset="0"/>
                      </a:rPr>
                      <m:t>𝜋</m:t>
                    </m:r>
                    <m:r>
                      <a:rPr lang="en-US">
                        <a:latin typeface="Cambria Math" panose="02040503050406030204" pitchFamily="18" charset="0"/>
                      </a:rPr>
                      <m:t> </m:t>
                    </m:r>
                  </m:oMath>
                </a14:m>
                <a:r>
                  <a:rPr lang="en-US" dirty="0"/>
                  <a:t>converges to the true expectation as the number of samples increases.</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𝑛</m:t>
                              </m:r>
                              <m:r>
                                <a:rPr lang="en-US" i="1">
                                  <a:latin typeface="Cambria Math" panose="02040503050406030204" pitchFamily="18" charset="0"/>
                                </a:rPr>
                                <m:t>→∞</m:t>
                              </m:r>
                            </m:lim>
                          </m:limLow>
                        </m:fName>
                        <m:e>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𝑛</m:t>
                              </m:r>
                            </m:den>
                          </m:f>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𝜋</m:t>
                                  </m:r>
                                </m:sub>
                              </m:sSub>
                            </m:e>
                          </m:nary>
                        </m:e>
                      </m:func>
                    </m:oMath>
                  </m:oMathPara>
                </a14:m>
                <a:endParaRPr lang="en-US" dirty="0"/>
              </a:p>
              <a:p>
                <a:pPr marL="0" indent="0">
                  <a:buNone/>
                </a:pPr>
                <a:endParaRPr lang="en-US" b="1" dirty="0"/>
              </a:p>
              <a:p>
                <a:r>
                  <a:rPr lang="en-US" b="1" dirty="0"/>
                  <a:t>Properties</a:t>
                </a:r>
                <a:r>
                  <a:rPr lang="en-US" dirty="0"/>
                  <a:t>:</a:t>
                </a:r>
              </a:p>
              <a:p>
                <a:pPr lvl="1"/>
                <a:r>
                  <a:rPr lang="en-US" sz="2600" b="1" dirty="0"/>
                  <a:t>High Variance</a:t>
                </a:r>
                <a:r>
                  <a:rPr lang="en-US" sz="2600" dirty="0"/>
                  <a:t>: Sampling a single episode return has</a:t>
                </a:r>
                <a:r>
                  <a:rPr lang="en-US" sz="2600" b="1" dirty="0"/>
                  <a:t> </a:t>
                </a:r>
                <a:r>
                  <a:rPr lang="en-US" sz="2600" dirty="0"/>
                  <a:t>high variance since it contains the randomness over the whole sampled episode. Averaging over many sampled returns reduces variance.</a:t>
                </a:r>
              </a:p>
              <a:p>
                <a:pPr lvl="1"/>
                <a:r>
                  <a:rPr lang="en-US" sz="2600" b="1" dirty="0"/>
                  <a:t>Unbiased</a:t>
                </a:r>
                <a:r>
                  <a:rPr lang="en-US" sz="2600" dirty="0"/>
                  <a:t>: The sample-average method provides an unbiased estimate (is on average correct) and thus converges for large </a:t>
                </a:r>
                <a14:m>
                  <m:oMath xmlns:m="http://schemas.openxmlformats.org/officeDocument/2006/math">
                    <m:r>
                      <a:rPr lang="en-US" sz="2600" i="1">
                        <a:latin typeface="Cambria Math" panose="02040503050406030204" pitchFamily="18" charset="0"/>
                      </a:rPr>
                      <m:t>𝑛</m:t>
                    </m:r>
                  </m:oMath>
                </a14:m>
                <a:r>
                  <a:rPr lang="en-US" sz="2600" dirty="0"/>
                  <a:t>.</a:t>
                </a:r>
              </a:p>
              <a:p>
                <a:pPr lvl="1"/>
                <a:r>
                  <a:rPr lang="en-US" sz="2600" b="1" dirty="0"/>
                  <a:t>Not a true online method</a:t>
                </a:r>
                <a:r>
                  <a:rPr lang="en-US" sz="2600" dirty="0"/>
                  <a:t>: This methods needs to sample whole episodes before any calculation can be done. It is not a true step-by-step online method!</a:t>
                </a:r>
              </a:p>
            </p:txBody>
          </p:sp>
        </mc:Choice>
        <mc:Fallback xmlns="">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noRot="1" noChangeAspect="1" noMove="1" noResize="1" noEditPoints="1" noAdjustHandles="1" noChangeArrowheads="1" noChangeShapeType="1" noTextEdit="1"/>
              </p:cNvSpPr>
              <p:nvPr>
                <p:ph idx="1"/>
              </p:nvPr>
            </p:nvSpPr>
            <p:spPr>
              <a:xfrm>
                <a:off x="838200" y="1397330"/>
                <a:ext cx="10515600" cy="4941477"/>
              </a:xfrm>
              <a:blipFill>
                <a:blip r:embed="rId2"/>
                <a:stretch>
                  <a:fillRect l="-406" t="-1850" r="-522"/>
                </a:stretch>
              </a:blipFill>
            </p:spPr>
            <p:txBody>
              <a:bodyPr/>
              <a:lstStyle/>
              <a:p>
                <a:r>
                  <a:rPr lang="en-US">
                    <a:noFill/>
                  </a:rPr>
                  <a:t> </a:t>
                </a:r>
              </a:p>
            </p:txBody>
          </p:sp>
        </mc:Fallback>
      </mc:AlternateContent>
    </p:spTree>
    <p:extLst>
      <p:ext uri="{BB962C8B-B14F-4D97-AF65-F5344CB8AC3E}">
        <p14:creationId xmlns:p14="http://schemas.microsoft.com/office/powerpoint/2010/main" val="3404744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p:cNvSpPr>
              <p:nvPr>
                <p:ph type="title"/>
              </p:nvPr>
            </p:nvSpPr>
            <p:spPr/>
            <p:txBody>
              <a:bodyPr>
                <a:normAutofit/>
              </a:bodyPr>
              <a:lstStyle/>
              <a:p>
                <a:r>
                  <a:rPr lang="en-US" dirty="0"/>
                  <a:t>MC Prediction: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 given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8BAB409-1629-3E3D-C6F3-95E5076FBBF9}"/>
                  </a:ext>
                </a:extLst>
              </p:cNvPr>
              <p:cNvSpPr>
                <a:spLocks noGrp="1"/>
              </p:cNvSpPr>
              <p:nvPr>
                <p:ph idx="1"/>
              </p:nvPr>
            </p:nvSpPr>
            <p:spPr>
              <a:xfrm>
                <a:off x="838200" y="1124198"/>
                <a:ext cx="7808892" cy="1720144"/>
              </a:xfrm>
            </p:spPr>
            <p:txBody>
              <a:bodyPr>
                <a:normAutofit fontScale="70000" lnSpcReduction="20000"/>
              </a:bodyPr>
              <a:lstStyle/>
              <a:p>
                <a:r>
                  <a:rPr lang="en-US" b="1" dirty="0"/>
                  <a:t>Idea: </a:t>
                </a:r>
                <a:r>
                  <a:rPr lang="en-US" dirty="0"/>
                  <a:t>We can update all state values along the episode.</a:t>
                </a:r>
                <a:endParaRPr lang="en-US" b="1" dirty="0"/>
              </a:p>
              <a:p>
                <a:r>
                  <a:rPr lang="en-US" b="1" dirty="0"/>
                  <a:t>First-visit</a:t>
                </a:r>
                <a:r>
                  <a:rPr lang="en-US" dirty="0"/>
                  <a:t>: Using the return only for the first visit of a state in the episode ensures that the sampled returns are </a:t>
                </a:r>
                <a:r>
                  <a:rPr lang="en-US" dirty="0" err="1"/>
                  <a:t>i.i.d.</a:t>
                </a:r>
                <a:r>
                  <a:rPr lang="en-US" dirty="0"/>
                  <a:t> distributed (not dependent on each other) and we get an </a:t>
                </a:r>
                <a:r>
                  <a:rPr lang="en-US" b="1" dirty="0"/>
                  <a:t>unbiased</a:t>
                </a:r>
                <a:r>
                  <a:rPr lang="en-US" dirty="0"/>
                  <a:t> estimate.</a:t>
                </a:r>
              </a:p>
              <a:p>
                <a:r>
                  <a:rPr lang="en-US" b="1" dirty="0"/>
                  <a:t>Note</a:t>
                </a:r>
                <a:r>
                  <a:rPr lang="en-US" dirty="0"/>
                  <a:t>: This algorithm only produces state values for the states </a:t>
                </a:r>
                <a14:m>
                  <m:oMath xmlns:m="http://schemas.openxmlformats.org/officeDocument/2006/math">
                    <m:r>
                      <a:rPr lang="en-US" b="0" i="1" smtClean="0">
                        <a:latin typeface="Cambria Math" panose="02040503050406030204" pitchFamily="18" charset="0"/>
                      </a:rPr>
                      <m:t>𝜋</m:t>
                    </m:r>
                  </m:oMath>
                </a14:m>
                <a:r>
                  <a:rPr lang="en-US" dirty="0"/>
                  <a:t> visits.</a:t>
                </a:r>
              </a:p>
            </p:txBody>
          </p:sp>
        </mc:Choice>
        <mc:Fallback>
          <p:sp>
            <p:nvSpPr>
              <p:cNvPr id="3" name="Content Placeholder 2">
                <a:extLst>
                  <a:ext uri="{FF2B5EF4-FFF2-40B4-BE49-F238E27FC236}">
                    <a16:creationId xmlns:a16="http://schemas.microsoft.com/office/drawing/2014/main" id="{E8BAB409-1629-3E3D-C6F3-95E5076FBBF9}"/>
                  </a:ext>
                </a:extLst>
              </p:cNvPr>
              <p:cNvSpPr>
                <a:spLocks noGrp="1" noRot="1" noChangeAspect="1" noMove="1" noResize="1" noEditPoints="1" noAdjustHandles="1" noChangeArrowheads="1" noChangeShapeType="1" noTextEdit="1"/>
              </p:cNvSpPr>
              <p:nvPr>
                <p:ph idx="1"/>
              </p:nvPr>
            </p:nvSpPr>
            <p:spPr>
              <a:xfrm>
                <a:off x="838200" y="1124198"/>
                <a:ext cx="7808892" cy="1720144"/>
              </a:xfrm>
              <a:blipFill>
                <a:blip r:embed="rId3"/>
                <a:stretch>
                  <a:fillRect l="-703" t="-6007" b="-1767"/>
                </a:stretch>
              </a:blipFill>
            </p:spPr>
            <p:txBody>
              <a:bodyPr/>
              <a:lstStyle/>
              <a:p>
                <a:r>
                  <a:rPr lang="en-US">
                    <a:noFill/>
                  </a:rPr>
                  <a:t> </a:t>
                </a:r>
              </a:p>
            </p:txBody>
          </p:sp>
        </mc:Fallback>
      </mc:AlternateContent>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F3AA409A-0E38-4BF6-9AF1-1A02E65EEEB0}"/>
              </a:ext>
            </a:extLst>
          </p:cNvPr>
          <p:cNvPicPr>
            <a:picLocks noChangeAspect="1"/>
          </p:cNvPicPr>
          <p:nvPr/>
        </p:nvPicPr>
        <p:blipFill>
          <a:blip r:embed="rId4"/>
          <a:stretch>
            <a:fillRect/>
          </a:stretch>
        </p:blipFill>
        <p:spPr>
          <a:xfrm>
            <a:off x="785856" y="2844343"/>
            <a:ext cx="7808892" cy="3534014"/>
          </a:xfrm>
          <a:prstGeom prst="rect">
            <a:avLst/>
          </a:prstGeom>
        </p:spPr>
      </p:pic>
      <p:sp>
        <p:nvSpPr>
          <p:cNvPr id="5" name="Speech Bubble: Rectangle with Corners Rounded 4">
            <a:extLst>
              <a:ext uri="{FF2B5EF4-FFF2-40B4-BE49-F238E27FC236}">
                <a16:creationId xmlns:a16="http://schemas.microsoft.com/office/drawing/2014/main" id="{F2DD0D71-F2B2-BEC4-25BD-FAAF319BD235}"/>
              </a:ext>
              <a:ext uri="{C183D7F6-B498-43B3-948B-1728B52AA6E4}">
                <adec:decorative xmlns:adec="http://schemas.microsoft.com/office/drawing/2017/decorative" val="1"/>
              </a:ext>
            </a:extLst>
          </p:cNvPr>
          <p:cNvSpPr/>
          <p:nvPr/>
        </p:nvSpPr>
        <p:spPr>
          <a:xfrm>
            <a:off x="5611456" y="4841807"/>
            <a:ext cx="2899175" cy="195743"/>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Calculate remaining returns in reverse order!</a:t>
            </a:r>
          </a:p>
        </p:txBody>
      </p:sp>
      <p:grpSp>
        <p:nvGrpSpPr>
          <p:cNvPr id="15" name="Group 14" descr="An episode drawn as a timeline from s_0 to s_T, with a state s_t in the middle. A brace over the part after s_t shows the return G_t = sum from k = 0 to T of gamma to the k times R_t+k+1, the discounted rewards that follow s_t.">
            <a:extLst>
              <a:ext uri="{FF2B5EF4-FFF2-40B4-BE49-F238E27FC236}">
                <a16:creationId xmlns:a16="http://schemas.microsoft.com/office/drawing/2014/main" id="{573AD72F-8E95-D55F-A9F4-C0F86BA548C2}"/>
              </a:ext>
            </a:extLst>
          </p:cNvPr>
          <p:cNvGrpSpPr/>
          <p:nvPr/>
        </p:nvGrpSpPr>
        <p:grpSpPr>
          <a:xfrm>
            <a:off x="8647092" y="1089545"/>
            <a:ext cx="3395272" cy="2677614"/>
            <a:chOff x="8647092" y="860591"/>
            <a:chExt cx="3395272" cy="2677614"/>
          </a:xfrm>
        </p:grpSpPr>
        <p:grpSp>
          <p:nvGrpSpPr>
            <p:cNvPr id="14" name="Group 13" descr="Brace annotation: s sub t; G sub t equals the sum over k equals 0 to T, of gamma to the power k R sub t plus k plus 1; s sub 0; s sub T; Episode.">
              <a:extLst>
                <a:ext uri="{FF2B5EF4-FFF2-40B4-BE49-F238E27FC236}">
                  <a16:creationId xmlns:a16="http://schemas.microsoft.com/office/drawing/2014/main" id="{97491103-8D73-5D3D-2433-794079801876}"/>
                </a:ext>
              </a:extLst>
            </p:cNvPr>
            <p:cNvGrpSpPr/>
            <p:nvPr/>
          </p:nvGrpSpPr>
          <p:grpSpPr>
            <a:xfrm>
              <a:off x="8647092" y="860591"/>
              <a:ext cx="3395272" cy="1938707"/>
              <a:chOff x="9222954" y="2685293"/>
              <a:chExt cx="2700748" cy="1700680"/>
            </a:xfrm>
          </p:grpSpPr>
          <p:cxnSp>
            <p:nvCxnSpPr>
              <p:cNvPr id="6" name="Straight Arrow Connector 5">
                <a:extLst>
                  <a:ext uri="{FF2B5EF4-FFF2-40B4-BE49-F238E27FC236}">
                    <a16:creationId xmlns:a16="http://schemas.microsoft.com/office/drawing/2014/main" id="{4CA2481C-8ED4-DB1B-21D6-675BE4F2BEE7}"/>
                  </a:ext>
                  <a:ext uri="{C183D7F6-B498-43B3-948B-1728B52AA6E4}">
                    <adec:decorative xmlns:adec="http://schemas.microsoft.com/office/drawing/2017/decorative" val="1"/>
                  </a:ext>
                </a:extLst>
              </p:cNvPr>
              <p:cNvCxnSpPr>
                <a:cxnSpLocks/>
              </p:cNvCxnSpPr>
              <p:nvPr/>
            </p:nvCxnSpPr>
            <p:spPr>
              <a:xfrm>
                <a:off x="9374345" y="3490076"/>
                <a:ext cx="226157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7" name="TextBox 6" descr="Equation: s sub t">
                    <a:extLst>
                      <a:ext uri="{FF2B5EF4-FFF2-40B4-BE49-F238E27FC236}">
                        <a16:creationId xmlns:a16="http://schemas.microsoft.com/office/drawing/2014/main" id="{4061FCFD-11D6-B030-C651-EBEA48458734}"/>
                      </a:ext>
                    </a:extLst>
                  </p:cNvPr>
                  <p:cNvSpPr txBox="1"/>
                  <p:nvPr/>
                </p:nvSpPr>
                <p:spPr>
                  <a:xfrm flipH="1">
                    <a:off x="9898142" y="3183258"/>
                    <a:ext cx="432770" cy="323987"/>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m:rPr>
                                  <m:sty m:val="p"/>
                                </m:rPr>
                                <a:rPr lang="en-US" b="0" i="0" smtClean="0">
                                  <a:latin typeface="Cambria Math" panose="02040503050406030204" pitchFamily="18" charset="0"/>
                                </a:rPr>
                                <m:t>t</m:t>
                              </m:r>
                            </m:sub>
                          </m:sSub>
                        </m:oMath>
                      </m:oMathPara>
                    </a14:m>
                    <a:endParaRPr lang="en-US" dirty="0"/>
                  </a:p>
                </p:txBody>
              </p:sp>
            </mc:Choice>
            <mc:Fallback xmlns="">
              <p:sp>
                <p:nvSpPr>
                  <p:cNvPr id="7" name="TextBox 6" descr="Equation: s sub t">
                    <a:extLst>
                      <a:ext uri="{FF2B5EF4-FFF2-40B4-BE49-F238E27FC236}">
                        <a16:creationId xmlns:a16="http://schemas.microsoft.com/office/drawing/2014/main" id="{4061FCFD-11D6-B030-C651-EBEA48458734}"/>
                      </a:ext>
                    </a:extLst>
                  </p:cNvPr>
                  <p:cNvSpPr txBox="1">
                    <a:spLocks noRot="1" noChangeAspect="1" noMove="1" noResize="1" noEditPoints="1" noAdjustHandles="1" noChangeArrowheads="1" noChangeShapeType="1" noTextEdit="1"/>
                  </p:cNvSpPr>
                  <p:nvPr/>
                </p:nvSpPr>
                <p:spPr>
                  <a:xfrm flipH="1">
                    <a:off x="9898142" y="3183258"/>
                    <a:ext cx="432770" cy="323987"/>
                  </a:xfrm>
                  <a:prstGeom prst="rect">
                    <a:avLst/>
                  </a:prstGeom>
                  <a:blipFill>
                    <a:blip r:embed="rId5"/>
                    <a:stretch>
                      <a:fillRect/>
                    </a:stretch>
                  </a:blipFill>
                </p:spPr>
                <p:txBody>
                  <a:bodyPr/>
                  <a:lstStyle/>
                  <a:p>
                    <a:r>
                      <a:rPr lang="en-US">
                        <a:noFill/>
                      </a:rPr>
                      <a:t> </a:t>
                    </a:r>
                  </a:p>
                </p:txBody>
              </p:sp>
            </mc:Fallback>
          </mc:AlternateContent>
          <p:sp>
            <p:nvSpPr>
              <p:cNvPr id="8" name="Right Brace 7">
                <a:extLst>
                  <a:ext uri="{FF2B5EF4-FFF2-40B4-BE49-F238E27FC236}">
                    <a16:creationId xmlns:a16="http://schemas.microsoft.com/office/drawing/2014/main" id="{21DEF1FA-AFA5-27CF-87FA-8DDF794C57A4}"/>
                  </a:ext>
                  <a:ext uri="{C183D7F6-B498-43B3-948B-1728B52AA6E4}">
                    <adec:decorative xmlns:adec="http://schemas.microsoft.com/office/drawing/2017/decorative" val="1"/>
                  </a:ext>
                </a:extLst>
              </p:cNvPr>
              <p:cNvSpPr/>
              <p:nvPr/>
            </p:nvSpPr>
            <p:spPr>
              <a:xfrm rot="5400000">
                <a:off x="10764997" y="2901526"/>
                <a:ext cx="251570" cy="153912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p:nvPr/>
                </p:nvSpPr>
                <p:spPr>
                  <a:xfrm>
                    <a:off x="9857862" y="3697445"/>
                    <a:ext cx="2065840" cy="688528"/>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𝐺</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a:rPr lang="en-US" sz="1600" i="1">
                                  <a:latin typeface="Cambria Math" panose="02040503050406030204" pitchFamily="18" charset="0"/>
                                </a:rPr>
                                <m:t>𝑘</m:t>
                              </m:r>
                              <m:r>
                                <a:rPr lang="en-US" sz="1600" i="1">
                                  <a:latin typeface="Cambria Math" panose="02040503050406030204" pitchFamily="18" charset="0"/>
                                </a:rPr>
                                <m:t>=0</m:t>
                              </m:r>
                            </m:sub>
                            <m:sup>
                              <m:r>
                                <a:rPr lang="en-US" sz="1600" b="0" i="1" smtClean="0">
                                  <a:latin typeface="Cambria Math" panose="02040503050406030204" pitchFamily="18" charset="0"/>
                                </a:rPr>
                                <m:t>𝑇</m:t>
                              </m:r>
                            </m:sup>
                            <m:e>
                              <m:sSup>
                                <m:sSupPr>
                                  <m:ctrlPr>
                                    <a:rPr lang="en-US" sz="1600" i="1">
                                      <a:latin typeface="Cambria Math" panose="02040503050406030204" pitchFamily="18" charset="0"/>
                                    </a:rPr>
                                  </m:ctrlPr>
                                </m:sSupPr>
                                <m:e>
                                  <m:r>
                                    <a:rPr lang="en-US" sz="1600" i="1">
                                      <a:latin typeface="Cambria Math" panose="02040503050406030204" pitchFamily="18" charset="0"/>
                                    </a:rPr>
                                    <m:t>𝛾</m:t>
                                  </m:r>
                                </m:e>
                                <m:sup>
                                  <m:r>
                                    <a:rPr lang="en-US" sz="1600" i="1">
                                      <a:latin typeface="Cambria Math" panose="02040503050406030204" pitchFamily="18" charset="0"/>
                                    </a:rPr>
                                    <m:t>𝑘</m:t>
                                  </m:r>
                                </m:sup>
                              </m:sSup>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𝑘</m:t>
                                  </m:r>
                                  <m:r>
                                    <a:rPr lang="en-US" sz="1600" i="1">
                                      <a:latin typeface="Cambria Math" panose="02040503050406030204" pitchFamily="18" charset="0"/>
                                    </a:rPr>
                                    <m:t>+1</m:t>
                                  </m:r>
                                </m:sub>
                              </m:sSub>
                            </m:e>
                          </m:nary>
                        </m:oMath>
                      </m:oMathPara>
                    </a14:m>
                    <a:endParaRPr lang="en-US" sz="1600" dirty="0"/>
                  </a:p>
                </p:txBody>
              </p:sp>
            </mc:Choice>
            <mc:Fallback xmlns="">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a:spLocks noRot="1" noChangeAspect="1" noMove="1" noResize="1" noEditPoints="1" noAdjustHandles="1" noChangeArrowheads="1" noChangeShapeType="1" noTextEdit="1"/>
                  </p:cNvSpPr>
                  <p:nvPr/>
                </p:nvSpPr>
                <p:spPr>
                  <a:xfrm>
                    <a:off x="9857862" y="3697445"/>
                    <a:ext cx="2065840" cy="68852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s sub 0">
                    <a:extLst>
                      <a:ext uri="{FF2B5EF4-FFF2-40B4-BE49-F238E27FC236}">
                        <a16:creationId xmlns:a16="http://schemas.microsoft.com/office/drawing/2014/main" id="{00792711-75B9-95C4-586A-00B6CEC74B7A}"/>
                      </a:ext>
                    </a:extLst>
                  </p:cNvPr>
                  <p:cNvSpPr txBox="1"/>
                  <p:nvPr/>
                </p:nvSpPr>
                <p:spPr>
                  <a:xfrm flipH="1">
                    <a:off x="9222954" y="3159290"/>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11" name="TextBox 10" descr="Equation: s sub 0">
                    <a:extLst>
                      <a:ext uri="{FF2B5EF4-FFF2-40B4-BE49-F238E27FC236}">
                        <a16:creationId xmlns:a16="http://schemas.microsoft.com/office/drawing/2014/main" id="{00792711-75B9-95C4-586A-00B6CEC74B7A}"/>
                      </a:ext>
                    </a:extLst>
                  </p:cNvPr>
                  <p:cNvSpPr txBox="1">
                    <a:spLocks noRot="1" noChangeAspect="1" noMove="1" noResize="1" noEditPoints="1" noAdjustHandles="1" noChangeArrowheads="1" noChangeShapeType="1" noTextEdit="1"/>
                  </p:cNvSpPr>
                  <p:nvPr/>
                </p:nvSpPr>
                <p:spPr>
                  <a:xfrm flipH="1">
                    <a:off x="9222954" y="3159290"/>
                    <a:ext cx="43277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s sub T">
                    <a:extLst>
                      <a:ext uri="{FF2B5EF4-FFF2-40B4-BE49-F238E27FC236}">
                        <a16:creationId xmlns:a16="http://schemas.microsoft.com/office/drawing/2014/main" id="{63583111-077E-2325-A6DE-3D2D5231244B}"/>
                      </a:ext>
                    </a:extLst>
                  </p:cNvPr>
                  <p:cNvSpPr txBox="1"/>
                  <p:nvPr/>
                </p:nvSpPr>
                <p:spPr>
                  <a:xfrm flipH="1">
                    <a:off x="11419530" y="3152001"/>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𝑇</m:t>
                              </m:r>
                            </m:sub>
                          </m:sSub>
                        </m:oMath>
                      </m:oMathPara>
                    </a14:m>
                    <a:endParaRPr lang="en-US" dirty="0"/>
                  </a:p>
                </p:txBody>
              </p:sp>
            </mc:Choice>
            <mc:Fallback xmlns="">
              <p:sp>
                <p:nvSpPr>
                  <p:cNvPr id="12" name="TextBox 11" descr="Equation: s sub T">
                    <a:extLst>
                      <a:ext uri="{FF2B5EF4-FFF2-40B4-BE49-F238E27FC236}">
                        <a16:creationId xmlns:a16="http://schemas.microsoft.com/office/drawing/2014/main" id="{63583111-077E-2325-A6DE-3D2D5231244B}"/>
                      </a:ext>
                    </a:extLst>
                  </p:cNvPr>
                  <p:cNvSpPr txBox="1">
                    <a:spLocks noRot="1" noChangeAspect="1" noMove="1" noResize="1" noEditPoints="1" noAdjustHandles="1" noChangeArrowheads="1" noChangeShapeType="1" noTextEdit="1"/>
                  </p:cNvSpPr>
                  <p:nvPr/>
                </p:nvSpPr>
                <p:spPr>
                  <a:xfrm flipH="1">
                    <a:off x="11419530" y="3152001"/>
                    <a:ext cx="432770" cy="369332"/>
                  </a:xfrm>
                  <a:prstGeom prst="rect">
                    <a:avLst/>
                  </a:prstGeom>
                  <a:blipFill>
                    <a:blip r:embed="rId8"/>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1B452B02-D962-94A5-1424-E76206AB059D}"/>
                  </a:ext>
                </a:extLst>
              </p:cNvPr>
              <p:cNvSpPr txBox="1"/>
              <p:nvPr/>
            </p:nvSpPr>
            <p:spPr>
              <a:xfrm>
                <a:off x="9719863" y="2685293"/>
                <a:ext cx="1570534" cy="323987"/>
              </a:xfrm>
              <a:prstGeom prst="rect">
                <a:avLst/>
              </a:prstGeom>
              <a:noFill/>
            </p:spPr>
            <p:txBody>
              <a:bodyPr wrap="square" rtlCol="0">
                <a:spAutoFit/>
              </a:bodyPr>
              <a:lstStyle/>
              <a:p>
                <a:pPr algn="ctr"/>
                <a:r>
                  <a:rPr lang="en-US" dirty="0"/>
                  <a:t>Episode</a:t>
                </a:r>
              </a:p>
            </p:txBody>
          </p:sp>
        </p:grpSp>
        <mc:AlternateContent xmlns:mc="http://schemas.openxmlformats.org/markup-compatibility/2006" xmlns:a14="http://schemas.microsoft.com/office/drawing/2010/main">
          <mc:Choice Requires="a14">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p:nvPr/>
              </p:nvSpPr>
              <p:spPr>
                <a:xfrm flipH="1">
                  <a:off x="8837415" y="2832017"/>
                  <a:ext cx="2873866" cy="7061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Calculate the return following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𝑡</m:t>
                          </m:r>
                        </m:sub>
                      </m:sSub>
                    </m:oMath>
                  </a14:m>
                  <a:r>
                    <a:rPr lang="en-US" sz="1200" dirty="0"/>
                    <a:t> </a:t>
                  </a:r>
                  <a:br>
                    <a:rPr lang="en-US" sz="1200" dirty="0"/>
                  </a:br>
                  <a:r>
                    <a:rPr lang="en-US" sz="1200" dirty="0"/>
                    <a:t>for all states in the episode</a:t>
                  </a:r>
                </a:p>
              </p:txBody>
            </p:sp>
          </mc:Choice>
          <mc:Fallback xmlns="">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a:spLocks noRot="1" noChangeAspect="1" noMove="1" noResize="1" noEditPoints="1" noAdjustHandles="1" noChangeArrowheads="1" noChangeShapeType="1" noTextEdit="1"/>
                </p:cNvSpPr>
                <p:nvPr/>
              </p:nvSpPr>
              <p:spPr>
                <a:xfrm flipH="1">
                  <a:off x="8837415" y="2832017"/>
                  <a:ext cx="2873866" cy="706188"/>
                </a:xfrm>
                <a:prstGeom prst="rightArrow">
                  <a:avLst/>
                </a:prstGeom>
                <a:blipFill>
                  <a:blip r:embed="rId9"/>
                  <a:stretch>
                    <a:fillRect/>
                  </a:stretch>
                </a:blipFill>
              </p:spPr>
              <p:txBody>
                <a:bodyPr/>
                <a:lstStyle/>
                <a:p>
                  <a:r>
                    <a:rPr lang="en-US">
                      <a:noFill/>
                    </a:rPr>
                    <a:t> </a:t>
                  </a:r>
                </a:p>
              </p:txBody>
            </p:sp>
          </mc:Fallback>
        </mc:AlternateContent>
      </p:grpSp>
      <p:sp>
        <p:nvSpPr>
          <p:cNvPr id="16" name="Speech Bubble: Rectangle with Corners Rounded 15">
            <a:extLst>
              <a:ext uri="{FF2B5EF4-FFF2-40B4-BE49-F238E27FC236}">
                <a16:creationId xmlns:a16="http://schemas.microsoft.com/office/drawing/2014/main" id="{0271B4BA-988D-9708-7511-B6936ED95186}"/>
              </a:ext>
              <a:ext uri="{C183D7F6-B498-43B3-948B-1728B52AA6E4}">
                <adec:decorative xmlns:adec="http://schemas.microsoft.com/office/drawing/2017/decorative" val="1"/>
              </a:ext>
            </a:extLst>
          </p:cNvPr>
          <p:cNvSpPr/>
          <p:nvPr/>
        </p:nvSpPr>
        <p:spPr>
          <a:xfrm>
            <a:off x="5519550" y="5810884"/>
            <a:ext cx="1995181" cy="195743"/>
          </a:xfrm>
          <a:prstGeom prst="wedgeRoundRectCallout">
            <a:avLst>
              <a:gd name="adj1" fmla="val -87182"/>
              <a:gd name="adj2" fmla="val -1639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Uses only the first visit.</a:t>
            </a:r>
          </a:p>
        </p:txBody>
      </p:sp>
      <p:sp>
        <p:nvSpPr>
          <p:cNvPr id="17" name="Speech Bubble: Rectangle with Corners Rounded 16">
            <a:extLst>
              <a:ext uri="{FF2B5EF4-FFF2-40B4-BE49-F238E27FC236}">
                <a16:creationId xmlns:a16="http://schemas.microsoft.com/office/drawing/2014/main" id="{91E56AD5-2877-5EE2-9F72-64538D60CCC0}"/>
              </a:ext>
              <a:ext uri="{C183D7F6-B498-43B3-948B-1728B52AA6E4}">
                <adec:decorative xmlns:adec="http://schemas.microsoft.com/office/drawing/2017/decorative" val="1"/>
              </a:ext>
            </a:extLst>
          </p:cNvPr>
          <p:cNvSpPr/>
          <p:nvPr/>
        </p:nvSpPr>
        <p:spPr>
          <a:xfrm>
            <a:off x="5098409" y="4146491"/>
            <a:ext cx="2569060" cy="308649"/>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We observe a sequence of rewards</a:t>
            </a:r>
          </a:p>
        </p:txBody>
      </p:sp>
      <p:sp>
        <p:nvSpPr>
          <p:cNvPr id="18" name="Speech Bubble: Rectangle with Corners Rounded 17">
            <a:extLst>
              <a:ext uri="{FF2B5EF4-FFF2-40B4-BE49-F238E27FC236}">
                <a16:creationId xmlns:a16="http://schemas.microsoft.com/office/drawing/2014/main" id="{2B6082C4-7D27-71D9-3992-406A664288E7}"/>
              </a:ext>
              <a:ext uri="{C183D7F6-B498-43B3-948B-1728B52AA6E4}">
                <adec:decorative xmlns:adec="http://schemas.microsoft.com/office/drawing/2017/decorative" val="1"/>
              </a:ext>
            </a:extLst>
          </p:cNvPr>
          <p:cNvSpPr/>
          <p:nvPr/>
        </p:nvSpPr>
        <p:spPr>
          <a:xfrm>
            <a:off x="5403557" y="6215333"/>
            <a:ext cx="4818965" cy="421024"/>
          </a:xfrm>
          <a:prstGeom prst="wedgeRoundRectCallout">
            <a:avLst>
              <a:gd name="adj1" fmla="val -68252"/>
              <a:gd name="adj2" fmla="val -948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This sample average approximates the expected return. </a:t>
            </a:r>
          </a:p>
          <a:p>
            <a:pPr algn="ctr"/>
            <a:r>
              <a:rPr lang="en-US" sz="1100" b="1" dirty="0"/>
              <a:t>Note</a:t>
            </a:r>
            <a:r>
              <a:rPr lang="en-US" sz="1100" dirty="0"/>
              <a:t>: This can be implemented with incremental updating of the averages!</a:t>
            </a:r>
          </a:p>
        </p:txBody>
      </p:sp>
    </p:spTree>
    <p:extLst>
      <p:ext uri="{BB962C8B-B14F-4D97-AF65-F5344CB8AC3E}">
        <p14:creationId xmlns:p14="http://schemas.microsoft.com/office/powerpoint/2010/main" val="300048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9E24D1-8C10-D360-A975-395DD150B7CF}"/>
              </a:ext>
            </a:extLst>
          </p:cNvPr>
          <p:cNvSpPr>
            <a:spLocks noGrp="1"/>
          </p:cNvSpPr>
          <p:nvPr>
            <p:ph type="title"/>
          </p:nvPr>
        </p:nvSpPr>
        <p:spPr/>
        <p:txBody>
          <a:bodyPr/>
          <a:lstStyle/>
          <a:p>
            <a:r>
              <a:rPr lang="en-US" dirty="0"/>
              <a:t>Monte Carlo Control</a:t>
            </a:r>
          </a:p>
        </p:txBody>
      </p:sp>
      <p:sp>
        <p:nvSpPr>
          <p:cNvPr id="5" name="Text Placeholder 4">
            <a:extLst>
              <a:ext uri="{FF2B5EF4-FFF2-40B4-BE49-F238E27FC236}">
                <a16:creationId xmlns:a16="http://schemas.microsoft.com/office/drawing/2014/main" id="{72F5D3AF-E874-2E5E-C9AF-8FCA744234AD}"/>
              </a:ext>
            </a:extLst>
          </p:cNvPr>
          <p:cNvSpPr>
            <a:spLocks noGrp="1"/>
          </p:cNvSpPr>
          <p:nvPr>
            <p:ph type="body" idx="1"/>
          </p:nvPr>
        </p:nvSpPr>
        <p:spPr/>
        <p:txBody>
          <a:bodyPr/>
          <a:lstStyle/>
          <a:p>
            <a:r>
              <a:rPr lang="en-US" dirty="0"/>
              <a:t>Find a good policy while using it to sample the data.</a:t>
            </a:r>
          </a:p>
        </p:txBody>
      </p:sp>
    </p:spTree>
    <p:extLst>
      <p:ext uri="{BB962C8B-B14F-4D97-AF65-F5344CB8AC3E}">
        <p14:creationId xmlns:p14="http://schemas.microsoft.com/office/powerpoint/2010/main" val="2128427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19699-7616-F15A-0A6C-D07DB4DC6EC0}"/>
              </a:ext>
            </a:extLst>
          </p:cNvPr>
          <p:cNvSpPr>
            <a:spLocks noGrp="1"/>
          </p:cNvSpPr>
          <p:nvPr>
            <p:ph type="title"/>
          </p:nvPr>
        </p:nvSpPr>
        <p:spPr/>
        <p:txBody>
          <a:bodyPr>
            <a:normAutofit fontScale="90000"/>
          </a:bodyPr>
          <a:lstStyle/>
          <a:p>
            <a:r>
              <a:rPr lang="en-US" dirty="0"/>
              <a:t>MC Control as Generalized Policy Iteration (GPI)</a:t>
            </a:r>
          </a:p>
        </p:txBody>
      </p:sp>
      <mc:AlternateContent xmlns:mc="http://schemas.openxmlformats.org/markup-compatibility/2006" xmlns:a14="http://schemas.microsoft.com/office/drawing/2010/main">
        <mc:Choice Requires="a14">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p:cNvSpPr>
              <p:nvPr>
                <p:ph idx="1"/>
              </p:nvPr>
            </p:nvSpPr>
            <p:spPr>
              <a:xfrm>
                <a:off x="838201" y="1397330"/>
                <a:ext cx="8015108" cy="4779633"/>
              </a:xfrm>
            </p:spPr>
            <p:txBody>
              <a:bodyPr>
                <a:normAutofit fontScale="85000" lnSpcReduction="20000"/>
              </a:bodyPr>
              <a:lstStyle/>
              <a:p>
                <a:r>
                  <a:rPr lang="en-US" dirty="0"/>
                  <a:t>Approx.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using ideas from GPI with a Q-function estimated using MC prediction.</a:t>
                </a:r>
              </a:p>
              <a:p>
                <a:endParaRPr lang="en-US" dirty="0"/>
              </a:p>
              <a:p>
                <a:r>
                  <a:rPr lang="en-US" dirty="0"/>
                  <a:t>MC policy iteration:</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0</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𝑜</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m:oMathPara>
                </a14:m>
                <a:endParaRPr lang="en-US" dirty="0"/>
              </a:p>
              <a:p>
                <a:endParaRPr lang="en-US" dirty="0"/>
              </a:p>
              <a:p>
                <a:r>
                  <a:rPr lang="en-US" dirty="0"/>
                  <a:t>Process:</a:t>
                </a:r>
              </a:p>
              <a:p>
                <a:pPr marL="971550" lvl="1" indent="-514350">
                  <a:buFont typeface="+mj-lt"/>
                  <a:buAutoNum type="arabicPeriod"/>
                </a:pPr>
                <a:r>
                  <a:rPr lang="en-US" dirty="0"/>
                  <a:t>Start with an arbitrary policy.</a:t>
                </a:r>
              </a:p>
              <a:p>
                <a:pPr marL="971550" lvl="1" indent="-514350">
                  <a:buFont typeface="+mj-lt"/>
                  <a:buAutoNum type="arabicPeriod"/>
                </a:pPr>
                <a:r>
                  <a:rPr lang="en-US" b="1" dirty="0"/>
                  <a:t>Evaluation</a:t>
                </a:r>
                <a:r>
                  <a:rPr lang="en-US" dirty="0"/>
                  <a:t>: Update MC estimate by sampling some episodes using the current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971550" lvl="1" indent="-514350">
                  <a:buFont typeface="+mj-lt"/>
                  <a:buAutoNum type="arabicPeriod"/>
                </a:pPr>
                <a:r>
                  <a:rPr lang="en-US" b="1" dirty="0"/>
                  <a:t>Improvement</a:t>
                </a:r>
                <a:r>
                  <a:rPr lang="en-US" dirty="0"/>
                  <a:t>: </a:t>
                </a:r>
                <a14:m>
                  <m:oMath xmlns:m="http://schemas.openxmlformats.org/officeDocument/2006/math">
                    <m:r>
                      <m:rPr>
                        <m:nor/>
                      </m:rPr>
                      <a:rPr lang="en-US" i="0" dirty="0" smtClean="0">
                        <a:latin typeface="Cambria Math" panose="02040503050406030204" pitchFamily="18" charset="0"/>
                      </a:rPr>
                      <m:t>greedy</m:t>
                    </m:r>
                    <m:r>
                      <a:rPr lang="en-US" i="1" dirty="0" smtClean="0">
                        <a:latin typeface="Cambria Math" panose="02040503050406030204" pitchFamily="18" charset="0"/>
                      </a:rPr>
                      <m:t>(</m:t>
                    </m:r>
                    <m:r>
                      <a:rPr lang="en-US" i="1" dirty="0" smtClean="0">
                        <a:latin typeface="Cambria Math" panose="02040503050406030204" pitchFamily="18" charset="0"/>
                      </a:rPr>
                      <m:t>𝑄</m:t>
                    </m:r>
                    <m:r>
                      <a:rPr lang="en-US" i="1" dirty="0" smtClean="0">
                        <a:latin typeface="Cambria Math" panose="02040503050406030204" pitchFamily="18" charset="0"/>
                      </a:rPr>
                      <m:t>)</m:t>
                    </m:r>
                  </m:oMath>
                </a14:m>
                <a:r>
                  <a:rPr lang="en-US" dirty="0"/>
                  <a:t> means </a:t>
                </a:r>
                <a:br>
                  <a:rPr lang="en-US" dirty="0"/>
                </a:b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p>
              <a:p>
                <a:pPr marL="971550" lvl="1" indent="-514350">
                  <a:buFont typeface="+mj-lt"/>
                  <a:buAutoNum type="arabicPeriod"/>
                </a:pPr>
                <a:r>
                  <a:rPr lang="en-US" dirty="0"/>
                  <a:t>Repeat evaluation and improvement till the policy does not change (= optimal policy is reached).</a:t>
                </a:r>
                <a:endParaRPr lang="en-US" b="0" dirty="0"/>
              </a:p>
            </p:txBody>
          </p:sp>
        </mc:Choice>
        <mc:Fallback xmlns="">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noRot="1" noChangeAspect="1" noMove="1" noResize="1" noEditPoints="1" noAdjustHandles="1" noChangeArrowheads="1" noChangeShapeType="1" noTextEdit="1"/>
              </p:cNvSpPr>
              <p:nvPr>
                <p:ph idx="1"/>
              </p:nvPr>
            </p:nvSpPr>
            <p:spPr>
              <a:xfrm>
                <a:off x="838201" y="1397330"/>
                <a:ext cx="8015108" cy="4779633"/>
              </a:xfrm>
              <a:blipFill>
                <a:blip r:embed="rId2"/>
                <a:stretch>
                  <a:fillRect l="-1065" t="-2806" b="-638"/>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E7E0845A-1386-416F-E3F0-5D01868F4839}"/>
              </a:ext>
            </a:extLst>
          </p:cNvPr>
          <p:cNvSpPr txBox="1"/>
          <p:nvPr/>
        </p:nvSpPr>
        <p:spPr>
          <a:xfrm>
            <a:off x="9215155" y="1262762"/>
            <a:ext cx="2199190" cy="369332"/>
          </a:xfrm>
          <a:prstGeom prst="rect">
            <a:avLst/>
          </a:prstGeom>
          <a:noFill/>
        </p:spPr>
        <p:txBody>
          <a:bodyPr wrap="square" rtlCol="0">
            <a:spAutoFit/>
          </a:bodyPr>
          <a:lstStyle/>
          <a:p>
            <a:pPr algn="ctr"/>
            <a:r>
              <a:rPr lang="en-US" b="1" dirty="0">
                <a:solidFill>
                  <a:schemeClr val="accent3"/>
                </a:solidFill>
              </a:rPr>
              <a:t>MC Prediction</a:t>
            </a:r>
          </a:p>
        </p:txBody>
      </p:sp>
      <p:grpSp>
        <p:nvGrpSpPr>
          <p:cNvPr id="5" name="Group 4"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F8A7C185-8BEF-1CF9-4AA9-A138AA4C6A8E}"/>
              </a:ext>
            </a:extLst>
          </p:cNvPr>
          <p:cNvGrpSpPr/>
          <p:nvPr/>
        </p:nvGrpSpPr>
        <p:grpSpPr>
          <a:xfrm>
            <a:off x="8778373" y="1597639"/>
            <a:ext cx="3001301" cy="2828670"/>
            <a:chOff x="8928790" y="218543"/>
            <a:chExt cx="3001301" cy="2828670"/>
          </a:xfrm>
        </p:grpSpPr>
        <p:pic>
          <p:nvPicPr>
            <p:cNvPr id="8"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F3DB8754-B65E-E3AC-7CAD-78AE15FCE1F6}"/>
                </a:ext>
              </a:extLst>
            </p:cNvPr>
            <p:cNvPicPr>
              <a:picLocks noChangeAspect="1"/>
            </p:cNvPicPr>
            <p:nvPr/>
          </p:nvPicPr>
          <p:blipFill>
            <a:blip r:embed="rId3"/>
            <a:stretch>
              <a:fillRect/>
            </a:stretch>
          </p:blipFill>
          <p:spPr>
            <a:xfrm>
              <a:off x="8990601" y="218543"/>
              <a:ext cx="2936007" cy="2828670"/>
            </a:xfrm>
            <a:prstGeom prst="rect">
              <a:avLst/>
            </a:prstGeom>
          </p:spPr>
        </p:pic>
        <p:sp>
          <p:nvSpPr>
            <p:cNvPr id="3" name="TextBox 2">
              <a:extLst>
                <a:ext uri="{FF2B5EF4-FFF2-40B4-BE49-F238E27FC236}">
                  <a16:creationId xmlns:a16="http://schemas.microsoft.com/office/drawing/2014/main" id="{2A83EAAE-FF82-7D38-5799-9A05D9B7919F}"/>
                </a:ext>
              </a:extLst>
            </p:cNvPr>
            <p:cNvSpPr txBox="1"/>
            <p:nvPr/>
          </p:nvSpPr>
          <p:spPr>
            <a:xfrm>
              <a:off x="10107262" y="1397330"/>
              <a:ext cx="558412"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dirty="0"/>
                <a:t>GPI</a:t>
              </a:r>
            </a:p>
          </p:txBody>
        </p:sp>
        <p:sp>
          <p:nvSpPr>
            <p:cNvPr id="4" name="Rectangle 3">
              <a:extLst>
                <a:ext uri="{FF2B5EF4-FFF2-40B4-BE49-F238E27FC236}">
                  <a16:creationId xmlns:a16="http://schemas.microsoft.com/office/drawing/2014/main" id="{20B7AC75-3F86-B31F-1C0A-54A88A97EE28}"/>
                </a:ext>
                <a:ext uri="{C183D7F6-B498-43B3-948B-1728B52AA6E4}">
                  <adec:decorative xmlns:adec="http://schemas.microsoft.com/office/drawing/2017/decorative" val="1"/>
                </a:ext>
              </a:extLst>
            </p:cNvPr>
            <p:cNvSpPr/>
            <p:nvPr/>
          </p:nvSpPr>
          <p:spPr>
            <a:xfrm>
              <a:off x="8928790"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cxnSp>
        <p:nvCxnSpPr>
          <p:cNvPr id="10" name="Straight Connector 9">
            <a:extLst>
              <a:ext uri="{FF2B5EF4-FFF2-40B4-BE49-F238E27FC236}">
                <a16:creationId xmlns:a16="http://schemas.microsoft.com/office/drawing/2014/main" id="{0FE2971C-E301-9EA9-FB5C-DB042085DC29}"/>
              </a:ext>
              <a:ext uri="{C183D7F6-B498-43B3-948B-1728B52AA6E4}">
                <adec:decorative xmlns:adec="http://schemas.microsoft.com/office/drawing/2017/decorative" val="1"/>
              </a:ext>
            </a:extLst>
          </p:cNvPr>
          <p:cNvCxnSpPr/>
          <p:nvPr/>
        </p:nvCxnSpPr>
        <p:spPr>
          <a:xfrm>
            <a:off x="9531752" y="1736203"/>
            <a:ext cx="1423686" cy="115746"/>
          </a:xfrm>
          <a:prstGeom prst="line">
            <a:avLst/>
          </a:prstGeom>
        </p:spPr>
        <p:style>
          <a:lnRef idx="2">
            <a:schemeClr val="accent3"/>
          </a:lnRef>
          <a:fillRef idx="0">
            <a:schemeClr val="accent3"/>
          </a:fillRef>
          <a:effectRef idx="1">
            <a:schemeClr val="accent3"/>
          </a:effectRef>
          <a:fontRef idx="minor">
            <a:schemeClr val="tx1"/>
          </a:fontRef>
        </p:style>
      </p:cxnSp>
      <p:sp>
        <p:nvSpPr>
          <p:cNvPr id="9" name="Speech Bubble: Rectangle with Corners Rounded 8">
            <a:extLst>
              <a:ext uri="{FF2B5EF4-FFF2-40B4-BE49-F238E27FC236}">
                <a16:creationId xmlns:a16="http://schemas.microsoft.com/office/drawing/2014/main" id="{9CA51BDB-8A14-06A5-54B3-854AB5BD96C4}"/>
              </a:ext>
              <a:ext uri="{C183D7F6-B498-43B3-948B-1728B52AA6E4}">
                <adec:decorative xmlns:adec="http://schemas.microsoft.com/office/drawing/2017/decorative" val="1"/>
              </a:ext>
            </a:extLst>
          </p:cNvPr>
          <p:cNvSpPr/>
          <p:nvPr/>
        </p:nvSpPr>
        <p:spPr>
          <a:xfrm>
            <a:off x="9164972" y="4426309"/>
            <a:ext cx="2327945" cy="1550847"/>
          </a:xfrm>
          <a:prstGeom prst="wedgeRoundRectCallout">
            <a:avLst>
              <a:gd name="adj1" fmla="val -15700"/>
              <a:gd name="adj2" fmla="val -578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 </a:t>
            </a:r>
            <a:r>
              <a:rPr lang="en-US" sz="1600" b="1" dirty="0"/>
              <a:t>Policy Improvement Theorem </a:t>
            </a:r>
            <a:r>
              <a:rPr lang="en-US" sz="1600" dirty="0"/>
              <a:t>guarantees convergence to the optimal policy</a:t>
            </a:r>
          </a:p>
        </p:txBody>
      </p:sp>
    </p:spTree>
    <p:extLst>
      <p:ext uri="{BB962C8B-B14F-4D97-AF65-F5344CB8AC3E}">
        <p14:creationId xmlns:p14="http://schemas.microsoft.com/office/powerpoint/2010/main" val="971467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0090D-4EE5-1B7F-A3DC-4FF28643DF6D}"/>
              </a:ext>
            </a:extLst>
          </p:cNvPr>
          <p:cNvSpPr>
            <a:spLocks noGrp="1"/>
          </p:cNvSpPr>
          <p:nvPr>
            <p:ph type="title"/>
          </p:nvPr>
        </p:nvSpPr>
        <p:spPr/>
        <p:txBody>
          <a:bodyPr>
            <a:noAutofit/>
          </a:bodyPr>
          <a:lstStyle/>
          <a:p>
            <a:r>
              <a:rPr lang="en-US" sz="3200" dirty="0"/>
              <a:t>Remember: Policy Improvement Theorem and Greedy Policies</a:t>
            </a:r>
          </a:p>
        </p:txBody>
      </p:sp>
      <mc:AlternateContent xmlns:mc="http://schemas.openxmlformats.org/markup-compatibility/2006" xmlns:a14="http://schemas.microsoft.com/office/drawing/2010/main">
        <mc:Choice Requires="a14">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p:nvPr/>
            </p:nvSpPr>
            <p:spPr>
              <a:xfrm>
                <a:off x="838200" y="1219155"/>
                <a:ext cx="10846964" cy="151297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b="1" dirty="0"/>
                  <a:t>Policy Improvement Theorem</a:t>
                </a:r>
              </a:p>
              <a:p>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𝑣</m:t>
                          </m:r>
                        </m:e>
                        <m:sub>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If </a:t>
                </a:r>
                <a14:m>
                  <m:oMath xmlns:m="http://schemas.openxmlformats.org/officeDocument/2006/math">
                    <m:r>
                      <a:rPr lang="en-US" i="1">
                        <a:latin typeface="Cambria Math" panose="02040503050406030204" pitchFamily="18" charset="0"/>
                      </a:rPr>
                      <m:t>𝜋</m:t>
                    </m:r>
                    <m:r>
                      <a:rPr lang="en-US" i="1">
                        <a:latin typeface="Cambria Math" panose="02040503050406030204" pitchFamily="18" charset="0"/>
                      </a:rPr>
                      <m:t>′</m:t>
                    </m:r>
                  </m:oMath>
                </a14:m>
                <a:r>
                  <a:rPr lang="en-US" dirty="0"/>
                  <a:t> is the same as </a:t>
                </a:r>
                <a14:m>
                  <m:oMath xmlns:m="http://schemas.openxmlformats.org/officeDocument/2006/math">
                    <m:r>
                      <a:rPr lang="en-US" b="0" i="1" smtClean="0">
                        <a:latin typeface="Cambria Math" panose="02040503050406030204" pitchFamily="18" charset="0"/>
                      </a:rPr>
                      <m:t>𝜋</m:t>
                    </m:r>
                  </m:oMath>
                </a14:m>
                <a:r>
                  <a:rPr lang="en-US" dirty="0"/>
                  <a:t> but has a better action for at least one state, then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is strictly better than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a:spLocks noRot="1" noChangeAspect="1" noMove="1" noResize="1" noEditPoints="1" noAdjustHandles="1" noChangeArrowheads="1" noChangeShapeType="1" noTextEdit="1"/>
              </p:cNvSpPr>
              <p:nvPr/>
            </p:nvSpPr>
            <p:spPr>
              <a:xfrm>
                <a:off x="838200" y="1219155"/>
                <a:ext cx="10846964" cy="1512978"/>
              </a:xfrm>
              <a:prstGeom prst="rect">
                <a:avLst/>
              </a:prstGeom>
              <a:blipFill>
                <a:blip r:embed="rId2"/>
                <a:stretch>
                  <a:fillRect l="-449" t="-1594" b="-51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p:cNvSpPr>
              <p:nvPr>
                <p:ph idx="1"/>
              </p:nvPr>
            </p:nvSpPr>
            <p:spPr>
              <a:xfrm>
                <a:off x="838200" y="2973897"/>
                <a:ext cx="10515600" cy="3401531"/>
              </a:xfrm>
            </p:spPr>
            <p:txBody>
              <a:bodyPr>
                <a:normAutofit fontScale="70000" lnSpcReduction="20000"/>
              </a:bodyPr>
              <a:lstStyle/>
              <a:p>
                <a:pPr marL="0" indent="0">
                  <a:buNone/>
                </a:pPr>
                <a:r>
                  <a:rPr lang="en-US" dirty="0"/>
                  <a:t>+ Applying greedy policy improvement (best action in each state) </a:t>
                </a:r>
                <a14:m>
                  <m:oMath xmlns:m="http://schemas.openxmlformats.org/officeDocument/2006/math">
                    <m:r>
                      <a:rPr lang="en-US" i="1" dirty="0">
                        <a:latin typeface="Cambria Math" panose="02040503050406030204" pitchFamily="18" charset="0"/>
                      </a:rPr>
                      <m:t>→</m:t>
                    </m:r>
                  </m:oMath>
                </a14:m>
                <a:r>
                  <a:rPr lang="en-US" dirty="0"/>
                  <a:t> converges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oMath>
                </a14:m>
                <a:endParaRPr lang="en-US" dirty="0"/>
              </a:p>
              <a:p>
                <a:endParaRPr lang="en-US" dirty="0"/>
              </a:p>
              <a:p>
                <a:pPr marL="0" indent="0">
                  <a:buNone/>
                </a:pPr>
                <a:r>
                  <a:rPr lang="en-US" b="1" dirty="0"/>
                  <a:t>Requirements for convergence:</a:t>
                </a:r>
              </a:p>
              <a:p>
                <a:pPr lvl="1"/>
                <a:r>
                  <a:rPr lang="en-US" b="1" dirty="0"/>
                  <a:t>Unbiased estimates for </a:t>
                </a:r>
                <a14:m>
                  <m:oMath xmlns:m="http://schemas.openxmlformats.org/officeDocument/2006/math">
                    <m:r>
                      <a:rPr lang="en-US" b="1" i="1" smtClean="0">
                        <a:latin typeface="Cambria Math" panose="02040503050406030204" pitchFamily="18" charset="0"/>
                      </a:rPr>
                      <m:t>𝒒</m:t>
                    </m:r>
                    <m:r>
                      <a:rPr lang="en-US" b="0" i="0" smtClean="0">
                        <a:latin typeface="Cambria Math" panose="02040503050406030204" pitchFamily="18" charset="0"/>
                      </a:rPr>
                      <m:t>:</m:t>
                    </m:r>
                  </m:oMath>
                </a14:m>
                <a:r>
                  <a:rPr lang="en-US" dirty="0"/>
                  <a:t> First-visit MC prediction is unbiased.</a:t>
                </a:r>
              </a:p>
              <a:p>
                <a:pPr lvl="1"/>
                <a:r>
                  <a:rPr lang="en-US" b="1" dirty="0"/>
                  <a:t>Perfect policy evaluation </a:t>
                </a:r>
                <a:r>
                  <a:rPr lang="en-US" dirty="0"/>
                  <a:t>with </a:t>
                </a:r>
                <a14:m>
                  <m:oMath xmlns:m="http://schemas.openxmlformats.org/officeDocument/2006/math">
                    <m:r>
                      <a:rPr lang="en-US" i="1">
                        <a:latin typeface="Cambria Math" panose="02040503050406030204" pitchFamily="18" charset="0"/>
                      </a:rPr>
                      <m:t>∞</m:t>
                    </m:r>
                  </m:oMath>
                </a14:m>
                <a:r>
                  <a:rPr lang="en-US" dirty="0"/>
                  <a:t> many episodes before each policy update. This is not practical!</a:t>
                </a:r>
              </a:p>
              <a:p>
                <a:pPr lvl="1"/>
                <a:r>
                  <a:rPr lang="en-US" b="1" dirty="0"/>
                  <a:t>Complete exploration: </a:t>
                </a:r>
                <a:r>
                  <a:rPr lang="en-US" dirty="0"/>
                  <a:t>All state/action pairs are tried. We need a solution for this!</a:t>
                </a:r>
              </a:p>
              <a:p>
                <a:pPr lvl="1"/>
                <a:endParaRPr lang="en-US" dirty="0"/>
              </a:p>
              <a:p>
                <a:pPr marL="0" indent="0">
                  <a:buNone/>
                </a:pPr>
                <a:r>
                  <a:rPr lang="en-US" b="1" dirty="0"/>
                  <a:t>The effect of imperfect policy evaluation</a:t>
                </a:r>
              </a:p>
              <a:p>
                <a:pPr lvl="1"/>
                <a:r>
                  <a:rPr lang="en-US" dirty="0"/>
                  <a:t>Individual </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 </m:t>
                    </m:r>
                  </m:oMath>
                </a14:m>
                <a:r>
                  <a:rPr lang="en-US" dirty="0"/>
                  <a:t>estimates will be wrong but unbiased return estimates will produce in expectation (on average) the correct estimate.</a:t>
                </a:r>
              </a:p>
              <a:p>
                <a:pPr lvl="1"/>
                <a:r>
                  <a:rPr lang="en-US" dirty="0"/>
                  <a:t>Policy improvement sometimes may pick the wrong action, but </a:t>
                </a:r>
                <a:r>
                  <a:rPr lang="en-US" b="1" dirty="0"/>
                  <a:t>on average favors actions with true higher values.</a:t>
                </a:r>
              </a:p>
            </p:txBody>
          </p:sp>
        </mc:Choice>
        <mc:Fallback xmlns="">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noRot="1" noChangeAspect="1" noMove="1" noResize="1" noEditPoints="1" noAdjustHandles="1" noChangeArrowheads="1" noChangeShapeType="1" noTextEdit="1"/>
              </p:cNvSpPr>
              <p:nvPr>
                <p:ph idx="1"/>
              </p:nvPr>
            </p:nvSpPr>
            <p:spPr>
              <a:xfrm>
                <a:off x="838200" y="2973897"/>
                <a:ext cx="10515600" cy="3401531"/>
              </a:xfrm>
              <a:blipFill>
                <a:blip r:embed="rId3"/>
                <a:stretch>
                  <a:fillRect l="-638" t="-3226"/>
                </a:stretch>
              </a:blipFill>
            </p:spPr>
            <p:txBody>
              <a:bodyPr/>
              <a:lstStyle/>
              <a:p>
                <a:r>
                  <a:rPr lang="en-US">
                    <a:noFill/>
                  </a:rPr>
                  <a:t> </a:t>
                </a:r>
              </a:p>
            </p:txBody>
          </p:sp>
        </mc:Fallback>
      </mc:AlternateContent>
    </p:spTree>
    <p:extLst>
      <p:ext uri="{BB962C8B-B14F-4D97-AF65-F5344CB8AC3E}">
        <p14:creationId xmlns:p14="http://schemas.microsoft.com/office/powerpoint/2010/main" val="3368400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AB7F5-DC53-0B92-5EC4-6EE0D3EC5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7CEA-5458-FD9C-AEE9-7C8998BD7F53}"/>
              </a:ext>
            </a:extLst>
          </p:cNvPr>
          <p:cNvSpPr>
            <a:spLocks noGrp="1"/>
          </p:cNvSpPr>
          <p:nvPr>
            <p:ph type="title"/>
          </p:nvPr>
        </p:nvSpPr>
        <p:spPr/>
        <p:txBody>
          <a:bodyPr/>
          <a:lstStyle/>
          <a:p>
            <a:r>
              <a:rPr lang="en-US" dirty="0"/>
              <a:t>MC Prediction to Estimate Q-Values</a:t>
            </a:r>
          </a:p>
        </p:txBody>
      </p:sp>
      <mc:AlternateContent xmlns:mc="http://schemas.openxmlformats.org/markup-compatibility/2006" xmlns:a14="http://schemas.microsoft.com/office/drawing/2010/main">
        <mc:Choice Requires="a14">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p:cNvSpPr>
              <p:nvPr>
                <p:ph idx="1"/>
              </p:nvPr>
            </p:nvSpPr>
            <p:spPr>
              <a:xfrm>
                <a:off x="900440" y="1380579"/>
                <a:ext cx="7758936" cy="4779633"/>
              </a:xfrm>
            </p:spPr>
            <p:txBody>
              <a:bodyPr>
                <a:normAutofit fontScale="70000" lnSpcReduction="20000"/>
              </a:bodyPr>
              <a:lstStyle/>
              <a:p>
                <a:r>
                  <a:rPr lang="en-US" b="0" dirty="0"/>
                  <a:t>MC prediction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br>
                  <a:rPr lang="en-US" b="0" dirty="0"/>
                </a:br>
                <a:endParaRPr lang="en-US" b="0" dirty="0"/>
              </a:p>
              <a:p>
                <a:r>
                  <a:rPr lang="en-US" dirty="0"/>
                  <a:t>Same as</a:t>
                </a:r>
                <a:r>
                  <a:rPr lang="en-US" b="0" dirty="0"/>
                  <a:t>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just record and average returns for action-state pairs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when following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Convergence</a:t>
                </a:r>
                <a:r>
                  <a:rPr lang="en-US" dirty="0"/>
                  <a:t>: Unbiased samples lead to convergence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after </a:t>
                </a:r>
                <a14:m>
                  <m:oMath xmlns:m="http://schemas.openxmlformats.org/officeDocument/2006/math">
                    <m:r>
                      <a:rPr lang="en-US" b="0" i="1" smtClean="0">
                        <a:latin typeface="Cambria Math" panose="02040503050406030204" pitchFamily="18" charset="0"/>
                      </a:rPr>
                      <m:t>∞</m:t>
                    </m:r>
                  </m:oMath>
                </a14:m>
                <a:r>
                  <a:rPr lang="en-US" dirty="0"/>
                  <a:t> episodes.</a:t>
                </a:r>
              </a:p>
              <a:p>
                <a:endParaRPr lang="en-US" b="1" dirty="0"/>
              </a:p>
              <a:p>
                <a:r>
                  <a:rPr lang="en-US" b="1" dirty="0"/>
                  <a:t>Exploration issue</a:t>
                </a:r>
                <a:r>
                  <a:rPr lang="en-US" dirty="0"/>
                  <a:t>: Many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that are important for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may never be visited when following </a:t>
                </a:r>
                <a14:m>
                  <m:oMath xmlns:m="http://schemas.openxmlformats.org/officeDocument/2006/math">
                    <m:r>
                      <a:rPr lang="en-US" b="0" i="1" smtClean="0">
                        <a:latin typeface="Cambria Math" panose="02040503050406030204" pitchFamily="18" charset="0"/>
                      </a:rPr>
                      <m:t>𝜋</m:t>
                    </m:r>
                  </m:oMath>
                </a14:m>
                <a:r>
                  <a:rPr lang="en-US" dirty="0"/>
                  <a:t>. To get Q-Value estimates, we need to keep exploring! </a:t>
                </a:r>
                <a:br>
                  <a:rPr lang="en-US" dirty="0"/>
                </a:br>
                <a:endParaRPr lang="en-US" dirty="0"/>
              </a:p>
              <a:p>
                <a:r>
                  <a:rPr lang="en-US" dirty="0"/>
                  <a:t>Options to guarantee that all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are sampled :</a:t>
                </a:r>
              </a:p>
              <a:p>
                <a:pPr marL="914400" lvl="1" indent="-457200">
                  <a:buFont typeface="+mj-lt"/>
                  <a:buAutoNum type="alphaLcParenR"/>
                </a:pPr>
                <a:r>
                  <a:rPr lang="en-US" b="1" dirty="0"/>
                  <a:t>Exploring starts</a:t>
                </a:r>
                <a:r>
                  <a:rPr lang="en-US" dirty="0"/>
                  <a:t>: choose the starting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 for each episode randomly.</a:t>
                </a:r>
              </a:p>
              <a:p>
                <a:pPr marL="914400" lvl="1" indent="-457200">
                  <a:buFont typeface="+mj-lt"/>
                  <a:buAutoNum type="alphaLcParenR"/>
                </a:pPr>
                <a:r>
                  <a:rPr lang="en-US" dirty="0"/>
                  <a:t>Only consider </a:t>
                </a:r>
                <a:r>
                  <a:rPr lang="en-US" b="1" dirty="0"/>
                  <a:t>soft policies </a:t>
                </a:r>
                <a:r>
                  <a:rPr lang="en-US" dirty="0"/>
                  <a:t>like </a:t>
                </a:r>
                <a14:m>
                  <m:oMath xmlns:m="http://schemas.openxmlformats.org/officeDocument/2006/math">
                    <m:r>
                      <a:rPr lang="en-US" b="0" i="1" smtClean="0">
                        <a:latin typeface="Cambria Math" panose="02040503050406030204" pitchFamily="18" charset="0"/>
                      </a:rPr>
                      <m:t>𝜖</m:t>
                    </m:r>
                  </m:oMath>
                </a14:m>
                <a:r>
                  <a:rPr lang="en-US" dirty="0"/>
                  <a:t>-greedy. </a:t>
                </a:r>
                <a:br>
                  <a:rPr lang="en-US" dirty="0"/>
                </a:br>
                <a:r>
                  <a:rPr lang="en-US" dirty="0"/>
                  <a:t>Remember: Soft policies have non-zero probabilities for all actions so they will explore.</a:t>
                </a:r>
              </a:p>
              <a:p>
                <a:pPr marL="1371600" lvl="2" indent="-457200">
                  <a:buFont typeface="+mj-lt"/>
                  <a:buAutoNum type="alphaLcParenR"/>
                </a:pPr>
                <a:endParaRPr lang="en-US" dirty="0"/>
              </a:p>
            </p:txBody>
          </p:sp>
        </mc:Choice>
        <mc:Fallback xmlns="">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noRot="1" noChangeAspect="1" noMove="1" noResize="1" noEditPoints="1" noAdjustHandles="1" noChangeArrowheads="1" noChangeShapeType="1" noTextEdit="1"/>
              </p:cNvSpPr>
              <p:nvPr>
                <p:ph idx="1"/>
              </p:nvPr>
            </p:nvSpPr>
            <p:spPr>
              <a:xfrm>
                <a:off x="900440" y="1380579"/>
                <a:ext cx="7758936" cy="4779633"/>
              </a:xfrm>
              <a:blipFill>
                <a:blip r:embed="rId2"/>
                <a:stretch>
                  <a:fillRect l="-707" t="-2166"/>
                </a:stretch>
              </a:blipFill>
            </p:spPr>
            <p:txBody>
              <a:bodyPr/>
              <a:lstStyle/>
              <a:p>
                <a:r>
                  <a:rPr lang="en-US">
                    <a:noFill/>
                  </a:rPr>
                  <a:t> </a:t>
                </a:r>
              </a:p>
            </p:txBody>
          </p:sp>
        </mc:Fallback>
      </mc:AlternateContent>
      <p:pic>
        <p:nvPicPr>
          <p:cNvPr id="4"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A8E25886-C1A1-896D-CA44-7596F261C8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0761" b="11508"/>
          <a:stretch>
            <a:fillRect/>
          </a:stretch>
        </p:blipFill>
        <p:spPr bwMode="auto">
          <a:xfrm>
            <a:off x="8769606" y="1380579"/>
            <a:ext cx="2766306" cy="2092632"/>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1637A3C7-9787-B245-847A-66EE87C285C2}"/>
              </a:ext>
              <a:ext uri="{C183D7F6-B498-43B3-948B-1728B52AA6E4}">
                <adec:decorative xmlns:adec="http://schemas.microsoft.com/office/drawing/2017/decorative" val="1"/>
              </a:ext>
            </a:extLst>
          </p:cNvPr>
          <p:cNvGrpSpPr/>
          <p:nvPr/>
        </p:nvGrpSpPr>
        <p:grpSpPr>
          <a:xfrm>
            <a:off x="9077115" y="2532250"/>
            <a:ext cx="776829" cy="814355"/>
            <a:chOff x="9077115" y="2532250"/>
            <a:chExt cx="776829" cy="814355"/>
          </a:xfrm>
        </p:grpSpPr>
        <p:sp>
          <p:nvSpPr>
            <p:cNvPr id="8" name="Arrow: Right 7">
              <a:extLst>
                <a:ext uri="{FF2B5EF4-FFF2-40B4-BE49-F238E27FC236}">
                  <a16:creationId xmlns:a16="http://schemas.microsoft.com/office/drawing/2014/main" id="{5C12E522-80E2-4861-90FA-1A5EEE6F62B1}"/>
                </a:ext>
                <a:ext uri="{C183D7F6-B498-43B3-948B-1728B52AA6E4}">
                  <adec:decorative xmlns:adec="http://schemas.microsoft.com/office/drawing/2017/decorative" val="1"/>
                </a:ext>
              </a:extLst>
            </p:cNvPr>
            <p:cNvSpPr/>
            <p:nvPr/>
          </p:nvSpPr>
          <p:spPr>
            <a:xfrm>
              <a:off x="9701544" y="288709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73688F91-46E8-7014-D581-4E77B99DA25A}"/>
                </a:ext>
                <a:ext uri="{C183D7F6-B498-43B3-948B-1728B52AA6E4}">
                  <adec:decorative xmlns:adec="http://schemas.microsoft.com/office/drawing/2017/decorative" val="1"/>
                </a:ext>
              </a:extLst>
            </p:cNvPr>
            <p:cNvSpPr/>
            <p:nvPr/>
          </p:nvSpPr>
          <p:spPr>
            <a:xfrm rot="5400000">
              <a:off x="9455985" y="321214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2361CF96-06F0-E613-3058-6524CF1E236A}"/>
                </a:ext>
                <a:ext uri="{C183D7F6-B498-43B3-948B-1728B52AA6E4}">
                  <adec:decorative xmlns:adec="http://schemas.microsoft.com/office/drawing/2017/decorative" val="1"/>
                </a:ext>
              </a:extLst>
            </p:cNvPr>
            <p:cNvSpPr/>
            <p:nvPr/>
          </p:nvSpPr>
          <p:spPr>
            <a:xfrm rot="16200000">
              <a:off x="9455985" y="2550188"/>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D02ADD85-B7FA-289A-4408-E2DEDA84160A}"/>
                </a:ext>
                <a:ext uri="{C183D7F6-B498-43B3-948B-1728B52AA6E4}">
                  <adec:decorative xmlns:adec="http://schemas.microsoft.com/office/drawing/2017/decorative" val="1"/>
                </a:ext>
              </a:extLst>
            </p:cNvPr>
            <p:cNvSpPr/>
            <p:nvPr/>
          </p:nvSpPr>
          <p:spPr>
            <a:xfrm flipH="1">
              <a:off x="9077115" y="287749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grpSp>
      <p:sp>
        <p:nvSpPr>
          <p:cNvPr id="7" name="Arrow: Down 6">
            <a:extLst>
              <a:ext uri="{FF2B5EF4-FFF2-40B4-BE49-F238E27FC236}">
                <a16:creationId xmlns:a16="http://schemas.microsoft.com/office/drawing/2014/main" id="{76FE0BB7-8A76-6D81-7A8F-A58771468094}"/>
              </a:ext>
              <a:ext uri="{C183D7F6-B498-43B3-948B-1728B52AA6E4}">
                <adec:decorative xmlns:adec="http://schemas.microsoft.com/office/drawing/2017/decorative" val="1"/>
              </a:ext>
            </a:extLst>
          </p:cNvPr>
          <p:cNvSpPr/>
          <p:nvPr/>
        </p:nvSpPr>
        <p:spPr>
          <a:xfrm>
            <a:off x="10223292" y="3282846"/>
            <a:ext cx="397239" cy="607503"/>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39E04EF-715D-76FC-468F-23217F2D5AA4}"/>
              </a:ext>
            </a:extLst>
          </p:cNvPr>
          <p:cNvSpPr txBox="1"/>
          <p:nvPr/>
        </p:nvSpPr>
        <p:spPr>
          <a:xfrm>
            <a:off x="9581367" y="3890349"/>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6" name="Table 5" descr="Table with 6 rows and 3 columns. Column headers: s, a, q(s,a). Row 1: (1,1), up, Sample average. Row 2: (1,1), right, Sample average. Row 3: (1,1), down, Sample average. Row 4: (1,1), left, Sample average. Row 5: …, …, ….">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pPr/>
                          <a14:m>
                            <m:oMathPara xmlns:m="http://schemas.openxmlformats.org/officeDocument/2006/math">
                              <m:oMath>
                                <m:r>
                                  <a:rPr lang="en-US" sz="1200" dirty="0" smtClean="0">
                                    <a:latin typeface="Cambria Math" panose="02040503050406030204" pitchFamily="18" charset="0"/>
                                  </a:rPr>
                                  <m:t>𝑎</m:t>
                                </m:r>
                              </m:oMath>
                            </m:oMathPara>
                          </a14:m>
                          <a:endParaRPr lang="en-US" sz="1200" dirty="0"/>
                        </a:p>
                      </a:txBody>
                      <a:tcPr/>
                    </a:tc>
                    <a:tc>
                      <a:txBody>
                        <a:bodyPr/>
                        <a:lstStyle/>
                        <a:p>
                          <a:pPr/>
                          <a14:m>
                            <m:oMathPara xmlns:m="http://schemas.openxmlformats.org/officeDocument/2006/math">
                              <m:oMath>
                                <m:r>
                                  <a:rPr lang="en-US" sz="1200" b="0" i="1" dirty="0" smtClean="0">
                                    <a:latin typeface="Cambria Math" panose="02040503050406030204" pitchFamily="18" charset="0"/>
                                  </a:rPr>
                                  <m:t>𝑞</m:t>
                                </m:r>
                                <m:r>
                                  <a:rPr lang="en-US" sz="1200" dirty="0" smtClean="0">
                                    <a:latin typeface="Cambria Math" panose="02040503050406030204" pitchFamily="18" charset="0"/>
                                  </a:rPr>
                                  <m:t>(</m:t>
                                </m:r>
                                <m:r>
                                  <a:rPr lang="en-US" sz="1200" dirty="0" err="1" smtClean="0">
                                    <a:latin typeface="Cambria Math" panose="02040503050406030204" pitchFamily="18" charset="0"/>
                                  </a:rPr>
                                  <m:t>𝑠</m:t>
                                </m:r>
                                <m:r>
                                  <a:rPr lang="en-US" sz="1200" dirty="0" err="1" smtClean="0">
                                    <a:latin typeface="Cambria Math" panose="02040503050406030204" pitchFamily="18" charset="0"/>
                                  </a:rPr>
                                  <m:t>,</m:t>
                                </m:r>
                                <m:r>
                                  <a:rPr lang="en-US" sz="1200" dirty="0" err="1" smtClean="0">
                                    <a:latin typeface="Cambria Math" panose="02040503050406030204" pitchFamily="18" charset="0"/>
                                  </a:rPr>
                                  <m:t>𝑎</m:t>
                                </m:r>
                                <m:r>
                                  <a:rPr lang="en-US" sz="1200"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18288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18288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18288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18288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6" name="Table 5">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274320">
                    <a:tc>
                      <a:txBody>
                        <a:bodyPr/>
                        <a:lstStyle/>
                        <a:p>
                          <a:endParaRPr lang="en-US"/>
                        </a:p>
                      </a:txBody>
                      <a:tcPr>
                        <a:blipFill>
                          <a:blip r:embed="rId4"/>
                          <a:stretch>
                            <a:fillRect l="-1176" t="-2222" r="-420000" b="-520000"/>
                          </a:stretch>
                        </a:blipFill>
                      </a:tcPr>
                    </a:tc>
                    <a:tc>
                      <a:txBody>
                        <a:bodyPr/>
                        <a:lstStyle/>
                        <a:p>
                          <a:endParaRPr lang="en-US"/>
                        </a:p>
                      </a:txBody>
                      <a:tcPr>
                        <a:blipFill>
                          <a:blip r:embed="rId4"/>
                          <a:stretch>
                            <a:fillRect l="-62319" t="-2222" r="-158696" b="-520000"/>
                          </a:stretch>
                        </a:blipFill>
                      </a:tcPr>
                    </a:tc>
                    <a:tc>
                      <a:txBody>
                        <a:bodyPr/>
                        <a:lstStyle/>
                        <a:p>
                          <a:endParaRPr lang="en-US"/>
                        </a:p>
                      </a:txBody>
                      <a:tcPr>
                        <a:blipFill>
                          <a:blip r:embed="rId4"/>
                          <a:stretch>
                            <a:fillRect l="-104673" t="-2222" r="-2336" b="-520000"/>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27432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27432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27432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27432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82684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5C9D4-9246-174B-3F3F-6D460A48B10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0F347B-4EE9-30E8-00B5-6217BDD262D4}"/>
              </a:ext>
            </a:extLst>
          </p:cNvPr>
          <p:cNvSpPr>
            <a:spLocks noGrp="1"/>
          </p:cNvSpPr>
          <p:nvPr>
            <p:ph type="title"/>
          </p:nvPr>
        </p:nvSpPr>
        <p:spPr/>
        <p:txBody>
          <a:bodyPr/>
          <a:lstStyle/>
          <a:p>
            <a:r>
              <a:rPr lang="en-US" dirty="0"/>
              <a:t>Monte Carlo Control with Exploring Starts</a:t>
            </a:r>
          </a:p>
        </p:txBody>
      </p:sp>
      <p:sp>
        <p:nvSpPr>
          <p:cNvPr id="5" name="Text Placeholder 4">
            <a:extLst>
              <a:ext uri="{FF2B5EF4-FFF2-40B4-BE49-F238E27FC236}">
                <a16:creationId xmlns:a16="http://schemas.microsoft.com/office/drawing/2014/main" id="{A6DAFEE9-1053-F86D-705F-36C076B951B6}"/>
              </a:ext>
            </a:extLst>
          </p:cNvPr>
          <p:cNvSpPr>
            <a:spLocks noGrp="1"/>
          </p:cNvSpPr>
          <p:nvPr>
            <p:ph type="body" idx="1"/>
          </p:nvPr>
        </p:nvSpPr>
        <p:spPr/>
        <p:txBody>
          <a:bodyPr/>
          <a:lstStyle/>
          <a:p>
            <a:r>
              <a:rPr lang="en-US" dirty="0"/>
              <a:t>Explore using episodes starting with random states/</a:t>
            </a:r>
            <a:r>
              <a:rPr lang="en-US"/>
              <a:t>action combinations.</a:t>
            </a:r>
            <a:endParaRPr lang="en-US" dirty="0"/>
          </a:p>
        </p:txBody>
      </p:sp>
    </p:spTree>
    <p:extLst>
      <p:ext uri="{BB962C8B-B14F-4D97-AF65-F5344CB8AC3E}">
        <p14:creationId xmlns:p14="http://schemas.microsoft.com/office/powerpoint/2010/main" val="311431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48361-4CE7-7B20-B8C4-E9B2E517CD73}"/>
              </a:ext>
            </a:extLst>
          </p:cNvPr>
          <p:cNvSpPr>
            <a:spLocks noGrp="1"/>
          </p:cNvSpPr>
          <p:nvPr>
            <p:ph type="title"/>
          </p:nvPr>
        </p:nvSpPr>
        <p:spPr/>
        <p:txBody>
          <a:bodyPr/>
          <a:lstStyle/>
          <a:p>
            <a:r>
              <a:rPr lang="en-US" dirty="0"/>
              <a:t>Alg. MC Control with Exploring Starts</a:t>
            </a:r>
          </a:p>
        </p:txBody>
      </p:sp>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B97A11FF-8820-76B6-0A7C-A2E076B1CF36}"/>
              </a:ext>
            </a:extLst>
          </p:cNvPr>
          <p:cNvPicPr>
            <a:picLocks noChangeAspect="1"/>
          </p:cNvPicPr>
          <p:nvPr/>
        </p:nvPicPr>
        <p:blipFill>
          <a:blip r:embed="rId2"/>
          <a:stretch>
            <a:fillRect/>
          </a:stretch>
        </p:blipFill>
        <p:spPr>
          <a:xfrm>
            <a:off x="176169" y="1124198"/>
            <a:ext cx="7808892" cy="3534014"/>
          </a:xfrm>
          <a:prstGeom prst="rect">
            <a:avLst/>
          </a:prstGeom>
        </p:spPr>
      </p:pic>
      <p:pic>
        <p:nvPicPr>
          <p:cNvPr id="10"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6B0E9B77-552E-54B7-59E3-0A167A5B530D}"/>
              </a:ext>
            </a:extLst>
          </p:cNvPr>
          <p:cNvPicPr>
            <a:picLocks noGrp="1" noChangeAspect="1"/>
          </p:cNvPicPr>
          <p:nvPr>
            <p:ph idx="1"/>
          </p:nvPr>
        </p:nvPicPr>
        <p:blipFill>
          <a:blip r:embed="rId3"/>
          <a:srcRect l="1899" t="2118"/>
          <a:stretch>
            <a:fillRect/>
          </a:stretch>
        </p:blipFill>
        <p:spPr>
          <a:xfrm>
            <a:off x="3649211" y="2172749"/>
            <a:ext cx="8326714" cy="4597026"/>
          </a:xfrm>
          <a:prstGeom prst="rect">
            <a:avLst/>
          </a:prstGeom>
        </p:spPr>
      </p:pic>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p:nvPr/>
            </p:nvSpPr>
            <p:spPr>
              <a:xfrm>
                <a:off x="9358270" y="2779867"/>
                <a:ext cx="1610108" cy="654570"/>
              </a:xfrm>
              <a:prstGeom prst="wedgeRoundRectCallout">
                <a:avLst>
                  <a:gd name="adj1" fmla="val -87817"/>
                  <a:gd name="adj2" fmla="val 317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600" i="1" dirty="0" smtClean="0">
                        <a:latin typeface="Cambria Math" panose="02040503050406030204" pitchFamily="18" charset="0"/>
                      </a:rPr>
                      <m:t>𝑄</m:t>
                    </m:r>
                  </m:oMath>
                </a14:m>
                <a:r>
                  <a:rPr lang="en-US" sz="1600" dirty="0"/>
                  <a:t>-Values instead of </a:t>
                </a:r>
                <a14:m>
                  <m:oMath xmlns:m="http://schemas.openxmlformats.org/officeDocument/2006/math">
                    <m:r>
                      <a:rPr lang="en-US" sz="1600" i="1" dirty="0" smtClean="0">
                        <a:latin typeface="Cambria Math" panose="02040503050406030204" pitchFamily="18" charset="0"/>
                      </a:rPr>
                      <m:t>𝑉</m:t>
                    </m:r>
                  </m:oMath>
                </a14:m>
                <a:r>
                  <a:rPr lang="en-US" sz="1600" dirty="0"/>
                  <a:t>.</a:t>
                </a:r>
              </a:p>
            </p:txBody>
          </p:sp>
        </mc:Choice>
        <mc:Fallback xmlns="">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58270" y="2779867"/>
                <a:ext cx="1610108" cy="654570"/>
              </a:xfrm>
              <a:prstGeom prst="wedgeRoundRectCallout">
                <a:avLst>
                  <a:gd name="adj1" fmla="val -87817"/>
                  <a:gd name="adj2" fmla="val 31741"/>
                  <a:gd name="adj3" fmla="val 16667"/>
                </a:avLst>
              </a:prstGeom>
              <a:blipFill>
                <a:blip r:embed="rId4"/>
                <a:stretch>
                  <a:fillRect b="-3704"/>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589874BD-7F62-F3BE-DCA1-380FA9EC2FCC}"/>
              </a:ext>
              <a:ext uri="{C183D7F6-B498-43B3-948B-1728B52AA6E4}">
                <adec:decorative xmlns:adec="http://schemas.microsoft.com/office/drawing/2017/decorative" val="1"/>
              </a:ext>
            </a:extLst>
          </p:cNvPr>
          <p:cNvSpPr/>
          <p:nvPr/>
        </p:nvSpPr>
        <p:spPr>
          <a:xfrm>
            <a:off x="9358270" y="5874249"/>
            <a:ext cx="2154176" cy="387403"/>
          </a:xfrm>
          <a:prstGeom prst="wedgeRoundRectCallout">
            <a:avLst>
              <a:gd name="adj1" fmla="val -137874"/>
              <a:gd name="adj2" fmla="val 435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Greedy policy update</a:t>
            </a:r>
          </a:p>
        </p:txBody>
      </p:sp>
      <p:sp>
        <p:nvSpPr>
          <p:cNvPr id="8" name="Speech Bubble: Rectangle with Corners Rounded 7">
            <a:extLst>
              <a:ext uri="{FF2B5EF4-FFF2-40B4-BE49-F238E27FC236}">
                <a16:creationId xmlns:a16="http://schemas.microsoft.com/office/drawing/2014/main" id="{FDD0AFEB-6629-81BE-A1DE-BFD50DCFE1B1}"/>
              </a:ext>
              <a:ext uri="{C183D7F6-B498-43B3-948B-1728B52AA6E4}">
                <adec:decorative xmlns:adec="http://schemas.microsoft.com/office/drawing/2017/decorative" val="1"/>
              </a:ext>
            </a:extLst>
          </p:cNvPr>
          <p:cNvSpPr/>
          <p:nvPr/>
        </p:nvSpPr>
        <p:spPr>
          <a:xfrm>
            <a:off x="9421217" y="3697846"/>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Exploring starts</a:t>
            </a:r>
          </a:p>
        </p:txBody>
      </p:sp>
      <p:sp>
        <p:nvSpPr>
          <p:cNvPr id="9" name="Arrow: Down 8">
            <a:extLst>
              <a:ext uri="{FF2B5EF4-FFF2-40B4-BE49-F238E27FC236}">
                <a16:creationId xmlns:a16="http://schemas.microsoft.com/office/drawing/2014/main" id="{5EE5C4CD-4DC6-9369-1C42-9B8DBED03473}"/>
              </a:ext>
              <a:ext uri="{C183D7F6-B498-43B3-948B-1728B52AA6E4}">
                <adec:decorative xmlns:adec="http://schemas.microsoft.com/office/drawing/2017/decorative" val="1"/>
              </a:ext>
            </a:extLst>
          </p:cNvPr>
          <p:cNvSpPr/>
          <p:nvPr/>
        </p:nvSpPr>
        <p:spPr>
          <a:xfrm rot="16930409">
            <a:off x="3124899" y="2972773"/>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peech Bubble: Rectangle with Corners Rounded 2">
            <a:extLst>
              <a:ext uri="{FF2B5EF4-FFF2-40B4-BE49-F238E27FC236}">
                <a16:creationId xmlns:a16="http://schemas.microsoft.com/office/drawing/2014/main" id="{D4EE33C7-FED0-6D11-1D5C-56EE1D4CABDA}"/>
              </a:ext>
              <a:ext uri="{C183D7F6-B498-43B3-948B-1728B52AA6E4}">
                <adec:decorative xmlns:adec="http://schemas.microsoft.com/office/drawing/2017/decorative" val="1"/>
              </a:ext>
            </a:extLst>
          </p:cNvPr>
          <p:cNvSpPr/>
          <p:nvPr/>
        </p:nvSpPr>
        <p:spPr>
          <a:xfrm>
            <a:off x="8274769" y="2476061"/>
            <a:ext cx="899211" cy="521972"/>
          </a:xfrm>
          <a:prstGeom prst="wedgeRoundRectCallout">
            <a:avLst>
              <a:gd name="adj1" fmla="val -96152"/>
              <a:gd name="adj2" fmla="val 5615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Learn policy</a:t>
            </a:r>
          </a:p>
        </p:txBody>
      </p:sp>
      <p:sp>
        <p:nvSpPr>
          <p:cNvPr id="6" name="Speech Bubble: Rectangle with Corners Rounded 5">
            <a:extLst>
              <a:ext uri="{FF2B5EF4-FFF2-40B4-BE49-F238E27FC236}">
                <a16:creationId xmlns:a16="http://schemas.microsoft.com/office/drawing/2014/main" id="{6CE2DCE9-C0A3-622A-0091-360C7A3CC0AE}"/>
              </a:ext>
              <a:ext uri="{C183D7F6-B498-43B3-948B-1728B52AA6E4}">
                <adec:decorative xmlns:adec="http://schemas.microsoft.com/office/drawing/2017/decorative" val="1"/>
              </a:ext>
            </a:extLst>
          </p:cNvPr>
          <p:cNvSpPr/>
          <p:nvPr/>
        </p:nvSpPr>
        <p:spPr>
          <a:xfrm>
            <a:off x="9596102" y="4940098"/>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First-visit</a:t>
            </a:r>
          </a:p>
        </p:txBody>
      </p:sp>
      <p:sp>
        <p:nvSpPr>
          <p:cNvPr id="11" name="Speech Bubble: Rectangle with Corners Rounded 10">
            <a:extLst>
              <a:ext uri="{FF2B5EF4-FFF2-40B4-BE49-F238E27FC236}">
                <a16:creationId xmlns:a16="http://schemas.microsoft.com/office/drawing/2014/main" id="{78137891-05BC-12B0-15F8-4F0F387FFF6E}"/>
              </a:ext>
              <a:ext uri="{C183D7F6-B498-43B3-948B-1728B52AA6E4}">
                <adec:decorative xmlns:adec="http://schemas.microsoft.com/office/drawing/2017/decorative" val="1"/>
              </a:ext>
            </a:extLst>
          </p:cNvPr>
          <p:cNvSpPr/>
          <p:nvPr/>
        </p:nvSpPr>
        <p:spPr>
          <a:xfrm>
            <a:off x="9146496" y="930554"/>
            <a:ext cx="2059714" cy="891265"/>
          </a:xfrm>
          <a:prstGeom prst="wedgeRoundRectCallout">
            <a:avLst>
              <a:gd name="adj1" fmla="val -111686"/>
              <a:gd name="adj2" fmla="val -515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So all state-action pairs are tired. </a:t>
            </a:r>
          </a:p>
        </p:txBody>
      </p:sp>
    </p:spTree>
    <p:extLst>
      <p:ext uri="{BB962C8B-B14F-4D97-AF65-F5344CB8AC3E}">
        <p14:creationId xmlns:p14="http://schemas.microsoft.com/office/powerpoint/2010/main" val="2800270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MC with Exploring Starts</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7B18F-AF51-E791-9C62-EEAA55F757AB}"/>
              </a:ext>
            </a:extLst>
          </p:cNvPr>
          <p:cNvSpPr>
            <a:spLocks noGrp="1"/>
          </p:cNvSpPr>
          <p:nvPr>
            <p:ph type="title"/>
          </p:nvPr>
        </p:nvSpPr>
        <p:spPr/>
        <p:txBody>
          <a:bodyPr/>
          <a:lstStyle/>
          <a:p>
            <a:r>
              <a:rPr lang="en-US" dirty="0"/>
              <a:t>MC Control without Exploring Starts</a:t>
            </a:r>
          </a:p>
        </p:txBody>
      </p:sp>
      <mc:AlternateContent xmlns:mc="http://schemas.openxmlformats.org/markup-compatibility/2006" xmlns:a14="http://schemas.microsoft.com/office/drawing/2010/main">
        <mc:Choice Requires="a14">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p:cNvSpPr>
              <p:nvPr>
                <p:ph idx="1"/>
              </p:nvPr>
            </p:nvSpPr>
            <p:spPr/>
            <p:txBody>
              <a:bodyPr/>
              <a:lstStyle/>
              <a:p>
                <a:r>
                  <a:rPr lang="en-US" b="1" dirty="0"/>
                  <a:t>Issue</a:t>
                </a:r>
                <a:r>
                  <a:rPr lang="en-US" dirty="0"/>
                  <a:t>: The environment needs to let us start episodes at different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at will. This is fine for simulations, but hard in the real world.</a:t>
                </a:r>
              </a:p>
              <a:p>
                <a:pPr marL="0" indent="0">
                  <a:buNone/>
                </a:pPr>
                <a:endParaRPr lang="en-US" dirty="0"/>
              </a:p>
              <a:p>
                <a:r>
                  <a:rPr lang="en-US" b="1" dirty="0"/>
                  <a:t>We need exploration for convergence: </a:t>
                </a:r>
                <a:r>
                  <a:rPr lang="en-US" dirty="0"/>
                  <a:t>We need a guarantee that all (reachable) state-action combinations are tried.</a:t>
                </a:r>
              </a:p>
              <a:p>
                <a:endParaRPr lang="en-US" dirty="0"/>
              </a:p>
              <a:p>
                <a:r>
                  <a:rPr lang="en-US" dirty="0"/>
                  <a:t>Options:</a:t>
                </a:r>
              </a:p>
              <a:p>
                <a:pPr marL="914400" lvl="1" indent="-457200">
                  <a:buFont typeface="+mj-lt"/>
                  <a:buAutoNum type="alphaLcParenR"/>
                </a:pPr>
                <a:r>
                  <a:rPr lang="en-US" b="1" dirty="0"/>
                  <a:t>On-policy control</a:t>
                </a:r>
                <a:r>
                  <a:rPr lang="en-US" dirty="0"/>
                  <a:t>: learn a </a:t>
                </a:r>
                <a:r>
                  <a:rPr lang="en-US" b="1" dirty="0"/>
                  <a:t>soft policy </a:t>
                </a:r>
                <a:r>
                  <a:rPr lang="en-US" dirty="0"/>
                  <a:t>instead of the optimal policy.</a:t>
                </a:r>
              </a:p>
              <a:p>
                <a:pPr marL="914400" lvl="1" indent="-457200">
                  <a:buFont typeface="+mj-lt"/>
                  <a:buAutoNum type="alphaLcParenR"/>
                </a:pPr>
                <a:r>
                  <a:rPr lang="en-US" b="1" dirty="0"/>
                  <a:t>Off-policy control</a:t>
                </a:r>
                <a:r>
                  <a:rPr lang="en-US" dirty="0"/>
                  <a:t>: use a soft </a:t>
                </a:r>
                <a:r>
                  <a:rPr lang="en-US" b="1" dirty="0"/>
                  <a:t>behavior policy </a:t>
                </a:r>
                <a:r>
                  <a:rPr lang="en-US" dirty="0"/>
                  <a:t>for sampling that tries all state-action pairs, but learn the optimal, deterministic </a:t>
                </a:r>
                <a:r>
                  <a:rPr lang="en-US" b="1" dirty="0"/>
                  <a:t>target policy</a:t>
                </a:r>
                <a:r>
                  <a:rPr lang="en-US" dirty="0"/>
                  <a:t>. </a:t>
                </a:r>
              </a:p>
            </p:txBody>
          </p:sp>
        </mc:Choice>
        <mc:Fallback xmlns="">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noRot="1" noChangeAspect="1" noMove="1" noResize="1" noEditPoints="1" noAdjustHandles="1" noChangeArrowheads="1" noChangeShapeType="1" noTextEdit="1"/>
              </p:cNvSpPr>
              <p:nvPr>
                <p:ph idx="1"/>
              </p:nvPr>
            </p:nvSpPr>
            <p:spPr>
              <a:blipFill>
                <a:blip r:embed="rId2"/>
                <a:stretch>
                  <a:fillRect l="-1043" t="-2168" r="-1507"/>
                </a:stretch>
              </a:blipFill>
            </p:spPr>
            <p:txBody>
              <a:bodyPr/>
              <a:lstStyle/>
              <a:p>
                <a:r>
                  <a:rPr lang="en-US">
                    <a:noFill/>
                  </a:rPr>
                  <a:t> </a:t>
                </a:r>
              </a:p>
            </p:txBody>
          </p:sp>
        </mc:Fallback>
      </mc:AlternateContent>
    </p:spTree>
    <p:extLst>
      <p:ext uri="{BB962C8B-B14F-4D97-AF65-F5344CB8AC3E}">
        <p14:creationId xmlns:p14="http://schemas.microsoft.com/office/powerpoint/2010/main" val="1733521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F5B12-081D-E1A8-2074-F24D7983F2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5D340A-8717-DDE3-8CB9-FC1AAF511C3D}"/>
              </a:ext>
            </a:extLst>
          </p:cNvPr>
          <p:cNvSpPr>
            <a:spLocks noGrp="1"/>
          </p:cNvSpPr>
          <p:nvPr>
            <p:ph type="title"/>
          </p:nvPr>
        </p:nvSpPr>
        <p:spPr/>
        <p:txBody>
          <a:bodyPr/>
          <a:lstStyle/>
          <a:p>
            <a:r>
              <a:rPr lang="en-US" dirty="0"/>
              <a:t>On-Policy Monte Carlo Control</a:t>
            </a:r>
          </a:p>
        </p:txBody>
      </p:sp>
      <p:sp>
        <p:nvSpPr>
          <p:cNvPr id="5" name="Text Placeholder 4">
            <a:extLst>
              <a:ext uri="{FF2B5EF4-FFF2-40B4-BE49-F238E27FC236}">
                <a16:creationId xmlns:a16="http://schemas.microsoft.com/office/drawing/2014/main" id="{4D83536F-8662-B3C1-520C-4AD4B6B42DDB}"/>
              </a:ext>
            </a:extLst>
          </p:cNvPr>
          <p:cNvSpPr>
            <a:spLocks noGrp="1"/>
          </p:cNvSpPr>
          <p:nvPr>
            <p:ph type="body" idx="1"/>
          </p:nvPr>
        </p:nvSpPr>
        <p:spPr/>
        <p:txBody>
          <a:bodyPr/>
          <a:lstStyle/>
          <a:p>
            <a:r>
              <a:rPr lang="en-US" dirty="0"/>
              <a:t>Explore using a soft policy</a:t>
            </a:r>
          </a:p>
        </p:txBody>
      </p:sp>
    </p:spTree>
    <p:extLst>
      <p:ext uri="{BB962C8B-B14F-4D97-AF65-F5344CB8AC3E}">
        <p14:creationId xmlns:p14="http://schemas.microsoft.com/office/powerpoint/2010/main" val="2353920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482D-FBE8-E8AF-A0D6-5E553AFB07A5}"/>
              </a:ext>
            </a:extLst>
          </p:cNvPr>
          <p:cNvSpPr>
            <a:spLocks noGrp="1"/>
          </p:cNvSpPr>
          <p:nvPr>
            <p:ph type="title"/>
          </p:nvPr>
        </p:nvSpPr>
        <p:spPr/>
        <p:txBody>
          <a:bodyPr/>
          <a:lstStyle/>
          <a:p>
            <a:r>
              <a:rPr lang="en-US" dirty="0"/>
              <a:t>Exploration with On-Policy Methods</a:t>
            </a:r>
          </a:p>
        </p:txBody>
      </p:sp>
      <p:sp>
        <p:nvSpPr>
          <p:cNvPr id="3" name="Content Placeholder 2">
            <a:extLst>
              <a:ext uri="{FF2B5EF4-FFF2-40B4-BE49-F238E27FC236}">
                <a16:creationId xmlns:a16="http://schemas.microsoft.com/office/drawing/2014/main" id="{03824046-78CD-3868-7C6F-2A610ED245F1}"/>
              </a:ext>
            </a:extLst>
          </p:cNvPr>
          <p:cNvSpPr>
            <a:spLocks noGrp="1"/>
          </p:cNvSpPr>
          <p:nvPr>
            <p:ph idx="1"/>
          </p:nvPr>
        </p:nvSpPr>
        <p:spPr>
          <a:xfrm>
            <a:off x="838200" y="1379349"/>
            <a:ext cx="10515600" cy="4986727"/>
          </a:xfrm>
        </p:spPr>
        <p:txBody>
          <a:bodyPr>
            <a:normAutofit lnSpcReduction="10000"/>
          </a:bodyPr>
          <a:lstStyle/>
          <a:p>
            <a:pPr marL="0" indent="0">
              <a:buNone/>
            </a:pPr>
            <a:r>
              <a:rPr lang="en-US" dirty="0"/>
              <a:t>On-policy methods learn the policy they follow.</a:t>
            </a:r>
          </a:p>
          <a:p>
            <a:pPr marL="0" indent="0">
              <a:buNone/>
            </a:pPr>
            <a:endParaRPr lang="en-US" b="1" dirty="0"/>
          </a:p>
          <a:p>
            <a:pPr marL="0" indent="0">
              <a:buNone/>
            </a:pPr>
            <a:r>
              <a:rPr lang="en-US" b="1" dirty="0"/>
              <a:t>Dilemma</a:t>
            </a:r>
            <a:r>
              <a:rPr lang="en-US" dirty="0"/>
              <a:t>: </a:t>
            </a:r>
          </a:p>
          <a:p>
            <a:pPr lvl="1"/>
            <a:r>
              <a:rPr lang="en-US" dirty="0"/>
              <a:t>We need behavior (follow a policy) that explores. Such a policy is called a soft policy.</a:t>
            </a:r>
          </a:p>
          <a:p>
            <a:pPr lvl="1"/>
            <a:r>
              <a:rPr lang="en-US" dirty="0"/>
              <a:t>On-policy methods can only learn soft policies, but we know that MDPs have an optimal deterministic policy.</a:t>
            </a:r>
          </a:p>
          <a:p>
            <a:pPr marL="457200" lvl="1" indent="0">
              <a:buNone/>
            </a:pPr>
            <a:endParaRPr lang="en-US" dirty="0"/>
          </a:p>
          <a:p>
            <a:pPr marL="0" indent="0">
              <a:buNone/>
            </a:pPr>
            <a:r>
              <a:rPr lang="en-US" b="1" dirty="0"/>
              <a:t>Optimality issue</a:t>
            </a:r>
            <a:r>
              <a:rPr lang="en-US" dirty="0"/>
              <a:t>: </a:t>
            </a:r>
          </a:p>
          <a:p>
            <a:pPr lvl="1"/>
            <a:r>
              <a:rPr lang="en-US" dirty="0"/>
              <a:t>We can convert a soft policy into a greedy deterministic policy by always picking the action with the highest probability. </a:t>
            </a:r>
          </a:p>
          <a:p>
            <a:pPr lvl="1"/>
            <a:r>
              <a:rPr lang="en-US" dirty="0"/>
              <a:t>This is called the greedy policy. </a:t>
            </a:r>
          </a:p>
          <a:p>
            <a:pPr lvl="1"/>
            <a:r>
              <a:rPr lang="en-US" dirty="0"/>
              <a:t>The greedy policy may not be optimal!</a:t>
            </a:r>
          </a:p>
        </p:txBody>
      </p:sp>
    </p:spTree>
    <p:extLst>
      <p:ext uri="{BB962C8B-B14F-4D97-AF65-F5344CB8AC3E}">
        <p14:creationId xmlns:p14="http://schemas.microsoft.com/office/powerpoint/2010/main" val="560506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22310-FA64-2841-526C-6FAEAF8162B1}"/>
              </a:ext>
            </a:extLst>
          </p:cNvPr>
          <p:cNvSpPr>
            <a:spLocks noGrp="1"/>
          </p:cNvSpPr>
          <p:nvPr>
            <p:ph type="title"/>
          </p:nvPr>
        </p:nvSpPr>
        <p:spPr/>
        <p:txBody>
          <a:bodyPr/>
          <a:lstStyle/>
          <a:p>
            <a:r>
              <a:rPr lang="en-US" dirty="0"/>
              <a:t>Types of Soft Policies for Exploration</a:t>
            </a:r>
          </a:p>
        </p:txBody>
      </p:sp>
      <mc:AlternateContent xmlns:mc="http://schemas.openxmlformats.org/markup-compatibility/2006" xmlns:a14="http://schemas.microsoft.com/office/drawing/2010/main">
        <mc:Choice Requires="a14">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p:nvPr/>
            </p:nvSpPr>
            <p:spPr>
              <a:xfrm>
                <a:off x="4170985" y="1248099"/>
                <a:ext cx="3850029"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0" indent="0">
                  <a:buNone/>
                </a:pPr>
                <a:r>
                  <a:rPr lang="en-US" b="1" dirty="0"/>
                  <a:t>Definition </a:t>
                </a:r>
                <a:r>
                  <a:rPr lang="en-US" dirty="0"/>
                  <a:t>: A policy is soft if</a:t>
                </a:r>
                <a:endParaRPr lang="en-US" b="0" i="1" dirty="0">
                  <a:latin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p:txBody>
          </p:sp>
        </mc:Choice>
        <mc:Fallback xmlns="">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a:spLocks noRot="1" noChangeAspect="1" noMove="1" noResize="1" noEditPoints="1" noAdjustHandles="1" noChangeArrowheads="1" noChangeShapeType="1" noTextEdit="1"/>
              </p:cNvSpPr>
              <p:nvPr/>
            </p:nvSpPr>
            <p:spPr>
              <a:xfrm>
                <a:off x="4170985" y="1248099"/>
                <a:ext cx="3850029" cy="646331"/>
              </a:xfrm>
              <a:prstGeom prst="rect">
                <a:avLst/>
              </a:prstGeom>
              <a:blipFill>
                <a:blip r:embed="rId3"/>
                <a:stretch>
                  <a:fillRect l="-1102" t="-36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p:cNvSpPr>
              <p:nvPr>
                <p:ph idx="1"/>
              </p:nvPr>
            </p:nvSpPr>
            <p:spPr>
              <a:xfrm>
                <a:off x="838200" y="2152891"/>
                <a:ext cx="10515600" cy="4024072"/>
              </a:xfrm>
            </p:spPr>
            <p:txBody>
              <a:bodyPr>
                <a:normAutofit fontScale="70000" lnSpcReduction="20000"/>
              </a:bodyPr>
              <a:lstStyle/>
              <a:p>
                <a:pPr marL="0" indent="0">
                  <a:buNone/>
                </a:pPr>
                <a:r>
                  <a:rPr lang="en-US" dirty="0"/>
                  <a:t>Soft policies are stochastic and used as behavior policies that guarantee exploration.</a:t>
                </a:r>
              </a:p>
              <a:p>
                <a:pPr marL="0" indent="0" algn="ctr">
                  <a:buNone/>
                </a:pPr>
                <a:endParaRPr lang="en-US" dirty="0"/>
              </a:p>
              <a:p>
                <a:pPr marL="0" indent="0">
                  <a:buNone/>
                </a:pPr>
                <a:r>
                  <a:rPr lang="en-US" b="1" dirty="0"/>
                  <a:t>Important Soft Policy Types:</a:t>
                </a:r>
              </a:p>
              <a:p>
                <a:pPr lvl="1"/>
                <a14:m>
                  <m:oMath xmlns:m="http://schemas.openxmlformats.org/officeDocument/2006/math">
                    <m:r>
                      <a:rPr lang="en-US" b="1" i="1" smtClean="0">
                        <a:latin typeface="Cambria Math" panose="02040503050406030204" pitchFamily="18" charset="0"/>
                      </a:rPr>
                      <m:t>𝝐</m:t>
                    </m:r>
                  </m:oMath>
                </a14:m>
                <a:r>
                  <a:rPr lang="en-US" b="1" dirty="0"/>
                  <a:t>-soft policy</a:t>
                </a:r>
                <a:r>
                  <a:rPr lang="en-US" dirty="0"/>
                  <a:t>: agent takes with probability </a:t>
                </a:r>
                <a14:m>
                  <m:oMath xmlns:m="http://schemas.openxmlformats.org/officeDocument/2006/math">
                    <m:r>
                      <a:rPr lang="en-US" b="0" i="1" smtClean="0">
                        <a:latin typeface="Cambria Math" panose="02040503050406030204" pitchFamily="18" charset="0"/>
                      </a:rPr>
                      <m:t>𝜖</m:t>
                    </m:r>
                  </m:oMath>
                </a14:m>
                <a:r>
                  <a:rPr lang="en-US" dirty="0"/>
                  <a:t> a random action.</a:t>
                </a:r>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oMath>
                  </m:oMathPara>
                </a14:m>
                <a:endParaRPr lang="en-US" dirty="0"/>
              </a:p>
              <a:p>
                <a:pPr marL="457200" lvl="1" indent="0">
                  <a:buNone/>
                </a:pPr>
                <a:endParaRPr lang="en-US" dirty="0"/>
              </a:p>
              <a:p>
                <a:pPr lvl="1"/>
                <a14:m>
                  <m:oMath xmlns:m="http://schemas.openxmlformats.org/officeDocument/2006/math">
                    <m:r>
                      <a:rPr lang="en-US" b="1" i="1">
                        <a:latin typeface="Cambria Math" panose="02040503050406030204" pitchFamily="18" charset="0"/>
                      </a:rPr>
                      <m:t>𝝐</m:t>
                    </m:r>
                  </m:oMath>
                </a14:m>
                <a:r>
                  <a:rPr lang="en-US" b="1" dirty="0"/>
                  <a:t>-greedy policy</a:t>
                </a:r>
                <a:r>
                  <a:rPr lang="en-US" dirty="0"/>
                  <a:t>: follows a greedy policy but chooses a random action with probability </a:t>
                </a:r>
                <a14:m>
                  <m:oMath xmlns:m="http://schemas.openxmlformats.org/officeDocument/2006/math">
                    <m:r>
                      <a:rPr lang="en-US" b="0" i="1" smtClean="0">
                        <a:latin typeface="Cambria Math" panose="02040503050406030204" pitchFamily="18" charset="0"/>
                      </a:rPr>
                      <m:t>𝜖</m:t>
                    </m:r>
                  </m:oMath>
                </a14:m>
                <a:endParaRPr lang="en-US" dirty="0"/>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m:t>
                              </m:r>
                              <m:r>
                                <a:rPr lang="en-US" b="0" i="1" smtClean="0">
                                  <a:latin typeface="Cambria Math" panose="02040503050406030204" pitchFamily="18" charset="0"/>
                                </a:rPr>
                                <m:t>𝜖</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rPr>
                                <m:t>     </m:t>
                              </m:r>
                              <m:r>
                                <m:rPr>
                                  <m:nor/>
                                </m:rPr>
                                <a:rPr lang="en-US" b="0" i="0" smtClean="0">
                                  <a:latin typeface="Cambria Math" panose="02040503050406030204" pitchFamily="18" charset="0"/>
                                </a:rPr>
                                <m:t>if</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r>
                                <m:rPr>
                                  <m:nor/>
                                </m:rPr>
                                <a:rPr lang="en-US" b="0" i="0" smtClean="0">
                                  <a:latin typeface="Cambria Math" panose="02040503050406030204" pitchFamily="18" charset="0"/>
                                </a:rPr>
                                <m:t>greedy action</m:t>
                              </m:r>
                            </m:e>
                            <m:e>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r>
                                <m:rPr>
                                  <m:nor/>
                                </m:rPr>
                                <a:rPr lang="en-US" b="0" i="0" smtClean="0">
                                  <a:latin typeface="Cambria Math" panose="02040503050406030204" pitchFamily="18" charset="0"/>
                                </a:rPr>
                                <m:t>                   </m:t>
                              </m:r>
                              <m:r>
                                <m:rPr>
                                  <m:nor/>
                                </m:rPr>
                                <a:rPr lang="en-US" i="0">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𝑎</m:t>
                              </m:r>
                              <m:r>
                                <a:rPr lang="en-US" b="0" i="1" smtClean="0">
                                  <a:latin typeface="Cambria Math" panose="02040503050406030204" pitchFamily="18" charset="0"/>
                                </a:rPr>
                                <m:t>≠</m:t>
                              </m:r>
                              <m:r>
                                <m:rPr>
                                  <m:nor/>
                                </m:rPr>
                                <a:rPr lang="en-US" i="0">
                                  <a:latin typeface="Cambria Math" panose="02040503050406030204" pitchFamily="18" charset="0"/>
                                </a:rPr>
                                <m:t>greedy action</m:t>
                              </m:r>
                            </m:e>
                          </m:eqArr>
                        </m:e>
                      </m:d>
                    </m:oMath>
                  </m:oMathPara>
                </a14:m>
                <a:endParaRPr lang="en-US" dirty="0"/>
              </a:p>
            </p:txBody>
          </p:sp>
        </mc:Choice>
        <mc:Fallback xmlns="">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noRot="1" noChangeAspect="1" noMove="1" noResize="1" noEditPoints="1" noAdjustHandles="1" noChangeArrowheads="1" noChangeShapeType="1" noTextEdit="1"/>
              </p:cNvSpPr>
              <p:nvPr>
                <p:ph idx="1"/>
              </p:nvPr>
            </p:nvSpPr>
            <p:spPr>
              <a:xfrm>
                <a:off x="838200" y="2152891"/>
                <a:ext cx="10515600" cy="4024072"/>
              </a:xfrm>
              <a:blipFill>
                <a:blip r:embed="rId2"/>
                <a:stretch>
                  <a:fillRect l="-638" t="-2576"/>
                </a:stretch>
              </a:blipFill>
            </p:spPr>
            <p:txBody>
              <a:bodyPr/>
              <a:lstStyle/>
              <a:p>
                <a:r>
                  <a:rPr lang="en-US">
                    <a:noFill/>
                  </a:rPr>
                  <a:t> </a:t>
                </a:r>
              </a:p>
            </p:txBody>
          </p:sp>
        </mc:Fallback>
      </mc:AlternateContent>
    </p:spTree>
    <p:extLst>
      <p:ext uri="{BB962C8B-B14F-4D97-AF65-F5344CB8AC3E}">
        <p14:creationId xmlns:p14="http://schemas.microsoft.com/office/powerpoint/2010/main" val="38257543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p:cNvSpPr>
              <p:nvPr>
                <p:ph type="title"/>
              </p:nvPr>
            </p:nvSpPr>
            <p:spPr/>
            <p:txBody>
              <a:bodyPr>
                <a:normAutofit/>
              </a:bodyPr>
              <a:lstStyle/>
              <a:p>
                <a:r>
                  <a:rPr lang="en-US" dirty="0"/>
                  <a:t>Alg. On-Policy MC Control with </a:t>
                </a:r>
                <a14:m>
                  <m:oMath xmlns:m="http://schemas.openxmlformats.org/officeDocument/2006/math">
                    <m:r>
                      <a:rPr lang="en-US" b="0" i="1" smtClean="0">
                        <a:latin typeface="Cambria Math" panose="02040503050406030204" pitchFamily="18" charset="0"/>
                      </a:rPr>
                      <m:t>𝜖</m:t>
                    </m:r>
                  </m:oMath>
                </a14:m>
                <a:r>
                  <a:rPr lang="en-US" dirty="0"/>
                  <a:t>-soft Policies</a:t>
                </a:r>
              </a:p>
            </p:txBody>
          </p:sp>
        </mc:Choice>
        <mc:Fallback xmlns="">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noRot="1" noChangeAspect="1" noMove="1" noResize="1" noEditPoints="1" noAdjustHandles="1" noChangeArrowheads="1" noChangeShapeType="1" noTextEdit="1"/>
              </p:cNvSpPr>
              <p:nvPr>
                <p:ph type="title"/>
              </p:nvPr>
            </p:nvSpPr>
            <p:spPr>
              <a:blipFill>
                <a:blip r:embed="rId3"/>
                <a:stretch>
                  <a:fillRect l="-2377" t="-20161" r="-1681" b="-35484"/>
                </a:stretch>
              </a:blipFill>
            </p:spPr>
            <p:txBody>
              <a:bodyPr/>
              <a:lstStyle/>
              <a:p>
                <a:r>
                  <a:rPr lang="en-US">
                    <a:noFill/>
                  </a:rPr>
                  <a:t> </a:t>
                </a:r>
              </a:p>
            </p:txBody>
          </p:sp>
        </mc:Fallback>
      </mc:AlternateContent>
      <p:pic>
        <p:nvPicPr>
          <p:cNvPr id="6"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F9296D69-011E-18E3-493B-449C50867E23}"/>
              </a:ext>
            </a:extLst>
          </p:cNvPr>
          <p:cNvPicPr>
            <a:picLocks noChangeAspect="1"/>
          </p:cNvPicPr>
          <p:nvPr/>
        </p:nvPicPr>
        <p:blipFill>
          <a:blip r:embed="rId4"/>
          <a:stretch>
            <a:fillRect/>
          </a:stretch>
        </p:blipFill>
        <p:spPr>
          <a:xfrm>
            <a:off x="414221" y="1079779"/>
            <a:ext cx="6764650" cy="3742954"/>
          </a:xfrm>
          <a:prstGeom prst="rect">
            <a:avLst/>
          </a:prstGeom>
        </p:spPr>
      </p:pic>
      <p:pic>
        <p:nvPicPr>
          <p:cNvPr id="4"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D02F365C-A50B-8950-7636-B2CF14BC8E6A}"/>
              </a:ext>
            </a:extLst>
          </p:cNvPr>
          <p:cNvPicPr>
            <a:picLocks noGrp="1" noChangeAspect="1"/>
          </p:cNvPicPr>
          <p:nvPr>
            <p:ph idx="1"/>
          </p:nvPr>
        </p:nvPicPr>
        <p:blipFill>
          <a:blip r:embed="rId5"/>
          <a:srcRect l="2189" t="2792"/>
          <a:stretch>
            <a:fillRect/>
          </a:stretch>
        </p:blipFill>
        <p:spPr>
          <a:xfrm>
            <a:off x="4316126" y="1613450"/>
            <a:ext cx="7289930" cy="4646532"/>
          </a:xfrm>
          <a:prstGeom prst="rect">
            <a:avLst/>
          </a:prstGeom>
        </p:spPr>
      </p:pic>
      <p:sp>
        <p:nvSpPr>
          <p:cNvPr id="3" name="Speech Bubble: Rectangle with Corners Rounded 2">
            <a:extLst>
              <a:ext uri="{FF2B5EF4-FFF2-40B4-BE49-F238E27FC236}">
                <a16:creationId xmlns:a16="http://schemas.microsoft.com/office/drawing/2014/main" id="{3571F969-4B0D-E116-108F-D7C3445B56A8}"/>
              </a:ext>
              <a:ext uri="{C183D7F6-B498-43B3-948B-1728B52AA6E4}">
                <adec:decorative xmlns:adec="http://schemas.microsoft.com/office/drawing/2017/decorative" val="1"/>
              </a:ext>
            </a:extLst>
          </p:cNvPr>
          <p:cNvSpPr/>
          <p:nvPr/>
        </p:nvSpPr>
        <p:spPr>
          <a:xfrm>
            <a:off x="9065161" y="2117480"/>
            <a:ext cx="1287710" cy="503209"/>
          </a:xfrm>
          <a:prstGeom prst="wedgeRoundRectCallout">
            <a:avLst>
              <a:gd name="adj1" fmla="val -182071"/>
              <a:gd name="adj2" fmla="val 646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Start with soft policy</a:t>
            </a:r>
          </a:p>
        </p:txBody>
      </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p:nvPr/>
            </p:nvSpPr>
            <p:spPr>
              <a:xfrm>
                <a:off x="9813707" y="5491254"/>
                <a:ext cx="1590502" cy="503209"/>
              </a:xfrm>
              <a:prstGeom prst="wedgeRoundRectCallout">
                <a:avLst>
                  <a:gd name="adj1" fmla="val -85291"/>
                  <a:gd name="adj2" fmla="val 219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Create </a:t>
                </a:r>
                <a:br>
                  <a:rPr lang="en-US" sz="1600" dirty="0"/>
                </a:br>
                <a14:m>
                  <m:oMath xmlns:m="http://schemas.openxmlformats.org/officeDocument/2006/math">
                    <m:r>
                      <a:rPr lang="en-US" sz="1600" b="0" i="1" smtClean="0">
                        <a:latin typeface="Cambria Math" panose="02040503050406030204" pitchFamily="18" charset="0"/>
                      </a:rPr>
                      <m:t>𝜖</m:t>
                    </m:r>
                  </m:oMath>
                </a14:m>
                <a:r>
                  <a:rPr lang="en-US" sz="1600" dirty="0"/>
                  <a:t>-greedy policy</a:t>
                </a:r>
              </a:p>
            </p:txBody>
          </p:sp>
        </mc:Choice>
        <mc:Fallback xmlns="">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13707" y="5491254"/>
                <a:ext cx="1590502" cy="503209"/>
              </a:xfrm>
              <a:prstGeom prst="wedgeRoundRectCallout">
                <a:avLst>
                  <a:gd name="adj1" fmla="val -85291"/>
                  <a:gd name="adj2" fmla="val 2192"/>
                  <a:gd name="adj3" fmla="val 16667"/>
                </a:avLst>
              </a:prstGeom>
              <a:blipFill>
                <a:blip r:embed="rId6"/>
                <a:stretch>
                  <a:fillRect t="-9756" b="-19512"/>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96D542BC-741E-1EA0-F955-AA3E2AA650E1}"/>
              </a:ext>
              <a:ext uri="{C183D7F6-B498-43B3-948B-1728B52AA6E4}">
                <adec:decorative xmlns:adec="http://schemas.microsoft.com/office/drawing/2017/decorative" val="1"/>
              </a:ext>
            </a:extLst>
          </p:cNvPr>
          <p:cNvSpPr/>
          <p:nvPr/>
        </p:nvSpPr>
        <p:spPr>
          <a:xfrm>
            <a:off x="9169852" y="2978817"/>
            <a:ext cx="1287710" cy="503209"/>
          </a:xfrm>
          <a:prstGeom prst="wedgeRoundRectCallout">
            <a:avLst>
              <a:gd name="adj1" fmla="val -194315"/>
              <a:gd name="adj2" fmla="val 708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No exploring starts!</a:t>
            </a:r>
          </a:p>
        </p:txBody>
      </p:sp>
      <p:sp>
        <p:nvSpPr>
          <p:cNvPr id="8" name="Arrow: Down 7">
            <a:extLst>
              <a:ext uri="{FF2B5EF4-FFF2-40B4-BE49-F238E27FC236}">
                <a16:creationId xmlns:a16="http://schemas.microsoft.com/office/drawing/2014/main" id="{553659F1-47C7-2086-0167-0CFACDBECB2F}"/>
              </a:ext>
              <a:ext uri="{C183D7F6-B498-43B3-948B-1728B52AA6E4}">
                <adec:decorative xmlns:adec="http://schemas.microsoft.com/office/drawing/2017/decorative" val="1"/>
              </a:ext>
            </a:extLst>
          </p:cNvPr>
          <p:cNvSpPr/>
          <p:nvPr/>
        </p:nvSpPr>
        <p:spPr>
          <a:xfrm rot="16930409">
            <a:off x="3707934" y="267359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p:nvPr/>
            </p:nvSpPr>
            <p:spPr>
              <a:xfrm>
                <a:off x="1364104" y="6308208"/>
                <a:ext cx="955661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Important</a:t>
                </a:r>
                <a:r>
                  <a:rPr lang="en-US" dirty="0"/>
                  <a:t>: On-policy learns the best </a:t>
                </a:r>
                <a14:m>
                  <m:oMath xmlns:m="http://schemas.openxmlformats.org/officeDocument/2006/math">
                    <m:r>
                      <a:rPr lang="en-US" b="0" i="1" smtClean="0">
                        <a:latin typeface="Cambria Math" panose="02040503050406030204" pitchFamily="18" charset="0"/>
                      </a:rPr>
                      <m:t>𝜖</m:t>
                    </m:r>
                  </m:oMath>
                </a14:m>
                <a:r>
                  <a:rPr lang="en-US" dirty="0"/>
                  <a:t>-greedy policy, but not the optimal deterministic policy!</a:t>
                </a:r>
              </a:p>
            </p:txBody>
          </p:sp>
        </mc:Choice>
        <mc:Fallback xmlns="">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a:spLocks noRot="1" noChangeAspect="1" noMove="1" noResize="1" noEditPoints="1" noAdjustHandles="1" noChangeArrowheads="1" noChangeShapeType="1" noTextEdit="1"/>
              </p:cNvSpPr>
              <p:nvPr/>
            </p:nvSpPr>
            <p:spPr>
              <a:xfrm>
                <a:off x="1364104" y="6308208"/>
                <a:ext cx="9556610" cy="369332"/>
              </a:xfrm>
              <a:prstGeom prst="rect">
                <a:avLst/>
              </a:prstGeom>
              <a:blipFill>
                <a:blip r:embed="rId7"/>
                <a:stretch>
                  <a:fillRect l="-510"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518848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DDC0C-7B50-2CF0-564C-587B670953AF}"/>
              </a:ext>
            </a:extLst>
          </p:cNvPr>
          <p:cNvSpPr>
            <a:spLocks noGrp="1"/>
          </p:cNvSpPr>
          <p:nvPr>
            <p:ph type="title"/>
          </p:nvPr>
        </p:nvSpPr>
        <p:spPr/>
        <p:txBody>
          <a:bodyPr>
            <a:normAutofit fontScale="90000"/>
          </a:bodyPr>
          <a:lstStyle/>
          <a:p>
            <a:r>
              <a:rPr lang="en-US" dirty="0"/>
              <a:t>Convergence to the Optimal Policy: </a:t>
            </a:r>
            <a:br>
              <a:rPr lang="en-US" dirty="0"/>
            </a:br>
            <a:r>
              <a:rPr lang="en-US" dirty="0"/>
              <a:t>Greedy in the Limit with Infinite Exploration (GLIE)</a:t>
            </a:r>
          </a:p>
        </p:txBody>
      </p:sp>
      <mc:AlternateContent xmlns:mc="http://schemas.openxmlformats.org/markup-compatibility/2006" xmlns:a14="http://schemas.microsoft.com/office/drawing/2010/main">
        <mc:Choice Requires="a14">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p:cNvSpPr>
              <p:nvPr>
                <p:ph idx="1"/>
              </p:nvPr>
            </p:nvSpPr>
            <p:spPr>
              <a:xfrm>
                <a:off x="838200" y="1397329"/>
                <a:ext cx="10515600" cy="5194453"/>
              </a:xfrm>
            </p:spPr>
            <p:txBody>
              <a:bodyPr>
                <a:normAutofit fontScale="70000" lnSpcReduction="20000"/>
              </a:bodyPr>
              <a:lstStyle/>
              <a:p>
                <a:pPr marL="0" indent="0">
                  <a:buNone/>
                </a:pPr>
                <a:r>
                  <a:rPr lang="en-US" b="1" dirty="0"/>
                  <a:t>Issues</a:t>
                </a:r>
                <a:r>
                  <a:rPr lang="en-US" dirty="0"/>
                  <a:t>: </a:t>
                </a:r>
              </a:p>
              <a:p>
                <a:pPr marL="914400" lvl="1" indent="-457200">
                  <a:buFont typeface="+mj-lt"/>
                  <a:buAutoNum type="arabicPeriod"/>
                </a:pPr>
                <a:r>
                  <a:rPr lang="en-US" dirty="0"/>
                  <a:t>On-policy MC control algorithms change the policy and </a:t>
                </a:r>
                <a:r>
                  <a:rPr lang="en-US" b="1" dirty="0"/>
                  <a:t>average over returns from different policies</a:t>
                </a:r>
                <a:r>
                  <a:rPr lang="en-US" dirty="0"/>
                  <a:t>. This could be a problem for convergence!</a:t>
                </a:r>
              </a:p>
              <a:p>
                <a:pPr marL="914400" lvl="1" indent="-457200">
                  <a:buFont typeface="+mj-lt"/>
                  <a:buAutoNum type="arabicPeriod"/>
                </a:pPr>
                <a:r>
                  <a:rPr lang="en-US" dirty="0"/>
                  <a:t>On-policy methods learn a </a:t>
                </a:r>
                <a:r>
                  <a:rPr lang="en-US" b="1" dirty="0"/>
                  <a:t>soft policy </a:t>
                </a:r>
                <a:r>
                  <a:rPr lang="en-US" dirty="0"/>
                  <a:t>which is crucial for exploration, but is not optimal.</a:t>
                </a:r>
              </a:p>
              <a:p>
                <a:endParaRPr lang="en-US" dirty="0"/>
              </a:p>
              <a:p>
                <a:endParaRPr lang="en-US" b="1" dirty="0"/>
              </a:p>
              <a:p>
                <a:endParaRPr lang="en-US" b="1" dirty="0"/>
              </a:p>
              <a:p>
                <a:endParaRPr lang="en-US" b="1" dirty="0"/>
              </a:p>
              <a:p>
                <a:endParaRPr lang="en-US" b="1" dirty="0"/>
              </a:p>
              <a:p>
                <a:endParaRPr lang="en-US" b="1" dirty="0"/>
              </a:p>
              <a:p>
                <a:pPr marL="0" indent="0">
                  <a:buNone/>
                </a:pPr>
                <a:endParaRPr lang="en-US" b="1" dirty="0"/>
              </a:p>
              <a:p>
                <a:endParaRPr lang="en-US" b="1" dirty="0"/>
              </a:p>
              <a:p>
                <a:pPr marL="0" indent="0">
                  <a:buNone/>
                </a:pPr>
                <a:endParaRPr lang="en-US" dirty="0"/>
              </a:p>
              <a:p>
                <a:pPr marL="0" indent="0">
                  <a:buNone/>
                </a:pPr>
                <a:r>
                  <a:rPr lang="en-US" b="1" dirty="0"/>
                  <a:t>Practical GLIE Approximation</a:t>
                </a:r>
                <a:r>
                  <a:rPr lang="en-US" dirty="0"/>
                  <a:t>: </a:t>
                </a:r>
              </a:p>
              <a:p>
                <a:pPr lvl="1"/>
                <a:r>
                  <a:rPr lang="en-US" dirty="0"/>
                  <a:t>Infinite exploration: Use many episodes and an </a:t>
                </a:r>
                <a14:m>
                  <m:oMath xmlns:m="http://schemas.openxmlformats.org/officeDocument/2006/math">
                    <m:r>
                      <a:rPr lang="en-US" i="1">
                        <a:latin typeface="Cambria Math" panose="02040503050406030204" pitchFamily="18" charset="0"/>
                      </a:rPr>
                      <m:t>𝜖</m:t>
                    </m:r>
                  </m:oMath>
                </a14:m>
                <a:r>
                  <a:rPr lang="en-US" dirty="0"/>
                  <a:t>-greedy policy for exploration. This will “wash out” early “bad” observations and makes sure every policy is considered.</a:t>
                </a:r>
              </a:p>
              <a:p>
                <a:pPr lvl="1"/>
                <a:r>
                  <a:rPr lang="en-US" dirty="0"/>
                  <a:t>Greedy in the limit: Use an </a:t>
                </a:r>
                <a14:m>
                  <m:oMath xmlns:m="http://schemas.openxmlformats.org/officeDocument/2006/math">
                    <m:r>
                      <a:rPr lang="en-US" b="0" i="1" smtClean="0">
                        <a:latin typeface="Cambria Math" panose="02040503050406030204" pitchFamily="18" charset="0"/>
                      </a:rPr>
                      <m:t>𝜖</m:t>
                    </m:r>
                  </m:oMath>
                </a14:m>
                <a:r>
                  <a:rPr lang="en-US" dirty="0"/>
                  <a:t>-greedy policy where </a:t>
                </a:r>
                <a14:m>
                  <m:oMath xmlns:m="http://schemas.openxmlformats.org/officeDocument/2006/math">
                    <m:r>
                      <a:rPr lang="en-US" b="0" i="1" smtClean="0">
                        <a:latin typeface="Cambria Math" panose="02040503050406030204" pitchFamily="18" charset="0"/>
                      </a:rPr>
                      <m:t>𝜖</m:t>
                    </m:r>
                  </m:oMath>
                </a14:m>
                <a:r>
                  <a:rPr lang="en-US" dirty="0"/>
                  <a:t> is reduced over time. E.g.,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p:txBody>
          </p:sp>
        </mc:Choice>
        <mc:Fallback xmlns="">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noRot="1" noChangeAspect="1" noMove="1" noResize="1" noEditPoints="1" noAdjustHandles="1" noChangeArrowheads="1" noChangeShapeType="1" noTextEdit="1"/>
              </p:cNvSpPr>
              <p:nvPr>
                <p:ph idx="1"/>
              </p:nvPr>
            </p:nvSpPr>
            <p:spPr>
              <a:xfrm>
                <a:off x="838200" y="1397329"/>
                <a:ext cx="10515600" cy="5194453"/>
              </a:xfrm>
              <a:blipFill>
                <a:blip r:embed="rId2"/>
                <a:stretch>
                  <a:fillRect l="-638" t="-1995" r="-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p:nvPr/>
            </p:nvSpPr>
            <p:spPr>
              <a:xfrm>
                <a:off x="1519474" y="2463123"/>
                <a:ext cx="9291234" cy="28030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000" b="1" dirty="0"/>
                  <a:t>GLIE Condition</a:t>
                </a:r>
                <a:endParaRPr lang="en-US" sz="2000" dirty="0"/>
              </a:p>
              <a:p>
                <a:endParaRPr lang="en-US" dirty="0"/>
              </a:p>
              <a:p>
                <a:r>
                  <a:rPr lang="en-US" dirty="0"/>
                  <a:t>Many on-policy control methods converge to the optimal deterministic policy if:</a:t>
                </a:r>
              </a:p>
              <a:p>
                <a:endParaRPr lang="en-US" dirty="0"/>
              </a:p>
              <a:p>
                <a:pPr marL="342900" indent="-342900">
                  <a:buFont typeface="+mj-lt"/>
                  <a:buAutoNum type="arabicPeriod"/>
                </a:pPr>
                <a:r>
                  <a:rPr lang="en-US" b="1" dirty="0"/>
                  <a:t>Infinite explorations</a:t>
                </a:r>
                <a:r>
                  <a:rPr lang="en-US" dirty="0"/>
                  <a:t>: Every state-action pair is visited infinitely often.</a:t>
                </a:r>
                <a:br>
                  <a:rPr lang="en-US" dirty="0"/>
                </a:br>
                <a14:m>
                  <m:oMath xmlns:m="http://schemas.openxmlformats.org/officeDocument/2006/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lim</m:t>
                            </m:r>
                          </m:e>
                          <m:lim>
                            <m:r>
                              <a:rPr lang="en-US" b="0" i="1" smtClean="0">
                                <a:latin typeface="Cambria Math" panose="02040503050406030204" pitchFamily="18" charset="0"/>
                              </a:rPr>
                              <m:t>𝑡</m:t>
                            </m:r>
                            <m:r>
                              <a:rPr lang="en-US" b="0" i="1" smtClean="0">
                                <a:latin typeface="Cambria Math" panose="02040503050406030204" pitchFamily="18" charset="0"/>
                              </a:rPr>
                              <m:t>→∞</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e>
                    </m:func>
                    <m:r>
                      <a:rPr lang="en-US" b="0" i="1" smtClean="0">
                        <a:latin typeface="Cambria Math" panose="02040503050406030204" pitchFamily="18" charset="0"/>
                      </a:rPr>
                      <m:t>             </m:t>
                    </m:r>
                    <m:r>
                      <m:rPr>
                        <m:nor/>
                      </m:rPr>
                      <a:rPr lang="en-US" b="0" i="0" smtClean="0"/>
                      <m:t>where</m:t>
                    </m:r>
                    <m:r>
                      <m:rPr>
                        <m:nor/>
                      </m:rPr>
                      <a:rPr lang="en-US" b="0" i="0" smtClean="0">
                        <a:latin typeface="Cambria Math" panose="02040503050406030204" pitchFamily="18" charset="0"/>
                      </a:rPr>
                      <m:t>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m:t>
                        </m:r>
                      </m:e>
                    </m:d>
                    <m:r>
                      <a:rPr lang="en-US" b="0" i="1" smtClean="0">
                        <a:latin typeface="Cambria Math" panose="02040503050406030204" pitchFamily="18" charset="0"/>
                      </a:rPr>
                      <m:t> </m:t>
                    </m:r>
                    <m:r>
                      <m:rPr>
                        <m:nor/>
                      </m:rPr>
                      <a:rPr lang="en-US" b="0" i="0" smtClean="0"/>
                      <m:t>is the visit count</m:t>
                    </m:r>
                  </m:oMath>
                </a14:m>
                <a:br>
                  <a:rPr lang="en-US" dirty="0"/>
                </a:br>
                <a:endParaRPr lang="en-US" dirty="0"/>
              </a:p>
              <a:p>
                <a:pPr marL="342900" indent="-342900">
                  <a:buFont typeface="+mj-lt"/>
                  <a:buAutoNum type="arabicPeriod"/>
                </a:pPr>
                <a:endParaRPr lang="en-US" dirty="0"/>
              </a:p>
              <a:p>
                <a:pPr marL="342900" indent="-342900">
                  <a:buFont typeface="+mj-lt"/>
                  <a:buAutoNum type="arabicPeriod"/>
                </a:pPr>
                <a:r>
                  <a:rPr lang="en-US" b="1" dirty="0"/>
                  <a:t>Greedy in the limit</a:t>
                </a:r>
                <a:r>
                  <a:rPr lang="en-US" dirty="0"/>
                  <a:t>: The policy becomes greedy with respect to </a:t>
                </a:r>
                <a14:m>
                  <m:oMath xmlns:m="http://schemas.openxmlformats.org/officeDocument/2006/math">
                    <m:r>
                      <a:rPr lang="en-US" i="1" dirty="0" smtClean="0">
                        <a:latin typeface="Cambria Math" panose="02040503050406030204" pitchFamily="18" charset="0"/>
                      </a:rPr>
                      <m:t>𝑄</m:t>
                    </m:r>
                  </m:oMath>
                </a14:m>
                <a:r>
                  <a:rPr lang="en-US" dirty="0"/>
                  <a:t> over time.</a:t>
                </a:r>
                <a:br>
                  <a:rPr lang="en-US" dirty="0"/>
                </a:br>
                <a14:m>
                  <m:oMath xmlns:m="http://schemas.openxmlformats.org/officeDocument/2006/math">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𝑡</m:t>
                        </m:r>
                        <m:r>
                          <a:rPr lang="en-US" i="1">
                            <a:latin typeface="Cambria Math" panose="02040503050406030204" pitchFamily="18" charset="0"/>
                          </a:rPr>
                          <m:t>→∞</m:t>
                        </m:r>
                      </m:lim>
                    </m:limLow>
                    <m:r>
                      <a:rPr lang="en-US" b="0" i="1" smtClean="0">
                        <a:latin typeface="Cambria Math" panose="02040503050406030204" pitchFamily="18" charset="0"/>
                      </a:rPr>
                      <m:t> </m:t>
                    </m:r>
                    <m:r>
                      <a:rPr lang="en-US" b="0" i="1" smtClean="0">
                        <a:latin typeface="Cambria Math" panose="02040503050406030204" pitchFamily="18" charset="0"/>
                      </a:rPr>
                      <m:t>𝜋</m:t>
                    </m:r>
                    <m:d>
                      <m:dPr>
                        <m:ctrlPr>
                          <a:rPr lang="en-US" b="0" i="0" smtClean="0">
                            <a:latin typeface="Cambria Math" panose="02040503050406030204" pitchFamily="18" charset="0"/>
                          </a:rPr>
                        </m:ctrlPr>
                      </m:dPr>
                      <m:e>
                        <m:r>
                          <m:rPr>
                            <m:nor/>
                          </m:rPr>
                          <a:rPr lang="en-US" b="0" i="0" smtClean="0">
                            <a:latin typeface="Cambria Math" panose="02040503050406030204" pitchFamily="18" charset="0"/>
                          </a:rPr>
                          <m:t>argma</m:t>
                        </m:r>
                        <m:sSub>
                          <m:sSubPr>
                            <m:ctrlPr>
                              <a:rPr lang="en-US" b="0" i="0" smtClean="0">
                                <a:latin typeface="Cambria Math" panose="02040503050406030204" pitchFamily="18" charset="0"/>
                              </a:rPr>
                            </m:ctrlPr>
                          </m:sSubPr>
                          <m:e>
                            <m:r>
                              <m:rPr>
                                <m:nor/>
                              </m:rPr>
                              <a:rPr lang="en-US" b="0" i="0" smtClean="0">
                                <a:latin typeface="Cambria Math" panose="02040503050406030204" pitchFamily="18" charset="0"/>
                              </a:rPr>
                              <m:t>x</m:t>
                            </m:r>
                          </m:e>
                          <m:sub>
                            <m:r>
                              <a:rPr lang="en-US" b="0" i="1" smtClean="0">
                                <a:latin typeface="Cambria Math" panose="02040503050406030204" pitchFamily="18" charset="0"/>
                              </a:rPr>
                              <m:t>𝑎</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𝑠</m:t>
                            </m:r>
                          </m:e>
                        </m:d>
                      </m:e>
                    </m:d>
                    <m:r>
                      <a:rPr lang="en-US" b="0" i="1" smtClean="0">
                        <a:latin typeface="Cambria Math" panose="02040503050406030204" pitchFamily="18" charset="0"/>
                      </a:rPr>
                      <m:t>=1</m:t>
                    </m:r>
                  </m:oMath>
                </a14:m>
                <a:endParaRPr lang="en-US" dirty="0"/>
              </a:p>
            </p:txBody>
          </p:sp>
        </mc:Choice>
        <mc:Fallback xmlns="">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a:spLocks noRot="1" noChangeAspect="1" noMove="1" noResize="1" noEditPoints="1" noAdjustHandles="1" noChangeArrowheads="1" noChangeShapeType="1" noTextEdit="1"/>
              </p:cNvSpPr>
              <p:nvPr/>
            </p:nvSpPr>
            <p:spPr>
              <a:xfrm>
                <a:off x="1519474" y="2463123"/>
                <a:ext cx="9291234" cy="2803075"/>
              </a:xfrm>
              <a:prstGeom prst="rect">
                <a:avLst/>
              </a:prstGeom>
              <a:blipFill>
                <a:blip r:embed="rId3"/>
                <a:stretch>
                  <a:fillRect l="-524" t="-864"/>
                </a:stretch>
              </a:blipFill>
            </p:spPr>
            <p:txBody>
              <a:bodyPr/>
              <a:lstStyle/>
              <a:p>
                <a:r>
                  <a:rPr lang="en-US">
                    <a:noFill/>
                  </a:rPr>
                  <a:t> </a:t>
                </a:r>
              </a:p>
            </p:txBody>
          </p:sp>
        </mc:Fallback>
      </mc:AlternateContent>
    </p:spTree>
    <p:extLst>
      <p:ext uri="{BB962C8B-B14F-4D97-AF65-F5344CB8AC3E}">
        <p14:creationId xmlns:p14="http://schemas.microsoft.com/office/powerpoint/2010/main" val="60481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A0DF3DF-CB27-AC0F-184E-D0D409D751F1}"/>
              </a:ext>
            </a:extLst>
          </p:cNvPr>
          <p:cNvSpPr>
            <a:spLocks noGrp="1"/>
          </p:cNvSpPr>
          <p:nvPr>
            <p:ph type="title"/>
          </p:nvPr>
        </p:nvSpPr>
        <p:spPr/>
        <p:txBody>
          <a:bodyPr/>
          <a:lstStyle/>
          <a:p>
            <a:r>
              <a:rPr lang="en-US" dirty="0"/>
              <a:t>Off-Policy Methods</a:t>
            </a:r>
          </a:p>
        </p:txBody>
      </p:sp>
      <p:sp>
        <p:nvSpPr>
          <p:cNvPr id="5" name="Text Placeholder 4">
            <a:extLst>
              <a:ext uri="{FF2B5EF4-FFF2-40B4-BE49-F238E27FC236}">
                <a16:creationId xmlns:a16="http://schemas.microsoft.com/office/drawing/2014/main" id="{C85F68E3-3923-0FEB-B7EA-D6D49A383D9C}"/>
              </a:ext>
            </a:extLst>
          </p:cNvPr>
          <p:cNvSpPr>
            <a:spLocks noGrp="1"/>
          </p:cNvSpPr>
          <p:nvPr>
            <p:ph type="body" idx="1"/>
          </p:nvPr>
        </p:nvSpPr>
        <p:spPr/>
        <p:txBody>
          <a:bodyPr/>
          <a:lstStyle/>
          <a:p>
            <a:r>
              <a:rPr lang="en-US" dirty="0"/>
              <a:t>Prediction and Control</a:t>
            </a:r>
          </a:p>
        </p:txBody>
      </p:sp>
    </p:spTree>
    <p:extLst>
      <p:ext uri="{BB962C8B-B14F-4D97-AF65-F5344CB8AC3E}">
        <p14:creationId xmlns:p14="http://schemas.microsoft.com/office/powerpoint/2010/main" val="1527650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4A77E-C2D2-5789-4FAE-05ABE93CF2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75D5B0-5654-A81D-8A68-AEC70CACB3FE}"/>
              </a:ext>
            </a:extLst>
          </p:cNvPr>
          <p:cNvSpPr>
            <a:spLocks noGrp="1"/>
          </p:cNvSpPr>
          <p:nvPr>
            <p:ph type="title"/>
          </p:nvPr>
        </p:nvSpPr>
        <p:spPr/>
        <p:txBody>
          <a:bodyPr/>
          <a:lstStyle/>
          <a:p>
            <a:r>
              <a:rPr lang="en-US" dirty="0"/>
              <a:t>Off-Policy Prediction</a:t>
            </a:r>
          </a:p>
        </p:txBody>
      </p:sp>
      <p:sp>
        <p:nvSpPr>
          <p:cNvPr id="5" name="Text Placeholder 4">
            <a:extLst>
              <a:ext uri="{FF2B5EF4-FFF2-40B4-BE49-F238E27FC236}">
                <a16:creationId xmlns:a16="http://schemas.microsoft.com/office/drawing/2014/main" id="{4A788028-5BE8-7906-CC19-8911BAE68D57}"/>
              </a:ext>
            </a:extLst>
          </p:cNvPr>
          <p:cNvSpPr>
            <a:spLocks noGrp="1"/>
          </p:cNvSpPr>
          <p:nvPr>
            <p:ph type="body" idx="1"/>
          </p:nvPr>
        </p:nvSpPr>
        <p:spPr/>
        <p:txBody>
          <a:bodyPr/>
          <a:lstStyle/>
          <a:p>
            <a:r>
              <a:rPr lang="en-US" dirty="0"/>
              <a:t>Estimate a value function for a policy different from the sampling policy.</a:t>
            </a:r>
          </a:p>
        </p:txBody>
      </p:sp>
    </p:spTree>
    <p:extLst>
      <p:ext uri="{BB962C8B-B14F-4D97-AF65-F5344CB8AC3E}">
        <p14:creationId xmlns:p14="http://schemas.microsoft.com/office/powerpoint/2010/main" val="3442083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E8CF2-8DE5-9B7D-7AF3-EA8026985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DBE8-2332-5A39-4A92-5DA2F029E10A}"/>
              </a:ext>
            </a:extLst>
          </p:cNvPr>
          <p:cNvSpPr>
            <a:spLocks noGrp="1"/>
          </p:cNvSpPr>
          <p:nvPr>
            <p:ph type="title"/>
          </p:nvPr>
        </p:nvSpPr>
        <p:spPr/>
        <p:txBody>
          <a:bodyPr/>
          <a:lstStyle/>
          <a:p>
            <a:r>
              <a:rPr lang="en-US" dirty="0"/>
              <a:t>On-Policy vs. Off-Policy Control</a:t>
            </a:r>
          </a:p>
        </p:txBody>
      </p:sp>
      <mc:AlternateContent xmlns:mc="http://schemas.openxmlformats.org/markup-compatibility/2006" xmlns:a14="http://schemas.microsoft.com/office/drawing/2010/main">
        <mc:Choice Requires="a14">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p:cNvSpPr>
              <p:nvPr>
                <p:ph idx="1"/>
              </p:nvPr>
            </p:nvSpPr>
            <p:spPr>
              <a:xfrm>
                <a:off x="838200" y="1236689"/>
                <a:ext cx="10515600" cy="5129387"/>
              </a:xfrm>
            </p:spPr>
            <p:txBody>
              <a:bodyPr>
                <a:normAutofit fontScale="70000" lnSpcReduction="20000"/>
              </a:bodyPr>
              <a:lstStyle/>
              <a:p>
                <a:pPr marL="457200" lvl="1" indent="0">
                  <a:buNone/>
                </a:pPr>
                <a:endParaRPr lang="en-US" dirty="0"/>
              </a:p>
              <a:p>
                <a:pPr marL="0" indent="0">
                  <a:buNone/>
                </a:pPr>
                <a:r>
                  <a:rPr lang="en-US" b="1" dirty="0"/>
                  <a:t>On-policy</a:t>
                </a:r>
                <a:r>
                  <a:rPr lang="en-US" dirty="0"/>
                  <a:t>: On-policy methods learn the policy they follow. These need to be exploring (soft).</a:t>
                </a:r>
              </a:p>
              <a:p>
                <a:endParaRPr lang="en-US" dirty="0"/>
              </a:p>
              <a:p>
                <a:pPr marL="0" indent="0">
                  <a:buNone/>
                </a:pPr>
                <a:r>
                  <a:rPr lang="en-US" b="1" dirty="0"/>
                  <a:t>Off-policy</a:t>
                </a:r>
                <a:r>
                  <a:rPr lang="en-US" dirty="0"/>
                  <a:t>: Use two policies</a:t>
                </a:r>
              </a:p>
              <a:p>
                <a:pPr lvl="1"/>
                <a:r>
                  <a:rPr lang="en-US" b="1" dirty="0"/>
                  <a:t>Target policy</a:t>
                </a:r>
                <a:r>
                  <a:rPr lang="en-US" dirty="0"/>
                  <a:t>: learn </a:t>
                </a:r>
                <a14:m>
                  <m:oMath xmlns:m="http://schemas.openxmlformats.org/officeDocument/2006/math">
                    <m:r>
                      <a:rPr lang="en-US" b="0" i="1" smtClean="0">
                        <a:latin typeface="Cambria Math" panose="02040503050406030204" pitchFamily="18" charset="0"/>
                      </a:rPr>
                      <m:t>𝜋</m:t>
                    </m:r>
                  </m:oMath>
                </a14:m>
                <a:r>
                  <a:rPr lang="en-US" dirty="0"/>
                  <a:t>, which will become an optimal deterministic policy.</a:t>
                </a:r>
              </a:p>
              <a:p>
                <a:pPr lvl="1"/>
                <a:r>
                  <a:rPr lang="en-US" b="1" dirty="0"/>
                  <a:t>Behavior policy </a:t>
                </a:r>
                <a14:m>
                  <m:oMath xmlns:m="http://schemas.openxmlformats.org/officeDocument/2006/math">
                    <m:r>
                      <a:rPr lang="en-US" b="0" i="1" smtClean="0">
                        <a:latin typeface="Cambria Math" panose="02040503050406030204" pitchFamily="18" charset="0"/>
                      </a:rPr>
                      <m:t>𝑏</m:t>
                    </m:r>
                  </m:oMath>
                </a14:m>
                <a:r>
                  <a:rPr lang="en-US" dirty="0"/>
                  <a:t>: guarantees exploration with a soft policy.</a:t>
                </a:r>
              </a:p>
              <a:p>
                <a:pPr marL="457200" lvl="1" indent="0">
                  <a:buNone/>
                </a:pPr>
                <a:endParaRPr lang="en-US" dirty="0"/>
              </a:p>
              <a:p>
                <a:r>
                  <a:rPr lang="en-US" dirty="0"/>
                  <a:t>Called “off-policy” because the generated data follows a different policy than the learned target policy.</a:t>
                </a:r>
              </a:p>
              <a:p>
                <a:endParaRPr lang="en-US" dirty="0"/>
              </a:p>
              <a:p>
                <a:r>
                  <a:rPr lang="en-US" dirty="0"/>
                  <a:t>Off-policy methods are typically:</a:t>
                </a:r>
              </a:p>
              <a:p>
                <a:pPr lvl="1"/>
                <a:r>
                  <a:rPr lang="en-US" dirty="0"/>
                  <a:t>- More complicated</a:t>
                </a:r>
              </a:p>
              <a:p>
                <a:pPr lvl="1"/>
                <a:r>
                  <a:rPr lang="en-US" dirty="0"/>
                  <a:t>- Converge slower</a:t>
                </a:r>
              </a:p>
              <a:p>
                <a:pPr lvl="1"/>
                <a:r>
                  <a:rPr lang="en-US" dirty="0"/>
                  <a:t>+ Often more powerful</a:t>
                </a:r>
              </a:p>
              <a:p>
                <a:pPr lvl="1"/>
                <a:r>
                  <a:rPr lang="en-US" dirty="0"/>
                  <a:t>+ Can be applied to data externally generated (e.g., a training data set).</a:t>
                </a:r>
              </a:p>
              <a:p>
                <a:pPr lvl="1"/>
                <a:endParaRPr lang="en-US" dirty="0"/>
              </a:p>
              <a:p>
                <a:pPr marL="0" indent="0">
                  <a:buNone/>
                </a:pPr>
                <a:r>
                  <a:rPr lang="en-US" b="1" dirty="0"/>
                  <a:t>Note</a:t>
                </a:r>
                <a:r>
                  <a:rPr lang="en-US" dirty="0"/>
                  <a:t>: On-policy learning is a special case of off-policy learning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endParaRPr lang="en-US" dirty="0"/>
              </a:p>
            </p:txBody>
          </p:sp>
        </mc:Choice>
        <mc:Fallback xmlns="">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noRot="1" noChangeAspect="1" noMove="1" noResize="1" noEditPoints="1" noAdjustHandles="1" noChangeArrowheads="1" noChangeShapeType="1" noTextEdit="1"/>
              </p:cNvSpPr>
              <p:nvPr>
                <p:ph idx="1"/>
              </p:nvPr>
            </p:nvSpPr>
            <p:spPr>
              <a:xfrm>
                <a:off x="838200" y="1236689"/>
                <a:ext cx="10515600" cy="5129387"/>
              </a:xfrm>
              <a:blipFill>
                <a:blip r:embed="rId2"/>
                <a:stretch>
                  <a:fillRect l="-638"/>
                </a:stretch>
              </a:blipFill>
            </p:spPr>
            <p:txBody>
              <a:bodyPr/>
              <a:lstStyle/>
              <a:p>
                <a:r>
                  <a:rPr lang="en-US">
                    <a:noFill/>
                  </a:rPr>
                  <a:t> </a:t>
                </a:r>
              </a:p>
            </p:txBody>
          </p:sp>
        </mc:Fallback>
      </mc:AlternateContent>
    </p:spTree>
    <p:extLst>
      <p:ext uri="{BB962C8B-B14F-4D97-AF65-F5344CB8AC3E}">
        <p14:creationId xmlns:p14="http://schemas.microsoft.com/office/powerpoint/2010/main" val="1526452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367F2-824B-66B4-F5DA-53698C240DEA}"/>
              </a:ext>
            </a:extLst>
          </p:cNvPr>
          <p:cNvSpPr>
            <a:spLocks noGrp="1"/>
          </p:cNvSpPr>
          <p:nvPr>
            <p:ph type="title"/>
          </p:nvPr>
        </p:nvSpPr>
        <p:spPr/>
        <p:txBody>
          <a:bodyPr/>
          <a:lstStyle/>
          <a:p>
            <a:r>
              <a:rPr lang="en-US" dirty="0"/>
              <a:t>Off-Policy Prediction  </a:t>
            </a:r>
          </a:p>
        </p:txBody>
      </p:sp>
      <mc:AlternateContent xmlns:mc="http://schemas.openxmlformats.org/markup-compatibility/2006" xmlns:a14="http://schemas.microsoft.com/office/drawing/2010/main">
        <mc:Choice Requires="a14">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p:cNvSpPr>
              <p:nvPr>
                <p:ph idx="1"/>
              </p:nvPr>
            </p:nvSpPr>
            <p:spPr/>
            <p:txBody>
              <a:bodyPr>
                <a:normAutofit fontScale="92500" lnSpcReduction="20000"/>
              </a:bodyPr>
              <a:lstStyle/>
              <a:p>
                <a:r>
                  <a:rPr lang="en-US" b="1" dirty="0"/>
                  <a:t>Goal</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given episodes generated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a:p>
                <a:endParaRPr lang="en-US" dirty="0"/>
              </a:p>
              <a:p>
                <a:r>
                  <a:rPr lang="en-US" b="1" dirty="0"/>
                  <a:t>Assumptions for Convergence</a:t>
                </a:r>
                <a:r>
                  <a:rPr lang="en-US" dirty="0"/>
                  <a:t>:</a:t>
                </a:r>
              </a:p>
              <a:p>
                <a:pPr lvl="1"/>
                <a14:m>
                  <m:oMath xmlns:m="http://schemas.openxmlformats.org/officeDocument/2006/math">
                    <m:r>
                      <a:rPr lang="en-US" i="1">
                        <a:latin typeface="Cambria Math" panose="02040503050406030204" pitchFamily="18" charset="0"/>
                      </a:rPr>
                      <m:t>𝑏</m:t>
                    </m:r>
                  </m:oMath>
                </a14:m>
                <a:r>
                  <a:rPr lang="en-US" dirty="0"/>
                  <a:t> is fixed.</a:t>
                </a:r>
              </a:p>
              <a:p>
                <a:pPr lvl="1"/>
                <a:r>
                  <a:rPr lang="en-US" b="1" dirty="0"/>
                  <a:t>Coverage</a:t>
                </a:r>
                <a:r>
                  <a:rPr lang="en-US" dirty="0"/>
                  <a:t>: Every action taken under </a:t>
                </a:r>
                <a14:m>
                  <m:oMath xmlns:m="http://schemas.openxmlformats.org/officeDocument/2006/math">
                    <m:r>
                      <a:rPr lang="en-US" b="0" i="1" smtClean="0">
                        <a:latin typeface="Cambria Math" panose="02040503050406030204" pitchFamily="18" charset="0"/>
                      </a:rPr>
                      <m:t>𝜋</m:t>
                    </m:r>
                  </m:oMath>
                </a14:m>
                <a:r>
                  <a:rPr lang="en-US" dirty="0"/>
                  <a:t> will occasionally also be taken under </a:t>
                </a:r>
                <a14:m>
                  <m:oMath xmlns:m="http://schemas.openxmlformats.org/officeDocument/2006/math">
                    <m:r>
                      <a:rPr lang="en-US" b="0" i="1" smtClean="0">
                        <a:latin typeface="Cambria Math" panose="02040503050406030204" pitchFamily="18" charset="0"/>
                      </a:rPr>
                      <m:t>𝑏</m:t>
                    </m:r>
                  </m:oMath>
                </a14:m>
                <a:endParaRPr lang="en-US" dirty="0"/>
              </a:p>
              <a:p>
                <a:pPr lvl="1"/>
                <a:endParaRPr lang="en-US" dirty="0"/>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r>
                        <a:rPr lang="en-US" b="0" i="1" smtClean="0">
                          <a:latin typeface="Cambria Math" panose="02040503050406030204" pitchFamily="18" charset="0"/>
                        </a:rPr>
                        <m:t>𝑏</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oMath>
                  </m:oMathPara>
                </a14:m>
                <a:endParaRPr lang="en-US" dirty="0"/>
              </a:p>
              <a:p>
                <a:pPr lvl="1"/>
                <a:endParaRPr lang="en-US" dirty="0"/>
              </a:p>
              <a:p>
                <a:pPr lvl="1"/>
                <a:r>
                  <a:rPr lang="en-US" dirty="0"/>
                  <a:t>That is</a:t>
                </a:r>
                <a:r>
                  <a:rPr lang="en-US" b="0" dirty="0"/>
                  <a:t>, </a:t>
                </a:r>
                <a14:m>
                  <m:oMath xmlns:m="http://schemas.openxmlformats.org/officeDocument/2006/math">
                    <m:r>
                      <a:rPr lang="en-US" b="0" i="1" smtClean="0">
                        <a:latin typeface="Cambria Math" panose="02040503050406030204" pitchFamily="18" charset="0"/>
                      </a:rPr>
                      <m:t>𝑏</m:t>
                    </m:r>
                  </m:oMath>
                </a14:m>
                <a:r>
                  <a:rPr lang="en-US" dirty="0"/>
                  <a:t> needs to be stochastic (soft) for states where it differs from </a:t>
                </a:r>
                <a14:m>
                  <m:oMath xmlns:m="http://schemas.openxmlformats.org/officeDocument/2006/math">
                    <m:r>
                      <a:rPr lang="en-US" b="0" i="1" smtClean="0">
                        <a:latin typeface="Cambria Math" panose="02040503050406030204" pitchFamily="18" charset="0"/>
                      </a:rPr>
                      <m:t>𝜋</m:t>
                    </m:r>
                  </m:oMath>
                </a14:m>
                <a:r>
                  <a:rPr lang="en-US" dirty="0"/>
                  <a:t> (typically </a:t>
                </a:r>
                <a14:m>
                  <m:oMath xmlns:m="http://schemas.openxmlformats.org/officeDocument/2006/math">
                    <m:r>
                      <a:rPr lang="en-US" b="0" i="1" smtClean="0">
                        <a:latin typeface="Cambria Math" panose="02040503050406030204" pitchFamily="18" charset="0"/>
                      </a:rPr>
                      <m:t>𝑏</m:t>
                    </m:r>
                  </m:oMath>
                </a14:m>
                <a:r>
                  <a:rPr lang="en-US" dirty="0"/>
                  <a:t> is </a:t>
                </a:r>
                <a14:m>
                  <m:oMath xmlns:m="http://schemas.openxmlformats.org/officeDocument/2006/math">
                    <m:r>
                      <a:rPr lang="en-US" b="0" i="1" smtClean="0">
                        <a:latin typeface="Cambria Math" panose="02040503050406030204" pitchFamily="18" charset="0"/>
                      </a:rPr>
                      <m:t>𝜖</m:t>
                    </m:r>
                  </m:oMath>
                </a14:m>
                <a:r>
                  <a:rPr lang="en-US" dirty="0"/>
                  <a:t>-greedy)</a:t>
                </a:r>
              </a:p>
              <a:p>
                <a:endParaRPr lang="en-US" dirty="0"/>
              </a:p>
              <a:p>
                <a:r>
                  <a:rPr lang="en-US" b="1" dirty="0"/>
                  <a:t>Issue</a:t>
                </a:r>
                <a:r>
                  <a:rPr lang="en-US" dirty="0"/>
                  <a:t>: Returns and sample averages are valid for </a:t>
                </a:r>
                <a14:m>
                  <m:oMath xmlns:m="http://schemas.openxmlformats.org/officeDocument/2006/math">
                    <m:r>
                      <a:rPr lang="en-US" b="0" i="1" smtClean="0">
                        <a:latin typeface="Cambria Math" panose="02040503050406030204" pitchFamily="18" charset="0"/>
                      </a:rPr>
                      <m:t>𝑏</m:t>
                    </m:r>
                  </m:oMath>
                </a14:m>
                <a:r>
                  <a:rPr lang="en-US" dirty="0"/>
                  <a:t> but not for </a:t>
                </a:r>
                <a14:m>
                  <m:oMath xmlns:m="http://schemas.openxmlformats.org/officeDocument/2006/math">
                    <m:r>
                      <a:rPr lang="en-US" b="0" i="1" smtClean="0">
                        <a:latin typeface="Cambria Math" panose="02040503050406030204" pitchFamily="18" charset="0"/>
                      </a:rPr>
                      <m:t>𝜋</m:t>
                    </m:r>
                  </m:oMath>
                </a14:m>
                <a:r>
                  <a:rPr lang="en-US" dirty="0"/>
                  <a:t>! We need to correct them.</a:t>
                </a:r>
              </a:p>
            </p:txBody>
          </p:sp>
        </mc:Choice>
        <mc:Fallback xmlns="">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noRot="1" noChangeAspect="1" noMove="1" noResize="1" noEditPoints="1" noAdjustHandles="1" noChangeArrowheads="1" noChangeShapeType="1" noTextEdit="1"/>
              </p:cNvSpPr>
              <p:nvPr>
                <p:ph idx="1"/>
              </p:nvPr>
            </p:nvSpPr>
            <p:spPr>
              <a:blipFill>
                <a:blip r:embed="rId2"/>
                <a:stretch>
                  <a:fillRect l="-928" t="-3189" r="-522"/>
                </a:stretch>
              </a:blipFill>
            </p:spPr>
            <p:txBody>
              <a:bodyPr/>
              <a:lstStyle/>
              <a:p>
                <a:r>
                  <a:rPr lang="en-US">
                    <a:noFill/>
                  </a:rPr>
                  <a:t> </a:t>
                </a:r>
              </a:p>
            </p:txBody>
          </p:sp>
        </mc:Fallback>
      </mc:AlternateContent>
    </p:spTree>
    <p:extLst>
      <p:ext uri="{BB962C8B-B14F-4D97-AF65-F5344CB8AC3E}">
        <p14:creationId xmlns:p14="http://schemas.microsoft.com/office/powerpoint/2010/main" val="3654455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7F096-7449-FAFB-94B3-93534D791DF3}"/>
              </a:ext>
            </a:extLst>
          </p:cNvPr>
          <p:cNvSpPr>
            <a:spLocks noGrp="1"/>
          </p:cNvSpPr>
          <p:nvPr>
            <p:ph type="title"/>
          </p:nvPr>
        </p:nvSpPr>
        <p:spPr/>
        <p:txBody>
          <a:bodyPr/>
          <a:lstStyle/>
          <a:p>
            <a:r>
              <a:rPr lang="en-US" dirty="0"/>
              <a:t>Importance Sampling</a:t>
            </a:r>
          </a:p>
        </p:txBody>
      </p:sp>
      <mc:AlternateContent xmlns:mc="http://schemas.openxmlformats.org/markup-compatibility/2006" xmlns:a14="http://schemas.microsoft.com/office/drawing/2010/main">
        <mc:Choice Requires="a14">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p:cNvSpPr>
              <p:nvPr>
                <p:ph idx="1"/>
              </p:nvPr>
            </p:nvSpPr>
            <p:spPr>
              <a:xfrm>
                <a:off x="838200" y="1201878"/>
                <a:ext cx="10515600" cy="4779633"/>
              </a:xfrm>
            </p:spPr>
            <p:txBody>
              <a:bodyPr>
                <a:noAutofit/>
              </a:bodyPr>
              <a:lstStyle/>
              <a:p>
                <a:r>
                  <a:rPr lang="en-US" sz="1600" b="1" dirty="0"/>
                  <a:t>Importance sampling </a:t>
                </a:r>
                <a:r>
                  <a:rPr lang="en-US" sz="1600" dirty="0"/>
                  <a:t>is a method to estimate the expected values under a desired distribution, given samples from another distribution </a:t>
                </a:r>
              </a:p>
              <a:p>
                <a:pPr lvl="1"/>
                <a:r>
                  <a:rPr lang="en-US" sz="1600" dirty="0"/>
                  <a:t>Expectation under desired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i="1">
                            <a:latin typeface="Cambria Math" panose="02040503050406030204" pitchFamily="18" charset="0"/>
                            <a:ea typeface="Cambria Math" panose="02040503050406030204" pitchFamily="18" charset="0"/>
                          </a:rPr>
                          <m:t>𝜋</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600" dirty="0"/>
              </a:p>
              <a:p>
                <a:pPr lvl="1"/>
                <a:r>
                  <a:rPr lang="en-US" sz="1600" dirty="0"/>
                  <a:t>Observed expectation from sampled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200" dirty="0"/>
              </a:p>
              <a:p>
                <a:r>
                  <a:rPr lang="en-US" sz="1600" b="1" dirty="0"/>
                  <a:t>Idea</a:t>
                </a:r>
                <a:r>
                  <a:rPr lang="en-US" sz="1600" dirty="0"/>
                  <a:t>: correct returns observed under </a:t>
                </a:r>
                <a14:m>
                  <m:oMath xmlns:m="http://schemas.openxmlformats.org/officeDocument/2006/math">
                    <m:r>
                      <a:rPr lang="en-US" sz="1600" b="0" i="1" smtClean="0">
                        <a:latin typeface="Cambria Math" panose="02040503050406030204" pitchFamily="18" charset="0"/>
                      </a:rPr>
                      <m:t>𝑏</m:t>
                    </m:r>
                  </m:oMath>
                </a14:m>
                <a:r>
                  <a:rPr lang="en-US" sz="1600" dirty="0"/>
                  <a:t> to estimate returns for </a:t>
                </a:r>
                <a14:m>
                  <m:oMath xmlns:m="http://schemas.openxmlformats.org/officeDocument/2006/math">
                    <m:r>
                      <a:rPr lang="en-US" sz="1600" b="0" i="1" smtClean="0">
                        <a:latin typeface="Cambria Math" panose="02040503050406030204" pitchFamily="18" charset="0"/>
                      </a:rPr>
                      <m:t>𝜋</m:t>
                    </m:r>
                  </m:oMath>
                </a14:m>
                <a:endParaRPr lang="en-US" sz="1600" dirty="0"/>
              </a:p>
              <a:p>
                <a:endParaRPr lang="en-US" sz="1600" dirty="0"/>
              </a:p>
              <a:p>
                <a:r>
                  <a:rPr lang="en-US" sz="1600" dirty="0"/>
                  <a:t>Probability of a trajectory starting 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oMath>
                </a14:m>
                <a:r>
                  <a:rPr lang="en-US" sz="1600" dirty="0"/>
                  <a:t> under </a:t>
                </a:r>
                <a14:m>
                  <m:oMath xmlns:m="http://schemas.openxmlformats.org/officeDocument/2006/math">
                    <m:r>
                      <a:rPr lang="en-US" sz="1600" b="0" i="1" smtClean="0">
                        <a:latin typeface="Cambria Math" panose="02040503050406030204" pitchFamily="18" charset="0"/>
                      </a:rPr>
                      <m:t>𝜋</m:t>
                    </m:r>
                  </m:oMath>
                </a14:m>
                <a:endParaRPr lang="en-US" sz="1600" b="0" dirty="0"/>
              </a:p>
              <a:p>
                <a:pPr marL="0" indent="0">
                  <a:buNone/>
                </a:pPr>
                <a14:m>
                  <m:oMathPara xmlns:m="http://schemas.openxmlformats.org/officeDocument/2006/math">
                    <m:oMath>
                      <m:func>
                        <m:funcPr>
                          <m:ctrlPr>
                            <a:rPr lang="en-US" sz="1600" b="0" i="0" smtClean="0">
                              <a:latin typeface="Cambria Math" panose="02040503050406030204" pitchFamily="18" charset="0"/>
                            </a:rPr>
                          </m:ctrlPr>
                        </m:funcPr>
                        <m:fName>
                          <m:r>
                            <m:rPr>
                              <m:sty m:val="p"/>
                            </m:rPr>
                            <a:rPr lang="en-US" sz="1600" b="0" i="0" smtClean="0">
                              <a:latin typeface="Cambria Math" panose="02040503050406030204" pitchFamily="18" charset="0"/>
                            </a:rPr>
                            <m:t>Pr</m:t>
                          </m:r>
                        </m:fName>
                        <m:e>
                          <m:d>
                            <m:dPr>
                              <m:begChr m:val="{"/>
                              <m:endChr m:val="}"/>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𝑇</m:t>
                                      </m:r>
                                      <m:r>
                                        <a:rPr lang="en-US" sz="1600" b="0" i="1" smtClean="0">
                                          <a:latin typeface="Cambria Math" panose="02040503050406030204" pitchFamily="18" charset="0"/>
                                        </a:rPr>
                                        <m:t>−1, </m:t>
                                      </m:r>
                                    </m:sub>
                                  </m:sSub>
                                  <m:r>
                                    <a:rPr lang="en-US" sz="1600" b="0" i="1" smtClean="0">
                                      <a:latin typeface="Cambria Math" panose="02040503050406030204" pitchFamily="18" charset="0"/>
                                    </a:rPr>
                                    <m:t>𝑆</m:t>
                                  </m:r>
                                </m:e>
                                <m:sub>
                                  <m:r>
                                    <a:rPr lang="en-US" sz="1600" b="0" i="1" smtClean="0">
                                      <a:latin typeface="Cambria Math" panose="02040503050406030204" pitchFamily="18" charset="0"/>
                                    </a:rPr>
                                    <m:t>𝑇</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r>
                                <a:rPr lang="en-US" sz="1600" b="0" i="1" smtClean="0">
                                  <a:latin typeface="Cambria Math" panose="02040503050406030204" pitchFamily="18" charset="0"/>
                                </a:rPr>
                                <m:t>𝜋</m:t>
                              </m:r>
                            </m:e>
                          </m:d>
                        </m:e>
                      </m:func>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𝑘</m:t>
                          </m:r>
                          <m:r>
                            <a:rPr lang="en-US" sz="1600" b="0" i="1" smtClean="0">
                              <a:latin typeface="Cambria Math" panose="02040503050406030204" pitchFamily="18" charset="0"/>
                            </a:rPr>
                            <m:t>=</m:t>
                          </m:r>
                          <m:r>
                            <a:rPr lang="en-US" sz="1600" b="0" i="1" smtClean="0">
                              <a:latin typeface="Cambria Math" panose="02040503050406030204" pitchFamily="18" charset="0"/>
                            </a:rPr>
                            <m:t>𝑡</m:t>
                          </m:r>
                        </m:sub>
                        <m:sup>
                          <m:r>
                            <a:rPr lang="en-US" sz="1600" b="0" i="1" smtClean="0">
                              <a:latin typeface="Cambria Math" panose="02040503050406030204" pitchFamily="18" charset="0"/>
                            </a:rPr>
                            <m:t>𝑇</m:t>
                          </m:r>
                          <m:r>
                            <a:rPr lang="en-US" sz="1600" b="0" i="1" smtClean="0">
                              <a:latin typeface="Cambria Math" panose="02040503050406030204" pitchFamily="18" charset="0"/>
                            </a:rPr>
                            <m:t>−1</m:t>
                          </m:r>
                        </m:sup>
                        <m:e>
                          <m:r>
                            <a:rPr lang="en-US" sz="1600" b="0" i="1" smtClean="0">
                              <a:latin typeface="Cambria Math" panose="02040503050406030204" pitchFamily="18" charset="0"/>
                            </a:rPr>
                            <m:t>𝜋</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e>
                          </m:d>
                          <m:r>
                            <a:rPr lang="en-US" sz="1600" b="0" i="1" smtClean="0">
                              <a:latin typeface="Cambria Math" panose="02040503050406030204" pitchFamily="18" charset="0"/>
                            </a:rPr>
                            <m:t>𝑝</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e>
                      </m:nary>
                    </m:oMath>
                  </m:oMathPara>
                </a14:m>
                <a:endParaRPr lang="en-US" sz="1600" dirty="0"/>
              </a:p>
              <a:p>
                <a:r>
                  <a:rPr lang="en-US" sz="1600" b="1" dirty="0"/>
                  <a:t>Importance sampling ratio: </a:t>
                </a:r>
                <a:r>
                  <a:rPr lang="en-US" sz="1600" dirty="0"/>
                  <a:t>How much more likely are the remaining actions in the sequence chosen under 𝜋 than under 𝑏:</a:t>
                </a:r>
              </a:p>
              <a:p>
                <a:pPr marL="0" indent="0">
                  <a:buNone/>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𝜌</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f>
                        <m:fPr>
                          <m:ctrlPr>
                            <a:rPr lang="en-US" sz="1600" i="1">
                              <a:latin typeface="Cambria Math" panose="02040503050406030204" pitchFamily="18" charset="0"/>
                            </a:rPr>
                          </m:ctrlPr>
                        </m:fPr>
                        <m:num>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num>
                        <m:den>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den>
                      </m:f>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b="0" i="1" smtClean="0">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f>
                            <m:fPr>
                              <m:ctrlPr>
                                <a:rPr lang="en-US" sz="1600" i="1">
                                  <a:latin typeface="Cambria Math" panose="02040503050406030204" pitchFamily="18" charset="0"/>
                                </a:rPr>
                              </m:ctrlPr>
                            </m:fPr>
                            <m:num>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num>
                            <m:den>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den>
                          </m:f>
                        </m:e>
                      </m:nary>
                    </m:oMath>
                  </m:oMathPara>
                </a14:m>
                <a:endParaRPr lang="en-US" sz="1600" dirty="0"/>
              </a:p>
              <a:p>
                <a:r>
                  <a:rPr lang="en-US" sz="1600" dirty="0"/>
                  <a:t>Now we get:</a:t>
                </a:r>
              </a:p>
              <a:p>
                <a:pPr marL="0" indent="0">
                  <a:buNone/>
                </a:pPr>
                <a14:m>
                  <m:oMathPara xmlns:m="http://schemas.openxmlformats.org/officeDocument/2006/math">
                    <m:o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𝐺</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𝑆</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e>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m:oMathPara>
                </a14:m>
                <a:endParaRPr lang="en-US" sz="1600" dirty="0"/>
              </a:p>
              <a:p>
                <a:r>
                  <a:rPr lang="en-US" sz="1600" b="1" dirty="0"/>
                  <a:t>Note</a:t>
                </a:r>
                <a:r>
                  <a:rPr lang="en-US" sz="1600" dirty="0"/>
                  <a:t>: We only get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b="0" i="1" smtClean="0">
                        <a:latin typeface="Cambria Math" panose="02040503050406030204" pitchFamily="18" charset="0"/>
                      </a:rPr>
                      <m:t>&gt;0</m:t>
                    </m:r>
                  </m:oMath>
                </a14:m>
                <a:r>
                  <a:rPr lang="en-US" sz="1600" dirty="0"/>
                  <a:t> when all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oMath>
                </a14:m>
                <a:r>
                  <a:rPr lang="en-US" sz="1600" dirty="0"/>
                  <a:t> chosen by </a:t>
                </a:r>
                <a14:m>
                  <m:oMath xmlns:m="http://schemas.openxmlformats.org/officeDocument/2006/math">
                    <m:r>
                      <a:rPr lang="en-US" sz="1600" b="0" i="1" smtClean="0">
                        <a:latin typeface="Cambria Math" panose="02040503050406030204" pitchFamily="18" charset="0"/>
                      </a:rPr>
                      <m:t>𝑏</m:t>
                    </m:r>
                  </m:oMath>
                </a14:m>
                <a:r>
                  <a:rPr lang="en-US" sz="1600" dirty="0"/>
                  <a:t> have a </a:t>
                </a:r>
                <a14:m>
                  <m:oMath xmlns:m="http://schemas.openxmlformats.org/officeDocument/2006/math">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r>
                      <a:rPr lang="en-US" sz="1600" b="0" i="1" smtClean="0">
                        <a:latin typeface="Cambria Math" panose="02040503050406030204" pitchFamily="18" charset="0"/>
                      </a:rPr>
                      <m:t>&gt;0</m:t>
                    </m:r>
                  </m:oMath>
                </a14:m>
                <a:r>
                  <a:rPr lang="en-US" sz="1600" dirty="0"/>
                  <a:t>!</a:t>
                </a:r>
              </a:p>
            </p:txBody>
          </p:sp>
        </mc:Choice>
        <mc:Fallback xmlns="">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noRot="1" noChangeAspect="1" noMove="1" noResize="1" noEditPoints="1" noAdjustHandles="1" noChangeArrowheads="1" noChangeShapeType="1" noTextEdit="1"/>
              </p:cNvSpPr>
              <p:nvPr>
                <p:ph idx="1"/>
              </p:nvPr>
            </p:nvSpPr>
            <p:spPr>
              <a:xfrm>
                <a:off x="838200" y="1201878"/>
                <a:ext cx="10515600" cy="4779633"/>
              </a:xfrm>
              <a:blipFill>
                <a:blip r:embed="rId2"/>
                <a:stretch>
                  <a:fillRect l="-232" t="-893" b="-3061"/>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FA0F39-D96C-AC90-D24E-DB92BD3DFCA8}"/>
              </a:ext>
              <a:ext uri="{C183D7F6-B498-43B3-948B-1728B52AA6E4}">
                <adec:decorative xmlns:adec="http://schemas.microsoft.com/office/drawing/2017/decorative" val="1"/>
              </a:ext>
            </a:extLst>
          </p:cNvPr>
          <p:cNvCxnSpPr>
            <a:cxnSpLocks/>
          </p:cNvCxnSpPr>
          <p:nvPr/>
        </p:nvCxnSpPr>
        <p:spPr>
          <a:xfrm flipV="1">
            <a:off x="5709769" y="4512573"/>
            <a:ext cx="1598455" cy="221624"/>
          </a:xfrm>
          <a:prstGeom prst="line">
            <a:avLst/>
          </a:prstGeom>
        </p:spPr>
        <p:style>
          <a:lnRef idx="3">
            <a:schemeClr val="accent2"/>
          </a:lnRef>
          <a:fillRef idx="0">
            <a:schemeClr val="accent2"/>
          </a:fillRef>
          <a:effectRef idx="2">
            <a:schemeClr val="accent2"/>
          </a:effectRef>
          <a:fontRef idx="minor">
            <a:schemeClr val="tx1"/>
          </a:fontRef>
        </p:style>
      </p:cxnSp>
      <p:cxnSp>
        <p:nvCxnSpPr>
          <p:cNvPr id="6" name="Straight Connector 5">
            <a:extLst>
              <a:ext uri="{FF2B5EF4-FFF2-40B4-BE49-F238E27FC236}">
                <a16:creationId xmlns:a16="http://schemas.microsoft.com/office/drawing/2014/main" id="{F4A9D49D-EC81-4C18-EAE0-16C729A0D7AA}"/>
              </a:ext>
              <a:ext uri="{C183D7F6-B498-43B3-948B-1728B52AA6E4}">
                <adec:decorative xmlns:adec="http://schemas.microsoft.com/office/drawing/2017/decorative" val="1"/>
              </a:ext>
            </a:extLst>
          </p:cNvPr>
          <p:cNvCxnSpPr>
            <a:cxnSpLocks/>
          </p:cNvCxnSpPr>
          <p:nvPr/>
        </p:nvCxnSpPr>
        <p:spPr>
          <a:xfrm flipV="1">
            <a:off x="5688549" y="4811877"/>
            <a:ext cx="1549594" cy="254781"/>
          </a:xfrm>
          <a:prstGeom prst="line">
            <a:avLst/>
          </a:prstGeom>
        </p:spPr>
        <p:style>
          <a:lnRef idx="3">
            <a:schemeClr val="accent2"/>
          </a:lnRef>
          <a:fillRef idx="0">
            <a:schemeClr val="accent2"/>
          </a:fillRef>
          <a:effectRef idx="2">
            <a:schemeClr val="accent2"/>
          </a:effectRef>
          <a:fontRef idx="minor">
            <a:schemeClr val="tx1"/>
          </a:fontRef>
        </p:style>
      </p:cxnSp>
      <p:sp>
        <p:nvSpPr>
          <p:cNvPr id="7" name="Speech Bubble: Rectangle with Corners Rounded 6">
            <a:extLst>
              <a:ext uri="{FF2B5EF4-FFF2-40B4-BE49-F238E27FC236}">
                <a16:creationId xmlns:a16="http://schemas.microsoft.com/office/drawing/2014/main" id="{5AFBF7E4-845B-DA38-E9A5-723C0A4CB58B}"/>
              </a:ext>
            </a:extLst>
          </p:cNvPr>
          <p:cNvSpPr/>
          <p:nvPr/>
        </p:nvSpPr>
        <p:spPr>
          <a:xfrm>
            <a:off x="9471194" y="4342689"/>
            <a:ext cx="2101026" cy="750367"/>
          </a:xfrm>
          <a:prstGeom prst="wedgeRoundRectCallout">
            <a:avLst>
              <a:gd name="adj1" fmla="val -93610"/>
              <a:gd name="adj2" fmla="val -1511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Luckily, the unknown transition probabilities cancel out!</a:t>
            </a:r>
          </a:p>
        </p:txBody>
      </p:sp>
      <p:sp>
        <p:nvSpPr>
          <p:cNvPr id="8" name="Speech Bubble: Rectangle with Corners Rounded 7">
            <a:extLst>
              <a:ext uri="{FF2B5EF4-FFF2-40B4-BE49-F238E27FC236}">
                <a16:creationId xmlns:a16="http://schemas.microsoft.com/office/drawing/2014/main" id="{5B72F090-DC2E-C8B9-3321-C68747FD6B15}"/>
              </a:ext>
            </a:extLst>
          </p:cNvPr>
          <p:cNvSpPr/>
          <p:nvPr/>
        </p:nvSpPr>
        <p:spPr>
          <a:xfrm>
            <a:off x="9388217" y="2720931"/>
            <a:ext cx="2101026" cy="520435"/>
          </a:xfrm>
          <a:prstGeom prst="wedgeRoundRectCallout">
            <a:avLst>
              <a:gd name="adj1" fmla="val -94747"/>
              <a:gd name="adj2" fmla="val 9683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Needs unknown transition probabilities!</a:t>
            </a:r>
          </a:p>
        </p:txBody>
      </p:sp>
      <mc:AlternateContent xmlns:mc="http://schemas.openxmlformats.org/markup-compatibility/2006" xmlns:a14="http://schemas.microsoft.com/office/drawing/2010/main">
        <mc:Choice Requires="a14">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p:nvPr/>
            </p:nvSpPr>
            <p:spPr>
              <a:xfrm>
                <a:off x="9471194" y="5525922"/>
                <a:ext cx="2101026" cy="966952"/>
              </a:xfrm>
              <a:prstGeom prst="wedgeRoundRectCallout">
                <a:avLst>
                  <a:gd name="adj1" fmla="val -135253"/>
                  <a:gd name="adj2" fmla="val -1069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This is especially a problem if </a:t>
                </a:r>
                <a14:m>
                  <m:oMath xmlns:m="http://schemas.openxmlformats.org/officeDocument/2006/math">
                    <m:r>
                      <a:rPr lang="en-US" sz="1400" b="0" i="1" smtClean="0">
                        <a:latin typeface="Cambria Math" panose="02040503050406030204" pitchFamily="18" charset="0"/>
                      </a:rPr>
                      <m:t>𝜋</m:t>
                    </m:r>
                  </m:oMath>
                </a14:m>
                <a:r>
                  <a:rPr lang="en-US" sz="1400" dirty="0"/>
                  <a:t> is a deterministic policy very different from  </a:t>
                </a:r>
                <a14:m>
                  <m:oMath xmlns:m="http://schemas.openxmlformats.org/officeDocument/2006/math">
                    <m:r>
                      <a:rPr lang="en-US" sz="1400" b="0" i="1" smtClean="0">
                        <a:latin typeface="Cambria Math" panose="02040503050406030204" pitchFamily="18" charset="0"/>
                      </a:rPr>
                      <m:t>𝑏</m:t>
                    </m:r>
                  </m:oMath>
                </a14:m>
                <a:r>
                  <a:rPr lang="en-US" sz="1400" dirty="0"/>
                  <a:t>!</a:t>
                </a:r>
              </a:p>
            </p:txBody>
          </p:sp>
        </mc:Choice>
        <mc:Fallback xmlns="">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a:spLocks noRot="1" noChangeAspect="1" noMove="1" noResize="1" noEditPoints="1" noAdjustHandles="1" noChangeArrowheads="1" noChangeShapeType="1" noTextEdit="1"/>
              </p:cNvSpPr>
              <p:nvPr/>
            </p:nvSpPr>
            <p:spPr>
              <a:xfrm>
                <a:off x="9471194" y="5525922"/>
                <a:ext cx="2101026" cy="966952"/>
              </a:xfrm>
              <a:prstGeom prst="wedgeRoundRectCallout">
                <a:avLst>
                  <a:gd name="adj1" fmla="val -135253"/>
                  <a:gd name="adj2" fmla="val -10690"/>
                  <a:gd name="adj3" fmla="val 16667"/>
                </a:avLst>
              </a:prstGeom>
              <a:blipFill>
                <a:blip r:embed="rId3"/>
                <a:stretch>
                  <a:fillRect b="-4321"/>
                </a:stretch>
              </a:blipFill>
            </p:spPr>
            <p:txBody>
              <a:bodyPr/>
              <a:lstStyle/>
              <a:p>
                <a:r>
                  <a:rPr lang="en-US">
                    <a:noFill/>
                  </a:rPr>
                  <a:t> </a:t>
                </a:r>
              </a:p>
            </p:txBody>
          </p:sp>
        </mc:Fallback>
      </mc:AlternateContent>
    </p:spTree>
    <p:extLst>
      <p:ext uri="{BB962C8B-B14F-4D97-AF65-F5344CB8AC3E}">
        <p14:creationId xmlns:p14="http://schemas.microsoft.com/office/powerpoint/2010/main" val="3162325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A4A6-BE76-606A-C91C-C516CF32256F}"/>
              </a:ext>
            </a:extLst>
          </p:cNvPr>
          <p:cNvSpPr>
            <a:spLocks noGrp="1"/>
          </p:cNvSpPr>
          <p:nvPr>
            <p:ph type="title"/>
          </p:nvPr>
        </p:nvSpPr>
        <p:spPr/>
        <p:txBody>
          <a:bodyPr/>
          <a:lstStyle/>
          <a:p>
            <a:r>
              <a:rPr lang="en-US" dirty="0"/>
              <a:t>Ordinary vs. Weighted Importance Sampling</a:t>
            </a:r>
          </a:p>
        </p:txBody>
      </p:sp>
      <mc:AlternateContent xmlns:mc="http://schemas.openxmlformats.org/markup-compatibility/2006" xmlns:a14="http://schemas.microsoft.com/office/drawing/2010/main">
        <mc:Choice Requires="a14">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p:cNvSpPr>
              <p:nvPr>
                <p:ph idx="1"/>
              </p:nvPr>
            </p:nvSpPr>
            <p:spPr>
              <a:xfrm>
                <a:off x="838200" y="1397330"/>
                <a:ext cx="10756692" cy="4779633"/>
              </a:xfrm>
            </p:spPr>
            <p:txBody>
              <a:bodyPr>
                <a:normAutofit fontScale="70000" lnSpcReduction="20000"/>
              </a:bodyPr>
              <a:lstStyle/>
              <a:p>
                <a:r>
                  <a:rPr lang="en-US" b="1" dirty="0"/>
                  <a:t>Ordinary importance sampling </a:t>
                </a:r>
                <a:r>
                  <a:rPr lang="en-US" dirty="0"/>
                  <a:t>averages the corrected sample returns</a:t>
                </a:r>
              </a:p>
              <a:p>
                <a:endParaRPr lang="en-US" dirty="0"/>
              </a:p>
              <a:p>
                <a:pPr marL="0" indent="0" algn="ctr">
                  <a:buNone/>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𝒯</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e>
                        </m:nary>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e>
                        </m:d>
                      </m:den>
                    </m:f>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oMath>
                </a14:m>
                <a:endParaRPr lang="en-US" dirty="0"/>
              </a:p>
              <a:p>
                <a:pPr lvl="1"/>
                <a:endParaRPr lang="en-US" i="1" dirty="0">
                  <a:latin typeface="Cambria Math" panose="02040503050406030204" pitchFamily="18" charset="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r>
                  <a:rPr lang="en-US" dirty="0"/>
                  <a:t> are the time steps that </a:t>
                </a:r>
                <a14:m>
                  <m:oMath xmlns:m="http://schemas.openxmlformats.org/officeDocument/2006/math">
                    <m:r>
                      <a:rPr lang="en-US" i="1" dirty="0" smtClean="0">
                        <a:latin typeface="Cambria Math" panose="02040503050406030204" pitchFamily="18" charset="0"/>
                      </a:rPr>
                      <m:t>𝑠</m:t>
                    </m:r>
                  </m:oMath>
                </a14:m>
                <a:r>
                  <a:rPr lang="en-US" dirty="0"/>
                  <a:t> was (first) visited.</a:t>
                </a:r>
              </a:p>
              <a:p>
                <a:pPr lvl="1"/>
                <a:r>
                  <a:rPr lang="en-US" dirty="0"/>
                  <a:t>Gives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but the variance is extreme for low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a14:m>
                <a:r>
                  <a:rPr lang="en-US" dirty="0"/>
                  <a:t>.</a:t>
                </a:r>
              </a:p>
              <a:p>
                <a:pPr marL="457200" lvl="1" indent="0">
                  <a:buNone/>
                </a:pPr>
                <a:endParaRPr lang="en-US" dirty="0"/>
              </a:p>
              <a:p>
                <a:r>
                  <a:rPr lang="en-US" b="1" dirty="0"/>
                  <a:t>Weighted importance sampling</a:t>
                </a:r>
              </a:p>
              <a:p>
                <a:endParaRPr lang="en-US" b="1"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
                        <m:fPr>
                          <m:ctrlPr>
                            <a:rPr lang="en-US" i="1">
                              <a:latin typeface="Cambria Math" panose="02040503050406030204" pitchFamily="18" charset="0"/>
                            </a:rPr>
                          </m:ctrlPr>
                        </m:fPr>
                        <m:num>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e>
                          </m:nary>
                        </m:num>
                        <m:den>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nary>
                        </m:den>
                      </m:f>
                      <m:r>
                        <a:rPr lang="en-US" i="1">
                          <a:latin typeface="Cambria Math" panose="02040503050406030204" pitchFamily="18" charset="0"/>
                          <a:ea typeface="Cambria Math" panose="02040503050406030204" pitchFamily="18" charset="0"/>
                        </a:rPr>
                        <m:t>⟶ </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num>
                        <m:den>
                          <m:r>
                            <a:rPr lang="en-US" b="0" i="1" smtClean="0">
                              <a:latin typeface="Cambria Math" panose="02040503050406030204" pitchFamily="18" charset="0"/>
                              <a:ea typeface="Cambria Math" panose="02040503050406030204" pitchFamily="18" charset="0"/>
                            </a:rPr>
                            <m:t>1</m:t>
                          </m:r>
                        </m:den>
                      </m:f>
                    </m:oMath>
                  </m:oMathPara>
                </a14:m>
                <a:endParaRPr lang="en-US" dirty="0"/>
              </a:p>
              <a:p>
                <a:pPr lvl="1"/>
                <a:endParaRPr lang="en-US" dirty="0"/>
              </a:p>
              <a:p>
                <a:pPr lvl="1"/>
                <a:r>
                  <a:rPr lang="en-US" dirty="0"/>
                  <a:t>Set 0 if denominator is 0.</a:t>
                </a:r>
              </a:p>
              <a:p>
                <a:pPr lvl="1"/>
                <a:r>
                  <a:rPr lang="en-US" dirty="0"/>
                  <a:t>Initially biased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r>
                  <a:rPr lang="en-US" dirty="0"/>
                  <a:t>. The </a:t>
                </a:r>
                <a14:m>
                  <m:oMath xmlns:m="http://schemas.openxmlformats.org/officeDocument/2006/math">
                    <m:r>
                      <a:rPr lang="en-US" b="0" i="1" smtClean="0">
                        <a:latin typeface="Cambria Math" panose="02040503050406030204" pitchFamily="18" charset="0"/>
                      </a:rPr>
                      <m:t>𝜌</m:t>
                    </m:r>
                  </m:oMath>
                </a14:m>
                <a:r>
                  <a:rPr lang="en-US" dirty="0"/>
                  <a:t> terms cancel for a single observation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is sampled using </a:t>
                </a:r>
                <a14:m>
                  <m:oMath xmlns:m="http://schemas.openxmlformats.org/officeDocument/2006/math">
                    <m:r>
                      <a:rPr lang="en-US" b="0" i="1" smtClean="0">
                        <a:latin typeface="Cambria Math" panose="02040503050406030204" pitchFamily="18" charset="0"/>
                      </a:rPr>
                      <m:t>𝑏</m:t>
                    </m:r>
                  </m:oMath>
                </a14:m>
                <a:r>
                  <a:rPr lang="en-US" dirty="0"/>
                  <a:t>. </a:t>
                </a:r>
              </a:p>
              <a:p>
                <a:pPr lvl="1"/>
                <a:r>
                  <a:rPr lang="en-US" dirty="0"/>
                  <a:t>Bias falls asymptotically with more visits</a:t>
                </a:r>
              </a:p>
              <a:p>
                <a:pPr lvl="1"/>
                <a:r>
                  <a:rPr lang="en-US" dirty="0"/>
                  <a:t>Preferred method with much lower errors (variance) for smaller number of episodes.</a:t>
                </a:r>
              </a:p>
              <a:p>
                <a:pPr marL="0" indent="0">
                  <a:buNone/>
                </a:pPr>
                <a:endParaRPr lang="en-US" dirty="0"/>
              </a:p>
            </p:txBody>
          </p:sp>
        </mc:Choice>
        <mc:Fallback xmlns="">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noRot="1" noChangeAspect="1" noMove="1" noResize="1" noEditPoints="1" noAdjustHandles="1" noChangeArrowheads="1" noChangeShapeType="1" noTextEdit="1"/>
              </p:cNvSpPr>
              <p:nvPr>
                <p:ph idx="1"/>
              </p:nvPr>
            </p:nvSpPr>
            <p:spPr>
              <a:xfrm>
                <a:off x="838200" y="1397330"/>
                <a:ext cx="10756692" cy="4779633"/>
              </a:xfrm>
              <a:blipFill>
                <a:blip r:embed="rId2"/>
                <a:stretch>
                  <a:fillRect l="-510"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p:nvPr/>
            </p:nvSpPr>
            <p:spPr>
              <a:xfrm>
                <a:off x="10080885" y="2572942"/>
                <a:ext cx="1761343" cy="1214204"/>
              </a:xfrm>
              <a:prstGeom prst="wedgeRoundRectCallout">
                <a:avLst>
                  <a:gd name="adj1" fmla="val -297028"/>
                  <a:gd name="adj2" fmla="val 804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Note: the </a:t>
                </a:r>
                <a14:m>
                  <m:oMath xmlns:m="http://schemas.openxmlformats.org/officeDocument/2006/math">
                    <m:f>
                      <m:fPr>
                        <m:ctrlPr>
                          <a:rPr lang="en-US" sz="1600" i="1">
                            <a:latin typeface="Cambria Math" panose="02040503050406030204" pitchFamily="18" charset="0"/>
                            <a:ea typeface="Cambria Math" panose="02040503050406030204" pitchFamily="18" charset="0"/>
                          </a:rPr>
                        </m:ctrlPr>
                      </m:fPr>
                      <m:num>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num>
                      <m:den>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den>
                    </m:f>
                  </m:oMath>
                </a14:m>
                <a:r>
                  <a:rPr lang="en-US" sz="1600" dirty="0"/>
                  <a:t> is missing since it canceled out.</a:t>
                </a:r>
              </a:p>
            </p:txBody>
          </p:sp>
        </mc:Choice>
        <mc:Fallback xmlns="">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a:spLocks noRot="1" noChangeAspect="1" noMove="1" noResize="1" noEditPoints="1" noAdjustHandles="1" noChangeArrowheads="1" noChangeShapeType="1" noTextEdit="1"/>
              </p:cNvSpPr>
              <p:nvPr/>
            </p:nvSpPr>
            <p:spPr>
              <a:xfrm>
                <a:off x="10080885" y="2572942"/>
                <a:ext cx="1761343" cy="1214204"/>
              </a:xfrm>
              <a:prstGeom prst="wedgeRoundRectCallout">
                <a:avLst>
                  <a:gd name="adj1" fmla="val -297028"/>
                  <a:gd name="adj2" fmla="val 80458"/>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4398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2" end="1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4" end="1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6E673-7BE2-C7DB-FDB9-3F97190C8A21}"/>
              </a:ext>
            </a:extLst>
          </p:cNvPr>
          <p:cNvSpPr>
            <a:spLocks noGrp="1"/>
          </p:cNvSpPr>
          <p:nvPr>
            <p:ph type="title"/>
          </p:nvPr>
        </p:nvSpPr>
        <p:spPr/>
        <p:txBody>
          <a:bodyPr>
            <a:normAutofit/>
          </a:bodyPr>
          <a:lstStyle/>
          <a:p>
            <a:r>
              <a:rPr lang="en-US" dirty="0"/>
              <a:t>Alg. Off-Policy Prediction</a:t>
            </a:r>
          </a:p>
        </p:txBody>
      </p:sp>
      <p:pic>
        <p:nvPicPr>
          <p:cNvPr id="3"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9D607B85-E12F-346B-31F9-19075BE2D56E}"/>
              </a:ext>
            </a:extLst>
          </p:cNvPr>
          <p:cNvPicPr>
            <a:picLocks noChangeAspect="1"/>
          </p:cNvPicPr>
          <p:nvPr/>
        </p:nvPicPr>
        <p:blipFill>
          <a:blip r:embed="rId2"/>
          <a:srcRect l="2189" t="2792"/>
          <a:stretch>
            <a:fillRect/>
          </a:stretch>
        </p:blipFill>
        <p:spPr>
          <a:xfrm>
            <a:off x="469383" y="1407853"/>
            <a:ext cx="7289930" cy="4646532"/>
          </a:xfrm>
          <a:prstGeom prst="rect">
            <a:avLst/>
          </a:prstGeom>
        </p:spPr>
      </p:pic>
      <p:pic>
        <p:nvPicPr>
          <p:cNvPr id="5"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36124268-92F3-21D3-714E-81C827A57502}"/>
              </a:ext>
            </a:extLst>
          </p:cNvPr>
          <p:cNvPicPr>
            <a:picLocks noGrp="1" noChangeAspect="1"/>
          </p:cNvPicPr>
          <p:nvPr>
            <p:ph idx="1"/>
          </p:nvPr>
        </p:nvPicPr>
        <p:blipFill>
          <a:blip r:embed="rId3"/>
          <a:srcRect l="1704" t="4119"/>
          <a:stretch>
            <a:fillRect/>
          </a:stretch>
        </p:blipFill>
        <p:spPr>
          <a:xfrm>
            <a:off x="3612104" y="2043478"/>
            <a:ext cx="8155700" cy="4583055"/>
          </a:xfrm>
          <a:prstGeom prst="rect">
            <a:avLst/>
          </a:prstGeom>
        </p:spPr>
      </p:pic>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p:nvPr/>
            </p:nvSpPr>
            <p:spPr>
              <a:xfrm>
                <a:off x="7176780" y="2969702"/>
                <a:ext cx="3538112" cy="503339"/>
              </a:xfrm>
              <a:prstGeom prst="wedgeRoundRectCallout">
                <a:avLst>
                  <a:gd name="adj1" fmla="val -101623"/>
                  <a:gd name="adj2" fmla="val 364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cumulative sum of weights for </a:t>
                </a:r>
                <a14:m>
                  <m:oMath xmlns:m="http://schemas.openxmlformats.org/officeDocument/2006/math">
                    <m:r>
                      <a:rPr lang="en-US" sz="1200" i="1" dirty="0">
                        <a:latin typeface="Cambria Math" panose="02040503050406030204" pitchFamily="18" charset="0"/>
                      </a:rPr>
                      <m:t>(</m:t>
                    </m:r>
                    <m:r>
                      <a:rPr lang="en-US" sz="1200" i="1" dirty="0" err="1">
                        <a:latin typeface="Cambria Math" panose="02040503050406030204" pitchFamily="18" charset="0"/>
                      </a:rPr>
                      <m:t>𝑠</m:t>
                    </m:r>
                    <m:r>
                      <a:rPr lang="en-US" sz="1200" i="1" dirty="0" err="1">
                        <a:latin typeface="Cambria Math" panose="02040503050406030204" pitchFamily="18" charset="0"/>
                      </a:rPr>
                      <m:t>,</m:t>
                    </m:r>
                    <m:r>
                      <a:rPr lang="en-US" sz="1200" i="1" dirty="0" err="1">
                        <a:latin typeface="Cambria Math" panose="02040503050406030204" pitchFamily="18" charset="0"/>
                      </a:rPr>
                      <m:t>𝑎</m:t>
                    </m:r>
                    <m:r>
                      <a:rPr lang="en-US" sz="1200" i="1" dirty="0">
                        <a:latin typeface="Cambria Math" panose="02040503050406030204" pitchFamily="18" charset="0"/>
                      </a:rPr>
                      <m:t>)</m:t>
                    </m:r>
                  </m:oMath>
                </a14:m>
                <a:r>
                  <a:rPr lang="en-US" sz="1200" dirty="0"/>
                  <a:t> for incremental update of the average return.</a:t>
                </a:r>
              </a:p>
            </p:txBody>
          </p:sp>
        </mc:Choice>
        <mc:Fallback xmlns="">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176780" y="2969702"/>
                <a:ext cx="3538112" cy="503339"/>
              </a:xfrm>
              <a:prstGeom prst="wedgeRoundRectCallout">
                <a:avLst>
                  <a:gd name="adj1" fmla="val -101623"/>
                  <a:gd name="adj2" fmla="val 36413"/>
                  <a:gd name="adj3" fmla="val 16667"/>
                </a:avLst>
              </a:prstGeom>
              <a:blipFill>
                <a:blip r:embed="rId4"/>
                <a:stretch>
                  <a:fillRect/>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F6850AEC-92A1-9747-9C72-EC0B580331BC}"/>
              </a:ext>
              <a:ext uri="{C183D7F6-B498-43B3-948B-1728B52AA6E4}">
                <adec:decorative xmlns:adec="http://schemas.microsoft.com/office/drawing/2017/decorative" val="1"/>
              </a:ext>
            </a:extLst>
          </p:cNvPr>
          <p:cNvSpPr/>
          <p:nvPr/>
        </p:nvSpPr>
        <p:spPr>
          <a:xfrm>
            <a:off x="8191849" y="6125128"/>
            <a:ext cx="3049398" cy="195743"/>
          </a:xfrm>
          <a:prstGeom prst="wedgeRoundRectCallout">
            <a:avLst>
              <a:gd name="adj1" fmla="val -69966"/>
              <a:gd name="adj2" fmla="val -1136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Incremental update + Correct the update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p:nvPr/>
            </p:nvSpPr>
            <p:spPr>
              <a:xfrm>
                <a:off x="7218581" y="3596151"/>
                <a:ext cx="4549223" cy="263873"/>
              </a:xfrm>
              <a:prstGeom prst="wedgeRoundRectCallout">
                <a:avLst>
                  <a:gd name="adj1" fmla="val -46626"/>
                  <a:gd name="adj2" fmla="val 1178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b="0" i="1" dirty="0" smtClean="0">
                        <a:latin typeface="Cambria Math" panose="02040503050406030204" pitchFamily="18" charset="0"/>
                      </a:rPr>
                      <m:t>𝑏</m:t>
                    </m:r>
                  </m:oMath>
                </a14:m>
                <a:r>
                  <a:rPr lang="en-US" sz="1200" dirty="0"/>
                  <a:t> can change every episode! Practical choice is </a:t>
                </a: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m:t>
                    </m:r>
                    <m:r>
                      <m:rPr>
                        <m:nor/>
                      </m:rPr>
                      <a:rPr lang="en-US" sz="1200" b="0" i="0" smtClean="0">
                        <a:latin typeface="Cambria Math" panose="02040503050406030204" pitchFamily="18" charset="0"/>
                      </a:rPr>
                      <m:t>ϵ−greedy</m:t>
                    </m:r>
                    <m:r>
                      <a:rPr lang="en-US" sz="1200" b="0" i="1" smtClean="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m:t>
                    </m:r>
                  </m:oMath>
                </a14:m>
                <a:endParaRPr lang="en-US" sz="1200" dirty="0"/>
              </a:p>
            </p:txBody>
          </p:sp>
        </mc:Choice>
        <mc:Fallback xmlns="">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18581" y="3596151"/>
                <a:ext cx="4549223" cy="263873"/>
              </a:xfrm>
              <a:prstGeom prst="wedgeRoundRectCallout">
                <a:avLst>
                  <a:gd name="adj1" fmla="val -46626"/>
                  <a:gd name="adj2" fmla="val 117874"/>
                  <a:gd name="adj3" fmla="val 16667"/>
                </a:avLst>
              </a:prstGeom>
              <a:blipFill>
                <a:blip r:embed="rId5"/>
                <a:stretch>
                  <a:fillRect/>
                </a:stretch>
              </a:blipFill>
            </p:spPr>
            <p:txBody>
              <a:bodyPr/>
              <a:lstStyle/>
              <a:p>
                <a:r>
                  <a:rPr lang="en-US">
                    <a:noFill/>
                  </a:rPr>
                  <a:t> </a:t>
                </a:r>
              </a:p>
            </p:txBody>
          </p:sp>
        </mc:Fallback>
      </mc:AlternateContent>
      <p:sp>
        <p:nvSpPr>
          <p:cNvPr id="9" name="Arrow: Down 8">
            <a:extLst>
              <a:ext uri="{FF2B5EF4-FFF2-40B4-BE49-F238E27FC236}">
                <a16:creationId xmlns:a16="http://schemas.microsoft.com/office/drawing/2014/main" id="{8C5E7366-B663-9D68-2647-028B1D913D6B}"/>
              </a:ext>
              <a:ext uri="{C183D7F6-B498-43B3-948B-1728B52AA6E4}">
                <adec:decorative xmlns:adec="http://schemas.microsoft.com/office/drawing/2017/decorative" val="1"/>
              </a:ext>
            </a:extLst>
          </p:cNvPr>
          <p:cNvSpPr/>
          <p:nvPr/>
        </p:nvSpPr>
        <p:spPr>
          <a:xfrm rot="16930409">
            <a:off x="2940342" y="3091206"/>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p:nvPr/>
            </p:nvSpPr>
            <p:spPr>
              <a:xfrm>
                <a:off x="5527645" y="4653835"/>
                <a:ext cx="2162309" cy="195743"/>
              </a:xfrm>
              <a:prstGeom prst="wedgeRoundRectCallout">
                <a:avLst>
                  <a:gd name="adj1" fmla="val -80475"/>
                  <a:gd name="adj2" fmla="val -250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Importance sampling ratio </a:t>
                </a:r>
                <a14:m>
                  <m:oMath xmlns:m="http://schemas.openxmlformats.org/officeDocument/2006/math">
                    <m:r>
                      <a:rPr lang="en-US" sz="1200" b="0" i="1" smtClean="0">
                        <a:latin typeface="Cambria Math" panose="02040503050406030204" pitchFamily="18" charset="0"/>
                      </a:rPr>
                      <m:t>𝜌</m:t>
                    </m:r>
                  </m:oMath>
                </a14:m>
                <a:endParaRPr lang="en-US" sz="1200" dirty="0"/>
              </a:p>
            </p:txBody>
          </p:sp>
        </mc:Choice>
        <mc:Fallback xmlns="">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5527645" y="4653835"/>
                <a:ext cx="2162309" cy="195743"/>
              </a:xfrm>
              <a:prstGeom prst="wedgeRoundRectCallout">
                <a:avLst>
                  <a:gd name="adj1" fmla="val -80475"/>
                  <a:gd name="adj2" fmla="val -2508"/>
                  <a:gd name="adj3" fmla="val 16667"/>
                </a:avLst>
              </a:prstGeom>
              <a:blipFill>
                <a:blip r:embed="rId6"/>
                <a:stretch>
                  <a:fillRect t="-10526" b="-2631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D2BFDED-1362-EAC8-6F95-950A9C762329}"/>
              </a:ext>
            </a:extLst>
          </p:cNvPr>
          <p:cNvSpPr txBox="1"/>
          <p:nvPr/>
        </p:nvSpPr>
        <p:spPr>
          <a:xfrm>
            <a:off x="838200" y="1019636"/>
            <a:ext cx="9453490" cy="369332"/>
          </a:xfrm>
          <a:prstGeom prst="rect">
            <a:avLst/>
          </a:prstGeom>
          <a:noFill/>
        </p:spPr>
        <p:txBody>
          <a:bodyPr wrap="square">
            <a:spAutoFit/>
          </a:bodyPr>
          <a:lstStyle/>
          <a:p>
            <a:r>
              <a:rPr lang="en-US" sz="1800" dirty="0"/>
              <a:t>Weighted importance </a:t>
            </a:r>
            <a:r>
              <a:rPr lang="en-US" dirty="0"/>
              <a:t>s</a:t>
            </a:r>
            <a:r>
              <a:rPr lang="en-US" sz="1800" dirty="0"/>
              <a:t>ampling + incremental average update</a:t>
            </a:r>
            <a:endParaRPr lang="en-US" dirty="0"/>
          </a:p>
        </p:txBody>
      </p:sp>
      <mc:AlternateContent xmlns:mc="http://schemas.openxmlformats.org/markup-compatibility/2006" xmlns:a14="http://schemas.microsoft.com/office/drawing/2010/main">
        <mc:Choice Requires="a14">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p:nvPr/>
            </p:nvSpPr>
            <p:spPr>
              <a:xfrm>
                <a:off x="8344553" y="5211444"/>
                <a:ext cx="3650681" cy="414631"/>
              </a:xfrm>
              <a:prstGeom prst="wedgeRoundRectCallout">
                <a:avLst>
                  <a:gd name="adj1" fmla="val -23873"/>
                  <a:gd name="adj2" fmla="val -698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Can only learn from the end of the episode where the action chosen from  </a:t>
                </a:r>
                <a14:m>
                  <m:oMath xmlns:m="http://schemas.openxmlformats.org/officeDocument/2006/math">
                    <m:r>
                      <a:rPr lang="en-US" sz="1200" b="0" i="1" smtClean="0">
                        <a:latin typeface="Cambria Math" panose="02040503050406030204" pitchFamily="18" charset="0"/>
                      </a:rPr>
                      <m:t>𝑏</m:t>
                    </m:r>
                  </m:oMath>
                </a14:m>
                <a:r>
                  <a:rPr lang="en-US" sz="1200" dirty="0"/>
                  <a:t> can also be chosen by  </a:t>
                </a:r>
                <a14:m>
                  <m:oMath xmlns:m="http://schemas.openxmlformats.org/officeDocument/2006/math">
                    <m:r>
                      <a:rPr lang="en-US" sz="1200" b="0" i="1" smtClean="0">
                        <a:latin typeface="Cambria Math" panose="02040503050406030204" pitchFamily="18" charset="0"/>
                      </a:rPr>
                      <m:t>𝜋</m:t>
                    </m:r>
                  </m:oMath>
                </a14:m>
                <a:r>
                  <a:rPr lang="en-US" sz="1200" dirty="0"/>
                  <a:t>! </a:t>
                </a:r>
              </a:p>
            </p:txBody>
          </p:sp>
        </mc:Choice>
        <mc:Fallback xmlns="">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8344553" y="5211444"/>
                <a:ext cx="3650681" cy="414631"/>
              </a:xfrm>
              <a:prstGeom prst="wedgeRoundRectCallout">
                <a:avLst>
                  <a:gd name="adj1" fmla="val -23873"/>
                  <a:gd name="adj2" fmla="val -69813"/>
                  <a:gd name="adj3" fmla="val 16667"/>
                </a:avLst>
              </a:prstGeom>
              <a:blipFill>
                <a:blip r:embed="rId7"/>
                <a:stretch>
                  <a:fillRect b="-9524"/>
                </a:stretch>
              </a:blipFill>
            </p:spPr>
            <p:txBody>
              <a:bodyPr/>
              <a:lstStyle/>
              <a:p>
                <a:r>
                  <a:rPr lang="en-US">
                    <a:noFill/>
                  </a:rPr>
                  <a:t> </a:t>
                </a:r>
              </a:p>
            </p:txBody>
          </p:sp>
        </mc:Fallback>
      </mc:AlternateContent>
    </p:spTree>
    <p:extLst>
      <p:ext uri="{BB962C8B-B14F-4D97-AF65-F5344CB8AC3E}">
        <p14:creationId xmlns:p14="http://schemas.microsoft.com/office/powerpoint/2010/main" val="2041845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E88D-1806-979D-2814-D73AF282D6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8A943B-484E-9C7E-EE44-4CBCD7CF9F70}"/>
              </a:ext>
            </a:extLst>
          </p:cNvPr>
          <p:cNvSpPr>
            <a:spLocks noGrp="1"/>
          </p:cNvSpPr>
          <p:nvPr>
            <p:ph type="title"/>
          </p:nvPr>
        </p:nvSpPr>
        <p:spPr/>
        <p:txBody>
          <a:bodyPr/>
          <a:lstStyle/>
          <a:p>
            <a:r>
              <a:rPr lang="en-US" dirty="0"/>
              <a:t>Off-Policy Control</a:t>
            </a:r>
          </a:p>
        </p:txBody>
      </p:sp>
      <p:sp>
        <p:nvSpPr>
          <p:cNvPr id="5" name="Text Placeholder 4">
            <a:extLst>
              <a:ext uri="{FF2B5EF4-FFF2-40B4-BE49-F238E27FC236}">
                <a16:creationId xmlns:a16="http://schemas.microsoft.com/office/drawing/2014/main" id="{EE62269B-9FCA-0B73-D72E-BCBDF9DCD795}"/>
              </a:ext>
            </a:extLst>
          </p:cNvPr>
          <p:cNvSpPr>
            <a:spLocks noGrp="1"/>
          </p:cNvSpPr>
          <p:nvPr>
            <p:ph type="body" idx="1"/>
          </p:nvPr>
        </p:nvSpPr>
        <p:spPr/>
        <p:txBody>
          <a:bodyPr/>
          <a:lstStyle/>
          <a:p>
            <a:r>
              <a:rPr lang="en-US" dirty="0"/>
              <a:t>Find a good policy while following a different behavior policy.</a:t>
            </a:r>
          </a:p>
        </p:txBody>
      </p:sp>
    </p:spTree>
    <p:extLst>
      <p:ext uri="{BB962C8B-B14F-4D97-AF65-F5344CB8AC3E}">
        <p14:creationId xmlns:p14="http://schemas.microsoft.com/office/powerpoint/2010/main" val="1899086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66720-F8A3-4C51-FD0A-FF05EFB946EB}"/>
              </a:ext>
            </a:extLst>
          </p:cNvPr>
          <p:cNvSpPr>
            <a:spLocks noGrp="1"/>
          </p:cNvSpPr>
          <p:nvPr>
            <p:ph type="title"/>
          </p:nvPr>
        </p:nvSpPr>
        <p:spPr/>
        <p:txBody>
          <a:bodyPr/>
          <a:lstStyle/>
          <a:p>
            <a:r>
              <a:rPr lang="en-US" dirty="0"/>
              <a:t>Off-Policy MC Control</a:t>
            </a:r>
          </a:p>
        </p:txBody>
      </p:sp>
      <mc:AlternateContent xmlns:mc="http://schemas.openxmlformats.org/markup-compatibility/2006" xmlns:a14="http://schemas.microsoft.com/office/drawing/2010/main">
        <mc:Choice Requires="a14">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p:cNvSpPr>
              <p:nvPr>
                <p:ph idx="1"/>
              </p:nvPr>
            </p:nvSpPr>
            <p:spPr/>
            <p:txBody>
              <a:bodyPr>
                <a:normAutofit fontScale="92500" lnSpcReduction="20000"/>
              </a:bodyPr>
              <a:lstStyle/>
              <a:p>
                <a:r>
                  <a:rPr lang="en-US" b="1" dirty="0"/>
                  <a:t>Remember</a:t>
                </a:r>
                <a:r>
                  <a:rPr lang="en-US" dirty="0"/>
                  <a:t>: on-policy control tries to estimate a policy while using it for sampling. This has the following implications:</a:t>
                </a:r>
              </a:p>
              <a:p>
                <a:pPr lvl="1"/>
                <a:r>
                  <a:rPr lang="en-US" dirty="0"/>
                  <a:t>The </a:t>
                </a:r>
                <a:r>
                  <a:rPr lang="en-US" b="1" dirty="0"/>
                  <a:t>behavior changes </a:t>
                </a:r>
                <a:r>
                  <a:rPr lang="en-US" dirty="0"/>
                  <a:t>with the learned policy.</a:t>
                </a:r>
              </a:p>
              <a:p>
                <a:pPr lvl="1"/>
                <a:r>
                  <a:rPr lang="en-US" dirty="0"/>
                  <a:t>The policy that is learned needs to explore and therefore </a:t>
                </a:r>
                <a:r>
                  <a:rPr lang="en-US" b="1" dirty="0"/>
                  <a:t>may not be able to learn the optimal deterministic policy</a:t>
                </a:r>
                <a:r>
                  <a:rPr lang="en-US" dirty="0"/>
                  <a:t>.</a:t>
                </a:r>
              </a:p>
              <a:p>
                <a:endParaRPr lang="en-US" dirty="0"/>
              </a:p>
              <a:p>
                <a:r>
                  <a:rPr lang="en-US" dirty="0"/>
                  <a:t>Off-policy control uses two policies:</a:t>
                </a:r>
              </a:p>
              <a:p>
                <a:endParaRPr lang="en-US" dirty="0"/>
              </a:p>
              <a:p>
                <a:pPr lvl="1"/>
                <a:r>
                  <a:rPr lang="en-US" b="1" dirty="0"/>
                  <a:t>Behavior policy </a:t>
                </a:r>
                <a14:m>
                  <m:oMath xmlns:m="http://schemas.openxmlformats.org/officeDocument/2006/math">
                    <m:r>
                      <a:rPr lang="en-US" b="1" i="1" smtClean="0">
                        <a:latin typeface="Cambria Math" panose="02040503050406030204" pitchFamily="18" charset="0"/>
                      </a:rPr>
                      <m:t>𝒃</m:t>
                    </m:r>
                  </m:oMath>
                </a14:m>
                <a:r>
                  <a:rPr lang="en-US" dirty="0"/>
                  <a:t>: Needs to have coverage. That is, it eventually takes every action taken under </a:t>
                </a:r>
                <a14:m>
                  <m:oMath xmlns:m="http://schemas.openxmlformats.org/officeDocument/2006/math">
                    <m:r>
                      <a:rPr lang="en-US" i="1">
                        <a:latin typeface="Cambria Math" panose="02040503050406030204" pitchFamily="18" charset="0"/>
                      </a:rPr>
                      <m:t>𝜋</m:t>
                    </m:r>
                    <m:r>
                      <a:rPr lang="en-US" b="0" i="0" smtClean="0">
                        <a:latin typeface="Cambria Math" panose="02040503050406030204" pitchFamily="18" charset="0"/>
                      </a:rPr>
                      <m:t>. </m:t>
                    </m:r>
                  </m:oMath>
                </a14:m>
                <a:r>
                  <a:rPr lang="en-US" dirty="0"/>
                  <a:t>This typically means that we will use a </a:t>
                </a:r>
                <a:r>
                  <a:rPr lang="en-US" b="1" dirty="0"/>
                  <a:t>soft policy</a:t>
                </a:r>
                <a:r>
                  <a:rPr lang="en-US" dirty="0"/>
                  <a:t>.</a:t>
                </a:r>
              </a:p>
              <a:p>
                <a:pPr lvl="1"/>
                <a:endParaRPr lang="en-US" dirty="0"/>
              </a:p>
              <a:p>
                <a:pPr lvl="1"/>
                <a:r>
                  <a:rPr lang="en-US" b="1" dirty="0"/>
                  <a:t>Target policy </a:t>
                </a:r>
                <a14:m>
                  <m:oMath xmlns:m="http://schemas.openxmlformats.org/officeDocument/2006/math">
                    <m:r>
                      <a:rPr lang="en-US" b="1" i="1" smtClean="0">
                        <a:latin typeface="Cambria Math" panose="02040503050406030204" pitchFamily="18" charset="0"/>
                      </a:rPr>
                      <m:t>𝝅</m:t>
                    </m:r>
                  </m:oMath>
                </a14:m>
                <a:r>
                  <a:rPr lang="en-US" dirty="0"/>
                  <a:t>: Typically, a </a:t>
                </a:r>
                <a:r>
                  <a:rPr lang="en-US" b="1" dirty="0"/>
                  <a:t>deterministic greedy policy </a:t>
                </a:r>
                <a:r>
                  <a:rPr lang="en-US" dirty="0"/>
                  <a:t>which can become optimal.</a:t>
                </a:r>
              </a:p>
              <a:p>
                <a:pPr lvl="1"/>
                <a:endParaRPr lang="en-US" dirty="0"/>
              </a:p>
              <a:p>
                <a:r>
                  <a:rPr lang="en-US" b="1" dirty="0"/>
                  <a:t>Convergence</a:t>
                </a:r>
                <a:r>
                  <a:rPr lang="en-US" dirty="0"/>
                  <a:t>: With a covering behavior policy.</a:t>
                </a:r>
              </a:p>
            </p:txBody>
          </p:sp>
        </mc:Choice>
        <mc:Fallback xmlns="">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noRot="1" noChangeAspect="1" noMove="1" noResize="1" noEditPoints="1" noAdjustHandles="1" noChangeArrowheads="1" noChangeShapeType="1" noTextEdit="1"/>
              </p:cNvSpPr>
              <p:nvPr>
                <p:ph idx="1"/>
              </p:nvPr>
            </p:nvSpPr>
            <p:spPr>
              <a:blipFill>
                <a:blip r:embed="rId2"/>
                <a:stretch>
                  <a:fillRect l="-928" t="-3189" b="-3316"/>
                </a:stretch>
              </a:blipFill>
            </p:spPr>
            <p:txBody>
              <a:bodyPr/>
              <a:lstStyle/>
              <a:p>
                <a:r>
                  <a:rPr lang="en-US">
                    <a:noFill/>
                  </a:rPr>
                  <a:t> </a:t>
                </a:r>
              </a:p>
            </p:txBody>
          </p:sp>
        </mc:Fallback>
      </mc:AlternateContent>
    </p:spTree>
    <p:extLst>
      <p:ext uri="{BB962C8B-B14F-4D97-AF65-F5344CB8AC3E}">
        <p14:creationId xmlns:p14="http://schemas.microsoft.com/office/powerpoint/2010/main" val="238068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8716-FCC4-28C6-4F3D-DEB3815293B2}"/>
              </a:ext>
            </a:extLst>
          </p:cNvPr>
          <p:cNvSpPr>
            <a:spLocks noGrp="1"/>
          </p:cNvSpPr>
          <p:nvPr>
            <p:ph type="title"/>
          </p:nvPr>
        </p:nvSpPr>
        <p:spPr/>
        <p:txBody>
          <a:bodyPr/>
          <a:lstStyle/>
          <a:p>
            <a:r>
              <a:rPr lang="en-US" dirty="0"/>
              <a:t>Alg. Off-Policy MC Control</a:t>
            </a:r>
          </a:p>
        </p:txBody>
      </p:sp>
      <p:pic>
        <p:nvPicPr>
          <p:cNvPr id="3"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B0E5E3E5-7ADE-C94C-E70B-D6DA3B0A4788}"/>
              </a:ext>
            </a:extLst>
          </p:cNvPr>
          <p:cNvPicPr>
            <a:picLocks noChangeAspect="1"/>
          </p:cNvPicPr>
          <p:nvPr/>
        </p:nvPicPr>
        <p:blipFill>
          <a:blip r:embed="rId2"/>
          <a:srcRect l="1704" t="4119"/>
          <a:stretch>
            <a:fillRect/>
          </a:stretch>
        </p:blipFill>
        <p:spPr>
          <a:xfrm>
            <a:off x="499097" y="1167013"/>
            <a:ext cx="7178926" cy="4034162"/>
          </a:xfrm>
          <a:prstGeom prst="rect">
            <a:avLst/>
          </a:prstGeom>
        </p:spPr>
      </p:pic>
      <p:pic>
        <p:nvPicPr>
          <p:cNvPr id="5" name="Content Placeholder 4" descr="Algorithm box: Off-policy MC control, for estimating pi ≈ pi star. Initialize, for all s in S, a in A(s): Q(s, a) in R (arbitrarily); C(s, a) ← 0; pi(s) ← argmax over a of Q(s, a) (with ties broken consistently). Loop forever (for each episode): b ← any soft policy; Generate an episode using b: S_0, A_0, R_1, …, S_T−1, A_T−1, R_T; G ← 0; W ← 1; Loop for each step of episode, t = T−1, T−2, …, 0: G ← gamma G + R_t+1; C(S_t, A_t) ← C(S_t, A_t) + W; Q(S_t, A_t) ← Q(S_t, A_t) + W / C(S_t, A_t) times [G − Q(S_t, A_t)]; pi(S_t) ← argmax over a of Q(S_t, a) (with ties broken consistently); If A_t ≠ pi(S_t) then exit inner Loop (proceed to next episode); W ← W times 1 / b(A_t | S_t).">
            <a:extLst>
              <a:ext uri="{FF2B5EF4-FFF2-40B4-BE49-F238E27FC236}">
                <a16:creationId xmlns:a16="http://schemas.microsoft.com/office/drawing/2014/main" id="{2607C0C5-74BA-782D-88D3-D9D60C1E24B9}"/>
              </a:ext>
            </a:extLst>
          </p:cNvPr>
          <p:cNvPicPr>
            <a:picLocks noGrp="1" noChangeAspect="1"/>
          </p:cNvPicPr>
          <p:nvPr>
            <p:ph idx="1"/>
          </p:nvPr>
        </p:nvPicPr>
        <p:blipFill>
          <a:blip r:embed="rId3"/>
          <a:srcRect l="956" t="709"/>
          <a:stretch>
            <a:fillRect/>
          </a:stretch>
        </p:blipFill>
        <p:spPr>
          <a:xfrm>
            <a:off x="3661794" y="1635647"/>
            <a:ext cx="7829773" cy="4746058"/>
          </a:xfrm>
          <a:prstGeom prst="rect">
            <a:avLst/>
          </a:prstGeom>
        </p:spPr>
      </p:pic>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p:nvPr/>
            </p:nvSpPr>
            <p:spPr>
              <a:xfrm>
                <a:off x="359932" y="5418804"/>
                <a:ext cx="3441028" cy="780250"/>
              </a:xfrm>
              <a:prstGeom prst="wedgeRoundRectCallout">
                <a:avLst>
                  <a:gd name="adj1" fmla="val 71299"/>
                  <a:gd name="adj2" fmla="val -5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Can only use the end of the episode that uses greedy actions for </a:t>
                </a:r>
                <a14:m>
                  <m:oMath xmlns:m="http://schemas.openxmlformats.org/officeDocument/2006/math">
                    <m:r>
                      <a:rPr lang="en-US" sz="1400" b="0" i="1" smtClean="0">
                        <a:latin typeface="Cambria Math" panose="02040503050406030204" pitchFamily="18" charset="0"/>
                      </a:rPr>
                      <m:t>𝜋</m:t>
                    </m:r>
                  </m:oMath>
                </a14:m>
                <a:br>
                  <a:rPr lang="en-US" sz="1400" dirty="0"/>
                </a:br>
                <a:r>
                  <a:rPr lang="en-US" sz="1400" b="1" dirty="0"/>
                  <a:t>Issue</a:t>
                </a:r>
                <a:r>
                  <a:rPr lang="en-US" sz="1400" dirty="0"/>
                  <a:t>: Not very sample efficient!</a:t>
                </a:r>
              </a:p>
            </p:txBody>
          </p:sp>
        </mc:Choice>
        <mc:Fallback xmlns="">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932" y="5418804"/>
                <a:ext cx="3441028" cy="780250"/>
              </a:xfrm>
              <a:prstGeom prst="wedgeRoundRectCallout">
                <a:avLst>
                  <a:gd name="adj1" fmla="val 71299"/>
                  <a:gd name="adj2" fmla="val -5599"/>
                  <a:gd name="adj3" fmla="val 16667"/>
                </a:avLst>
              </a:prstGeom>
              <a:blipFill>
                <a:blip r:embed="rId4"/>
                <a:stretch>
                  <a:fillRect b="-46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p:nvPr/>
            </p:nvSpPr>
            <p:spPr>
              <a:xfrm>
                <a:off x="6581297" y="5908738"/>
                <a:ext cx="4251900" cy="290316"/>
              </a:xfrm>
              <a:prstGeom prst="wedgeRoundRectCallout">
                <a:avLst>
                  <a:gd name="adj1" fmla="val -68727"/>
                  <a:gd name="adj2" fmla="val -353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use </a:t>
                </a:r>
                <a14:m>
                  <m:oMath xmlns:m="http://schemas.openxmlformats.org/officeDocument/2006/math">
                    <m:r>
                      <a:rPr lang="en-US" sz="1400" i="1">
                        <a:latin typeface="Cambria Math" panose="02040503050406030204" pitchFamily="18" charset="0"/>
                      </a:rPr>
                      <m:t>𝜋</m:t>
                    </m:r>
                  </m:oMath>
                </a14:m>
                <a:r>
                  <a:rPr lang="en-US" sz="1400" dirty="0"/>
                  <a:t> to select a. So, the probability is always 1.</a:t>
                </a:r>
              </a:p>
            </p:txBody>
          </p:sp>
        </mc:Choice>
        <mc:Fallback xmlns="">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581297" y="5908738"/>
                <a:ext cx="4251900" cy="290316"/>
              </a:xfrm>
              <a:prstGeom prst="wedgeRoundRectCallout">
                <a:avLst>
                  <a:gd name="adj1" fmla="val -68727"/>
                  <a:gd name="adj2" fmla="val -35358"/>
                  <a:gd name="adj3" fmla="val 16667"/>
                </a:avLst>
              </a:prstGeom>
              <a:blipFill>
                <a:blip r:embed="rId5"/>
                <a:stretch>
                  <a:fillRect t="-3846" b="-15385"/>
                </a:stretch>
              </a:blipFill>
            </p:spPr>
            <p:txBody>
              <a:bodyPr/>
              <a:lstStyle/>
              <a:p>
                <a:r>
                  <a:rPr lang="en-US">
                    <a:noFill/>
                  </a:rPr>
                  <a:t> </a:t>
                </a:r>
              </a:p>
            </p:txBody>
          </p:sp>
        </mc:Fallback>
      </mc:AlternateContent>
      <p:sp>
        <p:nvSpPr>
          <p:cNvPr id="4" name="Arrow: Down 3">
            <a:extLst>
              <a:ext uri="{FF2B5EF4-FFF2-40B4-BE49-F238E27FC236}">
                <a16:creationId xmlns:a16="http://schemas.microsoft.com/office/drawing/2014/main" id="{711BEC78-A77D-C9A1-C817-61867AC0146A}"/>
              </a:ext>
              <a:ext uri="{C183D7F6-B498-43B3-948B-1728B52AA6E4}">
                <adec:decorative xmlns:adec="http://schemas.microsoft.com/office/drawing/2017/decorative" val="1"/>
              </a:ext>
            </a:extLst>
          </p:cNvPr>
          <p:cNvSpPr/>
          <p:nvPr/>
        </p:nvSpPr>
        <p:spPr>
          <a:xfrm rot="16930409">
            <a:off x="3005081" y="253990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6911223-3282-3D4A-D937-1C6D589987F8}"/>
              </a:ext>
              <a:ext uri="{C183D7F6-B498-43B3-948B-1728B52AA6E4}">
                <adec:decorative xmlns:adec="http://schemas.microsoft.com/office/drawing/2017/decorative" val="1"/>
              </a:ext>
            </a:extLst>
          </p:cNvPr>
          <p:cNvSpPr/>
          <p:nvPr/>
        </p:nvSpPr>
        <p:spPr>
          <a:xfrm>
            <a:off x="7715207" y="2270004"/>
            <a:ext cx="2534023" cy="290316"/>
          </a:xfrm>
          <a:prstGeom prst="wedgeRoundRectCallout">
            <a:avLst>
              <a:gd name="adj1" fmla="val -104868"/>
              <a:gd name="adj2" fmla="val 13691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Add the greedy target policy</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p:nvPr/>
            </p:nvSpPr>
            <p:spPr>
              <a:xfrm>
                <a:off x="7440235" y="3071769"/>
                <a:ext cx="3036974" cy="290316"/>
              </a:xfrm>
              <a:prstGeom prst="wedgeRoundRectCallout">
                <a:avLst>
                  <a:gd name="adj1" fmla="val -97316"/>
                  <a:gd name="adj2" fmla="val 11527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Practical choice is </a:t>
                </a:r>
                <a14:m>
                  <m:oMath xmlns:m="http://schemas.openxmlformats.org/officeDocument/2006/math">
                    <m:r>
                      <a:rPr lang="en-US" sz="1400" i="1">
                        <a:latin typeface="Cambria Math" panose="02040503050406030204" pitchFamily="18" charset="0"/>
                      </a:rPr>
                      <m:t>𝑏</m:t>
                    </m:r>
                    <m:r>
                      <a:rPr lang="en-US" sz="1400" i="1">
                        <a:latin typeface="Cambria Math" panose="02040503050406030204" pitchFamily="18" charset="0"/>
                      </a:rPr>
                      <m:t>=</m:t>
                    </m:r>
                    <m:r>
                      <m:rPr>
                        <m:nor/>
                      </m:rPr>
                      <a:rPr lang="en-US" sz="1400" i="0">
                        <a:latin typeface="Cambria Math" panose="02040503050406030204" pitchFamily="18" charset="0"/>
                      </a:rPr>
                      <m:t>ϵ−greedy</m:t>
                    </m:r>
                    <m:r>
                      <a:rPr lang="en-US" sz="1400" i="1">
                        <a:latin typeface="Cambria Math" panose="02040503050406030204" pitchFamily="18" charset="0"/>
                      </a:rPr>
                      <m:t>(</m:t>
                    </m:r>
                    <m:r>
                      <a:rPr lang="en-US" sz="1400" i="1">
                        <a:latin typeface="Cambria Math" panose="02040503050406030204" pitchFamily="18" charset="0"/>
                      </a:rPr>
                      <m:t>𝜋</m:t>
                    </m:r>
                    <m:r>
                      <a:rPr lang="en-US" sz="1400" i="1">
                        <a:latin typeface="Cambria Math" panose="02040503050406030204" pitchFamily="18" charset="0"/>
                      </a:rPr>
                      <m:t>)</m:t>
                    </m:r>
                  </m:oMath>
                </a14:m>
                <a:endParaRPr lang="en-US" sz="1400" dirty="0"/>
              </a:p>
            </p:txBody>
          </p:sp>
        </mc:Choice>
        <mc:Fallback xmlns="">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440235" y="3071769"/>
                <a:ext cx="3036974" cy="290316"/>
              </a:xfrm>
              <a:prstGeom prst="wedgeRoundRectCallout">
                <a:avLst>
                  <a:gd name="adj1" fmla="val -97316"/>
                  <a:gd name="adj2" fmla="val 115277"/>
                  <a:gd name="adj3" fmla="val 16667"/>
                </a:avLst>
              </a:prstGeom>
              <a:blipFill>
                <a:blip r:embed="rId6"/>
                <a:stretch>
                  <a:fillRect t="-2439"/>
                </a:stretch>
              </a:blipFill>
            </p:spPr>
            <p:txBody>
              <a:bodyPr/>
              <a:lstStyle/>
              <a:p>
                <a:r>
                  <a:rPr lang="en-US">
                    <a:noFill/>
                  </a:rPr>
                  <a:t> </a:t>
                </a:r>
              </a:p>
            </p:txBody>
          </p:sp>
        </mc:Fallback>
      </mc:AlternateContent>
    </p:spTree>
    <p:extLst>
      <p:ext uri="{BB962C8B-B14F-4D97-AF65-F5344CB8AC3E}">
        <p14:creationId xmlns:p14="http://schemas.microsoft.com/office/powerpoint/2010/main" val="3248446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E525A-4DE7-57BC-63B4-AAC868992799}"/>
              </a:ext>
            </a:extLst>
          </p:cNvPr>
          <p:cNvSpPr>
            <a:spLocks noGrp="1"/>
          </p:cNvSpPr>
          <p:nvPr>
            <p:ph type="title"/>
          </p:nvPr>
        </p:nvSpPr>
        <p:spPr>
          <a:xfrm>
            <a:off x="758952" y="785366"/>
            <a:ext cx="4069055" cy="2072853"/>
          </a:xfrm>
        </p:spPr>
        <p:txBody>
          <a:bodyPr anchor="t">
            <a:normAutofit/>
          </a:bodyPr>
          <a:lstStyle/>
          <a:p>
            <a:r>
              <a:rPr lang="en-US" sz="4000"/>
              <a:t>What you Should Know</a:t>
            </a:r>
          </a:p>
        </p:txBody>
      </p:sp>
      <mc:AlternateContent xmlns:mc="http://schemas.openxmlformats.org/markup-compatibility/2006" xmlns:a14="http://schemas.microsoft.com/office/drawing/2010/main">
        <mc:Choice Requires="a14">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p:cNvSpPr>
              <p:nvPr>
                <p:ph idx="1"/>
              </p:nvPr>
            </p:nvSpPr>
            <p:spPr>
              <a:xfrm>
                <a:off x="5636057" y="376930"/>
                <a:ext cx="6006517" cy="6361928"/>
              </a:xfrm>
            </p:spPr>
            <p:txBody>
              <a:bodyPr anchor="ctr">
                <a:normAutofit fontScale="77500" lnSpcReduction="20000"/>
              </a:bodyPr>
              <a:lstStyle/>
              <a:p>
                <a:pPr marL="0" indent="0">
                  <a:buNone/>
                </a:pPr>
                <a:r>
                  <a:rPr lang="en-US" sz="1900" dirty="0"/>
                  <a:t>MC works with sampled episodes:</a:t>
                </a:r>
                <a:endParaRPr lang="en-US" sz="1900" b="1" dirty="0"/>
              </a:p>
              <a:p>
                <a:pPr lvl="1"/>
                <a:r>
                  <a:rPr lang="en-US" sz="1900" b="1" dirty="0"/>
                  <a:t>Policy Evaluation</a:t>
                </a:r>
                <a:r>
                  <a:rPr lang="en-US" sz="1900" dirty="0"/>
                  <a:t>: Averages many sampled returns. </a:t>
                </a:r>
              </a:p>
              <a:p>
                <a:pPr lvl="1"/>
                <a:r>
                  <a:rPr lang="en-US" sz="1900" b="1" dirty="0"/>
                  <a:t>Control</a:t>
                </a:r>
                <a:r>
                  <a:rPr lang="en-US" sz="1900" dirty="0"/>
                  <a:t>: Interleaves pol. eval. and pol. improvement on an episode-by-episode basis.</a:t>
                </a:r>
              </a:p>
              <a:p>
                <a:pPr lvl="1"/>
                <a:r>
                  <a:rPr lang="en-US" sz="1900" b="1" dirty="0"/>
                  <a:t>On vs. off-policy control.</a:t>
                </a:r>
              </a:p>
              <a:p>
                <a:pPr lvl="1"/>
                <a:r>
                  <a:rPr lang="en-US" sz="1900" b="1" dirty="0"/>
                  <a:t>Convergence</a:t>
                </a:r>
                <a:r>
                  <a:rPr lang="en-US" sz="1900" dirty="0"/>
                  <a:t>: converge with GLIE or covering behavior policies. Convergence is typically slow.</a:t>
                </a:r>
              </a:p>
              <a:p>
                <a:pPr marL="0" indent="0">
                  <a:buNone/>
                </a:pPr>
                <a:endParaRPr lang="en-US" sz="1900" dirty="0"/>
              </a:p>
              <a:p>
                <a:pPr marL="0" indent="0">
                  <a:buNone/>
                </a:pPr>
                <a:r>
                  <a:rPr lang="en-US" sz="1900" dirty="0"/>
                  <a:t>Advantages of MC methods vs. DP:</a:t>
                </a:r>
              </a:p>
              <a:p>
                <a:pPr lvl="1"/>
                <a:r>
                  <a:rPr lang="en-US" sz="1900" b="1" dirty="0"/>
                  <a:t>Model-free</a:t>
                </a:r>
                <a:r>
                  <a:rPr lang="en-US" sz="1900" dirty="0"/>
                  <a:t>: No need for an environment model. Sampling from a simulation is often easy.</a:t>
                </a:r>
              </a:p>
              <a:p>
                <a:pPr lvl="1"/>
                <a:r>
                  <a:rPr lang="en-US" sz="1900" dirty="0"/>
                  <a:t>Can evaluate a small </a:t>
                </a:r>
                <a:r>
                  <a:rPr lang="en-US" sz="1900" b="1" dirty="0"/>
                  <a:t>state set</a:t>
                </a:r>
                <a:r>
                  <a:rPr lang="en-US" sz="1900" dirty="0"/>
                  <a:t> of interest. DP always has to sweep over all states.</a:t>
                </a:r>
              </a:p>
              <a:p>
                <a:pPr lvl="1"/>
                <a:r>
                  <a:rPr lang="en-US" sz="1900" b="1" dirty="0"/>
                  <a:t>Unbiased estimates: </a:t>
                </a:r>
                <a:r>
                  <a:rPr lang="en-US" sz="1900" dirty="0"/>
                  <a:t>Estimates are based on returns from complete sampled sequences. We will learn about other methods that introduce bias by  bootstrapping (estimating a value from other estimates).</a:t>
                </a:r>
              </a:p>
              <a:p>
                <a:pPr lvl="1"/>
                <a:r>
                  <a:rPr lang="en-US" sz="1900" dirty="0"/>
                  <a:t>Using complete sequences may be less harmed by violations of the Markov property/issues with observability.</a:t>
                </a:r>
              </a:p>
              <a:p>
                <a:pPr marL="0" indent="0">
                  <a:buNone/>
                </a:pPr>
                <a:endParaRPr lang="en-US" sz="1900" dirty="0"/>
              </a:p>
              <a:p>
                <a:pPr marL="0" indent="0">
                  <a:buNone/>
                </a:pPr>
                <a:r>
                  <a:rPr lang="en-US" sz="1900" dirty="0"/>
                  <a:t>Issues:</a:t>
                </a:r>
              </a:p>
              <a:p>
                <a:pPr lvl="1"/>
                <a:r>
                  <a:rPr lang="en-US" sz="1900" b="1" dirty="0"/>
                  <a:t>Needs to maintain sufficient exploration</a:t>
                </a:r>
                <a:r>
                  <a:rPr lang="en-US" sz="1900" dirty="0"/>
                  <a:t>. Options are:</a:t>
                </a:r>
              </a:p>
              <a:p>
                <a:pPr marL="1371600" lvl="2" indent="-457200">
                  <a:buFont typeface="+mj-lt"/>
                  <a:buAutoNum type="arabicPeriod"/>
                </a:pPr>
                <a:r>
                  <a:rPr lang="en-US" sz="1900" dirty="0"/>
                  <a:t>Exploring starts can learn the optimal policy.</a:t>
                </a:r>
              </a:p>
              <a:p>
                <a:pPr marL="1371600" lvl="2" indent="-457200">
                  <a:buFont typeface="+mj-lt"/>
                  <a:buAutoNum type="arabicPeriod"/>
                </a:pPr>
                <a:r>
                  <a:rPr lang="en-US" sz="1900" dirty="0"/>
                  <a:t>On-policy control with an </a:t>
                </a:r>
                <a14:m>
                  <m:oMath xmlns:m="http://schemas.openxmlformats.org/officeDocument/2006/math">
                    <m:r>
                      <a:rPr lang="en-US" sz="1900" i="1">
                        <a:latin typeface="Cambria Math" panose="02040503050406030204" pitchFamily="18" charset="0"/>
                      </a:rPr>
                      <m:t>𝜖</m:t>
                    </m:r>
                  </m:oMath>
                </a14:m>
                <a:r>
                  <a:rPr lang="en-US" sz="1900" dirty="0"/>
                  <a:t>-soft policy and GLIE.</a:t>
                </a:r>
              </a:p>
              <a:p>
                <a:pPr marL="1371600" lvl="2" indent="-457200">
                  <a:buFont typeface="+mj-lt"/>
                  <a:buAutoNum type="arabicPeriod"/>
                </a:pPr>
                <a:r>
                  <a:rPr lang="en-US" sz="1900" dirty="0"/>
                  <a:t>Off-policy control with a covering behavior policy. Note: only a part of the data can be used.</a:t>
                </a:r>
              </a:p>
              <a:p>
                <a:pPr lvl="1"/>
                <a:r>
                  <a:rPr lang="en-US" sz="1900" dirty="0"/>
                  <a:t>MC methods are </a:t>
                </a:r>
                <a:r>
                  <a:rPr lang="en-US" sz="1900" b="1" dirty="0"/>
                  <a:t>not sample efficient</a:t>
                </a:r>
                <a:r>
                  <a:rPr lang="en-US" sz="1900" dirty="0"/>
                  <a:t>. I.e., sampled episodes are used only once and then discarded.</a:t>
                </a:r>
              </a:p>
              <a:p>
                <a:pPr lvl="1"/>
                <a:r>
                  <a:rPr lang="en-US" sz="1900" b="1" dirty="0"/>
                  <a:t>Not a truly online method</a:t>
                </a:r>
                <a:r>
                  <a:rPr lang="en-US" sz="1900" dirty="0"/>
                  <a:t>: Updates are not done after each action but are delayed until the end of each episode.</a:t>
                </a:r>
              </a:p>
            </p:txBody>
          </p:sp>
        </mc:Choice>
        <mc:Fallback xmlns="">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noRot="1" noChangeAspect="1" noMove="1" noResize="1" noEditPoints="1" noAdjustHandles="1" noChangeArrowheads="1" noChangeShapeType="1" noTextEdit="1"/>
              </p:cNvSpPr>
              <p:nvPr>
                <p:ph idx="1"/>
              </p:nvPr>
            </p:nvSpPr>
            <p:spPr>
              <a:xfrm>
                <a:off x="5636057" y="376930"/>
                <a:ext cx="6006517" cy="6361928"/>
              </a:xfrm>
              <a:blipFill>
                <a:blip r:embed="rId3"/>
                <a:stretch>
                  <a:fillRect l="-406" t="-479" b="-67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FE83400F-3AC6-D422-B920-E8D54036FCE6}"/>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482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7" end="1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13282</TotalTime>
  <Words>3102</Words>
  <Application>Microsoft Office PowerPoint</Application>
  <PresentationFormat>Widescreen</PresentationFormat>
  <Paragraphs>348</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Calibri</vt:lpstr>
      <vt:lpstr>Cambria Math</vt:lpstr>
      <vt:lpstr>Office Theme</vt:lpstr>
      <vt:lpstr>Reinforcement Learning  Monte Carlo Methods Sutton/Barto* Chapter 5</vt:lpstr>
      <vt:lpstr>Topics of this Course</vt:lpstr>
      <vt:lpstr>Summary of Notation</vt:lpstr>
      <vt:lpstr>Introduction</vt:lpstr>
      <vt:lpstr>Monte Carlo Prediction</vt:lpstr>
      <vt:lpstr>MC Value Function Approximation</vt:lpstr>
      <vt:lpstr>MC Prediction: Estimate v_π for a given π</vt:lpstr>
      <vt:lpstr>Monte Carlo Control</vt:lpstr>
      <vt:lpstr>MC Control as Generalized Policy Iteration (GPI)</vt:lpstr>
      <vt:lpstr>Remember: Policy Improvement Theorem and Greedy Policies</vt:lpstr>
      <vt:lpstr>MC Prediction to Estimate Q-Values</vt:lpstr>
      <vt:lpstr>Monte Carlo Control with Exploring Starts</vt:lpstr>
      <vt:lpstr>Alg. MC Control with Exploring Starts</vt:lpstr>
      <vt:lpstr>Code example: MC with Exploring Starts</vt:lpstr>
      <vt:lpstr>MC Control without Exploring Starts</vt:lpstr>
      <vt:lpstr>On-Policy Monte Carlo Control</vt:lpstr>
      <vt:lpstr>Exploration with On-Policy Methods</vt:lpstr>
      <vt:lpstr>Types of Soft Policies for Exploration</vt:lpstr>
      <vt:lpstr>Alg. On-Policy MC Control with ϵ-soft Policies</vt:lpstr>
      <vt:lpstr>Convergence to the Optimal Policy:  Greedy in the Limit with Infinite Exploration (GLIE)</vt:lpstr>
      <vt:lpstr>Off-Policy Methods</vt:lpstr>
      <vt:lpstr>Off-Policy Prediction</vt:lpstr>
      <vt:lpstr>On-Policy vs. Off-Policy Control</vt:lpstr>
      <vt:lpstr>Off-Policy Prediction  </vt:lpstr>
      <vt:lpstr>Importance Sampling</vt:lpstr>
      <vt:lpstr>Ordinary vs. Weighted Importance Sampling</vt:lpstr>
      <vt:lpstr>Alg. Off-Policy Prediction</vt:lpstr>
      <vt:lpstr>Off-Policy Control</vt:lpstr>
      <vt:lpstr>Off-Policy MC Control</vt:lpstr>
      <vt:lpstr>Alg. Off-Policy MC Control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179</cp:revision>
  <dcterms:created xsi:type="dcterms:W3CDTF">2025-09-08T14:44:49Z</dcterms:created>
  <dcterms:modified xsi:type="dcterms:W3CDTF">2026-10-25T16:33:06Z</dcterms:modified>
</cp:coreProperties>
</file>