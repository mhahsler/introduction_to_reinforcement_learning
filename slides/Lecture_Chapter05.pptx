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482" r:id="rId7"/>
    <p:sldId id="382" r:id="rId8"/>
    <p:sldId id="385" r:id="rId9"/>
    <p:sldId id="387" r:id="rId10"/>
    <p:sldId id="386" r:id="rId11"/>
    <p:sldId id="391" r:id="rId12"/>
    <p:sldId id="388" r:id="rId13"/>
    <p:sldId id="479" r:id="rId14"/>
    <p:sldId id="390" r:id="rId15"/>
    <p:sldId id="481" r:id="rId16"/>
    <p:sldId id="394" r:id="rId17"/>
    <p:sldId id="392" r:id="rId18"/>
    <p:sldId id="393" r:id="rId19"/>
    <p:sldId id="480" r:id="rId20"/>
    <p:sldId id="404" r:id="rId21"/>
    <p:sldId id="483" r:id="rId22"/>
    <p:sldId id="396" r:id="rId23"/>
    <p:sldId id="397" r:id="rId24"/>
    <p:sldId id="399" r:id="rId25"/>
    <p:sldId id="398" r:id="rId26"/>
    <p:sldId id="405" r:id="rId27"/>
    <p:sldId id="400" r:id="rId28"/>
    <p:sldId id="401" r:id="rId29"/>
    <p:sldId id="40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482"/>
            <p14:sldId id="382"/>
          </p14:sldIdLst>
        </p14:section>
        <p14:section name="MC Control" id="{9082A117-CBDB-4A41-BA4A-590A11BC768B}">
          <p14:sldIdLst>
            <p14:sldId id="385"/>
            <p14:sldId id="387"/>
            <p14:sldId id="386"/>
            <p14:sldId id="391"/>
            <p14:sldId id="388"/>
            <p14:sldId id="479"/>
            <p14:sldId id="390"/>
          </p14:sldIdLst>
        </p14:section>
        <p14:section name="On-Policy Control" id="{A03E4B76-6E41-4A94-9A11-DF9EDD4B8C64}">
          <p14:sldIdLst>
            <p14:sldId id="481"/>
            <p14:sldId id="394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483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29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346"/>
            <a:ext cx="7740408" cy="444026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Model-free method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do not assume knowledge of the environment model (the MDP). </a:t>
            </a:r>
          </a:p>
          <a:p>
            <a:pPr lvl="1"/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Remember from AI</a:t>
            </a:r>
            <a:r>
              <a:rPr lang="en-US" dirty="0"/>
              <a:t>: model-free means the agent faces an unknown, fully observable, possibly stochastic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MDP.</a:t>
            </a:r>
          </a:p>
          <a:p>
            <a:endParaRPr lang="en-US" dirty="0"/>
          </a:p>
          <a:p>
            <a:r>
              <a:rPr lang="en-US" b="1" dirty="0"/>
              <a:t>Monte Carlo (MC) methods </a:t>
            </a:r>
            <a:r>
              <a:rPr lang="en-US" dirty="0"/>
              <a:t>are a family of algorithms that rely on repeated random sampling to obtain numerical results (see example to the right).</a:t>
            </a:r>
          </a:p>
          <a:p>
            <a:endParaRPr lang="en-US" dirty="0"/>
          </a:p>
          <a:p>
            <a:r>
              <a:rPr lang="en-US" b="1" dirty="0"/>
              <a:t>Idea</a:t>
            </a:r>
            <a:r>
              <a:rPr lang="en-US" dirty="0"/>
              <a:t>: Use MC to sample sequences from the environment and use them to estimate the value function.</a:t>
            </a:r>
          </a:p>
          <a:p>
            <a:endParaRPr lang="en-US" b="1" dirty="0"/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D8304-5614-6981-E0C5-60E8EDCDF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Value Function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the sample-average method to approximate the expectation in: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The average return of many sampled sequences (called episodes or trajectories) starting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2600" b="1" dirty="0"/>
                  <a:t>High Variance</a:t>
                </a:r>
                <a:r>
                  <a:rPr lang="en-US" sz="2600" dirty="0"/>
                  <a:t>: Sampling a single episode return has</a:t>
                </a:r>
                <a:r>
                  <a:rPr lang="en-US" sz="2600" b="1" dirty="0"/>
                  <a:t> </a:t>
                </a:r>
                <a:r>
                  <a:rPr lang="en-US" sz="2600" dirty="0"/>
                  <a:t>high variance since it contains the randomness over the whole sampled episode. Averaging over many sampled returns reduces variance.</a:t>
                </a:r>
              </a:p>
              <a:p>
                <a:pPr lvl="1"/>
                <a:r>
                  <a:rPr lang="en-US" sz="2600" b="1" dirty="0"/>
                  <a:t>Unbiased</a:t>
                </a:r>
                <a:r>
                  <a:rPr lang="en-US" sz="2600" dirty="0"/>
                  <a:t>: The sample-average method provides an unbiased estimate (is on average correct) and thus converges for large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.</a:t>
                </a:r>
              </a:p>
              <a:p>
                <a:pPr lvl="1"/>
                <a:r>
                  <a:rPr lang="en-US" sz="2600" b="1" dirty="0"/>
                  <a:t>Not a true online method</a:t>
                </a:r>
                <a:r>
                  <a:rPr lang="en-US" sz="2600" dirty="0"/>
                  <a:t>: This methods needs to sample whole episodes before any calculation can be done. It is not a true step-by-step online method!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  <a:blipFill>
                <a:blip r:embed="rId2"/>
                <a:stretch>
                  <a:fillRect l="-406" t="-1850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744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AB409-1629-3E3D-C6F3-95E5076FB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4198"/>
            <a:ext cx="7808892" cy="1720144"/>
          </a:xfrm>
        </p:spPr>
        <p:txBody>
          <a:bodyPr>
            <a:normAutofit fontScale="85000" lnSpcReduction="10000"/>
          </a:bodyPr>
          <a:lstStyle/>
          <a:p>
            <a:r>
              <a:rPr lang="en-US" b="1" dirty="0"/>
              <a:t>Idea: </a:t>
            </a:r>
            <a:r>
              <a:rPr lang="en-US" dirty="0"/>
              <a:t>We can update all state values along the episode.</a:t>
            </a:r>
            <a:endParaRPr lang="en-US" b="1" dirty="0"/>
          </a:p>
          <a:p>
            <a:r>
              <a:rPr lang="en-US" b="1" dirty="0"/>
              <a:t>First-visit</a:t>
            </a:r>
            <a:r>
              <a:rPr lang="en-US" dirty="0"/>
              <a:t>: Using the return only for the first visit of a state in the episode ensures that the sampled returns are </a:t>
            </a:r>
            <a:r>
              <a:rPr lang="en-US" dirty="0" err="1"/>
              <a:t>i.i.d.</a:t>
            </a:r>
            <a:r>
              <a:rPr lang="en-US" dirty="0"/>
              <a:t> distributed (not dependent on each other) and we get an </a:t>
            </a:r>
            <a:r>
              <a:rPr lang="en-US" b="1" dirty="0"/>
              <a:t>unbiased</a:t>
            </a:r>
            <a:r>
              <a:rPr lang="en-US" dirty="0"/>
              <a:t> estimate.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844343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841807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810884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146491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215333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 estimated using MC prediction.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E0845A-1386-416F-E3F0-5D01868F4839}"/>
              </a:ext>
            </a:extLst>
          </p:cNvPr>
          <p:cNvSpPr txBox="1"/>
          <p:nvPr/>
        </p:nvSpPr>
        <p:spPr>
          <a:xfrm>
            <a:off x="9215155" y="1262762"/>
            <a:ext cx="219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/>
                </a:solidFill>
              </a:rPr>
              <a:t>MC Prediction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E2971C-E301-9EA9-FB5C-DB042085DC29}"/>
              </a:ext>
            </a:extLst>
          </p:cNvPr>
          <p:cNvCxnSpPr/>
          <p:nvPr/>
        </p:nvCxnSpPr>
        <p:spPr>
          <a:xfrm>
            <a:off x="9531752" y="1736203"/>
            <a:ext cx="1423686" cy="11574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endParaRPr lang="en-US" b="0" dirty="0"/>
              </a:p>
              <a:p>
                <a:r>
                  <a:rPr lang="en-US" dirty="0"/>
                  <a:t>Same as</a:t>
                </a:r>
                <a:r>
                  <a:rPr lang="en-US" b="0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lead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707" t="-2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For convergence,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F5B12-081D-E1A8-2074-F24D7983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5D340A-8717-DDE3-8CB9-FC1AAF51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83536F-8662-B3C1-520C-4AD4B6B42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sample.</a:t>
            </a:r>
          </a:p>
        </p:txBody>
      </p:sp>
    </p:spTree>
    <p:extLst>
      <p:ext uri="{BB962C8B-B14F-4D97-AF65-F5344CB8AC3E}">
        <p14:creationId xmlns:p14="http://schemas.microsoft.com/office/powerpoint/2010/main" val="2353920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with On-Policy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24046-78CD-3868-7C6F-2A610ED24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49"/>
            <a:ext cx="10515600" cy="49867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On-policy methods learn the policy they follow.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Dilemma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need behavior (follow a policy) that explores. Such a policy is called a soft policy.</a:t>
            </a:r>
          </a:p>
          <a:p>
            <a:pPr lvl="1"/>
            <a:r>
              <a:rPr lang="en-US" dirty="0"/>
              <a:t>We know that MDPs have optimal deterministic policies that do not explore.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Optimality issue</a:t>
            </a:r>
            <a:r>
              <a:rPr lang="en-US" dirty="0"/>
              <a:t>: On-policy methods can only learn soft policies. We can convert a soft policy into a greedy deterministic policy, but it may not be optimal!</a:t>
            </a:r>
          </a:p>
        </p:txBody>
      </p:sp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 for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Soft policies are stochastic and used as behavior policies that guarantee exploration.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agent takes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 random action.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  <a:blipFill>
                <a:blip r:embed="rId2"/>
                <a:stretch>
                  <a:fillRect l="-63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/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</a:t>
                </a:r>
                <a:r>
                  <a:rPr lang="en-US" dirty="0"/>
                  <a:t>: A policy is soft if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   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  <a:blipFill>
                <a:blip r:embed="rId3"/>
                <a:stretch>
                  <a:fillRect l="-1102" t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On-policy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  <a:blipFill>
                <a:blip r:embed="rId6"/>
                <a:stretch>
                  <a:fillRect l="-5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GLIE: Greedy in the Limit with Infinite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MC control algorithms change the policy and </a:t>
                </a:r>
                <a:r>
                  <a:rPr lang="en-US" b="1" dirty="0"/>
                  <a:t>average over returns from different policies</a:t>
                </a:r>
                <a:r>
                  <a:rPr lang="en-US" dirty="0"/>
                  <a:t>. This could be a problem for convergence!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methods learn a </a:t>
                </a:r>
                <a:r>
                  <a:rPr lang="en-US" b="1" dirty="0"/>
                  <a:t>soft policy.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Implementation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 and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for exploration. This will “wash out” early “bad” observations.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  <a:blipFill>
                <a:blip r:embed="rId2"/>
                <a:stretch>
                  <a:fillRect l="-638" t="-1995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1511085" y="2614125"/>
                <a:ext cx="9291234" cy="252607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to a optimal deterministic policy if: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Q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085" y="2614125"/>
                <a:ext cx="9291234" cy="2526076"/>
              </a:xfrm>
              <a:prstGeom prst="rect">
                <a:avLst/>
              </a:prstGeom>
              <a:blipFill>
                <a:blip r:embed="rId3"/>
                <a:stretch>
                  <a:fillRect l="-524" t="-11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8CF2-8DE5-9B7D-7AF3-EA8026985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DBE8-2332-5A39-4A92-5DA2F029E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</p:spPr>
            <p:txBody>
              <a:bodyPr>
                <a:normAutofit fontScale="70000" lnSpcReduction="20000"/>
              </a:bodyPr>
              <a:lstStyle/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On-policy methods learn the policy they follow. These need to be exploring (soft).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learned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45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600" b="1" dirty="0"/>
                  <a:t>Importance sampling </a:t>
                </a:r>
                <a:r>
                  <a:rPr lang="en-US" sz="16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2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r>
                  <a:rPr lang="en-US" sz="1600" b="1" dirty="0"/>
                  <a:t>Idea</a:t>
                </a:r>
                <a:r>
                  <a:rPr lang="en-US" sz="16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Importance sampling ratio: </a:t>
                </a:r>
                <a:r>
                  <a:rPr lang="en-US" sz="1600" dirty="0"/>
                  <a:t>How much more likely are the remaining actions in the sequence chosen under 𝜋 than under 𝑏: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Note</a:t>
                </a:r>
                <a:r>
                  <a:rPr lang="en-US" sz="1600" dirty="0"/>
                  <a:t>: We only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 when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chosen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have a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232" t="-893" b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393913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688549" y="4693217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42689"/>
            <a:ext cx="2101026" cy="750367"/>
          </a:xfrm>
          <a:prstGeom prst="wedgeRoundRectCallout">
            <a:avLst>
              <a:gd name="adj1" fmla="val -93610"/>
              <a:gd name="adj2" fmla="val -1511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388217" y="2720931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/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1266"/>
                  <a:gd name="adj2" fmla="val -22962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This especially a problem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a deterministic policy very different from 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1266"/>
                  <a:gd name="adj2" fmla="val -22962"/>
                  <a:gd name="adj3" fmla="val 16667"/>
                </a:avLst>
              </a:prstGeom>
              <a:blipFill>
                <a:blip r:embed="rId3"/>
                <a:stretch>
                  <a:fillRect b="-4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(first) visited.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canceled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2104" y="2043478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218581" y="3596152"/>
                <a:ext cx="4464838" cy="269934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 Practical choice is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ϵ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8581" y="3596152"/>
                <a:ext cx="4464838" cy="269934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/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Can only learn from the end of the episode where the action chosen from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also be chosen by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!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  <a:blipFill>
                <a:blip r:embed="rId7"/>
                <a:stretch>
                  <a:fillRect b="-1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lvl="1"/>
                <a:r>
                  <a:rPr lang="en-US" sz="1900" b="1" dirty="0"/>
                  <a:t>On vs. off-policy control.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On-policy control with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 and GLIE.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/>
                  <a:t>Off-policy control </a:t>
                </a:r>
                <a:r>
                  <a:rPr lang="en-US" sz="1900" dirty="0"/>
                  <a:t>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13120</TotalTime>
  <Words>2956</Words>
  <Application>Microsoft Office PowerPoint</Application>
  <PresentationFormat>Widescreen</PresentationFormat>
  <Paragraphs>332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Value Function Approximation</vt:lpstr>
      <vt:lpstr>MC Prediction: Estimate v_π for a given π</vt:lpstr>
      <vt:lpstr>Monte Carlo Control</vt:lpstr>
      <vt:lpstr>MC Control as Generalized Policy Iteration (GPI)</vt:lpstr>
      <vt:lpstr>MC Prediction to Estimate Q-Values</vt:lpstr>
      <vt:lpstr>Remember: Policy Improvement Theorem</vt:lpstr>
      <vt:lpstr>Alg. MC Control with Exploring Starts</vt:lpstr>
      <vt:lpstr>Code…</vt:lpstr>
      <vt:lpstr>MC Control without Exploring Starts</vt:lpstr>
      <vt:lpstr>On-Policy Monte Carlo Control</vt:lpstr>
      <vt:lpstr>Exploration with On-Policy Methods</vt:lpstr>
      <vt:lpstr>Types of Soft Policies for Exploration</vt:lpstr>
      <vt:lpstr>Alg. On-Policy MC Control with ϵ-soft Policies</vt:lpstr>
      <vt:lpstr>GLIE: Greedy in the Limit with Infinite Exploration</vt:lpstr>
      <vt:lpstr>Off-Policy Prediction</vt:lpstr>
      <vt:lpstr>On-Policy vs. Off-Policy Control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170</cp:revision>
  <dcterms:created xsi:type="dcterms:W3CDTF">2025-09-08T14:44:49Z</dcterms:created>
  <dcterms:modified xsi:type="dcterms:W3CDTF">2026-04-22T14:54:29Z</dcterms:modified>
</cp:coreProperties>
</file>