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68" r:id="rId5"/>
    <p:sldId id="403" r:id="rId6"/>
    <p:sldId id="382" r:id="rId7"/>
    <p:sldId id="385" r:id="rId8"/>
    <p:sldId id="384" r:id="rId9"/>
    <p:sldId id="386" r:id="rId10"/>
    <p:sldId id="387" r:id="rId11"/>
    <p:sldId id="391" r:id="rId12"/>
    <p:sldId id="388" r:id="rId13"/>
    <p:sldId id="390" r:id="rId14"/>
    <p:sldId id="392" r:id="rId15"/>
    <p:sldId id="393" r:id="rId16"/>
    <p:sldId id="479" r:id="rId17"/>
    <p:sldId id="404" r:id="rId18"/>
    <p:sldId id="394" r:id="rId19"/>
    <p:sldId id="396" r:id="rId20"/>
    <p:sldId id="397" r:id="rId21"/>
    <p:sldId id="399" r:id="rId22"/>
    <p:sldId id="398" r:id="rId23"/>
    <p:sldId id="405" r:id="rId24"/>
    <p:sldId id="400" r:id="rId25"/>
    <p:sldId id="401" r:id="rId26"/>
    <p:sldId id="40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ntroduction" id="{2482C7AA-3485-41BD-83FB-6BA5452DCE27}">
          <p14:sldIdLst>
            <p14:sldId id="368"/>
          </p14:sldIdLst>
        </p14:section>
        <p14:section name="On-Policy Prediction" id="{C91BF2B2-F859-471B-849F-927606614870}">
          <p14:sldIdLst>
            <p14:sldId id="403"/>
            <p14:sldId id="382"/>
          </p14:sldIdLst>
        </p14:section>
        <p14:section name="On-Policy Control" id="{9082A117-CBDB-4A41-BA4A-590A11BC768B}">
          <p14:sldIdLst>
            <p14:sldId id="385"/>
            <p14:sldId id="384"/>
            <p14:sldId id="386"/>
            <p14:sldId id="387"/>
            <p14:sldId id="391"/>
            <p14:sldId id="388"/>
            <p14:sldId id="390"/>
            <p14:sldId id="392"/>
            <p14:sldId id="393"/>
            <p14:sldId id="479"/>
          </p14:sldIdLst>
        </p14:section>
        <p14:section name="Off-policy Prediciton" id="{51E355B1-9A61-41B1-AD67-E45726DBD2A6}">
          <p14:sldIdLst>
            <p14:sldId id="404"/>
            <p14:sldId id="394"/>
            <p14:sldId id="396"/>
            <p14:sldId id="397"/>
            <p14:sldId id="399"/>
            <p14:sldId id="398"/>
          </p14:sldIdLst>
        </p14:section>
        <p14:section name="Off-policy Control" id="{3F7EB257-6FD7-4E3A-86D7-23A72E6862AC}">
          <p14:sldIdLst>
            <p14:sldId id="405"/>
            <p14:sldId id="400"/>
            <p14:sldId id="401"/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5.png"/><Relationship Id="rId7" Type="http://schemas.openxmlformats.org/officeDocument/2006/relationships/image" Target="../media/image8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81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Monte Carlo Methods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656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49C9470-EDD3-9521-196C-67690CDCF872}"/>
              </a:ext>
            </a:extLst>
          </p:cNvPr>
          <p:cNvSpPr txBox="1"/>
          <p:nvPr/>
        </p:nvSpPr>
        <p:spPr>
          <a:xfrm>
            <a:off x="3048350" y="3105835"/>
            <a:ext cx="60966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8D87AA-0AF8-7E89-A7AD-6B5CB7DF5798}"/>
              </a:ext>
            </a:extLst>
          </p:cNvPr>
          <p:cNvSpPr txBox="1"/>
          <p:nvPr/>
        </p:nvSpPr>
        <p:spPr>
          <a:xfrm>
            <a:off x="3048350" y="3105835"/>
            <a:ext cx="60966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</p:txBody>
      </p: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b="1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BC304-9F53-1D52-E987-0090E5073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740408" cy="4779633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We do not assume knowledge of the environment model (the MDP). </a:t>
            </a:r>
            <a:br>
              <a:rPr lang="en-US" dirty="0"/>
            </a:br>
            <a:r>
              <a:rPr lang="en-US" dirty="0"/>
              <a:t>This is called a “</a:t>
            </a:r>
            <a:r>
              <a:rPr lang="en-US" b="1" dirty="0"/>
              <a:t>model-free</a:t>
            </a:r>
            <a:r>
              <a:rPr lang="en-US" dirty="0"/>
              <a:t>” method. </a:t>
            </a:r>
          </a:p>
          <a:p>
            <a:r>
              <a:rPr lang="en-US" dirty="0"/>
              <a:t>We use “experience” = </a:t>
            </a:r>
            <a:r>
              <a:rPr lang="en-US" b="1" dirty="0"/>
              <a:t>sample sequences </a:t>
            </a:r>
            <a:r>
              <a:rPr lang="en-US" dirty="0"/>
              <a:t>of states, actions, and rewards from actual or simulated interactions with the environment.</a:t>
            </a:r>
          </a:p>
          <a:p>
            <a:r>
              <a:rPr lang="en-US" b="1" dirty="0"/>
              <a:t>Advantages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We often have </a:t>
            </a:r>
            <a:r>
              <a:rPr lang="en-US" b="1" dirty="0"/>
              <a:t>sample access </a:t>
            </a:r>
            <a:r>
              <a:rPr lang="en-US" dirty="0"/>
              <a:t>to systems. </a:t>
            </a:r>
          </a:p>
          <a:p>
            <a:pPr lvl="1"/>
            <a:r>
              <a:rPr lang="en-US" dirty="0"/>
              <a:t>It is easier to simulate transitions than to specify the complete MDP for DP.</a:t>
            </a:r>
          </a:p>
          <a:p>
            <a:endParaRPr lang="en-US" dirty="0"/>
          </a:p>
          <a:p>
            <a:r>
              <a:rPr lang="en-US" b="1" dirty="0"/>
              <a:t>Monte Carlo (MC) methods</a:t>
            </a:r>
          </a:p>
          <a:p>
            <a:pPr lvl="1"/>
            <a:r>
              <a:rPr lang="en-US" dirty="0"/>
              <a:t>a family of algorithms that rely on repeated random sampling to obtain numerical results.</a:t>
            </a:r>
          </a:p>
          <a:p>
            <a:pPr lvl="1"/>
            <a:r>
              <a:rPr lang="en-US" b="1" dirty="0"/>
              <a:t>Applied to value function approximation</a:t>
            </a:r>
            <a:r>
              <a:rPr lang="en-US" dirty="0"/>
              <a:t>: average sample returns for each state-action pair obtained from sampled sequences (called episodes or trajectories).</a:t>
            </a:r>
          </a:p>
          <a:p>
            <a:pPr marL="0" indent="0">
              <a:buNone/>
            </a:pPr>
            <a:endParaRPr lang="en-US" b="1" dirty="0"/>
          </a:p>
          <a:p>
            <a:endParaRPr lang="en-US" b="1" dirty="0"/>
          </a:p>
          <a:p>
            <a:r>
              <a:rPr lang="en-US" b="1" dirty="0"/>
              <a:t>Note</a:t>
            </a:r>
            <a:r>
              <a:rPr lang="en-US" dirty="0"/>
              <a:t>: Value estimates or the policy are only updated after a whole episode is sampled. This is not a step-by-step online method!</a:t>
            </a:r>
          </a:p>
          <a:p>
            <a:pPr lvl="1"/>
            <a:endParaRPr lang="en-US" sz="14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5BBE28-6746-AC67-4CA0-832813EC3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9447" y="1706406"/>
            <a:ext cx="3143250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250BAF-41C6-59F7-4096-81676F51238E}"/>
              </a:ext>
            </a:extLst>
          </p:cNvPr>
          <p:cNvSpPr txBox="1"/>
          <p:nvPr/>
        </p:nvSpPr>
        <p:spPr>
          <a:xfrm>
            <a:off x="8785832" y="5530632"/>
            <a:ext cx="3143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Monte Carlo method applied to approximating the value of π</a:t>
            </a:r>
            <a:br>
              <a:rPr lang="en-US" sz="1200" dirty="0"/>
            </a:br>
            <a:r>
              <a:rPr lang="en-US" sz="1200" dirty="0"/>
              <a:t>Source: Wikipedia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3A7A3DE-08D7-B48D-7AF1-83E3C0372968}"/>
              </a:ext>
            </a:extLst>
          </p:cNvPr>
          <p:cNvSpPr/>
          <p:nvPr/>
        </p:nvSpPr>
        <p:spPr>
          <a:xfrm>
            <a:off x="9550866" y="681036"/>
            <a:ext cx="1992385" cy="669591"/>
          </a:xfrm>
          <a:prstGeom prst="wedgeRoundRectCallout">
            <a:avLst>
              <a:gd name="adj1" fmla="val -29465"/>
              <a:gd name="adj2" fmla="val 18516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The number of randomly sampled points is proportional to the area.</a:t>
            </a:r>
          </a:p>
        </p:txBody>
      </p: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69BE52-795C-043C-CCA6-287BC2A4D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Monte Carlo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89223-75A8-17BF-92B9-9328E92A3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state values by sampling with a given policy.</a:t>
            </a:r>
          </a:p>
        </p:txBody>
      </p:sp>
    </p:spTree>
    <p:extLst>
      <p:ext uri="{BB962C8B-B14F-4D97-AF65-F5344CB8AC3E}">
        <p14:creationId xmlns:p14="http://schemas.microsoft.com/office/powerpoint/2010/main" val="3542963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MC Prediction: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16404"/>
                <a:ext cx="7808892" cy="1631497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a given deterministic or stochastic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by averaging the observed returns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for the rest of the episode after a visit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Sample-average method</a:t>
                </a:r>
                <a:r>
                  <a:rPr lang="en-US" dirty="0"/>
                  <a:t>: The average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r>
                  <a:rPr lang="en-US" dirty="0"/>
                  <a:t>Reason:  state values are defined as a expected values which can be approximated by observed averages.</a:t>
                </a:r>
                <a:endParaRPr lang="en-US" b="1" dirty="0"/>
              </a:p>
              <a:p>
                <a:r>
                  <a:rPr lang="en-US" b="1" dirty="0"/>
                  <a:t>First-visit</a:t>
                </a:r>
                <a:r>
                  <a:rPr lang="en-US" dirty="0"/>
                  <a:t>: Using only the first visit of a state in the episode ensures that the sample returns are </a:t>
                </a:r>
                <a:r>
                  <a:rPr lang="en-US" dirty="0" err="1"/>
                  <a:t>i.i.d.</a:t>
                </a:r>
                <a:r>
                  <a:rPr lang="en-US" dirty="0"/>
                  <a:t> distributed and we get an </a:t>
                </a:r>
                <a:r>
                  <a:rPr lang="en-US" b="1" dirty="0"/>
                  <a:t>unbiased</a:t>
                </a:r>
                <a:r>
                  <a:rPr lang="en-US" dirty="0"/>
                  <a:t>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16404"/>
                <a:ext cx="7808892" cy="1631497"/>
              </a:xfrm>
              <a:blipFill>
                <a:blip r:embed="rId3"/>
                <a:stretch>
                  <a:fillRect l="-234" t="-4120" r="-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3AA409A-0E38-4BF6-9AF1-1A02E65EEE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856" y="2774899"/>
            <a:ext cx="7808892" cy="3534014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F2DD0D71-F2B2-BEC4-25BD-FAAF319BD235}"/>
              </a:ext>
            </a:extLst>
          </p:cNvPr>
          <p:cNvSpPr/>
          <p:nvPr/>
        </p:nvSpPr>
        <p:spPr>
          <a:xfrm>
            <a:off x="5611456" y="4772363"/>
            <a:ext cx="1995181" cy="195743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Update in reverse order!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3AD72F-8E95-D55F-A9F4-C0F86BA548C2}"/>
              </a:ext>
            </a:extLst>
          </p:cNvPr>
          <p:cNvGrpSpPr/>
          <p:nvPr/>
        </p:nvGrpSpPr>
        <p:grpSpPr>
          <a:xfrm>
            <a:off x="8647092" y="1089545"/>
            <a:ext cx="3395272" cy="2339455"/>
            <a:chOff x="8647092" y="860591"/>
            <a:chExt cx="3395272" cy="233945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7491103-8D73-5D3D-2433-794079801876}"/>
                </a:ext>
              </a:extLst>
            </p:cNvPr>
            <p:cNvGrpSpPr/>
            <p:nvPr/>
          </p:nvGrpSpPr>
          <p:grpSpPr>
            <a:xfrm>
              <a:off x="8647092" y="860591"/>
              <a:ext cx="3395272" cy="1938707"/>
              <a:chOff x="9222954" y="2685293"/>
              <a:chExt cx="2700748" cy="1700680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CA2481C-8ED4-DB1B-21D6-675BE4F2BE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4345" y="3490076"/>
                <a:ext cx="226157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Right Brace 7">
                <a:extLst>
                  <a:ext uri="{FF2B5EF4-FFF2-40B4-BE49-F238E27FC236}">
                    <a16:creationId xmlns:a16="http://schemas.microsoft.com/office/drawing/2014/main" id="{21DEF1FA-AFA5-27CF-87FA-8DDF794C57A4}"/>
                  </a:ext>
                </a:extLst>
              </p:cNvPr>
              <p:cNvSpPr/>
              <p:nvPr/>
            </p:nvSpPr>
            <p:spPr>
              <a:xfrm rot="5400000">
                <a:off x="10764997" y="2901526"/>
                <a:ext cx="251570" cy="1539123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/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nary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B452B02-D962-94A5-1424-E76206AB059D}"/>
                  </a:ext>
                </a:extLst>
              </p:cNvPr>
              <p:cNvSpPr txBox="1"/>
              <p:nvPr/>
            </p:nvSpPr>
            <p:spPr>
              <a:xfrm>
                <a:off x="9719863" y="2685293"/>
                <a:ext cx="1570534" cy="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Episode</a:t>
                </a:r>
              </a:p>
            </p:txBody>
          </p:sp>
        </p:grp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8A699FD2-C753-722C-19C4-5AACDD9E28F9}"/>
                </a:ext>
              </a:extLst>
            </p:cNvPr>
            <p:cNvSpPr/>
            <p:nvPr/>
          </p:nvSpPr>
          <p:spPr>
            <a:xfrm flipH="1">
              <a:off x="8837415" y="2832017"/>
              <a:ext cx="2873866" cy="368029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update</a:t>
              </a:r>
            </a:p>
          </p:txBody>
        </p:sp>
      </p:grp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0271B4BA-988D-9708-7511-B6936ED95186}"/>
              </a:ext>
            </a:extLst>
          </p:cNvPr>
          <p:cNvSpPr/>
          <p:nvPr/>
        </p:nvSpPr>
        <p:spPr>
          <a:xfrm>
            <a:off x="5519550" y="5741440"/>
            <a:ext cx="1995181" cy="195743"/>
          </a:xfrm>
          <a:prstGeom prst="wedgeRoundRectCallout">
            <a:avLst>
              <a:gd name="adj1" fmla="val -87182"/>
              <a:gd name="adj2" fmla="val -16394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Uses only the first visit.</a:t>
            </a:r>
          </a:p>
        </p:txBody>
      </p:sp>
      <p:sp>
        <p:nvSpPr>
          <p:cNvPr id="17" name="Speech Bubble: Rectangle with Corners Rounded 16">
            <a:extLst>
              <a:ext uri="{FF2B5EF4-FFF2-40B4-BE49-F238E27FC236}">
                <a16:creationId xmlns:a16="http://schemas.microsoft.com/office/drawing/2014/main" id="{91E56AD5-2877-5EE2-9F72-64538D60CCC0}"/>
              </a:ext>
            </a:extLst>
          </p:cNvPr>
          <p:cNvSpPr/>
          <p:nvPr/>
        </p:nvSpPr>
        <p:spPr>
          <a:xfrm>
            <a:off x="5098409" y="4077047"/>
            <a:ext cx="2569060" cy="308649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We observe a sequence of rewards</a:t>
            </a:r>
          </a:p>
        </p:txBody>
      </p:sp>
    </p:spTree>
    <p:extLst>
      <p:ext uri="{BB962C8B-B14F-4D97-AF65-F5344CB8AC3E}">
        <p14:creationId xmlns:p14="http://schemas.microsoft.com/office/powerpoint/2010/main" val="300048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9E24D1-8C10-D360-A975-395DD150B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F5D3AF-E874-2E5E-C9AF-8FCA74423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using it to sample data.</a:t>
            </a:r>
          </a:p>
        </p:txBody>
      </p:sp>
    </p:spTree>
    <p:extLst>
      <p:ext uri="{BB962C8B-B14F-4D97-AF65-F5344CB8AC3E}">
        <p14:creationId xmlns:p14="http://schemas.microsoft.com/office/powerpoint/2010/main" val="21284277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14C81-3730-01C4-0178-B5F501F1B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MC Control: Find a Good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118BD-0FDD-CEBC-47C4-EDC305760B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a good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while following the current policy. </a:t>
                </a:r>
              </a:p>
              <a:p>
                <a:r>
                  <a:rPr lang="en-US" b="1" dirty="0"/>
                  <a:t>Issue</a:t>
                </a:r>
                <a:r>
                  <a:rPr lang="en-US" dirty="0"/>
                  <a:t>: The state values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is not sufficient to pick the best action. We need the Q-function which could be calculated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)[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Solution</a:t>
                </a:r>
                <a:r>
                  <a:rPr lang="en-US" dirty="0"/>
                  <a:t>: We need to estimate the directly Q-function from samples.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118BD-0FDD-CEBC-47C4-EDC305760B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696" b="-3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7736B57-32A4-8061-59E8-4A8B0884BBE9}"/>
              </a:ext>
            </a:extLst>
          </p:cNvPr>
          <p:cNvGrpSpPr/>
          <p:nvPr/>
        </p:nvGrpSpPr>
        <p:grpSpPr>
          <a:xfrm>
            <a:off x="6452244" y="4226067"/>
            <a:ext cx="4771840" cy="515511"/>
            <a:chOff x="2458533" y="3098314"/>
            <a:chExt cx="1699913" cy="515511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7D54A4FA-9978-C0D7-9A96-C09807FEC7CA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3F1C6B4-152C-31C0-996A-32097CDCA179}"/>
                    </a:ext>
                  </a:extLst>
                </p:cNvPr>
                <p:cNvSpPr txBox="1"/>
                <p:nvPr/>
              </p:nvSpPr>
              <p:spPr>
                <a:xfrm>
                  <a:off x="2458533" y="3306048"/>
                  <a:ext cx="169991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model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a14:m>
                  <a:r>
                    <a:rPr lang="en-US" sz="1400" dirty="0"/>
                    <a:t> is not accessible!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3F1C6B4-152C-31C0-996A-32097CDCA1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8533" y="3306048"/>
                  <a:ext cx="1699913" cy="307777"/>
                </a:xfrm>
                <a:prstGeom prst="rect">
                  <a:avLst/>
                </a:prstGeom>
                <a:blipFill>
                  <a:blip r:embed="rId4"/>
                  <a:stretch>
                    <a:fillRect t="-1961" b="-196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605775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AB7F5-DC53-0B92-5EC4-6EE0D3EC5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87CEA-5458-FD9C-AEE9-7C8998BD7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Prediction to Estimate Q-Values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245839" cy="4779633"/>
              </a:xfrm>
            </p:spPr>
            <p:txBody>
              <a:bodyPr>
                <a:normAutofit fontScale="85000" lnSpcReduction="2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b="0" dirty="0"/>
                  <a:t> can be estimated with regular </a:t>
                </a:r>
                <a:r>
                  <a:rPr lang="en-US" dirty="0"/>
                  <a:t>MC prediction. Just record and average returns for action-state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episodes.</a:t>
                </a:r>
              </a:p>
              <a:p>
                <a:endParaRPr lang="en-US" b="1" dirty="0"/>
              </a:p>
              <a:p>
                <a:r>
                  <a:rPr lang="en-US" b="1" dirty="0"/>
                  <a:t>Complication</a:t>
                </a:r>
                <a:r>
                  <a:rPr lang="en-US" dirty="0"/>
                  <a:t>: Many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that are important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may never be visited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We need to keep exploring!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Options to guarantee that all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are sampled 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Exploring starts</a:t>
                </a:r>
                <a:r>
                  <a:rPr lang="en-US" dirty="0"/>
                  <a:t>: choose the starting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each episode randomly.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Only consider </a:t>
                </a:r>
                <a:r>
                  <a:rPr lang="en-US" b="1" dirty="0"/>
                  <a:t>soft policies </a:t>
                </a:r>
                <a:r>
                  <a:rPr lang="en-US" dirty="0"/>
                  <a:t>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-greedy. </a:t>
                </a:r>
                <a:br>
                  <a:rPr lang="en-US" dirty="0"/>
                </a:br>
                <a:r>
                  <a:rPr lang="en-US" dirty="0"/>
                  <a:t>Remember: Soft policies have non-zero probabilities for all actions so they will explore.</a:t>
                </a:r>
              </a:p>
              <a:p>
                <a:pPr marL="1371600" lvl="2" indent="-457200">
                  <a:buFont typeface="+mj-lt"/>
                  <a:buAutoNum type="alphaLcParenR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245839" cy="4779633"/>
              </a:xfrm>
              <a:blipFill>
                <a:blip r:embed="rId2"/>
                <a:stretch>
                  <a:fillRect l="-1036" t="-2806" r="-1775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A8E25886-C1A1-896D-CA44-7596F261C8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761" b="11508"/>
          <a:stretch>
            <a:fillRect/>
          </a:stretch>
        </p:blipFill>
        <p:spPr bwMode="auto">
          <a:xfrm>
            <a:off x="8769606" y="1380579"/>
            <a:ext cx="2766306" cy="2092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9E04EF-715D-76FC-468F-23217F2D5AA4}"/>
              </a:ext>
            </a:extLst>
          </p:cNvPr>
          <p:cNvSpPr txBox="1"/>
          <p:nvPr/>
        </p:nvSpPr>
        <p:spPr>
          <a:xfrm>
            <a:off x="9581367" y="389034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176" t="-2222" r="-420000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2319" t="-2222" r="-158696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4673" t="-2222" r="-2336" b="-52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Arrow: Down 6">
            <a:extLst>
              <a:ext uri="{FF2B5EF4-FFF2-40B4-BE49-F238E27FC236}">
                <a16:creationId xmlns:a16="http://schemas.microsoft.com/office/drawing/2014/main" id="{76FE0BB7-8A76-6D81-7A8F-A58771468094}"/>
              </a:ext>
            </a:extLst>
          </p:cNvPr>
          <p:cNvSpPr/>
          <p:nvPr/>
        </p:nvSpPr>
        <p:spPr>
          <a:xfrm>
            <a:off x="10223292" y="3282846"/>
            <a:ext cx="397239" cy="607503"/>
          </a:xfrm>
          <a:prstGeom prst="dow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637A3C7-9787-B245-847A-66EE87C285C2}"/>
              </a:ext>
            </a:extLst>
          </p:cNvPr>
          <p:cNvGrpSpPr/>
          <p:nvPr/>
        </p:nvGrpSpPr>
        <p:grpSpPr>
          <a:xfrm>
            <a:off x="9077115" y="2532250"/>
            <a:ext cx="776829" cy="814355"/>
            <a:chOff x="9077115" y="2532250"/>
            <a:chExt cx="776829" cy="814355"/>
          </a:xfrm>
        </p:grpSpPr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5C12E522-80E2-4861-90FA-1A5EEE6F62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01544" y="2887095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73688F91-46E8-7014-D581-4E77B99DA2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455985" y="321214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2361CF96-06F0-E613-3058-6524CF1E23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9455985" y="2550188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D02ADD85-B7FA-289A-4408-E2DEDA8416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9077115" y="287749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2684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19699-7616-F15A-0A6C-D07DB4DC6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 as GPI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Approx.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using ideas from GPI with a Q-function.</a:t>
                </a:r>
              </a:p>
              <a:p>
                <a:endParaRPr lang="en-US" dirty="0"/>
              </a:p>
              <a:p>
                <a:r>
                  <a:rPr lang="en-US" dirty="0"/>
                  <a:t>MC policy iteration: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Process: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Start with an arbitrary policy.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Evaluation</a:t>
                </a:r>
                <a:r>
                  <a:rPr lang="en-US" dirty="0"/>
                  <a:t>: Update MC estimate by sampling some episodes using the current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Improvement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means 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b="0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Repeat evaluation and improvement till the optimal policy is reached.</a:t>
                </a:r>
                <a:endParaRPr lang="en-US" b="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  <a:blipFill>
                <a:blip r:embed="rId2"/>
                <a:stretch>
                  <a:fillRect l="-1065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F8A7C185-8BEF-1CF9-4AA9-A138AA4C6A8E}"/>
              </a:ext>
            </a:extLst>
          </p:cNvPr>
          <p:cNvGrpSpPr/>
          <p:nvPr/>
        </p:nvGrpSpPr>
        <p:grpSpPr>
          <a:xfrm>
            <a:off x="8778373" y="1597639"/>
            <a:ext cx="3001301" cy="2828670"/>
            <a:chOff x="8928790" y="218543"/>
            <a:chExt cx="3001301" cy="2828670"/>
          </a:xfrm>
        </p:grpSpPr>
        <p:pic>
          <p:nvPicPr>
            <p:cNvPr id="8" name="Content Placeholder 4">
              <a:extLst>
                <a:ext uri="{FF2B5EF4-FFF2-40B4-BE49-F238E27FC236}">
                  <a16:creationId xmlns:a16="http://schemas.microsoft.com/office/drawing/2014/main" id="{F3DB8754-B65E-E3AC-7CAD-78AE15FCE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990601" y="218543"/>
              <a:ext cx="2936007" cy="2828670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A83EAAE-FF82-7D38-5799-9A05D9B7919F}"/>
                </a:ext>
              </a:extLst>
            </p:cNvPr>
            <p:cNvSpPr txBox="1"/>
            <p:nvPr/>
          </p:nvSpPr>
          <p:spPr>
            <a:xfrm>
              <a:off x="10107262" y="1397330"/>
              <a:ext cx="558412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GPI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0B7AC75-3F86-B31F-1C0A-54A88A97EE28}"/>
                </a:ext>
              </a:extLst>
            </p:cNvPr>
            <p:cNvSpPr/>
            <p:nvPr/>
          </p:nvSpPr>
          <p:spPr>
            <a:xfrm>
              <a:off x="8928790" y="218543"/>
              <a:ext cx="3001301" cy="2727081"/>
            </a:xfrm>
            <a:prstGeom prst="rect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71467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0090D-4EE5-1B7F-A3DC-4FF28643D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Policy Improvement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We update for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with a new MC estimate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,⋅)</m:t>
                    </m:r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is better (or equal)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Assumptions:</a:t>
                </a:r>
              </a:p>
              <a:p>
                <a:pPr lvl="1"/>
                <a:r>
                  <a:rPr lang="en-US" dirty="0"/>
                  <a:t>All state/action pairs are tried (e.g., start episodes with exploring states)</a:t>
                </a:r>
              </a:p>
              <a:p>
                <a:pPr lvl="1"/>
                <a:r>
                  <a:rPr lang="en-US" dirty="0"/>
                  <a:t>Perfect policy evaluation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many episodes.</a:t>
                </a:r>
              </a:p>
              <a:p>
                <a:r>
                  <a:rPr lang="en-US" dirty="0"/>
                  <a:t>Imperfect policy evaluation:</a:t>
                </a:r>
              </a:p>
              <a:p>
                <a:pPr lvl="1"/>
                <a:r>
                  <a:rPr lang="en-US" dirty="0"/>
                  <a:t>Samples give unbiased estimates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. I.e., in expectation (on average) it produces the correct estimate.</a:t>
                </a:r>
              </a:p>
              <a:p>
                <a:pPr lvl="1"/>
                <a:r>
                  <a:rPr lang="en-US" dirty="0"/>
                  <a:t>Therefore, incomplete policy evaluation moves in expectation (on average) closer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E4E2D15-996F-B182-FE89-AB0D3F987C8A}"/>
                  </a:ext>
                </a:extLst>
              </p:cNvPr>
              <p:cNvSpPr/>
              <p:nvPr/>
            </p:nvSpPr>
            <p:spPr>
              <a:xfrm>
                <a:off x="8464445" y="2159411"/>
                <a:ext cx="2031167" cy="464759"/>
              </a:xfrm>
              <a:prstGeom prst="wedgeRoundRectCallout">
                <a:avLst>
                  <a:gd name="adj1" fmla="val -95994"/>
                  <a:gd name="adj2" fmla="val -6651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chooses greedy action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E4E2D15-996F-B182-FE89-AB0D3F987C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4445" y="2159411"/>
                <a:ext cx="2031167" cy="464759"/>
              </a:xfrm>
              <a:prstGeom prst="wedgeRoundRectCallout">
                <a:avLst>
                  <a:gd name="adj1" fmla="val -95994"/>
                  <a:gd name="adj2" fmla="val -66515"/>
                  <a:gd name="adj3" fmla="val 16667"/>
                </a:avLst>
              </a:prstGeom>
              <a:blipFill>
                <a:blip r:embed="rId3"/>
                <a:stretch>
                  <a:fillRect b="-13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C892436D-3970-AD3A-C21E-8315BDEB9356}"/>
                  </a:ext>
                </a:extLst>
              </p:cNvPr>
              <p:cNvSpPr/>
              <p:nvPr/>
            </p:nvSpPr>
            <p:spPr>
              <a:xfrm>
                <a:off x="8464445" y="2897302"/>
                <a:ext cx="2440898" cy="464759"/>
              </a:xfrm>
              <a:prstGeom prst="wedgeRoundRectCallout">
                <a:avLst>
                  <a:gd name="adj1" fmla="val -85290"/>
                  <a:gd name="adj2" fmla="val -11489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may not be the best action given current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C892436D-3970-AD3A-C21E-8315BDEB93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4445" y="2897302"/>
                <a:ext cx="2440898" cy="464759"/>
              </a:xfrm>
              <a:prstGeom prst="wedgeRoundRectCallout">
                <a:avLst>
                  <a:gd name="adj1" fmla="val -85290"/>
                  <a:gd name="adj2" fmla="val -114895"/>
                  <a:gd name="adj3" fmla="val 16667"/>
                </a:avLst>
              </a:prstGeom>
              <a:blipFill>
                <a:blip r:embed="rId4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84005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B97A11FF-8820-76B6-0A7C-A2E076B1C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69" y="1124198"/>
            <a:ext cx="7808892" cy="35340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348361-4CE7-7B20-B8C4-E9B2E517C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MC Control with Exploring Starts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B0E9B77-552E-54B7-59E3-0A167A5B53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899" t="2118"/>
          <a:stretch>
            <a:fillRect/>
          </a:stretch>
        </p:blipFill>
        <p:spPr>
          <a:xfrm>
            <a:off x="3649211" y="2172749"/>
            <a:ext cx="8326714" cy="45970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/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600" dirty="0"/>
                  <a:t>-Values instead of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  <a:blipFill>
                <a:blip r:embed="rId4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89874BD-7F62-F3BE-DCA1-380FA9EC2FCC}"/>
              </a:ext>
            </a:extLst>
          </p:cNvPr>
          <p:cNvSpPr/>
          <p:nvPr/>
        </p:nvSpPr>
        <p:spPr>
          <a:xfrm>
            <a:off x="9358270" y="5874249"/>
            <a:ext cx="2154176" cy="387403"/>
          </a:xfrm>
          <a:prstGeom prst="wedgeRoundRectCallout">
            <a:avLst>
              <a:gd name="adj1" fmla="val -137874"/>
              <a:gd name="adj2" fmla="val 4353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policy update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FDD0AFEB-6629-81BE-A1DE-BFD50DCFE1B1}"/>
              </a:ext>
            </a:extLst>
          </p:cNvPr>
          <p:cNvSpPr/>
          <p:nvPr/>
        </p:nvSpPr>
        <p:spPr>
          <a:xfrm>
            <a:off x="9421217" y="3697846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Exploring starts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5EE5C4CD-4DC6-9369-1C42-9B8DBED03473}"/>
              </a:ext>
            </a:extLst>
          </p:cNvPr>
          <p:cNvSpPr/>
          <p:nvPr/>
        </p:nvSpPr>
        <p:spPr>
          <a:xfrm rot="16930409">
            <a:off x="3124899" y="2972773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4EE33C7-FED0-6D11-1D5C-56EE1D4CABDA}"/>
              </a:ext>
            </a:extLst>
          </p:cNvPr>
          <p:cNvSpPr/>
          <p:nvPr/>
        </p:nvSpPr>
        <p:spPr>
          <a:xfrm>
            <a:off x="8274769" y="2476061"/>
            <a:ext cx="899211" cy="521972"/>
          </a:xfrm>
          <a:prstGeom prst="wedgeRoundRectCallout">
            <a:avLst>
              <a:gd name="adj1" fmla="val -96152"/>
              <a:gd name="adj2" fmla="val 5615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Learn policy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6CE2DCE9-C0A3-622A-0091-360C7A3CC0AE}"/>
              </a:ext>
            </a:extLst>
          </p:cNvPr>
          <p:cNvSpPr/>
          <p:nvPr/>
        </p:nvSpPr>
        <p:spPr>
          <a:xfrm>
            <a:off x="9596102" y="4940098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First-visit</a:t>
            </a:r>
          </a:p>
        </p:txBody>
      </p:sp>
    </p:spTree>
    <p:extLst>
      <p:ext uri="{BB962C8B-B14F-4D97-AF65-F5344CB8AC3E}">
        <p14:creationId xmlns:p14="http://schemas.microsoft.com/office/powerpoint/2010/main" val="28002700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7B18F-AF51-E791-9C62-EEAA55F7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 without Exploring Starts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The environment needs to let us start episodes at different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at will. This is fine for simulations, but hard in the real world.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Need</a:t>
                </a:r>
                <a:r>
                  <a:rPr lang="en-US" dirty="0"/>
                  <a:t>: We need a guarantee that all (reachable) state-action combinations are tried.</a:t>
                </a:r>
              </a:p>
              <a:p>
                <a:endParaRPr lang="en-US" dirty="0"/>
              </a:p>
              <a:p>
                <a:r>
                  <a:rPr lang="en-US" dirty="0"/>
                  <a:t>Options: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On-policy control</a:t>
                </a:r>
                <a:r>
                  <a:rPr lang="en-US" dirty="0"/>
                  <a:t>: learn a soft policy instead of the optimal policy.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Off-policy control</a:t>
                </a:r>
                <a:r>
                  <a:rPr lang="en-US" dirty="0"/>
                  <a:t>: use a soft behavior policy for sampling that tries all state-action pairs, but learn the optimal, deterministic policy.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35212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22310-FA64-2841-526C-6FAEAF816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Soft Policies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Definition</a:t>
                </a:r>
                <a:r>
                  <a:rPr lang="en-US" dirty="0"/>
                  <a:t>: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Important Soft Policies: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-soft policy</a:t>
                </a:r>
                <a:r>
                  <a:rPr lang="en-US" dirty="0"/>
                  <a:t>: defines the smallest probability</a:t>
                </a:r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-greedy policy</a:t>
                </a:r>
                <a:r>
                  <a:rPr lang="en-US" dirty="0"/>
                  <a:t>: follows a greedy policy but chooses a random action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)|</m:t>
                                  </m:r>
                                </m:den>
                              </m:f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57543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9296D69-011E-18E3-493B-449C50867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1" y="1079779"/>
            <a:ext cx="6764650" cy="3742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Alg. On-Policy MC Control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-soft Policies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20161" r="-168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D02F365C-A50B-8950-7636-B2CF14BC8E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2189" t="2792"/>
          <a:stretch>
            <a:fillRect/>
          </a:stretch>
        </p:blipFill>
        <p:spPr>
          <a:xfrm>
            <a:off x="4316126" y="1613450"/>
            <a:ext cx="7289930" cy="4646532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3571F969-4B0D-E116-108F-D7C3445B56A8}"/>
              </a:ext>
            </a:extLst>
          </p:cNvPr>
          <p:cNvSpPr/>
          <p:nvPr/>
        </p:nvSpPr>
        <p:spPr>
          <a:xfrm>
            <a:off x="9065161" y="2117480"/>
            <a:ext cx="1287710" cy="503209"/>
          </a:xfrm>
          <a:prstGeom prst="wedgeRoundRectCallout">
            <a:avLst>
              <a:gd name="adj1" fmla="val -182071"/>
              <a:gd name="adj2" fmla="val 6469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Start with soft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/>
              <p:nvPr/>
            </p:nvSpPr>
            <p:spPr>
              <a:xfrm>
                <a:off x="9813707" y="5491254"/>
                <a:ext cx="1482586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Create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policy.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707" y="5491254"/>
                <a:ext cx="1482586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  <a:blipFill>
                <a:blip r:embed="rId5"/>
                <a:stretch>
                  <a:fillRect t="-9412" b="-2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6D542BC-741E-1EA0-F955-AA3E2AA650E1}"/>
              </a:ext>
            </a:extLst>
          </p:cNvPr>
          <p:cNvSpPr/>
          <p:nvPr/>
        </p:nvSpPr>
        <p:spPr>
          <a:xfrm>
            <a:off x="9169852" y="2978817"/>
            <a:ext cx="1287710" cy="503209"/>
          </a:xfrm>
          <a:prstGeom prst="wedgeRoundRectCallout">
            <a:avLst>
              <a:gd name="adj1" fmla="val -194315"/>
              <a:gd name="adj2" fmla="val 708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 exploring starts!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553659F1-47C7-2086-0167-0CFACDBECB2F}"/>
              </a:ext>
            </a:extLst>
          </p:cNvPr>
          <p:cNvSpPr/>
          <p:nvPr/>
        </p:nvSpPr>
        <p:spPr>
          <a:xfrm rot="16930409">
            <a:off x="3707934" y="267359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/>
              <p:nvPr/>
            </p:nvSpPr>
            <p:spPr>
              <a:xfrm>
                <a:off x="1364104" y="6308208"/>
                <a:ext cx="8919148" cy="36933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Important</a:t>
                </a:r>
                <a:r>
                  <a:rPr lang="en-US" dirty="0"/>
                  <a:t>: This learns the best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policy, but not the optimal deterministic policy!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104" y="6308208"/>
                <a:ext cx="8919148" cy="369332"/>
              </a:xfrm>
              <a:prstGeom prst="rect">
                <a:avLst/>
              </a:prstGeom>
              <a:blipFill>
                <a:blip r:embed="rId6"/>
                <a:stretch>
                  <a:fillRect l="-546" t="-6349" b="-2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88483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0CFB0-D2B7-437F-8981-207DBA2A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Code…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F9353D-E2F6-5C2D-E559-4D7DA584D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094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A0DF3DF-CB27-AC0F-184E-D0D409D75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5F68E3-3923-0FEB-B7EA-D6D49A383D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a value function for a policy different from the sampling policy.</a:t>
            </a:r>
          </a:p>
        </p:txBody>
      </p:sp>
    </p:spTree>
    <p:extLst>
      <p:ext uri="{BB962C8B-B14F-4D97-AF65-F5344CB8AC3E}">
        <p14:creationId xmlns:p14="http://schemas.microsoft.com/office/powerpoint/2010/main" val="15276507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482D-FBE8-E8AF-A0D6-5E553AFB0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vs. On-Policy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6689"/>
                <a:ext cx="10515600" cy="5393433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Dilemma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We need behavior that explores. These exploratory actions will often lead to suboptimal outcomes.</a:t>
                </a:r>
              </a:p>
              <a:p>
                <a:pPr lvl="1"/>
                <a:r>
                  <a:rPr lang="en-US" dirty="0"/>
                  <a:t>Learning optimal action values depends on observing optimal behavior.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On-policy</a:t>
                </a:r>
                <a:r>
                  <a:rPr lang="en-US" dirty="0"/>
                  <a:t>: Learns a near-optimal policy that still explores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) and then converts it into a deterministic policy.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Off-policy</a:t>
                </a:r>
                <a:r>
                  <a:rPr lang="en-US" dirty="0"/>
                  <a:t>: Use two policies</a:t>
                </a:r>
              </a:p>
              <a:p>
                <a:pPr lvl="1"/>
                <a:r>
                  <a:rPr lang="en-US" b="1" dirty="0"/>
                  <a:t>Target policy</a:t>
                </a:r>
                <a:r>
                  <a:rPr lang="en-US" dirty="0"/>
                  <a:t>: learn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which will become an optimal deterministic policy.</a:t>
                </a:r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guarantees exploration with a soft policy.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Called “off-policy” because the generated data follows a different policy than the target policy. </a:t>
                </a:r>
              </a:p>
              <a:p>
                <a:endParaRPr lang="en-US" dirty="0"/>
              </a:p>
              <a:p>
                <a:r>
                  <a:rPr lang="en-US" dirty="0"/>
                  <a:t>Off-policy methods are typically:</a:t>
                </a:r>
              </a:p>
              <a:p>
                <a:pPr lvl="1"/>
                <a:r>
                  <a:rPr lang="en-US" dirty="0"/>
                  <a:t>More complicated</a:t>
                </a:r>
              </a:p>
              <a:p>
                <a:pPr lvl="1"/>
                <a:r>
                  <a:rPr lang="en-US" dirty="0"/>
                  <a:t>Converge slower</a:t>
                </a:r>
              </a:p>
              <a:p>
                <a:pPr lvl="1"/>
                <a:r>
                  <a:rPr lang="en-US" dirty="0"/>
                  <a:t>Often more powerful</a:t>
                </a:r>
              </a:p>
              <a:p>
                <a:pPr lvl="1"/>
                <a:r>
                  <a:rPr lang="en-US" dirty="0"/>
                  <a:t>Can be applied to data externally generated using a fixed, potentially unknown, behavior policy.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</a:t>
                </a:r>
                <a:r>
                  <a:rPr lang="en-US" dirty="0"/>
                  <a:t>: On-policy learning is a special case of off-policy learning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6689"/>
                <a:ext cx="10515600" cy="5393433"/>
              </a:xfrm>
              <a:blipFill>
                <a:blip r:embed="rId2"/>
                <a:stretch>
                  <a:fillRect l="-522" t="-1808" r="-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05065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367F2-824B-66B4-F5DA-53698C24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given episodes generated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Assumptions</a:t>
                </a:r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are fixed</a:t>
                </a:r>
              </a:p>
              <a:p>
                <a:pPr lvl="1"/>
                <a:r>
                  <a:rPr lang="en-US" b="1" dirty="0"/>
                  <a:t>Coverage</a:t>
                </a:r>
                <a:r>
                  <a:rPr lang="en-US" dirty="0"/>
                  <a:t>: Every action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will occasionally also be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needs to be stochastic for states where it differs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The sample averages are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and not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need to be corrected!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 r="-406" b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44559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7F096-7449-FAFB-94B3-93534D791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</p:spPr>
            <p:txBody>
              <a:bodyPr>
                <a:noAutofit/>
              </a:bodyPr>
              <a:lstStyle/>
              <a:p>
                <a:r>
                  <a:rPr lang="en-US" sz="1800" b="1" dirty="0"/>
                  <a:t>Importance sampling </a:t>
                </a:r>
                <a:r>
                  <a:rPr lang="en-US" sz="1800" dirty="0"/>
                  <a:t>is a method to estimate the expected values under a desired distribution, given samples from another distribution </a:t>
                </a:r>
              </a:p>
              <a:p>
                <a:pPr lvl="1"/>
                <a:r>
                  <a:rPr lang="en-US" sz="1400" dirty="0"/>
                  <a:t>Desired distribution: actions are chosen according to the target policy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400" dirty="0"/>
              </a:p>
              <a:p>
                <a:pPr lvl="1"/>
                <a:r>
                  <a:rPr lang="en-US" sz="1400" dirty="0"/>
                  <a:t>Sampled distribution: actions are chosen by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400" dirty="0"/>
              </a:p>
              <a:p>
                <a:r>
                  <a:rPr lang="en-US" sz="1800" b="1" dirty="0"/>
                  <a:t>Use in off-policy prediction</a:t>
                </a:r>
                <a:r>
                  <a:rPr lang="en-US" sz="1800" dirty="0"/>
                  <a:t>: weight returns observed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800" dirty="0"/>
                  <a:t> to estimate returns for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 using the probability of trajectories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.</a:t>
                </a:r>
              </a:p>
              <a:p>
                <a:r>
                  <a:rPr lang="en-US" sz="1800" dirty="0"/>
                  <a:t>Probability of a trajectory starting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800" dirty="0"/>
                  <a:t>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8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−1, </m:t>
                                      </m:r>
                                    </m:sub>
                                  </m:s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800" dirty="0"/>
              </a:p>
              <a:p>
                <a:r>
                  <a:rPr lang="en-US" sz="1800" b="1" dirty="0"/>
                  <a:t>Importance sampling ratio </a:t>
                </a:r>
                <a:r>
                  <a:rPr lang="en-US" sz="1800" dirty="0"/>
                  <a:t>(how much more likely are the remaining actions in the sequence chosen under 𝜋 than under 𝑏):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1800" dirty="0"/>
              </a:p>
              <a:p>
                <a:r>
                  <a:rPr lang="en-US" sz="1800" dirty="0"/>
                  <a:t>Now we get: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  <a:blipFill>
                <a:blip r:embed="rId2"/>
                <a:stretch>
                  <a:fillRect l="-406" t="-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A0F39-D96C-AC90-D24E-DB92BD3DFCA8}"/>
              </a:ext>
            </a:extLst>
          </p:cNvPr>
          <p:cNvCxnSpPr>
            <a:cxnSpLocks/>
          </p:cNvCxnSpPr>
          <p:nvPr/>
        </p:nvCxnSpPr>
        <p:spPr>
          <a:xfrm flipV="1">
            <a:off x="5709769" y="4642769"/>
            <a:ext cx="1598455" cy="221624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9D49D-EC81-4C18-EAE0-16C729A0D7AA}"/>
              </a:ext>
            </a:extLst>
          </p:cNvPr>
          <p:cNvCxnSpPr>
            <a:cxnSpLocks/>
          </p:cNvCxnSpPr>
          <p:nvPr/>
        </p:nvCxnSpPr>
        <p:spPr>
          <a:xfrm flipV="1">
            <a:off x="5758630" y="4984796"/>
            <a:ext cx="1549594" cy="254781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AFBF7E4-845B-DA38-E9A5-723C0A4CB58B}"/>
              </a:ext>
            </a:extLst>
          </p:cNvPr>
          <p:cNvSpPr/>
          <p:nvPr/>
        </p:nvSpPr>
        <p:spPr>
          <a:xfrm>
            <a:off x="9471194" y="4357357"/>
            <a:ext cx="2101026" cy="750367"/>
          </a:xfrm>
          <a:prstGeom prst="wedgeRoundRectCallout">
            <a:avLst>
              <a:gd name="adj1" fmla="val -76807"/>
              <a:gd name="adj2" fmla="val -3547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Luckily, the unknown transition probabilities cancel out!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5B72F090-DC2E-C8B9-3321-C68747FD6B15}"/>
              </a:ext>
            </a:extLst>
          </p:cNvPr>
          <p:cNvSpPr/>
          <p:nvPr/>
        </p:nvSpPr>
        <p:spPr>
          <a:xfrm>
            <a:off x="9471194" y="2917700"/>
            <a:ext cx="2101026" cy="520435"/>
          </a:xfrm>
          <a:prstGeom prst="wedgeRoundRectCallout">
            <a:avLst>
              <a:gd name="adj1" fmla="val -76475"/>
              <a:gd name="adj2" fmla="val 5257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Needs unknown transition probabilities!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12E2FEED-5945-68CE-0EE6-B01BEE371736}"/>
              </a:ext>
            </a:extLst>
          </p:cNvPr>
          <p:cNvSpPr/>
          <p:nvPr/>
        </p:nvSpPr>
        <p:spPr>
          <a:xfrm>
            <a:off x="9523660" y="5543470"/>
            <a:ext cx="2101026" cy="966952"/>
          </a:xfrm>
          <a:prstGeom prst="wedgeRoundRectCallout">
            <a:avLst>
              <a:gd name="adj1" fmla="val -105649"/>
              <a:gd name="adj2" fmla="val -28349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we need to do is correct the returns by multiplying them with the ratio.</a:t>
            </a:r>
          </a:p>
        </p:txBody>
      </p:sp>
    </p:spTree>
    <p:extLst>
      <p:ext uri="{BB962C8B-B14F-4D97-AF65-F5344CB8AC3E}">
        <p14:creationId xmlns:p14="http://schemas.microsoft.com/office/powerpoint/2010/main" val="31623255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A4A6-BE76-606A-C91C-C516CF32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vs. Weighted 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Ordinary importance sampling </a:t>
                </a:r>
                <a:r>
                  <a:rPr lang="en-US" dirty="0"/>
                  <a:t>averages the corrected sample returns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are the time steps that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was visited. Can use first visit or every visit.</a:t>
                </a:r>
              </a:p>
              <a:p>
                <a:pPr lvl="1"/>
                <a:r>
                  <a:rPr lang="en-US" dirty="0"/>
                  <a:t>Gives an unbiased 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but the variance is extreme for low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)|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b="1" dirty="0"/>
                  <a:t>Weighted importance sampling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 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: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Set 0 if denominator is 0</a:t>
                </a:r>
              </a:p>
              <a:p>
                <a:pPr lvl="1"/>
                <a:r>
                  <a:rPr lang="en-US" dirty="0"/>
                  <a:t>Initially biased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.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 terms cancel for a single observation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sampled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Bias falls asymptotically with more visits because </a:t>
                </a:r>
              </a:p>
              <a:p>
                <a:pPr lvl="1"/>
                <a:r>
                  <a:rPr lang="en-US" dirty="0"/>
                  <a:t>Preferred method with much lower errors for smaller number of episodes.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  <a:blipFill>
                <a:blip r:embed="rId2"/>
                <a:stretch>
                  <a:fillRect l="-510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/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Note: the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</m:oMath>
                </a14:m>
                <a:r>
                  <a:rPr lang="en-US" dirty="0"/>
                  <a:t> just cancels out.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9863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9D607B85-E12F-346B-31F9-19075BE2D5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89" t="2792"/>
          <a:stretch>
            <a:fillRect/>
          </a:stretch>
        </p:blipFill>
        <p:spPr>
          <a:xfrm>
            <a:off x="469383" y="1407853"/>
            <a:ext cx="7289930" cy="46465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96E673-7BE2-C7DB-FDB9-3F97190C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Incremental Implementation using </a:t>
            </a:r>
            <a:br>
              <a:rPr lang="en-US" dirty="0"/>
            </a:br>
            <a:r>
              <a:rPr lang="en-US" dirty="0"/>
              <a:t>Weighted Importance Sampling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124268-92F3-21D3-714E-81C827A57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704" t="4119"/>
          <a:stretch>
            <a:fillRect/>
          </a:stretch>
        </p:blipFill>
        <p:spPr>
          <a:xfrm>
            <a:off x="3611461" y="2046914"/>
            <a:ext cx="8155700" cy="45830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/>
              <p:nvPr/>
            </p:nvSpPr>
            <p:spPr>
              <a:xfrm>
                <a:off x="7176780" y="2969702"/>
                <a:ext cx="1694577" cy="503339"/>
              </a:xfrm>
              <a:prstGeom prst="wedgeRoundRectCallout">
                <a:avLst>
                  <a:gd name="adj1" fmla="val -159408"/>
                  <a:gd name="adj2" fmla="val 4107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cumulative sum of weights for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for incremental update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780" y="2969702"/>
                <a:ext cx="1694577" cy="503339"/>
              </a:xfrm>
              <a:prstGeom prst="wedgeRoundRectCallout">
                <a:avLst>
                  <a:gd name="adj1" fmla="val -159408"/>
                  <a:gd name="adj2" fmla="val 41071"/>
                  <a:gd name="adj3" fmla="val 16667"/>
                </a:avLst>
              </a:prstGeom>
              <a:blipFill>
                <a:blip r:embed="rId4"/>
                <a:stretch>
                  <a:fillRect t="-12791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F6850AEC-92A1-9747-9C72-EC0B580331BC}"/>
              </a:ext>
            </a:extLst>
          </p:cNvPr>
          <p:cNvSpPr/>
          <p:nvPr/>
        </p:nvSpPr>
        <p:spPr>
          <a:xfrm>
            <a:off x="8191849" y="6125128"/>
            <a:ext cx="3049398" cy="195743"/>
          </a:xfrm>
          <a:prstGeom prst="wedgeRoundRectCallout">
            <a:avLst>
              <a:gd name="adj1" fmla="val -69966"/>
              <a:gd name="adj2" fmla="val -1136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Incremental update + Correct the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/>
              <p:nvPr/>
            </p:nvSpPr>
            <p:spPr>
              <a:xfrm>
                <a:off x="7522826" y="3633248"/>
                <a:ext cx="2162309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200" dirty="0"/>
                  <a:t> can change every episode!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2826" y="3633248"/>
                <a:ext cx="2162309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  <a:blipFill>
                <a:blip r:embed="rId5"/>
                <a:stretch>
                  <a:fillRect t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Arrow: Down 8">
            <a:extLst>
              <a:ext uri="{FF2B5EF4-FFF2-40B4-BE49-F238E27FC236}">
                <a16:creationId xmlns:a16="http://schemas.microsoft.com/office/drawing/2014/main" id="{8C5E7366-B663-9D68-2647-028B1D913D6B}"/>
              </a:ext>
            </a:extLst>
          </p:cNvPr>
          <p:cNvSpPr/>
          <p:nvPr/>
        </p:nvSpPr>
        <p:spPr>
          <a:xfrm rot="16930409">
            <a:off x="2940342" y="3091206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/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Importance sampling ratio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  <a:blipFill>
                <a:blip r:embed="rId6"/>
                <a:stretch>
                  <a:fillRect t="-1666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18457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EE88D-1806-979D-2814-D73AF282D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8A943B-484E-9C7E-EE44-4CBCD7CF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62269B-9FCA-0B73-D72E-BCBDF9DCD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following a different behavior policy.</a:t>
            </a:r>
          </a:p>
        </p:txBody>
      </p:sp>
    </p:spTree>
    <p:extLst>
      <p:ext uri="{BB962C8B-B14F-4D97-AF65-F5344CB8AC3E}">
        <p14:creationId xmlns:p14="http://schemas.microsoft.com/office/powerpoint/2010/main" val="18990861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66720-F8A3-4C51-FD0A-FF05EFB94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MC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b="1" dirty="0"/>
                  <a:t>Remember</a:t>
                </a:r>
                <a:r>
                  <a:rPr lang="en-US" dirty="0"/>
                  <a:t>: on-policy control tries to estimate a policy while using it for control. This has the following implications: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behavior changes </a:t>
                </a:r>
                <a:r>
                  <a:rPr lang="en-US" dirty="0"/>
                  <a:t>with the learned policy.</a:t>
                </a:r>
              </a:p>
              <a:p>
                <a:pPr lvl="1"/>
                <a:r>
                  <a:rPr lang="en-US" dirty="0"/>
                  <a:t>The policy that is learned needs to explore and therefore </a:t>
                </a:r>
                <a:r>
                  <a:rPr lang="en-US" b="1" dirty="0"/>
                  <a:t>may not be able to learn the optimal deterministic policy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Off-policy control uses two policies:</a:t>
                </a:r>
              </a:p>
              <a:p>
                <a:endParaRPr lang="en-US" dirty="0"/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/>
                  <a:t>: Needs to have coverage. That is, it eventually takes every action taken under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This typically means that we will use a </a:t>
                </a:r>
                <a:r>
                  <a:rPr lang="en-US" b="1" dirty="0"/>
                  <a:t>soft policy</a:t>
                </a:r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Target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: can be deterministic. Often a </a:t>
                </a:r>
                <a:r>
                  <a:rPr lang="en-US" b="1" dirty="0"/>
                  <a:t>deterministic greedy policy </a:t>
                </a:r>
                <a:r>
                  <a:rPr lang="en-US" dirty="0"/>
                  <a:t>which can become optimal.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06857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B0E5E3E5-7ADE-C94C-E70B-D6DA3B0A47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04" t="4119"/>
          <a:stretch>
            <a:fillRect/>
          </a:stretch>
        </p:blipFill>
        <p:spPr>
          <a:xfrm>
            <a:off x="499097" y="1167013"/>
            <a:ext cx="7178926" cy="4034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4E8716-FCC4-28C6-4F3D-DEB381529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Off-Policy MC Control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07C0C5-74BA-782D-88D3-D9D60C1E24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956" t="709"/>
          <a:stretch>
            <a:fillRect/>
          </a:stretch>
        </p:blipFill>
        <p:spPr>
          <a:xfrm>
            <a:off x="3661794" y="1635647"/>
            <a:ext cx="7829773" cy="47460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/>
              <p:nvPr/>
            </p:nvSpPr>
            <p:spPr>
              <a:xfrm>
                <a:off x="1593209" y="5125469"/>
                <a:ext cx="2399251" cy="1367405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Can only uses the end of the episode that uses greedy actions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br>
                  <a:rPr lang="en-US" sz="1400" dirty="0"/>
                </a:br>
                <a:r>
                  <a:rPr lang="en-US" sz="1400" b="1" dirty="0"/>
                  <a:t>Issue</a:t>
                </a:r>
                <a:r>
                  <a:rPr lang="en-US" sz="1400" dirty="0"/>
                  <a:t>: Not very sample efficient!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3209" y="5125469"/>
                <a:ext cx="2399251" cy="1367405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/>
              <p:nvPr/>
            </p:nvSpPr>
            <p:spPr>
              <a:xfrm>
                <a:off x="6581297" y="5908738"/>
                <a:ext cx="3731545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We use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to select a. So the probability is 1.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297" y="5908738"/>
                <a:ext cx="3731545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  <a:blipFill>
                <a:blip r:embed="rId5"/>
                <a:stretch>
                  <a:fillRect t="-3922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Down 3">
            <a:extLst>
              <a:ext uri="{FF2B5EF4-FFF2-40B4-BE49-F238E27FC236}">
                <a16:creationId xmlns:a16="http://schemas.microsoft.com/office/drawing/2014/main" id="{711BEC78-A77D-C9A1-C817-61867AC0146A}"/>
              </a:ext>
            </a:extLst>
          </p:cNvPr>
          <p:cNvSpPr/>
          <p:nvPr/>
        </p:nvSpPr>
        <p:spPr>
          <a:xfrm rot="16930409">
            <a:off x="3005081" y="253990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D6911223-3282-3D4A-D937-1C6D589987F8}"/>
              </a:ext>
            </a:extLst>
          </p:cNvPr>
          <p:cNvSpPr/>
          <p:nvPr/>
        </p:nvSpPr>
        <p:spPr>
          <a:xfrm>
            <a:off x="7715207" y="2270004"/>
            <a:ext cx="2534023" cy="290316"/>
          </a:xfrm>
          <a:prstGeom prst="wedgeRoundRectCallout">
            <a:avLst>
              <a:gd name="adj1" fmla="val -104868"/>
              <a:gd name="adj2" fmla="val 13691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Add the greedy target policy</a:t>
            </a:r>
          </a:p>
        </p:txBody>
      </p:sp>
    </p:spTree>
    <p:extLst>
      <p:ext uri="{BB962C8B-B14F-4D97-AF65-F5344CB8AC3E}">
        <p14:creationId xmlns:p14="http://schemas.microsoft.com/office/powerpoint/2010/main" val="32484463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CE525A-4DE7-57BC-63B4-AAC868992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83400F-3AC6-D422-B920-E8D54036FC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70958" y="352337"/>
                <a:ext cx="6006517" cy="6191075"/>
              </a:xfrm>
            </p:spPr>
            <p:txBody>
              <a:bodyPr anchor="ctr"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1900" dirty="0"/>
                  <a:t>MC works with sample episodes:</a:t>
                </a:r>
                <a:endParaRPr lang="en-US" sz="1900" b="1" dirty="0"/>
              </a:p>
              <a:p>
                <a:pPr lvl="1"/>
                <a:r>
                  <a:rPr lang="en-US" sz="1900" b="1" dirty="0"/>
                  <a:t>Policy Evaluation</a:t>
                </a:r>
                <a:r>
                  <a:rPr lang="en-US" sz="1900" dirty="0"/>
                  <a:t>: Averages many sampled returns. </a:t>
                </a:r>
              </a:p>
              <a:p>
                <a:pPr lvl="1"/>
                <a:r>
                  <a:rPr lang="en-US" sz="1900" b="1" dirty="0"/>
                  <a:t>Control</a:t>
                </a:r>
                <a:r>
                  <a:rPr lang="en-US" sz="1900" dirty="0"/>
                  <a:t>: Interleaves pol. eval. and pol. improvement on an episode-by-episode basis.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Advantage of MC methods vs. DP:</a:t>
                </a:r>
              </a:p>
              <a:p>
                <a:pPr lvl="1"/>
                <a:r>
                  <a:rPr lang="en-US" sz="1900" b="1" dirty="0"/>
                  <a:t>Model-free</a:t>
                </a:r>
                <a:r>
                  <a:rPr lang="en-US" sz="1900" dirty="0"/>
                  <a:t>: No need for an environment model. Sampling from a simulation is often easy.</a:t>
                </a:r>
              </a:p>
              <a:p>
                <a:pPr lvl="1"/>
                <a:r>
                  <a:rPr lang="en-US" sz="1900" dirty="0"/>
                  <a:t>Can evaluate a small </a:t>
                </a:r>
                <a:r>
                  <a:rPr lang="en-US" sz="1900" b="1" dirty="0"/>
                  <a:t>state set</a:t>
                </a:r>
                <a:r>
                  <a:rPr lang="en-US" sz="1900" dirty="0"/>
                  <a:t> of interest. DP always has to sweep over all states.</a:t>
                </a:r>
              </a:p>
              <a:p>
                <a:pPr lvl="1"/>
                <a:r>
                  <a:rPr lang="en-US" sz="1900" b="1" dirty="0"/>
                  <a:t>Produced unbiased estimates: </a:t>
                </a:r>
                <a:r>
                  <a:rPr lang="en-US" sz="1900" dirty="0"/>
                  <a:t>Estimates are based on returns from complete sampled sequences. Other methods use bootstrapping (estimating a value from other estimates), which introduces bias.</a:t>
                </a:r>
              </a:p>
              <a:p>
                <a:pPr lvl="1"/>
                <a:r>
                  <a:rPr lang="en-US" sz="1900" dirty="0"/>
                  <a:t>Using complete sequences may be less harmed by violations of the Markov property.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Issues:</a:t>
                </a:r>
              </a:p>
              <a:p>
                <a:pPr lvl="1"/>
                <a:r>
                  <a:rPr lang="en-US" sz="1900" b="1" dirty="0"/>
                  <a:t>Needs to maintain sufficient exploration</a:t>
                </a:r>
                <a:r>
                  <a:rPr lang="en-US" sz="1900" dirty="0"/>
                  <a:t>. Options are: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Exploring starts can learn the optimal policy.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Learning an </a:t>
                </a:r>
                <a14:m>
                  <m:oMath xmlns:m="http://schemas.openxmlformats.org/officeDocument/2006/math">
                    <m:r>
                      <a:rPr lang="en-US" sz="190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900" dirty="0"/>
                  <a:t>-soft policy.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Off-policy learning with a covering behavior policy. Note: only a part of the data can be used.</a:t>
                </a:r>
              </a:p>
              <a:p>
                <a:pPr lvl="1"/>
                <a:r>
                  <a:rPr lang="en-US" sz="1900" dirty="0"/>
                  <a:t>MC methods are </a:t>
                </a:r>
                <a:r>
                  <a:rPr lang="en-US" sz="1900" b="1" dirty="0"/>
                  <a:t>not sample efficient</a:t>
                </a:r>
                <a:r>
                  <a:rPr lang="en-US" sz="1900" dirty="0"/>
                  <a:t>. I.e., sampled episodes are used only once and then discarded.</a:t>
                </a:r>
              </a:p>
              <a:p>
                <a:pPr lvl="1"/>
                <a:r>
                  <a:rPr lang="en-US" sz="1900" b="1" dirty="0"/>
                  <a:t>Not a truly online method</a:t>
                </a:r>
                <a:r>
                  <a:rPr lang="en-US" sz="1900" dirty="0"/>
                  <a:t>: Updates are not done after each action, but are delayed until the end of each episode.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70958" y="352337"/>
                <a:ext cx="6006517" cy="6191075"/>
              </a:xfrm>
              <a:blipFill>
                <a:blip r:embed="rId3"/>
                <a:stretch>
                  <a:fillRect l="-507" r="-5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482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12167</TotalTime>
  <Words>2533</Words>
  <Application>Microsoft Office PowerPoint</Application>
  <PresentationFormat>Widescreen</PresentationFormat>
  <Paragraphs>294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Monte Carlo Methods Sutton/Barto* Chapter 5</vt:lpstr>
      <vt:lpstr>Topics of this Course</vt:lpstr>
      <vt:lpstr>Summary of Notation</vt:lpstr>
      <vt:lpstr>Introduction</vt:lpstr>
      <vt:lpstr>On-Policy Monte Carlo Prediction</vt:lpstr>
      <vt:lpstr>MC Prediction: Estimate v_π</vt:lpstr>
      <vt:lpstr>On-Policy Monte Carlo Control</vt:lpstr>
      <vt:lpstr>MC Control: Find a Good Policy</vt:lpstr>
      <vt:lpstr>MC Prediction to Estimate Q-Values</vt:lpstr>
      <vt:lpstr>MC Control as GPI</vt:lpstr>
      <vt:lpstr>Remember: Policy Improvement Theorem</vt:lpstr>
      <vt:lpstr>Alg. MC Control with Exploring Starts</vt:lpstr>
      <vt:lpstr>MC Control without Exploring Starts</vt:lpstr>
      <vt:lpstr>Types of Soft Policies</vt:lpstr>
      <vt:lpstr>Alg. On-Policy MC Control with ϵ-soft Policies</vt:lpstr>
      <vt:lpstr>Code…</vt:lpstr>
      <vt:lpstr>Off-Policy Prediction</vt:lpstr>
      <vt:lpstr>Off-Policy vs. On-Policy Learning</vt:lpstr>
      <vt:lpstr>Off-Policy Prediction</vt:lpstr>
      <vt:lpstr>Importance Sampling</vt:lpstr>
      <vt:lpstr>Ordinary vs. Weighted Importance Sampling</vt:lpstr>
      <vt:lpstr>Incremental Implementation using  Weighted Importance Sampling</vt:lpstr>
      <vt:lpstr>Off-Policy Control</vt:lpstr>
      <vt:lpstr>Off-Policy MC Control</vt:lpstr>
      <vt:lpstr>Alg. Off-Policy MC Control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143</cp:revision>
  <dcterms:created xsi:type="dcterms:W3CDTF">2025-09-08T14:44:49Z</dcterms:created>
  <dcterms:modified xsi:type="dcterms:W3CDTF">2026-02-06T15:02:00Z</dcterms:modified>
</cp:coreProperties>
</file>