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13" r:id="rId3"/>
    <p:sldId id="478" r:id="rId4"/>
    <p:sldId id="368" r:id="rId5"/>
    <p:sldId id="403" r:id="rId6"/>
    <p:sldId id="482" r:id="rId7"/>
    <p:sldId id="382" r:id="rId8"/>
    <p:sldId id="385" r:id="rId9"/>
    <p:sldId id="387" r:id="rId10"/>
    <p:sldId id="391" r:id="rId11"/>
    <p:sldId id="386" r:id="rId12"/>
    <p:sldId id="485" r:id="rId13"/>
    <p:sldId id="388" r:id="rId14"/>
    <p:sldId id="486" r:id="rId15"/>
    <p:sldId id="390" r:id="rId16"/>
    <p:sldId id="481" r:id="rId17"/>
    <p:sldId id="394" r:id="rId18"/>
    <p:sldId id="392" r:id="rId19"/>
    <p:sldId id="393" r:id="rId20"/>
    <p:sldId id="480" r:id="rId21"/>
    <p:sldId id="404" r:id="rId22"/>
    <p:sldId id="484" r:id="rId23"/>
    <p:sldId id="483" r:id="rId24"/>
    <p:sldId id="396" r:id="rId25"/>
    <p:sldId id="397" r:id="rId26"/>
    <p:sldId id="399" r:id="rId27"/>
    <p:sldId id="398" r:id="rId28"/>
    <p:sldId id="405" r:id="rId29"/>
    <p:sldId id="400" r:id="rId30"/>
    <p:sldId id="401" r:id="rId31"/>
    <p:sldId id="402"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nte carlo" id="{83286E67-F0F0-421C-8F74-7B93ABA17FBF}">
          <p14:sldIdLst>
            <p14:sldId id="256"/>
            <p14:sldId id="313"/>
            <p14:sldId id="478"/>
          </p14:sldIdLst>
        </p14:section>
        <p14:section name="Introduction" id="{2482C7AA-3485-41BD-83FB-6BA5452DCE27}">
          <p14:sldIdLst>
            <p14:sldId id="368"/>
          </p14:sldIdLst>
        </p14:section>
        <p14:section name="On-Policy Prediction" id="{C91BF2B2-F859-471B-849F-927606614870}">
          <p14:sldIdLst>
            <p14:sldId id="403"/>
            <p14:sldId id="482"/>
            <p14:sldId id="382"/>
          </p14:sldIdLst>
        </p14:section>
        <p14:section name="MC Control" id="{9082A117-CBDB-4A41-BA4A-590A11BC768B}">
          <p14:sldIdLst>
            <p14:sldId id="385"/>
            <p14:sldId id="387"/>
            <p14:sldId id="391"/>
            <p14:sldId id="386"/>
            <p14:sldId id="485"/>
            <p14:sldId id="388"/>
            <p14:sldId id="486"/>
            <p14:sldId id="390"/>
          </p14:sldIdLst>
        </p14:section>
        <p14:section name="On-Policy Control" id="{A03E4B76-6E41-4A94-9A11-DF9EDD4B8C64}">
          <p14:sldIdLst>
            <p14:sldId id="481"/>
            <p14:sldId id="394"/>
            <p14:sldId id="392"/>
            <p14:sldId id="393"/>
            <p14:sldId id="480"/>
          </p14:sldIdLst>
        </p14:section>
        <p14:section name="Off-policy Prediciton" id="{51E355B1-9A61-41B1-AD67-E45726DBD2A6}">
          <p14:sldIdLst>
            <p14:sldId id="404"/>
            <p14:sldId id="484"/>
            <p14:sldId id="483"/>
            <p14:sldId id="396"/>
            <p14:sldId id="397"/>
            <p14:sldId id="399"/>
            <p14:sldId id="398"/>
          </p14:sldIdLst>
        </p14:section>
        <p14:section name="Off-policy Control" id="{3F7EB257-6FD7-4E3A-86D7-23A72E6862AC}">
          <p14:sldIdLst>
            <p14:sldId id="405"/>
            <p14:sldId id="400"/>
            <p14:sldId id="401"/>
            <p14:sldId id="40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4599F94E-CEE6-441E-89CC-EB005ECD8F06}">
      <a14:m xmlns:a14="http://schemas.microsoft.com/office/drawing/2010/main">
        <m:mathPr xmlns:m="http://schemas.openxmlformats.org/officeDocument/2006/math">
          <m:brkBin m:val="before"/>
          <m:brkBinSub m:val="--"/>
        </m:mathPr>
      </a14:m>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lumMod val="80000"/>
            </a:schemeClr>
          </a:solidFill>
        </a:fill>
      </a:tcStyle>
    </a:lastCol>
    <a:firstCol>
      <a:tcTxStyle b="on">
        <a:fontRef idx="minor">
          <a:prstClr val="black"/>
        </a:fontRef>
        <a:schemeClr val="lt1"/>
      </a:tcTxStyle>
      <a:tcStyle>
        <a:tcBdr/>
        <a:fill>
          <a:solidFill>
            <a:schemeClr val="accent6">
              <a:lumMod val="80000"/>
            </a:schemeClr>
          </a:solidFill>
        </a:fill>
      </a:tcStyle>
    </a:firstCol>
    <a:lastRow>
      <a:tcTxStyle b="on">
        <a:fontRef idx="minor">
          <a:prstClr val="black"/>
        </a:fontRef>
        <a:schemeClr val="lt1"/>
      </a:tcTxStyle>
      <a:tcStyle>
        <a:tcBdr>
          <a:top>
            <a:ln w="38100" cmpd="sng">
              <a:solidFill>
                <a:schemeClr val="lt1"/>
              </a:solidFill>
            </a:ln>
          </a:top>
        </a:tcBdr>
        <a:fill>
          <a:solidFill>
            <a:schemeClr val="accent6">
              <a:lumMod val="80000"/>
            </a:schemeClr>
          </a:solidFill>
        </a:fill>
      </a:tcStyle>
    </a:lastRow>
    <a:firstRow>
      <a:tcTxStyle b="on">
        <a:fontRef idx="minor">
          <a:prstClr val="black"/>
        </a:fontRef>
        <a:schemeClr val="lt1"/>
      </a:tcTxStyle>
      <a:tcStyle>
        <a:tcBdr>
          <a:bottom>
            <a:ln w="38100" cmpd="sng">
              <a:solidFill>
                <a:schemeClr val="lt1"/>
              </a:solidFill>
            </a:ln>
          </a:bottom>
        </a:tcBdr>
        <a:fill>
          <a:solidFill>
            <a:schemeClr val="accent6">
              <a:lumMod val="8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059" autoAdjust="0"/>
    <p:restoredTop sz="94653"/>
  </p:normalViewPr>
  <p:slideViewPr>
    <p:cSldViewPr snapToGrid="0">
      <p:cViewPr varScale="1">
        <p:scale>
          <a:sx n="152" d="100"/>
          <a:sy n="152" d="100"/>
        </p:scale>
        <p:origin x="144" y="10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D5558-2701-D852-1A01-0BF39B58DE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0E150F4-19D6-3927-AF4C-79938CACB9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A1C3DC3-6BE4-4AD5-BF83-83DBE6741D39}"/>
              </a:ext>
            </a:extLst>
          </p:cNvPr>
          <p:cNvSpPr>
            <a:spLocks noGrp="1"/>
          </p:cNvSpPr>
          <p:nvPr>
            <p:ph type="dt" sz="half" idx="10"/>
          </p:nvPr>
        </p:nvSpPr>
        <p:spPr/>
        <p:txBody>
          <a:bodyPr/>
          <a:lstStyle/>
          <a:p>
            <a:fld id="{3E22BF2E-04DA-469E-97C5-BB68A0368813}" type="datetimeFigureOut">
              <a:rPr lang="en-US" smtClean="0"/>
              <a:t>10/23/2026</a:t>
            </a:fld>
            <a:endParaRPr lang="en-US"/>
          </a:p>
        </p:txBody>
      </p:sp>
      <p:sp>
        <p:nvSpPr>
          <p:cNvPr id="5" name="Footer Placeholder 4">
            <a:extLst>
              <a:ext uri="{FF2B5EF4-FFF2-40B4-BE49-F238E27FC236}">
                <a16:creationId xmlns:a16="http://schemas.microsoft.com/office/drawing/2014/main" id="{4BCD0FF9-FEE5-7DEA-F2A0-04CD3C8E9F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BCCB2C-BF64-0CEB-C138-EC1E0FF17963}"/>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077380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EA809-C199-A2CA-4B62-C11FD83604C0}"/>
              </a:ext>
            </a:extLst>
          </p:cNvPr>
          <p:cNvSpPr>
            <a:spLocks noGrp="1"/>
          </p:cNvSpPr>
          <p:nvPr>
            <p:ph type="title"/>
          </p:nvPr>
        </p:nvSpPr>
        <p:spPr>
          <a:xfrm>
            <a:off x="838200" y="365126"/>
            <a:ext cx="10515600" cy="75907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A9ABD398-BC57-413F-4426-6AE62DCF0FF4}"/>
              </a:ext>
            </a:extLst>
          </p:cNvPr>
          <p:cNvSpPr>
            <a:spLocks noGrp="1"/>
          </p:cNvSpPr>
          <p:nvPr>
            <p:ph idx="1"/>
          </p:nvPr>
        </p:nvSpPr>
        <p:spPr>
          <a:xfrm>
            <a:off x="838200" y="1397330"/>
            <a:ext cx="10515600" cy="477963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F009A95-DE70-5583-0BB6-25CA049AFAD6}"/>
              </a:ext>
            </a:extLst>
          </p:cNvPr>
          <p:cNvSpPr>
            <a:spLocks noGrp="1"/>
          </p:cNvSpPr>
          <p:nvPr>
            <p:ph type="dt" sz="half" idx="10"/>
          </p:nvPr>
        </p:nvSpPr>
        <p:spPr/>
        <p:txBody>
          <a:bodyPr/>
          <a:lstStyle/>
          <a:p>
            <a:fld id="{3E22BF2E-04DA-469E-97C5-BB68A0368813}" type="datetimeFigureOut">
              <a:rPr lang="en-US" smtClean="0"/>
              <a:t>10/23/2026</a:t>
            </a:fld>
            <a:endParaRPr lang="en-US"/>
          </a:p>
        </p:txBody>
      </p:sp>
      <p:sp>
        <p:nvSpPr>
          <p:cNvPr id="5" name="Footer Placeholder 4">
            <a:extLst>
              <a:ext uri="{FF2B5EF4-FFF2-40B4-BE49-F238E27FC236}">
                <a16:creationId xmlns:a16="http://schemas.microsoft.com/office/drawing/2014/main" id="{722F8C87-113F-3949-D291-E8101A072B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68CBE1-6776-590E-6A36-B274F6F6168A}"/>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427165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7B990-0C44-FE72-89C1-7BAFB2C892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1BF51AA-25F1-19ED-49F4-909710D8F4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6F3394-E947-7BBC-4B4E-FC222CF9E355}"/>
              </a:ext>
            </a:extLst>
          </p:cNvPr>
          <p:cNvSpPr>
            <a:spLocks noGrp="1"/>
          </p:cNvSpPr>
          <p:nvPr>
            <p:ph type="dt" sz="half" idx="10"/>
          </p:nvPr>
        </p:nvSpPr>
        <p:spPr/>
        <p:txBody>
          <a:bodyPr/>
          <a:lstStyle/>
          <a:p>
            <a:fld id="{3E22BF2E-04DA-469E-97C5-BB68A0368813}" type="datetimeFigureOut">
              <a:rPr lang="en-US" smtClean="0"/>
              <a:t>10/23/2026</a:t>
            </a:fld>
            <a:endParaRPr lang="en-US"/>
          </a:p>
        </p:txBody>
      </p:sp>
      <p:sp>
        <p:nvSpPr>
          <p:cNvPr id="5" name="Footer Placeholder 4">
            <a:extLst>
              <a:ext uri="{FF2B5EF4-FFF2-40B4-BE49-F238E27FC236}">
                <a16:creationId xmlns:a16="http://schemas.microsoft.com/office/drawing/2014/main" id="{D0090F51-989A-F265-1B59-526B06EC07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96400B-F255-95CF-8BD8-3D8AE595A270}"/>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558337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DC8DE-D8D3-04F9-7952-B3C9B444DE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5C6199-C068-6A1D-B9C6-37C04A922F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B26636-1E6C-5A66-DCE9-40F0239C9A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485DEA3-FC5C-77B6-8AEC-BF4A26C7605A}"/>
              </a:ext>
            </a:extLst>
          </p:cNvPr>
          <p:cNvSpPr>
            <a:spLocks noGrp="1"/>
          </p:cNvSpPr>
          <p:nvPr>
            <p:ph type="dt" sz="half" idx="10"/>
          </p:nvPr>
        </p:nvSpPr>
        <p:spPr/>
        <p:txBody>
          <a:bodyPr/>
          <a:lstStyle/>
          <a:p>
            <a:fld id="{3E22BF2E-04DA-469E-97C5-BB68A0368813}" type="datetimeFigureOut">
              <a:rPr lang="en-US" smtClean="0"/>
              <a:t>10/23/2026</a:t>
            </a:fld>
            <a:endParaRPr lang="en-US"/>
          </a:p>
        </p:txBody>
      </p:sp>
      <p:sp>
        <p:nvSpPr>
          <p:cNvPr id="6" name="Footer Placeholder 5">
            <a:extLst>
              <a:ext uri="{FF2B5EF4-FFF2-40B4-BE49-F238E27FC236}">
                <a16:creationId xmlns:a16="http://schemas.microsoft.com/office/drawing/2014/main" id="{50A2BAE8-516B-EE07-0EF8-4E37D353BE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1D7F8D-0B8A-CA54-C5D1-DAFB9A217260}"/>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1809535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7762D-C67C-6FB4-D8AF-A2AEADD0B2F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66F3E59-5CAF-AE52-066A-662EAF232F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294A81-151A-F8B5-9A7D-43577F3F69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BDED1E-7743-9D82-5A8F-215AF2DB83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E3FED4-7E43-512F-BDC2-AB5A6F6A96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CE71D6A-F625-133A-E751-2B967B94A668}"/>
              </a:ext>
            </a:extLst>
          </p:cNvPr>
          <p:cNvSpPr>
            <a:spLocks noGrp="1"/>
          </p:cNvSpPr>
          <p:nvPr>
            <p:ph type="dt" sz="half" idx="10"/>
          </p:nvPr>
        </p:nvSpPr>
        <p:spPr/>
        <p:txBody>
          <a:bodyPr/>
          <a:lstStyle/>
          <a:p>
            <a:fld id="{3E22BF2E-04DA-469E-97C5-BB68A0368813}" type="datetimeFigureOut">
              <a:rPr lang="en-US" smtClean="0"/>
              <a:t>10/23/2026</a:t>
            </a:fld>
            <a:endParaRPr lang="en-US"/>
          </a:p>
        </p:txBody>
      </p:sp>
      <p:sp>
        <p:nvSpPr>
          <p:cNvPr id="8" name="Footer Placeholder 7">
            <a:extLst>
              <a:ext uri="{FF2B5EF4-FFF2-40B4-BE49-F238E27FC236}">
                <a16:creationId xmlns:a16="http://schemas.microsoft.com/office/drawing/2014/main" id="{33256629-E601-1BA5-526C-36960EEBE0E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665DDDF-B6D4-29FB-6B7F-C7017B4EABAD}"/>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495717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2B25A-3F20-51F4-D136-F73B176833C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FF8609-CAA0-6678-FCA9-C0252974D715}"/>
              </a:ext>
            </a:extLst>
          </p:cNvPr>
          <p:cNvSpPr>
            <a:spLocks noGrp="1"/>
          </p:cNvSpPr>
          <p:nvPr>
            <p:ph type="dt" sz="half" idx="10"/>
          </p:nvPr>
        </p:nvSpPr>
        <p:spPr/>
        <p:txBody>
          <a:bodyPr/>
          <a:lstStyle/>
          <a:p>
            <a:fld id="{3E22BF2E-04DA-469E-97C5-BB68A0368813}" type="datetimeFigureOut">
              <a:rPr lang="en-US" smtClean="0"/>
              <a:t>10/23/2026</a:t>
            </a:fld>
            <a:endParaRPr lang="en-US"/>
          </a:p>
        </p:txBody>
      </p:sp>
      <p:sp>
        <p:nvSpPr>
          <p:cNvPr id="4" name="Footer Placeholder 3">
            <a:extLst>
              <a:ext uri="{FF2B5EF4-FFF2-40B4-BE49-F238E27FC236}">
                <a16:creationId xmlns:a16="http://schemas.microsoft.com/office/drawing/2014/main" id="{E911A081-E4EB-7E96-A0AA-2E4D490998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DD0AC27-1467-337C-D636-190385E3976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957317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C8C3DB-E47E-C122-D7BD-AAAC105B291A}"/>
              </a:ext>
            </a:extLst>
          </p:cNvPr>
          <p:cNvSpPr>
            <a:spLocks noGrp="1"/>
          </p:cNvSpPr>
          <p:nvPr>
            <p:ph type="dt" sz="half" idx="10"/>
          </p:nvPr>
        </p:nvSpPr>
        <p:spPr/>
        <p:txBody>
          <a:bodyPr/>
          <a:lstStyle/>
          <a:p>
            <a:fld id="{3E22BF2E-04DA-469E-97C5-BB68A0368813}" type="datetimeFigureOut">
              <a:rPr lang="en-US" smtClean="0"/>
              <a:t>10/23/2026</a:t>
            </a:fld>
            <a:endParaRPr lang="en-US"/>
          </a:p>
        </p:txBody>
      </p:sp>
      <p:sp>
        <p:nvSpPr>
          <p:cNvPr id="3" name="Footer Placeholder 2">
            <a:extLst>
              <a:ext uri="{FF2B5EF4-FFF2-40B4-BE49-F238E27FC236}">
                <a16:creationId xmlns:a16="http://schemas.microsoft.com/office/drawing/2014/main" id="{12194795-A7C6-B915-9849-6DDF9E5561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BBD6E5-D6AC-7828-B9FA-162561BDB702}"/>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87587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DDA5E-FB2F-65E3-9AC6-77E9E333A2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EF88CA7-EDCF-7BC9-0D50-5F550487A7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7F96387-78E1-111C-2860-3620802599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A170FC-BF4D-52B4-3D96-975E35B67EE0}"/>
              </a:ext>
            </a:extLst>
          </p:cNvPr>
          <p:cNvSpPr>
            <a:spLocks noGrp="1"/>
          </p:cNvSpPr>
          <p:nvPr>
            <p:ph type="dt" sz="half" idx="10"/>
          </p:nvPr>
        </p:nvSpPr>
        <p:spPr/>
        <p:txBody>
          <a:bodyPr/>
          <a:lstStyle/>
          <a:p>
            <a:fld id="{3E22BF2E-04DA-469E-97C5-BB68A0368813}" type="datetimeFigureOut">
              <a:rPr lang="en-US" smtClean="0"/>
              <a:t>10/23/2026</a:t>
            </a:fld>
            <a:endParaRPr lang="en-US"/>
          </a:p>
        </p:txBody>
      </p:sp>
      <p:sp>
        <p:nvSpPr>
          <p:cNvPr id="6" name="Footer Placeholder 5">
            <a:extLst>
              <a:ext uri="{FF2B5EF4-FFF2-40B4-BE49-F238E27FC236}">
                <a16:creationId xmlns:a16="http://schemas.microsoft.com/office/drawing/2014/main" id="{13EB24C2-CDEC-1D6D-42DB-F885EAF6C2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ACA044-7F46-1F0F-A966-A66706F2D13F}"/>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743192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92354-EE3F-C81F-2C98-42CA24F042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B37B54A-0E38-1C0F-EA90-8D9A628CC2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DF9108-1890-E2BF-7EA2-A2F28DEA6C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668F02-6193-91DC-69E0-6CC09A2476EE}"/>
              </a:ext>
            </a:extLst>
          </p:cNvPr>
          <p:cNvSpPr>
            <a:spLocks noGrp="1"/>
          </p:cNvSpPr>
          <p:nvPr>
            <p:ph type="dt" sz="half" idx="10"/>
          </p:nvPr>
        </p:nvSpPr>
        <p:spPr/>
        <p:txBody>
          <a:bodyPr/>
          <a:lstStyle/>
          <a:p>
            <a:fld id="{3E22BF2E-04DA-469E-97C5-BB68A0368813}" type="datetimeFigureOut">
              <a:rPr lang="en-US" smtClean="0"/>
              <a:t>10/23/2026</a:t>
            </a:fld>
            <a:endParaRPr lang="en-US"/>
          </a:p>
        </p:txBody>
      </p:sp>
      <p:sp>
        <p:nvSpPr>
          <p:cNvPr id="6" name="Footer Placeholder 5">
            <a:extLst>
              <a:ext uri="{FF2B5EF4-FFF2-40B4-BE49-F238E27FC236}">
                <a16:creationId xmlns:a16="http://schemas.microsoft.com/office/drawing/2014/main" id="{2534B642-5606-ACB8-4ADF-6DDE8BE4B5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89560E-8858-1CED-6B2E-1EF0F58F2FAF}"/>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94757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BA8BF-0F66-F00E-4527-03CBDE1E6F7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48F7C1-32BC-0F71-0130-0DFB9C183A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59C7E0-3252-37DB-73A7-7F070748FFEC}"/>
              </a:ext>
            </a:extLst>
          </p:cNvPr>
          <p:cNvSpPr>
            <a:spLocks noGrp="1"/>
          </p:cNvSpPr>
          <p:nvPr>
            <p:ph type="dt" sz="half" idx="10"/>
          </p:nvPr>
        </p:nvSpPr>
        <p:spPr/>
        <p:txBody>
          <a:bodyPr/>
          <a:lstStyle/>
          <a:p>
            <a:fld id="{3E22BF2E-04DA-469E-97C5-BB68A0368813}" type="datetimeFigureOut">
              <a:rPr lang="en-US" smtClean="0"/>
              <a:t>10/23/2026</a:t>
            </a:fld>
            <a:endParaRPr lang="en-US"/>
          </a:p>
        </p:txBody>
      </p:sp>
      <p:sp>
        <p:nvSpPr>
          <p:cNvPr id="5" name="Footer Placeholder 4">
            <a:extLst>
              <a:ext uri="{FF2B5EF4-FFF2-40B4-BE49-F238E27FC236}">
                <a16:creationId xmlns:a16="http://schemas.microsoft.com/office/drawing/2014/main" id="{A676C5EE-EAD9-8D18-3741-930600D3BD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5647D8-342D-AED5-3763-DD02F7C2A43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650844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D0B639-7A1F-68FA-45DD-3196E2CB572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CF4F1BB-B40D-E6E4-111B-122348C261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52DAFD-560D-9508-6F31-281EC974361A}"/>
              </a:ext>
            </a:extLst>
          </p:cNvPr>
          <p:cNvSpPr>
            <a:spLocks noGrp="1"/>
          </p:cNvSpPr>
          <p:nvPr>
            <p:ph type="dt" sz="half" idx="10"/>
          </p:nvPr>
        </p:nvSpPr>
        <p:spPr/>
        <p:txBody>
          <a:bodyPr/>
          <a:lstStyle/>
          <a:p>
            <a:fld id="{3E22BF2E-04DA-469E-97C5-BB68A0368813}" type="datetimeFigureOut">
              <a:rPr lang="en-US" smtClean="0"/>
              <a:t>10/23/2026</a:t>
            </a:fld>
            <a:endParaRPr lang="en-US"/>
          </a:p>
        </p:txBody>
      </p:sp>
      <p:sp>
        <p:nvSpPr>
          <p:cNvPr id="5" name="Footer Placeholder 4">
            <a:extLst>
              <a:ext uri="{FF2B5EF4-FFF2-40B4-BE49-F238E27FC236}">
                <a16:creationId xmlns:a16="http://schemas.microsoft.com/office/drawing/2014/main" id="{F90C6320-E161-CE4A-CBDD-27072D2A15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4C3E81-2AD2-5FBE-B6F5-1512F3AF971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70580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946CF1-7E31-D1FD-63E0-29688510ED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499997-F7F8-3FB5-F294-092654769C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FEC26E-B485-AE94-5C91-D0E504CEB5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22BF2E-04DA-469E-97C5-BB68A0368813}" type="datetimeFigureOut">
              <a:rPr lang="en-US" smtClean="0"/>
              <a:t>10/23/2026</a:t>
            </a:fld>
            <a:endParaRPr lang="en-US"/>
          </a:p>
        </p:txBody>
      </p:sp>
      <p:sp>
        <p:nvSpPr>
          <p:cNvPr id="5" name="Footer Placeholder 4">
            <a:extLst>
              <a:ext uri="{FF2B5EF4-FFF2-40B4-BE49-F238E27FC236}">
                <a16:creationId xmlns:a16="http://schemas.microsoft.com/office/drawing/2014/main" id="{4A3ECD47-D4F5-A47B-6CA1-E8E47C1C43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9C8C2B9-7B85-792D-492E-EE9D50875A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362146-1680-4254-AA84-26EEDD41027B}" type="slidenum">
              <a:rPr lang="en-US" smtClean="0"/>
              <a:t>‹#›</a:t>
            </a:fld>
            <a:endParaRPr lang="en-US"/>
          </a:p>
        </p:txBody>
      </p:sp>
    </p:spTree>
    <p:extLst>
      <p:ext uri="{BB962C8B-B14F-4D97-AF65-F5344CB8AC3E}">
        <p14:creationId xmlns:p14="http://schemas.microsoft.com/office/powerpoint/2010/main" val="9587391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hyperlink" Target="https://creativecommons.org/licenses/by-nc-sa/4.0/"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4.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8.png"/><Relationship Id="rId7" Type="http://schemas.openxmlformats.org/officeDocument/2006/relationships/image" Target="../media/image80.png"/><Relationship Id="rId2"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image" Target="../media/image81.png"/><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30.png"/><Relationship Id="rId1" Type="http://schemas.openxmlformats.org/officeDocument/2006/relationships/slideLayout" Target="../slideLayouts/slideLayout2.xml"/><Relationship Id="rId4" Type="http://schemas.openxmlformats.org/officeDocument/2006/relationships/image" Target="../media/image1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hyperlink" Target="https://michael.hahsler.net/Introduction_to_Reinforcement_Learning/" TargetMode="Externa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0.png"/><Relationship Id="rId7"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5.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34.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2B02EEF-8413-288E-566D-063A066A6CBC}"/>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377" r="23298" b="3714"/>
          <a:stretch>
            <a:fillRect/>
          </a:stretch>
        </p:blipFill>
        <p:spPr bwMode="auto">
          <a:xfrm>
            <a:off x="3523488"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51EE42B-57B4-EB74-A37C-6675858E7D29}"/>
              </a:ext>
            </a:extLst>
          </p:cNvPr>
          <p:cNvSpPr>
            <a:spLocks noGrp="1"/>
          </p:cNvSpPr>
          <p:nvPr>
            <p:ph type="ctrTitle"/>
          </p:nvPr>
        </p:nvSpPr>
        <p:spPr>
          <a:xfrm>
            <a:off x="477981" y="1122363"/>
            <a:ext cx="4463968" cy="3204134"/>
          </a:xfrm>
        </p:spPr>
        <p:txBody>
          <a:bodyPr anchor="b">
            <a:normAutofit fontScale="90000"/>
          </a:bodyPr>
          <a:lstStyle/>
          <a:p>
            <a:pPr algn="l"/>
            <a:r>
              <a:rPr lang="en-US" sz="4800" dirty="0">
                <a:solidFill>
                  <a:schemeClr val="bg1"/>
                </a:solidFill>
              </a:rPr>
              <a:t>Reinforcement Learning</a:t>
            </a:r>
            <a:br>
              <a:rPr lang="en-US" sz="4800" dirty="0">
                <a:solidFill>
                  <a:schemeClr val="bg1"/>
                </a:solidFill>
              </a:rPr>
            </a:br>
            <a:br>
              <a:rPr lang="en-US" sz="4800" dirty="0">
                <a:solidFill>
                  <a:schemeClr val="bg1"/>
                </a:solidFill>
              </a:rPr>
            </a:br>
            <a:r>
              <a:rPr lang="en-US" sz="4000" dirty="0">
                <a:solidFill>
                  <a:schemeClr val="bg1"/>
                </a:solidFill>
              </a:rPr>
              <a:t>Monte Carlo Methods</a:t>
            </a:r>
            <a:br>
              <a:rPr lang="en-US" sz="4000" dirty="0">
                <a:solidFill>
                  <a:schemeClr val="bg1"/>
                </a:solidFill>
              </a:rPr>
            </a:br>
            <a:r>
              <a:rPr lang="en-US" sz="2800" dirty="0">
                <a:solidFill>
                  <a:schemeClr val="bg1"/>
                </a:solidFill>
              </a:rPr>
              <a:t>Sutton/Barto*</a:t>
            </a:r>
            <a:r>
              <a:rPr lang="en-US" sz="2700" dirty="0">
                <a:solidFill>
                  <a:schemeClr val="bg1"/>
                </a:solidFill>
              </a:rPr>
              <a:t> Chapter 5</a:t>
            </a:r>
          </a:p>
        </p:txBody>
      </p:sp>
      <p:sp>
        <p:nvSpPr>
          <p:cNvPr id="14"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7" name="Picture 6">
            <a:extLst>
              <a:ext uri="{FF2B5EF4-FFF2-40B4-BE49-F238E27FC236}">
                <a16:creationId xmlns:a16="http://schemas.microsoft.com/office/drawing/2014/main" id="{8AD28C7D-14A3-CFEB-3DEC-2E01272844F2}"/>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3656" y="198362"/>
            <a:ext cx="4182403" cy="1000945"/>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ubtitle 2">
            <a:extLst>
              <a:ext uri="{FF2B5EF4-FFF2-40B4-BE49-F238E27FC236}">
                <a16:creationId xmlns:a16="http://schemas.microsoft.com/office/drawing/2014/main" id="{7FFF10C2-8C10-0E89-D285-D614C36EEE69}"/>
              </a:ext>
              <a:ext uri="{C183D7F6-B498-43B3-948B-1728B52AA6E4}">
                <adec:decorative xmlns:adec="http://schemas.microsoft.com/office/drawing/2017/decorative" val="1"/>
              </a:ext>
            </a:extLst>
          </p:cNvPr>
          <p:cNvSpPr>
            <a:spLocks noGrp="1"/>
          </p:cNvSpPr>
          <p:nvPr>
            <p:ph type="subTitle" idx="1"/>
          </p:nvPr>
        </p:nvSpPr>
        <p:spPr>
          <a:xfrm>
            <a:off x="477982" y="4868822"/>
            <a:ext cx="4169519" cy="1443894"/>
          </a:xfrm>
        </p:spPr>
        <p:txBody>
          <a:bodyPr>
            <a:normAutofit fontScale="92500"/>
          </a:bodyPr>
          <a:lstStyle/>
          <a:p>
            <a:pPr algn="l"/>
            <a:r>
              <a:rPr lang="en-US" sz="1700" dirty="0">
                <a:solidFill>
                  <a:schemeClr val="bg1"/>
                </a:solidFill>
              </a:rPr>
              <a:t>Michael Hahsler, SMU</a:t>
            </a:r>
          </a:p>
          <a:p>
            <a:pPr algn="l"/>
            <a:r>
              <a:rPr lang="en-US" sz="1300" dirty="0">
                <a:solidFill>
                  <a:schemeClr val="bg1"/>
                </a:solidFill>
              </a:rPr>
              <a:t>With figures from Sutton/Barto*</a:t>
            </a:r>
          </a:p>
          <a:p>
            <a:pPr algn="l"/>
            <a:endParaRPr lang="en-US" sz="1300" dirty="0">
              <a:solidFill>
                <a:schemeClr val="bg1"/>
              </a:solidFill>
            </a:endParaRPr>
          </a:p>
          <a:p>
            <a:pPr algn="l"/>
            <a:r>
              <a:rPr lang="en-US" sz="1300" dirty="0">
                <a:solidFill>
                  <a:schemeClr val="bg1"/>
                </a:solidFill>
              </a:rPr>
              <a:t>*Sutton and Barto, Reinforcement Learning: An Introduction, 2</a:t>
            </a:r>
            <a:r>
              <a:rPr lang="en-US" sz="1300" baseline="30000" dirty="0">
                <a:solidFill>
                  <a:schemeClr val="bg1"/>
                </a:solidFill>
              </a:rPr>
              <a:t>nd</a:t>
            </a:r>
            <a:r>
              <a:rPr lang="en-US" sz="1300" dirty="0">
                <a:solidFill>
                  <a:schemeClr val="bg1"/>
                </a:solidFill>
              </a:rPr>
              <a:t> edition, MIT Press, Cambridge, MA, 2018</a:t>
            </a:r>
          </a:p>
        </p:txBody>
      </p:sp>
      <p:grpSp>
        <p:nvGrpSpPr>
          <p:cNvPr id="6" name="Group 5">
            <a:extLst>
              <a:ext uri="{FF2B5EF4-FFF2-40B4-BE49-F238E27FC236}">
                <a16:creationId xmlns:a16="http://schemas.microsoft.com/office/drawing/2014/main" id="{DA1C6744-BD97-2C10-F393-A0B726F71E7A}"/>
              </a:ext>
              <a:ext uri="{C183D7F6-B498-43B3-948B-1728B52AA6E4}">
                <adec:decorative xmlns:adec="http://schemas.microsoft.com/office/drawing/2017/decorative" val="1"/>
              </a:ext>
            </a:extLst>
          </p:cNvPr>
          <p:cNvGrpSpPr/>
          <p:nvPr/>
        </p:nvGrpSpPr>
        <p:grpSpPr>
          <a:xfrm>
            <a:off x="10961016" y="4868822"/>
            <a:ext cx="1037459" cy="1303078"/>
            <a:chOff x="5248582" y="2401735"/>
            <a:chExt cx="1694835" cy="2054530"/>
          </a:xfrm>
        </p:grpSpPr>
        <p:pic>
          <p:nvPicPr>
            <p:cNvPr id="8" name="Picture 7">
              <a:extLst>
                <a:ext uri="{FF2B5EF4-FFF2-40B4-BE49-F238E27FC236}">
                  <a16:creationId xmlns:a16="http://schemas.microsoft.com/office/drawing/2014/main" id="{2F5FC233-1ACF-0EE9-5B1F-F0A29270EECF}"/>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248582" y="2401735"/>
              <a:ext cx="1694835" cy="2054530"/>
            </a:xfrm>
            <a:prstGeom prst="rect">
              <a:avLst/>
            </a:prstGeom>
          </p:spPr>
        </p:pic>
        <p:pic>
          <p:nvPicPr>
            <p:cNvPr id="9" name="Picture 8" descr="QR code linking to the online course material.">
              <a:extLst>
                <a:ext uri="{FF2B5EF4-FFF2-40B4-BE49-F238E27FC236}">
                  <a16:creationId xmlns:a16="http://schemas.microsoft.com/office/drawing/2014/main" id="{26CB3135-CE78-1137-FBA3-29AA8592D8FA}"/>
                </a:ext>
              </a:extLst>
            </p:cNvPr>
            <p:cNvPicPr>
              <a:picLocks noChangeAspect="1"/>
            </p:cNvPicPr>
            <p:nvPr/>
          </p:nvPicPr>
          <p:blipFill>
            <a:blip r:embed="rId5"/>
            <a:stretch>
              <a:fillRect/>
            </a:stretch>
          </p:blipFill>
          <p:spPr>
            <a:xfrm>
              <a:off x="5315643" y="2435129"/>
              <a:ext cx="1560711" cy="1560711"/>
            </a:xfrm>
            <a:prstGeom prst="rect">
              <a:avLst/>
            </a:prstGeom>
          </p:spPr>
        </p:pic>
      </p:grpSp>
      <p:pic>
        <p:nvPicPr>
          <p:cNvPr id="4" name="object 23">
            <a:hlinkClick r:id="rId6"/>
            <a:extLst>
              <a:ext uri="{FF2B5EF4-FFF2-40B4-BE49-F238E27FC236}">
                <a16:creationId xmlns:a16="http://schemas.microsoft.com/office/drawing/2014/main" id="{3CBD6548-3D4E-9A40-CA35-355261D4E92C}"/>
              </a:ext>
              <a:ext uri="{C183D7F6-B498-43B3-948B-1728B52AA6E4}">
                <adec:decorative xmlns:adec="http://schemas.microsoft.com/office/drawing/2017/decorative" val="1"/>
              </a:ext>
            </a:extLst>
          </p:cNvPr>
          <p:cNvPicPr/>
          <p:nvPr/>
        </p:nvPicPr>
        <p:blipFill>
          <a:blip r:embed="rId7" cstate="print"/>
          <a:stretch>
            <a:fillRect/>
          </a:stretch>
        </p:blipFill>
        <p:spPr>
          <a:xfrm>
            <a:off x="10961016" y="6265038"/>
            <a:ext cx="1037459" cy="383579"/>
          </a:xfrm>
          <a:prstGeom prst="rect">
            <a:avLst/>
          </a:prstGeom>
        </p:spPr>
      </p:pic>
    </p:spTree>
    <p:extLst>
      <p:ext uri="{BB962C8B-B14F-4D97-AF65-F5344CB8AC3E}">
        <p14:creationId xmlns:p14="http://schemas.microsoft.com/office/powerpoint/2010/main" val="38527529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A3493-2ED6-DF09-F569-7F3DCA81AB18}"/>
              </a:ext>
            </a:extLst>
          </p:cNvPr>
          <p:cNvSpPr>
            <a:spLocks noGrp="1"/>
          </p:cNvSpPr>
          <p:nvPr>
            <p:ph type="title"/>
          </p:nvPr>
        </p:nvSpPr>
        <p:spPr/>
        <p:txBody>
          <a:bodyPr/>
          <a:lstStyle/>
          <a:p>
            <a:r>
              <a:rPr lang="en-US" dirty="0"/>
              <a:t>Topics of this Course</a:t>
            </a:r>
          </a:p>
        </p:txBody>
      </p:sp>
      <p:sp>
        <p:nvSpPr>
          <p:cNvPr id="3" name="Content Placeholder 2">
            <a:extLst>
              <a:ext uri="{FF2B5EF4-FFF2-40B4-BE49-F238E27FC236}">
                <a16:creationId xmlns:a16="http://schemas.microsoft.com/office/drawing/2014/main" id="{8F95E019-92A5-79AC-D777-59B4926F61AA}"/>
              </a:ext>
            </a:extLst>
          </p:cNvPr>
          <p:cNvSpPr>
            <a:spLocks noGrp="1"/>
          </p:cNvSpPr>
          <p:nvPr>
            <p:ph idx="1"/>
          </p:nvPr>
        </p:nvSpPr>
        <p:spPr/>
        <p:txBody>
          <a:bodyPr>
            <a:normAutofit fontScale="85000" lnSpcReduction="20000"/>
          </a:bodyPr>
          <a:lstStyle/>
          <a:p>
            <a:r>
              <a:rPr lang="en-US" dirty="0"/>
              <a:t>Introduction to reinforcement learning</a:t>
            </a:r>
          </a:p>
          <a:p>
            <a:r>
              <a:rPr lang="en-US" dirty="0"/>
              <a:t>Markov decision processes</a:t>
            </a:r>
          </a:p>
          <a:p>
            <a:r>
              <a:rPr lang="en-US" b="1" dirty="0"/>
              <a:t>Part I: Tabular Methods</a:t>
            </a:r>
          </a:p>
          <a:p>
            <a:pPr lvl="1"/>
            <a:r>
              <a:rPr lang="en-US" dirty="0"/>
              <a:t>Dynamic programming</a:t>
            </a:r>
          </a:p>
          <a:p>
            <a:pPr lvl="1"/>
            <a:r>
              <a:rPr lang="en-US" b="1" dirty="0"/>
              <a:t>Monte Carlo methods</a:t>
            </a:r>
          </a:p>
          <a:p>
            <a:pPr lvl="1"/>
            <a:r>
              <a:rPr lang="en-US" dirty="0"/>
              <a:t>Temporal-difference learning</a:t>
            </a:r>
          </a:p>
          <a:p>
            <a:pPr lvl="1"/>
            <a:r>
              <a:rPr lang="en-US" dirty="0"/>
              <a:t>Multi-step bootstrapping</a:t>
            </a:r>
          </a:p>
          <a:p>
            <a:pPr lvl="1"/>
            <a:r>
              <a:rPr lang="en-US" dirty="0"/>
              <a:t>Planning and learning with tabular methods</a:t>
            </a:r>
          </a:p>
          <a:p>
            <a:r>
              <a:rPr lang="en-US" dirty="0"/>
              <a:t>Part II: Approximate Solution Methods</a:t>
            </a:r>
          </a:p>
          <a:p>
            <a:pPr lvl="1"/>
            <a:r>
              <a:rPr lang="en-US" dirty="0"/>
              <a:t>Prediction and Control using Approximation</a:t>
            </a:r>
          </a:p>
          <a:p>
            <a:pPr lvl="1"/>
            <a:r>
              <a:rPr lang="en-US" dirty="0"/>
              <a:t>Eligibility Traces</a:t>
            </a:r>
          </a:p>
          <a:p>
            <a:pPr lvl="1"/>
            <a:r>
              <a:rPr lang="en-US" dirty="0"/>
              <a:t>Policy Gradient Methods</a:t>
            </a:r>
          </a:p>
          <a:p>
            <a:r>
              <a:rPr lang="en-US" dirty="0"/>
              <a:t>Part III: Modern RL Methods</a:t>
            </a:r>
          </a:p>
          <a:p>
            <a:pPr lvl="1"/>
            <a:r>
              <a:rPr lang="en-US" dirty="0"/>
              <a:t>Deep Reinforcement Learning</a:t>
            </a:r>
          </a:p>
          <a:p>
            <a:pPr lvl="1"/>
            <a:r>
              <a:rPr lang="en-US" dirty="0"/>
              <a:t>Current Applications</a:t>
            </a:r>
          </a:p>
        </p:txBody>
      </p:sp>
    </p:spTree>
    <p:extLst>
      <p:ext uri="{BB962C8B-B14F-4D97-AF65-F5344CB8AC3E}">
        <p14:creationId xmlns:p14="http://schemas.microsoft.com/office/powerpoint/2010/main" val="3653367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4E1A2-75E3-3C9C-6C10-EE078C5AD54A}"/>
              </a:ext>
            </a:extLst>
          </p:cNvPr>
          <p:cNvSpPr>
            <a:spLocks noGrp="1"/>
          </p:cNvSpPr>
          <p:nvPr>
            <p:ph type="title"/>
          </p:nvPr>
        </p:nvSpPr>
        <p:spPr/>
        <p:txBody>
          <a:bodyPr/>
          <a:lstStyle/>
          <a:p>
            <a:r>
              <a:rPr lang="en-US" dirty="0"/>
              <a:t>Summary of Notation</a:t>
            </a:r>
          </a:p>
        </p:txBody>
      </p:sp>
      <mc:AlternateContent xmlns:mc="http://schemas.openxmlformats.org/markup-compatibility/2006" xmlns:a14="http://schemas.microsoft.com/office/drawing/2010/main">
        <mc:Choice Requires="a14">
          <p:sp>
            <p:nvSpPr>
              <p:cNvPr id="10" name="TextBox 9" descr="General. X capital letters: random variables x, p lower-case letters: realizations of random variables or scalar functions. w Bold lower-case letters: real-valued vectors (even if random variables). W bold capitals: matrices. alpha Greek letters: parameters (vectors if in bolt). Pr{X equals x} probability that a random variable X takes on the value x. X~p random variable X selected from distribution p (x) equals Pr{X equals x}. E[X] expectation of a random variable X, i.e., E [X] equals the sum over x, of p (x) x. argmax sub a f(a) a value of action a at which f(a) takes its maximal value">
                <a:extLst>
                  <a:ext uri="{FF2B5EF4-FFF2-40B4-BE49-F238E27FC236}">
                    <a16:creationId xmlns:a16="http://schemas.microsoft.com/office/drawing/2014/main" id="{5CD475E5-BE3B-5594-57DC-46A17411F2F9}"/>
                  </a:ext>
                </a:extLst>
              </p:cNvPr>
              <p:cNvSpPr txBox="1"/>
              <p:nvPr/>
            </p:nvSpPr>
            <p:spPr>
              <a:xfrm>
                <a:off x="822820" y="1124198"/>
                <a:ext cx="5273179" cy="230832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200" b="1" dirty="0"/>
                  <a:t>General</a:t>
                </a:r>
                <a:endParaRPr lang="en-US" sz="1200" dirty="0"/>
              </a:p>
              <a:p>
                <a14:m>
                  <m:oMath xmlns:m="http://schemas.openxmlformats.org/officeDocument/2006/math">
                    <m:r>
                      <a:rPr lang="en-US" sz="1200" i="1" dirty="0" smtClean="0">
                        <a:latin typeface="Cambria Math" panose="02040503050406030204" pitchFamily="18" charset="0"/>
                      </a:rPr>
                      <m:t>𝑋</m:t>
                    </m:r>
                  </m:oMath>
                </a14:m>
                <a:r>
                  <a:rPr lang="en-US" sz="1200" dirty="0"/>
                  <a:t>	capital letters: random variables</a:t>
                </a:r>
                <a:br>
                  <a:rPr lang="en-US" sz="1200" dirty="0"/>
                </a:br>
                <a14:m>
                  <m:oMath xmlns:m="http://schemas.openxmlformats.org/officeDocument/2006/math">
                    <m:r>
                      <a:rPr lang="en-US" sz="1200" b="0" i="1" smtClean="0">
                        <a:latin typeface="Cambria Math" panose="02040503050406030204" pitchFamily="18" charset="0"/>
                      </a:rPr>
                      <m:t>𝑥</m:t>
                    </m:r>
                    <m:r>
                      <a:rPr lang="en-US" sz="1200" b="0" i="0" smtClean="0">
                        <a:latin typeface="Cambria Math" panose="02040503050406030204" pitchFamily="18" charset="0"/>
                      </a:rPr>
                      <m:t>, </m:t>
                    </m:r>
                    <m:r>
                      <a:rPr lang="en-US" sz="1200" b="0" i="1" smtClean="0">
                        <a:latin typeface="Cambria Math" panose="02040503050406030204" pitchFamily="18" charset="0"/>
                      </a:rPr>
                      <m:t>𝑝</m:t>
                    </m:r>
                  </m:oMath>
                </a14:m>
                <a:r>
                  <a:rPr lang="en-US" sz="1200" dirty="0"/>
                  <a:t>	lower-case letters: realizations of random variables </a:t>
                </a:r>
                <a:br>
                  <a:rPr lang="en-US" sz="1200" dirty="0"/>
                </a:br>
                <a:r>
                  <a:rPr lang="en-US" sz="1200" dirty="0"/>
                  <a:t>	or scalar functions</a:t>
                </a:r>
              </a:p>
              <a:p>
                <a14:m>
                  <m:oMath xmlns:m="http://schemas.openxmlformats.org/officeDocument/2006/math">
                    <m:r>
                      <a:rPr lang="en-US" sz="1200" b="1" i="1" smtClean="0">
                        <a:latin typeface="Cambria Math" panose="02040503050406030204" pitchFamily="18" charset="0"/>
                      </a:rPr>
                      <m:t>𝒘</m:t>
                    </m:r>
                  </m:oMath>
                </a14:m>
                <a:r>
                  <a:rPr lang="en-US" sz="1200" dirty="0"/>
                  <a:t> 	Bold lower-case letters: real-valued vectors </a:t>
                </a:r>
                <a:br>
                  <a:rPr lang="en-US" sz="1200" dirty="0"/>
                </a:br>
                <a:r>
                  <a:rPr lang="en-US" sz="1200" dirty="0"/>
                  <a:t>	(even if random variables)</a:t>
                </a:r>
              </a:p>
              <a:p>
                <a14:m>
                  <m:oMath xmlns:m="http://schemas.openxmlformats.org/officeDocument/2006/math">
                    <m:r>
                      <a:rPr lang="en-US" sz="1200" b="1" i="1" smtClean="0">
                        <a:latin typeface="Cambria Math" panose="02040503050406030204" pitchFamily="18" charset="0"/>
                      </a:rPr>
                      <m:t>𝑾</m:t>
                    </m:r>
                  </m:oMath>
                </a14:m>
                <a:r>
                  <a:rPr lang="en-US" sz="1200" dirty="0"/>
                  <a:t>	bold capitals: matrices</a:t>
                </a:r>
              </a:p>
              <a:p>
                <a14:m>
                  <m:oMath xmlns:m="http://schemas.openxmlformats.org/officeDocument/2006/math">
                    <m:r>
                      <a:rPr lang="en-US" sz="1200" b="0" i="1" smtClean="0">
                        <a:latin typeface="Cambria Math" panose="02040503050406030204" pitchFamily="18" charset="0"/>
                      </a:rPr>
                      <m:t>𝛼</m:t>
                    </m:r>
                  </m:oMath>
                </a14:m>
                <a:r>
                  <a:rPr lang="en-US" sz="1200" dirty="0"/>
                  <a:t>	Greek letters: parameters (vectors if in bolt)</a:t>
                </a:r>
              </a:p>
              <a:p>
                <a14:m>
                  <m:oMath xmlns:m="http://schemas.openxmlformats.org/officeDocument/2006/math">
                    <m:r>
                      <m:rPr>
                        <m:sty m:val="p"/>
                      </m:rPr>
                      <a:rPr lang="en-US" sz="1200" i="1" dirty="0">
                        <a:latin typeface="Cambria Math" panose="02040503050406030204" pitchFamily="18" charset="0"/>
                      </a:rPr>
                      <m:t>Pr</m:t>
                    </m:r>
                    <m:r>
                      <a:rPr lang="en-US" sz="1200" i="1" dirty="0">
                        <a:latin typeface="Cambria Math" panose="02040503050406030204" pitchFamily="18" charset="0"/>
                      </a:rPr>
                      <m:t>⁡{</m:t>
                    </m:r>
                    <m:r>
                      <a:rPr lang="en-US" sz="1200" i="1" dirty="0">
                        <a:latin typeface="Cambria Math" panose="02040503050406030204" pitchFamily="18" charset="0"/>
                      </a:rPr>
                      <m:t>𝑋</m:t>
                    </m:r>
                    <m:r>
                      <a:rPr lang="en-US" sz="1200" i="1" dirty="0">
                        <a:latin typeface="Cambria Math" panose="02040503050406030204" pitchFamily="18" charset="0"/>
                      </a:rPr>
                      <m:t>=</m:t>
                    </m:r>
                    <m:r>
                      <a:rPr lang="en-US" sz="1200" i="1" dirty="0">
                        <a:latin typeface="Cambria Math" panose="02040503050406030204" pitchFamily="18" charset="0"/>
                      </a:rPr>
                      <m:t>𝑥</m:t>
                    </m:r>
                    <m:r>
                      <a:rPr lang="en-US" sz="1200" i="1" dirty="0">
                        <a:latin typeface="Cambria Math" panose="02040503050406030204" pitchFamily="18" charset="0"/>
                      </a:rPr>
                      <m:t>}</m:t>
                    </m:r>
                  </m:oMath>
                </a14:m>
                <a:r>
                  <a:rPr lang="en-US" sz="1200" dirty="0"/>
                  <a:t>	probability that a random variable </a:t>
                </a:r>
                <a14:m>
                  <m:oMath xmlns:m="http://schemas.openxmlformats.org/officeDocument/2006/math">
                    <m:r>
                      <a:rPr lang="en-US" sz="1200" i="1" dirty="0">
                        <a:latin typeface="Cambria Math" panose="02040503050406030204" pitchFamily="18" charset="0"/>
                      </a:rPr>
                      <m:t>𝑋</m:t>
                    </m:r>
                  </m:oMath>
                </a14:m>
                <a:r>
                  <a:rPr lang="en-US" sz="1200" dirty="0"/>
                  <a:t> takes on the value </a:t>
                </a:r>
                <a14:m>
                  <m:oMath xmlns:m="http://schemas.openxmlformats.org/officeDocument/2006/math">
                    <m:r>
                      <a:rPr lang="en-US" sz="1200" i="1" dirty="0">
                        <a:latin typeface="Cambria Math" panose="02040503050406030204" pitchFamily="18" charset="0"/>
                      </a:rPr>
                      <m:t>𝑥</m:t>
                    </m:r>
                  </m:oMath>
                </a14:m>
                <a:endParaRPr lang="en-US" sz="1200" dirty="0"/>
              </a:p>
              <a:p>
                <a14:m>
                  <m:oMath xmlns:m="http://schemas.openxmlformats.org/officeDocument/2006/math">
                    <m:r>
                      <a:rPr lang="en-US" sz="1200" i="1" dirty="0">
                        <a:latin typeface="Cambria Math" panose="02040503050406030204" pitchFamily="18" charset="0"/>
                      </a:rPr>
                      <m:t>𝑋</m:t>
                    </m:r>
                    <m:r>
                      <a:rPr lang="en-US" sz="1200" i="1" dirty="0">
                        <a:latin typeface="Cambria Math" panose="02040503050406030204" pitchFamily="18" charset="0"/>
                      </a:rPr>
                      <m:t>~</m:t>
                    </m:r>
                    <m:r>
                      <a:rPr lang="en-US" sz="1200" i="1" dirty="0">
                        <a:latin typeface="Cambria Math" panose="02040503050406030204" pitchFamily="18" charset="0"/>
                      </a:rPr>
                      <m:t>𝑝</m:t>
                    </m:r>
                  </m:oMath>
                </a14:m>
                <a:r>
                  <a:rPr lang="en-US" sz="1200" dirty="0"/>
                  <a:t>	random variable </a:t>
                </a:r>
                <a14:m>
                  <m:oMath xmlns:m="http://schemas.openxmlformats.org/officeDocument/2006/math">
                    <m:r>
                      <a:rPr lang="en-US" sz="1200" i="1" dirty="0">
                        <a:latin typeface="Cambria Math" panose="02040503050406030204" pitchFamily="18" charset="0"/>
                      </a:rPr>
                      <m:t>𝑋</m:t>
                    </m:r>
                  </m:oMath>
                </a14:m>
                <a:r>
                  <a:rPr lang="en-US" sz="1200" dirty="0"/>
                  <a:t> selected from distribution </a:t>
                </a:r>
                <a14:m>
                  <m:oMath xmlns:m="http://schemas.openxmlformats.org/officeDocument/2006/math">
                    <m:r>
                      <a:rPr lang="en-US" sz="1200" i="1">
                        <a:latin typeface="Cambria Math" panose="02040503050406030204" pitchFamily="18" charset="0"/>
                      </a:rPr>
                      <m:t>𝑝</m:t>
                    </m:r>
                    <m:d>
                      <m:dPr>
                        <m:ctrlPr>
                          <a:rPr lang="en-US" sz="1200" i="1">
                            <a:latin typeface="Cambria Math" panose="02040503050406030204" pitchFamily="18" charset="0"/>
                          </a:rPr>
                        </m:ctrlPr>
                      </m:dPr>
                      <m:e>
                        <m:r>
                          <a:rPr lang="en-US" sz="1200" i="1">
                            <a:latin typeface="Cambria Math" panose="02040503050406030204" pitchFamily="18" charset="0"/>
                          </a:rPr>
                          <m:t>𝑥</m:t>
                        </m:r>
                      </m:e>
                    </m:d>
                    <m:r>
                      <a:rPr lang="en-US" sz="1200" i="1">
                        <a:latin typeface="Cambria Math" panose="02040503050406030204" pitchFamily="18" charset="0"/>
                      </a:rPr>
                      <m:t>=</m:t>
                    </m:r>
                    <m:r>
                      <m:rPr>
                        <m:sty m:val="p"/>
                      </m:rPr>
                      <a:rPr lang="en-US" sz="1200">
                        <a:latin typeface="Cambria Math" panose="02040503050406030204" pitchFamily="18" charset="0"/>
                      </a:rPr>
                      <m:t>Pr</m:t>
                    </m:r>
                    <m:r>
                      <a:rPr lang="en-US" sz="1200" i="1">
                        <a:latin typeface="Cambria Math" panose="02040503050406030204" pitchFamily="18" charset="0"/>
                      </a:rPr>
                      <m:t>⁡{</m:t>
                    </m:r>
                    <m:r>
                      <a:rPr lang="en-US" sz="1200" i="1">
                        <a:latin typeface="Cambria Math" panose="02040503050406030204" pitchFamily="18" charset="0"/>
                      </a:rPr>
                      <m:t>𝑋</m:t>
                    </m:r>
                    <m:r>
                      <a:rPr lang="en-US" sz="1200" i="1">
                        <a:latin typeface="Cambria Math" panose="02040503050406030204" pitchFamily="18" charset="0"/>
                      </a:rPr>
                      <m:t>=</m:t>
                    </m:r>
                    <m:r>
                      <a:rPr lang="en-US" sz="1200" i="1">
                        <a:latin typeface="Cambria Math" panose="02040503050406030204" pitchFamily="18" charset="0"/>
                      </a:rPr>
                      <m:t>𝑥</m:t>
                    </m:r>
                    <m:r>
                      <a:rPr lang="en-US" sz="1200" i="1">
                        <a:latin typeface="Cambria Math" panose="02040503050406030204" pitchFamily="18" charset="0"/>
                      </a:rPr>
                      <m:t>}</m:t>
                    </m:r>
                  </m:oMath>
                </a14:m>
                <a:endParaRPr lang="en-US" sz="1200" dirty="0"/>
              </a:p>
              <a:p>
                <a14:m>
                  <m:oMath xmlns:m="http://schemas.openxmlformats.org/officeDocument/2006/math">
                    <m:r>
                      <a:rPr lang="en-US" sz="1200" i="1">
                        <a:latin typeface="Cambria Math" panose="02040503050406030204" pitchFamily="18" charset="0"/>
                        <a:ea typeface="Cambria Math" panose="02040503050406030204" pitchFamily="18" charset="0"/>
                      </a:rPr>
                      <m:t>𝔼</m:t>
                    </m:r>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𝑋</m:t>
                    </m:r>
                    <m:r>
                      <a:rPr lang="en-US" sz="1200" i="1">
                        <a:latin typeface="Cambria Math" panose="02040503050406030204" pitchFamily="18" charset="0"/>
                        <a:ea typeface="Cambria Math" panose="02040503050406030204" pitchFamily="18" charset="0"/>
                      </a:rPr>
                      <m:t>]</m:t>
                    </m:r>
                  </m:oMath>
                </a14:m>
                <a:r>
                  <a:rPr lang="en-US" sz="1200" dirty="0"/>
                  <a:t>	expectation of a random variable </a:t>
                </a:r>
                <a14:m>
                  <m:oMath xmlns:m="http://schemas.openxmlformats.org/officeDocument/2006/math">
                    <m:r>
                      <a:rPr lang="en-US" sz="1200" i="1" dirty="0">
                        <a:latin typeface="Cambria Math" panose="02040503050406030204" pitchFamily="18" charset="0"/>
                      </a:rPr>
                      <m:t>𝑋</m:t>
                    </m:r>
                  </m:oMath>
                </a14:m>
                <a:r>
                  <a:rPr lang="en-US" sz="1200" dirty="0"/>
                  <a:t>, i.e., </a:t>
                </a:r>
                <a14:m>
                  <m:oMath xmlns:m="http://schemas.openxmlformats.org/officeDocument/2006/math">
                    <m:r>
                      <a:rPr lang="en-US" sz="1200" i="1">
                        <a:latin typeface="Cambria Math" panose="02040503050406030204" pitchFamily="18" charset="0"/>
                        <a:ea typeface="Cambria Math" panose="02040503050406030204" pitchFamily="18" charset="0"/>
                      </a:rPr>
                      <m:t>𝔼</m:t>
                    </m:r>
                    <m:d>
                      <m:dPr>
                        <m:begChr m:val="["/>
                        <m:endChr m:val="]"/>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𝑋</m:t>
                        </m:r>
                      </m:e>
                    </m:d>
                    <m:r>
                      <a:rPr lang="en-US" sz="1200" i="1">
                        <a:latin typeface="Cambria Math" panose="02040503050406030204" pitchFamily="18" charset="0"/>
                        <a:ea typeface="Cambria Math" panose="02040503050406030204" pitchFamily="18" charset="0"/>
                      </a:rPr>
                      <m:t>=</m:t>
                    </m:r>
                    <m:nary>
                      <m:naryPr>
                        <m:chr m:val="∑"/>
                        <m:supHide m:val="on"/>
                        <m:ctrlPr>
                          <a:rPr lang="en-US" sz="1200" i="1">
                            <a:latin typeface="Cambria Math" panose="02040503050406030204" pitchFamily="18" charset="0"/>
                            <a:ea typeface="Cambria Math" panose="02040503050406030204" pitchFamily="18" charset="0"/>
                          </a:rPr>
                        </m:ctrlPr>
                      </m:naryPr>
                      <m:sub>
                        <m:r>
                          <a:rPr lang="en-US" sz="1200" i="1">
                            <a:latin typeface="Cambria Math" panose="02040503050406030204" pitchFamily="18" charset="0"/>
                            <a:ea typeface="Cambria Math" panose="02040503050406030204" pitchFamily="18" charset="0"/>
                          </a:rPr>
                          <m:t>𝑥</m:t>
                        </m:r>
                      </m:sub>
                      <m:sup/>
                      <m:e>
                        <m:r>
                          <a:rPr lang="en-US" sz="1200" i="1">
                            <a:latin typeface="Cambria Math" panose="02040503050406030204" pitchFamily="18" charset="0"/>
                            <a:ea typeface="Cambria Math" panose="02040503050406030204" pitchFamily="18" charset="0"/>
                          </a:rPr>
                          <m:t>𝑝</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𝑥</m:t>
                            </m:r>
                          </m:e>
                        </m:d>
                        <m:r>
                          <a:rPr lang="en-US" sz="1200" i="1">
                            <a:latin typeface="Cambria Math" panose="02040503050406030204" pitchFamily="18" charset="0"/>
                            <a:ea typeface="Cambria Math" panose="02040503050406030204" pitchFamily="18" charset="0"/>
                          </a:rPr>
                          <m:t>𝑥</m:t>
                        </m:r>
                      </m:e>
                    </m:nary>
                  </m:oMath>
                </a14:m>
                <a:endParaRPr lang="en-US" sz="1200" dirty="0">
                  <a:ea typeface="Cambria Math" panose="02040503050406030204" pitchFamily="18" charset="0"/>
                </a:endParaRPr>
              </a:p>
              <a:p>
                <a14:m>
                  <m:oMath xmlns:m="http://schemas.openxmlformats.org/officeDocument/2006/math">
                    <m:sSub>
                      <m:sSubPr>
                        <m:ctrlPr>
                          <a:rPr lang="en-US" sz="1200" dirty="0">
                            <a:latin typeface="Cambria Math" panose="02040503050406030204" pitchFamily="18" charset="0"/>
                          </a:rPr>
                        </m:ctrlPr>
                      </m:sSubPr>
                      <m:e>
                        <m:r>
                          <m:rPr>
                            <m:sty m:val="p"/>
                          </m:rPr>
                          <a:rPr lang="en-US" sz="1200" dirty="0">
                            <a:latin typeface="Cambria Math" panose="02040503050406030204" pitchFamily="18" charset="0"/>
                          </a:rPr>
                          <m:t>argmax</m:t>
                        </m:r>
                      </m:e>
                      <m:sub>
                        <m:r>
                          <m:rPr>
                            <m:sty m:val="p"/>
                          </m:rPr>
                          <a:rPr lang="en-US" sz="1200" dirty="0">
                            <a:latin typeface="Cambria Math" panose="02040503050406030204" pitchFamily="18" charset="0"/>
                          </a:rPr>
                          <m:t>a</m:t>
                        </m:r>
                      </m:sub>
                    </m:sSub>
                    <m:r>
                      <a:rPr lang="en-US" sz="1200" dirty="0">
                        <a:latin typeface="Cambria Math" panose="02040503050406030204" pitchFamily="18" charset="0"/>
                      </a:rPr>
                      <m:t> </m:t>
                    </m:r>
                    <m:r>
                      <a:rPr lang="en-US" sz="1200" i="1" dirty="0">
                        <a:latin typeface="Cambria Math" panose="02040503050406030204" pitchFamily="18" charset="0"/>
                      </a:rPr>
                      <m:t>𝑓</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a value of action </a:t>
                </a:r>
                <a14:m>
                  <m:oMath xmlns:m="http://schemas.openxmlformats.org/officeDocument/2006/math">
                    <m:r>
                      <a:rPr lang="en-US" sz="1200" i="1" dirty="0">
                        <a:latin typeface="Cambria Math" panose="02040503050406030204" pitchFamily="18" charset="0"/>
                      </a:rPr>
                      <m:t>𝑎</m:t>
                    </m:r>
                  </m:oMath>
                </a14:m>
                <a:r>
                  <a:rPr lang="en-US" sz="1200" dirty="0"/>
                  <a:t> at which </a:t>
                </a:r>
                <a14:m>
                  <m:oMath xmlns:m="http://schemas.openxmlformats.org/officeDocument/2006/math">
                    <m:r>
                      <a:rPr lang="en-US" sz="1200" i="1" dirty="0">
                        <a:latin typeface="Cambria Math" panose="02040503050406030204" pitchFamily="18" charset="0"/>
                      </a:rPr>
                      <m:t>𝑓</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takes its maximal value</a:t>
                </a:r>
              </a:p>
            </p:txBody>
          </p:sp>
        </mc:Choice>
        <mc:Fallback xmlns="">
          <p:sp>
            <p:nvSpPr>
              <p:cNvPr id="10" name="TextBox 9" descr="General. X capital letters: random variables x, p lower-case letters: realizations of random variables or scalar functions. w Bold lower-case letters: real-valued vectors (even if random variables). W bold capitals: matrices. alpha Greek letters: parameters (vectors if in bolt). Pr{X equals x} probability that a random variable X takes on the value x. X~p random variable X selected from distribution p (x) equals Pr{X equals x}. E[X] expectation of a random variable X, i.e., E [X] equals the sum over x, of p (x) x. argmax sub a f(a) a value of action a at which f(a) takes its maximal value">
                <a:extLst>
                  <a:ext uri="{FF2B5EF4-FFF2-40B4-BE49-F238E27FC236}">
                    <a16:creationId xmlns:a16="http://schemas.microsoft.com/office/drawing/2014/main" id="{5CD475E5-BE3B-5594-57DC-46A17411F2F9}"/>
                  </a:ext>
                </a:extLst>
              </p:cNvPr>
              <p:cNvSpPr txBox="1">
                <a:spLocks noRot="1" noChangeAspect="1" noMove="1" noResize="1" noEditPoints="1" noAdjustHandles="1" noChangeArrowheads="1" noChangeShapeType="1" noTextEdit="1"/>
              </p:cNvSpPr>
              <p:nvPr/>
            </p:nvSpPr>
            <p:spPr>
              <a:xfrm>
                <a:off x="822820" y="1124198"/>
                <a:ext cx="5273179" cy="2308324"/>
              </a:xfrm>
              <a:prstGeom prst="rect">
                <a:avLst/>
              </a:prstGeom>
              <a:blipFill>
                <a:blip r:embed="rId3"/>
                <a:stretch>
                  <a:fillRect b="-94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descr="Value Function. G sub t return (cumulative reward) following time t. G sub t:h return from t to h (discounted and corrected). v sub pi (s) value of state s under policy pi (expected return). v sub star (s) value of state s under the optimal policy. q sub pi (s,a) value of taking action a in state s under policy pi. q sub star (s,a) value of taking action a in state s under the optimal policy. V, V sub t array estimates of state-value function v sub pi or v sub star. Q,Q sub t array estimates of action-value function q sub pi or v sub star">
                <a:extLst>
                  <a:ext uri="{FF2B5EF4-FFF2-40B4-BE49-F238E27FC236}">
                    <a16:creationId xmlns:a16="http://schemas.microsoft.com/office/drawing/2014/main" id="{47E69C9C-42B6-9B0F-9AE0-20D17703E490}"/>
                  </a:ext>
                </a:extLst>
              </p:cNvPr>
              <p:cNvSpPr>
                <a:spLocks noGrp="1"/>
              </p:cNvSpPr>
              <p:nvPr>
                <p:ph idx="1"/>
              </p:nvPr>
            </p:nvSpPr>
            <p:spPr>
              <a:xfrm>
                <a:off x="822819" y="3658891"/>
                <a:ext cx="5273179" cy="1902124"/>
              </a:xfrm>
            </p:spPr>
            <p:style>
              <a:lnRef idx="2">
                <a:schemeClr val="accent2"/>
              </a:lnRef>
              <a:fillRef idx="1">
                <a:schemeClr val="lt1"/>
              </a:fillRef>
              <a:effectRef idx="0">
                <a:schemeClr val="accent2"/>
              </a:effectRef>
              <a:fontRef idx="minor">
                <a:schemeClr val="dk1"/>
              </a:fontRef>
            </p:style>
            <p:txBody>
              <a:bodyPr>
                <a:spAutoFit/>
              </a:bodyPr>
              <a:lstStyle/>
              <a:p>
                <a:pPr marL="0" indent="0">
                  <a:lnSpc>
                    <a:spcPct val="100000"/>
                  </a:lnSpc>
                  <a:spcBef>
                    <a:spcPts val="0"/>
                  </a:spcBef>
                  <a:buNone/>
                </a:pPr>
                <a:r>
                  <a:rPr lang="en-US" sz="1200" b="1" dirty="0"/>
                  <a:t>Value Function</a:t>
                </a: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𝐺</m:t>
                        </m:r>
                      </m:e>
                      <m:sub>
                        <m:r>
                          <a:rPr lang="en-US" sz="1200" i="1" dirty="0">
                            <a:latin typeface="Cambria Math" panose="02040503050406030204" pitchFamily="18" charset="0"/>
                          </a:rPr>
                          <m:t>𝑡</m:t>
                        </m:r>
                      </m:sub>
                    </m:sSub>
                  </m:oMath>
                </a14:m>
                <a:r>
                  <a:rPr lang="en-US" sz="1200" dirty="0"/>
                  <a:t> 	return (cumulative reward) following time </a:t>
                </a:r>
                <a14:m>
                  <m:oMath xmlns:m="http://schemas.openxmlformats.org/officeDocument/2006/math">
                    <m:r>
                      <a:rPr lang="en-US" sz="1200" i="1" dirty="0">
                        <a:latin typeface="Cambria Math" panose="02040503050406030204" pitchFamily="18" charset="0"/>
                      </a:rPr>
                      <m:t>𝑡</m:t>
                    </m:r>
                  </m:oMath>
                </a14:m>
                <a:endParaRPr lang="en-US" sz="1200" dirty="0"/>
              </a:p>
              <a:p>
                <a:pPr marL="0" indent="0">
                  <a:lnSpc>
                    <a:spcPct val="100000"/>
                  </a:lnSpc>
                  <a:spcBef>
                    <a:spcPts val="0"/>
                  </a:spcBef>
                  <a:buNone/>
                </a:pP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𝐺</m:t>
                        </m:r>
                      </m:e>
                      <m:sub>
                        <m:r>
                          <a:rPr lang="en-US" sz="1200" i="1" dirty="0">
                            <a:solidFill>
                              <a:schemeClr val="tx1"/>
                            </a:solidFill>
                            <a:latin typeface="Cambria Math" panose="02040503050406030204" pitchFamily="18" charset="0"/>
                          </a:rPr>
                          <m:t>𝑡</m:t>
                        </m:r>
                        <m:r>
                          <a:rPr lang="en-US" sz="1200" i="1" dirty="0">
                            <a:solidFill>
                              <a:schemeClr val="tx1"/>
                            </a:solidFill>
                            <a:latin typeface="Cambria Math" panose="02040503050406030204" pitchFamily="18" charset="0"/>
                          </a:rPr>
                          <m:t>:</m:t>
                        </m:r>
                        <m:r>
                          <a:rPr lang="en-US" sz="1200" i="1" dirty="0">
                            <a:solidFill>
                              <a:schemeClr val="tx1"/>
                            </a:solidFill>
                            <a:latin typeface="Cambria Math" panose="02040503050406030204" pitchFamily="18" charset="0"/>
                          </a:rPr>
                          <m:t>ℎ</m:t>
                        </m:r>
                      </m:sub>
                    </m:sSub>
                  </m:oMath>
                </a14:m>
                <a:r>
                  <a:rPr lang="en-US" sz="1200" dirty="0">
                    <a:solidFill>
                      <a:schemeClr val="tx1"/>
                    </a:solidFill>
                  </a:rPr>
                  <a:t>	return from </a:t>
                </a:r>
                <a14:m>
                  <m:oMath xmlns:m="http://schemas.openxmlformats.org/officeDocument/2006/math">
                    <m:r>
                      <a:rPr lang="en-US" sz="1200" i="1" dirty="0">
                        <a:solidFill>
                          <a:schemeClr val="tx1"/>
                        </a:solidFill>
                        <a:latin typeface="Cambria Math" panose="02040503050406030204" pitchFamily="18" charset="0"/>
                      </a:rPr>
                      <m:t>𝑡</m:t>
                    </m:r>
                  </m:oMath>
                </a14:m>
                <a:r>
                  <a:rPr lang="en-US" sz="1200" dirty="0">
                    <a:solidFill>
                      <a:schemeClr val="tx1"/>
                    </a:solidFill>
                  </a:rPr>
                  <a:t> to </a:t>
                </a:r>
                <a14:m>
                  <m:oMath xmlns:m="http://schemas.openxmlformats.org/officeDocument/2006/math">
                    <m:r>
                      <a:rPr lang="en-US" sz="1200" i="1" dirty="0">
                        <a:solidFill>
                          <a:schemeClr val="tx1"/>
                        </a:solidFill>
                        <a:latin typeface="Cambria Math" panose="02040503050406030204" pitchFamily="18" charset="0"/>
                      </a:rPr>
                      <m:t>ℎ</m:t>
                    </m:r>
                  </m:oMath>
                </a14:m>
                <a:r>
                  <a:rPr lang="en-US" sz="1200" dirty="0">
                    <a:solidFill>
                      <a:schemeClr val="tx1"/>
                    </a:solidFill>
                  </a:rPr>
                  <a:t> (discounted and corrected)</a:t>
                </a:r>
                <a:endParaRPr lang="en-US" sz="1200" dirty="0"/>
              </a:p>
              <a:p>
                <a:pPr marL="0" indent="0">
                  <a:lnSpc>
                    <a:spcPct val="100000"/>
                  </a:lnSpc>
                  <a:spcBef>
                    <a:spcPts val="0"/>
                  </a:spcBef>
                  <a:buNone/>
                </a:pP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𝑣</m:t>
                        </m:r>
                      </m:e>
                      <m:sub>
                        <m:r>
                          <a:rPr lang="en-US" sz="1200" i="1" dirty="0">
                            <a:latin typeface="Cambria Math" panose="02040503050406030204" pitchFamily="18" charset="0"/>
                          </a:rPr>
                          <m:t>𝜋</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value of state </a:t>
                </a:r>
                <a14:m>
                  <m:oMath xmlns:m="http://schemas.openxmlformats.org/officeDocument/2006/math">
                    <m:r>
                      <a:rPr lang="en-US" sz="1200" i="1" dirty="0">
                        <a:latin typeface="Cambria Math" panose="02040503050406030204" pitchFamily="18" charset="0"/>
                      </a:rPr>
                      <m:t>𝑠</m:t>
                    </m:r>
                  </m:oMath>
                </a14:m>
                <a:r>
                  <a:rPr lang="en-US" sz="1200" dirty="0"/>
                  <a:t> under policy </a:t>
                </a:r>
                <a14:m>
                  <m:oMath xmlns:m="http://schemas.openxmlformats.org/officeDocument/2006/math">
                    <m:r>
                      <a:rPr lang="en-US" sz="1200" i="1" dirty="0">
                        <a:latin typeface="Cambria Math" panose="02040503050406030204" pitchFamily="18" charset="0"/>
                      </a:rPr>
                      <m:t>𝜋</m:t>
                    </m:r>
                  </m:oMath>
                </a14:m>
                <a:r>
                  <a:rPr lang="en-US" sz="1200" dirty="0"/>
                  <a:t> (expected return)</a:t>
                </a: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𝑣</m:t>
                        </m:r>
                      </m:e>
                      <m:sub>
                        <m:r>
                          <a:rPr lang="en-US" sz="1200" i="1" dirty="0">
                            <a:latin typeface="Cambria Math" panose="02040503050406030204" pitchFamily="18" charset="0"/>
                          </a:rPr>
                          <m:t>∗</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value of state s under the optimal policy</a:t>
                </a: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𝑞</m:t>
                        </m:r>
                      </m:e>
                      <m:sub>
                        <m:r>
                          <a:rPr lang="en-US" sz="1200" i="1" dirty="0">
                            <a:latin typeface="Cambria Math" panose="02040503050406030204" pitchFamily="18" charset="0"/>
                          </a:rPr>
                          <m:t>𝜋</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value of taking action </a:t>
                </a:r>
                <a14:m>
                  <m:oMath xmlns:m="http://schemas.openxmlformats.org/officeDocument/2006/math">
                    <m:r>
                      <a:rPr lang="en-US" sz="1200" i="1" dirty="0">
                        <a:latin typeface="Cambria Math" panose="02040503050406030204" pitchFamily="18" charset="0"/>
                      </a:rPr>
                      <m:t>𝑎</m:t>
                    </m:r>
                  </m:oMath>
                </a14:m>
                <a:r>
                  <a:rPr lang="en-US" sz="1200" dirty="0"/>
                  <a:t> in state </a:t>
                </a:r>
                <a14:m>
                  <m:oMath xmlns:m="http://schemas.openxmlformats.org/officeDocument/2006/math">
                    <m:r>
                      <a:rPr lang="en-US" sz="1200" i="1" dirty="0" smtClean="0">
                        <a:latin typeface="Cambria Math" panose="02040503050406030204" pitchFamily="18" charset="0"/>
                      </a:rPr>
                      <m:t>𝑠</m:t>
                    </m:r>
                  </m:oMath>
                </a14:m>
                <a:r>
                  <a:rPr lang="en-US" sz="1200" dirty="0"/>
                  <a:t> under policy </a:t>
                </a:r>
                <a14:m>
                  <m:oMath xmlns:m="http://schemas.openxmlformats.org/officeDocument/2006/math">
                    <m:r>
                      <a:rPr lang="en-US" sz="1200" i="1" dirty="0">
                        <a:latin typeface="Cambria Math" panose="02040503050406030204" pitchFamily="18" charset="0"/>
                      </a:rPr>
                      <m:t>𝜋</m:t>
                    </m:r>
                  </m:oMath>
                </a14:m>
                <a:endParaRPr lang="en-US" sz="1200" dirty="0"/>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𝑞</m:t>
                        </m:r>
                      </m:e>
                      <m:sub>
                        <m:r>
                          <a:rPr lang="en-US" sz="1200" i="1" dirty="0">
                            <a:latin typeface="Cambria Math" panose="02040503050406030204" pitchFamily="18" charset="0"/>
                          </a:rPr>
                          <m:t>∗</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value of taking action </a:t>
                </a:r>
                <a14:m>
                  <m:oMath xmlns:m="http://schemas.openxmlformats.org/officeDocument/2006/math">
                    <m:r>
                      <a:rPr lang="en-US" sz="1200" i="1" dirty="0">
                        <a:latin typeface="Cambria Math" panose="02040503050406030204" pitchFamily="18" charset="0"/>
                      </a:rPr>
                      <m:t>𝑎</m:t>
                    </m:r>
                  </m:oMath>
                </a14:m>
                <a:r>
                  <a:rPr lang="en-US" sz="1200" dirty="0"/>
                  <a:t> in state </a:t>
                </a:r>
                <a14:m>
                  <m:oMath xmlns:m="http://schemas.openxmlformats.org/officeDocument/2006/math">
                    <m:r>
                      <a:rPr lang="en-US" sz="1200" i="1" dirty="0" smtClean="0">
                        <a:latin typeface="Cambria Math" panose="02040503050406030204" pitchFamily="18" charset="0"/>
                      </a:rPr>
                      <m:t>𝑠</m:t>
                    </m:r>
                  </m:oMath>
                </a14:m>
                <a:r>
                  <a:rPr lang="en-US" sz="1200" dirty="0"/>
                  <a:t> under the optimal policy</a:t>
                </a:r>
              </a:p>
              <a:p>
                <a:pPr marL="0" indent="0">
                  <a:spcBef>
                    <a:spcPts val="0"/>
                  </a:spcBef>
                  <a:buNone/>
                </a:pPr>
                <a14:m>
                  <m:oMath xmlns:m="http://schemas.openxmlformats.org/officeDocument/2006/math">
                    <m:r>
                      <a:rPr lang="en-US" sz="1200" i="1" dirty="0">
                        <a:solidFill>
                          <a:schemeClr val="tx1"/>
                        </a:solidFill>
                        <a:latin typeface="Cambria Math" panose="02040503050406030204" pitchFamily="18" charset="0"/>
                      </a:rPr>
                      <m:t>𝑉</m:t>
                    </m:r>
                    <m:r>
                      <a:rPr lang="en-US" sz="1200" i="1" dirty="0">
                        <a:solidFill>
                          <a:schemeClr val="tx1"/>
                        </a:solidFill>
                        <a:latin typeface="Cambria Math" panose="02040503050406030204" pitchFamily="18" charset="0"/>
                      </a:rPr>
                      <m:t>, </m:t>
                    </m:r>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𝑉</m:t>
                        </m:r>
                      </m:e>
                      <m:sub>
                        <m:r>
                          <a:rPr lang="en-US" sz="1200" i="1" dirty="0">
                            <a:solidFill>
                              <a:schemeClr val="tx1"/>
                            </a:solidFill>
                            <a:latin typeface="Cambria Math" panose="02040503050406030204" pitchFamily="18" charset="0"/>
                          </a:rPr>
                          <m:t>𝑡</m:t>
                        </m:r>
                      </m:sub>
                    </m:sSub>
                    <m:r>
                      <a:rPr lang="en-US" sz="1200" i="1" dirty="0">
                        <a:solidFill>
                          <a:schemeClr val="tx1"/>
                        </a:solidFill>
                        <a:latin typeface="Cambria Math" panose="02040503050406030204" pitchFamily="18" charset="0"/>
                      </a:rPr>
                      <m:t> </m:t>
                    </m:r>
                  </m:oMath>
                </a14:m>
                <a:r>
                  <a:rPr lang="en-US" sz="1200" dirty="0">
                    <a:solidFill>
                      <a:schemeClr val="tx1"/>
                    </a:solidFill>
                  </a:rPr>
                  <a:t>	array estimates of state-value function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𝑣</m:t>
                        </m:r>
                      </m:e>
                      <m:sub>
                        <m:r>
                          <a:rPr lang="en-US" sz="1200" i="1" dirty="0">
                            <a:solidFill>
                              <a:schemeClr val="tx1"/>
                            </a:solidFill>
                            <a:latin typeface="Cambria Math" panose="02040503050406030204" pitchFamily="18" charset="0"/>
                          </a:rPr>
                          <m:t>𝜋</m:t>
                        </m:r>
                      </m:sub>
                    </m:sSub>
                    <m:r>
                      <a:rPr lang="en-US" sz="1200" i="1" dirty="0">
                        <a:solidFill>
                          <a:schemeClr val="tx1"/>
                        </a:solidFill>
                        <a:latin typeface="Cambria Math" panose="02040503050406030204" pitchFamily="18" charset="0"/>
                      </a:rPr>
                      <m:t> </m:t>
                    </m:r>
                  </m:oMath>
                </a14:m>
                <a:r>
                  <a:rPr lang="en-US" sz="1200" dirty="0">
                    <a:solidFill>
                      <a:schemeClr val="tx1"/>
                    </a:solidFill>
                  </a:rPr>
                  <a:t>or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𝑣</m:t>
                        </m:r>
                      </m:e>
                      <m:sub>
                        <m:r>
                          <a:rPr lang="en-US" sz="1200" i="1" dirty="0">
                            <a:solidFill>
                              <a:schemeClr val="tx1"/>
                            </a:solidFill>
                            <a:latin typeface="Cambria Math" panose="02040503050406030204" pitchFamily="18" charset="0"/>
                          </a:rPr>
                          <m:t>∗</m:t>
                        </m:r>
                      </m:sub>
                    </m:sSub>
                    <m:r>
                      <a:rPr lang="en-US" sz="1200" i="1" dirty="0">
                        <a:solidFill>
                          <a:schemeClr val="tx1"/>
                        </a:solidFill>
                        <a:latin typeface="Cambria Math" panose="02040503050406030204" pitchFamily="18" charset="0"/>
                      </a:rPr>
                      <m:t> </m:t>
                    </m:r>
                  </m:oMath>
                </a14:m>
                <a:endParaRPr lang="en-US" sz="1200" dirty="0">
                  <a:solidFill>
                    <a:schemeClr val="tx1"/>
                  </a:solidFill>
                </a:endParaRPr>
              </a:p>
              <a:p>
                <a:pPr marL="0" indent="0">
                  <a:spcBef>
                    <a:spcPts val="0"/>
                  </a:spcBef>
                  <a:buNone/>
                </a:pPr>
                <a14:m>
                  <m:oMath xmlns:m="http://schemas.openxmlformats.org/officeDocument/2006/math">
                    <m:r>
                      <a:rPr lang="en-US" sz="1200" i="1" dirty="0">
                        <a:solidFill>
                          <a:schemeClr val="tx1"/>
                        </a:solidFill>
                        <a:latin typeface="Cambria Math" panose="02040503050406030204" pitchFamily="18" charset="0"/>
                      </a:rPr>
                      <m:t>𝑄</m:t>
                    </m:r>
                    <m:r>
                      <a:rPr lang="en-US" sz="1200" i="1" dirty="0">
                        <a:solidFill>
                          <a:schemeClr val="tx1"/>
                        </a:solidFill>
                        <a:latin typeface="Cambria Math" panose="02040503050406030204" pitchFamily="18" charset="0"/>
                      </a:rPr>
                      <m:t>,</m:t>
                    </m:r>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𝑄</m:t>
                        </m:r>
                      </m:e>
                      <m:sub>
                        <m:r>
                          <a:rPr lang="en-US" sz="1200" i="1" dirty="0">
                            <a:solidFill>
                              <a:schemeClr val="tx1"/>
                            </a:solidFill>
                            <a:latin typeface="Cambria Math" panose="02040503050406030204" pitchFamily="18" charset="0"/>
                          </a:rPr>
                          <m:t>𝑡</m:t>
                        </m:r>
                      </m:sub>
                    </m:sSub>
                    <m:r>
                      <a:rPr lang="en-US" sz="1200" i="1" dirty="0">
                        <a:solidFill>
                          <a:schemeClr val="tx1"/>
                        </a:solidFill>
                        <a:latin typeface="Cambria Math" panose="02040503050406030204" pitchFamily="18" charset="0"/>
                      </a:rPr>
                      <m:t> </m:t>
                    </m:r>
                  </m:oMath>
                </a14:m>
                <a:r>
                  <a:rPr lang="en-US" sz="1200" dirty="0">
                    <a:solidFill>
                      <a:schemeClr val="tx1"/>
                    </a:solidFill>
                  </a:rPr>
                  <a:t>	array estimates of action-value function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𝑞</m:t>
                        </m:r>
                      </m:e>
                      <m:sub>
                        <m:r>
                          <a:rPr lang="en-US" sz="1200" i="1" dirty="0">
                            <a:solidFill>
                              <a:schemeClr val="tx1"/>
                            </a:solidFill>
                            <a:latin typeface="Cambria Math" panose="02040503050406030204" pitchFamily="18" charset="0"/>
                          </a:rPr>
                          <m:t>𝜋</m:t>
                        </m:r>
                      </m:sub>
                    </m:sSub>
                    <m:r>
                      <a:rPr lang="en-US" sz="1200" i="1" dirty="0">
                        <a:solidFill>
                          <a:schemeClr val="tx1"/>
                        </a:solidFill>
                        <a:latin typeface="Cambria Math" panose="02040503050406030204" pitchFamily="18" charset="0"/>
                      </a:rPr>
                      <m:t> </m:t>
                    </m:r>
                  </m:oMath>
                </a14:m>
                <a:r>
                  <a:rPr lang="en-US" sz="1200" dirty="0">
                    <a:solidFill>
                      <a:schemeClr val="tx1"/>
                    </a:solidFill>
                  </a:rPr>
                  <a:t>or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𝑣</m:t>
                        </m:r>
                      </m:e>
                      <m:sub>
                        <m:r>
                          <a:rPr lang="en-US" sz="1200" i="1" dirty="0">
                            <a:solidFill>
                              <a:schemeClr val="tx1"/>
                            </a:solidFill>
                            <a:latin typeface="Cambria Math" panose="02040503050406030204" pitchFamily="18" charset="0"/>
                          </a:rPr>
                          <m:t>∗</m:t>
                        </m:r>
                      </m:sub>
                    </m:sSub>
                  </m:oMath>
                </a14:m>
                <a:endParaRPr lang="en-US" sz="1200" dirty="0">
                  <a:solidFill>
                    <a:schemeClr val="tx1"/>
                  </a:solidFill>
                </a:endParaRPr>
              </a:p>
            </p:txBody>
          </p:sp>
        </mc:Choice>
        <mc:Fallback xmlns="">
          <p:sp>
            <p:nvSpPr>
              <p:cNvPr id="3" name="Content Placeholder 2" descr="Value Function. G sub t return (cumulative reward) following time t. G sub t:h return from t to h (discounted and corrected). v sub pi (s) value of state s under policy pi (expected return). v sub star (s) value of state s under the optimal policy. q sub pi (s,a) value of taking action a in state s under policy pi. q sub star (s,a) value of taking action a in state s under the optimal policy. V, V sub t array estimates of state-value function v sub pi or v sub star. Q,Q sub t array estimates of action-value function q sub pi or v sub star">
                <a:extLst>
                  <a:ext uri="{FF2B5EF4-FFF2-40B4-BE49-F238E27FC236}">
                    <a16:creationId xmlns:a16="http://schemas.microsoft.com/office/drawing/2014/main" id="{47E69C9C-42B6-9B0F-9AE0-20D17703E490}"/>
                  </a:ext>
                </a:extLst>
              </p:cNvPr>
              <p:cNvSpPr>
                <a:spLocks noGrp="1" noRot="1" noChangeAspect="1" noMove="1" noResize="1" noEditPoints="1" noAdjustHandles="1" noChangeArrowheads="1" noChangeShapeType="1" noTextEdit="1"/>
              </p:cNvSpPr>
              <p:nvPr>
                <p:ph idx="1"/>
              </p:nvPr>
            </p:nvSpPr>
            <p:spPr>
              <a:xfrm>
                <a:off x="822819" y="3658891"/>
                <a:ext cx="5273179" cy="1902124"/>
              </a:xfrm>
              <a:blipFill>
                <a:blip r:embed="rId2"/>
                <a:stretch>
                  <a:fillRect b="-9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Content Placeholder 2" descr="MDP. s, s prime states. a an action. r a reward. S set of all (nonterminal) states, S to the power plus are all states. A(s) set of all actions available in state s. gamma discount-rate parameter. t discrete time step. T final time step of an episode (a.k.a. horizon). A sub t random variable for the action at time t. S sub t random variable for the state at time t. R sub t random variable for the reward at time t. p (s prime,r | s, a) probability of transition to state s prime and receiving reward r, from state s taking action a . p (s prime | s, a) probability of transition to state s prime fom state s taking action a . r(s,a) expected immediate reward from state s after action a. r(s,a,s prime) expected immediate reward from state s to s prime with action a. pi (a given s) probability of taking action a in state s under stochastic policy pi. pi (s) action taken in state s under deterministic policy pi">
                <a:extLst>
                  <a:ext uri="{FF2B5EF4-FFF2-40B4-BE49-F238E27FC236}">
                    <a16:creationId xmlns:a16="http://schemas.microsoft.com/office/drawing/2014/main" id="{6F45EA4F-65F9-5141-0B09-C395CF9CA7A0}"/>
                  </a:ext>
                </a:extLst>
              </p:cNvPr>
              <p:cNvSpPr txBox="1">
                <a:spLocks/>
              </p:cNvSpPr>
              <p:nvPr/>
            </p:nvSpPr>
            <p:spPr>
              <a:xfrm>
                <a:off x="6267338" y="1124198"/>
                <a:ext cx="5273179" cy="3693383"/>
              </a:xfrm>
              <a:prstGeom prst="rect">
                <a:avLst/>
              </a:prstGeom>
            </p:spPr>
            <p:style>
              <a:lnRef idx="2">
                <a:schemeClr val="accent2"/>
              </a:lnRef>
              <a:fillRef idx="1">
                <a:schemeClr val="lt1"/>
              </a:fillRef>
              <a:effectRef idx="0">
                <a:schemeClr val="accent2"/>
              </a:effectRef>
              <a:fontRef idx="minor">
                <a:schemeClr val="dk1"/>
              </a:fontRef>
            </p:style>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1200" b="1" dirty="0"/>
                  <a:t>MDP</a:t>
                </a:r>
              </a:p>
              <a:p>
                <a:pPr marL="0" indent="0">
                  <a:spcBef>
                    <a:spcPts val="0"/>
                  </a:spcBef>
                  <a:buNone/>
                </a:pPr>
                <a14:m>
                  <m:oMath xmlns:m="http://schemas.openxmlformats.org/officeDocument/2006/math">
                    <m:r>
                      <a:rPr lang="en-US" sz="1200" i="1" dirty="0" smtClean="0">
                        <a:latin typeface="Cambria Math" panose="02040503050406030204" pitchFamily="18" charset="0"/>
                      </a:rPr>
                      <m:t>𝑠</m:t>
                    </m:r>
                    <m:r>
                      <a:rPr lang="en-US" sz="1200" i="1" dirty="0" smtClean="0">
                        <a:latin typeface="Cambria Math" panose="02040503050406030204" pitchFamily="18" charset="0"/>
                      </a:rPr>
                      <m:t>, </m:t>
                    </m:r>
                    <m:r>
                      <a:rPr lang="en-US" sz="1200" i="1" dirty="0" smtClean="0">
                        <a:latin typeface="Cambria Math" panose="02040503050406030204" pitchFamily="18" charset="0"/>
                      </a:rPr>
                      <m:t>𝑠</m:t>
                    </m:r>
                    <m:r>
                      <a:rPr lang="en-US" sz="1200" b="0" i="1" dirty="0" smtClean="0">
                        <a:latin typeface="Cambria Math" panose="02040503050406030204" pitchFamily="18" charset="0"/>
                      </a:rPr>
                      <m:t>′</m:t>
                    </m:r>
                  </m:oMath>
                </a14:m>
                <a:r>
                  <a:rPr lang="en-US" sz="1200" dirty="0"/>
                  <a:t> 	states</a:t>
                </a:r>
              </a:p>
              <a:p>
                <a:pPr marL="0" indent="0">
                  <a:spcBef>
                    <a:spcPts val="0"/>
                  </a:spcBef>
                  <a:buNone/>
                </a:pPr>
                <a14:m>
                  <m:oMath xmlns:m="http://schemas.openxmlformats.org/officeDocument/2006/math">
                    <m:r>
                      <a:rPr lang="en-US" sz="1200" i="1" dirty="0" smtClean="0">
                        <a:latin typeface="Cambria Math" panose="02040503050406030204" pitchFamily="18" charset="0"/>
                      </a:rPr>
                      <m:t>𝑎</m:t>
                    </m:r>
                  </m:oMath>
                </a14:m>
                <a:r>
                  <a:rPr lang="en-US" sz="1200" dirty="0"/>
                  <a:t> 	an action</a:t>
                </a:r>
              </a:p>
              <a:p>
                <a:pPr marL="0" indent="0">
                  <a:spcBef>
                    <a:spcPts val="0"/>
                  </a:spcBef>
                  <a:buNone/>
                </a:pPr>
                <a14:m>
                  <m:oMath xmlns:m="http://schemas.openxmlformats.org/officeDocument/2006/math">
                    <m:r>
                      <a:rPr lang="en-US" sz="1200" i="1" dirty="0" smtClean="0">
                        <a:latin typeface="Cambria Math" panose="02040503050406030204" pitchFamily="18" charset="0"/>
                      </a:rPr>
                      <m:t>𝑟</m:t>
                    </m:r>
                  </m:oMath>
                </a14:m>
                <a:r>
                  <a:rPr lang="en-US" sz="1200" dirty="0"/>
                  <a:t> 	a reward</a:t>
                </a:r>
              </a:p>
              <a:p>
                <a:pPr marL="0" indent="0">
                  <a:spcBef>
                    <a:spcPts val="0"/>
                  </a:spcBef>
                  <a:buNone/>
                </a:pPr>
                <a14:m>
                  <m:oMath xmlns:m="http://schemas.openxmlformats.org/officeDocument/2006/math">
                    <m:r>
                      <a:rPr lang="en-US" sz="1200" i="1" dirty="0" smtClean="0">
                        <a:latin typeface="Cambria Math" panose="02040503050406030204" pitchFamily="18" charset="0"/>
                        <a:ea typeface="Cambria Math" panose="02040503050406030204" pitchFamily="18" charset="0"/>
                      </a:rPr>
                      <m:t>𝒮</m:t>
                    </m:r>
                  </m:oMath>
                </a14:m>
                <a:r>
                  <a:rPr lang="en-US" sz="1200" dirty="0"/>
                  <a:t> 	set of all (nonterminal) states, </a:t>
                </a:r>
                <a14:m>
                  <m:oMath xmlns:m="http://schemas.openxmlformats.org/officeDocument/2006/math">
                    <m:sSup>
                      <m:sSupPr>
                        <m:ctrlPr>
                          <a:rPr lang="en-US" sz="1200" i="1" dirty="0">
                            <a:latin typeface="Cambria Math" panose="02040503050406030204" pitchFamily="18" charset="0"/>
                            <a:ea typeface="Cambria Math" panose="02040503050406030204" pitchFamily="18" charset="0"/>
                          </a:rPr>
                        </m:ctrlPr>
                      </m:sSupPr>
                      <m:e>
                        <m:r>
                          <a:rPr lang="en-US" sz="1200" i="1" dirty="0">
                            <a:latin typeface="Cambria Math" panose="02040503050406030204" pitchFamily="18" charset="0"/>
                            <a:ea typeface="Cambria Math" panose="02040503050406030204" pitchFamily="18" charset="0"/>
                          </a:rPr>
                          <m:t>𝒮</m:t>
                        </m:r>
                      </m:e>
                      <m:sup>
                        <m:r>
                          <a:rPr lang="en-US" sz="1200" b="0" i="1" dirty="0" smtClean="0">
                            <a:latin typeface="Cambria Math" panose="02040503050406030204" pitchFamily="18" charset="0"/>
                            <a:ea typeface="Cambria Math" panose="02040503050406030204" pitchFamily="18" charset="0"/>
                          </a:rPr>
                          <m:t>+</m:t>
                        </m:r>
                      </m:sup>
                    </m:sSup>
                  </m:oMath>
                </a14:m>
                <a:r>
                  <a:rPr lang="en-US" sz="1200" dirty="0"/>
                  <a:t> are all states </a:t>
                </a:r>
              </a:p>
              <a:p>
                <a:pPr marL="0" indent="0">
                  <a:spcBef>
                    <a:spcPts val="0"/>
                  </a:spcBef>
                  <a:buNone/>
                </a:pPr>
                <a14:m>
                  <m:oMath xmlns:m="http://schemas.openxmlformats.org/officeDocument/2006/math">
                    <m:r>
                      <a:rPr lang="en-US" sz="1200" i="1" dirty="0" smtClean="0">
                        <a:latin typeface="Cambria Math" panose="02040503050406030204" pitchFamily="18" charset="0"/>
                        <a:ea typeface="Cambria Math" panose="02040503050406030204" pitchFamily="18" charset="0"/>
                      </a:rPr>
                      <m:t>𝒜</m:t>
                    </m:r>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set of all actions available in state </a:t>
                </a:r>
                <a14:m>
                  <m:oMath xmlns:m="http://schemas.openxmlformats.org/officeDocument/2006/math">
                    <m:r>
                      <a:rPr lang="en-US" sz="1200" i="1" dirty="0" smtClean="0">
                        <a:latin typeface="Cambria Math" panose="02040503050406030204" pitchFamily="18" charset="0"/>
                      </a:rPr>
                      <m:t>𝑠</m:t>
                    </m:r>
                  </m:oMath>
                </a14:m>
                <a:endParaRPr lang="en-US" sz="1200" dirty="0"/>
              </a:p>
              <a:p>
                <a:pPr marL="0" indent="0">
                  <a:spcBef>
                    <a:spcPts val="0"/>
                  </a:spcBef>
                  <a:buNone/>
                </a:pPr>
                <a14:m>
                  <m:oMath xmlns:m="http://schemas.openxmlformats.org/officeDocument/2006/math">
                    <m:r>
                      <a:rPr lang="en-US" sz="1200" i="1">
                        <a:latin typeface="Cambria Math" panose="02040503050406030204" pitchFamily="18" charset="0"/>
                      </a:rPr>
                      <m:t>𝛾</m:t>
                    </m:r>
                  </m:oMath>
                </a14:m>
                <a:r>
                  <a:rPr lang="en-US" sz="1200" dirty="0"/>
                  <a:t> 	discount-rate parameter</a:t>
                </a:r>
                <a:endParaRPr lang="en-US" sz="1200" i="1" dirty="0">
                  <a:latin typeface="Cambria Math" panose="02040503050406030204" pitchFamily="18" charset="0"/>
                </a:endParaRPr>
              </a:p>
              <a:p>
                <a:pPr marL="0" indent="0">
                  <a:spcBef>
                    <a:spcPts val="0"/>
                  </a:spcBef>
                  <a:buNone/>
                </a:pPr>
                <a14:m>
                  <m:oMath xmlns:m="http://schemas.openxmlformats.org/officeDocument/2006/math">
                    <m:r>
                      <a:rPr lang="en-US" sz="1200" i="1" dirty="0" smtClean="0">
                        <a:latin typeface="Cambria Math" panose="02040503050406030204" pitchFamily="18" charset="0"/>
                      </a:rPr>
                      <m:t>𝑡</m:t>
                    </m:r>
                  </m:oMath>
                </a14:m>
                <a:r>
                  <a:rPr lang="en-US" sz="1200" dirty="0"/>
                  <a:t> 	discrete time step</a:t>
                </a:r>
              </a:p>
              <a:p>
                <a:pPr marL="0" indent="0">
                  <a:spcBef>
                    <a:spcPts val="0"/>
                  </a:spcBef>
                  <a:buNone/>
                </a:pPr>
                <a14:m>
                  <m:oMath xmlns:m="http://schemas.openxmlformats.org/officeDocument/2006/math">
                    <m:r>
                      <a:rPr lang="en-US" sz="1200" i="1" dirty="0" smtClean="0">
                        <a:latin typeface="Cambria Math" panose="02040503050406030204" pitchFamily="18" charset="0"/>
                      </a:rPr>
                      <m:t>𝑇</m:t>
                    </m:r>
                  </m:oMath>
                </a14:m>
                <a:r>
                  <a:rPr lang="en-US" sz="1200" dirty="0"/>
                  <a:t> 	final time step of an episode (a.k.a. horizon)</a:t>
                </a:r>
              </a:p>
              <a:p>
                <a:pPr marL="0" indent="0">
                  <a:spcBef>
                    <a:spcPts val="0"/>
                  </a:spcBef>
                  <a:buNone/>
                </a:pPr>
                <a14:m>
                  <m:oMath xmlns:m="http://schemas.openxmlformats.org/officeDocument/2006/math">
                    <m:sSub>
                      <m:sSubPr>
                        <m:ctrlPr>
                          <a:rPr lang="en-US" sz="1200" i="1" dirty="0" smtClean="0">
                            <a:latin typeface="Cambria Math" panose="02040503050406030204" pitchFamily="18" charset="0"/>
                          </a:rPr>
                        </m:ctrlPr>
                      </m:sSubPr>
                      <m:e>
                        <m:r>
                          <a:rPr lang="en-US" sz="1200" i="1" dirty="0" smtClean="0">
                            <a:latin typeface="Cambria Math" panose="02040503050406030204" pitchFamily="18" charset="0"/>
                          </a:rPr>
                          <m:t>𝐴</m:t>
                        </m:r>
                      </m:e>
                      <m:sub>
                        <m:r>
                          <a:rPr lang="en-US" sz="1200" b="0" i="1" dirty="0" smtClean="0">
                            <a:latin typeface="Cambria Math" panose="02040503050406030204" pitchFamily="18" charset="0"/>
                          </a:rPr>
                          <m:t>𝑡</m:t>
                        </m:r>
                      </m:sub>
                    </m:sSub>
                  </m:oMath>
                </a14:m>
                <a:r>
                  <a:rPr lang="en-US" sz="1200" dirty="0"/>
                  <a:t> 	random variable for the action at time </a:t>
                </a:r>
                <a14:m>
                  <m:oMath xmlns:m="http://schemas.openxmlformats.org/officeDocument/2006/math">
                    <m:r>
                      <a:rPr lang="en-US" sz="1200" i="1" dirty="0" smtClean="0">
                        <a:latin typeface="Cambria Math" panose="02040503050406030204" pitchFamily="18" charset="0"/>
                      </a:rPr>
                      <m:t>𝑡</m:t>
                    </m:r>
                  </m:oMath>
                </a14:m>
                <a:endParaRPr lang="en-US" sz="1200" dirty="0"/>
              </a:p>
              <a:p>
                <a:pPr marL="0" indent="0">
                  <a:spcBef>
                    <a:spcPts val="0"/>
                  </a:spcBef>
                  <a:buNone/>
                </a:pPr>
                <a14:m>
                  <m:oMath xmlns:m="http://schemas.openxmlformats.org/officeDocument/2006/math">
                    <m:sSub>
                      <m:sSubPr>
                        <m:ctrlPr>
                          <a:rPr lang="en-US" sz="1200" i="1" dirty="0" smtClean="0">
                            <a:latin typeface="Cambria Math" panose="02040503050406030204" pitchFamily="18" charset="0"/>
                          </a:rPr>
                        </m:ctrlPr>
                      </m:sSubPr>
                      <m:e>
                        <m:r>
                          <a:rPr lang="en-US" sz="1200" i="1" dirty="0" smtClean="0">
                            <a:latin typeface="Cambria Math" panose="02040503050406030204" pitchFamily="18" charset="0"/>
                          </a:rPr>
                          <m:t>𝑆</m:t>
                        </m:r>
                      </m:e>
                      <m:sub>
                        <m:r>
                          <a:rPr lang="en-US" sz="1200" b="0" i="1" dirty="0" smtClean="0">
                            <a:latin typeface="Cambria Math" panose="02040503050406030204" pitchFamily="18" charset="0"/>
                          </a:rPr>
                          <m:t>𝑡</m:t>
                        </m:r>
                      </m:sub>
                    </m:sSub>
                  </m:oMath>
                </a14:m>
                <a:r>
                  <a:rPr lang="en-US" sz="1200" dirty="0"/>
                  <a:t>	random variable for the state at time </a:t>
                </a:r>
                <a14:m>
                  <m:oMath xmlns:m="http://schemas.openxmlformats.org/officeDocument/2006/math">
                    <m:r>
                      <a:rPr lang="en-US" sz="1200" i="1" dirty="0" smtClean="0">
                        <a:latin typeface="Cambria Math" panose="02040503050406030204" pitchFamily="18" charset="0"/>
                      </a:rPr>
                      <m:t>𝑡</m:t>
                    </m:r>
                  </m:oMath>
                </a14:m>
                <a:endParaRPr lang="en-US" sz="1200" dirty="0"/>
              </a:p>
              <a:p>
                <a:pPr marL="0" indent="0">
                  <a:spcBef>
                    <a:spcPts val="0"/>
                  </a:spcBef>
                  <a:buNone/>
                </a:pPr>
                <a14:m>
                  <m:oMath xmlns:m="http://schemas.openxmlformats.org/officeDocument/2006/math">
                    <m:sSub>
                      <m:sSubPr>
                        <m:ctrlPr>
                          <a:rPr lang="en-US" sz="1200" i="1" dirty="0" smtClean="0">
                            <a:latin typeface="Cambria Math" panose="02040503050406030204" pitchFamily="18" charset="0"/>
                          </a:rPr>
                        </m:ctrlPr>
                      </m:sSubPr>
                      <m:e>
                        <m:r>
                          <a:rPr lang="en-US" sz="1200" i="1" dirty="0" smtClean="0">
                            <a:latin typeface="Cambria Math" panose="02040503050406030204" pitchFamily="18" charset="0"/>
                          </a:rPr>
                          <m:t>𝑅</m:t>
                        </m:r>
                      </m:e>
                      <m:sub>
                        <m:r>
                          <a:rPr lang="en-US" sz="1200" b="0" i="1" dirty="0" smtClean="0">
                            <a:latin typeface="Cambria Math" panose="02040503050406030204" pitchFamily="18" charset="0"/>
                          </a:rPr>
                          <m:t>𝑡</m:t>
                        </m:r>
                      </m:sub>
                    </m:sSub>
                  </m:oMath>
                </a14:m>
                <a:r>
                  <a:rPr lang="en-US" sz="1200" dirty="0"/>
                  <a:t> 	random variable for the reward at time </a:t>
                </a:r>
                <a14:m>
                  <m:oMath xmlns:m="http://schemas.openxmlformats.org/officeDocument/2006/math">
                    <m:r>
                      <a:rPr lang="en-US" sz="1200" i="1" dirty="0" smtClean="0">
                        <a:latin typeface="Cambria Math" panose="02040503050406030204" pitchFamily="18" charset="0"/>
                      </a:rPr>
                      <m:t>𝑡</m:t>
                    </m:r>
                  </m:oMath>
                </a14:m>
                <a:endParaRPr lang="en-US" sz="1200" dirty="0"/>
              </a:p>
              <a:p>
                <a:pPr marL="0" indent="0">
                  <a:lnSpc>
                    <a:spcPct val="100000"/>
                  </a:lnSpc>
                  <a:spcBef>
                    <a:spcPts val="0"/>
                  </a:spcBef>
                  <a:buNone/>
                </a:pP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r>
                      <a:rPr lang="en-US" sz="1200" i="1" dirty="0">
                        <a:latin typeface="Cambria Math" panose="02040503050406030204" pitchFamily="18" charset="0"/>
                      </a:rPr>
                      <m:t>𝑝</m:t>
                    </m:r>
                    <m:d>
                      <m:dPr>
                        <m:endChr m:val="|"/>
                        <m:ctrlPr>
                          <a:rPr lang="en-US" sz="1200" i="1" dirty="0">
                            <a:latin typeface="Cambria Math" panose="02040503050406030204" pitchFamily="18" charset="0"/>
                          </a:rPr>
                        </m:ctrlPr>
                      </m:dPr>
                      <m:e>
                        <m:sSup>
                          <m:sSupPr>
                            <m:ctrlPr>
                              <a:rPr lang="en-US" sz="1200" i="1" dirty="0">
                                <a:latin typeface="Cambria Math" panose="02040503050406030204" pitchFamily="18" charset="0"/>
                              </a:rPr>
                            </m:ctrlPr>
                          </m:sSupPr>
                          <m:e>
                            <m:r>
                              <a:rPr lang="en-US" sz="1200" i="1" dirty="0">
                                <a:latin typeface="Cambria Math" panose="02040503050406030204" pitchFamily="18" charset="0"/>
                              </a:rPr>
                              <m:t>𝑠</m:t>
                            </m:r>
                          </m:e>
                          <m:sup>
                            <m:r>
                              <a:rPr lang="en-US" sz="1200" i="1" dirty="0">
                                <a:latin typeface="Cambria Math" panose="02040503050406030204" pitchFamily="18" charset="0"/>
                              </a:rPr>
                              <m:t>′</m:t>
                            </m:r>
                          </m:sup>
                        </m:sSup>
                        <m:r>
                          <a:rPr lang="en-US" sz="1200" b="0" i="1" dirty="0" smtClean="0">
                            <a:latin typeface="Cambria Math" panose="02040503050406030204" pitchFamily="18" charset="0"/>
                          </a:rPr>
                          <m:t>,</m:t>
                        </m:r>
                        <m:r>
                          <a:rPr lang="en-US" sz="1200" b="0" i="1" dirty="0" smtClean="0">
                            <a:latin typeface="Cambria Math" panose="02040503050406030204" pitchFamily="18" charset="0"/>
                          </a:rPr>
                          <m:t>𝑟</m:t>
                        </m:r>
                        <m:r>
                          <a:rPr lang="en-US" sz="1200" i="1" dirty="0">
                            <a:latin typeface="Cambria Math" panose="02040503050406030204" pitchFamily="18" charset="0"/>
                          </a:rPr>
                          <m:t> </m:t>
                        </m:r>
                      </m:e>
                    </m:d>
                    <m:r>
                      <a:rPr lang="en-US" sz="1200" i="1" dirty="0">
                        <a:latin typeface="Cambria Math" panose="02040503050406030204" pitchFamily="18" charset="0"/>
                      </a:rPr>
                      <m:t>𝑠</m:t>
                    </m:r>
                    <m:r>
                      <a:rPr lang="en-US" sz="1200" i="1" dirty="0">
                        <a:latin typeface="Cambria Math" panose="02040503050406030204" pitchFamily="18" charset="0"/>
                      </a:rPr>
                      <m:t>, </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probability of transition to state </a:t>
                </a:r>
                <a14:m>
                  <m:oMath xmlns:m="http://schemas.openxmlformats.org/officeDocument/2006/math">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and receiving reward </a:t>
                </a:r>
                <a14:m>
                  <m:oMath xmlns:m="http://schemas.openxmlformats.org/officeDocument/2006/math">
                    <m:r>
                      <a:rPr lang="en-US" sz="1200" b="0" i="1" smtClean="0">
                        <a:latin typeface="Cambria Math" panose="02040503050406030204" pitchFamily="18" charset="0"/>
                      </a:rPr>
                      <m:t>𝑟</m:t>
                    </m:r>
                  </m:oMath>
                </a14:m>
                <a:r>
                  <a:rPr lang="en-US" sz="1200" dirty="0"/>
                  <a:t>, </a:t>
                </a:r>
                <a:br>
                  <a:rPr lang="en-US" sz="1200" dirty="0"/>
                </a:br>
                <a:r>
                  <a:rPr lang="en-US" sz="1200" dirty="0"/>
                  <a:t>	from state </a:t>
                </a:r>
                <a14:m>
                  <m:oMath xmlns:m="http://schemas.openxmlformats.org/officeDocument/2006/math">
                    <m:r>
                      <a:rPr lang="en-US" sz="1200" i="1" dirty="0">
                        <a:latin typeface="Cambria Math" panose="02040503050406030204" pitchFamily="18" charset="0"/>
                      </a:rPr>
                      <m:t>𝑠</m:t>
                    </m:r>
                  </m:oMath>
                </a14:m>
                <a:r>
                  <a:rPr lang="en-US" sz="1200" dirty="0"/>
                  <a:t> taking action </a:t>
                </a:r>
                <a14:m>
                  <m:oMath xmlns:m="http://schemas.openxmlformats.org/officeDocument/2006/math">
                    <m:r>
                      <a:rPr lang="en-US" sz="1200" i="1" dirty="0">
                        <a:latin typeface="Cambria Math" panose="02040503050406030204" pitchFamily="18" charset="0"/>
                      </a:rPr>
                      <m:t>𝑎</m:t>
                    </m:r>
                  </m:oMath>
                </a14:m>
                <a:r>
                  <a:rPr lang="en-US" sz="1200" dirty="0"/>
                  <a:t>.</a:t>
                </a:r>
              </a:p>
              <a:p>
                <a:pPr marL="0" indent="0">
                  <a:lnSpc>
                    <a:spcPct val="100000"/>
                  </a:lnSpc>
                  <a:spcBef>
                    <a:spcPts val="0"/>
                  </a:spcBef>
                  <a:buNone/>
                </a:pPr>
                <a14:m>
                  <m:oMath xmlns:m="http://schemas.openxmlformats.org/officeDocument/2006/math">
                    <m:r>
                      <a:rPr lang="en-US" sz="1200" i="1" dirty="0">
                        <a:latin typeface="Cambria Math" panose="02040503050406030204" pitchFamily="18" charset="0"/>
                      </a:rPr>
                      <m:t>𝑝</m:t>
                    </m:r>
                    <m:d>
                      <m:dPr>
                        <m:endChr m:val="|"/>
                        <m:ctrlPr>
                          <a:rPr lang="en-US" sz="1200" i="1" dirty="0">
                            <a:latin typeface="Cambria Math" panose="02040503050406030204" pitchFamily="18" charset="0"/>
                          </a:rPr>
                        </m:ctrlPr>
                      </m:dPr>
                      <m:e>
                        <m:sSup>
                          <m:sSupPr>
                            <m:ctrlPr>
                              <a:rPr lang="en-US" sz="1200" i="1" dirty="0">
                                <a:latin typeface="Cambria Math" panose="02040503050406030204" pitchFamily="18" charset="0"/>
                              </a:rPr>
                            </m:ctrlPr>
                          </m:sSupPr>
                          <m:e>
                            <m:r>
                              <a:rPr lang="en-US" sz="1200" i="1" dirty="0">
                                <a:latin typeface="Cambria Math" panose="02040503050406030204" pitchFamily="18" charset="0"/>
                              </a:rPr>
                              <m:t>𝑠</m:t>
                            </m:r>
                          </m:e>
                          <m:sup>
                            <m:r>
                              <a:rPr lang="en-US" sz="1200" i="1" dirty="0">
                                <a:latin typeface="Cambria Math" panose="02040503050406030204" pitchFamily="18" charset="0"/>
                              </a:rPr>
                              <m:t>′</m:t>
                            </m:r>
                          </m:sup>
                        </m:sSup>
                      </m:e>
                    </m:d>
                    <m:r>
                      <a:rPr lang="en-US" sz="1200" i="1" dirty="0">
                        <a:latin typeface="Cambria Math" panose="02040503050406030204" pitchFamily="18" charset="0"/>
                      </a:rPr>
                      <m:t>𝑠</m:t>
                    </m:r>
                    <m:r>
                      <a:rPr lang="en-US" sz="1200" i="1" dirty="0">
                        <a:latin typeface="Cambria Math" panose="02040503050406030204" pitchFamily="18" charset="0"/>
                      </a:rPr>
                      <m:t>, </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probability of transition to state </a:t>
                </a:r>
                <a14:m>
                  <m:oMath xmlns:m="http://schemas.openxmlformats.org/officeDocument/2006/math">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fom state </a:t>
                </a:r>
                <a14:m>
                  <m:oMath xmlns:m="http://schemas.openxmlformats.org/officeDocument/2006/math">
                    <m:r>
                      <a:rPr lang="en-US" sz="1200" i="1" dirty="0">
                        <a:latin typeface="Cambria Math" panose="02040503050406030204" pitchFamily="18" charset="0"/>
                      </a:rPr>
                      <m:t>𝑠</m:t>
                    </m:r>
                  </m:oMath>
                </a14:m>
                <a:r>
                  <a:rPr lang="en-US" sz="1200" dirty="0"/>
                  <a:t> taking action </a:t>
                </a:r>
                <a14:m>
                  <m:oMath xmlns:m="http://schemas.openxmlformats.org/officeDocument/2006/math">
                    <m:r>
                      <a:rPr lang="en-US" sz="1200" i="1" dirty="0">
                        <a:latin typeface="Cambria Math" panose="02040503050406030204" pitchFamily="18" charset="0"/>
                      </a:rPr>
                      <m:t>𝑎</m:t>
                    </m:r>
                  </m:oMath>
                </a14:m>
                <a:r>
                  <a:rPr lang="en-US" sz="1200" dirty="0"/>
                  <a:t>.</a:t>
                </a:r>
              </a:p>
              <a:p>
                <a:pPr marL="0" indent="0">
                  <a:lnSpc>
                    <a:spcPct val="100000"/>
                  </a:lnSpc>
                  <a:spcBef>
                    <a:spcPts val="0"/>
                  </a:spcBef>
                  <a:buNone/>
                </a:pPr>
                <a14:m>
                  <m:oMath xmlns:m="http://schemas.openxmlformats.org/officeDocument/2006/math">
                    <m:r>
                      <a:rPr lang="en-US" sz="1200" b="0" i="1" smtClean="0">
                        <a:latin typeface="Cambria Math" panose="02040503050406030204" pitchFamily="18" charset="0"/>
                      </a:rPr>
                      <m:t>𝑟</m:t>
                    </m:r>
                    <m:r>
                      <a:rPr lang="en-US" sz="1200" b="0" i="1" smtClean="0">
                        <a:latin typeface="Cambria Math" panose="02040503050406030204" pitchFamily="18" charset="0"/>
                      </a:rPr>
                      <m:t>(</m:t>
                    </m:r>
                    <m:r>
                      <a:rPr lang="en-US" sz="1200" b="0" i="1" smtClean="0">
                        <a:latin typeface="Cambria Math" panose="02040503050406030204" pitchFamily="18" charset="0"/>
                      </a:rPr>
                      <m:t>𝑠</m:t>
                    </m:r>
                    <m:r>
                      <a:rPr lang="en-US" sz="1200" b="0" i="1" smtClean="0">
                        <a:latin typeface="Cambria Math" panose="02040503050406030204" pitchFamily="18" charset="0"/>
                      </a:rPr>
                      <m:t>,</m:t>
                    </m:r>
                    <m:r>
                      <a:rPr lang="en-US" sz="1200" b="0" i="1" smtClean="0">
                        <a:latin typeface="Cambria Math" panose="02040503050406030204" pitchFamily="18" charset="0"/>
                      </a:rPr>
                      <m:t>𝑎</m:t>
                    </m:r>
                    <m:r>
                      <a:rPr lang="en-US" sz="1200" b="0" i="1" smtClean="0">
                        <a:latin typeface="Cambria Math" panose="02040503050406030204" pitchFamily="18" charset="0"/>
                      </a:rPr>
                      <m:t>)</m:t>
                    </m:r>
                  </m:oMath>
                </a14:m>
                <a:r>
                  <a:rPr lang="en-US" sz="1200" dirty="0"/>
                  <a:t>	expected immediate reward from state </a:t>
                </a:r>
                <a14:m>
                  <m:oMath xmlns:m="http://schemas.openxmlformats.org/officeDocument/2006/math">
                    <m:r>
                      <a:rPr lang="en-US" sz="1200" i="1" dirty="0">
                        <a:latin typeface="Cambria Math" panose="02040503050406030204" pitchFamily="18" charset="0"/>
                      </a:rPr>
                      <m:t>𝑠</m:t>
                    </m:r>
                  </m:oMath>
                </a14:m>
                <a:r>
                  <a:rPr lang="en-US" sz="1200" dirty="0"/>
                  <a:t> after action </a:t>
                </a:r>
                <a14:m>
                  <m:oMath xmlns:m="http://schemas.openxmlformats.org/officeDocument/2006/math">
                    <m:r>
                      <a:rPr lang="en-US" sz="1200" i="1" dirty="0">
                        <a:latin typeface="Cambria Math" panose="02040503050406030204" pitchFamily="18" charset="0"/>
                      </a:rPr>
                      <m:t>𝑎</m:t>
                    </m:r>
                    <m:r>
                      <a:rPr lang="en-US" sz="1200" b="0" i="1" dirty="0" smtClean="0">
                        <a:latin typeface="Cambria Math" panose="02040503050406030204" pitchFamily="18" charset="0"/>
                      </a:rPr>
                      <m:t>.</m:t>
                    </m:r>
                  </m:oMath>
                </a14:m>
                <a:endParaRPr lang="en-US" sz="1200" b="0" dirty="0"/>
              </a:p>
              <a:p>
                <a:pPr marL="0" indent="0">
                  <a:lnSpc>
                    <a:spcPct val="100000"/>
                  </a:lnSpc>
                  <a:spcBef>
                    <a:spcPts val="0"/>
                  </a:spcBef>
                  <a:buNone/>
                </a:pPr>
                <a14:m>
                  <m:oMath xmlns:m="http://schemas.openxmlformats.org/officeDocument/2006/math">
                    <m:r>
                      <a:rPr lang="en-US" sz="1200" i="1">
                        <a:latin typeface="Cambria Math" panose="02040503050406030204" pitchFamily="18" charset="0"/>
                      </a:rPr>
                      <m:t>𝑟</m:t>
                    </m:r>
                    <m:r>
                      <a:rPr lang="en-US" sz="1200" i="1">
                        <a:latin typeface="Cambria Math" panose="02040503050406030204" pitchFamily="18" charset="0"/>
                      </a:rPr>
                      <m:t>(</m:t>
                    </m:r>
                    <m:r>
                      <a:rPr lang="en-US" sz="1200" i="1">
                        <a:latin typeface="Cambria Math" panose="02040503050406030204" pitchFamily="18" charset="0"/>
                      </a:rPr>
                      <m:t>𝑠</m:t>
                    </m:r>
                    <m:r>
                      <a:rPr lang="en-US" sz="1200" i="1">
                        <a:latin typeface="Cambria Math" panose="02040503050406030204" pitchFamily="18" charset="0"/>
                      </a:rPr>
                      <m:t>,</m:t>
                    </m:r>
                    <m:r>
                      <a:rPr lang="en-US" sz="1200" i="1">
                        <a:latin typeface="Cambria Math" panose="02040503050406030204" pitchFamily="18" charset="0"/>
                      </a:rPr>
                      <m:t>𝑎</m:t>
                    </m:r>
                    <m:r>
                      <a:rPr lang="en-US" sz="1200" b="0" i="1" smtClean="0">
                        <a:latin typeface="Cambria Math" panose="02040503050406030204" pitchFamily="18" charset="0"/>
                      </a:rPr>
                      <m:t>,</m:t>
                    </m:r>
                    <m:r>
                      <a:rPr lang="en-US" sz="1200" b="0" i="1" smtClean="0">
                        <a:latin typeface="Cambria Math" panose="02040503050406030204" pitchFamily="18" charset="0"/>
                      </a:rPr>
                      <m:t>𝑠</m:t>
                    </m:r>
                    <m:r>
                      <a:rPr lang="en-US" sz="1200" b="0" i="1" smtClean="0">
                        <a:latin typeface="Cambria Math" panose="02040503050406030204" pitchFamily="18" charset="0"/>
                      </a:rPr>
                      <m:t>′)</m:t>
                    </m:r>
                  </m:oMath>
                </a14:m>
                <a:r>
                  <a:rPr lang="en-US" sz="1200" dirty="0"/>
                  <a:t>	expected immediate reward from state </a:t>
                </a:r>
                <a14:m>
                  <m:oMath xmlns:m="http://schemas.openxmlformats.org/officeDocument/2006/math">
                    <m:r>
                      <a:rPr lang="en-US" sz="1200" i="1" dirty="0">
                        <a:latin typeface="Cambria Math" panose="02040503050406030204" pitchFamily="18" charset="0"/>
                      </a:rPr>
                      <m:t>𝑠</m:t>
                    </m:r>
                  </m:oMath>
                </a14:m>
                <a:r>
                  <a:rPr lang="en-US" sz="1200" dirty="0"/>
                  <a:t> to </a:t>
                </a:r>
                <a14:m>
                  <m:oMath xmlns:m="http://schemas.openxmlformats.org/officeDocument/2006/math">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𝑠</m:t>
                        </m:r>
                      </m:e>
                      <m:sup>
                        <m:r>
                          <a:rPr lang="en-US" sz="1200" b="0" i="1" smtClean="0">
                            <a:latin typeface="Cambria Math" panose="02040503050406030204" pitchFamily="18" charset="0"/>
                          </a:rPr>
                          <m:t>′</m:t>
                        </m:r>
                      </m:sup>
                    </m:sSup>
                  </m:oMath>
                </a14:m>
                <a:r>
                  <a:rPr lang="en-US" sz="1200" dirty="0"/>
                  <a:t> with action </a:t>
                </a:r>
                <a14:m>
                  <m:oMath xmlns:m="http://schemas.openxmlformats.org/officeDocument/2006/math">
                    <m:r>
                      <a:rPr lang="en-US" sz="1200" i="1" dirty="0">
                        <a:latin typeface="Cambria Math" panose="02040503050406030204" pitchFamily="18" charset="0"/>
                      </a:rPr>
                      <m:t>𝑎</m:t>
                    </m:r>
                    <m:r>
                      <a:rPr lang="en-US" sz="1200" b="0" i="1" dirty="0" smtClean="0">
                        <a:latin typeface="Cambria Math" panose="02040503050406030204" pitchFamily="18" charset="0"/>
                      </a:rPr>
                      <m:t>.</m:t>
                    </m:r>
                  </m:oMath>
                </a14:m>
                <a:endParaRPr lang="en-US" sz="1200" i="1" dirty="0">
                  <a:latin typeface="Cambria Math" panose="02040503050406030204" pitchFamily="18" charset="0"/>
                </a:endParaRPr>
              </a:p>
              <a:p>
                <a:pPr marL="0" indent="0">
                  <a:spcBef>
                    <a:spcPts val="0"/>
                  </a:spcBef>
                  <a:buNone/>
                </a:pPr>
                <a:endParaRPr lang="en-US" sz="1200" i="1" dirty="0">
                  <a:latin typeface="Cambria Math" panose="02040503050406030204" pitchFamily="18" charset="0"/>
                </a:endParaRPr>
              </a:p>
              <a:p>
                <a:pPr marL="0" indent="0">
                  <a:spcBef>
                    <a:spcPts val="0"/>
                  </a:spcBef>
                  <a:buNone/>
                </a:pPr>
                <a14:m>
                  <m:oMath xmlns:m="http://schemas.openxmlformats.org/officeDocument/2006/math">
                    <m:r>
                      <a:rPr lang="en-US" sz="1200" i="1" dirty="0">
                        <a:latin typeface="Cambria Math" panose="02040503050406030204" pitchFamily="18" charset="0"/>
                      </a:rPr>
                      <m:t>𝜋</m:t>
                    </m:r>
                    <m:r>
                      <a:rPr lang="en-US" sz="1200" i="1" dirty="0">
                        <a:latin typeface="Cambria Math" panose="02040503050406030204" pitchFamily="18" charset="0"/>
                      </a:rPr>
                      <m:t>(</m:t>
                    </m:r>
                    <m:r>
                      <a:rPr lang="en-US" sz="1200" i="1" dirty="0" err="1">
                        <a:latin typeface="Cambria Math" panose="02040503050406030204" pitchFamily="18" charset="0"/>
                      </a:rPr>
                      <m:t>𝑎</m:t>
                    </m:r>
                    <m:r>
                      <a:rPr lang="en-US" sz="1200" i="1" dirty="0" err="1">
                        <a:latin typeface="Cambria Math" panose="02040503050406030204" pitchFamily="18" charset="0"/>
                      </a:rPr>
                      <m:t>|</m:t>
                    </m:r>
                    <m:r>
                      <a:rPr lang="en-US" sz="1200" i="1" dirty="0" err="1">
                        <a:latin typeface="Cambria Math" panose="02040503050406030204" pitchFamily="18" charset="0"/>
                      </a:rPr>
                      <m:t>𝑠</m:t>
                    </m:r>
                    <m:r>
                      <a:rPr lang="en-US" sz="1200" i="1" dirty="0">
                        <a:latin typeface="Cambria Math" panose="02040503050406030204" pitchFamily="18" charset="0"/>
                      </a:rPr>
                      <m:t>)</m:t>
                    </m:r>
                  </m:oMath>
                </a14:m>
                <a:r>
                  <a:rPr lang="en-US" sz="1200" dirty="0"/>
                  <a:t>	probability of taking action </a:t>
                </a:r>
                <a14:m>
                  <m:oMath xmlns:m="http://schemas.openxmlformats.org/officeDocument/2006/math">
                    <m:r>
                      <a:rPr lang="en-US" sz="1200" i="1" dirty="0">
                        <a:latin typeface="Cambria Math" panose="02040503050406030204" pitchFamily="18" charset="0"/>
                      </a:rPr>
                      <m:t>𝑎</m:t>
                    </m:r>
                  </m:oMath>
                </a14:m>
                <a:r>
                  <a:rPr lang="en-US" sz="1200" dirty="0"/>
                  <a:t> in state </a:t>
                </a:r>
                <a14:m>
                  <m:oMath xmlns:m="http://schemas.openxmlformats.org/officeDocument/2006/math">
                    <m:r>
                      <a:rPr lang="en-US" sz="1200" i="1" dirty="0">
                        <a:latin typeface="Cambria Math" panose="02040503050406030204" pitchFamily="18" charset="0"/>
                      </a:rPr>
                      <m:t>𝑠</m:t>
                    </m:r>
                  </m:oMath>
                </a14:m>
                <a:r>
                  <a:rPr lang="en-US" sz="1200" dirty="0"/>
                  <a:t> under stochastic policy </a:t>
                </a:r>
                <a14:m>
                  <m:oMath xmlns:m="http://schemas.openxmlformats.org/officeDocument/2006/math">
                    <m:r>
                      <a:rPr lang="en-US" sz="1200" i="1" dirty="0">
                        <a:latin typeface="Cambria Math" panose="02040503050406030204" pitchFamily="18" charset="0"/>
                      </a:rPr>
                      <m:t>𝜋</m:t>
                    </m:r>
                  </m:oMath>
                </a14:m>
                <a:endParaRPr lang="en-US" sz="1200" dirty="0">
                  <a:ea typeface="Cambria Math" panose="02040503050406030204" pitchFamily="18" charset="0"/>
                </a:endParaRPr>
              </a:p>
              <a:p>
                <a:pPr marL="0" indent="0">
                  <a:spcBef>
                    <a:spcPts val="0"/>
                  </a:spcBef>
                  <a:buNone/>
                </a:pPr>
                <a14:m>
                  <m:oMath xmlns:m="http://schemas.openxmlformats.org/officeDocument/2006/math">
                    <m:r>
                      <a:rPr lang="en-US" sz="1200" i="1" dirty="0" smtClean="0">
                        <a:latin typeface="Cambria Math" panose="02040503050406030204" pitchFamily="18" charset="0"/>
                      </a:rPr>
                      <m:t>𝜋</m:t>
                    </m:r>
                    <m:r>
                      <a:rPr lang="en-US" sz="1200" i="1" dirty="0" smtClean="0">
                        <a:latin typeface="Cambria Math" panose="02040503050406030204" pitchFamily="18" charset="0"/>
                      </a:rPr>
                      <m:t>(</m:t>
                    </m:r>
                    <m:r>
                      <a:rPr lang="en-US" sz="1200" i="1" dirty="0" smtClean="0">
                        <a:latin typeface="Cambria Math" panose="02040503050406030204" pitchFamily="18" charset="0"/>
                      </a:rPr>
                      <m:t>𝑠</m:t>
                    </m:r>
                    <m:r>
                      <a:rPr lang="en-US" sz="1200" i="1" dirty="0" smtClean="0">
                        <a:latin typeface="Cambria Math" panose="02040503050406030204" pitchFamily="18" charset="0"/>
                      </a:rPr>
                      <m:t>)</m:t>
                    </m:r>
                  </m:oMath>
                </a14:m>
                <a:r>
                  <a:rPr lang="en-US" sz="1200" dirty="0"/>
                  <a:t>	action taken in state </a:t>
                </a:r>
                <a14:m>
                  <m:oMath xmlns:m="http://schemas.openxmlformats.org/officeDocument/2006/math">
                    <m:r>
                      <a:rPr lang="en-US" sz="1200" i="1" dirty="0" smtClean="0">
                        <a:latin typeface="Cambria Math" panose="02040503050406030204" pitchFamily="18" charset="0"/>
                      </a:rPr>
                      <m:t>𝑠</m:t>
                    </m:r>
                  </m:oMath>
                </a14:m>
                <a:r>
                  <a:rPr lang="en-US" sz="1200" dirty="0"/>
                  <a:t> under deterministic policy </a:t>
                </a:r>
                <a14:m>
                  <m:oMath xmlns:m="http://schemas.openxmlformats.org/officeDocument/2006/math">
                    <m:r>
                      <a:rPr lang="en-US" sz="1200" b="0" i="1" dirty="0" smtClean="0">
                        <a:latin typeface="Cambria Math" panose="02040503050406030204" pitchFamily="18" charset="0"/>
                      </a:rPr>
                      <m:t>𝜋</m:t>
                    </m:r>
                  </m:oMath>
                </a14:m>
                <a:endParaRPr lang="en-US" sz="1200" dirty="0"/>
              </a:p>
            </p:txBody>
          </p:sp>
        </mc:Choice>
        <mc:Fallback xmlns="">
          <p:sp>
            <p:nvSpPr>
              <p:cNvPr id="11" name="Content Placeholder 2" descr="MDP. s, s prime states. a an action. r a reward. S set of all (nonterminal) states, S to the power plus are all states. A(s) set of all actions available in state s. gamma discount-rate parameter. t discrete time step. T final time step of an episode (a.k.a. horizon). A sub t random variable for the action at time t. S sub t random variable for the state at time t. R sub t random variable for the reward at time t. p (s prime,r | s, a) probability of transition to state s prime and receiving reward r, from state s taking action a . p (s prime | s, a) probability of transition to state s prime fom state s taking action a . r(s,a) expected immediate reward from state s after action a. r(s,a,s prime) expected immediate reward from state s to s prime with action a. pi (a given s) probability of taking action a in state s under stochastic policy pi. pi (s) action taken in state s under deterministic policy pi">
                <a:extLst>
                  <a:ext uri="{FF2B5EF4-FFF2-40B4-BE49-F238E27FC236}">
                    <a16:creationId xmlns:a16="http://schemas.microsoft.com/office/drawing/2014/main" id="{6F45EA4F-65F9-5141-0B09-C395CF9CA7A0}"/>
                  </a:ext>
                </a:extLst>
              </p:cNvPr>
              <p:cNvSpPr txBox="1">
                <a:spLocks noRot="1" noChangeAspect="1" noMove="1" noResize="1" noEditPoints="1" noAdjustHandles="1" noChangeArrowheads="1" noChangeShapeType="1" noTextEdit="1"/>
              </p:cNvSpPr>
              <p:nvPr/>
            </p:nvSpPr>
            <p:spPr>
              <a:xfrm>
                <a:off x="6267338" y="1124198"/>
                <a:ext cx="5273179" cy="3693383"/>
              </a:xfrm>
              <a:prstGeom prst="rect">
                <a:avLst/>
              </a:prstGeom>
              <a:blipFill>
                <a:blip r:embed="rId4"/>
                <a:stretch>
                  <a:fillRect t="-328"/>
                </a:stretch>
              </a:blipFill>
            </p:spPr>
            <p:txBody>
              <a:bodyPr/>
              <a:lstStyle/>
              <a:p>
                <a:r>
                  <a:rPr lang="en-US">
                    <a:noFill/>
                  </a:rPr>
                  <a:t> </a:t>
                </a:r>
              </a:p>
            </p:txBody>
          </p:sp>
        </mc:Fallback>
      </mc:AlternateContent>
    </p:spTree>
    <p:extLst>
      <p:ext uri="{BB962C8B-B14F-4D97-AF65-F5344CB8AC3E}">
        <p14:creationId xmlns:p14="http://schemas.microsoft.com/office/powerpoint/2010/main" val="920694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FE431-EDDE-8F36-4640-902EF247D5D0}"/>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0F0BC304-9F53-1D52-E987-0090E50732AE}"/>
              </a:ext>
            </a:extLst>
          </p:cNvPr>
          <p:cNvSpPr>
            <a:spLocks noGrp="1"/>
          </p:cNvSpPr>
          <p:nvPr>
            <p:ph idx="1"/>
          </p:nvPr>
        </p:nvSpPr>
        <p:spPr>
          <a:xfrm>
            <a:off x="838200" y="1410346"/>
            <a:ext cx="7740408" cy="4440264"/>
          </a:xfrm>
        </p:spPr>
        <p:txBody>
          <a:bodyPr>
            <a:normAutofit fontScale="70000" lnSpcReduction="20000"/>
          </a:bodyPr>
          <a:lstStyle/>
          <a:p>
            <a:r>
              <a:rPr lang="en-US" b="1" dirty="0"/>
              <a:t>Model-free method</a:t>
            </a:r>
            <a:r>
              <a:rPr lang="en-US" dirty="0"/>
              <a:t>: </a:t>
            </a:r>
          </a:p>
          <a:p>
            <a:pPr lvl="1"/>
            <a:r>
              <a:rPr lang="en-US" dirty="0"/>
              <a:t>We do not assume knowledge of the environment model (the MDP). </a:t>
            </a:r>
          </a:p>
          <a:p>
            <a:pPr lvl="1"/>
            <a:r>
              <a:rPr lang="en-US" dirty="0"/>
              <a:t>We use “experience” = </a:t>
            </a:r>
            <a:r>
              <a:rPr lang="en-US" b="1" dirty="0"/>
              <a:t>sample sequences </a:t>
            </a:r>
            <a:r>
              <a:rPr lang="en-US" dirty="0"/>
              <a:t>of states, actions, and rewards from actual or simulated interactions with the environment.</a:t>
            </a:r>
          </a:p>
          <a:p>
            <a:r>
              <a:rPr lang="en-US" b="1" dirty="0"/>
              <a:t>Remember from AI</a:t>
            </a:r>
            <a:r>
              <a:rPr lang="en-US" dirty="0"/>
              <a:t>: model-free means the agent faces an unknown, fully observable, possibly stochastic environment.</a:t>
            </a:r>
          </a:p>
          <a:p>
            <a:r>
              <a:rPr lang="en-US" b="1" dirty="0"/>
              <a:t>Advantages</a:t>
            </a:r>
            <a:r>
              <a:rPr lang="en-US" dirty="0"/>
              <a:t>: </a:t>
            </a:r>
          </a:p>
          <a:p>
            <a:pPr lvl="1"/>
            <a:r>
              <a:rPr lang="en-US" dirty="0"/>
              <a:t>We often have </a:t>
            </a:r>
            <a:r>
              <a:rPr lang="en-US" b="1" dirty="0"/>
              <a:t>sample access </a:t>
            </a:r>
            <a:r>
              <a:rPr lang="en-US" dirty="0"/>
              <a:t>to systems. </a:t>
            </a:r>
          </a:p>
          <a:p>
            <a:pPr lvl="1"/>
            <a:r>
              <a:rPr lang="en-US" dirty="0"/>
              <a:t>It is easier to simulate transitions than to specify the complete MDP.</a:t>
            </a:r>
          </a:p>
          <a:p>
            <a:endParaRPr lang="en-US" dirty="0"/>
          </a:p>
          <a:p>
            <a:r>
              <a:rPr lang="en-US" b="1" dirty="0"/>
              <a:t>Monte Carlo (MC) methods </a:t>
            </a:r>
            <a:r>
              <a:rPr lang="en-US" dirty="0"/>
              <a:t>are a family of algorithms that rely on repeated random sampling to obtain numerical results (see example to the right).</a:t>
            </a:r>
          </a:p>
          <a:p>
            <a:endParaRPr lang="en-US" dirty="0"/>
          </a:p>
          <a:p>
            <a:r>
              <a:rPr lang="en-US" b="1" dirty="0"/>
              <a:t>Idea</a:t>
            </a:r>
            <a:r>
              <a:rPr lang="en-US" dirty="0"/>
              <a:t>: Use MC to sample sequences from the environment and use them to estimate the value function.</a:t>
            </a:r>
          </a:p>
          <a:p>
            <a:endParaRPr lang="en-US" b="1" dirty="0"/>
          </a:p>
          <a:p>
            <a:pPr lvl="1"/>
            <a:endParaRPr lang="en-US" sz="1400" dirty="0"/>
          </a:p>
        </p:txBody>
      </p:sp>
      <p:pic>
        <p:nvPicPr>
          <p:cNvPr id="1026" name="Picture 2" descr="Monte Carlo estimate of pi: a quarter circle of radius 1 inside the unit square, with counters r = 0 (red, points inside the circle), b = 0 (blue, points outside) and n = r + b = 0. The formula below reads pi over 4 ≈ r over n, so pi ≈ 4 r over n, which equals 4 times 0 over 0, a question mark, because no points have been sampled yet.">
            <a:extLst>
              <a:ext uri="{FF2B5EF4-FFF2-40B4-BE49-F238E27FC236}">
                <a16:creationId xmlns:a16="http://schemas.microsoft.com/office/drawing/2014/main" id="{2E5BBE28-6746-AC67-4CA0-832813EC39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19447" y="1706406"/>
            <a:ext cx="3143250" cy="37147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C250BAF-41C6-59F7-4096-81676F51238E}"/>
              </a:ext>
            </a:extLst>
          </p:cNvPr>
          <p:cNvSpPr txBox="1"/>
          <p:nvPr/>
        </p:nvSpPr>
        <p:spPr>
          <a:xfrm>
            <a:off x="8785832" y="5530632"/>
            <a:ext cx="3143250" cy="646331"/>
          </a:xfrm>
          <a:prstGeom prst="rect">
            <a:avLst/>
          </a:prstGeom>
          <a:noFill/>
        </p:spPr>
        <p:txBody>
          <a:bodyPr wrap="square" rtlCol="0">
            <a:spAutoFit/>
          </a:bodyPr>
          <a:lstStyle/>
          <a:p>
            <a:pPr algn="ctr"/>
            <a:r>
              <a:rPr lang="en-US" sz="1200" dirty="0"/>
              <a:t>Monte Carlo method applied to approximating the value of π</a:t>
            </a:r>
            <a:br>
              <a:rPr lang="en-US" sz="1200" dirty="0"/>
            </a:br>
            <a:r>
              <a:rPr lang="en-US" sz="1200" dirty="0"/>
              <a:t>Source: Wikipedia</a:t>
            </a:r>
          </a:p>
        </p:txBody>
      </p:sp>
      <p:sp>
        <p:nvSpPr>
          <p:cNvPr id="5" name="Speech Bubble: Rectangle with Corners Rounded 4">
            <a:extLst>
              <a:ext uri="{FF2B5EF4-FFF2-40B4-BE49-F238E27FC236}">
                <a16:creationId xmlns:a16="http://schemas.microsoft.com/office/drawing/2014/main" id="{C3A7A3DE-08D7-B48D-7AF1-83E3C0372968}"/>
              </a:ext>
              <a:ext uri="{C183D7F6-B498-43B3-948B-1728B52AA6E4}">
                <adec:decorative xmlns:adec="http://schemas.microsoft.com/office/drawing/2017/decorative" val="1"/>
              </a:ext>
            </a:extLst>
          </p:cNvPr>
          <p:cNvSpPr/>
          <p:nvPr/>
        </p:nvSpPr>
        <p:spPr>
          <a:xfrm>
            <a:off x="9550866" y="681036"/>
            <a:ext cx="1992385" cy="669591"/>
          </a:xfrm>
          <a:prstGeom prst="wedgeRoundRectCallout">
            <a:avLst>
              <a:gd name="adj1" fmla="val -29465"/>
              <a:gd name="adj2" fmla="val 18516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The number of randomly sampled points is proportional to the area.</a:t>
            </a:r>
          </a:p>
        </p:txBody>
      </p:sp>
    </p:spTree>
    <p:extLst>
      <p:ext uri="{BB962C8B-B14F-4D97-AF65-F5344CB8AC3E}">
        <p14:creationId xmlns:p14="http://schemas.microsoft.com/office/powerpoint/2010/main" val="1433940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569BE52-795C-043C-CCA6-287BC2A4DDE5}"/>
              </a:ext>
            </a:extLst>
          </p:cNvPr>
          <p:cNvSpPr>
            <a:spLocks noGrp="1"/>
          </p:cNvSpPr>
          <p:nvPr>
            <p:ph type="title"/>
          </p:nvPr>
        </p:nvSpPr>
        <p:spPr/>
        <p:txBody>
          <a:bodyPr/>
          <a:lstStyle/>
          <a:p>
            <a:r>
              <a:rPr lang="en-US" dirty="0"/>
              <a:t>Monte Carlo Prediction</a:t>
            </a:r>
          </a:p>
        </p:txBody>
      </p:sp>
      <p:sp>
        <p:nvSpPr>
          <p:cNvPr id="5" name="Text Placeholder 4">
            <a:extLst>
              <a:ext uri="{FF2B5EF4-FFF2-40B4-BE49-F238E27FC236}">
                <a16:creationId xmlns:a16="http://schemas.microsoft.com/office/drawing/2014/main" id="{DA589223-75A8-17BF-92B9-9328E92A3F4C}"/>
              </a:ext>
            </a:extLst>
          </p:cNvPr>
          <p:cNvSpPr>
            <a:spLocks noGrp="1"/>
          </p:cNvSpPr>
          <p:nvPr>
            <p:ph type="body" idx="1"/>
          </p:nvPr>
        </p:nvSpPr>
        <p:spPr/>
        <p:txBody>
          <a:bodyPr/>
          <a:lstStyle/>
          <a:p>
            <a:r>
              <a:rPr lang="en-US" dirty="0"/>
              <a:t>Estimate state values by sampling with a given policy.</a:t>
            </a:r>
          </a:p>
        </p:txBody>
      </p:sp>
    </p:spTree>
    <p:extLst>
      <p:ext uri="{BB962C8B-B14F-4D97-AF65-F5344CB8AC3E}">
        <p14:creationId xmlns:p14="http://schemas.microsoft.com/office/powerpoint/2010/main" val="3542963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D8304-5614-6981-E0C5-60E8EDCDF0BA}"/>
              </a:ext>
            </a:extLst>
          </p:cNvPr>
          <p:cNvSpPr>
            <a:spLocks noGrp="1"/>
          </p:cNvSpPr>
          <p:nvPr>
            <p:ph type="title"/>
          </p:nvPr>
        </p:nvSpPr>
        <p:spPr/>
        <p:txBody>
          <a:bodyPr/>
          <a:lstStyle/>
          <a:p>
            <a:r>
              <a:rPr lang="en-US" dirty="0"/>
              <a:t>MC Value Function Approximation</a:t>
            </a:r>
          </a:p>
        </p:txBody>
      </p:sp>
      <mc:AlternateContent xmlns:mc="http://schemas.openxmlformats.org/markup-compatibility/2006" xmlns:a14="http://schemas.microsoft.com/office/drawing/2010/main">
        <mc:Choice Requires="a14">
          <p:sp>
            <p:nvSpPr>
              <p:cNvPr id="3" name="Content Placeholder 2" descr="Use the sample-average method to approximate the expectation in:. v sub pi (s) equals E sub pi [G sub t | S sub t equals s]. Convergence: The average return of many sampled sequences (called episodes or trajectories) starting at s and following pi converges to the true expectation as the number of samples increases. v sub pi (s) equals lim over n to infinity, of 1 over n the sum over k equals 1 to n, of G sub t given S sub t equals s, pi. Properties:. High Variance: Sampling a single episode return has high variance since it contains the randomness over the whole sampled episode. Averaging over many sampled returns reduces variance. Unbiased: The sample-average method provides an unbiased estimate (is on average correct) and thus converges for large n . Not a true online method: This methods needs to sample whole episodes before any calculation can be done. It is not a true step-by-step online method!">
                <a:extLst>
                  <a:ext uri="{FF2B5EF4-FFF2-40B4-BE49-F238E27FC236}">
                    <a16:creationId xmlns:a16="http://schemas.microsoft.com/office/drawing/2014/main" id="{37FE2CD6-117F-29DD-2959-E24BE0DFA075}"/>
                  </a:ext>
                </a:extLst>
              </p:cNvPr>
              <p:cNvSpPr>
                <a:spLocks noGrp="1"/>
              </p:cNvSpPr>
              <p:nvPr>
                <p:ph idx="1"/>
              </p:nvPr>
            </p:nvSpPr>
            <p:spPr>
              <a:xfrm>
                <a:off x="838200" y="1397330"/>
                <a:ext cx="10515600" cy="4941477"/>
              </a:xfrm>
            </p:spPr>
            <p:txBody>
              <a:bodyPr>
                <a:normAutofit fontScale="62500" lnSpcReduction="20000"/>
              </a:bodyPr>
              <a:lstStyle/>
              <a:p>
                <a:r>
                  <a:rPr lang="en-US" dirty="0"/>
                  <a:t>Use the sample-average method to approximate the expectation in:</a:t>
                </a:r>
              </a:p>
              <a:p>
                <a:pPr marL="0" indent="0">
                  <a:buNone/>
                </a:pPr>
                <a:br>
                  <a:rPr lang="en-US" dirty="0"/>
                </a:br>
                <a:br>
                  <a:rPr lang="en-US" dirty="0"/>
                </a:b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𝜋</m:t>
                          </m:r>
                        </m:sub>
                      </m:sSub>
                      <m:d>
                        <m:dPr>
                          <m:ctrlPr>
                            <a:rPr lang="en-US" i="1">
                              <a:latin typeface="Cambria Math" panose="02040503050406030204" pitchFamily="18" charset="0"/>
                            </a:rPr>
                          </m:ctrlPr>
                        </m:dPr>
                        <m:e>
                          <m:r>
                            <a:rPr lang="en-US" i="1">
                              <a:latin typeface="Cambria Math" panose="02040503050406030204" pitchFamily="18" charset="0"/>
                            </a:rPr>
                            <m:t>𝑠</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𝔼</m:t>
                          </m:r>
                        </m:e>
                        <m:sub>
                          <m:r>
                            <a:rPr lang="en-US" i="1">
                              <a:latin typeface="Cambria Math" panose="02040503050406030204" pitchFamily="18" charset="0"/>
                            </a:rPr>
                            <m:t>𝜋</m:t>
                          </m:r>
                        </m:sub>
                      </m:s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sub>
                          </m:sSub>
                          <m:r>
                            <a:rPr lang="en-US" i="1">
                              <a:latin typeface="Cambria Math" panose="02040503050406030204" pitchFamily="18" charset="0"/>
                            </a:rPr>
                            <m:t> </m:t>
                          </m:r>
                        </m:e>
                      </m:d>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oMath>
                  </m:oMathPara>
                </a14:m>
                <a:br>
                  <a:rPr lang="en-US" i="1" dirty="0">
                    <a:latin typeface="Cambria Math" panose="02040503050406030204" pitchFamily="18" charset="0"/>
                  </a:rPr>
                </a:br>
                <a:br>
                  <a:rPr lang="en-US" i="1" dirty="0">
                    <a:latin typeface="Cambria Math" panose="02040503050406030204" pitchFamily="18" charset="0"/>
                  </a:rPr>
                </a:br>
                <a:endParaRPr lang="en-US" i="1" dirty="0">
                  <a:latin typeface="Cambria Math" panose="02040503050406030204" pitchFamily="18" charset="0"/>
                </a:endParaRPr>
              </a:p>
              <a:p>
                <a:r>
                  <a:rPr lang="en-US" b="1" dirty="0"/>
                  <a:t>Convergence</a:t>
                </a:r>
                <a:r>
                  <a:rPr lang="en-US" dirty="0"/>
                  <a:t>: The average return of many sampled sequences (called episodes or trajectories) starting at </a:t>
                </a:r>
                <a14:m>
                  <m:oMath xmlns:m="http://schemas.openxmlformats.org/officeDocument/2006/math">
                    <m:r>
                      <a:rPr lang="en-US" i="1">
                        <a:latin typeface="Cambria Math" panose="02040503050406030204" pitchFamily="18" charset="0"/>
                      </a:rPr>
                      <m:t>𝑠</m:t>
                    </m:r>
                  </m:oMath>
                </a14:m>
                <a:r>
                  <a:rPr lang="en-US" dirty="0"/>
                  <a:t> and following </a:t>
                </a:r>
                <a14:m>
                  <m:oMath xmlns:m="http://schemas.openxmlformats.org/officeDocument/2006/math">
                    <m:r>
                      <a:rPr lang="en-US" i="1">
                        <a:latin typeface="Cambria Math" panose="02040503050406030204" pitchFamily="18" charset="0"/>
                      </a:rPr>
                      <m:t>𝜋</m:t>
                    </m:r>
                    <m:r>
                      <a:rPr lang="en-US">
                        <a:latin typeface="Cambria Math" panose="02040503050406030204" pitchFamily="18" charset="0"/>
                      </a:rPr>
                      <m:t> </m:t>
                    </m:r>
                  </m:oMath>
                </a14:m>
                <a:r>
                  <a:rPr lang="en-US" dirty="0"/>
                  <a:t>converges to the true expectation as the number of samples increases.</a:t>
                </a:r>
              </a:p>
              <a:p>
                <a:pPr marL="0" indent="0">
                  <a:buNone/>
                </a:pPr>
                <a:br>
                  <a:rPr lang="en-US" dirty="0"/>
                </a:br>
                <a:br>
                  <a:rPr lang="en-US" dirty="0"/>
                </a:b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𝜋</m:t>
                          </m:r>
                        </m:sub>
                      </m:sSub>
                      <m:d>
                        <m:dPr>
                          <m:ctrlPr>
                            <a:rPr lang="en-US" i="1">
                              <a:latin typeface="Cambria Math" panose="02040503050406030204" pitchFamily="18" charset="0"/>
                            </a:rPr>
                          </m:ctrlPr>
                        </m:dPr>
                        <m:e>
                          <m:r>
                            <a:rPr lang="en-US" i="1">
                              <a:latin typeface="Cambria Math" panose="02040503050406030204" pitchFamily="18" charset="0"/>
                            </a:rPr>
                            <m:t>𝑠</m:t>
                          </m:r>
                        </m:e>
                      </m:d>
                      <m:r>
                        <a:rPr lang="en-US" i="1">
                          <a:latin typeface="Cambria Math" panose="02040503050406030204" pitchFamily="18" charset="0"/>
                        </a:rPr>
                        <m:t>=</m:t>
                      </m:r>
                      <m:func>
                        <m:funcPr>
                          <m:ctrlPr>
                            <a:rPr lang="en-US" i="1">
                              <a:latin typeface="Cambria Math" panose="02040503050406030204" pitchFamily="18" charset="0"/>
                            </a:rPr>
                          </m:ctrlPr>
                        </m:funcPr>
                        <m:fName>
                          <m:limLow>
                            <m:limLowPr>
                              <m:ctrlPr>
                                <a:rPr lang="en-US">
                                  <a:latin typeface="Cambria Math" panose="02040503050406030204" pitchFamily="18" charset="0"/>
                                </a:rPr>
                              </m:ctrlPr>
                            </m:limLowPr>
                            <m:e>
                              <m:r>
                                <m:rPr>
                                  <m:sty m:val="p"/>
                                </m:rPr>
                                <a:rPr lang="en-US">
                                  <a:latin typeface="Cambria Math" panose="02040503050406030204" pitchFamily="18" charset="0"/>
                                </a:rPr>
                                <m:t>lim</m:t>
                              </m:r>
                            </m:e>
                            <m:lim>
                              <m:r>
                                <a:rPr lang="en-US" i="1">
                                  <a:latin typeface="Cambria Math" panose="02040503050406030204" pitchFamily="18" charset="0"/>
                                </a:rPr>
                                <m:t>𝑛</m:t>
                              </m:r>
                              <m:r>
                                <a:rPr lang="en-US" i="1">
                                  <a:latin typeface="Cambria Math" panose="02040503050406030204" pitchFamily="18" charset="0"/>
                                </a:rPr>
                                <m:t>→∞</m:t>
                              </m:r>
                            </m:lim>
                          </m:limLow>
                        </m:fName>
                        <m:e>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𝑛</m:t>
                              </m:r>
                            </m:den>
                          </m:f>
                          <m:nary>
                            <m:naryPr>
                              <m:chr m:val="∑"/>
                              <m:limLoc m:val="subSup"/>
                              <m:ctrlPr>
                                <a:rPr lang="en-US" i="1">
                                  <a:latin typeface="Cambria Math" panose="02040503050406030204" pitchFamily="18" charset="0"/>
                                </a:rPr>
                              </m:ctrlPr>
                            </m:naryPr>
                            <m:sub>
                              <m:r>
                                <m:rPr>
                                  <m:brk m:alnAt="25"/>
                                </m:rPr>
                                <a:rPr lang="en-US" i="1">
                                  <a:latin typeface="Cambria Math" panose="02040503050406030204" pitchFamily="18" charset="0"/>
                                </a:rPr>
                                <m:t>𝑘</m:t>
                              </m:r>
                              <m:r>
                                <a:rPr lang="en-US" i="1">
                                  <a:latin typeface="Cambria Math" panose="02040503050406030204" pitchFamily="18" charset="0"/>
                                </a:rPr>
                                <m:t>=1</m:t>
                              </m:r>
                            </m:sub>
                            <m:sup>
                              <m:r>
                                <a:rPr lang="en-US" i="1">
                                  <a:latin typeface="Cambria Math" panose="02040503050406030204" pitchFamily="18" charset="0"/>
                                </a:rPr>
                                <m:t>𝑛</m:t>
                              </m:r>
                            </m:sup>
                            <m:e>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𝜋</m:t>
                                  </m:r>
                                </m:sub>
                              </m:sSub>
                            </m:e>
                          </m:nary>
                        </m:e>
                      </m:func>
                    </m:oMath>
                  </m:oMathPara>
                </a14:m>
                <a:endParaRPr lang="en-US" dirty="0"/>
              </a:p>
              <a:p>
                <a:pPr marL="0" indent="0">
                  <a:buNone/>
                </a:pPr>
                <a:endParaRPr lang="en-US" b="1" dirty="0"/>
              </a:p>
              <a:p>
                <a:r>
                  <a:rPr lang="en-US" b="1" dirty="0"/>
                  <a:t>Properties</a:t>
                </a:r>
                <a:r>
                  <a:rPr lang="en-US" dirty="0"/>
                  <a:t>:</a:t>
                </a:r>
              </a:p>
              <a:p>
                <a:pPr lvl="1"/>
                <a:r>
                  <a:rPr lang="en-US" sz="2600" b="1" dirty="0"/>
                  <a:t>High Variance</a:t>
                </a:r>
                <a:r>
                  <a:rPr lang="en-US" sz="2600" dirty="0"/>
                  <a:t>: Sampling a single episode return has</a:t>
                </a:r>
                <a:r>
                  <a:rPr lang="en-US" sz="2600" b="1" dirty="0"/>
                  <a:t> </a:t>
                </a:r>
                <a:r>
                  <a:rPr lang="en-US" sz="2600" dirty="0"/>
                  <a:t>high variance since it contains the randomness over the whole sampled episode. Averaging over many sampled returns reduces variance.</a:t>
                </a:r>
              </a:p>
              <a:p>
                <a:pPr lvl="1"/>
                <a:r>
                  <a:rPr lang="en-US" sz="2600" b="1" dirty="0"/>
                  <a:t>Unbiased</a:t>
                </a:r>
                <a:r>
                  <a:rPr lang="en-US" sz="2600" dirty="0"/>
                  <a:t>: The sample-average method provides an unbiased estimate (is on average correct) and thus converges for large </a:t>
                </a:r>
                <a14:m>
                  <m:oMath xmlns:m="http://schemas.openxmlformats.org/officeDocument/2006/math">
                    <m:r>
                      <a:rPr lang="en-US" sz="2600" i="1">
                        <a:latin typeface="Cambria Math" panose="02040503050406030204" pitchFamily="18" charset="0"/>
                      </a:rPr>
                      <m:t>𝑛</m:t>
                    </m:r>
                  </m:oMath>
                </a14:m>
                <a:r>
                  <a:rPr lang="en-US" sz="2600" dirty="0"/>
                  <a:t>.</a:t>
                </a:r>
              </a:p>
              <a:p>
                <a:pPr lvl="1"/>
                <a:r>
                  <a:rPr lang="en-US" sz="2600" b="1" dirty="0"/>
                  <a:t>Not a true online method</a:t>
                </a:r>
                <a:r>
                  <a:rPr lang="en-US" sz="2600" dirty="0"/>
                  <a:t>: This methods needs to sample whole episodes before any calculation can be done. It is not a true step-by-step online method!</a:t>
                </a:r>
              </a:p>
            </p:txBody>
          </p:sp>
        </mc:Choice>
        <mc:Fallback xmlns="">
          <p:sp>
            <p:nvSpPr>
              <p:cNvPr id="3" name="Content Placeholder 2" descr="Use the sample-average method to approximate the expectation in:. v sub pi (s) equals E sub pi [G sub t | S sub t equals s]. Convergence: The average return of many sampled sequences (called episodes or trajectories) starting at s and following pi converges to the true expectation as the number of samples increases. v sub pi (s) equals lim over n to infinity, of 1 over n the sum over k equals 1 to n, of G sub t given S sub t equals s, pi. Properties:. High Variance: Sampling a single episode return has high variance since it contains the randomness over the whole sampled episode. Averaging over many sampled returns reduces variance. Unbiased: The sample-average method provides an unbiased estimate (is on average correct) and thus converges for large n . Not a true online method: This methods needs to sample whole episodes before any calculation can be done. It is not a true step-by-step online method!">
                <a:extLst>
                  <a:ext uri="{FF2B5EF4-FFF2-40B4-BE49-F238E27FC236}">
                    <a16:creationId xmlns:a16="http://schemas.microsoft.com/office/drawing/2014/main" id="{37FE2CD6-117F-29DD-2959-E24BE0DFA075}"/>
                  </a:ext>
                </a:extLst>
              </p:cNvPr>
              <p:cNvSpPr>
                <a:spLocks noGrp="1" noRot="1" noChangeAspect="1" noMove="1" noResize="1" noEditPoints="1" noAdjustHandles="1" noChangeArrowheads="1" noChangeShapeType="1" noTextEdit="1"/>
              </p:cNvSpPr>
              <p:nvPr>
                <p:ph idx="1"/>
              </p:nvPr>
            </p:nvSpPr>
            <p:spPr>
              <a:xfrm>
                <a:off x="838200" y="1397330"/>
                <a:ext cx="10515600" cy="4941477"/>
              </a:xfrm>
              <a:blipFill>
                <a:blip r:embed="rId2"/>
                <a:stretch>
                  <a:fillRect l="-406" t="-1850" r="-522"/>
                </a:stretch>
              </a:blipFill>
            </p:spPr>
            <p:txBody>
              <a:bodyPr/>
              <a:lstStyle/>
              <a:p>
                <a:r>
                  <a:rPr lang="en-US">
                    <a:noFill/>
                  </a:rPr>
                  <a:t> </a:t>
                </a:r>
              </a:p>
            </p:txBody>
          </p:sp>
        </mc:Fallback>
      </mc:AlternateContent>
    </p:spTree>
    <p:extLst>
      <p:ext uri="{BB962C8B-B14F-4D97-AF65-F5344CB8AC3E}">
        <p14:creationId xmlns:p14="http://schemas.microsoft.com/office/powerpoint/2010/main" val="34047441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descr="MC Prediction: Estimate v sub pi for a given pi">
                <a:extLst>
                  <a:ext uri="{FF2B5EF4-FFF2-40B4-BE49-F238E27FC236}">
                    <a16:creationId xmlns:a16="http://schemas.microsoft.com/office/drawing/2014/main" id="{2DDF6F97-103E-18B6-D51A-B1397057EA6F}"/>
                  </a:ext>
                </a:extLst>
              </p:cNvPr>
              <p:cNvSpPr>
                <a:spLocks noGrp="1"/>
              </p:cNvSpPr>
              <p:nvPr>
                <p:ph type="title"/>
              </p:nvPr>
            </p:nvSpPr>
            <p:spPr/>
            <p:txBody>
              <a:bodyPr>
                <a:normAutofit/>
              </a:bodyPr>
              <a:lstStyle/>
              <a:p>
                <a:r>
                  <a:rPr lang="en-US" dirty="0"/>
                  <a:t>MC Prediction: Estimate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𝜋</m:t>
                        </m:r>
                      </m:sub>
                    </m:sSub>
                  </m:oMath>
                </a14:m>
                <a:r>
                  <a:rPr lang="en-US" dirty="0"/>
                  <a:t> for a given </a:t>
                </a:r>
                <a14:m>
                  <m:oMath xmlns:m="http://schemas.openxmlformats.org/officeDocument/2006/math">
                    <m:r>
                      <a:rPr lang="en-US" b="0" i="1" smtClean="0">
                        <a:latin typeface="Cambria Math" panose="02040503050406030204" pitchFamily="18" charset="0"/>
                      </a:rPr>
                      <m:t>𝜋</m:t>
                    </m:r>
                  </m:oMath>
                </a14:m>
                <a:endParaRPr lang="en-US" dirty="0"/>
              </a:p>
            </p:txBody>
          </p:sp>
        </mc:Choice>
        <mc:Fallback xmlns="">
          <p:sp>
            <p:nvSpPr>
              <p:cNvPr id="2" name="Title 1" descr="MC Prediction: Estimate v sub pi for a given pi">
                <a:extLst>
                  <a:ext uri="{FF2B5EF4-FFF2-40B4-BE49-F238E27FC236}">
                    <a16:creationId xmlns:a16="http://schemas.microsoft.com/office/drawing/2014/main" id="{2DDF6F97-103E-18B6-D51A-B1397057EA6F}"/>
                  </a:ext>
                </a:extLst>
              </p:cNvPr>
              <p:cNvSpPr>
                <a:spLocks noGrp="1" noRot="1" noChangeAspect="1" noMove="1" noResize="1" noEditPoints="1" noAdjustHandles="1" noChangeArrowheads="1" noChangeShapeType="1" noTextEdit="1"/>
              </p:cNvSpPr>
              <p:nvPr>
                <p:ph type="title"/>
              </p:nvPr>
            </p:nvSpPr>
            <p:spPr>
              <a:blipFill>
                <a:blip r:embed="rId2"/>
                <a:stretch>
                  <a:fillRect l="-2377" t="-20161" b="-35484"/>
                </a:stretch>
              </a:blipFill>
            </p:spPr>
            <p:txBody>
              <a:bodyPr/>
              <a:lstStyle/>
              <a:p>
                <a:r>
                  <a:rPr lang="en-US">
                    <a:noFill/>
                  </a:rPr>
                  <a:t> </a:t>
                </a:r>
              </a:p>
            </p:txBody>
          </p:sp>
        </mc:Fallback>
      </mc:AlternateContent>
      <p:sp>
        <p:nvSpPr>
          <p:cNvPr id="3" name="Content Placeholder 2">
            <a:extLst>
              <a:ext uri="{FF2B5EF4-FFF2-40B4-BE49-F238E27FC236}">
                <a16:creationId xmlns:a16="http://schemas.microsoft.com/office/drawing/2014/main" id="{E8BAB409-1629-3E3D-C6F3-95E5076FBBF9}"/>
              </a:ext>
            </a:extLst>
          </p:cNvPr>
          <p:cNvSpPr>
            <a:spLocks noGrp="1"/>
          </p:cNvSpPr>
          <p:nvPr>
            <p:ph idx="1"/>
          </p:nvPr>
        </p:nvSpPr>
        <p:spPr>
          <a:xfrm>
            <a:off x="838200" y="1124198"/>
            <a:ext cx="7808892" cy="1720144"/>
          </a:xfrm>
        </p:spPr>
        <p:txBody>
          <a:bodyPr>
            <a:normAutofit fontScale="85000" lnSpcReduction="10000"/>
          </a:bodyPr>
          <a:lstStyle/>
          <a:p>
            <a:r>
              <a:rPr lang="en-US" b="1" dirty="0"/>
              <a:t>Idea: </a:t>
            </a:r>
            <a:r>
              <a:rPr lang="en-US" dirty="0"/>
              <a:t>We can update all state values along the episode.</a:t>
            </a:r>
            <a:endParaRPr lang="en-US" b="1" dirty="0"/>
          </a:p>
          <a:p>
            <a:r>
              <a:rPr lang="en-US" b="1" dirty="0"/>
              <a:t>First-visit</a:t>
            </a:r>
            <a:r>
              <a:rPr lang="en-US" dirty="0"/>
              <a:t>: Using the return only for the first visit of a state in the episode ensures that the sampled returns are </a:t>
            </a:r>
            <a:r>
              <a:rPr lang="en-US" dirty="0" err="1"/>
              <a:t>i.i.d.</a:t>
            </a:r>
            <a:r>
              <a:rPr lang="en-US" dirty="0"/>
              <a:t> distributed (not dependent on each other) and we get an </a:t>
            </a:r>
            <a:r>
              <a:rPr lang="en-US" b="1" dirty="0"/>
              <a:t>unbiased</a:t>
            </a:r>
            <a:r>
              <a:rPr lang="en-US" dirty="0"/>
              <a:t> estimate.</a:t>
            </a:r>
          </a:p>
        </p:txBody>
      </p:sp>
      <p:pic>
        <p:nvPicPr>
          <p:cNvPr id="4" name="Content Placeholder 4" descr="Algorithm box: First-visit MC prediction, for estimating V ≈ v pi. Input: a policy pi to be evaluated. Initialize: V(s) in R, arbitrarily, for all s in S; Returns(s) ← an empty list, for all s in S. Loop forever (for each episode): Generate an episode following pi: S_0, A_0, R_1, S_1, A_1, R_2, …, S_T−1, A_T−1, R_T; G ← 0; Loop for each step of episode, t = T−1, T−2, …, 0: G ← gamma G + R_t+1; Unless S_t appears in S_0, S_1, …, S_t−1: Append G to Returns(S_t); V(S_t) ← average(Returns(S_t)).">
            <a:extLst>
              <a:ext uri="{FF2B5EF4-FFF2-40B4-BE49-F238E27FC236}">
                <a16:creationId xmlns:a16="http://schemas.microsoft.com/office/drawing/2014/main" id="{F3AA409A-0E38-4BF6-9AF1-1A02E65EEEB0}"/>
              </a:ext>
            </a:extLst>
          </p:cNvPr>
          <p:cNvPicPr>
            <a:picLocks noChangeAspect="1"/>
          </p:cNvPicPr>
          <p:nvPr/>
        </p:nvPicPr>
        <p:blipFill>
          <a:blip r:embed="rId3"/>
          <a:stretch>
            <a:fillRect/>
          </a:stretch>
        </p:blipFill>
        <p:spPr>
          <a:xfrm>
            <a:off x="785856" y="2844343"/>
            <a:ext cx="7808892" cy="3534014"/>
          </a:xfrm>
          <a:prstGeom prst="rect">
            <a:avLst/>
          </a:prstGeom>
        </p:spPr>
      </p:pic>
      <p:sp>
        <p:nvSpPr>
          <p:cNvPr id="5" name="Speech Bubble: Rectangle with Corners Rounded 4">
            <a:extLst>
              <a:ext uri="{FF2B5EF4-FFF2-40B4-BE49-F238E27FC236}">
                <a16:creationId xmlns:a16="http://schemas.microsoft.com/office/drawing/2014/main" id="{F2DD0D71-F2B2-BEC4-25BD-FAAF319BD235}"/>
              </a:ext>
              <a:ext uri="{C183D7F6-B498-43B3-948B-1728B52AA6E4}">
                <adec:decorative xmlns:adec="http://schemas.microsoft.com/office/drawing/2017/decorative" val="1"/>
              </a:ext>
            </a:extLst>
          </p:cNvPr>
          <p:cNvSpPr/>
          <p:nvPr/>
        </p:nvSpPr>
        <p:spPr>
          <a:xfrm>
            <a:off x="5611456" y="4841807"/>
            <a:ext cx="2899175" cy="195743"/>
          </a:xfrm>
          <a:prstGeom prst="wedgeRoundRectCallout">
            <a:avLst>
              <a:gd name="adj1" fmla="val -50798"/>
              <a:gd name="adj2" fmla="val 10350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Calculate remaining returns in reverse order!</a:t>
            </a:r>
          </a:p>
        </p:txBody>
      </p:sp>
      <p:grpSp>
        <p:nvGrpSpPr>
          <p:cNvPr id="15" name="Group 14" descr="An episode drawn as a timeline from s_0 to s_T, with a state s_t in the middle. A brace over the part after s_t shows the return G_t = sum from k = 0 to T of gamma to the k times R_t+k+1, the discounted rewards that follow s_t.">
            <a:extLst>
              <a:ext uri="{FF2B5EF4-FFF2-40B4-BE49-F238E27FC236}">
                <a16:creationId xmlns:a16="http://schemas.microsoft.com/office/drawing/2014/main" id="{573AD72F-8E95-D55F-A9F4-C0F86BA548C2}"/>
              </a:ext>
            </a:extLst>
          </p:cNvPr>
          <p:cNvGrpSpPr/>
          <p:nvPr/>
        </p:nvGrpSpPr>
        <p:grpSpPr>
          <a:xfrm>
            <a:off x="8647092" y="1089545"/>
            <a:ext cx="3395272" cy="2677614"/>
            <a:chOff x="8647092" y="860591"/>
            <a:chExt cx="3395272" cy="2677614"/>
          </a:xfrm>
        </p:grpSpPr>
        <p:grpSp>
          <p:nvGrpSpPr>
            <p:cNvPr id="14" name="Group 13" descr="Brace annotation: s sub t; G sub t equals the sum over k equals 0 to T, of gamma to the power k R sub t plus k plus 1; s sub 0; s sub T; Episode.">
              <a:extLst>
                <a:ext uri="{FF2B5EF4-FFF2-40B4-BE49-F238E27FC236}">
                  <a16:creationId xmlns:a16="http://schemas.microsoft.com/office/drawing/2014/main" id="{97491103-8D73-5D3D-2433-794079801876}"/>
                </a:ext>
              </a:extLst>
            </p:cNvPr>
            <p:cNvGrpSpPr/>
            <p:nvPr/>
          </p:nvGrpSpPr>
          <p:grpSpPr>
            <a:xfrm>
              <a:off x="8647092" y="860591"/>
              <a:ext cx="3395272" cy="1938707"/>
              <a:chOff x="9222954" y="2685293"/>
              <a:chExt cx="2700748" cy="1700680"/>
            </a:xfrm>
          </p:grpSpPr>
          <p:cxnSp>
            <p:nvCxnSpPr>
              <p:cNvPr id="6" name="Straight Arrow Connector 5">
                <a:extLst>
                  <a:ext uri="{FF2B5EF4-FFF2-40B4-BE49-F238E27FC236}">
                    <a16:creationId xmlns:a16="http://schemas.microsoft.com/office/drawing/2014/main" id="{4CA2481C-8ED4-DB1B-21D6-675BE4F2BEE7}"/>
                  </a:ext>
                  <a:ext uri="{C183D7F6-B498-43B3-948B-1728B52AA6E4}">
                    <adec:decorative xmlns:adec="http://schemas.microsoft.com/office/drawing/2017/decorative" val="1"/>
                  </a:ext>
                </a:extLst>
              </p:cNvPr>
              <p:cNvCxnSpPr>
                <a:cxnSpLocks/>
              </p:cNvCxnSpPr>
              <p:nvPr/>
            </p:nvCxnSpPr>
            <p:spPr>
              <a:xfrm>
                <a:off x="9374345" y="3490076"/>
                <a:ext cx="226157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7" name="TextBox 6" descr="Equation: s sub t">
                    <a:extLst>
                      <a:ext uri="{FF2B5EF4-FFF2-40B4-BE49-F238E27FC236}">
                        <a16:creationId xmlns:a16="http://schemas.microsoft.com/office/drawing/2014/main" id="{4061FCFD-11D6-B030-C651-EBEA48458734}"/>
                      </a:ext>
                    </a:extLst>
                  </p:cNvPr>
                  <p:cNvSpPr txBox="1"/>
                  <p:nvPr/>
                </p:nvSpPr>
                <p:spPr>
                  <a:xfrm flipH="1">
                    <a:off x="9898142" y="3183258"/>
                    <a:ext cx="432770" cy="323987"/>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m:rPr>
                                  <m:sty m:val="p"/>
                                </m:rPr>
                                <a:rPr lang="en-US" b="0" i="0" smtClean="0">
                                  <a:latin typeface="Cambria Math" panose="02040503050406030204" pitchFamily="18" charset="0"/>
                                </a:rPr>
                                <m:t>t</m:t>
                              </m:r>
                            </m:sub>
                          </m:sSub>
                        </m:oMath>
                      </m:oMathPara>
                    </a14:m>
                    <a:endParaRPr lang="en-US" dirty="0"/>
                  </a:p>
                </p:txBody>
              </p:sp>
            </mc:Choice>
            <mc:Fallback xmlns="">
              <p:sp>
                <p:nvSpPr>
                  <p:cNvPr id="7" name="TextBox 6" descr="Equation: s sub t">
                    <a:extLst>
                      <a:ext uri="{FF2B5EF4-FFF2-40B4-BE49-F238E27FC236}">
                        <a16:creationId xmlns:a16="http://schemas.microsoft.com/office/drawing/2014/main" id="{4061FCFD-11D6-B030-C651-EBEA48458734}"/>
                      </a:ext>
                    </a:extLst>
                  </p:cNvPr>
                  <p:cNvSpPr txBox="1">
                    <a:spLocks noRot="1" noChangeAspect="1" noMove="1" noResize="1" noEditPoints="1" noAdjustHandles="1" noChangeArrowheads="1" noChangeShapeType="1" noTextEdit="1"/>
                  </p:cNvSpPr>
                  <p:nvPr/>
                </p:nvSpPr>
                <p:spPr>
                  <a:xfrm flipH="1">
                    <a:off x="9898142" y="3183258"/>
                    <a:ext cx="432770" cy="323987"/>
                  </a:xfrm>
                  <a:prstGeom prst="rect">
                    <a:avLst/>
                  </a:prstGeom>
                  <a:blipFill>
                    <a:blip r:embed="rId5"/>
                    <a:stretch>
                      <a:fillRect/>
                    </a:stretch>
                  </a:blipFill>
                </p:spPr>
                <p:txBody>
                  <a:bodyPr/>
                  <a:lstStyle/>
                  <a:p>
                    <a:r>
                      <a:rPr lang="en-US">
                        <a:noFill/>
                      </a:rPr>
                      <a:t> </a:t>
                    </a:r>
                  </a:p>
                </p:txBody>
              </p:sp>
            </mc:Fallback>
          </mc:AlternateContent>
          <p:sp>
            <p:nvSpPr>
              <p:cNvPr id="8" name="Right Brace 7">
                <a:extLst>
                  <a:ext uri="{FF2B5EF4-FFF2-40B4-BE49-F238E27FC236}">
                    <a16:creationId xmlns:a16="http://schemas.microsoft.com/office/drawing/2014/main" id="{21DEF1FA-AFA5-27CF-87FA-8DDF794C57A4}"/>
                  </a:ext>
                  <a:ext uri="{C183D7F6-B498-43B3-948B-1728B52AA6E4}">
                    <adec:decorative xmlns:adec="http://schemas.microsoft.com/office/drawing/2017/decorative" val="1"/>
                  </a:ext>
                </a:extLst>
              </p:cNvPr>
              <p:cNvSpPr/>
              <p:nvPr/>
            </p:nvSpPr>
            <p:spPr>
              <a:xfrm rot="5400000">
                <a:off x="10764997" y="2901526"/>
                <a:ext cx="251570" cy="1539123"/>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descr="Equation: G sub t equals the sum over k equals 0 to T, of gamma to the power k R sub t plus k plus 1">
                    <a:extLst>
                      <a:ext uri="{FF2B5EF4-FFF2-40B4-BE49-F238E27FC236}">
                        <a16:creationId xmlns:a16="http://schemas.microsoft.com/office/drawing/2014/main" id="{AD4AC01B-7124-E966-1619-BF05F604FDDD}"/>
                      </a:ext>
                    </a:extLst>
                  </p:cNvPr>
                  <p:cNvSpPr txBox="1"/>
                  <p:nvPr/>
                </p:nvSpPr>
                <p:spPr>
                  <a:xfrm>
                    <a:off x="9857862" y="3697445"/>
                    <a:ext cx="2065840" cy="688528"/>
                  </a:xfrm>
                  <a:prstGeom prst="rect">
                    <a:avLst/>
                  </a:prstGeom>
                  <a:noFill/>
                </p:spPr>
                <p:txBody>
                  <a:bodyPr wrap="square" rtlCol="0">
                    <a:spAutoFit/>
                  </a:bodyPr>
                  <a:lstStyle/>
                  <a:p>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𝐺</m:t>
                              </m:r>
                            </m:e>
                            <m:sub>
                              <m:r>
                                <a:rPr lang="en-US" sz="1600" b="0" i="1" smtClean="0">
                                  <a:latin typeface="Cambria Math" panose="02040503050406030204" pitchFamily="18" charset="0"/>
                                </a:rPr>
                                <m:t>𝑡</m:t>
                              </m:r>
                            </m:sub>
                          </m:sSub>
                          <m:r>
                            <a:rPr lang="en-US" sz="1600" b="0" i="1" smtClean="0">
                              <a:latin typeface="Cambria Math" panose="02040503050406030204" pitchFamily="18" charset="0"/>
                            </a:rPr>
                            <m:t>=</m:t>
                          </m:r>
                          <m:nary>
                            <m:naryPr>
                              <m:chr m:val="∑"/>
                              <m:ctrlPr>
                                <a:rPr lang="en-US" sz="1600" i="1">
                                  <a:latin typeface="Cambria Math" panose="02040503050406030204" pitchFamily="18" charset="0"/>
                                </a:rPr>
                              </m:ctrlPr>
                            </m:naryPr>
                            <m:sub>
                              <m:r>
                                <a:rPr lang="en-US" sz="1600" i="1">
                                  <a:latin typeface="Cambria Math" panose="02040503050406030204" pitchFamily="18" charset="0"/>
                                </a:rPr>
                                <m:t>𝑘</m:t>
                              </m:r>
                              <m:r>
                                <a:rPr lang="en-US" sz="1600" i="1">
                                  <a:latin typeface="Cambria Math" panose="02040503050406030204" pitchFamily="18" charset="0"/>
                                </a:rPr>
                                <m:t>=0</m:t>
                              </m:r>
                            </m:sub>
                            <m:sup>
                              <m:r>
                                <a:rPr lang="en-US" sz="1600" b="0" i="1" smtClean="0">
                                  <a:latin typeface="Cambria Math" panose="02040503050406030204" pitchFamily="18" charset="0"/>
                                </a:rPr>
                                <m:t>𝑇</m:t>
                              </m:r>
                            </m:sup>
                            <m:e>
                              <m:sSup>
                                <m:sSupPr>
                                  <m:ctrlPr>
                                    <a:rPr lang="en-US" sz="1600" i="1">
                                      <a:latin typeface="Cambria Math" panose="02040503050406030204" pitchFamily="18" charset="0"/>
                                    </a:rPr>
                                  </m:ctrlPr>
                                </m:sSupPr>
                                <m:e>
                                  <m:r>
                                    <a:rPr lang="en-US" sz="1600" i="1">
                                      <a:latin typeface="Cambria Math" panose="02040503050406030204" pitchFamily="18" charset="0"/>
                                    </a:rPr>
                                    <m:t>𝛾</m:t>
                                  </m:r>
                                </m:e>
                                <m:sup>
                                  <m:r>
                                    <a:rPr lang="en-US" sz="1600" i="1">
                                      <a:latin typeface="Cambria Math" panose="02040503050406030204" pitchFamily="18" charset="0"/>
                                    </a:rPr>
                                    <m:t>𝑘</m:t>
                                  </m:r>
                                </m:sup>
                              </m:sSup>
                              <m:sSub>
                                <m:sSubPr>
                                  <m:ctrlPr>
                                    <a:rPr lang="en-US" sz="1600" i="1">
                                      <a:latin typeface="Cambria Math" panose="02040503050406030204" pitchFamily="18" charset="0"/>
                                    </a:rPr>
                                  </m:ctrlPr>
                                </m:sSubPr>
                                <m:e>
                                  <m:r>
                                    <a:rPr lang="en-US" sz="1600" i="1">
                                      <a:latin typeface="Cambria Math" panose="02040503050406030204" pitchFamily="18" charset="0"/>
                                    </a:rPr>
                                    <m:t>𝑅</m:t>
                                  </m:r>
                                </m:e>
                                <m:sub>
                                  <m:r>
                                    <a:rPr lang="en-US" sz="1600" i="1">
                                      <a:latin typeface="Cambria Math" panose="02040503050406030204" pitchFamily="18" charset="0"/>
                                    </a:rPr>
                                    <m:t>𝑡</m:t>
                                  </m:r>
                                  <m:r>
                                    <a:rPr lang="en-US" sz="1600" i="1">
                                      <a:latin typeface="Cambria Math" panose="02040503050406030204" pitchFamily="18" charset="0"/>
                                    </a:rPr>
                                    <m:t>+</m:t>
                                  </m:r>
                                  <m:r>
                                    <a:rPr lang="en-US" sz="1600" i="1">
                                      <a:latin typeface="Cambria Math" panose="02040503050406030204" pitchFamily="18" charset="0"/>
                                    </a:rPr>
                                    <m:t>𝑘</m:t>
                                  </m:r>
                                  <m:r>
                                    <a:rPr lang="en-US" sz="1600" i="1">
                                      <a:latin typeface="Cambria Math" panose="02040503050406030204" pitchFamily="18" charset="0"/>
                                    </a:rPr>
                                    <m:t>+1</m:t>
                                  </m:r>
                                </m:sub>
                              </m:sSub>
                            </m:e>
                          </m:nary>
                        </m:oMath>
                      </m:oMathPara>
                    </a14:m>
                    <a:endParaRPr lang="en-US" sz="1600" dirty="0"/>
                  </a:p>
                </p:txBody>
              </p:sp>
            </mc:Choice>
            <mc:Fallback xmlns="">
              <p:sp>
                <p:nvSpPr>
                  <p:cNvPr id="9" name="TextBox 8" descr="Equation: G sub t equals the sum over k equals 0 to T, of gamma to the power k R sub t plus k plus 1">
                    <a:extLst>
                      <a:ext uri="{FF2B5EF4-FFF2-40B4-BE49-F238E27FC236}">
                        <a16:creationId xmlns:a16="http://schemas.microsoft.com/office/drawing/2014/main" id="{AD4AC01B-7124-E966-1619-BF05F604FDDD}"/>
                      </a:ext>
                    </a:extLst>
                  </p:cNvPr>
                  <p:cNvSpPr txBox="1">
                    <a:spLocks noRot="1" noChangeAspect="1" noMove="1" noResize="1" noEditPoints="1" noAdjustHandles="1" noChangeArrowheads="1" noChangeShapeType="1" noTextEdit="1"/>
                  </p:cNvSpPr>
                  <p:nvPr/>
                </p:nvSpPr>
                <p:spPr>
                  <a:xfrm>
                    <a:off x="9857862" y="3697445"/>
                    <a:ext cx="2065840" cy="688528"/>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descr="Equation: s sub 0">
                    <a:extLst>
                      <a:ext uri="{FF2B5EF4-FFF2-40B4-BE49-F238E27FC236}">
                        <a16:creationId xmlns:a16="http://schemas.microsoft.com/office/drawing/2014/main" id="{00792711-75B9-95C4-586A-00B6CEC74B7A}"/>
                      </a:ext>
                    </a:extLst>
                  </p:cNvPr>
                  <p:cNvSpPr txBox="1"/>
                  <p:nvPr/>
                </p:nvSpPr>
                <p:spPr>
                  <a:xfrm flipH="1">
                    <a:off x="9222954" y="3159290"/>
                    <a:ext cx="432770"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oMath>
                      </m:oMathPara>
                    </a14:m>
                    <a:endParaRPr lang="en-US" dirty="0"/>
                  </a:p>
                </p:txBody>
              </p:sp>
            </mc:Choice>
            <mc:Fallback xmlns="">
              <p:sp>
                <p:nvSpPr>
                  <p:cNvPr id="11" name="TextBox 10" descr="Equation: s sub 0">
                    <a:extLst>
                      <a:ext uri="{FF2B5EF4-FFF2-40B4-BE49-F238E27FC236}">
                        <a16:creationId xmlns:a16="http://schemas.microsoft.com/office/drawing/2014/main" id="{00792711-75B9-95C4-586A-00B6CEC74B7A}"/>
                      </a:ext>
                    </a:extLst>
                  </p:cNvPr>
                  <p:cNvSpPr txBox="1">
                    <a:spLocks noRot="1" noChangeAspect="1" noMove="1" noResize="1" noEditPoints="1" noAdjustHandles="1" noChangeArrowheads="1" noChangeShapeType="1" noTextEdit="1"/>
                  </p:cNvSpPr>
                  <p:nvPr/>
                </p:nvSpPr>
                <p:spPr>
                  <a:xfrm flipH="1">
                    <a:off x="9222954" y="3159290"/>
                    <a:ext cx="432770"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descr="Equation: s sub T">
                    <a:extLst>
                      <a:ext uri="{FF2B5EF4-FFF2-40B4-BE49-F238E27FC236}">
                        <a16:creationId xmlns:a16="http://schemas.microsoft.com/office/drawing/2014/main" id="{63583111-077E-2325-A6DE-3D2D5231244B}"/>
                      </a:ext>
                    </a:extLst>
                  </p:cNvPr>
                  <p:cNvSpPr txBox="1"/>
                  <p:nvPr/>
                </p:nvSpPr>
                <p:spPr>
                  <a:xfrm flipH="1">
                    <a:off x="11419530" y="3152001"/>
                    <a:ext cx="432770" cy="369332"/>
                  </a:xfrm>
                  <a:prstGeom prst="rect">
                    <a:avLst/>
                  </a:prstGeom>
                  <a:noFill/>
                </p:spPr>
                <p:txBody>
                  <a:bodyPr wrap="squar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𝑇</m:t>
                              </m:r>
                            </m:sub>
                          </m:sSub>
                        </m:oMath>
                      </m:oMathPara>
                    </a14:m>
                    <a:endParaRPr lang="en-US" dirty="0"/>
                  </a:p>
                </p:txBody>
              </p:sp>
            </mc:Choice>
            <mc:Fallback xmlns="">
              <p:sp>
                <p:nvSpPr>
                  <p:cNvPr id="12" name="TextBox 11" descr="Equation: s sub T">
                    <a:extLst>
                      <a:ext uri="{FF2B5EF4-FFF2-40B4-BE49-F238E27FC236}">
                        <a16:creationId xmlns:a16="http://schemas.microsoft.com/office/drawing/2014/main" id="{63583111-077E-2325-A6DE-3D2D5231244B}"/>
                      </a:ext>
                    </a:extLst>
                  </p:cNvPr>
                  <p:cNvSpPr txBox="1">
                    <a:spLocks noRot="1" noChangeAspect="1" noMove="1" noResize="1" noEditPoints="1" noAdjustHandles="1" noChangeArrowheads="1" noChangeShapeType="1" noTextEdit="1"/>
                  </p:cNvSpPr>
                  <p:nvPr/>
                </p:nvSpPr>
                <p:spPr>
                  <a:xfrm flipH="1">
                    <a:off x="11419530" y="3152001"/>
                    <a:ext cx="432770" cy="369332"/>
                  </a:xfrm>
                  <a:prstGeom prst="rect">
                    <a:avLst/>
                  </a:prstGeom>
                  <a:blipFill>
                    <a:blip r:embed="rId8"/>
                    <a:stretch>
                      <a:fillRect/>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1B452B02-D962-94A5-1424-E76206AB059D}"/>
                  </a:ext>
                </a:extLst>
              </p:cNvPr>
              <p:cNvSpPr txBox="1"/>
              <p:nvPr/>
            </p:nvSpPr>
            <p:spPr>
              <a:xfrm>
                <a:off x="9719863" y="2685293"/>
                <a:ext cx="1570534" cy="323987"/>
              </a:xfrm>
              <a:prstGeom prst="rect">
                <a:avLst/>
              </a:prstGeom>
              <a:noFill/>
            </p:spPr>
            <p:txBody>
              <a:bodyPr wrap="square" rtlCol="0">
                <a:spAutoFit/>
              </a:bodyPr>
              <a:lstStyle/>
              <a:p>
                <a:pPr algn="ctr"/>
                <a:r>
                  <a:rPr lang="en-US" dirty="0"/>
                  <a:t>Episode</a:t>
                </a:r>
              </a:p>
            </p:txBody>
          </p:sp>
        </p:grpSp>
        <mc:AlternateContent xmlns:mc="http://schemas.openxmlformats.org/markup-compatibility/2006" xmlns:a14="http://schemas.microsoft.com/office/drawing/2010/main">
          <mc:Choice Requires="a14">
            <p:sp>
              <p:nvSpPr>
                <p:cNvPr id="10" name="Arrow: Right 9" descr="Calculate the return following s sub t for all states in the episode">
                  <a:extLst>
                    <a:ext uri="{FF2B5EF4-FFF2-40B4-BE49-F238E27FC236}">
                      <a16:creationId xmlns:a16="http://schemas.microsoft.com/office/drawing/2014/main" id="{8A699FD2-C753-722C-19C4-5AACDD9E28F9}"/>
                    </a:ext>
                  </a:extLst>
                </p:cNvPr>
                <p:cNvSpPr/>
                <p:nvPr/>
              </p:nvSpPr>
              <p:spPr>
                <a:xfrm flipH="1">
                  <a:off x="8837415" y="2832017"/>
                  <a:ext cx="2873866" cy="70618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Calculate the return following </a:t>
                  </a: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𝑡</m:t>
                          </m:r>
                        </m:sub>
                      </m:sSub>
                    </m:oMath>
                  </a14:m>
                  <a:r>
                    <a:rPr lang="en-US" sz="1200" dirty="0"/>
                    <a:t> </a:t>
                  </a:r>
                  <a:br>
                    <a:rPr lang="en-US" sz="1200" dirty="0"/>
                  </a:br>
                  <a:r>
                    <a:rPr lang="en-US" sz="1200" dirty="0"/>
                    <a:t>for all states in the episode</a:t>
                  </a:r>
                </a:p>
              </p:txBody>
            </p:sp>
          </mc:Choice>
          <mc:Fallback xmlns="">
            <p:sp>
              <p:nvSpPr>
                <p:cNvPr id="10" name="Arrow: Right 9" descr="Calculate the return following s sub t for all states in the episode">
                  <a:extLst>
                    <a:ext uri="{FF2B5EF4-FFF2-40B4-BE49-F238E27FC236}">
                      <a16:creationId xmlns:a16="http://schemas.microsoft.com/office/drawing/2014/main" id="{8A699FD2-C753-722C-19C4-5AACDD9E28F9}"/>
                    </a:ext>
                  </a:extLst>
                </p:cNvPr>
                <p:cNvSpPr>
                  <a:spLocks noRot="1" noChangeAspect="1" noMove="1" noResize="1" noEditPoints="1" noAdjustHandles="1" noChangeArrowheads="1" noChangeShapeType="1" noTextEdit="1"/>
                </p:cNvSpPr>
                <p:nvPr/>
              </p:nvSpPr>
              <p:spPr>
                <a:xfrm flipH="1">
                  <a:off x="8837415" y="2832017"/>
                  <a:ext cx="2873866" cy="706188"/>
                </a:xfrm>
                <a:prstGeom prst="rightArrow">
                  <a:avLst/>
                </a:prstGeom>
                <a:blipFill>
                  <a:blip r:embed="rId9"/>
                  <a:stretch>
                    <a:fillRect/>
                  </a:stretch>
                </a:blipFill>
              </p:spPr>
              <p:txBody>
                <a:bodyPr/>
                <a:lstStyle/>
                <a:p>
                  <a:r>
                    <a:rPr lang="en-US">
                      <a:noFill/>
                    </a:rPr>
                    <a:t> </a:t>
                  </a:r>
                </a:p>
              </p:txBody>
            </p:sp>
          </mc:Fallback>
        </mc:AlternateContent>
      </p:grpSp>
      <p:sp>
        <p:nvSpPr>
          <p:cNvPr id="16" name="Speech Bubble: Rectangle with Corners Rounded 15">
            <a:extLst>
              <a:ext uri="{FF2B5EF4-FFF2-40B4-BE49-F238E27FC236}">
                <a16:creationId xmlns:a16="http://schemas.microsoft.com/office/drawing/2014/main" id="{0271B4BA-988D-9708-7511-B6936ED95186}"/>
              </a:ext>
              <a:ext uri="{C183D7F6-B498-43B3-948B-1728B52AA6E4}">
                <adec:decorative xmlns:adec="http://schemas.microsoft.com/office/drawing/2017/decorative" val="1"/>
              </a:ext>
            </a:extLst>
          </p:cNvPr>
          <p:cNvSpPr/>
          <p:nvPr/>
        </p:nvSpPr>
        <p:spPr>
          <a:xfrm>
            <a:off x="5519550" y="5810884"/>
            <a:ext cx="1995181" cy="195743"/>
          </a:xfrm>
          <a:prstGeom prst="wedgeRoundRectCallout">
            <a:avLst>
              <a:gd name="adj1" fmla="val -87182"/>
              <a:gd name="adj2" fmla="val -163942"/>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Uses only the first visit.</a:t>
            </a:r>
          </a:p>
        </p:txBody>
      </p:sp>
      <p:sp>
        <p:nvSpPr>
          <p:cNvPr id="17" name="Speech Bubble: Rectangle with Corners Rounded 16">
            <a:extLst>
              <a:ext uri="{FF2B5EF4-FFF2-40B4-BE49-F238E27FC236}">
                <a16:creationId xmlns:a16="http://schemas.microsoft.com/office/drawing/2014/main" id="{91E56AD5-2877-5EE2-9F72-64538D60CCC0}"/>
              </a:ext>
              <a:ext uri="{C183D7F6-B498-43B3-948B-1728B52AA6E4}">
                <adec:decorative xmlns:adec="http://schemas.microsoft.com/office/drawing/2017/decorative" val="1"/>
              </a:ext>
            </a:extLst>
          </p:cNvPr>
          <p:cNvSpPr/>
          <p:nvPr/>
        </p:nvSpPr>
        <p:spPr>
          <a:xfrm>
            <a:off x="5098409" y="4146491"/>
            <a:ext cx="2569060" cy="308649"/>
          </a:xfrm>
          <a:prstGeom prst="wedgeRoundRectCallout">
            <a:avLst>
              <a:gd name="adj1" fmla="val -50798"/>
              <a:gd name="adj2" fmla="val 10350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We observe a sequence of rewards</a:t>
            </a:r>
          </a:p>
        </p:txBody>
      </p:sp>
      <p:sp>
        <p:nvSpPr>
          <p:cNvPr id="18" name="Speech Bubble: Rectangle with Corners Rounded 17">
            <a:extLst>
              <a:ext uri="{FF2B5EF4-FFF2-40B4-BE49-F238E27FC236}">
                <a16:creationId xmlns:a16="http://schemas.microsoft.com/office/drawing/2014/main" id="{2B6082C4-7D27-71D9-3992-406A664288E7}"/>
              </a:ext>
              <a:ext uri="{C183D7F6-B498-43B3-948B-1728B52AA6E4}">
                <adec:decorative xmlns:adec="http://schemas.microsoft.com/office/drawing/2017/decorative" val="1"/>
              </a:ext>
            </a:extLst>
          </p:cNvPr>
          <p:cNvSpPr/>
          <p:nvPr/>
        </p:nvSpPr>
        <p:spPr>
          <a:xfrm>
            <a:off x="5403557" y="6215333"/>
            <a:ext cx="4818965" cy="421024"/>
          </a:xfrm>
          <a:prstGeom prst="wedgeRoundRectCallout">
            <a:avLst>
              <a:gd name="adj1" fmla="val -68252"/>
              <a:gd name="adj2" fmla="val -94879"/>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This sample average approximates the expected return. </a:t>
            </a:r>
          </a:p>
          <a:p>
            <a:pPr algn="ctr"/>
            <a:r>
              <a:rPr lang="en-US" sz="1100" b="1" dirty="0"/>
              <a:t>Note</a:t>
            </a:r>
            <a:r>
              <a:rPr lang="en-US" sz="1100" dirty="0"/>
              <a:t>: This can be implemented with incremental updating of the averages!</a:t>
            </a:r>
          </a:p>
        </p:txBody>
      </p:sp>
    </p:spTree>
    <p:extLst>
      <p:ext uri="{BB962C8B-B14F-4D97-AF65-F5344CB8AC3E}">
        <p14:creationId xmlns:p14="http://schemas.microsoft.com/office/powerpoint/2010/main" val="300048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19E24D1-8C10-D360-A975-395DD150B7CF}"/>
              </a:ext>
            </a:extLst>
          </p:cNvPr>
          <p:cNvSpPr>
            <a:spLocks noGrp="1"/>
          </p:cNvSpPr>
          <p:nvPr>
            <p:ph type="title"/>
          </p:nvPr>
        </p:nvSpPr>
        <p:spPr/>
        <p:txBody>
          <a:bodyPr/>
          <a:lstStyle/>
          <a:p>
            <a:r>
              <a:rPr lang="en-US" dirty="0"/>
              <a:t>Monte Carlo Control</a:t>
            </a:r>
          </a:p>
        </p:txBody>
      </p:sp>
      <p:sp>
        <p:nvSpPr>
          <p:cNvPr id="5" name="Text Placeholder 4">
            <a:extLst>
              <a:ext uri="{FF2B5EF4-FFF2-40B4-BE49-F238E27FC236}">
                <a16:creationId xmlns:a16="http://schemas.microsoft.com/office/drawing/2014/main" id="{72F5D3AF-E874-2E5E-C9AF-8FCA744234AD}"/>
              </a:ext>
            </a:extLst>
          </p:cNvPr>
          <p:cNvSpPr>
            <a:spLocks noGrp="1"/>
          </p:cNvSpPr>
          <p:nvPr>
            <p:ph type="body" idx="1"/>
          </p:nvPr>
        </p:nvSpPr>
        <p:spPr/>
        <p:txBody>
          <a:bodyPr/>
          <a:lstStyle/>
          <a:p>
            <a:r>
              <a:rPr lang="en-US" dirty="0"/>
              <a:t>Find a good policy while using it to sample the data.</a:t>
            </a:r>
          </a:p>
        </p:txBody>
      </p:sp>
    </p:spTree>
    <p:extLst>
      <p:ext uri="{BB962C8B-B14F-4D97-AF65-F5344CB8AC3E}">
        <p14:creationId xmlns:p14="http://schemas.microsoft.com/office/powerpoint/2010/main" val="2128427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19699-7616-F15A-0A6C-D07DB4DC6EC0}"/>
              </a:ext>
            </a:extLst>
          </p:cNvPr>
          <p:cNvSpPr>
            <a:spLocks noGrp="1"/>
          </p:cNvSpPr>
          <p:nvPr>
            <p:ph type="title"/>
          </p:nvPr>
        </p:nvSpPr>
        <p:spPr/>
        <p:txBody>
          <a:bodyPr>
            <a:normAutofit fontScale="90000"/>
          </a:bodyPr>
          <a:lstStyle/>
          <a:p>
            <a:r>
              <a:rPr lang="en-US" dirty="0"/>
              <a:t>MC Control as Generalized Policy Iteration (GPI)</a:t>
            </a:r>
          </a:p>
        </p:txBody>
      </p:sp>
      <mc:AlternateContent xmlns:mc="http://schemas.openxmlformats.org/markup-compatibility/2006" xmlns:a14="http://schemas.microsoft.com/office/drawing/2010/main">
        <mc:Choice Requires="a14">
          <p:sp>
            <p:nvSpPr>
              <p:cNvPr id="7" name="Content Placeholder 6" descr="Approx. pi sub star using ideas from GPI with a Q-function estimated using MC prediction. MC policy iteration:. pi sub 0 Eq sub pi sub o, I pi sub 1 Eq sub pi sub 1, I pi sub 2 Eq sub pi sub 2, I pi sub 3 Eq sub pi sub 3, I dot dot dot pi sub star Eq sub star. Process:. Start with an arbitrary policy. Evaluation: Update MC estimate by sampling some episodes using the current pi . Improvement: greedy(Q) means pi (s) equals argmax over a, of q(s,a) for all s in S. Repeat evaluation and improvement till the policy does not change (= optimal policy is reached)">
                <a:extLst>
                  <a:ext uri="{FF2B5EF4-FFF2-40B4-BE49-F238E27FC236}">
                    <a16:creationId xmlns:a16="http://schemas.microsoft.com/office/drawing/2014/main" id="{D3A23392-2FBB-B567-0DB9-4AC01AA43AB4}"/>
                  </a:ext>
                </a:extLst>
              </p:cNvPr>
              <p:cNvSpPr>
                <a:spLocks noGrp="1"/>
              </p:cNvSpPr>
              <p:nvPr>
                <p:ph idx="1"/>
              </p:nvPr>
            </p:nvSpPr>
            <p:spPr>
              <a:xfrm>
                <a:off x="838201" y="1397330"/>
                <a:ext cx="8015108" cy="4779633"/>
              </a:xfrm>
            </p:spPr>
            <p:txBody>
              <a:bodyPr>
                <a:normAutofit fontScale="85000" lnSpcReduction="20000"/>
              </a:bodyPr>
              <a:lstStyle/>
              <a:p>
                <a:r>
                  <a:rPr lang="en-US" dirty="0"/>
                  <a:t>Approx.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m:t>
                        </m:r>
                      </m:sub>
                    </m:sSub>
                  </m:oMath>
                </a14:m>
                <a:r>
                  <a:rPr lang="en-US" dirty="0"/>
                  <a:t> using ideas from GPI with a Q-function estimated using MC prediction.</a:t>
                </a:r>
              </a:p>
              <a:p>
                <a:endParaRPr lang="en-US" dirty="0"/>
              </a:p>
              <a:p>
                <a:r>
                  <a:rPr lang="en-US" dirty="0"/>
                  <a:t>MC policy iteration:</a:t>
                </a:r>
              </a:p>
              <a:p>
                <a:pPr marL="0" indent="0">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i="1">
                              <a:latin typeface="Cambria Math" panose="02040503050406030204" pitchFamily="18" charset="0"/>
                            </a:rPr>
                            <m:t>0</m:t>
                          </m:r>
                        </m:sub>
                      </m:sSub>
                      <m:groupChr>
                        <m:groupChrPr>
                          <m:chr m:val="→"/>
                          <m:pos m:val="bot"/>
                          <m:vertJc m:val="bot"/>
                          <m:ctrlPr>
                            <a:rPr lang="en-US" i="1">
                              <a:latin typeface="Cambria Math" panose="02040503050406030204" pitchFamily="18" charset="0"/>
                            </a:rPr>
                          </m:ctrlPr>
                        </m:groupChrPr>
                        <m:e>
                          <m:r>
                            <m:rPr>
                              <m:brk m:alnAt="2"/>
                            </m:rPr>
                            <a:rPr lang="en-US" i="1">
                              <a:latin typeface="Cambria Math" panose="02040503050406030204" pitchFamily="18" charset="0"/>
                            </a:rPr>
                            <m:t>𝐸</m:t>
                          </m:r>
                        </m:e>
                      </m:groupCh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i="1">
                                  <a:latin typeface="Cambria Math" panose="02040503050406030204" pitchFamily="18" charset="0"/>
                                </a:rPr>
                                <m:t>𝑜</m:t>
                              </m:r>
                            </m:sub>
                          </m:sSub>
                        </m:sub>
                      </m:sSub>
                      <m:groupChr>
                        <m:groupChrPr>
                          <m:chr m:val="→"/>
                          <m:pos m:val="bot"/>
                          <m:vertJc m:val="bot"/>
                          <m:ctrlPr>
                            <a:rPr lang="en-US" i="1">
                              <a:latin typeface="Cambria Math" panose="02040503050406030204" pitchFamily="18" charset="0"/>
                            </a:rPr>
                          </m:ctrlPr>
                        </m:groupChrPr>
                        <m:e>
                          <m:r>
                            <m:rPr>
                              <m:brk m:alnAt="2"/>
                            </m:rPr>
                            <a:rPr lang="en-US" i="1">
                              <a:latin typeface="Cambria Math" panose="02040503050406030204" pitchFamily="18" charset="0"/>
                            </a:rPr>
                            <m:t>𝐼</m:t>
                          </m:r>
                        </m:e>
                      </m:groupChr>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b="0" i="1" smtClean="0">
                              <a:latin typeface="Cambria Math" panose="02040503050406030204" pitchFamily="18" charset="0"/>
                            </a:rPr>
                            <m:t>1</m:t>
                          </m:r>
                        </m:sub>
                      </m:sSub>
                      <m:groupChr>
                        <m:groupChrPr>
                          <m:chr m:val="→"/>
                          <m:pos m:val="bot"/>
                          <m:vertJc m:val="bot"/>
                          <m:ctrlPr>
                            <a:rPr lang="en-US" i="1">
                              <a:latin typeface="Cambria Math" panose="02040503050406030204" pitchFamily="18" charset="0"/>
                            </a:rPr>
                          </m:ctrlPr>
                        </m:groupChrPr>
                        <m:e>
                          <m:r>
                            <m:rPr>
                              <m:brk m:alnAt="2"/>
                            </m:rPr>
                            <a:rPr lang="en-US" i="1">
                              <a:latin typeface="Cambria Math" panose="02040503050406030204" pitchFamily="18" charset="0"/>
                            </a:rPr>
                            <m:t>𝐸</m:t>
                          </m:r>
                        </m:e>
                      </m:groupCh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b="0" i="1" smtClean="0">
                                  <a:latin typeface="Cambria Math" panose="02040503050406030204" pitchFamily="18" charset="0"/>
                                </a:rPr>
                                <m:t>1</m:t>
                              </m:r>
                            </m:sub>
                          </m:sSub>
                        </m:sub>
                      </m:sSub>
                      <m:groupChr>
                        <m:groupChrPr>
                          <m:chr m:val="→"/>
                          <m:pos m:val="bot"/>
                          <m:vertJc m:val="bot"/>
                          <m:ctrlPr>
                            <a:rPr lang="en-US" i="1">
                              <a:latin typeface="Cambria Math" panose="02040503050406030204" pitchFamily="18" charset="0"/>
                            </a:rPr>
                          </m:ctrlPr>
                        </m:groupChrPr>
                        <m:e>
                          <m:r>
                            <m:rPr>
                              <m:brk m:alnAt="2"/>
                            </m:rPr>
                            <a:rPr lang="en-US" i="1">
                              <a:latin typeface="Cambria Math" panose="02040503050406030204" pitchFamily="18" charset="0"/>
                            </a:rPr>
                            <m:t>𝐼</m:t>
                          </m:r>
                        </m:e>
                      </m:groupChr>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b="0" i="1" smtClean="0">
                              <a:latin typeface="Cambria Math" panose="02040503050406030204" pitchFamily="18" charset="0"/>
                            </a:rPr>
                            <m:t>2</m:t>
                          </m:r>
                        </m:sub>
                      </m:sSub>
                      <m:groupChr>
                        <m:groupChrPr>
                          <m:chr m:val="→"/>
                          <m:pos m:val="bot"/>
                          <m:vertJc m:val="bot"/>
                          <m:ctrlPr>
                            <a:rPr lang="en-US" i="1">
                              <a:latin typeface="Cambria Math" panose="02040503050406030204" pitchFamily="18" charset="0"/>
                            </a:rPr>
                          </m:ctrlPr>
                        </m:groupChrPr>
                        <m:e>
                          <m:r>
                            <m:rPr>
                              <m:brk m:alnAt="2"/>
                            </m:rPr>
                            <a:rPr lang="en-US" i="1">
                              <a:latin typeface="Cambria Math" panose="02040503050406030204" pitchFamily="18" charset="0"/>
                            </a:rPr>
                            <m:t>𝐸</m:t>
                          </m:r>
                        </m:e>
                      </m:groupCh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b="0" i="1" smtClean="0">
                                  <a:latin typeface="Cambria Math" panose="02040503050406030204" pitchFamily="18" charset="0"/>
                                </a:rPr>
                                <m:t>2</m:t>
                              </m:r>
                            </m:sub>
                          </m:sSub>
                        </m:sub>
                      </m:sSub>
                      <m:groupChr>
                        <m:groupChrPr>
                          <m:chr m:val="→"/>
                          <m:pos m:val="bot"/>
                          <m:vertJc m:val="bot"/>
                          <m:ctrlPr>
                            <a:rPr lang="en-US" i="1">
                              <a:latin typeface="Cambria Math" panose="02040503050406030204" pitchFamily="18" charset="0"/>
                            </a:rPr>
                          </m:ctrlPr>
                        </m:groupChrPr>
                        <m:e>
                          <m:r>
                            <m:rPr>
                              <m:brk m:alnAt="2"/>
                            </m:rPr>
                            <a:rPr lang="en-US" i="1">
                              <a:latin typeface="Cambria Math" panose="02040503050406030204" pitchFamily="18" charset="0"/>
                            </a:rPr>
                            <m:t>𝐼</m:t>
                          </m:r>
                        </m:e>
                      </m:groupChr>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b="0" i="1" smtClean="0">
                              <a:latin typeface="Cambria Math" panose="02040503050406030204" pitchFamily="18" charset="0"/>
                            </a:rPr>
                            <m:t>3</m:t>
                          </m:r>
                        </m:sub>
                      </m:sSub>
                      <m:groupChr>
                        <m:groupChrPr>
                          <m:chr m:val="→"/>
                          <m:pos m:val="bot"/>
                          <m:vertJc m:val="bot"/>
                          <m:ctrlPr>
                            <a:rPr lang="en-US" i="1">
                              <a:latin typeface="Cambria Math" panose="02040503050406030204" pitchFamily="18" charset="0"/>
                            </a:rPr>
                          </m:ctrlPr>
                        </m:groupChrPr>
                        <m:e>
                          <m:r>
                            <m:rPr>
                              <m:brk m:alnAt="2"/>
                            </m:rPr>
                            <a:rPr lang="en-US" i="1">
                              <a:latin typeface="Cambria Math" panose="02040503050406030204" pitchFamily="18" charset="0"/>
                            </a:rPr>
                            <m:t>𝐸</m:t>
                          </m:r>
                        </m:e>
                      </m:groupCh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b="0" i="1" smtClean="0">
                                  <a:latin typeface="Cambria Math" panose="02040503050406030204" pitchFamily="18" charset="0"/>
                                </a:rPr>
                                <m:t>3</m:t>
                              </m:r>
                            </m:sub>
                          </m:sSub>
                        </m:sub>
                      </m:sSub>
                      <m:groupChr>
                        <m:groupChrPr>
                          <m:chr m:val="→"/>
                          <m:pos m:val="bot"/>
                          <m:vertJc m:val="bot"/>
                          <m:ctrlPr>
                            <a:rPr lang="en-US" i="1">
                              <a:latin typeface="Cambria Math" panose="02040503050406030204" pitchFamily="18" charset="0"/>
                            </a:rPr>
                          </m:ctrlPr>
                        </m:groupChrPr>
                        <m:e>
                          <m:r>
                            <m:rPr>
                              <m:brk m:alnAt="2"/>
                            </m:rPr>
                            <a:rPr lang="en-US" i="1">
                              <a:latin typeface="Cambria Math" panose="02040503050406030204" pitchFamily="18" charset="0"/>
                            </a:rPr>
                            <m:t>𝐼</m:t>
                          </m:r>
                        </m:e>
                      </m:groupCh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i="1">
                              <a:latin typeface="Cambria Math" panose="02040503050406030204" pitchFamily="18" charset="0"/>
                            </a:rPr>
                            <m:t>∗</m:t>
                          </m:r>
                        </m:sub>
                      </m:sSub>
                      <m:groupChr>
                        <m:groupChrPr>
                          <m:chr m:val="→"/>
                          <m:pos m:val="bot"/>
                          <m:vertJc m:val="bot"/>
                          <m:ctrlPr>
                            <a:rPr lang="en-US" i="1">
                              <a:latin typeface="Cambria Math" panose="02040503050406030204" pitchFamily="18" charset="0"/>
                            </a:rPr>
                          </m:ctrlPr>
                        </m:groupChrPr>
                        <m:e>
                          <m:r>
                            <m:rPr>
                              <m:brk m:alnAt="2"/>
                            </m:rPr>
                            <a:rPr lang="en-US" i="1">
                              <a:latin typeface="Cambria Math" panose="02040503050406030204" pitchFamily="18" charset="0"/>
                            </a:rPr>
                            <m:t>𝐸</m:t>
                          </m:r>
                        </m:e>
                      </m:groupCh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m:t>
                          </m:r>
                        </m:sub>
                      </m:sSub>
                    </m:oMath>
                  </m:oMathPara>
                </a14:m>
                <a:endParaRPr lang="en-US" dirty="0"/>
              </a:p>
              <a:p>
                <a:endParaRPr lang="en-US" dirty="0"/>
              </a:p>
              <a:p>
                <a:r>
                  <a:rPr lang="en-US" dirty="0"/>
                  <a:t>Process:</a:t>
                </a:r>
              </a:p>
              <a:p>
                <a:pPr marL="971550" lvl="1" indent="-514350">
                  <a:buFont typeface="+mj-lt"/>
                  <a:buAutoNum type="arabicPeriod"/>
                </a:pPr>
                <a:r>
                  <a:rPr lang="en-US" dirty="0"/>
                  <a:t>Start with an arbitrary policy.</a:t>
                </a:r>
              </a:p>
              <a:p>
                <a:pPr marL="971550" lvl="1" indent="-514350">
                  <a:buFont typeface="+mj-lt"/>
                  <a:buAutoNum type="arabicPeriod"/>
                </a:pPr>
                <a:r>
                  <a:rPr lang="en-US" b="1" dirty="0"/>
                  <a:t>Evaluation</a:t>
                </a:r>
                <a:r>
                  <a:rPr lang="en-US" dirty="0"/>
                  <a:t>: Update MC estimate by sampling some episodes using the current </a:t>
                </a:r>
                <a14:m>
                  <m:oMath xmlns:m="http://schemas.openxmlformats.org/officeDocument/2006/math">
                    <m:r>
                      <a:rPr lang="en-US" b="0" i="1" smtClean="0">
                        <a:latin typeface="Cambria Math" panose="02040503050406030204" pitchFamily="18" charset="0"/>
                      </a:rPr>
                      <m:t>𝜋</m:t>
                    </m:r>
                    <m:r>
                      <a:rPr lang="en-US" b="0" i="1" smtClean="0">
                        <a:latin typeface="Cambria Math" panose="02040503050406030204" pitchFamily="18" charset="0"/>
                      </a:rPr>
                      <m:t>.</m:t>
                    </m:r>
                  </m:oMath>
                </a14:m>
                <a:endParaRPr lang="en-US" dirty="0"/>
              </a:p>
              <a:p>
                <a:pPr marL="971550" lvl="1" indent="-514350">
                  <a:buFont typeface="+mj-lt"/>
                  <a:buAutoNum type="arabicPeriod"/>
                </a:pPr>
                <a:r>
                  <a:rPr lang="en-US" b="1" dirty="0"/>
                  <a:t>Improvement</a:t>
                </a:r>
                <a:r>
                  <a:rPr lang="en-US" dirty="0"/>
                  <a:t>: </a:t>
                </a:r>
                <a14:m>
                  <m:oMath xmlns:m="http://schemas.openxmlformats.org/officeDocument/2006/math">
                    <m:r>
                      <m:rPr>
                        <m:nor/>
                      </m:rPr>
                      <a:rPr lang="en-US" i="0" dirty="0" smtClean="0">
                        <a:latin typeface="Cambria Math" panose="02040503050406030204" pitchFamily="18" charset="0"/>
                      </a:rPr>
                      <m:t>greedy</m:t>
                    </m:r>
                    <m:r>
                      <a:rPr lang="en-US" i="1" dirty="0" smtClean="0">
                        <a:latin typeface="Cambria Math" panose="02040503050406030204" pitchFamily="18" charset="0"/>
                      </a:rPr>
                      <m:t>(</m:t>
                    </m:r>
                    <m:r>
                      <a:rPr lang="en-US" i="1" dirty="0" smtClean="0">
                        <a:latin typeface="Cambria Math" panose="02040503050406030204" pitchFamily="18" charset="0"/>
                      </a:rPr>
                      <m:t>𝑄</m:t>
                    </m:r>
                    <m:r>
                      <a:rPr lang="en-US" i="1" dirty="0" smtClean="0">
                        <a:latin typeface="Cambria Math" panose="02040503050406030204" pitchFamily="18" charset="0"/>
                      </a:rPr>
                      <m:t>)</m:t>
                    </m:r>
                  </m:oMath>
                </a14:m>
                <a:r>
                  <a:rPr lang="en-US" dirty="0"/>
                  <a:t> means </a:t>
                </a:r>
                <a:br>
                  <a:rPr lang="en-US" dirty="0"/>
                </a:br>
                <a:br>
                  <a:rPr lang="en-US" b="0" i="1" dirty="0">
                    <a:latin typeface="Cambria Math" panose="02040503050406030204" pitchFamily="18" charset="0"/>
                  </a:rPr>
                </a:br>
                <a14:m>
                  <m:oMath xmlns:m="http://schemas.openxmlformats.org/officeDocument/2006/math">
                    <m:r>
                      <a:rPr lang="en-US" b="0" i="1" smtClean="0">
                        <a:latin typeface="Cambria Math" panose="02040503050406030204" pitchFamily="18" charset="0"/>
                      </a:rPr>
                      <m:t>𝜋</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limLow>
                          <m:limLowPr>
                            <m:ctrlPr>
                              <a:rPr lang="en-US" b="0" i="0" smtClean="0">
                                <a:latin typeface="Cambria Math" panose="02040503050406030204" pitchFamily="18" charset="0"/>
                              </a:rPr>
                            </m:ctrlPr>
                          </m:limLowPr>
                          <m:e>
                            <m:r>
                              <m:rPr>
                                <m:sty m:val="p"/>
                              </m:rPr>
                              <a:rPr lang="en-US" b="0" i="0" smtClean="0">
                                <a:latin typeface="Cambria Math" panose="02040503050406030204" pitchFamily="18" charset="0"/>
                              </a:rPr>
                              <m:t>argmax</m:t>
                            </m:r>
                          </m:e>
                          <m:lim>
                            <m:r>
                              <a:rPr lang="en-US" b="0" i="1" smtClean="0">
                                <a:latin typeface="Cambria Math" panose="02040503050406030204" pitchFamily="18" charset="0"/>
                              </a:rPr>
                              <m:t>𝑎</m:t>
                            </m:r>
                          </m:lim>
                        </m:limLow>
                      </m:fName>
                      <m:e>
                        <m:r>
                          <a:rPr lang="en-US" b="0" i="1" smtClean="0">
                            <a:latin typeface="Cambria Math" panose="02040503050406030204" pitchFamily="18" charset="0"/>
                          </a:rPr>
                          <m:t>𝑞</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e>
                    </m:func>
                    <m:r>
                      <a:rPr lang="en-US" b="0" i="1" smtClean="0">
                        <a:latin typeface="Cambria Math" panose="02040503050406030204" pitchFamily="18" charset="0"/>
                      </a:rPr>
                      <m:t>   ∀</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𝒮</m:t>
                    </m:r>
                  </m:oMath>
                </a14:m>
                <a:endParaRPr lang="en-US" b="0" dirty="0"/>
              </a:p>
              <a:p>
                <a:pPr marL="971550" lvl="1" indent="-514350">
                  <a:buFont typeface="+mj-lt"/>
                  <a:buAutoNum type="arabicPeriod"/>
                </a:pPr>
                <a:r>
                  <a:rPr lang="en-US" dirty="0"/>
                  <a:t>Repeat evaluation and improvement till the policy does not change (= optimal policy is reached).</a:t>
                </a:r>
                <a:endParaRPr lang="en-US" b="0" dirty="0"/>
              </a:p>
            </p:txBody>
          </p:sp>
        </mc:Choice>
        <mc:Fallback xmlns="">
          <p:sp>
            <p:nvSpPr>
              <p:cNvPr id="7" name="Content Placeholder 6" descr="Approx. pi sub star using ideas from GPI with a Q-function estimated using MC prediction. MC policy iteration:. pi sub 0 Eq sub pi sub o, I pi sub 1 Eq sub pi sub 1, I pi sub 2 Eq sub pi sub 2, I pi sub 3 Eq sub pi sub 3, I dot dot dot pi sub star Eq sub star. Process:. Start with an arbitrary policy. Evaluation: Update MC estimate by sampling some episodes using the current pi . Improvement: greedy(Q) means pi (s) equals argmax over a, of q(s,a) for all s in S. Repeat evaluation and improvement till the policy does not change (= optimal policy is reached)">
                <a:extLst>
                  <a:ext uri="{FF2B5EF4-FFF2-40B4-BE49-F238E27FC236}">
                    <a16:creationId xmlns:a16="http://schemas.microsoft.com/office/drawing/2014/main" id="{D3A23392-2FBB-B567-0DB9-4AC01AA43AB4}"/>
                  </a:ext>
                </a:extLst>
              </p:cNvPr>
              <p:cNvSpPr>
                <a:spLocks noGrp="1" noRot="1" noChangeAspect="1" noMove="1" noResize="1" noEditPoints="1" noAdjustHandles="1" noChangeArrowheads="1" noChangeShapeType="1" noTextEdit="1"/>
              </p:cNvSpPr>
              <p:nvPr>
                <p:ph idx="1"/>
              </p:nvPr>
            </p:nvSpPr>
            <p:spPr>
              <a:xfrm>
                <a:off x="838201" y="1397330"/>
                <a:ext cx="8015108" cy="4779633"/>
              </a:xfrm>
              <a:blipFill>
                <a:blip r:embed="rId2"/>
                <a:stretch>
                  <a:fillRect l="-1065" t="-2806" b="-638"/>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E7E0845A-1386-416F-E3F0-5D01868F4839}"/>
              </a:ext>
            </a:extLst>
          </p:cNvPr>
          <p:cNvSpPr txBox="1"/>
          <p:nvPr/>
        </p:nvSpPr>
        <p:spPr>
          <a:xfrm>
            <a:off x="9215155" y="1262762"/>
            <a:ext cx="2199190" cy="369332"/>
          </a:xfrm>
          <a:prstGeom prst="rect">
            <a:avLst/>
          </a:prstGeom>
          <a:noFill/>
        </p:spPr>
        <p:txBody>
          <a:bodyPr wrap="square" rtlCol="0">
            <a:spAutoFit/>
          </a:bodyPr>
          <a:lstStyle/>
          <a:p>
            <a:pPr algn="ctr"/>
            <a:r>
              <a:rPr lang="en-US" b="1" dirty="0">
                <a:solidFill>
                  <a:schemeClr val="accent3"/>
                </a:solidFill>
              </a:rPr>
              <a:t>MC Prediction</a:t>
            </a:r>
          </a:p>
        </p:txBody>
      </p:sp>
      <p:grpSp>
        <p:nvGrpSpPr>
          <p:cNvPr id="5" name="Group 4" descr="Generalized policy iteration with action values: an evaluation arrow from pi to Q, labelled Q goes to q pi, and an improvement arrow from Q back to pi, labelled pi goes to greedy(Q). Labels: GPI.">
            <a:extLst>
              <a:ext uri="{FF2B5EF4-FFF2-40B4-BE49-F238E27FC236}">
                <a16:creationId xmlns:a16="http://schemas.microsoft.com/office/drawing/2014/main" id="{F8A7C185-8BEF-1CF9-4AA9-A138AA4C6A8E}"/>
              </a:ext>
            </a:extLst>
          </p:cNvPr>
          <p:cNvGrpSpPr/>
          <p:nvPr/>
        </p:nvGrpSpPr>
        <p:grpSpPr>
          <a:xfrm>
            <a:off x="8778373" y="1597639"/>
            <a:ext cx="3001301" cy="2828670"/>
            <a:chOff x="8928790" y="218543"/>
            <a:chExt cx="3001301" cy="2828670"/>
          </a:xfrm>
        </p:grpSpPr>
        <p:pic>
          <p:nvPicPr>
            <p:cNvPr id="8" name="Content Placeholder 4" descr="Generalized policy iteration with action values: an evaluation arrow from pi to Q, labelled Q goes to q pi, and an improvement arrow from Q back to pi, labelled pi goes to greedy(Q).">
              <a:extLst>
                <a:ext uri="{FF2B5EF4-FFF2-40B4-BE49-F238E27FC236}">
                  <a16:creationId xmlns:a16="http://schemas.microsoft.com/office/drawing/2014/main" id="{F3DB8754-B65E-E3AC-7CAD-78AE15FCE1F6}"/>
                </a:ext>
              </a:extLst>
            </p:cNvPr>
            <p:cNvPicPr>
              <a:picLocks noChangeAspect="1"/>
            </p:cNvPicPr>
            <p:nvPr/>
          </p:nvPicPr>
          <p:blipFill>
            <a:blip r:embed="rId3"/>
            <a:stretch>
              <a:fillRect/>
            </a:stretch>
          </p:blipFill>
          <p:spPr>
            <a:xfrm>
              <a:off x="8990601" y="218543"/>
              <a:ext cx="2936007" cy="2828670"/>
            </a:xfrm>
            <a:prstGeom prst="rect">
              <a:avLst/>
            </a:prstGeom>
          </p:spPr>
        </p:pic>
        <p:sp>
          <p:nvSpPr>
            <p:cNvPr id="3" name="TextBox 2">
              <a:extLst>
                <a:ext uri="{FF2B5EF4-FFF2-40B4-BE49-F238E27FC236}">
                  <a16:creationId xmlns:a16="http://schemas.microsoft.com/office/drawing/2014/main" id="{2A83EAAE-FF82-7D38-5799-9A05D9B7919F}"/>
                </a:ext>
              </a:extLst>
            </p:cNvPr>
            <p:cNvSpPr txBox="1"/>
            <p:nvPr/>
          </p:nvSpPr>
          <p:spPr>
            <a:xfrm>
              <a:off x="10107262" y="1397330"/>
              <a:ext cx="558412" cy="369332"/>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en-US" dirty="0"/>
                <a:t>GPI</a:t>
              </a:r>
            </a:p>
          </p:txBody>
        </p:sp>
        <p:sp>
          <p:nvSpPr>
            <p:cNvPr id="4" name="Rectangle 3">
              <a:extLst>
                <a:ext uri="{FF2B5EF4-FFF2-40B4-BE49-F238E27FC236}">
                  <a16:creationId xmlns:a16="http://schemas.microsoft.com/office/drawing/2014/main" id="{20B7AC75-3F86-B31F-1C0A-54A88A97EE28}"/>
                </a:ext>
                <a:ext uri="{C183D7F6-B498-43B3-948B-1728B52AA6E4}">
                  <adec:decorative xmlns:adec="http://schemas.microsoft.com/office/drawing/2017/decorative" val="1"/>
                </a:ext>
              </a:extLst>
            </p:cNvPr>
            <p:cNvSpPr/>
            <p:nvPr/>
          </p:nvSpPr>
          <p:spPr>
            <a:xfrm>
              <a:off x="8928790" y="218543"/>
              <a:ext cx="3001301" cy="2727081"/>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grpSp>
      <p:cxnSp>
        <p:nvCxnSpPr>
          <p:cNvPr id="10" name="Straight Connector 9">
            <a:extLst>
              <a:ext uri="{FF2B5EF4-FFF2-40B4-BE49-F238E27FC236}">
                <a16:creationId xmlns:a16="http://schemas.microsoft.com/office/drawing/2014/main" id="{0FE2971C-E301-9EA9-FB5C-DB042085DC29}"/>
              </a:ext>
              <a:ext uri="{C183D7F6-B498-43B3-948B-1728B52AA6E4}">
                <adec:decorative xmlns:adec="http://schemas.microsoft.com/office/drawing/2017/decorative" val="1"/>
              </a:ext>
            </a:extLst>
          </p:cNvPr>
          <p:cNvCxnSpPr/>
          <p:nvPr/>
        </p:nvCxnSpPr>
        <p:spPr>
          <a:xfrm>
            <a:off x="9531752" y="1736203"/>
            <a:ext cx="1423686" cy="115746"/>
          </a:xfrm>
          <a:prstGeom prst="line">
            <a:avLst/>
          </a:prstGeom>
        </p:spPr>
        <p:style>
          <a:lnRef idx="2">
            <a:schemeClr val="accent3"/>
          </a:lnRef>
          <a:fillRef idx="0">
            <a:schemeClr val="accent3"/>
          </a:fillRef>
          <a:effectRef idx="1">
            <a:schemeClr val="accent3"/>
          </a:effectRef>
          <a:fontRef idx="minor">
            <a:schemeClr val="tx1"/>
          </a:fontRef>
        </p:style>
      </p:cxnSp>
      <p:sp>
        <p:nvSpPr>
          <p:cNvPr id="9" name="Speech Bubble: Rectangle with Corners Rounded 8">
            <a:extLst>
              <a:ext uri="{FF2B5EF4-FFF2-40B4-BE49-F238E27FC236}">
                <a16:creationId xmlns:a16="http://schemas.microsoft.com/office/drawing/2014/main" id="{9CA51BDB-8A14-06A5-54B3-854AB5BD96C4}"/>
              </a:ext>
              <a:ext uri="{C183D7F6-B498-43B3-948B-1728B52AA6E4}">
                <adec:decorative xmlns:adec="http://schemas.microsoft.com/office/drawing/2017/decorative" val="1"/>
              </a:ext>
            </a:extLst>
          </p:cNvPr>
          <p:cNvSpPr/>
          <p:nvPr/>
        </p:nvSpPr>
        <p:spPr>
          <a:xfrm>
            <a:off x="9164972" y="4426309"/>
            <a:ext cx="2327945" cy="1550847"/>
          </a:xfrm>
          <a:prstGeom prst="wedgeRoundRectCallout">
            <a:avLst>
              <a:gd name="adj1" fmla="val -15700"/>
              <a:gd name="adj2" fmla="val -5785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The </a:t>
            </a:r>
            <a:r>
              <a:rPr lang="en-US" sz="1600" b="1" dirty="0"/>
              <a:t>Policy Improvement Theorem </a:t>
            </a:r>
            <a:r>
              <a:rPr lang="en-US" sz="1600" dirty="0"/>
              <a:t>guarantees convergence to the optimal policy</a:t>
            </a:r>
          </a:p>
        </p:txBody>
      </p:sp>
    </p:spTree>
    <p:extLst>
      <p:ext uri="{BB962C8B-B14F-4D97-AF65-F5344CB8AC3E}">
        <p14:creationId xmlns:p14="http://schemas.microsoft.com/office/powerpoint/2010/main" val="971467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0090D-4EE5-1B7F-A3DC-4FF28643DF6D}"/>
              </a:ext>
            </a:extLst>
          </p:cNvPr>
          <p:cNvSpPr>
            <a:spLocks noGrp="1"/>
          </p:cNvSpPr>
          <p:nvPr>
            <p:ph type="title"/>
          </p:nvPr>
        </p:nvSpPr>
        <p:spPr/>
        <p:txBody>
          <a:bodyPr>
            <a:noAutofit/>
          </a:bodyPr>
          <a:lstStyle/>
          <a:p>
            <a:r>
              <a:rPr lang="en-US" sz="3200" dirty="0"/>
              <a:t>Remember: Policy Improvement Theorem and Greedy Policies</a:t>
            </a:r>
          </a:p>
        </p:txBody>
      </p:sp>
      <mc:AlternateContent xmlns:mc="http://schemas.openxmlformats.org/markup-compatibility/2006" xmlns:a14="http://schemas.microsoft.com/office/drawing/2010/main">
        <mc:Choice Requires="a14">
          <p:sp>
            <p:nvSpPr>
              <p:cNvPr id="7" name="TextBox 6" descr="Policy Improvement Theorem. q sub pi (s, pi prime (s)) is greater than or equal to v sub pi (s) for all s in S implies v sub pi prime, (s) is greater than or equal to v sub pi (s) for all s in S. If pi prime is the same as pi but has a better action for at least one state, then pi prime is strictly better than pi">
                <a:extLst>
                  <a:ext uri="{FF2B5EF4-FFF2-40B4-BE49-F238E27FC236}">
                    <a16:creationId xmlns:a16="http://schemas.microsoft.com/office/drawing/2014/main" id="{F91D60D6-EF00-ED4F-82D8-8E5EC0B32D32}"/>
                  </a:ext>
                </a:extLst>
              </p:cNvPr>
              <p:cNvSpPr txBox="1"/>
              <p:nvPr/>
            </p:nvSpPr>
            <p:spPr>
              <a:xfrm>
                <a:off x="838200" y="1219155"/>
                <a:ext cx="10846964" cy="1512978"/>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pPr algn="ctr"/>
                <a:r>
                  <a:rPr lang="en-US" b="1" dirty="0"/>
                  <a:t>Policy Improvement Theorem</a:t>
                </a:r>
              </a:p>
              <a:p>
                <a:endParaRPr lang="en-US" dirty="0"/>
              </a:p>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𝜋</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𝜋</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𝜋</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  ∀</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𝒮</m:t>
                      </m:r>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rPr>
                            <m:t>𝑣</m:t>
                          </m:r>
                        </m:e>
                        <m:sub>
                          <m:sSup>
                            <m:sSupPr>
                              <m:ctrlPr>
                                <a:rPr lang="en-US" i="1">
                                  <a:latin typeface="Cambria Math" panose="02040503050406030204" pitchFamily="18" charset="0"/>
                                </a:rPr>
                              </m:ctrlPr>
                            </m:sSupPr>
                            <m:e>
                              <m:r>
                                <a:rPr lang="en-US" i="1">
                                  <a:latin typeface="Cambria Math" panose="02040503050406030204" pitchFamily="18" charset="0"/>
                                </a:rPr>
                                <m:t>𝜋</m:t>
                              </m:r>
                            </m:e>
                            <m:sup>
                              <m:r>
                                <a:rPr lang="en-US" i="1">
                                  <a:latin typeface="Cambria Math" panose="02040503050406030204" pitchFamily="18" charset="0"/>
                                </a:rPr>
                                <m:t>′</m:t>
                              </m:r>
                            </m:sup>
                          </m:sSup>
                        </m:sub>
                      </m:sSub>
                      <m:d>
                        <m:dPr>
                          <m:ctrlPr>
                            <a:rPr lang="en-US" i="1">
                              <a:latin typeface="Cambria Math" panose="02040503050406030204" pitchFamily="18" charset="0"/>
                            </a:rPr>
                          </m:ctrlPr>
                        </m:dPr>
                        <m:e>
                          <m:r>
                            <a:rPr lang="en-US" i="1">
                              <a:latin typeface="Cambria Math" panose="02040503050406030204" pitchFamily="18" charset="0"/>
                            </a:rPr>
                            <m:t>𝑠</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𝜋</m:t>
                          </m:r>
                        </m:sub>
                      </m:sSub>
                      <m:d>
                        <m:dPr>
                          <m:ctrlPr>
                            <a:rPr lang="en-US" i="1">
                              <a:latin typeface="Cambria Math" panose="02040503050406030204" pitchFamily="18" charset="0"/>
                            </a:rPr>
                          </m:ctrlPr>
                        </m:dPr>
                        <m:e>
                          <m:r>
                            <a:rPr lang="en-US" i="1">
                              <a:latin typeface="Cambria Math" panose="02040503050406030204" pitchFamily="18" charset="0"/>
                            </a:rPr>
                            <m:t>𝑠</m:t>
                          </m:r>
                        </m:e>
                      </m:d>
                      <m:r>
                        <a:rPr lang="en-US" i="1">
                          <a:latin typeface="Cambria Math" panose="02040503050406030204" pitchFamily="18" charset="0"/>
                        </a:rPr>
                        <m:t>  ∀</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𝒮</m:t>
                      </m:r>
                    </m:oMath>
                  </m:oMathPara>
                </a14:m>
                <a:endParaRPr lang="en-US" dirty="0"/>
              </a:p>
              <a:p>
                <a:endParaRPr lang="en-US" dirty="0"/>
              </a:p>
              <a:p>
                <a:r>
                  <a:rPr lang="en-US" dirty="0"/>
                  <a:t>If </a:t>
                </a:r>
                <a14:m>
                  <m:oMath xmlns:m="http://schemas.openxmlformats.org/officeDocument/2006/math">
                    <m:r>
                      <a:rPr lang="en-US" i="1">
                        <a:latin typeface="Cambria Math" panose="02040503050406030204" pitchFamily="18" charset="0"/>
                      </a:rPr>
                      <m:t>𝜋</m:t>
                    </m:r>
                    <m:r>
                      <a:rPr lang="en-US" i="1">
                        <a:latin typeface="Cambria Math" panose="02040503050406030204" pitchFamily="18" charset="0"/>
                      </a:rPr>
                      <m:t>′</m:t>
                    </m:r>
                  </m:oMath>
                </a14:m>
                <a:r>
                  <a:rPr lang="en-US" dirty="0"/>
                  <a:t> is the same as </a:t>
                </a:r>
                <a14:m>
                  <m:oMath xmlns:m="http://schemas.openxmlformats.org/officeDocument/2006/math">
                    <m:r>
                      <a:rPr lang="en-US" b="0" i="1" smtClean="0">
                        <a:latin typeface="Cambria Math" panose="02040503050406030204" pitchFamily="18" charset="0"/>
                      </a:rPr>
                      <m:t>𝜋</m:t>
                    </m:r>
                  </m:oMath>
                </a14:m>
                <a:r>
                  <a:rPr lang="en-US" dirty="0"/>
                  <a:t> but has a better action for at least one state, then </a:t>
                </a:r>
                <a14:m>
                  <m:oMath xmlns:m="http://schemas.openxmlformats.org/officeDocument/2006/math">
                    <m:r>
                      <a:rPr lang="en-US" b="0" i="1" smtClean="0">
                        <a:latin typeface="Cambria Math" panose="02040503050406030204" pitchFamily="18" charset="0"/>
                      </a:rPr>
                      <m:t>𝜋</m:t>
                    </m:r>
                    <m:r>
                      <a:rPr lang="en-US" b="0" i="1" smtClean="0">
                        <a:latin typeface="Cambria Math" panose="02040503050406030204" pitchFamily="18" charset="0"/>
                      </a:rPr>
                      <m:t>′</m:t>
                    </m:r>
                  </m:oMath>
                </a14:m>
                <a:r>
                  <a:rPr lang="en-US" dirty="0"/>
                  <a:t> is strictly better than </a:t>
                </a:r>
                <a14:m>
                  <m:oMath xmlns:m="http://schemas.openxmlformats.org/officeDocument/2006/math">
                    <m:r>
                      <a:rPr lang="en-US" b="0" i="1" smtClean="0">
                        <a:latin typeface="Cambria Math" panose="02040503050406030204" pitchFamily="18" charset="0"/>
                      </a:rPr>
                      <m:t>𝜋</m:t>
                    </m:r>
                  </m:oMath>
                </a14:m>
                <a:endParaRPr lang="en-US" dirty="0"/>
              </a:p>
            </p:txBody>
          </p:sp>
        </mc:Choice>
        <mc:Fallback xmlns="">
          <p:sp>
            <p:nvSpPr>
              <p:cNvPr id="7" name="TextBox 6" descr="Policy Improvement Theorem. q sub pi (s, pi prime (s)) is greater than or equal to v sub pi (s) for all s in S implies v sub pi prime, (s) is greater than or equal to v sub pi (s) for all s in S. If pi prime is the same as pi but has a better action for at least one state, then pi prime is strictly better than pi">
                <a:extLst>
                  <a:ext uri="{FF2B5EF4-FFF2-40B4-BE49-F238E27FC236}">
                    <a16:creationId xmlns:a16="http://schemas.microsoft.com/office/drawing/2014/main" id="{F91D60D6-EF00-ED4F-82D8-8E5EC0B32D32}"/>
                  </a:ext>
                </a:extLst>
              </p:cNvPr>
              <p:cNvSpPr txBox="1">
                <a:spLocks noRot="1" noChangeAspect="1" noMove="1" noResize="1" noEditPoints="1" noAdjustHandles="1" noChangeArrowheads="1" noChangeShapeType="1" noTextEdit="1"/>
              </p:cNvSpPr>
              <p:nvPr/>
            </p:nvSpPr>
            <p:spPr>
              <a:xfrm>
                <a:off x="838200" y="1219155"/>
                <a:ext cx="10846964" cy="1512978"/>
              </a:xfrm>
              <a:prstGeom prst="rect">
                <a:avLst/>
              </a:prstGeom>
              <a:blipFill>
                <a:blip r:embed="rId2"/>
                <a:stretch>
                  <a:fillRect l="-449" t="-1594" b="-51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descr="+ Applying greedy policy improvement (best action in each state) to converges to pi sub star. Requirements for convergence:. Unbiased estimates for q: First-visit MC prediction is unbiased. Perfect policy evaluation with infinity many episodes before each policy update. This is not practical!. Complete exploration: All state/action pairs are tried. We need a solution for this!. The effect of imperfect policy evaluation. Individual q estimates will be wrong but unbiased return estimates will produce in expectation (on average) the correct estimate. Policy improvement sometimes may pick the wrong action, but on average favors actions with true higher values">
                <a:extLst>
                  <a:ext uri="{FF2B5EF4-FFF2-40B4-BE49-F238E27FC236}">
                    <a16:creationId xmlns:a16="http://schemas.microsoft.com/office/drawing/2014/main" id="{CC3A96F1-4BA7-4E3F-1BDC-24F7A5DC2996}"/>
                  </a:ext>
                </a:extLst>
              </p:cNvPr>
              <p:cNvSpPr>
                <a:spLocks noGrp="1"/>
              </p:cNvSpPr>
              <p:nvPr>
                <p:ph idx="1"/>
              </p:nvPr>
            </p:nvSpPr>
            <p:spPr>
              <a:xfrm>
                <a:off x="838200" y="2973897"/>
                <a:ext cx="10515600" cy="3401531"/>
              </a:xfrm>
            </p:spPr>
            <p:txBody>
              <a:bodyPr>
                <a:normAutofit fontScale="70000" lnSpcReduction="20000"/>
              </a:bodyPr>
              <a:lstStyle/>
              <a:p>
                <a:pPr marL="0" indent="0">
                  <a:buNone/>
                </a:pPr>
                <a:r>
                  <a:rPr lang="en-US" dirty="0"/>
                  <a:t>+ Applying greedy policy improvement (best action in each state) </a:t>
                </a:r>
                <a14:m>
                  <m:oMath xmlns:m="http://schemas.openxmlformats.org/officeDocument/2006/math">
                    <m:r>
                      <a:rPr lang="en-US" i="1" dirty="0">
                        <a:latin typeface="Cambria Math" panose="02040503050406030204" pitchFamily="18" charset="0"/>
                      </a:rPr>
                      <m:t>→</m:t>
                    </m:r>
                  </m:oMath>
                </a14:m>
                <a:r>
                  <a:rPr lang="en-US" dirty="0"/>
                  <a:t> converges to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i="1">
                            <a:latin typeface="Cambria Math" panose="02040503050406030204" pitchFamily="18" charset="0"/>
                          </a:rPr>
                          <m:t>∗</m:t>
                        </m:r>
                      </m:sub>
                    </m:sSub>
                  </m:oMath>
                </a14:m>
                <a:endParaRPr lang="en-US" dirty="0"/>
              </a:p>
              <a:p>
                <a:endParaRPr lang="en-US" dirty="0"/>
              </a:p>
              <a:p>
                <a:pPr marL="0" indent="0">
                  <a:buNone/>
                </a:pPr>
                <a:r>
                  <a:rPr lang="en-US" b="1" dirty="0"/>
                  <a:t>Requirements for convergence:</a:t>
                </a:r>
              </a:p>
              <a:p>
                <a:pPr lvl="1"/>
                <a:r>
                  <a:rPr lang="en-US" b="1" dirty="0"/>
                  <a:t>Unbiased estimates for </a:t>
                </a:r>
                <a14:m>
                  <m:oMath xmlns:m="http://schemas.openxmlformats.org/officeDocument/2006/math">
                    <m:r>
                      <a:rPr lang="en-US" b="1" i="1" smtClean="0">
                        <a:latin typeface="Cambria Math" panose="02040503050406030204" pitchFamily="18" charset="0"/>
                      </a:rPr>
                      <m:t>𝒒</m:t>
                    </m:r>
                    <m:r>
                      <a:rPr lang="en-US" b="0" i="0" smtClean="0">
                        <a:latin typeface="Cambria Math" panose="02040503050406030204" pitchFamily="18" charset="0"/>
                      </a:rPr>
                      <m:t>:</m:t>
                    </m:r>
                  </m:oMath>
                </a14:m>
                <a:r>
                  <a:rPr lang="en-US" dirty="0"/>
                  <a:t> First-visit MC prediction is unbiased.</a:t>
                </a:r>
              </a:p>
              <a:p>
                <a:pPr lvl="1"/>
                <a:r>
                  <a:rPr lang="en-US" b="1" dirty="0"/>
                  <a:t>Perfect policy evaluation </a:t>
                </a:r>
                <a:r>
                  <a:rPr lang="en-US" dirty="0"/>
                  <a:t>with </a:t>
                </a:r>
                <a14:m>
                  <m:oMath xmlns:m="http://schemas.openxmlformats.org/officeDocument/2006/math">
                    <m:r>
                      <a:rPr lang="en-US" i="1">
                        <a:latin typeface="Cambria Math" panose="02040503050406030204" pitchFamily="18" charset="0"/>
                      </a:rPr>
                      <m:t>∞</m:t>
                    </m:r>
                  </m:oMath>
                </a14:m>
                <a:r>
                  <a:rPr lang="en-US" dirty="0"/>
                  <a:t> many episodes before each policy update. This is not practical!</a:t>
                </a:r>
              </a:p>
              <a:p>
                <a:pPr lvl="1"/>
                <a:r>
                  <a:rPr lang="en-US" b="1" dirty="0"/>
                  <a:t>Complete exploration: </a:t>
                </a:r>
                <a:r>
                  <a:rPr lang="en-US" dirty="0"/>
                  <a:t>All state/action pairs are tried. We need a solution for this!</a:t>
                </a:r>
              </a:p>
              <a:p>
                <a:pPr lvl="1"/>
                <a:endParaRPr lang="en-US" dirty="0"/>
              </a:p>
              <a:p>
                <a:pPr marL="0" indent="0">
                  <a:buNone/>
                </a:pPr>
                <a:r>
                  <a:rPr lang="en-US" b="1" dirty="0"/>
                  <a:t>The effect of imperfect policy evaluation</a:t>
                </a:r>
              </a:p>
              <a:p>
                <a:pPr lvl="1"/>
                <a:r>
                  <a:rPr lang="en-US" dirty="0"/>
                  <a:t>Individual </a:t>
                </a:r>
                <a14:m>
                  <m:oMath xmlns:m="http://schemas.openxmlformats.org/officeDocument/2006/math">
                    <m:r>
                      <a:rPr lang="en-US" b="0" i="1" smtClean="0">
                        <a:latin typeface="Cambria Math" panose="02040503050406030204" pitchFamily="18" charset="0"/>
                      </a:rPr>
                      <m:t>𝑞</m:t>
                    </m:r>
                    <m:r>
                      <a:rPr lang="en-US" b="0" i="1" smtClean="0">
                        <a:latin typeface="Cambria Math" panose="02040503050406030204" pitchFamily="18" charset="0"/>
                      </a:rPr>
                      <m:t> </m:t>
                    </m:r>
                  </m:oMath>
                </a14:m>
                <a:r>
                  <a:rPr lang="en-US" dirty="0"/>
                  <a:t>estimates will be wrong but unbiased return estimates will produce in expectation (on average) the correct estimate.</a:t>
                </a:r>
              </a:p>
              <a:p>
                <a:pPr lvl="1"/>
                <a:r>
                  <a:rPr lang="en-US" dirty="0"/>
                  <a:t>Policy improvement sometimes may pick the wrong action, but </a:t>
                </a:r>
                <a:r>
                  <a:rPr lang="en-US" b="1" dirty="0"/>
                  <a:t>on average favors actions with true higher values.</a:t>
                </a:r>
              </a:p>
            </p:txBody>
          </p:sp>
        </mc:Choice>
        <mc:Fallback xmlns="">
          <p:sp>
            <p:nvSpPr>
              <p:cNvPr id="3" name="Content Placeholder 2" descr="+ Applying greedy policy improvement (best action in each state) to converges to pi sub star. Requirements for convergence:. Unbiased estimates for q: First-visit MC prediction is unbiased. Perfect policy evaluation with infinity many episodes before each policy update. This is not practical!. Complete exploration: All state/action pairs are tried. We need a solution for this!. The effect of imperfect policy evaluation. Individual q estimates will be wrong but unbiased return estimates will produce in expectation (on average) the correct estimate. Policy improvement sometimes may pick the wrong action, but on average favors actions with true higher values">
                <a:extLst>
                  <a:ext uri="{FF2B5EF4-FFF2-40B4-BE49-F238E27FC236}">
                    <a16:creationId xmlns:a16="http://schemas.microsoft.com/office/drawing/2014/main" id="{CC3A96F1-4BA7-4E3F-1BDC-24F7A5DC2996}"/>
                  </a:ext>
                </a:extLst>
              </p:cNvPr>
              <p:cNvSpPr>
                <a:spLocks noGrp="1" noRot="1" noChangeAspect="1" noMove="1" noResize="1" noEditPoints="1" noAdjustHandles="1" noChangeArrowheads="1" noChangeShapeType="1" noTextEdit="1"/>
              </p:cNvSpPr>
              <p:nvPr>
                <p:ph idx="1"/>
              </p:nvPr>
            </p:nvSpPr>
            <p:spPr>
              <a:xfrm>
                <a:off x="838200" y="2973897"/>
                <a:ext cx="10515600" cy="3401531"/>
              </a:xfrm>
              <a:blipFill>
                <a:blip r:embed="rId3"/>
                <a:stretch>
                  <a:fillRect l="-638" t="-3226"/>
                </a:stretch>
              </a:blipFill>
            </p:spPr>
            <p:txBody>
              <a:bodyPr/>
              <a:lstStyle/>
              <a:p>
                <a:r>
                  <a:rPr lang="en-US">
                    <a:noFill/>
                  </a:rPr>
                  <a:t> </a:t>
                </a:r>
              </a:p>
            </p:txBody>
          </p:sp>
        </mc:Fallback>
      </mc:AlternateContent>
    </p:spTree>
    <p:extLst>
      <p:ext uri="{BB962C8B-B14F-4D97-AF65-F5344CB8AC3E}">
        <p14:creationId xmlns:p14="http://schemas.microsoft.com/office/powerpoint/2010/main" val="3368400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AB7F5-DC53-0B92-5EC4-6EE0D3EC5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E87CEA-5458-FD9C-AEE9-7C8998BD7F53}"/>
              </a:ext>
            </a:extLst>
          </p:cNvPr>
          <p:cNvSpPr>
            <a:spLocks noGrp="1"/>
          </p:cNvSpPr>
          <p:nvPr>
            <p:ph type="title"/>
          </p:nvPr>
        </p:nvSpPr>
        <p:spPr/>
        <p:txBody>
          <a:bodyPr/>
          <a:lstStyle/>
          <a:p>
            <a:r>
              <a:rPr lang="en-US" dirty="0"/>
              <a:t>MC Prediction to Estimate Q-Values</a:t>
            </a:r>
          </a:p>
        </p:txBody>
      </p:sp>
      <mc:AlternateContent xmlns:mc="http://schemas.openxmlformats.org/markup-compatibility/2006" xmlns:a14="http://schemas.microsoft.com/office/drawing/2010/main">
        <mc:Choice Requires="a14">
          <p:sp>
            <p:nvSpPr>
              <p:cNvPr id="3" name="Content Placeholder 2" descr="MC prediction for q sub pi (s,a) equals E sub pi [G sub t | S sub t equals s,A sub t equals a]. Same as for v sub pi (s), just record and average returns for action-state pairs (a,s) when following pi . Convergence: Unbiased samples lead to convergence to q sub pi after infinity episodes. Exploration issue: Many (a,s) -pairs that are important for pi star may never be visited when following pi . To get Q-Value estimates, we need to keep exploring!. Options to guarantee that all (a,s) -pairs are sampled :. Exploring starts: choose the starting (a,s) for each episode randomly. Only consider soft policies like epsilon -greedy. Remember: Soft policies have non-zero probabilities for all actions so they will explore">
                <a:extLst>
                  <a:ext uri="{FF2B5EF4-FFF2-40B4-BE49-F238E27FC236}">
                    <a16:creationId xmlns:a16="http://schemas.microsoft.com/office/drawing/2014/main" id="{014C16CC-EFEF-3BC0-5891-9B82A93F4FD1}"/>
                  </a:ext>
                </a:extLst>
              </p:cNvPr>
              <p:cNvSpPr>
                <a:spLocks noGrp="1"/>
              </p:cNvSpPr>
              <p:nvPr>
                <p:ph idx="1"/>
              </p:nvPr>
            </p:nvSpPr>
            <p:spPr>
              <a:xfrm>
                <a:off x="900440" y="1380579"/>
                <a:ext cx="7758936" cy="4779633"/>
              </a:xfrm>
            </p:spPr>
            <p:txBody>
              <a:bodyPr>
                <a:normAutofit fontScale="70000" lnSpcReduction="20000"/>
              </a:bodyPr>
              <a:lstStyle/>
              <a:p>
                <a:r>
                  <a:rPr lang="en-US" b="0" dirty="0"/>
                  <a:t>MC prediction for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𝜋</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e>
                    </m:d>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𝔼</m:t>
                        </m:r>
                      </m:e>
                      <m:sub>
                        <m:r>
                          <a:rPr lang="en-US" i="1">
                            <a:latin typeface="Cambria Math" panose="02040503050406030204" pitchFamily="18" charset="0"/>
                          </a:rPr>
                          <m:t>𝜋</m:t>
                        </m:r>
                      </m:sub>
                    </m:s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sub>
                        </m:sSub>
                        <m:r>
                          <a:rPr lang="en-US" i="1">
                            <a:latin typeface="Cambria Math" panose="02040503050406030204" pitchFamily="18" charset="0"/>
                          </a:rPr>
                          <m:t> </m:t>
                        </m:r>
                      </m:e>
                    </m:d>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oMath>
                </a14:m>
                <a:br>
                  <a:rPr lang="en-US" b="0" dirty="0"/>
                </a:br>
                <a:endParaRPr lang="en-US" b="0" dirty="0"/>
              </a:p>
              <a:p>
                <a:r>
                  <a:rPr lang="en-US" dirty="0"/>
                  <a:t>Same as</a:t>
                </a:r>
                <a:r>
                  <a:rPr lang="en-US" b="0" dirty="0"/>
                  <a:t> for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𝜋</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r>
                  <a:rPr lang="en-US" dirty="0"/>
                  <a:t>, just record and average returns for action-state pairs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r>
                  <a:rPr lang="en-US" dirty="0"/>
                  <a:t> when following </a:t>
                </a:r>
                <a14:m>
                  <m:oMath xmlns:m="http://schemas.openxmlformats.org/officeDocument/2006/math">
                    <m:r>
                      <a:rPr lang="en-US" b="0" i="1" smtClean="0">
                        <a:latin typeface="Cambria Math" panose="02040503050406030204" pitchFamily="18" charset="0"/>
                      </a:rPr>
                      <m:t>𝜋</m:t>
                    </m:r>
                  </m:oMath>
                </a14:m>
                <a:r>
                  <a:rPr lang="en-US" dirty="0"/>
                  <a:t>.</a:t>
                </a:r>
              </a:p>
              <a:p>
                <a:endParaRPr lang="en-US" dirty="0"/>
              </a:p>
              <a:p>
                <a:r>
                  <a:rPr lang="en-US" b="1" dirty="0"/>
                  <a:t>Convergence</a:t>
                </a:r>
                <a:r>
                  <a:rPr lang="en-US" dirty="0"/>
                  <a:t>: Unbiased samples lead to convergence to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𝜋</m:t>
                        </m:r>
                      </m:sub>
                    </m:sSub>
                  </m:oMath>
                </a14:m>
                <a:r>
                  <a:rPr lang="en-US" dirty="0"/>
                  <a:t> after </a:t>
                </a:r>
                <a14:m>
                  <m:oMath xmlns:m="http://schemas.openxmlformats.org/officeDocument/2006/math">
                    <m:r>
                      <a:rPr lang="en-US" b="0" i="1" smtClean="0">
                        <a:latin typeface="Cambria Math" panose="02040503050406030204" pitchFamily="18" charset="0"/>
                      </a:rPr>
                      <m:t>∞</m:t>
                    </m:r>
                  </m:oMath>
                </a14:m>
                <a:r>
                  <a:rPr lang="en-US" dirty="0"/>
                  <a:t> episodes.</a:t>
                </a:r>
              </a:p>
              <a:p>
                <a:endParaRPr lang="en-US" b="1" dirty="0"/>
              </a:p>
              <a:p>
                <a:r>
                  <a:rPr lang="en-US" b="1" dirty="0"/>
                  <a:t>Exploration issue</a:t>
                </a:r>
                <a:r>
                  <a:rPr lang="en-US" dirty="0"/>
                  <a:t>: Many </a:t>
                </a:r>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𝑠</m:t>
                        </m:r>
                      </m:e>
                    </m:d>
                  </m:oMath>
                </a14:m>
                <a:r>
                  <a:rPr lang="en-US" dirty="0"/>
                  <a:t>-pairs that are important for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𝜋</m:t>
                        </m:r>
                      </m:e>
                      <m:sup>
                        <m:r>
                          <a:rPr lang="en-US" b="0" i="1" smtClean="0">
                            <a:latin typeface="Cambria Math" panose="02040503050406030204" pitchFamily="18" charset="0"/>
                          </a:rPr>
                          <m:t>∗</m:t>
                        </m:r>
                      </m:sup>
                    </m:sSup>
                  </m:oMath>
                </a14:m>
                <a:r>
                  <a:rPr lang="en-US" dirty="0"/>
                  <a:t> may never be visited when following </a:t>
                </a:r>
                <a14:m>
                  <m:oMath xmlns:m="http://schemas.openxmlformats.org/officeDocument/2006/math">
                    <m:r>
                      <a:rPr lang="en-US" b="0" i="1" smtClean="0">
                        <a:latin typeface="Cambria Math" panose="02040503050406030204" pitchFamily="18" charset="0"/>
                      </a:rPr>
                      <m:t>𝜋</m:t>
                    </m:r>
                  </m:oMath>
                </a14:m>
                <a:r>
                  <a:rPr lang="en-US" dirty="0"/>
                  <a:t>. To get Q-Value estimates, we need to keep exploring! </a:t>
                </a:r>
                <a:br>
                  <a:rPr lang="en-US" dirty="0"/>
                </a:br>
                <a:endParaRPr lang="en-US" dirty="0"/>
              </a:p>
              <a:p>
                <a:r>
                  <a:rPr lang="en-US" dirty="0"/>
                  <a:t>Options to guarantee that all </a:t>
                </a:r>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𝑠</m:t>
                        </m:r>
                      </m:e>
                    </m:d>
                  </m:oMath>
                </a14:m>
                <a:r>
                  <a:rPr lang="en-US" dirty="0"/>
                  <a:t>-pairs are sampled :</a:t>
                </a:r>
              </a:p>
              <a:p>
                <a:pPr marL="914400" lvl="1" indent="-457200">
                  <a:buFont typeface="+mj-lt"/>
                  <a:buAutoNum type="alphaLcParenR"/>
                </a:pPr>
                <a:r>
                  <a:rPr lang="en-US" b="1" dirty="0"/>
                  <a:t>Exploring starts</a:t>
                </a:r>
                <a:r>
                  <a:rPr lang="en-US" dirty="0"/>
                  <a:t>: choose the starting </a:t>
                </a:r>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𝑠</m:t>
                        </m:r>
                      </m:e>
                    </m:d>
                  </m:oMath>
                </a14:m>
                <a:r>
                  <a:rPr lang="en-US" dirty="0"/>
                  <a:t> for each episode randomly.</a:t>
                </a:r>
              </a:p>
              <a:p>
                <a:pPr marL="914400" lvl="1" indent="-457200">
                  <a:buFont typeface="+mj-lt"/>
                  <a:buAutoNum type="alphaLcParenR"/>
                </a:pPr>
                <a:r>
                  <a:rPr lang="en-US" dirty="0"/>
                  <a:t>Only consider </a:t>
                </a:r>
                <a:r>
                  <a:rPr lang="en-US" b="1" dirty="0"/>
                  <a:t>soft policies </a:t>
                </a:r>
                <a:r>
                  <a:rPr lang="en-US" dirty="0"/>
                  <a:t>like </a:t>
                </a:r>
                <a14:m>
                  <m:oMath xmlns:m="http://schemas.openxmlformats.org/officeDocument/2006/math">
                    <m:r>
                      <a:rPr lang="en-US" b="0" i="1" smtClean="0">
                        <a:latin typeface="Cambria Math" panose="02040503050406030204" pitchFamily="18" charset="0"/>
                      </a:rPr>
                      <m:t>𝜖</m:t>
                    </m:r>
                  </m:oMath>
                </a14:m>
                <a:r>
                  <a:rPr lang="en-US" dirty="0"/>
                  <a:t>-greedy. </a:t>
                </a:r>
                <a:br>
                  <a:rPr lang="en-US" dirty="0"/>
                </a:br>
                <a:r>
                  <a:rPr lang="en-US" dirty="0"/>
                  <a:t>Remember: Soft policies have non-zero probabilities for all actions so they will explore.</a:t>
                </a:r>
              </a:p>
              <a:p>
                <a:pPr marL="1371600" lvl="2" indent="-457200">
                  <a:buFont typeface="+mj-lt"/>
                  <a:buAutoNum type="alphaLcParenR"/>
                </a:pPr>
                <a:endParaRPr lang="en-US" dirty="0"/>
              </a:p>
            </p:txBody>
          </p:sp>
        </mc:Choice>
        <mc:Fallback xmlns="">
          <p:sp>
            <p:nvSpPr>
              <p:cNvPr id="3" name="Content Placeholder 2" descr="MC prediction for q sub pi (s,a) equals E sub pi [G sub t | S sub t equals s,A sub t equals a]. Same as for v sub pi (s), just record and average returns for action-state pairs (a,s) when following pi . Convergence: Unbiased samples lead to convergence to q sub pi after infinity episodes. Exploration issue: Many (a,s) -pairs that are important for pi star may never be visited when following pi . To get Q-Value estimates, we need to keep exploring!. Options to guarantee that all (a,s) -pairs are sampled :. Exploring starts: choose the starting (a,s) for each episode randomly. Only consider soft policies like epsilon -greedy. Remember: Soft policies have non-zero probabilities for all actions so they will explore">
                <a:extLst>
                  <a:ext uri="{FF2B5EF4-FFF2-40B4-BE49-F238E27FC236}">
                    <a16:creationId xmlns:a16="http://schemas.microsoft.com/office/drawing/2014/main" id="{014C16CC-EFEF-3BC0-5891-9B82A93F4FD1}"/>
                  </a:ext>
                </a:extLst>
              </p:cNvPr>
              <p:cNvSpPr>
                <a:spLocks noGrp="1" noRot="1" noChangeAspect="1" noMove="1" noResize="1" noEditPoints="1" noAdjustHandles="1" noChangeArrowheads="1" noChangeShapeType="1" noTextEdit="1"/>
              </p:cNvSpPr>
              <p:nvPr>
                <p:ph idx="1"/>
              </p:nvPr>
            </p:nvSpPr>
            <p:spPr>
              <a:xfrm>
                <a:off x="900440" y="1380579"/>
                <a:ext cx="7758936" cy="4779633"/>
              </a:xfrm>
              <a:blipFill>
                <a:blip r:embed="rId2"/>
                <a:stretch>
                  <a:fillRect l="-707" t="-2166"/>
                </a:stretch>
              </a:blipFill>
            </p:spPr>
            <p:txBody>
              <a:bodyPr/>
              <a:lstStyle/>
              <a:p>
                <a:r>
                  <a:rPr lang="en-US">
                    <a:noFill/>
                  </a:rPr>
                  <a:t> </a:t>
                </a:r>
              </a:p>
            </p:txBody>
          </p:sp>
        </mc:Fallback>
      </mc:AlternateContent>
      <p:pic>
        <p:nvPicPr>
          <p:cNvPr id="4" name="Picture 2" descr="AIMA Figure 17.1. (a) A 3-by-4 grid world with 4 columns and 3 rows: the start is the bottom-left cell (1,1), terminal cells are +1 at (4,3) and −1 at (4,2), and cell (2,2) is a wall. (b) The transition model: the intended move succeeds with probability 0.8, and with probability 0.1 each the agent moves at right angles instead.">
            <a:extLst>
              <a:ext uri="{FF2B5EF4-FFF2-40B4-BE49-F238E27FC236}">
                <a16:creationId xmlns:a16="http://schemas.microsoft.com/office/drawing/2014/main" id="{A8E25886-C1A1-896D-CA44-7596F261C8D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0761" b="11508"/>
          <a:stretch>
            <a:fillRect/>
          </a:stretch>
        </p:blipFill>
        <p:spPr bwMode="auto">
          <a:xfrm>
            <a:off x="8769606" y="1380579"/>
            <a:ext cx="2766306" cy="2092632"/>
          </a:xfrm>
          <a:prstGeom prst="rect">
            <a:avLst/>
          </a:prstGeom>
          <a:noFill/>
          <a:extLst>
            <a:ext uri="{909E8E84-426E-40DD-AFC4-6F175D3DCCD1}">
              <a14:hiddenFill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1637A3C7-9787-B245-847A-66EE87C285C2}"/>
              </a:ext>
              <a:ext uri="{C183D7F6-B498-43B3-948B-1728B52AA6E4}">
                <adec:decorative xmlns:adec="http://schemas.microsoft.com/office/drawing/2017/decorative" val="1"/>
              </a:ext>
            </a:extLst>
          </p:cNvPr>
          <p:cNvGrpSpPr/>
          <p:nvPr/>
        </p:nvGrpSpPr>
        <p:grpSpPr>
          <a:xfrm>
            <a:off x="9077115" y="2532250"/>
            <a:ext cx="776829" cy="814355"/>
            <a:chOff x="9077115" y="2532250"/>
            <a:chExt cx="776829" cy="814355"/>
          </a:xfrm>
        </p:grpSpPr>
        <p:sp>
          <p:nvSpPr>
            <p:cNvPr id="8" name="Arrow: Right 7">
              <a:extLst>
                <a:ext uri="{FF2B5EF4-FFF2-40B4-BE49-F238E27FC236}">
                  <a16:creationId xmlns:a16="http://schemas.microsoft.com/office/drawing/2014/main" id="{5C12E522-80E2-4861-90FA-1A5EEE6F62B1}"/>
                </a:ext>
                <a:ext uri="{C183D7F6-B498-43B3-948B-1728B52AA6E4}">
                  <adec:decorative xmlns:adec="http://schemas.microsoft.com/office/drawing/2017/decorative" val="1"/>
                </a:ext>
              </a:extLst>
            </p:cNvPr>
            <p:cNvSpPr/>
            <p:nvPr/>
          </p:nvSpPr>
          <p:spPr>
            <a:xfrm>
              <a:off x="9701544" y="2887095"/>
              <a:ext cx="152400" cy="116523"/>
            </a:xfrm>
            <a:prstGeom prst="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73688F91-46E8-7014-D581-4E77B99DA25A}"/>
                </a:ext>
                <a:ext uri="{C183D7F6-B498-43B3-948B-1728B52AA6E4}">
                  <adec:decorative xmlns:adec="http://schemas.microsoft.com/office/drawing/2017/decorative" val="1"/>
                </a:ext>
              </a:extLst>
            </p:cNvPr>
            <p:cNvSpPr/>
            <p:nvPr/>
          </p:nvSpPr>
          <p:spPr>
            <a:xfrm rot="5400000">
              <a:off x="9455985" y="3212143"/>
              <a:ext cx="152400" cy="116523"/>
            </a:xfrm>
            <a:prstGeom prst="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2361CF96-06F0-E613-3058-6524CF1E236A}"/>
                </a:ext>
                <a:ext uri="{C183D7F6-B498-43B3-948B-1728B52AA6E4}">
                  <adec:decorative xmlns:adec="http://schemas.microsoft.com/office/drawing/2017/decorative" val="1"/>
                </a:ext>
              </a:extLst>
            </p:cNvPr>
            <p:cNvSpPr/>
            <p:nvPr/>
          </p:nvSpPr>
          <p:spPr>
            <a:xfrm rot="16200000">
              <a:off x="9455985" y="2550188"/>
              <a:ext cx="152400" cy="116523"/>
            </a:xfrm>
            <a:prstGeom prst="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D02ADD85-B7FA-289A-4408-E2DEDA84160A}"/>
                </a:ext>
                <a:ext uri="{C183D7F6-B498-43B3-948B-1728B52AA6E4}">
                  <adec:decorative xmlns:adec="http://schemas.microsoft.com/office/drawing/2017/decorative" val="1"/>
                </a:ext>
              </a:extLst>
            </p:cNvPr>
            <p:cNvSpPr/>
            <p:nvPr/>
          </p:nvSpPr>
          <p:spPr>
            <a:xfrm flipH="1">
              <a:off x="9077115" y="2877493"/>
              <a:ext cx="152400" cy="116523"/>
            </a:xfrm>
            <a:prstGeom prst="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grpSp>
      <p:sp>
        <p:nvSpPr>
          <p:cNvPr id="7" name="Arrow: Down 6">
            <a:extLst>
              <a:ext uri="{FF2B5EF4-FFF2-40B4-BE49-F238E27FC236}">
                <a16:creationId xmlns:a16="http://schemas.microsoft.com/office/drawing/2014/main" id="{76FE0BB7-8A76-6D81-7A8F-A58771468094}"/>
              </a:ext>
              <a:ext uri="{C183D7F6-B498-43B3-948B-1728B52AA6E4}">
                <adec:decorative xmlns:adec="http://schemas.microsoft.com/office/drawing/2017/decorative" val="1"/>
              </a:ext>
            </a:extLst>
          </p:cNvPr>
          <p:cNvSpPr/>
          <p:nvPr/>
        </p:nvSpPr>
        <p:spPr>
          <a:xfrm>
            <a:off x="10223292" y="3282846"/>
            <a:ext cx="397239" cy="607503"/>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39E04EF-715D-76FC-468F-23217F2D5AA4}"/>
              </a:ext>
            </a:extLst>
          </p:cNvPr>
          <p:cNvSpPr txBox="1"/>
          <p:nvPr/>
        </p:nvSpPr>
        <p:spPr>
          <a:xfrm>
            <a:off x="9581367" y="3890349"/>
            <a:ext cx="1640261" cy="369332"/>
          </a:xfrm>
          <a:prstGeom prst="rect">
            <a:avLst/>
          </a:prstGeom>
          <a:noFill/>
        </p:spPr>
        <p:txBody>
          <a:bodyPr wrap="square" rtlCol="0">
            <a:spAutoFit/>
          </a:bodyPr>
          <a:lstStyle/>
          <a:p>
            <a:pPr algn="ctr"/>
            <a:r>
              <a:rPr lang="en-US" b="1" dirty="0"/>
              <a:t>Q-Table</a:t>
            </a:r>
          </a:p>
        </p:txBody>
      </p:sp>
      <mc:AlternateContent xmlns:mc="http://schemas.openxmlformats.org/markup-compatibility/2006" xmlns:a14="http://schemas.microsoft.com/office/drawing/2010/main">
        <mc:Choice Requires="a14">
          <p:graphicFrame>
            <p:nvGraphicFramePr>
              <p:cNvPr id="6" name="Table 5" descr="Table with 6 rows and 3 columns. Column headers: s, a, q(s,a). Row 1: (1,1), up, Sample average. Row 2: (1,1), right, Sample average. Row 3: (1,1), down, Sample average. Row 4: (1,1), left, Sample average. Row 5: …, …, ….">
                <a:extLst>
                  <a:ext uri="{FF2B5EF4-FFF2-40B4-BE49-F238E27FC236}">
                    <a16:creationId xmlns:a16="http://schemas.microsoft.com/office/drawing/2014/main" id="{98EFA979-BF04-489A-BB6E-9C8BA43B71C4}"/>
                  </a:ext>
                </a:extLst>
              </p:cNvPr>
              <p:cNvGraphicFramePr>
                <a:graphicFrameLocks noGrp="1"/>
              </p:cNvGraphicFramePr>
              <p:nvPr>
                <p:extLst>
                  <p:ext uri="{D42A27DB-BD31-4B8C-83A1-F6EECF244321}">
                    <p14:modId xmlns:p14="http://schemas.microsoft.com/office/powerpoint/2010/main" val="4060271369"/>
                  </p:ext>
                </p:extLst>
              </p:nvPr>
            </p:nvGraphicFramePr>
            <p:xfrm>
              <a:off x="9084039" y="4259681"/>
              <a:ext cx="2662384" cy="1645920"/>
            </p:xfrm>
            <a:graphic>
              <a:graphicData uri="http://schemas.openxmlformats.org/drawingml/2006/table">
                <a:tbl>
                  <a:tblPr firstRow="1" bandRow="1">
                    <a:tableStyleId>{93296810-A885-4BE3-A3E7-6D5BEEA58F35}</a:tableStyleId>
                  </a:tblPr>
                  <a:tblGrid>
                    <a:gridCol w="517161">
                      <a:extLst>
                        <a:ext uri="{9D8B030D-6E8A-4147-A177-3AD203B41FA5}">
                          <a16:colId xmlns:a16="http://schemas.microsoft.com/office/drawing/2014/main" val="3711460689"/>
                        </a:ext>
                      </a:extLst>
                    </a:gridCol>
                    <a:gridCol w="839449">
                      <a:extLst>
                        <a:ext uri="{9D8B030D-6E8A-4147-A177-3AD203B41FA5}">
                          <a16:colId xmlns:a16="http://schemas.microsoft.com/office/drawing/2014/main" val="2988890879"/>
                        </a:ext>
                      </a:extLst>
                    </a:gridCol>
                    <a:gridCol w="1305774">
                      <a:extLst>
                        <a:ext uri="{9D8B030D-6E8A-4147-A177-3AD203B41FA5}">
                          <a16:colId xmlns:a16="http://schemas.microsoft.com/office/drawing/2014/main" val="2080107700"/>
                        </a:ext>
                      </a:extLst>
                    </a:gridCol>
                  </a:tblGrid>
                  <a:tr h="182880">
                    <a:tc>
                      <a:txBody>
                        <a:bodyPr/>
                        <a:lstStyle/>
                        <a:p>
                          <a:pPr/>
                          <a14:m>
                            <m:oMathPara xmlns:m="http://schemas.openxmlformats.org/officeDocument/2006/math">
                              <m:oMath>
                                <m:r>
                                  <a:rPr lang="en-US" sz="1200" dirty="0" smtClean="0">
                                    <a:latin typeface="Cambria Math" panose="02040503050406030204" pitchFamily="18" charset="0"/>
                                  </a:rPr>
                                  <m:t>𝑠</m:t>
                                </m:r>
                              </m:oMath>
                            </m:oMathPara>
                          </a14:m>
                          <a:endParaRPr lang="en-US" sz="1200" dirty="0"/>
                        </a:p>
                      </a:txBody>
                      <a:tcPr/>
                    </a:tc>
                    <a:tc>
                      <a:txBody>
                        <a:bodyPr/>
                        <a:lstStyle/>
                        <a:p>
                          <a:pPr/>
                          <a14:m>
                            <m:oMathPara xmlns:m="http://schemas.openxmlformats.org/officeDocument/2006/math">
                              <m:oMath>
                                <m:r>
                                  <a:rPr lang="en-US" sz="1200" dirty="0" smtClean="0">
                                    <a:latin typeface="Cambria Math" panose="02040503050406030204" pitchFamily="18" charset="0"/>
                                  </a:rPr>
                                  <m:t>𝑎</m:t>
                                </m:r>
                              </m:oMath>
                            </m:oMathPara>
                          </a14:m>
                          <a:endParaRPr lang="en-US" sz="1200" dirty="0"/>
                        </a:p>
                      </a:txBody>
                      <a:tcPr/>
                    </a:tc>
                    <a:tc>
                      <a:txBody>
                        <a:bodyPr/>
                        <a:lstStyle/>
                        <a:p>
                          <a:pPr/>
                          <a14:m>
                            <m:oMathPara xmlns:m="http://schemas.openxmlformats.org/officeDocument/2006/math">
                              <m:oMath>
                                <m:r>
                                  <a:rPr lang="en-US" sz="1200" b="0" i="1" dirty="0" smtClean="0">
                                    <a:latin typeface="Cambria Math" panose="02040503050406030204" pitchFamily="18" charset="0"/>
                                  </a:rPr>
                                  <m:t>𝑞</m:t>
                                </m:r>
                                <m:r>
                                  <a:rPr lang="en-US" sz="1200" dirty="0" smtClean="0">
                                    <a:latin typeface="Cambria Math" panose="02040503050406030204" pitchFamily="18" charset="0"/>
                                  </a:rPr>
                                  <m:t>(</m:t>
                                </m:r>
                                <m:r>
                                  <a:rPr lang="en-US" sz="1200" dirty="0" err="1" smtClean="0">
                                    <a:latin typeface="Cambria Math" panose="02040503050406030204" pitchFamily="18" charset="0"/>
                                  </a:rPr>
                                  <m:t>𝑠</m:t>
                                </m:r>
                                <m:r>
                                  <a:rPr lang="en-US" sz="1200" dirty="0" err="1" smtClean="0">
                                    <a:latin typeface="Cambria Math" panose="02040503050406030204" pitchFamily="18" charset="0"/>
                                  </a:rPr>
                                  <m:t>,</m:t>
                                </m:r>
                                <m:r>
                                  <a:rPr lang="en-US" sz="1200" dirty="0" err="1" smtClean="0">
                                    <a:latin typeface="Cambria Math" panose="02040503050406030204" pitchFamily="18" charset="0"/>
                                  </a:rPr>
                                  <m:t>𝑎</m:t>
                                </m:r>
                                <m:r>
                                  <a:rPr lang="en-US" sz="1200" dirty="0" smtClean="0">
                                    <a:latin typeface="Cambria Math" panose="02040503050406030204" pitchFamily="18" charset="0"/>
                                  </a:rPr>
                                  <m:t>)</m:t>
                                </m:r>
                              </m:oMath>
                            </m:oMathPara>
                          </a14:m>
                          <a:endParaRPr lang="en-US" sz="1200" dirty="0"/>
                        </a:p>
                      </a:txBody>
                      <a:tcPr/>
                    </a:tc>
                    <a:extLst>
                      <a:ext uri="{0D108BD9-81ED-4DB2-BD59-A6C34878D82A}">
                        <a16:rowId xmlns:a16="http://schemas.microsoft.com/office/drawing/2014/main" val="2008869826"/>
                      </a:ext>
                    </a:extLst>
                  </a:tr>
                  <a:tr h="182880">
                    <a:tc>
                      <a:txBody>
                        <a:bodyPr/>
                        <a:lstStyle/>
                        <a:p>
                          <a:r>
                            <a:rPr lang="en-US" sz="1200" dirty="0"/>
                            <a:t>(1,1)</a:t>
                          </a:r>
                        </a:p>
                      </a:txBody>
                      <a:tcPr/>
                    </a:tc>
                    <a:tc>
                      <a:txBody>
                        <a:bodyPr/>
                        <a:lstStyle/>
                        <a:p>
                          <a:r>
                            <a:rPr lang="en-US" sz="1200" dirty="0"/>
                            <a:t>up</a:t>
                          </a:r>
                        </a:p>
                      </a:txBody>
                      <a:tcPr/>
                    </a:tc>
                    <a:tc>
                      <a:txBody>
                        <a:bodyPr/>
                        <a:lstStyle/>
                        <a:p>
                          <a:r>
                            <a:rPr lang="en-US" sz="1200" dirty="0"/>
                            <a:t>Sample average</a:t>
                          </a:r>
                        </a:p>
                      </a:txBody>
                      <a:tcPr/>
                    </a:tc>
                    <a:extLst>
                      <a:ext uri="{0D108BD9-81ED-4DB2-BD59-A6C34878D82A}">
                        <a16:rowId xmlns:a16="http://schemas.microsoft.com/office/drawing/2014/main" val="524805492"/>
                      </a:ext>
                    </a:extLst>
                  </a:tr>
                  <a:tr h="182880">
                    <a:tc>
                      <a:txBody>
                        <a:bodyPr/>
                        <a:lstStyle/>
                        <a:p>
                          <a:r>
                            <a:rPr lang="en-US" sz="1200" dirty="0"/>
                            <a:t>(1,1)</a:t>
                          </a:r>
                        </a:p>
                      </a:txBody>
                      <a:tcPr/>
                    </a:tc>
                    <a:tc>
                      <a:txBody>
                        <a:bodyPr/>
                        <a:lstStyle/>
                        <a:p>
                          <a:r>
                            <a:rPr lang="en-US" sz="1200" dirty="0"/>
                            <a:t>right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Sample average</a:t>
                          </a:r>
                        </a:p>
                      </a:txBody>
                      <a:tcPr/>
                    </a:tc>
                    <a:extLst>
                      <a:ext uri="{0D108BD9-81ED-4DB2-BD59-A6C34878D82A}">
                        <a16:rowId xmlns:a16="http://schemas.microsoft.com/office/drawing/2014/main" val="3725035416"/>
                      </a:ext>
                    </a:extLst>
                  </a:tr>
                  <a:tr h="182880">
                    <a:tc>
                      <a:txBody>
                        <a:bodyPr/>
                        <a:lstStyle/>
                        <a:p>
                          <a:r>
                            <a:rPr lang="en-US" sz="1200" dirty="0"/>
                            <a:t>(1,1)</a:t>
                          </a:r>
                        </a:p>
                      </a:txBody>
                      <a:tcPr/>
                    </a:tc>
                    <a:tc>
                      <a:txBody>
                        <a:bodyPr/>
                        <a:lstStyle/>
                        <a:p>
                          <a:r>
                            <a:rPr lang="en-US" sz="1200" dirty="0"/>
                            <a:t>down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Sample average</a:t>
                          </a:r>
                        </a:p>
                      </a:txBody>
                      <a:tcPr/>
                    </a:tc>
                    <a:extLst>
                      <a:ext uri="{0D108BD9-81ED-4DB2-BD59-A6C34878D82A}">
                        <a16:rowId xmlns:a16="http://schemas.microsoft.com/office/drawing/2014/main" val="868402448"/>
                      </a:ext>
                    </a:extLst>
                  </a:tr>
                  <a:tr h="182880">
                    <a:tc>
                      <a:txBody>
                        <a:bodyPr/>
                        <a:lstStyle/>
                        <a:p>
                          <a:r>
                            <a:rPr lang="en-US" sz="1200" dirty="0"/>
                            <a:t>(1,1)</a:t>
                          </a:r>
                        </a:p>
                      </a:txBody>
                      <a:tcPr/>
                    </a:tc>
                    <a:tc>
                      <a:txBody>
                        <a:bodyPr/>
                        <a:lstStyle/>
                        <a:p>
                          <a:r>
                            <a:rPr lang="en-US" sz="1200" dirty="0"/>
                            <a:t>left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Sample average</a:t>
                          </a:r>
                        </a:p>
                      </a:txBody>
                      <a:tcPr/>
                    </a:tc>
                    <a:extLst>
                      <a:ext uri="{0D108BD9-81ED-4DB2-BD59-A6C34878D82A}">
                        <a16:rowId xmlns:a16="http://schemas.microsoft.com/office/drawing/2014/main" val="460961713"/>
                      </a:ext>
                    </a:extLst>
                  </a:tr>
                  <a:tr h="182880">
                    <a:tc>
                      <a:txBody>
                        <a:bodyPr/>
                        <a:lstStyle/>
                        <a:p>
                          <a:r>
                            <a:rPr lang="en-US" sz="1200" dirty="0"/>
                            <a:t>…</a:t>
                          </a:r>
                        </a:p>
                      </a:txBody>
                      <a:tcPr/>
                    </a:tc>
                    <a:tc>
                      <a:txBody>
                        <a:bodyPr/>
                        <a:lstStyle/>
                        <a:p>
                          <a:r>
                            <a:rPr lang="en-US" sz="1200" dirty="0"/>
                            <a:t>…</a:t>
                          </a:r>
                        </a:p>
                      </a:txBody>
                      <a:tcPr/>
                    </a:tc>
                    <a:tc>
                      <a:txBody>
                        <a:bodyPr/>
                        <a:lstStyle/>
                        <a:p>
                          <a:r>
                            <a:rPr lang="en-US" sz="1200" dirty="0"/>
                            <a:t>…</a:t>
                          </a:r>
                        </a:p>
                      </a:txBody>
                      <a:tcPr/>
                    </a:tc>
                    <a:extLst>
                      <a:ext uri="{0D108BD9-81ED-4DB2-BD59-A6C34878D82A}">
                        <a16:rowId xmlns:a16="http://schemas.microsoft.com/office/drawing/2014/main" val="3207722718"/>
                      </a:ext>
                    </a:extLst>
                  </a:tr>
                </a:tbl>
              </a:graphicData>
            </a:graphic>
          </p:graphicFrame>
        </mc:Choice>
        <mc:Fallback xmlns="">
          <p:graphicFrame>
            <p:nvGraphicFramePr>
              <p:cNvPr id="6" name="Table 5">
                <a:extLst>
                  <a:ext uri="{FF2B5EF4-FFF2-40B4-BE49-F238E27FC236}">
                    <a16:creationId xmlns:a16="http://schemas.microsoft.com/office/drawing/2014/main" id="{98EFA979-BF04-489A-BB6E-9C8BA43B71C4}"/>
                  </a:ext>
                </a:extLst>
              </p:cNvPr>
              <p:cNvGraphicFramePr>
                <a:graphicFrameLocks noGrp="1"/>
              </p:cNvGraphicFramePr>
              <p:nvPr>
                <p:extLst>
                  <p:ext uri="{D42A27DB-BD31-4B8C-83A1-F6EECF244321}">
                    <p14:modId xmlns:p14="http://schemas.microsoft.com/office/powerpoint/2010/main" val="4060271369"/>
                  </p:ext>
                </p:extLst>
              </p:nvPr>
            </p:nvGraphicFramePr>
            <p:xfrm>
              <a:off x="9084039" y="4259681"/>
              <a:ext cx="2662384" cy="1645920"/>
            </p:xfrm>
            <a:graphic>
              <a:graphicData uri="http://schemas.openxmlformats.org/drawingml/2006/table">
                <a:tbl>
                  <a:tblPr firstRow="1" bandRow="1">
                    <a:tableStyleId>{93296810-A885-4BE3-A3E7-6D5BEEA58F35}</a:tableStyleId>
                  </a:tblPr>
                  <a:tblGrid>
                    <a:gridCol w="517161">
                      <a:extLst>
                        <a:ext uri="{9D8B030D-6E8A-4147-A177-3AD203B41FA5}">
                          <a16:colId xmlns:a16="http://schemas.microsoft.com/office/drawing/2014/main" val="3711460689"/>
                        </a:ext>
                      </a:extLst>
                    </a:gridCol>
                    <a:gridCol w="839449">
                      <a:extLst>
                        <a:ext uri="{9D8B030D-6E8A-4147-A177-3AD203B41FA5}">
                          <a16:colId xmlns:a16="http://schemas.microsoft.com/office/drawing/2014/main" val="2988890879"/>
                        </a:ext>
                      </a:extLst>
                    </a:gridCol>
                    <a:gridCol w="1305774">
                      <a:extLst>
                        <a:ext uri="{9D8B030D-6E8A-4147-A177-3AD203B41FA5}">
                          <a16:colId xmlns:a16="http://schemas.microsoft.com/office/drawing/2014/main" val="2080107700"/>
                        </a:ext>
                      </a:extLst>
                    </a:gridCol>
                  </a:tblGrid>
                  <a:tr h="274320">
                    <a:tc>
                      <a:txBody>
                        <a:bodyPr/>
                        <a:lstStyle/>
                        <a:p>
                          <a:endParaRPr lang="en-US"/>
                        </a:p>
                      </a:txBody>
                      <a:tcPr>
                        <a:blipFill>
                          <a:blip r:embed="rId4"/>
                          <a:stretch>
                            <a:fillRect l="-1176" t="-2222" r="-420000" b="-520000"/>
                          </a:stretch>
                        </a:blipFill>
                      </a:tcPr>
                    </a:tc>
                    <a:tc>
                      <a:txBody>
                        <a:bodyPr/>
                        <a:lstStyle/>
                        <a:p>
                          <a:endParaRPr lang="en-US"/>
                        </a:p>
                      </a:txBody>
                      <a:tcPr>
                        <a:blipFill>
                          <a:blip r:embed="rId4"/>
                          <a:stretch>
                            <a:fillRect l="-62319" t="-2222" r="-158696" b="-520000"/>
                          </a:stretch>
                        </a:blipFill>
                      </a:tcPr>
                    </a:tc>
                    <a:tc>
                      <a:txBody>
                        <a:bodyPr/>
                        <a:lstStyle/>
                        <a:p>
                          <a:endParaRPr lang="en-US"/>
                        </a:p>
                      </a:txBody>
                      <a:tcPr>
                        <a:blipFill>
                          <a:blip r:embed="rId4"/>
                          <a:stretch>
                            <a:fillRect l="-104673" t="-2222" r="-2336" b="-520000"/>
                          </a:stretch>
                        </a:blipFill>
                      </a:tcPr>
                    </a:tc>
                    <a:extLst>
                      <a:ext uri="{0D108BD9-81ED-4DB2-BD59-A6C34878D82A}">
                        <a16:rowId xmlns:a16="http://schemas.microsoft.com/office/drawing/2014/main" val="2008869826"/>
                      </a:ext>
                    </a:extLst>
                  </a:tr>
                  <a:tr h="274320">
                    <a:tc>
                      <a:txBody>
                        <a:bodyPr/>
                        <a:lstStyle/>
                        <a:p>
                          <a:r>
                            <a:rPr lang="en-US" sz="1200" dirty="0"/>
                            <a:t>(1,1)</a:t>
                          </a:r>
                        </a:p>
                      </a:txBody>
                      <a:tcPr/>
                    </a:tc>
                    <a:tc>
                      <a:txBody>
                        <a:bodyPr/>
                        <a:lstStyle/>
                        <a:p>
                          <a:r>
                            <a:rPr lang="en-US" sz="1200" dirty="0"/>
                            <a:t>up</a:t>
                          </a:r>
                        </a:p>
                      </a:txBody>
                      <a:tcPr/>
                    </a:tc>
                    <a:tc>
                      <a:txBody>
                        <a:bodyPr/>
                        <a:lstStyle/>
                        <a:p>
                          <a:r>
                            <a:rPr lang="en-US" sz="1200" dirty="0"/>
                            <a:t>Sample average</a:t>
                          </a:r>
                        </a:p>
                      </a:txBody>
                      <a:tcPr/>
                    </a:tc>
                    <a:extLst>
                      <a:ext uri="{0D108BD9-81ED-4DB2-BD59-A6C34878D82A}">
                        <a16:rowId xmlns:a16="http://schemas.microsoft.com/office/drawing/2014/main" val="524805492"/>
                      </a:ext>
                    </a:extLst>
                  </a:tr>
                  <a:tr h="274320">
                    <a:tc>
                      <a:txBody>
                        <a:bodyPr/>
                        <a:lstStyle/>
                        <a:p>
                          <a:r>
                            <a:rPr lang="en-US" sz="1200" dirty="0"/>
                            <a:t>(1,1)</a:t>
                          </a:r>
                        </a:p>
                      </a:txBody>
                      <a:tcPr/>
                    </a:tc>
                    <a:tc>
                      <a:txBody>
                        <a:bodyPr/>
                        <a:lstStyle/>
                        <a:p>
                          <a:r>
                            <a:rPr lang="en-US" sz="1200" dirty="0"/>
                            <a:t>right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Sample average</a:t>
                          </a:r>
                        </a:p>
                      </a:txBody>
                      <a:tcPr/>
                    </a:tc>
                    <a:extLst>
                      <a:ext uri="{0D108BD9-81ED-4DB2-BD59-A6C34878D82A}">
                        <a16:rowId xmlns:a16="http://schemas.microsoft.com/office/drawing/2014/main" val="3725035416"/>
                      </a:ext>
                    </a:extLst>
                  </a:tr>
                  <a:tr h="274320">
                    <a:tc>
                      <a:txBody>
                        <a:bodyPr/>
                        <a:lstStyle/>
                        <a:p>
                          <a:r>
                            <a:rPr lang="en-US" sz="1200" dirty="0"/>
                            <a:t>(1,1)</a:t>
                          </a:r>
                        </a:p>
                      </a:txBody>
                      <a:tcPr/>
                    </a:tc>
                    <a:tc>
                      <a:txBody>
                        <a:bodyPr/>
                        <a:lstStyle/>
                        <a:p>
                          <a:r>
                            <a:rPr lang="en-US" sz="1200" dirty="0"/>
                            <a:t>down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Sample average</a:t>
                          </a:r>
                        </a:p>
                      </a:txBody>
                      <a:tcPr/>
                    </a:tc>
                    <a:extLst>
                      <a:ext uri="{0D108BD9-81ED-4DB2-BD59-A6C34878D82A}">
                        <a16:rowId xmlns:a16="http://schemas.microsoft.com/office/drawing/2014/main" val="868402448"/>
                      </a:ext>
                    </a:extLst>
                  </a:tr>
                  <a:tr h="274320">
                    <a:tc>
                      <a:txBody>
                        <a:bodyPr/>
                        <a:lstStyle/>
                        <a:p>
                          <a:r>
                            <a:rPr lang="en-US" sz="1200" dirty="0"/>
                            <a:t>(1,1)</a:t>
                          </a:r>
                        </a:p>
                      </a:txBody>
                      <a:tcPr/>
                    </a:tc>
                    <a:tc>
                      <a:txBody>
                        <a:bodyPr/>
                        <a:lstStyle/>
                        <a:p>
                          <a:r>
                            <a:rPr lang="en-US" sz="1200" dirty="0"/>
                            <a:t>left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Sample average</a:t>
                          </a:r>
                        </a:p>
                      </a:txBody>
                      <a:tcPr/>
                    </a:tc>
                    <a:extLst>
                      <a:ext uri="{0D108BD9-81ED-4DB2-BD59-A6C34878D82A}">
                        <a16:rowId xmlns:a16="http://schemas.microsoft.com/office/drawing/2014/main" val="460961713"/>
                      </a:ext>
                    </a:extLst>
                  </a:tr>
                  <a:tr h="274320">
                    <a:tc>
                      <a:txBody>
                        <a:bodyPr/>
                        <a:lstStyle/>
                        <a:p>
                          <a:r>
                            <a:rPr lang="en-US" sz="1200" dirty="0"/>
                            <a:t>…</a:t>
                          </a:r>
                        </a:p>
                      </a:txBody>
                      <a:tcPr/>
                    </a:tc>
                    <a:tc>
                      <a:txBody>
                        <a:bodyPr/>
                        <a:lstStyle/>
                        <a:p>
                          <a:r>
                            <a:rPr lang="en-US" sz="1200" dirty="0"/>
                            <a:t>…</a:t>
                          </a:r>
                        </a:p>
                      </a:txBody>
                      <a:tcPr/>
                    </a:tc>
                    <a:tc>
                      <a:txBody>
                        <a:bodyPr/>
                        <a:lstStyle/>
                        <a:p>
                          <a:r>
                            <a:rPr lang="en-US" sz="1200" dirty="0"/>
                            <a:t>…</a:t>
                          </a:r>
                        </a:p>
                      </a:txBody>
                      <a:tcPr/>
                    </a:tc>
                    <a:extLst>
                      <a:ext uri="{0D108BD9-81ED-4DB2-BD59-A6C34878D82A}">
                        <a16:rowId xmlns:a16="http://schemas.microsoft.com/office/drawing/2014/main" val="3207722718"/>
                      </a:ext>
                    </a:extLst>
                  </a:tr>
                </a:tbl>
              </a:graphicData>
            </a:graphic>
          </p:graphicFrame>
        </mc:Fallback>
      </mc:AlternateContent>
    </p:spTree>
    <p:extLst>
      <p:ext uri="{BB962C8B-B14F-4D97-AF65-F5344CB8AC3E}">
        <p14:creationId xmlns:p14="http://schemas.microsoft.com/office/powerpoint/2010/main" val="82684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5C9D4-9246-174B-3F3F-6D460A48B10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70F347B-4EE9-30E8-00B5-6217BDD262D4}"/>
              </a:ext>
            </a:extLst>
          </p:cNvPr>
          <p:cNvSpPr>
            <a:spLocks noGrp="1"/>
          </p:cNvSpPr>
          <p:nvPr>
            <p:ph type="title"/>
          </p:nvPr>
        </p:nvSpPr>
        <p:spPr/>
        <p:txBody>
          <a:bodyPr/>
          <a:lstStyle/>
          <a:p>
            <a:r>
              <a:rPr lang="en-US" dirty="0"/>
              <a:t>Monte Carlo Control with Exploring Starts</a:t>
            </a:r>
          </a:p>
        </p:txBody>
      </p:sp>
      <p:sp>
        <p:nvSpPr>
          <p:cNvPr id="5" name="Text Placeholder 4">
            <a:extLst>
              <a:ext uri="{FF2B5EF4-FFF2-40B4-BE49-F238E27FC236}">
                <a16:creationId xmlns:a16="http://schemas.microsoft.com/office/drawing/2014/main" id="{A6DAFEE9-1053-F86D-705F-36C076B951B6}"/>
              </a:ext>
            </a:extLst>
          </p:cNvPr>
          <p:cNvSpPr>
            <a:spLocks noGrp="1"/>
          </p:cNvSpPr>
          <p:nvPr>
            <p:ph type="body" idx="1"/>
          </p:nvPr>
        </p:nvSpPr>
        <p:spPr/>
        <p:txBody>
          <a:bodyPr/>
          <a:lstStyle/>
          <a:p>
            <a:r>
              <a:rPr lang="en-US" dirty="0"/>
              <a:t>Explore using episodes starting with random states/</a:t>
            </a:r>
            <a:r>
              <a:rPr lang="en-US"/>
              <a:t>action combinations.</a:t>
            </a:r>
            <a:endParaRPr lang="en-US" dirty="0"/>
          </a:p>
        </p:txBody>
      </p:sp>
    </p:spTree>
    <p:extLst>
      <p:ext uri="{BB962C8B-B14F-4D97-AF65-F5344CB8AC3E}">
        <p14:creationId xmlns:p14="http://schemas.microsoft.com/office/powerpoint/2010/main" val="31143100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48361-4CE7-7B20-B8C4-E9B2E517CD73}"/>
              </a:ext>
            </a:extLst>
          </p:cNvPr>
          <p:cNvSpPr>
            <a:spLocks noGrp="1"/>
          </p:cNvSpPr>
          <p:nvPr>
            <p:ph type="title"/>
          </p:nvPr>
        </p:nvSpPr>
        <p:spPr/>
        <p:txBody>
          <a:bodyPr/>
          <a:lstStyle/>
          <a:p>
            <a:r>
              <a:rPr lang="en-US" dirty="0"/>
              <a:t>Alg. MC Control with Exploring Starts</a:t>
            </a:r>
          </a:p>
        </p:txBody>
      </p:sp>
      <p:pic>
        <p:nvPicPr>
          <p:cNvPr id="4" name="Content Placeholder 4" descr="Algorithm box: First-visit MC prediction, for estimating V ≈ v pi. Input: a policy pi to be evaluated. Initialize: V(s) in R, arbitrarily, for all s in S; Returns(s) ← an empty list, for all s in S. Loop forever (for each episode): Generate an episode following pi: S_0, A_0, R_1, S_1, A_1, R_2, …, S_T−1, A_T−1, R_T; G ← 0; Loop for each step of episode, t = T−1, T−2, …, 0: G ← gamma G + R_t+1; Unless S_t appears in S_0, S_1, …, S_t−1: Append G to Returns(S_t); V(S_t) ← average(Returns(S_t)).">
            <a:extLst>
              <a:ext uri="{FF2B5EF4-FFF2-40B4-BE49-F238E27FC236}">
                <a16:creationId xmlns:a16="http://schemas.microsoft.com/office/drawing/2014/main" id="{B97A11FF-8820-76B6-0A7C-A2E076B1CF36}"/>
              </a:ext>
            </a:extLst>
          </p:cNvPr>
          <p:cNvPicPr>
            <a:picLocks noChangeAspect="1"/>
          </p:cNvPicPr>
          <p:nvPr/>
        </p:nvPicPr>
        <p:blipFill>
          <a:blip r:embed="rId2"/>
          <a:stretch>
            <a:fillRect/>
          </a:stretch>
        </p:blipFill>
        <p:spPr>
          <a:xfrm>
            <a:off x="176169" y="1124198"/>
            <a:ext cx="7808892" cy="3534014"/>
          </a:xfrm>
          <a:prstGeom prst="rect">
            <a:avLst/>
          </a:prstGeom>
        </p:spPr>
      </p:pic>
      <p:pic>
        <p:nvPicPr>
          <p:cNvPr id="10" name="Content Placeholder 9" descr="Algorithm box: Monte Carlo ES (Exploring Starts), for estimating pi ≈ pi star. Initialize: pi(s) in A(s) (arbitrarily), for all s in S; Q(s, a) in R (arbitrarily), for all s in S, a in A(s); Returns(s, a) ← empty list, for all s in S, a in A(s). Loop forever (for each episode): Choose S_0 in S, A_0 in A(S_0) randomly such that all pairs have probability &gt; 0; Generate an episode from S_0, A_0, following pi: S_0, A_0, R_1, …, S_T−1, A_T−1, R_T; G ← 0; Loop for each step of episode, t = T−1, T−2, …, 0: G ← gamma G + R_t+1; Unless the pair S_t, A_t appears in S_0, A_0, S_1, A_1, …, S_t−1, A_t−1: Append G to Returns(S_t, A_t); Q(S_t, A_t) ← average(Returns(S_t, A_t)); pi(S_t) ← argmax over a of Q(S_t, a).">
            <a:extLst>
              <a:ext uri="{FF2B5EF4-FFF2-40B4-BE49-F238E27FC236}">
                <a16:creationId xmlns:a16="http://schemas.microsoft.com/office/drawing/2014/main" id="{6B0E9B77-552E-54B7-59E3-0A167A5B530D}"/>
              </a:ext>
            </a:extLst>
          </p:cNvPr>
          <p:cNvPicPr>
            <a:picLocks noGrp="1" noChangeAspect="1"/>
          </p:cNvPicPr>
          <p:nvPr>
            <p:ph idx="1"/>
          </p:nvPr>
        </p:nvPicPr>
        <p:blipFill>
          <a:blip r:embed="rId3"/>
          <a:srcRect l="1899" t="2118"/>
          <a:stretch>
            <a:fillRect/>
          </a:stretch>
        </p:blipFill>
        <p:spPr>
          <a:xfrm>
            <a:off x="3649211" y="2172749"/>
            <a:ext cx="8326714" cy="4597026"/>
          </a:xfrm>
          <a:prstGeom prst="rect">
            <a:avLst/>
          </a:prstGeom>
        </p:spPr>
      </p:pic>
      <mc:AlternateContent xmlns:mc="http://schemas.openxmlformats.org/markup-compatibility/2006" xmlns:a14="http://schemas.microsoft.com/office/drawing/2010/main">
        <mc:Choice Requires="a14">
          <p:sp>
            <p:nvSpPr>
              <p:cNvPr id="5" name="Speech Bubble: Rectangle with Corners Rounded 4">
                <a:extLst>
                  <a:ext uri="{FF2B5EF4-FFF2-40B4-BE49-F238E27FC236}">
                    <a16:creationId xmlns:a16="http://schemas.microsoft.com/office/drawing/2014/main" id="{4213044D-79FF-B1E8-D942-2CC19F58E803}"/>
                  </a:ext>
                  <a:ext uri="{C183D7F6-B498-43B3-948B-1728B52AA6E4}">
                    <adec:decorative xmlns:adec="http://schemas.microsoft.com/office/drawing/2017/decorative" val="1"/>
                  </a:ext>
                </a:extLst>
              </p:cNvPr>
              <p:cNvSpPr/>
              <p:nvPr/>
            </p:nvSpPr>
            <p:spPr>
              <a:xfrm>
                <a:off x="9358270" y="2779867"/>
                <a:ext cx="1610108" cy="654570"/>
              </a:xfrm>
              <a:prstGeom prst="wedgeRoundRectCallout">
                <a:avLst>
                  <a:gd name="adj1" fmla="val -87817"/>
                  <a:gd name="adj2" fmla="val 3174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1600" i="1" dirty="0" smtClean="0">
                        <a:latin typeface="Cambria Math" panose="02040503050406030204" pitchFamily="18" charset="0"/>
                      </a:rPr>
                      <m:t>𝑄</m:t>
                    </m:r>
                  </m:oMath>
                </a14:m>
                <a:r>
                  <a:rPr lang="en-US" sz="1600" dirty="0"/>
                  <a:t>-Values instead of </a:t>
                </a:r>
                <a14:m>
                  <m:oMath xmlns:m="http://schemas.openxmlformats.org/officeDocument/2006/math">
                    <m:r>
                      <a:rPr lang="en-US" sz="1600" i="1" dirty="0" smtClean="0">
                        <a:latin typeface="Cambria Math" panose="02040503050406030204" pitchFamily="18" charset="0"/>
                      </a:rPr>
                      <m:t>𝑉</m:t>
                    </m:r>
                  </m:oMath>
                </a14:m>
                <a:r>
                  <a:rPr lang="en-US" sz="1600" dirty="0"/>
                  <a:t>.</a:t>
                </a:r>
              </a:p>
            </p:txBody>
          </p:sp>
        </mc:Choice>
        <mc:Fallback xmlns="">
          <p:sp>
            <p:nvSpPr>
              <p:cNvPr id="5" name="Speech Bubble: Rectangle with Corners Rounded 4">
                <a:extLst>
                  <a:ext uri="{FF2B5EF4-FFF2-40B4-BE49-F238E27FC236}">
                    <a16:creationId xmlns:a16="http://schemas.microsoft.com/office/drawing/2014/main" id="{4213044D-79FF-B1E8-D942-2CC19F58E803}"/>
                  </a:ext>
                  <a:ext uri="{C183D7F6-B498-43B3-948B-1728B52AA6E4}">
                    <adec:decorative xmlns:adec="http://schemas.microsoft.com/office/drawing/2017/decorative" val="1"/>
                  </a:ext>
                </a:extLst>
              </p:cNvPr>
              <p:cNvSpPr>
                <a:spLocks noRot="1" noChangeAspect="1" noMove="1" noResize="1" noEditPoints="1" noAdjustHandles="1" noChangeArrowheads="1" noChangeShapeType="1" noTextEdit="1"/>
              </p:cNvSpPr>
              <p:nvPr/>
            </p:nvSpPr>
            <p:spPr>
              <a:xfrm>
                <a:off x="9358270" y="2779867"/>
                <a:ext cx="1610108" cy="654570"/>
              </a:xfrm>
              <a:prstGeom prst="wedgeRoundRectCallout">
                <a:avLst>
                  <a:gd name="adj1" fmla="val -87817"/>
                  <a:gd name="adj2" fmla="val 31741"/>
                  <a:gd name="adj3" fmla="val 16667"/>
                </a:avLst>
              </a:prstGeom>
              <a:blipFill>
                <a:blip r:embed="rId4"/>
                <a:stretch>
                  <a:fillRect b="-3704"/>
                </a:stretch>
              </a:blipFill>
            </p:spPr>
            <p:txBody>
              <a:bodyPr/>
              <a:lstStyle/>
              <a:p>
                <a:r>
                  <a:rPr lang="en-US">
                    <a:noFill/>
                  </a:rPr>
                  <a:t> </a:t>
                </a:r>
              </a:p>
            </p:txBody>
          </p:sp>
        </mc:Fallback>
      </mc:AlternateContent>
      <p:sp>
        <p:nvSpPr>
          <p:cNvPr id="7" name="Speech Bubble: Rectangle with Corners Rounded 6">
            <a:extLst>
              <a:ext uri="{FF2B5EF4-FFF2-40B4-BE49-F238E27FC236}">
                <a16:creationId xmlns:a16="http://schemas.microsoft.com/office/drawing/2014/main" id="{589874BD-7F62-F3BE-DCA1-380FA9EC2FCC}"/>
              </a:ext>
              <a:ext uri="{C183D7F6-B498-43B3-948B-1728B52AA6E4}">
                <adec:decorative xmlns:adec="http://schemas.microsoft.com/office/drawing/2017/decorative" val="1"/>
              </a:ext>
            </a:extLst>
          </p:cNvPr>
          <p:cNvSpPr/>
          <p:nvPr/>
        </p:nvSpPr>
        <p:spPr>
          <a:xfrm>
            <a:off x="9358270" y="5874249"/>
            <a:ext cx="2154176" cy="387403"/>
          </a:xfrm>
          <a:prstGeom prst="wedgeRoundRectCallout">
            <a:avLst>
              <a:gd name="adj1" fmla="val -137874"/>
              <a:gd name="adj2" fmla="val 43532"/>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Greedy policy update</a:t>
            </a:r>
          </a:p>
        </p:txBody>
      </p:sp>
      <p:sp>
        <p:nvSpPr>
          <p:cNvPr id="8" name="Speech Bubble: Rectangle with Corners Rounded 7">
            <a:extLst>
              <a:ext uri="{FF2B5EF4-FFF2-40B4-BE49-F238E27FC236}">
                <a16:creationId xmlns:a16="http://schemas.microsoft.com/office/drawing/2014/main" id="{FDD0AFEB-6629-81BE-A1DE-BFD50DCFE1B1}"/>
              </a:ext>
              <a:ext uri="{C183D7F6-B498-43B3-948B-1728B52AA6E4}">
                <adec:decorative xmlns:adec="http://schemas.microsoft.com/office/drawing/2017/decorative" val="1"/>
              </a:ext>
            </a:extLst>
          </p:cNvPr>
          <p:cNvSpPr/>
          <p:nvPr/>
        </p:nvSpPr>
        <p:spPr>
          <a:xfrm>
            <a:off x="9421217" y="3697846"/>
            <a:ext cx="1610108" cy="387403"/>
          </a:xfrm>
          <a:prstGeom prst="wedgeRoundRectCallout">
            <a:avLst>
              <a:gd name="adj1" fmla="val -200782"/>
              <a:gd name="adj2" fmla="val 57685"/>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Exploring starts</a:t>
            </a:r>
          </a:p>
        </p:txBody>
      </p:sp>
      <p:sp>
        <p:nvSpPr>
          <p:cNvPr id="9" name="Arrow: Down 8">
            <a:extLst>
              <a:ext uri="{FF2B5EF4-FFF2-40B4-BE49-F238E27FC236}">
                <a16:creationId xmlns:a16="http://schemas.microsoft.com/office/drawing/2014/main" id="{5EE5C4CD-4DC6-9369-1C42-9B8DBED03473}"/>
              </a:ext>
              <a:ext uri="{C183D7F6-B498-43B3-948B-1728B52AA6E4}">
                <adec:decorative xmlns:adec="http://schemas.microsoft.com/office/drawing/2017/decorative" val="1"/>
              </a:ext>
            </a:extLst>
          </p:cNvPr>
          <p:cNvSpPr/>
          <p:nvPr/>
        </p:nvSpPr>
        <p:spPr>
          <a:xfrm rot="16930409">
            <a:off x="3124899" y="2972773"/>
            <a:ext cx="868261" cy="76759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peech Bubble: Rectangle with Corners Rounded 2">
            <a:extLst>
              <a:ext uri="{FF2B5EF4-FFF2-40B4-BE49-F238E27FC236}">
                <a16:creationId xmlns:a16="http://schemas.microsoft.com/office/drawing/2014/main" id="{D4EE33C7-FED0-6D11-1D5C-56EE1D4CABDA}"/>
              </a:ext>
              <a:ext uri="{C183D7F6-B498-43B3-948B-1728B52AA6E4}">
                <adec:decorative xmlns:adec="http://schemas.microsoft.com/office/drawing/2017/decorative" val="1"/>
              </a:ext>
            </a:extLst>
          </p:cNvPr>
          <p:cNvSpPr/>
          <p:nvPr/>
        </p:nvSpPr>
        <p:spPr>
          <a:xfrm>
            <a:off x="8274769" y="2476061"/>
            <a:ext cx="899211" cy="521972"/>
          </a:xfrm>
          <a:prstGeom prst="wedgeRoundRectCallout">
            <a:avLst>
              <a:gd name="adj1" fmla="val -96152"/>
              <a:gd name="adj2" fmla="val 5615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Learn policy</a:t>
            </a:r>
          </a:p>
        </p:txBody>
      </p:sp>
      <p:sp>
        <p:nvSpPr>
          <p:cNvPr id="6" name="Speech Bubble: Rectangle with Corners Rounded 5">
            <a:extLst>
              <a:ext uri="{FF2B5EF4-FFF2-40B4-BE49-F238E27FC236}">
                <a16:creationId xmlns:a16="http://schemas.microsoft.com/office/drawing/2014/main" id="{6CE2DCE9-C0A3-622A-0091-360C7A3CC0AE}"/>
              </a:ext>
              <a:ext uri="{C183D7F6-B498-43B3-948B-1728B52AA6E4}">
                <adec:decorative xmlns:adec="http://schemas.microsoft.com/office/drawing/2017/decorative" val="1"/>
              </a:ext>
            </a:extLst>
          </p:cNvPr>
          <p:cNvSpPr/>
          <p:nvPr/>
        </p:nvSpPr>
        <p:spPr>
          <a:xfrm>
            <a:off x="9596102" y="4940098"/>
            <a:ext cx="1610108" cy="387403"/>
          </a:xfrm>
          <a:prstGeom prst="wedgeRoundRectCallout">
            <a:avLst>
              <a:gd name="adj1" fmla="val -200782"/>
              <a:gd name="adj2" fmla="val 57685"/>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First-visit</a:t>
            </a:r>
          </a:p>
        </p:txBody>
      </p:sp>
      <p:sp>
        <p:nvSpPr>
          <p:cNvPr id="11" name="Speech Bubble: Rectangle with Corners Rounded 10">
            <a:extLst>
              <a:ext uri="{FF2B5EF4-FFF2-40B4-BE49-F238E27FC236}">
                <a16:creationId xmlns:a16="http://schemas.microsoft.com/office/drawing/2014/main" id="{78137891-05BC-12B0-15F8-4F0F387FFF6E}"/>
              </a:ext>
              <a:ext uri="{C183D7F6-B498-43B3-948B-1728B52AA6E4}">
                <adec:decorative xmlns:adec="http://schemas.microsoft.com/office/drawing/2017/decorative" val="1"/>
              </a:ext>
            </a:extLst>
          </p:cNvPr>
          <p:cNvSpPr/>
          <p:nvPr/>
        </p:nvSpPr>
        <p:spPr>
          <a:xfrm>
            <a:off x="9146496" y="930554"/>
            <a:ext cx="2059714" cy="891265"/>
          </a:xfrm>
          <a:prstGeom prst="wedgeRoundRectCallout">
            <a:avLst>
              <a:gd name="adj1" fmla="val -111686"/>
              <a:gd name="adj2" fmla="val -51555"/>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So all state-action pairs are tired. </a:t>
            </a:r>
          </a:p>
        </p:txBody>
      </p:sp>
    </p:spTree>
    <p:extLst>
      <p:ext uri="{BB962C8B-B14F-4D97-AF65-F5344CB8AC3E}">
        <p14:creationId xmlns:p14="http://schemas.microsoft.com/office/powerpoint/2010/main" val="28002700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CD2877-1046-6123-CF1E-BE9F2D8536CB}"/>
              </a:ext>
            </a:extLst>
          </p:cNvPr>
          <p:cNvSpPr>
            <a:spLocks noGrp="1"/>
          </p:cNvSpPr>
          <p:nvPr>
            <p:ph type="title"/>
          </p:nvPr>
        </p:nvSpPr>
        <p:spPr>
          <a:xfrm>
            <a:off x="1105486" y="2766218"/>
            <a:ext cx="10515600" cy="1168047"/>
          </a:xfrm>
        </p:spPr>
        <p:txBody>
          <a:bodyPr>
            <a:normAutofit/>
          </a:bodyPr>
          <a:lstStyle/>
          <a:p>
            <a:r>
              <a:rPr lang="en-US" b="1" dirty="0"/>
              <a:t>Code example</a:t>
            </a:r>
            <a:r>
              <a:rPr lang="en-US" dirty="0"/>
              <a:t>: MC with Exploring Starts</a:t>
            </a:r>
          </a:p>
        </p:txBody>
      </p:sp>
      <p:sp>
        <p:nvSpPr>
          <p:cNvPr id="5" name="TextBox 4">
            <a:extLst>
              <a:ext uri="{FF2B5EF4-FFF2-40B4-BE49-F238E27FC236}">
                <a16:creationId xmlns:a16="http://schemas.microsoft.com/office/drawing/2014/main" id="{5AA484FF-058C-4694-424C-0B3B26DF9F45}"/>
              </a:ext>
            </a:extLst>
          </p:cNvPr>
          <p:cNvSpPr txBox="1"/>
          <p:nvPr/>
        </p:nvSpPr>
        <p:spPr>
          <a:xfrm>
            <a:off x="1191065" y="6011594"/>
            <a:ext cx="8811064" cy="307777"/>
          </a:xfrm>
          <a:prstGeom prst="rect">
            <a:avLst/>
          </a:prstGeom>
          <a:noFill/>
        </p:spPr>
        <p:txBody>
          <a:bodyPr wrap="square" rtlCol="0">
            <a:spAutoFit/>
          </a:bodyPr>
          <a:lstStyle/>
          <a:p>
            <a:r>
              <a:rPr lang="en-US" sz="1400" dirty="0"/>
              <a:t>See Code on </a:t>
            </a:r>
            <a:r>
              <a:rPr lang="en-US" sz="1400" dirty="0">
                <a:hlinkClick r:id="rId2"/>
              </a:rPr>
              <a:t>https://michael.hahsler.net/Introduction_to_Reinforcement_Learning/</a:t>
            </a:r>
            <a:r>
              <a:rPr lang="en-US" sz="1400" dirty="0"/>
              <a:t> </a:t>
            </a:r>
          </a:p>
        </p:txBody>
      </p:sp>
    </p:spTree>
    <p:extLst>
      <p:ext uri="{BB962C8B-B14F-4D97-AF65-F5344CB8AC3E}">
        <p14:creationId xmlns:p14="http://schemas.microsoft.com/office/powerpoint/2010/main" val="1901936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7B18F-AF51-E791-9C62-EEAA55F757AB}"/>
              </a:ext>
            </a:extLst>
          </p:cNvPr>
          <p:cNvSpPr>
            <a:spLocks noGrp="1"/>
          </p:cNvSpPr>
          <p:nvPr>
            <p:ph type="title"/>
          </p:nvPr>
        </p:nvSpPr>
        <p:spPr/>
        <p:txBody>
          <a:bodyPr/>
          <a:lstStyle/>
          <a:p>
            <a:r>
              <a:rPr lang="en-US" dirty="0"/>
              <a:t>MC Control without Exploring Starts</a:t>
            </a:r>
          </a:p>
        </p:txBody>
      </p:sp>
      <mc:AlternateContent xmlns:mc="http://schemas.openxmlformats.org/markup-compatibility/2006" xmlns:a14="http://schemas.microsoft.com/office/drawing/2010/main">
        <mc:Choice Requires="a14">
          <p:sp>
            <p:nvSpPr>
              <p:cNvPr id="3" name="Content Placeholder 2" descr="Issue: The environment needs to let us start episodes at different (s,a) at will. This is fine for simulations, but hard in the real world. We need exploration for convergence: We need a guarantee that all (reachable) state-action combinations are tried. Options:. On-policy control: learn a soft policy instead of the optimal policy. Off-policy control: use a soft behavior policy for sampling that tries all state-action pairs, but learn the optimal, deterministic target policy">
                <a:extLst>
                  <a:ext uri="{FF2B5EF4-FFF2-40B4-BE49-F238E27FC236}">
                    <a16:creationId xmlns:a16="http://schemas.microsoft.com/office/drawing/2014/main" id="{EAEFD2A1-20FF-E2C2-87CE-EFFEE51F9F02}"/>
                  </a:ext>
                </a:extLst>
              </p:cNvPr>
              <p:cNvSpPr>
                <a:spLocks noGrp="1"/>
              </p:cNvSpPr>
              <p:nvPr>
                <p:ph idx="1"/>
              </p:nvPr>
            </p:nvSpPr>
            <p:spPr/>
            <p:txBody>
              <a:bodyPr/>
              <a:lstStyle/>
              <a:p>
                <a:r>
                  <a:rPr lang="en-US" b="1" dirty="0"/>
                  <a:t>Issue</a:t>
                </a:r>
                <a:r>
                  <a:rPr lang="en-US" dirty="0"/>
                  <a:t>: The environment needs to let us start episodes at different </a:t>
                </a:r>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oMath>
                </a14:m>
                <a:r>
                  <a:rPr lang="en-US" dirty="0"/>
                  <a:t> at will. This is fine for simulations, but hard in the real world.</a:t>
                </a:r>
              </a:p>
              <a:p>
                <a:pPr marL="0" indent="0">
                  <a:buNone/>
                </a:pPr>
                <a:endParaRPr lang="en-US" dirty="0"/>
              </a:p>
              <a:p>
                <a:r>
                  <a:rPr lang="en-US" b="1" dirty="0"/>
                  <a:t>We need exploration for convergence: </a:t>
                </a:r>
                <a:r>
                  <a:rPr lang="en-US" dirty="0"/>
                  <a:t>We need a guarantee that all (reachable) state-action combinations are tried.</a:t>
                </a:r>
              </a:p>
              <a:p>
                <a:endParaRPr lang="en-US" dirty="0"/>
              </a:p>
              <a:p>
                <a:r>
                  <a:rPr lang="en-US" dirty="0"/>
                  <a:t>Options:</a:t>
                </a:r>
              </a:p>
              <a:p>
                <a:pPr marL="914400" lvl="1" indent="-457200">
                  <a:buFont typeface="+mj-lt"/>
                  <a:buAutoNum type="alphaLcParenR"/>
                </a:pPr>
                <a:r>
                  <a:rPr lang="en-US" b="1" dirty="0"/>
                  <a:t>On-policy control</a:t>
                </a:r>
                <a:r>
                  <a:rPr lang="en-US" dirty="0"/>
                  <a:t>: learn a </a:t>
                </a:r>
                <a:r>
                  <a:rPr lang="en-US" b="1" dirty="0"/>
                  <a:t>soft policy </a:t>
                </a:r>
                <a:r>
                  <a:rPr lang="en-US" dirty="0"/>
                  <a:t>instead of the optimal policy.</a:t>
                </a:r>
              </a:p>
              <a:p>
                <a:pPr marL="914400" lvl="1" indent="-457200">
                  <a:buFont typeface="+mj-lt"/>
                  <a:buAutoNum type="alphaLcParenR"/>
                </a:pPr>
                <a:r>
                  <a:rPr lang="en-US" b="1" dirty="0"/>
                  <a:t>Off-policy control</a:t>
                </a:r>
                <a:r>
                  <a:rPr lang="en-US" dirty="0"/>
                  <a:t>: use a soft </a:t>
                </a:r>
                <a:r>
                  <a:rPr lang="en-US" b="1" dirty="0"/>
                  <a:t>behavior policy </a:t>
                </a:r>
                <a:r>
                  <a:rPr lang="en-US" dirty="0"/>
                  <a:t>for sampling that tries all state-action pairs, but learn the optimal, deterministic </a:t>
                </a:r>
                <a:r>
                  <a:rPr lang="en-US" b="1" dirty="0"/>
                  <a:t>target policy</a:t>
                </a:r>
                <a:r>
                  <a:rPr lang="en-US" dirty="0"/>
                  <a:t>. </a:t>
                </a:r>
              </a:p>
            </p:txBody>
          </p:sp>
        </mc:Choice>
        <mc:Fallback xmlns="">
          <p:sp>
            <p:nvSpPr>
              <p:cNvPr id="3" name="Content Placeholder 2" descr="Issue: The environment needs to let us start episodes at different (s,a) at will. This is fine for simulations, but hard in the real world. We need exploration for convergence: We need a guarantee that all (reachable) state-action combinations are tried. Options:. On-policy control: learn a soft policy instead of the optimal policy. Off-policy control: use a soft behavior policy for sampling that tries all state-action pairs, but learn the optimal, deterministic target policy">
                <a:extLst>
                  <a:ext uri="{FF2B5EF4-FFF2-40B4-BE49-F238E27FC236}">
                    <a16:creationId xmlns:a16="http://schemas.microsoft.com/office/drawing/2014/main" id="{EAEFD2A1-20FF-E2C2-87CE-EFFEE51F9F02}"/>
                  </a:ext>
                </a:extLst>
              </p:cNvPr>
              <p:cNvSpPr>
                <a:spLocks noGrp="1" noRot="1" noChangeAspect="1" noMove="1" noResize="1" noEditPoints="1" noAdjustHandles="1" noChangeArrowheads="1" noChangeShapeType="1" noTextEdit="1"/>
              </p:cNvSpPr>
              <p:nvPr>
                <p:ph idx="1"/>
              </p:nvPr>
            </p:nvSpPr>
            <p:spPr>
              <a:blipFill>
                <a:blip r:embed="rId2"/>
                <a:stretch>
                  <a:fillRect l="-1043" t="-2168" r="-1507"/>
                </a:stretch>
              </a:blipFill>
            </p:spPr>
            <p:txBody>
              <a:bodyPr/>
              <a:lstStyle/>
              <a:p>
                <a:r>
                  <a:rPr lang="en-US">
                    <a:noFill/>
                  </a:rPr>
                  <a:t> </a:t>
                </a:r>
              </a:p>
            </p:txBody>
          </p:sp>
        </mc:Fallback>
      </mc:AlternateContent>
    </p:spTree>
    <p:extLst>
      <p:ext uri="{BB962C8B-B14F-4D97-AF65-F5344CB8AC3E}">
        <p14:creationId xmlns:p14="http://schemas.microsoft.com/office/powerpoint/2010/main" val="17335212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F5B12-081D-E1A8-2074-F24D7983F24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25D340A-8717-DDE3-8CB9-FC1AAF511C3D}"/>
              </a:ext>
            </a:extLst>
          </p:cNvPr>
          <p:cNvSpPr>
            <a:spLocks noGrp="1"/>
          </p:cNvSpPr>
          <p:nvPr>
            <p:ph type="title"/>
          </p:nvPr>
        </p:nvSpPr>
        <p:spPr/>
        <p:txBody>
          <a:bodyPr/>
          <a:lstStyle/>
          <a:p>
            <a:r>
              <a:rPr lang="en-US" dirty="0"/>
              <a:t>On-Policy Monte Carlo Control</a:t>
            </a:r>
          </a:p>
        </p:txBody>
      </p:sp>
      <p:sp>
        <p:nvSpPr>
          <p:cNvPr id="5" name="Text Placeholder 4">
            <a:extLst>
              <a:ext uri="{FF2B5EF4-FFF2-40B4-BE49-F238E27FC236}">
                <a16:creationId xmlns:a16="http://schemas.microsoft.com/office/drawing/2014/main" id="{4D83536F-8662-B3C1-520C-4AD4B6B42DDB}"/>
              </a:ext>
            </a:extLst>
          </p:cNvPr>
          <p:cNvSpPr>
            <a:spLocks noGrp="1"/>
          </p:cNvSpPr>
          <p:nvPr>
            <p:ph type="body" idx="1"/>
          </p:nvPr>
        </p:nvSpPr>
        <p:spPr/>
        <p:txBody>
          <a:bodyPr/>
          <a:lstStyle/>
          <a:p>
            <a:r>
              <a:rPr lang="en-US" dirty="0"/>
              <a:t>Explore using a soft policy</a:t>
            </a:r>
          </a:p>
        </p:txBody>
      </p:sp>
    </p:spTree>
    <p:extLst>
      <p:ext uri="{BB962C8B-B14F-4D97-AF65-F5344CB8AC3E}">
        <p14:creationId xmlns:p14="http://schemas.microsoft.com/office/powerpoint/2010/main" val="23539206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7482D-FBE8-E8AF-A0D6-5E553AFB07A5}"/>
              </a:ext>
            </a:extLst>
          </p:cNvPr>
          <p:cNvSpPr>
            <a:spLocks noGrp="1"/>
          </p:cNvSpPr>
          <p:nvPr>
            <p:ph type="title"/>
          </p:nvPr>
        </p:nvSpPr>
        <p:spPr/>
        <p:txBody>
          <a:bodyPr/>
          <a:lstStyle/>
          <a:p>
            <a:r>
              <a:rPr lang="en-US" dirty="0"/>
              <a:t>Exploration with On-Policy Methods</a:t>
            </a:r>
          </a:p>
        </p:txBody>
      </p:sp>
      <p:sp>
        <p:nvSpPr>
          <p:cNvPr id="3" name="Content Placeholder 2">
            <a:extLst>
              <a:ext uri="{FF2B5EF4-FFF2-40B4-BE49-F238E27FC236}">
                <a16:creationId xmlns:a16="http://schemas.microsoft.com/office/drawing/2014/main" id="{03824046-78CD-3868-7C6F-2A610ED245F1}"/>
              </a:ext>
            </a:extLst>
          </p:cNvPr>
          <p:cNvSpPr>
            <a:spLocks noGrp="1"/>
          </p:cNvSpPr>
          <p:nvPr>
            <p:ph idx="1"/>
          </p:nvPr>
        </p:nvSpPr>
        <p:spPr>
          <a:xfrm>
            <a:off x="838200" y="1379349"/>
            <a:ext cx="10515600" cy="4986727"/>
          </a:xfrm>
        </p:spPr>
        <p:txBody>
          <a:bodyPr>
            <a:normAutofit lnSpcReduction="10000"/>
          </a:bodyPr>
          <a:lstStyle/>
          <a:p>
            <a:pPr marL="0" indent="0">
              <a:buNone/>
            </a:pPr>
            <a:r>
              <a:rPr lang="en-US" dirty="0"/>
              <a:t>On-policy methods learn the policy they follow.</a:t>
            </a:r>
          </a:p>
          <a:p>
            <a:pPr marL="0" indent="0">
              <a:buNone/>
            </a:pPr>
            <a:endParaRPr lang="en-US" b="1" dirty="0"/>
          </a:p>
          <a:p>
            <a:pPr marL="0" indent="0">
              <a:buNone/>
            </a:pPr>
            <a:r>
              <a:rPr lang="en-US" b="1" dirty="0"/>
              <a:t>Dilemma</a:t>
            </a:r>
            <a:r>
              <a:rPr lang="en-US" dirty="0"/>
              <a:t>: </a:t>
            </a:r>
          </a:p>
          <a:p>
            <a:pPr lvl="1"/>
            <a:r>
              <a:rPr lang="en-US" dirty="0"/>
              <a:t>We need behavior (follow a policy) that explores. Such a policy is called a soft policy.</a:t>
            </a:r>
          </a:p>
          <a:p>
            <a:pPr lvl="1"/>
            <a:r>
              <a:rPr lang="en-US" dirty="0"/>
              <a:t>On-policy methods can only learn soft policies, but we know that MDPs have an optimal deterministic policy.</a:t>
            </a:r>
          </a:p>
          <a:p>
            <a:pPr marL="457200" lvl="1" indent="0">
              <a:buNone/>
            </a:pPr>
            <a:endParaRPr lang="en-US" dirty="0"/>
          </a:p>
          <a:p>
            <a:pPr marL="0" indent="0">
              <a:buNone/>
            </a:pPr>
            <a:r>
              <a:rPr lang="en-US" b="1" dirty="0"/>
              <a:t>Optimality issue</a:t>
            </a:r>
            <a:r>
              <a:rPr lang="en-US" dirty="0"/>
              <a:t>: </a:t>
            </a:r>
          </a:p>
          <a:p>
            <a:pPr lvl="1"/>
            <a:r>
              <a:rPr lang="en-US" dirty="0"/>
              <a:t>We can convert a soft policy into a greedy deterministic policy by always picking the action with the highest probability. </a:t>
            </a:r>
          </a:p>
          <a:p>
            <a:pPr lvl="1"/>
            <a:r>
              <a:rPr lang="en-US" dirty="0"/>
              <a:t>This is called the greedy policy. </a:t>
            </a:r>
          </a:p>
          <a:p>
            <a:pPr lvl="1"/>
            <a:r>
              <a:rPr lang="en-US" dirty="0"/>
              <a:t>The greedy policy may not be optimal!</a:t>
            </a:r>
          </a:p>
        </p:txBody>
      </p:sp>
    </p:spTree>
    <p:extLst>
      <p:ext uri="{BB962C8B-B14F-4D97-AF65-F5344CB8AC3E}">
        <p14:creationId xmlns:p14="http://schemas.microsoft.com/office/powerpoint/2010/main" val="560506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22310-FA64-2841-526C-6FAEAF8162B1}"/>
              </a:ext>
            </a:extLst>
          </p:cNvPr>
          <p:cNvSpPr>
            <a:spLocks noGrp="1"/>
          </p:cNvSpPr>
          <p:nvPr>
            <p:ph type="title"/>
          </p:nvPr>
        </p:nvSpPr>
        <p:spPr/>
        <p:txBody>
          <a:bodyPr/>
          <a:lstStyle/>
          <a:p>
            <a:r>
              <a:rPr lang="en-US" dirty="0"/>
              <a:t>Types of Soft Policies for Exploration</a:t>
            </a:r>
          </a:p>
        </p:txBody>
      </p:sp>
      <mc:AlternateContent xmlns:mc="http://schemas.openxmlformats.org/markup-compatibility/2006" xmlns:a14="http://schemas.microsoft.com/office/drawing/2010/main">
        <mc:Choice Requires="a14">
          <p:sp>
            <p:nvSpPr>
              <p:cNvPr id="5" name="TextBox 4" descr="Definition : A policy is soft if. pi (a given s) is greater than 0 for all s in S, a in A">
                <a:extLst>
                  <a:ext uri="{FF2B5EF4-FFF2-40B4-BE49-F238E27FC236}">
                    <a16:creationId xmlns:a16="http://schemas.microsoft.com/office/drawing/2014/main" id="{FA09823A-1BE2-0F8A-840C-956DA1A41B0C}"/>
                  </a:ext>
                </a:extLst>
              </p:cNvPr>
              <p:cNvSpPr txBox="1"/>
              <p:nvPr/>
            </p:nvSpPr>
            <p:spPr>
              <a:xfrm>
                <a:off x="4170985" y="1248099"/>
                <a:ext cx="3850029"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pPr marL="0" indent="0">
                  <a:buNone/>
                </a:pPr>
                <a:r>
                  <a:rPr lang="en-US" b="1" dirty="0"/>
                  <a:t>Definition </a:t>
                </a:r>
                <a:r>
                  <a:rPr lang="en-US" dirty="0"/>
                  <a:t>: A policy is soft if</a:t>
                </a:r>
                <a:endParaRPr lang="en-US" b="0" i="1" dirty="0">
                  <a:latin typeface="Cambria Math" panose="02040503050406030204" pitchFamily="18" charset="0"/>
                </a:endParaRPr>
              </a:p>
              <a:p>
                <a:pPr marL="0" indent="0">
                  <a:buNone/>
                </a:pPr>
                <a14:m>
                  <m:oMathPara xmlns:m="http://schemas.openxmlformats.org/officeDocument/2006/math">
                    <m:oMath>
                      <m:r>
                        <a:rPr lang="en-US" b="0" i="1" smtClean="0">
                          <a:latin typeface="Cambria Math" panose="02040503050406030204" pitchFamily="18" charset="0"/>
                        </a:rPr>
                        <m:t>𝜋</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e>
                        <m:e>
                          <m:r>
                            <a:rPr lang="en-US" b="0" i="1" smtClean="0">
                              <a:latin typeface="Cambria Math" panose="02040503050406030204" pitchFamily="18" charset="0"/>
                            </a:rPr>
                            <m:t>𝑠</m:t>
                          </m:r>
                        </m:e>
                      </m:d>
                      <m:r>
                        <a:rPr lang="en-US" b="0" i="1" smtClean="0">
                          <a:latin typeface="Cambria Math" panose="02040503050406030204" pitchFamily="18" charset="0"/>
                        </a:rPr>
                        <m:t>&gt;0             ∀</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𝒮</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𝒜</m:t>
                      </m:r>
                    </m:oMath>
                  </m:oMathPara>
                </a14:m>
                <a:endParaRPr lang="en-US" dirty="0"/>
              </a:p>
            </p:txBody>
          </p:sp>
        </mc:Choice>
        <mc:Fallback xmlns="">
          <p:sp>
            <p:nvSpPr>
              <p:cNvPr id="5" name="TextBox 4" descr="Definition : A policy is soft if. pi (a given s) is greater than 0 for all s in S, a in A">
                <a:extLst>
                  <a:ext uri="{FF2B5EF4-FFF2-40B4-BE49-F238E27FC236}">
                    <a16:creationId xmlns:a16="http://schemas.microsoft.com/office/drawing/2014/main" id="{FA09823A-1BE2-0F8A-840C-956DA1A41B0C}"/>
                  </a:ext>
                </a:extLst>
              </p:cNvPr>
              <p:cNvSpPr txBox="1">
                <a:spLocks noRot="1" noChangeAspect="1" noMove="1" noResize="1" noEditPoints="1" noAdjustHandles="1" noChangeArrowheads="1" noChangeShapeType="1" noTextEdit="1"/>
              </p:cNvSpPr>
              <p:nvPr/>
            </p:nvSpPr>
            <p:spPr>
              <a:xfrm>
                <a:off x="4170985" y="1248099"/>
                <a:ext cx="3850029" cy="646331"/>
              </a:xfrm>
              <a:prstGeom prst="rect">
                <a:avLst/>
              </a:prstGeom>
              <a:blipFill>
                <a:blip r:embed="rId3"/>
                <a:stretch>
                  <a:fillRect l="-1102" t="-36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descr="Soft policies are stochastic and used as behavior policies that guarantee exploration. Important Soft Policy Types:. epsilon -soft policy: agent takes with probability epsilon a random action. pi (a given s) is greater than or equal to the fraction epsilon, over given A(s) given, end fraction. epsilon -greedy policy: follows a greedy policy but chooses a random action with probability epsilon. pi (a given s) equals cases: 1 minus epsilon plus the fraction epsilon, over A (s), end fraction if a equals greedy action; the fraction epsilon, over given A(s) given, end fraction if a is not equal to greedy action">
                <a:extLst>
                  <a:ext uri="{FF2B5EF4-FFF2-40B4-BE49-F238E27FC236}">
                    <a16:creationId xmlns:a16="http://schemas.microsoft.com/office/drawing/2014/main" id="{96DA1106-4AD5-CBFF-5625-E1729EDA4031}"/>
                  </a:ext>
                </a:extLst>
              </p:cNvPr>
              <p:cNvSpPr>
                <a:spLocks noGrp="1"/>
              </p:cNvSpPr>
              <p:nvPr>
                <p:ph idx="1"/>
              </p:nvPr>
            </p:nvSpPr>
            <p:spPr>
              <a:xfrm>
                <a:off x="838200" y="2152891"/>
                <a:ext cx="10515600" cy="4024072"/>
              </a:xfrm>
            </p:spPr>
            <p:txBody>
              <a:bodyPr>
                <a:normAutofit fontScale="70000" lnSpcReduction="20000"/>
              </a:bodyPr>
              <a:lstStyle/>
              <a:p>
                <a:pPr marL="0" indent="0">
                  <a:buNone/>
                </a:pPr>
                <a:r>
                  <a:rPr lang="en-US" dirty="0"/>
                  <a:t>Soft policies are stochastic and used as behavior policies that guarantee exploration.</a:t>
                </a:r>
              </a:p>
              <a:p>
                <a:pPr marL="0" indent="0" algn="ctr">
                  <a:buNone/>
                </a:pPr>
                <a:endParaRPr lang="en-US" dirty="0"/>
              </a:p>
              <a:p>
                <a:pPr marL="0" indent="0">
                  <a:buNone/>
                </a:pPr>
                <a:r>
                  <a:rPr lang="en-US" b="1" dirty="0"/>
                  <a:t>Important Soft Policy Types:</a:t>
                </a:r>
              </a:p>
              <a:p>
                <a:pPr lvl="1"/>
                <a14:m>
                  <m:oMath xmlns:m="http://schemas.openxmlformats.org/officeDocument/2006/math">
                    <m:r>
                      <a:rPr lang="en-US" b="1" i="1" smtClean="0">
                        <a:latin typeface="Cambria Math" panose="02040503050406030204" pitchFamily="18" charset="0"/>
                      </a:rPr>
                      <m:t>𝝐</m:t>
                    </m:r>
                  </m:oMath>
                </a14:m>
                <a:r>
                  <a:rPr lang="en-US" b="1" dirty="0"/>
                  <a:t>-soft policy</a:t>
                </a:r>
                <a:r>
                  <a:rPr lang="en-US" dirty="0"/>
                  <a:t>: agent takes with probability </a:t>
                </a:r>
                <a14:m>
                  <m:oMath xmlns:m="http://schemas.openxmlformats.org/officeDocument/2006/math">
                    <m:r>
                      <a:rPr lang="en-US" b="0" i="1" smtClean="0">
                        <a:latin typeface="Cambria Math" panose="02040503050406030204" pitchFamily="18" charset="0"/>
                      </a:rPr>
                      <m:t>𝜖</m:t>
                    </m:r>
                  </m:oMath>
                </a14:m>
                <a:r>
                  <a:rPr lang="en-US" dirty="0"/>
                  <a:t> a random action.</a:t>
                </a:r>
              </a:p>
              <a:p>
                <a:pPr lvl="1"/>
                <a:endParaRPr lang="en-US" dirty="0"/>
              </a:p>
              <a:p>
                <a:pPr marL="457200" lvl="1" indent="0">
                  <a:buNone/>
                </a:pPr>
                <a14:m>
                  <m:oMathPara xmlns:m="http://schemas.openxmlformats.org/officeDocument/2006/math">
                    <m:oMath>
                      <m:r>
                        <a:rPr lang="en-US" i="1">
                          <a:latin typeface="Cambria Math" panose="02040503050406030204" pitchFamily="18" charset="0"/>
                        </a:rPr>
                        <m:t>𝜋</m:t>
                      </m:r>
                      <m:d>
                        <m:dPr>
                          <m:ctrlPr>
                            <a:rPr lang="en-US" i="1">
                              <a:latin typeface="Cambria Math" panose="02040503050406030204" pitchFamily="18" charset="0"/>
                            </a:rPr>
                          </m:ctrlPr>
                        </m:dPr>
                        <m:e>
                          <m:r>
                            <a:rPr lang="en-US" i="1">
                              <a:latin typeface="Cambria Math" panose="02040503050406030204" pitchFamily="18" charset="0"/>
                            </a:rPr>
                            <m:t>𝑎</m:t>
                          </m:r>
                        </m:e>
                        <m:e>
                          <m:r>
                            <a:rPr lang="en-US" i="1">
                              <a:latin typeface="Cambria Math" panose="02040503050406030204" pitchFamily="18" charset="0"/>
                            </a:rPr>
                            <m:t>𝑠</m:t>
                          </m:r>
                        </m:e>
                      </m:d>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𝜖</m:t>
                          </m:r>
                        </m:num>
                        <m:den>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𝒜</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den>
                      </m:f>
                    </m:oMath>
                  </m:oMathPara>
                </a14:m>
                <a:endParaRPr lang="en-US" dirty="0"/>
              </a:p>
              <a:p>
                <a:pPr marL="457200" lvl="1" indent="0">
                  <a:buNone/>
                </a:pPr>
                <a:endParaRPr lang="en-US" dirty="0"/>
              </a:p>
              <a:p>
                <a:pPr lvl="1"/>
                <a14:m>
                  <m:oMath xmlns:m="http://schemas.openxmlformats.org/officeDocument/2006/math">
                    <m:r>
                      <a:rPr lang="en-US" b="1" i="1">
                        <a:latin typeface="Cambria Math" panose="02040503050406030204" pitchFamily="18" charset="0"/>
                      </a:rPr>
                      <m:t>𝝐</m:t>
                    </m:r>
                  </m:oMath>
                </a14:m>
                <a:r>
                  <a:rPr lang="en-US" b="1" dirty="0"/>
                  <a:t>-greedy policy</a:t>
                </a:r>
                <a:r>
                  <a:rPr lang="en-US" dirty="0"/>
                  <a:t>: follows a greedy policy but chooses a random action with probability </a:t>
                </a:r>
                <a14:m>
                  <m:oMath xmlns:m="http://schemas.openxmlformats.org/officeDocument/2006/math">
                    <m:r>
                      <a:rPr lang="en-US" b="0" i="1" smtClean="0">
                        <a:latin typeface="Cambria Math" panose="02040503050406030204" pitchFamily="18" charset="0"/>
                      </a:rPr>
                      <m:t>𝜖</m:t>
                    </m:r>
                  </m:oMath>
                </a14:m>
                <a:endParaRPr lang="en-US" dirty="0"/>
              </a:p>
              <a:p>
                <a:pPr lvl="1"/>
                <a:endParaRPr lang="en-US" dirty="0"/>
              </a:p>
              <a:p>
                <a:pPr marL="457200" lvl="1" indent="0">
                  <a:buNone/>
                </a:pPr>
                <a14:m>
                  <m:oMathPara xmlns:m="http://schemas.openxmlformats.org/officeDocument/2006/math">
                    <m:oMath>
                      <m:r>
                        <a:rPr lang="en-US" i="1">
                          <a:latin typeface="Cambria Math" panose="02040503050406030204" pitchFamily="18" charset="0"/>
                        </a:rPr>
                        <m:t>𝜋</m:t>
                      </m:r>
                      <m:d>
                        <m:dPr>
                          <m:ctrlPr>
                            <a:rPr lang="en-US" i="1">
                              <a:latin typeface="Cambria Math" panose="02040503050406030204" pitchFamily="18" charset="0"/>
                            </a:rPr>
                          </m:ctrlPr>
                        </m:dPr>
                        <m:e>
                          <m:r>
                            <a:rPr lang="en-US" i="1">
                              <a:latin typeface="Cambria Math" panose="02040503050406030204" pitchFamily="18" charset="0"/>
                            </a:rPr>
                            <m:t>𝑎</m:t>
                          </m:r>
                        </m:e>
                        <m:e>
                          <m:r>
                            <a:rPr lang="en-US" i="1">
                              <a:latin typeface="Cambria Math" panose="02040503050406030204" pitchFamily="18" charset="0"/>
                            </a:rPr>
                            <m:t>𝑠</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1−</m:t>
                              </m:r>
                              <m:r>
                                <a:rPr lang="en-US" b="0" i="1" smtClean="0">
                                  <a:latin typeface="Cambria Math" panose="02040503050406030204" pitchFamily="18" charset="0"/>
                                </a:rPr>
                                <m:t>𝜖</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𝜖</m:t>
                                  </m:r>
                                </m:num>
                                <m:den>
                                  <m:r>
                                    <a:rPr lang="en-US" b="0" i="1" smtClean="0">
                                      <a:latin typeface="Cambria Math" panose="02040503050406030204" pitchFamily="18" charset="0"/>
                                      <a:ea typeface="Cambria Math" panose="02040503050406030204" pitchFamily="18" charset="0"/>
                                    </a:rPr>
                                    <m:t>𝒜</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𝑠</m:t>
                                      </m:r>
                                    </m:e>
                                  </m:d>
                                </m:den>
                              </m:f>
                              <m:r>
                                <a:rPr lang="en-US" b="0" i="1" smtClean="0">
                                  <a:latin typeface="Cambria Math" panose="02040503050406030204" pitchFamily="18" charset="0"/>
                                </a:rPr>
                                <m:t>     </m:t>
                              </m:r>
                              <m:r>
                                <m:rPr>
                                  <m:nor/>
                                </m:rPr>
                                <a:rPr lang="en-US" b="0" i="0" smtClean="0">
                                  <a:latin typeface="Cambria Math" panose="02040503050406030204" pitchFamily="18" charset="0"/>
                                </a:rPr>
                                <m:t>if</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m:t>
                              </m:r>
                              <m:r>
                                <m:rPr>
                                  <m:nor/>
                                </m:rPr>
                                <a:rPr lang="en-US" b="0" i="0" smtClean="0">
                                  <a:latin typeface="Cambria Math" panose="02040503050406030204" pitchFamily="18" charset="0"/>
                                </a:rPr>
                                <m:t>greedy action</m:t>
                              </m:r>
                            </m:e>
                            <m:e>
                              <m:f>
                                <m:fPr>
                                  <m:ctrlPr>
                                    <a:rPr lang="en-US" b="0" i="1" smtClean="0">
                                      <a:latin typeface="Cambria Math" panose="02040503050406030204" pitchFamily="18" charset="0"/>
                                    </a:rPr>
                                  </m:ctrlPr>
                                </m:fPr>
                                <m:num>
                                  <m:r>
                                    <a:rPr lang="en-US" b="0" i="1" smtClean="0">
                                      <a:latin typeface="Cambria Math" panose="02040503050406030204" pitchFamily="18" charset="0"/>
                                    </a:rPr>
                                    <m:t>𝜖</m:t>
                                  </m:r>
                                </m:num>
                                <m:den>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𝒜</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den>
                              </m:f>
                              <m:r>
                                <m:rPr>
                                  <m:nor/>
                                </m:rPr>
                                <a:rPr lang="en-US" b="0" i="0" smtClean="0">
                                  <a:latin typeface="Cambria Math" panose="02040503050406030204" pitchFamily="18" charset="0"/>
                                </a:rPr>
                                <m:t>                   </m:t>
                              </m:r>
                              <m:r>
                                <m:rPr>
                                  <m:nor/>
                                </m:rPr>
                                <a:rPr lang="en-US" i="0">
                                  <a:latin typeface="Cambria Math" panose="02040503050406030204" pitchFamily="18" charset="0"/>
                                </a:rPr>
                                <m:t>if</m:t>
                              </m:r>
                              <m:r>
                                <a:rPr lang="en-US" i="1">
                                  <a:latin typeface="Cambria Math" panose="02040503050406030204" pitchFamily="18" charset="0"/>
                                </a:rPr>
                                <m:t> </m:t>
                              </m:r>
                              <m:r>
                                <a:rPr lang="en-US" i="1">
                                  <a:latin typeface="Cambria Math" panose="02040503050406030204" pitchFamily="18" charset="0"/>
                                </a:rPr>
                                <m:t>𝑎</m:t>
                              </m:r>
                              <m:r>
                                <a:rPr lang="en-US" b="0" i="1" smtClean="0">
                                  <a:latin typeface="Cambria Math" panose="02040503050406030204" pitchFamily="18" charset="0"/>
                                </a:rPr>
                                <m:t>≠</m:t>
                              </m:r>
                              <m:r>
                                <m:rPr>
                                  <m:nor/>
                                </m:rPr>
                                <a:rPr lang="en-US" i="0">
                                  <a:latin typeface="Cambria Math" panose="02040503050406030204" pitchFamily="18" charset="0"/>
                                </a:rPr>
                                <m:t>greedy action</m:t>
                              </m:r>
                            </m:e>
                          </m:eqArr>
                        </m:e>
                      </m:d>
                    </m:oMath>
                  </m:oMathPara>
                </a14:m>
                <a:endParaRPr lang="en-US" dirty="0"/>
              </a:p>
            </p:txBody>
          </p:sp>
        </mc:Choice>
        <mc:Fallback xmlns="">
          <p:sp>
            <p:nvSpPr>
              <p:cNvPr id="3" name="Content Placeholder 2" descr="Soft policies are stochastic and used as behavior policies that guarantee exploration. Important Soft Policy Types:. epsilon -soft policy: agent takes with probability epsilon a random action. pi (a given s) is greater than or equal to the fraction epsilon, over given A(s) given, end fraction. epsilon -greedy policy: follows a greedy policy but chooses a random action with probability epsilon. pi (a given s) equals cases: 1 minus epsilon plus the fraction epsilon, over A (s), end fraction if a equals greedy action; the fraction epsilon, over given A(s) given, end fraction if a is not equal to greedy action">
                <a:extLst>
                  <a:ext uri="{FF2B5EF4-FFF2-40B4-BE49-F238E27FC236}">
                    <a16:creationId xmlns:a16="http://schemas.microsoft.com/office/drawing/2014/main" id="{96DA1106-4AD5-CBFF-5625-E1729EDA4031}"/>
                  </a:ext>
                </a:extLst>
              </p:cNvPr>
              <p:cNvSpPr>
                <a:spLocks noGrp="1" noRot="1" noChangeAspect="1" noMove="1" noResize="1" noEditPoints="1" noAdjustHandles="1" noChangeArrowheads="1" noChangeShapeType="1" noTextEdit="1"/>
              </p:cNvSpPr>
              <p:nvPr>
                <p:ph idx="1"/>
              </p:nvPr>
            </p:nvSpPr>
            <p:spPr>
              <a:xfrm>
                <a:off x="838200" y="2152891"/>
                <a:ext cx="10515600" cy="4024072"/>
              </a:xfrm>
              <a:blipFill>
                <a:blip r:embed="rId2"/>
                <a:stretch>
                  <a:fillRect l="-638" t="-2576"/>
                </a:stretch>
              </a:blipFill>
            </p:spPr>
            <p:txBody>
              <a:bodyPr/>
              <a:lstStyle/>
              <a:p>
                <a:r>
                  <a:rPr lang="en-US">
                    <a:noFill/>
                  </a:rPr>
                  <a:t> </a:t>
                </a:r>
              </a:p>
            </p:txBody>
          </p:sp>
        </mc:Fallback>
      </mc:AlternateContent>
    </p:spTree>
    <p:extLst>
      <p:ext uri="{BB962C8B-B14F-4D97-AF65-F5344CB8AC3E}">
        <p14:creationId xmlns:p14="http://schemas.microsoft.com/office/powerpoint/2010/main" val="38257543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descr="Alg. On-Policy MC Control with epsilon -soft Policies">
                <a:extLst>
                  <a:ext uri="{FF2B5EF4-FFF2-40B4-BE49-F238E27FC236}">
                    <a16:creationId xmlns:a16="http://schemas.microsoft.com/office/drawing/2014/main" id="{ECCE4376-2408-766E-C11B-2CB70FB9EDA8}"/>
                  </a:ext>
                </a:extLst>
              </p:cNvPr>
              <p:cNvSpPr>
                <a:spLocks noGrp="1"/>
              </p:cNvSpPr>
              <p:nvPr>
                <p:ph type="title"/>
              </p:nvPr>
            </p:nvSpPr>
            <p:spPr/>
            <p:txBody>
              <a:bodyPr>
                <a:normAutofit/>
              </a:bodyPr>
              <a:lstStyle/>
              <a:p>
                <a:r>
                  <a:rPr lang="en-US" dirty="0"/>
                  <a:t>Alg. On-Policy MC Control with </a:t>
                </a:r>
                <a14:m>
                  <m:oMath xmlns:m="http://schemas.openxmlformats.org/officeDocument/2006/math">
                    <m:r>
                      <a:rPr lang="en-US" b="0" i="1" smtClean="0">
                        <a:latin typeface="Cambria Math" panose="02040503050406030204" pitchFamily="18" charset="0"/>
                      </a:rPr>
                      <m:t>𝜖</m:t>
                    </m:r>
                  </m:oMath>
                </a14:m>
                <a:r>
                  <a:rPr lang="en-US" dirty="0"/>
                  <a:t>-soft Policies</a:t>
                </a:r>
              </a:p>
            </p:txBody>
          </p:sp>
        </mc:Choice>
        <mc:Fallback xmlns="">
          <p:sp>
            <p:nvSpPr>
              <p:cNvPr id="2" name="Title 1" descr="Alg. On-Policy MC Control with epsilon -soft Policies">
                <a:extLst>
                  <a:ext uri="{FF2B5EF4-FFF2-40B4-BE49-F238E27FC236}">
                    <a16:creationId xmlns:a16="http://schemas.microsoft.com/office/drawing/2014/main" id="{ECCE4376-2408-766E-C11B-2CB70FB9EDA8}"/>
                  </a:ext>
                </a:extLst>
              </p:cNvPr>
              <p:cNvSpPr>
                <a:spLocks noGrp="1" noRot="1" noChangeAspect="1" noMove="1" noResize="1" noEditPoints="1" noAdjustHandles="1" noChangeArrowheads="1" noChangeShapeType="1" noTextEdit="1"/>
              </p:cNvSpPr>
              <p:nvPr>
                <p:ph type="title"/>
              </p:nvPr>
            </p:nvSpPr>
            <p:spPr>
              <a:blipFill>
                <a:blip r:embed="rId3"/>
                <a:stretch>
                  <a:fillRect l="-2377" t="-20161" r="-1681" b="-35484"/>
                </a:stretch>
              </a:blipFill>
            </p:spPr>
            <p:txBody>
              <a:bodyPr/>
              <a:lstStyle/>
              <a:p>
                <a:r>
                  <a:rPr lang="en-US">
                    <a:noFill/>
                  </a:rPr>
                  <a:t> </a:t>
                </a:r>
              </a:p>
            </p:txBody>
          </p:sp>
        </mc:Fallback>
      </mc:AlternateContent>
      <p:pic>
        <p:nvPicPr>
          <p:cNvPr id="6" name="Content Placeholder 9" descr="Algorithm box: Monte Carlo ES (Exploring Starts), for estimating pi ≈ pi star. Initialize: pi(s) in A(s) (arbitrarily), for all s in S; Q(s, a) in R (arbitrarily), for all s in S, a in A(s); Returns(s, a) ← empty list, for all s in S, a in A(s). Loop forever (for each episode): Choose S_0 in S, A_0 in A(S_0) randomly such that all pairs have probability &gt; 0; Generate an episode from S_0, A_0, following pi: S_0, A_0, R_1, …, S_T−1, A_T−1, R_T; G ← 0; Loop for each step of episode, t = T−1, T−2, …, 0: G ← gamma G + R_t+1; Unless the pair S_t, A_t appears in S_0, A_0, S_1, A_1, …, S_t−1, A_t−1: Append G to Returns(S_t, A_t); Q(S_t, A_t) ← average(Returns(S_t, A_t)); pi(S_t) ← argmax over a of Q(S_t, a).">
            <a:extLst>
              <a:ext uri="{FF2B5EF4-FFF2-40B4-BE49-F238E27FC236}">
                <a16:creationId xmlns:a16="http://schemas.microsoft.com/office/drawing/2014/main" id="{F9296D69-011E-18E3-493B-449C50867E23}"/>
              </a:ext>
            </a:extLst>
          </p:cNvPr>
          <p:cNvPicPr>
            <a:picLocks noChangeAspect="1"/>
          </p:cNvPicPr>
          <p:nvPr/>
        </p:nvPicPr>
        <p:blipFill>
          <a:blip r:embed="rId4"/>
          <a:stretch>
            <a:fillRect/>
          </a:stretch>
        </p:blipFill>
        <p:spPr>
          <a:xfrm>
            <a:off x="414221" y="1079779"/>
            <a:ext cx="6764650" cy="3742954"/>
          </a:xfrm>
          <a:prstGeom prst="rect">
            <a:avLst/>
          </a:prstGeom>
        </p:spPr>
      </p:pic>
      <p:pic>
        <p:nvPicPr>
          <p:cNvPr id="4" name="Content Placeholder 4" descr="Algorithm box: On-policy first-visit MC control (for epsilon-soft policies), estimates pi ≈ pi star. Algorithm parameter: small epsilon &gt; 0. Initialize: pi ← an arbitrary epsilon-soft policy; Q(s, a) in R (arbitrarily), for all s in S, a in A(s); Returns(s, a) ← empty list, for all s in S, a in A(s). Repeat forever (for each episode): Generate an episode following pi: S_0, A_0, R_1, …, S_T−1, A_T−1, R_T; G ← 0; Loop for each step of episode, t = T−1, T−2, …, 0: G ← gamma G + R_t+1; Unless the pair S_t, A_t appears in S_0, A_0, S_1, A_1, …, S_t−1, A_t−1: Append G to Returns(S_t, A_t); Q(S_t, A_t) ← average(Returns(S_t, A_t)); A star ← argmax over a of Q(S_t, a) (with ties broken arbitrarily); For all a in A(S_t): pi(a | S_t) ← 1 − epsilon + epsilon / |A(S_t)| if a = A star, or epsilon / |A(S_t)| if a ≠ A star.">
            <a:extLst>
              <a:ext uri="{FF2B5EF4-FFF2-40B4-BE49-F238E27FC236}">
                <a16:creationId xmlns:a16="http://schemas.microsoft.com/office/drawing/2014/main" id="{D02F365C-A50B-8950-7636-B2CF14BC8E6A}"/>
              </a:ext>
            </a:extLst>
          </p:cNvPr>
          <p:cNvPicPr>
            <a:picLocks noGrp="1" noChangeAspect="1"/>
          </p:cNvPicPr>
          <p:nvPr>
            <p:ph idx="1"/>
          </p:nvPr>
        </p:nvPicPr>
        <p:blipFill>
          <a:blip r:embed="rId5"/>
          <a:srcRect l="2189" t="2792"/>
          <a:stretch>
            <a:fillRect/>
          </a:stretch>
        </p:blipFill>
        <p:spPr>
          <a:xfrm>
            <a:off x="4316126" y="1613450"/>
            <a:ext cx="7289930" cy="4646532"/>
          </a:xfrm>
          <a:prstGeom prst="rect">
            <a:avLst/>
          </a:prstGeom>
        </p:spPr>
      </p:pic>
      <p:sp>
        <p:nvSpPr>
          <p:cNvPr id="3" name="Speech Bubble: Rectangle with Corners Rounded 2">
            <a:extLst>
              <a:ext uri="{FF2B5EF4-FFF2-40B4-BE49-F238E27FC236}">
                <a16:creationId xmlns:a16="http://schemas.microsoft.com/office/drawing/2014/main" id="{3571F969-4B0D-E116-108F-D7C3445B56A8}"/>
              </a:ext>
              <a:ext uri="{C183D7F6-B498-43B3-948B-1728B52AA6E4}">
                <adec:decorative xmlns:adec="http://schemas.microsoft.com/office/drawing/2017/decorative" val="1"/>
              </a:ext>
            </a:extLst>
          </p:cNvPr>
          <p:cNvSpPr/>
          <p:nvPr/>
        </p:nvSpPr>
        <p:spPr>
          <a:xfrm>
            <a:off x="9065161" y="2117480"/>
            <a:ext cx="1287710" cy="503209"/>
          </a:xfrm>
          <a:prstGeom prst="wedgeRoundRectCallout">
            <a:avLst>
              <a:gd name="adj1" fmla="val -182071"/>
              <a:gd name="adj2" fmla="val 64699"/>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Start with soft policy</a:t>
            </a:r>
          </a:p>
        </p:txBody>
      </p:sp>
      <mc:AlternateContent xmlns:mc="http://schemas.openxmlformats.org/markup-compatibility/2006" xmlns:a14="http://schemas.microsoft.com/office/drawing/2010/main">
        <mc:Choice Requires="a14">
          <p:sp>
            <p:nvSpPr>
              <p:cNvPr id="5" name="Speech Bubble: Rectangle with Corners Rounded 4">
                <a:extLst>
                  <a:ext uri="{FF2B5EF4-FFF2-40B4-BE49-F238E27FC236}">
                    <a16:creationId xmlns:a16="http://schemas.microsoft.com/office/drawing/2014/main" id="{732A8CF9-9E54-FAD2-0D3A-C2B653D9C9CB}"/>
                  </a:ext>
                  <a:ext uri="{C183D7F6-B498-43B3-948B-1728B52AA6E4}">
                    <adec:decorative xmlns:adec="http://schemas.microsoft.com/office/drawing/2017/decorative" val="1"/>
                  </a:ext>
                </a:extLst>
              </p:cNvPr>
              <p:cNvSpPr/>
              <p:nvPr/>
            </p:nvSpPr>
            <p:spPr>
              <a:xfrm>
                <a:off x="9813707" y="5491254"/>
                <a:ext cx="1590502" cy="503209"/>
              </a:xfrm>
              <a:prstGeom prst="wedgeRoundRectCallout">
                <a:avLst>
                  <a:gd name="adj1" fmla="val -85291"/>
                  <a:gd name="adj2" fmla="val 2192"/>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Create </a:t>
                </a:r>
                <a:br>
                  <a:rPr lang="en-US" sz="1600" dirty="0"/>
                </a:br>
                <a14:m>
                  <m:oMath xmlns:m="http://schemas.openxmlformats.org/officeDocument/2006/math">
                    <m:r>
                      <a:rPr lang="en-US" sz="1600" b="0" i="1" smtClean="0">
                        <a:latin typeface="Cambria Math" panose="02040503050406030204" pitchFamily="18" charset="0"/>
                      </a:rPr>
                      <m:t>𝜖</m:t>
                    </m:r>
                  </m:oMath>
                </a14:m>
                <a:r>
                  <a:rPr lang="en-US" sz="1600" dirty="0"/>
                  <a:t>-greedy policy</a:t>
                </a:r>
              </a:p>
            </p:txBody>
          </p:sp>
        </mc:Choice>
        <mc:Fallback xmlns="">
          <p:sp>
            <p:nvSpPr>
              <p:cNvPr id="5" name="Speech Bubble: Rectangle with Corners Rounded 4">
                <a:extLst>
                  <a:ext uri="{FF2B5EF4-FFF2-40B4-BE49-F238E27FC236}">
                    <a16:creationId xmlns:a16="http://schemas.microsoft.com/office/drawing/2014/main" id="{732A8CF9-9E54-FAD2-0D3A-C2B653D9C9CB}"/>
                  </a:ext>
                  <a:ext uri="{C183D7F6-B498-43B3-948B-1728B52AA6E4}">
                    <adec:decorative xmlns:adec="http://schemas.microsoft.com/office/drawing/2017/decorative" val="1"/>
                  </a:ext>
                </a:extLst>
              </p:cNvPr>
              <p:cNvSpPr>
                <a:spLocks noRot="1" noChangeAspect="1" noMove="1" noResize="1" noEditPoints="1" noAdjustHandles="1" noChangeArrowheads="1" noChangeShapeType="1" noTextEdit="1"/>
              </p:cNvSpPr>
              <p:nvPr/>
            </p:nvSpPr>
            <p:spPr>
              <a:xfrm>
                <a:off x="9813707" y="5491254"/>
                <a:ext cx="1590502" cy="503209"/>
              </a:xfrm>
              <a:prstGeom prst="wedgeRoundRectCallout">
                <a:avLst>
                  <a:gd name="adj1" fmla="val -85291"/>
                  <a:gd name="adj2" fmla="val 2192"/>
                  <a:gd name="adj3" fmla="val 16667"/>
                </a:avLst>
              </a:prstGeom>
              <a:blipFill>
                <a:blip r:embed="rId6"/>
                <a:stretch>
                  <a:fillRect t="-9756" b="-19512"/>
                </a:stretch>
              </a:blipFill>
            </p:spPr>
            <p:txBody>
              <a:bodyPr/>
              <a:lstStyle/>
              <a:p>
                <a:r>
                  <a:rPr lang="en-US">
                    <a:noFill/>
                  </a:rPr>
                  <a:t> </a:t>
                </a:r>
              </a:p>
            </p:txBody>
          </p:sp>
        </mc:Fallback>
      </mc:AlternateContent>
      <p:sp>
        <p:nvSpPr>
          <p:cNvPr id="7" name="Speech Bubble: Rectangle with Corners Rounded 6">
            <a:extLst>
              <a:ext uri="{FF2B5EF4-FFF2-40B4-BE49-F238E27FC236}">
                <a16:creationId xmlns:a16="http://schemas.microsoft.com/office/drawing/2014/main" id="{96D542BC-741E-1EA0-F955-AA3E2AA650E1}"/>
              </a:ext>
              <a:ext uri="{C183D7F6-B498-43B3-948B-1728B52AA6E4}">
                <adec:decorative xmlns:adec="http://schemas.microsoft.com/office/drawing/2017/decorative" val="1"/>
              </a:ext>
            </a:extLst>
          </p:cNvPr>
          <p:cNvSpPr/>
          <p:nvPr/>
        </p:nvSpPr>
        <p:spPr>
          <a:xfrm>
            <a:off x="9169852" y="2978817"/>
            <a:ext cx="1287710" cy="503209"/>
          </a:xfrm>
          <a:prstGeom prst="wedgeRoundRectCallout">
            <a:avLst>
              <a:gd name="adj1" fmla="val -194315"/>
              <a:gd name="adj2" fmla="val 70815"/>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No exploring starts!</a:t>
            </a:r>
          </a:p>
        </p:txBody>
      </p:sp>
      <p:sp>
        <p:nvSpPr>
          <p:cNvPr id="8" name="Arrow: Down 7">
            <a:extLst>
              <a:ext uri="{FF2B5EF4-FFF2-40B4-BE49-F238E27FC236}">
                <a16:creationId xmlns:a16="http://schemas.microsoft.com/office/drawing/2014/main" id="{553659F1-47C7-2086-0167-0CFACDBECB2F}"/>
              </a:ext>
              <a:ext uri="{C183D7F6-B498-43B3-948B-1728B52AA6E4}">
                <adec:decorative xmlns:adec="http://schemas.microsoft.com/office/drawing/2017/decorative" val="1"/>
              </a:ext>
            </a:extLst>
          </p:cNvPr>
          <p:cNvSpPr/>
          <p:nvPr/>
        </p:nvSpPr>
        <p:spPr>
          <a:xfrm rot="16930409">
            <a:off x="3707934" y="2673592"/>
            <a:ext cx="868261" cy="76759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descr="Important: On-policy learns the best epsilon -greedy policy, but not the optimal deterministic policy!">
                <a:extLst>
                  <a:ext uri="{FF2B5EF4-FFF2-40B4-BE49-F238E27FC236}">
                    <a16:creationId xmlns:a16="http://schemas.microsoft.com/office/drawing/2014/main" id="{2FE14497-E739-46DA-A340-3144E5145218}"/>
                  </a:ext>
                </a:extLst>
              </p:cNvPr>
              <p:cNvSpPr txBox="1"/>
              <p:nvPr/>
            </p:nvSpPr>
            <p:spPr>
              <a:xfrm>
                <a:off x="1364104" y="6308208"/>
                <a:ext cx="955661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n-US" b="1" dirty="0"/>
                  <a:t>Important</a:t>
                </a:r>
                <a:r>
                  <a:rPr lang="en-US" dirty="0"/>
                  <a:t>: On-policy learns the best </a:t>
                </a:r>
                <a14:m>
                  <m:oMath xmlns:m="http://schemas.openxmlformats.org/officeDocument/2006/math">
                    <m:r>
                      <a:rPr lang="en-US" b="0" i="1" smtClean="0">
                        <a:latin typeface="Cambria Math" panose="02040503050406030204" pitchFamily="18" charset="0"/>
                      </a:rPr>
                      <m:t>𝜖</m:t>
                    </m:r>
                  </m:oMath>
                </a14:m>
                <a:r>
                  <a:rPr lang="en-US" dirty="0"/>
                  <a:t>-greedy policy, but not the optimal deterministic policy!</a:t>
                </a:r>
              </a:p>
            </p:txBody>
          </p:sp>
        </mc:Choice>
        <mc:Fallback xmlns="">
          <p:sp>
            <p:nvSpPr>
              <p:cNvPr id="9" name="TextBox 8" descr="Important: On-policy learns the best epsilon -greedy policy, but not the optimal deterministic policy!">
                <a:extLst>
                  <a:ext uri="{FF2B5EF4-FFF2-40B4-BE49-F238E27FC236}">
                    <a16:creationId xmlns:a16="http://schemas.microsoft.com/office/drawing/2014/main" id="{2FE14497-E739-46DA-A340-3144E5145218}"/>
                  </a:ext>
                </a:extLst>
              </p:cNvPr>
              <p:cNvSpPr txBox="1">
                <a:spLocks noRot="1" noChangeAspect="1" noMove="1" noResize="1" noEditPoints="1" noAdjustHandles="1" noChangeArrowheads="1" noChangeShapeType="1" noTextEdit="1"/>
              </p:cNvSpPr>
              <p:nvPr/>
            </p:nvSpPr>
            <p:spPr>
              <a:xfrm>
                <a:off x="1364104" y="6308208"/>
                <a:ext cx="9556610" cy="369332"/>
              </a:xfrm>
              <a:prstGeom prst="rect">
                <a:avLst/>
              </a:prstGeom>
              <a:blipFill>
                <a:blip r:embed="rId7"/>
                <a:stretch>
                  <a:fillRect l="-510" t="-6349" b="-23810"/>
                </a:stretch>
              </a:blipFill>
            </p:spPr>
            <p:txBody>
              <a:bodyPr/>
              <a:lstStyle/>
              <a:p>
                <a:r>
                  <a:rPr lang="en-US">
                    <a:noFill/>
                  </a:rPr>
                  <a:t> </a:t>
                </a:r>
              </a:p>
            </p:txBody>
          </p:sp>
        </mc:Fallback>
      </mc:AlternateContent>
    </p:spTree>
    <p:extLst>
      <p:ext uri="{BB962C8B-B14F-4D97-AF65-F5344CB8AC3E}">
        <p14:creationId xmlns:p14="http://schemas.microsoft.com/office/powerpoint/2010/main" val="5188483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DDC0C-7B50-2CF0-564C-587B670953AF}"/>
              </a:ext>
            </a:extLst>
          </p:cNvPr>
          <p:cNvSpPr>
            <a:spLocks noGrp="1"/>
          </p:cNvSpPr>
          <p:nvPr>
            <p:ph type="title"/>
          </p:nvPr>
        </p:nvSpPr>
        <p:spPr/>
        <p:txBody>
          <a:bodyPr>
            <a:normAutofit fontScale="90000"/>
          </a:bodyPr>
          <a:lstStyle/>
          <a:p>
            <a:r>
              <a:rPr lang="en-US" dirty="0"/>
              <a:t>Convergence to the Optimal Policy: </a:t>
            </a:r>
            <a:br>
              <a:rPr lang="en-US" dirty="0"/>
            </a:br>
            <a:r>
              <a:rPr lang="en-US" dirty="0"/>
              <a:t>Greedy in the Limit with Infinite Exploration (GLIE)</a:t>
            </a:r>
          </a:p>
        </p:txBody>
      </p:sp>
      <mc:AlternateContent xmlns:mc="http://schemas.openxmlformats.org/markup-compatibility/2006" xmlns:a14="http://schemas.microsoft.com/office/drawing/2010/main">
        <mc:Choice Requires="a14">
          <p:sp>
            <p:nvSpPr>
              <p:cNvPr id="3" name="Content Placeholder 2" descr="Issues:. On-policy MC control algorithms change the policy and average over returns from different policies. This could be a problem for convergence!. On-policy methods learn a soft policy which is crucial for exploration, but is not optimal. Practical GLIE Approximation:. Infinite exploration: Use many episodes and an epsilon -greedy policy for exploration. This will “wash out” early “bad” observations and makes sure every policy is considered. Greedy in the limit: Use an epsilon -greedy policy where epsilon is reduced over time. E.g., epsilon sub t equals 1 over t">
                <a:extLst>
                  <a:ext uri="{FF2B5EF4-FFF2-40B4-BE49-F238E27FC236}">
                    <a16:creationId xmlns:a16="http://schemas.microsoft.com/office/drawing/2014/main" id="{43DECDB7-7AA0-1233-4B62-A4FC8D424FF0}"/>
                  </a:ext>
                </a:extLst>
              </p:cNvPr>
              <p:cNvSpPr>
                <a:spLocks noGrp="1"/>
              </p:cNvSpPr>
              <p:nvPr>
                <p:ph idx="1"/>
              </p:nvPr>
            </p:nvSpPr>
            <p:spPr>
              <a:xfrm>
                <a:off x="838200" y="1397329"/>
                <a:ext cx="10515600" cy="5194453"/>
              </a:xfrm>
            </p:spPr>
            <p:txBody>
              <a:bodyPr>
                <a:normAutofit fontScale="70000" lnSpcReduction="20000"/>
              </a:bodyPr>
              <a:lstStyle/>
              <a:p>
                <a:pPr marL="0" indent="0">
                  <a:buNone/>
                </a:pPr>
                <a:r>
                  <a:rPr lang="en-US" b="1" dirty="0"/>
                  <a:t>Issues</a:t>
                </a:r>
                <a:r>
                  <a:rPr lang="en-US" dirty="0"/>
                  <a:t>: </a:t>
                </a:r>
              </a:p>
              <a:p>
                <a:pPr marL="914400" lvl="1" indent="-457200">
                  <a:buFont typeface="+mj-lt"/>
                  <a:buAutoNum type="arabicPeriod"/>
                </a:pPr>
                <a:r>
                  <a:rPr lang="en-US" dirty="0"/>
                  <a:t>On-policy MC control algorithms change the policy and </a:t>
                </a:r>
                <a:r>
                  <a:rPr lang="en-US" b="1" dirty="0"/>
                  <a:t>average over returns from different policies</a:t>
                </a:r>
                <a:r>
                  <a:rPr lang="en-US" dirty="0"/>
                  <a:t>. This could be a problem for convergence!</a:t>
                </a:r>
              </a:p>
              <a:p>
                <a:pPr marL="914400" lvl="1" indent="-457200">
                  <a:buFont typeface="+mj-lt"/>
                  <a:buAutoNum type="arabicPeriod"/>
                </a:pPr>
                <a:r>
                  <a:rPr lang="en-US" dirty="0"/>
                  <a:t>On-policy methods learn a </a:t>
                </a:r>
                <a:r>
                  <a:rPr lang="en-US" b="1" dirty="0"/>
                  <a:t>soft policy </a:t>
                </a:r>
                <a:r>
                  <a:rPr lang="en-US" dirty="0"/>
                  <a:t>which is crucial for exploration, but is not optimal.</a:t>
                </a:r>
              </a:p>
              <a:p>
                <a:endParaRPr lang="en-US" dirty="0"/>
              </a:p>
              <a:p>
                <a:endParaRPr lang="en-US" b="1" dirty="0"/>
              </a:p>
              <a:p>
                <a:endParaRPr lang="en-US" b="1" dirty="0"/>
              </a:p>
              <a:p>
                <a:endParaRPr lang="en-US" b="1" dirty="0"/>
              </a:p>
              <a:p>
                <a:endParaRPr lang="en-US" b="1" dirty="0"/>
              </a:p>
              <a:p>
                <a:endParaRPr lang="en-US" b="1" dirty="0"/>
              </a:p>
              <a:p>
                <a:pPr marL="0" indent="0">
                  <a:buNone/>
                </a:pPr>
                <a:endParaRPr lang="en-US" b="1" dirty="0"/>
              </a:p>
              <a:p>
                <a:endParaRPr lang="en-US" b="1" dirty="0"/>
              </a:p>
              <a:p>
                <a:pPr marL="0" indent="0">
                  <a:buNone/>
                </a:pPr>
                <a:endParaRPr lang="en-US" dirty="0"/>
              </a:p>
              <a:p>
                <a:pPr marL="0" indent="0">
                  <a:buNone/>
                </a:pPr>
                <a:r>
                  <a:rPr lang="en-US" b="1" dirty="0"/>
                  <a:t>Practical GLIE Approximation</a:t>
                </a:r>
                <a:r>
                  <a:rPr lang="en-US" dirty="0"/>
                  <a:t>: </a:t>
                </a:r>
              </a:p>
              <a:p>
                <a:pPr lvl="1"/>
                <a:r>
                  <a:rPr lang="en-US" dirty="0"/>
                  <a:t>Infinite exploration: Use many episodes and an </a:t>
                </a:r>
                <a14:m>
                  <m:oMath xmlns:m="http://schemas.openxmlformats.org/officeDocument/2006/math">
                    <m:r>
                      <a:rPr lang="en-US" i="1">
                        <a:latin typeface="Cambria Math" panose="02040503050406030204" pitchFamily="18" charset="0"/>
                      </a:rPr>
                      <m:t>𝜖</m:t>
                    </m:r>
                  </m:oMath>
                </a14:m>
                <a:r>
                  <a:rPr lang="en-US" dirty="0"/>
                  <a:t>-greedy policy for exploration. This will “wash out” early “bad” observations and makes sure every policy is considered.</a:t>
                </a:r>
              </a:p>
              <a:p>
                <a:pPr lvl="1"/>
                <a:r>
                  <a:rPr lang="en-US" dirty="0"/>
                  <a:t>Greedy in the limit: Use an </a:t>
                </a:r>
                <a14:m>
                  <m:oMath xmlns:m="http://schemas.openxmlformats.org/officeDocument/2006/math">
                    <m:r>
                      <a:rPr lang="en-US" b="0" i="1" smtClean="0">
                        <a:latin typeface="Cambria Math" panose="02040503050406030204" pitchFamily="18" charset="0"/>
                      </a:rPr>
                      <m:t>𝜖</m:t>
                    </m:r>
                  </m:oMath>
                </a14:m>
                <a:r>
                  <a:rPr lang="en-US" dirty="0"/>
                  <a:t>-greedy policy where </a:t>
                </a:r>
                <a14:m>
                  <m:oMath xmlns:m="http://schemas.openxmlformats.org/officeDocument/2006/math">
                    <m:r>
                      <a:rPr lang="en-US" b="0" i="1" smtClean="0">
                        <a:latin typeface="Cambria Math" panose="02040503050406030204" pitchFamily="18" charset="0"/>
                      </a:rPr>
                      <m:t>𝜖</m:t>
                    </m:r>
                  </m:oMath>
                </a14:m>
                <a:r>
                  <a:rPr lang="en-US" dirty="0"/>
                  <a:t> is reduced over time. E.g.,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𝑡</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𝑡</m:t>
                        </m:r>
                      </m:den>
                    </m:f>
                  </m:oMath>
                </a14:m>
                <a:endParaRPr lang="en-US" dirty="0"/>
              </a:p>
            </p:txBody>
          </p:sp>
        </mc:Choice>
        <mc:Fallback xmlns="">
          <p:sp>
            <p:nvSpPr>
              <p:cNvPr id="3" name="Content Placeholder 2" descr="Issues:. On-policy MC control algorithms change the policy and average over returns from different policies. This could be a problem for convergence!. On-policy methods learn a soft policy which is crucial for exploration, but is not optimal. Practical GLIE Approximation:. Infinite exploration: Use many episodes and an epsilon -greedy policy for exploration. This will “wash out” early “bad” observations and makes sure every policy is considered. Greedy in the limit: Use an epsilon -greedy policy where epsilon is reduced over time. E.g., epsilon sub t equals 1 over t">
                <a:extLst>
                  <a:ext uri="{FF2B5EF4-FFF2-40B4-BE49-F238E27FC236}">
                    <a16:creationId xmlns:a16="http://schemas.microsoft.com/office/drawing/2014/main" id="{43DECDB7-7AA0-1233-4B62-A4FC8D424FF0}"/>
                  </a:ext>
                </a:extLst>
              </p:cNvPr>
              <p:cNvSpPr>
                <a:spLocks noGrp="1" noRot="1" noChangeAspect="1" noMove="1" noResize="1" noEditPoints="1" noAdjustHandles="1" noChangeArrowheads="1" noChangeShapeType="1" noTextEdit="1"/>
              </p:cNvSpPr>
              <p:nvPr>
                <p:ph idx="1"/>
              </p:nvPr>
            </p:nvSpPr>
            <p:spPr>
              <a:xfrm>
                <a:off x="838200" y="1397329"/>
                <a:ext cx="10515600" cy="5194453"/>
              </a:xfrm>
              <a:blipFill>
                <a:blip r:embed="rId2"/>
                <a:stretch>
                  <a:fillRect l="-638" t="-1995" r="-7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descr="GLIE Condition. Many on-policy control methods converge to the optimal deterministic policy if:. Infinite explorations: Every state-action pair is visited infinitely often. lim over t to infinity, of N sub t (s,a) equals infinity where N (times, times) is the visit count. Greedy in the limit: The policy becomes greedy with respect to Q over time. lim over t to infinity pi (argmax sub a (Q sub t (s,a),s)) equals 1">
                <a:extLst>
                  <a:ext uri="{FF2B5EF4-FFF2-40B4-BE49-F238E27FC236}">
                    <a16:creationId xmlns:a16="http://schemas.microsoft.com/office/drawing/2014/main" id="{57BE216A-DD30-7358-2C8B-8809C21F0C7B}"/>
                  </a:ext>
                </a:extLst>
              </p:cNvPr>
              <p:cNvSpPr txBox="1"/>
              <p:nvPr/>
            </p:nvSpPr>
            <p:spPr>
              <a:xfrm>
                <a:off x="1519474" y="2463123"/>
                <a:ext cx="9291234" cy="280307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pPr algn="ctr"/>
                <a:r>
                  <a:rPr lang="en-US" sz="2000" b="1" dirty="0"/>
                  <a:t>GLIE Condition</a:t>
                </a:r>
                <a:endParaRPr lang="en-US" sz="2000" dirty="0"/>
              </a:p>
              <a:p>
                <a:endParaRPr lang="en-US" dirty="0"/>
              </a:p>
              <a:p>
                <a:r>
                  <a:rPr lang="en-US" dirty="0"/>
                  <a:t>Many on-policy control methods converge to the optimal deterministic policy if:</a:t>
                </a:r>
              </a:p>
              <a:p>
                <a:endParaRPr lang="en-US" dirty="0"/>
              </a:p>
              <a:p>
                <a:pPr marL="342900" indent="-342900">
                  <a:buFont typeface="+mj-lt"/>
                  <a:buAutoNum type="arabicPeriod"/>
                </a:pPr>
                <a:r>
                  <a:rPr lang="en-US" b="1" dirty="0"/>
                  <a:t>Infinite explorations</a:t>
                </a:r>
                <a:r>
                  <a:rPr lang="en-US" dirty="0"/>
                  <a:t>: Every state-action pair is visited infinitely often.</a:t>
                </a:r>
                <a:br>
                  <a:rPr lang="en-US" dirty="0"/>
                </a:br>
                <a14:m>
                  <m:oMath xmlns:m="http://schemas.openxmlformats.org/officeDocument/2006/math">
                    <m:func>
                      <m:funcPr>
                        <m:ctrlPr>
                          <a:rPr lang="en-US" i="1" smtClean="0">
                            <a:latin typeface="Cambria Math" panose="02040503050406030204" pitchFamily="18" charset="0"/>
                          </a:rPr>
                        </m:ctrlPr>
                      </m:funcPr>
                      <m:fName>
                        <m:limLow>
                          <m:limLowPr>
                            <m:ctrlPr>
                              <a:rPr lang="en-US" i="0" smtClean="0">
                                <a:latin typeface="Cambria Math" panose="02040503050406030204" pitchFamily="18" charset="0"/>
                              </a:rPr>
                            </m:ctrlPr>
                          </m:limLowPr>
                          <m:e>
                            <m:r>
                              <m:rPr>
                                <m:sty m:val="p"/>
                              </m:rPr>
                              <a:rPr lang="en-US" i="0" smtClean="0">
                                <a:latin typeface="Cambria Math" panose="02040503050406030204" pitchFamily="18" charset="0"/>
                              </a:rPr>
                              <m:t>lim</m:t>
                            </m:r>
                          </m:e>
                          <m:lim>
                            <m:r>
                              <a:rPr lang="en-US" b="0" i="1" smtClean="0">
                                <a:latin typeface="Cambria Math" panose="02040503050406030204" pitchFamily="18" charset="0"/>
                              </a:rPr>
                              <m:t>𝑡</m:t>
                            </m:r>
                            <m:r>
                              <a:rPr lang="en-US" b="0" i="1" smtClean="0">
                                <a:latin typeface="Cambria Math" panose="02040503050406030204" pitchFamily="18" charset="0"/>
                              </a:rPr>
                              <m:t>→∞</m:t>
                            </m:r>
                          </m:lim>
                        </m:limLow>
                      </m:fNa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𝑡</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e>
                        </m:d>
                        <m:r>
                          <a:rPr lang="en-US" b="0" i="1" smtClean="0">
                            <a:latin typeface="Cambria Math" panose="02040503050406030204" pitchFamily="18" charset="0"/>
                          </a:rPr>
                          <m:t>=∞</m:t>
                        </m:r>
                      </m:e>
                    </m:func>
                    <m:r>
                      <a:rPr lang="en-US" b="0" i="1" smtClean="0">
                        <a:latin typeface="Cambria Math" panose="02040503050406030204" pitchFamily="18" charset="0"/>
                      </a:rPr>
                      <m:t>             </m:t>
                    </m:r>
                    <m:r>
                      <m:rPr>
                        <m:nor/>
                      </m:rPr>
                      <a:rPr lang="en-US" b="0" i="0" smtClean="0"/>
                      <m:t>where</m:t>
                    </m:r>
                    <m:r>
                      <m:rPr>
                        <m:nor/>
                      </m:rPr>
                      <a:rPr lang="en-US" b="0" i="0" smtClean="0">
                        <a:latin typeface="Cambria Math" panose="02040503050406030204" pitchFamily="18" charset="0"/>
                      </a:rPr>
                      <m:t> </m:t>
                    </m:r>
                    <m:r>
                      <a:rPr lang="en-US" b="0" i="1" smtClean="0">
                        <a:latin typeface="Cambria Math" panose="02040503050406030204" pitchFamily="18" charset="0"/>
                      </a:rPr>
                      <m:t>𝑁</m:t>
                    </m:r>
                    <m:d>
                      <m:dPr>
                        <m:ctrlPr>
                          <a:rPr lang="en-US" b="0" i="1" smtClean="0">
                            <a:latin typeface="Cambria Math" panose="02040503050406030204" pitchFamily="18" charset="0"/>
                          </a:rPr>
                        </m:ctrlPr>
                      </m:dPr>
                      <m:e>
                        <m:r>
                          <a:rPr lang="en-US" b="0" i="1" smtClean="0">
                            <a:latin typeface="Cambria Math" panose="02040503050406030204" pitchFamily="18" charset="0"/>
                          </a:rPr>
                          <m:t>⋅,⋅</m:t>
                        </m:r>
                      </m:e>
                    </m:d>
                    <m:r>
                      <a:rPr lang="en-US" b="0" i="1" smtClean="0">
                        <a:latin typeface="Cambria Math" panose="02040503050406030204" pitchFamily="18" charset="0"/>
                      </a:rPr>
                      <m:t> </m:t>
                    </m:r>
                    <m:r>
                      <m:rPr>
                        <m:nor/>
                      </m:rPr>
                      <a:rPr lang="en-US" b="0" i="0" smtClean="0"/>
                      <m:t>is the visit count</m:t>
                    </m:r>
                  </m:oMath>
                </a14:m>
                <a:br>
                  <a:rPr lang="en-US" dirty="0"/>
                </a:br>
                <a:endParaRPr lang="en-US" dirty="0"/>
              </a:p>
              <a:p>
                <a:pPr marL="342900" indent="-342900">
                  <a:buFont typeface="+mj-lt"/>
                  <a:buAutoNum type="arabicPeriod"/>
                </a:pPr>
                <a:endParaRPr lang="en-US" dirty="0"/>
              </a:p>
              <a:p>
                <a:pPr marL="342900" indent="-342900">
                  <a:buFont typeface="+mj-lt"/>
                  <a:buAutoNum type="arabicPeriod"/>
                </a:pPr>
                <a:r>
                  <a:rPr lang="en-US" b="1" dirty="0"/>
                  <a:t>Greedy in the limit</a:t>
                </a:r>
                <a:r>
                  <a:rPr lang="en-US" dirty="0"/>
                  <a:t>: The policy becomes greedy with respect to </a:t>
                </a:r>
                <a14:m>
                  <m:oMath xmlns:m="http://schemas.openxmlformats.org/officeDocument/2006/math">
                    <m:r>
                      <a:rPr lang="en-US" i="1" dirty="0" smtClean="0">
                        <a:latin typeface="Cambria Math" panose="02040503050406030204" pitchFamily="18" charset="0"/>
                      </a:rPr>
                      <m:t>𝑄</m:t>
                    </m:r>
                  </m:oMath>
                </a14:m>
                <a:r>
                  <a:rPr lang="en-US" dirty="0"/>
                  <a:t> over time.</a:t>
                </a:r>
                <a:br>
                  <a:rPr lang="en-US" dirty="0"/>
                </a:br>
                <a14:m>
                  <m:oMath xmlns:m="http://schemas.openxmlformats.org/officeDocument/2006/math">
                    <m:limLow>
                      <m:limLowPr>
                        <m:ctrlPr>
                          <a:rPr lang="en-US">
                            <a:latin typeface="Cambria Math" panose="02040503050406030204" pitchFamily="18" charset="0"/>
                          </a:rPr>
                        </m:ctrlPr>
                      </m:limLowPr>
                      <m:e>
                        <m:r>
                          <m:rPr>
                            <m:sty m:val="p"/>
                          </m:rPr>
                          <a:rPr lang="en-US">
                            <a:latin typeface="Cambria Math" panose="02040503050406030204" pitchFamily="18" charset="0"/>
                          </a:rPr>
                          <m:t>lim</m:t>
                        </m:r>
                      </m:e>
                      <m:lim>
                        <m:r>
                          <a:rPr lang="en-US" i="1">
                            <a:latin typeface="Cambria Math" panose="02040503050406030204" pitchFamily="18" charset="0"/>
                          </a:rPr>
                          <m:t>𝑡</m:t>
                        </m:r>
                        <m:r>
                          <a:rPr lang="en-US" i="1">
                            <a:latin typeface="Cambria Math" panose="02040503050406030204" pitchFamily="18" charset="0"/>
                          </a:rPr>
                          <m:t>→∞</m:t>
                        </m:r>
                      </m:lim>
                    </m:limLow>
                    <m:r>
                      <a:rPr lang="en-US" b="0" i="1" smtClean="0">
                        <a:latin typeface="Cambria Math" panose="02040503050406030204" pitchFamily="18" charset="0"/>
                      </a:rPr>
                      <m:t> </m:t>
                    </m:r>
                    <m:r>
                      <a:rPr lang="en-US" b="0" i="1" smtClean="0">
                        <a:latin typeface="Cambria Math" panose="02040503050406030204" pitchFamily="18" charset="0"/>
                      </a:rPr>
                      <m:t>𝜋</m:t>
                    </m:r>
                    <m:d>
                      <m:dPr>
                        <m:ctrlPr>
                          <a:rPr lang="en-US" b="0" i="0" smtClean="0">
                            <a:latin typeface="Cambria Math" panose="02040503050406030204" pitchFamily="18" charset="0"/>
                          </a:rPr>
                        </m:ctrlPr>
                      </m:dPr>
                      <m:e>
                        <m:r>
                          <m:rPr>
                            <m:nor/>
                          </m:rPr>
                          <a:rPr lang="en-US" b="0" i="0" smtClean="0">
                            <a:latin typeface="Cambria Math" panose="02040503050406030204" pitchFamily="18" charset="0"/>
                          </a:rPr>
                          <m:t>argma</m:t>
                        </m:r>
                        <m:sSub>
                          <m:sSubPr>
                            <m:ctrlPr>
                              <a:rPr lang="en-US" b="0" i="0" smtClean="0">
                                <a:latin typeface="Cambria Math" panose="02040503050406030204" pitchFamily="18" charset="0"/>
                              </a:rPr>
                            </m:ctrlPr>
                          </m:sSubPr>
                          <m:e>
                            <m:r>
                              <m:rPr>
                                <m:nor/>
                              </m:rPr>
                              <a:rPr lang="en-US" b="0" i="0" smtClean="0">
                                <a:latin typeface="Cambria Math" panose="02040503050406030204" pitchFamily="18" charset="0"/>
                              </a:rPr>
                              <m:t>x</m:t>
                            </m:r>
                          </m:e>
                          <m:sub>
                            <m:r>
                              <a:rPr lang="en-US" b="0" i="1" smtClean="0">
                                <a:latin typeface="Cambria Math" panose="02040503050406030204" pitchFamily="18" charset="0"/>
                              </a:rPr>
                              <m:t>𝑎</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𝑡</m:t>
                                </m:r>
                              </m:sub>
                            </m:sSub>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r>
                              <a:rPr lang="en-US" i="1">
                                <a:latin typeface="Cambria Math" panose="02040503050406030204" pitchFamily="18" charset="0"/>
                              </a:rPr>
                              <m:t>,</m:t>
                            </m:r>
                            <m:r>
                              <a:rPr lang="en-US" i="1">
                                <a:latin typeface="Cambria Math" panose="02040503050406030204" pitchFamily="18" charset="0"/>
                              </a:rPr>
                              <m:t>𝑠</m:t>
                            </m:r>
                          </m:e>
                        </m:d>
                      </m:e>
                    </m:d>
                    <m:r>
                      <a:rPr lang="en-US" b="0" i="1" smtClean="0">
                        <a:latin typeface="Cambria Math" panose="02040503050406030204" pitchFamily="18" charset="0"/>
                      </a:rPr>
                      <m:t>=1</m:t>
                    </m:r>
                  </m:oMath>
                </a14:m>
                <a:endParaRPr lang="en-US" dirty="0"/>
              </a:p>
            </p:txBody>
          </p:sp>
        </mc:Choice>
        <mc:Fallback xmlns="">
          <p:sp>
            <p:nvSpPr>
              <p:cNvPr id="5" name="TextBox 4" descr="GLIE Condition. Many on-policy control methods converge to the optimal deterministic policy if:. Infinite explorations: Every state-action pair is visited infinitely often. lim over t to infinity, of N sub t (s,a) equals infinity where N (times, times) is the visit count. Greedy in the limit: The policy becomes greedy with respect to Q over time. lim over t to infinity pi (argmax sub a (Q sub t (s,a),s)) equals 1">
                <a:extLst>
                  <a:ext uri="{FF2B5EF4-FFF2-40B4-BE49-F238E27FC236}">
                    <a16:creationId xmlns:a16="http://schemas.microsoft.com/office/drawing/2014/main" id="{57BE216A-DD30-7358-2C8B-8809C21F0C7B}"/>
                  </a:ext>
                </a:extLst>
              </p:cNvPr>
              <p:cNvSpPr txBox="1">
                <a:spLocks noRot="1" noChangeAspect="1" noMove="1" noResize="1" noEditPoints="1" noAdjustHandles="1" noChangeArrowheads="1" noChangeShapeType="1" noTextEdit="1"/>
              </p:cNvSpPr>
              <p:nvPr/>
            </p:nvSpPr>
            <p:spPr>
              <a:xfrm>
                <a:off x="1519474" y="2463123"/>
                <a:ext cx="9291234" cy="2803075"/>
              </a:xfrm>
              <a:prstGeom prst="rect">
                <a:avLst/>
              </a:prstGeom>
              <a:blipFill>
                <a:blip r:embed="rId3"/>
                <a:stretch>
                  <a:fillRect l="-524" t="-864"/>
                </a:stretch>
              </a:blipFill>
            </p:spPr>
            <p:txBody>
              <a:bodyPr/>
              <a:lstStyle/>
              <a:p>
                <a:r>
                  <a:rPr lang="en-US">
                    <a:noFill/>
                  </a:rPr>
                  <a:t> </a:t>
                </a:r>
              </a:p>
            </p:txBody>
          </p:sp>
        </mc:Fallback>
      </mc:AlternateContent>
    </p:spTree>
    <p:extLst>
      <p:ext uri="{BB962C8B-B14F-4D97-AF65-F5344CB8AC3E}">
        <p14:creationId xmlns:p14="http://schemas.microsoft.com/office/powerpoint/2010/main" val="604810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2" end="1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3" end="1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0DF3DF-CB27-AC0F-184E-D0D409D751F1}"/>
              </a:ext>
            </a:extLst>
          </p:cNvPr>
          <p:cNvSpPr>
            <a:spLocks noGrp="1"/>
          </p:cNvSpPr>
          <p:nvPr>
            <p:ph type="title"/>
          </p:nvPr>
        </p:nvSpPr>
        <p:spPr/>
        <p:txBody>
          <a:bodyPr/>
          <a:lstStyle/>
          <a:p>
            <a:r>
              <a:rPr lang="en-US" dirty="0"/>
              <a:t>Off-Policy Methods</a:t>
            </a:r>
          </a:p>
        </p:txBody>
      </p:sp>
      <p:sp>
        <p:nvSpPr>
          <p:cNvPr id="5" name="Text Placeholder 4">
            <a:extLst>
              <a:ext uri="{FF2B5EF4-FFF2-40B4-BE49-F238E27FC236}">
                <a16:creationId xmlns:a16="http://schemas.microsoft.com/office/drawing/2014/main" id="{C85F68E3-3923-0FEB-B7EA-D6D49A383D9C}"/>
              </a:ext>
            </a:extLst>
          </p:cNvPr>
          <p:cNvSpPr>
            <a:spLocks noGrp="1"/>
          </p:cNvSpPr>
          <p:nvPr>
            <p:ph type="body" idx="1"/>
          </p:nvPr>
        </p:nvSpPr>
        <p:spPr/>
        <p:txBody>
          <a:bodyPr/>
          <a:lstStyle/>
          <a:p>
            <a:r>
              <a:rPr lang="en-US" dirty="0"/>
              <a:t>Prediction and Control</a:t>
            </a:r>
          </a:p>
        </p:txBody>
      </p:sp>
    </p:spTree>
    <p:extLst>
      <p:ext uri="{BB962C8B-B14F-4D97-AF65-F5344CB8AC3E}">
        <p14:creationId xmlns:p14="http://schemas.microsoft.com/office/powerpoint/2010/main" val="15276507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4A77E-C2D2-5789-4FAE-05ABE93CF27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675D5B0-5654-A81D-8A68-AEC70CACB3FE}"/>
              </a:ext>
            </a:extLst>
          </p:cNvPr>
          <p:cNvSpPr>
            <a:spLocks noGrp="1"/>
          </p:cNvSpPr>
          <p:nvPr>
            <p:ph type="title"/>
          </p:nvPr>
        </p:nvSpPr>
        <p:spPr/>
        <p:txBody>
          <a:bodyPr/>
          <a:lstStyle/>
          <a:p>
            <a:r>
              <a:rPr lang="en-US" dirty="0"/>
              <a:t>Off-Policy Prediction</a:t>
            </a:r>
          </a:p>
        </p:txBody>
      </p:sp>
      <p:sp>
        <p:nvSpPr>
          <p:cNvPr id="5" name="Text Placeholder 4">
            <a:extLst>
              <a:ext uri="{FF2B5EF4-FFF2-40B4-BE49-F238E27FC236}">
                <a16:creationId xmlns:a16="http://schemas.microsoft.com/office/drawing/2014/main" id="{4A788028-5BE8-7906-CC19-8911BAE68D57}"/>
              </a:ext>
            </a:extLst>
          </p:cNvPr>
          <p:cNvSpPr>
            <a:spLocks noGrp="1"/>
          </p:cNvSpPr>
          <p:nvPr>
            <p:ph type="body" idx="1"/>
          </p:nvPr>
        </p:nvSpPr>
        <p:spPr/>
        <p:txBody>
          <a:bodyPr/>
          <a:lstStyle/>
          <a:p>
            <a:r>
              <a:rPr lang="en-US" dirty="0"/>
              <a:t>Estimate a value function for a policy different from the sampling policy.</a:t>
            </a:r>
          </a:p>
        </p:txBody>
      </p:sp>
    </p:spTree>
    <p:extLst>
      <p:ext uri="{BB962C8B-B14F-4D97-AF65-F5344CB8AC3E}">
        <p14:creationId xmlns:p14="http://schemas.microsoft.com/office/powerpoint/2010/main" val="34420838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E8CF2-8DE5-9B7D-7AF3-EA80269853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82DBE8-2332-5A39-4A92-5DA2F029E10A}"/>
              </a:ext>
            </a:extLst>
          </p:cNvPr>
          <p:cNvSpPr>
            <a:spLocks noGrp="1"/>
          </p:cNvSpPr>
          <p:nvPr>
            <p:ph type="title"/>
          </p:nvPr>
        </p:nvSpPr>
        <p:spPr/>
        <p:txBody>
          <a:bodyPr/>
          <a:lstStyle/>
          <a:p>
            <a:r>
              <a:rPr lang="en-US" dirty="0"/>
              <a:t>On-Policy vs. Off-Policy Control</a:t>
            </a:r>
          </a:p>
        </p:txBody>
      </p:sp>
      <mc:AlternateContent xmlns:mc="http://schemas.openxmlformats.org/markup-compatibility/2006" xmlns:a14="http://schemas.microsoft.com/office/drawing/2010/main">
        <mc:Choice Requires="a14">
          <p:sp>
            <p:nvSpPr>
              <p:cNvPr id="3" name="Content Placeholder 2" descr="On-policy: On-policy methods learn the policy they follow. These need to be exploring (soft). Off-policy: Use two policies. Target policy: learn pi, which will become an optimal deterministic policy. Behavior policy b : guarantees exploration with a soft policy. Called “off-policy” because the generated data follows a different policy than the learned target policy. Off-policy methods are typically:. - More complicated. - Converge slower. + Often more powerful. + Can be applied to data externally generated (e.g., a training data set). Note: On-policy learning is a special case of off-policy learning with b equals pi">
                <a:extLst>
                  <a:ext uri="{FF2B5EF4-FFF2-40B4-BE49-F238E27FC236}">
                    <a16:creationId xmlns:a16="http://schemas.microsoft.com/office/drawing/2014/main" id="{92C7C770-E6B2-BE73-039A-369B41BCA973}"/>
                  </a:ext>
                </a:extLst>
              </p:cNvPr>
              <p:cNvSpPr>
                <a:spLocks noGrp="1"/>
              </p:cNvSpPr>
              <p:nvPr>
                <p:ph idx="1"/>
              </p:nvPr>
            </p:nvSpPr>
            <p:spPr>
              <a:xfrm>
                <a:off x="838200" y="1236689"/>
                <a:ext cx="10515600" cy="5129387"/>
              </a:xfrm>
            </p:spPr>
            <p:txBody>
              <a:bodyPr>
                <a:normAutofit fontScale="70000" lnSpcReduction="20000"/>
              </a:bodyPr>
              <a:lstStyle/>
              <a:p>
                <a:pPr marL="457200" lvl="1" indent="0">
                  <a:buNone/>
                </a:pPr>
                <a:endParaRPr lang="en-US" dirty="0"/>
              </a:p>
              <a:p>
                <a:pPr marL="0" indent="0">
                  <a:buNone/>
                </a:pPr>
                <a:r>
                  <a:rPr lang="en-US" b="1" dirty="0"/>
                  <a:t>On-policy</a:t>
                </a:r>
                <a:r>
                  <a:rPr lang="en-US" dirty="0"/>
                  <a:t>: On-policy methods learn the policy they follow. These need to be exploring (soft).</a:t>
                </a:r>
              </a:p>
              <a:p>
                <a:endParaRPr lang="en-US" dirty="0"/>
              </a:p>
              <a:p>
                <a:pPr marL="0" indent="0">
                  <a:buNone/>
                </a:pPr>
                <a:r>
                  <a:rPr lang="en-US" b="1" dirty="0"/>
                  <a:t>Off-policy</a:t>
                </a:r>
                <a:r>
                  <a:rPr lang="en-US" dirty="0"/>
                  <a:t>: Use two policies</a:t>
                </a:r>
              </a:p>
              <a:p>
                <a:pPr lvl="1"/>
                <a:r>
                  <a:rPr lang="en-US" b="1" dirty="0"/>
                  <a:t>Target policy</a:t>
                </a:r>
                <a:r>
                  <a:rPr lang="en-US" dirty="0"/>
                  <a:t>: learn </a:t>
                </a:r>
                <a14:m>
                  <m:oMath xmlns:m="http://schemas.openxmlformats.org/officeDocument/2006/math">
                    <m:r>
                      <a:rPr lang="en-US" b="0" i="1" smtClean="0">
                        <a:latin typeface="Cambria Math" panose="02040503050406030204" pitchFamily="18" charset="0"/>
                      </a:rPr>
                      <m:t>𝜋</m:t>
                    </m:r>
                  </m:oMath>
                </a14:m>
                <a:r>
                  <a:rPr lang="en-US" dirty="0"/>
                  <a:t>, which will become an optimal deterministic policy.</a:t>
                </a:r>
              </a:p>
              <a:p>
                <a:pPr lvl="1"/>
                <a:r>
                  <a:rPr lang="en-US" b="1" dirty="0"/>
                  <a:t>Behavior policy </a:t>
                </a:r>
                <a14:m>
                  <m:oMath xmlns:m="http://schemas.openxmlformats.org/officeDocument/2006/math">
                    <m:r>
                      <a:rPr lang="en-US" b="0" i="1" smtClean="0">
                        <a:latin typeface="Cambria Math" panose="02040503050406030204" pitchFamily="18" charset="0"/>
                      </a:rPr>
                      <m:t>𝑏</m:t>
                    </m:r>
                  </m:oMath>
                </a14:m>
                <a:r>
                  <a:rPr lang="en-US" dirty="0"/>
                  <a:t>: guarantees exploration with a soft policy.</a:t>
                </a:r>
              </a:p>
              <a:p>
                <a:pPr marL="457200" lvl="1" indent="0">
                  <a:buNone/>
                </a:pPr>
                <a:endParaRPr lang="en-US" dirty="0"/>
              </a:p>
              <a:p>
                <a:r>
                  <a:rPr lang="en-US" dirty="0"/>
                  <a:t>Called “off-policy” because the generated data follows a different policy than the learned target policy.</a:t>
                </a:r>
              </a:p>
              <a:p>
                <a:endParaRPr lang="en-US" dirty="0"/>
              </a:p>
              <a:p>
                <a:r>
                  <a:rPr lang="en-US" dirty="0"/>
                  <a:t>Off-policy methods are typically:</a:t>
                </a:r>
              </a:p>
              <a:p>
                <a:pPr lvl="1"/>
                <a:r>
                  <a:rPr lang="en-US" dirty="0"/>
                  <a:t>- More complicated</a:t>
                </a:r>
              </a:p>
              <a:p>
                <a:pPr lvl="1"/>
                <a:r>
                  <a:rPr lang="en-US" dirty="0"/>
                  <a:t>- Converge slower</a:t>
                </a:r>
              </a:p>
              <a:p>
                <a:pPr lvl="1"/>
                <a:r>
                  <a:rPr lang="en-US" dirty="0"/>
                  <a:t>+ Often more powerful</a:t>
                </a:r>
              </a:p>
              <a:p>
                <a:pPr lvl="1"/>
                <a:r>
                  <a:rPr lang="en-US" dirty="0"/>
                  <a:t>+ Can be applied to data externally generated (e.g., a training data set).</a:t>
                </a:r>
              </a:p>
              <a:p>
                <a:pPr lvl="1"/>
                <a:endParaRPr lang="en-US" dirty="0"/>
              </a:p>
              <a:p>
                <a:pPr marL="0" indent="0">
                  <a:buNone/>
                </a:pPr>
                <a:r>
                  <a:rPr lang="en-US" b="1" dirty="0"/>
                  <a:t>Note</a:t>
                </a:r>
                <a:r>
                  <a:rPr lang="en-US" dirty="0"/>
                  <a:t>: On-policy learning is a special case of off-policy learning with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𝜋</m:t>
                    </m:r>
                  </m:oMath>
                </a14:m>
                <a:endParaRPr lang="en-US" dirty="0"/>
              </a:p>
            </p:txBody>
          </p:sp>
        </mc:Choice>
        <mc:Fallback xmlns="">
          <p:sp>
            <p:nvSpPr>
              <p:cNvPr id="3" name="Content Placeholder 2" descr="On-policy: On-policy methods learn the policy they follow. These need to be exploring (soft). Off-policy: Use two policies. Target policy: learn pi, which will become an optimal deterministic policy. Behavior policy b : guarantees exploration with a soft policy. Called “off-policy” because the generated data follows a different policy than the learned target policy. Off-policy methods are typically:. - More complicated. - Converge slower. + Often more powerful. + Can be applied to data externally generated (e.g., a training data set). Note: On-policy learning is a special case of off-policy learning with b equals pi">
                <a:extLst>
                  <a:ext uri="{FF2B5EF4-FFF2-40B4-BE49-F238E27FC236}">
                    <a16:creationId xmlns:a16="http://schemas.microsoft.com/office/drawing/2014/main" id="{92C7C770-E6B2-BE73-039A-369B41BCA973}"/>
                  </a:ext>
                </a:extLst>
              </p:cNvPr>
              <p:cNvSpPr>
                <a:spLocks noGrp="1" noRot="1" noChangeAspect="1" noMove="1" noResize="1" noEditPoints="1" noAdjustHandles="1" noChangeArrowheads="1" noChangeShapeType="1" noTextEdit="1"/>
              </p:cNvSpPr>
              <p:nvPr>
                <p:ph idx="1"/>
              </p:nvPr>
            </p:nvSpPr>
            <p:spPr>
              <a:xfrm>
                <a:off x="838200" y="1236689"/>
                <a:ext cx="10515600" cy="5129387"/>
              </a:xfrm>
              <a:blipFill>
                <a:blip r:embed="rId2"/>
                <a:stretch>
                  <a:fillRect l="-638"/>
                </a:stretch>
              </a:blipFill>
            </p:spPr>
            <p:txBody>
              <a:bodyPr/>
              <a:lstStyle/>
              <a:p>
                <a:r>
                  <a:rPr lang="en-US">
                    <a:noFill/>
                  </a:rPr>
                  <a:t> </a:t>
                </a:r>
              </a:p>
            </p:txBody>
          </p:sp>
        </mc:Fallback>
      </mc:AlternateContent>
    </p:spTree>
    <p:extLst>
      <p:ext uri="{BB962C8B-B14F-4D97-AF65-F5344CB8AC3E}">
        <p14:creationId xmlns:p14="http://schemas.microsoft.com/office/powerpoint/2010/main" val="1526452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3" end="1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367F2-824B-66B4-F5DA-53698C240DEA}"/>
              </a:ext>
            </a:extLst>
          </p:cNvPr>
          <p:cNvSpPr>
            <a:spLocks noGrp="1"/>
          </p:cNvSpPr>
          <p:nvPr>
            <p:ph type="title"/>
          </p:nvPr>
        </p:nvSpPr>
        <p:spPr/>
        <p:txBody>
          <a:bodyPr/>
          <a:lstStyle/>
          <a:p>
            <a:r>
              <a:rPr lang="en-US" dirty="0"/>
              <a:t>Off-Policy Prediction  </a:t>
            </a:r>
          </a:p>
        </p:txBody>
      </p:sp>
      <mc:AlternateContent xmlns:mc="http://schemas.openxmlformats.org/markup-compatibility/2006" xmlns:a14="http://schemas.microsoft.com/office/drawing/2010/main">
        <mc:Choice Requires="a14">
          <p:sp>
            <p:nvSpPr>
              <p:cNvPr id="3" name="Content Placeholder 2" descr="Goal: Estimate v sub pi or q sub pi given episodes generated with b is not equal to pi . Assumptions for Convergence:. b is fixed. Coverage: Every action taken under pi will occasionally also be taken under b. pi (a given s) is greater than 0 implies b (a given s) is greater than 0. That is, b needs to be stochastic (soft) for states where it differs from pi (typically b is epsilon -greedy). Issue: Returns and sample averages are valid for b but not for pi ! We need to correct them">
                <a:extLst>
                  <a:ext uri="{FF2B5EF4-FFF2-40B4-BE49-F238E27FC236}">
                    <a16:creationId xmlns:a16="http://schemas.microsoft.com/office/drawing/2014/main" id="{B269A0C7-966D-7B88-E622-3D38B5FC99AB}"/>
                  </a:ext>
                </a:extLst>
              </p:cNvPr>
              <p:cNvSpPr>
                <a:spLocks noGrp="1"/>
              </p:cNvSpPr>
              <p:nvPr>
                <p:ph idx="1"/>
              </p:nvPr>
            </p:nvSpPr>
            <p:spPr/>
            <p:txBody>
              <a:bodyPr>
                <a:normAutofit fontScale="92500" lnSpcReduction="20000"/>
              </a:bodyPr>
              <a:lstStyle/>
              <a:p>
                <a:r>
                  <a:rPr lang="en-US" b="1" dirty="0"/>
                  <a:t>Goal</a:t>
                </a:r>
                <a:r>
                  <a:rPr lang="en-US" dirty="0"/>
                  <a:t>: Estimate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𝜋</m:t>
                        </m:r>
                      </m:sub>
                    </m:sSub>
                  </m:oMath>
                </a14:m>
                <a:r>
                  <a:rPr lang="en-US" dirty="0"/>
                  <a:t> 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𝜋</m:t>
                        </m:r>
                      </m:sub>
                    </m:sSub>
                  </m:oMath>
                </a14:m>
                <a:r>
                  <a:rPr lang="en-US" dirty="0"/>
                  <a:t> given episodes generated with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𝜋</m:t>
                    </m:r>
                  </m:oMath>
                </a14:m>
                <a:r>
                  <a:rPr lang="en-US" dirty="0"/>
                  <a:t>.</a:t>
                </a:r>
              </a:p>
              <a:p>
                <a:endParaRPr lang="en-US" dirty="0"/>
              </a:p>
              <a:p>
                <a:r>
                  <a:rPr lang="en-US" b="1" dirty="0"/>
                  <a:t>Assumptions for Convergence</a:t>
                </a:r>
                <a:r>
                  <a:rPr lang="en-US" dirty="0"/>
                  <a:t>:</a:t>
                </a:r>
              </a:p>
              <a:p>
                <a:pPr lvl="1"/>
                <a14:m>
                  <m:oMath xmlns:m="http://schemas.openxmlformats.org/officeDocument/2006/math">
                    <m:r>
                      <a:rPr lang="en-US" i="1">
                        <a:latin typeface="Cambria Math" panose="02040503050406030204" pitchFamily="18" charset="0"/>
                      </a:rPr>
                      <m:t>𝑏</m:t>
                    </m:r>
                  </m:oMath>
                </a14:m>
                <a:r>
                  <a:rPr lang="en-US" dirty="0"/>
                  <a:t> is fixed.</a:t>
                </a:r>
              </a:p>
              <a:p>
                <a:pPr lvl="1"/>
                <a:r>
                  <a:rPr lang="en-US" b="1" dirty="0"/>
                  <a:t>Coverage</a:t>
                </a:r>
                <a:r>
                  <a:rPr lang="en-US" dirty="0"/>
                  <a:t>: Every action taken under </a:t>
                </a:r>
                <a14:m>
                  <m:oMath xmlns:m="http://schemas.openxmlformats.org/officeDocument/2006/math">
                    <m:r>
                      <a:rPr lang="en-US" b="0" i="1" smtClean="0">
                        <a:latin typeface="Cambria Math" panose="02040503050406030204" pitchFamily="18" charset="0"/>
                      </a:rPr>
                      <m:t>𝜋</m:t>
                    </m:r>
                  </m:oMath>
                </a14:m>
                <a:r>
                  <a:rPr lang="en-US" dirty="0"/>
                  <a:t> will occasionally also be taken under </a:t>
                </a:r>
                <a14:m>
                  <m:oMath xmlns:m="http://schemas.openxmlformats.org/officeDocument/2006/math">
                    <m:r>
                      <a:rPr lang="en-US" b="0" i="1" smtClean="0">
                        <a:latin typeface="Cambria Math" panose="02040503050406030204" pitchFamily="18" charset="0"/>
                      </a:rPr>
                      <m:t>𝑏</m:t>
                    </m:r>
                  </m:oMath>
                </a14:m>
                <a:endParaRPr lang="en-US" dirty="0"/>
              </a:p>
              <a:p>
                <a:pPr lvl="1"/>
                <a:endParaRPr lang="en-US" dirty="0"/>
              </a:p>
              <a:p>
                <a:pPr marL="0" indent="0">
                  <a:buNone/>
                </a:pPr>
                <a14:m>
                  <m:oMathPara xmlns:m="http://schemas.openxmlformats.org/officeDocument/2006/math">
                    <m:oMath>
                      <m:r>
                        <a:rPr lang="en-US" b="0" i="1" smtClean="0">
                          <a:latin typeface="Cambria Math" panose="02040503050406030204" pitchFamily="18" charset="0"/>
                        </a:rPr>
                        <m:t>𝜋</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e>
                        <m:e>
                          <m:r>
                            <a:rPr lang="en-US" b="0" i="1" smtClean="0">
                              <a:latin typeface="Cambria Math" panose="02040503050406030204" pitchFamily="18" charset="0"/>
                            </a:rPr>
                            <m:t>𝑠</m:t>
                          </m:r>
                        </m:e>
                      </m:d>
                      <m:r>
                        <a:rPr lang="en-US" b="0" i="1" smtClean="0">
                          <a:latin typeface="Cambria Math" panose="02040503050406030204" pitchFamily="18" charset="0"/>
                        </a:rPr>
                        <m:t>&gt;0⇒</m:t>
                      </m:r>
                      <m:r>
                        <a:rPr lang="en-US" b="0" i="1" smtClean="0">
                          <a:latin typeface="Cambria Math" panose="02040503050406030204" pitchFamily="18" charset="0"/>
                        </a:rPr>
                        <m:t>𝑏</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e>
                        <m:e>
                          <m:r>
                            <a:rPr lang="en-US" b="0" i="1" smtClean="0">
                              <a:latin typeface="Cambria Math" panose="02040503050406030204" pitchFamily="18" charset="0"/>
                            </a:rPr>
                            <m:t>𝑠</m:t>
                          </m:r>
                        </m:e>
                      </m:d>
                      <m:r>
                        <a:rPr lang="en-US" b="0" i="1" smtClean="0">
                          <a:latin typeface="Cambria Math" panose="02040503050406030204" pitchFamily="18" charset="0"/>
                        </a:rPr>
                        <m:t>&gt;0</m:t>
                      </m:r>
                    </m:oMath>
                  </m:oMathPara>
                </a14:m>
                <a:endParaRPr lang="en-US" dirty="0"/>
              </a:p>
              <a:p>
                <a:pPr lvl="1"/>
                <a:endParaRPr lang="en-US" dirty="0"/>
              </a:p>
              <a:p>
                <a:pPr lvl="1"/>
                <a:r>
                  <a:rPr lang="en-US" dirty="0"/>
                  <a:t>That is</a:t>
                </a:r>
                <a:r>
                  <a:rPr lang="en-US" b="0" dirty="0"/>
                  <a:t>, </a:t>
                </a:r>
                <a14:m>
                  <m:oMath xmlns:m="http://schemas.openxmlformats.org/officeDocument/2006/math">
                    <m:r>
                      <a:rPr lang="en-US" b="0" i="1" smtClean="0">
                        <a:latin typeface="Cambria Math" panose="02040503050406030204" pitchFamily="18" charset="0"/>
                      </a:rPr>
                      <m:t>𝑏</m:t>
                    </m:r>
                  </m:oMath>
                </a14:m>
                <a:r>
                  <a:rPr lang="en-US" dirty="0"/>
                  <a:t> needs to be stochastic (soft) for states where it differs from </a:t>
                </a:r>
                <a14:m>
                  <m:oMath xmlns:m="http://schemas.openxmlformats.org/officeDocument/2006/math">
                    <m:r>
                      <a:rPr lang="en-US" b="0" i="1" smtClean="0">
                        <a:latin typeface="Cambria Math" panose="02040503050406030204" pitchFamily="18" charset="0"/>
                      </a:rPr>
                      <m:t>𝜋</m:t>
                    </m:r>
                  </m:oMath>
                </a14:m>
                <a:r>
                  <a:rPr lang="en-US" dirty="0"/>
                  <a:t> (typically </a:t>
                </a:r>
                <a14:m>
                  <m:oMath xmlns:m="http://schemas.openxmlformats.org/officeDocument/2006/math">
                    <m:r>
                      <a:rPr lang="en-US" b="0" i="1" smtClean="0">
                        <a:latin typeface="Cambria Math" panose="02040503050406030204" pitchFamily="18" charset="0"/>
                      </a:rPr>
                      <m:t>𝑏</m:t>
                    </m:r>
                  </m:oMath>
                </a14:m>
                <a:r>
                  <a:rPr lang="en-US" dirty="0"/>
                  <a:t> is </a:t>
                </a:r>
                <a14:m>
                  <m:oMath xmlns:m="http://schemas.openxmlformats.org/officeDocument/2006/math">
                    <m:r>
                      <a:rPr lang="en-US" b="0" i="1" smtClean="0">
                        <a:latin typeface="Cambria Math" panose="02040503050406030204" pitchFamily="18" charset="0"/>
                      </a:rPr>
                      <m:t>𝜖</m:t>
                    </m:r>
                  </m:oMath>
                </a14:m>
                <a:r>
                  <a:rPr lang="en-US" dirty="0"/>
                  <a:t>-greedy)</a:t>
                </a:r>
              </a:p>
              <a:p>
                <a:endParaRPr lang="en-US" dirty="0"/>
              </a:p>
              <a:p>
                <a:r>
                  <a:rPr lang="en-US" b="1" dirty="0"/>
                  <a:t>Issue</a:t>
                </a:r>
                <a:r>
                  <a:rPr lang="en-US" dirty="0"/>
                  <a:t>: Returns and sample averages are valid for </a:t>
                </a:r>
                <a14:m>
                  <m:oMath xmlns:m="http://schemas.openxmlformats.org/officeDocument/2006/math">
                    <m:r>
                      <a:rPr lang="en-US" b="0" i="1" smtClean="0">
                        <a:latin typeface="Cambria Math" panose="02040503050406030204" pitchFamily="18" charset="0"/>
                      </a:rPr>
                      <m:t>𝑏</m:t>
                    </m:r>
                  </m:oMath>
                </a14:m>
                <a:r>
                  <a:rPr lang="en-US" dirty="0"/>
                  <a:t> but not for </a:t>
                </a:r>
                <a14:m>
                  <m:oMath xmlns:m="http://schemas.openxmlformats.org/officeDocument/2006/math">
                    <m:r>
                      <a:rPr lang="en-US" b="0" i="1" smtClean="0">
                        <a:latin typeface="Cambria Math" panose="02040503050406030204" pitchFamily="18" charset="0"/>
                      </a:rPr>
                      <m:t>𝜋</m:t>
                    </m:r>
                  </m:oMath>
                </a14:m>
                <a:r>
                  <a:rPr lang="en-US" dirty="0"/>
                  <a:t>! We need to correct them.</a:t>
                </a:r>
              </a:p>
            </p:txBody>
          </p:sp>
        </mc:Choice>
        <mc:Fallback xmlns="">
          <p:sp>
            <p:nvSpPr>
              <p:cNvPr id="3" name="Content Placeholder 2" descr="Goal: Estimate v sub pi or q sub pi given episodes generated with b is not equal to pi . Assumptions for Convergence:. b is fixed. Coverage: Every action taken under pi will occasionally also be taken under b. pi (a given s) is greater than 0 implies b (a given s) is greater than 0. That is, b needs to be stochastic (soft) for states where it differs from pi (typically b is epsilon -greedy). Issue: Returns and sample averages are valid for b but not for pi ! We need to correct them">
                <a:extLst>
                  <a:ext uri="{FF2B5EF4-FFF2-40B4-BE49-F238E27FC236}">
                    <a16:creationId xmlns:a16="http://schemas.microsoft.com/office/drawing/2014/main" id="{B269A0C7-966D-7B88-E622-3D38B5FC99AB}"/>
                  </a:ext>
                </a:extLst>
              </p:cNvPr>
              <p:cNvSpPr>
                <a:spLocks noGrp="1" noRot="1" noChangeAspect="1" noMove="1" noResize="1" noEditPoints="1" noAdjustHandles="1" noChangeArrowheads="1" noChangeShapeType="1" noTextEdit="1"/>
              </p:cNvSpPr>
              <p:nvPr>
                <p:ph idx="1"/>
              </p:nvPr>
            </p:nvSpPr>
            <p:spPr>
              <a:blipFill>
                <a:blip r:embed="rId2"/>
                <a:stretch>
                  <a:fillRect l="-928" t="-3189" r="-522"/>
                </a:stretch>
              </a:blipFill>
            </p:spPr>
            <p:txBody>
              <a:bodyPr/>
              <a:lstStyle/>
              <a:p>
                <a:r>
                  <a:rPr lang="en-US">
                    <a:noFill/>
                  </a:rPr>
                  <a:t> </a:t>
                </a:r>
              </a:p>
            </p:txBody>
          </p:sp>
        </mc:Fallback>
      </mc:AlternateContent>
    </p:spTree>
    <p:extLst>
      <p:ext uri="{BB962C8B-B14F-4D97-AF65-F5344CB8AC3E}">
        <p14:creationId xmlns:p14="http://schemas.microsoft.com/office/powerpoint/2010/main" val="36544559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7F096-7449-FAFB-94B3-93534D791DF3}"/>
              </a:ext>
            </a:extLst>
          </p:cNvPr>
          <p:cNvSpPr>
            <a:spLocks noGrp="1"/>
          </p:cNvSpPr>
          <p:nvPr>
            <p:ph type="title"/>
          </p:nvPr>
        </p:nvSpPr>
        <p:spPr/>
        <p:txBody>
          <a:bodyPr/>
          <a:lstStyle/>
          <a:p>
            <a:r>
              <a:rPr lang="en-US" dirty="0"/>
              <a:t>Importance Sampling</a:t>
            </a:r>
          </a:p>
        </p:txBody>
      </p:sp>
      <mc:AlternateContent xmlns:mc="http://schemas.openxmlformats.org/markup-compatibility/2006" xmlns:a14="http://schemas.microsoft.com/office/drawing/2010/main">
        <mc:Choice Requires="a14">
          <p:sp>
            <p:nvSpPr>
              <p:cNvPr id="3" name="Content Placeholder 2" descr="Importance sampling is a method to estimate the expected values under a desired distribution, given samples from another distribution. Expectation under desired distribution: E sub pi (G sub t given S sub t equals s). Observed expectation from sampled distribution: E sub b (G sub t given S sub t equals s). Idea: correct returns observed under b to estimate returns for pi. Probability of a trajectory starting at S sub t under pi. Pr of {A sub t,S sub t plus 1,A sub t plus 1, dot dot dot,A sub T minus 1, S sub T given S sub t, A sub t:T minus 1, ~ pi} equals the product over k equals t to T minus 1, of pi (A sub k given S sub k) p(S sub k plus 1, given S sub k,A sub k). Importance sampling ratio: How much more likely are the remaining actions in the sequence chosen under 𝜋 than under 𝑏:. rho sub t:T minus 1, is defined as the fraction the product over k minus t to T minus 1, of pi (A sub k given S sub k) p (S sub k plus 1, given S sub k,A sub k), over the product over k minus t to T minus 1, of b (A sub k given S sub k) p (S sub k plus 1, given S sub k,A sub k), end fraction equals the product over k equals t to T minus 1, of the fraction pi (A sub k given S sub k), over b (A sub k given S sub k), end fraction. Now we get:. v sub pi (s) equals E sub pi (G sub t given S sub t equals s) equals E sub b [rho sub t:T minus 1, G sub t given S sub t equals s]. Note: We only get rho sub t:T minus 1, is greater than 0 when all A sub k chosen by b have a pi (A sub k given S sub k) is greater than 0 !">
                <a:extLst>
                  <a:ext uri="{FF2B5EF4-FFF2-40B4-BE49-F238E27FC236}">
                    <a16:creationId xmlns:a16="http://schemas.microsoft.com/office/drawing/2014/main" id="{6C1A07B9-CE87-BFDE-9DAE-A426D8976671}"/>
                  </a:ext>
                </a:extLst>
              </p:cNvPr>
              <p:cNvSpPr>
                <a:spLocks noGrp="1"/>
              </p:cNvSpPr>
              <p:nvPr>
                <p:ph idx="1"/>
              </p:nvPr>
            </p:nvSpPr>
            <p:spPr>
              <a:xfrm>
                <a:off x="838200" y="1201878"/>
                <a:ext cx="10515600" cy="4779633"/>
              </a:xfrm>
            </p:spPr>
            <p:txBody>
              <a:bodyPr>
                <a:noAutofit/>
              </a:bodyPr>
              <a:lstStyle/>
              <a:p>
                <a:r>
                  <a:rPr lang="en-US" sz="1600" b="1" dirty="0"/>
                  <a:t>Importance sampling </a:t>
                </a:r>
                <a:r>
                  <a:rPr lang="en-US" sz="1600" dirty="0"/>
                  <a:t>is a method to estimate the expected values under a desired distribution, given samples from another distribution </a:t>
                </a:r>
              </a:p>
              <a:p>
                <a:pPr lvl="1"/>
                <a:r>
                  <a:rPr lang="en-US" sz="1600" dirty="0"/>
                  <a:t>Expectation under desired distribution: </a:t>
                </a:r>
                <a14:m>
                  <m:oMath xmlns:m="http://schemas.openxmlformats.org/officeDocument/2006/math">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𝔼</m:t>
                        </m:r>
                      </m:e>
                      <m:sub>
                        <m:r>
                          <a:rPr lang="en-US" sz="1600" i="1">
                            <a:latin typeface="Cambria Math" panose="02040503050406030204" pitchFamily="18" charset="0"/>
                            <a:ea typeface="Cambria Math" panose="02040503050406030204" pitchFamily="18" charset="0"/>
                          </a:rPr>
                          <m:t>𝜋</m:t>
                        </m:r>
                      </m:sub>
                    </m:sSub>
                    <m:d>
                      <m:dPr>
                        <m:ctrlPr>
                          <a:rPr lang="en-US" sz="1600" i="1">
                            <a:latin typeface="Cambria Math" panose="02040503050406030204" pitchFamily="18" charset="0"/>
                            <a:ea typeface="Cambria Math" panose="02040503050406030204" pitchFamily="18" charset="0"/>
                          </a:rPr>
                        </m:ctrlPr>
                      </m:dPr>
                      <m:e>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𝐺</m:t>
                            </m:r>
                          </m:e>
                          <m:sub>
                            <m:r>
                              <a:rPr lang="en-US" sz="1600" i="1">
                                <a:latin typeface="Cambria Math" panose="02040503050406030204" pitchFamily="18" charset="0"/>
                                <a:ea typeface="Cambria Math" panose="02040503050406030204" pitchFamily="18" charset="0"/>
                              </a:rPr>
                              <m:t>𝑡</m:t>
                            </m:r>
                          </m:sub>
                        </m:sSub>
                        <m:r>
                          <a:rPr lang="en-US" sz="1600" i="1">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𝑆</m:t>
                            </m:r>
                          </m:e>
                          <m:sub>
                            <m:r>
                              <a:rPr lang="en-US" sz="1600" i="1">
                                <a:latin typeface="Cambria Math" panose="02040503050406030204" pitchFamily="18" charset="0"/>
                                <a:ea typeface="Cambria Math" panose="02040503050406030204" pitchFamily="18" charset="0"/>
                              </a:rPr>
                              <m:t>𝑡</m:t>
                            </m:r>
                          </m:sub>
                        </m:sSub>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𝑠</m:t>
                        </m:r>
                      </m:e>
                    </m:d>
                  </m:oMath>
                </a14:m>
                <a:endParaRPr lang="en-US" sz="1600" dirty="0"/>
              </a:p>
              <a:p>
                <a:pPr lvl="1"/>
                <a:r>
                  <a:rPr lang="en-US" sz="1600" dirty="0"/>
                  <a:t>Observed expectation from sampled distribution: </a:t>
                </a:r>
                <a14:m>
                  <m:oMath xmlns:m="http://schemas.openxmlformats.org/officeDocument/2006/math">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𝔼</m:t>
                        </m:r>
                      </m:e>
                      <m:sub>
                        <m:r>
                          <a:rPr lang="en-US" sz="1600" b="0" i="1" smtClean="0">
                            <a:latin typeface="Cambria Math" panose="02040503050406030204" pitchFamily="18" charset="0"/>
                            <a:ea typeface="Cambria Math" panose="02040503050406030204" pitchFamily="18" charset="0"/>
                          </a:rPr>
                          <m:t>𝑏</m:t>
                        </m:r>
                      </m:sub>
                    </m:sSub>
                    <m:d>
                      <m:dPr>
                        <m:ctrlPr>
                          <a:rPr lang="en-US" sz="1600" i="1">
                            <a:latin typeface="Cambria Math" panose="02040503050406030204" pitchFamily="18" charset="0"/>
                            <a:ea typeface="Cambria Math" panose="02040503050406030204" pitchFamily="18" charset="0"/>
                          </a:rPr>
                        </m:ctrlPr>
                      </m:dPr>
                      <m:e>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𝐺</m:t>
                            </m:r>
                          </m:e>
                          <m:sub>
                            <m:r>
                              <a:rPr lang="en-US" sz="1600" i="1">
                                <a:latin typeface="Cambria Math" panose="02040503050406030204" pitchFamily="18" charset="0"/>
                                <a:ea typeface="Cambria Math" panose="02040503050406030204" pitchFamily="18" charset="0"/>
                              </a:rPr>
                              <m:t>𝑡</m:t>
                            </m:r>
                          </m:sub>
                        </m:sSub>
                        <m:r>
                          <a:rPr lang="en-US" sz="1600" i="1">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𝑆</m:t>
                            </m:r>
                          </m:e>
                          <m:sub>
                            <m:r>
                              <a:rPr lang="en-US" sz="1600" i="1">
                                <a:latin typeface="Cambria Math" panose="02040503050406030204" pitchFamily="18" charset="0"/>
                                <a:ea typeface="Cambria Math" panose="02040503050406030204" pitchFamily="18" charset="0"/>
                              </a:rPr>
                              <m:t>𝑡</m:t>
                            </m:r>
                          </m:sub>
                        </m:sSub>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𝑠</m:t>
                        </m:r>
                      </m:e>
                    </m:d>
                  </m:oMath>
                </a14:m>
                <a:endParaRPr lang="en-US" sz="1200" dirty="0"/>
              </a:p>
              <a:p>
                <a:r>
                  <a:rPr lang="en-US" sz="1600" b="1" dirty="0"/>
                  <a:t>Idea</a:t>
                </a:r>
                <a:r>
                  <a:rPr lang="en-US" sz="1600" dirty="0"/>
                  <a:t>: correct returns observed under </a:t>
                </a:r>
                <a14:m>
                  <m:oMath xmlns:m="http://schemas.openxmlformats.org/officeDocument/2006/math">
                    <m:r>
                      <a:rPr lang="en-US" sz="1600" b="0" i="1" smtClean="0">
                        <a:latin typeface="Cambria Math" panose="02040503050406030204" pitchFamily="18" charset="0"/>
                      </a:rPr>
                      <m:t>𝑏</m:t>
                    </m:r>
                  </m:oMath>
                </a14:m>
                <a:r>
                  <a:rPr lang="en-US" sz="1600" dirty="0"/>
                  <a:t> to estimate returns for </a:t>
                </a:r>
                <a14:m>
                  <m:oMath xmlns:m="http://schemas.openxmlformats.org/officeDocument/2006/math">
                    <m:r>
                      <a:rPr lang="en-US" sz="1600" b="0" i="1" smtClean="0">
                        <a:latin typeface="Cambria Math" panose="02040503050406030204" pitchFamily="18" charset="0"/>
                      </a:rPr>
                      <m:t>𝜋</m:t>
                    </m:r>
                  </m:oMath>
                </a14:m>
                <a:endParaRPr lang="en-US" sz="1600" dirty="0"/>
              </a:p>
              <a:p>
                <a:endParaRPr lang="en-US" sz="1600" dirty="0"/>
              </a:p>
              <a:p>
                <a:r>
                  <a:rPr lang="en-US" sz="1600" dirty="0"/>
                  <a:t>Probability of a trajectory starting at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𝑆</m:t>
                        </m:r>
                      </m:e>
                      <m:sub>
                        <m:r>
                          <a:rPr lang="en-US" sz="1600" b="0" i="1" smtClean="0">
                            <a:latin typeface="Cambria Math" panose="02040503050406030204" pitchFamily="18" charset="0"/>
                          </a:rPr>
                          <m:t>𝑡</m:t>
                        </m:r>
                      </m:sub>
                    </m:sSub>
                  </m:oMath>
                </a14:m>
                <a:r>
                  <a:rPr lang="en-US" sz="1600" dirty="0"/>
                  <a:t> under </a:t>
                </a:r>
                <a14:m>
                  <m:oMath xmlns:m="http://schemas.openxmlformats.org/officeDocument/2006/math">
                    <m:r>
                      <a:rPr lang="en-US" sz="1600" b="0" i="1" smtClean="0">
                        <a:latin typeface="Cambria Math" panose="02040503050406030204" pitchFamily="18" charset="0"/>
                      </a:rPr>
                      <m:t>𝜋</m:t>
                    </m:r>
                  </m:oMath>
                </a14:m>
                <a:endParaRPr lang="en-US" sz="1600" b="0" dirty="0"/>
              </a:p>
              <a:p>
                <a:pPr marL="0" indent="0">
                  <a:buNone/>
                </a:pPr>
                <a14:m>
                  <m:oMathPara xmlns:m="http://schemas.openxmlformats.org/officeDocument/2006/math">
                    <m:oMath>
                      <m:func>
                        <m:funcPr>
                          <m:ctrlPr>
                            <a:rPr lang="en-US" sz="1600" b="0" i="0" smtClean="0">
                              <a:latin typeface="Cambria Math" panose="02040503050406030204" pitchFamily="18" charset="0"/>
                            </a:rPr>
                          </m:ctrlPr>
                        </m:funcPr>
                        <m:fName>
                          <m:r>
                            <m:rPr>
                              <m:sty m:val="p"/>
                            </m:rPr>
                            <a:rPr lang="en-US" sz="1600" b="0" i="0" smtClean="0">
                              <a:latin typeface="Cambria Math" panose="02040503050406030204" pitchFamily="18" charset="0"/>
                            </a:rPr>
                            <m:t>Pr</m:t>
                          </m:r>
                        </m:fName>
                        <m:e>
                          <m:d>
                            <m:dPr>
                              <m:begChr m:val="{"/>
                              <m:endChr m:val="}"/>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𝐴</m:t>
                                  </m:r>
                                </m:e>
                                <m:sub>
                                  <m:r>
                                    <a:rPr lang="en-US" sz="1600" b="0" i="1" smtClean="0">
                                      <a:latin typeface="Cambria Math" panose="02040503050406030204" pitchFamily="18" charset="0"/>
                                    </a:rPr>
                                    <m:t>𝑡</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𝑆</m:t>
                                  </m:r>
                                </m:e>
                                <m:sub>
                                  <m:r>
                                    <a:rPr lang="en-US" sz="1600" b="0" i="1" smtClean="0">
                                      <a:latin typeface="Cambria Math" panose="02040503050406030204" pitchFamily="18" charset="0"/>
                                    </a:rPr>
                                    <m:t>𝑡</m:t>
                                  </m:r>
                                  <m:r>
                                    <a:rPr lang="en-US" sz="1600" b="0" i="1" smtClean="0">
                                      <a:latin typeface="Cambria Math" panose="02040503050406030204" pitchFamily="18" charset="0"/>
                                    </a:rPr>
                                    <m:t>+1</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𝐴</m:t>
                                  </m:r>
                                </m:e>
                                <m:sub>
                                  <m:r>
                                    <a:rPr lang="en-US" sz="1600" b="0" i="1" smtClean="0">
                                      <a:latin typeface="Cambria Math" panose="02040503050406030204" pitchFamily="18" charset="0"/>
                                    </a:rPr>
                                    <m:t>𝑡</m:t>
                                  </m:r>
                                  <m:r>
                                    <a:rPr lang="en-US" sz="1600" b="0" i="1" smtClean="0">
                                      <a:latin typeface="Cambria Math" panose="02040503050406030204" pitchFamily="18" charset="0"/>
                                    </a:rPr>
                                    <m:t>+1</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𝐴</m:t>
                                      </m:r>
                                    </m:e>
                                    <m:sub>
                                      <m:r>
                                        <a:rPr lang="en-US" sz="1600" b="0" i="1" smtClean="0">
                                          <a:latin typeface="Cambria Math" panose="02040503050406030204" pitchFamily="18" charset="0"/>
                                        </a:rPr>
                                        <m:t>𝑇</m:t>
                                      </m:r>
                                      <m:r>
                                        <a:rPr lang="en-US" sz="1600" b="0" i="1" smtClean="0">
                                          <a:latin typeface="Cambria Math" panose="02040503050406030204" pitchFamily="18" charset="0"/>
                                        </a:rPr>
                                        <m:t>−1, </m:t>
                                      </m:r>
                                    </m:sub>
                                  </m:sSub>
                                  <m:r>
                                    <a:rPr lang="en-US" sz="1600" b="0" i="1" smtClean="0">
                                      <a:latin typeface="Cambria Math" panose="02040503050406030204" pitchFamily="18" charset="0"/>
                                    </a:rPr>
                                    <m:t>𝑆</m:t>
                                  </m:r>
                                </m:e>
                                <m:sub>
                                  <m:r>
                                    <a:rPr lang="en-US" sz="1600" b="0" i="1" smtClean="0">
                                      <a:latin typeface="Cambria Math" panose="02040503050406030204" pitchFamily="18" charset="0"/>
                                    </a:rPr>
                                    <m:t>𝑇</m:t>
                                  </m:r>
                                </m:sub>
                              </m:sSub>
                            </m:e>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𝑆</m:t>
                                  </m:r>
                                </m:e>
                                <m:sub>
                                  <m:r>
                                    <a:rPr lang="en-US" sz="1600" b="0" i="1" smtClean="0">
                                      <a:latin typeface="Cambria Math" panose="02040503050406030204" pitchFamily="18" charset="0"/>
                                    </a:rPr>
                                    <m:t>𝑡</m:t>
                                  </m:r>
                                </m:sub>
                              </m:sSub>
                              <m:r>
                                <a:rPr lang="en-US" sz="1600" b="0" i="1" smtClean="0">
                                  <a:latin typeface="Cambria Math" panose="02040503050406030204" pitchFamily="18" charset="0"/>
                                </a:rPr>
                                <m:t>, </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𝐴</m:t>
                                  </m:r>
                                </m:e>
                                <m:sub>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𝑇</m:t>
                                  </m:r>
                                  <m:r>
                                    <a:rPr lang="en-US" sz="1600" b="0" i="1" smtClean="0">
                                      <a:latin typeface="Cambria Math" panose="02040503050406030204" pitchFamily="18" charset="0"/>
                                    </a:rPr>
                                    <m:t>−1</m:t>
                                  </m:r>
                                </m:sub>
                              </m:sSub>
                              <m:r>
                                <a:rPr lang="en-US" sz="1600" b="0" i="1" smtClean="0">
                                  <a:latin typeface="Cambria Math" panose="02040503050406030204" pitchFamily="18" charset="0"/>
                                </a:rPr>
                                <m:t>~</m:t>
                              </m:r>
                              <m:r>
                                <a:rPr lang="en-US" sz="1600" b="0" i="1" smtClean="0">
                                  <a:latin typeface="Cambria Math" panose="02040503050406030204" pitchFamily="18" charset="0"/>
                                </a:rPr>
                                <m:t>𝜋</m:t>
                              </m:r>
                            </m:e>
                          </m:d>
                        </m:e>
                      </m:func>
                      <m:r>
                        <a:rPr lang="en-US" sz="1600" b="0" i="1" smtClean="0">
                          <a:latin typeface="Cambria Math" panose="02040503050406030204" pitchFamily="18" charset="0"/>
                        </a:rPr>
                        <m:t>=</m:t>
                      </m:r>
                      <m:nary>
                        <m:naryPr>
                          <m:chr m:val="∏"/>
                          <m:ctrlPr>
                            <a:rPr lang="en-US" sz="1600" b="0" i="1" smtClean="0">
                              <a:latin typeface="Cambria Math" panose="02040503050406030204" pitchFamily="18" charset="0"/>
                            </a:rPr>
                          </m:ctrlPr>
                        </m:naryPr>
                        <m:sub>
                          <m:r>
                            <m:rPr>
                              <m:brk m:alnAt="23"/>
                            </m:rPr>
                            <a:rPr lang="en-US" sz="1600" b="0" i="1" smtClean="0">
                              <a:latin typeface="Cambria Math" panose="02040503050406030204" pitchFamily="18" charset="0"/>
                            </a:rPr>
                            <m:t>𝑘</m:t>
                          </m:r>
                          <m:r>
                            <a:rPr lang="en-US" sz="1600" b="0" i="1" smtClean="0">
                              <a:latin typeface="Cambria Math" panose="02040503050406030204" pitchFamily="18" charset="0"/>
                            </a:rPr>
                            <m:t>=</m:t>
                          </m:r>
                          <m:r>
                            <a:rPr lang="en-US" sz="1600" b="0" i="1" smtClean="0">
                              <a:latin typeface="Cambria Math" panose="02040503050406030204" pitchFamily="18" charset="0"/>
                            </a:rPr>
                            <m:t>𝑡</m:t>
                          </m:r>
                        </m:sub>
                        <m:sup>
                          <m:r>
                            <a:rPr lang="en-US" sz="1600" b="0" i="1" smtClean="0">
                              <a:latin typeface="Cambria Math" panose="02040503050406030204" pitchFamily="18" charset="0"/>
                            </a:rPr>
                            <m:t>𝑇</m:t>
                          </m:r>
                          <m:r>
                            <a:rPr lang="en-US" sz="1600" b="0" i="1" smtClean="0">
                              <a:latin typeface="Cambria Math" panose="02040503050406030204" pitchFamily="18" charset="0"/>
                            </a:rPr>
                            <m:t>−1</m:t>
                          </m:r>
                        </m:sup>
                        <m:e>
                          <m:r>
                            <a:rPr lang="en-US" sz="1600" b="0" i="1" smtClean="0">
                              <a:latin typeface="Cambria Math" panose="02040503050406030204" pitchFamily="18" charset="0"/>
                            </a:rPr>
                            <m:t>𝜋</m:t>
                          </m:r>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𝐴</m:t>
                                  </m:r>
                                </m:e>
                                <m:sub>
                                  <m:r>
                                    <a:rPr lang="en-US" sz="1600" b="0" i="1" smtClean="0">
                                      <a:latin typeface="Cambria Math" panose="02040503050406030204" pitchFamily="18" charset="0"/>
                                    </a:rPr>
                                    <m:t>𝑘</m:t>
                                  </m:r>
                                </m:sub>
                              </m:sSub>
                            </m:e>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𝑆</m:t>
                                  </m:r>
                                </m:e>
                                <m:sub>
                                  <m:r>
                                    <a:rPr lang="en-US" sz="1600" b="0" i="1" smtClean="0">
                                      <a:latin typeface="Cambria Math" panose="02040503050406030204" pitchFamily="18" charset="0"/>
                                    </a:rPr>
                                    <m:t>𝑘</m:t>
                                  </m:r>
                                </m:sub>
                              </m:sSub>
                            </m:e>
                          </m:d>
                          <m:r>
                            <a:rPr lang="en-US" sz="1600" b="0" i="1" smtClean="0">
                              <a:latin typeface="Cambria Math" panose="02040503050406030204" pitchFamily="18" charset="0"/>
                            </a:rPr>
                            <m:t>𝑝</m:t>
                          </m:r>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𝑆</m:t>
                              </m:r>
                            </m:e>
                            <m:sub>
                              <m:r>
                                <a:rPr lang="en-US" sz="1600" b="0" i="1" smtClean="0">
                                  <a:latin typeface="Cambria Math" panose="02040503050406030204" pitchFamily="18" charset="0"/>
                                </a:rPr>
                                <m:t>𝑘</m:t>
                              </m:r>
                              <m:r>
                                <a:rPr lang="en-US" sz="1600" b="0" i="1" smtClean="0">
                                  <a:latin typeface="Cambria Math" panose="02040503050406030204" pitchFamily="18" charset="0"/>
                                </a:rPr>
                                <m:t>+1</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𝑆</m:t>
                              </m:r>
                            </m:e>
                            <m:sub>
                              <m:r>
                                <a:rPr lang="en-US" sz="1600" b="0" i="1" smtClean="0">
                                  <a:latin typeface="Cambria Math" panose="02040503050406030204" pitchFamily="18" charset="0"/>
                                </a:rPr>
                                <m:t>𝑘</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𝐴</m:t>
                              </m:r>
                            </m:e>
                            <m:sub>
                              <m:r>
                                <a:rPr lang="en-US" sz="1600" b="0" i="1" smtClean="0">
                                  <a:latin typeface="Cambria Math" panose="02040503050406030204" pitchFamily="18" charset="0"/>
                                </a:rPr>
                                <m:t>𝑘</m:t>
                              </m:r>
                            </m:sub>
                          </m:sSub>
                          <m:r>
                            <a:rPr lang="en-US" sz="1600" b="0" i="1" smtClean="0">
                              <a:latin typeface="Cambria Math" panose="02040503050406030204" pitchFamily="18" charset="0"/>
                            </a:rPr>
                            <m:t>)</m:t>
                          </m:r>
                        </m:e>
                      </m:nary>
                    </m:oMath>
                  </m:oMathPara>
                </a14:m>
                <a:endParaRPr lang="en-US" sz="1600" dirty="0"/>
              </a:p>
              <a:p>
                <a:r>
                  <a:rPr lang="en-US" sz="1600" b="1" dirty="0"/>
                  <a:t>Importance sampling ratio: </a:t>
                </a:r>
                <a:r>
                  <a:rPr lang="en-US" sz="1600" dirty="0"/>
                  <a:t>How much more likely are the remaining actions in the sequence chosen under 𝜋 than under 𝑏:</a:t>
                </a:r>
              </a:p>
              <a:p>
                <a:pPr marL="0" indent="0">
                  <a:buNone/>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𝜌</m:t>
                          </m:r>
                        </m:e>
                        <m:sub>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𝑇</m:t>
                          </m:r>
                          <m:r>
                            <a:rPr lang="en-US" sz="1600" b="0" i="1" smtClean="0">
                              <a:latin typeface="Cambria Math" panose="02040503050406030204" pitchFamily="18" charset="0"/>
                            </a:rPr>
                            <m:t>−1</m:t>
                          </m:r>
                        </m:sub>
                      </m:sSub>
                      <m:r>
                        <a:rPr lang="en-US" sz="1600" b="0" i="1" smtClean="0">
                          <a:latin typeface="Cambria Math" panose="02040503050406030204" pitchFamily="18" charset="0"/>
                        </a:rPr>
                        <m:t>≝</m:t>
                      </m:r>
                      <m:f>
                        <m:fPr>
                          <m:ctrlPr>
                            <a:rPr lang="en-US" sz="1600" i="1">
                              <a:latin typeface="Cambria Math" panose="02040503050406030204" pitchFamily="18" charset="0"/>
                            </a:rPr>
                          </m:ctrlPr>
                        </m:fPr>
                        <m:num>
                          <m:nary>
                            <m:naryPr>
                              <m:chr m:val="∏"/>
                              <m:ctrlPr>
                                <a:rPr lang="en-US" sz="1600" i="1">
                                  <a:latin typeface="Cambria Math" panose="02040503050406030204" pitchFamily="18" charset="0"/>
                                </a:rPr>
                              </m:ctrlPr>
                            </m:naryPr>
                            <m:sub>
                              <m:r>
                                <m:rPr>
                                  <m:brk m:alnAt="23"/>
                                </m:rPr>
                                <a:rPr lang="en-US" sz="1600" i="1">
                                  <a:latin typeface="Cambria Math" panose="02040503050406030204" pitchFamily="18" charset="0"/>
                                </a:rPr>
                                <m:t>𝑘</m:t>
                              </m:r>
                              <m:r>
                                <a:rPr lang="en-US" sz="1600" i="1">
                                  <a:latin typeface="Cambria Math" panose="02040503050406030204" pitchFamily="18" charset="0"/>
                                </a:rPr>
                                <m:t>−</m:t>
                              </m:r>
                              <m:r>
                                <a:rPr lang="en-US" sz="1600" i="1">
                                  <a:latin typeface="Cambria Math" panose="02040503050406030204" pitchFamily="18" charset="0"/>
                                </a:rPr>
                                <m:t>𝑡</m:t>
                              </m:r>
                            </m:sub>
                            <m:sup>
                              <m:r>
                                <a:rPr lang="en-US" sz="1600" i="1">
                                  <a:latin typeface="Cambria Math" panose="02040503050406030204" pitchFamily="18" charset="0"/>
                                </a:rPr>
                                <m:t>𝑇</m:t>
                              </m:r>
                              <m:r>
                                <a:rPr lang="en-US" sz="1600" i="1">
                                  <a:latin typeface="Cambria Math" panose="02040503050406030204" pitchFamily="18" charset="0"/>
                                </a:rPr>
                                <m:t>−1</m:t>
                              </m:r>
                            </m:sup>
                            <m:e>
                              <m:r>
                                <a:rPr lang="en-US" sz="1600" i="1">
                                  <a:latin typeface="Cambria Math" panose="02040503050406030204" pitchFamily="18" charset="0"/>
                                </a:rPr>
                                <m:t>𝜋</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𝐴</m:t>
                                      </m:r>
                                    </m:e>
                                    <m:sub>
                                      <m:r>
                                        <a:rPr lang="en-US" sz="1600" i="1">
                                          <a:latin typeface="Cambria Math" panose="02040503050406030204" pitchFamily="18" charset="0"/>
                                        </a:rPr>
                                        <m:t>𝑘</m:t>
                                      </m:r>
                                    </m:sub>
                                  </m:sSub>
                                </m:e>
                                <m:e>
                                  <m:sSub>
                                    <m:sSubPr>
                                      <m:ctrlPr>
                                        <a:rPr lang="en-US" sz="1600" i="1">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𝑘</m:t>
                                      </m:r>
                                    </m:sub>
                                  </m:sSub>
                                </m:e>
                              </m:d>
                            </m:e>
                          </m:nary>
                          <m:r>
                            <a:rPr lang="en-US" sz="1600" i="1">
                              <a:latin typeface="Cambria Math" panose="02040503050406030204" pitchFamily="18" charset="0"/>
                            </a:rPr>
                            <m:t>𝑝</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𝑘</m:t>
                                  </m:r>
                                  <m:r>
                                    <a:rPr lang="en-US" sz="1600" i="1">
                                      <a:latin typeface="Cambria Math" panose="02040503050406030204" pitchFamily="18" charset="0"/>
                                    </a:rPr>
                                    <m:t>+1</m:t>
                                  </m:r>
                                </m:sub>
                              </m:sSub>
                            </m:e>
                            <m:e>
                              <m:sSub>
                                <m:sSubPr>
                                  <m:ctrlPr>
                                    <a:rPr lang="en-US" sz="1600" i="1">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𝑘</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𝐴</m:t>
                                  </m:r>
                                </m:e>
                                <m:sub>
                                  <m:r>
                                    <a:rPr lang="en-US" sz="1600" i="1">
                                      <a:latin typeface="Cambria Math" panose="02040503050406030204" pitchFamily="18" charset="0"/>
                                    </a:rPr>
                                    <m:t>𝑘</m:t>
                                  </m:r>
                                </m:sub>
                              </m:sSub>
                            </m:e>
                          </m:d>
                        </m:num>
                        <m:den>
                          <m:nary>
                            <m:naryPr>
                              <m:chr m:val="∏"/>
                              <m:ctrlPr>
                                <a:rPr lang="en-US" sz="1600" i="1">
                                  <a:latin typeface="Cambria Math" panose="02040503050406030204" pitchFamily="18" charset="0"/>
                                </a:rPr>
                              </m:ctrlPr>
                            </m:naryPr>
                            <m:sub>
                              <m:r>
                                <m:rPr>
                                  <m:brk m:alnAt="23"/>
                                </m:rPr>
                                <a:rPr lang="en-US" sz="1600" i="1">
                                  <a:latin typeface="Cambria Math" panose="02040503050406030204" pitchFamily="18" charset="0"/>
                                </a:rPr>
                                <m:t>𝑘</m:t>
                              </m:r>
                              <m:r>
                                <a:rPr lang="en-US" sz="1600" i="1">
                                  <a:latin typeface="Cambria Math" panose="02040503050406030204" pitchFamily="18" charset="0"/>
                                </a:rPr>
                                <m:t>−</m:t>
                              </m:r>
                              <m:r>
                                <a:rPr lang="en-US" sz="1600" i="1">
                                  <a:latin typeface="Cambria Math" panose="02040503050406030204" pitchFamily="18" charset="0"/>
                                </a:rPr>
                                <m:t>𝑡</m:t>
                              </m:r>
                            </m:sub>
                            <m:sup>
                              <m:r>
                                <a:rPr lang="en-US" sz="1600" i="1">
                                  <a:latin typeface="Cambria Math" panose="02040503050406030204" pitchFamily="18" charset="0"/>
                                </a:rPr>
                                <m:t>𝑇</m:t>
                              </m:r>
                              <m:r>
                                <a:rPr lang="en-US" sz="1600" i="1">
                                  <a:latin typeface="Cambria Math" panose="02040503050406030204" pitchFamily="18" charset="0"/>
                                </a:rPr>
                                <m:t>−1</m:t>
                              </m:r>
                            </m:sup>
                            <m:e>
                              <m:r>
                                <a:rPr lang="en-US" sz="1600" b="0" i="1" smtClean="0">
                                  <a:latin typeface="Cambria Math" panose="02040503050406030204" pitchFamily="18" charset="0"/>
                                </a:rPr>
                                <m:t>𝑏</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𝐴</m:t>
                                      </m:r>
                                    </m:e>
                                    <m:sub>
                                      <m:r>
                                        <a:rPr lang="en-US" sz="1600" i="1">
                                          <a:latin typeface="Cambria Math" panose="02040503050406030204" pitchFamily="18" charset="0"/>
                                        </a:rPr>
                                        <m:t>𝑘</m:t>
                                      </m:r>
                                    </m:sub>
                                  </m:sSub>
                                </m:e>
                                <m:e>
                                  <m:sSub>
                                    <m:sSubPr>
                                      <m:ctrlPr>
                                        <a:rPr lang="en-US" sz="1600" i="1">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𝑘</m:t>
                                      </m:r>
                                    </m:sub>
                                  </m:sSub>
                                </m:e>
                              </m:d>
                            </m:e>
                          </m:nary>
                          <m:r>
                            <a:rPr lang="en-US" sz="1600" i="1">
                              <a:latin typeface="Cambria Math" panose="02040503050406030204" pitchFamily="18" charset="0"/>
                            </a:rPr>
                            <m:t>𝑝</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𝑘</m:t>
                                  </m:r>
                                  <m:r>
                                    <a:rPr lang="en-US" sz="1600" i="1">
                                      <a:latin typeface="Cambria Math" panose="02040503050406030204" pitchFamily="18" charset="0"/>
                                    </a:rPr>
                                    <m:t>+1</m:t>
                                  </m:r>
                                </m:sub>
                              </m:sSub>
                            </m:e>
                            <m:e>
                              <m:sSub>
                                <m:sSubPr>
                                  <m:ctrlPr>
                                    <a:rPr lang="en-US" sz="1600" i="1">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𝑘</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𝐴</m:t>
                                  </m:r>
                                </m:e>
                                <m:sub>
                                  <m:r>
                                    <a:rPr lang="en-US" sz="1600" i="1">
                                      <a:latin typeface="Cambria Math" panose="02040503050406030204" pitchFamily="18" charset="0"/>
                                    </a:rPr>
                                    <m:t>𝑘</m:t>
                                  </m:r>
                                </m:sub>
                              </m:sSub>
                            </m:e>
                          </m:d>
                        </m:den>
                      </m:f>
                      <m:r>
                        <a:rPr lang="en-US" sz="1600" b="0" i="1" smtClean="0">
                          <a:latin typeface="Cambria Math" panose="02040503050406030204" pitchFamily="18" charset="0"/>
                        </a:rPr>
                        <m:t>=</m:t>
                      </m:r>
                      <m:nary>
                        <m:naryPr>
                          <m:chr m:val="∏"/>
                          <m:ctrlPr>
                            <a:rPr lang="en-US" sz="1600" i="1">
                              <a:latin typeface="Cambria Math" panose="02040503050406030204" pitchFamily="18" charset="0"/>
                            </a:rPr>
                          </m:ctrlPr>
                        </m:naryPr>
                        <m:sub>
                          <m:r>
                            <m:rPr>
                              <m:brk m:alnAt="23"/>
                            </m:rPr>
                            <a:rPr lang="en-US" sz="1600" i="1">
                              <a:latin typeface="Cambria Math" panose="02040503050406030204" pitchFamily="18" charset="0"/>
                            </a:rPr>
                            <m:t>𝑘</m:t>
                          </m:r>
                          <m:r>
                            <a:rPr lang="en-US" sz="1600" b="0" i="1" smtClean="0">
                              <a:latin typeface="Cambria Math" panose="02040503050406030204" pitchFamily="18" charset="0"/>
                            </a:rPr>
                            <m:t>=</m:t>
                          </m:r>
                          <m:r>
                            <a:rPr lang="en-US" sz="1600" i="1">
                              <a:latin typeface="Cambria Math" panose="02040503050406030204" pitchFamily="18" charset="0"/>
                            </a:rPr>
                            <m:t>𝑡</m:t>
                          </m:r>
                        </m:sub>
                        <m:sup>
                          <m:r>
                            <a:rPr lang="en-US" sz="1600" i="1">
                              <a:latin typeface="Cambria Math" panose="02040503050406030204" pitchFamily="18" charset="0"/>
                            </a:rPr>
                            <m:t>𝑇</m:t>
                          </m:r>
                          <m:r>
                            <a:rPr lang="en-US" sz="1600" i="1">
                              <a:latin typeface="Cambria Math" panose="02040503050406030204" pitchFamily="18" charset="0"/>
                            </a:rPr>
                            <m:t>−1</m:t>
                          </m:r>
                        </m:sup>
                        <m:e>
                          <m:f>
                            <m:fPr>
                              <m:ctrlPr>
                                <a:rPr lang="en-US" sz="1600" i="1">
                                  <a:latin typeface="Cambria Math" panose="02040503050406030204" pitchFamily="18" charset="0"/>
                                </a:rPr>
                              </m:ctrlPr>
                            </m:fPr>
                            <m:num>
                              <m:r>
                                <a:rPr lang="en-US" sz="1600" i="1">
                                  <a:latin typeface="Cambria Math" panose="02040503050406030204" pitchFamily="18" charset="0"/>
                                </a:rPr>
                                <m:t>𝜋</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𝐴</m:t>
                                      </m:r>
                                    </m:e>
                                    <m:sub>
                                      <m:r>
                                        <a:rPr lang="en-US" sz="1600" i="1">
                                          <a:latin typeface="Cambria Math" panose="02040503050406030204" pitchFamily="18" charset="0"/>
                                        </a:rPr>
                                        <m:t>𝑘</m:t>
                                      </m:r>
                                    </m:sub>
                                  </m:sSub>
                                </m:e>
                                <m:e>
                                  <m:sSub>
                                    <m:sSubPr>
                                      <m:ctrlPr>
                                        <a:rPr lang="en-US" sz="1600" i="1">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𝑘</m:t>
                                      </m:r>
                                    </m:sub>
                                  </m:sSub>
                                </m:e>
                              </m:d>
                            </m:num>
                            <m:den>
                              <m:r>
                                <a:rPr lang="en-US" sz="1600" b="0" i="1" smtClean="0">
                                  <a:latin typeface="Cambria Math" panose="02040503050406030204" pitchFamily="18" charset="0"/>
                                </a:rPr>
                                <m:t>𝑏</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𝐴</m:t>
                                      </m:r>
                                    </m:e>
                                    <m:sub>
                                      <m:r>
                                        <a:rPr lang="en-US" sz="1600" i="1">
                                          <a:latin typeface="Cambria Math" panose="02040503050406030204" pitchFamily="18" charset="0"/>
                                        </a:rPr>
                                        <m:t>𝑘</m:t>
                                      </m:r>
                                    </m:sub>
                                  </m:sSub>
                                </m:e>
                                <m:e>
                                  <m:sSub>
                                    <m:sSubPr>
                                      <m:ctrlPr>
                                        <a:rPr lang="en-US" sz="1600" i="1">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𝑘</m:t>
                                      </m:r>
                                    </m:sub>
                                  </m:sSub>
                                </m:e>
                              </m:d>
                            </m:den>
                          </m:f>
                        </m:e>
                      </m:nary>
                    </m:oMath>
                  </m:oMathPara>
                </a14:m>
                <a:endParaRPr lang="en-US" sz="1600" dirty="0"/>
              </a:p>
              <a:p>
                <a:r>
                  <a:rPr lang="en-US" sz="1600" dirty="0"/>
                  <a:t>Now we get:</a:t>
                </a:r>
              </a:p>
              <a:p>
                <a:pPr marL="0" indent="0">
                  <a:buNone/>
                </a:pPr>
                <a14:m>
                  <m:oMathPara xmlns:m="http://schemas.openxmlformats.org/officeDocument/2006/math">
                    <m:oMath>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𝑣</m:t>
                          </m:r>
                        </m:e>
                        <m:sub>
                          <m:r>
                            <a:rPr lang="en-US" sz="1600" b="0" i="1" smtClean="0">
                              <a:latin typeface="Cambria Math" panose="02040503050406030204" pitchFamily="18" charset="0"/>
                              <a:ea typeface="Cambria Math" panose="02040503050406030204" pitchFamily="18" charset="0"/>
                            </a:rPr>
                            <m:t>𝜋</m:t>
                          </m:r>
                        </m:sub>
                      </m:sSub>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𝑠</m:t>
                          </m:r>
                        </m:e>
                      </m:d>
                      <m:r>
                        <a:rPr lang="en-US" sz="1600" b="0" i="1" smtClean="0">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𝔼</m:t>
                          </m:r>
                        </m:e>
                        <m:sub>
                          <m:r>
                            <a:rPr lang="en-US" sz="1600" b="0" i="1" smtClean="0">
                              <a:latin typeface="Cambria Math" panose="02040503050406030204" pitchFamily="18" charset="0"/>
                              <a:ea typeface="Cambria Math" panose="02040503050406030204" pitchFamily="18" charset="0"/>
                            </a:rPr>
                            <m:t>𝜋</m:t>
                          </m:r>
                        </m:sub>
                      </m:sSub>
                      <m:d>
                        <m:dPr>
                          <m:ctrlPr>
                            <a:rPr lang="en-US" sz="1600" b="0" i="1" smtClean="0">
                              <a:latin typeface="Cambria Math" panose="02040503050406030204" pitchFamily="18" charset="0"/>
                              <a:ea typeface="Cambria Math" panose="02040503050406030204" pitchFamily="18" charset="0"/>
                            </a:rPr>
                          </m:ctrlPr>
                        </m:dPr>
                        <m:e>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𝐺</m:t>
                              </m:r>
                            </m:e>
                            <m:sub>
                              <m:r>
                                <a:rPr lang="en-US" sz="1600" b="0" i="1" smtClean="0">
                                  <a:latin typeface="Cambria Math" panose="02040503050406030204" pitchFamily="18" charset="0"/>
                                  <a:ea typeface="Cambria Math" panose="02040503050406030204" pitchFamily="18" charset="0"/>
                                </a:rPr>
                                <m:t>𝑡</m:t>
                              </m:r>
                            </m:sub>
                          </m:sSub>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𝑆</m:t>
                              </m:r>
                            </m:e>
                            <m:sub>
                              <m:r>
                                <a:rPr lang="en-US" sz="1600" b="0" i="1" smtClean="0">
                                  <a:latin typeface="Cambria Math" panose="02040503050406030204" pitchFamily="18" charset="0"/>
                                  <a:ea typeface="Cambria Math" panose="02040503050406030204" pitchFamily="18" charset="0"/>
                                </a:rPr>
                                <m:t>𝑡</m:t>
                              </m:r>
                            </m:sub>
                          </m:sSub>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𝑠</m:t>
                          </m:r>
                        </m:e>
                      </m:d>
                      <m:r>
                        <a:rPr lang="en-US" sz="1600" b="0" i="1" smtClean="0">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𝔼</m:t>
                          </m:r>
                        </m:e>
                        <m:sub>
                          <m:r>
                            <a:rPr lang="en-US" sz="1600" b="0" i="1" smtClean="0">
                              <a:latin typeface="Cambria Math" panose="02040503050406030204" pitchFamily="18" charset="0"/>
                              <a:ea typeface="Cambria Math" panose="02040503050406030204" pitchFamily="18" charset="0"/>
                            </a:rPr>
                            <m:t>𝑏</m:t>
                          </m:r>
                        </m:sub>
                      </m:sSub>
                      <m:d>
                        <m:dPr>
                          <m:begChr m:val="["/>
                          <m:endChr m:val="]"/>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sSub>
                                <m:sSubPr>
                                  <m:ctrlPr>
                                    <a:rPr lang="en-US" sz="1600" i="1">
                                      <a:latin typeface="Cambria Math" panose="02040503050406030204" pitchFamily="18" charset="0"/>
                                    </a:rPr>
                                  </m:ctrlPr>
                                </m:sSubPr>
                                <m:e>
                                  <m:r>
                                    <a:rPr lang="en-US" sz="1600" i="1">
                                      <a:latin typeface="Cambria Math" panose="02040503050406030204" pitchFamily="18" charset="0"/>
                                    </a:rPr>
                                    <m:t>𝜌</m:t>
                                  </m:r>
                                </m:e>
                                <m:sub>
                                  <m:r>
                                    <a:rPr lang="en-US" sz="1600" i="1">
                                      <a:latin typeface="Cambria Math" panose="02040503050406030204" pitchFamily="18" charset="0"/>
                                    </a:rPr>
                                    <m:t>𝑡</m:t>
                                  </m:r>
                                  <m:r>
                                    <a:rPr lang="en-US" sz="1600" i="1">
                                      <a:latin typeface="Cambria Math" panose="02040503050406030204" pitchFamily="18" charset="0"/>
                                    </a:rPr>
                                    <m:t>:</m:t>
                                  </m:r>
                                  <m:r>
                                    <a:rPr lang="en-US" sz="1600" i="1">
                                      <a:latin typeface="Cambria Math" panose="02040503050406030204" pitchFamily="18" charset="0"/>
                                    </a:rPr>
                                    <m:t>𝑇</m:t>
                                  </m:r>
                                  <m:r>
                                    <a:rPr lang="en-US" sz="1600" i="1">
                                      <a:latin typeface="Cambria Math" panose="02040503050406030204" pitchFamily="18" charset="0"/>
                                    </a:rPr>
                                    <m:t>−1</m:t>
                                  </m:r>
                                </m:sub>
                              </m:sSub>
                              <m:r>
                                <a:rPr lang="en-US" sz="1600" i="1">
                                  <a:latin typeface="Cambria Math" panose="02040503050406030204" pitchFamily="18" charset="0"/>
                                  <a:ea typeface="Cambria Math" panose="02040503050406030204" pitchFamily="18" charset="0"/>
                                </a:rPr>
                                <m:t>𝐺</m:t>
                              </m:r>
                            </m:e>
                            <m:sub>
                              <m:r>
                                <a:rPr lang="en-US" sz="1600" i="1">
                                  <a:latin typeface="Cambria Math" panose="02040503050406030204" pitchFamily="18" charset="0"/>
                                  <a:ea typeface="Cambria Math" panose="02040503050406030204" pitchFamily="18" charset="0"/>
                                </a:rPr>
                                <m:t>𝑡</m:t>
                              </m:r>
                            </m:sub>
                          </m:sSub>
                        </m:e>
                        <m:e>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𝑆</m:t>
                              </m:r>
                            </m:e>
                            <m:sub>
                              <m:r>
                                <a:rPr lang="en-US" sz="1600" i="1">
                                  <a:latin typeface="Cambria Math" panose="02040503050406030204" pitchFamily="18" charset="0"/>
                                  <a:ea typeface="Cambria Math" panose="02040503050406030204" pitchFamily="18" charset="0"/>
                                </a:rPr>
                                <m:t>𝑡</m:t>
                              </m:r>
                            </m:sub>
                          </m:sSub>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𝑠</m:t>
                          </m:r>
                        </m:e>
                      </m:d>
                    </m:oMath>
                  </m:oMathPara>
                </a14:m>
                <a:endParaRPr lang="en-US" sz="1600" dirty="0"/>
              </a:p>
              <a:p>
                <a:r>
                  <a:rPr lang="en-US" sz="1600" b="1" dirty="0"/>
                  <a:t>Note</a:t>
                </a:r>
                <a:r>
                  <a:rPr lang="en-US" sz="1600" dirty="0"/>
                  <a:t>: We only get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𝜌</m:t>
                        </m:r>
                      </m:e>
                      <m:sub>
                        <m:r>
                          <a:rPr lang="en-US" sz="1600" i="1">
                            <a:latin typeface="Cambria Math" panose="02040503050406030204" pitchFamily="18" charset="0"/>
                          </a:rPr>
                          <m:t>𝑡</m:t>
                        </m:r>
                        <m:r>
                          <a:rPr lang="en-US" sz="1600" i="1">
                            <a:latin typeface="Cambria Math" panose="02040503050406030204" pitchFamily="18" charset="0"/>
                          </a:rPr>
                          <m:t>:</m:t>
                        </m:r>
                        <m:r>
                          <a:rPr lang="en-US" sz="1600" i="1">
                            <a:latin typeface="Cambria Math" panose="02040503050406030204" pitchFamily="18" charset="0"/>
                          </a:rPr>
                          <m:t>𝑇</m:t>
                        </m:r>
                        <m:r>
                          <a:rPr lang="en-US" sz="1600" i="1">
                            <a:latin typeface="Cambria Math" panose="02040503050406030204" pitchFamily="18" charset="0"/>
                          </a:rPr>
                          <m:t>−1</m:t>
                        </m:r>
                      </m:sub>
                    </m:sSub>
                    <m:r>
                      <a:rPr lang="en-US" sz="1600" b="0" i="1" smtClean="0">
                        <a:latin typeface="Cambria Math" panose="02040503050406030204" pitchFamily="18" charset="0"/>
                      </a:rPr>
                      <m:t>&gt;0</m:t>
                    </m:r>
                  </m:oMath>
                </a14:m>
                <a:r>
                  <a:rPr lang="en-US" sz="1600" dirty="0"/>
                  <a:t> when all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𝐴</m:t>
                        </m:r>
                      </m:e>
                      <m:sub>
                        <m:r>
                          <a:rPr lang="en-US" sz="1600" b="0" i="1" smtClean="0">
                            <a:latin typeface="Cambria Math" panose="02040503050406030204" pitchFamily="18" charset="0"/>
                          </a:rPr>
                          <m:t>𝑘</m:t>
                        </m:r>
                      </m:sub>
                    </m:sSub>
                  </m:oMath>
                </a14:m>
                <a:r>
                  <a:rPr lang="en-US" sz="1600" dirty="0"/>
                  <a:t> chosen by </a:t>
                </a:r>
                <a14:m>
                  <m:oMath xmlns:m="http://schemas.openxmlformats.org/officeDocument/2006/math">
                    <m:r>
                      <a:rPr lang="en-US" sz="1600" b="0" i="1" smtClean="0">
                        <a:latin typeface="Cambria Math" panose="02040503050406030204" pitchFamily="18" charset="0"/>
                      </a:rPr>
                      <m:t>𝑏</m:t>
                    </m:r>
                  </m:oMath>
                </a14:m>
                <a:r>
                  <a:rPr lang="en-US" sz="1600" dirty="0"/>
                  <a:t> have a </a:t>
                </a:r>
                <a14:m>
                  <m:oMath xmlns:m="http://schemas.openxmlformats.org/officeDocument/2006/math">
                    <m:r>
                      <a:rPr lang="en-US" sz="1600" i="1">
                        <a:latin typeface="Cambria Math" panose="02040503050406030204" pitchFamily="18" charset="0"/>
                      </a:rPr>
                      <m:t>𝜋</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𝐴</m:t>
                            </m:r>
                          </m:e>
                          <m:sub>
                            <m:r>
                              <a:rPr lang="en-US" sz="1600" i="1">
                                <a:latin typeface="Cambria Math" panose="02040503050406030204" pitchFamily="18" charset="0"/>
                              </a:rPr>
                              <m:t>𝑘</m:t>
                            </m:r>
                          </m:sub>
                        </m:sSub>
                      </m:e>
                      <m:e>
                        <m:sSub>
                          <m:sSubPr>
                            <m:ctrlPr>
                              <a:rPr lang="en-US" sz="1600" i="1">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𝑘</m:t>
                            </m:r>
                          </m:sub>
                        </m:sSub>
                      </m:e>
                    </m:d>
                    <m:r>
                      <a:rPr lang="en-US" sz="1600" b="0" i="1" smtClean="0">
                        <a:latin typeface="Cambria Math" panose="02040503050406030204" pitchFamily="18" charset="0"/>
                      </a:rPr>
                      <m:t>&gt;0</m:t>
                    </m:r>
                  </m:oMath>
                </a14:m>
                <a:r>
                  <a:rPr lang="en-US" sz="1600" dirty="0"/>
                  <a:t>!</a:t>
                </a:r>
              </a:p>
            </p:txBody>
          </p:sp>
        </mc:Choice>
        <mc:Fallback xmlns="">
          <p:sp>
            <p:nvSpPr>
              <p:cNvPr id="3" name="Content Placeholder 2" descr="Importance sampling is a method to estimate the expected values under a desired distribution, given samples from another distribution. Expectation under desired distribution: E sub pi (G sub t given S sub t equals s). Observed expectation from sampled distribution: E sub b (G sub t given S sub t equals s). Idea: correct returns observed under b to estimate returns for pi. Probability of a trajectory starting at S sub t under pi. Pr of {A sub t,S sub t plus 1,A sub t plus 1, dot dot dot,A sub T minus 1, S sub T given S sub t, A sub t:T minus 1, ~ pi} equals the product over k equals t to T minus 1, of pi (A sub k given S sub k) p(S sub k plus 1, given S sub k,A sub k). Importance sampling ratio: How much more likely are the remaining actions in the sequence chosen under 𝜋 than under 𝑏:. rho sub t:T minus 1, is defined as the fraction the product over k minus t to T minus 1, of pi (A sub k given S sub k) p (S sub k plus 1, given S sub k,A sub k), over the product over k minus t to T minus 1, of b (A sub k given S sub k) p (S sub k plus 1, given S sub k,A sub k), end fraction equals the product over k equals t to T minus 1, of the fraction pi (A sub k given S sub k), over b (A sub k given S sub k), end fraction. Now we get:. v sub pi (s) equals E sub pi (G sub t given S sub t equals s) equals E sub b [rho sub t:T minus 1, G sub t given S sub t equals s]. Note: We only get rho sub t:T minus 1, is greater than 0 when all A sub k chosen by b have a pi (A sub k given S sub k) is greater than 0 !">
                <a:extLst>
                  <a:ext uri="{FF2B5EF4-FFF2-40B4-BE49-F238E27FC236}">
                    <a16:creationId xmlns:a16="http://schemas.microsoft.com/office/drawing/2014/main" id="{6C1A07B9-CE87-BFDE-9DAE-A426D8976671}"/>
                  </a:ext>
                </a:extLst>
              </p:cNvPr>
              <p:cNvSpPr>
                <a:spLocks noGrp="1" noRot="1" noChangeAspect="1" noMove="1" noResize="1" noEditPoints="1" noAdjustHandles="1" noChangeArrowheads="1" noChangeShapeType="1" noTextEdit="1"/>
              </p:cNvSpPr>
              <p:nvPr>
                <p:ph idx="1"/>
              </p:nvPr>
            </p:nvSpPr>
            <p:spPr>
              <a:xfrm>
                <a:off x="838200" y="1201878"/>
                <a:ext cx="10515600" cy="4779633"/>
              </a:xfrm>
              <a:blipFill>
                <a:blip r:embed="rId2"/>
                <a:stretch>
                  <a:fillRect l="-232" t="-893" b="-3061"/>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4FFA0F39-D96C-AC90-D24E-DB92BD3DFCA8}"/>
              </a:ext>
              <a:ext uri="{C183D7F6-B498-43B3-948B-1728B52AA6E4}">
                <adec:decorative xmlns:adec="http://schemas.microsoft.com/office/drawing/2017/decorative" val="1"/>
              </a:ext>
            </a:extLst>
          </p:cNvPr>
          <p:cNvCxnSpPr>
            <a:cxnSpLocks/>
          </p:cNvCxnSpPr>
          <p:nvPr/>
        </p:nvCxnSpPr>
        <p:spPr>
          <a:xfrm flipV="1">
            <a:off x="5709769" y="4512573"/>
            <a:ext cx="1598455" cy="221624"/>
          </a:xfrm>
          <a:prstGeom prst="line">
            <a:avLst/>
          </a:prstGeom>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F4A9D49D-EC81-4C18-EAE0-16C729A0D7AA}"/>
              </a:ext>
              <a:ext uri="{C183D7F6-B498-43B3-948B-1728B52AA6E4}">
                <adec:decorative xmlns:adec="http://schemas.microsoft.com/office/drawing/2017/decorative" val="1"/>
              </a:ext>
            </a:extLst>
          </p:cNvPr>
          <p:cNvCxnSpPr>
            <a:cxnSpLocks/>
          </p:cNvCxnSpPr>
          <p:nvPr/>
        </p:nvCxnSpPr>
        <p:spPr>
          <a:xfrm flipV="1">
            <a:off x="5688549" y="4811877"/>
            <a:ext cx="1549594" cy="254781"/>
          </a:xfrm>
          <a:prstGeom prst="line">
            <a:avLst/>
          </a:prstGeom>
        </p:spPr>
        <p:style>
          <a:lnRef idx="3">
            <a:schemeClr val="accent2"/>
          </a:lnRef>
          <a:fillRef idx="0">
            <a:schemeClr val="accent2"/>
          </a:fillRef>
          <a:effectRef idx="2">
            <a:schemeClr val="accent2"/>
          </a:effectRef>
          <a:fontRef idx="minor">
            <a:schemeClr val="tx1"/>
          </a:fontRef>
        </p:style>
      </p:cxnSp>
      <p:sp>
        <p:nvSpPr>
          <p:cNvPr id="7" name="Speech Bubble: Rectangle with Corners Rounded 6">
            <a:extLst>
              <a:ext uri="{FF2B5EF4-FFF2-40B4-BE49-F238E27FC236}">
                <a16:creationId xmlns:a16="http://schemas.microsoft.com/office/drawing/2014/main" id="{5AFBF7E4-845B-DA38-E9A5-723C0A4CB58B}"/>
              </a:ext>
            </a:extLst>
          </p:cNvPr>
          <p:cNvSpPr/>
          <p:nvPr/>
        </p:nvSpPr>
        <p:spPr>
          <a:xfrm>
            <a:off x="9471194" y="4342689"/>
            <a:ext cx="2101026" cy="750367"/>
          </a:xfrm>
          <a:prstGeom prst="wedgeRoundRectCallout">
            <a:avLst>
              <a:gd name="adj1" fmla="val -93610"/>
              <a:gd name="adj2" fmla="val -15116"/>
              <a:gd name="adj3" fmla="val 16667"/>
            </a:avLst>
          </a:prstGeom>
          <a:solidFill>
            <a:srgbClr val="C35115"/>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t>Luckily, the unknown transition probabilities cancel out!</a:t>
            </a:r>
          </a:p>
        </p:txBody>
      </p:sp>
      <p:sp>
        <p:nvSpPr>
          <p:cNvPr id="8" name="Speech Bubble: Rectangle with Corners Rounded 7">
            <a:extLst>
              <a:ext uri="{FF2B5EF4-FFF2-40B4-BE49-F238E27FC236}">
                <a16:creationId xmlns:a16="http://schemas.microsoft.com/office/drawing/2014/main" id="{5B72F090-DC2E-C8B9-3321-C68747FD6B15}"/>
              </a:ext>
            </a:extLst>
          </p:cNvPr>
          <p:cNvSpPr/>
          <p:nvPr/>
        </p:nvSpPr>
        <p:spPr>
          <a:xfrm>
            <a:off x="9388217" y="2720931"/>
            <a:ext cx="2101026" cy="520435"/>
          </a:xfrm>
          <a:prstGeom prst="wedgeRoundRectCallout">
            <a:avLst>
              <a:gd name="adj1" fmla="val -94747"/>
              <a:gd name="adj2" fmla="val 96830"/>
              <a:gd name="adj3" fmla="val 16667"/>
            </a:avLst>
          </a:prstGeom>
          <a:solidFill>
            <a:srgbClr val="C35115"/>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t>Needs unknown transition probabilities!</a:t>
            </a:r>
          </a:p>
        </p:txBody>
      </p:sp>
      <mc:AlternateContent xmlns:mc="http://schemas.openxmlformats.org/markup-compatibility/2006" xmlns:a14="http://schemas.microsoft.com/office/drawing/2010/main">
        <mc:Choice Requires="a14">
          <p:sp>
            <p:nvSpPr>
              <p:cNvPr id="9" name="Speech Bubble: Rectangle with Corners Rounded 8" descr="This is especially a problem if pi is a deterministic policy very different from b !">
                <a:extLst>
                  <a:ext uri="{FF2B5EF4-FFF2-40B4-BE49-F238E27FC236}">
                    <a16:creationId xmlns:a16="http://schemas.microsoft.com/office/drawing/2014/main" id="{12E2FEED-5945-68CE-0EE6-B01BEE371736}"/>
                  </a:ext>
                </a:extLst>
              </p:cNvPr>
              <p:cNvSpPr/>
              <p:nvPr/>
            </p:nvSpPr>
            <p:spPr>
              <a:xfrm>
                <a:off x="9471194" y="5525922"/>
                <a:ext cx="2101026" cy="966952"/>
              </a:xfrm>
              <a:prstGeom prst="wedgeRoundRectCallout">
                <a:avLst>
                  <a:gd name="adj1" fmla="val -135253"/>
                  <a:gd name="adj2" fmla="val -10690"/>
                  <a:gd name="adj3" fmla="val 16667"/>
                </a:avLst>
              </a:prstGeom>
              <a:solidFill>
                <a:srgbClr val="C35115"/>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t>This is especially a problem if </a:t>
                </a:r>
                <a14:m>
                  <m:oMath xmlns:m="http://schemas.openxmlformats.org/officeDocument/2006/math">
                    <m:r>
                      <a:rPr lang="en-US" sz="1400" b="0" i="1" smtClean="0">
                        <a:latin typeface="Cambria Math" panose="02040503050406030204" pitchFamily="18" charset="0"/>
                      </a:rPr>
                      <m:t>𝜋</m:t>
                    </m:r>
                  </m:oMath>
                </a14:m>
                <a:r>
                  <a:rPr lang="en-US" sz="1400" dirty="0"/>
                  <a:t> is a deterministic policy very different from  </a:t>
                </a:r>
                <a14:m>
                  <m:oMath xmlns:m="http://schemas.openxmlformats.org/officeDocument/2006/math">
                    <m:r>
                      <a:rPr lang="en-US" sz="1400" b="0" i="1" smtClean="0">
                        <a:latin typeface="Cambria Math" panose="02040503050406030204" pitchFamily="18" charset="0"/>
                      </a:rPr>
                      <m:t>𝑏</m:t>
                    </m:r>
                  </m:oMath>
                </a14:m>
                <a:r>
                  <a:rPr lang="en-US" sz="1400" dirty="0"/>
                  <a:t>!</a:t>
                </a:r>
              </a:p>
            </p:txBody>
          </p:sp>
        </mc:Choice>
        <mc:Fallback xmlns="">
          <p:sp>
            <p:nvSpPr>
              <p:cNvPr id="9" name="Speech Bubble: Rectangle with Corners Rounded 8" descr="This is especially a problem if pi is a deterministic policy very different from b !">
                <a:extLst>
                  <a:ext uri="{FF2B5EF4-FFF2-40B4-BE49-F238E27FC236}">
                    <a16:creationId xmlns:a16="http://schemas.microsoft.com/office/drawing/2014/main" id="{12E2FEED-5945-68CE-0EE6-B01BEE371736}"/>
                  </a:ext>
                </a:extLst>
              </p:cNvPr>
              <p:cNvSpPr>
                <a:spLocks noRot="1" noChangeAspect="1" noMove="1" noResize="1" noEditPoints="1" noAdjustHandles="1" noChangeArrowheads="1" noChangeShapeType="1" noTextEdit="1"/>
              </p:cNvSpPr>
              <p:nvPr/>
            </p:nvSpPr>
            <p:spPr>
              <a:xfrm>
                <a:off x="9471194" y="5525922"/>
                <a:ext cx="2101026" cy="966952"/>
              </a:xfrm>
              <a:prstGeom prst="wedgeRoundRectCallout">
                <a:avLst>
                  <a:gd name="adj1" fmla="val -135253"/>
                  <a:gd name="adj2" fmla="val -10690"/>
                  <a:gd name="adj3" fmla="val 16667"/>
                </a:avLst>
              </a:prstGeom>
              <a:blipFill>
                <a:blip r:embed="rId3"/>
                <a:stretch>
                  <a:fillRect b="-4321"/>
                </a:stretch>
              </a:blipFill>
            </p:spPr>
            <p:txBody>
              <a:bodyPr/>
              <a:lstStyle/>
              <a:p>
                <a:r>
                  <a:rPr lang="en-US">
                    <a:noFill/>
                  </a:rPr>
                  <a:t> </a:t>
                </a:r>
              </a:p>
            </p:txBody>
          </p:sp>
        </mc:Fallback>
      </mc:AlternateContent>
    </p:spTree>
    <p:extLst>
      <p:ext uri="{BB962C8B-B14F-4D97-AF65-F5344CB8AC3E}">
        <p14:creationId xmlns:p14="http://schemas.microsoft.com/office/powerpoint/2010/main" val="3162325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0A4A6-BE76-606A-C91C-C516CF32256F}"/>
              </a:ext>
            </a:extLst>
          </p:cNvPr>
          <p:cNvSpPr>
            <a:spLocks noGrp="1"/>
          </p:cNvSpPr>
          <p:nvPr>
            <p:ph type="title"/>
          </p:nvPr>
        </p:nvSpPr>
        <p:spPr/>
        <p:txBody>
          <a:bodyPr/>
          <a:lstStyle/>
          <a:p>
            <a:r>
              <a:rPr lang="en-US" dirty="0"/>
              <a:t>Ordinary vs. Weighted Importance Sampling</a:t>
            </a:r>
          </a:p>
        </p:txBody>
      </p:sp>
      <mc:AlternateContent xmlns:mc="http://schemas.openxmlformats.org/markup-compatibility/2006" xmlns:a14="http://schemas.microsoft.com/office/drawing/2010/main">
        <mc:Choice Requires="a14">
          <p:sp>
            <p:nvSpPr>
              <p:cNvPr id="3" name="Content Placeholder 2" descr="Ordinary importance sampling averages the corrected sample returns. V (s) is defined as the fraction the sum over t in T (s), of rho sub t:T (t) minus 1, G sub t, over the absolute value of T (s), end fraction to E sub b [rho sub t:T minus 1, G sub t given S sub t equals s] equals E sub pi (G sub t given S sub t equals t). T (s) are the time steps that s was (first) visited. Gives an unbiased estimate of v sub pi (s) but the variance is extreme for low given T(s) given . Weighted importance sampling. V (s) is defined as the fraction the sum over t in T (s), of rho sub t:T (t) minus 1, G sub t, over the sum over t in T (s), of rho sub t:T (t) minus 1, end fraction to the fraction E sub b [rho sub t:T minus 1, G sub t given S sub t equals s], over E sub b [rho sub t:T (t) minus 1, given S sub t equals s], end fraction equals the fraction E sub pi (G sub t given S sub t equals t), over 1, end fraction. Set 0 if denominator is 0. Initially biased to v sub b (s) . The rho terms cancel for a single observation and G sub t is sampled using b . Bias falls asymptotically with more visits. Preferred method with much lower errors (variance) for smaller number of episodes">
                <a:extLst>
                  <a:ext uri="{FF2B5EF4-FFF2-40B4-BE49-F238E27FC236}">
                    <a16:creationId xmlns:a16="http://schemas.microsoft.com/office/drawing/2014/main" id="{119CF3B7-D5FB-96F8-28FE-3036E19FCB5C}"/>
                  </a:ext>
                </a:extLst>
              </p:cNvPr>
              <p:cNvSpPr>
                <a:spLocks noGrp="1"/>
              </p:cNvSpPr>
              <p:nvPr>
                <p:ph idx="1"/>
              </p:nvPr>
            </p:nvSpPr>
            <p:spPr>
              <a:xfrm>
                <a:off x="838200" y="1397330"/>
                <a:ext cx="10756692" cy="4779633"/>
              </a:xfrm>
            </p:spPr>
            <p:txBody>
              <a:bodyPr>
                <a:normAutofit fontScale="70000" lnSpcReduction="20000"/>
              </a:bodyPr>
              <a:lstStyle/>
              <a:p>
                <a:r>
                  <a:rPr lang="en-US" b="1" dirty="0"/>
                  <a:t>Ordinary importance sampling </a:t>
                </a:r>
                <a:r>
                  <a:rPr lang="en-US" dirty="0"/>
                  <a:t>averages the corrected sample returns</a:t>
                </a:r>
              </a:p>
              <a:p>
                <a:endParaRPr lang="en-US" dirty="0"/>
              </a:p>
              <a:p>
                <a:pPr marL="0" indent="0" algn="ctr">
                  <a:buNone/>
                </a:pPr>
                <a14:m>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𝒯</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𝑠</m:t>
                                </m:r>
                              </m:e>
                            </m:d>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𝜌</m:t>
                                </m:r>
                              </m:e>
                              <m: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𝑡</m:t>
                                </m:r>
                              </m:sub>
                            </m:sSub>
                          </m:e>
                        </m:nary>
                      </m:num>
                      <m:den>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𝒯</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𝑠</m:t>
                                </m:r>
                              </m:e>
                            </m:d>
                          </m:e>
                        </m:d>
                      </m:den>
                    </m:f>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𝑏</m:t>
                        </m:r>
                      </m:sub>
                    </m:s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sSub>
                              <m:sSubPr>
                                <m:ctrlPr>
                                  <a:rPr lang="en-US" i="1">
                                    <a:latin typeface="Cambria Math" panose="02040503050406030204" pitchFamily="18" charset="0"/>
                                  </a:rPr>
                                </m:ctrlPr>
                              </m:sSubPr>
                              <m:e>
                                <m:r>
                                  <a:rPr lang="en-US" i="1">
                                    <a:latin typeface="Cambria Math" panose="02040503050406030204" pitchFamily="18" charset="0"/>
                                  </a:rPr>
                                  <m:t>𝜌</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𝑇</m:t>
                                </m:r>
                                <m:r>
                                  <a:rPr lang="en-US" i="1">
                                    <a:latin typeface="Cambria Math" panose="02040503050406030204" pitchFamily="18" charset="0"/>
                                  </a:rPr>
                                  <m:t>−1</m:t>
                                </m:r>
                              </m:sub>
                            </m:sSub>
                            <m:r>
                              <a:rPr lang="en-US" i="1">
                                <a:latin typeface="Cambria Math" panose="02040503050406030204" pitchFamily="18" charset="0"/>
                                <a:ea typeface="Cambria Math" panose="02040503050406030204" pitchFamily="18" charset="0"/>
                              </a:rPr>
                              <m:t>𝐺</m:t>
                            </m:r>
                          </m:e>
                          <m:sub>
                            <m:r>
                              <a:rPr lang="en-US" i="1">
                                <a:latin typeface="Cambria Math" panose="02040503050406030204" pitchFamily="18" charset="0"/>
                                <a:ea typeface="Cambria Math" panose="02040503050406030204" pitchFamily="18" charset="0"/>
                              </a:rPr>
                              <m:t>𝑡</m:t>
                            </m:r>
                          </m:sub>
                        </m:sSub>
                      </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m:t>
                        </m:r>
                      </m:e>
                    </m:d>
                    <m:r>
                      <a:rPr lang="en-US" b="0" i="1" smtClean="0">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𝜋</m:t>
                        </m:r>
                      </m:sub>
                    </m:sSub>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𝐺</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e>
                    </m:d>
                  </m:oMath>
                </a14:m>
                <a:endParaRPr lang="en-US" dirty="0"/>
              </a:p>
              <a:p>
                <a:pPr lvl="1"/>
                <a:endParaRPr lang="en-US" i="1" dirty="0">
                  <a:latin typeface="Cambria Math" panose="02040503050406030204" pitchFamily="18" charset="0"/>
                  <a:ea typeface="Cambria Math" panose="02040503050406030204" pitchFamily="18" charset="0"/>
                </a:endParaRPr>
              </a:p>
              <a:p>
                <a:pPr lvl="1"/>
                <a14:m>
                  <m:oMath xmlns:m="http://schemas.openxmlformats.org/officeDocument/2006/math">
                    <m:r>
                      <a:rPr lang="en-US" i="1">
                        <a:latin typeface="Cambria Math" panose="02040503050406030204" pitchFamily="18" charset="0"/>
                        <a:ea typeface="Cambria Math" panose="02040503050406030204" pitchFamily="18" charset="0"/>
                      </a:rPr>
                      <m:t>𝒯</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𝑠</m:t>
                        </m:r>
                      </m:e>
                    </m:d>
                  </m:oMath>
                </a14:m>
                <a:r>
                  <a:rPr lang="en-US" dirty="0"/>
                  <a:t> are the time steps that </a:t>
                </a:r>
                <a14:m>
                  <m:oMath xmlns:m="http://schemas.openxmlformats.org/officeDocument/2006/math">
                    <m:r>
                      <a:rPr lang="en-US" i="1" dirty="0" smtClean="0">
                        <a:latin typeface="Cambria Math" panose="02040503050406030204" pitchFamily="18" charset="0"/>
                      </a:rPr>
                      <m:t>𝑠</m:t>
                    </m:r>
                  </m:oMath>
                </a14:m>
                <a:r>
                  <a:rPr lang="en-US" dirty="0"/>
                  <a:t> was (first) visited.</a:t>
                </a:r>
              </a:p>
              <a:p>
                <a:pPr lvl="1"/>
                <a:r>
                  <a:rPr lang="en-US" dirty="0"/>
                  <a:t>Gives an unbiased estimate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𝜋</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r>
                  <a:rPr lang="en-US" dirty="0"/>
                  <a:t> but the variance is extreme for low </a:t>
                </a:r>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𝒯</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oMath>
                </a14:m>
                <a:r>
                  <a:rPr lang="en-US" dirty="0"/>
                  <a:t>.</a:t>
                </a:r>
              </a:p>
              <a:p>
                <a:pPr marL="457200" lvl="1" indent="0">
                  <a:buNone/>
                </a:pPr>
                <a:endParaRPr lang="en-US" dirty="0"/>
              </a:p>
              <a:p>
                <a:r>
                  <a:rPr lang="en-US" b="1" dirty="0"/>
                  <a:t>Weighted importance sampling</a:t>
                </a:r>
              </a:p>
              <a:p>
                <a:endParaRPr lang="en-US" b="1" dirty="0"/>
              </a:p>
              <a:p>
                <a:pPr marL="0" indent="0">
                  <a:buNone/>
                </a:pPr>
                <a14:m>
                  <m:oMathPara xmlns:m="http://schemas.openxmlformats.org/officeDocument/2006/math">
                    <m:oMath>
                      <m:r>
                        <a:rPr lang="en-US" i="1">
                          <a:latin typeface="Cambria Math" panose="02040503050406030204" pitchFamily="18" charset="0"/>
                        </a:rPr>
                        <m:t>𝑉</m:t>
                      </m:r>
                      <m:d>
                        <m:dPr>
                          <m:ctrlPr>
                            <a:rPr lang="en-US" i="1">
                              <a:latin typeface="Cambria Math" panose="02040503050406030204" pitchFamily="18" charset="0"/>
                            </a:rPr>
                          </m:ctrlPr>
                        </m:dPr>
                        <m:e>
                          <m:r>
                            <a:rPr lang="en-US" i="1">
                              <a:latin typeface="Cambria Math" panose="02040503050406030204" pitchFamily="18" charset="0"/>
                            </a:rPr>
                            <m:t>𝑠</m:t>
                          </m:r>
                        </m:e>
                      </m:d>
                      <m:r>
                        <a:rPr lang="en-US" i="1">
                          <a:latin typeface="Cambria Math" panose="02040503050406030204" pitchFamily="18" charset="0"/>
                        </a:rPr>
                        <m:t>≝</m:t>
                      </m:r>
                      <m:f>
                        <m:fPr>
                          <m:ctrlPr>
                            <a:rPr lang="en-US" i="1">
                              <a:latin typeface="Cambria Math" panose="02040503050406030204" pitchFamily="18" charset="0"/>
                            </a:rPr>
                          </m:ctrlPr>
                        </m:fPr>
                        <m:num>
                          <m:nary>
                            <m:naryPr>
                              <m:chr m:val="∑"/>
                              <m:supHide m:val="on"/>
                              <m:ctrlPr>
                                <a:rPr lang="en-US" i="1">
                                  <a:latin typeface="Cambria Math" panose="02040503050406030204" pitchFamily="18" charset="0"/>
                                </a:rPr>
                              </m:ctrlPr>
                            </m:naryPr>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𝒯</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𝑠</m:t>
                                  </m:r>
                                </m:e>
                              </m:d>
                            </m:sub>
                            <m:sup/>
                            <m:e>
                              <m:sSub>
                                <m:sSubPr>
                                  <m:ctrlPr>
                                    <a:rPr lang="en-US" i="1">
                                      <a:latin typeface="Cambria Math" panose="02040503050406030204" pitchFamily="18" charset="0"/>
                                    </a:rPr>
                                  </m:ctrlPr>
                                </m:sSubPr>
                                <m:e>
                                  <m:r>
                                    <a:rPr lang="en-US" i="1">
                                      <a:latin typeface="Cambria Math" panose="02040503050406030204" pitchFamily="18" charset="0"/>
                                    </a:rPr>
                                    <m:t>𝜌</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𝑇</m:t>
                                  </m:r>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sub>
                              </m:sSub>
                            </m:e>
                          </m:nary>
                        </m:num>
                        <m:den>
                          <m:nary>
                            <m:naryPr>
                              <m:chr m:val="∑"/>
                              <m:supHide m:val="on"/>
                              <m:ctrlPr>
                                <a:rPr lang="en-US" i="1">
                                  <a:latin typeface="Cambria Math" panose="02040503050406030204" pitchFamily="18" charset="0"/>
                                </a:rPr>
                              </m:ctrlPr>
                            </m:naryPr>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𝒯</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𝑠</m:t>
                                  </m:r>
                                </m:e>
                              </m:d>
                            </m:sub>
                            <m:sup/>
                            <m:e>
                              <m:sSub>
                                <m:sSubPr>
                                  <m:ctrlPr>
                                    <a:rPr lang="en-US" i="1">
                                      <a:latin typeface="Cambria Math" panose="02040503050406030204" pitchFamily="18" charset="0"/>
                                    </a:rPr>
                                  </m:ctrlPr>
                                </m:sSubPr>
                                <m:e>
                                  <m:r>
                                    <a:rPr lang="en-US" i="1">
                                      <a:latin typeface="Cambria Math" panose="02040503050406030204" pitchFamily="18" charset="0"/>
                                    </a:rPr>
                                    <m:t>𝜌</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𝑇</m:t>
                                  </m:r>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−1</m:t>
                                  </m:r>
                                </m:sub>
                              </m:sSub>
                            </m:e>
                          </m:nary>
                        </m:den>
                      </m:f>
                      <m:r>
                        <a:rPr lang="en-US" i="1">
                          <a:latin typeface="Cambria Math" panose="02040503050406030204" pitchFamily="18" charset="0"/>
                          <a:ea typeface="Cambria Math" panose="02040503050406030204" pitchFamily="18" charset="0"/>
                        </a:rPr>
                        <m:t>⟶ </m:t>
                      </m:r>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𝑏</m:t>
                              </m:r>
                            </m:sub>
                          </m:s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sSub>
                                    <m:sSubPr>
                                      <m:ctrlPr>
                                        <a:rPr lang="en-US" i="1">
                                          <a:latin typeface="Cambria Math" panose="02040503050406030204" pitchFamily="18" charset="0"/>
                                        </a:rPr>
                                      </m:ctrlPr>
                                    </m:sSubPr>
                                    <m:e>
                                      <m:r>
                                        <a:rPr lang="en-US" i="1">
                                          <a:latin typeface="Cambria Math" panose="02040503050406030204" pitchFamily="18" charset="0"/>
                                        </a:rPr>
                                        <m:t>𝜌</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𝑇</m:t>
                                      </m:r>
                                      <m:r>
                                        <a:rPr lang="en-US" i="1">
                                          <a:latin typeface="Cambria Math" panose="02040503050406030204" pitchFamily="18" charset="0"/>
                                        </a:rPr>
                                        <m:t>−1</m:t>
                                      </m:r>
                                    </m:sub>
                                  </m:sSub>
                                  <m:r>
                                    <a:rPr lang="en-US" i="1">
                                      <a:latin typeface="Cambria Math" panose="02040503050406030204" pitchFamily="18" charset="0"/>
                                      <a:ea typeface="Cambria Math" panose="02040503050406030204" pitchFamily="18" charset="0"/>
                                    </a:rPr>
                                    <m:t>𝐺</m:t>
                                  </m:r>
                                </m:e>
                                <m:sub>
                                  <m:r>
                                    <a:rPr lang="en-US" i="1">
                                      <a:latin typeface="Cambria Math" panose="02040503050406030204" pitchFamily="18" charset="0"/>
                                      <a:ea typeface="Cambria Math" panose="02040503050406030204" pitchFamily="18" charset="0"/>
                                    </a:rPr>
                                    <m:t>𝑡</m:t>
                                  </m:r>
                                </m:sub>
                              </m:sSub>
                            </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m:t>
                              </m:r>
                            </m:e>
                          </m:d>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𝑏</m:t>
                              </m:r>
                            </m:sub>
                          </m:s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𝜌</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𝑇</m:t>
                                  </m:r>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−1</m:t>
                                  </m:r>
                                </m:sub>
                              </m:sSub>
                            </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m:t>
                              </m:r>
                            </m:e>
                          </m:d>
                        </m:den>
                      </m:f>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𝜋</m:t>
                              </m:r>
                            </m:sub>
                          </m:sSub>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𝐺</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e>
                          </m:d>
                        </m:num>
                        <m:den>
                          <m:r>
                            <a:rPr lang="en-US" b="0" i="1" smtClean="0">
                              <a:latin typeface="Cambria Math" panose="02040503050406030204" pitchFamily="18" charset="0"/>
                              <a:ea typeface="Cambria Math" panose="02040503050406030204" pitchFamily="18" charset="0"/>
                            </a:rPr>
                            <m:t>1</m:t>
                          </m:r>
                        </m:den>
                      </m:f>
                    </m:oMath>
                  </m:oMathPara>
                </a14:m>
                <a:endParaRPr lang="en-US" dirty="0"/>
              </a:p>
              <a:p>
                <a:pPr lvl="1"/>
                <a:endParaRPr lang="en-US" dirty="0"/>
              </a:p>
              <a:p>
                <a:pPr lvl="1"/>
                <a:r>
                  <a:rPr lang="en-US" dirty="0"/>
                  <a:t>Set 0 if denominator is 0.</a:t>
                </a:r>
              </a:p>
              <a:p>
                <a:pPr lvl="1"/>
                <a:r>
                  <a:rPr lang="en-US" dirty="0"/>
                  <a:t>Initially biased to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𝑏</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oMath>
                </a14:m>
                <a:r>
                  <a:rPr lang="en-US" dirty="0"/>
                  <a:t>. The </a:t>
                </a:r>
                <a14:m>
                  <m:oMath xmlns:m="http://schemas.openxmlformats.org/officeDocument/2006/math">
                    <m:r>
                      <a:rPr lang="en-US" b="0" i="1" smtClean="0">
                        <a:latin typeface="Cambria Math" panose="02040503050406030204" pitchFamily="18" charset="0"/>
                      </a:rPr>
                      <m:t>𝜌</m:t>
                    </m:r>
                  </m:oMath>
                </a14:m>
                <a:r>
                  <a:rPr lang="en-US" dirty="0"/>
                  <a:t> terms cancel for a single observation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𝑡</m:t>
                        </m:r>
                      </m:sub>
                    </m:sSub>
                  </m:oMath>
                </a14:m>
                <a:r>
                  <a:rPr lang="en-US" dirty="0"/>
                  <a:t> is sampled using </a:t>
                </a:r>
                <a14:m>
                  <m:oMath xmlns:m="http://schemas.openxmlformats.org/officeDocument/2006/math">
                    <m:r>
                      <a:rPr lang="en-US" b="0" i="1" smtClean="0">
                        <a:latin typeface="Cambria Math" panose="02040503050406030204" pitchFamily="18" charset="0"/>
                      </a:rPr>
                      <m:t>𝑏</m:t>
                    </m:r>
                  </m:oMath>
                </a14:m>
                <a:r>
                  <a:rPr lang="en-US" dirty="0"/>
                  <a:t>. </a:t>
                </a:r>
              </a:p>
              <a:p>
                <a:pPr lvl="1"/>
                <a:r>
                  <a:rPr lang="en-US" dirty="0"/>
                  <a:t>Bias falls asymptotically with more visits</a:t>
                </a:r>
              </a:p>
              <a:p>
                <a:pPr lvl="1"/>
                <a:r>
                  <a:rPr lang="en-US" dirty="0"/>
                  <a:t>Preferred method with much lower errors (variance) for smaller number of episodes.</a:t>
                </a:r>
              </a:p>
              <a:p>
                <a:pPr marL="0" indent="0">
                  <a:buNone/>
                </a:pPr>
                <a:endParaRPr lang="en-US" dirty="0"/>
              </a:p>
            </p:txBody>
          </p:sp>
        </mc:Choice>
        <mc:Fallback xmlns="">
          <p:sp>
            <p:nvSpPr>
              <p:cNvPr id="3" name="Content Placeholder 2" descr="Ordinary importance sampling averages the corrected sample returns. V (s) is defined as the fraction the sum over t in T (s), of rho sub t:T (t) minus 1, G sub t, over the absolute value of T (s), end fraction to E sub b [rho sub t:T minus 1, G sub t given S sub t equals s] equals E sub pi (G sub t given S sub t equals t). T (s) are the time steps that s was (first) visited. Gives an unbiased estimate of v sub pi (s) but the variance is extreme for low given T(s) given . Weighted importance sampling. V (s) is defined as the fraction the sum over t in T (s), of rho sub t:T (t) minus 1, G sub t, over the sum over t in T (s), of rho sub t:T (t) minus 1, end fraction to the fraction E sub b [rho sub t:T minus 1, G sub t given S sub t equals s], over E sub b [rho sub t:T (t) minus 1, given S sub t equals s], end fraction equals the fraction E sub pi (G sub t given S sub t equals t), over 1, end fraction. Set 0 if denominator is 0. Initially biased to v sub b (s) . The rho terms cancel for a single observation and G sub t is sampled using b . Bias falls asymptotically with more visits. Preferred method with much lower errors (variance) for smaller number of episodes">
                <a:extLst>
                  <a:ext uri="{FF2B5EF4-FFF2-40B4-BE49-F238E27FC236}">
                    <a16:creationId xmlns:a16="http://schemas.microsoft.com/office/drawing/2014/main" id="{119CF3B7-D5FB-96F8-28FE-3036E19FCB5C}"/>
                  </a:ext>
                </a:extLst>
              </p:cNvPr>
              <p:cNvSpPr>
                <a:spLocks noGrp="1" noRot="1" noChangeAspect="1" noMove="1" noResize="1" noEditPoints="1" noAdjustHandles="1" noChangeArrowheads="1" noChangeShapeType="1" noTextEdit="1"/>
              </p:cNvSpPr>
              <p:nvPr>
                <p:ph idx="1"/>
              </p:nvPr>
            </p:nvSpPr>
            <p:spPr>
              <a:xfrm>
                <a:off x="838200" y="1397330"/>
                <a:ext cx="10756692" cy="4779633"/>
              </a:xfrm>
              <a:blipFill>
                <a:blip r:embed="rId2"/>
                <a:stretch>
                  <a:fillRect l="-510" t="-216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Speech Bubble: Rectangle with Corners Rounded 3" descr="Note: the the fraction the absolute value of T (s), over the absolute value of T (s), end fraction is missing since it canceled out">
                <a:extLst>
                  <a:ext uri="{FF2B5EF4-FFF2-40B4-BE49-F238E27FC236}">
                    <a16:creationId xmlns:a16="http://schemas.microsoft.com/office/drawing/2014/main" id="{973F806E-FECA-64FB-F357-93F22C9B9D71}"/>
                  </a:ext>
                </a:extLst>
              </p:cNvPr>
              <p:cNvSpPr/>
              <p:nvPr/>
            </p:nvSpPr>
            <p:spPr>
              <a:xfrm>
                <a:off x="10080885" y="2572942"/>
                <a:ext cx="1761343" cy="1214204"/>
              </a:xfrm>
              <a:prstGeom prst="wedgeRoundRectCallout">
                <a:avLst>
                  <a:gd name="adj1" fmla="val -297028"/>
                  <a:gd name="adj2" fmla="val 8045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Note: the </a:t>
                </a:r>
                <a14:m>
                  <m:oMath xmlns:m="http://schemas.openxmlformats.org/officeDocument/2006/math">
                    <m:f>
                      <m:fPr>
                        <m:ctrlPr>
                          <a:rPr lang="en-US" sz="1600" i="1">
                            <a:latin typeface="Cambria Math" panose="02040503050406030204" pitchFamily="18" charset="0"/>
                            <a:ea typeface="Cambria Math" panose="02040503050406030204" pitchFamily="18" charset="0"/>
                          </a:rPr>
                        </m:ctrlPr>
                      </m:fPr>
                      <m:num>
                        <m:d>
                          <m:dPr>
                            <m:begChr m:val="|"/>
                            <m:endChr m:val="|"/>
                            <m:ctrlPr>
                              <a:rPr lang="en-US" sz="1600" i="1">
                                <a:latin typeface="Cambria Math" panose="02040503050406030204" pitchFamily="18" charset="0"/>
                                <a:ea typeface="Cambria Math" panose="02040503050406030204" pitchFamily="18" charset="0"/>
                              </a:rPr>
                            </m:ctrlPr>
                          </m:dPr>
                          <m:e>
                            <m:r>
                              <a:rPr lang="en-US" sz="1600" i="1">
                                <a:latin typeface="Cambria Math" panose="02040503050406030204" pitchFamily="18" charset="0"/>
                                <a:ea typeface="Cambria Math" panose="02040503050406030204" pitchFamily="18" charset="0"/>
                              </a:rPr>
                              <m:t>𝒯</m:t>
                            </m:r>
                            <m:d>
                              <m:dPr>
                                <m:ctrlPr>
                                  <a:rPr lang="en-US" sz="1600" i="1">
                                    <a:latin typeface="Cambria Math" panose="02040503050406030204" pitchFamily="18" charset="0"/>
                                    <a:ea typeface="Cambria Math" panose="02040503050406030204" pitchFamily="18" charset="0"/>
                                  </a:rPr>
                                </m:ctrlPr>
                              </m:dPr>
                              <m:e>
                                <m:r>
                                  <a:rPr lang="en-US" sz="1600" i="1">
                                    <a:latin typeface="Cambria Math" panose="02040503050406030204" pitchFamily="18" charset="0"/>
                                    <a:ea typeface="Cambria Math" panose="02040503050406030204" pitchFamily="18" charset="0"/>
                                  </a:rPr>
                                  <m:t>𝑠</m:t>
                                </m:r>
                              </m:e>
                            </m:d>
                          </m:e>
                        </m:d>
                      </m:num>
                      <m:den>
                        <m:d>
                          <m:dPr>
                            <m:begChr m:val="|"/>
                            <m:endChr m:val="|"/>
                            <m:ctrlPr>
                              <a:rPr lang="en-US" sz="1600" i="1">
                                <a:latin typeface="Cambria Math" panose="02040503050406030204" pitchFamily="18" charset="0"/>
                                <a:ea typeface="Cambria Math" panose="02040503050406030204" pitchFamily="18" charset="0"/>
                              </a:rPr>
                            </m:ctrlPr>
                          </m:dPr>
                          <m:e>
                            <m:r>
                              <a:rPr lang="en-US" sz="1600" i="1">
                                <a:latin typeface="Cambria Math" panose="02040503050406030204" pitchFamily="18" charset="0"/>
                                <a:ea typeface="Cambria Math" panose="02040503050406030204" pitchFamily="18" charset="0"/>
                              </a:rPr>
                              <m:t>𝒯</m:t>
                            </m:r>
                            <m:d>
                              <m:dPr>
                                <m:ctrlPr>
                                  <a:rPr lang="en-US" sz="1600" i="1">
                                    <a:latin typeface="Cambria Math" panose="02040503050406030204" pitchFamily="18" charset="0"/>
                                    <a:ea typeface="Cambria Math" panose="02040503050406030204" pitchFamily="18" charset="0"/>
                                  </a:rPr>
                                </m:ctrlPr>
                              </m:dPr>
                              <m:e>
                                <m:r>
                                  <a:rPr lang="en-US" sz="1600" i="1">
                                    <a:latin typeface="Cambria Math" panose="02040503050406030204" pitchFamily="18" charset="0"/>
                                    <a:ea typeface="Cambria Math" panose="02040503050406030204" pitchFamily="18" charset="0"/>
                                  </a:rPr>
                                  <m:t>𝑠</m:t>
                                </m:r>
                              </m:e>
                            </m:d>
                          </m:e>
                        </m:d>
                      </m:den>
                    </m:f>
                  </m:oMath>
                </a14:m>
                <a:r>
                  <a:rPr lang="en-US" sz="1600" dirty="0"/>
                  <a:t> is missing since it canceled out.</a:t>
                </a:r>
              </a:p>
            </p:txBody>
          </p:sp>
        </mc:Choice>
        <mc:Fallback xmlns="">
          <p:sp>
            <p:nvSpPr>
              <p:cNvPr id="4" name="Speech Bubble: Rectangle with Corners Rounded 3" descr="Note: the the fraction the absolute value of T (s), over the absolute value of T (s), end fraction is missing since it canceled out">
                <a:extLst>
                  <a:ext uri="{FF2B5EF4-FFF2-40B4-BE49-F238E27FC236}">
                    <a16:creationId xmlns:a16="http://schemas.microsoft.com/office/drawing/2014/main" id="{973F806E-FECA-64FB-F357-93F22C9B9D71}"/>
                  </a:ext>
                </a:extLst>
              </p:cNvPr>
              <p:cNvSpPr>
                <a:spLocks noRot="1" noChangeAspect="1" noMove="1" noResize="1" noEditPoints="1" noAdjustHandles="1" noChangeArrowheads="1" noChangeShapeType="1" noTextEdit="1"/>
              </p:cNvSpPr>
              <p:nvPr/>
            </p:nvSpPr>
            <p:spPr>
              <a:xfrm>
                <a:off x="10080885" y="2572942"/>
                <a:ext cx="1761343" cy="1214204"/>
              </a:xfrm>
              <a:prstGeom prst="wedgeRoundRectCallout">
                <a:avLst>
                  <a:gd name="adj1" fmla="val -297028"/>
                  <a:gd name="adj2" fmla="val 80458"/>
                  <a:gd name="adj3" fmla="val 16667"/>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43986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1" end="1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2" end="1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3" end="1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4" end="1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6E673-7BE2-C7DB-FDB9-3F97190C8A21}"/>
              </a:ext>
            </a:extLst>
          </p:cNvPr>
          <p:cNvSpPr>
            <a:spLocks noGrp="1"/>
          </p:cNvSpPr>
          <p:nvPr>
            <p:ph type="title"/>
          </p:nvPr>
        </p:nvSpPr>
        <p:spPr/>
        <p:txBody>
          <a:bodyPr>
            <a:normAutofit/>
          </a:bodyPr>
          <a:lstStyle/>
          <a:p>
            <a:r>
              <a:rPr lang="en-US" dirty="0"/>
              <a:t>Alg. Off-Policy Prediction</a:t>
            </a:r>
          </a:p>
        </p:txBody>
      </p:sp>
      <p:pic>
        <p:nvPicPr>
          <p:cNvPr id="3" name="Content Placeholder 4" descr="Algorithm box: On-policy first-visit MC control (for epsilon-soft policies), estimates pi ≈ pi star. Algorithm parameter: small epsilon &gt; 0. Initialize: pi ← an arbitrary epsilon-soft policy; Q(s, a) in R (arbitrarily), for all s in S, a in A(s); Returns(s, a) ← empty list, for all s in S, a in A(s). Repeat forever (for each episode): Generate an episode following pi: S_0, A_0, R_1, …, S_T−1, A_T−1, R_T; G ← 0; Loop for each step of episode, t = T−1, T−2, …, 0: G ← gamma G + R_t+1; Unless the pair S_t, A_t appears in S_0, A_0, S_1, A_1, …, S_t−1, A_t−1: Append G to Returns(S_t, A_t); Q(S_t, A_t) ← average(Returns(S_t, A_t)); A star ← argmax over a of Q(S_t, a) (with ties broken arbitrarily); For all a in A(S_t): pi(a | S_t) ← 1 − epsilon + epsilon / |A(S_t)| if a = A star, or epsilon / |A(S_t)| if a ≠ A star.">
            <a:extLst>
              <a:ext uri="{FF2B5EF4-FFF2-40B4-BE49-F238E27FC236}">
                <a16:creationId xmlns:a16="http://schemas.microsoft.com/office/drawing/2014/main" id="{9D607B85-E12F-346B-31F9-19075BE2D56E}"/>
              </a:ext>
            </a:extLst>
          </p:cNvPr>
          <p:cNvPicPr>
            <a:picLocks noChangeAspect="1"/>
          </p:cNvPicPr>
          <p:nvPr/>
        </p:nvPicPr>
        <p:blipFill>
          <a:blip r:embed="rId2"/>
          <a:srcRect l="2189" t="2792"/>
          <a:stretch>
            <a:fillRect/>
          </a:stretch>
        </p:blipFill>
        <p:spPr>
          <a:xfrm>
            <a:off x="469383" y="1407853"/>
            <a:ext cx="7289930" cy="4646532"/>
          </a:xfrm>
          <a:prstGeom prst="rect">
            <a:avLst/>
          </a:prstGeom>
        </p:spPr>
      </p:pic>
      <p:pic>
        <p:nvPicPr>
          <p:cNvPr id="5" name="Content Placeholder 4" descr="Algorithm box: Off-policy MC prediction (policy evaluation) for estimating Q ≈ q pi. Input: an arbitrary target policy pi. Initialize, for all s in S, a in A(s): Q(s, a) in R (arbitrarily); C(s, a) ← 0. Loop forever (for each episode): b ← any policy with coverage of pi; Generate an episode following b: S_0, A_0, R_1, …, S_T−1, A_T−1, R_T; G ← 0; W ← 1; Loop for each step of episode, t = T−1, T−2, …, 0, while W ≠ 0: G ← gamma G + R_t+1; C(S_t, A_t) ← C(S_t, A_t) + W; Q(S_t, A_t) ← Q(S_t, A_t) + W / C(S_t, A_t) times [G − Q(S_t, A_t)]; W ← W times pi(A_t | S_t) / b(A_t | S_t).">
            <a:extLst>
              <a:ext uri="{FF2B5EF4-FFF2-40B4-BE49-F238E27FC236}">
                <a16:creationId xmlns:a16="http://schemas.microsoft.com/office/drawing/2014/main" id="{36124268-92F3-21D3-714E-81C827A57502}"/>
              </a:ext>
            </a:extLst>
          </p:cNvPr>
          <p:cNvPicPr>
            <a:picLocks noGrp="1" noChangeAspect="1"/>
          </p:cNvPicPr>
          <p:nvPr>
            <p:ph idx="1"/>
          </p:nvPr>
        </p:nvPicPr>
        <p:blipFill>
          <a:blip r:embed="rId3"/>
          <a:srcRect l="1704" t="4119"/>
          <a:stretch>
            <a:fillRect/>
          </a:stretch>
        </p:blipFill>
        <p:spPr>
          <a:xfrm>
            <a:off x="3612104" y="2043478"/>
            <a:ext cx="8155700" cy="4583055"/>
          </a:xfrm>
          <a:prstGeom prst="rect">
            <a:avLst/>
          </a:prstGeom>
        </p:spPr>
      </p:pic>
      <mc:AlternateContent xmlns:mc="http://schemas.openxmlformats.org/markup-compatibility/2006" xmlns:a14="http://schemas.microsoft.com/office/drawing/2010/main">
        <mc:Choice Requires="a14">
          <p:sp>
            <p:nvSpPr>
              <p:cNvPr id="4" name="Speech Bubble: Rectangle with Corners Rounded 3">
                <a:extLst>
                  <a:ext uri="{FF2B5EF4-FFF2-40B4-BE49-F238E27FC236}">
                    <a16:creationId xmlns:a16="http://schemas.microsoft.com/office/drawing/2014/main" id="{400122CB-5042-9A2C-2C7B-E89FEF68B1CE}"/>
                  </a:ext>
                  <a:ext uri="{C183D7F6-B498-43B3-948B-1728B52AA6E4}">
                    <adec:decorative xmlns:adec="http://schemas.microsoft.com/office/drawing/2017/decorative" val="1"/>
                  </a:ext>
                </a:extLst>
              </p:cNvPr>
              <p:cNvSpPr/>
              <p:nvPr/>
            </p:nvSpPr>
            <p:spPr>
              <a:xfrm>
                <a:off x="7176780" y="2969702"/>
                <a:ext cx="3538112" cy="503339"/>
              </a:xfrm>
              <a:prstGeom prst="wedgeRoundRectCallout">
                <a:avLst>
                  <a:gd name="adj1" fmla="val -101623"/>
                  <a:gd name="adj2" fmla="val 36413"/>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cumulative sum of weights for </a:t>
                </a:r>
                <a14:m>
                  <m:oMath xmlns:m="http://schemas.openxmlformats.org/officeDocument/2006/math">
                    <m:r>
                      <a:rPr lang="en-US" sz="1200" i="1" dirty="0">
                        <a:latin typeface="Cambria Math" panose="02040503050406030204" pitchFamily="18" charset="0"/>
                      </a:rPr>
                      <m:t>(</m:t>
                    </m:r>
                    <m:r>
                      <a:rPr lang="en-US" sz="1200" i="1" dirty="0" err="1">
                        <a:latin typeface="Cambria Math" panose="02040503050406030204" pitchFamily="18" charset="0"/>
                      </a:rPr>
                      <m:t>𝑠</m:t>
                    </m:r>
                    <m:r>
                      <a:rPr lang="en-US" sz="1200" i="1" dirty="0" err="1">
                        <a:latin typeface="Cambria Math" panose="02040503050406030204" pitchFamily="18" charset="0"/>
                      </a:rPr>
                      <m:t>,</m:t>
                    </m:r>
                    <m:r>
                      <a:rPr lang="en-US" sz="1200" i="1" dirty="0" err="1">
                        <a:latin typeface="Cambria Math" panose="02040503050406030204" pitchFamily="18" charset="0"/>
                      </a:rPr>
                      <m:t>𝑎</m:t>
                    </m:r>
                    <m:r>
                      <a:rPr lang="en-US" sz="1200" i="1" dirty="0">
                        <a:latin typeface="Cambria Math" panose="02040503050406030204" pitchFamily="18" charset="0"/>
                      </a:rPr>
                      <m:t>)</m:t>
                    </m:r>
                  </m:oMath>
                </a14:m>
                <a:r>
                  <a:rPr lang="en-US" sz="1200" dirty="0"/>
                  <a:t> for incremental update of the average return.</a:t>
                </a:r>
              </a:p>
            </p:txBody>
          </p:sp>
        </mc:Choice>
        <mc:Fallback xmlns="">
          <p:sp>
            <p:nvSpPr>
              <p:cNvPr id="4" name="Speech Bubble: Rectangle with Corners Rounded 3">
                <a:extLst>
                  <a:ext uri="{FF2B5EF4-FFF2-40B4-BE49-F238E27FC236}">
                    <a16:creationId xmlns:a16="http://schemas.microsoft.com/office/drawing/2014/main" id="{400122CB-5042-9A2C-2C7B-E89FEF68B1CE}"/>
                  </a:ext>
                  <a:ext uri="{C183D7F6-B498-43B3-948B-1728B52AA6E4}">
                    <adec:decorative xmlns:adec="http://schemas.microsoft.com/office/drawing/2017/decorative" val="1"/>
                  </a:ext>
                </a:extLst>
              </p:cNvPr>
              <p:cNvSpPr>
                <a:spLocks noRot="1" noChangeAspect="1" noMove="1" noResize="1" noEditPoints="1" noAdjustHandles="1" noChangeArrowheads="1" noChangeShapeType="1" noTextEdit="1"/>
              </p:cNvSpPr>
              <p:nvPr/>
            </p:nvSpPr>
            <p:spPr>
              <a:xfrm>
                <a:off x="7176780" y="2969702"/>
                <a:ext cx="3538112" cy="503339"/>
              </a:xfrm>
              <a:prstGeom prst="wedgeRoundRectCallout">
                <a:avLst>
                  <a:gd name="adj1" fmla="val -101623"/>
                  <a:gd name="adj2" fmla="val 36413"/>
                  <a:gd name="adj3" fmla="val 16667"/>
                </a:avLst>
              </a:prstGeom>
              <a:blipFill>
                <a:blip r:embed="rId4"/>
                <a:stretch>
                  <a:fillRect/>
                </a:stretch>
              </a:blipFill>
            </p:spPr>
            <p:txBody>
              <a:bodyPr/>
              <a:lstStyle/>
              <a:p>
                <a:r>
                  <a:rPr lang="en-US">
                    <a:noFill/>
                  </a:rPr>
                  <a:t> </a:t>
                </a:r>
              </a:p>
            </p:txBody>
          </p:sp>
        </mc:Fallback>
      </mc:AlternateContent>
      <p:sp>
        <p:nvSpPr>
          <p:cNvPr id="7" name="Speech Bubble: Rectangle with Corners Rounded 6">
            <a:extLst>
              <a:ext uri="{FF2B5EF4-FFF2-40B4-BE49-F238E27FC236}">
                <a16:creationId xmlns:a16="http://schemas.microsoft.com/office/drawing/2014/main" id="{F6850AEC-92A1-9747-9C72-EC0B580331BC}"/>
              </a:ext>
              <a:ext uri="{C183D7F6-B498-43B3-948B-1728B52AA6E4}">
                <adec:decorative xmlns:adec="http://schemas.microsoft.com/office/drawing/2017/decorative" val="1"/>
              </a:ext>
            </a:extLst>
          </p:cNvPr>
          <p:cNvSpPr/>
          <p:nvPr/>
        </p:nvSpPr>
        <p:spPr>
          <a:xfrm>
            <a:off x="8191849" y="6125128"/>
            <a:ext cx="3049398" cy="195743"/>
          </a:xfrm>
          <a:prstGeom prst="wedgeRoundRectCallout">
            <a:avLst>
              <a:gd name="adj1" fmla="val -69966"/>
              <a:gd name="adj2" fmla="val -11369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Incremental update + Correct the update</a:t>
            </a:r>
          </a:p>
        </p:txBody>
      </p:sp>
      <mc:AlternateContent xmlns:mc="http://schemas.openxmlformats.org/markup-compatibility/2006" xmlns:a14="http://schemas.microsoft.com/office/drawing/2010/main">
        <mc:Choice Requires="a14">
          <p:sp>
            <p:nvSpPr>
              <p:cNvPr id="8" name="Speech Bubble: Rectangle with Corners Rounded 7">
                <a:extLst>
                  <a:ext uri="{FF2B5EF4-FFF2-40B4-BE49-F238E27FC236}">
                    <a16:creationId xmlns:a16="http://schemas.microsoft.com/office/drawing/2014/main" id="{1557B3F2-5E6A-602A-6628-DB351997E873}"/>
                  </a:ext>
                  <a:ext uri="{C183D7F6-B498-43B3-948B-1728B52AA6E4}">
                    <adec:decorative xmlns:adec="http://schemas.microsoft.com/office/drawing/2017/decorative" val="1"/>
                  </a:ext>
                </a:extLst>
              </p:cNvPr>
              <p:cNvSpPr/>
              <p:nvPr/>
            </p:nvSpPr>
            <p:spPr>
              <a:xfrm>
                <a:off x="7218581" y="3596151"/>
                <a:ext cx="4549223" cy="263873"/>
              </a:xfrm>
              <a:prstGeom prst="wedgeRoundRectCallout">
                <a:avLst>
                  <a:gd name="adj1" fmla="val -46626"/>
                  <a:gd name="adj2" fmla="val 117874"/>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1200" b="0" i="1" dirty="0" smtClean="0">
                        <a:latin typeface="Cambria Math" panose="02040503050406030204" pitchFamily="18" charset="0"/>
                      </a:rPr>
                      <m:t>𝑏</m:t>
                    </m:r>
                  </m:oMath>
                </a14:m>
                <a:r>
                  <a:rPr lang="en-US" sz="1200" dirty="0"/>
                  <a:t> can change every episode! Practical choice is </a:t>
                </a:r>
                <a14:m>
                  <m:oMath xmlns:m="http://schemas.openxmlformats.org/officeDocument/2006/math">
                    <m:r>
                      <a:rPr lang="en-US" sz="1200" b="0" i="1" smtClean="0">
                        <a:latin typeface="Cambria Math" panose="02040503050406030204" pitchFamily="18" charset="0"/>
                      </a:rPr>
                      <m:t>𝑏</m:t>
                    </m:r>
                    <m:r>
                      <a:rPr lang="en-US" sz="1200" b="0" i="1" smtClean="0">
                        <a:latin typeface="Cambria Math" panose="02040503050406030204" pitchFamily="18" charset="0"/>
                      </a:rPr>
                      <m:t>=</m:t>
                    </m:r>
                    <m:r>
                      <m:rPr>
                        <m:nor/>
                      </m:rPr>
                      <a:rPr lang="en-US" sz="1200" b="0" i="0" smtClean="0">
                        <a:latin typeface="Cambria Math" panose="02040503050406030204" pitchFamily="18" charset="0"/>
                      </a:rPr>
                      <m:t>ϵ−greedy</m:t>
                    </m:r>
                    <m:r>
                      <a:rPr lang="en-US" sz="1200" b="0" i="1" smtClean="0">
                        <a:latin typeface="Cambria Math" panose="02040503050406030204" pitchFamily="18" charset="0"/>
                      </a:rPr>
                      <m:t>(</m:t>
                    </m:r>
                    <m:r>
                      <a:rPr lang="en-US" sz="1200" b="0" i="1" smtClean="0">
                        <a:latin typeface="Cambria Math" panose="02040503050406030204" pitchFamily="18" charset="0"/>
                      </a:rPr>
                      <m:t>𝜋</m:t>
                    </m:r>
                    <m:r>
                      <a:rPr lang="en-US" sz="1200" b="0" i="1" smtClean="0">
                        <a:latin typeface="Cambria Math" panose="02040503050406030204" pitchFamily="18" charset="0"/>
                      </a:rPr>
                      <m:t>)</m:t>
                    </m:r>
                  </m:oMath>
                </a14:m>
                <a:endParaRPr lang="en-US" sz="1200" dirty="0"/>
              </a:p>
            </p:txBody>
          </p:sp>
        </mc:Choice>
        <mc:Fallback xmlns="">
          <p:sp>
            <p:nvSpPr>
              <p:cNvPr id="8" name="Speech Bubble: Rectangle with Corners Rounded 7">
                <a:extLst>
                  <a:ext uri="{FF2B5EF4-FFF2-40B4-BE49-F238E27FC236}">
                    <a16:creationId xmlns:a16="http://schemas.microsoft.com/office/drawing/2014/main" id="{1557B3F2-5E6A-602A-6628-DB351997E873}"/>
                  </a:ext>
                  <a:ext uri="{C183D7F6-B498-43B3-948B-1728B52AA6E4}">
                    <adec:decorative xmlns:adec="http://schemas.microsoft.com/office/drawing/2017/decorative" val="1"/>
                  </a:ext>
                </a:extLst>
              </p:cNvPr>
              <p:cNvSpPr>
                <a:spLocks noRot="1" noChangeAspect="1" noMove="1" noResize="1" noEditPoints="1" noAdjustHandles="1" noChangeArrowheads="1" noChangeShapeType="1" noTextEdit="1"/>
              </p:cNvSpPr>
              <p:nvPr/>
            </p:nvSpPr>
            <p:spPr>
              <a:xfrm>
                <a:off x="7218581" y="3596151"/>
                <a:ext cx="4549223" cy="263873"/>
              </a:xfrm>
              <a:prstGeom prst="wedgeRoundRectCallout">
                <a:avLst>
                  <a:gd name="adj1" fmla="val -46626"/>
                  <a:gd name="adj2" fmla="val 117874"/>
                  <a:gd name="adj3" fmla="val 16667"/>
                </a:avLst>
              </a:prstGeom>
              <a:blipFill>
                <a:blip r:embed="rId5"/>
                <a:stretch>
                  <a:fillRect/>
                </a:stretch>
              </a:blipFill>
            </p:spPr>
            <p:txBody>
              <a:bodyPr/>
              <a:lstStyle/>
              <a:p>
                <a:r>
                  <a:rPr lang="en-US">
                    <a:noFill/>
                  </a:rPr>
                  <a:t> </a:t>
                </a:r>
              </a:p>
            </p:txBody>
          </p:sp>
        </mc:Fallback>
      </mc:AlternateContent>
      <p:sp>
        <p:nvSpPr>
          <p:cNvPr id="9" name="Arrow: Down 8">
            <a:extLst>
              <a:ext uri="{FF2B5EF4-FFF2-40B4-BE49-F238E27FC236}">
                <a16:creationId xmlns:a16="http://schemas.microsoft.com/office/drawing/2014/main" id="{8C5E7366-B663-9D68-2647-028B1D913D6B}"/>
              </a:ext>
              <a:ext uri="{C183D7F6-B498-43B3-948B-1728B52AA6E4}">
                <adec:decorative xmlns:adec="http://schemas.microsoft.com/office/drawing/2017/decorative" val="1"/>
              </a:ext>
            </a:extLst>
          </p:cNvPr>
          <p:cNvSpPr/>
          <p:nvPr/>
        </p:nvSpPr>
        <p:spPr>
          <a:xfrm rot="16930409">
            <a:off x="2940342" y="3091206"/>
            <a:ext cx="868261" cy="76759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 name="Speech Bubble: Rectangle with Corners Rounded 5">
                <a:extLst>
                  <a:ext uri="{FF2B5EF4-FFF2-40B4-BE49-F238E27FC236}">
                    <a16:creationId xmlns:a16="http://schemas.microsoft.com/office/drawing/2014/main" id="{5E5F447B-2A29-2D57-9D77-2D821D9D1F9E}"/>
                  </a:ext>
                  <a:ext uri="{C183D7F6-B498-43B3-948B-1728B52AA6E4}">
                    <adec:decorative xmlns:adec="http://schemas.microsoft.com/office/drawing/2017/decorative" val="1"/>
                  </a:ext>
                </a:extLst>
              </p:cNvPr>
              <p:cNvSpPr/>
              <p:nvPr/>
            </p:nvSpPr>
            <p:spPr>
              <a:xfrm>
                <a:off x="5527645" y="4653835"/>
                <a:ext cx="2162309" cy="195743"/>
              </a:xfrm>
              <a:prstGeom prst="wedgeRoundRectCallout">
                <a:avLst>
                  <a:gd name="adj1" fmla="val -80475"/>
                  <a:gd name="adj2" fmla="val -250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Importance sampling ratio </a:t>
                </a:r>
                <a14:m>
                  <m:oMath xmlns:m="http://schemas.openxmlformats.org/officeDocument/2006/math">
                    <m:r>
                      <a:rPr lang="en-US" sz="1200" b="0" i="1" smtClean="0">
                        <a:latin typeface="Cambria Math" panose="02040503050406030204" pitchFamily="18" charset="0"/>
                      </a:rPr>
                      <m:t>𝜌</m:t>
                    </m:r>
                  </m:oMath>
                </a14:m>
                <a:endParaRPr lang="en-US" sz="1200" dirty="0"/>
              </a:p>
            </p:txBody>
          </p:sp>
        </mc:Choice>
        <mc:Fallback xmlns="">
          <p:sp>
            <p:nvSpPr>
              <p:cNvPr id="6" name="Speech Bubble: Rectangle with Corners Rounded 5">
                <a:extLst>
                  <a:ext uri="{FF2B5EF4-FFF2-40B4-BE49-F238E27FC236}">
                    <a16:creationId xmlns:a16="http://schemas.microsoft.com/office/drawing/2014/main" id="{5E5F447B-2A29-2D57-9D77-2D821D9D1F9E}"/>
                  </a:ext>
                  <a:ext uri="{C183D7F6-B498-43B3-948B-1728B52AA6E4}">
                    <adec:decorative xmlns:adec="http://schemas.microsoft.com/office/drawing/2017/decorative" val="1"/>
                  </a:ext>
                </a:extLst>
              </p:cNvPr>
              <p:cNvSpPr>
                <a:spLocks noRot="1" noChangeAspect="1" noMove="1" noResize="1" noEditPoints="1" noAdjustHandles="1" noChangeArrowheads="1" noChangeShapeType="1" noTextEdit="1"/>
              </p:cNvSpPr>
              <p:nvPr/>
            </p:nvSpPr>
            <p:spPr>
              <a:xfrm>
                <a:off x="5527645" y="4653835"/>
                <a:ext cx="2162309" cy="195743"/>
              </a:xfrm>
              <a:prstGeom prst="wedgeRoundRectCallout">
                <a:avLst>
                  <a:gd name="adj1" fmla="val -80475"/>
                  <a:gd name="adj2" fmla="val -2508"/>
                  <a:gd name="adj3" fmla="val 16667"/>
                </a:avLst>
              </a:prstGeom>
              <a:blipFill>
                <a:blip r:embed="rId6"/>
                <a:stretch>
                  <a:fillRect t="-10526" b="-26316"/>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8D2BFDED-1362-EAC8-6F95-950A9C762329}"/>
              </a:ext>
            </a:extLst>
          </p:cNvPr>
          <p:cNvSpPr txBox="1"/>
          <p:nvPr/>
        </p:nvSpPr>
        <p:spPr>
          <a:xfrm>
            <a:off x="838200" y="1019636"/>
            <a:ext cx="9453490" cy="369332"/>
          </a:xfrm>
          <a:prstGeom prst="rect">
            <a:avLst/>
          </a:prstGeom>
          <a:noFill/>
        </p:spPr>
        <p:txBody>
          <a:bodyPr wrap="square">
            <a:spAutoFit/>
          </a:bodyPr>
          <a:lstStyle/>
          <a:p>
            <a:r>
              <a:rPr lang="en-US" sz="1800" dirty="0"/>
              <a:t>Weighted importance </a:t>
            </a:r>
            <a:r>
              <a:rPr lang="en-US" dirty="0"/>
              <a:t>s</a:t>
            </a:r>
            <a:r>
              <a:rPr lang="en-US" sz="1800" dirty="0"/>
              <a:t>ampling + incremental average update</a:t>
            </a:r>
            <a:endParaRPr lang="en-US" dirty="0"/>
          </a:p>
        </p:txBody>
      </p:sp>
      <mc:AlternateContent xmlns:mc="http://schemas.openxmlformats.org/markup-compatibility/2006" xmlns:a14="http://schemas.microsoft.com/office/drawing/2010/main">
        <mc:Choice Requires="a14">
          <p:sp>
            <p:nvSpPr>
              <p:cNvPr id="12" name="Speech Bubble: Rectangle with Corners Rounded 11">
                <a:extLst>
                  <a:ext uri="{FF2B5EF4-FFF2-40B4-BE49-F238E27FC236}">
                    <a16:creationId xmlns:a16="http://schemas.microsoft.com/office/drawing/2014/main" id="{274286D1-1CB2-59BC-B4B9-B6B239AC4FFE}"/>
                  </a:ext>
                  <a:ext uri="{C183D7F6-B498-43B3-948B-1728B52AA6E4}">
                    <adec:decorative xmlns:adec="http://schemas.microsoft.com/office/drawing/2017/decorative" val="1"/>
                  </a:ext>
                </a:extLst>
              </p:cNvPr>
              <p:cNvSpPr/>
              <p:nvPr/>
            </p:nvSpPr>
            <p:spPr>
              <a:xfrm>
                <a:off x="8344553" y="5211444"/>
                <a:ext cx="3650681" cy="414631"/>
              </a:xfrm>
              <a:prstGeom prst="wedgeRoundRectCallout">
                <a:avLst>
                  <a:gd name="adj1" fmla="val -23873"/>
                  <a:gd name="adj2" fmla="val -69813"/>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Can only learn from the end of the episode where the action chosen from  </a:t>
                </a:r>
                <a14:m>
                  <m:oMath xmlns:m="http://schemas.openxmlformats.org/officeDocument/2006/math">
                    <m:r>
                      <a:rPr lang="en-US" sz="1200" b="0" i="1" smtClean="0">
                        <a:latin typeface="Cambria Math" panose="02040503050406030204" pitchFamily="18" charset="0"/>
                      </a:rPr>
                      <m:t>𝑏</m:t>
                    </m:r>
                  </m:oMath>
                </a14:m>
                <a:r>
                  <a:rPr lang="en-US" sz="1200" dirty="0"/>
                  <a:t> can also be chosen by  </a:t>
                </a:r>
                <a14:m>
                  <m:oMath xmlns:m="http://schemas.openxmlformats.org/officeDocument/2006/math">
                    <m:r>
                      <a:rPr lang="en-US" sz="1200" b="0" i="1" smtClean="0">
                        <a:latin typeface="Cambria Math" panose="02040503050406030204" pitchFamily="18" charset="0"/>
                      </a:rPr>
                      <m:t>𝜋</m:t>
                    </m:r>
                  </m:oMath>
                </a14:m>
                <a:r>
                  <a:rPr lang="en-US" sz="1200" dirty="0"/>
                  <a:t>! </a:t>
                </a:r>
              </a:p>
            </p:txBody>
          </p:sp>
        </mc:Choice>
        <mc:Fallback xmlns="">
          <p:sp>
            <p:nvSpPr>
              <p:cNvPr id="12" name="Speech Bubble: Rectangle with Corners Rounded 11">
                <a:extLst>
                  <a:ext uri="{FF2B5EF4-FFF2-40B4-BE49-F238E27FC236}">
                    <a16:creationId xmlns:a16="http://schemas.microsoft.com/office/drawing/2014/main" id="{274286D1-1CB2-59BC-B4B9-B6B239AC4FFE}"/>
                  </a:ext>
                  <a:ext uri="{C183D7F6-B498-43B3-948B-1728B52AA6E4}">
                    <adec:decorative xmlns:adec="http://schemas.microsoft.com/office/drawing/2017/decorative" val="1"/>
                  </a:ext>
                </a:extLst>
              </p:cNvPr>
              <p:cNvSpPr>
                <a:spLocks noRot="1" noChangeAspect="1" noMove="1" noResize="1" noEditPoints="1" noAdjustHandles="1" noChangeArrowheads="1" noChangeShapeType="1" noTextEdit="1"/>
              </p:cNvSpPr>
              <p:nvPr/>
            </p:nvSpPr>
            <p:spPr>
              <a:xfrm>
                <a:off x="8344553" y="5211444"/>
                <a:ext cx="3650681" cy="414631"/>
              </a:xfrm>
              <a:prstGeom prst="wedgeRoundRectCallout">
                <a:avLst>
                  <a:gd name="adj1" fmla="val -23873"/>
                  <a:gd name="adj2" fmla="val -69813"/>
                  <a:gd name="adj3" fmla="val 16667"/>
                </a:avLst>
              </a:prstGeom>
              <a:blipFill>
                <a:blip r:embed="rId7"/>
                <a:stretch>
                  <a:fillRect b="-9524"/>
                </a:stretch>
              </a:blipFill>
            </p:spPr>
            <p:txBody>
              <a:bodyPr/>
              <a:lstStyle/>
              <a:p>
                <a:r>
                  <a:rPr lang="en-US">
                    <a:noFill/>
                  </a:rPr>
                  <a:t> </a:t>
                </a:r>
              </a:p>
            </p:txBody>
          </p:sp>
        </mc:Fallback>
      </mc:AlternateContent>
    </p:spTree>
    <p:extLst>
      <p:ext uri="{BB962C8B-B14F-4D97-AF65-F5344CB8AC3E}">
        <p14:creationId xmlns:p14="http://schemas.microsoft.com/office/powerpoint/2010/main" val="20418457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EE88D-1806-979D-2814-D73AF282D68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D8A943B-484E-9C7E-EE44-4CBCD7CF9F70}"/>
              </a:ext>
            </a:extLst>
          </p:cNvPr>
          <p:cNvSpPr>
            <a:spLocks noGrp="1"/>
          </p:cNvSpPr>
          <p:nvPr>
            <p:ph type="title"/>
          </p:nvPr>
        </p:nvSpPr>
        <p:spPr/>
        <p:txBody>
          <a:bodyPr/>
          <a:lstStyle/>
          <a:p>
            <a:r>
              <a:rPr lang="en-US" dirty="0"/>
              <a:t>Off-Policy Control</a:t>
            </a:r>
          </a:p>
        </p:txBody>
      </p:sp>
      <p:sp>
        <p:nvSpPr>
          <p:cNvPr id="5" name="Text Placeholder 4">
            <a:extLst>
              <a:ext uri="{FF2B5EF4-FFF2-40B4-BE49-F238E27FC236}">
                <a16:creationId xmlns:a16="http://schemas.microsoft.com/office/drawing/2014/main" id="{EE62269B-9FCA-0B73-D72E-BCBDF9DCD795}"/>
              </a:ext>
            </a:extLst>
          </p:cNvPr>
          <p:cNvSpPr>
            <a:spLocks noGrp="1"/>
          </p:cNvSpPr>
          <p:nvPr>
            <p:ph type="body" idx="1"/>
          </p:nvPr>
        </p:nvSpPr>
        <p:spPr/>
        <p:txBody>
          <a:bodyPr/>
          <a:lstStyle/>
          <a:p>
            <a:r>
              <a:rPr lang="en-US" dirty="0"/>
              <a:t>Find a good policy while following a different behavior policy.</a:t>
            </a:r>
          </a:p>
        </p:txBody>
      </p:sp>
    </p:spTree>
    <p:extLst>
      <p:ext uri="{BB962C8B-B14F-4D97-AF65-F5344CB8AC3E}">
        <p14:creationId xmlns:p14="http://schemas.microsoft.com/office/powerpoint/2010/main" val="18990861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66720-F8A3-4C51-FD0A-FF05EFB946EB}"/>
              </a:ext>
            </a:extLst>
          </p:cNvPr>
          <p:cNvSpPr>
            <a:spLocks noGrp="1"/>
          </p:cNvSpPr>
          <p:nvPr>
            <p:ph type="title"/>
          </p:nvPr>
        </p:nvSpPr>
        <p:spPr/>
        <p:txBody>
          <a:bodyPr/>
          <a:lstStyle/>
          <a:p>
            <a:r>
              <a:rPr lang="en-US" dirty="0"/>
              <a:t>Off-Policy MC Control</a:t>
            </a:r>
          </a:p>
        </p:txBody>
      </p:sp>
      <mc:AlternateContent xmlns:mc="http://schemas.openxmlformats.org/markup-compatibility/2006" xmlns:a14="http://schemas.microsoft.com/office/drawing/2010/main">
        <mc:Choice Requires="a14">
          <p:sp>
            <p:nvSpPr>
              <p:cNvPr id="3" name="Content Placeholder 2" descr="Remember: on-policy control tries to estimate a policy while using it for sampling. This has the following implications:. The behavior changes with the learned policy. The policy that is learned needs to explore and therefore may not be able to learn the optimal deterministic policy. Off-policy control uses two policies:. Behavior policy b : Needs to have coverage. That is, it eventually takes every action taken under pi . This typically means that we will use a soft policy. Target policy pi : Typically, a deterministic greedy policy which can become optimal. Convergence: With a covering behavior policy">
                <a:extLst>
                  <a:ext uri="{FF2B5EF4-FFF2-40B4-BE49-F238E27FC236}">
                    <a16:creationId xmlns:a16="http://schemas.microsoft.com/office/drawing/2014/main" id="{70334DF6-0DA3-8FE0-3113-4988FBB48D24}"/>
                  </a:ext>
                </a:extLst>
              </p:cNvPr>
              <p:cNvSpPr>
                <a:spLocks noGrp="1"/>
              </p:cNvSpPr>
              <p:nvPr>
                <p:ph idx="1"/>
              </p:nvPr>
            </p:nvSpPr>
            <p:spPr/>
            <p:txBody>
              <a:bodyPr>
                <a:normAutofit fontScale="92500" lnSpcReduction="20000"/>
              </a:bodyPr>
              <a:lstStyle/>
              <a:p>
                <a:r>
                  <a:rPr lang="en-US" b="1" dirty="0"/>
                  <a:t>Remember</a:t>
                </a:r>
                <a:r>
                  <a:rPr lang="en-US" dirty="0"/>
                  <a:t>: on-policy control tries to estimate a policy while using it for sampling. This has the following implications:</a:t>
                </a:r>
              </a:p>
              <a:p>
                <a:pPr lvl="1"/>
                <a:r>
                  <a:rPr lang="en-US" dirty="0"/>
                  <a:t>The </a:t>
                </a:r>
                <a:r>
                  <a:rPr lang="en-US" b="1" dirty="0"/>
                  <a:t>behavior changes </a:t>
                </a:r>
                <a:r>
                  <a:rPr lang="en-US" dirty="0"/>
                  <a:t>with the learned policy.</a:t>
                </a:r>
              </a:p>
              <a:p>
                <a:pPr lvl="1"/>
                <a:r>
                  <a:rPr lang="en-US" dirty="0"/>
                  <a:t>The policy that is learned needs to explore and therefore </a:t>
                </a:r>
                <a:r>
                  <a:rPr lang="en-US" b="1" dirty="0"/>
                  <a:t>may not be able to learn the optimal deterministic policy</a:t>
                </a:r>
                <a:r>
                  <a:rPr lang="en-US" dirty="0"/>
                  <a:t>.</a:t>
                </a:r>
              </a:p>
              <a:p>
                <a:endParaRPr lang="en-US" dirty="0"/>
              </a:p>
              <a:p>
                <a:r>
                  <a:rPr lang="en-US" dirty="0"/>
                  <a:t>Off-policy control uses two policies:</a:t>
                </a:r>
              </a:p>
              <a:p>
                <a:endParaRPr lang="en-US" dirty="0"/>
              </a:p>
              <a:p>
                <a:pPr lvl="1"/>
                <a:r>
                  <a:rPr lang="en-US" b="1" dirty="0"/>
                  <a:t>Behavior policy </a:t>
                </a:r>
                <a14:m>
                  <m:oMath xmlns:m="http://schemas.openxmlformats.org/officeDocument/2006/math">
                    <m:r>
                      <a:rPr lang="en-US" b="1" i="1" smtClean="0">
                        <a:latin typeface="Cambria Math" panose="02040503050406030204" pitchFamily="18" charset="0"/>
                      </a:rPr>
                      <m:t>𝒃</m:t>
                    </m:r>
                  </m:oMath>
                </a14:m>
                <a:r>
                  <a:rPr lang="en-US" dirty="0"/>
                  <a:t>: Needs to have coverage. That is, it eventually takes every action taken under </a:t>
                </a:r>
                <a14:m>
                  <m:oMath xmlns:m="http://schemas.openxmlformats.org/officeDocument/2006/math">
                    <m:r>
                      <a:rPr lang="en-US" i="1">
                        <a:latin typeface="Cambria Math" panose="02040503050406030204" pitchFamily="18" charset="0"/>
                      </a:rPr>
                      <m:t>𝜋</m:t>
                    </m:r>
                    <m:r>
                      <a:rPr lang="en-US" b="0" i="0" smtClean="0">
                        <a:latin typeface="Cambria Math" panose="02040503050406030204" pitchFamily="18" charset="0"/>
                      </a:rPr>
                      <m:t>. </m:t>
                    </m:r>
                  </m:oMath>
                </a14:m>
                <a:r>
                  <a:rPr lang="en-US" dirty="0"/>
                  <a:t>This typically means that we will use a </a:t>
                </a:r>
                <a:r>
                  <a:rPr lang="en-US" b="1" dirty="0"/>
                  <a:t>soft policy</a:t>
                </a:r>
                <a:r>
                  <a:rPr lang="en-US" dirty="0"/>
                  <a:t>.</a:t>
                </a:r>
              </a:p>
              <a:p>
                <a:pPr lvl="1"/>
                <a:endParaRPr lang="en-US" dirty="0"/>
              </a:p>
              <a:p>
                <a:pPr lvl="1"/>
                <a:r>
                  <a:rPr lang="en-US" b="1" dirty="0"/>
                  <a:t>Target policy </a:t>
                </a:r>
                <a14:m>
                  <m:oMath xmlns:m="http://schemas.openxmlformats.org/officeDocument/2006/math">
                    <m:r>
                      <a:rPr lang="en-US" b="1" i="1" smtClean="0">
                        <a:latin typeface="Cambria Math" panose="02040503050406030204" pitchFamily="18" charset="0"/>
                      </a:rPr>
                      <m:t>𝝅</m:t>
                    </m:r>
                  </m:oMath>
                </a14:m>
                <a:r>
                  <a:rPr lang="en-US" dirty="0"/>
                  <a:t>: Typically, a </a:t>
                </a:r>
                <a:r>
                  <a:rPr lang="en-US" b="1" dirty="0"/>
                  <a:t>deterministic greedy policy </a:t>
                </a:r>
                <a:r>
                  <a:rPr lang="en-US" dirty="0"/>
                  <a:t>which can become optimal.</a:t>
                </a:r>
              </a:p>
              <a:p>
                <a:pPr lvl="1"/>
                <a:endParaRPr lang="en-US" dirty="0"/>
              </a:p>
              <a:p>
                <a:r>
                  <a:rPr lang="en-US" b="1" dirty="0"/>
                  <a:t>Convergence</a:t>
                </a:r>
                <a:r>
                  <a:rPr lang="en-US" dirty="0"/>
                  <a:t>: With a covering behavior policy.</a:t>
                </a:r>
              </a:p>
            </p:txBody>
          </p:sp>
        </mc:Choice>
        <mc:Fallback xmlns="">
          <p:sp>
            <p:nvSpPr>
              <p:cNvPr id="3" name="Content Placeholder 2" descr="Remember: on-policy control tries to estimate a policy while using it for sampling. This has the following implications:. The behavior changes with the learned policy. The policy that is learned needs to explore and therefore may not be able to learn the optimal deterministic policy. Off-policy control uses two policies:. Behavior policy b : Needs to have coverage. That is, it eventually takes every action taken under pi . This typically means that we will use a soft policy. Target policy pi : Typically, a deterministic greedy policy which can become optimal. Convergence: With a covering behavior policy">
                <a:extLst>
                  <a:ext uri="{FF2B5EF4-FFF2-40B4-BE49-F238E27FC236}">
                    <a16:creationId xmlns:a16="http://schemas.microsoft.com/office/drawing/2014/main" id="{70334DF6-0DA3-8FE0-3113-4988FBB48D24}"/>
                  </a:ext>
                </a:extLst>
              </p:cNvPr>
              <p:cNvSpPr>
                <a:spLocks noGrp="1" noRot="1" noChangeAspect="1" noMove="1" noResize="1" noEditPoints="1" noAdjustHandles="1" noChangeArrowheads="1" noChangeShapeType="1" noTextEdit="1"/>
              </p:cNvSpPr>
              <p:nvPr>
                <p:ph idx="1"/>
              </p:nvPr>
            </p:nvSpPr>
            <p:spPr>
              <a:blipFill>
                <a:blip r:embed="rId2"/>
                <a:stretch>
                  <a:fillRect l="-928" t="-3189" b="-3316"/>
                </a:stretch>
              </a:blipFill>
            </p:spPr>
            <p:txBody>
              <a:bodyPr/>
              <a:lstStyle/>
              <a:p>
                <a:r>
                  <a:rPr lang="en-US">
                    <a:noFill/>
                  </a:rPr>
                  <a:t> </a:t>
                </a:r>
              </a:p>
            </p:txBody>
          </p:sp>
        </mc:Fallback>
      </mc:AlternateContent>
    </p:spTree>
    <p:extLst>
      <p:ext uri="{BB962C8B-B14F-4D97-AF65-F5344CB8AC3E}">
        <p14:creationId xmlns:p14="http://schemas.microsoft.com/office/powerpoint/2010/main" val="2380685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E8716-FCC4-28C6-4F3D-DEB3815293B2}"/>
              </a:ext>
            </a:extLst>
          </p:cNvPr>
          <p:cNvSpPr>
            <a:spLocks noGrp="1"/>
          </p:cNvSpPr>
          <p:nvPr>
            <p:ph type="title"/>
          </p:nvPr>
        </p:nvSpPr>
        <p:spPr/>
        <p:txBody>
          <a:bodyPr/>
          <a:lstStyle/>
          <a:p>
            <a:r>
              <a:rPr lang="en-US" dirty="0"/>
              <a:t>Alg. Off-Policy MC Control</a:t>
            </a:r>
          </a:p>
        </p:txBody>
      </p:sp>
      <p:pic>
        <p:nvPicPr>
          <p:cNvPr id="3" name="Content Placeholder 4" descr="Algorithm box: Off-policy MC prediction (policy evaluation) for estimating Q ≈ q pi. Input: an arbitrary target policy pi. Initialize, for all s in S, a in A(s): Q(s, a) in R (arbitrarily); C(s, a) ← 0. Loop forever (for each episode): b ← any policy with coverage of pi; Generate an episode following b: S_0, A_0, R_1, …, S_T−1, A_T−1, R_T; G ← 0; W ← 1; Loop for each step of episode, t = T−1, T−2, …, 0, while W ≠ 0: G ← gamma G + R_t+1; C(S_t, A_t) ← C(S_t, A_t) + W; Q(S_t, A_t) ← Q(S_t, A_t) + W / C(S_t, A_t) times [G − Q(S_t, A_t)]; W ← W times pi(A_t | S_t) / b(A_t | S_t).">
            <a:extLst>
              <a:ext uri="{FF2B5EF4-FFF2-40B4-BE49-F238E27FC236}">
                <a16:creationId xmlns:a16="http://schemas.microsoft.com/office/drawing/2014/main" id="{B0E5E3E5-7ADE-C94C-E70B-D6DA3B0A4788}"/>
              </a:ext>
            </a:extLst>
          </p:cNvPr>
          <p:cNvPicPr>
            <a:picLocks noChangeAspect="1"/>
          </p:cNvPicPr>
          <p:nvPr/>
        </p:nvPicPr>
        <p:blipFill>
          <a:blip r:embed="rId2"/>
          <a:srcRect l="1704" t="4119"/>
          <a:stretch>
            <a:fillRect/>
          </a:stretch>
        </p:blipFill>
        <p:spPr>
          <a:xfrm>
            <a:off x="499097" y="1167013"/>
            <a:ext cx="7178926" cy="4034162"/>
          </a:xfrm>
          <a:prstGeom prst="rect">
            <a:avLst/>
          </a:prstGeom>
        </p:spPr>
      </p:pic>
      <p:pic>
        <p:nvPicPr>
          <p:cNvPr id="5" name="Content Placeholder 4" descr="Algorithm box: Off-policy MC control, for estimating pi ≈ pi star. Initialize, for all s in S, a in A(s): Q(s, a) in R (arbitrarily); C(s, a) ← 0; pi(s) ← argmax over a of Q(s, a) (with ties broken consistently). Loop forever (for each episode): b ← any soft policy; Generate an episode using b: S_0, A_0, R_1, …, S_T−1, A_T−1, R_T; G ← 0; W ← 1; Loop for each step of episode, t = T−1, T−2, …, 0: G ← gamma G + R_t+1; C(S_t, A_t) ← C(S_t, A_t) + W; Q(S_t, A_t) ← Q(S_t, A_t) + W / C(S_t, A_t) times [G − Q(S_t, A_t)]; pi(S_t) ← argmax over a of Q(S_t, a) (with ties broken consistently); If A_t ≠ pi(S_t) then exit inner Loop (proceed to next episode); W ← W times 1 / b(A_t | S_t).">
            <a:extLst>
              <a:ext uri="{FF2B5EF4-FFF2-40B4-BE49-F238E27FC236}">
                <a16:creationId xmlns:a16="http://schemas.microsoft.com/office/drawing/2014/main" id="{2607C0C5-74BA-782D-88D3-D9D60C1E24B9}"/>
              </a:ext>
            </a:extLst>
          </p:cNvPr>
          <p:cNvPicPr>
            <a:picLocks noGrp="1" noChangeAspect="1"/>
          </p:cNvPicPr>
          <p:nvPr>
            <p:ph idx="1"/>
          </p:nvPr>
        </p:nvPicPr>
        <p:blipFill>
          <a:blip r:embed="rId3"/>
          <a:srcRect l="956" t="709"/>
          <a:stretch>
            <a:fillRect/>
          </a:stretch>
        </p:blipFill>
        <p:spPr>
          <a:xfrm>
            <a:off x="3661794" y="1635647"/>
            <a:ext cx="7829773" cy="4746058"/>
          </a:xfrm>
          <a:prstGeom prst="rect">
            <a:avLst/>
          </a:prstGeom>
        </p:spPr>
      </p:pic>
      <mc:AlternateContent xmlns:mc="http://schemas.openxmlformats.org/markup-compatibility/2006" xmlns:a14="http://schemas.microsoft.com/office/drawing/2010/main">
        <mc:Choice Requires="a14">
          <p:sp>
            <p:nvSpPr>
              <p:cNvPr id="6" name="Speech Bubble: Rectangle with Corners Rounded 5">
                <a:extLst>
                  <a:ext uri="{FF2B5EF4-FFF2-40B4-BE49-F238E27FC236}">
                    <a16:creationId xmlns:a16="http://schemas.microsoft.com/office/drawing/2014/main" id="{090382D3-79E5-3716-A073-9249102C1E9A}"/>
                  </a:ext>
                  <a:ext uri="{C183D7F6-B498-43B3-948B-1728B52AA6E4}">
                    <adec:decorative xmlns:adec="http://schemas.microsoft.com/office/drawing/2017/decorative" val="1"/>
                  </a:ext>
                </a:extLst>
              </p:cNvPr>
              <p:cNvSpPr/>
              <p:nvPr/>
            </p:nvSpPr>
            <p:spPr>
              <a:xfrm>
                <a:off x="359932" y="5418804"/>
                <a:ext cx="3441028" cy="780250"/>
              </a:xfrm>
              <a:prstGeom prst="wedgeRoundRectCallout">
                <a:avLst>
                  <a:gd name="adj1" fmla="val 71299"/>
                  <a:gd name="adj2" fmla="val -5599"/>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Can only use the end of the episode that uses greedy actions for </a:t>
                </a:r>
                <a14:m>
                  <m:oMath xmlns:m="http://schemas.openxmlformats.org/officeDocument/2006/math">
                    <m:r>
                      <a:rPr lang="en-US" sz="1400" b="0" i="1" smtClean="0">
                        <a:latin typeface="Cambria Math" panose="02040503050406030204" pitchFamily="18" charset="0"/>
                      </a:rPr>
                      <m:t>𝜋</m:t>
                    </m:r>
                  </m:oMath>
                </a14:m>
                <a:br>
                  <a:rPr lang="en-US" sz="1400" dirty="0"/>
                </a:br>
                <a:r>
                  <a:rPr lang="en-US" sz="1400" b="1" dirty="0"/>
                  <a:t>Issue</a:t>
                </a:r>
                <a:r>
                  <a:rPr lang="en-US" sz="1400" dirty="0"/>
                  <a:t>: Not very sample efficient!</a:t>
                </a:r>
              </a:p>
            </p:txBody>
          </p:sp>
        </mc:Choice>
        <mc:Fallback xmlns="">
          <p:sp>
            <p:nvSpPr>
              <p:cNvPr id="6" name="Speech Bubble: Rectangle with Corners Rounded 5">
                <a:extLst>
                  <a:ext uri="{FF2B5EF4-FFF2-40B4-BE49-F238E27FC236}">
                    <a16:creationId xmlns:a16="http://schemas.microsoft.com/office/drawing/2014/main" id="{090382D3-79E5-3716-A073-9249102C1E9A}"/>
                  </a:ext>
                  <a:ext uri="{C183D7F6-B498-43B3-948B-1728B52AA6E4}">
                    <adec:decorative xmlns:adec="http://schemas.microsoft.com/office/drawing/2017/decorative" val="1"/>
                  </a:ext>
                </a:extLst>
              </p:cNvPr>
              <p:cNvSpPr>
                <a:spLocks noRot="1" noChangeAspect="1" noMove="1" noResize="1" noEditPoints="1" noAdjustHandles="1" noChangeArrowheads="1" noChangeShapeType="1" noTextEdit="1"/>
              </p:cNvSpPr>
              <p:nvPr/>
            </p:nvSpPr>
            <p:spPr>
              <a:xfrm>
                <a:off x="359932" y="5418804"/>
                <a:ext cx="3441028" cy="780250"/>
              </a:xfrm>
              <a:prstGeom prst="wedgeRoundRectCallout">
                <a:avLst>
                  <a:gd name="adj1" fmla="val 71299"/>
                  <a:gd name="adj2" fmla="val -5599"/>
                  <a:gd name="adj3" fmla="val 16667"/>
                </a:avLst>
              </a:prstGeom>
              <a:blipFill>
                <a:blip r:embed="rId4"/>
                <a:stretch>
                  <a:fillRect b="-46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Speech Bubble: Rectangle with Corners Rounded 7">
                <a:extLst>
                  <a:ext uri="{FF2B5EF4-FFF2-40B4-BE49-F238E27FC236}">
                    <a16:creationId xmlns:a16="http://schemas.microsoft.com/office/drawing/2014/main" id="{C9F0F300-7EDD-4067-628D-126C67D34BFA}"/>
                  </a:ext>
                  <a:ext uri="{C183D7F6-B498-43B3-948B-1728B52AA6E4}">
                    <adec:decorative xmlns:adec="http://schemas.microsoft.com/office/drawing/2017/decorative" val="1"/>
                  </a:ext>
                </a:extLst>
              </p:cNvPr>
              <p:cNvSpPr/>
              <p:nvPr/>
            </p:nvSpPr>
            <p:spPr>
              <a:xfrm>
                <a:off x="6581297" y="5908738"/>
                <a:ext cx="4251900" cy="290316"/>
              </a:xfrm>
              <a:prstGeom prst="wedgeRoundRectCallout">
                <a:avLst>
                  <a:gd name="adj1" fmla="val -68727"/>
                  <a:gd name="adj2" fmla="val -3535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We use </a:t>
                </a:r>
                <a14:m>
                  <m:oMath xmlns:m="http://schemas.openxmlformats.org/officeDocument/2006/math">
                    <m:r>
                      <a:rPr lang="en-US" sz="1400" i="1">
                        <a:latin typeface="Cambria Math" panose="02040503050406030204" pitchFamily="18" charset="0"/>
                      </a:rPr>
                      <m:t>𝜋</m:t>
                    </m:r>
                  </m:oMath>
                </a14:m>
                <a:r>
                  <a:rPr lang="en-US" sz="1400" dirty="0"/>
                  <a:t> to select a. So, the probability is always 1.</a:t>
                </a:r>
              </a:p>
            </p:txBody>
          </p:sp>
        </mc:Choice>
        <mc:Fallback xmlns="">
          <p:sp>
            <p:nvSpPr>
              <p:cNvPr id="8" name="Speech Bubble: Rectangle with Corners Rounded 7">
                <a:extLst>
                  <a:ext uri="{FF2B5EF4-FFF2-40B4-BE49-F238E27FC236}">
                    <a16:creationId xmlns:a16="http://schemas.microsoft.com/office/drawing/2014/main" id="{C9F0F300-7EDD-4067-628D-126C67D34BFA}"/>
                  </a:ext>
                  <a:ext uri="{C183D7F6-B498-43B3-948B-1728B52AA6E4}">
                    <adec:decorative xmlns:adec="http://schemas.microsoft.com/office/drawing/2017/decorative" val="1"/>
                  </a:ext>
                </a:extLst>
              </p:cNvPr>
              <p:cNvSpPr>
                <a:spLocks noRot="1" noChangeAspect="1" noMove="1" noResize="1" noEditPoints="1" noAdjustHandles="1" noChangeArrowheads="1" noChangeShapeType="1" noTextEdit="1"/>
              </p:cNvSpPr>
              <p:nvPr/>
            </p:nvSpPr>
            <p:spPr>
              <a:xfrm>
                <a:off x="6581297" y="5908738"/>
                <a:ext cx="4251900" cy="290316"/>
              </a:xfrm>
              <a:prstGeom prst="wedgeRoundRectCallout">
                <a:avLst>
                  <a:gd name="adj1" fmla="val -68727"/>
                  <a:gd name="adj2" fmla="val -35358"/>
                  <a:gd name="adj3" fmla="val 16667"/>
                </a:avLst>
              </a:prstGeom>
              <a:blipFill>
                <a:blip r:embed="rId5"/>
                <a:stretch>
                  <a:fillRect t="-3846" b="-15385"/>
                </a:stretch>
              </a:blipFill>
            </p:spPr>
            <p:txBody>
              <a:bodyPr/>
              <a:lstStyle/>
              <a:p>
                <a:r>
                  <a:rPr lang="en-US">
                    <a:noFill/>
                  </a:rPr>
                  <a:t> </a:t>
                </a:r>
              </a:p>
            </p:txBody>
          </p:sp>
        </mc:Fallback>
      </mc:AlternateContent>
      <p:sp>
        <p:nvSpPr>
          <p:cNvPr id="4" name="Arrow: Down 3">
            <a:extLst>
              <a:ext uri="{FF2B5EF4-FFF2-40B4-BE49-F238E27FC236}">
                <a16:creationId xmlns:a16="http://schemas.microsoft.com/office/drawing/2014/main" id="{711BEC78-A77D-C9A1-C817-61867AC0146A}"/>
              </a:ext>
              <a:ext uri="{C183D7F6-B498-43B3-948B-1728B52AA6E4}">
                <adec:decorative xmlns:adec="http://schemas.microsoft.com/office/drawing/2017/decorative" val="1"/>
              </a:ext>
            </a:extLst>
          </p:cNvPr>
          <p:cNvSpPr/>
          <p:nvPr/>
        </p:nvSpPr>
        <p:spPr>
          <a:xfrm rot="16930409">
            <a:off x="3005081" y="2539902"/>
            <a:ext cx="868261" cy="76759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peech Bubble: Rectangle with Corners Rounded 8">
            <a:extLst>
              <a:ext uri="{FF2B5EF4-FFF2-40B4-BE49-F238E27FC236}">
                <a16:creationId xmlns:a16="http://schemas.microsoft.com/office/drawing/2014/main" id="{D6911223-3282-3D4A-D937-1C6D589987F8}"/>
              </a:ext>
              <a:ext uri="{C183D7F6-B498-43B3-948B-1728B52AA6E4}">
                <adec:decorative xmlns:adec="http://schemas.microsoft.com/office/drawing/2017/decorative" val="1"/>
              </a:ext>
            </a:extLst>
          </p:cNvPr>
          <p:cNvSpPr/>
          <p:nvPr/>
        </p:nvSpPr>
        <p:spPr>
          <a:xfrm>
            <a:off x="7715207" y="2270004"/>
            <a:ext cx="2534023" cy="290316"/>
          </a:xfrm>
          <a:prstGeom prst="wedgeRoundRectCallout">
            <a:avLst>
              <a:gd name="adj1" fmla="val -104868"/>
              <a:gd name="adj2" fmla="val 136916"/>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Add the greedy target policy</a:t>
            </a:r>
          </a:p>
        </p:txBody>
      </p:sp>
      <mc:AlternateContent xmlns:mc="http://schemas.openxmlformats.org/markup-compatibility/2006" xmlns:a14="http://schemas.microsoft.com/office/drawing/2010/main">
        <mc:Choice Requires="a14">
          <p:sp>
            <p:nvSpPr>
              <p:cNvPr id="10" name="Speech Bubble: Rectangle with Corners Rounded 9">
                <a:extLst>
                  <a:ext uri="{FF2B5EF4-FFF2-40B4-BE49-F238E27FC236}">
                    <a16:creationId xmlns:a16="http://schemas.microsoft.com/office/drawing/2014/main" id="{F20DE81A-C7D3-8790-65FF-807BB007A2B2}"/>
                  </a:ext>
                  <a:ext uri="{C183D7F6-B498-43B3-948B-1728B52AA6E4}">
                    <adec:decorative xmlns:adec="http://schemas.microsoft.com/office/drawing/2017/decorative" val="1"/>
                  </a:ext>
                </a:extLst>
              </p:cNvPr>
              <p:cNvSpPr/>
              <p:nvPr/>
            </p:nvSpPr>
            <p:spPr>
              <a:xfrm>
                <a:off x="7440235" y="3071769"/>
                <a:ext cx="3036974" cy="290316"/>
              </a:xfrm>
              <a:prstGeom prst="wedgeRoundRectCallout">
                <a:avLst>
                  <a:gd name="adj1" fmla="val -97316"/>
                  <a:gd name="adj2" fmla="val 11527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Practical choice is </a:t>
                </a:r>
                <a14:m>
                  <m:oMath xmlns:m="http://schemas.openxmlformats.org/officeDocument/2006/math">
                    <m:r>
                      <a:rPr lang="en-US" sz="1400" i="1">
                        <a:latin typeface="Cambria Math" panose="02040503050406030204" pitchFamily="18" charset="0"/>
                      </a:rPr>
                      <m:t>𝑏</m:t>
                    </m:r>
                    <m:r>
                      <a:rPr lang="en-US" sz="1400" i="1">
                        <a:latin typeface="Cambria Math" panose="02040503050406030204" pitchFamily="18" charset="0"/>
                      </a:rPr>
                      <m:t>=</m:t>
                    </m:r>
                    <m:r>
                      <m:rPr>
                        <m:nor/>
                      </m:rPr>
                      <a:rPr lang="en-US" sz="1400" i="0">
                        <a:latin typeface="Cambria Math" panose="02040503050406030204" pitchFamily="18" charset="0"/>
                      </a:rPr>
                      <m:t>ϵ−greedy</m:t>
                    </m:r>
                    <m:r>
                      <a:rPr lang="en-US" sz="1400" i="1">
                        <a:latin typeface="Cambria Math" panose="02040503050406030204" pitchFamily="18" charset="0"/>
                      </a:rPr>
                      <m:t>(</m:t>
                    </m:r>
                    <m:r>
                      <a:rPr lang="en-US" sz="1400" i="1">
                        <a:latin typeface="Cambria Math" panose="02040503050406030204" pitchFamily="18" charset="0"/>
                      </a:rPr>
                      <m:t>𝜋</m:t>
                    </m:r>
                    <m:r>
                      <a:rPr lang="en-US" sz="1400" i="1">
                        <a:latin typeface="Cambria Math" panose="02040503050406030204" pitchFamily="18" charset="0"/>
                      </a:rPr>
                      <m:t>)</m:t>
                    </m:r>
                  </m:oMath>
                </a14:m>
                <a:endParaRPr lang="en-US" sz="1400" dirty="0"/>
              </a:p>
            </p:txBody>
          </p:sp>
        </mc:Choice>
        <mc:Fallback xmlns="">
          <p:sp>
            <p:nvSpPr>
              <p:cNvPr id="10" name="Speech Bubble: Rectangle with Corners Rounded 9">
                <a:extLst>
                  <a:ext uri="{FF2B5EF4-FFF2-40B4-BE49-F238E27FC236}">
                    <a16:creationId xmlns:a16="http://schemas.microsoft.com/office/drawing/2014/main" id="{F20DE81A-C7D3-8790-65FF-807BB007A2B2}"/>
                  </a:ext>
                  <a:ext uri="{C183D7F6-B498-43B3-948B-1728B52AA6E4}">
                    <adec:decorative xmlns:adec="http://schemas.microsoft.com/office/drawing/2017/decorative" val="1"/>
                  </a:ext>
                </a:extLst>
              </p:cNvPr>
              <p:cNvSpPr>
                <a:spLocks noRot="1" noChangeAspect="1" noMove="1" noResize="1" noEditPoints="1" noAdjustHandles="1" noChangeArrowheads="1" noChangeShapeType="1" noTextEdit="1"/>
              </p:cNvSpPr>
              <p:nvPr/>
            </p:nvSpPr>
            <p:spPr>
              <a:xfrm>
                <a:off x="7440235" y="3071769"/>
                <a:ext cx="3036974" cy="290316"/>
              </a:xfrm>
              <a:prstGeom prst="wedgeRoundRectCallout">
                <a:avLst>
                  <a:gd name="adj1" fmla="val -97316"/>
                  <a:gd name="adj2" fmla="val 115277"/>
                  <a:gd name="adj3" fmla="val 16667"/>
                </a:avLst>
              </a:prstGeom>
              <a:blipFill>
                <a:blip r:embed="rId6"/>
                <a:stretch>
                  <a:fillRect t="-2439"/>
                </a:stretch>
              </a:blipFill>
            </p:spPr>
            <p:txBody>
              <a:bodyPr/>
              <a:lstStyle/>
              <a:p>
                <a:r>
                  <a:rPr lang="en-US">
                    <a:noFill/>
                  </a:rPr>
                  <a:t> </a:t>
                </a:r>
              </a:p>
            </p:txBody>
          </p:sp>
        </mc:Fallback>
      </mc:AlternateContent>
    </p:spTree>
    <p:extLst>
      <p:ext uri="{BB962C8B-B14F-4D97-AF65-F5344CB8AC3E}">
        <p14:creationId xmlns:p14="http://schemas.microsoft.com/office/powerpoint/2010/main" val="32484463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718276" y="729523"/>
            <a:ext cx="6858000" cy="5398953"/>
          </a:xfrm>
          <a:prstGeom prst="rect">
            <a:avLst/>
          </a:prstGeom>
          <a:ln>
            <a:noFill/>
          </a:ln>
          <a:effectLst>
            <a:outerShdw blurRad="419100" dist="152400" sx="94000" sy="94000" algn="l"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CE525A-4DE7-57BC-63B4-AAC868992799}"/>
              </a:ext>
            </a:extLst>
          </p:cNvPr>
          <p:cNvSpPr>
            <a:spLocks noGrp="1"/>
          </p:cNvSpPr>
          <p:nvPr>
            <p:ph type="title"/>
          </p:nvPr>
        </p:nvSpPr>
        <p:spPr>
          <a:xfrm>
            <a:off x="758952" y="785366"/>
            <a:ext cx="4069055" cy="2072853"/>
          </a:xfrm>
        </p:spPr>
        <p:txBody>
          <a:bodyPr anchor="t">
            <a:normAutofit/>
          </a:bodyPr>
          <a:lstStyle/>
          <a:p>
            <a:r>
              <a:rPr lang="en-US" sz="4000"/>
              <a:t>What you Should Know</a:t>
            </a:r>
          </a:p>
        </p:txBody>
      </p:sp>
      <mc:AlternateContent xmlns:mc="http://schemas.openxmlformats.org/markup-compatibility/2006" xmlns:a14="http://schemas.microsoft.com/office/drawing/2010/main">
        <mc:Choice Requires="a14">
          <p:sp>
            <p:nvSpPr>
              <p:cNvPr id="3" name="Content Placeholder 2" descr="MC works with sampled episodes:. Policy Evaluation: Averages many sampled returns. Control: Interleaves pol. eval. and pol. improvement on an episode-by-episode basis. On vs. off-policy control. Convergence: converge with GLIE or covering behavior policies. Convergence is typically slow. Advantages of MC methods vs. DP:. Model-free: No need for an environment model. Sampling from a simulation is often easy. Can evaluate a small state set of interest. DP always has to sweep over all states. Unbiased estimates: Estimates are based on returns from complete sampled sequences. We will learn about other methods that introduce bias by bootstrapping (estimating a value from other estimates). Using complete sequences may be less harmed by violations of the Markov property/issues with observability. Issues:. Needs to maintain sufficient exploration. Options are:. Exploring starts can learn the optimal policy. On-policy control with an epsilon -soft policy and GLIE. Off-policy control with a covering behavior policy. Note: only a part of the data can be used. MC methods are not sample efficient. I.e., sampled episodes are used only once and then discarded. Not a truly online method: Updates are not done after each action but are delayed until the end of each episode">
                <a:extLst>
                  <a:ext uri="{FF2B5EF4-FFF2-40B4-BE49-F238E27FC236}">
                    <a16:creationId xmlns:a16="http://schemas.microsoft.com/office/drawing/2014/main" id="{A4F28751-2020-D237-0D4A-7383D2745E79}"/>
                  </a:ext>
                </a:extLst>
              </p:cNvPr>
              <p:cNvSpPr>
                <a:spLocks noGrp="1"/>
              </p:cNvSpPr>
              <p:nvPr>
                <p:ph idx="1"/>
              </p:nvPr>
            </p:nvSpPr>
            <p:spPr>
              <a:xfrm>
                <a:off x="5636057" y="376930"/>
                <a:ext cx="6006517" cy="6361928"/>
              </a:xfrm>
            </p:spPr>
            <p:txBody>
              <a:bodyPr anchor="ctr">
                <a:normAutofit fontScale="77500" lnSpcReduction="20000"/>
              </a:bodyPr>
              <a:lstStyle/>
              <a:p>
                <a:pPr marL="0" indent="0">
                  <a:buNone/>
                </a:pPr>
                <a:r>
                  <a:rPr lang="en-US" sz="1900" dirty="0"/>
                  <a:t>MC works with sampled episodes:</a:t>
                </a:r>
                <a:endParaRPr lang="en-US" sz="1900" b="1" dirty="0"/>
              </a:p>
              <a:p>
                <a:pPr lvl="1"/>
                <a:r>
                  <a:rPr lang="en-US" sz="1900" b="1" dirty="0"/>
                  <a:t>Policy Evaluation</a:t>
                </a:r>
                <a:r>
                  <a:rPr lang="en-US" sz="1900" dirty="0"/>
                  <a:t>: Averages many sampled returns. </a:t>
                </a:r>
              </a:p>
              <a:p>
                <a:pPr lvl="1"/>
                <a:r>
                  <a:rPr lang="en-US" sz="1900" b="1" dirty="0"/>
                  <a:t>Control</a:t>
                </a:r>
                <a:r>
                  <a:rPr lang="en-US" sz="1900" dirty="0"/>
                  <a:t>: Interleaves pol. eval. and pol. improvement on an episode-by-episode basis.</a:t>
                </a:r>
              </a:p>
              <a:p>
                <a:pPr lvl="1"/>
                <a:r>
                  <a:rPr lang="en-US" sz="1900" b="1" dirty="0"/>
                  <a:t>On vs. off-policy control.</a:t>
                </a:r>
              </a:p>
              <a:p>
                <a:pPr lvl="1"/>
                <a:r>
                  <a:rPr lang="en-US" sz="1900" b="1" dirty="0"/>
                  <a:t>Convergence</a:t>
                </a:r>
                <a:r>
                  <a:rPr lang="en-US" sz="1900" dirty="0"/>
                  <a:t>: converge with GLIE or covering behavior policies. Convergence is typically slow.</a:t>
                </a:r>
              </a:p>
              <a:p>
                <a:pPr marL="0" indent="0">
                  <a:buNone/>
                </a:pPr>
                <a:endParaRPr lang="en-US" sz="1900" dirty="0"/>
              </a:p>
              <a:p>
                <a:pPr marL="0" indent="0">
                  <a:buNone/>
                </a:pPr>
                <a:r>
                  <a:rPr lang="en-US" sz="1900" dirty="0"/>
                  <a:t>Advantages of MC methods vs. DP:</a:t>
                </a:r>
              </a:p>
              <a:p>
                <a:pPr lvl="1"/>
                <a:r>
                  <a:rPr lang="en-US" sz="1900" b="1" dirty="0"/>
                  <a:t>Model-free</a:t>
                </a:r>
                <a:r>
                  <a:rPr lang="en-US" sz="1900" dirty="0"/>
                  <a:t>: No need for an environment model. Sampling from a simulation is often easy.</a:t>
                </a:r>
              </a:p>
              <a:p>
                <a:pPr lvl="1"/>
                <a:r>
                  <a:rPr lang="en-US" sz="1900" dirty="0"/>
                  <a:t>Can evaluate a small </a:t>
                </a:r>
                <a:r>
                  <a:rPr lang="en-US" sz="1900" b="1" dirty="0"/>
                  <a:t>state set</a:t>
                </a:r>
                <a:r>
                  <a:rPr lang="en-US" sz="1900" dirty="0"/>
                  <a:t> of interest. DP always has to sweep over all states.</a:t>
                </a:r>
              </a:p>
              <a:p>
                <a:pPr lvl="1"/>
                <a:r>
                  <a:rPr lang="en-US" sz="1900" b="1" dirty="0"/>
                  <a:t>Unbiased estimates: </a:t>
                </a:r>
                <a:r>
                  <a:rPr lang="en-US" sz="1900" dirty="0"/>
                  <a:t>Estimates are based on returns from complete sampled sequences. We will learn about other methods that introduce bias by  bootstrapping (estimating a value from other estimates).</a:t>
                </a:r>
              </a:p>
              <a:p>
                <a:pPr lvl="1"/>
                <a:r>
                  <a:rPr lang="en-US" sz="1900" dirty="0"/>
                  <a:t>Using complete sequences may be less harmed by violations of the Markov property/issues with observability.</a:t>
                </a:r>
              </a:p>
              <a:p>
                <a:pPr marL="0" indent="0">
                  <a:buNone/>
                </a:pPr>
                <a:endParaRPr lang="en-US" sz="1900" dirty="0"/>
              </a:p>
              <a:p>
                <a:pPr marL="0" indent="0">
                  <a:buNone/>
                </a:pPr>
                <a:r>
                  <a:rPr lang="en-US" sz="1900" dirty="0"/>
                  <a:t>Issues:</a:t>
                </a:r>
              </a:p>
              <a:p>
                <a:pPr lvl="1"/>
                <a:r>
                  <a:rPr lang="en-US" sz="1900" b="1" dirty="0"/>
                  <a:t>Needs to maintain sufficient exploration</a:t>
                </a:r>
                <a:r>
                  <a:rPr lang="en-US" sz="1900" dirty="0"/>
                  <a:t>. Options are:</a:t>
                </a:r>
              </a:p>
              <a:p>
                <a:pPr marL="1371600" lvl="2" indent="-457200">
                  <a:buFont typeface="+mj-lt"/>
                  <a:buAutoNum type="arabicPeriod"/>
                </a:pPr>
                <a:r>
                  <a:rPr lang="en-US" sz="1900" dirty="0"/>
                  <a:t>Exploring starts can learn the optimal policy.</a:t>
                </a:r>
              </a:p>
              <a:p>
                <a:pPr marL="1371600" lvl="2" indent="-457200">
                  <a:buFont typeface="+mj-lt"/>
                  <a:buAutoNum type="arabicPeriod"/>
                </a:pPr>
                <a:r>
                  <a:rPr lang="en-US" sz="1900" dirty="0"/>
                  <a:t>On-policy control with an </a:t>
                </a:r>
                <a14:m>
                  <m:oMath xmlns:m="http://schemas.openxmlformats.org/officeDocument/2006/math">
                    <m:r>
                      <a:rPr lang="en-US" sz="1900" i="1">
                        <a:latin typeface="Cambria Math" panose="02040503050406030204" pitchFamily="18" charset="0"/>
                      </a:rPr>
                      <m:t>𝜖</m:t>
                    </m:r>
                  </m:oMath>
                </a14:m>
                <a:r>
                  <a:rPr lang="en-US" sz="1900" dirty="0"/>
                  <a:t>-soft policy and GLIE.</a:t>
                </a:r>
              </a:p>
              <a:p>
                <a:pPr marL="1371600" lvl="2" indent="-457200">
                  <a:buFont typeface="+mj-lt"/>
                  <a:buAutoNum type="arabicPeriod"/>
                </a:pPr>
                <a:r>
                  <a:rPr lang="en-US" sz="1900" dirty="0"/>
                  <a:t>Off-policy control with a covering behavior policy. Note: only a part of the data can be used.</a:t>
                </a:r>
              </a:p>
              <a:p>
                <a:pPr lvl="1"/>
                <a:r>
                  <a:rPr lang="en-US" sz="1900" dirty="0"/>
                  <a:t>MC methods are </a:t>
                </a:r>
                <a:r>
                  <a:rPr lang="en-US" sz="1900" b="1" dirty="0"/>
                  <a:t>not sample efficient</a:t>
                </a:r>
                <a:r>
                  <a:rPr lang="en-US" sz="1900" dirty="0"/>
                  <a:t>. I.e., sampled episodes are used only once and then discarded.</a:t>
                </a:r>
              </a:p>
              <a:p>
                <a:pPr lvl="1"/>
                <a:r>
                  <a:rPr lang="en-US" sz="1900" b="1" dirty="0"/>
                  <a:t>Not a truly online method</a:t>
                </a:r>
                <a:r>
                  <a:rPr lang="en-US" sz="1900" dirty="0"/>
                  <a:t>: Updates are not done after each action but are delayed until the end of each episode.</a:t>
                </a:r>
              </a:p>
            </p:txBody>
          </p:sp>
        </mc:Choice>
        <mc:Fallback xmlns="">
          <p:sp>
            <p:nvSpPr>
              <p:cNvPr id="3" name="Content Placeholder 2" descr="MC works with sampled episodes:. Policy Evaluation: Averages many sampled returns. Control: Interleaves pol. eval. and pol. improvement on an episode-by-episode basis. On vs. off-policy control. Convergence: converge with GLIE or covering behavior policies. Convergence is typically slow. Advantages of MC methods vs. DP:. Model-free: No need for an environment model. Sampling from a simulation is often easy. Can evaluate a small state set of interest. DP always has to sweep over all states. Unbiased estimates: Estimates are based on returns from complete sampled sequences. We will learn about other methods that introduce bias by bootstrapping (estimating a value from other estimates). Using complete sequences may be less harmed by violations of the Markov property/issues with observability. Issues:. Needs to maintain sufficient exploration. Options are:. Exploring starts can learn the optimal policy. On-policy control with an epsilon -soft policy and GLIE. Off-policy control with a covering behavior policy. Note: only a part of the data can be used. MC methods are not sample efficient. I.e., sampled episodes are used only once and then discarded. Not a truly online method: Updates are not done after each action but are delayed until the end of each episode">
                <a:extLst>
                  <a:ext uri="{FF2B5EF4-FFF2-40B4-BE49-F238E27FC236}">
                    <a16:creationId xmlns:a16="http://schemas.microsoft.com/office/drawing/2014/main" id="{A4F28751-2020-D237-0D4A-7383D2745E79}"/>
                  </a:ext>
                </a:extLst>
              </p:cNvPr>
              <p:cNvSpPr>
                <a:spLocks noGrp="1" noRot="1" noChangeAspect="1" noMove="1" noResize="1" noEditPoints="1" noAdjustHandles="1" noChangeArrowheads="1" noChangeShapeType="1" noTextEdit="1"/>
              </p:cNvSpPr>
              <p:nvPr>
                <p:ph idx="1"/>
              </p:nvPr>
            </p:nvSpPr>
            <p:spPr>
              <a:xfrm>
                <a:off x="5636057" y="376930"/>
                <a:ext cx="6006517" cy="6361928"/>
              </a:xfrm>
              <a:blipFill>
                <a:blip r:embed="rId3"/>
                <a:stretch>
                  <a:fillRect l="-406" t="-479" b="-671"/>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FE83400F-3AC6-D422-B920-E8D54036FCE6}"/>
              </a:ext>
              <a:ext uri="{C183D7F6-B498-43B3-948B-1728B52AA6E4}">
                <adec:decorative xmlns:adec="http://schemas.microsoft.com/office/drawing/2017/decorative" val="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1110" b="-1"/>
          <a:stretch>
            <a:fillRect/>
          </a:stretch>
        </p:blipFill>
        <p:spPr bwMode="auto">
          <a:xfrm>
            <a:off x="724708" y="3429000"/>
            <a:ext cx="3951110" cy="26669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1482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5" end="15"/>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6" end="16"/>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7" end="17"/>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13279</TotalTime>
  <Words>3088</Words>
  <Application>Microsoft Office PowerPoint</Application>
  <PresentationFormat>Widescreen</PresentationFormat>
  <Paragraphs>347</Paragraphs>
  <Slides>31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Aptos</vt:lpstr>
      <vt:lpstr>Aptos Display</vt:lpstr>
      <vt:lpstr>Arial</vt:lpstr>
      <vt:lpstr>Calibri</vt:lpstr>
      <vt:lpstr>Cambria Math</vt:lpstr>
      <vt:lpstr>Office Theme</vt:lpstr>
      <vt:lpstr>Reinforcement Learning  Monte Carlo Methods Sutton/Barto* Chapter 5</vt:lpstr>
      <vt:lpstr>Topics of this Course</vt:lpstr>
      <vt:lpstr>Summary of Notation</vt:lpstr>
      <vt:lpstr>Introduction</vt:lpstr>
      <vt:lpstr>Monte Carlo Prediction</vt:lpstr>
      <vt:lpstr>MC Value Function Approximation</vt:lpstr>
      <vt:lpstr>MC Prediction: Estimate v_π for a given π</vt:lpstr>
      <vt:lpstr>Monte Carlo Control</vt:lpstr>
      <vt:lpstr>MC Control as Generalized Policy Iteration (GPI)</vt:lpstr>
      <vt:lpstr>Remember: Policy Improvement Theorem and Greedy Policies</vt:lpstr>
      <vt:lpstr>MC Prediction to Estimate Q-Values</vt:lpstr>
      <vt:lpstr>Monte Carlo Control with Exploring Starts</vt:lpstr>
      <vt:lpstr>Alg. MC Control with Exploring Starts</vt:lpstr>
      <vt:lpstr>Code example: MC with Exploring Starts</vt:lpstr>
      <vt:lpstr>MC Control without Exploring Starts</vt:lpstr>
      <vt:lpstr>On-Policy Monte Carlo Control</vt:lpstr>
      <vt:lpstr>Exploration with On-Policy Methods</vt:lpstr>
      <vt:lpstr>Types of Soft Policies for Exploration</vt:lpstr>
      <vt:lpstr>Alg. On-Policy MC Control with ϵ-soft Policies</vt:lpstr>
      <vt:lpstr>Convergence to the Optimal Policy:  Greedy in the Limit with Infinite Exploration (GLIE)</vt:lpstr>
      <vt:lpstr>Off-Policy Methods</vt:lpstr>
      <vt:lpstr>Off-Policy Prediction</vt:lpstr>
      <vt:lpstr>On-Policy vs. Off-Policy Control</vt:lpstr>
      <vt:lpstr>Off-Policy Prediction  </vt:lpstr>
      <vt:lpstr>Importance Sampling</vt:lpstr>
      <vt:lpstr>Ordinary vs. Weighted Importance Sampling</vt:lpstr>
      <vt:lpstr>Alg. Off-Policy Prediction</vt:lpstr>
      <vt:lpstr>Off-Policy Control</vt:lpstr>
      <vt:lpstr>Off-Policy MC Control</vt:lpstr>
      <vt:lpstr>Alg. Off-Policy MC Control</vt:lpstr>
      <vt:lpstr>What you Should Know</vt:lpstr>
    </vt:vector>
  </TitlesOfParts>
  <Company>Southern Methodist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Hahsler, Michael</dc:creator>
  <cp:lastModifiedBy>Hahsler, Michael</cp:lastModifiedBy>
  <cp:revision>178</cp:revision>
  <dcterms:created xsi:type="dcterms:W3CDTF">2025-09-08T14:44:49Z</dcterms:created>
  <dcterms:modified xsi:type="dcterms:W3CDTF">2026-10-23T15:39:53Z</dcterms:modified>
</cp:coreProperties>
</file>