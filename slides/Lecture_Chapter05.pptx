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68" r:id="rId4"/>
    <p:sldId id="403" r:id="rId5"/>
    <p:sldId id="382" r:id="rId6"/>
    <p:sldId id="385" r:id="rId7"/>
    <p:sldId id="384" r:id="rId8"/>
    <p:sldId id="386" r:id="rId9"/>
    <p:sldId id="387" r:id="rId10"/>
    <p:sldId id="391" r:id="rId11"/>
    <p:sldId id="388" r:id="rId12"/>
    <p:sldId id="390" r:id="rId13"/>
    <p:sldId id="392" r:id="rId14"/>
    <p:sldId id="395" r:id="rId15"/>
    <p:sldId id="393" r:id="rId16"/>
    <p:sldId id="394" r:id="rId17"/>
    <p:sldId id="396" r:id="rId18"/>
    <p:sldId id="397" r:id="rId19"/>
    <p:sldId id="399" r:id="rId20"/>
    <p:sldId id="398" r:id="rId21"/>
    <p:sldId id="400" r:id="rId22"/>
    <p:sldId id="401" r:id="rId23"/>
    <p:sldId id="40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68"/>
            <p14:sldId id="403"/>
            <p14:sldId id="382"/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5"/>
            <p14:sldId id="393"/>
            <p14:sldId id="394"/>
            <p14:sldId id="396"/>
            <p14:sldId id="397"/>
            <p14:sldId id="399"/>
            <p14:sldId id="398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9.png"/><Relationship Id="rId7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No complete knowledge of the environment (the MDP). </a:t>
            </a:r>
            <a:br>
              <a:rPr lang="en-US" dirty="0"/>
            </a:br>
            <a:r>
              <a:rPr lang="en-US" dirty="0"/>
              <a:t>This is called a “</a:t>
            </a:r>
            <a:r>
              <a:rPr lang="en-US" b="1" dirty="0"/>
              <a:t>model-free</a:t>
            </a:r>
            <a:r>
              <a:rPr lang="en-US" dirty="0"/>
              <a:t>” method. </a:t>
            </a:r>
          </a:p>
          <a:p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</a:p>
          <a:p>
            <a:pPr lvl="1"/>
            <a:r>
              <a:rPr lang="en-US" dirty="0"/>
              <a:t>a family of algorithms that rely on repeated random sampling to obtain numerical results.</a:t>
            </a:r>
          </a:p>
          <a:p>
            <a:pPr lvl="1"/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for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Sample-average method</a:t>
                </a:r>
                <a:r>
                  <a:rPr lang="en-US" dirty="0"/>
                  <a:t>: 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 is defined as an expected value which is approximated by the observed average.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  <a:blipFill>
                <a:blip r:embed="rId3"/>
                <a:stretch>
                  <a:fillRect l="-234" t="-4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ED14C81-3730-01C4-0178-B5F501F1BB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Control: Find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ED14C81-3730-01C4-0178-B5F501F1B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not sufficient to pick the best action. We need the Q-function.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Q-function from samples.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452244" y="4226067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4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b="0" dirty="0"/>
                  <a:t> can be estimated with regular </a:t>
                </a:r>
                <a:r>
                  <a:rPr lang="en-US" dirty="0"/>
                  <a:t>MC prediction. Just record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</a:t>
                </a:r>
                <a:br>
                  <a:rPr lang="en-US" dirty="0"/>
                </a:br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Soft policies have non-zero probabilities for all actions.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12927" cy="477963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Start with an arbitrary policy.</a:t>
                </a:r>
              </a:p>
              <a:p>
                <a:r>
                  <a:rPr lang="en-US" b="1" dirty="0"/>
                  <a:t>Evaluation</a:t>
                </a:r>
                <a:r>
                  <a:rPr lang="en-US" dirty="0"/>
                  <a:t>: Update MC estimate of by sampling an episode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  <a:p>
                <a:r>
                  <a:rPr lang="en-US" dirty="0"/>
                  <a:t>Repeat evaluation and improvement till the optimal policy is reached.</a:t>
                </a:r>
                <a:endParaRPr lang="en-US" b="0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12927" cy="4779633"/>
              </a:xfrm>
              <a:blipFill>
                <a:blip r:embed="rId2"/>
                <a:stretch>
                  <a:fillRect l="-1133" t="-3189" r="-1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F3DB8754-B65E-E3AC-7CAD-78AE15FCE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0601" y="218543"/>
            <a:ext cx="2936007" cy="28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(equal)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states are reached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Options for imperfect policy evaluation:</a:t>
                </a:r>
              </a:p>
              <a:p>
                <a:pPr lvl="1"/>
                <a:r>
                  <a:rPr lang="en-US" dirty="0"/>
                  <a:t>Get bounds for the error and use sufficiently many episodes to reach an acceptable level of error.</a:t>
                </a:r>
              </a:p>
              <a:p>
                <a:pPr lvl="1"/>
                <a:r>
                  <a:rPr lang="en-US" dirty="0"/>
                  <a:t>Instead of complete policy evaluation just move a little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2020" y="1438741"/>
            <a:ext cx="8487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D2A1-20FF-E2C2-87CE-EFFEE51F9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Need: a guarantee that all state-action combinations are tried.</a:t>
            </a:r>
          </a:p>
          <a:p>
            <a:endParaRPr lang="en-US" dirty="0"/>
          </a:p>
          <a:p>
            <a:r>
              <a:rPr lang="en-US" dirty="0"/>
              <a:t>Options: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b="1" dirty="0"/>
              <a:t>On-policy control</a:t>
            </a:r>
            <a:r>
              <a:rPr lang="en-US" dirty="0"/>
              <a:t>: learn a soft policy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b="1" dirty="0"/>
              <a:t>Off-policy control</a:t>
            </a:r>
            <a:r>
              <a:rPr lang="en-US" dirty="0"/>
              <a:t>: use a soft behavior policy for sampling that tries all state-action pairs, but learn the optimal, deterministic policy. </a:t>
            </a:r>
          </a:p>
        </p:txBody>
      </p:sp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+ gradually shifts closer to the optimal deterministic policy.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8418-5E9C-7F49-C4BB-FCAD076E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E1DF-EC1A-55FD-95F8-47678C894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Like Monte Carlo ES except:</a:t>
                </a:r>
              </a:p>
              <a:p>
                <a:pPr lvl="1"/>
                <a:r>
                  <a:rPr lang="en-US" dirty="0"/>
                  <a:t>Start with an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policy.</a:t>
                </a:r>
              </a:p>
              <a:p>
                <a:pPr lvl="1"/>
                <a:r>
                  <a:rPr lang="en-US" dirty="0"/>
                  <a:t>After each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instead of a greedy deterministic policy, approximate it with a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that is most likely to pick the optimal action.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1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4376-2408-766E-C11B-2CB70FB9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On-Policy MC Control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9461" y="1397000"/>
            <a:ext cx="7453078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action values depending on subsequent optimal behavior.</a:t>
                </a:r>
              </a:p>
              <a:p>
                <a:pPr lvl="1"/>
                <a:r>
                  <a:rPr lang="en-US" dirty="0"/>
                  <a:t>We need to explore which leads to non-optimal outcomes.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dirty="0"/>
                  <a:t>Target policy: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optimal.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is a special case of off-policy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  <a:blipFill>
                <a:blip r:embed="rId2"/>
                <a:stretch>
                  <a:fillRect l="-522" t="-1812" b="-8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dirty="0"/>
                  <a:t>Coverage: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dirty="0"/>
                  <a:t>We are typically interested in the best deterministic greedy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with respect to the current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Idea</a:t>
                </a:r>
                <a:r>
                  <a:rPr lang="en-US" sz="1800" dirty="0"/>
                  <a:t>: Estimate the expected values under a desired distribution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(probability that 𝑏 chooses the same actions as 𝜋):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Note: </a:t>
                </a:r>
                <a:r>
                  <a:rPr lang="en-US" sz="1800" dirty="0"/>
                  <a:t>The ratio has to be calculated for the remainder of each sampled trajectory.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522" t="-1148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425414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767441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471194" y="5409617"/>
            <a:ext cx="2101026" cy="966952"/>
          </a:xfrm>
          <a:prstGeom prst="wedgeRoundRectCallout">
            <a:avLst>
              <a:gd name="adj1" fmla="val -145246"/>
              <a:gd name="adj2" fmla="val -3067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Ordinary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𝒯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but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Weighted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. Bias falls asymptotically with more visits.</a:t>
                </a:r>
              </a:p>
              <a:p>
                <a:pPr lvl="1"/>
                <a:r>
                  <a:rPr lang="en-US" dirty="0"/>
                  <a:t>Preferred method with much lower errors at lower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/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time steps that s was visited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  <a:blipFill>
                <a:blip r:embed="rId3"/>
                <a:stretch>
                  <a:fillRect t="-1852"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7441" y="1397000"/>
            <a:ext cx="8297118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1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1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02054287-BBE2-A27E-1B12-1B0E41F29443}"/>
              </a:ext>
            </a:extLst>
          </p:cNvPr>
          <p:cNvSpPr/>
          <p:nvPr/>
        </p:nvSpPr>
        <p:spPr>
          <a:xfrm>
            <a:off x="6930704" y="4137170"/>
            <a:ext cx="1995181" cy="195743"/>
          </a:xfrm>
          <a:prstGeom prst="wedgeRoundRectCallout">
            <a:avLst>
              <a:gd name="adj1" fmla="val -50798"/>
              <a:gd name="adj2" fmla="val 13916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6442745" y="5684706"/>
            <a:ext cx="1431720" cy="195743"/>
          </a:xfrm>
          <a:prstGeom prst="wedgeRoundRectCallout">
            <a:avLst>
              <a:gd name="adj1" fmla="val -79457"/>
              <a:gd name="adj2" fmla="val -1458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1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1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4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tries to estimate a policy while using it for control. The behavior changes while learning.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needs to be soft (have coverage)</a:t>
                </a:r>
              </a:p>
              <a:p>
                <a:pPr lvl="1"/>
                <a:r>
                  <a:rPr lang="en-US" dirty="0"/>
                  <a:t>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 can be deterministic (e.g., greedy)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338" y="1397000"/>
            <a:ext cx="7905323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Does not use all data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BB16960E-59AF-722F-F148-C1628038A5CE}"/>
              </a:ext>
            </a:extLst>
          </p:cNvPr>
          <p:cNvSpPr/>
          <p:nvPr/>
        </p:nvSpPr>
        <p:spPr>
          <a:xfrm>
            <a:off x="8544187" y="5196980"/>
            <a:ext cx="180363" cy="515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9F0F300-7EDD-4067-628D-126C67D34BFA}"/>
              </a:ext>
            </a:extLst>
          </p:cNvPr>
          <p:cNvSpPr/>
          <p:nvPr/>
        </p:nvSpPr>
        <p:spPr>
          <a:xfrm>
            <a:off x="9511091" y="5228167"/>
            <a:ext cx="2399251" cy="262777"/>
          </a:xfrm>
          <a:prstGeom prst="wedgeRoundRectCallout">
            <a:avLst>
              <a:gd name="adj1" fmla="val -81134"/>
              <a:gd name="adj2" fmla="val 401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added to prediction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28751-2020-D237-0D4A-7383D2745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Advantages of MC methods:</a:t>
            </a:r>
          </a:p>
          <a:p>
            <a:pPr lvl="1"/>
            <a:r>
              <a:rPr lang="en-US" dirty="0"/>
              <a:t>Works with sample episodes</a:t>
            </a:r>
          </a:p>
          <a:p>
            <a:pPr lvl="2"/>
            <a:r>
              <a:rPr lang="en-US" dirty="0"/>
              <a:t>No need for an environment model.</a:t>
            </a:r>
          </a:p>
          <a:p>
            <a:pPr lvl="2"/>
            <a:r>
              <a:rPr lang="en-US" dirty="0"/>
              <a:t>Simulation is often easy.</a:t>
            </a:r>
          </a:p>
          <a:p>
            <a:pPr lvl="2"/>
            <a:r>
              <a:rPr lang="en-US" dirty="0"/>
              <a:t>Can focus on a small subset of states.</a:t>
            </a:r>
          </a:p>
          <a:p>
            <a:pPr lvl="2"/>
            <a:r>
              <a:rPr lang="en-US" dirty="0"/>
              <a:t>May be less harmed by violations of the Markov property because it </a:t>
            </a:r>
            <a:r>
              <a:rPr lang="en-US" b="1" dirty="0"/>
              <a:t>does not bootstrap </a:t>
            </a:r>
            <a:r>
              <a:rPr lang="en-US" dirty="0"/>
              <a:t>(use predicted successor states) but uses observed states.</a:t>
            </a:r>
          </a:p>
          <a:p>
            <a:endParaRPr lang="en-US" dirty="0"/>
          </a:p>
          <a:p>
            <a:r>
              <a:rPr lang="en-US" dirty="0"/>
              <a:t>Policy Evaluation: Averages many returns starting in a state with a specific action.</a:t>
            </a:r>
          </a:p>
          <a:p>
            <a:endParaRPr lang="en-US" dirty="0"/>
          </a:p>
          <a:p>
            <a:r>
              <a:rPr lang="en-US" dirty="0"/>
              <a:t>Control: Interleaves pol. eval. and pol. improvement on an episode-by-episode basis.</a:t>
            </a:r>
          </a:p>
          <a:p>
            <a:endParaRPr lang="en-US" dirty="0"/>
          </a:p>
          <a:p>
            <a:r>
              <a:rPr lang="en-US" dirty="0"/>
              <a:t>Issues:</a:t>
            </a:r>
          </a:p>
          <a:p>
            <a:pPr lvl="1"/>
            <a:r>
              <a:rPr lang="en-US" b="1" dirty="0"/>
              <a:t>Maintain sufficient exploration</a:t>
            </a:r>
            <a:r>
              <a:rPr lang="en-US" dirty="0"/>
              <a:t>. Needs exploring starts or a behavioral policy with coverage (e.g., a soft policy).</a:t>
            </a:r>
          </a:p>
        </p:txBody>
      </p:sp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10141</TotalTime>
  <Words>1921</Words>
  <Application>Microsoft Office PowerPoint</Application>
  <PresentationFormat>Widescreen</PresentationFormat>
  <Paragraphs>214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Introduction</vt:lpstr>
      <vt:lpstr>Monte Carlo Prediction</vt:lpstr>
      <vt:lpstr>MC Prediction: Estimate v_π</vt:lpstr>
      <vt:lpstr>Monte Carlo Control</vt:lpstr>
      <vt:lpstr>MC Control: Find π^∗</vt:lpstr>
      <vt:lpstr>MC Prediction to Estimate Q-Values</vt:lpstr>
      <vt:lpstr>MC Control</vt:lpstr>
      <vt:lpstr>Remember: Policy Improvement Theorem</vt:lpstr>
      <vt:lpstr>Alg. MC Control with Exploring Starts</vt:lpstr>
      <vt:lpstr>MC Control without Exploring Starts</vt:lpstr>
      <vt:lpstr>Types of Soft Policies</vt:lpstr>
      <vt:lpstr>On-Policy MC</vt:lpstr>
      <vt:lpstr>Alg. On-Policy MC Control</vt:lpstr>
      <vt:lpstr>Off-Policy vs. On-Policy</vt:lpstr>
      <vt:lpstr>Off-Policy Prediction</vt:lpstr>
      <vt:lpstr>Importance Sampling</vt:lpstr>
      <vt:lpstr>Ordinary vs. Weighted Importance Sampling</vt:lpstr>
      <vt:lpstr>Incremental Implementation using  Weighted Importance Sampling</vt:lpstr>
      <vt:lpstr>Off-Policy MC Control</vt:lpstr>
      <vt:lpstr>Alg. Off-Policy MC Control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126</cp:revision>
  <dcterms:created xsi:type="dcterms:W3CDTF">2025-09-08T14:44:49Z</dcterms:created>
  <dcterms:modified xsi:type="dcterms:W3CDTF">2026-01-08T22:22:17Z</dcterms:modified>
</cp:coreProperties>
</file>