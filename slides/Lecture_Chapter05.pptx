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403" r:id="rId6"/>
    <p:sldId id="382" r:id="rId7"/>
    <p:sldId id="385" r:id="rId8"/>
    <p:sldId id="384" r:id="rId9"/>
    <p:sldId id="386" r:id="rId10"/>
    <p:sldId id="387" r:id="rId11"/>
    <p:sldId id="391" r:id="rId12"/>
    <p:sldId id="388" r:id="rId13"/>
    <p:sldId id="390" r:id="rId14"/>
    <p:sldId id="392" r:id="rId15"/>
    <p:sldId id="393" r:id="rId16"/>
    <p:sldId id="479" r:id="rId17"/>
    <p:sldId id="404" r:id="rId18"/>
    <p:sldId id="394" r:id="rId19"/>
    <p:sldId id="396" r:id="rId20"/>
    <p:sldId id="397" r:id="rId21"/>
    <p:sldId id="399" r:id="rId22"/>
    <p:sldId id="398" r:id="rId23"/>
    <p:sldId id="405" r:id="rId24"/>
    <p:sldId id="400" r:id="rId25"/>
    <p:sldId id="401" r:id="rId26"/>
    <p:sldId id="40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382"/>
          </p14:sldIdLst>
        </p14:section>
        <p14:section name="On-Policy Control" id="{9082A117-CBDB-4A41-BA4A-590A11BC768B}">
          <p14:sldIdLst>
            <p14:sldId id="385"/>
            <p14:sldId id="384"/>
            <p14:sldId id="386"/>
            <p14:sldId id="387"/>
            <p14:sldId id="391"/>
            <p14:sldId id="388"/>
            <p14:sldId id="390"/>
            <p14:sldId id="392"/>
            <p14:sldId id="393"/>
            <p14:sldId id="479"/>
          </p14:sldIdLst>
        </p14:section>
        <p14:section name="Off-policy Prediciton" id="{51E355B1-9A61-41B1-AD67-E45726DBD2A6}">
          <p14:sldIdLst>
            <p14:sldId id="404"/>
            <p14:sldId id="394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12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b="1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40408" cy="4779633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Model-free method</a:t>
                </a:r>
                <a:r>
                  <a:rPr lang="en-US" dirty="0"/>
                  <a:t>: We do not assume knowledge of the environment model (the MDP). </a:t>
                </a:r>
              </a:p>
              <a:p>
                <a:r>
                  <a:rPr lang="en-US" dirty="0"/>
                  <a:t>We use “experience” = </a:t>
                </a:r>
                <a:r>
                  <a:rPr lang="en-US" b="1" dirty="0"/>
                  <a:t>sample sequences </a:t>
                </a:r>
                <a:r>
                  <a:rPr lang="en-US" dirty="0"/>
                  <a:t>of states, actions, and rewards from actual or simulated interactions with the environment.</a:t>
                </a:r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often have </a:t>
                </a:r>
                <a:r>
                  <a:rPr lang="en-US" b="1" dirty="0"/>
                  <a:t>sample access </a:t>
                </a:r>
                <a:r>
                  <a:rPr lang="en-US" dirty="0"/>
                  <a:t>to systems. </a:t>
                </a:r>
              </a:p>
              <a:p>
                <a:pPr lvl="1"/>
                <a:r>
                  <a:rPr lang="en-US" dirty="0"/>
                  <a:t>It is easier to simulate transitions than to specify the complete MDP.</a:t>
                </a:r>
              </a:p>
              <a:p>
                <a:endParaRPr lang="en-US" dirty="0"/>
              </a:p>
              <a:p>
                <a:r>
                  <a:rPr lang="en-US" b="1" dirty="0"/>
                  <a:t>Monte Carlo (MC) methods </a:t>
                </a:r>
                <a:r>
                  <a:rPr lang="en-US" dirty="0"/>
                  <a:t>are a family of algorithms that rely on repeated random sampling to obtain numerical results (see example to the right).</a:t>
                </a:r>
              </a:p>
              <a:p>
                <a:endParaRPr lang="en-US" b="1" dirty="0"/>
              </a:p>
              <a:p>
                <a:r>
                  <a:rPr lang="en-US" b="1" dirty="0"/>
                  <a:t>Value function approximation:</a:t>
                </a:r>
                <a:r>
                  <a:rPr lang="en-US" dirty="0"/>
                  <a:t> Use the sample-average method to approximate the expectation in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The average return of many sampled sequences (called episodes or trajectories)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converges to the true expectation as the number of samples increases.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Note</a:t>
                </a:r>
                <a:r>
                  <a:rPr lang="en-US" dirty="0"/>
                  <a:t>: This methods needs to sample whole episodes before any calculation. It is not a true step-by-step online method!</a:t>
                </a:r>
              </a:p>
              <a:p>
                <a:pPr lvl="1"/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40408" cy="4779633"/>
              </a:xfrm>
              <a:blipFill>
                <a:blip r:embed="rId2"/>
                <a:stretch>
                  <a:fillRect l="-236" t="-1276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16404"/>
                <a:ext cx="7808892" cy="1667987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for a given deterministic or stochastic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for the rest of the episode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Samples are </a:t>
                </a:r>
                <a:r>
                  <a:rPr lang="en-US" b="1" dirty="0"/>
                  <a:t>unbiased</a:t>
                </a:r>
                <a:r>
                  <a:rPr lang="en-US" dirty="0"/>
                  <a:t>. The sample average converges to the expectation and thus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Reason:  state values are defined as an expected values which can be approximated by averaging observations.</a:t>
                </a:r>
                <a:endParaRPr lang="en-US" b="1" dirty="0"/>
              </a:p>
              <a:p>
                <a:r>
                  <a:rPr lang="en-US" b="1" dirty="0"/>
                  <a:t>First-visit</a:t>
                </a:r>
                <a:r>
                  <a:rPr lang="en-US" dirty="0"/>
                  <a:t>: Using the return only for the first visit of a state in the episode ensures that the sample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 (not dependent on each other) and we get an </a:t>
                </a:r>
                <a:r>
                  <a:rPr lang="en-US" b="1" dirty="0"/>
                  <a:t>unbiased</a:t>
                </a:r>
                <a:r>
                  <a:rPr lang="en-US" dirty="0"/>
                  <a:t>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16404"/>
                <a:ext cx="7808892" cy="1667987"/>
              </a:xfrm>
              <a:blipFill>
                <a:blip r:embed="rId3"/>
                <a:stretch>
                  <a:fillRect l="-78" t="-2930" r="-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56" y="2774899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772363"/>
            <a:ext cx="2899175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Calculate remaining returns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677614"/>
            <a:chOff x="8647092" y="860591"/>
            <a:chExt cx="3395272" cy="267761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/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Calculate the return following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200" dirty="0"/>
                    <a:t> </a:t>
                  </a:r>
                  <a:br>
                    <a:rPr lang="en-US" sz="1200" dirty="0"/>
                  </a:br>
                  <a:r>
                    <a:rPr lang="en-US" sz="1200" dirty="0"/>
                    <a:t>for all states in the episode</a:t>
                  </a:r>
                </a:p>
              </p:txBody>
            </p:sp>
          </mc:Choice>
          <mc:Fallback xmlns="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741440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077047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2B6082C4-7D27-71D9-3992-406A664288E7}"/>
              </a:ext>
            </a:extLst>
          </p:cNvPr>
          <p:cNvSpPr/>
          <p:nvPr/>
        </p:nvSpPr>
        <p:spPr>
          <a:xfrm>
            <a:off x="5403557" y="6145889"/>
            <a:ext cx="4818965" cy="421024"/>
          </a:xfrm>
          <a:prstGeom prst="wedgeRoundRectCallout">
            <a:avLst>
              <a:gd name="adj1" fmla="val -68252"/>
              <a:gd name="adj2" fmla="val -948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This sample average approximates the expected return. </a:t>
            </a:r>
          </a:p>
          <a:p>
            <a:pPr algn="ctr"/>
            <a:r>
              <a:rPr lang="en-US" sz="1100" b="1" dirty="0"/>
              <a:t>Note</a:t>
            </a:r>
            <a:r>
              <a:rPr lang="en-US" sz="1100" dirty="0"/>
              <a:t>: This can be implemented with incremental updating of the averages!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the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14C81-3730-01C4-0178-B5F501F1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MC Control: Find a Good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good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while following the current policy. </a:t>
                </a:r>
              </a:p>
              <a:p>
                <a:r>
                  <a:rPr lang="en-US" b="1" dirty="0"/>
                  <a:t>Issue</a:t>
                </a:r>
                <a:r>
                  <a:rPr lang="en-US" dirty="0"/>
                  <a:t>: The state values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are not sufficient to pick the best action. We need the Q-function which could be calculated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using a backup step: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)[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We need to estimate the Q-function directly from samples.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6118BD-0FDD-CEBC-47C4-EDC305760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7736B57-32A4-8061-59E8-4A8B0884BBE9}"/>
              </a:ext>
            </a:extLst>
          </p:cNvPr>
          <p:cNvGrpSpPr/>
          <p:nvPr/>
        </p:nvGrpSpPr>
        <p:grpSpPr>
          <a:xfrm>
            <a:off x="6347542" y="4463392"/>
            <a:ext cx="4771840" cy="515511"/>
            <a:chOff x="2458533" y="3098314"/>
            <a:chExt cx="1699913" cy="515511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7D54A4FA-9978-C0D7-9A96-C09807FEC7CA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/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Model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a14:m>
                  <a:r>
                    <a:rPr lang="en-US" sz="1400" dirty="0"/>
                    <a:t> is not accessible!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3F1C6B4-152C-31C0-996A-32097CDCA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8533" y="3306048"/>
                  <a:ext cx="1699913" cy="3077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60577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b="0" dirty="0"/>
                  <a:t>MC prediction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].</m:t>
                    </m:r>
                  </m:oMath>
                </a14:m>
                <a:br>
                  <a:rPr lang="en-US" b="0" dirty="0"/>
                </a:br>
                <a:r>
                  <a:rPr lang="en-US" dirty="0"/>
                  <a:t>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Unbiased samples leas to convergence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Exploration issue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To get Q-Value estimates,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  <a:blipFill>
                <a:blip r:embed="rId2"/>
                <a:stretch>
                  <a:fillRect l="-943" t="-2420" b="-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MC Control as Generalized Policy Iteration (GPI)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policy does not change (= optimal policy is reached).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update the MC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,⋅)</m:t>
                    </m:r>
                  </m:oMath>
                </a14:m>
                <a:r>
                  <a:rPr lang="en-US" dirty="0"/>
                  <a:t> estimate by adding more unbiased sample returns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then we can construct a new greedy policy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that is better (or equal) compared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. Reason: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Assumptions</a:t>
                </a:r>
              </a:p>
              <a:p>
                <a:pPr lvl="1"/>
                <a:r>
                  <a:rPr lang="en-US" dirty="0"/>
                  <a:t>All state/action pairs are tried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 before each policy update. </a:t>
                </a:r>
                <a:r>
                  <a:rPr lang="en-US" b="1" dirty="0"/>
                  <a:t>Perfect policy evaluation is impractical!</a:t>
                </a:r>
              </a:p>
              <a:p>
                <a:pPr lvl="1"/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The effect of imperfect policy evaluation</a:t>
                </a:r>
              </a:p>
              <a:p>
                <a:pPr lvl="1"/>
                <a:r>
                  <a:rPr lang="en-US" dirty="0"/>
                  <a:t>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estimates will be wrong but unbiased return estimates will produce in expectation (on average) the correct estimate.</a:t>
                </a:r>
              </a:p>
              <a:p>
                <a:pPr lvl="1"/>
                <a:r>
                  <a:rPr lang="en-US" dirty="0"/>
                  <a:t>Policy improvement sometimes may pick the wrong action, but </a:t>
                </a:r>
                <a:r>
                  <a:rPr lang="en-US" b="1" dirty="0"/>
                  <a:t>on average favors actions with true higher values.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  <a:blipFill>
                <a:blip r:embed="rId2"/>
                <a:stretch>
                  <a:fillRect l="-522" t="-1794" r="-232" b="-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/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chooses greedy action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  <a:blipFill>
                <a:blip r:embed="rId3"/>
                <a:stretch>
                  <a:fillRect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892436D-3970-AD3A-C21E-8315BDEB9356}"/>
              </a:ext>
            </a:extLst>
          </p:cNvPr>
          <p:cNvSpPr/>
          <p:nvPr/>
        </p:nvSpPr>
        <p:spPr>
          <a:xfrm>
            <a:off x="8513306" y="3429000"/>
            <a:ext cx="2440898" cy="661369"/>
          </a:xfrm>
          <a:prstGeom prst="wedgeRoundRectCallout">
            <a:avLst>
              <a:gd name="adj1" fmla="val -83002"/>
              <a:gd name="adj2" fmla="val -9800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Choosing the best action will never lead to a lower value!</a:t>
            </a:r>
          </a:p>
        </p:txBody>
      </p:sp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8137891-05BC-12B0-15F8-4F0F387FFF6E}"/>
              </a:ext>
            </a:extLst>
          </p:cNvPr>
          <p:cNvSpPr/>
          <p:nvPr/>
        </p:nvSpPr>
        <p:spPr>
          <a:xfrm>
            <a:off x="9146496" y="930554"/>
            <a:ext cx="2059714" cy="891265"/>
          </a:xfrm>
          <a:prstGeom prst="wedgeRoundRectCallout">
            <a:avLst>
              <a:gd name="adj1" fmla="val -111686"/>
              <a:gd name="adj2" fmla="val -515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So all state-action pairs are tired. 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</a:t>
                </a:r>
                <a:r>
                  <a:rPr lang="en-US" b="1" dirty="0"/>
                  <a:t>soft policy </a:t>
                </a:r>
                <a:r>
                  <a:rPr lang="en-US" dirty="0"/>
                  <a:t>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</a:t>
                </a:r>
                <a:r>
                  <a:rPr lang="en-US" b="1" dirty="0"/>
                  <a:t>behavior policy </a:t>
                </a:r>
                <a:r>
                  <a:rPr lang="en-US" dirty="0"/>
                  <a:t>for sampling that tries all state-action pairs, but learn the optimal, deterministic </a:t>
                </a:r>
                <a:r>
                  <a:rPr lang="en-US" b="1" dirty="0"/>
                  <a:t>target policy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of a Soft Policy</a:t>
                </a:r>
                <a:r>
                  <a:rPr lang="en-US" dirty="0"/>
                  <a:t>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Policy Types: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defines the smallest allowed probability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This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8919148" cy="369332"/>
              </a:xfrm>
              <a:prstGeom prst="rect">
                <a:avLst/>
              </a:prstGeom>
              <a:blipFill>
                <a:blip r:embed="rId6"/>
                <a:stretch>
                  <a:fillRect l="-546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vs. On-Policy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need behavior that explores. </a:t>
                </a:r>
              </a:p>
              <a:p>
                <a:pPr lvl="1"/>
                <a:r>
                  <a:rPr lang="en-US" dirty="0"/>
                  <a:t>We know that MDPs have optimal deterministic policies that do not explore.</a:t>
                </a:r>
              </a:p>
              <a:p>
                <a:pPr lvl="1"/>
                <a:r>
                  <a:rPr lang="en-US" dirty="0"/>
                  <a:t>Learning optimal action values depends on observing optimal behavior.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Can learn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and then converts it into a greedy deterministic policy.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393433"/>
              </a:xfrm>
              <a:blipFill>
                <a:blip r:embed="rId2"/>
                <a:stretch>
                  <a:fillRect l="-232" t="-1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That is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(soft)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Returns and sample averages are valid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but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! We need to correct them.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Importance sampling </a:t>
                </a:r>
                <a:r>
                  <a:rPr lang="en-US" sz="18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400" dirty="0"/>
                  <a:t>Expectation under desired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Observed expectation from sampled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400" dirty="0"/>
              </a:p>
              <a:p>
                <a:r>
                  <a:rPr lang="en-US" sz="1800" b="1" dirty="0"/>
                  <a:t>Idea</a:t>
                </a:r>
                <a:r>
                  <a:rPr lang="en-US" sz="1800" dirty="0"/>
                  <a:t>: correct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dirty="0"/>
              </a:p>
              <a:p>
                <a:endParaRPr lang="en-US" sz="1800" dirty="0"/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 </a:t>
                </a:r>
                <a:r>
                  <a:rPr lang="en-US" sz="1800" dirty="0"/>
                  <a:t>(how much more likely are the remaining actions in the sequence chosen under 𝜋 than under 𝑏):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406" t="-1148" b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642769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984796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554304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523660" y="5543470"/>
            <a:ext cx="2101026" cy="966952"/>
          </a:xfrm>
          <a:prstGeom prst="wedgeRoundRectCallout">
            <a:avLst>
              <a:gd name="adj1" fmla="val -105649"/>
              <a:gd name="adj2" fmla="val -28349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visited. Can use first visit or every visit.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0.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</a:t>
                </a:r>
              </a:p>
              <a:p>
                <a:pPr lvl="1"/>
                <a:r>
                  <a:rPr lang="en-US" dirty="0"/>
                  <a:t>Preferred method with much lower errors (variance)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sz="1600" dirty="0"/>
                  <a:t> is missing since it cancels out.</a:t>
                </a:r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Alg. Off-Policy Prediction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1461" y="2046914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 of the average return.</a:t>
                </a:r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5"/>
                <a:stretch>
                  <a:fillRect t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D2BFDED-1362-EAC8-6F95-950A9C762329}"/>
              </a:ext>
            </a:extLst>
          </p:cNvPr>
          <p:cNvSpPr txBox="1"/>
          <p:nvPr/>
        </p:nvSpPr>
        <p:spPr>
          <a:xfrm>
            <a:off x="838200" y="1019636"/>
            <a:ext cx="9453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Weighted importance </a:t>
            </a:r>
            <a:r>
              <a:rPr lang="en-US" dirty="0"/>
              <a:t>s</a:t>
            </a:r>
            <a:r>
              <a:rPr lang="en-US" sz="1800" dirty="0"/>
              <a:t>ampling + incremental average update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sampling.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Typically,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 the probability is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</p:spPr>
            <p:txBody>
              <a:bodyPr anchor="ctr"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sampled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Advantages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Unbiased estimates: </a:t>
                </a:r>
                <a:r>
                  <a:rPr lang="en-US" sz="1900" dirty="0"/>
                  <a:t>Estimates are based on returns from complete sampled sequences. We will learn about other methods that introduce bias by  bootstrapping (estimating a value from other estimates).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property/issues with observability.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Learning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Off-policy learning 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action, but are delayed until the end of each episode.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  <a:blipFill>
                <a:blip r:embed="rId3"/>
                <a:stretch>
                  <a:fillRect l="-507" r="-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12344</TotalTime>
  <Words>2696</Words>
  <Application>Microsoft Office PowerPoint</Application>
  <PresentationFormat>Widescreen</PresentationFormat>
  <Paragraphs>300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Topics of this Course</vt:lpstr>
      <vt:lpstr>Summary of Notation</vt:lpstr>
      <vt:lpstr>Introduction</vt:lpstr>
      <vt:lpstr>On-Policy Monte Carlo Prediction</vt:lpstr>
      <vt:lpstr>MC Prediction: Estimate v_π for a given π</vt:lpstr>
      <vt:lpstr>On-Policy Monte Carlo Control</vt:lpstr>
      <vt:lpstr>MC Control: Find a Good Policy</vt:lpstr>
      <vt:lpstr>MC Prediction to Estimate Q-Values</vt:lpstr>
      <vt:lpstr>MC Control as Generalized Policy Iteration (GPI)</vt:lpstr>
      <vt:lpstr>Remember: Policy Improvement Theorem</vt:lpstr>
      <vt:lpstr>Alg. MC Control with Exploring Starts</vt:lpstr>
      <vt:lpstr>MC Control without Exploring Starts</vt:lpstr>
      <vt:lpstr>Types of Soft Policies</vt:lpstr>
      <vt:lpstr>Alg. On-Policy MC Control with ϵ-soft Policies</vt:lpstr>
      <vt:lpstr>Code…</vt:lpstr>
      <vt:lpstr>Off-Policy Prediction</vt:lpstr>
      <vt:lpstr>Off-Policy vs. On-Policy Learning</vt:lpstr>
      <vt:lpstr>Off-Policy Prediction</vt:lpstr>
      <vt:lpstr>Importance Sampling</vt:lpstr>
      <vt:lpstr>Ordinary vs. Weighted Importance Sampling</vt:lpstr>
      <vt:lpstr>Alg. Off-Policy Prediction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150</cp:revision>
  <dcterms:created xsi:type="dcterms:W3CDTF">2025-09-08T14:44:49Z</dcterms:created>
  <dcterms:modified xsi:type="dcterms:W3CDTF">2026-02-09T19:51:10Z</dcterms:modified>
</cp:coreProperties>
</file>