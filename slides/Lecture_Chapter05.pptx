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03" r:id="rId3"/>
    <p:sldId id="368" r:id="rId4"/>
    <p:sldId id="382" r:id="rId5"/>
    <p:sldId id="385" r:id="rId6"/>
    <p:sldId id="384" r:id="rId7"/>
    <p:sldId id="386" r:id="rId8"/>
    <p:sldId id="387" r:id="rId9"/>
    <p:sldId id="391" r:id="rId10"/>
    <p:sldId id="388" r:id="rId11"/>
    <p:sldId id="390" r:id="rId12"/>
    <p:sldId id="392" r:id="rId13"/>
    <p:sldId id="395" r:id="rId14"/>
    <p:sldId id="393" r:id="rId15"/>
    <p:sldId id="394" r:id="rId16"/>
    <p:sldId id="396" r:id="rId17"/>
    <p:sldId id="397" r:id="rId18"/>
    <p:sldId id="399" r:id="rId19"/>
    <p:sldId id="398" r:id="rId20"/>
    <p:sldId id="400" r:id="rId21"/>
    <p:sldId id="401" r:id="rId22"/>
    <p:sldId id="40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03"/>
            <p14:sldId id="368"/>
            <p14:sldId id="382"/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5"/>
            <p14:sldId id="393"/>
            <p14:sldId id="394"/>
            <p14:sldId id="396"/>
            <p14:sldId id="397"/>
            <p14:sldId id="399"/>
            <p14:sldId id="398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222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740408" cy="4779633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No complete knowledge of the environment (the MDP). This is called a “</a:t>
            </a:r>
            <a:r>
              <a:rPr lang="en-US" b="1" dirty="0"/>
              <a:t>model-free</a:t>
            </a:r>
            <a:r>
              <a:rPr lang="en-US" dirty="0"/>
              <a:t>” method.</a:t>
            </a:r>
          </a:p>
          <a:p>
            <a:r>
              <a:rPr lang="en-US" dirty="0"/>
              <a:t>Use instead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Note</a:t>
            </a:r>
            <a:r>
              <a:rPr lang="en-US" dirty="0"/>
              <a:t>: It is easier to simulate transitions than to specify the complete MDP for DP.</a:t>
            </a:r>
          </a:p>
          <a:p>
            <a:endParaRPr lang="en-US" dirty="0"/>
          </a:p>
          <a:p>
            <a:r>
              <a:rPr lang="en-US" b="1" dirty="0"/>
              <a:t>Monte Carlo (MC) methods</a:t>
            </a:r>
            <a:r>
              <a:rPr lang="en-US" dirty="0"/>
              <a:t>: a family of algorithms that rely on repeated random sampling to obtain numerical results.</a:t>
            </a:r>
          </a:p>
          <a:p>
            <a:endParaRPr lang="en-US" dirty="0"/>
          </a:p>
          <a:p>
            <a:r>
              <a:rPr lang="en-US" b="1" dirty="0"/>
              <a:t>Applied to value function approximation</a:t>
            </a:r>
            <a:r>
              <a:rPr lang="en-US" dirty="0"/>
              <a:t>: average sample returns for each state-action pair obtained from sampled sequences (called episodes or trajectories).</a:t>
            </a:r>
          </a:p>
          <a:p>
            <a:r>
              <a:rPr lang="en-US" b="1" dirty="0"/>
              <a:t>Note</a:t>
            </a:r>
            <a:r>
              <a:rPr lang="en-US" dirty="0"/>
              <a:t>: Value estimates or the policy are only updated after a whole episode is sampled. This is not a step-by-step online method!</a:t>
            </a:r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F6F97-103E-18B6-D51A-B1397057E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7808892" cy="1377568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(for the rest of the episode)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average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(since it is defined as an expected value).</a:t>
                </a:r>
              </a:p>
              <a:p>
                <a:r>
                  <a:rPr lang="en-US" b="1" dirty="0"/>
                  <a:t>Note</a:t>
                </a:r>
                <a:r>
                  <a:rPr lang="en-US" dirty="0"/>
                  <a:t>: Using only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7808892" cy="1377568"/>
              </a:xfrm>
              <a:blipFill>
                <a:blip r:embed="rId2"/>
                <a:stretch>
                  <a:fillRect l="-547" t="-6637" r="-1094" b="-30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1995181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339455"/>
            <a:chOff x="8647092" y="860591"/>
            <a:chExt cx="3395272" cy="233945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8A699FD2-C753-722C-19C4-5AACDD9E28F9}"/>
                </a:ext>
              </a:extLst>
            </p:cNvPr>
            <p:cNvSpPr/>
            <p:nvPr/>
          </p:nvSpPr>
          <p:spPr>
            <a:xfrm flipH="1">
              <a:off x="8837415" y="2832017"/>
              <a:ext cx="2873866" cy="36802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update</a:t>
              </a:r>
            </a:p>
          </p:txBody>
        </p:sp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the optimal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If no model is available,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are not sufficient to extract the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to determine the greedy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Methods to estimate state-action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361504" y="3723503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This is called a one-step look-ahead which requires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3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Estimate of Action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This is 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Same as regular MC prediction, but record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Converges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r>
                  <a:rPr lang="en-US" b="1" dirty="0"/>
                  <a:t>Complication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will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need to keep exploring! 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Soft policies have non-zero probabilities for all actions.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9499406" cy="477963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Start with an arbitrary policy.</a:t>
                </a:r>
              </a:p>
              <a:p>
                <a:r>
                  <a:rPr lang="en-US" dirty="0"/>
                  <a:t>Evaluation: Improve the MC estimate by sampling an episode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Improvement: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9499406" cy="4779633"/>
              </a:xfrm>
              <a:blipFill>
                <a:blip r:embed="rId2"/>
                <a:stretch>
                  <a:fillRect l="-1155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F3DB8754-B65E-E3AC-7CAD-78AE15FCE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0601" y="218543"/>
            <a:ext cx="2936007" cy="282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is better (equal)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Assumptions:</a:t>
                </a:r>
              </a:p>
              <a:p>
                <a:pPr lvl="1"/>
                <a:r>
                  <a:rPr lang="en-US" dirty="0"/>
                  <a:t>All states are reached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episodes.</a:t>
                </a:r>
              </a:p>
              <a:p>
                <a:r>
                  <a:rPr lang="en-US" dirty="0"/>
                  <a:t>Options for imperfect policy evaluation:</a:t>
                </a:r>
              </a:p>
              <a:p>
                <a:pPr lvl="1"/>
                <a:r>
                  <a:rPr lang="en-US" dirty="0"/>
                  <a:t>Get bounds for the error and use sufficiently many episodes to reach an acceptable level of error.</a:t>
                </a:r>
              </a:p>
              <a:p>
                <a:pPr lvl="1"/>
                <a:r>
                  <a:rPr lang="en-US" dirty="0"/>
                  <a:t>Instead of complete policy evaluation just move a little closer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2020" y="1438741"/>
            <a:ext cx="8487960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D2A1-20FF-E2C2-87CE-EFFEE51F9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Need: a guarantee that all state-action combinations are tried.</a:t>
            </a:r>
          </a:p>
          <a:p>
            <a:endParaRPr lang="en-US" dirty="0"/>
          </a:p>
          <a:p>
            <a:r>
              <a:rPr lang="en-US" dirty="0"/>
              <a:t>Options: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On-policy control: use a soft policy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Off-policy control: use a behavior policy for sampling that tries all state-action pairs.</a:t>
            </a:r>
          </a:p>
        </p:txBody>
      </p:sp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Soft policy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+ gradually shifts closer to the optimal deterministic policy.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F8418-5E9C-7F49-C4BB-FCAD076E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E1DF-EC1A-55FD-95F8-47678C894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EB18D3-DD9C-49AA-2B12-C3590A60F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Like Monte Carlo ES except:</a:t>
                </a:r>
              </a:p>
              <a:p>
                <a:pPr lvl="1"/>
                <a:r>
                  <a:rPr lang="en-US" dirty="0"/>
                  <a:t>Start with an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policy.</a:t>
                </a:r>
              </a:p>
              <a:p>
                <a:pPr lvl="1"/>
                <a:r>
                  <a:rPr lang="en-US" dirty="0"/>
                  <a:t>After each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instead of a greedy deterministic policy, construct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EB18D3-DD9C-49AA-2B12-C3590A60F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1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4376-2408-766E-C11B-2CB70FB9E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On-Policy MC Control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9461" y="1397000"/>
            <a:ext cx="7453078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action values depending on subsequent optimal behavior</a:t>
                </a:r>
              </a:p>
              <a:p>
                <a:pPr lvl="1"/>
                <a:r>
                  <a:rPr lang="en-US" dirty="0"/>
                  <a:t>Need to explore which is non-optimal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Learns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dirty="0"/>
                  <a:t>Target policy: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optimal.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 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is a special case of off-policy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5415"/>
              </a:xfrm>
              <a:blipFill>
                <a:blip r:embed="rId2"/>
                <a:stretch>
                  <a:fillRect l="-522" t="-1812" b="-8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</a:t>
            </a:r>
            <a:r>
              <a:rPr lang="en-US" dirty="0" err="1"/>
              <a:t>Prediciton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fixed</a:t>
                </a:r>
              </a:p>
              <a:p>
                <a:pPr lvl="1"/>
                <a:r>
                  <a:rPr lang="en-US" dirty="0"/>
                  <a:t>Coverage: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dirty="0"/>
                  <a:t>We are typically interested in the best deterministic greedy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with respect to the current estimate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Idea</a:t>
                </a:r>
                <a:r>
                  <a:rPr lang="en-US" sz="1800" dirty="0"/>
                  <a:t>: Estimate the expected values under a desired distribution given samples from another distribution </a:t>
                </a:r>
              </a:p>
              <a:p>
                <a:pPr lvl="1"/>
                <a:r>
                  <a:rPr lang="en-US" sz="1400" dirty="0"/>
                  <a:t>Desired distribution: actions are chosen according to the target policy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Sampled distribution: actions are chosen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  <a:p>
                <a:r>
                  <a:rPr lang="en-US" sz="1800" b="1" dirty="0"/>
                  <a:t>Use in off-policy prediction</a:t>
                </a:r>
                <a:r>
                  <a:rPr lang="en-US" sz="1800" dirty="0"/>
                  <a:t>: weight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using the probability of trajectories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(probability that 𝑏 chooses the same actions as 𝜋):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Note: </a:t>
                </a:r>
                <a:r>
                  <a:rPr lang="en-US" sz="1800" dirty="0"/>
                  <a:t>The ratio has to be calculated for the remainder of each sampled trajectory.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522" t="-1148"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425414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767441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57357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471194" y="5409617"/>
            <a:ext cx="2101026" cy="966952"/>
          </a:xfrm>
          <a:prstGeom prst="wedgeRoundRectCallout">
            <a:avLst>
              <a:gd name="adj1" fmla="val -145246"/>
              <a:gd name="adj2" fmla="val -3067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Ordinary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𝒯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but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Weighted importance sampling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Set 0 if denominator is 0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. Bias falls asymptotically with more visits.</a:t>
                </a:r>
              </a:p>
              <a:p>
                <a:pPr lvl="1"/>
                <a:r>
                  <a:rPr lang="en-US" dirty="0"/>
                  <a:t>Preferred method with much lower errors at lower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/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time steps that s was visited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729DC6-6293-777D-0E8A-BF19CD2D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9716" y="1537174"/>
                <a:ext cx="2956421" cy="307777"/>
              </a:xfrm>
              <a:prstGeom prst="rect">
                <a:avLst/>
              </a:prstGeom>
              <a:blipFill>
                <a:blip r:embed="rId3"/>
                <a:stretch>
                  <a:fillRect t="-1852" b="-14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Incremental Implementation using </a:t>
            </a:r>
            <a:br>
              <a:rPr lang="en-US" dirty="0"/>
            </a:br>
            <a:r>
              <a:rPr lang="en-US" dirty="0"/>
              <a:t>Weighted Importance Sampling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7441" y="1397000"/>
            <a:ext cx="8297118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5591262" y="2504114"/>
                <a:ext cx="1593908" cy="440422"/>
              </a:xfrm>
              <a:prstGeom prst="wedgeRoundRectCallout">
                <a:avLst>
                  <a:gd name="adj1" fmla="val -157675"/>
                  <a:gd name="adj2" fmla="val 577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1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1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1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1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62" y="2504114"/>
                <a:ext cx="1593908" cy="440422"/>
              </a:xfrm>
              <a:prstGeom prst="wedgeRoundRectCallout">
                <a:avLst>
                  <a:gd name="adj1" fmla="val -157675"/>
                  <a:gd name="adj2" fmla="val 5773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02054287-BBE2-A27E-1B12-1B0E41F29443}"/>
              </a:ext>
            </a:extLst>
          </p:cNvPr>
          <p:cNvSpPr/>
          <p:nvPr/>
        </p:nvSpPr>
        <p:spPr>
          <a:xfrm>
            <a:off x="6930704" y="4137170"/>
            <a:ext cx="1995181" cy="195743"/>
          </a:xfrm>
          <a:prstGeom prst="wedgeRoundRectCallout">
            <a:avLst>
              <a:gd name="adj1" fmla="val -50798"/>
              <a:gd name="adj2" fmla="val 13916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6442745" y="5684706"/>
            <a:ext cx="1431720" cy="195743"/>
          </a:xfrm>
          <a:prstGeom prst="wedgeRoundRectCallout">
            <a:avLst>
              <a:gd name="adj1" fmla="val -79457"/>
              <a:gd name="adj2" fmla="val -1458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5937307" y="3167659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1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1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307" y="3167659"/>
                <a:ext cx="1995181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4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tries to estimate a policy while using it for control. The behavior changes while learning.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pPr lvl="1"/>
                <a:r>
                  <a:rPr lang="en-US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needs to be soft (have coverage)</a:t>
                </a:r>
              </a:p>
              <a:p>
                <a:pPr lvl="1"/>
                <a:r>
                  <a:rPr lang="en-US" dirty="0"/>
                  <a:t>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 can be deterministic (e.g., greedy)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3338" y="1397000"/>
            <a:ext cx="7905323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222308" y="4345498"/>
                <a:ext cx="2399251" cy="1367405"/>
              </a:xfrm>
              <a:prstGeom prst="wedgeRoundRectCallout">
                <a:avLst>
                  <a:gd name="adj1" fmla="val 69726"/>
                  <a:gd name="adj2" fmla="val 3765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Does not use all data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308" y="4345498"/>
                <a:ext cx="2399251" cy="1367405"/>
              </a:xfrm>
              <a:prstGeom prst="wedgeRoundRectCallout">
                <a:avLst>
                  <a:gd name="adj1" fmla="val 69726"/>
                  <a:gd name="adj2" fmla="val 3765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>
            <a:extLst>
              <a:ext uri="{FF2B5EF4-FFF2-40B4-BE49-F238E27FC236}">
                <a16:creationId xmlns:a16="http://schemas.microsoft.com/office/drawing/2014/main" id="{BB16960E-59AF-722F-F148-C1628038A5CE}"/>
              </a:ext>
            </a:extLst>
          </p:cNvPr>
          <p:cNvSpPr/>
          <p:nvPr/>
        </p:nvSpPr>
        <p:spPr>
          <a:xfrm>
            <a:off x="8544187" y="5196980"/>
            <a:ext cx="180363" cy="51592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9F0F300-7EDD-4067-628D-126C67D34BFA}"/>
              </a:ext>
            </a:extLst>
          </p:cNvPr>
          <p:cNvSpPr/>
          <p:nvPr/>
        </p:nvSpPr>
        <p:spPr>
          <a:xfrm>
            <a:off x="9511091" y="5228167"/>
            <a:ext cx="2399251" cy="262777"/>
          </a:xfrm>
          <a:prstGeom prst="wedgeRoundRectCallout">
            <a:avLst>
              <a:gd name="adj1" fmla="val -81134"/>
              <a:gd name="adj2" fmla="val 4013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added to prediction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28751-2020-D237-0D4A-7383D2745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Advantages of MC methods:</a:t>
            </a:r>
          </a:p>
          <a:p>
            <a:pPr lvl="1"/>
            <a:r>
              <a:rPr lang="en-US" dirty="0"/>
              <a:t>Works with sample episodes</a:t>
            </a:r>
          </a:p>
          <a:p>
            <a:pPr lvl="2"/>
            <a:r>
              <a:rPr lang="en-US" dirty="0"/>
              <a:t>No need for an environment model.</a:t>
            </a:r>
          </a:p>
          <a:p>
            <a:pPr lvl="2"/>
            <a:r>
              <a:rPr lang="en-US" dirty="0"/>
              <a:t>Simulation is often easy.</a:t>
            </a:r>
          </a:p>
          <a:p>
            <a:pPr lvl="2"/>
            <a:r>
              <a:rPr lang="en-US" dirty="0"/>
              <a:t>Can focus on a small subset of states.</a:t>
            </a:r>
          </a:p>
          <a:p>
            <a:pPr lvl="2"/>
            <a:r>
              <a:rPr lang="en-US" dirty="0"/>
              <a:t>May be less harmed by violations of the Markov property because it </a:t>
            </a:r>
            <a:r>
              <a:rPr lang="en-US" b="1" dirty="0"/>
              <a:t>does not bootstrap </a:t>
            </a:r>
            <a:r>
              <a:rPr lang="en-US" dirty="0"/>
              <a:t>(use predicted successor states) but uses observed states.</a:t>
            </a:r>
          </a:p>
          <a:p>
            <a:endParaRPr lang="en-US" dirty="0"/>
          </a:p>
          <a:p>
            <a:r>
              <a:rPr lang="en-US" dirty="0"/>
              <a:t>Policy Evaluation: Averages many returns starting in a state with a specific action.</a:t>
            </a:r>
          </a:p>
          <a:p>
            <a:endParaRPr lang="en-US" dirty="0"/>
          </a:p>
          <a:p>
            <a:r>
              <a:rPr lang="en-US" dirty="0"/>
              <a:t>Control: Interleaves pol. eval. and pol. improvement on an episode-by-episode basis.</a:t>
            </a:r>
          </a:p>
          <a:p>
            <a:endParaRPr lang="en-US" dirty="0"/>
          </a:p>
          <a:p>
            <a:r>
              <a:rPr lang="en-US" dirty="0"/>
              <a:t>Issues:</a:t>
            </a:r>
          </a:p>
          <a:p>
            <a:pPr lvl="1"/>
            <a:r>
              <a:rPr lang="en-US" b="1" dirty="0"/>
              <a:t>Maintain sufficient exploration</a:t>
            </a:r>
            <a:r>
              <a:rPr lang="en-US" dirty="0"/>
              <a:t>. Needs exploring starts or a behavioral policy with coverage (e.g., a soft policy).</a:t>
            </a:r>
          </a:p>
        </p:txBody>
      </p:sp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9312</TotalTime>
  <Words>1856</Words>
  <Application>Microsoft Office PowerPoint</Application>
  <PresentationFormat>Widescreen</PresentationFormat>
  <Paragraphs>213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Summary of Notation</vt:lpstr>
      <vt:lpstr>Idea</vt:lpstr>
      <vt:lpstr>MC Prediction</vt:lpstr>
      <vt:lpstr>Monte Carlo Control</vt:lpstr>
      <vt:lpstr>MC Control</vt:lpstr>
      <vt:lpstr>MC Estimate of Action Values</vt:lpstr>
      <vt:lpstr>MC Control</vt:lpstr>
      <vt:lpstr>Remember: Policy Improvement Theorem</vt:lpstr>
      <vt:lpstr>Alg. MC Control with Exploring Starts</vt:lpstr>
      <vt:lpstr>MC Control without Exploring Starts</vt:lpstr>
      <vt:lpstr>Types of Soft Policies</vt:lpstr>
      <vt:lpstr>On-Policy MC</vt:lpstr>
      <vt:lpstr>Alg. On-Policy MC Control</vt:lpstr>
      <vt:lpstr>Off-Policy vs. On-Policy</vt:lpstr>
      <vt:lpstr>Off-Policy Prediciton</vt:lpstr>
      <vt:lpstr>Importance Sampling</vt:lpstr>
      <vt:lpstr>Ordinary vs. Weighted Importance Sampling</vt:lpstr>
      <vt:lpstr>Incremental Implementation using  Weighted Importance Sampling</vt:lpstr>
      <vt:lpstr>Off-Policy MC Control</vt:lpstr>
      <vt:lpstr>Alg. Off-Policy MC Control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121</cp:revision>
  <dcterms:created xsi:type="dcterms:W3CDTF">2025-09-08T14:44:49Z</dcterms:created>
  <dcterms:modified xsi:type="dcterms:W3CDTF">2025-11-10T14:35:24Z</dcterms:modified>
</cp:coreProperties>
</file>