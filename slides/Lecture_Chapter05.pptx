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482" r:id="rId7"/>
    <p:sldId id="382" r:id="rId8"/>
    <p:sldId id="385" r:id="rId9"/>
    <p:sldId id="387" r:id="rId10"/>
    <p:sldId id="391" r:id="rId11"/>
    <p:sldId id="386" r:id="rId12"/>
    <p:sldId id="485" r:id="rId13"/>
    <p:sldId id="388" r:id="rId14"/>
    <p:sldId id="479" r:id="rId15"/>
    <p:sldId id="390" r:id="rId16"/>
    <p:sldId id="481" r:id="rId17"/>
    <p:sldId id="394" r:id="rId18"/>
    <p:sldId id="392" r:id="rId19"/>
    <p:sldId id="393" r:id="rId20"/>
    <p:sldId id="480" r:id="rId21"/>
    <p:sldId id="404" r:id="rId22"/>
    <p:sldId id="484" r:id="rId23"/>
    <p:sldId id="483" r:id="rId24"/>
    <p:sldId id="396" r:id="rId25"/>
    <p:sldId id="397" r:id="rId26"/>
    <p:sldId id="399" r:id="rId27"/>
    <p:sldId id="398" r:id="rId28"/>
    <p:sldId id="405" r:id="rId29"/>
    <p:sldId id="400" r:id="rId30"/>
    <p:sldId id="401" r:id="rId31"/>
    <p:sldId id="402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482"/>
            <p14:sldId id="382"/>
          </p14:sldIdLst>
        </p14:section>
        <p14:section name="MC Control" id="{9082A117-CBDB-4A41-BA4A-590A11BC768B}">
          <p14:sldIdLst>
            <p14:sldId id="385"/>
            <p14:sldId id="387"/>
            <p14:sldId id="391"/>
            <p14:sldId id="386"/>
            <p14:sldId id="485"/>
            <p14:sldId id="388"/>
            <p14:sldId id="479"/>
            <p14:sldId id="390"/>
          </p14:sldIdLst>
        </p14:section>
        <p14:section name="On-Policy Control" id="{A03E4B76-6E41-4A94-9A11-DF9EDD4B8C64}">
          <p14:sldIdLst>
            <p14:sldId id="481"/>
            <p14:sldId id="394"/>
            <p14:sldId id="392"/>
            <p14:sldId id="393"/>
            <p14:sldId id="480"/>
          </p14:sldIdLst>
        </p14:section>
        <p14:section name="Off-policy Prediciton" id="{51E355B1-9A61-41B1-AD67-E45726DBD2A6}">
          <p14:sldIdLst>
            <p14:sldId id="404"/>
            <p14:sldId id="484"/>
            <p14:sldId id="483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0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3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29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346"/>
            <a:ext cx="7740408" cy="444026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Model-free method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do not assume knowledge of the environment model (the MDP). </a:t>
            </a:r>
          </a:p>
          <a:p>
            <a:pPr lvl="1"/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Remember from AI</a:t>
            </a:r>
            <a:r>
              <a:rPr lang="en-US" dirty="0"/>
              <a:t>: model-free means the agent faces an unknown, fully observable, possibly stochastic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MDP.</a:t>
            </a:r>
          </a:p>
          <a:p>
            <a:endParaRPr lang="en-US" dirty="0"/>
          </a:p>
          <a:p>
            <a:r>
              <a:rPr lang="en-US" b="1" dirty="0"/>
              <a:t>Monte Carlo (MC) methods </a:t>
            </a:r>
            <a:r>
              <a:rPr lang="en-US" dirty="0"/>
              <a:t>are a family of algorithms that rely on repeated random sampling to obtain numerical results (see example to the right).</a:t>
            </a:r>
          </a:p>
          <a:p>
            <a:endParaRPr lang="en-US" dirty="0"/>
          </a:p>
          <a:p>
            <a:r>
              <a:rPr lang="en-US" b="1" dirty="0"/>
              <a:t>Idea</a:t>
            </a:r>
            <a:r>
              <a:rPr lang="en-US" dirty="0"/>
              <a:t>: Use MC to sample sequences from the environment and use them to estimate the value function.</a:t>
            </a:r>
          </a:p>
          <a:p>
            <a:endParaRPr lang="en-US" b="1" dirty="0"/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D8304-5614-6981-E0C5-60E8EDCDF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E2CD6-117F-29DD-2959-E24BE0DFA0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4147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the sample-average method to approximate the expectation in: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The average return of many sampled sequences (called episodes or trajectories) starting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sz="2600" b="1" dirty="0"/>
                  <a:t>High Variance</a:t>
                </a:r>
                <a:r>
                  <a:rPr lang="en-US" sz="2600" dirty="0"/>
                  <a:t>: Sampling a single episode return has</a:t>
                </a:r>
                <a:r>
                  <a:rPr lang="en-US" sz="2600" b="1" dirty="0"/>
                  <a:t> </a:t>
                </a:r>
                <a:r>
                  <a:rPr lang="en-US" sz="2600" dirty="0"/>
                  <a:t>high variance since it contains the randomness over the whole sampled episode. Averaging over many sampled returns reduces variance.</a:t>
                </a:r>
              </a:p>
              <a:p>
                <a:pPr lvl="1"/>
                <a:r>
                  <a:rPr lang="en-US" sz="2600" b="1" dirty="0"/>
                  <a:t>Unbiased</a:t>
                </a:r>
                <a:r>
                  <a:rPr lang="en-US" sz="2600" dirty="0"/>
                  <a:t>: The sample-average method provides an unbiased estimate (is on average correct) and thus converges for large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.</a:t>
                </a:r>
              </a:p>
              <a:p>
                <a:pPr lvl="1"/>
                <a:r>
                  <a:rPr lang="en-US" sz="2600" b="1" dirty="0"/>
                  <a:t>Not a true online method</a:t>
                </a:r>
                <a:r>
                  <a:rPr lang="en-US" sz="2600" dirty="0"/>
                  <a:t>: This methods needs to sample whole episodes before any calculation can be done. It is not a true step-by-step online method!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E2CD6-117F-29DD-2959-E24BE0DFA0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41477"/>
              </a:xfrm>
              <a:blipFill>
                <a:blip r:embed="rId2"/>
                <a:stretch>
                  <a:fillRect l="-406" t="-1850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744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AB409-1629-3E3D-C6F3-95E5076FB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4198"/>
            <a:ext cx="7808892" cy="1720144"/>
          </a:xfrm>
        </p:spPr>
        <p:txBody>
          <a:bodyPr>
            <a:normAutofit fontScale="85000" lnSpcReduction="10000"/>
          </a:bodyPr>
          <a:lstStyle/>
          <a:p>
            <a:r>
              <a:rPr lang="en-US" b="1" dirty="0"/>
              <a:t>Idea: </a:t>
            </a:r>
            <a:r>
              <a:rPr lang="en-US" dirty="0"/>
              <a:t>We can update all state values along the episode.</a:t>
            </a:r>
            <a:endParaRPr lang="en-US" b="1" dirty="0"/>
          </a:p>
          <a:p>
            <a:r>
              <a:rPr lang="en-US" b="1" dirty="0"/>
              <a:t>First-visit</a:t>
            </a:r>
            <a:r>
              <a:rPr lang="en-US" dirty="0"/>
              <a:t>: Using the return only for the first visit of a state in the episode ensures that the sampled returns are </a:t>
            </a:r>
            <a:r>
              <a:rPr lang="en-US" dirty="0" err="1"/>
              <a:t>i.i.d.</a:t>
            </a:r>
            <a:r>
              <a:rPr lang="en-US" dirty="0"/>
              <a:t> distributed (not dependent on each other) and we get an </a:t>
            </a:r>
            <a:r>
              <a:rPr lang="en-US" b="1" dirty="0"/>
              <a:t>unbiased</a:t>
            </a:r>
            <a:r>
              <a:rPr lang="en-US" dirty="0"/>
              <a:t> estimate.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6" y="2844343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841807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810884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146491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215333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 estimated using MC prediction.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7E0845A-1386-416F-E3F0-5D01868F4839}"/>
              </a:ext>
            </a:extLst>
          </p:cNvPr>
          <p:cNvSpPr txBox="1"/>
          <p:nvPr/>
        </p:nvSpPr>
        <p:spPr>
          <a:xfrm>
            <a:off x="9215155" y="1262762"/>
            <a:ext cx="219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/>
                </a:solidFill>
              </a:rPr>
              <a:t>MC Prediction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E2971C-E301-9EA9-FB5C-DB042085DC29}"/>
              </a:ext>
            </a:extLst>
          </p:cNvPr>
          <p:cNvCxnSpPr/>
          <p:nvPr/>
        </p:nvCxnSpPr>
        <p:spPr>
          <a:xfrm>
            <a:off x="9531752" y="1736203"/>
            <a:ext cx="1423686" cy="11574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9CA51BDB-8A14-06A5-54B3-854AB5BD96C4}"/>
              </a:ext>
            </a:extLst>
          </p:cNvPr>
          <p:cNvSpPr/>
          <p:nvPr/>
        </p:nvSpPr>
        <p:spPr>
          <a:xfrm>
            <a:off x="9164972" y="4426309"/>
            <a:ext cx="2327945" cy="1550847"/>
          </a:xfrm>
          <a:prstGeom prst="wedgeRoundRectCallout">
            <a:avLst>
              <a:gd name="adj1" fmla="val -15700"/>
              <a:gd name="adj2" fmla="val -5785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The </a:t>
            </a:r>
            <a:r>
              <a:rPr lang="en-US" sz="1600" b="1" dirty="0"/>
              <a:t>Policy Improvement Theorem </a:t>
            </a:r>
            <a:r>
              <a:rPr lang="en-US" sz="1600" dirty="0"/>
              <a:t>guarantees convergence to the optimal policy</a:t>
            </a:r>
          </a:p>
        </p:txBody>
      </p: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Remember: Policy Improvement Theorem and Greedy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973897"/>
                <a:ext cx="10515600" cy="3401531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+ Applying greedy policy improvement (best action in each state)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 for convergence:</a:t>
                </a:r>
              </a:p>
              <a:p>
                <a:pPr lvl="1"/>
                <a:r>
                  <a:rPr lang="en-US" b="1" dirty="0"/>
                  <a:t>Unbiased estimates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First-visit MC prediction is unbiased.</a:t>
                </a:r>
              </a:p>
              <a:p>
                <a:pPr lvl="1"/>
                <a:r>
                  <a:rPr lang="en-US" b="1" dirty="0"/>
                  <a:t>Perfect policy evaluation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This is not practical!</a:t>
                </a:r>
              </a:p>
              <a:p>
                <a:pPr lvl="1"/>
                <a:r>
                  <a:rPr lang="en-US" b="1" dirty="0"/>
                  <a:t>Complete exploration: </a:t>
                </a:r>
                <a:r>
                  <a:rPr lang="en-US" dirty="0"/>
                  <a:t>All state/action pairs are tried. We need a solution for this!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973897"/>
                <a:ext cx="10515600" cy="3401531"/>
              </a:xfrm>
              <a:blipFill>
                <a:blip r:embed="rId2"/>
                <a:stretch>
                  <a:fillRect l="-638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1D60D6-EF00-ED4F-82D8-8E5EC0B32D32}"/>
                  </a:ext>
                </a:extLst>
              </p:cNvPr>
              <p:cNvSpPr txBox="1"/>
              <p:nvPr/>
            </p:nvSpPr>
            <p:spPr>
              <a:xfrm>
                <a:off x="838200" y="1219155"/>
                <a:ext cx="10846964" cy="151297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Policy Improvement Theorem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the same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but has a better action for at least one state,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1D60D6-EF00-ED4F-82D8-8E5EC0B32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19155"/>
                <a:ext cx="10846964" cy="1512978"/>
              </a:xfrm>
              <a:prstGeom prst="rect">
                <a:avLst/>
              </a:prstGeom>
              <a:blipFill>
                <a:blip r:embed="rId3"/>
                <a:stretch>
                  <a:fillRect l="-449" t="-1594" b="-5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endParaRPr lang="en-US" b="0" dirty="0"/>
              </a:p>
              <a:p>
                <a:r>
                  <a:rPr lang="en-US" dirty="0"/>
                  <a:t>Same as</a:t>
                </a:r>
                <a:r>
                  <a:rPr lang="en-US" b="0" dirty="0"/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lead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707" t="-2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C9D4-9246-174B-3F3F-6D460A48B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0F347B-4EE9-30E8-00B5-6217BDD26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 with Exploring Starts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DAFEE9-1053-F86D-705F-36C076B95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Explore using episodes starting with random states/</a:t>
            </a:r>
            <a:r>
              <a:rPr lang="en-US"/>
              <a:t>action combinations.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310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For convergence,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F5B12-081D-E1A8-2074-F24D7983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5D340A-8717-DDE3-8CB9-FC1AAF51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83536F-8662-B3C1-520C-4AD4B6B42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Explore using a soft policy</a:t>
            </a:r>
          </a:p>
        </p:txBody>
      </p:sp>
    </p:spTree>
    <p:extLst>
      <p:ext uri="{BB962C8B-B14F-4D97-AF65-F5344CB8AC3E}">
        <p14:creationId xmlns:p14="http://schemas.microsoft.com/office/powerpoint/2010/main" val="2353920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with On-Policy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24046-78CD-3868-7C6F-2A610ED24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9349"/>
            <a:ext cx="10515600" cy="49867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On-policy methods learn the policy they follow.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Dilemma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need behavior (follow a policy) that explores. Such a policy is called a soft policy.</a:t>
            </a:r>
          </a:p>
          <a:p>
            <a:pPr lvl="1"/>
            <a:r>
              <a:rPr lang="en-US" dirty="0"/>
              <a:t>We know that MDPs have optimal deterministic policies that do not explore.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Optimality issue</a:t>
            </a:r>
            <a:r>
              <a:rPr lang="en-US" dirty="0"/>
              <a:t>: On-policy methods can only learn soft policies. We can convert a soft policy into a greedy deterministic policy, but it may not be optimal!</a:t>
            </a:r>
          </a:p>
        </p:txBody>
      </p:sp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 for Exploration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Soft policies are stochastic and used as behavior policies that guarantee exploration.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agent takes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 random action.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 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greedy 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  <a:blipFill>
                <a:blip r:embed="rId2"/>
                <a:stretch>
                  <a:fillRect l="-63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/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</a:t>
                </a:r>
                <a:r>
                  <a:rPr lang="en-US" dirty="0"/>
                  <a:t>: A policy is soft if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      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  <a:blipFill>
                <a:blip r:embed="rId3"/>
                <a:stretch>
                  <a:fillRect l="-1102" t="-3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On-policy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  <a:blipFill>
                <a:blip r:embed="rId6"/>
                <a:stretch>
                  <a:fillRect l="-510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Convergence: </a:t>
            </a:r>
            <a:br>
              <a:rPr lang="en-US" dirty="0"/>
            </a:br>
            <a:r>
              <a:rPr lang="en-US" dirty="0"/>
              <a:t>Greedy in the Limit with Infinite Exploration (GLIE)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On-policy MC control algorithms change the policy and </a:t>
                </a:r>
                <a:r>
                  <a:rPr lang="en-US" b="1" dirty="0"/>
                  <a:t>average over returns from different policies</a:t>
                </a:r>
                <a:r>
                  <a:rPr lang="en-US" dirty="0"/>
                  <a:t>. This could be a problem for convergence!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On-policy methods learn a </a:t>
                </a:r>
                <a:r>
                  <a:rPr lang="en-US" b="1" dirty="0"/>
                  <a:t>soft policy </a:t>
                </a:r>
                <a:r>
                  <a:rPr lang="en-US" dirty="0"/>
                  <a:t>which is crucial for exploration.</a:t>
                </a:r>
              </a:p>
              <a:p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Practical GLIE Approximation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Infinite exploration: Use many episodes and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for exploration. This will “wash out” early “bad” observations and makes sure every policy is considered.</a:t>
                </a:r>
              </a:p>
              <a:p>
                <a:pPr lvl="1"/>
                <a:r>
                  <a:rPr lang="en-US" dirty="0"/>
                  <a:t>Greedy in the limit: 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reduced over time.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  <a:blipFill>
                <a:blip r:embed="rId2"/>
                <a:stretch>
                  <a:fillRect l="-638" t="-1995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/>
              <p:nvPr/>
            </p:nvSpPr>
            <p:spPr>
              <a:xfrm>
                <a:off x="1511085" y="2614125"/>
                <a:ext cx="9291234" cy="252607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GLIE Condition</a:t>
                </a:r>
                <a:endParaRPr lang="en-US" sz="2000" dirty="0"/>
              </a:p>
              <a:p>
                <a:endParaRPr lang="en-US" dirty="0"/>
              </a:p>
              <a:p>
                <a:r>
                  <a:rPr lang="en-US" dirty="0"/>
                  <a:t>Many on-policy control methods converge to the optimal deterministic policy if: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Infinite explorations</a:t>
                </a:r>
                <a:r>
                  <a:rPr lang="en-US" dirty="0"/>
                  <a:t>: Every state-action pair is visited infinitely often.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Greedy in the limit</a:t>
                </a:r>
                <a:r>
                  <a:rPr lang="en-US" dirty="0"/>
                  <a:t>: The policy becomes greedy with respect to Q over time.</a:t>
                </a:r>
                <a:br>
                  <a:rPr lang="en-US" dirty="0"/>
                </a:br>
                <a14:m>
                  <m:oMath xmlns:m="http://schemas.openxmlformats.org/officeDocument/2006/math">
                    <m:limLow>
                      <m:limLow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argma</m:t>
                        </m:r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085" y="2614125"/>
                <a:ext cx="9291234" cy="2526076"/>
              </a:xfrm>
              <a:prstGeom prst="rect">
                <a:avLst/>
              </a:prstGeom>
              <a:blipFill>
                <a:blip r:embed="rId3"/>
                <a:stretch>
                  <a:fillRect l="-524" t="-11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 and Control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4A77E-C2D2-5789-4FAE-05ABE93CF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75D5B0-5654-A81D-8A68-AEC70CACB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788028-5BE8-7906-CC19-8911BAE68D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34420838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E8CF2-8DE5-9B7D-7AF3-EA8026985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2DBE8-2332-5A39-4A92-5DA2F029E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C770-E6B2-BE73-039A-369B41BCA9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</p:spPr>
            <p:txBody>
              <a:bodyPr>
                <a:normAutofit fontScale="70000" lnSpcReduction="20000"/>
              </a:bodyPr>
              <a:lstStyle/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On-policy methods learn the policy they follow. These need to be exploring (soft).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learned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- More complicated</a:t>
                </a:r>
              </a:p>
              <a:p>
                <a:pPr lvl="1"/>
                <a:r>
                  <a:rPr lang="en-US" dirty="0"/>
                  <a:t>- Converge slower</a:t>
                </a:r>
              </a:p>
              <a:p>
                <a:pPr lvl="1"/>
                <a:r>
                  <a:rPr lang="en-US" dirty="0"/>
                  <a:t>+ Often more powerful</a:t>
                </a:r>
              </a:p>
              <a:p>
                <a:pPr lvl="1"/>
                <a:r>
                  <a:rPr lang="en-US" dirty="0"/>
                  <a:t>+ Can be applied to data externally generated (e.g., a training data set).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C770-E6B2-BE73-039A-369B41BCA9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645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 for Convergence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600" b="1" dirty="0"/>
                  <a:t>Importance sampling </a:t>
                </a:r>
                <a:r>
                  <a:rPr lang="en-US" sz="16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6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200" dirty="0"/>
              </a:p>
              <a:p>
                <a:r>
                  <a:rPr lang="en-US" sz="1600" b="1" dirty="0"/>
                  <a:t>Idea</a:t>
                </a:r>
                <a:r>
                  <a:rPr lang="en-US" sz="16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6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Importance sampling ratio: </a:t>
                </a:r>
                <a:r>
                  <a:rPr lang="en-US" sz="1600" dirty="0"/>
                  <a:t>How much more likely are the remaining actions in the sequence chosen under 𝜋 than under 𝑏: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Note</a:t>
                </a:r>
                <a:r>
                  <a:rPr lang="en-US" sz="1600" dirty="0"/>
                  <a:t>: We only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 when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chosen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have a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232" t="-893" b="-3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512573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688549" y="4811877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42689"/>
            <a:ext cx="2101026" cy="750367"/>
          </a:xfrm>
          <a:prstGeom prst="wedgeRoundRectCallout">
            <a:avLst>
              <a:gd name="adj1" fmla="val -93610"/>
              <a:gd name="adj2" fmla="val -1511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388217" y="2720931"/>
            <a:ext cx="2101026" cy="520435"/>
          </a:xfrm>
          <a:prstGeom prst="wedgeRoundRectCallout">
            <a:avLst>
              <a:gd name="adj1" fmla="val -94747"/>
              <a:gd name="adj2" fmla="val 9683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/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5253"/>
                  <a:gd name="adj2" fmla="val -1069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This is especially a problem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a deterministic policy very different from 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5253"/>
                  <a:gd name="adj2" fmla="val -10690"/>
                  <a:gd name="adj3" fmla="val 16667"/>
                </a:avLst>
              </a:prstGeom>
              <a:blipFill>
                <a:blip r:embed="rId3"/>
                <a:stretch>
                  <a:fillRect b="-4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(first) visited.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canceled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2104" y="2043478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218581" y="3596151"/>
                <a:ext cx="4549223" cy="263873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 Practical choice is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ϵ−greedy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8581" y="3596151"/>
                <a:ext cx="4549223" cy="263873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/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Can only learn from the end of the episode where the action chosen from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also be chosen by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!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  <a:blipFill>
                <a:blip r:embed="rId7"/>
                <a:stretch>
                  <a:fillRect b="-10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With a covering behavior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3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359932" y="5418804"/>
                <a:ext cx="3441028" cy="780250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32" y="5418804"/>
                <a:ext cx="3441028" cy="780250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 b="-3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4251900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So, the probability is always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4251900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F20DE81A-C7D3-8790-65FF-807BB007A2B2}"/>
                  </a:ext>
                </a:extLst>
              </p:cNvPr>
              <p:cNvSpPr/>
              <p:nvPr/>
            </p:nvSpPr>
            <p:spPr>
              <a:xfrm>
                <a:off x="7440235" y="3071769"/>
                <a:ext cx="3036974" cy="290316"/>
              </a:xfrm>
              <a:prstGeom prst="wedgeRoundRectCallout">
                <a:avLst>
                  <a:gd name="adj1" fmla="val -97316"/>
                  <a:gd name="adj2" fmla="val 11527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Practical choice is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400" i="0">
                        <a:latin typeface="Cambria Math" panose="02040503050406030204" pitchFamily="18" charset="0"/>
                      </a:rPr>
                      <m:t>ϵ−greedy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F20DE81A-C7D3-8790-65FF-807BB007A2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235" y="3071769"/>
                <a:ext cx="3036974" cy="290316"/>
              </a:xfrm>
              <a:prstGeom prst="wedgeRoundRectCallout">
                <a:avLst>
                  <a:gd name="adj1" fmla="val -97316"/>
                  <a:gd name="adj2" fmla="val 115277"/>
                  <a:gd name="adj3" fmla="val 16667"/>
                </a:avLst>
              </a:prstGeom>
              <a:blipFill>
                <a:blip r:embed="rId6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6057" y="376930"/>
                <a:ext cx="6006517" cy="6361928"/>
              </a:xfrm>
            </p:spPr>
            <p:txBody>
              <a:bodyPr anchor="ctr"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lvl="1"/>
                <a:r>
                  <a:rPr lang="en-US" sz="1900" b="1" dirty="0"/>
                  <a:t>On vs. off-policy control.</a:t>
                </a:r>
              </a:p>
              <a:p>
                <a:pPr lvl="1"/>
                <a:r>
                  <a:rPr lang="en-US" sz="1900" b="1" dirty="0"/>
                  <a:t>Convergence</a:t>
                </a:r>
                <a:r>
                  <a:rPr lang="en-US" sz="1900" dirty="0"/>
                  <a:t>: converge with GLIE or covering behavior policies. Convergence is typically slow.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On-policy control with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 and GLIE.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control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6057" y="376930"/>
                <a:ext cx="6006517" cy="6361928"/>
              </a:xfrm>
              <a:blipFill>
                <a:blip r:embed="rId3"/>
                <a:stretch>
                  <a:fillRect l="-406" t="-479" b="-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13225</TotalTime>
  <Words>3032</Words>
  <Application>Microsoft Office PowerPoint</Application>
  <PresentationFormat>Widescreen</PresentationFormat>
  <Paragraphs>342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Monte Carlo Prediction</vt:lpstr>
      <vt:lpstr>MC Value Function Approximation</vt:lpstr>
      <vt:lpstr>MC Prediction: Estimate v_π for a given π</vt:lpstr>
      <vt:lpstr>Monte Carlo Control</vt:lpstr>
      <vt:lpstr>MC Control as Generalized Policy Iteration (GPI)</vt:lpstr>
      <vt:lpstr>Remember: Policy Improvement Theorem and Greedy Policies</vt:lpstr>
      <vt:lpstr>MC Prediction to Estimate Q-Values</vt:lpstr>
      <vt:lpstr>Monte Carlo Control with Exploring Starts</vt:lpstr>
      <vt:lpstr>Alg. MC Control with Exploring Starts</vt:lpstr>
      <vt:lpstr>Code…</vt:lpstr>
      <vt:lpstr>MC Control without Exploring Starts</vt:lpstr>
      <vt:lpstr>On-Policy Monte Carlo Control</vt:lpstr>
      <vt:lpstr>Exploration with On-Policy Methods</vt:lpstr>
      <vt:lpstr>Types of Soft Policies for Exploration</vt:lpstr>
      <vt:lpstr>Alg. On-Policy MC Control with ϵ-soft Policies</vt:lpstr>
      <vt:lpstr>Convergence:  Greedy in the Limit with Infinite Exploration (GLIE)</vt:lpstr>
      <vt:lpstr>Off-Policy Methods</vt:lpstr>
      <vt:lpstr>Off-Policy Prediction</vt:lpstr>
      <vt:lpstr>On-Policy vs. Off-Policy Control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174</cp:revision>
  <dcterms:created xsi:type="dcterms:W3CDTF">2025-09-08T14:44:49Z</dcterms:created>
  <dcterms:modified xsi:type="dcterms:W3CDTF">2026-09-18T15:13:25Z</dcterms:modified>
</cp:coreProperties>
</file>