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382" r:id="rId7"/>
    <p:sldId id="385" r:id="rId8"/>
    <p:sldId id="387" r:id="rId9"/>
    <p:sldId id="386" r:id="rId10"/>
    <p:sldId id="391" r:id="rId11"/>
    <p:sldId id="388" r:id="rId12"/>
    <p:sldId id="479" r:id="rId13"/>
    <p:sldId id="390" r:id="rId14"/>
    <p:sldId id="481" r:id="rId15"/>
    <p:sldId id="394" r:id="rId16"/>
    <p:sldId id="392" r:id="rId17"/>
    <p:sldId id="393" r:id="rId18"/>
    <p:sldId id="480" r:id="rId19"/>
    <p:sldId id="404" r:id="rId20"/>
    <p:sldId id="396" r:id="rId21"/>
    <p:sldId id="397" r:id="rId22"/>
    <p:sldId id="399" r:id="rId23"/>
    <p:sldId id="398" r:id="rId24"/>
    <p:sldId id="405" r:id="rId25"/>
    <p:sldId id="400" r:id="rId26"/>
    <p:sldId id="401" r:id="rId27"/>
    <p:sldId id="40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MC Control" id="{9082A117-CBDB-4A41-BA4A-590A11BC768B}">
          <p14:sldIdLst>
            <p14:sldId id="385"/>
            <p14:sldId id="387"/>
            <p14:sldId id="386"/>
            <p14:sldId id="391"/>
            <p14:sldId id="388"/>
            <p14:sldId id="479"/>
            <p14:sldId id="390"/>
          </p14:sldIdLst>
        </p14:section>
        <p14:section name="On-Policy Control" id="{A03E4B76-6E41-4A94-9A11-DF9EDD4B8C64}">
          <p14:sldIdLst>
            <p14:sldId id="481"/>
            <p14:sldId id="394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88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29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b="1" dirty="0"/>
                  <a:t>Model-free method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do not assume knowledge of the environment model (the MDP). </a:t>
                </a:r>
              </a:p>
              <a:p>
                <a:pPr lvl="1"/>
                <a:r>
                  <a:rPr lang="en-US" dirty="0"/>
                  <a:t>We use “experience” = </a:t>
                </a:r>
                <a:r>
                  <a:rPr lang="en-US" b="1" dirty="0"/>
                  <a:t>sample sequences </a:t>
                </a:r>
                <a:r>
                  <a:rPr lang="en-US" dirty="0"/>
                  <a:t>of states, actions, and rewards from actual or simulated interactions with the environment.</a:t>
                </a:r>
              </a:p>
              <a:p>
                <a:r>
                  <a:rPr lang="en-US" b="1" dirty="0"/>
                  <a:t>Remember from AI</a:t>
                </a:r>
                <a:r>
                  <a:rPr lang="en-US" dirty="0"/>
                  <a:t>: model-free means the agent faces an unknown, fully observable, possibly stochastic environment.</a:t>
                </a:r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often have </a:t>
                </a:r>
                <a:r>
                  <a:rPr lang="en-US" b="1" dirty="0"/>
                  <a:t>sample access </a:t>
                </a:r>
                <a:r>
                  <a:rPr lang="en-US" dirty="0"/>
                  <a:t>to systems. </a:t>
                </a:r>
              </a:p>
              <a:p>
                <a:pPr lvl="1"/>
                <a:r>
                  <a:rPr lang="en-US" dirty="0"/>
                  <a:t>It is easier to simulate transitions than to specify the complete MDP.</a:t>
                </a:r>
              </a:p>
              <a:p>
                <a:endParaRPr lang="en-US" dirty="0"/>
              </a:p>
              <a:p>
                <a:r>
                  <a:rPr lang="en-US" b="1" dirty="0"/>
                  <a:t>Monte Carlo (MC) methods </a:t>
                </a:r>
                <a:r>
                  <a:rPr lang="en-US" dirty="0"/>
                  <a:t>are a family of algorithms that rely on repeated random sampling to obtain numerical results (see example to the right).</a:t>
                </a:r>
              </a:p>
              <a:p>
                <a:endParaRPr lang="en-US" b="1" dirty="0"/>
              </a:p>
              <a:p>
                <a:r>
                  <a:rPr lang="en-US" b="1" dirty="0"/>
                  <a:t>MC value function approximation:</a:t>
                </a:r>
                <a:r>
                  <a:rPr lang="en-US" dirty="0"/>
                  <a:t> Use the sample-average method to approximate the expectation in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r>
                  <a:rPr lang="en-US" dirty="0"/>
                  <a:t>The average return of many sampled sequences (called episodes or trajectories)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This methods needs to sample whole episodes before any calculation. It is not a true step-by-step online method!</a:t>
                </a:r>
              </a:p>
              <a:p>
                <a:pPr lvl="1"/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  <a:blipFill>
                <a:blip r:embed="rId2"/>
                <a:stretch>
                  <a:fillRect l="-79" t="-1020" b="-6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7808892" cy="1850496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Idea: </a:t>
                </a:r>
                <a:r>
                  <a:rPr lang="en-US" dirty="0"/>
                  <a:t>We can update all state values along the episode.</a:t>
                </a:r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The average of many sampled returns converges to the expectation and thus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the return only for the first visit of a state in the episode ensures that the sampled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(not dependent on each other)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7808892" cy="1850496"/>
              </a:xfrm>
              <a:blipFill>
                <a:blip r:embed="rId3"/>
                <a:stretch>
                  <a:fillRect l="-234" t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844343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841807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810884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146491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215333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 estimated using MC prediction.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E0845A-1386-416F-E3F0-5D01868F4839}"/>
              </a:ext>
            </a:extLst>
          </p:cNvPr>
          <p:cNvSpPr txBox="1"/>
          <p:nvPr/>
        </p:nvSpPr>
        <p:spPr>
          <a:xfrm>
            <a:off x="9215155" y="1262762"/>
            <a:ext cx="219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/>
                </a:solidFill>
              </a:rPr>
              <a:t>MC Prediction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E2971C-E301-9EA9-FB5C-DB042085DC29}"/>
              </a:ext>
            </a:extLst>
          </p:cNvPr>
          <p:cNvCxnSpPr/>
          <p:nvPr/>
        </p:nvCxnSpPr>
        <p:spPr>
          <a:xfrm>
            <a:off x="9531752" y="1736203"/>
            <a:ext cx="1423686" cy="11574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endParaRPr lang="en-US" b="0" dirty="0"/>
              </a:p>
              <a:p>
                <a:r>
                  <a:rPr lang="en-US" dirty="0"/>
                  <a:t>Same as</a:t>
                </a:r>
                <a:r>
                  <a:rPr lang="en-US" b="0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lead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707" t="-2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For convergence,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F5B12-081D-E1A8-2074-F24D7983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5D340A-8717-DDE3-8CB9-FC1AAF51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83536F-8662-B3C1-520C-4AD4B6B42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sample.</a:t>
            </a:r>
          </a:p>
        </p:txBody>
      </p:sp>
    </p:spTree>
    <p:extLst>
      <p:ext uri="{BB962C8B-B14F-4D97-AF65-F5344CB8AC3E}">
        <p14:creationId xmlns:p14="http://schemas.microsoft.com/office/powerpoint/2010/main" val="2353920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</a:t>
                </a:r>
              </a:p>
              <a:p>
                <a:pPr lvl="1"/>
                <a:r>
                  <a:rPr lang="en-US" dirty="0"/>
                  <a:t>We know that MDPs have optimal deterministic policies that do not explore.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Can learn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greedy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  <a:blipFill>
                <a:blip r:embed="rId2"/>
                <a:stretch>
                  <a:fillRect l="-232" t="-1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 for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Soft policies are stochastic and used as behavior policies that guarantee exploration.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agent takes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 random action.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  <a:blipFill>
                <a:blip r:embed="rId2"/>
                <a:stretch>
                  <a:fillRect l="-63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/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</a:t>
                </a:r>
                <a:r>
                  <a:rPr lang="en-US" dirty="0"/>
                  <a:t>: A policy is soft if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       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  <a:blipFill>
                <a:blip r:embed="rId3"/>
                <a:stretch>
                  <a:fillRect l="-1102" t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On-policy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  <a:blipFill>
                <a:blip r:embed="rId6"/>
                <a:stretch>
                  <a:fillRect l="-5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GLIE: Greedy in the Limit with Infinite Exploration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On-policy MC control algorithms change the policy and average over returns from different policies. This could be a problem for convergence!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Reason</a:t>
                </a:r>
                <a:r>
                  <a:rPr lang="en-US" dirty="0"/>
                  <a:t>: Early wrong return samples from “bad policies” will eventually be dominated by many new samples from the optimal/near-deterministic policy.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Implementation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 and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for exploration.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  <a:blipFill>
                <a:blip r:embed="rId2"/>
                <a:stretch>
                  <a:fillRect l="-406" t="-17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1992775" y="2001942"/>
                <a:ext cx="8206450" cy="252607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if: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Q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2775" y="2001942"/>
                <a:ext cx="8206450" cy="2526076"/>
              </a:xfrm>
              <a:prstGeom prst="rect">
                <a:avLst/>
              </a:prstGeom>
              <a:blipFill>
                <a:blip r:embed="rId3"/>
                <a:stretch>
                  <a:fillRect l="-593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600" b="1" dirty="0"/>
                  <a:t>Importance sampling </a:t>
                </a:r>
                <a:r>
                  <a:rPr lang="en-US" sz="16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2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200" dirty="0"/>
              </a:p>
              <a:p>
                <a:r>
                  <a:rPr lang="en-US" sz="1600" b="1" dirty="0"/>
                  <a:t>Idea</a:t>
                </a:r>
                <a:r>
                  <a:rPr lang="en-US" sz="16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Importance sampling ratio: </a:t>
                </a:r>
                <a:r>
                  <a:rPr lang="en-US" sz="1600" dirty="0"/>
                  <a:t>How much more likely are the remaining actions in the sequence chosen under 𝜋 than under 𝑏: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600" dirty="0"/>
              </a:p>
              <a:p>
                <a:r>
                  <a:rPr lang="en-US" sz="16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  <a:p>
                <a:r>
                  <a:rPr lang="en-US" sz="1600" b="1" dirty="0"/>
                  <a:t>Note</a:t>
                </a:r>
                <a:r>
                  <a:rPr lang="en-US" sz="1600" dirty="0"/>
                  <a:t>: We only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 when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/>
                  <a:t> chosen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600" dirty="0"/>
                  <a:t> have a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232" t="-893" b="-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393913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688549" y="4693217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342689"/>
            <a:ext cx="2101026" cy="750367"/>
          </a:xfrm>
          <a:prstGeom prst="wedgeRoundRectCallout">
            <a:avLst>
              <a:gd name="adj1" fmla="val -93610"/>
              <a:gd name="adj2" fmla="val -1511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388217" y="2720931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/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1266"/>
                  <a:gd name="adj2" fmla="val -22962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This especially a problem if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a deterministic policy very different from 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2E2FEED-5945-68CE-0EE6-B01BEE371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1194" y="5525922"/>
                <a:ext cx="2101026" cy="966952"/>
              </a:xfrm>
              <a:prstGeom prst="wedgeRoundRectCallout">
                <a:avLst>
                  <a:gd name="adj1" fmla="val -131266"/>
                  <a:gd name="adj2" fmla="val -22962"/>
                  <a:gd name="adj3" fmla="val 16667"/>
                </a:avLst>
              </a:prstGeom>
              <a:blipFill>
                <a:blip r:embed="rId3"/>
                <a:stretch>
                  <a:fillRect b="-4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(first) visited.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canceled out.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2104" y="2043478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218581" y="3596152"/>
                <a:ext cx="4464838" cy="269934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 Practical choice is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ϵ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8581" y="3596152"/>
                <a:ext cx="4464838" cy="269934"/>
              </a:xfrm>
              <a:prstGeom prst="wedgeRoundRectCallout">
                <a:avLst>
                  <a:gd name="adj1" fmla="val -46626"/>
                  <a:gd name="adj2" fmla="val 11787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/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Can only learn from the end of the episode where the action chosen from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also be chosen by 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!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274286D1-1CB2-59BC-B4B9-B6B239AC4F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4553" y="5211444"/>
                <a:ext cx="3650681" cy="414631"/>
              </a:xfrm>
              <a:prstGeom prst="wedgeRoundRectCallout">
                <a:avLst>
                  <a:gd name="adj1" fmla="val -23873"/>
                  <a:gd name="adj2" fmla="val -69813"/>
                  <a:gd name="adj3" fmla="val 16667"/>
                </a:avLst>
              </a:prstGeom>
              <a:blipFill>
                <a:blip r:embed="rId7"/>
                <a:stretch>
                  <a:fillRect b="-105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lvl="1"/>
                <a:r>
                  <a:rPr lang="en-US" sz="1900" b="1" dirty="0"/>
                  <a:t>On vs. off-policy control.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On-policy control with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 and GLIE.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/>
                  <a:t>Off-policy control </a:t>
                </a:r>
                <a:r>
                  <a:rPr lang="en-US" sz="1900" dirty="0"/>
                  <a:t>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12953</TotalTime>
  <Words>2899</Words>
  <Application>Microsoft Office PowerPoint</Application>
  <PresentationFormat>Widescreen</PresentationFormat>
  <Paragraphs>322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Prediction: Estimate v_π for a given π</vt:lpstr>
      <vt:lpstr>Monte Carlo Control</vt:lpstr>
      <vt:lpstr>MC Control as Generalized Policy Iteration (GPI)</vt:lpstr>
      <vt:lpstr>MC Prediction to Estimate Q-Values</vt:lpstr>
      <vt:lpstr>Remember: Policy Improvement Theorem</vt:lpstr>
      <vt:lpstr>Alg. MC Control with Exploring Starts</vt:lpstr>
      <vt:lpstr>Code…</vt:lpstr>
      <vt:lpstr>MC Control without Exploring Starts</vt:lpstr>
      <vt:lpstr>On-Policy Monte Carlo Control</vt:lpstr>
      <vt:lpstr>On-Policy vs. Off-Policy Control</vt:lpstr>
      <vt:lpstr>Types of Soft Policies for Exploration</vt:lpstr>
      <vt:lpstr>Alg. On-Policy MC Control with ϵ-soft Policies</vt:lpstr>
      <vt:lpstr>GLIE: Greedy in the Limit with Infinite Exploration</vt:lpstr>
      <vt:lpstr>Off-Policy Prediction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163</cp:revision>
  <dcterms:created xsi:type="dcterms:W3CDTF">2025-09-08T14:44:49Z</dcterms:created>
  <dcterms:modified xsi:type="dcterms:W3CDTF">2026-03-30T13:49:33Z</dcterms:modified>
</cp:coreProperties>
</file>