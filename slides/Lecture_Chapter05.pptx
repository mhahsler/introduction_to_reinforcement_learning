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403" r:id="rId6"/>
    <p:sldId id="382" r:id="rId7"/>
    <p:sldId id="385" r:id="rId8"/>
    <p:sldId id="384" r:id="rId9"/>
    <p:sldId id="386" r:id="rId10"/>
    <p:sldId id="387" r:id="rId11"/>
    <p:sldId id="391" r:id="rId12"/>
    <p:sldId id="388" r:id="rId13"/>
    <p:sldId id="479" r:id="rId14"/>
    <p:sldId id="390" r:id="rId15"/>
    <p:sldId id="392" r:id="rId16"/>
    <p:sldId id="393" r:id="rId17"/>
    <p:sldId id="480" r:id="rId18"/>
    <p:sldId id="404" r:id="rId19"/>
    <p:sldId id="394" r:id="rId20"/>
    <p:sldId id="396" r:id="rId21"/>
    <p:sldId id="397" r:id="rId22"/>
    <p:sldId id="399" r:id="rId23"/>
    <p:sldId id="398" r:id="rId24"/>
    <p:sldId id="405" r:id="rId25"/>
    <p:sldId id="400" r:id="rId26"/>
    <p:sldId id="401" r:id="rId27"/>
    <p:sldId id="40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2482C7AA-3485-41BD-83FB-6BA5452DCE27}">
          <p14:sldIdLst>
            <p14:sldId id="368"/>
          </p14:sldIdLst>
        </p14:section>
        <p14:section name="On-Policy Prediction" id="{C91BF2B2-F859-471B-849F-927606614870}">
          <p14:sldIdLst>
            <p14:sldId id="403"/>
            <p14:sldId id="382"/>
          </p14:sldIdLst>
        </p14:section>
        <p14:section name="On-Policy Control" id="{9082A117-CBDB-4A41-BA4A-590A11BC768B}">
          <p14:sldIdLst>
            <p14:sldId id="385"/>
            <p14:sldId id="384"/>
            <p14:sldId id="386"/>
            <p14:sldId id="387"/>
            <p14:sldId id="391"/>
            <p14:sldId id="388"/>
            <p14:sldId id="479"/>
            <p14:sldId id="390"/>
            <p14:sldId id="392"/>
            <p14:sldId id="393"/>
            <p14:sldId id="480"/>
          </p14:sldIdLst>
        </p14:section>
        <p14:section name="Off-policy Prediciton" id="{51E355B1-9A61-41B1-AD67-E45726DBD2A6}">
          <p14:sldIdLst>
            <p14:sldId id="404"/>
            <p14:sldId id="394"/>
            <p14:sldId id="396"/>
            <p14:sldId id="397"/>
            <p14:sldId id="399"/>
            <p14:sldId id="398"/>
          </p14:sldIdLst>
        </p14:section>
        <p14:section name="Off-policy Control" id="{3F7EB257-6FD7-4E3A-86D7-23A72E6862AC}">
          <p14:sldIdLst>
            <p14:sldId id="405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61" d="100"/>
          <a:sy n="61" d="100"/>
        </p:scale>
        <p:origin x="5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.png"/><Relationship Id="rId7" Type="http://schemas.openxmlformats.org/officeDocument/2006/relationships/image" Target="../media/image8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1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b="1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40408" cy="4779633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Model-free method</a:t>
                </a:r>
                <a:r>
                  <a:rPr lang="en-US" dirty="0"/>
                  <a:t>: We do not assume knowledge of the environment model (the MDP). </a:t>
                </a:r>
              </a:p>
              <a:p>
                <a:r>
                  <a:rPr lang="en-US" dirty="0"/>
                  <a:t>We use “experience” = </a:t>
                </a:r>
                <a:r>
                  <a:rPr lang="en-US" b="1" dirty="0"/>
                  <a:t>sample sequences </a:t>
                </a:r>
                <a:r>
                  <a:rPr lang="en-US" dirty="0"/>
                  <a:t>of states, actions, and rewards from actual or simulated interactions with the environment.</a:t>
                </a:r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often have </a:t>
                </a:r>
                <a:r>
                  <a:rPr lang="en-US" b="1" dirty="0"/>
                  <a:t>sample access </a:t>
                </a:r>
                <a:r>
                  <a:rPr lang="en-US" dirty="0"/>
                  <a:t>to systems. </a:t>
                </a:r>
              </a:p>
              <a:p>
                <a:pPr lvl="1"/>
                <a:r>
                  <a:rPr lang="en-US" dirty="0"/>
                  <a:t>It is easier to simulate transitions than to specify the complete MDP.</a:t>
                </a:r>
              </a:p>
              <a:p>
                <a:endParaRPr lang="en-US" dirty="0"/>
              </a:p>
              <a:p>
                <a:r>
                  <a:rPr lang="en-US" b="1" dirty="0"/>
                  <a:t>Monte Carlo (MC) methods </a:t>
                </a:r>
                <a:r>
                  <a:rPr lang="en-US" dirty="0"/>
                  <a:t>are a family of algorithms that rely on repeated random sampling to obtain numerical results (see example to the right).</a:t>
                </a:r>
              </a:p>
              <a:p>
                <a:endParaRPr lang="en-US" b="1" dirty="0"/>
              </a:p>
              <a:p>
                <a:r>
                  <a:rPr lang="en-US" b="1" dirty="0"/>
                  <a:t>Value function approximation:</a:t>
                </a:r>
                <a:r>
                  <a:rPr lang="en-US" dirty="0"/>
                  <a:t> Use the sample-average method to approximate the expectation in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br>
                  <a:rPr lang="en-US" i="1" dirty="0">
                    <a:latin typeface="Cambria Math" panose="02040503050406030204" pitchFamily="18" charset="0"/>
                  </a:rPr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The average return of many sampled sequences (called episodes or trajectories)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converges to the true expectation as the number of samples increases.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Note</a:t>
                </a:r>
                <a:r>
                  <a:rPr lang="en-US" dirty="0"/>
                  <a:t>: This methods needs to sample whole episodes before any calculation. It is not a true step-by-step online method!</a:t>
                </a:r>
              </a:p>
              <a:p>
                <a:pPr lvl="1"/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40408" cy="4779633"/>
              </a:xfrm>
              <a:blipFill>
                <a:blip r:embed="rId2"/>
                <a:stretch>
                  <a:fillRect l="-236" t="-1276" b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3A7A3DE-08D7-B48D-7AF1-83E3C0372968}"/>
              </a:ext>
            </a:extLst>
          </p:cNvPr>
          <p:cNvSpPr/>
          <p:nvPr/>
        </p:nvSpPr>
        <p:spPr>
          <a:xfrm>
            <a:off x="9550866" y="681036"/>
            <a:ext cx="1992385" cy="669591"/>
          </a:xfrm>
          <a:prstGeom prst="wedgeRoundRectCallout">
            <a:avLst>
              <a:gd name="adj1" fmla="val -29465"/>
              <a:gd name="adj2" fmla="val 1851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The number of randomly sampled points is proportional to the area.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9BE52-795C-043C-CCA6-287BC2A4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89223-75A8-17BF-92B9-9328E92A3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state values by sampling with a given policy.</a:t>
            </a:r>
          </a:p>
        </p:txBody>
      </p:sp>
    </p:spTree>
    <p:extLst>
      <p:ext uri="{BB962C8B-B14F-4D97-AF65-F5344CB8AC3E}">
        <p14:creationId xmlns:p14="http://schemas.microsoft.com/office/powerpoint/2010/main" val="3542963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MC Prediction: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6404"/>
                <a:ext cx="7808892" cy="1667987"/>
              </a:xfrm>
            </p:spPr>
            <p:txBody>
              <a:bodyPr>
                <a:normAutofit fontScale="4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for a given deterministic or stochastic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by averaging the observed returns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for the rest of the episode after a visit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Samples are </a:t>
                </a:r>
                <a:r>
                  <a:rPr lang="en-US" b="1" dirty="0"/>
                  <a:t>unbiased</a:t>
                </a:r>
                <a:r>
                  <a:rPr lang="en-US" dirty="0"/>
                  <a:t>. The sample average converges to the expectation and thus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Reason:  state values are defined as an expected values which can be approximated by averaging observations.</a:t>
                </a:r>
                <a:endParaRPr lang="en-US" b="1" dirty="0"/>
              </a:p>
              <a:p>
                <a:r>
                  <a:rPr lang="en-US" b="1" dirty="0"/>
                  <a:t>First-visit</a:t>
                </a:r>
                <a:r>
                  <a:rPr lang="en-US" dirty="0"/>
                  <a:t>: Using the return only for the first visit of a state in the episode ensures that the sample returns are </a:t>
                </a:r>
                <a:r>
                  <a:rPr lang="en-US" dirty="0" err="1"/>
                  <a:t>i.i.d.</a:t>
                </a:r>
                <a:r>
                  <a:rPr lang="en-US" dirty="0"/>
                  <a:t> distributed (not dependent on each other) and we get an </a:t>
                </a:r>
                <a:r>
                  <a:rPr lang="en-US" b="1" dirty="0"/>
                  <a:t>unbiased</a:t>
                </a:r>
                <a:r>
                  <a:rPr lang="en-US" dirty="0"/>
                  <a:t>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6404"/>
                <a:ext cx="7808892" cy="1667987"/>
              </a:xfrm>
              <a:blipFill>
                <a:blip r:embed="rId3"/>
                <a:stretch>
                  <a:fillRect l="-78" t="-2930" r="-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56" y="2774899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772363"/>
            <a:ext cx="2899175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Calculate remaining returns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677614"/>
            <a:chOff x="8647092" y="860591"/>
            <a:chExt cx="3395272" cy="2677614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/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Calculate the return following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1200" dirty="0"/>
                    <a:t> </a:t>
                  </a:r>
                  <a:br>
                    <a:rPr lang="en-US" sz="1200" dirty="0"/>
                  </a:br>
                  <a:r>
                    <a:rPr lang="en-US" sz="1200" dirty="0"/>
                    <a:t>for all states in the episode</a:t>
                  </a:r>
                </a:p>
              </p:txBody>
            </p:sp>
          </mc:Choice>
          <mc:Fallback xmlns="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741440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91E56AD5-2877-5EE2-9F72-64538D60CCC0}"/>
              </a:ext>
            </a:extLst>
          </p:cNvPr>
          <p:cNvSpPr/>
          <p:nvPr/>
        </p:nvSpPr>
        <p:spPr>
          <a:xfrm>
            <a:off x="5098409" y="4077047"/>
            <a:ext cx="2569060" cy="308649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We observe a sequence of rewards</a:t>
            </a:r>
          </a:p>
        </p:txBody>
      </p:sp>
      <p:sp>
        <p:nvSpPr>
          <p:cNvPr id="18" name="Speech Bubble: Rectangle with Corners Rounded 17">
            <a:extLst>
              <a:ext uri="{FF2B5EF4-FFF2-40B4-BE49-F238E27FC236}">
                <a16:creationId xmlns:a16="http://schemas.microsoft.com/office/drawing/2014/main" id="{2B6082C4-7D27-71D9-3992-406A664288E7}"/>
              </a:ext>
            </a:extLst>
          </p:cNvPr>
          <p:cNvSpPr/>
          <p:nvPr/>
        </p:nvSpPr>
        <p:spPr>
          <a:xfrm>
            <a:off x="5403557" y="6145889"/>
            <a:ext cx="4818965" cy="421024"/>
          </a:xfrm>
          <a:prstGeom prst="wedgeRoundRectCallout">
            <a:avLst>
              <a:gd name="adj1" fmla="val -68252"/>
              <a:gd name="adj2" fmla="val -948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This sample average approximates the expected return. </a:t>
            </a:r>
          </a:p>
          <a:p>
            <a:pPr algn="ctr"/>
            <a:r>
              <a:rPr lang="en-US" sz="1100" b="1" dirty="0"/>
              <a:t>Note</a:t>
            </a:r>
            <a:r>
              <a:rPr lang="en-US" sz="1100" dirty="0"/>
              <a:t>: This can be implemented with incremental updating of the averages!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 the data.</a:t>
            </a:r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4C81-3730-01C4-0178-B5F501F1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MC Control: Find a Good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good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while following the current policy. 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state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are not sufficient to pick the best action. We need the Q-function which could be calculated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using a backup step: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)[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We need to estimate the Q-function directly from samples.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7736B57-32A4-8061-59E8-4A8B0884BBE9}"/>
              </a:ext>
            </a:extLst>
          </p:cNvPr>
          <p:cNvGrpSpPr/>
          <p:nvPr/>
        </p:nvGrpSpPr>
        <p:grpSpPr>
          <a:xfrm>
            <a:off x="6347542" y="4463392"/>
            <a:ext cx="4771840" cy="515511"/>
            <a:chOff x="2458533" y="3098314"/>
            <a:chExt cx="1699913" cy="515511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7D54A4FA-9978-C0D7-9A96-C09807FEC7CA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/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Model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a14:m>
                  <a:r>
                    <a:rPr lang="en-US" sz="1400" dirty="0"/>
                    <a:t> is not accessible!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blipFill>
                  <a:blip r:embed="rId3"/>
                  <a:stretch>
                    <a:fillRect t="-1961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605775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 to Estimate Q-Values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b="0" dirty="0"/>
                  <a:t>MC prediction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].</m:t>
                    </m:r>
                  </m:oMath>
                </a14:m>
                <a:br>
                  <a:rPr lang="en-US" b="0" dirty="0"/>
                </a:br>
                <a:r>
                  <a:rPr lang="en-US" dirty="0"/>
                  <a:t>Just record and average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Unbiased samples leas to convergence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endParaRPr lang="en-US" b="1" dirty="0"/>
              </a:p>
              <a:p>
                <a:r>
                  <a:rPr lang="en-US" b="1" dirty="0"/>
                  <a:t>Exploration issue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that are important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may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To get Q-Value estimates, we need to keep exploring!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Options to guarantee that all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are sampled 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</a:t>
                </a:r>
                <a:br>
                  <a:rPr lang="en-US" dirty="0"/>
                </a:br>
                <a:r>
                  <a:rPr lang="en-US" dirty="0"/>
                  <a:t>Remember: Soft policies have non-zero probabilities for all actions so they will explore.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  <a:blipFill>
                <a:blip r:embed="rId2"/>
                <a:stretch>
                  <a:fillRect l="-943" t="-2420" b="-3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A8E25886-C1A1-896D-CA44-7596F261C8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761" b="11508"/>
          <a:stretch>
            <a:fillRect/>
          </a:stretch>
        </p:blipFill>
        <p:spPr bwMode="auto">
          <a:xfrm>
            <a:off x="8769606" y="1380579"/>
            <a:ext cx="2766306" cy="209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9E04EF-715D-76FC-468F-23217F2D5AA4}"/>
              </a:ext>
            </a:extLst>
          </p:cNvPr>
          <p:cNvSpPr txBox="1"/>
          <p:nvPr/>
        </p:nvSpPr>
        <p:spPr>
          <a:xfrm>
            <a:off x="9581367" y="389034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76" t="-2222" r="-420000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2319" t="-2222" r="-158696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673" t="-2222" r="-2336" b="-5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76FE0BB7-8A76-6D81-7A8F-A58771468094}"/>
              </a:ext>
            </a:extLst>
          </p:cNvPr>
          <p:cNvSpPr/>
          <p:nvPr/>
        </p:nvSpPr>
        <p:spPr>
          <a:xfrm>
            <a:off x="10223292" y="3282846"/>
            <a:ext cx="397239" cy="60750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637A3C7-9787-B245-847A-66EE87C285C2}"/>
              </a:ext>
            </a:extLst>
          </p:cNvPr>
          <p:cNvGrpSpPr/>
          <p:nvPr/>
        </p:nvGrpSpPr>
        <p:grpSpPr>
          <a:xfrm>
            <a:off x="9077115" y="2532250"/>
            <a:ext cx="776829" cy="814355"/>
            <a:chOff x="9077115" y="2532250"/>
            <a:chExt cx="776829" cy="814355"/>
          </a:xfrm>
        </p:grpSpPr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5C12E522-80E2-4861-90FA-1A5EEE6F6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01544" y="2887095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73688F91-46E8-7014-D581-4E77B99DA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455985" y="321214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361CF96-06F0-E613-3058-6524CF1E2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455985" y="2550188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D02ADD85-B7FA-289A-4408-E2DEDA841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9077115" y="287749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MC Control as Generalized Policy Iteration (GPI)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 with a Q-function.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Process: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Start with an arbitrary policy.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Evaluation</a:t>
                </a:r>
                <a:r>
                  <a:rPr lang="en-US" dirty="0"/>
                  <a:t>: Update MC estimate by sampling some episodes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Improvement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Repeat evaluation and improvement till the policy does not change (= optimal policy is reached).</a:t>
                </a:r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  <a:blipFill>
                <a:blip r:embed="rId2"/>
                <a:stretch>
                  <a:fillRect l="-1065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F8A7C185-8BEF-1CF9-4AA9-A138AA4C6A8E}"/>
              </a:ext>
            </a:extLst>
          </p:cNvPr>
          <p:cNvGrpSpPr/>
          <p:nvPr/>
        </p:nvGrpSpPr>
        <p:grpSpPr>
          <a:xfrm>
            <a:off x="8778373" y="1597639"/>
            <a:ext cx="3001301" cy="2828670"/>
            <a:chOff x="8928790" y="218543"/>
            <a:chExt cx="3001301" cy="2828670"/>
          </a:xfrm>
        </p:grpSpPr>
        <p:pic>
          <p:nvPicPr>
            <p:cNvPr id="8" name="Content Placeholder 4">
              <a:extLst>
                <a:ext uri="{FF2B5EF4-FFF2-40B4-BE49-F238E27FC236}">
                  <a16:creationId xmlns:a16="http://schemas.microsoft.com/office/drawing/2014/main" id="{F3DB8754-B65E-E3AC-7CAD-78AE15FCE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90601" y="218543"/>
              <a:ext cx="2936007" cy="282867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A83EAAE-FF82-7D38-5799-9A05D9B7919F}"/>
                </a:ext>
              </a:extLst>
            </p:cNvPr>
            <p:cNvSpPr txBox="1"/>
            <p:nvPr/>
          </p:nvSpPr>
          <p:spPr>
            <a:xfrm>
              <a:off x="10107262" y="1397330"/>
              <a:ext cx="558412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B7AC75-3F86-B31F-1C0A-54A88A97EE28}"/>
                </a:ext>
              </a:extLst>
            </p:cNvPr>
            <p:cNvSpPr/>
            <p:nvPr/>
          </p:nvSpPr>
          <p:spPr>
            <a:xfrm>
              <a:off x="8928790" y="218543"/>
              <a:ext cx="3001301" cy="272708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If we update the MC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,⋅)</m:t>
                    </m:r>
                  </m:oMath>
                </a14:m>
                <a:r>
                  <a:rPr lang="en-US" dirty="0"/>
                  <a:t> estimate by adding more unbiased sample returns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then we can construct a new greedy policy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that is better (or equal) compared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. Reason: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Assumptions</a:t>
                </a:r>
              </a:p>
              <a:p>
                <a:pPr lvl="1"/>
                <a:r>
                  <a:rPr lang="en-US" dirty="0"/>
                  <a:t>All state/action pairs are tried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 before each policy update. </a:t>
                </a:r>
                <a:r>
                  <a:rPr lang="en-US" b="1" dirty="0"/>
                  <a:t>Perfect policy evaluation is impractical!</a:t>
                </a:r>
              </a:p>
              <a:p>
                <a:pPr lvl="1"/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The effect of imperfect policy evaluation</a:t>
                </a:r>
              </a:p>
              <a:p>
                <a:pPr lvl="1"/>
                <a:r>
                  <a:rPr lang="en-US" dirty="0"/>
                  <a:t>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estimates will be wrong but unbiased return estimates will produce in expectation (on average) the correct estimate.</a:t>
                </a:r>
              </a:p>
              <a:p>
                <a:pPr lvl="1"/>
                <a:r>
                  <a:rPr lang="en-US" dirty="0"/>
                  <a:t>Policy improvement sometimes may pick the wrong action, but </a:t>
                </a:r>
                <a:r>
                  <a:rPr lang="en-US" b="1" dirty="0"/>
                  <a:t>on average favors actions with true higher values.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  <a:blipFill>
                <a:blip r:embed="rId2"/>
                <a:stretch>
                  <a:fillRect l="-522" t="-1794" r="-232" b="-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/>
              <p:nvPr/>
            </p:nvSpPr>
            <p:spPr>
              <a:xfrm>
                <a:off x="8513306" y="2427692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chooses greedy action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306" y="2427692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  <a:blipFill>
                <a:blip r:embed="rId3"/>
                <a:stretch>
                  <a:fillRect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892436D-3970-AD3A-C21E-8315BDEB9356}"/>
              </a:ext>
            </a:extLst>
          </p:cNvPr>
          <p:cNvSpPr/>
          <p:nvPr/>
        </p:nvSpPr>
        <p:spPr>
          <a:xfrm>
            <a:off x="8513306" y="3429000"/>
            <a:ext cx="2440898" cy="661369"/>
          </a:xfrm>
          <a:prstGeom prst="wedgeRoundRectCallout">
            <a:avLst>
              <a:gd name="adj1" fmla="val -83002"/>
              <a:gd name="adj2" fmla="val -9800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Choosing the best action will never lead to a lower value!</a:t>
            </a:r>
          </a:p>
        </p:txBody>
      </p:sp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97A11FF-8820-76B6-0A7C-A2E076B1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69" y="1124198"/>
            <a:ext cx="7808892" cy="35340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899" t="2118"/>
          <a:stretch>
            <a:fillRect/>
          </a:stretch>
        </p:blipFill>
        <p:spPr>
          <a:xfrm>
            <a:off x="3649211" y="2172749"/>
            <a:ext cx="8326714" cy="45970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/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600" dirty="0"/>
                  <a:t>-Values instead of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89874BD-7F62-F3BE-DCA1-380FA9EC2FCC}"/>
              </a:ext>
            </a:extLst>
          </p:cNvPr>
          <p:cNvSpPr/>
          <p:nvPr/>
        </p:nvSpPr>
        <p:spPr>
          <a:xfrm>
            <a:off x="9358270" y="5874249"/>
            <a:ext cx="2154176" cy="387403"/>
          </a:xfrm>
          <a:prstGeom prst="wedgeRoundRectCallout">
            <a:avLst>
              <a:gd name="adj1" fmla="val -137874"/>
              <a:gd name="adj2" fmla="val 435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policy update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DD0AFEB-6629-81BE-A1DE-BFD50DCFE1B1}"/>
              </a:ext>
            </a:extLst>
          </p:cNvPr>
          <p:cNvSpPr/>
          <p:nvPr/>
        </p:nvSpPr>
        <p:spPr>
          <a:xfrm>
            <a:off x="9421217" y="3697846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Exploring starts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EE5C4CD-4DC6-9369-1C42-9B8DBED03473}"/>
              </a:ext>
            </a:extLst>
          </p:cNvPr>
          <p:cNvSpPr/>
          <p:nvPr/>
        </p:nvSpPr>
        <p:spPr>
          <a:xfrm rot="16930409">
            <a:off x="3124899" y="2972773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4EE33C7-FED0-6D11-1D5C-56EE1D4CABDA}"/>
              </a:ext>
            </a:extLst>
          </p:cNvPr>
          <p:cNvSpPr/>
          <p:nvPr/>
        </p:nvSpPr>
        <p:spPr>
          <a:xfrm>
            <a:off x="8274769" y="2476061"/>
            <a:ext cx="899211" cy="521972"/>
          </a:xfrm>
          <a:prstGeom prst="wedgeRoundRectCallout">
            <a:avLst>
              <a:gd name="adj1" fmla="val -96152"/>
              <a:gd name="adj2" fmla="val 5615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Learn policy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CE2DCE9-C0A3-622A-0091-360C7A3CC0AE}"/>
              </a:ext>
            </a:extLst>
          </p:cNvPr>
          <p:cNvSpPr/>
          <p:nvPr/>
        </p:nvSpPr>
        <p:spPr>
          <a:xfrm>
            <a:off x="9596102" y="4940098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First-visit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78137891-05BC-12B0-15F8-4F0F387FFF6E}"/>
              </a:ext>
            </a:extLst>
          </p:cNvPr>
          <p:cNvSpPr/>
          <p:nvPr/>
        </p:nvSpPr>
        <p:spPr>
          <a:xfrm>
            <a:off x="9146496" y="930554"/>
            <a:ext cx="2059714" cy="891265"/>
          </a:xfrm>
          <a:prstGeom prst="wedgeRoundRectCallout">
            <a:avLst>
              <a:gd name="adj1" fmla="val -111686"/>
              <a:gd name="adj2" fmla="val -5155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So all state-action pairs are tired. </a:t>
            </a:r>
          </a:p>
        </p:txBody>
      </p:sp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environment needs to let us start episodes at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at will. This is fine for simulations, but hard in the real world.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We need a guarantee that all (reachable) state-action combinations are tried.</a:t>
                </a:r>
              </a:p>
              <a:p>
                <a:endParaRPr lang="en-US" dirty="0"/>
              </a:p>
              <a:p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On-policy control</a:t>
                </a:r>
                <a:r>
                  <a:rPr lang="en-US" dirty="0"/>
                  <a:t>: learn a </a:t>
                </a:r>
                <a:r>
                  <a:rPr lang="en-US" b="1" dirty="0"/>
                  <a:t>soft policy </a:t>
                </a:r>
                <a:r>
                  <a:rPr lang="en-US" dirty="0"/>
                  <a:t>instead of the optimal policy.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Off-policy control</a:t>
                </a:r>
                <a:r>
                  <a:rPr lang="en-US" dirty="0"/>
                  <a:t>: use a soft </a:t>
                </a:r>
                <a:r>
                  <a:rPr lang="en-US" b="1" dirty="0"/>
                  <a:t>behavior policy </a:t>
                </a:r>
                <a:r>
                  <a:rPr lang="en-US" dirty="0"/>
                  <a:t>for sampling that tries all state-action pairs, but learn the optimal, deterministic </a:t>
                </a:r>
                <a:r>
                  <a:rPr lang="en-US" b="1" dirty="0"/>
                  <a:t>target policy</a:t>
                </a:r>
                <a:r>
                  <a:rPr lang="en-US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 of a Soft Policy</a:t>
                </a:r>
                <a:r>
                  <a:rPr lang="en-US" dirty="0"/>
                  <a:t>: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Important Soft Policy Types: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 defines the smallest allowed probability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9296D69-011E-18E3-493B-449C5086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1" y="1079779"/>
            <a:ext cx="6764650" cy="3742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Alg. On-Policy MC Control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Policies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20161" r="-168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89" t="2792"/>
          <a:stretch>
            <a:fillRect/>
          </a:stretch>
        </p:blipFill>
        <p:spPr>
          <a:xfrm>
            <a:off x="4316126" y="1613450"/>
            <a:ext cx="7289930" cy="4646532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3571F969-4B0D-E116-108F-D7C3445B56A8}"/>
              </a:ext>
            </a:extLst>
          </p:cNvPr>
          <p:cNvSpPr/>
          <p:nvPr/>
        </p:nvSpPr>
        <p:spPr>
          <a:xfrm>
            <a:off x="9065161" y="2117480"/>
            <a:ext cx="1287710" cy="503209"/>
          </a:xfrm>
          <a:prstGeom prst="wedgeRoundRectCallout">
            <a:avLst>
              <a:gd name="adj1" fmla="val -182071"/>
              <a:gd name="adj2" fmla="val 6469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 with soft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/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Create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policy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  <a:blipFill>
                <a:blip r:embed="rId5"/>
                <a:stretch>
                  <a:fillRect t="-9412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6D542BC-741E-1EA0-F955-AA3E2AA650E1}"/>
              </a:ext>
            </a:extLst>
          </p:cNvPr>
          <p:cNvSpPr/>
          <p:nvPr/>
        </p:nvSpPr>
        <p:spPr>
          <a:xfrm>
            <a:off x="9169852" y="2978817"/>
            <a:ext cx="1287710" cy="503209"/>
          </a:xfrm>
          <a:prstGeom prst="wedgeRoundRectCallout">
            <a:avLst>
              <a:gd name="adj1" fmla="val -194315"/>
              <a:gd name="adj2" fmla="val 708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 exploring starts!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53659F1-47C7-2086-0167-0CFACDBECB2F}"/>
              </a:ext>
            </a:extLst>
          </p:cNvPr>
          <p:cNvSpPr/>
          <p:nvPr/>
        </p:nvSpPr>
        <p:spPr>
          <a:xfrm rot="16930409">
            <a:off x="3707934" y="267359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/>
              <p:nvPr/>
            </p:nvSpPr>
            <p:spPr>
              <a:xfrm>
                <a:off x="1364104" y="6308208"/>
                <a:ext cx="8919148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Important</a:t>
                </a:r>
                <a:r>
                  <a:rPr lang="en-US" dirty="0"/>
                  <a:t>: This learns the best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policy, but not the optimal deterministic policy!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104" y="6308208"/>
                <a:ext cx="8919148" cy="369332"/>
              </a:xfrm>
              <a:prstGeom prst="rect">
                <a:avLst/>
              </a:prstGeom>
              <a:blipFill>
                <a:blip r:embed="rId6"/>
                <a:stretch>
                  <a:fillRect l="-546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DDC0C-7B50-2CF0-564C-587B67095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GLIE: Greedy in the Limit with Infinite Exploration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MC control algorithms change the policy and averages over returns from different policies. This is a problem!</a:t>
                </a:r>
              </a:p>
              <a:p>
                <a:endParaRPr lang="en-US" dirty="0"/>
              </a:p>
              <a:p>
                <a:r>
                  <a:rPr lang="en-US" b="1" dirty="0"/>
                  <a:t>Converges</a:t>
                </a:r>
                <a:r>
                  <a:rPr lang="en-US" dirty="0"/>
                  <a:t> under the </a:t>
                </a:r>
                <a:r>
                  <a:rPr lang="en-US" b="1" dirty="0"/>
                  <a:t>GLIE condition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Infinite explorations: Every state-action pair is visited infinitely often.</a:t>
                </a:r>
              </a:p>
              <a:p>
                <a:pPr lvl="1"/>
                <a:r>
                  <a:rPr lang="en-US" dirty="0"/>
                  <a:t>Greedy in the limit: The policy becomes greedy with respect to Q over time.</a:t>
                </a:r>
              </a:p>
              <a:p>
                <a:endParaRPr lang="en-US" dirty="0"/>
              </a:p>
              <a:p>
                <a:r>
                  <a:rPr lang="en-US" b="1" dirty="0"/>
                  <a:t>Reason</a:t>
                </a:r>
                <a:r>
                  <a:rPr lang="en-US" dirty="0"/>
                  <a:t>: Early wrong return samples from “bad policies” will eventually be dominated by many new samples from the optimal/near-deterministic policy.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Implementation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Infinite exploration: Use many episodes.</a:t>
                </a:r>
              </a:p>
              <a:p>
                <a:pPr lvl="1"/>
                <a:r>
                  <a:rPr lang="en-US" dirty="0"/>
                  <a:t>Greedy in the limit: 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reduced over time. 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48104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0DF3DF-CB27-AC0F-184E-D0D409D75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F68E3-3923-0FEB-B7EA-D6D49A383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a value function for a policy different from the sampling policy.</a:t>
            </a:r>
          </a:p>
        </p:txBody>
      </p:sp>
    </p:spTree>
    <p:extLst>
      <p:ext uri="{BB962C8B-B14F-4D97-AF65-F5344CB8AC3E}">
        <p14:creationId xmlns:p14="http://schemas.microsoft.com/office/powerpoint/2010/main" val="15276507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vs. On-Policy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6689"/>
                <a:ext cx="10515600" cy="5393433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Dilemma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need behavior that explores. </a:t>
                </a:r>
              </a:p>
              <a:p>
                <a:pPr lvl="1"/>
                <a:r>
                  <a:rPr lang="en-US" dirty="0"/>
                  <a:t>We know that MDPs have optimal deterministic policies that do not explore.</a:t>
                </a:r>
              </a:p>
              <a:p>
                <a:pPr lvl="1"/>
                <a:r>
                  <a:rPr lang="en-US" dirty="0"/>
                  <a:t>Learning optimal action values depends on observing optimal behavior.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Can learn a near-optimal policy that still explores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 and then converts it into a greedy deterministic policy.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b="1" dirty="0"/>
                  <a:t>Target policy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an optimal deterministic policy.</a:t>
                </a:r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 with a soft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target policy.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More complicated</a:t>
                </a:r>
              </a:p>
              <a:p>
                <a:pPr lvl="1"/>
                <a:r>
                  <a:rPr lang="en-US" dirty="0"/>
                  <a:t>Converge slower</a:t>
                </a:r>
              </a:p>
              <a:p>
                <a:pPr lvl="1"/>
                <a:r>
                  <a:rPr lang="en-US" dirty="0"/>
                  <a:t>Often more powerful</a:t>
                </a:r>
              </a:p>
              <a:p>
                <a:pPr lvl="1"/>
                <a:r>
                  <a:rPr lang="en-US" dirty="0"/>
                  <a:t>Can be applied to data externally generated using a fixed, potentially unknown, behavior policy.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learning is a special case of off-policy 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6689"/>
                <a:ext cx="10515600" cy="5393433"/>
              </a:xfrm>
              <a:blipFill>
                <a:blip r:embed="rId2"/>
                <a:stretch>
                  <a:fillRect l="-232" t="-1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fixed.</a:t>
                </a:r>
              </a:p>
              <a:p>
                <a:pPr lvl="1"/>
                <a:r>
                  <a:rPr lang="en-US" b="1" dirty="0"/>
                  <a:t>Coverage</a:t>
                </a:r>
                <a:r>
                  <a:rPr lang="en-US" dirty="0"/>
                  <a:t>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That is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(soft)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Returns and sample averages are valid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but not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! We need to correct them.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800" b="1" dirty="0"/>
                  <a:t>Importance sampling </a:t>
                </a:r>
                <a:r>
                  <a:rPr lang="en-US" sz="1800" dirty="0"/>
                  <a:t>is a method to estimate the expected values under a desired distribution, given samples from another distribution </a:t>
                </a:r>
              </a:p>
              <a:p>
                <a:pPr lvl="1"/>
                <a:r>
                  <a:rPr lang="en-US" sz="1400" dirty="0"/>
                  <a:t>Expectation under desired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400" dirty="0"/>
              </a:p>
              <a:p>
                <a:pPr lvl="1"/>
                <a:r>
                  <a:rPr lang="en-US" sz="1400" dirty="0"/>
                  <a:t>Observed expectation from sampled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400" dirty="0"/>
              </a:p>
              <a:p>
                <a:r>
                  <a:rPr lang="en-US" sz="1800" b="1" dirty="0"/>
                  <a:t>Idea</a:t>
                </a:r>
                <a:r>
                  <a:rPr lang="en-US" sz="1800" dirty="0"/>
                  <a:t>: correct returns observed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8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dirty="0"/>
              </a:p>
              <a:p>
                <a:endParaRPr lang="en-US" sz="1800" dirty="0"/>
              </a:p>
              <a:p>
                <a:r>
                  <a:rPr lang="en-US" sz="18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b="1" dirty="0"/>
                  <a:t>Importance sampling ratio </a:t>
                </a:r>
                <a:r>
                  <a:rPr lang="en-US" sz="1800" dirty="0"/>
                  <a:t>(how much more likely are the remaining actions in the sequence chosen under 𝜋 than under 𝑏):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dirty="0"/>
                  <a:t>Now we get: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406" t="-1148" b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642769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758630" y="4984796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554304"/>
            <a:ext cx="2101026" cy="750367"/>
          </a:xfrm>
          <a:prstGeom prst="wedgeRoundRectCallout">
            <a:avLst>
              <a:gd name="adj1" fmla="val -76807"/>
              <a:gd name="adj2" fmla="val -354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471194" y="2917700"/>
            <a:ext cx="2101026" cy="520435"/>
          </a:xfrm>
          <a:prstGeom prst="wedgeRoundRectCallout">
            <a:avLst>
              <a:gd name="adj1" fmla="val -76475"/>
              <a:gd name="adj2" fmla="val 525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2E2FEED-5945-68CE-0EE6-B01BEE371736}"/>
              </a:ext>
            </a:extLst>
          </p:cNvPr>
          <p:cNvSpPr/>
          <p:nvPr/>
        </p:nvSpPr>
        <p:spPr>
          <a:xfrm>
            <a:off x="9523660" y="5543470"/>
            <a:ext cx="2101026" cy="966952"/>
          </a:xfrm>
          <a:prstGeom prst="wedgeRoundRectCallout">
            <a:avLst>
              <a:gd name="adj1" fmla="val -105649"/>
              <a:gd name="adj2" fmla="val -28349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we need to do is correct the returns by multiplying them with the ratio.</a:t>
            </a:r>
          </a:p>
        </p:txBody>
      </p:sp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Ordinary importance sampling </a:t>
                </a:r>
                <a:r>
                  <a:rPr lang="en-US" dirty="0"/>
                  <a:t>averages the corrected sample returns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are the time steps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was visited. Can use first visit or every visit.</a:t>
                </a:r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but the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Weighted importance sampling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 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: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Set 0 if denominator is 0.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.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terms cancel for a single observation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sampled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Bias falls asymptotically with more visits</a:t>
                </a:r>
              </a:p>
              <a:p>
                <a:pPr lvl="1"/>
                <a:r>
                  <a:rPr lang="en-US" dirty="0"/>
                  <a:t>Preferred method with much lower errors (variance) for smaller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  <a:blipFill>
                <a:blip r:embed="rId2"/>
                <a:stretch>
                  <a:fillRect l="-510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/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Note: the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</m:oMath>
                </a14:m>
                <a:r>
                  <a:rPr lang="en-US" sz="1600" dirty="0"/>
                  <a:t> is missing since it cancels out.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9D607B85-E12F-346B-31F9-19075BE2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9" t="2792"/>
          <a:stretch>
            <a:fillRect/>
          </a:stretch>
        </p:blipFill>
        <p:spPr>
          <a:xfrm>
            <a:off x="469383" y="1407853"/>
            <a:ext cx="7289930" cy="46465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Alg. Off-Policy Prediction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704" t="4119"/>
          <a:stretch>
            <a:fillRect/>
          </a:stretch>
        </p:blipFill>
        <p:spPr>
          <a:xfrm>
            <a:off x="3611461" y="2046914"/>
            <a:ext cx="8155700" cy="4583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for incremental update of the average return.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8191849" y="6125128"/>
            <a:ext cx="3049398" cy="195743"/>
          </a:xfrm>
          <a:prstGeom prst="wedgeRoundRectCallout">
            <a:avLst>
              <a:gd name="adj1" fmla="val -69966"/>
              <a:gd name="adj2" fmla="val -1136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Incremental update + 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7522826" y="3633248"/>
                <a:ext cx="2162309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change every episode!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2826" y="3633248"/>
                <a:ext cx="2162309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  <a:blipFill>
                <a:blip r:embed="rId5"/>
                <a:stretch>
                  <a:fillRect t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8C5E7366-B663-9D68-2647-028B1D913D6B}"/>
              </a:ext>
            </a:extLst>
          </p:cNvPr>
          <p:cNvSpPr/>
          <p:nvPr/>
        </p:nvSpPr>
        <p:spPr>
          <a:xfrm rot="16930409">
            <a:off x="2940342" y="3091206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/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Importance sampling ratio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  <a:blipFill>
                <a:blip r:embed="rId6"/>
                <a:stretch>
                  <a:fillRect t="-16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D2BFDED-1362-EAC8-6F95-950A9C762329}"/>
              </a:ext>
            </a:extLst>
          </p:cNvPr>
          <p:cNvSpPr txBox="1"/>
          <p:nvPr/>
        </p:nvSpPr>
        <p:spPr>
          <a:xfrm>
            <a:off x="838200" y="1019636"/>
            <a:ext cx="9453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Weighted importance </a:t>
            </a:r>
            <a:r>
              <a:rPr lang="en-US" dirty="0"/>
              <a:t>s</a:t>
            </a:r>
            <a:r>
              <a:rPr lang="en-US" sz="1800" dirty="0"/>
              <a:t>ampling + incremental average update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E88D-1806-979D-2814-D73AF282D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8A943B-484E-9C7E-EE44-4CBCD7CF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62269B-9FCA-0B73-D72E-BCBDF9DCD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following a different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1899086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control tries to estimate a policy while using it for sampling. This has the following implications: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behavior changes </a:t>
                </a:r>
                <a:r>
                  <a:rPr lang="en-US" dirty="0"/>
                  <a:t>with the learned policy.</a:t>
                </a:r>
              </a:p>
              <a:p>
                <a:pPr lvl="1"/>
                <a:r>
                  <a:rPr lang="en-US" dirty="0"/>
                  <a:t>The policy that is learned needs to explore and therefore </a:t>
                </a:r>
                <a:r>
                  <a:rPr lang="en-US" b="1" dirty="0"/>
                  <a:t>may not be able to learn the optimal deterministic policy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endParaRPr lang="en-US" dirty="0"/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: Needs to have coverage. That is, it eventually takes every action taken under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This typically means that we will use a </a:t>
                </a:r>
                <a:r>
                  <a:rPr lang="en-US" b="1" dirty="0"/>
                  <a:t>soft policy</a:t>
                </a:r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Target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: Typically, a </a:t>
                </a:r>
                <a:r>
                  <a:rPr lang="en-US" b="1" dirty="0"/>
                  <a:t>deterministic greedy policy </a:t>
                </a:r>
                <a:r>
                  <a:rPr lang="en-US" dirty="0"/>
                  <a:t>which can become optimal.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B0E5E3E5-7ADE-C94C-E70B-D6DA3B0A47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4" t="4119"/>
          <a:stretch>
            <a:fillRect/>
          </a:stretch>
        </p:blipFill>
        <p:spPr>
          <a:xfrm>
            <a:off x="499097" y="1167013"/>
            <a:ext cx="7178926" cy="4034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956" t="709"/>
          <a:stretch>
            <a:fillRect/>
          </a:stretch>
        </p:blipFill>
        <p:spPr>
          <a:xfrm>
            <a:off x="3661794" y="1635647"/>
            <a:ext cx="7829773" cy="47460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Can only uses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Not very sample efficient!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/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use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to select a. So the probability is 1.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  <a:blipFill>
                <a:blip r:embed="rId5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711BEC78-A77D-C9A1-C817-61867AC0146A}"/>
              </a:ext>
            </a:extLst>
          </p:cNvPr>
          <p:cNvSpPr/>
          <p:nvPr/>
        </p:nvSpPr>
        <p:spPr>
          <a:xfrm rot="16930409">
            <a:off x="3005081" y="253990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6911223-3282-3D4A-D937-1C6D589987F8}"/>
              </a:ext>
            </a:extLst>
          </p:cNvPr>
          <p:cNvSpPr/>
          <p:nvPr/>
        </p:nvSpPr>
        <p:spPr>
          <a:xfrm>
            <a:off x="7715207" y="2270004"/>
            <a:ext cx="2534023" cy="290316"/>
          </a:xfrm>
          <a:prstGeom prst="wedgeRoundRectCallout">
            <a:avLst>
              <a:gd name="adj1" fmla="val -104868"/>
              <a:gd name="adj2" fmla="val 13691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 the greedy target policy</a:t>
            </a:r>
          </a:p>
        </p:txBody>
      </p:sp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83400F-3AC6-D422-B920-E8D54036F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</p:spPr>
            <p:txBody>
              <a:bodyPr anchor="ctr"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1900" dirty="0"/>
                  <a:t>MC works with sampled episodes:</a:t>
                </a:r>
                <a:endParaRPr lang="en-US" sz="1900" b="1" dirty="0"/>
              </a:p>
              <a:p>
                <a:pPr lvl="1"/>
                <a:r>
                  <a:rPr lang="en-US" sz="1900" b="1" dirty="0"/>
                  <a:t>Policy Evaluation</a:t>
                </a:r>
                <a:r>
                  <a:rPr lang="en-US" sz="1900" dirty="0"/>
                  <a:t>: Averages many sampled returns. </a:t>
                </a:r>
              </a:p>
              <a:p>
                <a:pPr lvl="1"/>
                <a:r>
                  <a:rPr lang="en-US" sz="1900" b="1" dirty="0"/>
                  <a:t>Control</a:t>
                </a:r>
                <a:r>
                  <a:rPr lang="en-US" sz="1900" dirty="0"/>
                  <a:t>: Interleaves pol. eval. and pol. improvement on an episode-by-episode basis.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Advantages of MC methods vs. DP:</a:t>
                </a:r>
              </a:p>
              <a:p>
                <a:pPr lvl="1"/>
                <a:r>
                  <a:rPr lang="en-US" sz="1900" b="1" dirty="0"/>
                  <a:t>Model-free</a:t>
                </a:r>
                <a:r>
                  <a:rPr lang="en-US" sz="1900" dirty="0"/>
                  <a:t>: No need for an environment model. Sampling from a simulation is often easy.</a:t>
                </a:r>
              </a:p>
              <a:p>
                <a:pPr lvl="1"/>
                <a:r>
                  <a:rPr lang="en-US" sz="1900" dirty="0"/>
                  <a:t>Can evaluate a small </a:t>
                </a:r>
                <a:r>
                  <a:rPr lang="en-US" sz="1900" b="1" dirty="0"/>
                  <a:t>state set</a:t>
                </a:r>
                <a:r>
                  <a:rPr lang="en-US" sz="1900" dirty="0"/>
                  <a:t> of interest. DP always has to sweep over all states.</a:t>
                </a:r>
              </a:p>
              <a:p>
                <a:pPr lvl="1"/>
                <a:r>
                  <a:rPr lang="en-US" sz="1900" b="1" dirty="0"/>
                  <a:t>Unbiased estimates: </a:t>
                </a:r>
                <a:r>
                  <a:rPr lang="en-US" sz="1900" dirty="0"/>
                  <a:t>Estimates are based on returns from complete sampled sequences. We will learn about other methods that introduce bias by  bootstrapping (estimating a value from other estimates).</a:t>
                </a:r>
              </a:p>
              <a:p>
                <a:pPr lvl="1"/>
                <a:r>
                  <a:rPr lang="en-US" sz="1900" dirty="0"/>
                  <a:t>Using complete sequences may be less harmed by violations of the Markov property/issues with observability.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Issues:</a:t>
                </a:r>
              </a:p>
              <a:p>
                <a:pPr lvl="1"/>
                <a:r>
                  <a:rPr lang="en-US" sz="1900" b="1" dirty="0"/>
                  <a:t>Needs to maintain sufficient exploration</a:t>
                </a:r>
                <a:r>
                  <a:rPr lang="en-US" sz="1900" dirty="0"/>
                  <a:t>. Options are: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Exploring starts can learn the optimal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Learning an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900" dirty="0"/>
                  <a:t>-soft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Off-policy learning with a covering behavior policy. Note: only a part of the data can be used.</a:t>
                </a:r>
              </a:p>
              <a:p>
                <a:pPr lvl="1"/>
                <a:r>
                  <a:rPr lang="en-US" sz="1900" dirty="0"/>
                  <a:t>MC methods are </a:t>
                </a:r>
                <a:r>
                  <a:rPr lang="en-US" sz="1900" b="1" dirty="0"/>
                  <a:t>not sample efficient</a:t>
                </a:r>
                <a:r>
                  <a:rPr lang="en-US" sz="1900" dirty="0"/>
                  <a:t>. I.e., sampled episodes are used only once and then discarded.</a:t>
                </a:r>
              </a:p>
              <a:p>
                <a:pPr lvl="1"/>
                <a:r>
                  <a:rPr lang="en-US" sz="1900" b="1" dirty="0"/>
                  <a:t>Not a truly online method</a:t>
                </a:r>
                <a:r>
                  <a:rPr lang="en-US" sz="1900" dirty="0"/>
                  <a:t>: Updates are not done after each action, but are delayed until the end of each episode.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  <a:blipFill>
                <a:blip r:embed="rId3"/>
                <a:stretch>
                  <a:fillRect l="-507" r="-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12516</TotalTime>
  <Words>2818</Words>
  <Application>Microsoft Office PowerPoint</Application>
  <PresentationFormat>Widescreen</PresentationFormat>
  <Paragraphs>312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Topics of this Course</vt:lpstr>
      <vt:lpstr>Summary of Notation</vt:lpstr>
      <vt:lpstr>Introduction</vt:lpstr>
      <vt:lpstr>Monte Carlo Prediction</vt:lpstr>
      <vt:lpstr>MC Prediction: Estimate v_π for a given π</vt:lpstr>
      <vt:lpstr>On-Policy Monte Carlo Control</vt:lpstr>
      <vt:lpstr>MC Control: Find a Good Policy</vt:lpstr>
      <vt:lpstr>MC Prediction to Estimate Q-Values</vt:lpstr>
      <vt:lpstr>MC Control as Generalized Policy Iteration (GPI)</vt:lpstr>
      <vt:lpstr>Remember: Policy Improvement Theorem</vt:lpstr>
      <vt:lpstr>Alg. MC Control with Exploring Starts</vt:lpstr>
      <vt:lpstr>Code…</vt:lpstr>
      <vt:lpstr>MC Control without Exploring Starts</vt:lpstr>
      <vt:lpstr>Types of Soft Policies</vt:lpstr>
      <vt:lpstr>Alg. On-Policy MC Control with ϵ-soft Policies</vt:lpstr>
      <vt:lpstr>GLIE: Greedy in the Limit with Infinite Exploration</vt:lpstr>
      <vt:lpstr>Off-Policy Prediction</vt:lpstr>
      <vt:lpstr>Off-Policy vs. On-Policy Learning</vt:lpstr>
      <vt:lpstr>Off-Policy Prediction</vt:lpstr>
      <vt:lpstr>Importance Sampling</vt:lpstr>
      <vt:lpstr>Ordinary vs. Weighted Importance Sampling</vt:lpstr>
      <vt:lpstr>Alg. Off-Policy Prediction</vt:lpstr>
      <vt:lpstr>Off-Policy Control</vt:lpstr>
      <vt:lpstr>Off-Policy MC Control</vt:lpstr>
      <vt:lpstr>Alg. Off-Policy MC Control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156</cp:revision>
  <dcterms:created xsi:type="dcterms:W3CDTF">2025-09-08T14:44:49Z</dcterms:created>
  <dcterms:modified xsi:type="dcterms:W3CDTF">2026-02-13T01:59:27Z</dcterms:modified>
</cp:coreProperties>
</file>