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4" r:id="rId9"/>
    <p:sldId id="386" r:id="rId10"/>
    <p:sldId id="387" r:id="rId11"/>
    <p:sldId id="391" r:id="rId12"/>
    <p:sldId id="388" r:id="rId13"/>
    <p:sldId id="479" r:id="rId14"/>
    <p:sldId id="390" r:id="rId15"/>
    <p:sldId id="392" r:id="rId16"/>
    <p:sldId id="393" r:id="rId17"/>
    <p:sldId id="480" r:id="rId18"/>
    <p:sldId id="404" r:id="rId19"/>
    <p:sldId id="394" r:id="rId20"/>
    <p:sldId id="396" r:id="rId21"/>
    <p:sldId id="397" r:id="rId22"/>
    <p:sldId id="399" r:id="rId23"/>
    <p:sldId id="398" r:id="rId24"/>
    <p:sldId id="405" r:id="rId25"/>
    <p:sldId id="400" r:id="rId26"/>
    <p:sldId id="401" r:id="rId27"/>
    <p:sldId id="40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479"/>
            <p14:sldId id="390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Model-free method</a:t>
                </a:r>
                <a:r>
                  <a:rPr lang="en-US" dirty="0"/>
                  <a:t>: We do not assume knowledge of the environment model (the MDP). </a:t>
                </a:r>
              </a:p>
              <a:p>
                <a:r>
                  <a:rPr lang="en-US" dirty="0"/>
                  <a:t>We use “experience” = </a:t>
                </a:r>
                <a:r>
                  <a:rPr lang="en-US" b="1" dirty="0"/>
                  <a:t>sample sequences </a:t>
                </a:r>
                <a:r>
                  <a:rPr lang="en-US" dirty="0"/>
                  <a:t>of states, actions, and rewards from actual or simulated interactions with the environment.</a:t>
                </a:r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often have </a:t>
                </a:r>
                <a:r>
                  <a:rPr lang="en-US" b="1" dirty="0"/>
                  <a:t>sample access </a:t>
                </a:r>
                <a:r>
                  <a:rPr lang="en-US" dirty="0"/>
                  <a:t>to systems. </a:t>
                </a:r>
              </a:p>
              <a:p>
                <a:pPr lvl="1"/>
                <a:r>
                  <a:rPr lang="en-US" dirty="0"/>
                  <a:t>It is easier to simulate transitions than to specify the complete MDP.</a:t>
                </a:r>
              </a:p>
              <a:p>
                <a:endParaRPr lang="en-US" dirty="0"/>
              </a:p>
              <a:p>
                <a:r>
                  <a:rPr lang="en-US" b="1" dirty="0"/>
                  <a:t>Monte Carlo (MC) methods </a:t>
                </a:r>
                <a:r>
                  <a:rPr lang="en-US" dirty="0"/>
                  <a:t>are a family of algorithms that rely on repeated random sampling to obtain numerical results (see example to the right).</a:t>
                </a:r>
              </a:p>
              <a:p>
                <a:endParaRPr lang="en-US" b="1" dirty="0"/>
              </a:p>
              <a:p>
                <a:r>
                  <a:rPr lang="en-US" b="1" dirty="0"/>
                  <a:t>Value function approximation:</a:t>
                </a:r>
                <a:r>
                  <a:rPr lang="en-US" dirty="0"/>
                  <a:t> Use the sample-average method to approximate the expectation in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The average return of many sampled sequences (called episodes or trajectories)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This methods needs to sample whole episodes before any calculation. It is not a true step-by-step online method!</a:t>
                </a:r>
              </a:p>
              <a:p>
                <a:pPr lvl="1"/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  <a:blipFill>
                <a:blip r:embed="rId2"/>
                <a:stretch>
                  <a:fillRect l="-236" t="-1276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Samples are </a:t>
                </a:r>
                <a:r>
                  <a:rPr lang="en-US" b="1" dirty="0"/>
                  <a:t>unbiased</a:t>
                </a:r>
                <a:r>
                  <a:rPr lang="en-US" dirty="0"/>
                  <a:t>. The sample average converges to the expectation and thus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an expected values which can be approximated by averaging observations.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the return only for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(not dependent on each other)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  <a:blipFill>
                <a:blip r:embed="rId3"/>
                <a:stretch>
                  <a:fillRect l="-78" t="-2930" r="-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145889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using a backup step: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Q-function directly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47542" y="4463392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r>
                  <a:rPr lang="en-US" dirty="0"/>
                  <a:t>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leas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943" t="-2420" b="-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of a 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allowed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GLIE: Greedy in the Limit with Infinite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ECDB7-7AA0-1233-4B62-A4FC8D424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Issue</a:t>
            </a:r>
            <a:r>
              <a:rPr lang="en-US" dirty="0"/>
              <a:t>: MC Control algorithms change the policy and averages over returns from different policies. This is a problem!</a:t>
            </a:r>
          </a:p>
          <a:p>
            <a:endParaRPr lang="en-US" dirty="0"/>
          </a:p>
          <a:p>
            <a:r>
              <a:rPr lang="en-US" dirty="0"/>
              <a:t>If we follow GLIE (Greedy in the Limit with Infinite Exploration):</a:t>
            </a:r>
          </a:p>
          <a:p>
            <a:pPr lvl="1"/>
            <a:r>
              <a:rPr lang="en-US" dirty="0"/>
              <a:t>Every state-action pair is visited infinitely often.</a:t>
            </a:r>
          </a:p>
          <a:p>
            <a:pPr lvl="1"/>
            <a:r>
              <a:rPr lang="en-US" dirty="0"/>
              <a:t>The policy becomes greedy in the limit.</a:t>
            </a:r>
          </a:p>
          <a:p>
            <a:endParaRPr lang="en-US" dirty="0"/>
          </a:p>
          <a:p>
            <a:r>
              <a:rPr lang="en-US" dirty="0"/>
              <a:t>Then, early wrong return estimates from “bad policies” will eventually be dominated by many new estimates from the good (optimal/near-deterministic) policy.</a:t>
            </a:r>
          </a:p>
          <a:p>
            <a:endParaRPr lang="en-US" dirty="0"/>
          </a:p>
          <a:p>
            <a:r>
              <a:rPr lang="en-US" b="1" dirty="0"/>
              <a:t>Convergence</a:t>
            </a:r>
            <a:r>
              <a:rPr lang="en-US" b="1"/>
              <a:t>: </a:t>
            </a:r>
            <a:r>
              <a:rPr lang="en-US"/>
              <a:t>Will </a:t>
            </a:r>
            <a:r>
              <a:rPr lang="en-US" dirty="0"/>
              <a:t>be slower but is still guaranteed in the limit.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</a:t>
                </a:r>
              </a:p>
              <a:p>
                <a:pPr lvl="1"/>
                <a:r>
                  <a:rPr lang="en-US" dirty="0"/>
                  <a:t>We know that MDPs have optimal deterministic policies that do not explore.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Can learn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greedy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232" t="-1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r>
                  <a:rPr lang="en-US" sz="1800" b="1" dirty="0"/>
                  <a:t>Idea</a:t>
                </a:r>
                <a:r>
                  <a:rPr lang="en-US" sz="18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 b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554304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cancels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12505</TotalTime>
  <Words>2797</Words>
  <Application>Microsoft Office PowerPoint</Application>
  <PresentationFormat>Widescreen</PresentationFormat>
  <Paragraphs>310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On-Policy Monte Carlo Prediction</vt:lpstr>
      <vt:lpstr>MC Prediction: Estimate v_π for a given π</vt:lpstr>
      <vt:lpstr>On-Policy Monte Carlo Control</vt:lpstr>
      <vt:lpstr>MC Control: Find a Good Policy</vt:lpstr>
      <vt:lpstr>MC Prediction to Estimate Q-Values</vt:lpstr>
      <vt:lpstr>MC Control as Generalized Policy Iteration (GPI)</vt:lpstr>
      <vt:lpstr>Remember: Policy Improvement Theorem</vt:lpstr>
      <vt:lpstr>Alg. MC Control with Exploring Starts</vt:lpstr>
      <vt:lpstr>Code…</vt:lpstr>
      <vt:lpstr>MC Control without Exploring Starts</vt:lpstr>
      <vt:lpstr>Types of Soft Policies</vt:lpstr>
      <vt:lpstr>Alg. On-Policy MC Control with ϵ-soft Policies</vt:lpstr>
      <vt:lpstr>GLIE: Greedy in the Limit with Infinite Exploration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155</cp:revision>
  <dcterms:created xsi:type="dcterms:W3CDTF">2025-09-08T14:44:49Z</dcterms:created>
  <dcterms:modified xsi:type="dcterms:W3CDTF">2026-02-12T13:53:19Z</dcterms:modified>
</cp:coreProperties>
</file>