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8" r:id="rId4"/>
    <p:sldId id="368" r:id="rId5"/>
    <p:sldId id="403" r:id="rId6"/>
    <p:sldId id="482" r:id="rId7"/>
    <p:sldId id="382" r:id="rId8"/>
    <p:sldId id="385" r:id="rId9"/>
    <p:sldId id="387" r:id="rId10"/>
    <p:sldId id="391" r:id="rId11"/>
    <p:sldId id="386" r:id="rId12"/>
    <p:sldId id="485" r:id="rId13"/>
    <p:sldId id="388" r:id="rId14"/>
    <p:sldId id="479" r:id="rId15"/>
    <p:sldId id="390" r:id="rId16"/>
    <p:sldId id="481" r:id="rId17"/>
    <p:sldId id="394" r:id="rId18"/>
    <p:sldId id="392" r:id="rId19"/>
    <p:sldId id="393" r:id="rId20"/>
    <p:sldId id="480" r:id="rId21"/>
    <p:sldId id="404" r:id="rId22"/>
    <p:sldId id="484" r:id="rId23"/>
    <p:sldId id="483" r:id="rId24"/>
    <p:sldId id="396" r:id="rId25"/>
    <p:sldId id="397" r:id="rId26"/>
    <p:sldId id="399" r:id="rId27"/>
    <p:sldId id="398" r:id="rId28"/>
    <p:sldId id="405" r:id="rId29"/>
    <p:sldId id="400" r:id="rId30"/>
    <p:sldId id="401" r:id="rId31"/>
    <p:sldId id="402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ntroduction" id="{2482C7AA-3485-41BD-83FB-6BA5452DCE27}">
          <p14:sldIdLst>
            <p14:sldId id="368"/>
          </p14:sldIdLst>
        </p14:section>
        <p14:section name="On-Policy Prediction" id="{C91BF2B2-F859-471B-849F-927606614870}">
          <p14:sldIdLst>
            <p14:sldId id="403"/>
            <p14:sldId id="482"/>
            <p14:sldId id="382"/>
          </p14:sldIdLst>
        </p14:section>
        <p14:section name="MC Control" id="{9082A117-CBDB-4A41-BA4A-590A11BC768B}">
          <p14:sldIdLst>
            <p14:sldId id="385"/>
            <p14:sldId id="387"/>
            <p14:sldId id="391"/>
            <p14:sldId id="386"/>
            <p14:sldId id="485"/>
            <p14:sldId id="388"/>
            <p14:sldId id="479"/>
            <p14:sldId id="390"/>
          </p14:sldIdLst>
        </p14:section>
        <p14:section name="On-Policy Control" id="{A03E4B76-6E41-4A94-9A11-DF9EDD4B8C64}">
          <p14:sldIdLst>
            <p14:sldId id="481"/>
            <p14:sldId id="394"/>
            <p14:sldId id="392"/>
            <p14:sldId id="393"/>
            <p14:sldId id="480"/>
          </p14:sldIdLst>
        </p14:section>
        <p14:section name="Off-policy Prediciton" id="{51E355B1-9A61-41B1-AD67-E45726DBD2A6}">
          <p14:sldIdLst>
            <p14:sldId id="404"/>
            <p14:sldId id="484"/>
            <p14:sldId id="483"/>
            <p14:sldId id="396"/>
            <p14:sldId id="397"/>
            <p14:sldId id="399"/>
            <p14:sldId id="398"/>
          </p14:sldIdLst>
        </p14:section>
        <p14:section name="Off-policy Control" id="{3F7EB257-6FD7-4E3A-86D7-23A72E6862AC}">
          <p14:sldIdLst>
            <p14:sldId id="405"/>
            <p14:sldId id="400"/>
            <p14:sldId id="401"/>
            <p14:sldId id="4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4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8.png"/><Relationship Id="rId7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81.png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0.png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3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2.png"/><Relationship Id="rId4" Type="http://schemas.openxmlformats.org/officeDocument/2006/relationships/image" Target="../media/image291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Monte Carlo Methods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656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6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b="1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BC304-9F53-1D52-E987-0090E5073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0346"/>
            <a:ext cx="7740408" cy="4440264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/>
              <a:t>Model-free method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We do not assume knowledge of the environment model (the MDP). </a:t>
            </a:r>
          </a:p>
          <a:p>
            <a:pPr lvl="1"/>
            <a:r>
              <a:rPr lang="en-US" dirty="0"/>
              <a:t>We use “experience” = </a:t>
            </a:r>
            <a:r>
              <a:rPr lang="en-US" b="1" dirty="0"/>
              <a:t>sample sequences </a:t>
            </a:r>
            <a:r>
              <a:rPr lang="en-US" dirty="0"/>
              <a:t>of states, actions, and rewards from actual or simulated interactions with the environment.</a:t>
            </a:r>
          </a:p>
          <a:p>
            <a:r>
              <a:rPr lang="en-US" b="1" dirty="0"/>
              <a:t>Remember from AI</a:t>
            </a:r>
            <a:r>
              <a:rPr lang="en-US" dirty="0"/>
              <a:t>: model-free means the agent faces an unknown, fully observable, possibly stochastic environment.</a:t>
            </a:r>
          </a:p>
          <a:p>
            <a:r>
              <a:rPr lang="en-US" b="1" dirty="0"/>
              <a:t>Advantages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We often have </a:t>
            </a:r>
            <a:r>
              <a:rPr lang="en-US" b="1" dirty="0"/>
              <a:t>sample access </a:t>
            </a:r>
            <a:r>
              <a:rPr lang="en-US" dirty="0"/>
              <a:t>to systems. </a:t>
            </a:r>
          </a:p>
          <a:p>
            <a:pPr lvl="1"/>
            <a:r>
              <a:rPr lang="en-US" dirty="0"/>
              <a:t>It is easier to simulate transitions than to specify the complete MDP.</a:t>
            </a:r>
          </a:p>
          <a:p>
            <a:endParaRPr lang="en-US" dirty="0"/>
          </a:p>
          <a:p>
            <a:r>
              <a:rPr lang="en-US" b="1" dirty="0"/>
              <a:t>Monte Carlo (MC) methods </a:t>
            </a:r>
            <a:r>
              <a:rPr lang="en-US" dirty="0"/>
              <a:t>are a family of algorithms that rely on repeated random sampling to obtain numerical results (see example to the right).</a:t>
            </a:r>
          </a:p>
          <a:p>
            <a:endParaRPr lang="en-US" dirty="0"/>
          </a:p>
          <a:p>
            <a:r>
              <a:rPr lang="en-US" b="1" dirty="0"/>
              <a:t>Idea</a:t>
            </a:r>
            <a:r>
              <a:rPr lang="en-US" dirty="0"/>
              <a:t>: Use MC to sample sequences from the environment and use them to estimate the value function.</a:t>
            </a:r>
          </a:p>
          <a:p>
            <a:endParaRPr lang="en-US" b="1" dirty="0"/>
          </a:p>
          <a:p>
            <a:pPr lvl="1"/>
            <a:endParaRPr lang="en-US" sz="14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E5BBE28-6746-AC67-4CA0-832813EC3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9447" y="1706406"/>
            <a:ext cx="3143250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C250BAF-41C6-59F7-4096-81676F51238E}"/>
              </a:ext>
            </a:extLst>
          </p:cNvPr>
          <p:cNvSpPr txBox="1"/>
          <p:nvPr/>
        </p:nvSpPr>
        <p:spPr>
          <a:xfrm>
            <a:off x="8785832" y="5530632"/>
            <a:ext cx="3143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Monte Carlo method applied to approximating the value of π</a:t>
            </a:r>
            <a:br>
              <a:rPr lang="en-US" sz="1200" dirty="0"/>
            </a:br>
            <a:r>
              <a:rPr lang="en-US" sz="1200" dirty="0"/>
              <a:t>Source: Wikipedia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3A7A3DE-08D7-B48D-7AF1-83E3C0372968}"/>
              </a:ext>
            </a:extLst>
          </p:cNvPr>
          <p:cNvSpPr/>
          <p:nvPr/>
        </p:nvSpPr>
        <p:spPr>
          <a:xfrm>
            <a:off x="9550866" y="681036"/>
            <a:ext cx="1992385" cy="669591"/>
          </a:xfrm>
          <a:prstGeom prst="wedgeRoundRectCallout">
            <a:avLst>
              <a:gd name="adj1" fmla="val -29465"/>
              <a:gd name="adj2" fmla="val 18516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The number of randomly sampled points is proportional to the area.</a:t>
            </a:r>
          </a:p>
        </p:txBody>
      </p: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69BE52-795C-043C-CCA6-287BC2A4D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89223-75A8-17BF-92B9-9328E92A3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state values by sampling with a given policy.</a:t>
            </a:r>
          </a:p>
        </p:txBody>
      </p:sp>
    </p:spTree>
    <p:extLst>
      <p:ext uri="{BB962C8B-B14F-4D97-AF65-F5344CB8AC3E}">
        <p14:creationId xmlns:p14="http://schemas.microsoft.com/office/powerpoint/2010/main" val="3542963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D8304-5614-6981-E0C5-60E8EDCDF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Value Function Approximation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FE2CD6-117F-29DD-2959-E24BE0DFA07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41477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Use the sample-average method to approximate the expectation in: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br>
                  <a:rPr lang="en-US" i="1" dirty="0">
                    <a:latin typeface="Cambria Math" panose="02040503050406030204" pitchFamily="18" charset="0"/>
                  </a:rPr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The average return of many sampled sequences (called episodes or trajectories) starting at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and following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converges to the true expectation as the number of samples increases.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Properties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sz="2600" b="1" dirty="0"/>
                  <a:t>High Variance</a:t>
                </a:r>
                <a:r>
                  <a:rPr lang="en-US" sz="2600" dirty="0"/>
                  <a:t>: Sampling a single episode return has</a:t>
                </a:r>
                <a:r>
                  <a:rPr lang="en-US" sz="2600" b="1" dirty="0"/>
                  <a:t> </a:t>
                </a:r>
                <a:r>
                  <a:rPr lang="en-US" sz="2600" dirty="0"/>
                  <a:t>high variance since it contains the randomness over the whole sampled episode. Averaging over many sampled returns reduces variance.</a:t>
                </a:r>
              </a:p>
              <a:p>
                <a:pPr lvl="1"/>
                <a:r>
                  <a:rPr lang="en-US" sz="2600" b="1" dirty="0"/>
                  <a:t>Unbiased</a:t>
                </a:r>
                <a:r>
                  <a:rPr lang="en-US" sz="2600" dirty="0"/>
                  <a:t>: The sample-average method provides an unbiased estimate (is on average correct) and thus converges for large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600" dirty="0"/>
                  <a:t>.</a:t>
                </a:r>
              </a:p>
              <a:p>
                <a:pPr lvl="1"/>
                <a:r>
                  <a:rPr lang="en-US" sz="2600" b="1" dirty="0"/>
                  <a:t>Not a true online method</a:t>
                </a:r>
                <a:r>
                  <a:rPr lang="en-US" sz="2600" dirty="0"/>
                  <a:t>: This methods needs to sample whole episodes before any calculation can be done. It is not a true step-by-step online method!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FE2CD6-117F-29DD-2959-E24BE0DFA0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41477"/>
              </a:xfrm>
              <a:blipFill>
                <a:blip r:embed="rId2"/>
                <a:stretch>
                  <a:fillRect l="-406" t="-1850" r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47441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DF6F97-103E-18B6-D51A-B1397057EA6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MC Prediction: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DF6F97-103E-18B6-D51A-B1397057EA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BAB409-1629-3E3D-C6F3-95E5076FB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4198"/>
            <a:ext cx="7808892" cy="1720144"/>
          </a:xfrm>
        </p:spPr>
        <p:txBody>
          <a:bodyPr>
            <a:normAutofit fontScale="85000" lnSpcReduction="10000"/>
          </a:bodyPr>
          <a:lstStyle/>
          <a:p>
            <a:r>
              <a:rPr lang="en-US" b="1" dirty="0"/>
              <a:t>Idea: </a:t>
            </a:r>
            <a:r>
              <a:rPr lang="en-US" dirty="0"/>
              <a:t>We can update all state values along the episode.</a:t>
            </a:r>
            <a:endParaRPr lang="en-US" b="1" dirty="0"/>
          </a:p>
          <a:p>
            <a:r>
              <a:rPr lang="en-US" b="1" dirty="0"/>
              <a:t>First-visit</a:t>
            </a:r>
            <a:r>
              <a:rPr lang="en-US" dirty="0"/>
              <a:t>: Using the return only for the first visit of a state in the episode ensures that the sampled returns are </a:t>
            </a:r>
            <a:r>
              <a:rPr lang="en-US" dirty="0" err="1"/>
              <a:t>i.i.d.</a:t>
            </a:r>
            <a:r>
              <a:rPr lang="en-US" dirty="0"/>
              <a:t> distributed (not dependent on each other) and we get an </a:t>
            </a:r>
            <a:r>
              <a:rPr lang="en-US" b="1" dirty="0"/>
              <a:t>unbiased</a:t>
            </a:r>
            <a:r>
              <a:rPr lang="en-US" dirty="0"/>
              <a:t> estimate.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3AA409A-0E38-4BF6-9AF1-1A02E65EE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856" y="2844343"/>
            <a:ext cx="7808892" cy="3534014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F2DD0D71-F2B2-BEC4-25BD-FAAF319BD235}"/>
              </a:ext>
            </a:extLst>
          </p:cNvPr>
          <p:cNvSpPr/>
          <p:nvPr/>
        </p:nvSpPr>
        <p:spPr>
          <a:xfrm>
            <a:off x="5611456" y="4841807"/>
            <a:ext cx="2899175" cy="195743"/>
          </a:xfrm>
          <a:prstGeom prst="wedgeRoundRectCallout">
            <a:avLst>
              <a:gd name="adj1" fmla="val -50798"/>
              <a:gd name="adj2" fmla="val 1035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Calculate remaining returns in reverse order!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73AD72F-8E95-D55F-A9F4-C0F86BA548C2}"/>
              </a:ext>
            </a:extLst>
          </p:cNvPr>
          <p:cNvGrpSpPr/>
          <p:nvPr/>
        </p:nvGrpSpPr>
        <p:grpSpPr>
          <a:xfrm>
            <a:off x="8647092" y="1089545"/>
            <a:ext cx="3395272" cy="2677614"/>
            <a:chOff x="8647092" y="860591"/>
            <a:chExt cx="3395272" cy="2677614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7491103-8D73-5D3D-2433-794079801876}"/>
                </a:ext>
              </a:extLst>
            </p:cNvPr>
            <p:cNvGrpSpPr/>
            <p:nvPr/>
          </p:nvGrpSpPr>
          <p:grpSpPr>
            <a:xfrm>
              <a:off x="8647092" y="860591"/>
              <a:ext cx="3395272" cy="1938707"/>
              <a:chOff x="9222954" y="2685293"/>
              <a:chExt cx="2700748" cy="1700680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CA2481C-8ED4-DB1B-21D6-675BE4F2BE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74345" y="3490076"/>
                <a:ext cx="226157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Right Brace 7">
                <a:extLst>
                  <a:ext uri="{FF2B5EF4-FFF2-40B4-BE49-F238E27FC236}">
                    <a16:creationId xmlns:a16="http://schemas.microsoft.com/office/drawing/2014/main" id="{21DEF1FA-AFA5-27CF-87FA-8DDF794C57A4}"/>
                  </a:ext>
                </a:extLst>
              </p:cNvPr>
              <p:cNvSpPr/>
              <p:nvPr/>
            </p:nvSpPr>
            <p:spPr>
              <a:xfrm rot="5400000">
                <a:off x="10764997" y="2901526"/>
                <a:ext cx="251570" cy="1539123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/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nary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B452B02-D962-94A5-1424-E76206AB059D}"/>
                  </a:ext>
                </a:extLst>
              </p:cNvPr>
              <p:cNvSpPr txBox="1"/>
              <p:nvPr/>
            </p:nvSpPr>
            <p:spPr>
              <a:xfrm>
                <a:off x="9719863" y="2685293"/>
                <a:ext cx="1570534" cy="3239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Episode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Arrow: Right 9">
                  <a:extLst>
                    <a:ext uri="{FF2B5EF4-FFF2-40B4-BE49-F238E27FC236}">
                      <a16:creationId xmlns:a16="http://schemas.microsoft.com/office/drawing/2014/main" id="{8A699FD2-C753-722C-19C4-5AACDD9E28F9}"/>
                    </a:ext>
                  </a:extLst>
                </p:cNvPr>
                <p:cNvSpPr/>
                <p:nvPr/>
              </p:nvSpPr>
              <p:spPr>
                <a:xfrm flipH="1">
                  <a:off x="8837415" y="2832017"/>
                  <a:ext cx="2873866" cy="706188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/>
                    <a:t>Calculate the return following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US" sz="1200" dirty="0"/>
                    <a:t> </a:t>
                  </a:r>
                  <a:br>
                    <a:rPr lang="en-US" sz="1200" dirty="0"/>
                  </a:br>
                  <a:r>
                    <a:rPr lang="en-US" sz="1200" dirty="0"/>
                    <a:t>for all states in the episode</a:t>
                  </a:r>
                </a:p>
              </p:txBody>
            </p:sp>
          </mc:Choice>
          <mc:Fallback xmlns="">
            <p:sp>
              <p:nvSpPr>
                <p:cNvPr id="10" name="Arrow: Right 9">
                  <a:extLst>
                    <a:ext uri="{FF2B5EF4-FFF2-40B4-BE49-F238E27FC236}">
                      <a16:creationId xmlns:a16="http://schemas.microsoft.com/office/drawing/2014/main" id="{8A699FD2-C753-722C-19C4-5AACDD9E28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8837415" y="2832017"/>
                  <a:ext cx="2873866" cy="706188"/>
                </a:xfrm>
                <a:prstGeom prst="rightArrow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0271B4BA-988D-9708-7511-B6936ED95186}"/>
              </a:ext>
            </a:extLst>
          </p:cNvPr>
          <p:cNvSpPr/>
          <p:nvPr/>
        </p:nvSpPr>
        <p:spPr>
          <a:xfrm>
            <a:off x="5519550" y="5810884"/>
            <a:ext cx="1995181" cy="195743"/>
          </a:xfrm>
          <a:prstGeom prst="wedgeRoundRectCallout">
            <a:avLst>
              <a:gd name="adj1" fmla="val -87182"/>
              <a:gd name="adj2" fmla="val -16394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Uses only the first visit.</a:t>
            </a:r>
          </a:p>
        </p:txBody>
      </p:sp>
      <p:sp>
        <p:nvSpPr>
          <p:cNvPr id="17" name="Speech Bubble: Rectangle with Corners Rounded 16">
            <a:extLst>
              <a:ext uri="{FF2B5EF4-FFF2-40B4-BE49-F238E27FC236}">
                <a16:creationId xmlns:a16="http://schemas.microsoft.com/office/drawing/2014/main" id="{91E56AD5-2877-5EE2-9F72-64538D60CCC0}"/>
              </a:ext>
            </a:extLst>
          </p:cNvPr>
          <p:cNvSpPr/>
          <p:nvPr/>
        </p:nvSpPr>
        <p:spPr>
          <a:xfrm>
            <a:off x="5098409" y="4146491"/>
            <a:ext cx="2569060" cy="308649"/>
          </a:xfrm>
          <a:prstGeom prst="wedgeRoundRectCallout">
            <a:avLst>
              <a:gd name="adj1" fmla="val -50798"/>
              <a:gd name="adj2" fmla="val 1035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We observe a sequence of rewards</a:t>
            </a:r>
          </a:p>
        </p:txBody>
      </p:sp>
      <p:sp>
        <p:nvSpPr>
          <p:cNvPr id="18" name="Speech Bubble: Rectangle with Corners Rounded 17">
            <a:extLst>
              <a:ext uri="{FF2B5EF4-FFF2-40B4-BE49-F238E27FC236}">
                <a16:creationId xmlns:a16="http://schemas.microsoft.com/office/drawing/2014/main" id="{2B6082C4-7D27-71D9-3992-406A664288E7}"/>
              </a:ext>
            </a:extLst>
          </p:cNvPr>
          <p:cNvSpPr/>
          <p:nvPr/>
        </p:nvSpPr>
        <p:spPr>
          <a:xfrm>
            <a:off x="5403557" y="6215333"/>
            <a:ext cx="4818965" cy="421024"/>
          </a:xfrm>
          <a:prstGeom prst="wedgeRoundRectCallout">
            <a:avLst>
              <a:gd name="adj1" fmla="val -68252"/>
              <a:gd name="adj2" fmla="val -9487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This sample average approximates the expected return. </a:t>
            </a:r>
          </a:p>
          <a:p>
            <a:pPr algn="ctr"/>
            <a:r>
              <a:rPr lang="en-US" sz="1100" b="1" dirty="0"/>
              <a:t>Note</a:t>
            </a:r>
            <a:r>
              <a:rPr lang="en-US" sz="1100" dirty="0"/>
              <a:t>: This can be implemented with incremental updating of the averages!</a:t>
            </a:r>
          </a:p>
        </p:txBody>
      </p:sp>
    </p:spTree>
    <p:extLst>
      <p:ext uri="{BB962C8B-B14F-4D97-AF65-F5344CB8AC3E}">
        <p14:creationId xmlns:p14="http://schemas.microsoft.com/office/powerpoint/2010/main" val="3000484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19E24D1-8C10-D360-A975-395DD150B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F5D3AF-E874-2E5E-C9AF-8FCA74423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using it to sample the data.</a:t>
            </a:r>
          </a:p>
        </p:txBody>
      </p:sp>
    </p:spTree>
    <p:extLst>
      <p:ext uri="{BB962C8B-B14F-4D97-AF65-F5344CB8AC3E}">
        <p14:creationId xmlns:p14="http://schemas.microsoft.com/office/powerpoint/2010/main" val="21284277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19699-7616-F15A-0A6C-D07DB4DC6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MC Control as Generalized Policy Iteration (GPI)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397330"/>
                <a:ext cx="8015108" cy="477963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Approx.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using ideas from GPI with a Q-function estimated using MC prediction.</a:t>
                </a:r>
              </a:p>
              <a:p>
                <a:endParaRPr lang="en-US" dirty="0"/>
              </a:p>
              <a:p>
                <a:r>
                  <a:rPr lang="en-US" dirty="0"/>
                  <a:t>MC policy iteration: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i="1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Process: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Start with an arbitrary policy.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b="1" dirty="0"/>
                  <a:t>Evaluation</a:t>
                </a:r>
                <a:r>
                  <a:rPr lang="en-US" dirty="0"/>
                  <a:t>: Update MC estimate by sampling some episodes using the current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b="1" dirty="0"/>
                  <a:t>Improvement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greedy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means 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  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US" b="0" dirty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Repeat evaluation and improvement till the policy does not change (= optimal policy is reached).</a:t>
                </a:r>
                <a:endParaRPr lang="en-US" b="0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397330"/>
                <a:ext cx="8015108" cy="4779633"/>
              </a:xfrm>
              <a:blipFill>
                <a:blip r:embed="rId2"/>
                <a:stretch>
                  <a:fillRect l="-1065" t="-2806" b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F8A7C185-8BEF-1CF9-4AA9-A138AA4C6A8E}"/>
              </a:ext>
            </a:extLst>
          </p:cNvPr>
          <p:cNvGrpSpPr/>
          <p:nvPr/>
        </p:nvGrpSpPr>
        <p:grpSpPr>
          <a:xfrm>
            <a:off x="8778373" y="1597639"/>
            <a:ext cx="3001301" cy="2828670"/>
            <a:chOff x="8928790" y="218543"/>
            <a:chExt cx="3001301" cy="2828670"/>
          </a:xfrm>
        </p:grpSpPr>
        <p:pic>
          <p:nvPicPr>
            <p:cNvPr id="8" name="Content Placeholder 4">
              <a:extLst>
                <a:ext uri="{FF2B5EF4-FFF2-40B4-BE49-F238E27FC236}">
                  <a16:creationId xmlns:a16="http://schemas.microsoft.com/office/drawing/2014/main" id="{F3DB8754-B65E-E3AC-7CAD-78AE15FCE1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990601" y="218543"/>
              <a:ext cx="2936007" cy="2828670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A83EAAE-FF82-7D38-5799-9A05D9B7919F}"/>
                </a:ext>
              </a:extLst>
            </p:cNvPr>
            <p:cNvSpPr txBox="1"/>
            <p:nvPr/>
          </p:nvSpPr>
          <p:spPr>
            <a:xfrm>
              <a:off x="10107262" y="1397330"/>
              <a:ext cx="558412" cy="36933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GPI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0B7AC75-3F86-B31F-1C0A-54A88A97EE28}"/>
                </a:ext>
              </a:extLst>
            </p:cNvPr>
            <p:cNvSpPr/>
            <p:nvPr/>
          </p:nvSpPr>
          <p:spPr>
            <a:xfrm>
              <a:off x="8928790" y="218543"/>
              <a:ext cx="3001301" cy="2727081"/>
            </a:xfrm>
            <a:prstGeom prst="rect">
              <a:avLst/>
            </a:prstGeom>
            <a:noFill/>
            <a:ln w="2857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7E0845A-1386-416F-E3F0-5D01868F4839}"/>
              </a:ext>
            </a:extLst>
          </p:cNvPr>
          <p:cNvSpPr txBox="1"/>
          <p:nvPr/>
        </p:nvSpPr>
        <p:spPr>
          <a:xfrm>
            <a:off x="9215155" y="1262762"/>
            <a:ext cx="21991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3"/>
                </a:solidFill>
              </a:rPr>
              <a:t>MC Prediction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FE2971C-E301-9EA9-FB5C-DB042085DC29}"/>
              </a:ext>
            </a:extLst>
          </p:cNvPr>
          <p:cNvCxnSpPr/>
          <p:nvPr/>
        </p:nvCxnSpPr>
        <p:spPr>
          <a:xfrm>
            <a:off x="9531752" y="1736203"/>
            <a:ext cx="1423686" cy="115746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9CA51BDB-8A14-06A5-54B3-854AB5BD96C4}"/>
              </a:ext>
            </a:extLst>
          </p:cNvPr>
          <p:cNvSpPr/>
          <p:nvPr/>
        </p:nvSpPr>
        <p:spPr>
          <a:xfrm>
            <a:off x="9164972" y="4426309"/>
            <a:ext cx="2327945" cy="1550847"/>
          </a:xfrm>
          <a:prstGeom prst="wedgeRoundRectCallout">
            <a:avLst>
              <a:gd name="adj1" fmla="val -15700"/>
              <a:gd name="adj2" fmla="val -5785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The </a:t>
            </a:r>
            <a:r>
              <a:rPr lang="en-US" sz="1600" b="1" dirty="0"/>
              <a:t>Policy Improvement Theorem </a:t>
            </a:r>
            <a:r>
              <a:rPr lang="en-US" sz="1600" dirty="0"/>
              <a:t>guarantees convergence to the optimal policy</a:t>
            </a:r>
          </a:p>
        </p:txBody>
      </p:sp>
    </p:spTree>
    <p:extLst>
      <p:ext uri="{BB962C8B-B14F-4D97-AF65-F5344CB8AC3E}">
        <p14:creationId xmlns:p14="http://schemas.microsoft.com/office/powerpoint/2010/main" val="971467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0090D-4EE5-1B7F-A3DC-4FF28643D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Remember: Policy Improvement Theorem and Greedy Policies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973897"/>
                <a:ext cx="10515600" cy="3401531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+ Applying greedy policy improvement (best action in each state)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Requirements for convergence:</a:t>
                </a:r>
              </a:p>
              <a:p>
                <a:pPr lvl="1"/>
                <a:r>
                  <a:rPr lang="en-US" b="1" dirty="0"/>
                  <a:t>Unbiased estimates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First-visit MC prediction is unbiased.</a:t>
                </a:r>
              </a:p>
              <a:p>
                <a:pPr lvl="1"/>
                <a:r>
                  <a:rPr lang="en-US" b="1" dirty="0"/>
                  <a:t>Perfect policy evaluation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many episodes before each policy update. This is not practical!</a:t>
                </a:r>
              </a:p>
              <a:p>
                <a:pPr lvl="1"/>
                <a:r>
                  <a:rPr lang="en-US" b="1" dirty="0"/>
                  <a:t>Complete exploration: </a:t>
                </a:r>
                <a:r>
                  <a:rPr lang="en-US" dirty="0"/>
                  <a:t>All state/action pairs are tried. We need a solution for this!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The effect of imperfect policy evaluation</a:t>
                </a:r>
              </a:p>
              <a:p>
                <a:pPr lvl="1"/>
                <a:r>
                  <a:rPr lang="en-US" dirty="0"/>
                  <a:t>Individual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estimates will be wrong but unbiased return estimates will produce in expectation (on average) the correct estimate.</a:t>
                </a:r>
              </a:p>
              <a:p>
                <a:pPr lvl="1"/>
                <a:r>
                  <a:rPr lang="en-US" dirty="0"/>
                  <a:t>Policy improvement sometimes may pick the wrong action, but </a:t>
                </a:r>
                <a:r>
                  <a:rPr lang="en-US" b="1" dirty="0"/>
                  <a:t>on average favors actions with true higher values.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973897"/>
                <a:ext cx="10515600" cy="3401531"/>
              </a:xfrm>
              <a:blipFill>
                <a:blip r:embed="rId2"/>
                <a:stretch>
                  <a:fillRect l="-638" t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91D60D6-EF00-ED4F-82D8-8E5EC0B32D32}"/>
                  </a:ext>
                </a:extLst>
              </p:cNvPr>
              <p:cNvSpPr txBox="1"/>
              <p:nvPr/>
            </p:nvSpPr>
            <p:spPr>
              <a:xfrm>
                <a:off x="838200" y="1219155"/>
                <a:ext cx="10846964" cy="1512978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/>
                  <a:t>Policy Improvement Theorem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  ∀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is the same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but has a better action for at least one state,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is strictly better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91D60D6-EF00-ED4F-82D8-8E5EC0B32D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219155"/>
                <a:ext cx="10846964" cy="1512978"/>
              </a:xfrm>
              <a:prstGeom prst="rect">
                <a:avLst/>
              </a:prstGeom>
              <a:blipFill>
                <a:blip r:embed="rId3"/>
                <a:stretch>
                  <a:fillRect l="-449" t="-1594" b="-51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8400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AB7F5-DC53-0B92-5EC4-6EE0D3EC5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87CEA-5458-FD9C-AEE9-7C8998BD7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Prediction to Estimate Q-Values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00440" y="1380579"/>
                <a:ext cx="7758936" cy="4779633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0" dirty="0"/>
                  <a:t>MC prediction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].</m:t>
                    </m:r>
                  </m:oMath>
                </a14:m>
                <a:br>
                  <a:rPr lang="en-US" b="0" dirty="0"/>
                </a:br>
                <a:endParaRPr lang="en-US" b="0" dirty="0"/>
              </a:p>
              <a:p>
                <a:r>
                  <a:rPr lang="en-US" dirty="0"/>
                  <a:t>Same as</a:t>
                </a:r>
                <a:r>
                  <a:rPr lang="en-US" b="0" dirty="0"/>
                  <a:t>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just record and average returns for action-state pairs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Unbiased samples lead to convergence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after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episodes.</a:t>
                </a:r>
              </a:p>
              <a:p>
                <a:endParaRPr lang="en-US" b="1" dirty="0"/>
              </a:p>
              <a:p>
                <a:r>
                  <a:rPr lang="en-US" b="1" dirty="0"/>
                  <a:t>Exploration issue</a:t>
                </a:r>
                <a:r>
                  <a:rPr lang="en-US" dirty="0"/>
                  <a:t>: Many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-pairs that are important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may never be visited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To get Q-Value estimates, we need to keep exploring! 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Options to guarantee that all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-pairs are sampled 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Exploring starts</a:t>
                </a:r>
                <a:r>
                  <a:rPr lang="en-US" dirty="0"/>
                  <a:t>: choose the starting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for each episode randomly.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Only consider </a:t>
                </a:r>
                <a:r>
                  <a:rPr lang="en-US" b="1" dirty="0"/>
                  <a:t>soft policies </a:t>
                </a:r>
                <a:r>
                  <a:rPr lang="en-US" dirty="0"/>
                  <a:t>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-greedy. </a:t>
                </a:r>
                <a:br>
                  <a:rPr lang="en-US" dirty="0"/>
                </a:br>
                <a:r>
                  <a:rPr lang="en-US" dirty="0"/>
                  <a:t>Remember: Soft policies have non-zero probabilities for all actions so they will explore.</a:t>
                </a:r>
              </a:p>
              <a:p>
                <a:pPr marL="1371600" lvl="2" indent="-457200">
                  <a:buFont typeface="+mj-lt"/>
                  <a:buAutoNum type="alphaLcParenR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00440" y="1380579"/>
                <a:ext cx="7758936" cy="4779633"/>
              </a:xfrm>
              <a:blipFill>
                <a:blip r:embed="rId2"/>
                <a:stretch>
                  <a:fillRect l="-707" t="-21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A8E25886-C1A1-896D-CA44-7596F261C8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761" b="11508"/>
          <a:stretch>
            <a:fillRect/>
          </a:stretch>
        </p:blipFill>
        <p:spPr bwMode="auto">
          <a:xfrm>
            <a:off x="8769606" y="1380579"/>
            <a:ext cx="2766306" cy="2092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9E04EF-715D-76FC-468F-23217F2D5AA4}"/>
              </a:ext>
            </a:extLst>
          </p:cNvPr>
          <p:cNvSpPr txBox="1"/>
          <p:nvPr/>
        </p:nvSpPr>
        <p:spPr>
          <a:xfrm>
            <a:off x="9581367" y="3890349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Q-Table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8EFA979-BF04-489A-BB6E-9C8BA43B71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0271369"/>
                  </p:ext>
                </p:extLst>
              </p:nvPr>
            </p:nvGraphicFramePr>
            <p:xfrm>
              <a:off x="9084039" y="4259681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716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839449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305774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1828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8EFA979-BF04-489A-BB6E-9C8BA43B71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0271369"/>
                  </p:ext>
                </p:extLst>
              </p:nvPr>
            </p:nvGraphicFramePr>
            <p:xfrm>
              <a:off x="9084039" y="4259681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716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839449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305774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176" t="-2222" r="-420000" b="-5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62319" t="-2222" r="-158696" b="-5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4673" t="-2222" r="-2336" b="-52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Arrow: Down 6">
            <a:extLst>
              <a:ext uri="{FF2B5EF4-FFF2-40B4-BE49-F238E27FC236}">
                <a16:creationId xmlns:a16="http://schemas.microsoft.com/office/drawing/2014/main" id="{76FE0BB7-8A76-6D81-7A8F-A58771468094}"/>
              </a:ext>
            </a:extLst>
          </p:cNvPr>
          <p:cNvSpPr/>
          <p:nvPr/>
        </p:nvSpPr>
        <p:spPr>
          <a:xfrm>
            <a:off x="10223292" y="3282846"/>
            <a:ext cx="397239" cy="607503"/>
          </a:xfrm>
          <a:prstGeom prst="down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637A3C7-9787-B245-847A-66EE87C285C2}"/>
              </a:ext>
            </a:extLst>
          </p:cNvPr>
          <p:cNvGrpSpPr/>
          <p:nvPr/>
        </p:nvGrpSpPr>
        <p:grpSpPr>
          <a:xfrm>
            <a:off x="9077115" y="2532250"/>
            <a:ext cx="776829" cy="814355"/>
            <a:chOff x="9077115" y="2532250"/>
            <a:chExt cx="776829" cy="814355"/>
          </a:xfrm>
        </p:grpSpPr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5C12E522-80E2-4861-90FA-1A5EEE6F62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01544" y="2887095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73688F91-46E8-7014-D581-4E77B99DA2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455985" y="3212143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2361CF96-06F0-E613-3058-6524CF1E23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9455985" y="2550188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D02ADD85-B7FA-289A-4408-E2DEDA8416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>
              <a:off x="9077115" y="2877493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2684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5C9D4-9246-174B-3F3F-6D460A48B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70F347B-4EE9-30E8-00B5-6217BDD26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Control with Exploring Starts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DAFEE9-1053-F86D-705F-36C076B951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Explore using episodes starting with random states/</a:t>
            </a:r>
            <a:r>
              <a:rPr lang="en-US"/>
              <a:t>action combinations.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43100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B97A11FF-8820-76B6-0A7C-A2E076B1C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69" y="1124198"/>
            <a:ext cx="7808892" cy="35340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8348361-4CE7-7B20-B8C4-E9B2E517C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MC Control with Exploring Starts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B0E9B77-552E-54B7-59E3-0A167A5B53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899" t="2118"/>
          <a:stretch>
            <a:fillRect/>
          </a:stretch>
        </p:blipFill>
        <p:spPr>
          <a:xfrm>
            <a:off x="3649211" y="2172749"/>
            <a:ext cx="8326714" cy="45970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213044D-79FF-B1E8-D942-2CC19F58E803}"/>
                  </a:ext>
                </a:extLst>
              </p:cNvPr>
              <p:cNvSpPr/>
              <p:nvPr/>
            </p:nvSpPr>
            <p:spPr>
              <a:xfrm>
                <a:off x="9358270" y="2779867"/>
                <a:ext cx="1610108" cy="654570"/>
              </a:xfrm>
              <a:prstGeom prst="wedgeRoundRectCallout">
                <a:avLst>
                  <a:gd name="adj1" fmla="val -87817"/>
                  <a:gd name="adj2" fmla="val 317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600" dirty="0"/>
                  <a:t>-Values instead of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213044D-79FF-B1E8-D942-2CC19F58E8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8270" y="2779867"/>
                <a:ext cx="1610108" cy="654570"/>
              </a:xfrm>
              <a:prstGeom prst="wedgeRoundRectCallout">
                <a:avLst>
                  <a:gd name="adj1" fmla="val -87817"/>
                  <a:gd name="adj2" fmla="val 31741"/>
                  <a:gd name="adj3" fmla="val 16667"/>
                </a:avLst>
              </a:prstGeom>
              <a:blipFill>
                <a:blip r:embed="rId4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89874BD-7F62-F3BE-DCA1-380FA9EC2FCC}"/>
              </a:ext>
            </a:extLst>
          </p:cNvPr>
          <p:cNvSpPr/>
          <p:nvPr/>
        </p:nvSpPr>
        <p:spPr>
          <a:xfrm>
            <a:off x="9358270" y="5874249"/>
            <a:ext cx="2154176" cy="387403"/>
          </a:xfrm>
          <a:prstGeom prst="wedgeRoundRectCallout">
            <a:avLst>
              <a:gd name="adj1" fmla="val -137874"/>
              <a:gd name="adj2" fmla="val 4353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Greedy policy update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FDD0AFEB-6629-81BE-A1DE-BFD50DCFE1B1}"/>
              </a:ext>
            </a:extLst>
          </p:cNvPr>
          <p:cNvSpPr/>
          <p:nvPr/>
        </p:nvSpPr>
        <p:spPr>
          <a:xfrm>
            <a:off x="9421217" y="3697846"/>
            <a:ext cx="1610108" cy="387403"/>
          </a:xfrm>
          <a:prstGeom prst="wedgeRoundRectCallout">
            <a:avLst>
              <a:gd name="adj1" fmla="val -200782"/>
              <a:gd name="adj2" fmla="val 5768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Exploring starts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5EE5C4CD-4DC6-9369-1C42-9B8DBED03473}"/>
              </a:ext>
            </a:extLst>
          </p:cNvPr>
          <p:cNvSpPr/>
          <p:nvPr/>
        </p:nvSpPr>
        <p:spPr>
          <a:xfrm rot="16930409">
            <a:off x="3124899" y="2972773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D4EE33C7-FED0-6D11-1D5C-56EE1D4CABDA}"/>
              </a:ext>
            </a:extLst>
          </p:cNvPr>
          <p:cNvSpPr/>
          <p:nvPr/>
        </p:nvSpPr>
        <p:spPr>
          <a:xfrm>
            <a:off x="8274769" y="2476061"/>
            <a:ext cx="899211" cy="521972"/>
          </a:xfrm>
          <a:prstGeom prst="wedgeRoundRectCallout">
            <a:avLst>
              <a:gd name="adj1" fmla="val -96152"/>
              <a:gd name="adj2" fmla="val 5615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Learn policy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6CE2DCE9-C0A3-622A-0091-360C7A3CC0AE}"/>
              </a:ext>
            </a:extLst>
          </p:cNvPr>
          <p:cNvSpPr/>
          <p:nvPr/>
        </p:nvSpPr>
        <p:spPr>
          <a:xfrm>
            <a:off x="9596102" y="4940098"/>
            <a:ext cx="1610108" cy="387403"/>
          </a:xfrm>
          <a:prstGeom prst="wedgeRoundRectCallout">
            <a:avLst>
              <a:gd name="adj1" fmla="val -200782"/>
              <a:gd name="adj2" fmla="val 5768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First-visit</a:t>
            </a: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78137891-05BC-12B0-15F8-4F0F387FFF6E}"/>
              </a:ext>
            </a:extLst>
          </p:cNvPr>
          <p:cNvSpPr/>
          <p:nvPr/>
        </p:nvSpPr>
        <p:spPr>
          <a:xfrm>
            <a:off x="9146496" y="930554"/>
            <a:ext cx="2059714" cy="891265"/>
          </a:xfrm>
          <a:prstGeom prst="wedgeRoundRectCallout">
            <a:avLst>
              <a:gd name="adj1" fmla="val -111686"/>
              <a:gd name="adj2" fmla="val -5155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So all state-action pairs are tired. </a:t>
            </a:r>
          </a:p>
        </p:txBody>
      </p:sp>
    </p:spTree>
    <p:extLst>
      <p:ext uri="{BB962C8B-B14F-4D97-AF65-F5344CB8AC3E}">
        <p14:creationId xmlns:p14="http://schemas.microsoft.com/office/powerpoint/2010/main" val="28002700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30CFB0-D2B7-437F-8981-207DBA2A8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Code…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F9353D-E2F6-5C2D-E559-4D7DA584D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5094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7B18F-AF51-E791-9C62-EEAA55F75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Control without Exploring Starts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EFD2A1-20FF-E2C2-87CE-EFFEE51F9F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The environment needs to let us start episodes at different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at will. This is fine for simulations, but hard in the real world.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We need exploration for convergence: </a:t>
                </a:r>
                <a:r>
                  <a:rPr lang="en-US" dirty="0"/>
                  <a:t>We need a guarantee that all (reachable) state-action combinations are tried.</a:t>
                </a:r>
              </a:p>
              <a:p>
                <a:endParaRPr lang="en-US" dirty="0"/>
              </a:p>
              <a:p>
                <a:r>
                  <a:rPr lang="en-US" dirty="0"/>
                  <a:t>Options: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On-policy control</a:t>
                </a:r>
                <a:r>
                  <a:rPr lang="en-US" dirty="0"/>
                  <a:t>: learn a </a:t>
                </a:r>
                <a:r>
                  <a:rPr lang="en-US" b="1" dirty="0"/>
                  <a:t>soft policy </a:t>
                </a:r>
                <a:r>
                  <a:rPr lang="en-US" dirty="0"/>
                  <a:t>instead of the optimal policy.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Off-policy control</a:t>
                </a:r>
                <a:r>
                  <a:rPr lang="en-US" dirty="0"/>
                  <a:t>: use a soft </a:t>
                </a:r>
                <a:r>
                  <a:rPr lang="en-US" b="1" dirty="0"/>
                  <a:t>behavior policy </a:t>
                </a:r>
                <a:r>
                  <a:rPr lang="en-US" dirty="0"/>
                  <a:t>for sampling that tries all state-action pairs, but learn the optimal, deterministic </a:t>
                </a:r>
                <a:r>
                  <a:rPr lang="en-US" b="1" dirty="0"/>
                  <a:t>target policy</a:t>
                </a:r>
                <a:r>
                  <a:rPr lang="en-US" dirty="0"/>
                  <a:t>.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EFD2A1-20FF-E2C2-87CE-EFFEE51F9F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15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35212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F5B12-081D-E1A8-2074-F24D7983F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5D340A-8717-DDE3-8CB9-FC1AAF511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Monte Carlo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83536F-8662-B3C1-520C-4AD4B6B42D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Explore using a soft policy</a:t>
            </a:r>
          </a:p>
        </p:txBody>
      </p:sp>
    </p:spTree>
    <p:extLst>
      <p:ext uri="{BB962C8B-B14F-4D97-AF65-F5344CB8AC3E}">
        <p14:creationId xmlns:p14="http://schemas.microsoft.com/office/powerpoint/2010/main" val="23539206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7482D-FBE8-E8AF-A0D6-5E553AFB0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Exploration with On-Policy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824046-78CD-3868-7C6F-2A610ED245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9349"/>
            <a:ext cx="10515600" cy="498672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On-policy methods learn the policy they follow.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Dilemma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We need behavior (follow a policy) that explores. Such a policy is called a soft policy.</a:t>
            </a:r>
          </a:p>
          <a:p>
            <a:pPr lvl="1"/>
            <a:r>
              <a:rPr lang="en-US" dirty="0"/>
              <a:t>On-policy methods can only learn soft policies, but we know that MDPs have an optimal deterministic policy.</a:t>
            </a:r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Optimality issue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We can convert a soft policy into a greedy deterministic policy by always picking the action with the highest probability. </a:t>
            </a:r>
          </a:p>
          <a:p>
            <a:pPr lvl="1"/>
            <a:r>
              <a:rPr lang="en-US" dirty="0"/>
              <a:t>This is called the greedy policy. </a:t>
            </a:r>
          </a:p>
          <a:p>
            <a:pPr lvl="1"/>
            <a:r>
              <a:rPr lang="en-US" dirty="0"/>
              <a:t>The greedy policy may not be optimal!</a:t>
            </a:r>
          </a:p>
        </p:txBody>
      </p:sp>
    </p:spTree>
    <p:extLst>
      <p:ext uri="{BB962C8B-B14F-4D97-AF65-F5344CB8AC3E}">
        <p14:creationId xmlns:p14="http://schemas.microsoft.com/office/powerpoint/2010/main" val="560506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22310-FA64-2841-526C-6FAEAF816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Soft Policies for Exploration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152891"/>
                <a:ext cx="10515600" cy="4024072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Soft policies are stochastic and used as behavior policies that guarantee exploration.</a:t>
                </a:r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Important Soft Policy Types: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-soft policy</a:t>
                </a:r>
                <a:r>
                  <a:rPr lang="en-US" dirty="0"/>
                  <a:t>: agent takes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a random action.</a:t>
                </a:r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)|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-greedy policy</a:t>
                </a:r>
                <a:r>
                  <a:rPr lang="en-US" dirty="0"/>
                  <a:t>: follows a greedy policy but chooses a random action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greedy action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)|</m:t>
                                  </m:r>
                                </m:den>
                              </m:f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                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greedy action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152891"/>
                <a:ext cx="10515600" cy="4024072"/>
              </a:xfrm>
              <a:blipFill>
                <a:blip r:embed="rId2"/>
                <a:stretch>
                  <a:fillRect l="-638" t="-2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A09823A-1BE2-0F8A-840C-956DA1A41B0C}"/>
                  </a:ext>
                </a:extLst>
              </p:cNvPr>
              <p:cNvSpPr txBox="1"/>
              <p:nvPr/>
            </p:nvSpPr>
            <p:spPr>
              <a:xfrm>
                <a:off x="4170985" y="1248099"/>
                <a:ext cx="3850029" cy="646331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Definition </a:t>
                </a:r>
                <a:r>
                  <a:rPr lang="en-US" dirty="0"/>
                  <a:t>: A policy is soft if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            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A09823A-1BE2-0F8A-840C-956DA1A41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0985" y="1248099"/>
                <a:ext cx="3850029" cy="646331"/>
              </a:xfrm>
              <a:prstGeom prst="rect">
                <a:avLst/>
              </a:prstGeom>
              <a:blipFill>
                <a:blip r:embed="rId3"/>
                <a:stretch>
                  <a:fillRect l="-1102" t="-36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57543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F9296D69-011E-18E3-493B-449C50867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1" y="1079779"/>
            <a:ext cx="6764650" cy="37429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CCE4376-2408-766E-C11B-2CB70FB9ED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Alg. On-Policy MC Control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-soft Policies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CCE4376-2408-766E-C11B-2CB70FB9ED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 t="-20161" r="-168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D02F365C-A50B-8950-7636-B2CF14BC8E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l="2189" t="2792"/>
          <a:stretch>
            <a:fillRect/>
          </a:stretch>
        </p:blipFill>
        <p:spPr>
          <a:xfrm>
            <a:off x="4316126" y="1613450"/>
            <a:ext cx="7289930" cy="4646532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3571F969-4B0D-E116-108F-D7C3445B56A8}"/>
              </a:ext>
            </a:extLst>
          </p:cNvPr>
          <p:cNvSpPr/>
          <p:nvPr/>
        </p:nvSpPr>
        <p:spPr>
          <a:xfrm>
            <a:off x="9065161" y="2117480"/>
            <a:ext cx="1287710" cy="503209"/>
          </a:xfrm>
          <a:prstGeom prst="wedgeRoundRectCallout">
            <a:avLst>
              <a:gd name="adj1" fmla="val -182071"/>
              <a:gd name="adj2" fmla="val 6469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Start with soft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32A8CF9-9E54-FAD2-0D3A-C2B653D9C9CB}"/>
                  </a:ext>
                </a:extLst>
              </p:cNvPr>
              <p:cNvSpPr/>
              <p:nvPr/>
            </p:nvSpPr>
            <p:spPr>
              <a:xfrm>
                <a:off x="9813707" y="5491254"/>
                <a:ext cx="1590502" cy="503209"/>
              </a:xfrm>
              <a:prstGeom prst="wedgeRoundRectCallout">
                <a:avLst>
                  <a:gd name="adj1" fmla="val -85291"/>
                  <a:gd name="adj2" fmla="val 219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Create </a:t>
                </a:r>
                <a:br>
                  <a:rPr lang="en-US" sz="1600" dirty="0"/>
                </a:b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policy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32A8CF9-9E54-FAD2-0D3A-C2B653D9C9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707" y="5491254"/>
                <a:ext cx="1590502" cy="503209"/>
              </a:xfrm>
              <a:prstGeom prst="wedgeRoundRectCallout">
                <a:avLst>
                  <a:gd name="adj1" fmla="val -85291"/>
                  <a:gd name="adj2" fmla="val 2192"/>
                  <a:gd name="adj3" fmla="val 16667"/>
                </a:avLst>
              </a:prstGeom>
              <a:blipFill>
                <a:blip r:embed="rId5"/>
                <a:stretch>
                  <a:fillRect t="-9412" b="-21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96D542BC-741E-1EA0-F955-AA3E2AA650E1}"/>
              </a:ext>
            </a:extLst>
          </p:cNvPr>
          <p:cNvSpPr/>
          <p:nvPr/>
        </p:nvSpPr>
        <p:spPr>
          <a:xfrm>
            <a:off x="9169852" y="2978817"/>
            <a:ext cx="1287710" cy="503209"/>
          </a:xfrm>
          <a:prstGeom prst="wedgeRoundRectCallout">
            <a:avLst>
              <a:gd name="adj1" fmla="val -194315"/>
              <a:gd name="adj2" fmla="val 708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No exploring starts!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553659F1-47C7-2086-0167-0CFACDBECB2F}"/>
              </a:ext>
            </a:extLst>
          </p:cNvPr>
          <p:cNvSpPr/>
          <p:nvPr/>
        </p:nvSpPr>
        <p:spPr>
          <a:xfrm rot="16930409">
            <a:off x="3707934" y="2673592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FE14497-E739-46DA-A340-3144E5145218}"/>
                  </a:ext>
                </a:extLst>
              </p:cNvPr>
              <p:cNvSpPr txBox="1"/>
              <p:nvPr/>
            </p:nvSpPr>
            <p:spPr>
              <a:xfrm>
                <a:off x="1364104" y="6308208"/>
                <a:ext cx="9556610" cy="36933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Important</a:t>
                </a:r>
                <a:r>
                  <a:rPr lang="en-US" dirty="0"/>
                  <a:t>: On-policy learns the best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policy, but not the optimal deterministic policy!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FE14497-E739-46DA-A340-3144E51452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4104" y="6308208"/>
                <a:ext cx="9556610" cy="369332"/>
              </a:xfrm>
              <a:prstGeom prst="rect">
                <a:avLst/>
              </a:prstGeom>
              <a:blipFill>
                <a:blip r:embed="rId6"/>
                <a:stretch>
                  <a:fillRect l="-510" t="-6349" b="-23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88483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DDC0C-7B50-2CF0-564C-587B67095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Convergence: </a:t>
            </a:r>
            <a:br>
              <a:rPr lang="en-US" dirty="0"/>
            </a:br>
            <a:r>
              <a:rPr lang="en-US" dirty="0"/>
              <a:t>Greedy in the Limit with Infinite Exploration (GLIE)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DECDB7-7AA0-1233-4B62-A4FC8D42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29"/>
                <a:ext cx="10515600" cy="5194453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Issues</a:t>
                </a:r>
                <a:r>
                  <a:rPr lang="en-US" dirty="0"/>
                  <a:t>: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On-policy MC control algorithms change the policy and </a:t>
                </a:r>
                <a:r>
                  <a:rPr lang="en-US" b="1" dirty="0"/>
                  <a:t>average over returns from different policies</a:t>
                </a:r>
                <a:r>
                  <a:rPr lang="en-US" dirty="0"/>
                  <a:t>. This could be a problem for convergence!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On-policy methods learn a </a:t>
                </a:r>
                <a:r>
                  <a:rPr lang="en-US" b="1" dirty="0"/>
                  <a:t>soft policy </a:t>
                </a:r>
                <a:r>
                  <a:rPr lang="en-US" dirty="0"/>
                  <a:t>which is crucial for exploration, but is not optimal.</a:t>
                </a:r>
              </a:p>
              <a:p>
                <a:endParaRPr lang="en-US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endParaRPr lang="en-US" b="1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Practical GLIE Approximation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Infinite exploration: Use many episodes and 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 for exploration. This will “wash out” early “bad” observations and makes sure every policy is considered.</a:t>
                </a:r>
              </a:p>
              <a:p>
                <a:pPr lvl="1"/>
                <a:r>
                  <a:rPr lang="en-US" dirty="0"/>
                  <a:t>Greedy in the limit: Use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is reduced over time. 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DECDB7-7AA0-1233-4B62-A4FC8D42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29"/>
                <a:ext cx="10515600" cy="5194453"/>
              </a:xfrm>
              <a:blipFill>
                <a:blip r:embed="rId2"/>
                <a:stretch>
                  <a:fillRect l="-638" t="-1995" r="-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BE216A-DD30-7358-2C8B-8809C21F0C7B}"/>
                  </a:ext>
                </a:extLst>
              </p:cNvPr>
              <p:cNvSpPr txBox="1"/>
              <p:nvPr/>
            </p:nvSpPr>
            <p:spPr>
              <a:xfrm>
                <a:off x="1519474" y="2463123"/>
                <a:ext cx="9291234" cy="2803075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sz="2000" b="1" dirty="0"/>
                  <a:t>GLIE Condition</a:t>
                </a:r>
                <a:endParaRPr lang="en-US" sz="2000" dirty="0"/>
              </a:p>
              <a:p>
                <a:endParaRPr lang="en-US" dirty="0"/>
              </a:p>
              <a:p>
                <a:r>
                  <a:rPr lang="en-US" dirty="0"/>
                  <a:t>Many on-policy control methods converge to the optimal deterministic policy if:</a:t>
                </a:r>
              </a:p>
              <a:p>
                <a:endParaRPr lang="en-US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b="1" dirty="0"/>
                  <a:t>Infinite explorations</a:t>
                </a:r>
                <a:r>
                  <a:rPr lang="en-US" dirty="0"/>
                  <a:t>: Every state-action pair is visited infinitely often.</a:t>
                </a:r>
                <a:br>
                  <a:rPr lang="en-US" dirty="0"/>
                </a:b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=∞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m:rPr>
                        <m:nor/>
                      </m:rPr>
                      <a:rPr lang="en-US" b="0" i="0" smtClean="0"/>
                      <m:t>where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⋅,⋅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b="0" i="0" smtClean="0"/>
                      <m:t>is the visit count</m:t>
                    </m:r>
                  </m:oMath>
                </a14:m>
                <a:br>
                  <a:rPr lang="en-US" dirty="0"/>
                </a:br>
                <a:endParaRPr lang="en-US" dirty="0"/>
              </a:p>
              <a:p>
                <a:pPr marL="342900" indent="-342900">
                  <a:buFont typeface="+mj-lt"/>
                  <a:buAutoNum type="arabicPeriod"/>
                </a:pPr>
                <a:endParaRPr lang="en-US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b="1" dirty="0"/>
                  <a:t>Greedy in the limit</a:t>
                </a:r>
                <a:r>
                  <a:rPr lang="en-US" dirty="0"/>
                  <a:t>: The policy becomes greedy with respect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over time.</a:t>
                </a:r>
                <a:br>
                  <a:rPr lang="en-US" dirty="0"/>
                </a:br>
                <a14:m>
                  <m:oMath xmlns:m="http://schemas.openxmlformats.org/officeDocument/2006/math">
                    <m:limLow>
                      <m:limLow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→∞</m:t>
                        </m:r>
                      </m:lim>
                    </m:limLow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argma</m:t>
                        </m:r>
                        <m:sSub>
                          <m:sSub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BE216A-DD30-7358-2C8B-8809C21F0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9474" y="2463123"/>
                <a:ext cx="9291234" cy="2803075"/>
              </a:xfrm>
              <a:prstGeom prst="rect">
                <a:avLst/>
              </a:prstGeom>
              <a:blipFill>
                <a:blip r:embed="rId3"/>
                <a:stretch>
                  <a:fillRect l="-524" t="-8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4810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A0DF3DF-CB27-AC0F-184E-D0D409D75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5F68E3-3923-0FEB-B7EA-D6D49A383D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Prediction and Control</a:t>
            </a:r>
          </a:p>
        </p:txBody>
      </p:sp>
    </p:spTree>
    <p:extLst>
      <p:ext uri="{BB962C8B-B14F-4D97-AF65-F5344CB8AC3E}">
        <p14:creationId xmlns:p14="http://schemas.microsoft.com/office/powerpoint/2010/main" val="15276507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4A77E-C2D2-5789-4FAE-05ABE93CF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675D5B0-5654-A81D-8A68-AEC70CACB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788028-5BE8-7906-CC19-8911BAE68D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a value function for a policy different from the sampling policy.</a:t>
            </a:r>
          </a:p>
        </p:txBody>
      </p:sp>
    </p:spTree>
    <p:extLst>
      <p:ext uri="{BB962C8B-B14F-4D97-AF65-F5344CB8AC3E}">
        <p14:creationId xmlns:p14="http://schemas.microsoft.com/office/powerpoint/2010/main" val="34420838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E8CF2-8DE5-9B7D-7AF3-EA8026985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2DBE8-2332-5A39-4A92-5DA2F029E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vs. Off-Policy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C770-E6B2-BE73-039A-369B41BCA9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36689"/>
                <a:ext cx="10515600" cy="5129387"/>
              </a:xfrm>
            </p:spPr>
            <p:txBody>
              <a:bodyPr>
                <a:normAutofit fontScale="70000" lnSpcReduction="20000"/>
              </a:bodyPr>
              <a:lstStyle/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On-policy</a:t>
                </a:r>
                <a:r>
                  <a:rPr lang="en-US" dirty="0"/>
                  <a:t>: On-policy methods learn the policy they follow. These need to be exploring (soft).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Off-policy</a:t>
                </a:r>
                <a:r>
                  <a:rPr lang="en-US" dirty="0"/>
                  <a:t>: Use two policies</a:t>
                </a:r>
              </a:p>
              <a:p>
                <a:pPr lvl="1"/>
                <a:r>
                  <a:rPr lang="en-US" b="1" dirty="0"/>
                  <a:t>Target policy</a:t>
                </a:r>
                <a:r>
                  <a:rPr lang="en-US" dirty="0"/>
                  <a:t>: learn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which will become an optimal deterministic policy.</a:t>
                </a:r>
              </a:p>
              <a:p>
                <a:pPr lvl="1"/>
                <a:r>
                  <a:rPr lang="en-US" b="1" dirty="0"/>
                  <a:t>Behavior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: guarantees exploration with a soft policy.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Called “off-policy” because the generated data follows a different policy than the learned target policy.</a:t>
                </a:r>
              </a:p>
              <a:p>
                <a:endParaRPr lang="en-US" dirty="0"/>
              </a:p>
              <a:p>
                <a:r>
                  <a:rPr lang="en-US" dirty="0"/>
                  <a:t>Off-policy methods are typically:</a:t>
                </a:r>
              </a:p>
              <a:p>
                <a:pPr lvl="1"/>
                <a:r>
                  <a:rPr lang="en-US" dirty="0"/>
                  <a:t>- More complicated</a:t>
                </a:r>
              </a:p>
              <a:p>
                <a:pPr lvl="1"/>
                <a:r>
                  <a:rPr lang="en-US" dirty="0"/>
                  <a:t>- Converge slower</a:t>
                </a:r>
              </a:p>
              <a:p>
                <a:pPr lvl="1"/>
                <a:r>
                  <a:rPr lang="en-US" dirty="0"/>
                  <a:t>+ Often more powerful</a:t>
                </a:r>
              </a:p>
              <a:p>
                <a:pPr lvl="1"/>
                <a:r>
                  <a:rPr lang="en-US" dirty="0"/>
                  <a:t>+ Can be applied to data externally generated (e.g., a training data set).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Note</a:t>
                </a:r>
                <a:r>
                  <a:rPr lang="en-US" dirty="0"/>
                  <a:t>: On-policy learning is a special case of off-policy learning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C770-E6B2-BE73-039A-369B41BCA9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36689"/>
                <a:ext cx="10515600" cy="5129387"/>
              </a:xfrm>
              <a:blipFill>
                <a:blip r:embed="rId2"/>
                <a:stretch>
                  <a:fillRect l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6452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367F2-824B-66B4-F5DA-53698C240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Prediction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given episodes generated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Assumptions for Convergence</a:t>
                </a:r>
                <a:r>
                  <a:rPr lang="en-US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fixed.</a:t>
                </a:r>
              </a:p>
              <a:p>
                <a:pPr lvl="1"/>
                <a:r>
                  <a:rPr lang="en-US" b="1" dirty="0"/>
                  <a:t>Coverage</a:t>
                </a:r>
                <a:r>
                  <a:rPr lang="en-US" dirty="0"/>
                  <a:t>: Every action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will occasionally also be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That is</a:t>
                </a:r>
                <a:r>
                  <a:rPr lang="en-US" b="0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needs to be stochastic (soft) for states where it differs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(typically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-greedy)</a:t>
                </a:r>
              </a:p>
              <a:p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Returns and sample averages are valid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but not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! We need to correct them.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 r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44559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7F096-7449-FAFB-94B3-93534D791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</p:spPr>
            <p:txBody>
              <a:bodyPr>
                <a:noAutofit/>
              </a:bodyPr>
              <a:lstStyle/>
              <a:p>
                <a:r>
                  <a:rPr lang="en-US" sz="1600" b="1" dirty="0"/>
                  <a:t>Importance sampling </a:t>
                </a:r>
                <a:r>
                  <a:rPr lang="en-US" sz="1600" dirty="0"/>
                  <a:t>is a method to estimate the expected values under a desired distribution, given samples from another distribution </a:t>
                </a:r>
              </a:p>
              <a:p>
                <a:pPr lvl="1"/>
                <a:r>
                  <a:rPr lang="en-US" sz="1600" dirty="0"/>
                  <a:t>Expectation under desired distribution: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1600" dirty="0"/>
              </a:p>
              <a:p>
                <a:pPr lvl="1"/>
                <a:r>
                  <a:rPr lang="en-US" sz="1600" dirty="0"/>
                  <a:t>Observed expectation from sampled distribution: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1200" dirty="0"/>
              </a:p>
              <a:p>
                <a:r>
                  <a:rPr lang="en-US" sz="1600" b="1" dirty="0"/>
                  <a:t>Idea</a:t>
                </a:r>
                <a:r>
                  <a:rPr lang="en-US" sz="1600" dirty="0"/>
                  <a:t>: correct returns observed under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600" dirty="0"/>
                  <a:t> to estimate returns for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dirty="0"/>
                  <a:t>Probability of a trajectory starting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under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6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600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−1, </m:t>
                                      </m:r>
                                    </m:sub>
                                  </m:s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~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d>
                        </m:e>
                      </m:func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1600" dirty="0"/>
              </a:p>
              <a:p>
                <a:r>
                  <a:rPr lang="en-US" sz="1600" b="1" dirty="0"/>
                  <a:t>Importance sampling ratio: </a:t>
                </a:r>
                <a:r>
                  <a:rPr lang="en-US" sz="1600" dirty="0"/>
                  <a:t>How much more likely are the remaining actions in the sequence chosen under 𝜋 than under 𝑏: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≝</m:t>
                      </m:r>
                      <m:f>
                        <m:f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∏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US" sz="1600" dirty="0"/>
              </a:p>
              <a:p>
                <a:r>
                  <a:rPr lang="en-US" sz="1600" dirty="0"/>
                  <a:t>Now we get: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sz="1600" dirty="0"/>
              </a:p>
              <a:p>
                <a:r>
                  <a:rPr lang="en-US" sz="1600" b="1" dirty="0"/>
                  <a:t>Note</a:t>
                </a:r>
                <a:r>
                  <a:rPr lang="en-US" sz="1600" dirty="0"/>
                  <a:t>: We only 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dirty="0"/>
                  <a:t> when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600" dirty="0"/>
                  <a:t> chosen by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600" dirty="0"/>
                  <a:t> have a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  <a:blipFill>
                <a:blip r:embed="rId2"/>
                <a:stretch>
                  <a:fillRect l="-232" t="-893" b="-3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A0F39-D96C-AC90-D24E-DB92BD3DFCA8}"/>
              </a:ext>
            </a:extLst>
          </p:cNvPr>
          <p:cNvCxnSpPr>
            <a:cxnSpLocks/>
          </p:cNvCxnSpPr>
          <p:nvPr/>
        </p:nvCxnSpPr>
        <p:spPr>
          <a:xfrm flipV="1">
            <a:off x="5709769" y="4512573"/>
            <a:ext cx="1598455" cy="221624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9D49D-EC81-4C18-EAE0-16C729A0D7AA}"/>
              </a:ext>
            </a:extLst>
          </p:cNvPr>
          <p:cNvCxnSpPr>
            <a:cxnSpLocks/>
          </p:cNvCxnSpPr>
          <p:nvPr/>
        </p:nvCxnSpPr>
        <p:spPr>
          <a:xfrm flipV="1">
            <a:off x="5688549" y="4811877"/>
            <a:ext cx="1549594" cy="254781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AFBF7E4-845B-DA38-E9A5-723C0A4CB58B}"/>
              </a:ext>
            </a:extLst>
          </p:cNvPr>
          <p:cNvSpPr/>
          <p:nvPr/>
        </p:nvSpPr>
        <p:spPr>
          <a:xfrm>
            <a:off x="9471194" y="4342689"/>
            <a:ext cx="2101026" cy="750367"/>
          </a:xfrm>
          <a:prstGeom prst="wedgeRoundRectCallout">
            <a:avLst>
              <a:gd name="adj1" fmla="val -93610"/>
              <a:gd name="adj2" fmla="val -15116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Luckily, the unknown transition probabilities cancel out!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5B72F090-DC2E-C8B9-3321-C68747FD6B15}"/>
              </a:ext>
            </a:extLst>
          </p:cNvPr>
          <p:cNvSpPr/>
          <p:nvPr/>
        </p:nvSpPr>
        <p:spPr>
          <a:xfrm>
            <a:off x="9388217" y="2720931"/>
            <a:ext cx="2101026" cy="520435"/>
          </a:xfrm>
          <a:prstGeom prst="wedgeRoundRectCallout">
            <a:avLst>
              <a:gd name="adj1" fmla="val -94747"/>
              <a:gd name="adj2" fmla="val 9683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Needs unknown transition probabilities!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12E2FEED-5945-68CE-0EE6-B01BEE371736}"/>
                  </a:ext>
                </a:extLst>
              </p:cNvPr>
              <p:cNvSpPr/>
              <p:nvPr/>
            </p:nvSpPr>
            <p:spPr>
              <a:xfrm>
                <a:off x="9471194" y="5525922"/>
                <a:ext cx="2101026" cy="966952"/>
              </a:xfrm>
              <a:prstGeom prst="wedgeRoundRectCallout">
                <a:avLst>
                  <a:gd name="adj1" fmla="val -135253"/>
                  <a:gd name="adj2" fmla="val -10690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This is especially a problem if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is a deterministic policy very different from 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400" dirty="0"/>
                  <a:t>!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12E2FEED-5945-68CE-0EE6-B01BEE3717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1194" y="5525922"/>
                <a:ext cx="2101026" cy="966952"/>
              </a:xfrm>
              <a:prstGeom prst="wedgeRoundRectCallout">
                <a:avLst>
                  <a:gd name="adj1" fmla="val -135253"/>
                  <a:gd name="adj2" fmla="val -10690"/>
                  <a:gd name="adj3" fmla="val 16667"/>
                </a:avLst>
              </a:prstGeom>
              <a:blipFill>
                <a:blip r:embed="rId3"/>
                <a:stretch>
                  <a:fillRect b="-43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2325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0A4A6-BE76-606A-C91C-C516CF322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vs. Weighted 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756692" cy="4779633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Ordinary importance sampling </a:t>
                </a:r>
                <a:r>
                  <a:rPr lang="en-US" dirty="0"/>
                  <a:t>averages the corrected sample returns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≝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nary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den>
                    </m:f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are the time steps that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was (first) visited.</a:t>
                </a:r>
              </a:p>
              <a:p>
                <a:pPr lvl="1"/>
                <a:r>
                  <a:rPr lang="en-US" dirty="0"/>
                  <a:t>Gives an unbiased 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but the variance is extreme for low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)|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b="1" dirty="0"/>
                  <a:t>Weighted importance sampling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≝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 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: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Set 0 if denominator is 0.</a:t>
                </a:r>
              </a:p>
              <a:p>
                <a:pPr lvl="1"/>
                <a:r>
                  <a:rPr lang="en-US" dirty="0"/>
                  <a:t>Initially biased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.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dirty="0"/>
                  <a:t> terms cancel for a single observation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sampled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Bias falls asymptotically with more visits</a:t>
                </a:r>
              </a:p>
              <a:p>
                <a:pPr lvl="1"/>
                <a:r>
                  <a:rPr lang="en-US" dirty="0"/>
                  <a:t>Preferred method with much lower errors (variance) for smaller number of episodes.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756692" cy="4779633"/>
              </a:xfrm>
              <a:blipFill>
                <a:blip r:embed="rId2"/>
                <a:stretch>
                  <a:fillRect l="-510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973F806E-FECA-64FB-F357-93F22C9B9D71}"/>
                  </a:ext>
                </a:extLst>
              </p:cNvPr>
              <p:cNvSpPr/>
              <p:nvPr/>
            </p:nvSpPr>
            <p:spPr>
              <a:xfrm>
                <a:off x="10080885" y="2572942"/>
                <a:ext cx="1761343" cy="1214204"/>
              </a:xfrm>
              <a:prstGeom prst="wedgeRoundRectCallout">
                <a:avLst>
                  <a:gd name="adj1" fmla="val -297028"/>
                  <a:gd name="adj2" fmla="val 8045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Note: the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den>
                    </m:f>
                  </m:oMath>
                </a14:m>
                <a:r>
                  <a:rPr lang="en-US" sz="1600" dirty="0"/>
                  <a:t> is missing since it canceled out.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973F806E-FECA-64FB-F357-93F22C9B9D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0885" y="2572942"/>
                <a:ext cx="1761343" cy="1214204"/>
              </a:xfrm>
              <a:prstGeom prst="wedgeRoundRectCallout">
                <a:avLst>
                  <a:gd name="adj1" fmla="val -297028"/>
                  <a:gd name="adj2" fmla="val 80458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3986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9D607B85-E12F-346B-31F9-19075BE2D5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89" t="2792"/>
          <a:stretch>
            <a:fillRect/>
          </a:stretch>
        </p:blipFill>
        <p:spPr>
          <a:xfrm>
            <a:off x="469383" y="1407853"/>
            <a:ext cx="7289930" cy="46465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96E673-7BE2-C7DB-FDB9-3F97190C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Alg. Off-Policy Prediction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124268-92F3-21D3-714E-81C827A575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704" t="4119"/>
          <a:stretch>
            <a:fillRect/>
          </a:stretch>
        </p:blipFill>
        <p:spPr>
          <a:xfrm>
            <a:off x="3612104" y="2043478"/>
            <a:ext cx="8155700" cy="45830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/>
              <p:nvPr/>
            </p:nvSpPr>
            <p:spPr>
              <a:xfrm>
                <a:off x="7176780" y="2969702"/>
                <a:ext cx="3538112" cy="503339"/>
              </a:xfrm>
              <a:prstGeom prst="wedgeRoundRectCallout">
                <a:avLst>
                  <a:gd name="adj1" fmla="val -101623"/>
                  <a:gd name="adj2" fmla="val 3641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cumulative sum of weights for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for incremental update of the average return.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780" y="2969702"/>
                <a:ext cx="3538112" cy="503339"/>
              </a:xfrm>
              <a:prstGeom prst="wedgeRoundRectCallout">
                <a:avLst>
                  <a:gd name="adj1" fmla="val -101623"/>
                  <a:gd name="adj2" fmla="val 36413"/>
                  <a:gd name="adj3" fmla="val 16667"/>
                </a:avLst>
              </a:prstGeom>
              <a:blipFill>
                <a:blip r:embed="rId4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F6850AEC-92A1-9747-9C72-EC0B580331BC}"/>
              </a:ext>
            </a:extLst>
          </p:cNvPr>
          <p:cNvSpPr/>
          <p:nvPr/>
        </p:nvSpPr>
        <p:spPr>
          <a:xfrm>
            <a:off x="8191849" y="6125128"/>
            <a:ext cx="3049398" cy="195743"/>
          </a:xfrm>
          <a:prstGeom prst="wedgeRoundRectCallout">
            <a:avLst>
              <a:gd name="adj1" fmla="val -69966"/>
              <a:gd name="adj2" fmla="val -11369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Incremental update + Correct the update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/>
              <p:nvPr/>
            </p:nvSpPr>
            <p:spPr>
              <a:xfrm>
                <a:off x="7218581" y="3596151"/>
                <a:ext cx="4549223" cy="263873"/>
              </a:xfrm>
              <a:prstGeom prst="wedgeRoundRectCallout">
                <a:avLst>
                  <a:gd name="adj1" fmla="val -46626"/>
                  <a:gd name="adj2" fmla="val 11787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200" dirty="0"/>
                  <a:t> can change every episode! Practical choice is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ϵ−greedy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8581" y="3596151"/>
                <a:ext cx="4549223" cy="263873"/>
              </a:xfrm>
              <a:prstGeom prst="wedgeRoundRectCallout">
                <a:avLst>
                  <a:gd name="adj1" fmla="val -46626"/>
                  <a:gd name="adj2" fmla="val 117874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Arrow: Down 8">
            <a:extLst>
              <a:ext uri="{FF2B5EF4-FFF2-40B4-BE49-F238E27FC236}">
                <a16:creationId xmlns:a16="http://schemas.microsoft.com/office/drawing/2014/main" id="{8C5E7366-B663-9D68-2647-028B1D913D6B}"/>
              </a:ext>
            </a:extLst>
          </p:cNvPr>
          <p:cNvSpPr/>
          <p:nvPr/>
        </p:nvSpPr>
        <p:spPr>
          <a:xfrm rot="16930409">
            <a:off x="2940342" y="3091206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5E5F447B-2A29-2D57-9D77-2D821D9D1F9E}"/>
                  </a:ext>
                </a:extLst>
              </p:cNvPr>
              <p:cNvSpPr/>
              <p:nvPr/>
            </p:nvSpPr>
            <p:spPr>
              <a:xfrm>
                <a:off x="5527645" y="4653835"/>
                <a:ext cx="2162309" cy="195743"/>
              </a:xfrm>
              <a:prstGeom prst="wedgeRoundRectCallout">
                <a:avLst>
                  <a:gd name="adj1" fmla="val -80475"/>
                  <a:gd name="adj2" fmla="val -250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Importance sampling ratio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5E5F447B-2A29-2D57-9D77-2D821D9D1F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7645" y="4653835"/>
                <a:ext cx="2162309" cy="195743"/>
              </a:xfrm>
              <a:prstGeom prst="wedgeRoundRectCallout">
                <a:avLst>
                  <a:gd name="adj1" fmla="val -80475"/>
                  <a:gd name="adj2" fmla="val -2508"/>
                  <a:gd name="adj3" fmla="val 16667"/>
                </a:avLst>
              </a:prstGeom>
              <a:blipFill>
                <a:blip r:embed="rId6"/>
                <a:stretch>
                  <a:fillRect t="-1666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D2BFDED-1362-EAC8-6F95-950A9C762329}"/>
              </a:ext>
            </a:extLst>
          </p:cNvPr>
          <p:cNvSpPr txBox="1"/>
          <p:nvPr/>
        </p:nvSpPr>
        <p:spPr>
          <a:xfrm>
            <a:off x="838200" y="1019636"/>
            <a:ext cx="9453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Weighted importance </a:t>
            </a:r>
            <a:r>
              <a:rPr lang="en-US" dirty="0"/>
              <a:t>s</a:t>
            </a:r>
            <a:r>
              <a:rPr lang="en-US" sz="1800" dirty="0"/>
              <a:t>ampling + incremental average update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274286D1-1CB2-59BC-B4B9-B6B239AC4FFE}"/>
                  </a:ext>
                </a:extLst>
              </p:cNvPr>
              <p:cNvSpPr/>
              <p:nvPr/>
            </p:nvSpPr>
            <p:spPr>
              <a:xfrm>
                <a:off x="8344553" y="5211444"/>
                <a:ext cx="3650681" cy="414631"/>
              </a:xfrm>
              <a:prstGeom prst="wedgeRoundRectCallout">
                <a:avLst>
                  <a:gd name="adj1" fmla="val -23873"/>
                  <a:gd name="adj2" fmla="val -6981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Can only learn from the end of the episode where the action chosen from 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200" dirty="0"/>
                  <a:t> can also be chosen by 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! </a:t>
                </a:r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274286D1-1CB2-59BC-B4B9-B6B239AC4F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4553" y="5211444"/>
                <a:ext cx="3650681" cy="414631"/>
              </a:xfrm>
              <a:prstGeom prst="wedgeRoundRectCallout">
                <a:avLst>
                  <a:gd name="adj1" fmla="val -23873"/>
                  <a:gd name="adj2" fmla="val -69813"/>
                  <a:gd name="adj3" fmla="val 16667"/>
                </a:avLst>
              </a:prstGeom>
              <a:blipFill>
                <a:blip r:embed="rId7"/>
                <a:stretch>
                  <a:fillRect b="-105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18457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EE88D-1806-979D-2814-D73AF282D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8A943B-484E-9C7E-EE44-4CBCD7CF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62269B-9FCA-0B73-D72E-BCBDF9DCD7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following a different behavior policy.</a:t>
            </a:r>
          </a:p>
        </p:txBody>
      </p:sp>
    </p:spTree>
    <p:extLst>
      <p:ext uri="{BB962C8B-B14F-4D97-AF65-F5344CB8AC3E}">
        <p14:creationId xmlns:p14="http://schemas.microsoft.com/office/powerpoint/2010/main" val="18990861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66720-F8A3-4C51-FD0A-FF05EFB94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MC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Remember</a:t>
                </a:r>
                <a:r>
                  <a:rPr lang="en-US" dirty="0"/>
                  <a:t>: on-policy control tries to estimate a policy while using it for sampling. This has the following implications: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behavior changes </a:t>
                </a:r>
                <a:r>
                  <a:rPr lang="en-US" dirty="0"/>
                  <a:t>with the learned policy.</a:t>
                </a:r>
              </a:p>
              <a:p>
                <a:pPr lvl="1"/>
                <a:r>
                  <a:rPr lang="en-US" dirty="0"/>
                  <a:t>The policy that is learned needs to explore and therefore </a:t>
                </a:r>
                <a:r>
                  <a:rPr lang="en-US" b="1" dirty="0"/>
                  <a:t>may not be able to learn the optimal deterministic policy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dirty="0"/>
                  <a:t>Off-policy control uses two policies:</a:t>
                </a:r>
              </a:p>
              <a:p>
                <a:endParaRPr lang="en-US" dirty="0"/>
              </a:p>
              <a:p>
                <a:pPr lvl="1"/>
                <a:r>
                  <a:rPr lang="en-US" b="1" dirty="0"/>
                  <a:t>Behavior policy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dirty="0"/>
                  <a:t>: Needs to have coverage. That is, it eventually takes every action taken under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dirty="0"/>
                  <a:t>This typically means that we will use a </a:t>
                </a:r>
                <a:r>
                  <a:rPr lang="en-US" b="1" dirty="0"/>
                  <a:t>soft policy</a:t>
                </a:r>
                <a:r>
                  <a:rPr lang="en-US" dirty="0"/>
                  <a:t>.</a:t>
                </a:r>
              </a:p>
              <a:p>
                <a:pPr lvl="1"/>
                <a:endParaRPr lang="en-US" dirty="0"/>
              </a:p>
              <a:p>
                <a:pPr lvl="1"/>
                <a:r>
                  <a:rPr lang="en-US" b="1" dirty="0"/>
                  <a:t>Target policy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dirty="0"/>
                  <a:t>: Typically, a </a:t>
                </a:r>
                <a:r>
                  <a:rPr lang="en-US" b="1" dirty="0"/>
                  <a:t>deterministic greedy policy </a:t>
                </a:r>
                <a:r>
                  <a:rPr lang="en-US" dirty="0"/>
                  <a:t>which can become optimal.</a:t>
                </a:r>
              </a:p>
              <a:p>
                <a:pPr lvl="1"/>
                <a:endParaRPr lang="en-US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With a covering behavior policy.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 b="-3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0685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B0E5E3E5-7ADE-C94C-E70B-D6DA3B0A47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04" t="4119"/>
          <a:stretch>
            <a:fillRect/>
          </a:stretch>
        </p:blipFill>
        <p:spPr>
          <a:xfrm>
            <a:off x="499097" y="1167013"/>
            <a:ext cx="7178926" cy="40341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4E8716-FCC4-28C6-4F3D-DEB381529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Off-Policy MC Control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607C0C5-74BA-782D-88D3-D9D60C1E24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956" t="709"/>
          <a:stretch>
            <a:fillRect/>
          </a:stretch>
        </p:blipFill>
        <p:spPr>
          <a:xfrm>
            <a:off x="3661794" y="1635647"/>
            <a:ext cx="7829773" cy="47460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/>
              <p:nvPr/>
            </p:nvSpPr>
            <p:spPr>
              <a:xfrm>
                <a:off x="359932" y="5418804"/>
                <a:ext cx="3441028" cy="780250"/>
              </a:xfrm>
              <a:prstGeom prst="wedgeRoundRectCallout">
                <a:avLst>
                  <a:gd name="adj1" fmla="val 71299"/>
                  <a:gd name="adj2" fmla="val -559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Can only use the end of the episode that uses greedy actions for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br>
                  <a:rPr lang="en-US" sz="1400" dirty="0"/>
                </a:br>
                <a:r>
                  <a:rPr lang="en-US" sz="1400" b="1" dirty="0"/>
                  <a:t>Issue</a:t>
                </a:r>
                <a:r>
                  <a:rPr lang="en-US" sz="1400" dirty="0"/>
                  <a:t>: Not very sample efficient!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932" y="5418804"/>
                <a:ext cx="3441028" cy="780250"/>
              </a:xfrm>
              <a:prstGeom prst="wedgeRoundRectCallout">
                <a:avLst>
                  <a:gd name="adj1" fmla="val 71299"/>
                  <a:gd name="adj2" fmla="val -5599"/>
                  <a:gd name="adj3" fmla="val 16667"/>
                </a:avLst>
              </a:prstGeom>
              <a:blipFill>
                <a:blip r:embed="rId4"/>
                <a:stretch>
                  <a:fillRect b="-3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9F0F300-7EDD-4067-628D-126C67D34BFA}"/>
                  </a:ext>
                </a:extLst>
              </p:cNvPr>
              <p:cNvSpPr/>
              <p:nvPr/>
            </p:nvSpPr>
            <p:spPr>
              <a:xfrm>
                <a:off x="6581297" y="5908738"/>
                <a:ext cx="4251900" cy="290316"/>
              </a:xfrm>
              <a:prstGeom prst="wedgeRoundRectCallout">
                <a:avLst>
                  <a:gd name="adj1" fmla="val -68727"/>
                  <a:gd name="adj2" fmla="val -3535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We use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to select a. So, the probability is always 1.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9F0F300-7EDD-4067-628D-126C67D34B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297" y="5908738"/>
                <a:ext cx="4251900" cy="290316"/>
              </a:xfrm>
              <a:prstGeom prst="wedgeRoundRectCallout">
                <a:avLst>
                  <a:gd name="adj1" fmla="val -68727"/>
                  <a:gd name="adj2" fmla="val -35358"/>
                  <a:gd name="adj3" fmla="val 16667"/>
                </a:avLst>
              </a:prstGeom>
              <a:blipFill>
                <a:blip r:embed="rId5"/>
                <a:stretch>
                  <a:fillRect t="-3922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rrow: Down 3">
            <a:extLst>
              <a:ext uri="{FF2B5EF4-FFF2-40B4-BE49-F238E27FC236}">
                <a16:creationId xmlns:a16="http://schemas.microsoft.com/office/drawing/2014/main" id="{711BEC78-A77D-C9A1-C817-61867AC0146A}"/>
              </a:ext>
            </a:extLst>
          </p:cNvPr>
          <p:cNvSpPr/>
          <p:nvPr/>
        </p:nvSpPr>
        <p:spPr>
          <a:xfrm rot="16930409">
            <a:off x="3005081" y="2539902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D6911223-3282-3D4A-D937-1C6D589987F8}"/>
              </a:ext>
            </a:extLst>
          </p:cNvPr>
          <p:cNvSpPr/>
          <p:nvPr/>
        </p:nvSpPr>
        <p:spPr>
          <a:xfrm>
            <a:off x="7715207" y="2270004"/>
            <a:ext cx="2534023" cy="290316"/>
          </a:xfrm>
          <a:prstGeom prst="wedgeRoundRectCallout">
            <a:avLst>
              <a:gd name="adj1" fmla="val -104868"/>
              <a:gd name="adj2" fmla="val 13691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Add the greedy target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F20DE81A-C7D3-8790-65FF-807BB007A2B2}"/>
                  </a:ext>
                </a:extLst>
              </p:cNvPr>
              <p:cNvSpPr/>
              <p:nvPr/>
            </p:nvSpPr>
            <p:spPr>
              <a:xfrm>
                <a:off x="7440235" y="3071769"/>
                <a:ext cx="3036974" cy="290316"/>
              </a:xfrm>
              <a:prstGeom prst="wedgeRoundRectCallout">
                <a:avLst>
                  <a:gd name="adj1" fmla="val -97316"/>
                  <a:gd name="adj2" fmla="val 11527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Practical choice is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400" i="0">
                        <a:latin typeface="Cambria Math" panose="02040503050406030204" pitchFamily="18" charset="0"/>
                      </a:rPr>
                      <m:t>ϵ−greedy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F20DE81A-C7D3-8790-65FF-807BB007A2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0235" y="3071769"/>
                <a:ext cx="3036974" cy="290316"/>
              </a:xfrm>
              <a:prstGeom prst="wedgeRoundRectCallout">
                <a:avLst>
                  <a:gd name="adj1" fmla="val -97316"/>
                  <a:gd name="adj2" fmla="val 115277"/>
                  <a:gd name="adj3" fmla="val 16667"/>
                </a:avLst>
              </a:prstGeom>
              <a:blipFill>
                <a:blip r:embed="rId6"/>
                <a:stretch>
                  <a:fillRect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84463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CE525A-4DE7-57BC-63B4-AAC868992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83400F-3AC6-D422-B920-E8D54036FC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F28751-2020-D237-0D4A-7383D2745E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6057" y="376930"/>
                <a:ext cx="6006517" cy="6361928"/>
              </a:xfrm>
            </p:spPr>
            <p:txBody>
              <a:bodyPr anchor="ctr"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sz="1900" dirty="0"/>
                  <a:t>MC works with sampled episodes:</a:t>
                </a:r>
                <a:endParaRPr lang="en-US" sz="1900" b="1" dirty="0"/>
              </a:p>
              <a:p>
                <a:pPr lvl="1"/>
                <a:r>
                  <a:rPr lang="en-US" sz="1900" b="1" dirty="0"/>
                  <a:t>Policy Evaluation</a:t>
                </a:r>
                <a:r>
                  <a:rPr lang="en-US" sz="1900" dirty="0"/>
                  <a:t>: Averages many sampled returns. </a:t>
                </a:r>
              </a:p>
              <a:p>
                <a:pPr lvl="1"/>
                <a:r>
                  <a:rPr lang="en-US" sz="1900" b="1" dirty="0"/>
                  <a:t>Control</a:t>
                </a:r>
                <a:r>
                  <a:rPr lang="en-US" sz="1900" dirty="0"/>
                  <a:t>: Interleaves pol. eval. and pol. improvement on an episode-by-episode basis.</a:t>
                </a:r>
              </a:p>
              <a:p>
                <a:pPr lvl="1"/>
                <a:r>
                  <a:rPr lang="en-US" sz="1900" b="1" dirty="0"/>
                  <a:t>On vs. off-policy control.</a:t>
                </a:r>
              </a:p>
              <a:p>
                <a:pPr lvl="1"/>
                <a:r>
                  <a:rPr lang="en-US" sz="1900" b="1" dirty="0"/>
                  <a:t>Convergence</a:t>
                </a:r>
                <a:r>
                  <a:rPr lang="en-US" sz="1900" dirty="0"/>
                  <a:t>: converge with GLIE or covering behavior policies. Convergence is typically slow.</a:t>
                </a:r>
              </a:p>
              <a:p>
                <a:pPr marL="0" indent="0">
                  <a:buNone/>
                </a:pPr>
                <a:endParaRPr lang="en-US" sz="1900" dirty="0"/>
              </a:p>
              <a:p>
                <a:pPr marL="0" indent="0">
                  <a:buNone/>
                </a:pPr>
                <a:r>
                  <a:rPr lang="en-US" sz="1900" dirty="0"/>
                  <a:t>Advantages of MC methods vs. DP:</a:t>
                </a:r>
              </a:p>
              <a:p>
                <a:pPr lvl="1"/>
                <a:r>
                  <a:rPr lang="en-US" sz="1900" b="1" dirty="0"/>
                  <a:t>Model-free</a:t>
                </a:r>
                <a:r>
                  <a:rPr lang="en-US" sz="1900" dirty="0"/>
                  <a:t>: No need for an environment model. Sampling from a simulation is often easy.</a:t>
                </a:r>
              </a:p>
              <a:p>
                <a:pPr lvl="1"/>
                <a:r>
                  <a:rPr lang="en-US" sz="1900" dirty="0"/>
                  <a:t>Can evaluate a small </a:t>
                </a:r>
                <a:r>
                  <a:rPr lang="en-US" sz="1900" b="1" dirty="0"/>
                  <a:t>state set</a:t>
                </a:r>
                <a:r>
                  <a:rPr lang="en-US" sz="1900" dirty="0"/>
                  <a:t> of interest. DP always has to sweep over all states.</a:t>
                </a:r>
              </a:p>
              <a:p>
                <a:pPr lvl="1"/>
                <a:r>
                  <a:rPr lang="en-US" sz="1900" b="1" dirty="0"/>
                  <a:t>Unbiased estimates: </a:t>
                </a:r>
                <a:r>
                  <a:rPr lang="en-US" sz="1900" dirty="0"/>
                  <a:t>Estimates are based on returns from complete sampled sequences. We will learn about other methods that introduce bias by  bootstrapping (estimating a value from other estimates).</a:t>
                </a:r>
              </a:p>
              <a:p>
                <a:pPr lvl="1"/>
                <a:r>
                  <a:rPr lang="en-US" sz="1900" dirty="0"/>
                  <a:t>Using complete sequences may be less harmed by violations of the Markov property/issues with observability.</a:t>
                </a:r>
              </a:p>
              <a:p>
                <a:pPr marL="0" indent="0">
                  <a:buNone/>
                </a:pPr>
                <a:endParaRPr lang="en-US" sz="1900" dirty="0"/>
              </a:p>
              <a:p>
                <a:pPr marL="0" indent="0">
                  <a:buNone/>
                </a:pPr>
                <a:r>
                  <a:rPr lang="en-US" sz="1900" dirty="0"/>
                  <a:t>Issues:</a:t>
                </a:r>
              </a:p>
              <a:p>
                <a:pPr lvl="1"/>
                <a:r>
                  <a:rPr lang="en-US" sz="1900" b="1" dirty="0"/>
                  <a:t>Needs to maintain sufficient exploration</a:t>
                </a:r>
                <a:r>
                  <a:rPr lang="en-US" sz="1900" dirty="0"/>
                  <a:t>. Options are: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Exploring starts can learn the optimal policy.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On-policy control with an </a:t>
                </a:r>
                <a14:m>
                  <m:oMath xmlns:m="http://schemas.openxmlformats.org/officeDocument/2006/math">
                    <m:r>
                      <a:rPr lang="en-US" sz="1900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900" dirty="0"/>
                  <a:t>-soft policy and GLIE.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Off-policy control with a covering behavior policy. Note: only a part of the data can be used.</a:t>
                </a:r>
              </a:p>
              <a:p>
                <a:pPr lvl="1"/>
                <a:r>
                  <a:rPr lang="en-US" sz="1900" dirty="0"/>
                  <a:t>MC methods are </a:t>
                </a:r>
                <a:r>
                  <a:rPr lang="en-US" sz="1900" b="1" dirty="0"/>
                  <a:t>not sample efficient</a:t>
                </a:r>
                <a:r>
                  <a:rPr lang="en-US" sz="1900" dirty="0"/>
                  <a:t>. I.e., sampled episodes are used only once and then discarded.</a:t>
                </a:r>
              </a:p>
              <a:p>
                <a:pPr lvl="1"/>
                <a:r>
                  <a:rPr lang="en-US" sz="1900" b="1" dirty="0"/>
                  <a:t>Not a truly online method</a:t>
                </a:r>
                <a:r>
                  <a:rPr lang="en-US" sz="1900" dirty="0"/>
                  <a:t>: Updates are not done after each action but are delayed until the end of each episode.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F28751-2020-D237-0D4A-7383D2745E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6057" y="376930"/>
                <a:ext cx="6006517" cy="6361928"/>
              </a:xfrm>
              <a:blipFill>
                <a:blip r:embed="rId3"/>
                <a:stretch>
                  <a:fillRect l="-406" t="-479" b="-6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1482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13235</TotalTime>
  <Words>3060</Words>
  <Application>Microsoft Office PowerPoint</Application>
  <PresentationFormat>Widescreen</PresentationFormat>
  <Paragraphs>346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Monte Carlo Methods Sutton/Barto* Chapter 5</vt:lpstr>
      <vt:lpstr>Topics of this Course</vt:lpstr>
      <vt:lpstr>Summary of Notation</vt:lpstr>
      <vt:lpstr>Introduction</vt:lpstr>
      <vt:lpstr>Monte Carlo Prediction</vt:lpstr>
      <vt:lpstr>MC Value Function Approximation</vt:lpstr>
      <vt:lpstr>MC Prediction: Estimate v_π for a given π</vt:lpstr>
      <vt:lpstr>Monte Carlo Control</vt:lpstr>
      <vt:lpstr>MC Control as Generalized Policy Iteration (GPI)</vt:lpstr>
      <vt:lpstr>Remember: Policy Improvement Theorem and Greedy Policies</vt:lpstr>
      <vt:lpstr>MC Prediction to Estimate Q-Values</vt:lpstr>
      <vt:lpstr>Monte Carlo Control with Exploring Starts</vt:lpstr>
      <vt:lpstr>Alg. MC Control with Exploring Starts</vt:lpstr>
      <vt:lpstr>Code…</vt:lpstr>
      <vt:lpstr>MC Control without Exploring Starts</vt:lpstr>
      <vt:lpstr>On-Policy Monte Carlo Control</vt:lpstr>
      <vt:lpstr>Exploration with On-Policy Methods</vt:lpstr>
      <vt:lpstr>Types of Soft Policies for Exploration</vt:lpstr>
      <vt:lpstr>Alg. On-Policy MC Control with ϵ-soft Policies</vt:lpstr>
      <vt:lpstr>Convergence:  Greedy in the Limit with Infinite Exploration (GLIE)</vt:lpstr>
      <vt:lpstr>Off-Policy Methods</vt:lpstr>
      <vt:lpstr>Off-Policy Prediction</vt:lpstr>
      <vt:lpstr>On-Policy vs. Off-Policy Control</vt:lpstr>
      <vt:lpstr>Off-Policy Prediction</vt:lpstr>
      <vt:lpstr>Importance Sampling</vt:lpstr>
      <vt:lpstr>Ordinary vs. Weighted Importance Sampling</vt:lpstr>
      <vt:lpstr>Alg. Off-Policy Prediction</vt:lpstr>
      <vt:lpstr>Off-Policy Control</vt:lpstr>
      <vt:lpstr>Off-Policy MC Control</vt:lpstr>
      <vt:lpstr>Alg. Off-Policy MC Control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175</cp:revision>
  <dcterms:created xsi:type="dcterms:W3CDTF">2025-09-08T14:44:49Z</dcterms:created>
  <dcterms:modified xsi:type="dcterms:W3CDTF">2026-09-21T15:59:43Z</dcterms:modified>
</cp:coreProperties>
</file>