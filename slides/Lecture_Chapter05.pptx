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403" r:id="rId5"/>
    <p:sldId id="382" r:id="rId6"/>
    <p:sldId id="385" r:id="rId7"/>
    <p:sldId id="384" r:id="rId8"/>
    <p:sldId id="386" r:id="rId9"/>
    <p:sldId id="387" r:id="rId10"/>
    <p:sldId id="391" r:id="rId11"/>
    <p:sldId id="388" r:id="rId12"/>
    <p:sldId id="390" r:id="rId13"/>
    <p:sldId id="392" r:id="rId14"/>
    <p:sldId id="393" r:id="rId15"/>
    <p:sldId id="404" r:id="rId16"/>
    <p:sldId id="394" r:id="rId17"/>
    <p:sldId id="396" r:id="rId18"/>
    <p:sldId id="397" r:id="rId19"/>
    <p:sldId id="399" r:id="rId20"/>
    <p:sldId id="398" r:id="rId21"/>
    <p:sldId id="405" r:id="rId22"/>
    <p:sldId id="400" r:id="rId23"/>
    <p:sldId id="401" r:id="rId24"/>
    <p:sldId id="4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3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5.png"/><Relationship Id="rId7" Type="http://schemas.openxmlformats.org/officeDocument/2006/relationships/image" Target="../media/image8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740408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We do not assume knowledge of the environment model (the MDP). </a:t>
            </a:r>
            <a:br>
              <a:rPr lang="en-US" dirty="0"/>
            </a:br>
            <a:r>
              <a:rPr lang="en-US" dirty="0"/>
              <a:t>This is called a “</a:t>
            </a:r>
            <a:r>
              <a:rPr lang="en-US" b="1" dirty="0"/>
              <a:t>model-free</a:t>
            </a:r>
            <a:r>
              <a:rPr lang="en-US" dirty="0"/>
              <a:t>” method. </a:t>
            </a:r>
          </a:p>
          <a:p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 for DP.</a:t>
            </a:r>
          </a:p>
          <a:p>
            <a:endParaRPr lang="en-US" dirty="0"/>
          </a:p>
          <a:p>
            <a:r>
              <a:rPr lang="en-US" b="1" dirty="0"/>
              <a:t>Monte Carlo (MC) methods</a:t>
            </a:r>
          </a:p>
          <a:p>
            <a:pPr lvl="1"/>
            <a:r>
              <a:rPr lang="en-US" dirty="0"/>
              <a:t>a family of algorithms that rely on repeated random sampling to obtain numerical results.</a:t>
            </a:r>
          </a:p>
          <a:p>
            <a:pPr lvl="1"/>
            <a:r>
              <a:rPr lang="en-US" b="1" dirty="0"/>
              <a:t>Applied to value function approximation</a:t>
            </a:r>
            <a:r>
              <a:rPr lang="en-US" dirty="0"/>
              <a:t>: average sample returns for each state-action pair obtained from sampled sequences (called episodes or trajectories).</a:t>
            </a:r>
          </a:p>
          <a:p>
            <a:pPr marL="0" indent="0">
              <a:buNone/>
            </a:pPr>
            <a:endParaRPr lang="en-US" b="1" dirty="0"/>
          </a:p>
          <a:p>
            <a:endParaRPr lang="en-US" b="1" dirty="0"/>
          </a:p>
          <a:p>
            <a:r>
              <a:rPr lang="en-US" b="1" dirty="0"/>
              <a:t>Note</a:t>
            </a:r>
            <a:r>
              <a:rPr lang="en-US" dirty="0"/>
              <a:t>: Value estimates or the policy are only updated after a whole episode is sampled. This is not a step-by-step online method!</a:t>
            </a:r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Sample-average method</a:t>
                </a:r>
                <a:r>
                  <a:rPr lang="en-US" dirty="0"/>
                  <a:t>: The average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 expected values which can be approximated by observed averages.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only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31497"/>
              </a:xfrm>
              <a:blipFill>
                <a:blip r:embed="rId3"/>
                <a:stretch>
                  <a:fillRect l="-234" t="-4120" r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1995181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Update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339455"/>
            <a:chOff x="8647092" y="860591"/>
            <a:chExt cx="3395272" cy="233945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8A699FD2-C753-722C-19C4-5AACDD9E28F9}"/>
                </a:ext>
              </a:extLst>
            </p:cNvPr>
            <p:cNvSpPr/>
            <p:nvPr/>
          </p:nvSpPr>
          <p:spPr>
            <a:xfrm flipH="1">
              <a:off x="8837415" y="2832017"/>
              <a:ext cx="2873866" cy="36802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update</a:t>
              </a:r>
            </a:p>
          </p:txBody>
        </p:sp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directly Q-function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96" b="-3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452244" y="4226067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4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b="0" dirty="0"/>
                  <a:t> can be estimated with regular </a:t>
                </a:r>
                <a:r>
                  <a:rPr lang="en-US" dirty="0"/>
                  <a:t>MC prediction.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Complication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245839" cy="4779633"/>
              </a:xfrm>
              <a:blipFill>
                <a:blip r:embed="rId2"/>
                <a:stretch>
                  <a:fillRect l="-1036" t="-2806" r="-1775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as GPI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optimal policy is reached.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We update for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with a new MC estimate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is better (or equal)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Assumptions: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episodes.</a:t>
                </a:r>
              </a:p>
              <a:p>
                <a:r>
                  <a:rPr lang="en-US" dirty="0"/>
                  <a:t>Imperfect policy evaluation:</a:t>
                </a:r>
              </a:p>
              <a:p>
                <a:pPr lvl="1"/>
                <a:r>
                  <a:rPr lang="en-US" dirty="0"/>
                  <a:t>Samples give unbiased estimates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. I.e., in expectation (on average) it produces the correct estimate.</a:t>
                </a:r>
              </a:p>
              <a:p>
                <a:pPr lvl="1"/>
                <a:r>
                  <a:rPr lang="en-US" dirty="0"/>
                  <a:t>Therefore, incomplete policy evaluation moves in expectation (on average) closer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159411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/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may not be the best action given current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C892436D-3970-AD3A-C21E-8315BDEB9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4445" y="2897302"/>
                <a:ext cx="2440898" cy="464759"/>
              </a:xfrm>
              <a:prstGeom prst="wedgeRoundRectCallout">
                <a:avLst>
                  <a:gd name="adj1" fmla="val -85290"/>
                  <a:gd name="adj2" fmla="val -114895"/>
                  <a:gd name="adj3" fmla="val 16667"/>
                </a:avLst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soft policy 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behavior policy for sampling that tries all state-action pairs, but learn the optimal, deterministic policy.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Policies: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482586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These exploratory actions will often lead to suboptimal outcomes.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Learns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 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522" t="-1808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are fixed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sample averages are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need to be corrected!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4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Desired distribution: actions are chosen according to the target policy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Sampled distribution: actions are chosen by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1400" dirty="0"/>
              </a:p>
              <a:p>
                <a:r>
                  <a:rPr lang="en-US" sz="1800" b="1" dirty="0"/>
                  <a:t>Use in off-policy prediction</a:t>
                </a:r>
                <a:r>
                  <a:rPr lang="en-US" sz="1800" dirty="0"/>
                  <a:t>: weight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using the probability of trajectories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.</a:t>
                </a:r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57357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 because </a:t>
                </a:r>
              </a:p>
              <a:p>
                <a:pPr lvl="1"/>
                <a:r>
                  <a:rPr lang="en-US" dirty="0"/>
                  <a:t>Preferred method with much lower errors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dirty="0"/>
                  <a:t> just cancels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Incremental Implementation using </a:t>
            </a:r>
            <a:br>
              <a:rPr lang="en-US" dirty="0"/>
            </a:br>
            <a:r>
              <a:rPr lang="en-US" dirty="0"/>
              <a:t>Weighted Importance Sampling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1694577" cy="503339"/>
              </a:xfrm>
              <a:prstGeom prst="wedgeRoundRectCallout">
                <a:avLst>
                  <a:gd name="adj1" fmla="val -159408"/>
                  <a:gd name="adj2" fmla="val 41071"/>
                  <a:gd name="adj3" fmla="val 16667"/>
                </a:avLst>
              </a:prstGeom>
              <a:blipFill>
                <a:blip r:embed="rId4"/>
                <a:stretch>
                  <a:fillRect t="-12791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control.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can be deterministic. Often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Produced unbiased estimates: </a:t>
                </a:r>
                <a:r>
                  <a:rPr lang="en-US" sz="1900" dirty="0"/>
                  <a:t>Estimates are based on returns from complete sampled sequences. Other methods use bootstrapping (estimating a value from other estimates), which introduces bias.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12166</TotalTime>
  <Words>2459</Words>
  <Application>Microsoft Office PowerPoint</Application>
  <PresentationFormat>Widescreen</PresentationFormat>
  <Paragraphs>273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Summary of Notation</vt:lpstr>
      <vt:lpstr>Introduction</vt:lpstr>
      <vt:lpstr>On-Policy Monte Carlo Prediction</vt:lpstr>
      <vt:lpstr>MC Prediction: Estimate v_π</vt:lpstr>
      <vt:lpstr>On-Policy Monte Carlo Control</vt:lpstr>
      <vt:lpstr>MC Control: Find a Good Policy</vt:lpstr>
      <vt:lpstr>MC Prediction to Estimate Q-Values</vt:lpstr>
      <vt:lpstr>MC Control as GPI</vt:lpstr>
      <vt:lpstr>Remember: Policy Improvement Theorem</vt:lpstr>
      <vt:lpstr>Alg. MC Control with Exploring Starts</vt:lpstr>
      <vt:lpstr>MC Control without Exploring Starts</vt:lpstr>
      <vt:lpstr>Types of Soft Policies</vt:lpstr>
      <vt:lpstr>Alg. On-Policy MC Control with ϵ-soft Policies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Incremental Implementation using  Weighted Importance Sampling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141</cp:revision>
  <dcterms:created xsi:type="dcterms:W3CDTF">2025-09-08T14:44:49Z</dcterms:created>
  <dcterms:modified xsi:type="dcterms:W3CDTF">2026-02-02T14:22:03Z</dcterms:modified>
</cp:coreProperties>
</file>