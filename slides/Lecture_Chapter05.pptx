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1" r:id="rId3"/>
    <p:sldId id="368" r:id="rId4"/>
    <p:sldId id="403" r:id="rId5"/>
    <p:sldId id="382" r:id="rId6"/>
    <p:sldId id="385" r:id="rId7"/>
    <p:sldId id="384" r:id="rId8"/>
    <p:sldId id="386" r:id="rId9"/>
    <p:sldId id="387" r:id="rId10"/>
    <p:sldId id="391" r:id="rId11"/>
    <p:sldId id="388" r:id="rId12"/>
    <p:sldId id="390" r:id="rId13"/>
    <p:sldId id="392" r:id="rId14"/>
    <p:sldId id="393" r:id="rId15"/>
    <p:sldId id="404" r:id="rId16"/>
    <p:sldId id="394" r:id="rId17"/>
    <p:sldId id="396" r:id="rId18"/>
    <p:sldId id="397" r:id="rId19"/>
    <p:sldId id="399" r:id="rId20"/>
    <p:sldId id="398" r:id="rId21"/>
    <p:sldId id="405" r:id="rId22"/>
    <p:sldId id="400" r:id="rId23"/>
    <p:sldId id="401" r:id="rId24"/>
    <p:sldId id="40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1"/>
            <p14:sldId id="368"/>
            <p14:sldId id="403"/>
            <p14:sldId id="382"/>
            <p14:sldId id="385"/>
            <p14:sldId id="384"/>
            <p14:sldId id="386"/>
            <p14:sldId id="387"/>
            <p14:sldId id="391"/>
            <p14:sldId id="388"/>
            <p14:sldId id="390"/>
            <p14:sldId id="392"/>
            <p14:sldId id="393"/>
            <p14:sldId id="404"/>
            <p14:sldId id="394"/>
            <p14:sldId id="396"/>
            <p14:sldId id="397"/>
            <p14:sldId id="399"/>
            <p14:sldId id="398"/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5.png"/><Relationship Id="rId7" Type="http://schemas.openxmlformats.org/officeDocument/2006/relationships/image" Target="../media/image8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  <a:blipFill>
                <a:blip r:embed="rId2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</a:t>
                </a:r>
                <a:r>
                  <a:rPr lang="en-US" sz="1200"/>
                  <a:t>all states </a:t>
                </a:r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471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C304-9F53-1D52-E987-0090E5073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740408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No complete knowledge of the environment (the MDP). </a:t>
            </a:r>
            <a:br>
              <a:rPr lang="en-US" dirty="0"/>
            </a:br>
            <a:r>
              <a:rPr lang="en-US" dirty="0"/>
              <a:t>This is called a “</a:t>
            </a:r>
            <a:r>
              <a:rPr lang="en-US" b="1" dirty="0"/>
              <a:t>model-free</a:t>
            </a:r>
            <a:r>
              <a:rPr lang="en-US" dirty="0"/>
              <a:t>” method. </a:t>
            </a:r>
          </a:p>
          <a:p>
            <a:r>
              <a:rPr lang="en-US" dirty="0"/>
              <a:t>We use “experience” = </a:t>
            </a:r>
            <a:r>
              <a:rPr lang="en-US" b="1" dirty="0"/>
              <a:t>sample sequences </a:t>
            </a:r>
            <a:r>
              <a:rPr lang="en-US" dirty="0"/>
              <a:t>of states, actions, and rewards from actual or simulated interactions with the environment.</a:t>
            </a:r>
          </a:p>
          <a:p>
            <a:r>
              <a:rPr lang="en-US" b="1" dirty="0"/>
              <a:t>Advantages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often have </a:t>
            </a:r>
            <a:r>
              <a:rPr lang="en-US" b="1" dirty="0"/>
              <a:t>sample access </a:t>
            </a:r>
            <a:r>
              <a:rPr lang="en-US" dirty="0"/>
              <a:t>to systems. </a:t>
            </a:r>
          </a:p>
          <a:p>
            <a:pPr lvl="1"/>
            <a:r>
              <a:rPr lang="en-US" dirty="0"/>
              <a:t>It is easier to simulate transitions than to specify the complete MDP for DP.</a:t>
            </a:r>
          </a:p>
          <a:p>
            <a:endParaRPr lang="en-US" dirty="0"/>
          </a:p>
          <a:p>
            <a:r>
              <a:rPr lang="en-US" b="1" dirty="0"/>
              <a:t>Monte Carlo (MC) methods</a:t>
            </a:r>
          </a:p>
          <a:p>
            <a:pPr lvl="1"/>
            <a:r>
              <a:rPr lang="en-US" dirty="0"/>
              <a:t>a family of algorithms that rely on repeated random sampling to obtain numerical results.</a:t>
            </a:r>
          </a:p>
          <a:p>
            <a:pPr lvl="1"/>
            <a:r>
              <a:rPr lang="en-US" b="1" dirty="0"/>
              <a:t>Applied to value function approximation</a:t>
            </a:r>
            <a:r>
              <a:rPr lang="en-US" dirty="0"/>
              <a:t>: average sample returns for each state-action pair obtained from sampled sequences (called episodes or trajectories).</a:t>
            </a:r>
          </a:p>
          <a:p>
            <a:pPr marL="0" indent="0">
              <a:buNone/>
            </a:pPr>
            <a:endParaRPr lang="en-US" b="1" dirty="0"/>
          </a:p>
          <a:p>
            <a:endParaRPr lang="en-US" b="1" dirty="0"/>
          </a:p>
          <a:p>
            <a:r>
              <a:rPr lang="en-US" b="1" dirty="0"/>
              <a:t>Note</a:t>
            </a:r>
            <a:r>
              <a:rPr lang="en-US" dirty="0"/>
              <a:t>: Value estimates or the policy are only updated after a whole episode is sampled. This is not a step-by-step online method!</a:t>
            </a:r>
          </a:p>
          <a:p>
            <a:pPr lvl="1"/>
            <a:endParaRPr 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6404"/>
                <a:ext cx="7808892" cy="1631497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given deterministic or stochastic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for the rest of the episode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Sample-average method</a:t>
                </a:r>
                <a:r>
                  <a:rPr lang="en-US" dirty="0"/>
                  <a:t>: The average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Reason:  state value is defined as an expected value which is approximated by the observed average.</a:t>
                </a:r>
                <a:endParaRPr lang="en-US" b="1" dirty="0"/>
              </a:p>
              <a:p>
                <a:r>
                  <a:rPr lang="en-US" b="1" dirty="0"/>
                  <a:t>First-visit</a:t>
                </a:r>
                <a:r>
                  <a:rPr lang="en-US" dirty="0"/>
                  <a:t>: Using only the first visit of a state in the episode ensures that the sample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 and we get an </a:t>
                </a:r>
                <a:r>
                  <a:rPr lang="en-US" b="1" dirty="0"/>
                  <a:t>unbiased</a:t>
                </a:r>
                <a:r>
                  <a:rPr lang="en-US" dirty="0"/>
                  <a:t>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6404"/>
                <a:ext cx="7808892" cy="1631497"/>
              </a:xfrm>
              <a:blipFill>
                <a:blip r:embed="rId3"/>
                <a:stretch>
                  <a:fillRect l="-234" t="-4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56" y="2774899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772363"/>
            <a:ext cx="1995181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Update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339455"/>
            <a:chOff x="8647092" y="860591"/>
            <a:chExt cx="3395272" cy="233945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8A699FD2-C753-722C-19C4-5AACDD9E28F9}"/>
                </a:ext>
              </a:extLst>
            </p:cNvPr>
            <p:cNvSpPr/>
            <p:nvPr/>
          </p:nvSpPr>
          <p:spPr>
            <a:xfrm flipH="1">
              <a:off x="8837415" y="2832017"/>
              <a:ext cx="2873866" cy="368029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update</a:t>
              </a:r>
            </a:p>
          </p:txBody>
        </p:sp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741440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4C81-3730-01C4-0178-B5F501F1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MC Control: Find a Good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good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state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not sufficient to pick the best action. We need the Q-function.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)[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We need to estimate the Q-function from samples.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7736B57-32A4-8061-59E8-4A8B0884BBE9}"/>
              </a:ext>
            </a:extLst>
          </p:cNvPr>
          <p:cNvGrpSpPr/>
          <p:nvPr/>
        </p:nvGrpSpPr>
        <p:grpSpPr>
          <a:xfrm>
            <a:off x="6452244" y="4226067"/>
            <a:ext cx="4771840" cy="515511"/>
            <a:chOff x="2458533" y="3098314"/>
            <a:chExt cx="1699913" cy="515511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7D54A4FA-9978-C0D7-9A96-C09807FEC7CA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/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model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r>
                    <a:rPr lang="en-US" sz="1400" dirty="0"/>
                    <a:t> is not accessible!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blipFill>
                  <a:blip r:embed="rId4"/>
                  <a:stretch>
                    <a:fillRect t="-1961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60577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b="0" dirty="0"/>
                  <a:t> can be estimated with regular </a:t>
                </a:r>
                <a:r>
                  <a:rPr lang="en-US" dirty="0"/>
                  <a:t>MC prediction. 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Complication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 r="-928" b="-2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as GPI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612927" cy="4779633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of by sampling an episode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optimal policy is reached.</a:t>
                </a:r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612927" cy="4779633"/>
              </a:xfrm>
              <a:blipFill>
                <a:blip r:embed="rId2"/>
                <a:stretch>
                  <a:fillRect l="-1346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997581" y="218543"/>
            <a:ext cx="3001301" cy="2828670"/>
            <a:chOff x="8990601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90601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is better (equal)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Assumptions:</a:t>
                </a:r>
              </a:p>
              <a:p>
                <a:pPr lvl="1"/>
                <a:r>
                  <a:rPr lang="en-US" dirty="0"/>
                  <a:t>All states are reached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episodes.</a:t>
                </a:r>
              </a:p>
              <a:p>
                <a:r>
                  <a:rPr lang="en-US" dirty="0"/>
                  <a:t>Options for imperfect policy evaluation:</a:t>
                </a:r>
              </a:p>
              <a:p>
                <a:pPr lvl="1"/>
                <a:r>
                  <a:rPr lang="en-US" dirty="0"/>
                  <a:t>Get bounds for the error and use sufficiently many episodes to reach an acceptable level of error.</a:t>
                </a:r>
              </a:p>
              <a:p>
                <a:pPr lvl="1"/>
                <a:r>
                  <a:rPr lang="en-US" dirty="0"/>
                  <a:t>Instead of complete policy evaluation just move a little closer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1610108" cy="387403"/>
          </a:xfrm>
          <a:prstGeom prst="wedgeRoundRectCallout">
            <a:avLst>
              <a:gd name="adj1" fmla="val -167448"/>
              <a:gd name="adj2" fmla="val 5127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policy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soft policy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behavior policy for sampling that tries all state-action pairs, but learn the optimal, deterministic policy.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Soft policy</a:t>
                </a:r>
                <a:r>
                  <a:rPr lang="en-US" dirty="0"/>
                  <a:t>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+ gradually shifts closer to the optimal deterministic policy.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19969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88327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38730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761074"/>
                <a:ext cx="1482586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761074"/>
                <a:ext cx="1482586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302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324863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94341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vs. On-Policy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45415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need behavior that explores. These exploratory actions will often lead to suboptimal outcomes.</a:t>
                </a:r>
              </a:p>
              <a:p>
                <a:pPr lvl="1"/>
                <a:r>
                  <a:rPr lang="en-US" dirty="0"/>
                  <a:t>Learning action values depends on observing subsequent optimal behavior.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Learns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dirty="0"/>
                  <a:t>Target policy: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 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45415"/>
              </a:xfrm>
              <a:blipFill>
                <a:blip r:embed="rId2"/>
                <a:stretch>
                  <a:fillRect l="-232" t="-1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are fixed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dirty="0"/>
                  <a:t>We are typically interested in the optimal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with respect to the current estimate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. We know this policy has to be a </a:t>
                </a:r>
                <a:r>
                  <a:rPr lang="en-US" b="1" dirty="0"/>
                  <a:t>deterministic greedy policy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13" r="-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b="1" dirty="0"/>
                  <a:t>Importance sampling </a:t>
                </a:r>
                <a:r>
                  <a:rPr lang="en-US" sz="1800" dirty="0"/>
                  <a:t>is a method to estimate the expected values under a desired distribution given samples from another distribution </a:t>
                </a:r>
              </a:p>
              <a:p>
                <a:pPr lvl="1"/>
                <a:r>
                  <a:rPr lang="en-US" sz="1400" dirty="0"/>
                  <a:t>Desired distribution: actions are chosen according to the target policy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  <a:p>
                <a:pPr lvl="1"/>
                <a:r>
                  <a:rPr lang="en-US" sz="1400" dirty="0"/>
                  <a:t>Sampled distribution: actions are chosen by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  <a:p>
                <a:r>
                  <a:rPr lang="en-US" sz="1800" b="1" dirty="0"/>
                  <a:t>Use in off-policy prediction</a:t>
                </a:r>
                <a:r>
                  <a:rPr lang="en-US" sz="1800" dirty="0"/>
                  <a:t>: weight returns observed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using the probability of trajectories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.</a:t>
                </a:r>
              </a:p>
              <a:p>
                <a:r>
                  <a:rPr lang="en-US" sz="18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b="1" dirty="0"/>
                  <a:t>Importance sampling ratio </a:t>
                </a:r>
                <a:r>
                  <a:rPr lang="en-US" sz="1800" dirty="0"/>
                  <a:t>(probability that 𝑏 chooses the same actions as 𝜋):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Note: </a:t>
                </a:r>
                <a:r>
                  <a:rPr lang="en-US" sz="1800" dirty="0"/>
                  <a:t>The ratio has to be calculated for the remainder of each sampled trajectory.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522" t="-1148" b="-3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425414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758630" y="4767441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57357"/>
            <a:ext cx="2101026" cy="750367"/>
          </a:xfrm>
          <a:prstGeom prst="wedgeRoundRectCallout">
            <a:avLst>
              <a:gd name="adj1" fmla="val -76807"/>
              <a:gd name="adj2" fmla="val -354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471194" y="2917700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2E2FEED-5945-68CE-0EE6-B01BEE371736}"/>
              </a:ext>
            </a:extLst>
          </p:cNvPr>
          <p:cNvSpPr/>
          <p:nvPr/>
        </p:nvSpPr>
        <p:spPr>
          <a:xfrm>
            <a:off x="9471194" y="5409617"/>
            <a:ext cx="2101026" cy="966952"/>
          </a:xfrm>
          <a:prstGeom prst="wedgeRoundRectCallout">
            <a:avLst>
              <a:gd name="adj1" fmla="val -145246"/>
              <a:gd name="adj2" fmla="val -3067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we need to do is correct the returns by multiplying them with the ratio.</a:t>
            </a:r>
          </a:p>
        </p:txBody>
      </p:sp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Ordinary importance sampling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)≝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𝒯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but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Weighted importance sampling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Set 0 if denominator is 0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dirty="0"/>
                  <a:t>. Bias falls asymptotically with more visits.</a:t>
                </a:r>
              </a:p>
              <a:p>
                <a:pPr lvl="1"/>
                <a:r>
                  <a:rPr lang="en-US" dirty="0"/>
                  <a:t>Preferred method with much lower errors at lower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b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729DC6-6293-777D-0E8A-BF19CD2D75FC}"/>
                  </a:ext>
                </a:extLst>
              </p:cNvPr>
              <p:cNvSpPr txBox="1"/>
              <p:nvPr/>
            </p:nvSpPr>
            <p:spPr>
              <a:xfrm>
                <a:off x="8749716" y="1537174"/>
                <a:ext cx="2956421" cy="307777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time steps that s was visited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729DC6-6293-777D-0E8A-BF19CD2D7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9716" y="1537174"/>
                <a:ext cx="2956421" cy="307777"/>
              </a:xfrm>
              <a:prstGeom prst="rect">
                <a:avLst/>
              </a:prstGeom>
              <a:blipFill>
                <a:blip r:embed="rId3"/>
                <a:stretch>
                  <a:fillRect t="-1852" b="-14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Incremental Implementation using </a:t>
            </a:r>
            <a:br>
              <a:rPr lang="en-US" dirty="0"/>
            </a:br>
            <a:r>
              <a:rPr lang="en-US" dirty="0"/>
              <a:t>Weighted Importance Sampling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1461" y="2046914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1694577" cy="503339"/>
              </a:xfrm>
              <a:prstGeom prst="wedgeRoundRectCallout">
                <a:avLst>
                  <a:gd name="adj1" fmla="val -159408"/>
                  <a:gd name="adj2" fmla="val 4107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1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100" dirty="0"/>
                  <a:t> for incremental update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1694577" cy="503339"/>
              </a:xfrm>
              <a:prstGeom prst="wedgeRoundRectCallout">
                <a:avLst>
                  <a:gd name="adj1" fmla="val -159408"/>
                  <a:gd name="adj2" fmla="val 41071"/>
                  <a:gd name="adj3" fmla="val 16667"/>
                </a:avLst>
              </a:prstGeom>
              <a:blipFill>
                <a:blip r:embed="rId4"/>
                <a:stretch>
                  <a:fillRect t="-8140" b="-1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Incremental update + 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522826" y="3633248"/>
                <a:ext cx="1995181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1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100" dirty="0"/>
                  <a:t> can change every episode!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2826" y="3633248"/>
                <a:ext cx="1995181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  <a:blipFill>
                <a:blip r:embed="rId5"/>
                <a:stretch>
                  <a:fillRect t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sampling with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control. The behavior changes with the learned policy.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pPr lvl="1"/>
                <a:r>
                  <a:rPr lang="en-US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needs to be soft (have coverage)</a:t>
                </a:r>
              </a:p>
              <a:p>
                <a:pPr lvl="1"/>
                <a:r>
                  <a:rPr lang="en-US" dirty="0"/>
                  <a:t>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 can be deterministic (e.g., greedy)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92552"/>
                <a:ext cx="2882315" cy="206502"/>
              </a:xfrm>
              <a:prstGeom prst="wedgeRoundRectCallout">
                <a:avLst>
                  <a:gd name="adj1" fmla="val -78316"/>
                  <a:gd name="adj2" fmla="val -846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We use </a:t>
                </a:r>
                <a14:m>
                  <m:oMath xmlns:m="http://schemas.openxmlformats.org/officeDocument/2006/math"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100" dirty="0"/>
                  <a:t> to select a. So the probability is 1.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92552"/>
                <a:ext cx="2882315" cy="206502"/>
              </a:xfrm>
              <a:prstGeom prst="wedgeRoundRectCallout">
                <a:avLst>
                  <a:gd name="adj1" fmla="val -78316"/>
                  <a:gd name="adj2" fmla="val -84657"/>
                  <a:gd name="adj3" fmla="val 16667"/>
                </a:avLst>
              </a:prstGeom>
              <a:blipFill>
                <a:blip r:embed="rId5"/>
                <a:stretch>
                  <a:fillRect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8" y="2270004"/>
            <a:ext cx="1504293" cy="206502"/>
          </a:xfrm>
          <a:prstGeom prst="wedgeRoundRectCallout">
            <a:avLst>
              <a:gd name="adj1" fmla="val -141544"/>
              <a:gd name="adj2" fmla="val 25861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Add the target policy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Should Know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MC works with sample episodes:</a:t>
                </a:r>
                <a:endParaRPr lang="en-US" b="1" dirty="0"/>
              </a:p>
              <a:p>
                <a:pPr lvl="1"/>
                <a:r>
                  <a:rPr lang="en-US" b="1" dirty="0"/>
                  <a:t>Policy Evaluation</a:t>
                </a:r>
                <a:r>
                  <a:rPr lang="en-US" dirty="0"/>
                  <a:t>: Averages many sampled returns. </a:t>
                </a:r>
              </a:p>
              <a:p>
                <a:pPr lvl="1"/>
                <a:r>
                  <a:rPr lang="en-US" b="1" dirty="0"/>
                  <a:t>Control</a:t>
                </a:r>
                <a:r>
                  <a:rPr lang="en-US" dirty="0"/>
                  <a:t>: Interleaves pol. eval. and pol. improvement on an episode-by-episode basis.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Advantage of MC methods vs DP:</a:t>
                </a:r>
              </a:p>
              <a:p>
                <a:pPr lvl="2"/>
                <a:r>
                  <a:rPr lang="en-US" b="1" dirty="0"/>
                  <a:t>Model-free</a:t>
                </a:r>
                <a:r>
                  <a:rPr lang="en-US" dirty="0"/>
                  <a:t>: No need for an environment model. Sampling from a simulation is often easy.</a:t>
                </a:r>
              </a:p>
              <a:p>
                <a:pPr lvl="2"/>
                <a:r>
                  <a:rPr lang="en-US" dirty="0"/>
                  <a:t>Can evaluate a small </a:t>
                </a:r>
                <a:r>
                  <a:rPr lang="en-US" b="1" dirty="0"/>
                  <a:t>state set</a:t>
                </a:r>
                <a:r>
                  <a:rPr lang="en-US" dirty="0"/>
                  <a:t> of interest. DP always has to sweep over all states.</a:t>
                </a:r>
              </a:p>
              <a:p>
                <a:pPr lvl="2"/>
                <a:r>
                  <a:rPr lang="en-US" b="1" dirty="0"/>
                  <a:t>Produced unbiased estimates: </a:t>
                </a:r>
                <a:r>
                  <a:rPr lang="en-US" dirty="0"/>
                  <a:t>Estimates are based on returns from complete sampled sequences. DP and other methods use bootstrapping (estimating a value from other estimates), which introduces bias.</a:t>
                </a:r>
              </a:p>
              <a:p>
                <a:pPr lvl="2"/>
                <a:r>
                  <a:rPr lang="en-US" dirty="0"/>
                  <a:t>Using complete sequences may be less harmed by violations of the Markov property.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Issues:</a:t>
                </a:r>
              </a:p>
              <a:p>
                <a:pPr lvl="1"/>
                <a:r>
                  <a:rPr lang="en-US" b="1" dirty="0"/>
                  <a:t>Needs to maintain sufficient exploration</a:t>
                </a:r>
                <a:r>
                  <a:rPr lang="en-US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dirty="0"/>
                  <a:t>Learning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dirty="0"/>
                  <a:t>Off-policy learning with a covering behavior policy. Note: only a part of the data can be used.</a:t>
                </a:r>
              </a:p>
              <a:p>
                <a:pPr lvl="1"/>
                <a:r>
                  <a:rPr lang="en-US" dirty="0"/>
                  <a:t>MC methods are </a:t>
                </a:r>
                <a:r>
                  <a:rPr lang="en-US" b="1" dirty="0"/>
                  <a:t>not sample efficient</a:t>
                </a:r>
                <a:r>
                  <a:rPr lang="en-US" dirty="0"/>
                  <a:t>. I.e., sampled episodes are used only once and then discarded.</a:t>
                </a:r>
              </a:p>
              <a:p>
                <a:pPr lvl="1"/>
                <a:r>
                  <a:rPr lang="en-US" b="1" dirty="0"/>
                  <a:t>Not a truly online method</a:t>
                </a:r>
                <a:r>
                  <a:rPr lang="en-US" dirty="0"/>
                  <a:t>: Updates are not done after each action, but are delayed until the end of each episode.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10325</TotalTime>
  <Words>2156</Words>
  <Application>Microsoft Office PowerPoint</Application>
  <PresentationFormat>Widescreen</PresentationFormat>
  <Paragraphs>232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Summary of Notation</vt:lpstr>
      <vt:lpstr>Introduction</vt:lpstr>
      <vt:lpstr>On-Policy Monte Carlo Prediction</vt:lpstr>
      <vt:lpstr>MC Prediction: Estimate v_π</vt:lpstr>
      <vt:lpstr>On-Policy Monte Carlo Control</vt:lpstr>
      <vt:lpstr>MC Control: Find a Good Policy</vt:lpstr>
      <vt:lpstr>MC Prediction to Estimate Q-Values</vt:lpstr>
      <vt:lpstr>MC Control as GPI</vt:lpstr>
      <vt:lpstr>Remember: Policy Improvement Theorem</vt:lpstr>
      <vt:lpstr>Alg. MC Control with Exploring Starts</vt:lpstr>
      <vt:lpstr>MC Control without Exploring Starts</vt:lpstr>
      <vt:lpstr>Types of Soft Policies</vt:lpstr>
      <vt:lpstr>Alg. On-Policy MC Control with ϵ-soft Policies</vt:lpstr>
      <vt:lpstr>Off-Policy Prediction</vt:lpstr>
      <vt:lpstr>Off-Policy vs. On-Policy Learning</vt:lpstr>
      <vt:lpstr>Off-Policy Prediction</vt:lpstr>
      <vt:lpstr>Importance Sampling</vt:lpstr>
      <vt:lpstr>Ordinary vs. Weighted Importance Sampling</vt:lpstr>
      <vt:lpstr>Incremental Implementation using  Weighted Importance Sampling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133</cp:revision>
  <dcterms:created xsi:type="dcterms:W3CDTF">2025-09-08T14:44:49Z</dcterms:created>
  <dcterms:modified xsi:type="dcterms:W3CDTF">2026-01-09T22:21:46Z</dcterms:modified>
</cp:coreProperties>
</file>