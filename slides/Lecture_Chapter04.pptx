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68" r:id="rId3"/>
    <p:sldId id="388" r:id="rId4"/>
    <p:sldId id="380" r:id="rId5"/>
    <p:sldId id="372" r:id="rId6"/>
    <p:sldId id="369" r:id="rId7"/>
    <p:sldId id="370" r:id="rId8"/>
    <p:sldId id="371" r:id="rId9"/>
    <p:sldId id="374" r:id="rId10"/>
    <p:sldId id="373" r:id="rId11"/>
    <p:sldId id="375" r:id="rId12"/>
    <p:sldId id="376" r:id="rId13"/>
    <p:sldId id="377" r:id="rId14"/>
    <p:sldId id="378" r:id="rId15"/>
    <p:sldId id="379" r:id="rId16"/>
    <p:sldId id="382" r:id="rId17"/>
    <p:sldId id="383" r:id="rId18"/>
    <p:sldId id="384" r:id="rId19"/>
    <p:sldId id="385" r:id="rId20"/>
    <p:sldId id="386" r:id="rId21"/>
    <p:sldId id="38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68"/>
            <p14:sldId id="388"/>
            <p14:sldId id="380"/>
            <p14:sldId id="372"/>
            <p14:sldId id="369"/>
            <p14:sldId id="370"/>
            <p14:sldId id="371"/>
            <p14:sldId id="374"/>
            <p14:sldId id="373"/>
            <p14:sldId id="375"/>
            <p14:sldId id="376"/>
            <p14:sldId id="377"/>
            <p14:sldId id="378"/>
            <p14:sldId id="379"/>
            <p14:sldId id="382"/>
            <p14:sldId id="383"/>
            <p14:sldId id="384"/>
            <p14:sldId id="385"/>
            <p14:sldId id="386"/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24" y="3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000" dirty="0"/>
                  <a:t>Compute the 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000" dirty="0"/>
                  <a:t> given a perfect finite MDP model.</a:t>
                </a:r>
              </a:p>
              <a:p>
                <a:r>
                  <a:rPr lang="en-US" sz="2000" dirty="0"/>
                  <a:t>Bellman optimality equations: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pPr marL="0" indent="0" algn="ctr">
                  <a:buNone/>
                </a:pPr>
                <a:r>
                  <a:rPr lang="en-US" sz="20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b="1" dirty="0"/>
                  <a:t>Idea</a:t>
                </a:r>
                <a:r>
                  <a:rPr lang="en-US" sz="2000" dirty="0"/>
                  <a:t>: turn the Bellman optimality equations into update rules.</a:t>
                </a:r>
              </a:p>
              <a:p>
                <a:r>
                  <a:rPr lang="en-US" sz="2000" b="1" dirty="0"/>
                  <a:t>Issues</a:t>
                </a:r>
                <a:r>
                  <a:rPr lang="en-US" sz="2000" dirty="0"/>
                  <a:t>: </a:t>
                </a:r>
                <a:r>
                  <a:rPr lang="en-US" sz="1800" dirty="0"/>
                  <a:t>The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800" dirty="0"/>
                  <a:t>. This is a recursion!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5936874" y="3738285"/>
            <a:ext cx="1622631" cy="579543"/>
            <a:chOff x="2533296" y="3175233"/>
            <a:chExt cx="1503726" cy="5795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602325" y="3385444"/>
                  <a:ext cx="136566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25" y="3385444"/>
                  <a:ext cx="1365667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0194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Dynamic programming is a tabular method.</a:t>
                </a:r>
              </a:p>
              <a:p>
                <a:r>
                  <a:rPr lang="en-US" dirty="0"/>
                  <a:t>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(tables).</a:t>
                </a:r>
              </a:p>
              <a:p>
                <a:r>
                  <a:rPr lang="en-US" dirty="0"/>
                  <a:t>Tabular methods can often find the exact solution (i.e., optimal value function and policy).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Since the table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and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many entries, this is only feasible for problems with a small state space!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406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5F1C3-5C0A-145A-FD0E-11A8D3F8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Evaluation (Prediction)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First step: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dynamic programming (DP) this is called policy evaluation.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en-US" dirty="0"/>
                  <a:t>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dirty="0"/>
                  <a:t>To 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from later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called </a:t>
                </a:r>
                <a:r>
                  <a:rPr lang="en-US" b="1" dirty="0"/>
                  <a:t>bootstrapping</a:t>
                </a:r>
                <a:r>
                  <a:rPr lang="en-US" dirty="0"/>
                  <a:t> in DP.</a:t>
                </a:r>
              </a:p>
              <a:p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or termination is guaranteed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2"/>
                <a:stretch>
                  <a:fillRect l="-522" t="-2155" b="-20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equations. </a:t>
                </a:r>
                <a:br>
                  <a:rPr lang="en-US" sz="2400" dirty="0"/>
                </a:br>
                <a:r>
                  <a:rPr lang="en-US" sz="2400" dirty="0"/>
                  <a:t>This is hard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is very large.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Iterative Policy Evaluation</a:t>
                </a:r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values at iteration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using </a:t>
                </a:r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is a fixed point. Updates converge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786" b="-7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D69E0E1-150E-502B-230D-20020733C03F}"/>
              </a:ext>
            </a:extLst>
          </p:cNvPr>
          <p:cNvGrpSpPr/>
          <p:nvPr/>
        </p:nvGrpSpPr>
        <p:grpSpPr>
          <a:xfrm>
            <a:off x="4839829" y="4965969"/>
            <a:ext cx="5375181" cy="730954"/>
            <a:chOff x="2458533" y="3098314"/>
            <a:chExt cx="1699913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67214591-2070-0693-973A-E1B8CCC315CF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F88B54-F488-2CE8-6F14-974D1CC4F817}"/>
                </a:ext>
              </a:extLst>
            </p:cNvPr>
            <p:cNvSpPr txBox="1"/>
            <p:nvPr/>
          </p:nvSpPr>
          <p:spPr>
            <a:xfrm>
              <a:off x="2458533" y="3306048"/>
              <a:ext cx="16999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next states.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98E72-A858-886F-FFC6-1EAF054B2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09B95-047C-85A1-59FC-0A9A298CFB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The nonterminal states are S = {1, 2, . . . , 14}. There are four actions possible in each</a:t>
            </a:r>
          </a:p>
          <a:p>
            <a:r>
              <a:rPr lang="en-US" dirty="0"/>
              <a:t>state, A = {up, down, right, left}, which deterministically cause the corresponding</a:t>
            </a:r>
          </a:p>
          <a:p>
            <a:r>
              <a:rPr lang="en-US" dirty="0"/>
              <a:t>state transitions, except that actions that would take the agent o↵ the grid in fact leave</a:t>
            </a:r>
          </a:p>
          <a:p>
            <a:r>
              <a:rPr lang="en-US" dirty="0"/>
              <a:t>the state unchanged. Thus, for instance, p(6,−1|5, right) = 1, p(7,−1|7, right) = 1,</a:t>
            </a:r>
          </a:p>
          <a:p>
            <a:r>
              <a:rPr lang="en-US" dirty="0"/>
              <a:t>and p(10, r|5, right) = 0 for all r 2 R. This is an undiscounted, episodic task. The</a:t>
            </a:r>
          </a:p>
          <a:p>
            <a:r>
              <a:rPr lang="en-US" dirty="0"/>
              <a:t>reward is −1 on all transitions until the terminal state is reached. The terminal state is</a:t>
            </a:r>
          </a:p>
          <a:p>
            <a:r>
              <a:rPr lang="en-US" dirty="0"/>
              <a:t>shaded in the figure (although it is shown in two places, it is formally one state). The</a:t>
            </a:r>
          </a:p>
          <a:p>
            <a:r>
              <a:rPr lang="en-US" dirty="0"/>
              <a:t>expected reward function is thus r(s, a, s0) = −1 for all states s, s0 and actions a. Suppose</a:t>
            </a:r>
          </a:p>
          <a:p>
            <a:r>
              <a:rPr lang="en-US" dirty="0"/>
              <a:t>the agent follows the equiprobable random policy (all actions equally likely). The left side</a:t>
            </a:r>
          </a:p>
          <a:p>
            <a:r>
              <a:rPr lang="en-US" dirty="0"/>
              <a:t>of Figure 4.1 shows the sequence of value functions {</a:t>
            </a:r>
            <a:r>
              <a:rPr lang="en-US" dirty="0" err="1"/>
              <a:t>vk</a:t>
            </a:r>
            <a:r>
              <a:rPr lang="en-US" dirty="0"/>
              <a:t>} computed by iterative policy</a:t>
            </a:r>
          </a:p>
          <a:p>
            <a:r>
              <a:rPr lang="en-US" dirty="0"/>
              <a:t>evaluation. The final estimate is in fact v⇡, which in this case gives for each state the</a:t>
            </a:r>
          </a:p>
          <a:p>
            <a:r>
              <a:rPr lang="en-US" dirty="0"/>
              <a:t>negation of the expected number of steps from that state until termination.</a:t>
            </a:r>
          </a:p>
          <a:p>
            <a:r>
              <a:rPr lang="en-US" dirty="0"/>
              <a:t>Exercise 4.1 In Example 4.1, if ⇡ is the equiprobable random policy, what is q⇡(11, down)?</a:t>
            </a:r>
          </a:p>
          <a:p>
            <a:r>
              <a:rPr lang="en-US" dirty="0"/>
              <a:t>What is q⇡(7, down)?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60DC1D-1A9A-5821-679A-6B4DC5B4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997" y="0"/>
            <a:ext cx="89170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70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r>
                  <a:rPr lang="en-US" b="1" dirty="0"/>
                  <a:t>Policy improvement theorem</a:t>
                </a:r>
                <a:r>
                  <a:rPr lang="en-US" dirty="0"/>
                  <a:t>: If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	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a least as good or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create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gives a strictly better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b="-2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Sequence of monotonically improving policies: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  <a:blipFill>
                <a:blip r:embed="rId2"/>
                <a:stretch>
                  <a:fillRect l="-1113" t="-16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313355" y="14891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3355" y="14891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3030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61388" y="2382237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6042" y="4181912"/>
                <a:ext cx="7897536" cy="219391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 + 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very fast (a few iterations)</a:t>
                </a:r>
              </a:p>
              <a:p>
                <a:pPr lvl="1"/>
                <a:r>
                  <a:rPr lang="en-US" dirty="0"/>
                  <a:t>Issue: Policy estimation is </a:t>
                </a:r>
                <a:r>
                  <a:rPr lang="en-US" dirty="0" err="1"/>
                  <a:t>computationaly</a:t>
                </a:r>
                <a:r>
                  <a:rPr lang="en-US" dirty="0"/>
                  <a:t> expensive!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042" y="4181912"/>
                <a:ext cx="7897536" cy="2193918"/>
              </a:xfrm>
              <a:prstGeom prst="rect">
                <a:avLst/>
              </a:prstGeom>
              <a:blipFill>
                <a:blip r:embed="rId8"/>
                <a:stretch>
                  <a:fillRect l="-1003" t="-5556" b="-3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7990869" cy="4235652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Combines the policy improvement and truncated policy evaluation steps: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400" dirty="0"/>
                  <a:t>Practical termination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7990869" cy="4235652"/>
              </a:xfrm>
              <a:blipFill>
                <a:blip r:embed="rId2"/>
                <a:stretch>
                  <a:fillRect l="-1069" t="-18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849408" y="2272967"/>
                <a:ext cx="2565174" cy="660694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policy evaluation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408" y="2272967"/>
                <a:ext cx="2565174" cy="660694"/>
              </a:xfrm>
              <a:prstGeom prst="rect">
                <a:avLst/>
              </a:prstGeom>
              <a:blipFill>
                <a:blip r:embed="rId7"/>
                <a:stretch>
                  <a:fillRect t="-901" b="-9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8204" y="1767399"/>
            <a:ext cx="8535591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Space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Tabular method: stores the complete value function as table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</a:t>
                </a:r>
              </a:p>
              <a:p>
                <a:r>
                  <a:rPr lang="en-US" dirty="0"/>
                  <a:t>Updates repeatedly sweep over the whole state space.</a:t>
                </a:r>
              </a:p>
              <a:p>
                <a:r>
                  <a:rPr lang="en-US" dirty="0"/>
                  <a:t>Wastes computation by updating states that are not relevant for the optimal behavior.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r>
                  <a:rPr lang="en-US" b="1" dirty="0"/>
                  <a:t>Policy iteration</a:t>
                </a:r>
                <a:r>
                  <a:rPr lang="en-US" dirty="0"/>
                  <a:t>: each eval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iteration.</a:t>
                </a:r>
              </a:p>
              <a:p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759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513" y="1184939"/>
            <a:ext cx="2682923" cy="42926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219" y="3787146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Search space is </a:t>
                </a:r>
                <a:r>
                  <a:rPr lang="en-US" u="sng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 and actions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solve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 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state variables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constraints.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</a:t>
                </a:r>
                <a:r>
                  <a:rPr lang="en-US" u="sng" dirty="0"/>
                  <a:t>polynomial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Search and LP are impractical.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 r="-1391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DP needs access to the </a:t>
                </a:r>
                <a:r>
                  <a:rPr lang="en-US" b="1" dirty="0"/>
                  <a:t>model</a:t>
                </a:r>
                <a:r>
                  <a:rPr lang="en-US" dirty="0"/>
                  <a:t>’s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Prediction</a:t>
                </a:r>
                <a:r>
                  <a:rPr lang="en-US" dirty="0"/>
                  <a:t>: Calculates the value function for a given policy.</a:t>
                </a:r>
              </a:p>
              <a:p>
                <a:r>
                  <a:rPr lang="en-US" b="1" dirty="0"/>
                  <a:t>Control</a:t>
                </a:r>
                <a:r>
                  <a:rPr lang="en-US" dirty="0"/>
                  <a:t>: Calculates the optimal policy for an MDP.</a:t>
                </a:r>
              </a:p>
              <a:p>
                <a:endParaRPr lang="en-US" dirty="0"/>
              </a:p>
              <a:p>
                <a:r>
                  <a:rPr lang="en-US" dirty="0"/>
                  <a:t>DP uses the recursive relationship between state values called the Bellman optimality equations.</a:t>
                </a:r>
              </a:p>
              <a:p>
                <a:r>
                  <a:rPr lang="en-US" dirty="0"/>
                  <a:t>It bootstraps, i.e., it calculates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from later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methods store the complete value function as a table and iteratively sweep over the table.</a:t>
                </a:r>
              </a:p>
              <a:p>
                <a:r>
                  <a:rPr lang="en-US"/>
                  <a:t>The methods </a:t>
                </a:r>
                <a:r>
                  <a:rPr lang="en-US" dirty="0"/>
                  <a:t>can be </a:t>
                </a:r>
                <a:r>
                  <a:rPr lang="en-US"/>
                  <a:t>generalized as </a:t>
                </a:r>
                <a:r>
                  <a:rPr lang="en-US" dirty="0"/>
                  <a:t>the GPI approach.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3781</TotalTime>
  <Words>1718</Words>
  <Application>Microsoft Office PowerPoint</Application>
  <PresentationFormat>Widescreen</PresentationFormat>
  <Paragraphs>186</Paragraphs>
  <Slides>21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Goal</vt:lpstr>
      <vt:lpstr>Summary of Notation</vt:lpstr>
      <vt:lpstr>Tabular Methods</vt:lpstr>
      <vt:lpstr>Policy Evaluation</vt:lpstr>
      <vt:lpstr>Policy Evaluation (Prediction)</vt:lpstr>
      <vt:lpstr>Solution Options</vt:lpstr>
      <vt:lpstr>Alg. Iterative Policy Evaluation</vt:lpstr>
      <vt:lpstr>Example</vt:lpstr>
      <vt:lpstr>Policy Iteration</vt:lpstr>
      <vt:lpstr>Policy Improvement</vt:lpstr>
      <vt:lpstr>Policy Iteration</vt:lpstr>
      <vt:lpstr>Alg. Policy Iteration</vt:lpstr>
      <vt:lpstr>Value Iteration</vt:lpstr>
      <vt:lpstr>Value Iteration</vt:lpstr>
      <vt:lpstr>Alg. Value Iteration</vt:lpstr>
      <vt:lpstr>Issues with DP Methods</vt:lpstr>
      <vt:lpstr>GPI: Generalized Policy Iteration</vt:lpstr>
      <vt:lpstr>GPI: Generalized Policy Iteration</vt:lpstr>
      <vt:lpstr>Efficiency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94</cp:revision>
  <dcterms:created xsi:type="dcterms:W3CDTF">2025-09-08T14:44:49Z</dcterms:created>
  <dcterms:modified xsi:type="dcterms:W3CDTF">2025-11-29T19:03:09Z</dcterms:modified>
</cp:coreProperties>
</file>