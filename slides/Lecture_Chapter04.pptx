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1" r:id="rId3"/>
    <p:sldId id="368" r:id="rId4"/>
    <p:sldId id="380" r:id="rId5"/>
    <p:sldId id="388" r:id="rId6"/>
    <p:sldId id="372" r:id="rId7"/>
    <p:sldId id="369" r:id="rId8"/>
    <p:sldId id="370" r:id="rId9"/>
    <p:sldId id="371" r:id="rId10"/>
    <p:sldId id="373" r:id="rId11"/>
    <p:sldId id="375" r:id="rId12"/>
    <p:sldId id="376" r:id="rId13"/>
    <p:sldId id="377" r:id="rId14"/>
    <p:sldId id="378" r:id="rId15"/>
    <p:sldId id="379" r:id="rId16"/>
    <p:sldId id="382" r:id="rId17"/>
    <p:sldId id="383" r:id="rId18"/>
    <p:sldId id="384" r:id="rId19"/>
    <p:sldId id="385" r:id="rId20"/>
    <p:sldId id="386" r:id="rId21"/>
    <p:sldId id="38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1"/>
            <p14:sldId id="368"/>
            <p14:sldId id="380"/>
            <p14:sldId id="388"/>
            <p14:sldId id="372"/>
            <p14:sldId id="369"/>
            <p14:sldId id="370"/>
            <p14:sldId id="371"/>
            <p14:sldId id="373"/>
            <p14:sldId id="375"/>
            <p14:sldId id="376"/>
            <p14:sldId id="377"/>
            <p14:sldId id="378"/>
            <p14:sldId id="379"/>
            <p14:sldId id="382"/>
            <p14:sldId id="383"/>
            <p14:sldId id="384"/>
            <p14:sldId id="385"/>
            <p14:sldId id="386"/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10.png"/><Relationship Id="rId7" Type="http://schemas.openxmlformats.org/officeDocument/2006/relationships/image" Target="../media/image15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1735924"/>
              </a:xfrm>
              <a:blipFill>
                <a:blip r:embed="rId2"/>
                <a:stretch>
                  <a:fillRect b="-1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</a:t>
                </a:r>
                <a:r>
                  <a:rPr lang="en-US" sz="1200"/>
                  <a:t>all states </a:t>
                </a:r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471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000" dirty="0"/>
                  <a:t>Compute the </a:t>
                </a:r>
                <a:r>
                  <a:rPr lang="en-US" sz="2000" b="1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given a perfect finite MDP model.</a:t>
                </a:r>
              </a:p>
              <a:p>
                <a:r>
                  <a:rPr lang="en-US" sz="2000" dirty="0"/>
                  <a:t>Bellman optimality equations: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pPr marL="0" indent="0" algn="ctr">
                  <a:buNone/>
                </a:pPr>
                <a:r>
                  <a:rPr lang="en-US" sz="20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b="1" dirty="0"/>
                  <a:t>Issues</a:t>
                </a:r>
                <a:r>
                  <a:rPr lang="en-US" sz="2000" dirty="0"/>
                  <a:t>: </a:t>
                </a:r>
                <a:r>
                  <a:rPr lang="en-US" sz="1800" dirty="0"/>
                  <a:t>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800" dirty="0"/>
                  <a:t>! </a:t>
                </a:r>
                <a:br>
                  <a:rPr lang="en-US" sz="1800" dirty="0"/>
                </a:br>
                <a:r>
                  <a:rPr lang="en-US" sz="1800" dirty="0"/>
                  <a:t>We need to solve all optimality equations at the same time.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5936874" y="3738285"/>
            <a:ext cx="1622631" cy="579543"/>
            <a:chOff x="2533296" y="3175233"/>
            <a:chExt cx="1503726" cy="5795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602325" y="3385444"/>
                  <a:ext cx="136566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25" y="3385444"/>
                  <a:ext cx="1365667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Tabular methods can often find the exact solution (i.e., optimal value function and policy).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Table size: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this is only feasible for problems with a small discrete state/action spaces!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can work with large state spaces.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779633"/>
              </a:xfrm>
              <a:blipFill>
                <a:blip r:embed="rId2"/>
                <a:stretch>
                  <a:fillRect l="-1262" t="-2806" r="-7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1124198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pic>
        <p:nvPicPr>
          <p:cNvPr id="5" name="table">
            <a:extLst>
              <a:ext uri="{FF2B5EF4-FFF2-40B4-BE49-F238E27FC236}">
                <a16:creationId xmlns:a16="http://schemas.microsoft.com/office/drawing/2014/main" id="{6909DC8F-0404-8E17-1F75-A7A4FB0B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925" y="1524422"/>
            <a:ext cx="1934437" cy="1483360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332669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p:pic>
        <p:nvPicPr>
          <p:cNvPr id="7" name="table">
            <a:extLst>
              <a:ext uri="{FF2B5EF4-FFF2-40B4-BE49-F238E27FC236}">
                <a16:creationId xmlns:a16="http://schemas.microsoft.com/office/drawing/2014/main" id="{DD3BA89E-3990-B01B-3B38-A7D22EE81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1416" y="3696031"/>
            <a:ext cx="2662384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Find the optimal policy. This requires to be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of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(Prediction):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The exists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or termination is guaranteed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812" t="-2788" b="-20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398380" cy="4996490"/>
              </a:xfrm>
            </p:spPr>
            <p:txBody>
              <a:bodyPr>
                <a:normAutofit fontScale="92500" lnSpcReduction="1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Directly 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equations. </a:t>
                </a:r>
                <a:br>
                  <a:rPr lang="en-US" sz="2400" dirty="0"/>
                </a:br>
                <a:r>
                  <a:rPr lang="en-US" sz="2400" dirty="0"/>
                  <a:t>This is hard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is very large.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Dynamic Programming: Iterative Policy Evaluation</a:t>
                </a:r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for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iterations (sweeps over the state space) using the </a:t>
                </a:r>
                <a:r>
                  <a:rPr lang="en-US" sz="2000" b="1" dirty="0"/>
                  <a:t>Bellman Update (Operator):</a:t>
                </a:r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is a fixed point. Updates converge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398380" cy="4996490"/>
              </a:xfrm>
              <a:blipFill>
                <a:blip r:embed="rId2"/>
                <a:stretch>
                  <a:fillRect l="-1154" t="-2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D69E0E1-150E-502B-230D-20020733C03F}"/>
              </a:ext>
            </a:extLst>
          </p:cNvPr>
          <p:cNvGrpSpPr/>
          <p:nvPr/>
        </p:nvGrpSpPr>
        <p:grpSpPr>
          <a:xfrm>
            <a:off x="4537390" y="4818946"/>
            <a:ext cx="4076118" cy="730954"/>
            <a:chOff x="2458533" y="3098314"/>
            <a:chExt cx="1699913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67214591-2070-0693-973A-E1B8CCC315CF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F88B54-F488-2CE8-6F14-974D1CC4F817}"/>
                </a:ext>
              </a:extLst>
            </p:cNvPr>
            <p:cNvSpPr txBox="1"/>
            <p:nvPr/>
          </p:nvSpPr>
          <p:spPr>
            <a:xfrm>
              <a:off x="2458533" y="3306048"/>
              <a:ext cx="169991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next states.</a:t>
              </a:r>
            </a:p>
          </p:txBody>
        </p:sp>
      </p:grpSp>
      <p:grpSp>
        <p:nvGrpSpPr>
          <p:cNvPr id="8" name="Group 7" descr="Updating the value function using iterative Bellman updates.">
            <a:extLst>
              <a:ext uri="{FF2B5EF4-FFF2-40B4-BE49-F238E27FC236}">
                <a16:creationId xmlns:a16="http://schemas.microsoft.com/office/drawing/2014/main" id="{63FD7C4D-64E2-3FEF-F62C-382BE07E89C8}"/>
              </a:ext>
            </a:extLst>
          </p:cNvPr>
          <p:cNvGrpSpPr/>
          <p:nvPr/>
        </p:nvGrpSpPr>
        <p:grpSpPr>
          <a:xfrm>
            <a:off x="8752700" y="3086857"/>
            <a:ext cx="2854818" cy="1428805"/>
            <a:chOff x="9337182" y="2229868"/>
            <a:chExt cx="2854818" cy="142880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3024366-3B9C-8541-0D28-708BBC7AE6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337182" y="3124199"/>
              <a:ext cx="239307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8">
                  <a:extLst>
                    <a:ext uri="{FF2B5EF4-FFF2-40B4-BE49-F238E27FC236}">
                      <a16:creationId xmlns:a16="http://schemas.microsoft.com/office/drawing/2014/main" id="{115AA05C-2180-0AF6-A384-9D75BED15ED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25004" y="3092683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" name="TextBox 8">
                  <a:extLst>
                    <a:ext uri="{FF2B5EF4-FFF2-40B4-BE49-F238E27FC236}">
                      <a16:creationId xmlns:a16="http://schemas.microsoft.com/office/drawing/2014/main" id="{115AA05C-2180-0AF6-A384-9D75BED15ED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004" y="3092683"/>
                  <a:ext cx="7669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830A3C56-435D-BEBE-B83F-3BA9F9E016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60371" y="2649297"/>
              <a:ext cx="574339" cy="1009376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3FB9398F-7C22-1F4D-9C1A-D846D19FE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34710" y="2614308"/>
              <a:ext cx="765785" cy="1019782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72229F87-12B2-362D-80BC-031A6CAAE4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100495" y="2627412"/>
              <a:ext cx="220048" cy="1019782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936EFA66-6C09-679B-C4C9-F361F262C3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308888" y="2648522"/>
              <a:ext cx="417487" cy="951353"/>
            </a:xfrm>
            <a:prstGeom prst="arc">
              <a:avLst>
                <a:gd name="adj1" fmla="val 10871568"/>
                <a:gd name="adj2" fmla="val 0"/>
              </a:avLst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29">
                  <a:extLst>
                    <a:ext uri="{FF2B5EF4-FFF2-40B4-BE49-F238E27FC236}">
                      <a16:creationId xmlns:a16="http://schemas.microsoft.com/office/drawing/2014/main" id="{6DB673C8-2425-685A-8CBE-35EDDCA1EB9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564903" y="3086337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7" name="TextBox 29">
                  <a:extLst>
                    <a:ext uri="{FF2B5EF4-FFF2-40B4-BE49-F238E27FC236}">
                      <a16:creationId xmlns:a16="http://schemas.microsoft.com/office/drawing/2014/main" id="{6DB673C8-2425-685A-8CBE-35EDDCA1EB9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4903" y="3086337"/>
                  <a:ext cx="39581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30">
                  <a:extLst>
                    <a:ext uri="{FF2B5EF4-FFF2-40B4-BE49-F238E27FC236}">
                      <a16:creationId xmlns:a16="http://schemas.microsoft.com/office/drawing/2014/main" id="{56DA2FE2-AC26-7B66-B5BD-7064ECD50CE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066895" y="3115740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8" name="TextBox 30">
                  <a:extLst>
                    <a:ext uri="{FF2B5EF4-FFF2-40B4-BE49-F238E27FC236}">
                      <a16:creationId xmlns:a16="http://schemas.microsoft.com/office/drawing/2014/main" id="{56DA2FE2-AC26-7B66-B5BD-7064ECD50CE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6895" y="3115740"/>
                  <a:ext cx="39581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AF4F629-36FB-BF7C-2361-1AFA669F5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80507" y="3066584"/>
              <a:ext cx="127995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TextBox 35">
              <a:extLst>
                <a:ext uri="{FF2B5EF4-FFF2-40B4-BE49-F238E27FC236}">
                  <a16:creationId xmlns:a16="http://schemas.microsoft.com/office/drawing/2014/main" id="{0C0182D5-6E45-5881-FEB0-C4755A155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9337182" y="2229868"/>
              <a:ext cx="179633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600" dirty="0"/>
                <a:t>Bellman updates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Contol</a:t>
            </a:r>
            <a:r>
              <a:rPr lang="en-US" dirty="0"/>
              <a:t>: Find the optimal policy.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r>
                  <a:rPr lang="en-US" b="1" dirty="0"/>
                  <a:t>Policy improvement theorem</a:t>
                </a:r>
                <a:r>
                  <a:rPr lang="en-US" dirty="0"/>
                  <a:t>: If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	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a least as good or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create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gives a strictly better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b="-2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Sequence of monotonically improving policies: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771389" cy="907896"/>
              </a:xfrm>
              <a:blipFill>
                <a:blip r:embed="rId2"/>
                <a:stretch>
                  <a:fillRect l="-1113" t="-16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313355" y="14891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3355" y="14891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3030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61388" y="2382237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042" y="4181912"/>
                <a:ext cx="7897536" cy="219391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 + 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very fast (a few iterations)</a:t>
                </a:r>
              </a:p>
              <a:p>
                <a:pPr lvl="1"/>
                <a:r>
                  <a:rPr lang="en-US" dirty="0"/>
                  <a:t>Issue: Policy estimation is </a:t>
                </a:r>
                <a:r>
                  <a:rPr lang="en-US" dirty="0" err="1"/>
                  <a:t>computationaly</a:t>
                </a:r>
                <a:r>
                  <a:rPr lang="en-US" dirty="0"/>
                  <a:t> expensive!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042" y="4181912"/>
                <a:ext cx="7897536" cy="2193918"/>
              </a:xfrm>
              <a:prstGeom prst="rect">
                <a:avLst/>
              </a:prstGeom>
              <a:blipFill>
                <a:blip r:embed="rId8"/>
                <a:stretch>
                  <a:fillRect l="-1003" t="-5556" b="-3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Control: Find the optimal value function.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7990869" cy="4235652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Combines the policy improvement and truncated policy evaluation steps: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/>
                  <a:t>Practical termination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7990869" cy="4235652"/>
              </a:xfrm>
              <a:blipFill>
                <a:blip r:embed="rId2"/>
                <a:stretch>
                  <a:fillRect l="-1069" t="-18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849408" y="2272967"/>
                <a:ext cx="2565174" cy="660694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policy evaluation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9408" y="2272967"/>
                <a:ext cx="2565174" cy="660694"/>
              </a:xfrm>
              <a:prstGeom prst="rect">
                <a:avLst/>
              </a:prstGeom>
              <a:blipFill>
                <a:blip r:embed="rId7"/>
                <a:stretch>
                  <a:fillRect t="-901" b="-9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28204" y="1767399"/>
            <a:ext cx="8535591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Space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Tabular method: stores the complete value function as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</a:t>
                </a:r>
              </a:p>
              <a:p>
                <a:r>
                  <a:rPr lang="en-US" dirty="0"/>
                  <a:t>Updates repeatedly sweep over the whole state space.</a:t>
                </a:r>
              </a:p>
              <a:p>
                <a:r>
                  <a:rPr lang="en-US" dirty="0"/>
                  <a:t>Wastes computation by updating states that are not relevant for the optimal behavior.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r>
                  <a:rPr lang="en-US" b="1" dirty="0"/>
                  <a:t>Policy iteration</a:t>
                </a:r>
                <a:r>
                  <a:rPr lang="en-US" dirty="0"/>
                  <a:t>: each eval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iteration.</a:t>
                </a:r>
              </a:p>
              <a:p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759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513" y="1184939"/>
            <a:ext cx="2682923" cy="42926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219" y="3787146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Search space is </a:t>
                </a:r>
                <a:r>
                  <a:rPr lang="en-US" u="sng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 and actions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solve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 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state variables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constraints.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</a:t>
                </a:r>
                <a:r>
                  <a:rPr lang="en-US" u="sng" dirty="0"/>
                  <a:t>polynomial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Search and LP are impractical.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 r="-1391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need to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Requirements:</a:t>
                </a:r>
              </a:p>
              <a:p>
                <a:pPr lvl="1"/>
                <a:r>
                  <a:rPr lang="en-US" b="1" dirty="0"/>
                  <a:t>Model access</a:t>
                </a:r>
                <a:r>
                  <a:rPr lang="en-US" dirty="0"/>
                  <a:t>: DP methods need access to the </a:t>
                </a:r>
                <a:r>
                  <a:rPr lang="en-US" b="1" dirty="0"/>
                  <a:t>model</a:t>
                </a:r>
                <a:r>
                  <a:rPr lang="en-US" dirty="0"/>
                  <a:t>’s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Small discrete state/action space </a:t>
                </a:r>
                <a:r>
                  <a:rPr lang="en-US" dirty="0"/>
                  <a:t>since it a tabular method.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dirty="0"/>
                  <a:t>Tasks:</a:t>
                </a:r>
              </a:p>
              <a:p>
                <a:pPr lvl="1"/>
                <a:r>
                  <a:rPr lang="en-US" b="1" dirty="0"/>
                  <a:t>Prediction</a:t>
                </a:r>
                <a:r>
                  <a:rPr lang="en-US" dirty="0"/>
                  <a:t>: Calculates the value function for a given policy.</a:t>
                </a:r>
              </a:p>
              <a:p>
                <a:pPr lvl="1"/>
                <a:r>
                  <a:rPr lang="en-US" b="1" dirty="0"/>
                  <a:t>Control</a:t>
                </a:r>
                <a:r>
                  <a:rPr lang="en-US" dirty="0"/>
                  <a:t>: Calculates the optimal policy for an MDP.</a:t>
                </a:r>
              </a:p>
              <a:p>
                <a:endParaRPr lang="en-US" dirty="0"/>
              </a:p>
              <a:p>
                <a:r>
                  <a:rPr lang="en-US" b="1" dirty="0"/>
                  <a:t>Approach</a:t>
                </a:r>
                <a:r>
                  <a:rPr lang="en-US" dirty="0"/>
                  <a:t>: Convert the recursive Bellman optimality equations into the Belmann update operator and sweep the state space till the optimal solution is found.</a:t>
                </a:r>
              </a:p>
              <a:p>
                <a:r>
                  <a:rPr lang="en-US" b="1" dirty="0"/>
                  <a:t>GPI</a:t>
                </a:r>
                <a:r>
                  <a:rPr lang="en-US" dirty="0"/>
                  <a:t>: All DP methods can be generalized as the GPI approach.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3921</TotalTime>
  <Words>1495</Words>
  <Application>Microsoft Office PowerPoint</Application>
  <PresentationFormat>Widescreen</PresentationFormat>
  <Paragraphs>185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Summary of Notation</vt:lpstr>
      <vt:lpstr>Goal</vt:lpstr>
      <vt:lpstr>Tabular Methods</vt:lpstr>
      <vt:lpstr>Prediction vs. Control</vt:lpstr>
      <vt:lpstr>Policy Evaluation</vt:lpstr>
      <vt:lpstr>Policy Evaluation (Prediction): Estimate v_π</vt:lpstr>
      <vt:lpstr>Solution Options</vt:lpstr>
      <vt:lpstr>Alg. Iterative Policy Evaluation</vt:lpstr>
      <vt:lpstr>Policy Iteration</vt:lpstr>
      <vt:lpstr>Policy Improvement</vt:lpstr>
      <vt:lpstr>Policy Iteration</vt:lpstr>
      <vt:lpstr>Alg. Policy Iteration</vt:lpstr>
      <vt:lpstr>Value Iteration</vt:lpstr>
      <vt:lpstr>Value Iteration</vt:lpstr>
      <vt:lpstr>Alg. Value Iteration</vt:lpstr>
      <vt:lpstr>Issues with DP Methods</vt:lpstr>
      <vt:lpstr>GPI: Generalized Policy Iteration</vt:lpstr>
      <vt:lpstr>GPI: Generalized Policy Iteration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98</cp:revision>
  <dcterms:created xsi:type="dcterms:W3CDTF">2025-09-08T14:44:49Z</dcterms:created>
  <dcterms:modified xsi:type="dcterms:W3CDTF">2026-01-08T16:42:33Z</dcterms:modified>
</cp:coreProperties>
</file>