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478" r:id="rId3"/>
    <p:sldId id="368" r:id="rId4"/>
    <p:sldId id="380" r:id="rId5"/>
    <p:sldId id="388" r:id="rId6"/>
    <p:sldId id="372" r:id="rId7"/>
    <p:sldId id="369" r:id="rId8"/>
    <p:sldId id="370" r:id="rId9"/>
    <p:sldId id="389" r:id="rId10"/>
    <p:sldId id="390" r:id="rId11"/>
    <p:sldId id="371" r:id="rId12"/>
    <p:sldId id="373" r:id="rId13"/>
    <p:sldId id="375" r:id="rId14"/>
    <p:sldId id="376" r:id="rId15"/>
    <p:sldId id="377" r:id="rId16"/>
    <p:sldId id="378" r:id="rId17"/>
    <p:sldId id="379" r:id="rId18"/>
    <p:sldId id="382" r:id="rId19"/>
    <p:sldId id="383" r:id="rId20"/>
    <p:sldId id="384" r:id="rId21"/>
    <p:sldId id="385" r:id="rId22"/>
    <p:sldId id="386" r:id="rId23"/>
    <p:sldId id="387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478"/>
          </p14:sldIdLst>
        </p14:section>
        <p14:section name="Introduction" id="{E0FB7704-6132-49E2-A4A4-C2DED466B618}">
          <p14:sldIdLst>
            <p14:sldId id="368"/>
            <p14:sldId id="380"/>
            <p14:sldId id="388"/>
          </p14:sldIdLst>
        </p14:section>
        <p14:section name="Policy Evaluation" id="{E4CB73A3-D0DE-4DED-94E7-4A458167A30F}">
          <p14:sldIdLst>
            <p14:sldId id="372"/>
            <p14:sldId id="369"/>
            <p14:sldId id="370"/>
            <p14:sldId id="389"/>
            <p14:sldId id="390"/>
            <p14:sldId id="371"/>
          </p14:sldIdLst>
        </p14:section>
        <p14:section name="Policy Iteration" id="{4DE153CC-8DA8-4101-A46B-0DFD73F9B57D}">
          <p14:sldIdLst>
            <p14:sldId id="373"/>
            <p14:sldId id="375"/>
            <p14:sldId id="376"/>
            <p14:sldId id="377"/>
          </p14:sldIdLst>
        </p14:section>
        <p14:section name="Value Iteration" id="{6A988A78-1EF4-4EB1-89B7-8F80075BCC63}">
          <p14:sldIdLst>
            <p14:sldId id="378"/>
            <p14:sldId id="379"/>
            <p14:sldId id="382"/>
            <p14:sldId id="383"/>
          </p14:sldIdLst>
        </p14:section>
        <p14:section name="Generalized Policy Iteration" id="{24242526-B5FF-45B4-A80E-CA85C1F5783D}">
          <p14:sldIdLst>
            <p14:sldId id="384"/>
            <p14:sldId id="385"/>
            <p14:sldId id="386"/>
          </p14:sldIdLst>
        </p14:section>
        <p14:section name="Summary" id="{6AC1C20A-A1BF-4444-80D7-F422EA17542D}">
          <p14:sldIdLst>
            <p14:sldId id="3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23" autoAdjust="0"/>
    <p:restoredTop sz="94660"/>
  </p:normalViewPr>
  <p:slideViewPr>
    <p:cSldViewPr snapToGrid="0">
      <p:cViewPr varScale="1">
        <p:scale>
          <a:sx n="91" d="100"/>
          <a:sy n="91" d="100"/>
        </p:scale>
        <p:origin x="34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6.png"/><Relationship Id="rId7" Type="http://schemas.openxmlformats.org/officeDocument/2006/relationships/image" Target="../media/image15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0.png"/><Relationship Id="rId4" Type="http://schemas.openxmlformats.org/officeDocument/2006/relationships/image" Target="../media/image12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7" Type="http://schemas.openxmlformats.org/officeDocument/2006/relationships/image" Target="../media/image3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0.png"/><Relationship Id="rId5" Type="http://schemas.openxmlformats.org/officeDocument/2006/relationships/image" Target="../media/image210.png"/><Relationship Id="rId4" Type="http://schemas.openxmlformats.org/officeDocument/2006/relationships/image" Target="../media/image20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7560" y="-1502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Dynamic Programming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DF818925-CF68-EB6E-413D-FFCD573CCF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FE431-EDDE-8F36-4640-902EF247D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0264"/>
                <a:ext cx="8403522" cy="5006699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sz="1500" b="1" dirty="0"/>
                  <a:t>Remember</a:t>
                </a:r>
                <a:r>
                  <a:rPr lang="en-US" sz="1500" dirty="0"/>
                  <a:t>: MDPs have an optimal deterministic policy.</a:t>
                </a:r>
              </a:p>
              <a:p>
                <a:r>
                  <a:rPr lang="en-US" sz="1500" b="1" dirty="0"/>
                  <a:t>Goal</a:t>
                </a:r>
                <a:r>
                  <a:rPr lang="en-US" sz="1500" dirty="0"/>
                  <a:t>: Compute the </a:t>
                </a:r>
                <a:r>
                  <a:rPr lang="en-US" sz="1500" b="1" dirty="0"/>
                  <a:t>optimal deterministic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500" b="1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160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sz="1500" dirty="0"/>
                  <a:t> given a perfect finite MDP model.</a:t>
                </a:r>
              </a:p>
              <a:p>
                <a:r>
                  <a:rPr lang="en-US" sz="1500" dirty="0"/>
                  <a:t>Solve the Bellman optimality equations (the optimal policy always picks the best action):</a:t>
                </a:r>
              </a:p>
              <a:p>
                <a:pPr marL="0" indent="0">
                  <a:buNone/>
                </a:pPr>
                <a:endParaRPr lang="en-US" sz="1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sz="15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5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500" dirty="0"/>
              </a:p>
              <a:p>
                <a:pPr marL="0" indent="0" algn="ctr">
                  <a:buNone/>
                </a:pPr>
                <a:r>
                  <a:rPr lang="en-US" sz="1500" dirty="0"/>
                  <a:t>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sz="15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5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15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15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50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lim>
                              </m:limLow>
                            </m:fName>
                            <m:e>
                              <m:sSub>
                                <m:sSubPr>
                                  <m:ctrl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sub>
                              </m:sSub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500" dirty="0"/>
              </a:p>
              <a:p>
                <a:pPr marL="0" indent="0">
                  <a:buNone/>
                </a:pPr>
                <a:endParaRPr lang="en-US" sz="1500" dirty="0"/>
              </a:p>
              <a:p>
                <a:pPr marL="0" indent="0">
                  <a:buNone/>
                </a:pPr>
                <a:endParaRPr lang="en-US" sz="1500" b="1" dirty="0"/>
              </a:p>
              <a:p>
                <a:r>
                  <a:rPr lang="en-US" sz="1500" b="1" dirty="0"/>
                  <a:t>Issues</a:t>
                </a:r>
                <a:r>
                  <a:rPr lang="en-US" sz="1500" dirty="0"/>
                  <a:t>: The value estimate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500" dirty="0"/>
                  <a:t> depends on the current estimates of the successor states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500" dirty="0"/>
                  <a:t>! </a:t>
                </a:r>
                <a:br>
                  <a:rPr lang="en-US" sz="1500" dirty="0"/>
                </a:br>
                <a:r>
                  <a:rPr lang="en-US" sz="1500" dirty="0"/>
                  <a:t>We need to solve all optimality equations at the same time.</a:t>
                </a:r>
              </a:p>
              <a:p>
                <a:endParaRPr lang="en-US" sz="1500" b="1" dirty="0"/>
              </a:p>
              <a:p>
                <a:r>
                  <a:rPr lang="en-US" sz="1500" b="1" dirty="0"/>
                  <a:t>Idea</a:t>
                </a:r>
                <a:r>
                  <a:rPr lang="en-US" sz="1500" dirty="0"/>
                  <a:t>: We can find the optimal policy by stepwise </a:t>
                </a:r>
                <a:r>
                  <a:rPr lang="en-US" sz="1500" b="1" dirty="0"/>
                  <a:t>improving a policy </a:t>
                </a:r>
                <a:r>
                  <a:rPr lang="en-US" sz="1500" dirty="0"/>
                  <a:t>till it is optimal. A policy is better if it has larger state values.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≥</m:t>
                      </m:r>
                      <m:sSup>
                        <m:sSup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groupChr>
                        <m:groupChrPr>
                          <m:chr m:val="⇔"/>
                          <m:pos m:val="top"/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500" i="1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p>
                            <m:sSupPr>
                              <m:ctrlPr>
                                <a:rPr lang="en-US" sz="1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all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sz="1500" dirty="0"/>
              </a:p>
              <a:p>
                <a:r>
                  <a:rPr lang="en-US" sz="1500" dirty="0"/>
                  <a:t>To do this we need to be able to </a:t>
                </a:r>
                <a:r>
                  <a:rPr lang="en-US" sz="1500" b="1" dirty="0"/>
                  <a:t>evaluate a policy </a:t>
                </a:r>
                <a:r>
                  <a:rPr lang="en-US" sz="1500" dirty="0"/>
                  <a:t>(i.e.,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15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b>
                    </m:sSub>
                  </m:oMath>
                </a14:m>
                <a:r>
                  <a:rPr lang="en-US" sz="1500" dirty="0"/>
                  <a:t>).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0264"/>
                <a:ext cx="8403522" cy="5006699"/>
              </a:xfrm>
              <a:blipFill>
                <a:blip r:embed="rId2"/>
                <a:stretch>
                  <a:fillRect l="-218" t="-853" r="-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2F685B52-5D31-046C-FA57-23AD9A7FCCFF}"/>
              </a:ext>
            </a:extLst>
          </p:cNvPr>
          <p:cNvGrpSpPr/>
          <p:nvPr/>
        </p:nvGrpSpPr>
        <p:grpSpPr>
          <a:xfrm>
            <a:off x="4924608" y="3522501"/>
            <a:ext cx="1265236" cy="517988"/>
            <a:chOff x="2533296" y="3175233"/>
            <a:chExt cx="1503726" cy="517988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898E18C9-0941-AC3C-3E0A-203470D94889}"/>
                </a:ext>
              </a:extLst>
            </p:cNvPr>
            <p:cNvSpPr/>
            <p:nvPr/>
          </p:nvSpPr>
          <p:spPr>
            <a:xfrm rot="5400000">
              <a:off x="3194734" y="2513795"/>
              <a:ext cx="180849" cy="1503726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3F2E145-B5BC-7419-FB96-26B18193DDA7}"/>
                    </a:ext>
                  </a:extLst>
                </p:cNvPr>
                <p:cNvSpPr txBox="1"/>
                <p:nvPr/>
              </p:nvSpPr>
              <p:spPr>
                <a:xfrm>
                  <a:off x="2602325" y="3385444"/>
                  <a:ext cx="1365667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3F2E145-B5BC-7419-FB96-26B18193DD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2325" y="3385444"/>
                  <a:ext cx="1365667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B12223B-5984-DA37-7047-D622C8E2D116}"/>
              </a:ext>
            </a:extLst>
          </p:cNvPr>
          <p:cNvGrpSpPr/>
          <p:nvPr/>
        </p:nvGrpSpPr>
        <p:grpSpPr>
          <a:xfrm>
            <a:off x="9241722" y="1765979"/>
            <a:ext cx="2656115" cy="2436074"/>
            <a:chOff x="9241722" y="1765979"/>
            <a:chExt cx="2656115" cy="2436074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866273BC-75CB-7A69-263C-BB0ECD222D37}"/>
                </a:ext>
              </a:extLst>
            </p:cNvPr>
            <p:cNvSpPr/>
            <p:nvPr/>
          </p:nvSpPr>
          <p:spPr>
            <a:xfrm>
              <a:off x="9241722" y="1765979"/>
              <a:ext cx="383908" cy="243607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465BAAC-5796-5993-D172-BA7B294D59A7}"/>
                </a:ext>
              </a:extLst>
            </p:cNvPr>
            <p:cNvSpPr txBox="1"/>
            <p:nvPr/>
          </p:nvSpPr>
          <p:spPr>
            <a:xfrm>
              <a:off x="9723353" y="2660850"/>
              <a:ext cx="2174484" cy="58477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r>
                <a:rPr lang="en-US" sz="1600" b="1" dirty="0"/>
                <a:t>Control</a:t>
              </a:r>
              <a:r>
                <a:rPr lang="en-US" sz="1600" dirty="0"/>
                <a:t>: Find the optimal policy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7D15AB9-3CD7-2FB5-029A-77CCA4C92D07}"/>
              </a:ext>
            </a:extLst>
          </p:cNvPr>
          <p:cNvGrpSpPr/>
          <p:nvPr/>
        </p:nvGrpSpPr>
        <p:grpSpPr>
          <a:xfrm>
            <a:off x="9283600" y="5079986"/>
            <a:ext cx="2717168" cy="1228272"/>
            <a:chOff x="9283602" y="5193234"/>
            <a:chExt cx="2728862" cy="1228272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DF5A9186-41F0-8C89-4311-A80AF67129F1}"/>
                </a:ext>
              </a:extLst>
            </p:cNvPr>
            <p:cNvSpPr/>
            <p:nvPr/>
          </p:nvSpPr>
          <p:spPr>
            <a:xfrm>
              <a:off x="9283602" y="5193234"/>
              <a:ext cx="289677" cy="1228272"/>
            </a:xfrm>
            <a:prstGeom prst="rightBrac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98FB361-7D81-7549-BB19-0BA3C1F55C05}"/>
                </a:ext>
              </a:extLst>
            </p:cNvPr>
            <p:cNvSpPr txBox="1"/>
            <p:nvPr/>
          </p:nvSpPr>
          <p:spPr>
            <a:xfrm>
              <a:off x="9725248" y="5345966"/>
              <a:ext cx="2287216" cy="830997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r>
                <a:rPr lang="en-US" sz="1600" b="1" dirty="0"/>
                <a:t>Prediction/</a:t>
              </a:r>
              <a:r>
                <a:rPr lang="en-US" sz="1600" b="1" dirty="0" err="1"/>
                <a:t>Evaluaiton</a:t>
              </a:r>
              <a:r>
                <a:rPr lang="en-US" sz="1600" dirty="0"/>
                <a:t>: Estimate the value function for a policy.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339409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C6BA7-ADBF-A187-1481-819E42FCC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Tabular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29710D-F26D-E73F-A3F8-50BB8250FE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763186" cy="4986692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Tabular means: The value functions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are stored in arrays (tables) called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Important property: Entries in the table do not influence each other. We can change them independently.</a:t>
                </a:r>
              </a:p>
              <a:p>
                <a:r>
                  <a:rPr lang="en-US" dirty="0"/>
                  <a:t>Tabular methods find the exact solution (i.e., optimal value function and policy) given enough memory and time.</a:t>
                </a:r>
              </a:p>
              <a:p>
                <a:endParaRPr lang="en-US" dirty="0"/>
              </a:p>
              <a:p>
                <a:r>
                  <a:rPr lang="en-US" b="1" dirty="0"/>
                  <a:t>Issues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Table size: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has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entries 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has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entries</a:t>
                </a:r>
              </a:p>
              <a:p>
                <a:pPr marL="914400" lvl="2" indent="0">
                  <a:buNone/>
                </a:pPr>
                <a:r>
                  <a:rPr lang="en-US" dirty="0"/>
                  <a:t>This is only feasible for problems with a small discrete state/action space!</a:t>
                </a:r>
              </a:p>
              <a:p>
                <a:pPr lvl="1"/>
                <a:r>
                  <a:rPr lang="en-US" dirty="0"/>
                  <a:t>No generalization: Knowledge about the value of one state (state-action pair) does not help us with similar states</a:t>
                </a:r>
              </a:p>
              <a:p>
                <a:endParaRPr lang="en-US" dirty="0"/>
              </a:p>
              <a:p>
                <a:r>
                  <a:rPr lang="en-US" dirty="0"/>
                  <a:t>We will later talk about approximate methods that generalize and can work with large state spaces.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29710D-F26D-E73F-A3F8-50BB8250FE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763186" cy="4986692"/>
              </a:xfrm>
              <a:blipFill>
                <a:blip r:embed="rId2"/>
                <a:stretch>
                  <a:fillRect l="-812" t="-2078" r="-9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5">
            <a:extLst>
              <a:ext uri="{FF2B5EF4-FFF2-40B4-BE49-F238E27FC236}">
                <a16:creationId xmlns:a16="http://schemas.microsoft.com/office/drawing/2014/main" id="{0975C344-F52A-8D1F-9D79-6E224183C692}"/>
              </a:ext>
            </a:extLst>
          </p:cNvPr>
          <p:cNvSpPr txBox="1"/>
          <p:nvPr/>
        </p:nvSpPr>
        <p:spPr>
          <a:xfrm>
            <a:off x="8838343" y="551826"/>
            <a:ext cx="215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Value Function</a:t>
            </a: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84CE4623-8DCA-34FA-3404-B71214310EC9}"/>
              </a:ext>
            </a:extLst>
          </p:cNvPr>
          <p:cNvSpPr txBox="1"/>
          <p:nvPr/>
        </p:nvSpPr>
        <p:spPr>
          <a:xfrm>
            <a:off x="9086691" y="2565864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Q-Table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78248F0E-2FF3-2020-DE60-ADD42126295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21024740"/>
                  </p:ext>
                </p:extLst>
              </p:nvPr>
            </p:nvGraphicFramePr>
            <p:xfrm>
              <a:off x="8691416" y="2935196"/>
              <a:ext cx="2662384" cy="182880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81633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85800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160248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400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400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400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0.6709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0.7003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0.7109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78248F0E-2FF3-2020-DE60-ADD42126295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21024740"/>
                  </p:ext>
                </p:extLst>
              </p:nvPr>
            </p:nvGraphicFramePr>
            <p:xfrm>
              <a:off x="8691416" y="2935196"/>
              <a:ext cx="2662384" cy="182880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81633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85800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160248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46" t="-2000" r="-229851" b="-5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19469" t="-2000" r="-172566" b="-5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9843" t="-2000" r="-2094" b="-522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0.6709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0.7003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0.7109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67C3BC08-2A24-51EA-3AA9-3629C95375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93349679"/>
                  </p:ext>
                </p:extLst>
              </p:nvPr>
            </p:nvGraphicFramePr>
            <p:xfrm>
              <a:off x="8946925" y="901635"/>
              <a:ext cx="2147634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2187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55544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1" dirty="0"/>
                            <a:t>State Value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1" i="1" dirty="0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400" b="1" i="0" dirty="0" smtClean="0"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0.8016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67C3BC08-2A24-51EA-3AA9-3629C95375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93349679"/>
                  </p:ext>
                </p:extLst>
              </p:nvPr>
            </p:nvGraphicFramePr>
            <p:xfrm>
              <a:off x="8946925" y="901635"/>
              <a:ext cx="2147634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2187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55544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31" t="-1639" r="-269072" b="-3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8281" t="-1639" r="-1953" b="-3049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0.8016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5E155CE4-C8B8-A7CC-A291-879465D207B0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02102726"/>
                  </p:ext>
                </p:extLst>
              </p:nvPr>
            </p:nvGraphicFramePr>
            <p:xfrm>
              <a:off x="8410107" y="5060314"/>
              <a:ext cx="3221267" cy="121920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4015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4489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  <a:gridCol w="642174">
                      <a:extLst>
                        <a:ext uri="{9D8B030D-6E8A-4147-A177-3AD203B41FA5}">
                          <a16:colId xmlns:a16="http://schemas.microsoft.com/office/drawing/2014/main" val="2654648091"/>
                        </a:ext>
                      </a:extLst>
                    </a:gridCol>
                    <a:gridCol w="709638">
                      <a:extLst>
                        <a:ext uri="{9D8B030D-6E8A-4147-A177-3AD203B41FA5}">
                          <a16:colId xmlns:a16="http://schemas.microsoft.com/office/drawing/2014/main" val="1830746805"/>
                        </a:ext>
                      </a:extLst>
                    </a:gridCol>
                    <a:gridCol w="630550">
                      <a:extLst>
                        <a:ext uri="{9D8B030D-6E8A-4147-A177-3AD203B41FA5}">
                          <a16:colId xmlns:a16="http://schemas.microsoft.com/office/drawing/2014/main" val="991393940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left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0.7453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0.6709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0.7003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0.7109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5E155CE4-C8B8-A7CC-A291-879465D207B0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02102726"/>
                  </p:ext>
                </p:extLst>
              </p:nvPr>
            </p:nvGraphicFramePr>
            <p:xfrm>
              <a:off x="8410107" y="5060314"/>
              <a:ext cx="3221267" cy="121920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4015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4489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  <a:gridCol w="642174">
                      <a:extLst>
                        <a:ext uri="{9D8B030D-6E8A-4147-A177-3AD203B41FA5}">
                          <a16:colId xmlns:a16="http://schemas.microsoft.com/office/drawing/2014/main" val="2654648091"/>
                        </a:ext>
                      </a:extLst>
                    </a:gridCol>
                    <a:gridCol w="709638">
                      <a:extLst>
                        <a:ext uri="{9D8B030D-6E8A-4147-A177-3AD203B41FA5}">
                          <a16:colId xmlns:a16="http://schemas.microsoft.com/office/drawing/2014/main" val="1830746805"/>
                        </a:ext>
                      </a:extLst>
                    </a:gridCol>
                    <a:gridCol w="630550">
                      <a:extLst>
                        <a:ext uri="{9D8B030D-6E8A-4147-A177-3AD203B41FA5}">
                          <a16:colId xmlns:a16="http://schemas.microsoft.com/office/drawing/2014/main" val="991393940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left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93396" t="-101961" r="-311321" b="-2156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95238" t="-101961" r="-214286" b="-2156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64957" t="-101961" r="-92308" b="-2156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410577" t="-101961" r="-3846" b="-21568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TextBox 4">
            <a:extLst>
              <a:ext uri="{FF2B5EF4-FFF2-40B4-BE49-F238E27FC236}">
                <a16:creationId xmlns:a16="http://schemas.microsoft.com/office/drawing/2014/main" id="{44CFFF41-CFC5-E3BB-D794-D00B06D2A95F}"/>
              </a:ext>
            </a:extLst>
          </p:cNvPr>
          <p:cNvSpPr txBox="1"/>
          <p:nvPr/>
        </p:nvSpPr>
        <p:spPr>
          <a:xfrm>
            <a:off x="9200611" y="4727489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3956858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1C883-1AA7-C2E6-D09D-DAD2AE00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 vs.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07924-B986-8A34-1581-62645BDB5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this class, we will always talk about two tasks:</a:t>
            </a:r>
          </a:p>
          <a:p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Prediction to evaluate a policy</a:t>
            </a:r>
            <a:r>
              <a:rPr lang="en-US" dirty="0"/>
              <a:t>: Estimate the value function for a given policy. We can use this to compare two policies.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Control</a:t>
            </a:r>
            <a:r>
              <a:rPr lang="en-US" dirty="0"/>
              <a:t>: Control the agent’s behavior to find the optimal policy. This requires being able to evaluate policies.</a:t>
            </a:r>
          </a:p>
        </p:txBody>
      </p:sp>
    </p:spTree>
    <p:extLst>
      <p:ext uri="{BB962C8B-B14F-4D97-AF65-F5344CB8AC3E}">
        <p14:creationId xmlns:p14="http://schemas.microsoft.com/office/powerpoint/2010/main" val="39215834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843C56-7419-CE0C-1D18-6CC80DC10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Prediction: Policy Evaluation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250192-9C75-1175-C27F-B882D7E511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the value function of a given policy?</a:t>
            </a:r>
          </a:p>
        </p:txBody>
      </p:sp>
    </p:spTree>
    <p:extLst>
      <p:ext uri="{BB962C8B-B14F-4D97-AF65-F5344CB8AC3E}">
        <p14:creationId xmlns:p14="http://schemas.microsoft.com/office/powerpoint/2010/main" val="9557505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A35F1C3-5C0A-145A-FD0E-11A8D3F8EC9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Policy Evaluation to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A35F1C3-5C0A-145A-FD0E-11A8D3F8EC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D1FCBE-98A8-ED20-FB57-A0D8E46193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806329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Compute the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for a given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pPr>
                  <a:lnSpc>
                    <a:spcPct val="100000"/>
                  </a:lnSpc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</a:pPr>
                <a:r>
                  <a:rPr lang="en-US" dirty="0"/>
                  <a:t>Bellman expectation equations give us the recursive relationship: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with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equations, one for each state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b="1" dirty="0"/>
              </a:p>
              <a:p>
                <a:pPr marL="0" indent="0">
                  <a:buNone/>
                </a:pPr>
                <a:endParaRPr lang="en-US" b="1" dirty="0"/>
              </a:p>
              <a:p>
                <a:r>
                  <a:rPr lang="en-US" b="1" dirty="0"/>
                  <a:t>Guarantee</a:t>
                </a:r>
                <a:r>
                  <a:rPr lang="en-US" dirty="0"/>
                  <a:t>: There exists a unique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&lt;1 </m:t>
                    </m:r>
                  </m:oMath>
                </a14:m>
                <a:r>
                  <a:rPr lang="en-US" dirty="0"/>
                  <a:t>or termination is guaranteed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D1FCBE-98A8-ED20-FB57-A0D8E46193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806329"/>
              </a:xfrm>
              <a:blipFill>
                <a:blip r:embed="rId3"/>
                <a:stretch>
                  <a:fillRect l="-696" t="-25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8306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5D3C2-BFBE-479C-C276-D13BC409F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Option 1: Linear Program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5FDADB-CB9E-5700-5CD5-2A4F4B7D2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29"/>
                <a:ext cx="10350985" cy="5170993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Directly solve the system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sz="2400" dirty="0"/>
                  <a:t> linear equations. </a:t>
                </a:r>
                <a:br>
                  <a:rPr lang="en-US" sz="2400" dirty="0"/>
                </a:b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…  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all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r>
                  <a:rPr lang="en-US" sz="2400" dirty="0"/>
                  <a:t>This is hard 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sz="2400" dirty="0"/>
                  <a:t> is very large.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5FDADB-CB9E-5700-5CD5-2A4F4B7D2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29"/>
                <a:ext cx="10350985" cy="5170993"/>
              </a:xfrm>
              <a:blipFill>
                <a:blip r:embed="rId2"/>
                <a:stretch>
                  <a:fillRect l="-766" t="-15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42650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6658F-139C-0BE8-0CD7-8FE00B9A3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52543F45-3A9E-C880-1230-772119373948}"/>
              </a:ext>
            </a:extLst>
          </p:cNvPr>
          <p:cNvGrpSpPr/>
          <p:nvPr/>
        </p:nvGrpSpPr>
        <p:grpSpPr>
          <a:xfrm>
            <a:off x="200701" y="3523056"/>
            <a:ext cx="2299156" cy="1791256"/>
            <a:chOff x="8709114" y="1909044"/>
            <a:chExt cx="2660677" cy="226852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C4F431F-EEDB-B955-97C6-C588C6C939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15184"/>
            <a:stretch>
              <a:fillRect/>
            </a:stretch>
          </p:blipFill>
          <p:spPr>
            <a:xfrm>
              <a:off x="8709114" y="2205386"/>
              <a:ext cx="2660677" cy="197218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45E00C3-80D2-F1CC-F7E7-B3AD2D79EB12}"/>
                </a:ext>
              </a:extLst>
            </p:cNvPr>
            <p:cNvSpPr txBox="1"/>
            <p:nvPr/>
          </p:nvSpPr>
          <p:spPr>
            <a:xfrm>
              <a:off x="8928479" y="1909044"/>
              <a:ext cx="2177124" cy="3897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/>
                <a:t>Backup diagram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05886B1-B3C3-36AF-DCCF-70C3CEDCB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Solution Option 2: Iterative Policy Evaluation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5F1F25-389C-B9C9-77EC-6351FB4FE0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732419" cy="4847286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2400" b="1" dirty="0"/>
                  <a:t>Dynamic Programming</a:t>
                </a:r>
                <a:r>
                  <a:rPr lang="en-US" sz="2400" dirty="0"/>
                  <a:t>: solves a complex optimization problem by breaking it down into smaller, overlapping subproblems and using their solutions to build the overall optimal solution.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lvl="1"/>
                <a:r>
                  <a:rPr lang="en-US" sz="2000" dirty="0"/>
                  <a:t>Start with arbitrary values for all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2000" dirty="0"/>
              </a:p>
              <a:p>
                <a:pPr lvl="1"/>
                <a:r>
                  <a:rPr lang="en-US" sz="2000" dirty="0"/>
                  <a:t>Update all state values (called sweeping over the state space) using the</a:t>
                </a:r>
                <a:r>
                  <a:rPr lang="en-US" sz="2000" b="1" dirty="0"/>
                  <a:t> Bellman Update</a:t>
                </a:r>
                <a:r>
                  <a:rPr lang="en-US" sz="2000" dirty="0"/>
                  <a:t> (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000" dirty="0"/>
                  <a:t> is the iteration counter):</a:t>
                </a:r>
                <a:endParaRPr lang="en-US" sz="2000" b="1" dirty="0"/>
              </a:p>
              <a:p>
                <a:pPr lvl="1"/>
                <a:endParaRPr lang="en-US" sz="20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sz="2000" i="1">
                          <a:latin typeface="Cambria Math" panose="02040503050406030204" pitchFamily="18" charset="0"/>
                        </a:rPr>
                        <m:t>≝</m:t>
                      </m:r>
                      <m:d>
                        <m:dPr>
                          <m:begChr m:val="["/>
                          <m:endChr m:val="|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1" dirty="0"/>
              </a:p>
              <a:p>
                <a:pPr lvl="1"/>
                <a:r>
                  <a:rPr lang="en-US" sz="2000" b="1" dirty="0"/>
                  <a:t>Convergence</a:t>
                </a:r>
                <a:r>
                  <a:rPr lang="en-US" sz="2000" b="0" dirty="0"/>
                  <a:t>: </a:t>
                </a:r>
                <a:r>
                  <a:rPr lang="en-US" sz="2000" dirty="0"/>
                  <a:t>Updates converge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2000" dirty="0"/>
                  <a:t> for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sz="2000" dirty="0"/>
                  <a:t> iterations.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5F1F25-389C-B9C9-77EC-6351FB4FE0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732419" cy="4847286"/>
              </a:xfrm>
              <a:blipFill>
                <a:blip r:embed="rId3"/>
                <a:stretch>
                  <a:fillRect l="-1025" t="-25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92891670-5E19-0B92-2000-67EB986C67EA}"/>
              </a:ext>
            </a:extLst>
          </p:cNvPr>
          <p:cNvGrpSpPr/>
          <p:nvPr/>
        </p:nvGrpSpPr>
        <p:grpSpPr>
          <a:xfrm>
            <a:off x="3338818" y="4633526"/>
            <a:ext cx="4981697" cy="730954"/>
            <a:chOff x="2344485" y="3098314"/>
            <a:chExt cx="1813961" cy="730954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C6BB2930-2803-7CC6-BE5E-4F581F3D8212}"/>
                </a:ext>
              </a:extLst>
            </p:cNvPr>
            <p:cNvSpPr/>
            <p:nvPr/>
          </p:nvSpPr>
          <p:spPr>
            <a:xfrm rot="5400000">
              <a:off x="3099931" y="2531679"/>
              <a:ext cx="257767" cy="139103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0F03579-6BB3-CB46-DAC5-72EC42C594FC}"/>
                </a:ext>
              </a:extLst>
            </p:cNvPr>
            <p:cNvSpPr txBox="1"/>
            <p:nvPr/>
          </p:nvSpPr>
          <p:spPr>
            <a:xfrm>
              <a:off x="2344485" y="3306048"/>
              <a:ext cx="181396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In DP called “expected update.”</a:t>
              </a:r>
              <a:br>
                <a:rPr lang="en-US" sz="1400" dirty="0"/>
              </a:br>
              <a:r>
                <a:rPr lang="en-US" sz="1400" dirty="0"/>
                <a:t>Uses the expectation over all possible actions and next states.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3D5FCA8-6ACA-3C79-36FA-E785B877518C}"/>
              </a:ext>
            </a:extLst>
          </p:cNvPr>
          <p:cNvGrpSpPr/>
          <p:nvPr/>
        </p:nvGrpSpPr>
        <p:grpSpPr>
          <a:xfrm>
            <a:off x="8930583" y="4867978"/>
            <a:ext cx="2854818" cy="1480504"/>
            <a:chOff x="8867761" y="4764111"/>
            <a:chExt cx="2854818" cy="1480504"/>
          </a:xfrm>
        </p:grpSpPr>
        <p:grpSp>
          <p:nvGrpSpPr>
            <p:cNvPr id="8" name="Group 7" descr="Updating the value function using iterative Bellman updates.">
              <a:extLst>
                <a:ext uri="{FF2B5EF4-FFF2-40B4-BE49-F238E27FC236}">
                  <a16:creationId xmlns:a16="http://schemas.microsoft.com/office/drawing/2014/main" id="{E042F5F5-5CB0-3535-780C-93DC3965B4B3}"/>
                </a:ext>
              </a:extLst>
            </p:cNvPr>
            <p:cNvGrpSpPr/>
            <p:nvPr/>
          </p:nvGrpSpPr>
          <p:grpSpPr>
            <a:xfrm>
              <a:off x="8867761" y="4764111"/>
              <a:ext cx="2854818" cy="1428805"/>
              <a:chOff x="9337182" y="2229868"/>
              <a:chExt cx="2854818" cy="1428805"/>
            </a:xfrm>
          </p:grpSpPr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1876D76D-10B4-4679-F653-BD6BA18B286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8">
                    <a:extLst>
                      <a:ext uri="{FF2B5EF4-FFF2-40B4-BE49-F238E27FC236}">
                        <a16:creationId xmlns:a16="http://schemas.microsoft.com/office/drawing/2014/main" id="{CD2E66AA-EA36-8916-48A7-F5C017DA696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092683"/>
                    <a:ext cx="76699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092683"/>
                    <a:ext cx="76699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A915BDCA-A78B-A713-EF2C-BD76D59CE4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4" name="Arc 13">
                <a:extLst>
                  <a:ext uri="{FF2B5EF4-FFF2-40B4-BE49-F238E27FC236}">
                    <a16:creationId xmlns:a16="http://schemas.microsoft.com/office/drawing/2014/main" id="{9046C63F-C083-8CE3-5B67-AD0FC59C20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5" name="Arc 14">
                <a:extLst>
                  <a:ext uri="{FF2B5EF4-FFF2-40B4-BE49-F238E27FC236}">
                    <a16:creationId xmlns:a16="http://schemas.microsoft.com/office/drawing/2014/main" id="{FA9CADED-6B11-F60E-3E70-35BC1558002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2124ACB0-C3FA-2FAA-37B1-C6EECFECCE0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29">
                    <a:extLst>
                      <a:ext uri="{FF2B5EF4-FFF2-40B4-BE49-F238E27FC236}">
                        <a16:creationId xmlns:a16="http://schemas.microsoft.com/office/drawing/2014/main" id="{9FFAF23B-1B2A-B56C-21FE-4753439D8E5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30">
                    <a:extLst>
                      <a:ext uri="{FF2B5EF4-FFF2-40B4-BE49-F238E27FC236}">
                        <a16:creationId xmlns:a16="http://schemas.microsoft.com/office/drawing/2014/main" id="{6147F0A6-B8EB-E05B-C1C0-350546463BA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15DA345C-A981-1A04-9E3B-9233BA91B30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20" name="TextBox 35">
                <a:extLst>
                  <a:ext uri="{FF2B5EF4-FFF2-40B4-BE49-F238E27FC236}">
                    <a16:creationId xmlns:a16="http://schemas.microsoft.com/office/drawing/2014/main" id="{89DB2870-24A4-433E-3096-F45510D7F24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A226FBF-E15E-0A93-5374-77CBC09832B9}"/>
                </a:ext>
              </a:extLst>
            </p:cNvPr>
            <p:cNvSpPr txBox="1"/>
            <p:nvPr/>
          </p:nvSpPr>
          <p:spPr>
            <a:xfrm>
              <a:off x="9189345" y="5967616"/>
              <a:ext cx="19787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Distance means difference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D6C0487-07CF-0018-3062-50B52F2A7AAD}"/>
              </a:ext>
            </a:extLst>
          </p:cNvPr>
          <p:cNvGrpSpPr/>
          <p:nvPr/>
        </p:nvGrpSpPr>
        <p:grpSpPr>
          <a:xfrm>
            <a:off x="8464259" y="1342160"/>
            <a:ext cx="3325726" cy="2180896"/>
            <a:chOff x="8464259" y="1342160"/>
            <a:chExt cx="3325726" cy="218089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32527A9-170C-6824-B9CF-D3911C12D2CB}"/>
                </a:ext>
              </a:extLst>
            </p:cNvPr>
            <p:cNvSpPr txBox="1"/>
            <p:nvPr/>
          </p:nvSpPr>
          <p:spPr>
            <a:xfrm>
              <a:off x="8956148" y="1342160"/>
              <a:ext cx="2437818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/>
                <a:t>Sweep the state space</a:t>
              </a:r>
            </a:p>
          </p:txBody>
        </p:sp>
        <p:pic>
          <p:nvPicPr>
            <p:cNvPr id="10" name="Picture 2">
              <a:extLst>
                <a:ext uri="{FF2B5EF4-FFF2-40B4-BE49-F238E27FC236}">
                  <a16:creationId xmlns:a16="http://schemas.microsoft.com/office/drawing/2014/main" id="{AA982B42-2673-74EA-CFA0-028006FCF6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64259" y="1838913"/>
              <a:ext cx="3325726" cy="16841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313034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72B55-524F-2A13-6BD8-9A03EF8EA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Convergence of Iterative Policy Evaluation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C648E6-02D2-1E64-6265-DB7D1C1179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8581869" cy="2942321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The Bellman update can be rewritten as an operator:</a:t>
                </a:r>
                <a:br>
                  <a:rPr lang="en-US" dirty="0"/>
                </a:br>
                <a:r>
                  <a:rPr lang="en-US" b="1" dirty="0"/>
                  <a:t>Bellman Expectation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dirty="0"/>
                  <a:t>-contracting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as its fixed point: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d>
                            <m:dPr>
                              <m:begChr m:val="‖"/>
                              <m:endChr m:val="‖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any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&lt;1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C648E6-02D2-1E64-6265-DB7D1C1179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8581869" cy="2942321"/>
              </a:xfrm>
              <a:blipFill>
                <a:blip r:embed="rId2"/>
                <a:stretch>
                  <a:fillRect l="-995" t="-4555" b="-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5515D800-FF17-B0C5-3048-BCF34084F051}"/>
                  </a:ext>
                </a:extLst>
              </p:cNvPr>
              <p:cNvSpPr/>
              <p:nvPr/>
            </p:nvSpPr>
            <p:spPr>
              <a:xfrm>
                <a:off x="955194" y="5312558"/>
                <a:ext cx="3776262" cy="1214547"/>
              </a:xfrm>
              <a:prstGeom prst="wedgeRoundRectCallout">
                <a:avLst>
                  <a:gd name="adj1" fmla="val 17160"/>
                  <a:gd name="adj2" fmla="val -12255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This means the largest difference (infinity norm) will be reduced, leading to convergence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when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 is applied many times.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5515D800-FF17-B0C5-3048-BCF34084F0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194" y="5312558"/>
                <a:ext cx="3776262" cy="1214547"/>
              </a:xfrm>
              <a:prstGeom prst="wedgeRoundRectCallout">
                <a:avLst>
                  <a:gd name="adj1" fmla="val 17160"/>
                  <a:gd name="adj2" fmla="val -122557"/>
                  <a:gd name="adj3" fmla="val 16667"/>
                </a:avLst>
              </a:prstGeom>
              <a:blipFill>
                <a:blip r:embed="rId3"/>
                <a:stretch>
                  <a:fillRect b="-3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32C5A7CC-4FA8-C473-6FA9-CC4B56CECEA4}"/>
              </a:ext>
            </a:extLst>
          </p:cNvPr>
          <p:cNvSpPr/>
          <p:nvPr/>
        </p:nvSpPr>
        <p:spPr>
          <a:xfrm>
            <a:off x="7697390" y="5278327"/>
            <a:ext cx="3363494" cy="1214547"/>
          </a:xfrm>
          <a:prstGeom prst="wedgeRoundRectCallout">
            <a:avLst>
              <a:gd name="adj1" fmla="val -46485"/>
              <a:gd name="adj2" fmla="val -12272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Convergence is only guaranteed if the discount factor is strictly smaller than 1!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207778-6483-F070-5EC6-C6BD88D3F8AA}"/>
                  </a:ext>
                </a:extLst>
              </p:cNvPr>
              <p:cNvSpPr txBox="1"/>
              <p:nvPr/>
            </p:nvSpPr>
            <p:spPr>
              <a:xfrm>
                <a:off x="9420069" y="2245216"/>
                <a:ext cx="2227288" cy="2084225"/>
              </a:xfrm>
              <a:prstGeom prst="rect">
                <a:avLst/>
              </a:prstGeom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Notation: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is the new value function after applying the operator. We could write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sz="1600" b="0" dirty="0"/>
              </a:p>
              <a:p>
                <a:endParaRPr lang="en-US" sz="1600" dirty="0"/>
              </a:p>
              <a:p>
                <a:r>
                  <a:rPr lang="en-US" sz="1600" dirty="0"/>
                  <a:t>Note: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207778-6483-F070-5EC6-C6BD88D3F8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0069" y="2245216"/>
                <a:ext cx="2227288" cy="2084225"/>
              </a:xfrm>
              <a:prstGeom prst="rect">
                <a:avLst/>
              </a:prstGeom>
              <a:blipFill>
                <a:blip r:embed="rId4"/>
                <a:stretch>
                  <a:fillRect l="-1084" t="-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57025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978EC-0ABA-0841-5F8F-F9F724EE9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Iterative Policy Evaluation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571EE0-04FA-AFEF-D4C0-742C0CA1C6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441" y="1614234"/>
            <a:ext cx="8545118" cy="36295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4FDB9947-9818-7FF7-6A8C-58889DDE4BD2}"/>
                  </a:ext>
                </a:extLst>
              </p:cNvPr>
              <p:cNvSpPr/>
              <p:nvPr/>
            </p:nvSpPr>
            <p:spPr>
              <a:xfrm>
                <a:off x="7838712" y="3329532"/>
                <a:ext cx="1947462" cy="593313"/>
              </a:xfrm>
              <a:prstGeom prst="wedgeRoundRectCallout">
                <a:avLst>
                  <a:gd name="adj1" fmla="val -76118"/>
                  <a:gd name="adj2" fmla="val 990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Bellman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sz="1400" dirty="0"/>
                  <a:t>: </a:t>
                </a:r>
                <a:br>
                  <a:rPr lang="en-US" sz="14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4FDB9947-9818-7FF7-6A8C-58889DDE4B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8712" y="3329532"/>
                <a:ext cx="1947462" cy="593313"/>
              </a:xfrm>
              <a:prstGeom prst="wedgeRoundRectCallout">
                <a:avLst>
                  <a:gd name="adj1" fmla="val -76118"/>
                  <a:gd name="adj2" fmla="val 99041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A1E667CB-0634-45C9-45D9-EAFB5DCCC40D}"/>
                  </a:ext>
                </a:extLst>
              </p:cNvPr>
              <p:cNvSpPr/>
              <p:nvPr/>
            </p:nvSpPr>
            <p:spPr>
              <a:xfrm>
                <a:off x="3699481" y="5381209"/>
                <a:ext cx="3608738" cy="1111665"/>
              </a:xfrm>
              <a:prstGeom prst="wedgeRoundRectCallout">
                <a:avLst>
                  <a:gd name="adj1" fmla="val -35573"/>
                  <a:gd name="adj2" fmla="val -11265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Stop when value function changes little:</a:t>
                </a:r>
                <a:br>
                  <a:rPr lang="en-US" sz="1400" b="0" i="0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1400" dirty="0"/>
              </a:p>
              <a:p>
                <a:pPr algn="ctr"/>
                <a:r>
                  <a:rPr lang="en-US" sz="1400" dirty="0"/>
                  <a:t>It can be shown that the error is bounded: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A1E667CB-0634-45C9-45D9-EAFB5DCCC4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9481" y="5381209"/>
                <a:ext cx="3608738" cy="1111665"/>
              </a:xfrm>
              <a:prstGeom prst="wedgeRoundRectCallout">
                <a:avLst>
                  <a:gd name="adj1" fmla="val -35573"/>
                  <a:gd name="adj2" fmla="val -112651"/>
                  <a:gd name="adj3" fmla="val 16667"/>
                </a:avLst>
              </a:prstGeom>
              <a:blipFill>
                <a:blip r:embed="rId4"/>
                <a:stretch>
                  <a:fillRect b="-16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C293BB5-29C7-EBCB-3BD0-962870DC2F43}"/>
                  </a:ext>
                </a:extLst>
              </p:cNvPr>
              <p:cNvSpPr/>
              <p:nvPr/>
            </p:nvSpPr>
            <p:spPr>
              <a:xfrm>
                <a:off x="8242397" y="827541"/>
                <a:ext cx="1947462" cy="593313"/>
              </a:xfrm>
              <a:prstGeom prst="wedgeRoundRectCallout">
                <a:avLst>
                  <a:gd name="adj1" fmla="val -99057"/>
                  <a:gd name="adj2" fmla="val 1190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0" dirty="0"/>
                  <a:t>Notation: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1400" dirty="0"/>
                  <a:t> is the tabular estimate of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C293BB5-29C7-EBCB-3BD0-962870DC2F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2397" y="827541"/>
                <a:ext cx="1947462" cy="593313"/>
              </a:xfrm>
              <a:prstGeom prst="wedgeRoundRectCallout">
                <a:avLst>
                  <a:gd name="adj1" fmla="val -99057"/>
                  <a:gd name="adj2" fmla="val 119041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E2583962-6C30-E802-8782-E155488FA659}"/>
                  </a:ext>
                </a:extLst>
              </p:cNvPr>
              <p:cNvSpPr/>
              <p:nvPr/>
            </p:nvSpPr>
            <p:spPr>
              <a:xfrm>
                <a:off x="8242397" y="5381209"/>
                <a:ext cx="3212034" cy="1040531"/>
              </a:xfrm>
              <a:prstGeom prst="round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If we stop policy evaluation early (after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iterations) then it is called </a:t>
                </a:r>
                <a:r>
                  <a:rPr lang="en-US" sz="1600" b="1" dirty="0"/>
                  <a:t>modified policy iteration </a:t>
                </a:r>
                <a:r>
                  <a:rPr lang="en-US" sz="1600" dirty="0"/>
                  <a:t>and we end up with an approximation.</a:t>
                </a:r>
                <a:endParaRPr lang="en-US" sz="1600" b="1" dirty="0"/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E2583962-6C30-E802-8782-E155488FA65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2397" y="5381209"/>
                <a:ext cx="3212034" cy="1040531"/>
              </a:xfrm>
              <a:prstGeom prst="roundRect">
                <a:avLst/>
              </a:prstGeom>
              <a:blipFill>
                <a:blip r:embed="rId6"/>
                <a:stretch>
                  <a:fillRect t="-2312" r="-189" b="-80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104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CF1CC-10CD-B582-2B11-0A66BEC5A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054114-96CE-D97E-B075-31C454DDA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Iteration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62B658-5985-EDF0-1906-5FE3656E56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the optimal policy based on the environment model.</a:t>
            </a:r>
          </a:p>
        </p:txBody>
      </p:sp>
    </p:spTree>
    <p:extLst>
      <p:ext uri="{BB962C8B-B14F-4D97-AF65-F5344CB8AC3E}">
        <p14:creationId xmlns:p14="http://schemas.microsoft.com/office/powerpoint/2010/main" val="3777248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FCE80A-5561-7918-7BB7-41058FE7D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Improvement and the Greedy Policy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A53698B-84CA-6CEC-1390-2BE83DC551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Find a better policy.</a:t>
                </a:r>
              </a:p>
              <a:p>
                <a:r>
                  <a:rPr lang="en-US" b="1" dirty="0"/>
                  <a:t>Policy improvement theorem</a:t>
                </a:r>
                <a:r>
                  <a:rPr lang="en-US" dirty="0"/>
                  <a:t>: If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 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	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is a least as good or better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i.e.,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 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b="1" dirty="0"/>
                  <a:t>Policy improvement</a:t>
                </a:r>
                <a:r>
                  <a:rPr lang="en-US" dirty="0"/>
                  <a:t>: creating a new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by choosing in each state the best (aka greedy) action with respect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 will lead to the larges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</m:sSub>
                  </m:oMath>
                </a14:m>
                <a:r>
                  <a:rPr lang="en-US" dirty="0"/>
                  <a:t>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 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  <a:p>
                <a:r>
                  <a:rPr lang="en-US" b="1" dirty="0"/>
                  <a:t>Guarantee</a:t>
                </a:r>
                <a:r>
                  <a:rPr lang="en-US" dirty="0"/>
                  <a:t>: This </a:t>
                </a:r>
                <a:r>
                  <a:rPr lang="en-US" b="1" dirty="0"/>
                  <a:t>greedy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 is strictly better unless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is already optimal.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A53698B-84CA-6CEC-1390-2BE83DC551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287F84E5-3C25-C8BE-2952-1F80F13AB674}"/>
              </a:ext>
            </a:extLst>
          </p:cNvPr>
          <p:cNvSpPr/>
          <p:nvPr/>
        </p:nvSpPr>
        <p:spPr>
          <a:xfrm>
            <a:off x="800463" y="1731708"/>
            <a:ext cx="7624582" cy="1758112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635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5F9D9-4282-B818-FCEC-0D021362C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641C-75BB-03D4-C701-9095E6E26D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771389" cy="1383619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Idea</a:t>
                </a:r>
                <a:r>
                  <a:rPr lang="en-US" dirty="0"/>
                  <a:t>: Create a sequence of monotonically improving policies: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641C-75BB-03D4-C701-9095E6E26D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771389" cy="1383619"/>
              </a:xfrm>
              <a:blipFill>
                <a:blip r:embed="rId2"/>
                <a:stretch>
                  <a:fillRect l="-1113" t="-7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EB2B97-5320-C668-434C-A64C12BB5DD6}"/>
                  </a:ext>
                </a:extLst>
              </p:cNvPr>
              <p:cNvSpPr txBox="1"/>
              <p:nvPr/>
            </p:nvSpPr>
            <p:spPr>
              <a:xfrm>
                <a:off x="9230142" y="2098313"/>
                <a:ext cx="2599595" cy="753924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vertJc m:val="bot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groupChr>
                  </m:oMath>
                </a14:m>
                <a:r>
                  <a:rPr lang="en-US" sz="1600" b="0" i="1" dirty="0">
                    <a:latin typeface="Cambria Math" panose="02040503050406030204" pitchFamily="18" charset="0"/>
                  </a:rPr>
                  <a:t> </a:t>
                </a:r>
                <a:r>
                  <a:rPr lang="en-US" sz="1600" dirty="0"/>
                  <a:t>policy eval. step</a:t>
                </a:r>
                <a:r>
                  <a:rPr lang="en-US" sz="1600" b="0" i="1" dirty="0">
                    <a:latin typeface="Cambria Math" panose="02040503050406030204" pitchFamily="18" charset="0"/>
                  </a:rPr>
                  <a:t>  </a:t>
                </a:r>
                <a:endParaRPr lang="en-US" sz="16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groupChr>
                  </m:oMath>
                </a14:m>
                <a:r>
                  <a:rPr lang="en-US" sz="1600" dirty="0"/>
                  <a:t> policy improvement step</a:t>
                </a:r>
                <a:r>
                  <a:rPr lang="en-US" sz="1600" i="1" dirty="0">
                    <a:latin typeface="Cambria Math" panose="02040503050406030204" pitchFamily="18" charset="0"/>
                  </a:rPr>
                  <a:t> </a:t>
                </a:r>
                <a:endParaRPr 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EB2B97-5320-C668-434C-A64C12BB5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0142" y="2098313"/>
                <a:ext cx="2599595" cy="753924"/>
              </a:xfrm>
              <a:prstGeom prst="rect">
                <a:avLst/>
              </a:prstGeom>
              <a:blipFill>
                <a:blip r:embed="rId3"/>
                <a:stretch>
                  <a:fillRect l="-2791" b="-220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 descr="Policy iteration as a sequence of policy evaluation and policy improvements.">
            <a:extLst>
              <a:ext uri="{FF2B5EF4-FFF2-40B4-BE49-F238E27FC236}">
                <a16:creationId xmlns:a16="http://schemas.microsoft.com/office/drawing/2014/main" id="{5330DBED-05CE-C5CD-1726-3FFBB3C2F0B3}"/>
              </a:ext>
            </a:extLst>
          </p:cNvPr>
          <p:cNvGrpSpPr/>
          <p:nvPr/>
        </p:nvGrpSpPr>
        <p:grpSpPr>
          <a:xfrm>
            <a:off x="9123912" y="3626421"/>
            <a:ext cx="3198391" cy="2284485"/>
            <a:chOff x="9723059" y="2019762"/>
            <a:chExt cx="2494019" cy="2284485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47A44AD-8292-96EC-1994-4950D408FA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9767243" y="2133600"/>
              <a:ext cx="1963017" cy="99059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450082" y="2744954"/>
                  <a:ext cx="76699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50082" y="2744954"/>
                  <a:ext cx="76699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0182391" y="2019762"/>
                  <a:ext cx="395810" cy="3946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m:rPr>
                                <m:lit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82391" y="2019762"/>
                  <a:ext cx="395810" cy="39466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957BD3F-E8AA-B5A0-FC84-59F338DCDE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4409" y="3091219"/>
              <a:ext cx="96282" cy="117892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509673" y="3150165"/>
                  <a:ext cx="6708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09673" y="3150165"/>
                  <a:ext cx="67088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63B50D4-BD22-4970-434D-879A140DE0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767" y="3202752"/>
              <a:ext cx="1984379" cy="9210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6948348-E14F-E78C-7925-6D07B342DD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 flipV="1">
              <a:off x="9982200" y="2438400"/>
              <a:ext cx="360675" cy="1515404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11A484C5-4702-A9B7-9D77-FC3973E8A6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0342875" y="2438400"/>
              <a:ext cx="325125" cy="1219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FEB4DCB4-48A5-6E51-B9FE-EF0E9B4BAF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68000" y="2819400"/>
              <a:ext cx="457200" cy="838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6CB15DB5-D53A-F51F-8727-21F569598D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125200" y="2819400"/>
              <a:ext cx="228600" cy="5334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79E848C-DEE2-2B22-D382-CB1D0AFA62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53800" y="3066584"/>
              <a:ext cx="228600" cy="28621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F360256-AFD1-C0BB-ABF4-6ED717BE24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582400" y="3086337"/>
              <a:ext cx="98107" cy="11406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0" name="TextBox 56">
              <a:extLst>
                <a:ext uri="{FF2B5EF4-FFF2-40B4-BE49-F238E27FC236}">
                  <a16:creationId xmlns:a16="http://schemas.microsoft.com/office/drawing/2014/main" id="{AFD80097-9184-52DD-89E7-0E2ED869B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17199066">
              <a:off x="9460902" y="3071193"/>
              <a:ext cx="123674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Policy evaluation</a:t>
              </a:r>
            </a:p>
          </p:txBody>
        </p:sp>
        <p:sp>
          <p:nvSpPr>
            <p:cNvPr id="21" name="TextBox 57">
              <a:extLst>
                <a:ext uri="{FF2B5EF4-FFF2-40B4-BE49-F238E27FC236}">
                  <a16:creationId xmlns:a16="http://schemas.microsoft.com/office/drawing/2014/main" id="{17FBEAB6-A067-564C-70A8-D8E9A5A200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4406454">
              <a:off x="10019882" y="2910998"/>
              <a:ext cx="110318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/>
                <a:t>P. improvement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20B55EFD-EEBE-AE5F-7566-305C5EAE57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6192" y="3292095"/>
                <a:ext cx="7897536" cy="304998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dirty="0"/>
                  <a:t>Guarantees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Policy improvement is guaranteed to improve the policy.</a:t>
                </a:r>
              </a:p>
              <a:p>
                <a:pPr lvl="1"/>
                <a:r>
                  <a:rPr lang="en-US" dirty="0"/>
                  <a:t>Finite MDPs have a finite number of policies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Policy Iteration must </a:t>
                </a:r>
                <a:r>
                  <a:rPr lang="en-US" b="1" dirty="0"/>
                  <a:t>converge</a:t>
                </a:r>
                <a:r>
                  <a:rPr lang="en-US" dirty="0"/>
                  <a:t>!</a:t>
                </a:r>
              </a:p>
              <a:p>
                <a:pPr marL="0" indent="0">
                  <a:buNone/>
                </a:pPr>
                <a:r>
                  <a:rPr lang="en-US" b="1" dirty="0"/>
                  <a:t>Advantages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Policy becomes stable before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is reached.</a:t>
                </a:r>
              </a:p>
              <a:p>
                <a:pPr lvl="1"/>
                <a:r>
                  <a:rPr lang="en-US" dirty="0"/>
                  <a:t>Policy iteration typically converges fast.</a:t>
                </a:r>
              </a:p>
              <a:p>
                <a:pPr marL="0" indent="0">
                  <a:buNone/>
                </a:pPr>
                <a:r>
                  <a:rPr lang="en-US" b="1" dirty="0"/>
                  <a:t>Issue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Policy estimation is computationally expensive! </a:t>
                </a:r>
                <a:br>
                  <a:rPr lang="en-US" dirty="0"/>
                </a:br>
                <a:r>
                  <a:rPr lang="en-US" dirty="0"/>
                  <a:t>Using fewer iterations leads to modified policy iteration.</a:t>
                </a:r>
              </a:p>
            </p:txBody>
          </p:sp>
        </mc:Choice>
        <mc:Fallback xmlns=""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20B55EFD-EEBE-AE5F-7566-305C5EAE5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192" y="3292095"/>
                <a:ext cx="7897536" cy="3049982"/>
              </a:xfrm>
              <a:prstGeom prst="rect">
                <a:avLst/>
              </a:prstGeom>
              <a:blipFill>
                <a:blip r:embed="rId8"/>
                <a:stretch>
                  <a:fillRect l="-1236" t="-4400" b="-2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90092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57162-18FD-7F93-177F-3D55B41AE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Policy Iteration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BB67C0D-A372-0D64-BB80-32D4D2FCE8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71181" y="1397000"/>
            <a:ext cx="6849637" cy="4779963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DBD8C865-4D7E-35E7-E0FA-305C8DD8611A}"/>
              </a:ext>
            </a:extLst>
          </p:cNvPr>
          <p:cNvSpPr/>
          <p:nvPr/>
        </p:nvSpPr>
        <p:spPr>
          <a:xfrm>
            <a:off x="6330998" y="2506070"/>
            <a:ext cx="3587689" cy="753857"/>
          </a:xfrm>
          <a:prstGeom prst="wedgeRoundRectCallout">
            <a:avLst>
              <a:gd name="adj1" fmla="val -123530"/>
              <a:gd name="adj2" fmla="val 52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Just policy evaluation from before. </a:t>
            </a:r>
            <a:br>
              <a:rPr lang="en-US" sz="1600" dirty="0"/>
            </a:br>
            <a:r>
              <a:rPr lang="en-US" sz="1600" dirty="0"/>
              <a:t>We can also stop this loop early (modified policy iteration).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8BE2AD8-D811-FC6E-9D2F-35BC6E1C23CB}"/>
              </a:ext>
            </a:extLst>
          </p:cNvPr>
          <p:cNvSpPr/>
          <p:nvPr/>
        </p:nvSpPr>
        <p:spPr>
          <a:xfrm>
            <a:off x="7237254" y="4641802"/>
            <a:ext cx="3683079" cy="557248"/>
          </a:xfrm>
          <a:prstGeom prst="wedgeRoundRectCallout">
            <a:avLst>
              <a:gd name="adj1" fmla="val -57774"/>
              <a:gd name="adj2" fmla="val 8794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Picks the greedy action with the highest Q-value to improve the policy.</a:t>
            </a:r>
          </a:p>
        </p:txBody>
      </p:sp>
    </p:spTree>
    <p:extLst>
      <p:ext uri="{BB962C8B-B14F-4D97-AF65-F5344CB8AC3E}">
        <p14:creationId xmlns:p14="http://schemas.microsoft.com/office/powerpoint/2010/main" val="35471138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89A4790-D161-0E92-E9A9-5BEEA5CFC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Iteration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806331-75C8-8E65-5F2F-5059452CA0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the optimal value function based on the environment model.</a:t>
            </a:r>
          </a:p>
        </p:txBody>
      </p:sp>
    </p:spTree>
    <p:extLst>
      <p:ext uri="{BB962C8B-B14F-4D97-AF65-F5344CB8AC3E}">
        <p14:creationId xmlns:p14="http://schemas.microsoft.com/office/powerpoint/2010/main" val="5343925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6D9EF-5990-B359-32C3-C72B2C6A0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3D67A5-12C4-DAB0-8869-5122697A55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990869" cy="4759161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sz="2400" dirty="0"/>
                  <a:t>Combines policy improvement and truncated policy evaluation into a single step. This is called the </a:t>
                </a:r>
                <a:r>
                  <a:rPr lang="en-US" sz="2400" b="1" dirty="0"/>
                  <a:t>expected Bellman optimality update</a:t>
                </a:r>
                <a:r>
                  <a:rPr lang="en-US" sz="2400" dirty="0"/>
                  <a:t>.</a:t>
                </a:r>
              </a:p>
              <a:p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≝</m:t>
                      </m:r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  <m:r>
                            <m:rPr>
                              <m:nor/>
                            </m:rP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endParaRPr lang="en-US" sz="2400" dirty="0"/>
              </a:p>
              <a:p>
                <a:r>
                  <a:rPr lang="en-US" sz="2400" dirty="0"/>
                  <a:t>Written as the </a:t>
                </a:r>
                <a:r>
                  <a:rPr lang="en-US" sz="2400" b="1" dirty="0"/>
                  <a:t>Bellman optimality operator</a:t>
                </a:r>
                <a:r>
                  <a:rPr lang="en-US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endParaRPr lang="en-US" sz="2400" b="1" dirty="0"/>
              </a:p>
              <a:p>
                <a:r>
                  <a:rPr lang="en-US" sz="2400" b="1" dirty="0"/>
                  <a:t>Guarantee</a:t>
                </a:r>
                <a:r>
                  <a:rPr lang="en-US" sz="2400" dirty="0"/>
                  <a:t>: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 is a non-linear operator, but it is also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2400" dirty="0"/>
                  <a:t>-contracting. The Sequence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 dirty="0"/>
                  <a:t>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24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3D67A5-12C4-DAB0-8869-5122697A55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990869" cy="4759161"/>
              </a:xfrm>
              <a:blipFill>
                <a:blip r:embed="rId2"/>
                <a:stretch>
                  <a:fillRect l="-687" t="-1665" r="-6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5DDD6752-393B-5DE4-89C9-FB6C1BD42C20}"/>
              </a:ext>
            </a:extLst>
          </p:cNvPr>
          <p:cNvGrpSpPr/>
          <p:nvPr/>
        </p:nvGrpSpPr>
        <p:grpSpPr>
          <a:xfrm>
            <a:off x="8975345" y="3682639"/>
            <a:ext cx="2854818" cy="2270823"/>
            <a:chOff x="9337182" y="2229868"/>
            <a:chExt cx="2854818" cy="2270823"/>
          </a:xfrm>
        </p:grpSpPr>
        <p:grpSp>
          <p:nvGrpSpPr>
            <p:cNvPr id="5" name="Group 4" descr="Updating the value function using iterative Bellman updates.">
              <a:extLst>
                <a:ext uri="{FF2B5EF4-FFF2-40B4-BE49-F238E27FC236}">
                  <a16:creationId xmlns:a16="http://schemas.microsoft.com/office/drawing/2014/main" id="{63FD7C4D-64E2-3FEF-F62C-382BE07E89C8}"/>
                </a:ext>
              </a:extLst>
            </p:cNvPr>
            <p:cNvGrpSpPr/>
            <p:nvPr/>
          </p:nvGrpSpPr>
          <p:grpSpPr>
            <a:xfrm>
              <a:off x="9337182" y="2229868"/>
              <a:ext cx="2854818" cy="1428805"/>
              <a:chOff x="9337182" y="2229868"/>
              <a:chExt cx="2854818" cy="1428805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53024366-3B9C-8541-0D28-708BBC7AE6C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125590"/>
                    <a:ext cx="76699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125590"/>
                    <a:ext cx="766996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" name="Arc 9">
                <a:extLst>
                  <a:ext uri="{FF2B5EF4-FFF2-40B4-BE49-F238E27FC236}">
                    <a16:creationId xmlns:a16="http://schemas.microsoft.com/office/drawing/2014/main" id="{830A3C56-435D-BEBE-B83F-3BA9F9E016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1" name="Arc 10">
                <a:extLst>
                  <a:ext uri="{FF2B5EF4-FFF2-40B4-BE49-F238E27FC236}">
                    <a16:creationId xmlns:a16="http://schemas.microsoft.com/office/drawing/2014/main" id="{3FB9398F-7C22-1F4D-9C1A-D846D19FEE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2" name="Arc 11">
                <a:extLst>
                  <a:ext uri="{FF2B5EF4-FFF2-40B4-BE49-F238E27FC236}">
                    <a16:creationId xmlns:a16="http://schemas.microsoft.com/office/drawing/2014/main" id="{72229F87-12B2-362D-80BC-031A6CAAE4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936EFA66-6C09-679B-C4C9-F361F262C3E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4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AF4F629-36FB-BF7C-2361-1AFA669F5F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7" name="TextBox 35">
                <a:extLst>
                  <a:ext uri="{FF2B5EF4-FFF2-40B4-BE49-F238E27FC236}">
                    <a16:creationId xmlns:a16="http://schemas.microsoft.com/office/drawing/2014/main" id="{0C0182D5-6E45-5881-FEB0-C4755A1551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6" name="Arrow: Down 5">
              <a:extLst>
                <a:ext uri="{FF2B5EF4-FFF2-40B4-BE49-F238E27FC236}">
                  <a16:creationId xmlns:a16="http://schemas.microsoft.com/office/drawing/2014/main" id="{489C2DDD-1EBF-335C-9781-0FE90D3CF1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82400" y="3481251"/>
              <a:ext cx="248436" cy="388563"/>
            </a:xfrm>
            <a:prstGeom prst="down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sz="1600" dirty="0"/>
                    <a:t>Extract</a:t>
                  </a:r>
                  <a:br>
                    <a:rPr lang="en-US" sz="1600" dirty="0"/>
                  </a:br>
                  <a:r>
                    <a:rPr lang="en-US" sz="1600" dirty="0"/>
                    <a:t> greedy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7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blipFill>
                  <a:blip r:embed="rId6"/>
                  <a:stretch>
                    <a:fillRect t="-3125" b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954ED2-5491-8A3F-7138-9F0DEDA17235}"/>
                  </a:ext>
                </a:extLst>
              </p:cNvPr>
              <p:cNvSpPr txBox="1"/>
              <p:nvPr/>
            </p:nvSpPr>
            <p:spPr>
              <a:xfrm>
                <a:off x="8231667" y="2248185"/>
                <a:ext cx="2988896" cy="906915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limLow>
                      <m:limLow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sz="160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lim>
                    </m:limLow>
                  </m:oMath>
                </a14:m>
                <a:r>
                  <a:rPr lang="en-US" sz="1600" dirty="0"/>
                  <a:t> … policy improvement</a:t>
                </a:r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</m:oMath>
                </a14:m>
                <a:r>
                  <a:rPr lang="en-US" sz="1600" dirty="0"/>
                  <a:t>       … truncated policy </a:t>
                </a:r>
                <a:br>
                  <a:rPr lang="en-US" sz="1600" dirty="0"/>
                </a:br>
                <a:r>
                  <a:rPr lang="en-US" sz="1600" dirty="0"/>
                  <a:t>                evaluation (1 step)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954ED2-5491-8A3F-7138-9F0DEDA172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1667" y="2248185"/>
                <a:ext cx="2988896" cy="906915"/>
              </a:xfrm>
              <a:prstGeom prst="rect">
                <a:avLst/>
              </a:prstGeom>
              <a:blipFill>
                <a:blip r:embed="rId7"/>
                <a:stretch>
                  <a:fillRect t="-658" b="-59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68126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76B44262-ED50-A04F-C5AA-E6A746D0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39" y="1039018"/>
            <a:ext cx="6849637" cy="47799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D7C93B2-B8AE-DF85-EA1B-8078C4975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Value Iteration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A7CD4F4-7550-2FF0-26AF-786588E65B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659" t="2281"/>
          <a:stretch>
            <a:fillRect/>
          </a:stretch>
        </p:blipFill>
        <p:spPr>
          <a:xfrm>
            <a:off x="4411456" y="3092208"/>
            <a:ext cx="7034263" cy="330766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9540CE52-AAD7-F286-13F5-1B8D753FE1D7}"/>
                  </a:ext>
                </a:extLst>
              </p:cNvPr>
              <p:cNvSpPr/>
              <p:nvPr/>
            </p:nvSpPr>
            <p:spPr>
              <a:xfrm>
                <a:off x="8103956" y="4239859"/>
                <a:ext cx="2889785" cy="569466"/>
              </a:xfrm>
              <a:prstGeom prst="wedgeRoundRectCallout">
                <a:avLst>
                  <a:gd name="adj1" fmla="val -66744"/>
                  <a:gd name="adj2" fmla="val 6228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0" dirty="0"/>
                  <a:t>Bellman optimality operator:</a:t>
                </a:r>
                <a:br>
                  <a:rPr lang="en-US" sz="1600" b="0" dirty="0"/>
                </a:br>
                <a:r>
                  <a:rPr lang="en-US" sz="1600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9540CE52-AAD7-F286-13F5-1B8D753FE1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3956" y="4239859"/>
                <a:ext cx="2889785" cy="569466"/>
              </a:xfrm>
              <a:prstGeom prst="wedgeRoundRectCallout">
                <a:avLst>
                  <a:gd name="adj1" fmla="val -66744"/>
                  <a:gd name="adj2" fmla="val 62281"/>
                  <a:gd name="adj3" fmla="val 16667"/>
                </a:avLst>
              </a:prstGeom>
              <a:blipFill>
                <a:blip r:embed="rId4"/>
                <a:stretch>
                  <a:fillRect t="-26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94FA055-A74C-A901-CCD7-6A1A7CC80DA2}"/>
              </a:ext>
            </a:extLst>
          </p:cNvPr>
          <p:cNvSpPr/>
          <p:nvPr/>
        </p:nvSpPr>
        <p:spPr>
          <a:xfrm>
            <a:off x="8577442" y="6207869"/>
            <a:ext cx="2667583" cy="384011"/>
          </a:xfrm>
          <a:prstGeom prst="wedgeRoundRectCallout">
            <a:avLst>
              <a:gd name="adj1" fmla="val -75681"/>
              <a:gd name="adj2" fmla="val -4842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0" dirty="0"/>
              <a:t>Extract the greedy policy.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C0C2CF-3D6C-5FB5-6FAF-5A3C70799FAF}"/>
              </a:ext>
            </a:extLst>
          </p:cNvPr>
          <p:cNvSpPr/>
          <p:nvPr/>
        </p:nvSpPr>
        <p:spPr>
          <a:xfrm>
            <a:off x="1563554" y="3231811"/>
            <a:ext cx="2847902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968F04-390C-807C-E196-34BFDCCC50A5}"/>
              </a:ext>
            </a:extLst>
          </p:cNvPr>
          <p:cNvSpPr/>
          <p:nvPr/>
        </p:nvSpPr>
        <p:spPr>
          <a:xfrm>
            <a:off x="1199213" y="4954746"/>
            <a:ext cx="3212243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6B028D-DF2E-6F82-30C8-7142C1BEBEA8}"/>
              </a:ext>
            </a:extLst>
          </p:cNvPr>
          <p:cNvSpPr txBox="1"/>
          <p:nvPr/>
        </p:nvSpPr>
        <p:spPr>
          <a:xfrm>
            <a:off x="1695311" y="3678540"/>
            <a:ext cx="2584388" cy="120032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Combine improvement and modified evaluation (1 iteration) into a single update.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AAE380-C886-4AD1-501B-DC3FA8D0D18B}"/>
              </a:ext>
            </a:extLst>
          </p:cNvPr>
          <p:cNvSpPr/>
          <p:nvPr/>
        </p:nvSpPr>
        <p:spPr>
          <a:xfrm>
            <a:off x="5114123" y="4899809"/>
            <a:ext cx="3541266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7EDE205F-7A5D-E9BD-56DA-89AC4D034BAD}"/>
              </a:ext>
            </a:extLst>
          </p:cNvPr>
          <p:cNvSpPr/>
          <p:nvPr/>
        </p:nvSpPr>
        <p:spPr>
          <a:xfrm>
            <a:off x="8103956" y="5254892"/>
            <a:ext cx="2667583" cy="474765"/>
          </a:xfrm>
          <a:prstGeom prst="wedgeRoundRectCallout">
            <a:avLst>
              <a:gd name="adj1" fmla="val -141709"/>
              <a:gd name="adj2" fmla="val 139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0" dirty="0"/>
              <a:t>Stopping criterion from policy evaluation</a:t>
            </a:r>
            <a:endParaRPr lang="en-US" sz="16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357B00-C899-A34F-CC4A-48E9DDA5567A}"/>
              </a:ext>
            </a:extLst>
          </p:cNvPr>
          <p:cNvSpPr/>
          <p:nvPr/>
        </p:nvSpPr>
        <p:spPr>
          <a:xfrm>
            <a:off x="4781862" y="5914693"/>
            <a:ext cx="3729702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994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4B189-2BE7-EF8E-90AD-B8D2A5B4A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DP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64E2E2-C328-F2E5-08B7-7436CBE7F5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Requires perfect knowledge of the model!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Space Complexity</a:t>
                </a:r>
                <a:endParaRPr lang="en-US" dirty="0"/>
              </a:p>
              <a:p>
                <a:pPr lvl="1"/>
                <a:r>
                  <a:rPr lang="en-US" dirty="0"/>
                  <a:t>Tabular method: stores the complete value function as table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Time Complexity</a:t>
                </a:r>
              </a:p>
              <a:p>
                <a:pPr lvl="1"/>
                <a:r>
                  <a:rPr lang="en-US" dirty="0"/>
                  <a:t>Updates repeatedly sweep over the whole state space.</a:t>
                </a:r>
              </a:p>
              <a:p>
                <a:pPr lvl="1"/>
                <a:r>
                  <a:rPr lang="en-US" dirty="0"/>
                  <a:t>Wastes computation by updating states that are not relevant for the optimal behavior. I.e., the optimal policy will never visit them.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64E2E2-C328-F2E5-08B7-7436CBE7F5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69684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2819D-6D6F-85AF-5816-7FFAE79AF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GPI: Generalized Policy Iteration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33D3AB-3DD4-67C8-8B22-66483B0E48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Generalizing value and policy iteration into a single framework.</a:t>
            </a:r>
          </a:p>
        </p:txBody>
      </p:sp>
    </p:spTree>
    <p:extLst>
      <p:ext uri="{BB962C8B-B14F-4D97-AF65-F5344CB8AC3E}">
        <p14:creationId xmlns:p14="http://schemas.microsoft.com/office/powerpoint/2010/main" val="3911526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63CDC-59B1-7366-BF66-6498BF0BD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7E42A-9F26-864D-705B-AD1A7F35C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GPI: Generalized Policy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9A61E8-38E7-2C6A-1812-C00D57947F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397330"/>
                <a:ext cx="7223876" cy="4779633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Steps</a:t>
                </a:r>
              </a:p>
              <a:p>
                <a:pPr lvl="1"/>
                <a:r>
                  <a:rPr lang="en-US" b="1" dirty="0"/>
                  <a:t>Policy evaluation</a:t>
                </a:r>
                <a:r>
                  <a:rPr lang="en-US" dirty="0"/>
                  <a:t>: make the value function consistent with the current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b="1" dirty="0"/>
                  <a:t>Policy improvement</a:t>
                </a:r>
                <a:r>
                  <a:rPr lang="en-US" dirty="0"/>
                  <a:t>: make policy greedy with respect to the current value function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Most DP methods can be described as a special case of GPI:</a:t>
                </a:r>
              </a:p>
              <a:p>
                <a:pPr lvl="1"/>
                <a:r>
                  <a:rPr lang="en-US" b="1" dirty="0"/>
                  <a:t>Policy iteration</a:t>
                </a:r>
                <a:r>
                  <a:rPr lang="en-US" dirty="0"/>
                  <a:t>: each evaluation and improvement step is completed (by a sweep over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) before moving on.</a:t>
                </a:r>
              </a:p>
              <a:p>
                <a:pPr lvl="1"/>
                <a:r>
                  <a:rPr lang="en-US" b="1" dirty="0"/>
                  <a:t>Value iteration</a:t>
                </a:r>
                <a:r>
                  <a:rPr lang="en-US" dirty="0"/>
                  <a:t>: uses a single iteration for the policy evaluation step.</a:t>
                </a:r>
              </a:p>
              <a:p>
                <a:pPr lvl="1"/>
                <a:r>
                  <a:rPr lang="en-US" b="1" dirty="0"/>
                  <a:t>Asynchronous DP</a:t>
                </a:r>
                <a:r>
                  <a:rPr lang="en-US" dirty="0"/>
                  <a:t>: Instead of sweeps over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, updates states in some other order (e.g., focus on states where the value function changed a lot in the last step). This interleaves pol. eval. and pol. Improvement.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All three approaches typically converge to the optimal solution.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9A61E8-38E7-2C6A-1812-C00D57947F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397330"/>
                <a:ext cx="7223876" cy="4779633"/>
              </a:xfrm>
              <a:blipFill>
                <a:blip r:embed="rId2"/>
                <a:stretch>
                  <a:fillRect l="-928" r="-6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37D4EB40-D8C7-544A-60A9-FB0F86C14D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8762"/>
          <a:stretch>
            <a:fillRect/>
          </a:stretch>
        </p:blipFill>
        <p:spPr>
          <a:xfrm>
            <a:off x="8760146" y="309335"/>
            <a:ext cx="2682923" cy="26287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9C9802-DC7A-3741-A414-F95D8B5FE1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0323" y="3585975"/>
            <a:ext cx="3511083" cy="2389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2987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4FA30-1294-3E3D-F7B7-AE5ECD84C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65C76A-B55E-DE87-E461-B000ACB291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b="1" dirty="0"/>
                  <a:t>Direct Search</a:t>
                </a:r>
                <a:r>
                  <a:rPr lang="en-US" dirty="0"/>
                  <a:t>: Search space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</m:e>
                      <m:sup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dirty="0"/>
                  <a:t>exponential</a:t>
                </a:r>
                <a:r>
                  <a:rPr lang="en-US" dirty="0"/>
                  <a:t> in the number of states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LP (linear program): </a:t>
                </a:r>
                <a:r>
                  <a:rPr lang="en-US" dirty="0"/>
                  <a:t>Solve a system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equations with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state variables 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constraints has a time complexity of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DP</a:t>
                </a:r>
                <a:r>
                  <a:rPr lang="en-US" dirty="0"/>
                  <a:t>: Time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|)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dirty="0"/>
                  <a:t>quadratic</a:t>
                </a:r>
                <a:r>
                  <a:rPr lang="en-US" dirty="0"/>
                  <a:t> in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Search and LP are impractical. The number of actions is typically relatively small. </a:t>
                </a:r>
                <a:r>
                  <a:rPr lang="en-US" b="1" dirty="0"/>
                  <a:t>DP can be used today with millions of states.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65C76A-B55E-DE87-E461-B000ACB291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423" r="-1623" b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10672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2C52A3-FAA4-BCF8-A90D-D0A2BBA5D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4069055" cy="2072853"/>
          </a:xfrm>
        </p:spPr>
        <p:txBody>
          <a:bodyPr anchor="t">
            <a:normAutofit/>
          </a:bodyPr>
          <a:lstStyle/>
          <a:p>
            <a:r>
              <a:rPr lang="en-US" sz="4000" dirty="0"/>
              <a:t>What you need to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B8B81D-82C4-D9E0-6DED-9C99A065A0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724708" y="3429000"/>
            <a:ext cx="3951110" cy="266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ED8835-0B09-E3B5-B39B-6B68E1180D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0" y="528505"/>
                <a:ext cx="5257797" cy="5796793"/>
              </a:xfrm>
            </p:spPr>
            <p:txBody>
              <a:bodyPr anchor="ctr"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1600" b="1" dirty="0"/>
                  <a:t>Requirements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b="1" dirty="0"/>
                  <a:t>Model access</a:t>
                </a:r>
                <a:r>
                  <a:rPr lang="en-US" sz="1600" dirty="0"/>
                  <a:t>: DP methods need access to the </a:t>
                </a:r>
                <a:r>
                  <a:rPr lang="en-US" sz="1600" b="1" dirty="0"/>
                  <a:t>model</a:t>
                </a:r>
                <a:r>
                  <a:rPr lang="en-US" sz="1600" dirty="0"/>
                  <a:t>’s function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600" dirty="0"/>
                  <a:t>.</a:t>
                </a:r>
              </a:p>
              <a:p>
                <a:pPr lvl="1"/>
                <a:r>
                  <a:rPr lang="en-US" sz="1600" b="1" dirty="0"/>
                  <a:t>Small discrete state/action space </a:t>
                </a:r>
                <a:r>
                  <a:rPr lang="en-US" sz="1600" dirty="0"/>
                  <a:t>since it is a tabular method.</a:t>
                </a:r>
              </a:p>
              <a:p>
                <a:pPr marL="0" indent="0">
                  <a:buNone/>
                </a:pPr>
                <a:endParaRPr lang="en-US" sz="1600" b="1" dirty="0"/>
              </a:p>
              <a:p>
                <a:pPr marL="0" indent="0">
                  <a:buNone/>
                </a:pPr>
                <a:r>
                  <a:rPr lang="en-US" sz="1600" b="1" dirty="0"/>
                  <a:t>Tasks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b="1" dirty="0"/>
                  <a:t>Evaluation/Prediction</a:t>
                </a:r>
                <a:r>
                  <a:rPr lang="en-US" sz="1600" dirty="0"/>
                  <a:t>: Calculates the value function for a given policy.</a:t>
                </a:r>
              </a:p>
              <a:p>
                <a:pPr lvl="1"/>
                <a:r>
                  <a:rPr lang="en-US" sz="1600" b="1" dirty="0"/>
                  <a:t>Control</a:t>
                </a:r>
                <a:r>
                  <a:rPr lang="en-US" sz="1600" dirty="0"/>
                  <a:t>: Calculates the optimal policy for an MDP.</a:t>
                </a:r>
              </a:p>
              <a:p>
                <a:endParaRPr lang="en-US" sz="1600" dirty="0"/>
              </a:p>
              <a:p>
                <a:pPr marL="0" indent="0">
                  <a:buNone/>
                </a:pPr>
                <a:r>
                  <a:rPr lang="en-US" sz="1600" b="1" dirty="0"/>
                  <a:t>Approach</a:t>
                </a:r>
                <a:r>
                  <a:rPr lang="en-US" sz="1600" dirty="0"/>
                  <a:t>: </a:t>
                </a:r>
              </a:p>
              <a:p>
                <a:r>
                  <a:rPr lang="en-US" sz="1600" dirty="0"/>
                  <a:t>Convert the recursive Bellman equations into the Belmann update operators and sweep the state space till the optimal solution is found.</a:t>
                </a:r>
              </a:p>
              <a:p>
                <a:pPr lvl="1"/>
                <a:r>
                  <a:rPr lang="en-US" sz="1600" dirty="0"/>
                  <a:t>Expected Bellman update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sz="1600" dirty="0"/>
                  <a:t> vs. Bellman optimality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sz="1600" dirty="0"/>
              </a:p>
              <a:p>
                <a:pPr lvl="1"/>
                <a:r>
                  <a:rPr lang="en-US" sz="1600" dirty="0"/>
                  <a:t>Value iteration is a special case of modified policy iteration with a single policy evaluation iteration.</a:t>
                </a:r>
              </a:p>
              <a:p>
                <a:pPr lvl="1"/>
                <a:r>
                  <a:rPr lang="en-US" sz="1600" dirty="0"/>
                  <a:t>Convergence requires either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sz="1600" dirty="0"/>
                  <a:t> or a guarantee that the policy will reach a terminal state.</a:t>
                </a:r>
              </a:p>
              <a:p>
                <a:endParaRPr lang="en-US" sz="1600" b="1" dirty="0"/>
              </a:p>
              <a:p>
                <a:pPr marL="0" indent="0">
                  <a:buNone/>
                </a:pPr>
                <a:r>
                  <a:rPr lang="en-US" sz="1600" b="1" dirty="0"/>
                  <a:t>GPI</a:t>
                </a:r>
                <a:r>
                  <a:rPr lang="en-US" sz="1600" dirty="0"/>
                  <a:t>: </a:t>
                </a:r>
              </a:p>
              <a:p>
                <a:r>
                  <a:rPr lang="en-US" sz="1600" dirty="0"/>
                  <a:t>All DP methods can be generalized using the GPI evaluation/improvement framework.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ED8835-0B09-E3B5-B39B-6B68E1180D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528505"/>
                <a:ext cx="5257797" cy="5796793"/>
              </a:xfrm>
              <a:blipFill>
                <a:blip r:embed="rId3"/>
                <a:stretch>
                  <a:fillRect l="-464" r="-11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8771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7416</TotalTime>
  <Words>2281</Words>
  <Application>Microsoft Office PowerPoint</Application>
  <PresentationFormat>Widescreen</PresentationFormat>
  <Paragraphs>297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Dynamic Programming Sutton/Barto* Chapter 4</vt:lpstr>
      <vt:lpstr>Summary of Notation</vt:lpstr>
      <vt:lpstr>Goal</vt:lpstr>
      <vt:lpstr>Tabular Methods</vt:lpstr>
      <vt:lpstr>Prediction vs. Control</vt:lpstr>
      <vt:lpstr>Prediction: Policy Evaluation</vt:lpstr>
      <vt:lpstr>Policy Evaluation to Estimate v_π</vt:lpstr>
      <vt:lpstr>Solution Option 1: Linear Program</vt:lpstr>
      <vt:lpstr>Solution Option 2: Iterative Policy Evaluation</vt:lpstr>
      <vt:lpstr>Convergence of Iterative Policy Evaluation</vt:lpstr>
      <vt:lpstr>Alg. Iterative Policy Evaluation</vt:lpstr>
      <vt:lpstr>Policy Iteration</vt:lpstr>
      <vt:lpstr>Policy Improvement and the Greedy Policy</vt:lpstr>
      <vt:lpstr>Policy Iteration</vt:lpstr>
      <vt:lpstr>Alg. Policy Iteration</vt:lpstr>
      <vt:lpstr>Value Iteration</vt:lpstr>
      <vt:lpstr>Value Iteration</vt:lpstr>
      <vt:lpstr>Alg. Value Iteration</vt:lpstr>
      <vt:lpstr>Issues with DP Methods</vt:lpstr>
      <vt:lpstr>GPI: Generalized Policy Iteration</vt:lpstr>
      <vt:lpstr>GPI: Generalized Policy Iteration</vt:lpstr>
      <vt:lpstr>Efficiency</vt:lpstr>
      <vt:lpstr>What you need to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117</cp:revision>
  <dcterms:created xsi:type="dcterms:W3CDTF">2025-09-08T14:44:49Z</dcterms:created>
  <dcterms:modified xsi:type="dcterms:W3CDTF">2026-02-04T00:16:59Z</dcterms:modified>
</cp:coreProperties>
</file>