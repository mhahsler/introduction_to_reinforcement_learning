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78" r:id="rId3"/>
    <p:sldId id="368" r:id="rId4"/>
    <p:sldId id="380" r:id="rId5"/>
    <p:sldId id="388" r:id="rId6"/>
    <p:sldId id="372" r:id="rId7"/>
    <p:sldId id="369" r:id="rId8"/>
    <p:sldId id="370" r:id="rId9"/>
    <p:sldId id="389" r:id="rId10"/>
    <p:sldId id="390" r:id="rId11"/>
    <p:sldId id="371" r:id="rId12"/>
    <p:sldId id="373" r:id="rId13"/>
    <p:sldId id="375" r:id="rId14"/>
    <p:sldId id="376" r:id="rId15"/>
    <p:sldId id="377" r:id="rId16"/>
    <p:sldId id="378" r:id="rId17"/>
    <p:sldId id="379" r:id="rId18"/>
    <p:sldId id="382" r:id="rId19"/>
    <p:sldId id="383" r:id="rId20"/>
    <p:sldId id="384" r:id="rId21"/>
    <p:sldId id="385" r:id="rId22"/>
    <p:sldId id="386" r:id="rId23"/>
    <p:sldId id="38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478"/>
          </p14:sldIdLst>
        </p14:section>
        <p14:section name="Introduction" id="{E0FB7704-6132-49E2-A4A4-C2DED466B618}">
          <p14:sldIdLst>
            <p14:sldId id="368"/>
            <p14:sldId id="380"/>
            <p14:sldId id="388"/>
          </p14:sldIdLst>
        </p14:section>
        <p14:section name="Policy Evaluation" id="{E4CB73A3-D0DE-4DED-94E7-4A458167A30F}">
          <p14:sldIdLst>
            <p14:sldId id="372"/>
            <p14:sldId id="369"/>
            <p14:sldId id="370"/>
            <p14:sldId id="389"/>
            <p14:sldId id="390"/>
            <p14:sldId id="371"/>
          </p14:sldIdLst>
        </p14:section>
        <p14:section name="Policy Iteration" id="{4DE153CC-8DA8-4101-A46B-0DFD73F9B57D}">
          <p14:sldIdLst>
            <p14:sldId id="373"/>
            <p14:sldId id="375"/>
            <p14:sldId id="376"/>
            <p14:sldId id="377"/>
          </p14:sldIdLst>
        </p14:section>
        <p14:section name="Value Iteration" id="{6A988A78-1EF4-4EB1-89B7-8F80075BCC63}">
          <p14:sldIdLst>
            <p14:sldId id="378"/>
            <p14:sldId id="379"/>
            <p14:sldId id="382"/>
            <p14:sldId id="383"/>
          </p14:sldIdLst>
        </p14:section>
        <p14:section name="Generalized Policy Iteration" id="{24242526-B5FF-45B4-A80E-CA85C1F5783D}">
          <p14:sldIdLst>
            <p14:sldId id="384"/>
            <p14:sldId id="385"/>
            <p14:sldId id="386"/>
          </p14:sldIdLst>
        </p14:section>
        <p14:section name="Summary" id="{6AC1C20A-A1BF-4444-80D7-F422EA17542D}">
          <p14:sldIdLst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212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6.png"/><Relationship Id="rId7" Type="http://schemas.openxmlformats.org/officeDocument/2006/relationships/image" Target="../media/image15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50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F818925-CF68-EB6E-413D-FFCD573CC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0264"/>
                <a:ext cx="8403522" cy="500669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1500" b="1" dirty="0"/>
                  <a:t>Remember</a:t>
                </a:r>
                <a:r>
                  <a:rPr lang="en-US" sz="1500" dirty="0"/>
                  <a:t>: MDPs have an optimal deterministic policy.</a:t>
                </a:r>
              </a:p>
              <a:p>
                <a:r>
                  <a:rPr lang="en-US" sz="1500" b="1" dirty="0"/>
                  <a:t>Goal</a:t>
                </a:r>
                <a:r>
                  <a:rPr lang="en-US" sz="1500" dirty="0"/>
                  <a:t>: Compute the </a:t>
                </a:r>
                <a:r>
                  <a:rPr lang="en-US" sz="1500" b="1" dirty="0"/>
                  <a:t>optimal deterministic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500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1500" dirty="0"/>
                  <a:t> given a perfect finite MDP model.</a:t>
                </a:r>
              </a:p>
              <a:p>
                <a:r>
                  <a:rPr lang="en-US" sz="1500" dirty="0"/>
                  <a:t>Solve the Bellman optimality equations (the optimal policy always picks the best action):</a:t>
                </a:r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 algn="ctr">
                  <a:buNone/>
                </a:pPr>
                <a:r>
                  <a:rPr lang="en-US" sz="15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5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5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5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:endParaRPr lang="en-US" sz="1500" b="1" dirty="0"/>
              </a:p>
              <a:p>
                <a:r>
                  <a:rPr lang="en-US" sz="1500" b="1" dirty="0"/>
                  <a:t>Issues</a:t>
                </a:r>
                <a:r>
                  <a:rPr lang="en-US" sz="1500" dirty="0"/>
                  <a:t>: The value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5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500" dirty="0"/>
                  <a:t>! </a:t>
                </a:r>
                <a:br>
                  <a:rPr lang="en-US" sz="1500" dirty="0"/>
                </a:br>
                <a:r>
                  <a:rPr lang="en-US" sz="1500" dirty="0"/>
                  <a:t>We need to solve all optimality equations at the same time.</a:t>
                </a:r>
              </a:p>
              <a:p>
                <a:endParaRPr lang="en-US" sz="1500" b="1" dirty="0"/>
              </a:p>
              <a:p>
                <a:r>
                  <a:rPr lang="en-US" sz="1500" b="1" dirty="0"/>
                  <a:t>Idea</a:t>
                </a:r>
                <a:r>
                  <a:rPr lang="en-US" sz="1500" dirty="0"/>
                  <a:t>: We can find the optimal policy by stepwise </a:t>
                </a:r>
                <a:r>
                  <a:rPr lang="en-US" sz="1500" b="1" dirty="0"/>
                  <a:t>improving a policy </a:t>
                </a:r>
                <a:r>
                  <a:rPr lang="en-US" sz="1500" dirty="0"/>
                  <a:t>till it is optimal. A policy is better if it has larger state values.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groupChr>
                        <m:groupChrPr>
                          <m:chr m:val="⇔"/>
                          <m:pos m:val="top"/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all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1500" dirty="0"/>
              </a:p>
              <a:p>
                <a:r>
                  <a:rPr lang="en-US" sz="1500" dirty="0"/>
                  <a:t>To do this we need to be able to </a:t>
                </a:r>
                <a:r>
                  <a:rPr lang="en-US" sz="1500" b="1" dirty="0"/>
                  <a:t>evaluate a policy </a:t>
                </a:r>
                <a:r>
                  <a:rPr lang="en-US" sz="1500" dirty="0"/>
                  <a:t>(i.e.,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5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sz="1500" dirty="0"/>
                  <a:t>).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0264"/>
                <a:ext cx="8403522" cy="5006699"/>
              </a:xfrm>
              <a:blipFill>
                <a:blip r:embed="rId2"/>
                <a:stretch>
                  <a:fillRect l="-218" t="-853" r="-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4924608" y="3522501"/>
            <a:ext cx="1265236" cy="517988"/>
            <a:chOff x="2533296" y="3175233"/>
            <a:chExt cx="1503726" cy="517988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602325" y="3385444"/>
                  <a:ext cx="13656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2325" y="3385444"/>
                  <a:ext cx="1365667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12223B-5984-DA37-7047-D622C8E2D116}"/>
              </a:ext>
            </a:extLst>
          </p:cNvPr>
          <p:cNvGrpSpPr/>
          <p:nvPr/>
        </p:nvGrpSpPr>
        <p:grpSpPr>
          <a:xfrm>
            <a:off x="9241722" y="1765979"/>
            <a:ext cx="2656115" cy="2436074"/>
            <a:chOff x="9241722" y="1765979"/>
            <a:chExt cx="2656115" cy="2436074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866273BC-75CB-7A69-263C-BB0ECD222D37}"/>
                </a:ext>
              </a:extLst>
            </p:cNvPr>
            <p:cNvSpPr/>
            <p:nvPr/>
          </p:nvSpPr>
          <p:spPr>
            <a:xfrm>
              <a:off x="9241722" y="1765979"/>
              <a:ext cx="383908" cy="243607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465BAAC-5796-5993-D172-BA7B294D59A7}"/>
                </a:ext>
              </a:extLst>
            </p:cNvPr>
            <p:cNvSpPr txBox="1"/>
            <p:nvPr/>
          </p:nvSpPr>
          <p:spPr>
            <a:xfrm>
              <a:off x="9723353" y="2660850"/>
              <a:ext cx="2174484" cy="58477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Control</a:t>
              </a:r>
              <a:r>
                <a:rPr lang="en-US" sz="1600" dirty="0"/>
                <a:t>: Find the optimal policy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D15AB9-3CD7-2FB5-029A-77CCA4C92D07}"/>
              </a:ext>
            </a:extLst>
          </p:cNvPr>
          <p:cNvGrpSpPr/>
          <p:nvPr/>
        </p:nvGrpSpPr>
        <p:grpSpPr>
          <a:xfrm>
            <a:off x="9283600" y="5079986"/>
            <a:ext cx="2717168" cy="1228272"/>
            <a:chOff x="9283602" y="5193234"/>
            <a:chExt cx="2728862" cy="1228272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DF5A9186-41F0-8C89-4311-A80AF67129F1}"/>
                </a:ext>
              </a:extLst>
            </p:cNvPr>
            <p:cNvSpPr/>
            <p:nvPr/>
          </p:nvSpPr>
          <p:spPr>
            <a:xfrm>
              <a:off x="9283602" y="5193234"/>
              <a:ext cx="289677" cy="1228272"/>
            </a:xfrm>
            <a:prstGeom prst="righ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98FB361-7D81-7549-BB19-0BA3C1F55C05}"/>
                </a:ext>
              </a:extLst>
            </p:cNvPr>
            <p:cNvSpPr txBox="1"/>
            <p:nvPr/>
          </p:nvSpPr>
          <p:spPr>
            <a:xfrm>
              <a:off x="9725248" y="5345966"/>
              <a:ext cx="2287216" cy="830997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Prediction/</a:t>
              </a:r>
              <a:r>
                <a:rPr lang="en-US" sz="1600" b="1" dirty="0" err="1"/>
                <a:t>Evaluaiton</a:t>
              </a:r>
              <a:r>
                <a:rPr lang="en-US" sz="1600" dirty="0"/>
                <a:t>: Estimate the value function for a policy.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Tabular means: 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 called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Important property: Entries in the table do not influence each other. We can change them independently.</a:t>
                </a:r>
              </a:p>
              <a:p>
                <a:r>
                  <a:rPr lang="en-US" dirty="0"/>
                  <a:t>Tabular methods find the exact solution (i.e., optimal value function and policy) given enough memory and time.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Table size: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entries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entries</a:t>
                </a:r>
              </a:p>
              <a:p>
                <a:pPr marL="914400" lvl="2" indent="0">
                  <a:buNone/>
                </a:pPr>
                <a:r>
                  <a:rPr lang="en-US" dirty="0"/>
                  <a:t>This is only feasible for problems with a small discrete state/action space!</a:t>
                </a:r>
              </a:p>
              <a:p>
                <a:pPr lvl="1"/>
                <a:r>
                  <a:rPr lang="en-US" dirty="0"/>
                  <a:t>No generalization: Knowledge about the value of one state (state-action pair) does not help us with similar states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generalize and can work with large state spaces.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  <a:blipFill>
                <a:blip r:embed="rId2"/>
                <a:stretch>
                  <a:fillRect l="-812" t="-2078" r="-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8838343" y="551826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Value Function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086691" y="2565864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46" t="-2000" r="-229851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9469" t="-2000" r="-172566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9843" t="-2000" r="-2094" b="-5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31" t="-1639" r="-269072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281" t="-1639" r="-1953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0.7453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0.6709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0.7003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0.7109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93396" t="-101961" r="-311321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5238" t="-101961" r="-214286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64957" t="-101961" r="-92308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410577" t="-101961" r="-3846" b="-2156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4">
            <a:extLst>
              <a:ext uri="{FF2B5EF4-FFF2-40B4-BE49-F238E27FC236}">
                <a16:creationId xmlns:a16="http://schemas.microsoft.com/office/drawing/2014/main" id="{44CFFF41-CFC5-E3BB-D794-D00B06D2A95F}"/>
              </a:ext>
            </a:extLst>
          </p:cNvPr>
          <p:cNvSpPr txBox="1"/>
          <p:nvPr/>
        </p:nvSpPr>
        <p:spPr>
          <a:xfrm>
            <a:off x="9200611" y="472748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1C883-1AA7-C2E6-D09D-DAD2AE00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vs.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07924-B986-8A34-1581-62645BDB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class, we will always talk about two tasks: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Prediction to evaluate a policy</a:t>
            </a:r>
            <a:r>
              <a:rPr lang="en-US" dirty="0"/>
              <a:t>: Estimate the value function for a given policy. We can use this to compare two policies.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Control</a:t>
            </a:r>
            <a:r>
              <a:rPr lang="en-US" dirty="0"/>
              <a:t>: Control the agent’s behavior to find the optimal policy. This requires being able to evaluate policies.</a:t>
            </a:r>
          </a:p>
        </p:txBody>
      </p:sp>
    </p:spTree>
    <p:extLst>
      <p:ext uri="{BB962C8B-B14F-4D97-AF65-F5344CB8AC3E}">
        <p14:creationId xmlns:p14="http://schemas.microsoft.com/office/powerpoint/2010/main" val="3921583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Prediction: 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value function of a given policy?</a:t>
            </a:r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Policy Evaluation to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r>
                  <a:rPr lang="en-US" dirty="0"/>
                  <a:t>Bellman expectation equations give us the 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There exists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or termination is guaranteed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3"/>
                <a:stretch>
                  <a:fillRect l="-696" t="-25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 1: Linear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Directly 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equations. </a:t>
                </a:r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 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This is hard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is very large.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  <a:blipFill>
                <a:blip r:embed="rId2"/>
                <a:stretch>
                  <a:fillRect l="-766" t="-1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658F-139C-0BE8-0CD7-8FE00B9A3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52543F45-3A9E-C880-1230-772119373948}"/>
              </a:ext>
            </a:extLst>
          </p:cNvPr>
          <p:cNvGrpSpPr/>
          <p:nvPr/>
        </p:nvGrpSpPr>
        <p:grpSpPr>
          <a:xfrm>
            <a:off x="200701" y="3523056"/>
            <a:ext cx="2299156" cy="1791256"/>
            <a:chOff x="8709114" y="1909044"/>
            <a:chExt cx="2660677" cy="226852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C4F431F-EEDB-B955-97C6-C588C6C93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5184"/>
            <a:stretch>
              <a:fillRect/>
            </a:stretch>
          </p:blipFill>
          <p:spPr>
            <a:xfrm>
              <a:off x="8709114" y="2205386"/>
              <a:ext cx="2660677" cy="197218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45E00C3-80D2-F1CC-F7E7-B3AD2D79EB12}"/>
                </a:ext>
              </a:extLst>
            </p:cNvPr>
            <p:cNvSpPr txBox="1"/>
            <p:nvPr/>
          </p:nvSpPr>
          <p:spPr>
            <a:xfrm>
              <a:off x="8928479" y="1909044"/>
              <a:ext cx="2177124" cy="3897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Backup diagram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05886B1-B3C3-36AF-DCCF-70C3CEDCB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Solution Option 2: Iterative Policy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32419" cy="484728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Dynamic Programming</a:t>
                </a:r>
                <a:r>
                  <a:rPr lang="en-US" sz="2400" dirty="0"/>
                  <a:t>: solves a complex optimization problem by breaking it down into smaller, overlapping subproblems and using their solutions to build the overall optimal solution.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state values (called sweeping over the state space) using the</a:t>
                </a:r>
                <a:r>
                  <a:rPr lang="en-US" sz="2000" b="1" dirty="0"/>
                  <a:t> Bellman Update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is the iteration counter):</a:t>
                </a:r>
                <a:endParaRPr lang="en-US" sz="2000" b="1" dirty="0"/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1" dirty="0"/>
              </a:p>
              <a:p>
                <a:pPr lvl="1"/>
                <a:r>
                  <a:rPr lang="en-US" sz="2000" b="1" dirty="0"/>
                  <a:t>Convergence</a:t>
                </a:r>
                <a:r>
                  <a:rPr lang="en-US" sz="2000" b="0" dirty="0"/>
                  <a:t>: </a:t>
                </a:r>
                <a:r>
                  <a:rPr lang="en-US" sz="2000" dirty="0"/>
                  <a:t>Updates converge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iterations.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32419" cy="4847286"/>
              </a:xfrm>
              <a:blipFill>
                <a:blip r:embed="rId3"/>
                <a:stretch>
                  <a:fillRect l="-1025" t="-2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2891670-5E19-0B92-2000-67EB986C67EA}"/>
              </a:ext>
            </a:extLst>
          </p:cNvPr>
          <p:cNvGrpSpPr/>
          <p:nvPr/>
        </p:nvGrpSpPr>
        <p:grpSpPr>
          <a:xfrm>
            <a:off x="3338818" y="4633526"/>
            <a:ext cx="4981697" cy="730954"/>
            <a:chOff x="2344485" y="3098314"/>
            <a:chExt cx="1813961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C6BB2930-2803-7CC6-BE5E-4F581F3D8212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0F03579-6BB3-CB46-DAC5-72EC42C594FC}"/>
                </a:ext>
              </a:extLst>
            </p:cNvPr>
            <p:cNvSpPr txBox="1"/>
            <p:nvPr/>
          </p:nvSpPr>
          <p:spPr>
            <a:xfrm>
              <a:off x="2344485" y="3306048"/>
              <a:ext cx="181396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actions and next states.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3D5FCA8-6ACA-3C79-36FA-E785B877518C}"/>
              </a:ext>
            </a:extLst>
          </p:cNvPr>
          <p:cNvGrpSpPr/>
          <p:nvPr/>
        </p:nvGrpSpPr>
        <p:grpSpPr>
          <a:xfrm>
            <a:off x="8930583" y="4867978"/>
            <a:ext cx="2854818" cy="1480504"/>
            <a:chOff x="8867761" y="4764111"/>
            <a:chExt cx="2854818" cy="1480504"/>
          </a:xfrm>
        </p:grpSpPr>
        <p:grpSp>
          <p:nvGrpSpPr>
            <p:cNvPr id="8" name="Group 7" descr="Updating the value function using iterative Bellman updates.">
              <a:extLst>
                <a:ext uri="{FF2B5EF4-FFF2-40B4-BE49-F238E27FC236}">
                  <a16:creationId xmlns:a16="http://schemas.microsoft.com/office/drawing/2014/main" id="{E042F5F5-5CB0-3535-780C-93DC3965B4B3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1876D76D-10B4-4679-F653-BD6BA18B28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CD2E66AA-EA36-8916-48A7-F5C017DA696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A915BDCA-A78B-A713-EF2C-BD76D59CE4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9046C63F-C083-8CE3-5B67-AD0FC59C20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FA9CADED-6B11-F60E-3E70-35BC155800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2124ACB0-C3FA-2FAA-37B1-C6EECFECCE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9FFAF23B-1B2A-B56C-21FE-4753439D8E5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6147F0A6-B8EB-E05B-C1C0-350546463BA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5DA345C-A981-1A04-9E3B-9233BA91B3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89DB2870-24A4-433E-3096-F45510D7F2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A226FBF-E15E-0A93-5374-77CBC09832B9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6C0487-07CF-0018-3062-50B52F2A7AAD}"/>
              </a:ext>
            </a:extLst>
          </p:cNvPr>
          <p:cNvGrpSpPr/>
          <p:nvPr/>
        </p:nvGrpSpPr>
        <p:grpSpPr>
          <a:xfrm>
            <a:off x="8464259" y="1342160"/>
            <a:ext cx="3325726" cy="2180896"/>
            <a:chOff x="8464259" y="1342160"/>
            <a:chExt cx="3325726" cy="218089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32527A9-170C-6824-B9CF-D3911C12D2CB}"/>
                </a:ext>
              </a:extLst>
            </p:cNvPr>
            <p:cNvSpPr txBox="1"/>
            <p:nvPr/>
          </p:nvSpPr>
          <p:spPr>
            <a:xfrm>
              <a:off x="8956148" y="1342160"/>
              <a:ext cx="243781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Sweep the state space</a:t>
              </a:r>
            </a:p>
          </p:txBody>
        </p:sp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AA982B42-2673-74EA-CFA0-028006FCF6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64259" y="1838913"/>
              <a:ext cx="3325726" cy="16841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13034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72B55-524F-2A13-6BD8-9A03EF8EA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Iterative Policy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8581869" cy="2942321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The Bellman update can be rewritten as an operator:</a:t>
                </a:r>
                <a:br>
                  <a:rPr lang="en-US" dirty="0"/>
                </a:br>
                <a:r>
                  <a:rPr lang="en-US" b="1" dirty="0"/>
                  <a:t>Bellman Expectation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-contracting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as its fixed point: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any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8581869" cy="2942321"/>
              </a:xfrm>
              <a:blipFill>
                <a:blip r:embed="rId2"/>
                <a:stretch>
                  <a:fillRect l="-995" t="-4555" b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/>
              <p:nvPr/>
            </p:nvSpPr>
            <p:spPr>
              <a:xfrm>
                <a:off x="955194" y="5312558"/>
                <a:ext cx="3776262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This means the largest difference (infinity norm) will be reduced, leading to convergence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when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applied many times.</a:t>
                </a:r>
              </a:p>
            </p:txBody>
          </p:sp>
        </mc:Choice>
        <mc:Fallback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194" y="5312558"/>
                <a:ext cx="3776262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  <a:blipFill>
                <a:blip r:embed="rId3"/>
                <a:stretch>
                  <a:fillRect b="-3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32C5A7CC-4FA8-C473-6FA9-CC4B56CECEA4}"/>
              </a:ext>
            </a:extLst>
          </p:cNvPr>
          <p:cNvSpPr/>
          <p:nvPr/>
        </p:nvSpPr>
        <p:spPr>
          <a:xfrm>
            <a:off x="7697390" y="5278327"/>
            <a:ext cx="3363494" cy="1214547"/>
          </a:xfrm>
          <a:prstGeom prst="wedgeRoundRectCallout">
            <a:avLst>
              <a:gd name="adj1" fmla="val -46485"/>
              <a:gd name="adj2" fmla="val -12272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Convergence is only guaranteed if the discount factor is strictly smaller than 1!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/>
              <p:nvPr/>
            </p:nvSpPr>
            <p:spPr>
              <a:xfrm>
                <a:off x="9420069" y="2245216"/>
                <a:ext cx="2227288" cy="2084225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Notation: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is the new value function after applying the operator. We could write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600" b="0" dirty="0"/>
              </a:p>
              <a:p>
                <a:endParaRPr lang="en-US" sz="1600" dirty="0"/>
              </a:p>
              <a:p>
                <a:r>
                  <a:rPr lang="en-US" sz="1600" dirty="0"/>
                  <a:t>Note: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0069" y="2245216"/>
                <a:ext cx="2227288" cy="2084225"/>
              </a:xfrm>
              <a:prstGeom prst="rect">
                <a:avLst/>
              </a:prstGeom>
              <a:blipFill>
                <a:blip r:embed="rId4"/>
                <a:stretch>
                  <a:fillRect l="-1084" t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5702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/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Bellman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400" dirty="0"/>
                  <a:t>: </a:t>
                </a:r>
                <a:br>
                  <a:rPr lang="en-US" sz="1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/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Stop when value function changes little:</a:t>
                </a:r>
                <a:br>
                  <a:rPr lang="en-US" sz="14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It can be shown that the error is bounded: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  <a:blipFill>
                <a:blip r:embed="rId4"/>
                <a:stretch>
                  <a:fillRect b="-1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/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0" dirty="0"/>
                  <a:t>Notation: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400" dirty="0"/>
                  <a:t> is the tabular estimate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/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If we stop policy evaluation early (after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iterations) then it is called </a:t>
                </a:r>
                <a:r>
                  <a:rPr lang="en-US" sz="1600" b="1" dirty="0"/>
                  <a:t>modified policy iteration </a:t>
                </a:r>
                <a:r>
                  <a:rPr lang="en-US" sz="1600" dirty="0"/>
                  <a:t>and we end up with an approximation.</a:t>
                </a:r>
                <a:endParaRPr lang="en-US" sz="1600" b="1" dirty="0"/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  <a:blipFill>
                <a:blip r:embed="rId6"/>
                <a:stretch>
                  <a:fillRect t="-2312" r="-189" b="-8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policy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better policy.</a:t>
                </a:r>
              </a:p>
              <a:p>
                <a:r>
                  <a:rPr lang="en-US" b="1" dirty="0"/>
                  <a:t>Policy improvement theorem</a:t>
                </a:r>
                <a:r>
                  <a:rPr lang="en-US" dirty="0"/>
                  <a:t>: If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	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a least as good or better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i.e.,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create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</a:t>
                </a:r>
                <a:r>
                  <a:rPr lang="en-US" b="1" dirty="0"/>
                  <a:t>greedy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strictly better 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b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287F84E5-3C25-C8BE-2952-1F80F13AB674}"/>
              </a:ext>
            </a:extLst>
          </p:cNvPr>
          <p:cNvSpPr/>
          <p:nvPr/>
        </p:nvSpPr>
        <p:spPr>
          <a:xfrm>
            <a:off x="800462" y="1731708"/>
            <a:ext cx="8199619" cy="1758112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Create a sequence of monotonically improving policies: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  <a:blipFill>
                <a:blip r:embed="rId2"/>
                <a:stretch>
                  <a:fillRect l="-1113" t="-7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2791" b="-2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23912" y="3626421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policy.</a:t>
                </a:r>
              </a:p>
              <a:p>
                <a:pPr lvl="1"/>
                <a:r>
                  <a:rPr lang="en-US" dirty="0"/>
                  <a:t>Finite 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fast.</a:t>
                </a:r>
              </a:p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Policy estimation is computationally expensive! </a:t>
                </a:r>
                <a:br>
                  <a:rPr lang="en-US" dirty="0"/>
                </a:br>
                <a:r>
                  <a:rPr lang="en-US" dirty="0"/>
                  <a:t>Using fewer iterations leads to modified policy iteration.</a:t>
                </a:r>
              </a:p>
            </p:txBody>
          </p:sp>
        </mc:Choice>
        <mc:Fallback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  <a:blipFill>
                <a:blip r:embed="rId8"/>
                <a:stretch>
                  <a:fillRect l="-1236" t="-4400" b="-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BD8C865-4D7E-35E7-E0FA-305C8DD8611A}"/>
              </a:ext>
            </a:extLst>
          </p:cNvPr>
          <p:cNvSpPr/>
          <p:nvPr/>
        </p:nvSpPr>
        <p:spPr>
          <a:xfrm>
            <a:off x="6330998" y="2506070"/>
            <a:ext cx="3587689" cy="753857"/>
          </a:xfrm>
          <a:prstGeom prst="wedgeRoundRectCallout">
            <a:avLst>
              <a:gd name="adj1" fmla="val -123530"/>
              <a:gd name="adj2" fmla="val 5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Just policy evaluation from before. </a:t>
            </a:r>
            <a:br>
              <a:rPr lang="en-US" sz="1600" dirty="0"/>
            </a:br>
            <a:r>
              <a:rPr lang="en-US" sz="1600" dirty="0"/>
              <a:t>We can also stop this loop early (modified policy iteration).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8BE2AD8-D811-FC6E-9D2F-35BC6E1C23CB}"/>
              </a:ext>
            </a:extLst>
          </p:cNvPr>
          <p:cNvSpPr/>
          <p:nvPr/>
        </p:nvSpPr>
        <p:spPr>
          <a:xfrm>
            <a:off x="7237254" y="4641802"/>
            <a:ext cx="3683079" cy="557248"/>
          </a:xfrm>
          <a:prstGeom prst="wedgeRoundRectCallout">
            <a:avLst>
              <a:gd name="adj1" fmla="val -57774"/>
              <a:gd name="adj2" fmla="val 879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Picks the greedy action with the highest Q-value to improve the policy.</a:t>
            </a:r>
          </a:p>
        </p:txBody>
      </p:sp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value function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sz="2400" dirty="0"/>
                  <a:t>Combines policy improvement and truncated policy evaluation into a single step. This is called the </a:t>
                </a:r>
                <a:r>
                  <a:rPr lang="en-US" sz="2400" b="1" dirty="0"/>
                  <a:t>expected Bellman optimality update</a:t>
                </a:r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endParaRPr lang="en-US" sz="2400" dirty="0"/>
              </a:p>
              <a:p>
                <a:r>
                  <a:rPr lang="en-US" sz="2400" dirty="0"/>
                  <a:t>Written as the </a:t>
                </a:r>
                <a:r>
                  <a:rPr lang="en-US" sz="2400" b="1" dirty="0"/>
                  <a:t>Bellman optimality operator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b="1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a non-linear operator, but it is also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400" dirty="0"/>
                  <a:t>-contracting. The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  <a:blipFill>
                <a:blip r:embed="rId2"/>
                <a:stretch>
                  <a:fillRect l="-687" t="-1665" r="-6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truncated policy </a:t>
                </a:r>
                <a:br>
                  <a:rPr lang="en-US" sz="1600" dirty="0"/>
                </a:br>
                <a:r>
                  <a:rPr lang="en-US" sz="1600" dirty="0"/>
                  <a:t>                evaluation (1 step)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  <a:blipFill>
                <a:blip r:embed="rId7"/>
                <a:stretch>
                  <a:fillRect t="-658" b="-5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6B44262-ED50-A04F-C5AA-E6A746D0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39" y="1039018"/>
            <a:ext cx="6849637" cy="4779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659" t="2281"/>
          <a:stretch>
            <a:fillRect/>
          </a:stretch>
        </p:blipFill>
        <p:spPr>
          <a:xfrm>
            <a:off x="4411456" y="3092208"/>
            <a:ext cx="7034263" cy="3307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/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Bellman optimality operator:</a:t>
                </a:r>
                <a:br>
                  <a:rPr lang="en-US" sz="1600" b="0" dirty="0"/>
                </a:br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  <a:blipFill>
                <a:blip r:embed="rId4"/>
                <a:stretch>
                  <a:fillRect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94FA055-A74C-A901-CCD7-6A1A7CC80DA2}"/>
              </a:ext>
            </a:extLst>
          </p:cNvPr>
          <p:cNvSpPr/>
          <p:nvPr/>
        </p:nvSpPr>
        <p:spPr>
          <a:xfrm>
            <a:off x="8577442" y="6207869"/>
            <a:ext cx="2667583" cy="384011"/>
          </a:xfrm>
          <a:prstGeom prst="wedgeRoundRectCallout">
            <a:avLst>
              <a:gd name="adj1" fmla="val -75681"/>
              <a:gd name="adj2" fmla="val -4842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Extract the greedy policy.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C0C2CF-3D6C-5FB5-6FAF-5A3C70799FAF}"/>
              </a:ext>
            </a:extLst>
          </p:cNvPr>
          <p:cNvSpPr/>
          <p:nvPr/>
        </p:nvSpPr>
        <p:spPr>
          <a:xfrm>
            <a:off x="1563554" y="3231811"/>
            <a:ext cx="28479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968F04-390C-807C-E196-34BFDCCC50A5}"/>
              </a:ext>
            </a:extLst>
          </p:cNvPr>
          <p:cNvSpPr/>
          <p:nvPr/>
        </p:nvSpPr>
        <p:spPr>
          <a:xfrm>
            <a:off x="1199213" y="4954746"/>
            <a:ext cx="3212243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B028D-DF2E-6F82-30C8-7142C1BEBEA8}"/>
              </a:ext>
            </a:extLst>
          </p:cNvPr>
          <p:cNvSpPr txBox="1"/>
          <p:nvPr/>
        </p:nvSpPr>
        <p:spPr>
          <a:xfrm>
            <a:off x="1695311" y="3678540"/>
            <a:ext cx="2584388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Combine improvement and modified evaluation (1 iteration) into a single update.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AE380-C886-4AD1-501B-DC3FA8D0D18B}"/>
              </a:ext>
            </a:extLst>
          </p:cNvPr>
          <p:cNvSpPr/>
          <p:nvPr/>
        </p:nvSpPr>
        <p:spPr>
          <a:xfrm>
            <a:off x="5114123" y="4899809"/>
            <a:ext cx="3541266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7EDE205F-7A5D-E9BD-56DA-89AC4D034BAD}"/>
              </a:ext>
            </a:extLst>
          </p:cNvPr>
          <p:cNvSpPr/>
          <p:nvPr/>
        </p:nvSpPr>
        <p:spPr>
          <a:xfrm>
            <a:off x="8103956" y="5254892"/>
            <a:ext cx="2667583" cy="474765"/>
          </a:xfrm>
          <a:prstGeom prst="wedgeRoundRectCallout">
            <a:avLst>
              <a:gd name="adj1" fmla="val -141709"/>
              <a:gd name="adj2" fmla="val 139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Stopping criterion from policy evaluation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357B00-C899-A34F-CC4A-48E9DDA5567A}"/>
              </a:ext>
            </a:extLst>
          </p:cNvPr>
          <p:cNvSpPr/>
          <p:nvPr/>
        </p:nvSpPr>
        <p:spPr>
          <a:xfrm>
            <a:off x="4781862" y="5914693"/>
            <a:ext cx="37297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Requires perfect knowledge of the model!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Space Complexity</a:t>
                </a:r>
                <a:endParaRPr lang="en-US" dirty="0"/>
              </a:p>
              <a:p>
                <a:pPr lvl="1"/>
                <a:r>
                  <a:rPr lang="en-US" dirty="0"/>
                  <a:t>Tabular method: stores the complete value function as table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 Complexity</a:t>
                </a:r>
              </a:p>
              <a:p>
                <a:pPr lvl="1"/>
                <a:r>
                  <a:rPr lang="en-US" dirty="0"/>
                  <a:t>Updates repeatedly sweep over the whole state space.</a:t>
                </a:r>
              </a:p>
              <a:p>
                <a:pPr lvl="1"/>
                <a:r>
                  <a:rPr lang="en-US" dirty="0"/>
                  <a:t>Wastes computation by updating states that are not relevant for the optimal behavior. I.e., the optimal policy will never visit them.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Generalizing value and policy iteration into a single framework.</a:t>
            </a:r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pPr lvl="1"/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pPr lvl="1"/>
                <a:r>
                  <a:rPr lang="en-US" b="1" dirty="0"/>
                  <a:t>Policy iteration</a:t>
                </a:r>
                <a:r>
                  <a:rPr lang="en-US" dirty="0"/>
                  <a:t>: each evaluation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pPr lvl="1"/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evaluation step.</a:t>
                </a:r>
              </a:p>
              <a:p>
                <a:pPr lvl="1"/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 (e.g., focus on states where the value function changed a lot in the last step).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928" r="-6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762"/>
          <a:stretch>
            <a:fillRect/>
          </a:stretch>
        </p:blipFill>
        <p:spPr>
          <a:xfrm>
            <a:off x="8760146" y="309335"/>
            <a:ext cx="2682923" cy="26287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0323" y="3585975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Search space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Solve a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 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state variables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constraints has a time complexity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quadratic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Search and LP are impractical. The number of actions is typically relatively small.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423" r="-1623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B8B81D-82C4-D9E0-6DED-9C99A065A0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</p:spPr>
            <p:txBody>
              <a:bodyPr anchor="ctr"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1600" b="1" dirty="0"/>
                  <a:t>Requirements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Model access</a:t>
                </a:r>
                <a:r>
                  <a:rPr lang="en-US" sz="1600" dirty="0"/>
                  <a:t>: DP methods need access to the </a:t>
                </a:r>
                <a:r>
                  <a:rPr lang="en-US" sz="1600" b="1" dirty="0"/>
                  <a:t>model</a:t>
                </a:r>
                <a:r>
                  <a:rPr lang="en-US" sz="1600" dirty="0"/>
                  <a:t>’s function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 lvl="1"/>
                <a:r>
                  <a:rPr lang="en-US" sz="1600" b="1" dirty="0"/>
                  <a:t>Small discrete state/action space </a:t>
                </a:r>
                <a:r>
                  <a:rPr lang="en-US" sz="1600" dirty="0"/>
                  <a:t>since it is a tabular method.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Tasks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Evaluation/Prediction</a:t>
                </a:r>
                <a:r>
                  <a:rPr lang="en-US" sz="1600" dirty="0"/>
                  <a:t>: Calculates the value function for a given policy.</a:t>
                </a:r>
              </a:p>
              <a:p>
                <a:pPr lvl="1"/>
                <a:r>
                  <a:rPr lang="en-US" sz="1600" b="1" dirty="0"/>
                  <a:t>Control</a:t>
                </a:r>
                <a:r>
                  <a:rPr lang="en-US" sz="1600" dirty="0"/>
                  <a:t>: Calculates the optimal policy for an MDP.</a:t>
                </a:r>
              </a:p>
              <a:p>
                <a:endParaRPr lang="en-US" sz="1600" dirty="0"/>
              </a:p>
              <a:p>
                <a:pPr marL="0" indent="0">
                  <a:buNone/>
                </a:pPr>
                <a:r>
                  <a:rPr lang="en-US" sz="1600" b="1" dirty="0"/>
                  <a:t>Approach</a:t>
                </a:r>
                <a:r>
                  <a:rPr lang="en-US" sz="1600" dirty="0"/>
                  <a:t>: </a:t>
                </a:r>
              </a:p>
              <a:p>
                <a:r>
                  <a:rPr lang="en-US" sz="1600" dirty="0"/>
                  <a:t>Convert the recursive Bellman equations into the Belmann update operators and sweep the state space till the optimal solution is found.</a:t>
                </a:r>
              </a:p>
              <a:p>
                <a:pPr lvl="1"/>
                <a:r>
                  <a:rPr lang="en-US" sz="1600" dirty="0"/>
                  <a:t>Expected Bellman update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600" dirty="0"/>
                  <a:t> vs. Bellman optimality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Value iteration is a special case of modified policy iteration with a single policy evaluation iteration.</a:t>
                </a:r>
              </a:p>
              <a:p>
                <a:pPr lvl="1"/>
                <a:r>
                  <a:rPr lang="en-US" sz="1600" dirty="0"/>
                  <a:t>Convergence requires either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600" dirty="0"/>
                  <a:t> or a guarantee that the policy will reach a terminal state.</a:t>
                </a:r>
              </a:p>
              <a:p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GPI</a:t>
                </a:r>
                <a:r>
                  <a:rPr lang="en-US" sz="1600" dirty="0"/>
                  <a:t>: </a:t>
                </a:r>
              </a:p>
              <a:p>
                <a:r>
                  <a:rPr lang="en-US" sz="1600" dirty="0"/>
                  <a:t>All DP methods can be generalized using the GPI evaluation/improvement framework.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  <a:blipFill>
                <a:blip r:embed="rId3"/>
                <a:stretch>
                  <a:fillRect l="-464" r="-1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6300</TotalTime>
  <Words>2274</Words>
  <Application>Microsoft Office PowerPoint</Application>
  <PresentationFormat>Widescreen</PresentationFormat>
  <Paragraphs>297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Summary of Notation</vt:lpstr>
      <vt:lpstr>Goal</vt:lpstr>
      <vt:lpstr>Tabular Methods</vt:lpstr>
      <vt:lpstr>Prediction vs. Control</vt:lpstr>
      <vt:lpstr>Prediction: Policy Evaluation</vt:lpstr>
      <vt:lpstr>Policy Evaluation to Estimate v_π</vt:lpstr>
      <vt:lpstr>Solution Option 1: Linear Program</vt:lpstr>
      <vt:lpstr>Solution Option 2: Iterative Policy Evaluation</vt:lpstr>
      <vt:lpstr>Convergence of Iterative Policy Evaluation</vt:lpstr>
      <vt:lpstr>Alg. Iterative Policy Evaluation</vt:lpstr>
      <vt:lpstr>Policy Iteration</vt:lpstr>
      <vt:lpstr>Policy Improvement</vt:lpstr>
      <vt:lpstr>Policy Iteration</vt:lpstr>
      <vt:lpstr>Alg. Policy Iteration</vt:lpstr>
      <vt:lpstr>Value Iteration</vt:lpstr>
      <vt:lpstr>Value Iteration</vt:lpstr>
      <vt:lpstr>Alg. Value Iteration</vt:lpstr>
      <vt:lpstr>Issues with DP Methods</vt:lpstr>
      <vt:lpstr>GPI: Generalized Policy Iteration</vt:lpstr>
      <vt:lpstr>GPI: Generalized Policy Iteration</vt:lpstr>
      <vt:lpstr>Efficiency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115</cp:revision>
  <dcterms:created xsi:type="dcterms:W3CDTF">2025-09-08T14:44:49Z</dcterms:created>
  <dcterms:modified xsi:type="dcterms:W3CDTF">2026-02-02T16:56:12Z</dcterms:modified>
</cp:coreProperties>
</file>