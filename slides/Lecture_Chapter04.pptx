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380" r:id="rId6"/>
    <p:sldId id="388" r:id="rId7"/>
    <p:sldId id="372" r:id="rId8"/>
    <p:sldId id="369" r:id="rId9"/>
    <p:sldId id="370" r:id="rId10"/>
    <p:sldId id="389" r:id="rId11"/>
    <p:sldId id="390" r:id="rId12"/>
    <p:sldId id="371" r:id="rId13"/>
    <p:sldId id="373" r:id="rId14"/>
    <p:sldId id="375" r:id="rId15"/>
    <p:sldId id="376" r:id="rId16"/>
    <p:sldId id="377" r:id="rId17"/>
    <p:sldId id="378" r:id="rId18"/>
    <p:sldId id="379" r:id="rId19"/>
    <p:sldId id="382" r:id="rId20"/>
    <p:sldId id="479" r:id="rId21"/>
    <p:sldId id="384" r:id="rId22"/>
    <p:sldId id="385" r:id="rId23"/>
    <p:sldId id="383" r:id="rId24"/>
    <p:sldId id="386" r:id="rId25"/>
    <p:sldId id="38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479"/>
          </p14:sldIdLst>
        </p14:section>
        <p14:section name="Generalized Policy Iteration" id="{24242526-B5FF-45B4-A80E-CA85C1F5783D}">
          <p14:sldIdLst>
            <p14:sldId id="384"/>
            <p14:sldId id="385"/>
            <p14:sldId id="383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9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\\wsl.localhost\Ubuntu\home\mhahsler\github\Introduction_to_Reinforcement_Learning\DP\LP_Policy_Evaluatio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LP for 2-State MDP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4470449538092845"/>
          <c:y val="0.14415161889679015"/>
          <c:w val="0.66259651666957675"/>
          <c:h val="0.57157750571892885"/>
        </c:manualLayout>
      </c:layout>
      <c:scatterChart>
        <c:scatterStyle val="lineMarker"/>
        <c:varyColors val="0"/>
        <c:ser>
          <c:idx val="0"/>
          <c:order val="0"/>
          <c:tx>
            <c:strRef>
              <c:f>'LP Policy Evaluation'!$B$26</c:f>
              <c:strCache>
                <c:ptCount val="1"/>
                <c:pt idx="0">
                  <c:v>Constraint V(s1)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'LP Policy Evaluation'!$A$27:$A$28</c:f>
              <c:numCache>
                <c:formatCode>0.00</c:formatCode>
                <c:ptCount val="2"/>
                <c:pt idx="0">
                  <c:v>0</c:v>
                </c:pt>
                <c:pt idx="1">
                  <c:v>50</c:v>
                </c:pt>
              </c:numCache>
            </c:numRef>
          </c:xVal>
          <c:yVal>
            <c:numRef>
              <c:f>'LP Policy Evaluation'!$B$27:$B$28</c:f>
              <c:numCache>
                <c:formatCode>0.00</c:formatCode>
                <c:ptCount val="2"/>
                <c:pt idx="0">
                  <c:v>-2.2222222222222223</c:v>
                </c:pt>
                <c:pt idx="1">
                  <c:v>58.888888888888893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978-4693-9BC9-F3EBFFE6FCF1}"/>
            </c:ext>
          </c:extLst>
        </c:ser>
        <c:ser>
          <c:idx val="1"/>
          <c:order val="1"/>
          <c:tx>
            <c:strRef>
              <c:f>'LP Policy Evaluation'!$C$26</c:f>
              <c:strCache>
                <c:ptCount val="1"/>
                <c:pt idx="0">
                  <c:v>Constraint V(s2)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'LP Policy Evaluation'!$A$27:$A$28</c:f>
              <c:numCache>
                <c:formatCode>0.00</c:formatCode>
                <c:ptCount val="2"/>
                <c:pt idx="0">
                  <c:v>0</c:v>
                </c:pt>
                <c:pt idx="1">
                  <c:v>50</c:v>
                </c:pt>
              </c:numCache>
            </c:numRef>
          </c:xVal>
          <c:yVal>
            <c:numRef>
              <c:f>'LP Policy Evaluation'!$C$27:$C$28</c:f>
              <c:numCache>
                <c:formatCode>0.00</c:formatCode>
                <c:ptCount val="2"/>
                <c:pt idx="0">
                  <c:v>10.526315789473687</c:v>
                </c:pt>
                <c:pt idx="1">
                  <c:v>34.210526315789487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978-4693-9BC9-F3EBFFE6FC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38217840"/>
        <c:axId val="1015613472"/>
      </c:scatterChart>
      <c:valAx>
        <c:axId val="938217840"/>
        <c:scaling>
          <c:orientation val="minMax"/>
          <c:max val="4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V(s1)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613472"/>
        <c:crosses val="autoZero"/>
        <c:crossBetween val="midCat"/>
      </c:valAx>
      <c:valAx>
        <c:axId val="1015613472"/>
        <c:scaling>
          <c:orientation val="minMax"/>
          <c:max val="4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V(s2)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8217840"/>
        <c:crosses val="autoZero"/>
        <c:crossBetween val="midCat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.xml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9.png"/><Relationship Id="rId7" Type="http://schemas.openxmlformats.org/officeDocument/2006/relationships/image" Target="../media/image15.png"/><Relationship Id="rId12" Type="http://schemas.openxmlformats.org/officeDocument/2006/relationships/image" Target="../media/image2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11" Type="http://schemas.openxmlformats.org/officeDocument/2006/relationships/image" Target="../media/image24.png"/><Relationship Id="rId5" Type="http://schemas.openxmlformats.org/officeDocument/2006/relationships/image" Target="../media/image21.png"/><Relationship Id="rId10" Type="http://schemas.openxmlformats.org/officeDocument/2006/relationships/image" Target="../media/image23.png"/><Relationship Id="rId9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60.png"/><Relationship Id="rId7" Type="http://schemas.openxmlformats.org/officeDocument/2006/relationships/image" Target="../media/image15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7560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b="1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</p:spPr>
            <p:txBody>
              <a:bodyPr>
                <a:normAutofit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Finite MDPs have an optimal deterministic policy (under some mild conditions).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500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1500" dirty="0"/>
                  <a:t> given a perfect MDP model.</a:t>
                </a:r>
              </a:p>
              <a:p>
                <a:r>
                  <a:rPr lang="en-US" sz="1500" dirty="0"/>
                  <a:t>Solve the Bellman optimality equations (the optimal policy always picks the best action):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𝜋</m:t>
                      </m:r>
                      <m:groupChr>
                        <m:groupChrPr>
                          <m:chr m:val="⇔"/>
                          <m:pos m:val="top"/>
                          <m:vertJc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 b="0" i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m:rPr>
                          <m:nor/>
                        </m:rPr>
                        <a:rPr lang="en-US" sz="1500" i="0">
                          <a:latin typeface="Cambria Math" panose="02040503050406030204" pitchFamily="18" charset="0"/>
                        </a:rPr>
                        <m:t> for  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  <a:blipFill>
                <a:blip r:embed="rId2"/>
                <a:stretch>
                  <a:fillRect l="-218" t="-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4889708" y="3599283"/>
            <a:ext cx="1299326" cy="398202"/>
            <a:chOff x="2533296" y="3175233"/>
            <a:chExt cx="1544242" cy="39820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 Problem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60295" y="5151352"/>
            <a:ext cx="2740473" cy="975421"/>
            <a:chOff x="9283602" y="5446084"/>
            <a:chExt cx="2752267" cy="97542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446084"/>
              <a:ext cx="385560" cy="975421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48653" y="5518295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Prediction Problem: </a:t>
              </a:r>
              <a:r>
                <a:rPr lang="en-US" sz="1600" dirty="0"/>
                <a:t> Estimate the value function for a policy.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Important property: Entries in the table do not influence each other. We can change them independently.</a:t>
                </a:r>
              </a:p>
              <a:p>
                <a:r>
                  <a:rPr lang="en-US" dirty="0"/>
                  <a:t>Tabular methods find the exact solution (i.e., optimal value function and policy) given enough memory and time.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Table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deterministic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have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914400" lvl="2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pPr lvl="1"/>
                <a:r>
                  <a:rPr lang="en-US" dirty="0"/>
                  <a:t>No generalization: Knowledge about the value of one state (state-action pair) does not help us with similar states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generalize and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  <a:blipFill>
                <a:blip r:embed="rId2"/>
                <a:stretch>
                  <a:fillRect l="-812" t="-2078" r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911619" y="781545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04460" y="2440195"/>
            <a:ext cx="19659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/>
              <a:t>Q-Value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5909591"/>
                  </p:ext>
                </p:extLst>
              </p:nvPr>
            </p:nvGraphicFramePr>
            <p:xfrm>
              <a:off x="8656227" y="2799490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5909591"/>
                  </p:ext>
                </p:extLst>
              </p:nvPr>
            </p:nvGraphicFramePr>
            <p:xfrm>
              <a:off x="8656227" y="2799490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222" r="-229851" b="-51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222" r="-172566" b="-51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222" r="-2094" b="-517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2476008"/>
                  </p:ext>
                </p:extLst>
              </p:nvPr>
            </p:nvGraphicFramePr>
            <p:xfrm>
              <a:off x="8913602" y="1131354"/>
              <a:ext cx="2147634" cy="109728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2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2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2476008"/>
                  </p:ext>
                </p:extLst>
              </p:nvPr>
            </p:nvGraphicFramePr>
            <p:xfrm>
              <a:off x="8913602" y="1131354"/>
              <a:ext cx="2147634" cy="109728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2222" r="-268041" b="-3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2222" r="-1563" b="-3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4F618E29-8BC7-5465-7F90-DBCC57613545}"/>
              </a:ext>
            </a:extLst>
          </p:cNvPr>
          <p:cNvSpPr txBox="1"/>
          <p:nvPr/>
        </p:nvSpPr>
        <p:spPr>
          <a:xfrm>
            <a:off x="8685923" y="4598699"/>
            <a:ext cx="26029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Policy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CA774F2A-88BA-B1E8-30E2-DDB62E0F5EF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679748"/>
                  </p:ext>
                </p:extLst>
              </p:nvPr>
            </p:nvGraphicFramePr>
            <p:xfrm>
              <a:off x="9171327" y="4994415"/>
              <a:ext cx="1632185" cy="108204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225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119929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b="1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CA774F2A-88BA-B1E8-30E2-DDB62E0F5EF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679748"/>
                  </p:ext>
                </p:extLst>
              </p:nvPr>
            </p:nvGraphicFramePr>
            <p:xfrm>
              <a:off x="9171327" y="4994415"/>
              <a:ext cx="1632185" cy="108204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225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119929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190" t="-2222" r="-225000" b="-3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5946" t="-2222" r="-2162" b="-3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59080"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given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Control the agent’s behavior to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Prediction: 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for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dirty="0"/>
                  <a:t>Bellman expectation equations give us the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Discounted finite MDPs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) 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Undiscounted finite MDPs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guarantees to reach a terminal state.</a:t>
                </a:r>
              </a:p>
              <a:p>
                <a:pPr lvl="1"/>
                <a:r>
                  <a:rPr lang="en-US" dirty="0"/>
                  <a:t>Finite-horizon MDPs have unique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time step.  I.e. , value depends on how close we are to the end of the episode.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Recursive relationship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522" t="-1901" b="-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7579865" cy="5170993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Bellman Expectation Equations: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 all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Formulate as a linear program</a:t>
                </a:r>
              </a:p>
              <a:p>
                <a:pPr lvl="1"/>
                <a:r>
                  <a:rPr lang="en-US" sz="2300" dirty="0"/>
                  <a:t>Objective function: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30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30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sub>
                          <m:sup/>
                          <m:e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Constraints:               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3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3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′,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  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nary>
                  </m:oMath>
                </a14:m>
                <a:endParaRPr lang="en-US" sz="20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Why this works: The smallest feasible solution will satisfy all Bellman equations.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7579865" cy="5170993"/>
              </a:xfrm>
              <a:blipFill>
                <a:blip r:embed="rId2"/>
                <a:stretch>
                  <a:fillRect l="-723" t="-2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66CB828E-C25E-8A36-C71B-92344FFDD713}"/>
              </a:ext>
            </a:extLst>
          </p:cNvPr>
          <p:cNvGrpSpPr/>
          <p:nvPr/>
        </p:nvGrpSpPr>
        <p:grpSpPr>
          <a:xfrm>
            <a:off x="8432631" y="1033063"/>
            <a:ext cx="3601758" cy="5577287"/>
            <a:chOff x="8432631" y="1033063"/>
            <a:chExt cx="3601758" cy="5577287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FA6A3FA-BE98-9EA5-E3AE-89E6FF29DCA5}"/>
                </a:ext>
              </a:extLst>
            </p:cNvPr>
            <p:cNvGrpSpPr/>
            <p:nvPr/>
          </p:nvGrpSpPr>
          <p:grpSpPr>
            <a:xfrm>
              <a:off x="8432631" y="1033063"/>
              <a:ext cx="3601758" cy="5577287"/>
              <a:chOff x="8432631" y="1033063"/>
              <a:chExt cx="3601758" cy="5577287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F9BC0917-F24E-73E3-0ED1-DF374DF98E97}"/>
                  </a:ext>
                </a:extLst>
              </p:cNvPr>
              <p:cNvGrpSpPr/>
              <p:nvPr/>
            </p:nvGrpSpPr>
            <p:grpSpPr>
              <a:xfrm>
                <a:off x="8432631" y="1033063"/>
                <a:ext cx="3601758" cy="5577287"/>
                <a:chOff x="8306382" y="1228507"/>
                <a:chExt cx="3601758" cy="5339815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94A67163-ACB2-FA39-36EB-A99E9C883C84}"/>
                    </a:ext>
                  </a:extLst>
                </p:cNvPr>
                <p:cNvSpPr/>
                <p:nvPr/>
              </p:nvSpPr>
              <p:spPr>
                <a:xfrm>
                  <a:off x="8306382" y="1228507"/>
                  <a:ext cx="3601758" cy="5339815"/>
                </a:xfrm>
                <a:prstGeom prst="rect">
                  <a:avLst/>
                </a:prstGeom>
                <a:noFill/>
                <a:ln w="9525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accen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63B2C840-7C72-C056-FD2A-B1FAC79C9C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397124" y="1293020"/>
                      <a:ext cx="3420274" cy="250382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b="1" dirty="0"/>
                        <a:t>Example: 2-State MDP</a:t>
                      </a:r>
                    </a:p>
                    <a:p>
                      <a:endParaRPr lang="en-US" dirty="0"/>
                    </a:p>
                    <a:p>
                      <a:r>
                        <a:rPr lang="en-US" sz="1400" dirty="0"/>
                        <a:t>Min: </a:t>
                      </a:r>
                      <a14:m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en-US" sz="1400" dirty="0"/>
                    </a:p>
                    <a:p>
                      <a:r>
                        <a:rPr lang="en-US" sz="1400" dirty="0" err="1"/>
                        <a:t>S.t.</a:t>
                      </a:r>
                      <a:r>
                        <a:rPr lang="en-US" sz="1400" dirty="0"/>
                        <a:t>:  </a:t>
                      </a:r>
                      <a14:m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oMath>
                      </a14:m>
                      <a:endParaRPr lang="en-US" sz="1400" b="0" dirty="0"/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        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  <m:d>
                                  <m:d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  <m:d>
                                  <m:d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sz="1400" dirty="0"/>
                    </a:p>
                    <a:p>
                      <a:endParaRPr lang="en-US" sz="1400" dirty="0"/>
                    </a:p>
                    <a:p>
                      <a:r>
                        <a:rPr lang="en-US" sz="1400" dirty="0"/>
                        <a:t>Where </a:t>
                      </a:r>
                      <a:r>
                        <a:rPr lang="en-US" sz="1400" b="1" dirty="0"/>
                        <a:t>following </a:t>
                      </a:r>
                      <a14:m>
                        <m:oMath xmlns:m="http://schemas.openxmlformats.org/officeDocument/2006/math"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𝝅</m:t>
                          </m:r>
                        </m:oMath>
                      </a14:m>
                      <a:r>
                        <a:rPr lang="en-US" sz="1400" b="1" dirty="0"/>
                        <a:t> </a:t>
                      </a:r>
                      <a:r>
                        <a:rPr lang="en-US" sz="1400" dirty="0"/>
                        <a:t>has</a:t>
                      </a:r>
                    </a:p>
                    <a:p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1400" dirty="0"/>
                        <a:t>immediate reward of 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a14:m>
                      <a:endParaRPr lang="en-US" sz="1400" dirty="0"/>
                    </a:p>
                    <a:p>
                      <a:pPr lvl="0"/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𝑥𝑦</m:t>
                              </m:r>
                            </m:sub>
                          </m:sSub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1400" dirty="0"/>
                        <a:t>transition probability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a14:m>
                      <a:endParaRPr lang="en-US" sz="1400" dirty="0"/>
                    </a:p>
                    <a:p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63B2C840-7C72-C056-FD2A-B1FAC79C9C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97124" y="1293020"/>
                      <a:ext cx="3420274" cy="2503827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1426" t="-119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43C63E96-2747-CB55-7AE6-1C2067C3DB3F}"/>
                  </a:ext>
                </a:extLst>
              </p:cNvPr>
              <p:cNvGrpSpPr/>
              <p:nvPr/>
            </p:nvGrpSpPr>
            <p:grpSpPr>
              <a:xfrm>
                <a:off x="8654193" y="3268857"/>
                <a:ext cx="3001036" cy="3263714"/>
                <a:chOff x="8654193" y="3268857"/>
                <a:chExt cx="3001036" cy="3263714"/>
              </a:xfrm>
            </p:grpSpPr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C01A90C-3DC2-24D5-7AEB-F176EB14962C}"/>
                    </a:ext>
                  </a:extLst>
                </p:cNvPr>
                <p:cNvSpPr txBox="1"/>
                <p:nvPr/>
              </p:nvSpPr>
              <p:spPr>
                <a:xfrm>
                  <a:off x="10486716" y="6295213"/>
                  <a:ext cx="998161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9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Feasible Region</a:t>
                  </a: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C0F1D236-089D-C565-6073-49307F48A7FB}"/>
                    </a:ext>
                  </a:extLst>
                </p:cNvPr>
                <p:cNvSpPr txBox="1"/>
                <p:nvPr/>
              </p:nvSpPr>
              <p:spPr>
                <a:xfrm>
                  <a:off x="9235349" y="6301739"/>
                  <a:ext cx="998161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9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Objective</a:t>
                  </a:r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3572DEA6-FA04-75F0-4595-BF28C49192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003472" y="6432383"/>
                  <a:ext cx="293166" cy="0"/>
                </a:xfrm>
                <a:prstGeom prst="line">
                  <a:avLst/>
                </a:prstGeom>
                <a:ln w="28575"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8" name="Chart 7">
                      <a:extLst>
                        <a:ext uri="{FF2B5EF4-FFF2-40B4-BE49-F238E27FC236}">
                          <a16:creationId xmlns:a16="http://schemas.microsoft.com/office/drawing/2014/main" id="{B7392BAE-65BB-DF7C-4722-CF4BC4EA04F0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404206085"/>
                        </p:ext>
                      </p:extLst>
                    </p:nvPr>
                  </p:nvGraphicFramePr>
                  <p:xfrm>
                    <a:off x="8654193" y="3268857"/>
                    <a:ext cx="3001036" cy="3091488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4"/>
                    </a:graphicData>
                  </a:graphic>
                </p:graphicFrame>
              </mc:Choice>
              <mc:Fallback xmlns="">
                <p:graphicFrame>
                  <p:nvGraphicFramePr>
                    <p:cNvPr id="8" name="Chart 7">
                      <a:extLst>
                        <a:ext uri="{FF2B5EF4-FFF2-40B4-BE49-F238E27FC236}">
                          <a16:creationId xmlns:a16="http://schemas.microsoft.com/office/drawing/2014/main" id="{B7392BAE-65BB-DF7C-4722-CF4BC4EA04F0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404206085"/>
                        </p:ext>
                      </p:extLst>
                    </p:nvPr>
                  </p:nvGraphicFramePr>
                  <p:xfrm>
                    <a:off x="8654193" y="3268857"/>
                    <a:ext cx="3001036" cy="3091488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5"/>
                    </a:graphicData>
                  </a:graphic>
                </p:graphicFrame>
              </mc:Fallback>
            </mc:AlternateContent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071AA459-F063-70B6-69BF-3CF753D9DFFD}"/>
                    </a:ext>
                  </a:extLst>
                </p:cNvPr>
                <p:cNvSpPr/>
                <p:nvPr/>
              </p:nvSpPr>
              <p:spPr>
                <a:xfrm>
                  <a:off x="10257589" y="6360345"/>
                  <a:ext cx="272226" cy="104702"/>
                </a:xfrm>
                <a:prstGeom prst="rect">
                  <a:avLst/>
                </a:prstGeom>
                <a:solidFill>
                  <a:schemeClr val="accent6">
                    <a:alpha val="5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38276DAE-6A06-26E9-2E13-5AFB76A49D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900027" y="3769528"/>
                  <a:ext cx="1473932" cy="1281387"/>
                </a:xfrm>
                <a:prstGeom prst="line">
                  <a:avLst/>
                </a:prstGeom>
                <a:ln w="19050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9A82668A-976C-2EE8-6FF4-EAD852BA2B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89054" y="3941468"/>
                  <a:ext cx="1790251" cy="1533708"/>
                </a:xfrm>
                <a:prstGeom prst="line">
                  <a:avLst/>
                </a:prstGeom>
                <a:ln>
                  <a:prstDash val="dash"/>
                  <a:headEnd type="none" w="med" len="med"/>
                  <a:tailEnd type="none" w="med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" name="Arrow: Right 20">
                  <a:extLst>
                    <a:ext uri="{FF2B5EF4-FFF2-40B4-BE49-F238E27FC236}">
                      <a16:creationId xmlns:a16="http://schemas.microsoft.com/office/drawing/2014/main" id="{CAC1E6C5-81C8-462F-C6CA-14B12340386A}"/>
                    </a:ext>
                  </a:extLst>
                </p:cNvPr>
                <p:cNvSpPr/>
                <p:nvPr/>
              </p:nvSpPr>
              <p:spPr>
                <a:xfrm rot="7804867">
                  <a:off x="9926867" y="4163517"/>
                  <a:ext cx="278151" cy="170745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0692D36B-4A13-D527-F0C3-F0E026972B2D}"/>
                    </a:ext>
                  </a:extLst>
                </p:cNvPr>
                <p:cNvSpPr/>
                <p:nvPr/>
              </p:nvSpPr>
              <p:spPr>
                <a:xfrm>
                  <a:off x="10177334" y="4601721"/>
                  <a:ext cx="114303" cy="121118"/>
                </a:xfrm>
                <a:prstGeom prst="ellipse">
                  <a:avLst/>
                </a:prstGeom>
                <a:noFill/>
                <a:ln w="28575" cap="flat" cmpd="sng" algn="ctr">
                  <a:solidFill>
                    <a:srgbClr val="C00000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accent2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FD68DB8D-17B1-E89F-6F92-76DF48399885}"/>
                    </a:ext>
                  </a:extLst>
                </p:cNvPr>
                <p:cNvSpPr txBox="1"/>
                <p:nvPr/>
              </p:nvSpPr>
              <p:spPr>
                <a:xfrm rot="18450171">
                  <a:off x="9743656" y="3980931"/>
                  <a:ext cx="43974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/>
                    <a:t>min</a:t>
                  </a:r>
                </a:p>
              </p:txBody>
            </p:sp>
            <p:sp>
              <p:nvSpPr>
                <p:cNvPr id="23" name="Freeform: Shape 22">
                  <a:extLst>
                    <a:ext uri="{FF2B5EF4-FFF2-40B4-BE49-F238E27FC236}">
                      <a16:creationId xmlns:a16="http://schemas.microsoft.com/office/drawing/2014/main" id="{F68730D9-6E46-BC68-7873-6F33997C405E}"/>
                    </a:ext>
                  </a:extLst>
                </p:cNvPr>
                <p:cNvSpPr/>
                <p:nvPr/>
              </p:nvSpPr>
              <p:spPr>
                <a:xfrm>
                  <a:off x="10248089" y="3715966"/>
                  <a:ext cx="1128409" cy="928991"/>
                </a:xfrm>
                <a:custGeom>
                  <a:avLst/>
                  <a:gdLst>
                    <a:gd name="csX0" fmla="*/ 0 w 1128409"/>
                    <a:gd name="csY0" fmla="*/ 928991 h 928991"/>
                    <a:gd name="csX1" fmla="*/ 865762 w 1128409"/>
                    <a:gd name="csY1" fmla="*/ 0 h 928991"/>
                    <a:gd name="csX2" fmla="*/ 1128409 w 1128409"/>
                    <a:gd name="csY2" fmla="*/ 4864 h 928991"/>
                    <a:gd name="csX3" fmla="*/ 1128409 w 1128409"/>
                    <a:gd name="csY3" fmla="*/ 437745 h 928991"/>
                    <a:gd name="csX4" fmla="*/ 0 w 1128409"/>
                    <a:gd name="csY4" fmla="*/ 928991 h 92899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128409" h="928991">
                      <a:moveTo>
                        <a:pt x="0" y="928991"/>
                      </a:moveTo>
                      <a:lnTo>
                        <a:pt x="865762" y="0"/>
                      </a:lnTo>
                      <a:lnTo>
                        <a:pt x="1128409" y="4864"/>
                      </a:lnTo>
                      <a:lnTo>
                        <a:pt x="1128409" y="437745"/>
                      </a:lnTo>
                      <a:lnTo>
                        <a:pt x="0" y="928991"/>
                      </a:lnTo>
                      <a:close/>
                    </a:path>
                  </a:pathLst>
                </a:custGeom>
                <a:solidFill>
                  <a:schemeClr val="accent6">
                    <a:alpha val="5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65F6525-990F-A915-9A5F-E986BB3CBC1B}"/>
                </a:ext>
              </a:extLst>
            </p:cNvPr>
            <p:cNvCxnSpPr/>
            <p:nvPr/>
          </p:nvCxnSpPr>
          <p:spPr>
            <a:xfrm>
              <a:off x="10243226" y="4669277"/>
              <a:ext cx="0" cy="821987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3576AD0-3FF1-A836-B5DC-AC6096F7B3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6515" y="4662280"/>
              <a:ext cx="846995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200701" y="3523056"/>
            <a:ext cx="2299156" cy="1791256"/>
            <a:chOff x="8709114" y="1909044"/>
            <a:chExt cx="2660677" cy="226852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84"/>
            <a:stretch>
              <a:fillRect/>
            </a:stretch>
          </p:blipFill>
          <p:spPr>
            <a:xfrm>
              <a:off x="8709114" y="2205386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928479" y="1909044"/>
              <a:ext cx="2177124" cy="3897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Backup diagram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</a:t>
                </a:r>
                <a:r>
                  <a:rPr lang="en-US" sz="2000" dirty="0"/>
                  <a:t>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  <a:br>
                  <a:rPr lang="en-US" sz="2000" dirty="0"/>
                </a:br>
                <a:r>
                  <a:rPr lang="en-US" sz="2000" dirty="0"/>
                  <a:t>Reason is on the next slide.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  <a:blipFill>
                <a:blip r:embed="rId3"/>
                <a:stretch>
                  <a:fillRect l="-1025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38818" y="4633526"/>
            <a:ext cx="4981697" cy="730954"/>
            <a:chOff x="2344485" y="3098314"/>
            <a:chExt cx="1813961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344485" y="3306048"/>
              <a:ext cx="18139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30583" y="4867978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0487-07CF-0018-3062-50B52F2A7AAD}"/>
              </a:ext>
            </a:extLst>
          </p:cNvPr>
          <p:cNvGrpSpPr/>
          <p:nvPr/>
        </p:nvGrpSpPr>
        <p:grpSpPr>
          <a:xfrm>
            <a:off x="8464259" y="1342160"/>
            <a:ext cx="3325726" cy="2180896"/>
            <a:chOff x="8464259" y="1342160"/>
            <a:chExt cx="3325726" cy="218089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2527A9-170C-6824-B9CF-D3911C12D2CB}"/>
                </a:ext>
              </a:extLst>
            </p:cNvPr>
            <p:cNvSpPr txBox="1"/>
            <p:nvPr/>
          </p:nvSpPr>
          <p:spPr>
            <a:xfrm>
              <a:off x="8956148" y="1342160"/>
              <a:ext cx="243781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Sweep the state space</a:t>
              </a:r>
            </a:p>
          </p:txBody>
        </p:sp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AA982B42-2673-74EA-CFA0-028006FCF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4259" y="1838913"/>
              <a:ext cx="3325726" cy="16841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581869" cy="414556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The Fixed Point Property: </a:t>
                </a:r>
                <a:r>
                  <a:rPr lang="en-US" dirty="0"/>
                  <a:t>The value function is unchanged if all state values are already consistent.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The Contraction Property</a:t>
                </a:r>
                <a:r>
                  <a:rPr lang="en-US" dirty="0"/>
                  <a:t>: 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 (see textbook for derivation):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≤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nor/>
                      </m:rPr>
                      <a:rPr lang="en-US" i="0">
                        <a:latin typeface="Cambria Math" panose="02040503050406030204" pitchFamily="18" charset="0"/>
                      </a:rPr>
                      <m:t> for any 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I.e. : Applying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reduces the largest difference (infinity norm) between any arbitrary value functions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by at least a factor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This implies: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≤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nor/>
                      </m:rPr>
                      <a:rPr lang="en-US" i="0">
                        <a:latin typeface="Cambria Math" panose="02040503050406030204" pitchFamily="18" charset="0"/>
                      </a:rPr>
                      <m:t> for any 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581869" cy="4145562"/>
              </a:xfrm>
              <a:blipFill>
                <a:blip r:embed="rId2"/>
                <a:stretch>
                  <a:fillRect l="-213" t="-51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32C5A7CC-4FA8-C473-6FA9-CC4B56CECEA4}"/>
                  </a:ext>
                </a:extLst>
              </p:cNvPr>
              <p:cNvSpPr/>
              <p:nvPr/>
            </p:nvSpPr>
            <p:spPr>
              <a:xfrm>
                <a:off x="3507303" y="5630091"/>
                <a:ext cx="3363494" cy="718762"/>
              </a:xfrm>
              <a:prstGeom prst="wedgeRoundRectCallout">
                <a:avLst>
                  <a:gd name="adj1" fmla="val -17540"/>
                  <a:gd name="adj2" fmla="val -93676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0" dirty="0"/>
                  <a:t>Convergence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b="0" dirty="0"/>
                  <a:t>:</a:t>
                </a:r>
                <a:br>
                  <a:rPr lang="en-US" b="0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any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32C5A7CC-4FA8-C473-6FA9-CC4B56CECE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7303" y="5630091"/>
                <a:ext cx="3363494" cy="718762"/>
              </a:xfrm>
              <a:prstGeom prst="wedgeRoundRectCallout">
                <a:avLst>
                  <a:gd name="adj1" fmla="val -17540"/>
                  <a:gd name="adj2" fmla="val -93676"/>
                  <a:gd name="adj3" fmla="val 16667"/>
                </a:avLst>
              </a:prstGeom>
              <a:blipFill>
                <a:blip r:embed="rId3"/>
                <a:stretch>
                  <a:fillRect b="-5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229235" y="1195993"/>
                <a:ext cx="2227288" cy="1323439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9235" y="1195993"/>
                <a:ext cx="2227288" cy="1323439"/>
              </a:xfrm>
              <a:prstGeom prst="rect">
                <a:avLst/>
              </a:prstGeom>
              <a:blipFill>
                <a:blip r:embed="rId5"/>
                <a:stretch>
                  <a:fillRect l="-1359" t="-909" b="-4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6FA554BD-05FF-369E-7672-880FEF6243EC}"/>
              </a:ext>
            </a:extLst>
          </p:cNvPr>
          <p:cNvGrpSpPr/>
          <p:nvPr/>
        </p:nvGrpSpPr>
        <p:grpSpPr>
          <a:xfrm>
            <a:off x="9027743" y="4880328"/>
            <a:ext cx="2854818" cy="1745524"/>
            <a:chOff x="9027743" y="4880328"/>
            <a:chExt cx="2854818" cy="1745524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3DFF17E-DF67-BABC-A51D-6F73F6245657}"/>
                </a:ext>
              </a:extLst>
            </p:cNvPr>
            <p:cNvGrpSpPr/>
            <p:nvPr/>
          </p:nvGrpSpPr>
          <p:grpSpPr>
            <a:xfrm>
              <a:off x="9027743" y="4880328"/>
              <a:ext cx="2854818" cy="1745524"/>
              <a:chOff x="8867761" y="4499091"/>
              <a:chExt cx="2854818" cy="1745524"/>
            </a:xfrm>
          </p:grpSpPr>
          <p:grpSp>
            <p:nvGrpSpPr>
              <p:cNvPr id="9" name="Group 8" descr="Updating the value function using iterative Bellman updates.">
                <a:extLst>
                  <a:ext uri="{FF2B5EF4-FFF2-40B4-BE49-F238E27FC236}">
                    <a16:creationId xmlns:a16="http://schemas.microsoft.com/office/drawing/2014/main" id="{5E13A197-79F1-6CAE-0A97-FAA7508CBCC7}"/>
                  </a:ext>
                </a:extLst>
              </p:cNvPr>
              <p:cNvGrpSpPr/>
              <p:nvPr/>
            </p:nvGrpSpPr>
            <p:grpSpPr>
              <a:xfrm>
                <a:off x="8867761" y="4499091"/>
                <a:ext cx="2854818" cy="1693825"/>
                <a:chOff x="9337182" y="1964848"/>
                <a:chExt cx="2854818" cy="1693825"/>
              </a:xfrm>
            </p:grpSpPr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8A7CFF6D-44E5-4AC6-F8FA-305C74E68FE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37182" y="3124199"/>
                  <a:ext cx="2393078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8">
                      <a:extLst>
                        <a:ext uri="{FF2B5EF4-FFF2-40B4-BE49-F238E27FC236}">
                          <a16:creationId xmlns:a16="http://schemas.microsoft.com/office/drawing/2014/main" id="{FC62ADE9-9B2E-0CE9-B525-28B9E250FACF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25004" y="3092683"/>
                      <a:ext cx="76699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>
                      <a:defPPr>
                        <a:defRPr lang="en-US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8">
                      <a:extLst>
                        <a:ext uri="{FF2B5EF4-FFF2-40B4-BE49-F238E27FC236}">
                          <a16:creationId xmlns:a16="http://schemas.microsoft.com/office/drawing/2014/main" id="{115AA05C-2180-0AF6-A384-9D75BED15ED1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25004" y="3092683"/>
                      <a:ext cx="766996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" name="Arc 12">
                  <a:extLst>
                    <a:ext uri="{FF2B5EF4-FFF2-40B4-BE49-F238E27FC236}">
                      <a16:creationId xmlns:a16="http://schemas.microsoft.com/office/drawing/2014/main" id="{58658A5E-4BF3-F495-C114-E6EA460FC87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9760371" y="2649297"/>
                  <a:ext cx="574339" cy="1009376"/>
                </a:xfrm>
                <a:prstGeom prst="arc">
                  <a:avLst>
                    <a:gd name="adj1" fmla="val 10871568"/>
                    <a:gd name="adj2" fmla="val 0"/>
                  </a:avLst>
                </a:prstGeom>
                <a:ln w="19050" cap="flat" cmpd="sng" algn="ctr">
                  <a:solidFill>
                    <a:schemeClr val="accent6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14" name="Arc 13">
                  <a:extLst>
                    <a:ext uri="{FF2B5EF4-FFF2-40B4-BE49-F238E27FC236}">
                      <a16:creationId xmlns:a16="http://schemas.microsoft.com/office/drawing/2014/main" id="{8C2E7F1D-DC32-A251-BB28-41567AFC7C7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10334710" y="2614308"/>
                  <a:ext cx="765785" cy="1019782"/>
                </a:xfrm>
                <a:prstGeom prst="arc">
                  <a:avLst>
                    <a:gd name="adj1" fmla="val 10871568"/>
                    <a:gd name="adj2" fmla="val 0"/>
                  </a:avLst>
                </a:prstGeom>
                <a:ln w="19050" cap="flat" cmpd="sng" algn="ctr">
                  <a:solidFill>
                    <a:schemeClr val="accent6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15" name="Arc 14">
                  <a:extLst>
                    <a:ext uri="{FF2B5EF4-FFF2-40B4-BE49-F238E27FC236}">
                      <a16:creationId xmlns:a16="http://schemas.microsoft.com/office/drawing/2014/main" id="{7026F178-8BD0-9B6E-1868-851FF19E16D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11100495" y="2627412"/>
                  <a:ext cx="220048" cy="1019782"/>
                </a:xfrm>
                <a:prstGeom prst="arc">
                  <a:avLst>
                    <a:gd name="adj1" fmla="val 10871568"/>
                    <a:gd name="adj2" fmla="val 0"/>
                  </a:avLst>
                </a:prstGeom>
                <a:ln w="19050" cap="flat" cmpd="sng" algn="ctr">
                  <a:solidFill>
                    <a:schemeClr val="accent6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16" name="Arc 15">
                  <a:extLst>
                    <a:ext uri="{FF2B5EF4-FFF2-40B4-BE49-F238E27FC236}">
                      <a16:creationId xmlns:a16="http://schemas.microsoft.com/office/drawing/2014/main" id="{57088D6C-4C8C-FE23-F85D-8685A8BA96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11308888" y="2648522"/>
                  <a:ext cx="417487" cy="951353"/>
                </a:xfrm>
                <a:prstGeom prst="arc">
                  <a:avLst>
                    <a:gd name="adj1" fmla="val 10871568"/>
                    <a:gd name="adj2" fmla="val 0"/>
                  </a:avLst>
                </a:prstGeom>
                <a:ln w="19050" cap="flat" cmpd="sng" algn="ctr">
                  <a:solidFill>
                    <a:schemeClr val="accent6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29">
                      <a:extLst>
                        <a:ext uri="{FF2B5EF4-FFF2-40B4-BE49-F238E27FC236}">
                          <a16:creationId xmlns:a16="http://schemas.microsoft.com/office/drawing/2014/main" id="{33B57A32-72F6-077F-22AE-C34A118F7D55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64903" y="3086337"/>
                      <a:ext cx="39581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>
                      <a:defPPr>
                        <a:defRPr lang="en-US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" name="TextBox 29">
                      <a:extLst>
                        <a:ext uri="{FF2B5EF4-FFF2-40B4-BE49-F238E27FC236}">
                          <a16:creationId xmlns:a16="http://schemas.microsoft.com/office/drawing/2014/main" id="{6DB673C8-2425-685A-8CBE-35EDDCA1EB91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64903" y="3086337"/>
                      <a:ext cx="395810" cy="36933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30">
                      <a:extLst>
                        <a:ext uri="{FF2B5EF4-FFF2-40B4-BE49-F238E27FC236}">
                          <a16:creationId xmlns:a16="http://schemas.microsoft.com/office/drawing/2014/main" id="{1223FDB0-EDE1-D3F8-B49E-7C42FE2277C4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066895" y="3115740"/>
                      <a:ext cx="39581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>
                      <a:defPPr>
                        <a:defRPr lang="en-US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8" name="TextBox 30">
                      <a:extLst>
                        <a:ext uri="{FF2B5EF4-FFF2-40B4-BE49-F238E27FC236}">
                          <a16:creationId xmlns:a16="http://schemas.microsoft.com/office/drawing/2014/main" id="{56DA2FE2-AC26-7B66-B5BD-7064ECD50CE7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066895" y="3115740"/>
                      <a:ext cx="395810" cy="3693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4FB5ACCD-0701-2FB2-F78E-42498C38670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11680507" y="3066584"/>
                  <a:ext cx="127995" cy="117892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20" name="TextBox 35">
                  <a:extLst>
                    <a:ext uri="{FF2B5EF4-FFF2-40B4-BE49-F238E27FC236}">
                      <a16:creationId xmlns:a16="http://schemas.microsoft.com/office/drawing/2014/main" id="{0BA13DE3-9692-0A72-42C2-2997B4BD90D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366631" y="1964848"/>
                  <a:ext cx="179633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n-US" sz="1600" dirty="0"/>
                    <a:t>Bellman updates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DF9F97-99C7-C914-8056-5CB2B24BFC7D}"/>
                  </a:ext>
                </a:extLst>
              </p:cNvPr>
              <p:cNvSpPr txBox="1"/>
              <p:nvPr/>
            </p:nvSpPr>
            <p:spPr>
              <a:xfrm>
                <a:off x="9189345" y="5967616"/>
                <a:ext cx="19787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Distance means difference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FD4057F-5032-BC1B-A63D-1B8B48716C06}"/>
                    </a:ext>
                  </a:extLst>
                </p:cNvPr>
                <p:cNvSpPr txBox="1"/>
                <p:nvPr/>
              </p:nvSpPr>
              <p:spPr>
                <a:xfrm>
                  <a:off x="9501294" y="5233425"/>
                  <a:ext cx="50174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FD4057F-5032-BC1B-A63D-1B8B48716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01294" y="5233425"/>
                  <a:ext cx="501748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99B973D-2558-A2C6-4BF8-EFA820911BD3}"/>
                    </a:ext>
                  </a:extLst>
                </p:cNvPr>
                <p:cNvSpPr txBox="1"/>
                <p:nvPr/>
              </p:nvSpPr>
              <p:spPr>
                <a:xfrm>
                  <a:off x="10190449" y="5233425"/>
                  <a:ext cx="50174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99B973D-2558-A2C6-4BF8-EFA82091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90449" y="5233425"/>
                  <a:ext cx="501748" cy="33855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A128481-FC48-A100-EFEE-53B99DA80707}"/>
                    </a:ext>
                  </a:extLst>
                </p:cNvPr>
                <p:cNvSpPr txBox="1"/>
                <p:nvPr/>
              </p:nvSpPr>
              <p:spPr>
                <a:xfrm>
                  <a:off x="11038934" y="5233425"/>
                  <a:ext cx="50174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A128481-FC48-A100-EFEE-53B99DA807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8934" y="5233425"/>
                  <a:ext cx="501748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A372508-99EC-EFF8-6F86-5D6D9B152179}"/>
                    </a:ext>
                  </a:extLst>
                </p:cNvPr>
                <p:cNvSpPr txBox="1"/>
                <p:nvPr/>
              </p:nvSpPr>
              <p:spPr>
                <a:xfrm>
                  <a:off x="10682975" y="5233425"/>
                  <a:ext cx="50174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A372508-99EC-EFF8-6F86-5D6D9B152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82975" y="5233425"/>
                  <a:ext cx="501748" cy="33855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 and the Greedy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7896" y="3181599"/>
                <a:ext cx="10965110" cy="316467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Greedy policy improvement</a:t>
                </a:r>
                <a:r>
                  <a:rPr lang="en-US" dirty="0"/>
                  <a:t>: create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strictly better 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  <a:p>
                <a:r>
                  <a:rPr lang="en-US" b="1" dirty="0"/>
                  <a:t>Proof</a:t>
                </a:r>
                <a:r>
                  <a:rPr lang="en-US" dirty="0"/>
                  <a:t>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lim>
                    </m:limLow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7896" y="3181599"/>
                <a:ext cx="10965110" cy="3164674"/>
              </a:xfrm>
              <a:blipFill>
                <a:blip r:embed="rId2"/>
                <a:stretch>
                  <a:fillRect l="-389" t="-3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/>
              <p:nvPr/>
            </p:nvSpPr>
            <p:spPr>
              <a:xfrm>
                <a:off x="976969" y="1396409"/>
                <a:ext cx="10846964" cy="151297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Policy Improvement Theorem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the same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but has a better action for at least one state,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strictly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969" y="1396409"/>
                <a:ext cx="10846964" cy="1512978"/>
              </a:xfrm>
              <a:prstGeom prst="rect">
                <a:avLst/>
              </a:prstGeom>
              <a:blipFill>
                <a:blip r:embed="rId3"/>
                <a:stretch>
                  <a:fillRect l="-393" t="-1195" b="-51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D086C4F6-4539-C0FB-374C-830B01387B13}"/>
                  </a:ext>
                </a:extLst>
              </p:cNvPr>
              <p:cNvSpPr/>
              <p:nvPr/>
            </p:nvSpPr>
            <p:spPr>
              <a:xfrm>
                <a:off x="9670987" y="4757576"/>
                <a:ext cx="2031167" cy="464759"/>
              </a:xfrm>
              <a:prstGeom prst="wedgeRoundRectCallout">
                <a:avLst>
                  <a:gd name="adj1" fmla="val -80506"/>
                  <a:gd name="adj2" fmla="val 4359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D086C4F6-4539-C0FB-374C-830B01387B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0987" y="4757576"/>
                <a:ext cx="2031167" cy="464759"/>
              </a:xfrm>
              <a:prstGeom prst="wedgeRoundRectCallout">
                <a:avLst>
                  <a:gd name="adj1" fmla="val -80506"/>
                  <a:gd name="adj2" fmla="val 43591"/>
                  <a:gd name="adj3" fmla="val 16667"/>
                </a:avLst>
              </a:prstGeom>
              <a:blipFill>
                <a:blip r:embed="rId4"/>
                <a:stretch>
                  <a:fillRect t="-6250" b="-1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9270C0F-08F4-3155-6EDB-9B5E891DF373}"/>
              </a:ext>
            </a:extLst>
          </p:cNvPr>
          <p:cNvSpPr/>
          <p:nvPr/>
        </p:nvSpPr>
        <p:spPr>
          <a:xfrm>
            <a:off x="9290619" y="5551861"/>
            <a:ext cx="2440898" cy="661369"/>
          </a:xfrm>
          <a:prstGeom prst="wedgeRoundRectCallout">
            <a:avLst>
              <a:gd name="adj1" fmla="val -99327"/>
              <a:gd name="adj2" fmla="val -390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Choosing the best action will never lead to a lower value!</a:t>
            </a:r>
          </a:p>
        </p:txBody>
      </p:sp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1" grpId="0" animBg="1"/>
      <p:bldP spid="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Create a sequence of monotonically improving policies: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  <a:blipFill>
                <a:blip r:embed="rId2"/>
                <a:stretch>
                  <a:fillRect l="-1113" t="-7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Policy estimation is computationally expensive! </a:t>
                </a:r>
                <a:br>
                  <a:rPr lang="en-US" dirty="0"/>
                </a:br>
                <a:r>
                  <a:rPr lang="en-US" dirty="0"/>
                  <a:t>Using fewer iterations leads to modified policy iteration.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  <a:blipFill>
                <a:blip r:embed="rId8"/>
                <a:stretch>
                  <a:fillRect l="-1236" t="-4400" b="-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</a:t>
            </a:r>
            <a:br>
              <a:rPr lang="en-US" sz="1600" dirty="0"/>
            </a:br>
            <a:r>
              <a:rPr lang="en-US" sz="1600" dirty="0"/>
              <a:t>We can also stop this loop early (modified policy iteration).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policy improvement and truncated policy evaluation into a single step.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 r="-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 only)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pPr lvl="1"/>
                <a:r>
                  <a:rPr lang="en-US" b="1" dirty="0"/>
                  <a:t>Policy iteration</a:t>
                </a:r>
                <a:r>
                  <a:rPr lang="en-US" dirty="0"/>
                  <a:t>: each evaluation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pPr lvl="1"/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evaluation step.</a:t>
                </a:r>
              </a:p>
              <a:p>
                <a:pPr lvl="1"/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 (e.g., focus on states where the value function changed a lot in the last step).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 due to the </a:t>
                </a:r>
                <a:r>
                  <a:rPr lang="en-US" b="1" dirty="0"/>
                  <a:t>Policy Improvement Theorem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928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pPr lvl="1"/>
                <a:r>
                  <a:rPr lang="en-US" dirty="0"/>
                  <a:t>Tabular method: stores the complete value function as tables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pPr lvl="1"/>
                <a:r>
                  <a:rPr lang="en-US" dirty="0"/>
                  <a:t>Updates repeatedly sweep over the whole state space.</a:t>
                </a:r>
              </a:p>
              <a:p>
                <a:pPr lvl="1"/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  <a:p>
                <a:pPr lvl="1"/>
                <a:r>
                  <a:rPr lang="en-US" dirty="0"/>
                  <a:t>Tabular methods can not generalize between similar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  <a:blipFill>
                <a:blip r:embed="rId2"/>
                <a:stretch>
                  <a:fillRect l="-1454" t="-2806" r="-1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6339C8F8-48C4-0C07-3B0E-F41FE0B782D3}"/>
              </a:ext>
            </a:extLst>
          </p:cNvPr>
          <p:cNvSpPr/>
          <p:nvPr/>
        </p:nvSpPr>
        <p:spPr>
          <a:xfrm>
            <a:off x="9582325" y="4408415"/>
            <a:ext cx="281031" cy="110315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DAF1B-95EB-22B1-1191-7C8BC9E6FAC3}"/>
              </a:ext>
            </a:extLst>
          </p:cNvPr>
          <p:cNvSpPr txBox="1"/>
          <p:nvPr/>
        </p:nvSpPr>
        <p:spPr>
          <a:xfrm>
            <a:off x="9987094" y="4636825"/>
            <a:ext cx="1635854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Asynchronous DP can help</a:t>
            </a:r>
          </a:p>
        </p:txBody>
      </p:sp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In each state we can choose one of the available actions.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Linearize the non-linear Bellman Optimality Equations by introducing constraints for all action/state pairs. Leads to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quadratic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Sparse transition matrices lead to better performance.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Conclusion</a:t>
                </a:r>
                <a:r>
                  <a:rPr lang="en-US" dirty="0"/>
                  <a:t>: Search and LP are impractical. The number of actions is typically relatively small.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368740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Prediction</a:t>
                </a:r>
                <a:r>
                  <a:rPr lang="en-US" sz="1600" dirty="0"/>
                  <a:t>: Calculates the value function for a given policy called in DP policy evaluation.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 Is not truly control, but an offline planning method. 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Value Iteration: </a:t>
                </a:r>
              </a:p>
              <a:p>
                <a:pPr lvl="1"/>
                <a:r>
                  <a:rPr lang="en-US" sz="1600" dirty="0"/>
                  <a:t>Convert the recursive Bellman equations into the Belmann update operators and sweep the state space till the optimal value function is found.</a:t>
                </a:r>
              </a:p>
              <a:p>
                <a:pPr lvl="1"/>
                <a:r>
                  <a:rPr lang="en-US" sz="1600" b="1" dirty="0"/>
                  <a:t>The Expected Bellman operator is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𝜸</m:t>
                    </m:r>
                  </m:oMath>
                </a14:m>
                <a:r>
                  <a:rPr lang="en-US" sz="1600" b="1" dirty="0"/>
                  <a:t>-contracting and converges to the optimal value function</a:t>
                </a:r>
                <a:r>
                  <a:rPr lang="en-US" sz="1600" dirty="0"/>
                  <a:t> (requires either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state).</a:t>
                </a:r>
              </a:p>
              <a:p>
                <a:pPr lvl="1"/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Policy Iteration:</a:t>
                </a:r>
                <a:endParaRPr lang="en-US" sz="1600" dirty="0"/>
              </a:p>
              <a:p>
                <a:pPr lvl="1"/>
                <a:r>
                  <a:rPr lang="en-US" sz="1600" b="1" dirty="0"/>
                  <a:t>Policy Improvement Theorem</a:t>
                </a:r>
                <a:r>
                  <a:rPr lang="en-US" sz="1600" dirty="0"/>
                  <a:t>: the policy strictly improves with each policy iteration step.</a:t>
                </a:r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348" r="-10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8055</TotalTime>
  <Words>2674</Words>
  <Application>Microsoft Office PowerPoint</Application>
  <PresentationFormat>Widescreen</PresentationFormat>
  <Paragraphs>339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Topics of this Course</vt:lpstr>
      <vt:lpstr>Summary of Notation</vt:lpstr>
      <vt:lpstr>Goal</vt:lpstr>
      <vt:lpstr>Tabular Methods</vt:lpstr>
      <vt:lpstr>Prediction vs. Control</vt:lpstr>
      <vt:lpstr>Prediction: Policy Evaluation</vt:lpstr>
      <vt:lpstr>Policy Evaluation to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Control: Policy Iteration</vt:lpstr>
      <vt:lpstr>Policy Improvement and the Greedy Policy</vt:lpstr>
      <vt:lpstr>Policy Iteration</vt:lpstr>
      <vt:lpstr>Alg. Policy Iteration</vt:lpstr>
      <vt:lpstr>Control: Value Iteration</vt:lpstr>
      <vt:lpstr>Value Iteration</vt:lpstr>
      <vt:lpstr>Alg. Value Iteration</vt:lpstr>
      <vt:lpstr>Code…</vt:lpstr>
      <vt:lpstr>GPI: Generalized Policy Iteration</vt:lpstr>
      <vt:lpstr>GPI: Generalized Policy Iteration</vt:lpstr>
      <vt:lpstr>Issues with DP Methods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148</cp:revision>
  <dcterms:created xsi:type="dcterms:W3CDTF">2025-09-08T14:44:49Z</dcterms:created>
  <dcterms:modified xsi:type="dcterms:W3CDTF">2026-09-18T15:01:29Z</dcterms:modified>
</cp:coreProperties>
</file>