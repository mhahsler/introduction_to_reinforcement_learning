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380" r:id="rId6"/>
    <p:sldId id="388" r:id="rId7"/>
    <p:sldId id="372" r:id="rId8"/>
    <p:sldId id="369" r:id="rId9"/>
    <p:sldId id="370" r:id="rId10"/>
    <p:sldId id="389" r:id="rId11"/>
    <p:sldId id="390" r:id="rId12"/>
    <p:sldId id="371" r:id="rId13"/>
    <p:sldId id="373" r:id="rId14"/>
    <p:sldId id="375" r:id="rId15"/>
    <p:sldId id="376" r:id="rId16"/>
    <p:sldId id="377" r:id="rId17"/>
    <p:sldId id="378" r:id="rId18"/>
    <p:sldId id="379" r:id="rId19"/>
    <p:sldId id="382" r:id="rId20"/>
    <p:sldId id="479" r:id="rId21"/>
    <p:sldId id="384" r:id="rId22"/>
    <p:sldId id="385" r:id="rId23"/>
    <p:sldId id="383" r:id="rId24"/>
    <p:sldId id="386" r:id="rId25"/>
    <p:sldId id="38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</p14:sldIdLst>
        </p14:section>
        <p14:section name="Generalized Policy Iteration" id="{24242526-B5FF-45B4-A80E-CA85C1F5783D}">
          <p14:sldIdLst>
            <p14:sldId id="384"/>
            <p14:sldId id="385"/>
            <p14:sldId id="383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b="1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vertJc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 i="0">
                          <a:latin typeface="Cambria Math" panose="02040503050406030204" pitchFamily="18" charset="0"/>
                        </a:rPr>
                        <m:t> for  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deterministic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have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911619" y="7815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04460" y="2440195"/>
            <a:ext cx="19659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/>
              <a:t>Q-Value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5909591"/>
                  </p:ext>
                </p:extLst>
              </p:nvPr>
            </p:nvGraphicFramePr>
            <p:xfrm>
              <a:off x="8656227" y="2799490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5909591"/>
                  </p:ext>
                </p:extLst>
              </p:nvPr>
            </p:nvGraphicFramePr>
            <p:xfrm>
              <a:off x="8656227" y="2799490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222" r="-229851" b="-5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222" r="-172566" b="-5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222" r="-2094" b="-51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2476008"/>
                  </p:ext>
                </p:extLst>
              </p:nvPr>
            </p:nvGraphicFramePr>
            <p:xfrm>
              <a:off x="8913602" y="1131354"/>
              <a:ext cx="2147634" cy="109728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2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2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2476008"/>
                  </p:ext>
                </p:extLst>
              </p:nvPr>
            </p:nvGraphicFramePr>
            <p:xfrm>
              <a:off x="8913602" y="1131354"/>
              <a:ext cx="2147634" cy="109728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2222" r="-268041" b="-3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2222" r="-1563" b="-3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F618E29-8BC7-5465-7F90-DBCC57613545}"/>
              </a:ext>
            </a:extLst>
          </p:cNvPr>
          <p:cNvSpPr txBox="1"/>
          <p:nvPr/>
        </p:nvSpPr>
        <p:spPr>
          <a:xfrm>
            <a:off x="8685923" y="4598699"/>
            <a:ext cx="26029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Policy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CA774F2A-88BA-B1E8-30E2-DDB62E0F5EF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679748"/>
                  </p:ext>
                </p:extLst>
              </p:nvPr>
            </p:nvGraphicFramePr>
            <p:xfrm>
              <a:off x="9171327" y="4994415"/>
              <a:ext cx="1632185" cy="108204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225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119929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CA774F2A-88BA-B1E8-30E2-DDB62E0F5EF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679748"/>
                  </p:ext>
                </p:extLst>
              </p:nvPr>
            </p:nvGraphicFramePr>
            <p:xfrm>
              <a:off x="9171327" y="4994415"/>
              <a:ext cx="1632185" cy="108204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225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119929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90" t="-2222" r="-225000" b="-3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5946" t="-2222" r="-2162" b="-3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59080"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Recursive relationship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 b="-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 all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    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589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  <a:br>
                  <a:rPr lang="en-US" dirty="0"/>
                </a:br>
                <a:r>
                  <a:rPr lang="en-US" dirty="0"/>
                  <a:t>(see textbook for derivation)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for any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  <a:blipFill>
                <a:blip r:embed="rId2"/>
                <a:stretch>
                  <a:fillRect l="-640" t="-3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 by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, leading to convergence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is applied many times.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547488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359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3DFF17E-DF67-BABC-A51D-6F73F6245657}"/>
              </a:ext>
            </a:extLst>
          </p:cNvPr>
          <p:cNvGrpSpPr/>
          <p:nvPr/>
        </p:nvGrpSpPr>
        <p:grpSpPr>
          <a:xfrm>
            <a:off x="9065494" y="3469270"/>
            <a:ext cx="2854818" cy="1480504"/>
            <a:chOff x="8867761" y="4764111"/>
            <a:chExt cx="2854818" cy="1480504"/>
          </a:xfrm>
        </p:grpSpPr>
        <p:grpSp>
          <p:nvGrpSpPr>
            <p:cNvPr id="9" name="Group 8" descr="Updating the value function using iterative Bellman updates.">
              <a:extLst>
                <a:ext uri="{FF2B5EF4-FFF2-40B4-BE49-F238E27FC236}">
                  <a16:creationId xmlns:a16="http://schemas.microsoft.com/office/drawing/2014/main" id="{5E13A197-79F1-6CAE-0A97-FAA7508CBCC7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A7CFF6D-44E5-4AC6-F8FA-305C74E68F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FC62ADE9-9B2E-0CE9-B525-28B9E250FAC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58658A5E-4BF3-F495-C114-E6EA460FC8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8C2E7F1D-DC32-A251-BB28-41567AFC7C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7026F178-8BD0-9B6E-1868-851FF19E16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57088D6C-4C8C-FE23-F85D-8685A8BA96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33B57A32-72F6-077F-22AE-C34A118F7D5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1223FDB0-EDE1-D3F8-B49E-7C42FE2277C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FB5ACCD-0701-2FB2-F78E-42498C3867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0BA13DE3-9692-0A72-42C2-2997B4BD90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EDF9F97-99C7-C914-8056-5CB2B24BFC7D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the same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but has a better action for at least one state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  <a:blipFill>
                <a:blip r:embed="rId3"/>
                <a:stretch>
                  <a:fillRect l="-565" t="-1444" b="-5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 due to the </a:t>
                </a:r>
                <a:r>
                  <a:rPr lang="en-US" b="1" dirty="0"/>
                  <a:t>Policy Improvement Theorem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  <a:p>
                <a:pPr lvl="1"/>
                <a:r>
                  <a:rPr lang="en-US" dirty="0"/>
                  <a:t>Tabular methods can not generalize between similar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  <a:blipFill>
                <a:blip r:embed="rId2"/>
                <a:stretch>
                  <a:fillRect l="-1454" t="-2806" r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6339C8F8-48C4-0C07-3B0E-F41FE0B782D3}"/>
              </a:ext>
            </a:extLst>
          </p:cNvPr>
          <p:cNvSpPr/>
          <p:nvPr/>
        </p:nvSpPr>
        <p:spPr>
          <a:xfrm>
            <a:off x="9582325" y="4408415"/>
            <a:ext cx="281031" cy="110315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DAF1B-95EB-22B1-1191-7C8BC9E6FAC3}"/>
              </a:ext>
            </a:extLst>
          </p:cNvPr>
          <p:cNvSpPr txBox="1"/>
          <p:nvPr/>
        </p:nvSpPr>
        <p:spPr>
          <a:xfrm>
            <a:off x="9987094" y="4636825"/>
            <a:ext cx="1635854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Asynchronous DP can help</a:t>
            </a:r>
          </a:p>
        </p:txBody>
      </p:sp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In each state we can choose one of the available actions.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Linearize the non-linear Bellman Optimality Equations by introducing constraints for all action/state pairs. Leads to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Sparse transition matrices lead to better performance.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Conclusion</a:t>
                </a:r>
                <a:r>
                  <a:rPr lang="en-US" dirty="0"/>
                  <a:t>: 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368740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Prediction</a:t>
                </a:r>
                <a:r>
                  <a:rPr lang="en-US" sz="1600" dirty="0"/>
                  <a:t>: Calculates the value function for a given policy called in DP policy evaluation.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 Is not truly control, but an offline planning method. 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Value Iteration: </a:t>
                </a:r>
              </a:p>
              <a:p>
                <a:pPr lvl="1"/>
                <a:r>
                  <a:rPr lang="en-US" sz="1600" dirty="0"/>
                  <a:t>Convert the recursive Bellman equations into the Belmann update operators and sweep the state space till the optimal value function is found.</a:t>
                </a:r>
              </a:p>
              <a:p>
                <a:pPr lvl="1"/>
                <a:r>
                  <a:rPr lang="en-US" sz="1600" b="1" dirty="0"/>
                  <a:t>The Expected Bellman operator is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𝜸</m:t>
                    </m:r>
                  </m:oMath>
                </a14:m>
                <a:r>
                  <a:rPr lang="en-US" sz="1600" b="1" dirty="0"/>
                  <a:t>-contracting and converges to the optimal value function</a:t>
                </a:r>
                <a:r>
                  <a:rPr lang="en-US" sz="1600" dirty="0"/>
                  <a:t> (requires either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state).</a:t>
                </a:r>
              </a:p>
              <a:p>
                <a:pPr lvl="1"/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Policy Iteration:</a:t>
                </a:r>
                <a:endParaRPr lang="en-US" sz="1600" dirty="0"/>
              </a:p>
              <a:p>
                <a:pPr lvl="1"/>
                <a:r>
                  <a:rPr lang="en-US" sz="1600" b="1" dirty="0"/>
                  <a:t>Policy Improvement Theorem</a:t>
                </a:r>
                <a:r>
                  <a:rPr lang="en-US" sz="1600" dirty="0"/>
                  <a:t>: the policy strictly improves with each policy iteration step.</a:t>
                </a:r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348" r="-1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7651</TotalTime>
  <Words>2529</Words>
  <Application>Microsoft Office PowerPoint</Application>
  <PresentationFormat>Widescreen</PresentationFormat>
  <Paragraphs>327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Topics of this Course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Control: Policy Iteration</vt:lpstr>
      <vt:lpstr>Policy Improvement and the Greedy Policy</vt:lpstr>
      <vt:lpstr>Policy Iteration</vt:lpstr>
      <vt:lpstr>Alg. Policy Iteration</vt:lpstr>
      <vt:lpstr>Control: Value Iteration</vt:lpstr>
      <vt:lpstr>Value Iteration</vt:lpstr>
      <vt:lpstr>Alg. Value Iteration</vt:lpstr>
      <vt:lpstr>Code…</vt:lpstr>
      <vt:lpstr>GPI: Generalized Policy Iteration</vt:lpstr>
      <vt:lpstr>GPI: Generalized Policy Iteration</vt:lpstr>
      <vt:lpstr>Issues with DP Methods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131</cp:revision>
  <dcterms:created xsi:type="dcterms:W3CDTF">2025-09-08T14:44:49Z</dcterms:created>
  <dcterms:modified xsi:type="dcterms:W3CDTF">2026-09-09T15:07:45Z</dcterms:modified>
</cp:coreProperties>
</file>