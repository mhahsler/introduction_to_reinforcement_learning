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13" r:id="rId3"/>
    <p:sldId id="478" r:id="rId4"/>
    <p:sldId id="368" r:id="rId5"/>
    <p:sldId id="380" r:id="rId6"/>
    <p:sldId id="388" r:id="rId7"/>
    <p:sldId id="372" r:id="rId8"/>
    <p:sldId id="369" r:id="rId9"/>
    <p:sldId id="370" r:id="rId10"/>
    <p:sldId id="389" r:id="rId11"/>
    <p:sldId id="390" r:id="rId12"/>
    <p:sldId id="371" r:id="rId13"/>
    <p:sldId id="373" r:id="rId14"/>
    <p:sldId id="375" r:id="rId15"/>
    <p:sldId id="376" r:id="rId16"/>
    <p:sldId id="377" r:id="rId17"/>
    <p:sldId id="378" r:id="rId18"/>
    <p:sldId id="379" r:id="rId19"/>
    <p:sldId id="382" r:id="rId20"/>
    <p:sldId id="479" r:id="rId21"/>
    <p:sldId id="384" r:id="rId22"/>
    <p:sldId id="385" r:id="rId23"/>
    <p:sldId id="383" r:id="rId24"/>
    <p:sldId id="386" r:id="rId25"/>
    <p:sldId id="387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78"/>
          </p14:sldIdLst>
        </p14:section>
        <p14:section name="Introduction" id="{E0FB7704-6132-49E2-A4A4-C2DED466B618}">
          <p14:sldIdLst>
            <p14:sldId id="368"/>
            <p14:sldId id="380"/>
            <p14:sldId id="388"/>
          </p14:sldIdLst>
        </p14:section>
        <p14:section name="Policy Evaluation" id="{E4CB73A3-D0DE-4DED-94E7-4A458167A30F}">
          <p14:sldIdLst>
            <p14:sldId id="372"/>
            <p14:sldId id="369"/>
            <p14:sldId id="370"/>
            <p14:sldId id="389"/>
            <p14:sldId id="390"/>
            <p14:sldId id="371"/>
          </p14:sldIdLst>
        </p14:section>
        <p14:section name="Policy Iteration" id="{4DE153CC-8DA8-4101-A46B-0DFD73F9B57D}">
          <p14:sldIdLst>
            <p14:sldId id="373"/>
            <p14:sldId id="375"/>
            <p14:sldId id="376"/>
            <p14:sldId id="377"/>
          </p14:sldIdLst>
        </p14:section>
        <p14:section name="Value Iteration" id="{6A988A78-1EF4-4EB1-89B7-8F80075BCC63}">
          <p14:sldIdLst>
            <p14:sldId id="378"/>
            <p14:sldId id="379"/>
            <p14:sldId id="382"/>
            <p14:sldId id="479"/>
          </p14:sldIdLst>
        </p14:section>
        <p14:section name="Generalized Policy Iteration" id="{24242526-B5FF-45B4-A80E-CA85C1F5783D}">
          <p14:sldIdLst>
            <p14:sldId id="384"/>
            <p14:sldId id="385"/>
            <p14:sldId id="383"/>
            <p14:sldId id="386"/>
          </p14:sldIdLst>
        </p14:section>
        <p14:section name="Summary" id="{6AC1C20A-A1BF-4444-80D7-F422EA17542D}">
          <p14:sldIdLst>
            <p14:sldId id="38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212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2/6/2026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16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1.png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1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6.png"/><Relationship Id="rId7" Type="http://schemas.openxmlformats.org/officeDocument/2006/relationships/image" Target="../media/image15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7" Type="http://schemas.openxmlformats.org/officeDocument/2006/relationships/image" Target="../media/image31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0.png"/><Relationship Id="rId5" Type="http://schemas.openxmlformats.org/officeDocument/2006/relationships/image" Target="../media/image210.png"/><Relationship Id="rId4" Type="http://schemas.openxmlformats.org/officeDocument/2006/relationships/image" Target="../media/image20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27560" y="-150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463968" cy="3204134"/>
          </a:xfrm>
        </p:spPr>
        <p:txBody>
          <a:bodyPr anchor="b">
            <a:normAutofit fontScale="90000"/>
          </a:bodyPr>
          <a:lstStyle/>
          <a:p>
            <a:pPr algn="l"/>
            <a:r>
              <a:rPr lang="en-US" sz="4800" dirty="0">
                <a:solidFill>
                  <a:schemeClr val="bg1"/>
                </a:solidFill>
              </a:rPr>
              <a:t>Reinforcement Learning</a:t>
            </a:r>
            <a:br>
              <a:rPr lang="en-US" sz="4800" dirty="0">
                <a:solidFill>
                  <a:schemeClr val="bg1"/>
                </a:solidFill>
              </a:rPr>
            </a:br>
            <a:br>
              <a:rPr lang="en-US" sz="4800" dirty="0">
                <a:solidFill>
                  <a:schemeClr val="bg1"/>
                </a:solidFill>
              </a:rPr>
            </a:br>
            <a:r>
              <a:rPr lang="en-US" sz="4000" dirty="0">
                <a:solidFill>
                  <a:schemeClr val="bg1"/>
                </a:solidFill>
              </a:rPr>
              <a:t>Dynamic Programming</a:t>
            </a:r>
            <a:br>
              <a:rPr lang="en-US" sz="4000" dirty="0">
                <a:solidFill>
                  <a:schemeClr val="bg1"/>
                </a:solidFill>
              </a:rPr>
            </a:br>
            <a:r>
              <a:rPr lang="en-US" sz="2800" dirty="0">
                <a:solidFill>
                  <a:schemeClr val="bg1"/>
                </a:solidFill>
              </a:rPr>
              <a:t>Sutton/Barto*</a:t>
            </a:r>
            <a:r>
              <a:rPr lang="en-US" sz="2700" dirty="0">
                <a:solidFill>
                  <a:schemeClr val="bg1"/>
                </a:solidFill>
              </a:rPr>
              <a:t> Chapter 4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2" y="4868822"/>
            <a:ext cx="4169519" cy="1443894"/>
          </a:xfrm>
        </p:spPr>
        <p:txBody>
          <a:bodyPr>
            <a:normAutofit fontScale="92500"/>
          </a:bodyPr>
          <a:lstStyle/>
          <a:p>
            <a:pPr algn="l"/>
            <a:r>
              <a:rPr lang="en-US" sz="17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With figures from Sutton/Barto*</a:t>
            </a:r>
          </a:p>
          <a:p>
            <a:pPr algn="l"/>
            <a:endParaRPr lang="en-US" sz="1300" dirty="0">
              <a:solidFill>
                <a:schemeClr val="bg1"/>
              </a:solidFill>
            </a:endParaRPr>
          </a:p>
          <a:p>
            <a:pPr algn="l"/>
            <a:r>
              <a:rPr lang="en-US" sz="13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300" baseline="30000" dirty="0">
                <a:solidFill>
                  <a:schemeClr val="bg1"/>
                </a:solidFill>
              </a:rPr>
              <a:t>nd</a:t>
            </a:r>
            <a:r>
              <a:rPr lang="en-US" sz="1300" dirty="0">
                <a:solidFill>
                  <a:schemeClr val="bg1"/>
                </a:solidFill>
              </a:rPr>
              <a:t> edition, MIT Press, Cambridge, MA, 2018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F818925-CF68-EB6E-413D-FFCD573CCF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b="1" dirty="0"/>
              <a:t>Part I: Tabular Methods</a:t>
            </a:r>
          </a:p>
          <a:p>
            <a:pPr lvl="1"/>
            <a:r>
              <a:rPr lang="en-US" b="1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dirty="0"/>
              <a:t>Part III: Modern RL Methods</a:t>
            </a:r>
          </a:p>
          <a:p>
            <a:pPr lvl="1"/>
            <a:r>
              <a:rPr lang="en-US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9" y="3658891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EFE431-EDDE-8F36-4640-902EF247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</p:spPr>
            <p:txBody>
              <a:bodyPr>
                <a:normAutofit/>
              </a:bodyPr>
              <a:lstStyle/>
              <a:p>
                <a:r>
                  <a:rPr lang="en-US" sz="1500" b="1" dirty="0"/>
                  <a:t>Remember</a:t>
                </a:r>
                <a:r>
                  <a:rPr lang="en-US" sz="1500" dirty="0"/>
                  <a:t>: Finite MDPs have an optimal deterministic policy (under some mild conditions).</a:t>
                </a:r>
              </a:p>
              <a:p>
                <a:r>
                  <a:rPr lang="en-US" sz="1500" b="1" dirty="0"/>
                  <a:t>Goal</a:t>
                </a:r>
                <a:r>
                  <a:rPr lang="en-US" sz="1500" dirty="0"/>
                  <a:t>: Compute the </a:t>
                </a:r>
                <a:r>
                  <a:rPr lang="en-US" sz="1500" b="1" dirty="0"/>
                  <a:t>optimal deterministic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500" b="1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160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lim>
                        </m:limLow>
                      </m:fName>
                      <m:e>
                        <m:sSub>
                          <m:sSubPr>
                            <m:ctrlPr>
                              <a:rPr lang="en-US" sz="16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sz="1500" dirty="0"/>
                  <a:t> given a perfect MDP model.</a:t>
                </a:r>
              </a:p>
              <a:p>
                <a:r>
                  <a:rPr lang="en-US" sz="1500" dirty="0"/>
                  <a:t>Solve the Bellman optimality equations (the optimal policy always picks the best action):</a:t>
                </a:r>
              </a:p>
              <a:p>
                <a:pPr marL="0" indent="0">
                  <a:buNone/>
                </a:pPr>
                <a:endParaRPr lang="en-US" sz="1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15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 algn="ctr">
                  <a:buNone/>
                </a:pPr>
                <a:r>
                  <a:rPr lang="en-US" sz="1500" dirty="0"/>
                  <a:t>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US" sz="1500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150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5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func>
                            <m:funcPr>
                              <m:ctrlPr>
                                <a:rPr lang="en-US" sz="15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sz="150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sz="150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lim>
                              </m:limLow>
                            </m:fName>
                            <m:e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∗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t</m:t>
                                  </m:r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sz="15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d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5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𝑎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1500" dirty="0"/>
              </a:p>
              <a:p>
                <a:pPr marL="0" indent="0">
                  <a:buNone/>
                </a:pPr>
                <a:endParaRPr lang="en-US" sz="1500" b="1" dirty="0"/>
              </a:p>
              <a:p>
                <a:r>
                  <a:rPr lang="en-US" sz="1500" b="1" dirty="0"/>
                  <a:t>Issues</a:t>
                </a:r>
                <a:r>
                  <a:rPr lang="en-US" sz="1500" dirty="0"/>
                  <a:t>: The value estimate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500" dirty="0"/>
                  <a:t> depends on the current estimates of the successor states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5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en-US" sz="1500" dirty="0"/>
                  <a:t>! </a:t>
                </a:r>
                <a:br>
                  <a:rPr lang="en-US" sz="1500" dirty="0"/>
                </a:br>
                <a:r>
                  <a:rPr lang="en-US" sz="1500" dirty="0"/>
                  <a:t>We need to solve all optimality equations at the same time.</a:t>
                </a:r>
              </a:p>
              <a:p>
                <a:endParaRPr lang="en-US" sz="1500" b="1" dirty="0"/>
              </a:p>
              <a:p>
                <a:r>
                  <a:rPr lang="en-US" sz="1500" b="1" dirty="0"/>
                  <a:t>Idea</a:t>
                </a:r>
                <a:r>
                  <a:rPr lang="en-US" sz="1500" dirty="0"/>
                  <a:t>: We can find the optimal policy by stepwise </a:t>
                </a:r>
                <a:r>
                  <a:rPr lang="en-US" sz="1500" b="1" dirty="0"/>
                  <a:t>improving a policy </a:t>
                </a:r>
                <a:r>
                  <a:rPr lang="en-US" sz="1500" dirty="0"/>
                  <a:t>till it is optimal. A policy is better if it has larger state values.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>
                          <a:latin typeface="Cambria Math" panose="02040503050406030204" pitchFamily="18" charset="0"/>
                        </a:rPr>
                        <m:t>𝜋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US" sz="1500" b="0" i="1" smtClean="0">
                          <a:latin typeface="Cambria Math" panose="02040503050406030204" pitchFamily="18" charset="0"/>
                        </a:rPr>
                        <m:t>𝜋</m:t>
                      </m:r>
                      <m:groupChr>
                        <m:groupChrPr>
                          <m:chr m:val="⇔"/>
                          <m:pos m:val="top"/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groupChrPr>
                        <m:e/>
                      </m:groupCh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5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15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15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5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15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5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 b="0" i="0" smtClean="0">
                          <a:latin typeface="Cambria Math" panose="02040503050406030204" pitchFamily="18" charset="0"/>
                        </a:rPr>
                        <m:t>          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sz="1500">
                          <a:latin typeface="Cambria Math" panose="02040503050406030204" pitchFamily="18" charset="0"/>
                        </a:rPr>
                        <m:t>all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15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5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1500" dirty="0"/>
              </a:p>
              <a:p>
                <a:r>
                  <a:rPr lang="en-US" sz="1500" dirty="0"/>
                  <a:t>To do this we need to be able to compute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15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  <m:r>
                          <a:rPr lang="en-US" sz="15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b>
                    </m:sSub>
                  </m:oMath>
                </a14:m>
                <a:r>
                  <a:rPr lang="en-US" sz="1500" dirty="0"/>
                  <a:t>.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F0BC304-9F53-1D52-E987-0090E50732A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170264"/>
                <a:ext cx="8403522" cy="5265437"/>
              </a:xfrm>
              <a:blipFill>
                <a:blip r:embed="rId2"/>
                <a:stretch>
                  <a:fillRect l="-218" t="-5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2F685B52-5D31-046C-FA57-23AD9A7FCCFF}"/>
              </a:ext>
            </a:extLst>
          </p:cNvPr>
          <p:cNvGrpSpPr/>
          <p:nvPr/>
        </p:nvGrpSpPr>
        <p:grpSpPr>
          <a:xfrm>
            <a:off x="4889708" y="3599283"/>
            <a:ext cx="1299326" cy="398202"/>
            <a:chOff x="2533296" y="3175233"/>
            <a:chExt cx="1544242" cy="398202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898E18C9-0941-AC3C-3E0A-203470D94889}"/>
                </a:ext>
              </a:extLst>
            </p:cNvPr>
            <p:cNvSpPr/>
            <p:nvPr/>
          </p:nvSpPr>
          <p:spPr>
            <a:xfrm rot="5400000">
              <a:off x="3194734" y="2513795"/>
              <a:ext cx="180849" cy="1503726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/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𝑆</m:t>
                            </m:r>
                          </m:e>
                          <m:sub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sz="1400" b="0" i="1" dirty="0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en-US" sz="1400" b="0" i="1" dirty="0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43F2E145-B5BC-7419-FB96-26B18193DDA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11871" y="3265658"/>
                  <a:ext cx="1365667" cy="307777"/>
                </a:xfrm>
                <a:prstGeom prst="rect">
                  <a:avLst/>
                </a:prstGeom>
                <a:blipFill>
                  <a:blip r:embed="rId3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B12223B-5984-DA37-7047-D622C8E2D116}"/>
              </a:ext>
            </a:extLst>
          </p:cNvPr>
          <p:cNvGrpSpPr/>
          <p:nvPr/>
        </p:nvGrpSpPr>
        <p:grpSpPr>
          <a:xfrm>
            <a:off x="9241722" y="1765979"/>
            <a:ext cx="2656115" cy="2436074"/>
            <a:chOff x="9241722" y="1765979"/>
            <a:chExt cx="2656115" cy="2436074"/>
          </a:xfrm>
        </p:grpSpPr>
        <p:sp>
          <p:nvSpPr>
            <p:cNvPr id="7" name="Right Brace 6">
              <a:extLst>
                <a:ext uri="{FF2B5EF4-FFF2-40B4-BE49-F238E27FC236}">
                  <a16:creationId xmlns:a16="http://schemas.microsoft.com/office/drawing/2014/main" id="{866273BC-75CB-7A69-263C-BB0ECD222D37}"/>
                </a:ext>
              </a:extLst>
            </p:cNvPr>
            <p:cNvSpPr/>
            <p:nvPr/>
          </p:nvSpPr>
          <p:spPr>
            <a:xfrm>
              <a:off x="9241722" y="1765979"/>
              <a:ext cx="383908" cy="2436074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465BAAC-5796-5993-D172-BA7B294D59A7}"/>
                </a:ext>
              </a:extLst>
            </p:cNvPr>
            <p:cNvSpPr txBox="1"/>
            <p:nvPr/>
          </p:nvSpPr>
          <p:spPr>
            <a:xfrm>
              <a:off x="9723353" y="2660850"/>
              <a:ext cx="2174484" cy="584775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Control Problem</a:t>
              </a:r>
              <a:r>
                <a:rPr lang="en-US" sz="1600" dirty="0"/>
                <a:t>: Find the optimal policy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87D15AB9-3CD7-2FB5-029A-77CCA4C92D07}"/>
              </a:ext>
            </a:extLst>
          </p:cNvPr>
          <p:cNvGrpSpPr/>
          <p:nvPr/>
        </p:nvGrpSpPr>
        <p:grpSpPr>
          <a:xfrm>
            <a:off x="9260295" y="5151352"/>
            <a:ext cx="2740473" cy="975421"/>
            <a:chOff x="9283602" y="5446084"/>
            <a:chExt cx="2752267" cy="975421"/>
          </a:xfrm>
        </p:grpSpPr>
        <p:sp>
          <p:nvSpPr>
            <p:cNvPr id="10" name="Right Brace 9">
              <a:extLst>
                <a:ext uri="{FF2B5EF4-FFF2-40B4-BE49-F238E27FC236}">
                  <a16:creationId xmlns:a16="http://schemas.microsoft.com/office/drawing/2014/main" id="{DF5A9186-41F0-8C89-4311-A80AF67129F1}"/>
                </a:ext>
              </a:extLst>
            </p:cNvPr>
            <p:cNvSpPr/>
            <p:nvPr/>
          </p:nvSpPr>
          <p:spPr>
            <a:xfrm>
              <a:off x="9283602" y="5446084"/>
              <a:ext cx="385560" cy="975421"/>
            </a:xfrm>
            <a:prstGeom prst="rightBrac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98FB361-7D81-7549-BB19-0BA3C1F55C05}"/>
                </a:ext>
              </a:extLst>
            </p:cNvPr>
            <p:cNvSpPr txBox="1"/>
            <p:nvPr/>
          </p:nvSpPr>
          <p:spPr>
            <a:xfrm>
              <a:off x="9748653" y="5518295"/>
              <a:ext cx="2287216" cy="830997"/>
            </a:xfrm>
            <a:prstGeom prst="rect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wrap="square">
              <a:spAutoFit/>
            </a:bodyPr>
            <a:lstStyle/>
            <a:p>
              <a:r>
                <a:rPr lang="en-US" sz="1600" b="1" dirty="0"/>
                <a:t>Prediction Problem: </a:t>
              </a:r>
              <a:r>
                <a:rPr lang="en-US" sz="1600" dirty="0"/>
                <a:t> Estimate the value function for a policy.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33940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AC6BA7-ADBF-A187-1481-819E42FCC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Tabular Methods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Tabular means: The value functions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are stored in arrays (tables) called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</a:t>
                </a:r>
              </a:p>
              <a:p>
                <a:r>
                  <a:rPr lang="en-US" dirty="0"/>
                  <a:t>Important property: Entries in the table do not influence each other. We can change them independently.</a:t>
                </a:r>
              </a:p>
              <a:p>
                <a:r>
                  <a:rPr lang="en-US" dirty="0"/>
                  <a:t>Tabular methods find the exact solution (i.e., optimal value function and policy) given enough memory and time.</a:t>
                </a:r>
              </a:p>
              <a:p>
                <a:endParaRPr lang="en-US" dirty="0"/>
              </a:p>
              <a:p>
                <a:r>
                  <a:rPr lang="en-US" b="1" dirty="0"/>
                  <a:t>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Table size: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entries 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has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×|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 entries</a:t>
                </a:r>
              </a:p>
              <a:p>
                <a:pPr marL="914400" lvl="2" indent="0">
                  <a:buNone/>
                </a:pPr>
                <a:r>
                  <a:rPr lang="en-US" dirty="0"/>
                  <a:t>This is only feasible for problems with a small discrete state/action space!</a:t>
                </a:r>
              </a:p>
              <a:p>
                <a:pPr lvl="1"/>
                <a:r>
                  <a:rPr lang="en-US" dirty="0"/>
                  <a:t>No generalization: Knowledge about the value of one state (state-action pair) does not help us with similar states</a:t>
                </a:r>
              </a:p>
              <a:p>
                <a:endParaRPr lang="en-US" dirty="0"/>
              </a:p>
              <a:p>
                <a:r>
                  <a:rPr lang="en-US" dirty="0"/>
                  <a:t>We will later talk about approximate methods that generalize and can work with large state spaces.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C29710D-F26D-E73F-A3F8-50BB8250FEC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63186" cy="4986692"/>
              </a:xfrm>
              <a:blipFill>
                <a:blip r:embed="rId2"/>
                <a:stretch>
                  <a:fillRect l="-812" t="-2078" r="-9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5">
            <a:extLst>
              <a:ext uri="{FF2B5EF4-FFF2-40B4-BE49-F238E27FC236}">
                <a16:creationId xmlns:a16="http://schemas.microsoft.com/office/drawing/2014/main" id="{0975C344-F52A-8D1F-9D79-6E224183C692}"/>
              </a:ext>
            </a:extLst>
          </p:cNvPr>
          <p:cNvSpPr txBox="1"/>
          <p:nvPr/>
        </p:nvSpPr>
        <p:spPr>
          <a:xfrm>
            <a:off x="8838343" y="551826"/>
            <a:ext cx="215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Value Function</a:t>
            </a:r>
          </a:p>
        </p:txBody>
      </p:sp>
      <p:sp>
        <p:nvSpPr>
          <p:cNvPr id="6" name="TextBox 4">
            <a:extLst>
              <a:ext uri="{FF2B5EF4-FFF2-40B4-BE49-F238E27FC236}">
                <a16:creationId xmlns:a16="http://schemas.microsoft.com/office/drawing/2014/main" id="{84CE4623-8DCA-34FA-3404-B71214310EC9}"/>
              </a:ext>
            </a:extLst>
          </p:cNvPr>
          <p:cNvSpPr txBox="1"/>
          <p:nvPr/>
        </p:nvSpPr>
        <p:spPr>
          <a:xfrm>
            <a:off x="9086691" y="2565864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Q-Table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27432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1400" dirty="0" err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27432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9" name="Table 8">
                <a:extLst>
                  <a:ext uri="{FF2B5EF4-FFF2-40B4-BE49-F238E27FC236}">
                    <a16:creationId xmlns:a16="http://schemas.microsoft.com/office/drawing/2014/main" id="{78248F0E-2FF3-2020-DE60-ADD42126295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521024740"/>
                  </p:ext>
                </p:extLst>
              </p:nvPr>
            </p:nvGraphicFramePr>
            <p:xfrm>
              <a:off x="8691416" y="2935196"/>
              <a:ext cx="2662384" cy="18288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816336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85800">
                      <a:extLst>
                        <a:ext uri="{9D8B030D-6E8A-4147-A177-3AD203B41FA5}">
                          <a16:colId xmlns:a16="http://schemas.microsoft.com/office/drawing/2014/main" val="2988890879"/>
                        </a:ext>
                      </a:extLst>
                    </a:gridCol>
                    <a:gridCol w="1160248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746" t="-2000" r="-229851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19469" t="-2000" r="-172566" b="-522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29843" t="-2000" r="-2094" b="-522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0.6709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0.7003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0.7109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60961713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20772271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b="1" dirty="0"/>
                            <a:t>State Value </a:t>
                          </a:r>
                          <a14:m>
                            <m:oMath xmlns:m="http://schemas.openxmlformats.org/officeDocument/2006/math">
                              <m:r>
                                <a:rPr lang="en-US" sz="1400" b="1" i="1" dirty="0" smtClean="0">
                                  <a:latin typeface="Cambria Math" panose="02040503050406030204" pitchFamily="18" charset="0"/>
                                </a:rPr>
                                <m:t>𝑽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1400" b="1" i="0" dirty="0" smtClean="0">
                                  <a:latin typeface="Cambria Math" panose="02040503050406030204" pitchFamily="18" charset="0"/>
                                </a:rPr>
                                <m:t>𝐬</m:t>
                              </m:r>
                              <m:r>
                                <a:rPr lang="en-US" sz="1400" dirty="0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0" name="Table 9">
                <a:extLst>
                  <a:ext uri="{FF2B5EF4-FFF2-40B4-BE49-F238E27FC236}">
                    <a16:creationId xmlns:a16="http://schemas.microsoft.com/office/drawing/2014/main" id="{67C3BC08-2A24-51EA-3AA9-3629C95375A8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93349679"/>
                  </p:ext>
                </p:extLst>
              </p:nvPr>
            </p:nvGraphicFramePr>
            <p:xfrm>
              <a:off x="8946925" y="901635"/>
              <a:ext cx="2147634" cy="148336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2187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1555447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31" t="-1639" r="-269072" b="-30491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8281" t="-1639" r="-1953" b="-30491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0.7453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(1,2)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0.8016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0.7453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0.6709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0.7003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nor/>
                                  </m:rPr>
                                  <a:rPr lang="en-US" sz="1400" dirty="0" smtClean="0">
                                    <a:latin typeface="Cambria Math" panose="02040503050406030204" pitchFamily="18" charset="0"/>
                                  </a:rPr>
                                  <m:t>0.7109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5E155CE4-C8B8-A7CC-A291-879465D207B0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02102726"/>
                  </p:ext>
                </p:extLst>
              </p:nvPr>
            </p:nvGraphicFramePr>
            <p:xfrm>
              <a:off x="8410107" y="5060314"/>
              <a:ext cx="3221267" cy="1219200"/>
            </p:xfrm>
            <a:graphic>
              <a:graphicData uri="http://schemas.openxmlformats.org/drawingml/2006/table">
                <a:tbl>
                  <a:tblPr firstRow="1" bandRow="1">
                    <a:tableStyleId>{93296810-A885-4BE3-A3E7-6D5BEEA58F35}</a:tableStyleId>
                  </a:tblPr>
                  <a:tblGrid>
                    <a:gridCol w="594015">
                      <a:extLst>
                        <a:ext uri="{9D8B030D-6E8A-4147-A177-3AD203B41FA5}">
                          <a16:colId xmlns:a16="http://schemas.microsoft.com/office/drawing/2014/main" val="3711460689"/>
                        </a:ext>
                      </a:extLst>
                    </a:gridCol>
                    <a:gridCol w="644890">
                      <a:extLst>
                        <a:ext uri="{9D8B030D-6E8A-4147-A177-3AD203B41FA5}">
                          <a16:colId xmlns:a16="http://schemas.microsoft.com/office/drawing/2014/main" val="2080107700"/>
                        </a:ext>
                      </a:extLst>
                    </a:gridCol>
                    <a:gridCol w="642174">
                      <a:extLst>
                        <a:ext uri="{9D8B030D-6E8A-4147-A177-3AD203B41FA5}">
                          <a16:colId xmlns:a16="http://schemas.microsoft.com/office/drawing/2014/main" val="2654648091"/>
                        </a:ext>
                      </a:extLst>
                    </a:gridCol>
                    <a:gridCol w="709638">
                      <a:extLst>
                        <a:ext uri="{9D8B030D-6E8A-4147-A177-3AD203B41FA5}">
                          <a16:colId xmlns:a16="http://schemas.microsoft.com/office/drawing/2014/main" val="1830746805"/>
                        </a:ext>
                      </a:extLst>
                    </a:gridCol>
                    <a:gridCol w="630550">
                      <a:extLst>
                        <a:ext uri="{9D8B030D-6E8A-4147-A177-3AD203B41FA5}">
                          <a16:colId xmlns:a16="http://schemas.microsoft.com/office/drawing/2014/main" val="99139394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up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right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down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left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886982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(1,1)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93396" t="-101961" r="-311321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195238" t="-101961" r="-214286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264957" t="-101961" r="-92308" b="-2156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5"/>
                          <a:stretch>
                            <a:fillRect l="-410577" t="-101961" r="-3846" b="-2156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524805492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25035416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1400" dirty="0"/>
                            <a:t>…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8402448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2" name="TextBox 4">
            <a:extLst>
              <a:ext uri="{FF2B5EF4-FFF2-40B4-BE49-F238E27FC236}">
                <a16:creationId xmlns:a16="http://schemas.microsoft.com/office/drawing/2014/main" id="{44CFFF41-CFC5-E3BB-D794-D00B06D2A95F}"/>
              </a:ext>
            </a:extLst>
          </p:cNvPr>
          <p:cNvSpPr txBox="1"/>
          <p:nvPr/>
        </p:nvSpPr>
        <p:spPr>
          <a:xfrm>
            <a:off x="9200611" y="4727489"/>
            <a:ext cx="164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dirty="0"/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39568588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1C883-1AA7-C2E6-D09D-DAD2AE00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 vs. Control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207924-B986-8A34-1581-62645BDB5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class, we will always talk about two tasks:</a:t>
            </a:r>
          </a:p>
          <a:p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Prediction to evaluate a policy</a:t>
            </a:r>
            <a:r>
              <a:rPr lang="en-US" dirty="0"/>
              <a:t>: Estimate the value function for a given policy. We can use this to compare two policies.</a:t>
            </a:r>
          </a:p>
          <a:p>
            <a:pPr marL="514350" indent="-514350">
              <a:buFont typeface="+mj-lt"/>
              <a:buAutoNum type="arabicPeriod"/>
            </a:pP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b="1" dirty="0"/>
              <a:t>Control</a:t>
            </a:r>
            <a:r>
              <a:rPr lang="en-US" dirty="0"/>
              <a:t>: Control the agent’s behavior to find the optimal policy. This requires being able to evaluate policies.</a:t>
            </a:r>
          </a:p>
        </p:txBody>
      </p:sp>
    </p:spTree>
    <p:extLst>
      <p:ext uri="{BB962C8B-B14F-4D97-AF65-F5344CB8AC3E}">
        <p14:creationId xmlns:p14="http://schemas.microsoft.com/office/powerpoint/2010/main" val="39215834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843C56-7419-CE0C-1D18-6CC80DC10B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Prediction: Policy Evaluation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250192-9C75-1175-C27F-B882D7E511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the value function for a given policy?</a:t>
            </a:r>
          </a:p>
        </p:txBody>
      </p:sp>
    </p:spTree>
    <p:extLst>
      <p:ext uri="{BB962C8B-B14F-4D97-AF65-F5344CB8AC3E}">
        <p14:creationId xmlns:p14="http://schemas.microsoft.com/office/powerpoint/2010/main" val="9557505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Policy Evaluation to Estimate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AA35F1C3-5C0A-145A-FD0E-11A8D3F8EC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377"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Goal</a:t>
                </a:r>
                <a:r>
                  <a:rPr lang="en-US" dirty="0"/>
                  <a:t>: Compute the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for a given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>
                  <a:lnSpc>
                    <a:spcPct val="100000"/>
                  </a:lnSpc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buNone/>
                </a:pPr>
                <a:r>
                  <a:rPr lang="en-US" dirty="0"/>
                  <a:t>Bellman expectation equations give us the recursive relationship:</a:t>
                </a:r>
              </a:p>
              <a:p>
                <a:pPr marL="0" indent="0">
                  <a:lnSpc>
                    <a:spcPct val="10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≝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𝐺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aln/>
                            </m:r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begChr m:val="[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with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 equations, one for each state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Discounted finite MDPs (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&lt;1 </m:t>
                    </m:r>
                  </m:oMath>
                </a14:m>
                <a:r>
                  <a:rPr lang="en-US" dirty="0"/>
                  <a:t>) 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Undiscounted finite MDPs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en-US" dirty="0"/>
                  <a:t>) have a unique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guarantees to reach a terminal state.</a:t>
                </a:r>
              </a:p>
              <a:p>
                <a:pPr lvl="1"/>
                <a:r>
                  <a:rPr lang="en-US" dirty="0"/>
                  <a:t>Finite-horizon MDPs have unique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p>
                    </m:sSubSup>
                  </m:oMath>
                </a14:m>
                <a:r>
                  <a:rPr lang="en-US" dirty="0"/>
                  <a:t> where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the time step.  I.e. , value depends on how close we are to the end of the episode.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8D1FCBE-98A8-ED20-FB57-A0D8E461935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10515600" cy="4806329"/>
              </a:xfrm>
              <a:blipFill>
                <a:blip r:embed="rId3"/>
                <a:stretch>
                  <a:fillRect l="-522" t="-19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5830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5D3C2-BFBE-479C-C276-D13BC409FA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Option 1: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sz="2400" dirty="0"/>
                  <a:t>Solve the system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sz="2400" dirty="0"/>
                  <a:t> linear Bellman Expectation Equations:</a:t>
                </a:r>
                <a:br>
                  <a:rPr lang="en-US" sz="2400" dirty="0"/>
                </a:b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… 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m:rPr>
                          <m:nor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Formulate as a linear program</a:t>
                </a:r>
              </a:p>
              <a:p>
                <a:pPr lvl="1"/>
                <a:r>
                  <a:rPr lang="en-US" sz="2300" dirty="0"/>
                  <a:t>Objective function:      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sz="230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sz="230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sz="2300" i="0" smtClean="0">
                                <a:latin typeface="Cambria Math" panose="02040503050406030204" pitchFamily="18" charset="0"/>
                              </a:rPr>
                              <m:t>min</m:t>
                            </m:r>
                          </m:e>
                          <m:lim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lim>
                        </m:limLow>
                      </m:fName>
                      <m:e>
                        <m:nary>
                          <m:naryPr>
                            <m:chr m:val="∑"/>
                            <m:supHide m:val="on"/>
                            <m:ctrlPr>
                              <a:rPr lang="en-US" sz="230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sub>
                          <m:sup/>
                          <m:e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nary>
                      </m:e>
                    </m:func>
                  </m:oMath>
                </a14:m>
                <a:endParaRPr lang="en-US" sz="2300" dirty="0"/>
              </a:p>
              <a:p>
                <a:pPr lvl="1"/>
                <a:r>
                  <a:rPr lang="en-US" sz="2300" dirty="0"/>
                  <a:t>Constraints:                     </a:t>
                </a:r>
                <a14:m>
                  <m:oMath xmlns:m="http://schemas.openxmlformats.org/officeDocument/2006/math"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sz="2300" b="0" i="1" smtClean="0">
                        <a:latin typeface="Cambria Math" panose="02040503050406030204" pitchFamily="18" charset="0"/>
                      </a:rPr>
                      <m:t>≥</m:t>
                    </m:r>
                    <m:nary>
                      <m:naryPr>
                        <m:chr m:val="∑"/>
                        <m:supHide m:val="on"/>
                        <m:ctrlPr>
                          <a:rPr lang="en-US" sz="23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7"/>
                              </m:rP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23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m:rPr>
                            <m:brk m:alnAt="7"/>
                          </m:rPr>
                          <a:rPr lang="en-US" sz="23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  <m:sup/>
                      <m:e>
                        <m:r>
                          <a:rPr lang="en-US" sz="2300" i="1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′,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2300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d>
                          </m:e>
                        </m:d>
                        <m:d>
                          <m:dPr>
                            <m:begChr m:val="["/>
                            <m:endChr m:val="]"/>
                            <m:ctrlPr>
                              <a:rPr lang="en-US" sz="23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𝑟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𝛾</m:t>
                            </m:r>
                            <m:r>
                              <a:rPr lang="en-US" sz="23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en-US" sz="23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p>
                                  <m:sSupPr>
                                    <m:ctrlP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p>
                                    <m:r>
                                      <a:rPr lang="en-US" sz="2300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d>
                          </m:e>
                        </m:d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          ∀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3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nary>
                  </m:oMath>
                </a14:m>
                <a:endParaRPr lang="en-US" sz="20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r>
                  <a:rPr lang="en-US" sz="2400" dirty="0"/>
                  <a:t>Why this works: The smallest feasible solution will satisfy all Bellman equations. </a:t>
                </a:r>
                <a:endParaRPr lang="en-US" sz="24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</m:d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𝑉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]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      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∀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dirty="0"/>
              </a:p>
              <a:p>
                <a:pPr marL="0" indent="0">
                  <a:buNone/>
                </a:pPr>
                <a:endParaRPr lang="en-US" sz="2400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95FDADB-CB9E-5700-5CD5-2A4F4B7D2B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29"/>
                <a:ext cx="10350985" cy="5170993"/>
              </a:xfrm>
              <a:blipFill>
                <a:blip r:embed="rId2"/>
                <a:stretch>
                  <a:fillRect l="-589" t="-15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642650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6658F-139C-0BE8-0CD7-8FE00B9A3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Group 24">
            <a:extLst>
              <a:ext uri="{FF2B5EF4-FFF2-40B4-BE49-F238E27FC236}">
                <a16:creationId xmlns:a16="http://schemas.microsoft.com/office/drawing/2014/main" id="{52543F45-3A9E-C880-1230-772119373948}"/>
              </a:ext>
            </a:extLst>
          </p:cNvPr>
          <p:cNvGrpSpPr/>
          <p:nvPr/>
        </p:nvGrpSpPr>
        <p:grpSpPr>
          <a:xfrm>
            <a:off x="200701" y="3523056"/>
            <a:ext cx="2299156" cy="1791256"/>
            <a:chOff x="8709114" y="1909044"/>
            <a:chExt cx="2660677" cy="2268522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C4F431F-EEDB-B955-97C6-C588C6C93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15184"/>
            <a:stretch>
              <a:fillRect/>
            </a:stretch>
          </p:blipFill>
          <p:spPr>
            <a:xfrm>
              <a:off x="8709114" y="2205386"/>
              <a:ext cx="2660677" cy="1972180"/>
            </a:xfrm>
            <a:prstGeom prst="rect">
              <a:avLst/>
            </a:prstGeom>
          </p:spPr>
        </p:pic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E45E00C3-80D2-F1CC-F7E7-B3AD2D79EB12}"/>
                </a:ext>
              </a:extLst>
            </p:cNvPr>
            <p:cNvSpPr txBox="1"/>
            <p:nvPr/>
          </p:nvSpPr>
          <p:spPr>
            <a:xfrm>
              <a:off x="8928479" y="1909044"/>
              <a:ext cx="2177124" cy="38978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/>
                <a:t>Backup diagram</a:t>
              </a:r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05886B1-B3C3-36AF-DCCF-70C3CEDCBC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Solution Option 2: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2400" b="1" dirty="0"/>
                  <a:t>Dynamic Programming</a:t>
                </a:r>
                <a:r>
                  <a:rPr lang="en-US" sz="2400" dirty="0"/>
                  <a:t>: solves a complex optimization problem by breaking it down into smaller, overlapping subproblems and using their solutions to build the overall optimal solution.</a:t>
                </a:r>
              </a:p>
              <a:p>
                <a:pPr marL="0" indent="0">
                  <a:buNone/>
                </a:pPr>
                <a:endParaRPr lang="en-US" sz="2400" dirty="0"/>
              </a:p>
              <a:p>
                <a:pPr lvl="1"/>
                <a:r>
                  <a:rPr lang="en-US" sz="2000" dirty="0"/>
                  <a:t>Start with arbitrary values for all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𝑣</m:t>
                    </m:r>
                    <m:d>
                      <m:dPr>
                        <m:ctrlPr>
                          <a:rPr lang="en-US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endParaRPr lang="en-US" sz="2000" dirty="0"/>
              </a:p>
              <a:p>
                <a:pPr lvl="1"/>
                <a:r>
                  <a:rPr lang="en-US" sz="2000" dirty="0"/>
                  <a:t>Update all state values (called sweeping over the state space) using the</a:t>
                </a:r>
                <a:r>
                  <a:rPr lang="en-US" sz="2000" b="1" dirty="0"/>
                  <a:t> Bellman Update</a:t>
                </a:r>
                <a:r>
                  <a:rPr lang="en-US" sz="2000" dirty="0"/>
                  <a:t> (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000" dirty="0"/>
                  <a:t> is the iteration counter):</a:t>
                </a:r>
                <a:endParaRPr lang="en-US" sz="2000" b="1" dirty="0"/>
              </a:p>
              <a:p>
                <a:pPr lvl="1"/>
                <a:endParaRPr lang="en-US" sz="20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≝</m:t>
                      </m:r>
                      <m:d>
                        <m:dPr>
                          <m:begChr m:val="["/>
                          <m:endChr m:val="|"/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</m:e>
                          </m:d>
                        </m:e>
                      </m:d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]</m:t>
                      </m:r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0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0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000" dirty="0"/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0" i="1" dirty="0">
                  <a:latin typeface="Cambria Math" panose="02040503050406030204" pitchFamily="18" charset="0"/>
                </a:endParaRPr>
              </a:p>
              <a:p>
                <a:pPr lvl="1"/>
                <a:endParaRPr lang="en-US" sz="2000" b="1" dirty="0"/>
              </a:p>
              <a:p>
                <a:pPr lvl="1"/>
                <a:r>
                  <a:rPr lang="en-US" sz="2000" b="1" dirty="0"/>
                  <a:t>Convergence</a:t>
                </a:r>
                <a:r>
                  <a:rPr lang="en-US" sz="2000" b="0" dirty="0"/>
                  <a:t>: </a:t>
                </a:r>
                <a:r>
                  <a:rPr lang="en-US" sz="2000" dirty="0"/>
                  <a:t>Updates converge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sz="2000" dirty="0"/>
                  <a:t> for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r>
                  <a:rPr lang="en-US" sz="2000" dirty="0"/>
                  <a:t> iterations.</a:t>
                </a:r>
                <a:br>
                  <a:rPr lang="en-US" sz="2000" dirty="0"/>
                </a:br>
                <a:r>
                  <a:rPr lang="en-US" sz="2000" dirty="0"/>
                  <a:t>Reason is on the next slide.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25F1F25-389C-B9C9-77EC-6351FB4FE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732419" cy="5120418"/>
              </a:xfrm>
              <a:blipFill>
                <a:blip r:embed="rId3"/>
                <a:stretch>
                  <a:fillRect l="-1025" t="-23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92891670-5E19-0B92-2000-67EB986C67EA}"/>
              </a:ext>
            </a:extLst>
          </p:cNvPr>
          <p:cNvGrpSpPr/>
          <p:nvPr/>
        </p:nvGrpSpPr>
        <p:grpSpPr>
          <a:xfrm>
            <a:off x="3338818" y="4633526"/>
            <a:ext cx="4981697" cy="730954"/>
            <a:chOff x="2344485" y="3098314"/>
            <a:chExt cx="1813961" cy="730954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C6BB2930-2803-7CC6-BE5E-4F581F3D8212}"/>
                </a:ext>
              </a:extLst>
            </p:cNvPr>
            <p:cNvSpPr/>
            <p:nvPr/>
          </p:nvSpPr>
          <p:spPr>
            <a:xfrm rot="5400000">
              <a:off x="3099931" y="2531679"/>
              <a:ext cx="257767" cy="1391038"/>
            </a:xfrm>
            <a:prstGeom prst="righ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0F03579-6BB3-CB46-DAC5-72EC42C594FC}"/>
                </a:ext>
              </a:extLst>
            </p:cNvPr>
            <p:cNvSpPr txBox="1"/>
            <p:nvPr/>
          </p:nvSpPr>
          <p:spPr>
            <a:xfrm>
              <a:off x="2344485" y="3306048"/>
              <a:ext cx="181396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In DP called “expected update.”</a:t>
              </a:r>
              <a:br>
                <a:rPr lang="en-US" sz="1400" dirty="0"/>
              </a:br>
              <a:r>
                <a:rPr lang="en-US" sz="1400" dirty="0"/>
                <a:t>Uses the expectation over all possible actions and next states.</a:t>
              </a: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D5FCA8-6ACA-3C79-36FA-E785B877518C}"/>
              </a:ext>
            </a:extLst>
          </p:cNvPr>
          <p:cNvGrpSpPr/>
          <p:nvPr/>
        </p:nvGrpSpPr>
        <p:grpSpPr>
          <a:xfrm>
            <a:off x="8930583" y="4867978"/>
            <a:ext cx="2854818" cy="1480504"/>
            <a:chOff x="8867761" y="4764111"/>
            <a:chExt cx="2854818" cy="1480504"/>
          </a:xfrm>
        </p:grpSpPr>
        <p:grpSp>
          <p:nvGrpSpPr>
            <p:cNvPr id="8" name="Group 7" descr="Updating the value function using iterative Bellman updates.">
              <a:extLst>
                <a:ext uri="{FF2B5EF4-FFF2-40B4-BE49-F238E27FC236}">
                  <a16:creationId xmlns:a16="http://schemas.microsoft.com/office/drawing/2014/main" id="{E042F5F5-5CB0-3535-780C-93DC3965B4B3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1876D76D-10B4-4679-F653-BD6BA18B286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CD2E66AA-EA36-8916-48A7-F5C017DA696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A915BDCA-A78B-A713-EF2C-BD76D59CE4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9046C63F-C083-8CE3-5B67-AD0FC59C20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FA9CADED-6B11-F60E-3E70-35BC1558002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2124ACB0-C3FA-2FAA-37B1-C6EECFECCE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9FFAF23B-1B2A-B56C-21FE-4753439D8E5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6147F0A6-B8EB-E05B-C1C0-350546463BA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15DA345C-A981-1A04-9E3B-9233BA91B30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89DB2870-24A4-433E-3096-F45510D7F2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A226FBF-E15E-0A93-5374-77CBC09832B9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D6C0487-07CF-0018-3062-50B52F2A7AAD}"/>
              </a:ext>
            </a:extLst>
          </p:cNvPr>
          <p:cNvGrpSpPr/>
          <p:nvPr/>
        </p:nvGrpSpPr>
        <p:grpSpPr>
          <a:xfrm>
            <a:off x="8464259" y="1342160"/>
            <a:ext cx="3325726" cy="2180896"/>
            <a:chOff x="8464259" y="1342160"/>
            <a:chExt cx="3325726" cy="2180896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E32527A9-170C-6824-B9CF-D3911C12D2CB}"/>
                </a:ext>
              </a:extLst>
            </p:cNvPr>
            <p:cNvSpPr txBox="1"/>
            <p:nvPr/>
          </p:nvSpPr>
          <p:spPr>
            <a:xfrm>
              <a:off x="8956148" y="1342160"/>
              <a:ext cx="2437818" cy="33855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600" dirty="0"/>
                <a:t>Sweep the state space</a:t>
              </a:r>
            </a:p>
          </p:txBody>
        </p:sp>
        <p:pic>
          <p:nvPicPr>
            <p:cNvPr id="10" name="Picture 2">
              <a:extLst>
                <a:ext uri="{FF2B5EF4-FFF2-40B4-BE49-F238E27FC236}">
                  <a16:creationId xmlns:a16="http://schemas.microsoft.com/office/drawing/2014/main" id="{AA982B42-2673-74EA-CFA0-028006FCF61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464259" y="1838913"/>
              <a:ext cx="3325726" cy="16841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</p:spTree>
    <p:extLst>
      <p:ext uri="{BB962C8B-B14F-4D97-AF65-F5344CB8AC3E}">
        <p14:creationId xmlns:p14="http://schemas.microsoft.com/office/powerpoint/2010/main" val="1313034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C72B55-524F-2A13-6BD8-9A03EF8EA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Convergence of Iterative Policy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8581869" cy="318965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en-US" dirty="0"/>
                  <a:t>The Bellman update can be rewritten as an operator:</a:t>
                </a:r>
                <a:br>
                  <a:rPr lang="en-US" dirty="0"/>
                </a:br>
                <a:r>
                  <a:rPr lang="en-US" b="1" dirty="0"/>
                  <a:t>Bellman Expectation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nary>
                        <m:naryPr>
                          <m:chr m:val="∑"/>
                          <m:supHide m:val="on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The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dirty="0"/>
                  <a:t>-contracting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as its fixed point:</a:t>
                </a:r>
                <a:br>
                  <a:rPr lang="en-US" dirty="0"/>
                </a:br>
                <a:r>
                  <a:rPr lang="en-US" dirty="0"/>
                  <a:t>(see textbook for derivation)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 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  <m:d>
                            <m:dPr>
                              <m:begChr m:val="‖"/>
                              <m:endChr m:val="‖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</m:d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for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any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 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&lt;1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FC648E6-02D2-1E64-6265-DB7D1C1179F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8581869" cy="3189659"/>
              </a:xfrm>
              <a:blipFill>
                <a:blip r:embed="rId2"/>
                <a:stretch>
                  <a:fillRect l="-640" t="-32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/>
              <p:nvPr/>
            </p:nvSpPr>
            <p:spPr>
              <a:xfrm>
                <a:off x="955193" y="5312558"/>
                <a:ext cx="4051521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This means the largest difference (infinity norm) will be reduced by applying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, leading to convergence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</m:oMath>
                </a14:m>
                <a:r>
                  <a:rPr lang="en-US" dirty="0"/>
                  <a:t> when is applied many times.</a:t>
                </a:r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5515D800-FF17-B0C5-3048-BCF34084F05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5193" y="5312558"/>
                <a:ext cx="4051521" cy="1214547"/>
              </a:xfrm>
              <a:prstGeom prst="wedgeRoundRectCallout">
                <a:avLst>
                  <a:gd name="adj1" fmla="val 17160"/>
                  <a:gd name="adj2" fmla="val -122557"/>
                  <a:gd name="adj3" fmla="val 16667"/>
                </a:avLst>
              </a:prstGeom>
              <a:blipFill>
                <a:blip r:embed="rId3"/>
                <a:stretch>
                  <a:fillRect b="-37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32C5A7CC-4FA8-C473-6FA9-CC4B56CECEA4}"/>
              </a:ext>
            </a:extLst>
          </p:cNvPr>
          <p:cNvSpPr/>
          <p:nvPr/>
        </p:nvSpPr>
        <p:spPr>
          <a:xfrm>
            <a:off x="7547488" y="5278327"/>
            <a:ext cx="3363494" cy="1214547"/>
          </a:xfrm>
          <a:prstGeom prst="wedgeRoundRectCallout">
            <a:avLst>
              <a:gd name="adj1" fmla="val -46485"/>
              <a:gd name="adj2" fmla="val -12272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Convergence is guaranteed if the discount factor is strictly smaller than 1!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/>
              <p:nvPr/>
            </p:nvSpPr>
            <p:spPr>
              <a:xfrm>
                <a:off x="9229235" y="1195993"/>
                <a:ext cx="2227288" cy="2084225"/>
              </a:xfrm>
              <a:prstGeom prst="rect">
                <a:avLst/>
              </a:prstGeom>
            </p:spPr>
            <p:style>
              <a:lnRef idx="2">
                <a:schemeClr val="accent3"/>
              </a:lnRef>
              <a:fillRef idx="1">
                <a:schemeClr val="lt1"/>
              </a:fillRef>
              <a:effectRef idx="0">
                <a:schemeClr val="accent3"/>
              </a:effectRef>
              <a:fontRef idx="minor">
                <a:schemeClr val="dk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Notation:</a:t>
                </a: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sz="16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600" dirty="0"/>
                  <a:t> is the new value function after applying the operator. We could write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sz="1600" b="0" dirty="0"/>
              </a:p>
              <a:p>
                <a:endParaRPr lang="en-US" sz="1600" dirty="0"/>
              </a:p>
              <a:p>
                <a:r>
                  <a:rPr lang="en-US" sz="1600" dirty="0"/>
                  <a:t>Note: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r>
                        <a:rPr lang="en-US" sz="16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600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6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6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sz="16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E207778-6483-F070-5EC6-C6BD88D3F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9235" y="1195993"/>
                <a:ext cx="2227288" cy="2084225"/>
              </a:xfrm>
              <a:prstGeom prst="rect">
                <a:avLst/>
              </a:prstGeom>
              <a:blipFill>
                <a:blip r:embed="rId4"/>
                <a:stretch>
                  <a:fillRect l="-1359" t="-58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7">
            <a:extLst>
              <a:ext uri="{FF2B5EF4-FFF2-40B4-BE49-F238E27FC236}">
                <a16:creationId xmlns:a16="http://schemas.microsoft.com/office/drawing/2014/main" id="{73DFF17E-DF67-BABC-A51D-6F73F6245657}"/>
              </a:ext>
            </a:extLst>
          </p:cNvPr>
          <p:cNvGrpSpPr/>
          <p:nvPr/>
        </p:nvGrpSpPr>
        <p:grpSpPr>
          <a:xfrm>
            <a:off x="9065494" y="3469270"/>
            <a:ext cx="2854818" cy="1480504"/>
            <a:chOff x="8867761" y="4764111"/>
            <a:chExt cx="2854818" cy="1480504"/>
          </a:xfrm>
        </p:grpSpPr>
        <p:grpSp>
          <p:nvGrpSpPr>
            <p:cNvPr id="9" name="Group 8" descr="Updating the value function using iterative Bellman updates.">
              <a:extLst>
                <a:ext uri="{FF2B5EF4-FFF2-40B4-BE49-F238E27FC236}">
                  <a16:creationId xmlns:a16="http://schemas.microsoft.com/office/drawing/2014/main" id="{5E13A197-79F1-6CAE-0A97-FAA7508CBCC7}"/>
                </a:ext>
              </a:extLst>
            </p:cNvPr>
            <p:cNvGrpSpPr/>
            <p:nvPr/>
          </p:nvGrpSpPr>
          <p:grpSpPr>
            <a:xfrm>
              <a:off x="8867761" y="4764111"/>
              <a:ext cx="2854818" cy="1428805"/>
              <a:chOff x="9337182" y="2229868"/>
              <a:chExt cx="2854818" cy="1428805"/>
            </a:xfrm>
          </p:grpSpPr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A7CFF6D-44E5-4AC6-F8FA-305C74E68F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FC62ADE9-9B2E-0CE9-B525-28B9E250FACF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2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092683"/>
                    <a:ext cx="766996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58658A5E-4BF3-F495-C114-E6EA460FC8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4" name="Arc 13">
                <a:extLst>
                  <a:ext uri="{FF2B5EF4-FFF2-40B4-BE49-F238E27FC236}">
                    <a16:creationId xmlns:a16="http://schemas.microsoft.com/office/drawing/2014/main" id="{8C2E7F1D-DC32-A251-BB28-41567AFC7C7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5" name="Arc 14">
                <a:extLst>
                  <a:ext uri="{FF2B5EF4-FFF2-40B4-BE49-F238E27FC236}">
                    <a16:creationId xmlns:a16="http://schemas.microsoft.com/office/drawing/2014/main" id="{7026F178-8BD0-9B6E-1868-851FF19E16D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6" name="Arc 15">
                <a:extLst>
                  <a:ext uri="{FF2B5EF4-FFF2-40B4-BE49-F238E27FC236}">
                    <a16:creationId xmlns:a16="http://schemas.microsoft.com/office/drawing/2014/main" id="{57088D6C-4C8C-FE23-F85D-8685A8BA96A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33B57A32-72F6-077F-22AE-C34A118F7D55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7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1223FDB0-EDE1-D3F8-B49E-7C42FE2277C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8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4FB5ACCD-0701-2FB2-F78E-42498C3867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20" name="TextBox 35">
                <a:extLst>
                  <a:ext uri="{FF2B5EF4-FFF2-40B4-BE49-F238E27FC236}">
                    <a16:creationId xmlns:a16="http://schemas.microsoft.com/office/drawing/2014/main" id="{0BA13DE3-9692-0A72-42C2-2997B4BD90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EDF9F97-99C7-C914-8056-5CB2B24BFC7D}"/>
                </a:ext>
              </a:extLst>
            </p:cNvPr>
            <p:cNvSpPr txBox="1"/>
            <p:nvPr/>
          </p:nvSpPr>
          <p:spPr>
            <a:xfrm>
              <a:off x="9189345" y="5967616"/>
              <a:ext cx="197878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Distance means difference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570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978EC-0ABA-0841-5F8F-F9F724EE99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Iterative Policy Evaluation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E571EE0-04FA-AFEF-D4C0-742C0CA1C6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3441" y="1614234"/>
            <a:ext cx="8545118" cy="362953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/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Bellman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400" dirty="0"/>
                  <a:t>: </a:t>
                </a:r>
                <a:br>
                  <a:rPr lang="en-US" sz="1400" dirty="0"/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p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sSub>
                        <m:sSub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4FDB9947-9818-7FF7-6A8C-58889DDE4B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8712" y="3329532"/>
                <a:ext cx="1947462" cy="593313"/>
              </a:xfrm>
              <a:prstGeom prst="wedgeRoundRectCallout">
                <a:avLst>
                  <a:gd name="adj1" fmla="val -76118"/>
                  <a:gd name="adj2" fmla="val 99041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/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dirty="0"/>
                  <a:t>Stop when value function changes little:</a:t>
                </a:r>
                <a:br>
                  <a:rPr lang="en-US" sz="1400" b="0" i="0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e>
                                <m:sup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en-US" sz="1400" dirty="0"/>
              </a:p>
              <a:p>
                <a:pPr algn="ctr"/>
                <a:r>
                  <a:rPr lang="en-US" sz="1400" dirty="0"/>
                  <a:t>It can be shown that the error is bounded: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‖"/>
                              <m:endChr m:val="‖"/>
                              <m:ctrlPr>
                                <a:rPr lang="en-US" sz="140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14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</m:sSub>
                      <m:r>
                        <a:rPr lang="en-US" sz="1400" b="0" i="1" smtClean="0">
                          <a:latin typeface="Cambria Math" panose="02040503050406030204" pitchFamily="18" charset="0"/>
                        </a:rPr>
                        <m:t>&lt;</m:t>
                      </m:r>
                      <m:f>
                        <m:f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𝛾</m:t>
                          </m:r>
                        </m:den>
                      </m:f>
                    </m:oMath>
                  </m:oMathPara>
                </a14:m>
                <a:endParaRPr lang="en-US" sz="1400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A1E667CB-0634-45C9-45D9-EAFB5DCCC4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99481" y="5381209"/>
                <a:ext cx="3608738" cy="1111665"/>
              </a:xfrm>
              <a:prstGeom prst="wedgeRoundRectCallout">
                <a:avLst>
                  <a:gd name="adj1" fmla="val -35573"/>
                  <a:gd name="adj2" fmla="val -112651"/>
                  <a:gd name="adj3" fmla="val 16667"/>
                </a:avLst>
              </a:prstGeom>
              <a:blipFill>
                <a:blip r:embed="rId4"/>
                <a:stretch>
                  <a:fillRect b="-1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/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0" dirty="0"/>
                  <a:t>Notation: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sz="1400" dirty="0"/>
                  <a:t> is the tabular estimate of 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en-US" sz="1400" dirty="0"/>
              </a:p>
            </p:txBody>
          </p:sp>
        </mc:Choice>
        <mc:Fallback xmlns="">
          <p:sp>
            <p:nvSpPr>
              <p:cNvPr id="7" name="Speech Bubble: Rectangle with Corners Rounded 6">
                <a:extLst>
                  <a:ext uri="{FF2B5EF4-FFF2-40B4-BE49-F238E27FC236}">
                    <a16:creationId xmlns:a16="http://schemas.microsoft.com/office/drawing/2014/main" id="{DC293BB5-29C7-EBCB-3BD0-962870DC2F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827541"/>
                <a:ext cx="1947462" cy="593313"/>
              </a:xfrm>
              <a:prstGeom prst="wedgeRoundRectCallout">
                <a:avLst>
                  <a:gd name="adj1" fmla="val -99057"/>
                  <a:gd name="adj2" fmla="val 119041"/>
                  <a:gd name="adj3" fmla="val 16667"/>
                </a:avLst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/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If we stop policy evaluation early (after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600" dirty="0"/>
                  <a:t> iterations) then it is called </a:t>
                </a:r>
                <a:r>
                  <a:rPr lang="en-US" sz="1600" b="1" dirty="0"/>
                  <a:t>modified policy iteration </a:t>
                </a:r>
                <a:r>
                  <a:rPr lang="en-US" sz="1600" dirty="0"/>
                  <a:t>and we end up with an approximation.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8" name="Rectangle: Rounded Corners 7">
                <a:extLst>
                  <a:ext uri="{FF2B5EF4-FFF2-40B4-BE49-F238E27FC236}">
                    <a16:creationId xmlns:a16="http://schemas.microsoft.com/office/drawing/2014/main" id="{E2583962-6C30-E802-8782-E155488FA65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42397" y="5381209"/>
                <a:ext cx="3212034" cy="1040531"/>
              </a:xfrm>
              <a:prstGeom prst="roundRect">
                <a:avLst/>
              </a:prstGeom>
              <a:blipFill>
                <a:blip r:embed="rId6"/>
                <a:stretch>
                  <a:fillRect t="-2312" r="-189" b="-80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91045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F1CC-10CD-B582-2B11-0A66BEC5A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054114-96CE-D97E-B075-31C454DDA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Control: Policy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62B658-5985-EDF0-1906-5FE3656E56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policy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3777248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BFCE80A-5561-7918-7BB7-41058FE7D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Improvement and the Greedy Policy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7500" lnSpcReduction="20000"/>
              </a:bodyPr>
              <a:lstStyle/>
              <a:p>
                <a:r>
                  <a:rPr lang="en-US" b="1" dirty="0"/>
                  <a:t>Goal</a:t>
                </a:r>
                <a:r>
                  <a:rPr lang="en-US" dirty="0"/>
                  <a:t>: Find a better policy.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Policy improvement</a:t>
                </a:r>
                <a:r>
                  <a:rPr lang="en-US" dirty="0"/>
                  <a:t>: creating a new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dirty="0"/>
                  <a:t> by choosing in each state the best (aka greedy) action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)=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Guarantee</a:t>
                </a:r>
                <a:r>
                  <a:rPr lang="en-US" dirty="0"/>
                  <a:t>: This </a:t>
                </a:r>
                <a:r>
                  <a:rPr lang="en-US" b="1" dirty="0"/>
                  <a:t>greedy policy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dirty="0"/>
                  <a:t> is strictly better unless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 is already optimal.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A53698B-84CA-6CEC-1390-2BE83DC551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96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/>
              <p:nvPr/>
            </p:nvSpPr>
            <p:spPr>
              <a:xfrm>
                <a:off x="838201" y="1897071"/>
                <a:ext cx="10771682" cy="1670842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en-US" sz="2000" b="1" dirty="0"/>
                  <a:t>Policy Improvement Theorem</a:t>
                </a:r>
              </a:p>
              <a:p>
                <a:endParaRPr lang="en-US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d>
                            <m:d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⇒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   </m:t>
                          </m:r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p>
                            <m:s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≥</m:t>
                      </m:r>
                      <m:sSub>
                        <m:sSub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𝜋</m:t>
                          </m:r>
                        </m:sub>
                      </m:sSub>
                      <m:d>
                        <m:dPr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000" i="1">
                          <a:latin typeface="Cambria Math" panose="02040503050406030204" pitchFamily="18" charset="0"/>
                        </a:rPr>
                        <m:t>  ∀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20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𝒮</m:t>
                      </m:r>
                    </m:oMath>
                  </m:oMathPara>
                </a14:m>
                <a:endParaRPr lang="en-US" sz="2000" dirty="0"/>
              </a:p>
              <a:p>
                <a:endParaRPr lang="en-US" sz="2000" dirty="0"/>
              </a:p>
              <a:p>
                <a:r>
                  <a:rPr lang="en-US" sz="2000" dirty="0"/>
                  <a:t>If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the same as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2000" dirty="0"/>
                  <a:t> but has a better action for at least one state then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000" dirty="0"/>
                  <a:t> is strictly better than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FC66EED-553B-0E0F-6F59-A9AF7183D9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1" y="1897071"/>
                <a:ext cx="10771682" cy="1670842"/>
              </a:xfrm>
              <a:prstGeom prst="rect">
                <a:avLst/>
              </a:prstGeom>
              <a:blipFill>
                <a:blip r:embed="rId3"/>
                <a:stretch>
                  <a:fillRect l="-565" t="-1444" b="-50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71635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5F9D9-4282-B818-FCEC-0D021362C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Idea</a:t>
                </a:r>
                <a:r>
                  <a:rPr lang="en-US" dirty="0"/>
                  <a:t>: Create a sequence of monotonically improving policies: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𝑜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</m:groupCh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…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  <m:groupChr>
                        <m:groupChrPr>
                          <m:chr m:val="→"/>
                          <m:vertJc m:val="bot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i="1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groupCh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138641C-75BB-03D4-C701-9095E6E26D1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71389" cy="1383619"/>
              </a:xfrm>
              <a:blipFill>
                <a:blip r:embed="rId2"/>
                <a:stretch>
                  <a:fillRect l="-1113" t="-79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/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groupChr>
                  </m:oMath>
                </a14:m>
                <a:r>
                  <a:rPr lang="en-US" sz="1600" b="0" i="1" dirty="0">
                    <a:latin typeface="Cambria Math" panose="02040503050406030204" pitchFamily="18" charset="0"/>
                  </a:rPr>
                  <a:t> </a:t>
                </a:r>
                <a:r>
                  <a:rPr lang="en-US" sz="1600" dirty="0"/>
                  <a:t>policy eval. step</a:t>
                </a:r>
                <a:r>
                  <a:rPr lang="en-US" sz="1600" b="0" i="1" dirty="0">
                    <a:latin typeface="Cambria Math" panose="02040503050406030204" pitchFamily="18" charset="0"/>
                  </a:rPr>
                  <a:t>  </a:t>
                </a:r>
                <a:endParaRPr lang="en-US" sz="160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groupChr>
                      <m:groupChrPr>
                        <m:chr m:val="→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groupChr>
                  </m:oMath>
                </a14:m>
                <a:r>
                  <a:rPr lang="en-US" sz="1600" dirty="0"/>
                  <a:t> policy improvement step</a:t>
                </a:r>
                <a:r>
                  <a:rPr lang="en-US" sz="1600" i="1" dirty="0">
                    <a:latin typeface="Cambria Math" panose="02040503050406030204" pitchFamily="18" charset="0"/>
                  </a:rPr>
                  <a:t> </a:t>
                </a:r>
                <a:endParaRPr lang="en-US" sz="16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EB2B97-5320-C668-434C-A64C12BB5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30142" y="2098313"/>
                <a:ext cx="2599595" cy="753924"/>
              </a:xfrm>
              <a:prstGeom prst="rect">
                <a:avLst/>
              </a:prstGeom>
              <a:blipFill>
                <a:blip r:embed="rId3"/>
                <a:stretch>
                  <a:fillRect l="-2791" b="-220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Group 5" descr="Policy iteration as a sequence of policy evaluation and policy improvements.">
            <a:extLst>
              <a:ext uri="{FF2B5EF4-FFF2-40B4-BE49-F238E27FC236}">
                <a16:creationId xmlns:a16="http://schemas.microsoft.com/office/drawing/2014/main" id="{5330DBED-05CE-C5CD-1726-3FFBB3C2F0B3}"/>
              </a:ext>
            </a:extLst>
          </p:cNvPr>
          <p:cNvGrpSpPr/>
          <p:nvPr/>
        </p:nvGrpSpPr>
        <p:grpSpPr>
          <a:xfrm>
            <a:off x="9123912" y="3626421"/>
            <a:ext cx="3198391" cy="2284485"/>
            <a:chOff x="9723059" y="2019762"/>
            <a:chExt cx="2494019" cy="2284485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447A44AD-8292-96EC-1994-4950D408FA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9767243" y="2133600"/>
              <a:ext cx="1963017" cy="99059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8" name="TextBox 3">
                  <a:extLst>
                    <a:ext uri="{FF2B5EF4-FFF2-40B4-BE49-F238E27FC236}">
                      <a16:creationId xmlns:a16="http://schemas.microsoft.com/office/drawing/2014/main" id="{19BECD92-8EB4-3F3A-747C-2F7B09A3A737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50082" y="2744954"/>
                  <a:ext cx="766996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r>
                              <m:rPr>
                                <m:lit/>
                              </m:r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sSub>
                              <m:sSubPr>
                                <m:ctrlP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sz="18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sub>
                        </m:sSub>
                        <m:r>
                          <a:rPr lang="en-US" sz="18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9" name="TextBox 13">
                  <a:extLst>
                    <a:ext uri="{FF2B5EF4-FFF2-40B4-BE49-F238E27FC236}">
                      <a16:creationId xmlns:a16="http://schemas.microsoft.com/office/drawing/2014/main" id="{FB9EE7AE-F5DB-6FED-EB86-DEBFF10FC2A3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2391" y="2019762"/>
                  <a:ext cx="395810" cy="39466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E957BD3F-E8AA-B5A0-FC84-59F338DCDE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714409" y="3091219"/>
              <a:ext cx="96282" cy="117892"/>
            </a:xfrm>
            <a:prstGeom prst="ellipse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1" name="TextBox 20">
                  <a:extLst>
                    <a:ext uri="{FF2B5EF4-FFF2-40B4-BE49-F238E27FC236}">
                      <a16:creationId xmlns:a16="http://schemas.microsoft.com/office/drawing/2014/main" id="{0F8E891D-D5E8-ACFF-2493-1B2D9A842592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509673" y="3150165"/>
                  <a:ext cx="67088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8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2" name="TextBox 22">
                  <a:extLst>
                    <a:ext uri="{FF2B5EF4-FFF2-40B4-BE49-F238E27FC236}">
                      <a16:creationId xmlns:a16="http://schemas.microsoft.com/office/drawing/2014/main" id="{855B6615-2A40-D9F1-B014-C079BEA8188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723059" y="3934915"/>
                  <a:ext cx="453512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463B50D4-BD22-4970-434D-879A140DE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740767" y="3202752"/>
              <a:ext cx="1984379" cy="9210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6948348-E14F-E78C-7925-6D07B342DD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/>
            <p:nvPr/>
          </p:nvCxnSpPr>
          <p:spPr>
            <a:xfrm flipV="1">
              <a:off x="9982200" y="2438400"/>
              <a:ext cx="360675" cy="1515404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11A484C5-4702-A9B7-9D77-FC3973E8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0342875" y="2438400"/>
              <a:ext cx="325125" cy="1219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FEB4DCB4-48A5-6E51-B9FE-EF0E9B4BAFF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8000" y="2819400"/>
              <a:ext cx="457200" cy="8382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CB15DB5-D53A-F51F-8727-21F569598D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125200" y="2819400"/>
              <a:ext cx="228600" cy="53340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8" name="Straight Arrow Connector 17">
              <a:extLst>
                <a:ext uri="{FF2B5EF4-FFF2-40B4-BE49-F238E27FC236}">
                  <a16:creationId xmlns:a16="http://schemas.microsoft.com/office/drawing/2014/main" id="{B79E848C-DEE2-2B22-D382-CB1D0AFA62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353800" y="3066584"/>
              <a:ext cx="228600" cy="28621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2F360256-AFD1-C0BB-ABF4-6ED717BE2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/>
          </p:nvCxnSpPr>
          <p:spPr>
            <a:xfrm>
              <a:off x="11582400" y="3086337"/>
              <a:ext cx="98107" cy="11406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sp>
          <p:nvSpPr>
            <p:cNvPr id="20" name="TextBox 56">
              <a:extLst>
                <a:ext uri="{FF2B5EF4-FFF2-40B4-BE49-F238E27FC236}">
                  <a16:creationId xmlns:a16="http://schemas.microsoft.com/office/drawing/2014/main" id="{AFD80097-9184-52DD-89E7-0E2ED869BB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17199066">
              <a:off x="9460902" y="3071193"/>
              <a:ext cx="123674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200" dirty="0"/>
                <a:t>Policy evaluation</a:t>
              </a:r>
            </a:p>
          </p:txBody>
        </p:sp>
        <p:sp>
          <p:nvSpPr>
            <p:cNvPr id="21" name="TextBox 57">
              <a:extLst>
                <a:ext uri="{FF2B5EF4-FFF2-40B4-BE49-F238E27FC236}">
                  <a16:creationId xmlns:a16="http://schemas.microsoft.com/office/drawing/2014/main" id="{17FBEAB6-A067-564C-70A8-D8E9A5A2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 txBox="1"/>
            <p:nvPr/>
          </p:nvSpPr>
          <p:spPr>
            <a:xfrm rot="4406454">
              <a:off x="10019882" y="2910998"/>
              <a:ext cx="1103187" cy="2616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1100" dirty="0"/>
                <a:t>P. improvement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fontScale="85000" lnSpcReduction="2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:r>
                  <a:rPr lang="en-US" b="1" dirty="0"/>
                  <a:t>Guarantees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improvement is guaranteed to improve the policy.</a:t>
                </a:r>
              </a:p>
              <a:p>
                <a:pPr lvl="1"/>
                <a:r>
                  <a:rPr lang="en-US" dirty="0"/>
                  <a:t>Finite MDPs have a finite number of policies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Policy Iteration must </a:t>
                </a:r>
                <a:r>
                  <a:rPr lang="en-US" b="1" dirty="0"/>
                  <a:t>converge</a:t>
                </a:r>
                <a:r>
                  <a:rPr lang="en-US" dirty="0"/>
                  <a:t>!</a:t>
                </a:r>
              </a:p>
              <a:p>
                <a:pPr marL="0" indent="0">
                  <a:buNone/>
                </a:pPr>
                <a:r>
                  <a:rPr lang="en-US" b="1" dirty="0"/>
                  <a:t>Advantages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Policy becomes stable before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is reached.</a:t>
                </a:r>
              </a:p>
              <a:p>
                <a:pPr lvl="1"/>
                <a:r>
                  <a:rPr lang="en-US" dirty="0"/>
                  <a:t>Policy iteration typically converges fast.</a:t>
                </a:r>
              </a:p>
              <a:p>
                <a:pPr marL="0" indent="0">
                  <a:buNone/>
                </a:pPr>
                <a:r>
                  <a:rPr lang="en-US" b="1" dirty="0"/>
                  <a:t>Issue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Policy estimation is computationally expensive! </a:t>
                </a:r>
                <a:br>
                  <a:rPr lang="en-US" dirty="0"/>
                </a:br>
                <a:r>
                  <a:rPr lang="en-US" dirty="0"/>
                  <a:t>Using fewer iterations leads to modified policy iteration.</a:t>
                </a:r>
              </a:p>
            </p:txBody>
          </p:sp>
        </mc:Choice>
        <mc:Fallback xmlns="">
          <p:sp>
            <p:nvSpPr>
              <p:cNvPr id="25" name="Content Placeholder 2">
                <a:extLst>
                  <a:ext uri="{FF2B5EF4-FFF2-40B4-BE49-F238E27FC236}">
                    <a16:creationId xmlns:a16="http://schemas.microsoft.com/office/drawing/2014/main" id="{20B55EFD-EEBE-AE5F-7566-305C5EAE5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6192" y="3292095"/>
                <a:ext cx="7897536" cy="3049982"/>
              </a:xfrm>
              <a:prstGeom prst="rect">
                <a:avLst/>
              </a:prstGeom>
              <a:blipFill>
                <a:blip r:embed="rId8"/>
                <a:stretch>
                  <a:fillRect l="-1236" t="-4400" b="-2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90092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57162-18FD-7F93-177F-3D55B41AE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Policy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BB67C0D-A372-0D64-BB80-32D4D2FCE8E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71181" y="1397000"/>
            <a:ext cx="6849637" cy="4779963"/>
          </a:xfrm>
          <a:prstGeom prst="rect">
            <a:avLst/>
          </a:prstGeom>
        </p:spPr>
      </p:pic>
      <p:sp>
        <p:nvSpPr>
          <p:cNvPr id="3" name="Speech Bubble: Rectangle with Corners Rounded 2">
            <a:extLst>
              <a:ext uri="{FF2B5EF4-FFF2-40B4-BE49-F238E27FC236}">
                <a16:creationId xmlns:a16="http://schemas.microsoft.com/office/drawing/2014/main" id="{DBD8C865-4D7E-35E7-E0FA-305C8DD8611A}"/>
              </a:ext>
            </a:extLst>
          </p:cNvPr>
          <p:cNvSpPr/>
          <p:nvPr/>
        </p:nvSpPr>
        <p:spPr>
          <a:xfrm>
            <a:off x="6330998" y="2506070"/>
            <a:ext cx="3587689" cy="753857"/>
          </a:xfrm>
          <a:prstGeom prst="wedgeRoundRectCallout">
            <a:avLst>
              <a:gd name="adj1" fmla="val -123530"/>
              <a:gd name="adj2" fmla="val 52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Just policy evaluation from before. </a:t>
            </a:r>
            <a:br>
              <a:rPr lang="en-US" sz="1600" dirty="0"/>
            </a:br>
            <a:r>
              <a:rPr lang="en-US" sz="1600" dirty="0"/>
              <a:t>We can also stop this loop early (modified policy iteration).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A8BE2AD8-D811-FC6E-9D2F-35BC6E1C23CB}"/>
              </a:ext>
            </a:extLst>
          </p:cNvPr>
          <p:cNvSpPr/>
          <p:nvPr/>
        </p:nvSpPr>
        <p:spPr>
          <a:xfrm>
            <a:off x="7237254" y="4641802"/>
            <a:ext cx="3683079" cy="557248"/>
          </a:xfrm>
          <a:prstGeom prst="wedgeRoundRectCallout">
            <a:avLst>
              <a:gd name="adj1" fmla="val -57774"/>
              <a:gd name="adj2" fmla="val 87946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Picks the greedy action with the highest Q-value to improve the policy.</a:t>
            </a:r>
          </a:p>
        </p:txBody>
      </p:sp>
    </p:spTree>
    <p:extLst>
      <p:ext uri="{BB962C8B-B14F-4D97-AF65-F5344CB8AC3E}">
        <p14:creationId xmlns:p14="http://schemas.microsoft.com/office/powerpoint/2010/main" val="35471138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89A4790-D161-0E92-E9A9-5BEEA5CF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Control: Value Iteration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5806331-75C8-8E65-5F2F-5059452CA0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Find the optimal value function based on the environment model.</a:t>
            </a:r>
          </a:p>
        </p:txBody>
      </p:sp>
    </p:spTree>
    <p:extLst>
      <p:ext uri="{BB962C8B-B14F-4D97-AF65-F5344CB8AC3E}">
        <p14:creationId xmlns:p14="http://schemas.microsoft.com/office/powerpoint/2010/main" val="5343925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6D9EF-5990-B359-32C3-C72B2C6A06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</p:spPr>
            <p:txBody>
              <a:bodyPr>
                <a:normAutofit fontScale="85000" lnSpcReduction="10000"/>
              </a:bodyPr>
              <a:lstStyle/>
              <a:p>
                <a:r>
                  <a:rPr lang="en-US" sz="2400" dirty="0"/>
                  <a:t>Combines policy improvement and truncated policy evaluation into a single step. This is called the </a:t>
                </a:r>
                <a:r>
                  <a:rPr lang="en-US" sz="2400" b="1" dirty="0"/>
                  <a:t>expected Bellman optimality update</a:t>
                </a:r>
                <a:r>
                  <a:rPr lang="en-US" sz="2400" dirty="0"/>
                  <a:t>.</a:t>
                </a:r>
              </a:p>
              <a:p>
                <a:endParaRPr lang="en-US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≝</m:t>
                      </m:r>
                      <m:func>
                        <m:func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240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  <m:d>
                            <m:dPr>
                              <m:begChr m:val="["/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𝛾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]</m:t>
                          </m:r>
                          <m:r>
                            <m:rPr>
                              <m:nor/>
                            </m:r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aln/>
                        </m:rP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i="1" dirty="0">
                  <a:latin typeface="Cambria Math" panose="02040503050406030204" pitchFamily="18" charset="0"/>
                </a:endParaRPr>
              </a:p>
              <a:p>
                <a:endParaRPr lang="en-US" sz="2400" dirty="0"/>
              </a:p>
              <a:p>
                <a:r>
                  <a:rPr lang="en-US" sz="2400" dirty="0"/>
                  <a:t>Written as the </a:t>
                </a:r>
                <a:r>
                  <a:rPr lang="en-US" sz="2400" b="1" dirty="0"/>
                  <a:t>Bellman optimality operator</a:t>
                </a:r>
                <a:r>
                  <a:rPr lang="en-US" sz="2400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e>
                            <m:sup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limLow>
                        <m:limLow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max</m:t>
                          </m:r>
                        </m:e>
                        <m:lim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</m:lim>
                      </m:limLow>
                      <m:nary>
                        <m:naryPr>
                          <m:chr m:val="∑"/>
                          <m:supHide m:val="on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</m:sub>
                        <m:sup/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endChr m:val="|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)[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𝑟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𝛾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en-US" sz="2400" dirty="0"/>
              </a:p>
              <a:p>
                <a:endParaRPr lang="en-US" sz="2400" b="1" dirty="0"/>
              </a:p>
              <a:p>
                <a:r>
                  <a:rPr lang="en-US" sz="2400" b="1" dirty="0"/>
                  <a:t>Guarantee</a:t>
                </a:r>
                <a:r>
                  <a:rPr lang="en-US" sz="2400" dirty="0"/>
                  <a:t>: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sz="2400" dirty="0"/>
                  <a:t> is a non-linear operator, but it is also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2400" dirty="0"/>
                  <a:t>-contracting. The Sequence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2400" dirty="0"/>
                  <a:t> converges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sz="2400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3D67A5-12C4-DAB0-8869-5122697A55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7990869" cy="4759161"/>
              </a:xfrm>
              <a:blipFill>
                <a:blip r:embed="rId2"/>
                <a:stretch>
                  <a:fillRect l="-687" t="-1665" r="-6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5DDD6752-393B-5DE4-89C9-FB6C1BD42C20}"/>
              </a:ext>
            </a:extLst>
          </p:cNvPr>
          <p:cNvGrpSpPr/>
          <p:nvPr/>
        </p:nvGrpSpPr>
        <p:grpSpPr>
          <a:xfrm>
            <a:off x="8975345" y="3682639"/>
            <a:ext cx="2854818" cy="2270823"/>
            <a:chOff x="9337182" y="2229868"/>
            <a:chExt cx="2854818" cy="2270823"/>
          </a:xfrm>
        </p:grpSpPr>
        <p:grpSp>
          <p:nvGrpSpPr>
            <p:cNvPr id="5" name="Group 4" descr="Updating the value function using iterative Bellman updates.">
              <a:extLst>
                <a:ext uri="{FF2B5EF4-FFF2-40B4-BE49-F238E27FC236}">
                  <a16:creationId xmlns:a16="http://schemas.microsoft.com/office/drawing/2014/main" id="{63FD7C4D-64E2-3FEF-F62C-382BE07E89C8}"/>
                </a:ext>
              </a:extLst>
            </p:cNvPr>
            <p:cNvGrpSpPr/>
            <p:nvPr/>
          </p:nvGrpSpPr>
          <p:grpSpPr>
            <a:xfrm>
              <a:off x="9337182" y="2229868"/>
              <a:ext cx="2854818" cy="1428805"/>
              <a:chOff x="9337182" y="2229868"/>
              <a:chExt cx="2854818" cy="1428805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3024366-3B9C-8541-0D28-708BBC7AE6C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337182" y="3124199"/>
                <a:ext cx="2393078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9" name="TextBox 8">
                    <a:extLst>
                      <a:ext uri="{FF2B5EF4-FFF2-40B4-BE49-F238E27FC236}">
                        <a16:creationId xmlns:a16="http://schemas.microsoft.com/office/drawing/2014/main" id="{115AA05C-2180-0AF6-A384-9D75BED15ED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425004" y="3125590"/>
                    <a:ext cx="766996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0" name="Arc 9">
                <a:extLst>
                  <a:ext uri="{FF2B5EF4-FFF2-40B4-BE49-F238E27FC236}">
                    <a16:creationId xmlns:a16="http://schemas.microsoft.com/office/drawing/2014/main" id="{830A3C56-435D-BEBE-B83F-3BA9F9E016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9760371" y="2649297"/>
                <a:ext cx="574339" cy="1009376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1" name="Arc 10">
                <a:extLst>
                  <a:ext uri="{FF2B5EF4-FFF2-40B4-BE49-F238E27FC236}">
                    <a16:creationId xmlns:a16="http://schemas.microsoft.com/office/drawing/2014/main" id="{3FB9398F-7C22-1F4D-9C1A-D846D19FEED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334710" y="2614308"/>
                <a:ext cx="765785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2" name="Arc 11">
                <a:extLst>
                  <a:ext uri="{FF2B5EF4-FFF2-40B4-BE49-F238E27FC236}">
                    <a16:creationId xmlns:a16="http://schemas.microsoft.com/office/drawing/2014/main" id="{72229F87-12B2-362D-80BC-031A6CAAE4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100495" y="2627412"/>
                <a:ext cx="220048" cy="1019782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3" name="Arc 12">
                <a:extLst>
                  <a:ext uri="{FF2B5EF4-FFF2-40B4-BE49-F238E27FC236}">
                    <a16:creationId xmlns:a16="http://schemas.microsoft.com/office/drawing/2014/main" id="{936EFA66-6C09-679B-C4C9-F361F262C3E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308888" y="2648522"/>
                <a:ext cx="417487" cy="951353"/>
              </a:xfrm>
              <a:prstGeom prst="arc">
                <a:avLst>
                  <a:gd name="adj1" fmla="val 10871568"/>
                  <a:gd name="adj2" fmla="val 0"/>
                </a:avLst>
              </a:prstGeom>
              <a:ln w="19050" cap="flat" cmpd="sng" algn="ctr">
                <a:solidFill>
                  <a:schemeClr val="accent6"/>
                </a:solidFill>
                <a:prstDash val="solid"/>
                <a:round/>
                <a:headEnd type="none" w="med" len="med"/>
                <a:tailEnd type="arrow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4" name="TextBox 29">
                    <a:extLst>
                      <a:ext uri="{FF2B5EF4-FFF2-40B4-BE49-F238E27FC236}">
                        <a16:creationId xmlns:a16="http://schemas.microsoft.com/office/drawing/2014/main" id="{6DB673C8-2425-685A-8CBE-35EDDCA1EB9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564903" y="3086337"/>
                    <a:ext cx="395810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>
                    <a:defPPr>
                      <a:defRPr lang="en-US"/>
                    </a:defPPr>
                    <a:lvl1pPr marL="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1pPr>
                    <a:lvl2pPr marL="457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2pPr>
                    <a:lvl3pPr marL="914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3pPr>
                    <a:lvl4pPr marL="1371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4pPr>
                    <a:lvl5pPr marL="18288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5pPr>
                    <a:lvl6pPr marL="22860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6pPr>
                    <a:lvl7pPr marL="27432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7pPr>
                    <a:lvl8pPr marL="32004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8pPr>
                    <a:lvl9pPr marL="3657600" algn="l" defTabSz="914400" rtl="0" eaLnBrk="1" latinLnBrk="0" hangingPunct="1">
                      <a:defRPr sz="1800" kern="120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defRPr>
                    </a:lvl9pPr>
                  </a:lstStyle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5" name="TextBox 30">
                    <a:extLst>
                      <a:ext uri="{FF2B5EF4-FFF2-40B4-BE49-F238E27FC236}">
                        <a16:creationId xmlns:a16="http://schemas.microsoft.com/office/drawing/2014/main" id="{56DA2FE2-AC26-7B66-B5BD-7064ECD50CE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066895" y="3115740"/>
                    <a:ext cx="395810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4AF4F629-36FB-BF7C-2361-1AFA669F5F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1680507" y="3066584"/>
                <a:ext cx="127995" cy="117892"/>
              </a:xfrm>
              <a:prstGeom prst="ellipse">
                <a:avLst/>
              </a:prstGeom>
            </p:spPr>
            <p:style>
              <a:lnRef idx="2">
                <a:schemeClr val="accent6">
                  <a:shade val="15000"/>
                </a:schemeClr>
              </a:lnRef>
              <a:fillRef idx="1">
                <a:schemeClr val="accent6"/>
              </a:fillRef>
              <a:effectRef idx="0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en-US"/>
              </a:p>
            </p:txBody>
          </p:sp>
          <p:sp>
            <p:nvSpPr>
              <p:cNvPr id="17" name="TextBox 35">
                <a:extLst>
                  <a:ext uri="{FF2B5EF4-FFF2-40B4-BE49-F238E27FC236}">
                    <a16:creationId xmlns:a16="http://schemas.microsoft.com/office/drawing/2014/main" id="{0C0182D5-6E45-5881-FEB0-C4755A1551A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 txBox="1"/>
              <p:nvPr/>
            </p:nvSpPr>
            <p:spPr>
              <a:xfrm>
                <a:off x="9337182" y="2229868"/>
                <a:ext cx="1796338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sz="1600" dirty="0"/>
                  <a:t>Bellman updates</a:t>
                </a:r>
              </a:p>
            </p:txBody>
          </p:sp>
        </p:grpSp>
        <p:sp>
          <p:nvSpPr>
            <p:cNvPr id="6" name="Arrow: Down 5">
              <a:extLst>
                <a:ext uri="{FF2B5EF4-FFF2-40B4-BE49-F238E27FC236}">
                  <a16:creationId xmlns:a16="http://schemas.microsoft.com/office/drawing/2014/main" id="{489C2DDD-1EBF-335C-9781-0FE90D3CF1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1582400" y="3481251"/>
              <a:ext cx="248436" cy="388563"/>
            </a:xfrm>
            <a:prstGeom prst="downArrow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/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>
                  <a:defPPr>
                    <a:defRPr lang="en-US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9pPr>
                </a:lstStyle>
                <a:p>
                  <a:pPr algn="ctr"/>
                  <a:r>
                    <a:rPr lang="en-US" sz="1600" dirty="0"/>
                    <a:t>Extract</a:t>
                  </a:r>
                  <a:br>
                    <a:rPr lang="en-US" sz="1600" dirty="0"/>
                  </a:br>
                  <a:r>
                    <a:rPr lang="en-US" sz="1600" dirty="0"/>
                    <a:t> greedy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p>
                          <m: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7" name="TextBox 37">
                  <a:extLst>
                    <a:ext uri="{FF2B5EF4-FFF2-40B4-BE49-F238E27FC236}">
                      <a16:creationId xmlns:a16="http://schemas.microsoft.com/office/drawing/2014/main" id="{1B940FEA-C9FB-9A35-6062-2E30E7F88345}"/>
                    </a:ext>
                    <a:ext uri="{C183D7F6-B498-43B3-948B-1728B52AA6E4}">
                      <adec:decorative xmlns:adec="http://schemas.microsoft.com/office/drawing/2017/decorative" val="1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028594" y="3915916"/>
                  <a:ext cx="1107611" cy="584775"/>
                </a:xfrm>
                <a:prstGeom prst="rect">
                  <a:avLst/>
                </a:prstGeom>
                <a:blipFill>
                  <a:blip r:embed="rId6"/>
                  <a:stretch>
                    <a:fillRect t="-3125" b="-1250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/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limLow>
                      <m:limLow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limLowPr>
                      <m:e>
                        <m:r>
                          <m:rPr>
                            <m:sty m:val="p"/>
                          </m:rPr>
                          <a:rPr lang="en-US" sz="1600" smtClean="0">
                            <a:latin typeface="Cambria Math" panose="02040503050406030204" pitchFamily="18" charset="0"/>
                          </a:rPr>
                          <m:t>max</m:t>
                        </m:r>
                      </m:e>
                      <m:lim>
                        <m:r>
                          <m:rPr>
                            <m:sty m:val="p"/>
                          </m:rPr>
                          <a:rPr lang="en-US" sz="1600" b="0" i="0" smtClean="0">
                            <a:latin typeface="Cambria Math" panose="02040503050406030204" pitchFamily="18" charset="0"/>
                          </a:rPr>
                          <m:t>a</m:t>
                        </m:r>
                      </m:lim>
                    </m:limLow>
                  </m:oMath>
                </a14:m>
                <a:r>
                  <a:rPr lang="en-US" sz="1600" dirty="0"/>
                  <a:t> … policy improvement</a:t>
                </a:r>
              </a:p>
              <a:p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</m:oMath>
                </a14:m>
                <a:r>
                  <a:rPr lang="en-US" sz="1600" dirty="0"/>
                  <a:t>       … truncated policy </a:t>
                </a:r>
                <a:br>
                  <a:rPr lang="en-US" sz="1600" dirty="0"/>
                </a:br>
                <a:r>
                  <a:rPr lang="en-US" sz="1600" dirty="0"/>
                  <a:t>                evaluation (1 step)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B3954ED2-5491-8A3F-7138-9F0DEDA172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1667" y="2248185"/>
                <a:ext cx="2988896" cy="906915"/>
              </a:xfrm>
              <a:prstGeom prst="rect">
                <a:avLst/>
              </a:prstGeom>
              <a:blipFill>
                <a:blip r:embed="rId7"/>
                <a:stretch>
                  <a:fillRect t="-658" b="-59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368126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4">
            <a:extLst>
              <a:ext uri="{FF2B5EF4-FFF2-40B4-BE49-F238E27FC236}">
                <a16:creationId xmlns:a16="http://schemas.microsoft.com/office/drawing/2014/main" id="{76B44262-ED50-A04F-C5AA-E6A746D0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239" y="1039018"/>
            <a:ext cx="6849637" cy="47799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7C93B2-B8AE-DF85-EA1B-8078C4975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Value Iteration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A7CD4F4-7550-2FF0-26AF-786588E65B5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rcRect l="1659" t="2281"/>
          <a:stretch>
            <a:fillRect/>
          </a:stretch>
        </p:blipFill>
        <p:spPr>
          <a:xfrm>
            <a:off x="4411456" y="3092208"/>
            <a:ext cx="7034263" cy="330766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/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b="0" dirty="0"/>
                  <a:t>Bellman optimality operator:</a:t>
                </a:r>
                <a:br>
                  <a:rPr lang="en-US" sz="1600" b="0" dirty="0"/>
                </a:br>
                <a:r>
                  <a:rPr lang="en-US" sz="1600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sSub>
                      <m:sSub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3" name="Speech Bubble: Rectangle with Corners Rounded 2">
                <a:extLst>
                  <a:ext uri="{FF2B5EF4-FFF2-40B4-BE49-F238E27FC236}">
                    <a16:creationId xmlns:a16="http://schemas.microsoft.com/office/drawing/2014/main" id="{9540CE52-AAD7-F286-13F5-1B8D753FE1D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956" y="4239859"/>
                <a:ext cx="2889785" cy="569466"/>
              </a:xfrm>
              <a:prstGeom prst="wedgeRoundRectCallout">
                <a:avLst>
                  <a:gd name="adj1" fmla="val -66744"/>
                  <a:gd name="adj2" fmla="val 62281"/>
                  <a:gd name="adj3" fmla="val 16667"/>
                </a:avLst>
              </a:prstGeom>
              <a:blipFill>
                <a:blip r:embed="rId4"/>
                <a:stretch>
                  <a:fillRect t="-267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Speech Bubble: Rectangle with Corners Rounded 5">
            <a:extLst>
              <a:ext uri="{FF2B5EF4-FFF2-40B4-BE49-F238E27FC236}">
                <a16:creationId xmlns:a16="http://schemas.microsoft.com/office/drawing/2014/main" id="{C94FA055-A74C-A901-CCD7-6A1A7CC80DA2}"/>
              </a:ext>
            </a:extLst>
          </p:cNvPr>
          <p:cNvSpPr/>
          <p:nvPr/>
        </p:nvSpPr>
        <p:spPr>
          <a:xfrm>
            <a:off x="8577442" y="6207869"/>
            <a:ext cx="2667583" cy="384011"/>
          </a:xfrm>
          <a:prstGeom prst="wedgeRoundRectCallout">
            <a:avLst>
              <a:gd name="adj1" fmla="val -75681"/>
              <a:gd name="adj2" fmla="val -48428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Extract the greedy policy.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C0C2CF-3D6C-5FB5-6FAF-5A3C70799FAF}"/>
              </a:ext>
            </a:extLst>
          </p:cNvPr>
          <p:cNvSpPr/>
          <p:nvPr/>
        </p:nvSpPr>
        <p:spPr>
          <a:xfrm>
            <a:off x="1563554" y="3231811"/>
            <a:ext cx="28479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968F04-390C-807C-E196-34BFDCCC50A5}"/>
              </a:ext>
            </a:extLst>
          </p:cNvPr>
          <p:cNvSpPr/>
          <p:nvPr/>
        </p:nvSpPr>
        <p:spPr>
          <a:xfrm>
            <a:off x="1199213" y="4954746"/>
            <a:ext cx="3212243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06B028D-DF2E-6F82-30C8-7142C1BEBEA8}"/>
              </a:ext>
            </a:extLst>
          </p:cNvPr>
          <p:cNvSpPr txBox="1"/>
          <p:nvPr/>
        </p:nvSpPr>
        <p:spPr>
          <a:xfrm>
            <a:off x="1695311" y="3678540"/>
            <a:ext cx="2584388" cy="120032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Combine improvement and modified evaluation (1 iteration only) into a single update.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AAE380-C886-4AD1-501B-DC3FA8D0D18B}"/>
              </a:ext>
            </a:extLst>
          </p:cNvPr>
          <p:cNvSpPr/>
          <p:nvPr/>
        </p:nvSpPr>
        <p:spPr>
          <a:xfrm>
            <a:off x="5114123" y="4899809"/>
            <a:ext cx="3541266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7EDE205F-7A5D-E9BD-56DA-89AC4D034BAD}"/>
              </a:ext>
            </a:extLst>
          </p:cNvPr>
          <p:cNvSpPr/>
          <p:nvPr/>
        </p:nvSpPr>
        <p:spPr>
          <a:xfrm>
            <a:off x="8103956" y="5254892"/>
            <a:ext cx="2667583" cy="474765"/>
          </a:xfrm>
          <a:prstGeom prst="wedgeRoundRectCallout">
            <a:avLst>
              <a:gd name="adj1" fmla="val -141709"/>
              <a:gd name="adj2" fmla="val 1391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b="0" dirty="0"/>
              <a:t>Stopping criterion from policy evaluation</a:t>
            </a:r>
            <a:endParaRPr lang="en-US" sz="16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F357B00-C899-A34F-CC4A-48E9DDA5567A}"/>
              </a:ext>
            </a:extLst>
          </p:cNvPr>
          <p:cNvSpPr/>
          <p:nvPr/>
        </p:nvSpPr>
        <p:spPr>
          <a:xfrm>
            <a:off x="4781862" y="5914693"/>
            <a:ext cx="3729702" cy="300146"/>
          </a:xfrm>
          <a:prstGeom prst="rect">
            <a:avLst/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994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30CFB0-D2B7-437F-8981-207DBA2A81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Code…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BF9353D-E2F6-5C2D-E559-4D7DA584DF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5094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42819D-6D6F-85AF-5816-7FFAE79AF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C33D3AB-3DD4-67C8-8B22-66483B0E48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Generalizing value and policy iteration into a single framework.</a:t>
            </a:r>
          </a:p>
        </p:txBody>
      </p:sp>
    </p:spTree>
    <p:extLst>
      <p:ext uri="{BB962C8B-B14F-4D97-AF65-F5344CB8AC3E}">
        <p14:creationId xmlns:p14="http://schemas.microsoft.com/office/powerpoint/2010/main" val="3911526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863CDC-59B1-7366-BF66-6498BF0BDA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27E42A-9F26-864D-705B-AD1A7F35C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GPI: Generalized Policy Iteration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Steps</a:t>
                </a:r>
              </a:p>
              <a:p>
                <a:pPr lvl="1"/>
                <a:r>
                  <a:rPr lang="en-US" b="1" dirty="0"/>
                  <a:t>Policy evaluation</a:t>
                </a:r>
                <a:r>
                  <a:rPr lang="en-US" dirty="0"/>
                  <a:t>: make the value function consistent with the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Policy improvement</a:t>
                </a:r>
                <a:r>
                  <a:rPr lang="en-US" dirty="0"/>
                  <a:t>: make policy greedy with respect to the current value function estimate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Most DP methods can be described as a special case of GPI:</a:t>
                </a:r>
              </a:p>
              <a:p>
                <a:pPr lvl="1"/>
                <a:r>
                  <a:rPr lang="en-US" b="1" dirty="0"/>
                  <a:t>Policy iteration</a:t>
                </a:r>
                <a:r>
                  <a:rPr lang="en-US" dirty="0"/>
                  <a:t>: each evaluation and improvement step is completed (by a sweep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) before moving on.</a:t>
                </a:r>
              </a:p>
              <a:p>
                <a:pPr lvl="1"/>
                <a:r>
                  <a:rPr lang="en-US" b="1" dirty="0"/>
                  <a:t>Value iteration</a:t>
                </a:r>
                <a:r>
                  <a:rPr lang="en-US" dirty="0"/>
                  <a:t>: uses a single iteration for the policy evaluation step.</a:t>
                </a:r>
              </a:p>
              <a:p>
                <a:pPr lvl="1"/>
                <a:r>
                  <a:rPr lang="en-US" b="1" dirty="0"/>
                  <a:t>Asynchronous DP</a:t>
                </a:r>
                <a:r>
                  <a:rPr lang="en-US" dirty="0"/>
                  <a:t>: Instead of sweeps over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dirty="0"/>
                  <a:t>, updates states in some other order (e.g., focus on states where the value function changed a lot in the last step). This interleaves pol. eval. and pol. Improvement.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All three approaches typically converge to the optimal solution.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39A61E8-38E7-2C6A-1812-C00D57947FA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397330"/>
                <a:ext cx="7223876" cy="4779633"/>
              </a:xfrm>
              <a:blipFill>
                <a:blip r:embed="rId2"/>
                <a:stretch>
                  <a:fillRect l="-928" r="-6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37D4EB40-D8C7-544A-60A9-FB0F86C14D1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38762"/>
          <a:stretch>
            <a:fillRect/>
          </a:stretch>
        </p:blipFill>
        <p:spPr>
          <a:xfrm>
            <a:off x="8760146" y="309335"/>
            <a:ext cx="2682923" cy="262873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49C9802-DC7A-3741-A414-F95D8B5FE1E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0323" y="3585975"/>
            <a:ext cx="3511083" cy="2389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92987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4B189-2BE7-EF8E-90AD-B8D2A5B4A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Issues with DP 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804945" cy="477963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Require perfect knowledge of the model!</a:t>
                </a:r>
              </a:p>
              <a:p>
                <a:pPr marL="0" indent="0">
                  <a:buNone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Space Complexity</a:t>
                </a:r>
                <a:endParaRPr lang="en-US" dirty="0"/>
              </a:p>
              <a:p>
                <a:pPr lvl="1"/>
                <a:r>
                  <a:rPr lang="en-US" dirty="0"/>
                  <a:t>Tabular method: stores the complete value function as tables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. 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Time Complexity</a:t>
                </a:r>
              </a:p>
              <a:p>
                <a:pPr lvl="1"/>
                <a:r>
                  <a:rPr lang="en-US" dirty="0"/>
                  <a:t>Updates repeatedly sweep over the whole state space.</a:t>
                </a:r>
              </a:p>
              <a:p>
                <a:pPr lvl="1"/>
                <a:r>
                  <a:rPr lang="en-US" dirty="0"/>
                  <a:t>Wastes computation by updating states that are not relevant for the optimal behavior. I.e., the optimal policy will never visit them.</a:t>
                </a:r>
              </a:p>
              <a:p>
                <a:pPr lvl="1"/>
                <a:r>
                  <a:rPr lang="en-US" dirty="0"/>
                  <a:t>Tabular methods can not generalize between similar states.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664E2E2-C328-F2E5-08B7-7436CBE7F5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804945" cy="4779633"/>
              </a:xfrm>
              <a:blipFill>
                <a:blip r:embed="rId2"/>
                <a:stretch>
                  <a:fillRect l="-1454" t="-2806" r="-11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Brace 3">
            <a:extLst>
              <a:ext uri="{FF2B5EF4-FFF2-40B4-BE49-F238E27FC236}">
                <a16:creationId xmlns:a16="http://schemas.microsoft.com/office/drawing/2014/main" id="{6339C8F8-48C4-0C07-3B0E-F41FE0B782D3}"/>
              </a:ext>
            </a:extLst>
          </p:cNvPr>
          <p:cNvSpPr/>
          <p:nvPr/>
        </p:nvSpPr>
        <p:spPr>
          <a:xfrm>
            <a:off x="9582325" y="4408415"/>
            <a:ext cx="281031" cy="1103152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7DAF1B-95EB-22B1-1191-7C8BC9E6FAC3}"/>
              </a:ext>
            </a:extLst>
          </p:cNvPr>
          <p:cNvSpPr txBox="1"/>
          <p:nvPr/>
        </p:nvSpPr>
        <p:spPr>
          <a:xfrm>
            <a:off x="9987094" y="4636825"/>
            <a:ext cx="1635854" cy="64633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Asynchronous DP can help</a:t>
            </a:r>
          </a:p>
        </p:txBody>
      </p:sp>
    </p:spTree>
    <p:extLst>
      <p:ext uri="{BB962C8B-B14F-4D97-AF65-F5344CB8AC3E}">
        <p14:creationId xmlns:p14="http://schemas.microsoft.com/office/powerpoint/2010/main" val="24869684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4FA30-1294-3E3D-F7B7-AE5ECD84C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Efficiency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b="1" dirty="0"/>
                  <a:t>Direct Search</a:t>
                </a:r>
                <a:r>
                  <a:rPr lang="en-US" dirty="0"/>
                  <a:t>: In each state we can choose one of the available actions. Search space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𝒜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|</m:t>
                        </m:r>
                      </m:e>
                      <m:sup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exponential</a:t>
                </a:r>
                <a:r>
                  <a:rPr lang="en-US" dirty="0"/>
                  <a:t> in the number of states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b="1" dirty="0"/>
                  <a:t>LP (linear program): </a:t>
                </a:r>
                <a:r>
                  <a:rPr lang="en-US" dirty="0"/>
                  <a:t>Linearize the non-linear Bellman Optimality Equations by introducing constraints for all action/state pairs. Leads to a time complexity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b="1" dirty="0"/>
                  <a:t>DP</a:t>
                </a:r>
                <a:r>
                  <a:rPr lang="en-US" dirty="0"/>
                  <a:t>: Time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𝒮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|)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quadratic</a:t>
                </a:r>
                <a:r>
                  <a:rPr lang="en-US" dirty="0"/>
                  <a:t> in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</m:d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Sparse transition matrices lead to better performance.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b="1" dirty="0"/>
                  <a:t>Conclusion</a:t>
                </a:r>
                <a:r>
                  <a:rPr lang="en-US" dirty="0"/>
                  <a:t>: Search and LP are impractical. The number of actions is typically relatively small. </a:t>
                </a:r>
                <a:r>
                  <a:rPr lang="en-US" b="1" dirty="0"/>
                  <a:t>DP can be used today with millions of states.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665C76A-B55E-DE87-E461-B000ACB291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510672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718276" y="729523"/>
            <a:ext cx="6858000" cy="5398953"/>
          </a:xfrm>
          <a:prstGeom prst="rect">
            <a:avLst/>
          </a:prstGeom>
          <a:ln>
            <a:noFill/>
          </a:ln>
          <a:effectLst>
            <a:outerShdw blurRad="419100" dist="152400" sx="94000" sy="94000" algn="l" rotWithShape="0">
              <a:prstClr val="black">
                <a:alpha val="3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2C52A3-FAA4-BCF8-A90D-D0A2BBA5D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8952" y="785366"/>
            <a:ext cx="4069055" cy="2072853"/>
          </a:xfrm>
        </p:spPr>
        <p:txBody>
          <a:bodyPr anchor="t">
            <a:normAutofit/>
          </a:bodyPr>
          <a:lstStyle/>
          <a:p>
            <a:r>
              <a:rPr lang="en-US" sz="4000" dirty="0"/>
              <a:t>What you need to know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B8B81D-82C4-D9E0-6DED-9C99A065A0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110" b="-1"/>
          <a:stretch>
            <a:fillRect/>
          </a:stretch>
        </p:blipFill>
        <p:spPr bwMode="auto">
          <a:xfrm>
            <a:off x="724708" y="3429000"/>
            <a:ext cx="3951110" cy="2666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</p:spPr>
            <p:txBody>
              <a:bodyPr anchor="ctr"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sz="1600" b="1" dirty="0"/>
                  <a:t>Requirements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Model access</a:t>
                </a:r>
                <a:r>
                  <a:rPr lang="en-US" sz="1600" dirty="0"/>
                  <a:t>: DP methods need access to the </a:t>
                </a:r>
                <a:r>
                  <a:rPr lang="en-US" sz="1600" b="1" dirty="0"/>
                  <a:t>model</a:t>
                </a:r>
                <a:r>
                  <a:rPr lang="en-US" sz="1600" dirty="0"/>
                  <a:t>’s function </a:t>
                </a:r>
                <a14:m>
                  <m:oMath xmlns:m="http://schemas.openxmlformats.org/officeDocument/2006/math">
                    <m:r>
                      <a:rPr lang="en-US" sz="1600" i="1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600" dirty="0"/>
                  <a:t>.</a:t>
                </a:r>
              </a:p>
              <a:p>
                <a:pPr lvl="1"/>
                <a:r>
                  <a:rPr lang="en-US" sz="1600" b="1" dirty="0"/>
                  <a:t>Small discrete state/action space </a:t>
                </a:r>
                <a:r>
                  <a:rPr lang="en-US" sz="1600" dirty="0"/>
                  <a:t>since it is a tabular method.</a:t>
                </a:r>
              </a:p>
              <a:p>
                <a:pPr marL="0" indent="0">
                  <a:buNone/>
                </a:pPr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Tasks</a:t>
                </a:r>
                <a:r>
                  <a:rPr lang="en-US" sz="1600" dirty="0"/>
                  <a:t>:</a:t>
                </a:r>
              </a:p>
              <a:p>
                <a:pPr lvl="1"/>
                <a:r>
                  <a:rPr lang="en-US" sz="1600" b="1" dirty="0"/>
                  <a:t>Prediction</a:t>
                </a:r>
                <a:r>
                  <a:rPr lang="en-US" sz="1600" dirty="0"/>
                  <a:t>: Calculates the value function for a given policy called in DP policy evaluation.</a:t>
                </a:r>
              </a:p>
              <a:p>
                <a:pPr lvl="1"/>
                <a:r>
                  <a:rPr lang="en-US" sz="1600" b="1" dirty="0"/>
                  <a:t>Control</a:t>
                </a:r>
                <a:r>
                  <a:rPr lang="en-US" sz="1600" dirty="0"/>
                  <a:t>: Calculates the optimal policy for an MDP. Is not truly control, but an offline planning method. </a:t>
                </a:r>
              </a:p>
              <a:p>
                <a:endParaRPr lang="en-US" sz="1600" dirty="0"/>
              </a:p>
              <a:p>
                <a:pPr marL="0" indent="0">
                  <a:buNone/>
                </a:pPr>
                <a:r>
                  <a:rPr lang="en-US" sz="1600" b="1" dirty="0"/>
                  <a:t>Approach</a:t>
                </a:r>
                <a:r>
                  <a:rPr lang="en-US" sz="1600" dirty="0"/>
                  <a:t>: </a:t>
                </a:r>
              </a:p>
              <a:p>
                <a:r>
                  <a:rPr lang="en-US" sz="1600" dirty="0"/>
                  <a:t>Convert the recursive Bellman equations into the Belmann update operators and sweep the state space till the optimal solution is found.</a:t>
                </a:r>
              </a:p>
              <a:p>
                <a:pPr lvl="1"/>
                <a:r>
                  <a:rPr lang="en-US" sz="1600" dirty="0"/>
                  <a:t>Expected Bellman update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sz="1600" dirty="0"/>
                  <a:t> vs. Bellman optimality operator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p>
                        <m:r>
                          <a:rPr lang="en-US" sz="1600" b="0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sz="1600" dirty="0"/>
              </a:p>
              <a:p>
                <a:pPr lvl="1"/>
                <a:r>
                  <a:rPr lang="en-US" sz="1600" dirty="0"/>
                  <a:t>Value iteration is a special case of modified policy iteration with a single policy evaluation iteration.</a:t>
                </a:r>
              </a:p>
              <a:p>
                <a:pPr lvl="1"/>
                <a:r>
                  <a:rPr lang="en-US" sz="1600" dirty="0"/>
                  <a:t>Convergence requires either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&lt;1</m:t>
                    </m:r>
                  </m:oMath>
                </a14:m>
                <a:r>
                  <a:rPr lang="en-US" sz="1600" dirty="0"/>
                  <a:t> or a guarantee that the policy will reach a terminal state.</a:t>
                </a:r>
              </a:p>
              <a:p>
                <a:endParaRPr lang="en-US" sz="1600" b="1" dirty="0"/>
              </a:p>
              <a:p>
                <a:pPr marL="0" indent="0">
                  <a:buNone/>
                </a:pPr>
                <a:r>
                  <a:rPr lang="en-US" sz="1600" b="1" dirty="0"/>
                  <a:t>Generalized </a:t>
                </a:r>
                <a:r>
                  <a:rPr lang="en-US" sz="1600" b="1"/>
                  <a:t>Policy Iteration (GPI)</a:t>
                </a:r>
                <a:r>
                  <a:rPr lang="en-US" sz="1600"/>
                  <a:t>: </a:t>
                </a:r>
                <a:endParaRPr lang="en-US" sz="1600" dirty="0"/>
              </a:p>
              <a:p>
                <a:r>
                  <a:rPr lang="en-US" sz="1600" dirty="0"/>
                  <a:t>All DP methods can be generalized using the GPI evaluation/improvement framework.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2ED8835-0B09-E3B5-B39B-6B68E1180DC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096000" y="528505"/>
                <a:ext cx="5257797" cy="5796793"/>
              </a:xfrm>
              <a:blipFill>
                <a:blip r:embed="rId3"/>
                <a:stretch>
                  <a:fillRect l="-464" t="-526" r="-1160" b="-63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771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7630</TotalTime>
  <Words>2499</Words>
  <Application>Microsoft Office PowerPoint</Application>
  <PresentationFormat>Widescreen</PresentationFormat>
  <Paragraphs>337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Dynamic Programming Sutton/Barto* Chapter 4</vt:lpstr>
      <vt:lpstr>Topics of this Course</vt:lpstr>
      <vt:lpstr>Summary of Notation</vt:lpstr>
      <vt:lpstr>Goal</vt:lpstr>
      <vt:lpstr>Tabular Methods</vt:lpstr>
      <vt:lpstr>Prediction vs. Control</vt:lpstr>
      <vt:lpstr>Prediction: Policy Evaluation</vt:lpstr>
      <vt:lpstr>Policy Evaluation to Estimate v_π</vt:lpstr>
      <vt:lpstr>Solution Option 1: Linear Program</vt:lpstr>
      <vt:lpstr>Solution Option 2: Iterative Policy Evaluation</vt:lpstr>
      <vt:lpstr>Convergence of Iterative Policy Evaluation</vt:lpstr>
      <vt:lpstr>Alg. Iterative Policy Evaluation</vt:lpstr>
      <vt:lpstr>Control: Policy Iteration</vt:lpstr>
      <vt:lpstr>Policy Improvement and the Greedy Policy</vt:lpstr>
      <vt:lpstr>Policy Iteration</vt:lpstr>
      <vt:lpstr>Alg. Policy Iteration</vt:lpstr>
      <vt:lpstr>Control: Value Iteration</vt:lpstr>
      <vt:lpstr>Value Iteration</vt:lpstr>
      <vt:lpstr>Alg. Value Iteration</vt:lpstr>
      <vt:lpstr>Code…</vt:lpstr>
      <vt:lpstr>GPI: Generalized Policy Iteration</vt:lpstr>
      <vt:lpstr>GPI: Generalized Policy Iteration</vt:lpstr>
      <vt:lpstr>Issues with DP Methods</vt:lpstr>
      <vt:lpstr>Efficiency</vt:lpstr>
      <vt:lpstr>What you need to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125</cp:revision>
  <dcterms:created xsi:type="dcterms:W3CDTF">2025-09-08T14:44:49Z</dcterms:created>
  <dcterms:modified xsi:type="dcterms:W3CDTF">2026-02-06T15:56:57Z</dcterms:modified>
</cp:coreProperties>
</file>