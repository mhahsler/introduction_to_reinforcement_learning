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380" r:id="rId6"/>
    <p:sldId id="388" r:id="rId7"/>
    <p:sldId id="372" r:id="rId8"/>
    <p:sldId id="369" r:id="rId9"/>
    <p:sldId id="370" r:id="rId10"/>
    <p:sldId id="389" r:id="rId11"/>
    <p:sldId id="390" r:id="rId12"/>
    <p:sldId id="371" r:id="rId13"/>
    <p:sldId id="373" r:id="rId14"/>
    <p:sldId id="375" r:id="rId15"/>
    <p:sldId id="376" r:id="rId16"/>
    <p:sldId id="377" r:id="rId17"/>
    <p:sldId id="378" r:id="rId18"/>
    <p:sldId id="379" r:id="rId19"/>
    <p:sldId id="382" r:id="rId20"/>
    <p:sldId id="479" r:id="rId21"/>
    <p:sldId id="384" r:id="rId22"/>
    <p:sldId id="385" r:id="rId23"/>
    <p:sldId id="383" r:id="rId24"/>
    <p:sldId id="386" r:id="rId25"/>
    <p:sldId id="38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E0FB7704-6132-49E2-A4A4-C2DED466B618}">
          <p14:sldIdLst>
            <p14:sldId id="368"/>
            <p14:sldId id="380"/>
            <p14:sldId id="388"/>
          </p14:sldIdLst>
        </p14:section>
        <p14:section name="Policy Evaluation" id="{E4CB73A3-D0DE-4DED-94E7-4A458167A30F}">
          <p14:sldIdLst>
            <p14:sldId id="372"/>
            <p14:sldId id="369"/>
            <p14:sldId id="370"/>
            <p14:sldId id="389"/>
            <p14:sldId id="390"/>
            <p14:sldId id="371"/>
          </p14:sldIdLst>
        </p14:section>
        <p14:section name="Policy Iteration" id="{4DE153CC-8DA8-4101-A46B-0DFD73F9B57D}">
          <p14:sldIdLst>
            <p14:sldId id="373"/>
            <p14:sldId id="375"/>
            <p14:sldId id="376"/>
            <p14:sldId id="377"/>
          </p14:sldIdLst>
        </p14:section>
        <p14:section name="Value Iteration" id="{6A988A78-1EF4-4EB1-89B7-8F80075BCC63}">
          <p14:sldIdLst>
            <p14:sldId id="378"/>
            <p14:sldId id="379"/>
            <p14:sldId id="382"/>
            <p14:sldId id="479"/>
          </p14:sldIdLst>
        </p14:section>
        <p14:section name="Generalized Policy Iteration" id="{24242526-B5FF-45B4-A80E-CA85C1F5783D}">
          <p14:sldIdLst>
            <p14:sldId id="384"/>
            <p14:sldId id="385"/>
            <p14:sldId id="383"/>
            <p14:sldId id="386"/>
          </p14:sldIdLst>
        </p14:section>
        <p14:section name="Summary" id="{6AC1C20A-A1BF-4444-80D7-F422EA17542D}">
          <p14:sldIdLst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85" d="100"/>
          <a:sy n="85" d="100"/>
        </p:scale>
        <p:origin x="80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\\wsl.localhost\Ubuntu\home\mhahsler\github\Introduction_to_Reinforcement_Learning\DP\LP_Policy_Evaluatio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/>
              <a:t>LP</a:t>
            </a:r>
            <a:r>
              <a:rPr lang="en-US" baseline="0"/>
              <a:t> for 2-State MDP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'LP Policy Evaluation'!$F$6</c:f>
              <c:strCache>
                <c:ptCount val="1"/>
                <c:pt idx="0">
                  <c:v>Constraint V(s1)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numRef>
              <c:f>'LP Policy Evaluation'!$E$7:$E$22</c:f>
              <c:numCache>
                <c:formatCode>0.0</c:formatCode>
                <c:ptCount val="16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  <c:pt idx="7">
                  <c:v>17</c:v>
                </c:pt>
                <c:pt idx="8">
                  <c:v>18</c:v>
                </c:pt>
                <c:pt idx="9">
                  <c:v>19</c:v>
                </c:pt>
                <c:pt idx="10">
                  <c:v>20</c:v>
                </c:pt>
                <c:pt idx="11">
                  <c:v>21</c:v>
                </c:pt>
                <c:pt idx="12">
                  <c:v>22</c:v>
                </c:pt>
                <c:pt idx="13">
                  <c:v>23</c:v>
                </c:pt>
                <c:pt idx="14">
                  <c:v>24</c:v>
                </c:pt>
                <c:pt idx="15">
                  <c:v>25</c:v>
                </c:pt>
              </c:numCache>
            </c:numRef>
          </c:cat>
          <c:val>
            <c:numRef>
              <c:f>'LP Policy Evaluation'!$F$7:$F$22</c:f>
              <c:numCache>
                <c:formatCode>0.00</c:formatCode>
                <c:ptCount val="16"/>
                <c:pt idx="0">
                  <c:v>10</c:v>
                </c:pt>
                <c:pt idx="1">
                  <c:v>11.222222222222223</c:v>
                </c:pt>
                <c:pt idx="2">
                  <c:v>12.444444444444445</c:v>
                </c:pt>
                <c:pt idx="3">
                  <c:v>13.666666666666668</c:v>
                </c:pt>
                <c:pt idx="4">
                  <c:v>14.888888888888891</c:v>
                </c:pt>
                <c:pt idx="5">
                  <c:v>16.111111111111111</c:v>
                </c:pt>
                <c:pt idx="6">
                  <c:v>17.333333333333336</c:v>
                </c:pt>
                <c:pt idx="7">
                  <c:v>18.555555555555557</c:v>
                </c:pt>
                <c:pt idx="8">
                  <c:v>19.777777777777779</c:v>
                </c:pt>
                <c:pt idx="9">
                  <c:v>21.000000000000004</c:v>
                </c:pt>
                <c:pt idx="10">
                  <c:v>22.222222222222221</c:v>
                </c:pt>
                <c:pt idx="11">
                  <c:v>23.444444444444446</c:v>
                </c:pt>
                <c:pt idx="12">
                  <c:v>24.666666666666668</c:v>
                </c:pt>
                <c:pt idx="13">
                  <c:v>25.888888888888889</c:v>
                </c:pt>
                <c:pt idx="14">
                  <c:v>27.111111111111114</c:v>
                </c:pt>
                <c:pt idx="15">
                  <c:v>28.333333333333336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007-4291-B431-AD94702AE9CD}"/>
            </c:ext>
          </c:extLst>
        </c:ser>
        <c:ser>
          <c:idx val="1"/>
          <c:order val="1"/>
          <c:tx>
            <c:strRef>
              <c:f>'LP Policy Evaluation'!$G$6</c:f>
              <c:strCache>
                <c:ptCount val="1"/>
                <c:pt idx="0">
                  <c:v>Constraint V(s2)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numRef>
              <c:f>'LP Policy Evaluation'!$E$7:$E$22</c:f>
              <c:numCache>
                <c:formatCode>0.0</c:formatCode>
                <c:ptCount val="16"/>
                <c:pt idx="0">
                  <c:v>10</c:v>
                </c:pt>
                <c:pt idx="1">
                  <c:v>11</c:v>
                </c:pt>
                <c:pt idx="2">
                  <c:v>12</c:v>
                </c:pt>
                <c:pt idx="3">
                  <c:v>13</c:v>
                </c:pt>
                <c:pt idx="4">
                  <c:v>14</c:v>
                </c:pt>
                <c:pt idx="5">
                  <c:v>15</c:v>
                </c:pt>
                <c:pt idx="6">
                  <c:v>16</c:v>
                </c:pt>
                <c:pt idx="7">
                  <c:v>17</c:v>
                </c:pt>
                <c:pt idx="8">
                  <c:v>18</c:v>
                </c:pt>
                <c:pt idx="9">
                  <c:v>19</c:v>
                </c:pt>
                <c:pt idx="10">
                  <c:v>20</c:v>
                </c:pt>
                <c:pt idx="11">
                  <c:v>21</c:v>
                </c:pt>
                <c:pt idx="12">
                  <c:v>22</c:v>
                </c:pt>
                <c:pt idx="13">
                  <c:v>23</c:v>
                </c:pt>
                <c:pt idx="14">
                  <c:v>24</c:v>
                </c:pt>
                <c:pt idx="15">
                  <c:v>25</c:v>
                </c:pt>
              </c:numCache>
            </c:numRef>
          </c:cat>
          <c:val>
            <c:numRef>
              <c:f>'LP Policy Evaluation'!$G$7:$G$22</c:f>
              <c:numCache>
                <c:formatCode>0.00</c:formatCode>
                <c:ptCount val="16"/>
                <c:pt idx="0">
                  <c:v>15.263157894736848</c:v>
                </c:pt>
                <c:pt idx="1">
                  <c:v>15.736842105263163</c:v>
                </c:pt>
                <c:pt idx="2">
                  <c:v>16.21052631578948</c:v>
                </c:pt>
                <c:pt idx="3">
                  <c:v>16.684210526315795</c:v>
                </c:pt>
                <c:pt idx="4">
                  <c:v>17.15789473684211</c:v>
                </c:pt>
                <c:pt idx="5">
                  <c:v>17.631578947368425</c:v>
                </c:pt>
                <c:pt idx="6">
                  <c:v>18.105263157894743</c:v>
                </c:pt>
                <c:pt idx="7">
                  <c:v>18.578947368421058</c:v>
                </c:pt>
                <c:pt idx="8">
                  <c:v>19.052631578947373</c:v>
                </c:pt>
                <c:pt idx="9">
                  <c:v>19.526315789473689</c:v>
                </c:pt>
                <c:pt idx="10">
                  <c:v>20.000000000000007</c:v>
                </c:pt>
                <c:pt idx="11">
                  <c:v>20.473684210526322</c:v>
                </c:pt>
                <c:pt idx="12">
                  <c:v>20.947368421052641</c:v>
                </c:pt>
                <c:pt idx="13">
                  <c:v>21.421052631578956</c:v>
                </c:pt>
                <c:pt idx="14">
                  <c:v>21.894736842105271</c:v>
                </c:pt>
                <c:pt idx="15">
                  <c:v>22.368421052631586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007-4291-B431-AD94702AE9C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938217840"/>
        <c:axId val="1015613472"/>
      </c:lineChart>
      <c:catAx>
        <c:axId val="938217840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V(s1)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15613472"/>
        <c:crosses val="autoZero"/>
        <c:auto val="1"/>
        <c:lblAlgn val="ctr"/>
        <c:lblOffset val="100"/>
        <c:noMultiLvlLbl val="0"/>
      </c:catAx>
      <c:valAx>
        <c:axId val="1015613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V(s2)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.0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938217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3418345972776227"/>
          <c:y val="0.87674603548807883"/>
          <c:w val="0.73163280402065634"/>
          <c:h val="6.736574095902682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9/12/2026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1.xml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2.png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9.png"/><Relationship Id="rId7" Type="http://schemas.openxmlformats.org/officeDocument/2006/relationships/image" Target="../media/image15.png"/><Relationship Id="rId12" Type="http://schemas.openxmlformats.org/officeDocument/2006/relationships/image" Target="../media/image25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1.png"/><Relationship Id="rId11" Type="http://schemas.openxmlformats.org/officeDocument/2006/relationships/image" Target="../media/image24.png"/><Relationship Id="rId5" Type="http://schemas.openxmlformats.org/officeDocument/2006/relationships/image" Target="../media/image21.png"/><Relationship Id="rId10" Type="http://schemas.openxmlformats.org/officeDocument/2006/relationships/image" Target="../media/image23.png"/><Relationship Id="rId9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0.png"/><Relationship Id="rId5" Type="http://schemas.openxmlformats.org/officeDocument/2006/relationships/image" Target="../media/image221.png"/><Relationship Id="rId4" Type="http://schemas.openxmlformats.org/officeDocument/2006/relationships/image" Target="../media/image2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60.png"/><Relationship Id="rId7" Type="http://schemas.openxmlformats.org/officeDocument/2006/relationships/image" Target="../media/image15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7560" y="-150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5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b="1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ℎ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</p:spPr>
            <p:txBody>
              <a:bodyPr>
                <a:normAutofit/>
              </a:bodyPr>
              <a:lstStyle/>
              <a:p>
                <a:r>
                  <a:rPr lang="en-US" sz="1500" b="1" dirty="0"/>
                  <a:t>Remember</a:t>
                </a:r>
                <a:r>
                  <a:rPr lang="en-US" sz="1500" dirty="0"/>
                  <a:t>: Finite MDPs have an optimal deterministic policy (under some mild conditions).</a:t>
                </a:r>
              </a:p>
              <a:p>
                <a:r>
                  <a:rPr lang="en-US" sz="1500" b="1" dirty="0"/>
                  <a:t>Goal</a:t>
                </a:r>
                <a:r>
                  <a:rPr lang="en-US" sz="1500" dirty="0"/>
                  <a:t>: Compute the </a:t>
                </a:r>
                <a:r>
                  <a:rPr lang="en-US" sz="15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500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1500" dirty="0"/>
                  <a:t> given a perfect MDP model.</a:t>
                </a:r>
              </a:p>
              <a:p>
                <a:r>
                  <a:rPr lang="en-US" sz="1500" dirty="0"/>
                  <a:t>Solve the Bellman optimality equations (the optimal policy always picks the best action):</a:t>
                </a:r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 algn="ctr">
                  <a:buNone/>
                </a:pPr>
                <a:r>
                  <a:rPr lang="en-US" sz="15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5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b="1" dirty="0"/>
              </a:p>
              <a:p>
                <a:r>
                  <a:rPr lang="en-US" sz="1500" b="1" dirty="0"/>
                  <a:t>Issues</a:t>
                </a:r>
                <a:r>
                  <a:rPr lang="en-US" sz="1500" dirty="0"/>
                  <a:t>: 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500" dirty="0"/>
                  <a:t>! </a:t>
                </a:r>
                <a:br>
                  <a:rPr lang="en-US" sz="1500" dirty="0"/>
                </a:br>
                <a:r>
                  <a:rPr lang="en-US" sz="1500" dirty="0"/>
                  <a:t>We need to solve all optimality equations at the same time.</a:t>
                </a:r>
              </a:p>
              <a:p>
                <a:endParaRPr lang="en-US" sz="1500" b="1" dirty="0"/>
              </a:p>
              <a:p>
                <a:r>
                  <a:rPr lang="en-US" sz="1500" b="1" dirty="0"/>
                  <a:t>Idea</a:t>
                </a:r>
                <a:r>
                  <a:rPr lang="en-US" sz="1500" dirty="0"/>
                  <a:t>: We can find the optimal policy by stepwise </a:t>
                </a:r>
                <a:r>
                  <a:rPr lang="en-US" sz="1500" b="1" dirty="0"/>
                  <a:t>improving a policy </a:t>
                </a:r>
                <a:r>
                  <a:rPr lang="en-US" sz="1500" dirty="0"/>
                  <a:t>till it is optimal. 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15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𝜋</m:t>
                      </m:r>
                      <m:groupChr>
                        <m:groupChrPr>
                          <m:chr m:val="⇔"/>
                          <m:pos m:val="top"/>
                          <m:vertJc m:val="top"/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sz="1500" i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 b="0" i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m:rPr>
                          <m:nor/>
                        </m:rPr>
                        <a:rPr lang="en-US" sz="1500" i="0">
                          <a:latin typeface="Cambria Math" panose="02040503050406030204" pitchFamily="18" charset="0"/>
                        </a:rPr>
                        <m:t> for  all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500" dirty="0"/>
              </a:p>
              <a:p>
                <a:r>
                  <a:rPr lang="en-US" sz="1500" dirty="0"/>
                  <a:t>To do this we need to be able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5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15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  <a:blipFill>
                <a:blip r:embed="rId2"/>
                <a:stretch>
                  <a:fillRect l="-218" t="-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4889708" y="3599283"/>
            <a:ext cx="1299326" cy="398202"/>
            <a:chOff x="2533296" y="3175233"/>
            <a:chExt cx="1544242" cy="39820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12223B-5984-DA37-7047-D622C8E2D116}"/>
              </a:ext>
            </a:extLst>
          </p:cNvPr>
          <p:cNvGrpSpPr/>
          <p:nvPr/>
        </p:nvGrpSpPr>
        <p:grpSpPr>
          <a:xfrm>
            <a:off x="9241722" y="1765979"/>
            <a:ext cx="2656115" cy="2436074"/>
            <a:chOff x="9241722" y="1765979"/>
            <a:chExt cx="2656115" cy="243607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866273BC-75CB-7A69-263C-BB0ECD222D37}"/>
                </a:ext>
              </a:extLst>
            </p:cNvPr>
            <p:cNvSpPr/>
            <p:nvPr/>
          </p:nvSpPr>
          <p:spPr>
            <a:xfrm>
              <a:off x="9241722" y="1765979"/>
              <a:ext cx="383908" cy="243607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65BAAC-5796-5993-D172-BA7B294D59A7}"/>
                </a:ext>
              </a:extLst>
            </p:cNvPr>
            <p:cNvSpPr txBox="1"/>
            <p:nvPr/>
          </p:nvSpPr>
          <p:spPr>
            <a:xfrm>
              <a:off x="9723353" y="2660850"/>
              <a:ext cx="2174484" cy="584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Control Problem</a:t>
              </a:r>
              <a:r>
                <a:rPr lang="en-US" sz="1600" dirty="0"/>
                <a:t>: Find the optimal policy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15AB9-3CD7-2FB5-029A-77CCA4C92D07}"/>
              </a:ext>
            </a:extLst>
          </p:cNvPr>
          <p:cNvGrpSpPr/>
          <p:nvPr/>
        </p:nvGrpSpPr>
        <p:grpSpPr>
          <a:xfrm>
            <a:off x="9260295" y="5151352"/>
            <a:ext cx="2740473" cy="975421"/>
            <a:chOff x="9283602" y="5446084"/>
            <a:chExt cx="2752267" cy="97542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DF5A9186-41F0-8C89-4311-A80AF67129F1}"/>
                </a:ext>
              </a:extLst>
            </p:cNvPr>
            <p:cNvSpPr/>
            <p:nvPr/>
          </p:nvSpPr>
          <p:spPr>
            <a:xfrm>
              <a:off x="9283602" y="5446084"/>
              <a:ext cx="385560" cy="975421"/>
            </a:xfrm>
            <a:prstGeom prst="righ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8FB361-7D81-7549-BB19-0BA3C1F55C05}"/>
                </a:ext>
              </a:extLst>
            </p:cNvPr>
            <p:cNvSpPr txBox="1"/>
            <p:nvPr/>
          </p:nvSpPr>
          <p:spPr>
            <a:xfrm>
              <a:off x="9748653" y="5518295"/>
              <a:ext cx="2287216" cy="830997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Prediction Problem: </a:t>
              </a:r>
              <a:r>
                <a:rPr lang="en-US" sz="1600" dirty="0"/>
                <a:t> Estimate the value function for a policy.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Important property: Entries in the table do not influence each other. We can change them independently.</a:t>
                </a:r>
              </a:p>
              <a:p>
                <a:r>
                  <a:rPr lang="en-US" dirty="0"/>
                  <a:t>Tabular methods find the exact solution (i.e., optimal value function and policy) given enough memory and time.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Table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and deterministic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have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914400" lvl="2" indent="0">
                  <a:buNone/>
                </a:pPr>
                <a:r>
                  <a:rPr lang="en-US" dirty="0"/>
                  <a:t>This is only feasible for problems with a small discrete state/action space!</a:t>
                </a:r>
              </a:p>
              <a:p>
                <a:pPr lvl="1"/>
                <a:r>
                  <a:rPr lang="en-US" dirty="0"/>
                  <a:t>No generalization: Knowledge about the value of one state (state-action pair) does not help us with similar states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generalize and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  <a:blipFill>
                <a:blip r:embed="rId2"/>
                <a:stretch>
                  <a:fillRect l="-812" t="-2078" r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911619" y="781545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04460" y="2440195"/>
            <a:ext cx="19659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600" dirty="0"/>
              <a:t>Q-Value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5909591"/>
                  </p:ext>
                </p:extLst>
              </p:nvPr>
            </p:nvGraphicFramePr>
            <p:xfrm>
              <a:off x="8656227" y="2799490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2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5909591"/>
                  </p:ext>
                </p:extLst>
              </p:nvPr>
            </p:nvGraphicFramePr>
            <p:xfrm>
              <a:off x="8656227" y="2799490"/>
              <a:ext cx="2662384" cy="164592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46" t="-2222" r="-229851" b="-51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9469" t="-2222" r="-172566" b="-51777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9843" t="-2222" r="-2094" b="-51777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2476008"/>
                  </p:ext>
                </p:extLst>
              </p:nvPr>
            </p:nvGraphicFramePr>
            <p:xfrm>
              <a:off x="8913602" y="1131354"/>
              <a:ext cx="2147634" cy="109728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18288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2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2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18288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982476008"/>
                  </p:ext>
                </p:extLst>
              </p:nvPr>
            </p:nvGraphicFramePr>
            <p:xfrm>
              <a:off x="8913602" y="1131354"/>
              <a:ext cx="2147634" cy="109728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31" t="-2222" r="-268041" b="-32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281" t="-2222" r="-1563" b="-32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4F618E29-8BC7-5465-7F90-DBCC57613545}"/>
              </a:ext>
            </a:extLst>
          </p:cNvPr>
          <p:cNvSpPr txBox="1"/>
          <p:nvPr/>
        </p:nvSpPr>
        <p:spPr>
          <a:xfrm>
            <a:off x="8685923" y="4598699"/>
            <a:ext cx="26029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Policy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CA774F2A-88BA-B1E8-30E2-DDB62E0F5EF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679748"/>
                  </p:ext>
                </p:extLst>
              </p:nvPr>
            </p:nvGraphicFramePr>
            <p:xfrm>
              <a:off x="9171327" y="4994415"/>
              <a:ext cx="1632185" cy="108204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225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119929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b="1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7" name="Table 16">
                <a:extLst>
                  <a:ext uri="{FF2B5EF4-FFF2-40B4-BE49-F238E27FC236}">
                    <a16:creationId xmlns:a16="http://schemas.microsoft.com/office/drawing/2014/main" id="{CA774F2A-88BA-B1E8-30E2-DDB62E0F5EF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679748"/>
                  </p:ext>
                </p:extLst>
              </p:nvPr>
            </p:nvGraphicFramePr>
            <p:xfrm>
              <a:off x="9171327" y="4994415"/>
              <a:ext cx="1632185" cy="108204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1225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119929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190" t="-2222" r="-225000" b="-313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5946" t="-2222" r="-2162" b="-313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59080"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100" dirty="0"/>
                            <a:t>up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class, 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given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Control the agent’s behavior to find the optimal policy. This requires being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Prediction: 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function for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dirty="0"/>
                  <a:t>Bellman expectation equations give us the 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Discounted finite MDPs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) 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Undiscounted finite MDPs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guarantees to reach a terminal state.</a:t>
                </a:r>
              </a:p>
              <a:p>
                <a:pPr lvl="1"/>
                <a:r>
                  <a:rPr lang="en-US" dirty="0"/>
                  <a:t>Finite-horizon MDPs have unique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time step.  I.e. , value depends on how close we are to the end of the episode.</a:t>
                </a:r>
              </a:p>
              <a:p>
                <a:pPr lvl="1"/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Recursive relationship between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522" t="-1901" b="-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7579865" cy="5170993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Bellman Expectation Equations: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 all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Formulate as a linear program</a:t>
                </a:r>
              </a:p>
              <a:p>
                <a:pPr lvl="1"/>
                <a:r>
                  <a:rPr lang="en-US" sz="2300" dirty="0"/>
                  <a:t>Objective function: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300" i="0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30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sub>
                          <m:sup/>
                          <m:e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Constraints:               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3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3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′,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  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nary>
                  </m:oMath>
                </a14:m>
                <a:endParaRPr lang="en-US" sz="20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Why this works: The smallest feasible solution will satisfy all Bellman equations.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z="24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7579865" cy="5170993"/>
              </a:xfrm>
              <a:blipFill>
                <a:blip r:embed="rId2"/>
                <a:stretch>
                  <a:fillRect l="-723" t="-2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063F7E0A-EB54-5CD3-4BA4-B413E4A3ABA8}"/>
              </a:ext>
            </a:extLst>
          </p:cNvPr>
          <p:cNvGrpSpPr/>
          <p:nvPr/>
        </p:nvGrpSpPr>
        <p:grpSpPr>
          <a:xfrm>
            <a:off x="8418064" y="1033063"/>
            <a:ext cx="3616325" cy="5577287"/>
            <a:chOff x="8418064" y="1033063"/>
            <a:chExt cx="3616325" cy="557728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F9BC0917-F24E-73E3-0ED1-DF374DF98E97}"/>
                </a:ext>
              </a:extLst>
            </p:cNvPr>
            <p:cNvGrpSpPr/>
            <p:nvPr/>
          </p:nvGrpSpPr>
          <p:grpSpPr>
            <a:xfrm>
              <a:off x="8432631" y="1033063"/>
              <a:ext cx="3601758" cy="5577287"/>
              <a:chOff x="8306382" y="1228507"/>
              <a:chExt cx="3601758" cy="5339815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94A67163-ACB2-FA39-36EB-A99E9C883C84}"/>
                  </a:ext>
                </a:extLst>
              </p:cNvPr>
              <p:cNvSpPr/>
              <p:nvPr/>
            </p:nvSpPr>
            <p:spPr>
              <a:xfrm>
                <a:off x="8306382" y="1228507"/>
                <a:ext cx="3601758" cy="5339815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" name="TextBox 3">
                    <a:extLst>
                      <a:ext uri="{FF2B5EF4-FFF2-40B4-BE49-F238E27FC236}">
                        <a16:creationId xmlns:a16="http://schemas.microsoft.com/office/drawing/2014/main" id="{63B2C840-7C72-C056-FD2A-B1FAC79C9C9D}"/>
                      </a:ext>
                    </a:extLst>
                  </p:cNvPr>
                  <p:cNvSpPr txBox="1"/>
                  <p:nvPr/>
                </p:nvSpPr>
                <p:spPr>
                  <a:xfrm>
                    <a:off x="8397124" y="1293020"/>
                    <a:ext cx="3420274" cy="250382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b="1" dirty="0"/>
                      <a:t>Example: 2-State MDP</a:t>
                    </a:r>
                  </a:p>
                  <a:p>
                    <a:endParaRPr lang="en-US" dirty="0"/>
                  </a:p>
                  <a:p>
                    <a:r>
                      <a:rPr lang="en-US" sz="1400" dirty="0"/>
                      <a:t>Min: </a:t>
                    </a:r>
                    <a14:m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400" dirty="0"/>
                  </a:p>
                  <a:p>
                    <a:r>
                      <a:rPr lang="en-US" sz="1400" dirty="0" err="1"/>
                      <a:t>S.t.</a:t>
                    </a:r>
                    <a:r>
                      <a:rPr lang="en-US" sz="1400" dirty="0"/>
                      <a:t>:  </a:t>
                    </a:r>
                    <a14:m>
                      <m:oMath xmlns:m="http://schemas.openxmlformats.org/officeDocument/2006/math"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≥</m:t>
                        </m:r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sub>
                            </m:s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12</m:t>
                                </m:r>
                              </m:sub>
                            </m:s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d>
                      </m:oMath>
                    </a14:m>
                    <a:endParaRPr lang="en-US" sz="1400" b="0" dirty="0"/>
                  </a:p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         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≥</m:t>
                          </m:r>
                          <m:sSub>
                            <m:sSub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𝑃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oMath>
                      </m:oMathPara>
                    </a14:m>
                    <a:endParaRPr lang="en-US" sz="1400" dirty="0"/>
                  </a:p>
                  <a:p>
                    <a:endParaRPr lang="en-US" sz="1400" dirty="0"/>
                  </a:p>
                  <a:p>
                    <a:r>
                      <a:rPr lang="en-US" sz="1400" dirty="0"/>
                      <a:t>Where </a:t>
                    </a:r>
                    <a:r>
                      <a:rPr lang="en-US" sz="1400" b="1" dirty="0"/>
                      <a:t>following </a:t>
                    </a:r>
                    <a14:m>
                      <m:oMath xmlns:m="http://schemas.openxmlformats.org/officeDocument/2006/math">
                        <m:r>
                          <a:rPr lang="en-US" sz="14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</m:oMath>
                    </a14:m>
                    <a:r>
                      <a:rPr lang="en-US" sz="1400" b="1" dirty="0"/>
                      <a:t> </a:t>
                    </a:r>
                    <a:r>
                      <a:rPr lang="en-US" sz="1400" dirty="0"/>
                      <a:t>has</a:t>
                    </a:r>
                  </a:p>
                  <a:p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r>
                      <a:rPr lang="en-US" sz="1400" dirty="0"/>
                      <a:t>immediate reward of 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a14:m>
                    <a:endParaRPr lang="en-US" sz="1400" dirty="0"/>
                  </a:p>
                  <a:p>
                    <a:pPr lvl="0"/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4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sz="1400" i="1" dirty="0">
                                <a:latin typeface="Cambria Math" panose="02040503050406030204" pitchFamily="18" charset="0"/>
                              </a:rPr>
                              <m:t>𝑥𝑦</m:t>
                            </m:r>
                          </m:sub>
                        </m:s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a14:m>
                    <a:r>
                      <a:rPr lang="en-US" sz="1400" dirty="0"/>
                      <a:t>transition probability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→</m:t>
                        </m:r>
                        <m:sSub>
                          <m:sSubPr>
                            <m:ctrlPr>
                              <a:rPr lang="en-US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sz="1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a14:m>
                    <a:endParaRPr lang="en-US" sz="1400" dirty="0"/>
                  </a:p>
                  <a:p>
                    <a:endParaRPr lang="en-US" dirty="0"/>
                  </a:p>
                </p:txBody>
              </p:sp>
            </mc:Choice>
            <mc:Fallback xmlns="">
              <p:sp>
                <p:nvSpPr>
                  <p:cNvPr id="4" name="TextBox 3">
                    <a:extLst>
                      <a:ext uri="{FF2B5EF4-FFF2-40B4-BE49-F238E27FC236}">
                        <a16:creationId xmlns:a16="http://schemas.microsoft.com/office/drawing/2014/main" id="{63B2C840-7C72-C056-FD2A-B1FAC79C9C9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97124" y="1293020"/>
                    <a:ext cx="3420274" cy="250382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1426" t="-119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0324149C-65E1-3FEF-6A06-7D77DA05FD9C}"/>
                </a:ext>
              </a:extLst>
            </p:cNvPr>
            <p:cNvGrpSpPr/>
            <p:nvPr/>
          </p:nvGrpSpPr>
          <p:grpSpPr>
            <a:xfrm>
              <a:off x="8418064" y="3334260"/>
              <a:ext cx="3616325" cy="3181350"/>
              <a:chOff x="8418064" y="3494800"/>
              <a:chExt cx="3616325" cy="3181350"/>
            </a:xfrm>
          </p:grpSpPr>
          <p:sp>
            <p:nvSpPr>
              <p:cNvPr id="25" name="Freeform: Shape 24">
                <a:extLst>
                  <a:ext uri="{FF2B5EF4-FFF2-40B4-BE49-F238E27FC236}">
                    <a16:creationId xmlns:a16="http://schemas.microsoft.com/office/drawing/2014/main" id="{D737ACAD-42B0-15EE-555A-D36591094A60}"/>
                  </a:ext>
                </a:extLst>
              </p:cNvPr>
              <p:cNvSpPr/>
              <p:nvPr/>
            </p:nvSpPr>
            <p:spPr>
              <a:xfrm>
                <a:off x="10394580" y="4055469"/>
                <a:ext cx="1471679" cy="614253"/>
              </a:xfrm>
              <a:custGeom>
                <a:avLst/>
                <a:gdLst>
                  <a:gd name="csX0" fmla="*/ 0 w 1361130"/>
                  <a:gd name="csY0" fmla="*/ 579353 h 579353"/>
                  <a:gd name="csX1" fmla="*/ 1361130 w 1361130"/>
                  <a:gd name="csY1" fmla="*/ 0 h 579353"/>
                  <a:gd name="csX2" fmla="*/ 1361130 w 1361130"/>
                  <a:gd name="csY2" fmla="*/ 314107 h 579353"/>
                  <a:gd name="csX3" fmla="*/ 0 w 1361130"/>
                  <a:gd name="csY3" fmla="*/ 579353 h 5793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361130" h="579353">
                    <a:moveTo>
                      <a:pt x="0" y="579353"/>
                    </a:moveTo>
                    <a:lnTo>
                      <a:pt x="1361130" y="0"/>
                    </a:lnTo>
                    <a:lnTo>
                      <a:pt x="1361130" y="314107"/>
                    </a:lnTo>
                    <a:lnTo>
                      <a:pt x="0" y="579353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6" name="Chart 5">
                    <a:extLst>
                      <a:ext uri="{FF2B5EF4-FFF2-40B4-BE49-F238E27FC236}">
                        <a16:creationId xmlns:a16="http://schemas.microsoft.com/office/drawing/2014/main" id="{B7392BAE-65BB-DF7C-4722-CF4BC4EA04F0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96141950"/>
                      </p:ext>
                    </p:extLst>
                  </p:nvPr>
                </p:nvGraphicFramePr>
                <p:xfrm>
                  <a:off x="8418064" y="3494800"/>
                  <a:ext cx="3616325" cy="318135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4"/>
                  </a:graphicData>
                </a:graphic>
              </p:graphicFrame>
            </mc:Choice>
            <mc:Fallback xmlns="">
              <p:graphicFrame>
                <p:nvGraphicFramePr>
                  <p:cNvPr id="6" name="Chart 5">
                    <a:extLst>
                      <a:ext uri="{FF2B5EF4-FFF2-40B4-BE49-F238E27FC236}">
                        <a16:creationId xmlns:a16="http://schemas.microsoft.com/office/drawing/2014/main" id="{B7392BAE-65BB-DF7C-4722-CF4BC4EA04F0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1496141950"/>
                      </p:ext>
                    </p:extLst>
                  </p:nvPr>
                </p:nvGraphicFramePr>
                <p:xfrm>
                  <a:off x="8418064" y="3494800"/>
                  <a:ext cx="3616325" cy="3181350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5"/>
                  </a:graphicData>
                </a:graphic>
              </p:graphicFrame>
            </mc:Fallback>
          </mc:AlternateContent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38276DAE-6A06-26E9-2E13-5AFB76A49D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07261" y="3971707"/>
                <a:ext cx="1766585" cy="614253"/>
              </a:xfrm>
              <a:prstGeom prst="line">
                <a:avLst/>
              </a:prstGeom>
              <a:ln w="19050" cap="flat" cmpd="sng" algn="ctr">
                <a:solidFill>
                  <a:schemeClr val="dk1"/>
                </a:solidFill>
                <a:prstDash val="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9A82668A-976C-2EE8-6FF4-EAD852BA2BB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71568" y="4157007"/>
                <a:ext cx="2872079" cy="980385"/>
              </a:xfrm>
              <a:prstGeom prst="line">
                <a:avLst/>
              </a:prstGeom>
              <a:ln>
                <a:headEnd type="none" w="med" len="med"/>
                <a:tailEnd type="none" w="med" len="me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" name="Arrow: Right 20">
                <a:extLst>
                  <a:ext uri="{FF2B5EF4-FFF2-40B4-BE49-F238E27FC236}">
                    <a16:creationId xmlns:a16="http://schemas.microsoft.com/office/drawing/2014/main" id="{CAC1E6C5-81C8-462F-C6CA-14B12340386A}"/>
                  </a:ext>
                </a:extLst>
              </p:cNvPr>
              <p:cNvSpPr/>
              <p:nvPr/>
            </p:nvSpPr>
            <p:spPr>
              <a:xfrm rot="6920301">
                <a:off x="10015636" y="4193460"/>
                <a:ext cx="278151" cy="170745"/>
              </a:xfrm>
              <a:prstGeom prst="rightArrow">
                <a:avLst/>
              </a:prstGeom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692D36B-4A13-D527-F0C3-F0E026972B2D}"/>
                  </a:ext>
                </a:extLst>
              </p:cNvPr>
              <p:cNvSpPr/>
              <p:nvPr/>
            </p:nvSpPr>
            <p:spPr>
              <a:xfrm>
                <a:off x="10372508" y="4544080"/>
                <a:ext cx="174504" cy="185300"/>
              </a:xfrm>
              <a:prstGeom prst="ellipse">
                <a:avLst/>
              </a:prstGeom>
              <a:noFill/>
              <a:ln w="28575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2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071AA459-F063-70B6-69BF-3CF753D9DFFD}"/>
                </a:ext>
              </a:extLst>
            </p:cNvPr>
            <p:cNvSpPr/>
            <p:nvPr/>
          </p:nvSpPr>
          <p:spPr>
            <a:xfrm>
              <a:off x="10358547" y="6388387"/>
              <a:ext cx="272226" cy="104702"/>
            </a:xfrm>
            <a:prstGeom prst="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C01A90C-3DC2-24D5-7AEB-F176EB14962C}"/>
                </a:ext>
              </a:extLst>
            </p:cNvPr>
            <p:cNvSpPr txBox="1"/>
            <p:nvPr/>
          </p:nvSpPr>
          <p:spPr>
            <a:xfrm>
              <a:off x="10596480" y="6332302"/>
              <a:ext cx="99816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Feasible Region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C0F1D236-089D-C565-6073-49307F48A7FB}"/>
                </a:ext>
              </a:extLst>
            </p:cNvPr>
            <p:cNvSpPr txBox="1"/>
            <p:nvPr/>
          </p:nvSpPr>
          <p:spPr>
            <a:xfrm>
              <a:off x="9325486" y="6316966"/>
              <a:ext cx="998161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Objective</a:t>
              </a:r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72DEA6-FA04-75F0-4595-BF28C491920D}"/>
                </a:ext>
              </a:extLst>
            </p:cNvPr>
            <p:cNvCxnSpPr>
              <a:cxnSpLocks/>
            </p:cNvCxnSpPr>
            <p:nvPr/>
          </p:nvCxnSpPr>
          <p:spPr>
            <a:xfrm>
              <a:off x="9071568" y="6437247"/>
              <a:ext cx="293166" cy="0"/>
            </a:xfrm>
            <a:prstGeom prst="line">
              <a:avLst/>
            </a:prstGeom>
            <a:ln w="2857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FD68DB8D-17B1-E89F-6F92-76DF48399885}"/>
                </a:ext>
              </a:extLst>
            </p:cNvPr>
            <p:cNvSpPr txBox="1"/>
            <p:nvPr/>
          </p:nvSpPr>
          <p:spPr>
            <a:xfrm rot="17618624">
              <a:off x="9784196" y="3854535"/>
              <a:ext cx="43974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/>
                <a:t>min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52543F45-3A9E-C880-1230-772119373948}"/>
              </a:ext>
            </a:extLst>
          </p:cNvPr>
          <p:cNvGrpSpPr/>
          <p:nvPr/>
        </p:nvGrpSpPr>
        <p:grpSpPr>
          <a:xfrm>
            <a:off x="200701" y="3523056"/>
            <a:ext cx="2299156" cy="1791256"/>
            <a:chOff x="8709114" y="1909044"/>
            <a:chExt cx="2660677" cy="226852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C4F431F-EEDB-B955-97C6-C588C6C93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84"/>
            <a:stretch>
              <a:fillRect/>
            </a:stretch>
          </p:blipFill>
          <p:spPr>
            <a:xfrm>
              <a:off x="8709114" y="2205386"/>
              <a:ext cx="2660677" cy="197218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45E00C3-80D2-F1CC-F7E7-B3AD2D79EB12}"/>
                </a:ext>
              </a:extLst>
            </p:cNvPr>
            <p:cNvSpPr txBox="1"/>
            <p:nvPr/>
          </p:nvSpPr>
          <p:spPr>
            <a:xfrm>
              <a:off x="8928479" y="1909044"/>
              <a:ext cx="2177124" cy="3897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Backup diagram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(called sweeping over the state space) using the</a:t>
                </a:r>
                <a:r>
                  <a:rPr lang="en-US" sz="2000" b="1" dirty="0"/>
                  <a:t> Bellman Update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is the iteration counter):</a:t>
                </a:r>
                <a:endParaRPr lang="en-US" sz="2000" b="1" dirty="0"/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</a:t>
                </a:r>
                <a:r>
                  <a:rPr lang="en-US" sz="2000" dirty="0"/>
                  <a:t>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iterations.</a:t>
                </a:r>
                <a:br>
                  <a:rPr lang="en-US" sz="2000" dirty="0"/>
                </a:br>
                <a:r>
                  <a:rPr lang="en-US" sz="2000" dirty="0"/>
                  <a:t>Reason is on the next slide.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  <a:blipFill>
                <a:blip r:embed="rId3"/>
                <a:stretch>
                  <a:fillRect l="-1025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38818" y="4633526"/>
            <a:ext cx="4981697" cy="730954"/>
            <a:chOff x="2344485" y="3098314"/>
            <a:chExt cx="1813961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344485" y="3306048"/>
              <a:ext cx="18139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5FCA8-6ACA-3C79-36FA-E785B877518C}"/>
              </a:ext>
            </a:extLst>
          </p:cNvPr>
          <p:cNvGrpSpPr/>
          <p:nvPr/>
        </p:nvGrpSpPr>
        <p:grpSpPr>
          <a:xfrm>
            <a:off x="8930583" y="4867978"/>
            <a:ext cx="2854818" cy="1480504"/>
            <a:chOff x="8867761" y="4764111"/>
            <a:chExt cx="2854818" cy="1480504"/>
          </a:xfrm>
        </p:grpSpPr>
        <p:grpSp>
          <p:nvGrpSpPr>
            <p:cNvPr id="8" name="Group 7" descr="Updating the value function using iterative Bellman updates.">
              <a:extLst>
                <a:ext uri="{FF2B5EF4-FFF2-40B4-BE49-F238E27FC236}">
                  <a16:creationId xmlns:a16="http://schemas.microsoft.com/office/drawing/2014/main" id="{E042F5F5-5CB0-3535-780C-93DC3965B4B3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876D76D-10B4-4679-F653-BD6BA18B28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CD2E66AA-EA36-8916-48A7-F5C017DA696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A915BDCA-A78B-A713-EF2C-BD76D59CE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9046C63F-C083-8CE3-5B67-AD0FC59C20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FA9CADED-6B11-F60E-3E70-35BC15580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2124ACB0-C3FA-2FAA-37B1-C6EECFECCE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9FFAF23B-1B2A-B56C-21FE-4753439D8E5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6147F0A6-B8EB-E05B-C1C0-350546463BA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5DA345C-A981-1A04-9E3B-9233BA91B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89DB2870-24A4-433E-3096-F45510D7F2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226FBF-E15E-0A93-5374-77CBC09832B9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0487-07CF-0018-3062-50B52F2A7AAD}"/>
              </a:ext>
            </a:extLst>
          </p:cNvPr>
          <p:cNvGrpSpPr/>
          <p:nvPr/>
        </p:nvGrpSpPr>
        <p:grpSpPr>
          <a:xfrm>
            <a:off x="8464259" y="1342160"/>
            <a:ext cx="3325726" cy="2180896"/>
            <a:chOff x="8464259" y="1342160"/>
            <a:chExt cx="3325726" cy="218089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32527A9-170C-6824-B9CF-D3911C12D2CB}"/>
                </a:ext>
              </a:extLst>
            </p:cNvPr>
            <p:cNvSpPr txBox="1"/>
            <p:nvPr/>
          </p:nvSpPr>
          <p:spPr>
            <a:xfrm>
              <a:off x="8956148" y="1342160"/>
              <a:ext cx="243781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Sweep the state space</a:t>
              </a:r>
            </a:p>
          </p:txBody>
        </p:sp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AA982B42-2673-74EA-CFA0-028006FCF6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64259" y="1838913"/>
              <a:ext cx="3325726" cy="16841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581869" cy="4145562"/>
              </a:xfrm>
            </p:spPr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The Bellman update can be rewritten as an operator:</a:t>
                </a:r>
                <a:br>
                  <a:rPr lang="en-US" dirty="0"/>
                </a:br>
                <a:r>
                  <a:rPr lang="en-US" b="1" dirty="0"/>
                  <a:t>Bellman Expectation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The Fixed Point Property: </a:t>
                </a:r>
                <a:r>
                  <a:rPr lang="en-US" dirty="0"/>
                  <a:t>The value function is unchanged if all state values are already consistent.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The Contraction Property</a:t>
                </a:r>
                <a:r>
                  <a:rPr lang="en-US" dirty="0"/>
                  <a:t>: 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 (see textbook for derivation):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≤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nor/>
                      </m:rPr>
                      <a:rPr lang="en-US" i="0">
                        <a:latin typeface="Cambria Math" panose="02040503050406030204" pitchFamily="18" charset="0"/>
                      </a:rPr>
                      <m:t> for any 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I.e. : Applying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reduces the largest difference (infinity norm) between any arbitrary value functions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by at least a factor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endParaRPr lang="en-US" dirty="0"/>
              </a:p>
              <a:p>
                <a:r>
                  <a:rPr lang="en-US" dirty="0"/>
                  <a:t>This implies: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≤ 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∞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 </m:t>
                    </m:r>
                    <m:r>
                      <m:rPr>
                        <m:nor/>
                      </m:rPr>
                      <a:rPr lang="en-US" i="0">
                        <a:latin typeface="Cambria Math" panose="02040503050406030204" pitchFamily="18" charset="0"/>
                      </a:rPr>
                      <m:t> for any  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581869" cy="4145562"/>
              </a:xfrm>
              <a:blipFill>
                <a:blip r:embed="rId2"/>
                <a:stretch>
                  <a:fillRect l="-213" t="-51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32C5A7CC-4FA8-C473-6FA9-CC4B56CECEA4}"/>
                  </a:ext>
                </a:extLst>
              </p:cNvPr>
              <p:cNvSpPr/>
              <p:nvPr/>
            </p:nvSpPr>
            <p:spPr>
              <a:xfrm>
                <a:off x="3507303" y="5630091"/>
                <a:ext cx="3363494" cy="718762"/>
              </a:xfrm>
              <a:prstGeom prst="wedgeRoundRectCallout">
                <a:avLst>
                  <a:gd name="adj1" fmla="val -17540"/>
                  <a:gd name="adj2" fmla="val -93676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0" dirty="0"/>
                  <a:t>Convergence 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b="0" dirty="0"/>
                  <a:t>:</a:t>
                </a:r>
                <a:br>
                  <a:rPr lang="en-US" b="0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…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any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32C5A7CC-4FA8-C473-6FA9-CC4B56CECEA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7303" y="5630091"/>
                <a:ext cx="3363494" cy="718762"/>
              </a:xfrm>
              <a:prstGeom prst="wedgeRoundRectCallout">
                <a:avLst>
                  <a:gd name="adj1" fmla="val -17540"/>
                  <a:gd name="adj2" fmla="val -93676"/>
                  <a:gd name="adj3" fmla="val 16667"/>
                </a:avLst>
              </a:prstGeom>
              <a:blipFill>
                <a:blip r:embed="rId3"/>
                <a:stretch>
                  <a:fillRect b="-52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/>
              <p:nvPr/>
            </p:nvSpPr>
            <p:spPr>
              <a:xfrm>
                <a:off x="9229235" y="1195993"/>
                <a:ext cx="2227288" cy="1323439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Notation: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is the new value function after applying the operator. We could 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b="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9235" y="1195993"/>
                <a:ext cx="2227288" cy="1323439"/>
              </a:xfrm>
              <a:prstGeom prst="rect">
                <a:avLst/>
              </a:prstGeom>
              <a:blipFill>
                <a:blip r:embed="rId5"/>
                <a:stretch>
                  <a:fillRect l="-1359" t="-909" b="-4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6FA554BD-05FF-369E-7672-880FEF6243EC}"/>
              </a:ext>
            </a:extLst>
          </p:cNvPr>
          <p:cNvGrpSpPr/>
          <p:nvPr/>
        </p:nvGrpSpPr>
        <p:grpSpPr>
          <a:xfrm>
            <a:off x="9027743" y="4880328"/>
            <a:ext cx="2854818" cy="1745524"/>
            <a:chOff x="9027743" y="4880328"/>
            <a:chExt cx="2854818" cy="1745524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3DFF17E-DF67-BABC-A51D-6F73F6245657}"/>
                </a:ext>
              </a:extLst>
            </p:cNvPr>
            <p:cNvGrpSpPr/>
            <p:nvPr/>
          </p:nvGrpSpPr>
          <p:grpSpPr>
            <a:xfrm>
              <a:off x="9027743" y="4880328"/>
              <a:ext cx="2854818" cy="1745524"/>
              <a:chOff x="8867761" y="4499091"/>
              <a:chExt cx="2854818" cy="1745524"/>
            </a:xfrm>
          </p:grpSpPr>
          <p:grpSp>
            <p:nvGrpSpPr>
              <p:cNvPr id="9" name="Group 8" descr="Updating the value function using iterative Bellman updates.">
                <a:extLst>
                  <a:ext uri="{FF2B5EF4-FFF2-40B4-BE49-F238E27FC236}">
                    <a16:creationId xmlns:a16="http://schemas.microsoft.com/office/drawing/2014/main" id="{5E13A197-79F1-6CAE-0A97-FAA7508CBCC7}"/>
                  </a:ext>
                </a:extLst>
              </p:cNvPr>
              <p:cNvGrpSpPr/>
              <p:nvPr/>
            </p:nvGrpSpPr>
            <p:grpSpPr>
              <a:xfrm>
                <a:off x="8867761" y="4499091"/>
                <a:ext cx="2854818" cy="1693825"/>
                <a:chOff x="9337182" y="1964848"/>
                <a:chExt cx="2854818" cy="1693825"/>
              </a:xfrm>
            </p:grpSpPr>
            <p:cxnSp>
              <p:nvCxnSpPr>
                <p:cNvPr id="11" name="Straight Connector 10">
                  <a:extLst>
                    <a:ext uri="{FF2B5EF4-FFF2-40B4-BE49-F238E27FC236}">
                      <a16:creationId xmlns:a16="http://schemas.microsoft.com/office/drawing/2014/main" id="{8A7CFF6D-44E5-4AC6-F8FA-305C74E68FE9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37182" y="3124199"/>
                  <a:ext cx="2393078" cy="0"/>
                </a:xfrm>
                <a:prstGeom prst="line">
                  <a:avLst/>
                </a:prstGeom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8">
                      <a:extLst>
                        <a:ext uri="{FF2B5EF4-FFF2-40B4-BE49-F238E27FC236}">
                          <a16:creationId xmlns:a16="http://schemas.microsoft.com/office/drawing/2014/main" id="{FC62ADE9-9B2E-0CE9-B525-28B9E250FACF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25004" y="3092683"/>
                      <a:ext cx="766996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>
                      <a:defPPr>
                        <a:defRPr lang="en-US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8">
                      <a:extLst>
                        <a:ext uri="{FF2B5EF4-FFF2-40B4-BE49-F238E27FC236}">
                          <a16:creationId xmlns:a16="http://schemas.microsoft.com/office/drawing/2014/main" id="{115AA05C-2180-0AF6-A384-9D75BED15ED1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25004" y="3092683"/>
                      <a:ext cx="766996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3" name="Arc 12">
                  <a:extLst>
                    <a:ext uri="{FF2B5EF4-FFF2-40B4-BE49-F238E27FC236}">
                      <a16:creationId xmlns:a16="http://schemas.microsoft.com/office/drawing/2014/main" id="{58658A5E-4BF3-F495-C114-E6EA460FC871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9760371" y="2649297"/>
                  <a:ext cx="574339" cy="1009376"/>
                </a:xfrm>
                <a:prstGeom prst="arc">
                  <a:avLst>
                    <a:gd name="adj1" fmla="val 10871568"/>
                    <a:gd name="adj2" fmla="val 0"/>
                  </a:avLst>
                </a:prstGeom>
                <a:ln w="19050" cap="flat" cmpd="sng" algn="ctr">
                  <a:solidFill>
                    <a:schemeClr val="accent6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14" name="Arc 13">
                  <a:extLst>
                    <a:ext uri="{FF2B5EF4-FFF2-40B4-BE49-F238E27FC236}">
                      <a16:creationId xmlns:a16="http://schemas.microsoft.com/office/drawing/2014/main" id="{8C2E7F1D-DC32-A251-BB28-41567AFC7C70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10334710" y="2614308"/>
                  <a:ext cx="765785" cy="1019782"/>
                </a:xfrm>
                <a:prstGeom prst="arc">
                  <a:avLst>
                    <a:gd name="adj1" fmla="val 10871568"/>
                    <a:gd name="adj2" fmla="val 0"/>
                  </a:avLst>
                </a:prstGeom>
                <a:ln w="19050" cap="flat" cmpd="sng" algn="ctr">
                  <a:solidFill>
                    <a:schemeClr val="accent6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15" name="Arc 14">
                  <a:extLst>
                    <a:ext uri="{FF2B5EF4-FFF2-40B4-BE49-F238E27FC236}">
                      <a16:creationId xmlns:a16="http://schemas.microsoft.com/office/drawing/2014/main" id="{7026F178-8BD0-9B6E-1868-851FF19E16DA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11100495" y="2627412"/>
                  <a:ext cx="220048" cy="1019782"/>
                </a:xfrm>
                <a:prstGeom prst="arc">
                  <a:avLst>
                    <a:gd name="adj1" fmla="val 10871568"/>
                    <a:gd name="adj2" fmla="val 0"/>
                  </a:avLst>
                </a:prstGeom>
                <a:ln w="19050" cap="flat" cmpd="sng" algn="ctr">
                  <a:solidFill>
                    <a:schemeClr val="accent6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16" name="Arc 15">
                  <a:extLst>
                    <a:ext uri="{FF2B5EF4-FFF2-40B4-BE49-F238E27FC236}">
                      <a16:creationId xmlns:a16="http://schemas.microsoft.com/office/drawing/2014/main" id="{57088D6C-4C8C-FE23-F85D-8685A8BA96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11308888" y="2648522"/>
                  <a:ext cx="417487" cy="951353"/>
                </a:xfrm>
                <a:prstGeom prst="arc">
                  <a:avLst>
                    <a:gd name="adj1" fmla="val 10871568"/>
                    <a:gd name="adj2" fmla="val 0"/>
                  </a:avLst>
                </a:prstGeom>
                <a:ln w="19050" cap="flat" cmpd="sng" algn="ctr">
                  <a:solidFill>
                    <a:schemeClr val="accent6"/>
                  </a:solidFill>
                  <a:prstDash val="solid"/>
                  <a:round/>
                  <a:headEnd type="none" w="med" len="med"/>
                  <a:tailEnd type="arrow" w="med" len="med"/>
                </a:ln>
              </p:spPr>
              <p:style>
                <a:lnRef idx="0">
                  <a:scrgbClr r="0" g="0" b="0"/>
                </a:lnRef>
                <a:fillRef idx="0">
                  <a:scrgbClr r="0" g="0" b="0"/>
                </a:fillRef>
                <a:effectRef idx="0">
                  <a:scrgbClr r="0" g="0" b="0"/>
                </a:effectRef>
                <a:fontRef idx="minor">
                  <a:schemeClr val="tx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7" name="TextBox 29">
                      <a:extLst>
                        <a:ext uri="{FF2B5EF4-FFF2-40B4-BE49-F238E27FC236}">
                          <a16:creationId xmlns:a16="http://schemas.microsoft.com/office/drawing/2014/main" id="{33B57A32-72F6-077F-22AE-C34A118F7D55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564903" y="3086337"/>
                      <a:ext cx="39581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>
                      <a:defPPr>
                        <a:defRPr lang="en-US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7" name="TextBox 29">
                      <a:extLst>
                        <a:ext uri="{FF2B5EF4-FFF2-40B4-BE49-F238E27FC236}">
                          <a16:creationId xmlns:a16="http://schemas.microsoft.com/office/drawing/2014/main" id="{6DB673C8-2425-685A-8CBE-35EDDCA1EB91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564903" y="3086337"/>
                      <a:ext cx="395810" cy="369332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8" name="TextBox 30">
                      <a:extLst>
                        <a:ext uri="{FF2B5EF4-FFF2-40B4-BE49-F238E27FC236}">
                          <a16:creationId xmlns:a16="http://schemas.microsoft.com/office/drawing/2014/main" id="{1223FDB0-EDE1-D3F8-B49E-7C42FE2277C4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0066895" y="3115740"/>
                      <a:ext cx="395810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>
                      <a:defPPr>
                        <a:defRPr lang="en-US"/>
                      </a:defPPr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defRPr>
                      </a:lvl9pPr>
                    </a:lstStyle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8" name="TextBox 30">
                      <a:extLst>
                        <a:ext uri="{FF2B5EF4-FFF2-40B4-BE49-F238E27FC236}">
                          <a16:creationId xmlns:a16="http://schemas.microsoft.com/office/drawing/2014/main" id="{56DA2FE2-AC26-7B66-B5BD-7064ECD50CE7}"/>
                        </a:ext>
                        <a:ext uri="{C183D7F6-B498-43B3-948B-1728B52AA6E4}">
                          <adec:decorative xmlns:adec="http://schemas.microsoft.com/office/drawing/2017/decorative" val="1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0066895" y="3115740"/>
                      <a:ext cx="395810" cy="369332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4FB5ACCD-0701-2FB2-F78E-42498C38670D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/>
                <p:nvPr/>
              </p:nvSpPr>
              <p:spPr>
                <a:xfrm>
                  <a:off x="11680507" y="3066584"/>
                  <a:ext cx="127995" cy="117892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20" name="TextBox 35">
                  <a:extLst>
                    <a:ext uri="{FF2B5EF4-FFF2-40B4-BE49-F238E27FC236}">
                      <a16:creationId xmlns:a16="http://schemas.microsoft.com/office/drawing/2014/main" id="{0BA13DE3-9692-0A72-42C2-2997B4BD90D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366631" y="1964848"/>
                  <a:ext cx="179633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r>
                    <a:rPr lang="en-US" sz="1600" dirty="0"/>
                    <a:t>Bellman updates</a:t>
                  </a:r>
                </a:p>
              </p:txBody>
            </p:sp>
          </p:grp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DF9F97-99C7-C914-8056-5CB2B24BFC7D}"/>
                  </a:ext>
                </a:extLst>
              </p:cNvPr>
              <p:cNvSpPr txBox="1"/>
              <p:nvPr/>
            </p:nvSpPr>
            <p:spPr>
              <a:xfrm>
                <a:off x="9189345" y="5967616"/>
                <a:ext cx="197878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Distance means difference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FD4057F-5032-BC1B-A63D-1B8B48716C06}"/>
                    </a:ext>
                  </a:extLst>
                </p:cNvPr>
                <p:cNvSpPr txBox="1"/>
                <p:nvPr/>
              </p:nvSpPr>
              <p:spPr>
                <a:xfrm>
                  <a:off x="9501294" y="5233425"/>
                  <a:ext cx="50174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FD4057F-5032-BC1B-A63D-1B8B48716C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01294" y="5233425"/>
                  <a:ext cx="501748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99B973D-2558-A2C6-4BF8-EFA820911BD3}"/>
                    </a:ext>
                  </a:extLst>
                </p:cNvPr>
                <p:cNvSpPr txBox="1"/>
                <p:nvPr/>
              </p:nvSpPr>
              <p:spPr>
                <a:xfrm>
                  <a:off x="10190449" y="5233425"/>
                  <a:ext cx="50174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E99B973D-2558-A2C6-4BF8-EFA82091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90449" y="5233425"/>
                  <a:ext cx="501748" cy="338554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A128481-FC48-A100-EFEE-53B99DA80707}"/>
                    </a:ext>
                  </a:extLst>
                </p:cNvPr>
                <p:cNvSpPr txBox="1"/>
                <p:nvPr/>
              </p:nvSpPr>
              <p:spPr>
                <a:xfrm>
                  <a:off x="11038934" y="5233425"/>
                  <a:ext cx="50174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9A128481-FC48-A100-EFEE-53B99DA807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38934" y="5233425"/>
                  <a:ext cx="501748" cy="3385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A372508-99EC-EFF8-6F86-5D6D9B152179}"/>
                    </a:ext>
                  </a:extLst>
                </p:cNvPr>
                <p:cNvSpPr txBox="1"/>
                <p:nvPr/>
              </p:nvSpPr>
              <p:spPr>
                <a:xfrm>
                  <a:off x="10682975" y="5233425"/>
                  <a:ext cx="50174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FA372508-99EC-EFF8-6F86-5D6D9B1521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82975" y="5233425"/>
                  <a:ext cx="501748" cy="33855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 </a:t>
                </a:r>
                <a:r>
                  <a:rPr lang="en-US" sz="1600" dirty="0"/>
                  <a:t>and we end up with an approximation.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t="-2312" r="-189" b="-8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 and the Greedy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creating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</a:t>
                </a:r>
                <a:r>
                  <a:rPr lang="en-US" b="1" dirty="0"/>
                  <a:t>greedy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strictly better 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/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Policy Improvement Theorem</a:t>
                </a:r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⇒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the same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000" dirty="0"/>
                  <a:t> but has a better action for at least one state 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strictly better than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  <a:blipFill>
                <a:blip r:embed="rId3"/>
                <a:stretch>
                  <a:fillRect l="-565" t="-1444" b="-5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Create a sequence of monotonically improving policies: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pos m:val="bot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  <a:blipFill>
                <a:blip r:embed="rId2"/>
                <a:stretch>
                  <a:fillRect l="-1113" t="-7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pos m:val="bot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2791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23912" y="3626421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policy.</a:t>
                </a:r>
              </a:p>
              <a:p>
                <a:pPr lvl="1"/>
                <a:r>
                  <a:rPr lang="en-US" dirty="0"/>
                  <a:t>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fast.</a:t>
                </a:r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Policy estimation is computationally expensive! </a:t>
                </a:r>
                <a:br>
                  <a:rPr lang="en-US" dirty="0"/>
                </a:br>
                <a:r>
                  <a:rPr lang="en-US" dirty="0"/>
                  <a:t>Using fewer iterations leads to modified policy iteration.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  <a:blipFill>
                <a:blip r:embed="rId8"/>
                <a:stretch>
                  <a:fillRect l="-1236" t="-4400" b="-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</a:t>
            </a:r>
            <a:br>
              <a:rPr lang="en-US" sz="1600" dirty="0"/>
            </a:br>
            <a:r>
              <a:rPr lang="en-US" sz="1600" dirty="0"/>
              <a:t>We can also stop this loop early (modified policy iteration).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4" y="4641802"/>
            <a:ext cx="3683079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 to improve the policy.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value function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2400" dirty="0"/>
                  <a:t>Combines policy improvement and truncated policy evaluation into a single step.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a non-linear operator, but it 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687" t="-1665" r="-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truncated policy </a:t>
                </a:r>
                <a:br>
                  <a:rPr lang="en-US" sz="1600" dirty="0"/>
                </a:br>
                <a:r>
                  <a:rPr lang="en-US" sz="1600" dirty="0"/>
                  <a:t>                evaluation (1 step)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  <a:blipFill>
                <a:blip r:embed="rId7"/>
                <a:stretch>
                  <a:fillRect t="-658" b="-5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1199213" y="4954746"/>
            <a:ext cx="321224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 only)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EDE205F-7A5D-E9BD-56DA-89AC4D034BAD}"/>
              </a:ext>
            </a:extLst>
          </p:cNvPr>
          <p:cNvSpPr/>
          <p:nvPr/>
        </p:nvSpPr>
        <p:spPr>
          <a:xfrm>
            <a:off x="8103956" y="5254892"/>
            <a:ext cx="2667583" cy="474765"/>
          </a:xfrm>
          <a:prstGeom prst="wedgeRoundRectCallout">
            <a:avLst>
              <a:gd name="adj1" fmla="val -141709"/>
              <a:gd name="adj2" fmla="val 13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Stopping criterion from policy evaluation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57B00-C899-A34F-CC4A-48E9DDA5567A}"/>
              </a:ext>
            </a:extLst>
          </p:cNvPr>
          <p:cNvSpPr/>
          <p:nvPr/>
        </p:nvSpPr>
        <p:spPr>
          <a:xfrm>
            <a:off x="4781862" y="5914693"/>
            <a:ext cx="37297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Generalizing value and policy iteration into a single framework.</a:t>
            </a:r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pPr lvl="1"/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pPr lvl="1"/>
                <a:r>
                  <a:rPr lang="en-US" b="1" dirty="0"/>
                  <a:t>Policy iteration</a:t>
                </a:r>
                <a:r>
                  <a:rPr lang="en-US" dirty="0"/>
                  <a:t>: each evaluation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pPr lvl="1"/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evaluation step.</a:t>
                </a:r>
              </a:p>
              <a:p>
                <a:pPr lvl="1"/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 (e.g., focus on states where the value function changed a lot in the last step).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 due to the </a:t>
                </a:r>
                <a:r>
                  <a:rPr lang="en-US" b="1" dirty="0"/>
                  <a:t>Policy Improvement Theorem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928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762"/>
          <a:stretch>
            <a:fillRect/>
          </a:stretch>
        </p:blipFill>
        <p:spPr>
          <a:xfrm>
            <a:off x="8760146" y="309335"/>
            <a:ext cx="2682923" cy="2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323" y="3585975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 perfect knowledge of the model!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Space Complexity</a:t>
                </a:r>
                <a:endParaRPr lang="en-US" dirty="0"/>
              </a:p>
              <a:p>
                <a:pPr lvl="1"/>
                <a:r>
                  <a:rPr lang="en-US" dirty="0"/>
                  <a:t>Tabular method: stores the complete value function as tables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 Complexity</a:t>
                </a:r>
              </a:p>
              <a:p>
                <a:pPr lvl="1"/>
                <a:r>
                  <a:rPr lang="en-US" dirty="0"/>
                  <a:t>Updates repeatedly sweep over the whole state space.</a:t>
                </a:r>
              </a:p>
              <a:p>
                <a:pPr lvl="1"/>
                <a:r>
                  <a:rPr lang="en-US" dirty="0"/>
                  <a:t>Wastes computation by updating states that are not relevant for the optimal behavior. I.e., the optimal policy will never visit them.</a:t>
                </a:r>
              </a:p>
              <a:p>
                <a:pPr lvl="1"/>
                <a:r>
                  <a:rPr lang="en-US" dirty="0"/>
                  <a:t>Tabular methods can not generalize between similar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  <a:blipFill>
                <a:blip r:embed="rId2"/>
                <a:stretch>
                  <a:fillRect l="-1454" t="-2806" r="-1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6339C8F8-48C4-0C07-3B0E-F41FE0B782D3}"/>
              </a:ext>
            </a:extLst>
          </p:cNvPr>
          <p:cNvSpPr/>
          <p:nvPr/>
        </p:nvSpPr>
        <p:spPr>
          <a:xfrm>
            <a:off x="9582325" y="4408415"/>
            <a:ext cx="281031" cy="110315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7DAF1B-95EB-22B1-1191-7C8BC9E6FAC3}"/>
              </a:ext>
            </a:extLst>
          </p:cNvPr>
          <p:cNvSpPr txBox="1"/>
          <p:nvPr/>
        </p:nvSpPr>
        <p:spPr>
          <a:xfrm>
            <a:off x="9987094" y="4636825"/>
            <a:ext cx="1635854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Asynchronous DP can help</a:t>
            </a:r>
          </a:p>
        </p:txBody>
      </p:sp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In each state we can choose one of the available actions.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Linearize the non-linear Bellman Optimality Equations by introducing constraints for all action/state pairs. Leads to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quadratic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Sparse transition matrices lead to better performance.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Conclusion</a:t>
                </a:r>
                <a:r>
                  <a:rPr lang="en-US" dirty="0"/>
                  <a:t>: Search and LP are impractical. The number of actions is typically relatively small.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368740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8B81D-82C4-D9E0-6DED-9C99A065A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</p:spPr>
            <p:txBody>
              <a:bodyPr anchor="ctr"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Requirements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Model access</a:t>
                </a:r>
                <a:r>
                  <a:rPr lang="en-US" sz="1600" dirty="0"/>
                  <a:t>: DP methods need access to the </a:t>
                </a:r>
                <a:r>
                  <a:rPr lang="en-US" sz="1600" b="1" dirty="0"/>
                  <a:t>model</a:t>
                </a:r>
                <a:r>
                  <a:rPr lang="en-US" sz="1600" dirty="0"/>
                  <a:t>’s function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Small discrete state/action space </a:t>
                </a:r>
                <a:r>
                  <a:rPr lang="en-US" sz="1600" dirty="0"/>
                  <a:t>since it is a tabular method.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Prediction</a:t>
                </a:r>
                <a:r>
                  <a:rPr lang="en-US" sz="1600" dirty="0"/>
                  <a:t>: Calculates the value function for a given policy called in DP policy evaluation.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: Calculates the optimal policy for an MDP. Is not truly control, but an offline planning method. 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Value Iteration: </a:t>
                </a:r>
              </a:p>
              <a:p>
                <a:pPr lvl="1"/>
                <a:r>
                  <a:rPr lang="en-US" sz="1600" dirty="0"/>
                  <a:t>Convert the recursive Bellman equations into the Belmann update operators and sweep the state space till the optimal value function is found.</a:t>
                </a:r>
              </a:p>
              <a:p>
                <a:pPr lvl="1"/>
                <a:r>
                  <a:rPr lang="en-US" sz="1600" b="1" dirty="0"/>
                  <a:t>The Expected Bellman operator is </a:t>
                </a:r>
                <a14:m>
                  <m:oMath xmlns:m="http://schemas.openxmlformats.org/officeDocument/2006/math">
                    <m:r>
                      <a:rPr lang="en-US" sz="1600" b="1" i="1">
                        <a:latin typeface="Cambria Math" panose="02040503050406030204" pitchFamily="18" charset="0"/>
                      </a:rPr>
                      <m:t>𝜸</m:t>
                    </m:r>
                  </m:oMath>
                </a14:m>
                <a:r>
                  <a:rPr lang="en-US" sz="1600" b="1" dirty="0"/>
                  <a:t>-contracting and converges to the optimal value function</a:t>
                </a:r>
                <a:r>
                  <a:rPr lang="en-US" sz="1600" dirty="0"/>
                  <a:t> (requires either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600" dirty="0"/>
                  <a:t> or a guarantee that the policy will reach a terminal state).</a:t>
                </a:r>
              </a:p>
              <a:p>
                <a:pPr lvl="1"/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Policy Iteration:</a:t>
                </a:r>
                <a:endParaRPr lang="en-US" sz="1600" dirty="0"/>
              </a:p>
              <a:p>
                <a:pPr lvl="1"/>
                <a:r>
                  <a:rPr lang="en-US" sz="1600" b="1" dirty="0"/>
                  <a:t>Policy Improvement Theorem</a:t>
                </a:r>
                <a:r>
                  <a:rPr lang="en-US" sz="1600" dirty="0"/>
                  <a:t>: the policy strictly improves with each policy iteration step.</a:t>
                </a:r>
              </a:p>
              <a:p>
                <a:pPr lvl="1"/>
                <a:r>
                  <a:rPr lang="en-US" sz="1600" dirty="0"/>
                  <a:t>Value iteration is a special case of modified policy iteration with a single policy evaluation iteration.</a:t>
                </a:r>
              </a:p>
              <a:p>
                <a:pPr lvl="1"/>
                <a:r>
                  <a:rPr lang="en-US" sz="1600" dirty="0"/>
                  <a:t>All DP methods can be generalized using the GPI evaluation/improvement framework.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  <a:blipFill>
                <a:blip r:embed="rId3"/>
                <a:stretch>
                  <a:fillRect l="-348" r="-10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7945</TotalTime>
  <Words>2630</Words>
  <Application>Microsoft Office PowerPoint</Application>
  <PresentationFormat>Widescreen</PresentationFormat>
  <Paragraphs>344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Topics of this Course</vt:lpstr>
      <vt:lpstr>Summary of Notation</vt:lpstr>
      <vt:lpstr>Goal</vt:lpstr>
      <vt:lpstr>Tabular Methods</vt:lpstr>
      <vt:lpstr>Prediction vs. Control</vt:lpstr>
      <vt:lpstr>Prediction: Policy Evaluation</vt:lpstr>
      <vt:lpstr>Policy Evaluation to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Control: Policy Iteration</vt:lpstr>
      <vt:lpstr>Policy Improvement and the Greedy Policy</vt:lpstr>
      <vt:lpstr>Policy Iteration</vt:lpstr>
      <vt:lpstr>Alg. Policy Iteration</vt:lpstr>
      <vt:lpstr>Control: Value Iteration</vt:lpstr>
      <vt:lpstr>Value Iteration</vt:lpstr>
      <vt:lpstr>Alg. Value Iteration</vt:lpstr>
      <vt:lpstr>Code…</vt:lpstr>
      <vt:lpstr>GPI: Generalized Policy Iteration</vt:lpstr>
      <vt:lpstr>GPI: Generalized Policy Iteration</vt:lpstr>
      <vt:lpstr>Issues with DP Methods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143</cp:revision>
  <dcterms:created xsi:type="dcterms:W3CDTF">2025-09-08T14:44:49Z</dcterms:created>
  <dcterms:modified xsi:type="dcterms:W3CDTF">2026-09-12T19:39:43Z</dcterms:modified>
</cp:coreProperties>
</file>