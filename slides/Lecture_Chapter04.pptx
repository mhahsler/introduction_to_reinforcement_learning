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313" r:id="rId3"/>
    <p:sldId id="478" r:id="rId4"/>
    <p:sldId id="368" r:id="rId5"/>
    <p:sldId id="380" r:id="rId6"/>
    <p:sldId id="388" r:id="rId7"/>
    <p:sldId id="372" r:id="rId8"/>
    <p:sldId id="369" r:id="rId9"/>
    <p:sldId id="370" r:id="rId10"/>
    <p:sldId id="389" r:id="rId11"/>
    <p:sldId id="390" r:id="rId12"/>
    <p:sldId id="371" r:id="rId13"/>
    <p:sldId id="373" r:id="rId14"/>
    <p:sldId id="375" r:id="rId15"/>
    <p:sldId id="376" r:id="rId16"/>
    <p:sldId id="377" r:id="rId17"/>
    <p:sldId id="378" r:id="rId18"/>
    <p:sldId id="379" r:id="rId19"/>
    <p:sldId id="382" r:id="rId20"/>
    <p:sldId id="479" r:id="rId21"/>
    <p:sldId id="384" r:id="rId22"/>
    <p:sldId id="385" r:id="rId23"/>
    <p:sldId id="383" r:id="rId24"/>
    <p:sldId id="386" r:id="rId25"/>
    <p:sldId id="387"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P" id="{83286E67-F0F0-421C-8F74-7B93ABA17FBF}">
          <p14:sldIdLst>
            <p14:sldId id="256"/>
            <p14:sldId id="313"/>
            <p14:sldId id="478"/>
          </p14:sldIdLst>
        </p14:section>
        <p14:section name="Introduction" id="{E0FB7704-6132-49E2-A4A4-C2DED466B618}">
          <p14:sldIdLst>
            <p14:sldId id="368"/>
            <p14:sldId id="380"/>
            <p14:sldId id="388"/>
          </p14:sldIdLst>
        </p14:section>
        <p14:section name="Policy Evaluation" id="{E4CB73A3-D0DE-4DED-94E7-4A458167A30F}">
          <p14:sldIdLst>
            <p14:sldId id="372"/>
            <p14:sldId id="369"/>
            <p14:sldId id="370"/>
            <p14:sldId id="389"/>
            <p14:sldId id="390"/>
            <p14:sldId id="371"/>
          </p14:sldIdLst>
        </p14:section>
        <p14:section name="Policy Iteration" id="{4DE153CC-8DA8-4101-A46B-0DFD73F9B57D}">
          <p14:sldIdLst>
            <p14:sldId id="373"/>
            <p14:sldId id="375"/>
            <p14:sldId id="376"/>
            <p14:sldId id="377"/>
          </p14:sldIdLst>
        </p14:section>
        <p14:section name="Value Iteration" id="{6A988A78-1EF4-4EB1-89B7-8F80075BCC63}">
          <p14:sldIdLst>
            <p14:sldId id="378"/>
            <p14:sldId id="379"/>
            <p14:sldId id="382"/>
            <p14:sldId id="479"/>
          </p14:sldIdLst>
        </p14:section>
        <p14:section name="Generalized Policy Iteration" id="{24242526-B5FF-45B4-A80E-CA85C1F5783D}">
          <p14:sldIdLst>
            <p14:sldId id="384"/>
            <p14:sldId id="385"/>
            <p14:sldId id="383"/>
            <p14:sldId id="386"/>
          </p14:sldIdLst>
        </p14:section>
        <p14:section name="Summary" id="{6AC1C20A-A1BF-4444-80D7-F422EA17542D}">
          <p14:sldIdLst>
            <p14:sldId id="38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4599F94E-CEE6-441E-89CC-EB005ECD8F06}">
      <a14:m xmlns:a14="http://schemas.microsoft.com/office/drawing/2010/main">
        <m:mathPr xmlns:m="http://schemas.openxmlformats.org/officeDocument/2006/math">
          <m:brkBin m:val="before"/>
          <m:brkBinSub m:val="--"/>
        </m:mathPr>
      </a14:m>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lumMod val="80000"/>
            </a:schemeClr>
          </a:solidFill>
        </a:fill>
      </a:tcStyle>
    </a:lastCol>
    <a:firstCol>
      <a:tcTxStyle b="on">
        <a:fontRef idx="minor">
          <a:prstClr val="black"/>
        </a:fontRef>
        <a:schemeClr val="lt1"/>
      </a:tcTxStyle>
      <a:tcStyle>
        <a:tcBdr/>
        <a:fill>
          <a:solidFill>
            <a:schemeClr val="accent6">
              <a:lumMod val="80000"/>
            </a:schemeClr>
          </a:solidFill>
        </a:fill>
      </a:tcStyle>
    </a:firstCol>
    <a:lastRow>
      <a:tcTxStyle b="on">
        <a:fontRef idx="minor">
          <a:prstClr val="black"/>
        </a:fontRef>
        <a:schemeClr val="lt1"/>
      </a:tcTxStyle>
      <a:tcStyle>
        <a:tcBdr>
          <a:top>
            <a:ln w="38100" cmpd="sng">
              <a:solidFill>
                <a:schemeClr val="lt1"/>
              </a:solidFill>
            </a:ln>
          </a:top>
        </a:tcBdr>
        <a:fill>
          <a:solidFill>
            <a:schemeClr val="accent6">
              <a:lumMod val="80000"/>
            </a:schemeClr>
          </a:solidFill>
        </a:fill>
      </a:tcStyle>
    </a:lastRow>
    <a:firstRow>
      <a:tcTxStyle b="on">
        <a:fontRef idx="minor">
          <a:prstClr val="black"/>
        </a:fontRef>
        <a:schemeClr val="lt1"/>
      </a:tcTxStyle>
      <a:tcStyle>
        <a:tcBdr>
          <a:bottom>
            <a:ln w="38100" cmpd="sng">
              <a:solidFill>
                <a:schemeClr val="lt1"/>
              </a:solidFill>
            </a:ln>
          </a:bottom>
        </a:tcBdr>
        <a:fill>
          <a:solidFill>
            <a:schemeClr val="accent6">
              <a:lumMod val="8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6059" autoAdjust="0"/>
    <p:restoredTop sz="94653"/>
  </p:normalViewPr>
  <p:slideViewPr>
    <p:cSldViewPr snapToGrid="0">
      <p:cViewPr varScale="1">
        <p:scale>
          <a:sx n="74" d="100"/>
          <a:sy n="74" d="100"/>
        </p:scale>
        <p:origin x="208" y="928"/>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oleObject" Target="file:////wsl.localhost\Ubuntu\home\mhahsler\github\Introduction_to_Reinforcement_Learning\DP\LP_Policy_Evaluation.xlsx"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r>
              <a:rPr lang="en-US"/>
              <a:t>LP for 2-State MDP</a:t>
            </a:r>
          </a:p>
        </c:rich>
      </c:tx>
      <c:overlay val="0"/>
      <c:spPr>
        <a:noFill/>
        <a:ln>
          <a:noFill/>
        </a:ln>
        <a:effectLst/>
      </c:spPr>
      <c:txPr>
        <a:bodyPr rot="0" spcFirstLastPara="1" vertOverflow="ellipsis" vert="horz" wrap="square" anchor="ctr" anchorCtr="1"/>
        <a:lstStyle/>
        <a:p>
          <a:pPr>
            <a:defRPr sz="1400" b="0" i="0" u="none" strike="noStrike" kern="1200" spc="0" baseline="0">
              <a:solidFill>
                <a:schemeClr val="tx1">
                  <a:lumMod val="65000"/>
                  <a:lumOff val="35000"/>
                </a:schemeClr>
              </a:solidFill>
              <a:latin typeface="+mn-lt"/>
              <a:ea typeface="+mn-ea"/>
              <a:cs typeface="+mn-cs"/>
            </a:defRPr>
          </a:pPr>
          <a:endParaRPr lang="en-US"/>
        </a:p>
      </c:txPr>
    </c:title>
    <c:autoTitleDeleted val="0"/>
    <c:plotArea>
      <c:layout>
        <c:manualLayout>
          <c:layoutTarget val="inner"/>
          <c:xMode val="edge"/>
          <c:yMode val="edge"/>
          <c:x val="0.24470449538092845"/>
          <c:y val="0.14415161889679015"/>
          <c:w val="0.66259651666957675"/>
          <c:h val="0.57157750571892885"/>
        </c:manualLayout>
      </c:layout>
      <c:scatterChart>
        <c:scatterStyle val="lineMarker"/>
        <c:varyColors val="0"/>
        <c:ser>
          <c:idx val="0"/>
          <c:order val="0"/>
          <c:tx>
            <c:strRef>
              <c:f>'LP Policy Evaluation'!$B$26</c:f>
              <c:strCache>
                <c:ptCount val="1"/>
                <c:pt idx="0">
                  <c:v>Constraint V(s1)</c:v>
                </c:pt>
              </c:strCache>
            </c:strRef>
          </c:tx>
          <c:spPr>
            <a:ln w="19050" cap="rnd">
              <a:solidFill>
                <a:schemeClr val="accent1"/>
              </a:solidFill>
              <a:round/>
            </a:ln>
            <a:effectLst/>
          </c:spPr>
          <c:marker>
            <c:symbol val="none"/>
          </c:marker>
          <c:xVal>
            <c:numRef>
              <c:f>'LP Policy Evaluation'!$A$27:$A$28</c:f>
              <c:numCache>
                <c:formatCode>0.00</c:formatCode>
                <c:ptCount val="2"/>
                <c:pt idx="0">
                  <c:v>0</c:v>
                </c:pt>
                <c:pt idx="1">
                  <c:v>50</c:v>
                </c:pt>
              </c:numCache>
            </c:numRef>
          </c:xVal>
          <c:yVal>
            <c:numRef>
              <c:f>'LP Policy Evaluation'!$B$27:$B$28</c:f>
              <c:numCache>
                <c:formatCode>0.00</c:formatCode>
                <c:ptCount val="2"/>
                <c:pt idx="0">
                  <c:v>-2.2222222222222223</c:v>
                </c:pt>
                <c:pt idx="1">
                  <c:v>58.888888888888893</c:v>
                </c:pt>
              </c:numCache>
            </c:numRef>
          </c:yVal>
          <c:smooth val="0"/>
          <c:extLst>
            <c:ext xmlns:c16="http://schemas.microsoft.com/office/drawing/2014/chart" uri="{C3380CC4-5D6E-409C-BE32-E72D297353CC}">
              <c16:uniqueId val="{00000000-1978-4693-9BC9-F3EBFFE6FCF1}"/>
            </c:ext>
          </c:extLst>
        </c:ser>
        <c:ser>
          <c:idx val="1"/>
          <c:order val="1"/>
          <c:tx>
            <c:strRef>
              <c:f>'LP Policy Evaluation'!$C$26</c:f>
              <c:strCache>
                <c:ptCount val="1"/>
                <c:pt idx="0">
                  <c:v>Constraint V(s2)</c:v>
                </c:pt>
              </c:strCache>
            </c:strRef>
          </c:tx>
          <c:spPr>
            <a:ln w="19050" cap="rnd">
              <a:solidFill>
                <a:schemeClr val="accent2"/>
              </a:solidFill>
              <a:round/>
            </a:ln>
            <a:effectLst/>
          </c:spPr>
          <c:marker>
            <c:symbol val="none"/>
          </c:marker>
          <c:xVal>
            <c:numRef>
              <c:f>'LP Policy Evaluation'!$A$27:$A$28</c:f>
              <c:numCache>
                <c:formatCode>0.00</c:formatCode>
                <c:ptCount val="2"/>
                <c:pt idx="0">
                  <c:v>0</c:v>
                </c:pt>
                <c:pt idx="1">
                  <c:v>50</c:v>
                </c:pt>
              </c:numCache>
            </c:numRef>
          </c:xVal>
          <c:yVal>
            <c:numRef>
              <c:f>'LP Policy Evaluation'!$C$27:$C$28</c:f>
              <c:numCache>
                <c:formatCode>0.00</c:formatCode>
                <c:ptCount val="2"/>
                <c:pt idx="0">
                  <c:v>10.526315789473687</c:v>
                </c:pt>
                <c:pt idx="1">
                  <c:v>34.210526315789487</c:v>
                </c:pt>
              </c:numCache>
            </c:numRef>
          </c:yVal>
          <c:smooth val="0"/>
          <c:extLst>
            <c:ext xmlns:c16="http://schemas.microsoft.com/office/drawing/2014/chart" uri="{C3380CC4-5D6E-409C-BE32-E72D297353CC}">
              <c16:uniqueId val="{00000001-1978-4693-9BC9-F3EBFFE6FCF1}"/>
            </c:ext>
          </c:extLst>
        </c:ser>
        <c:dLbls>
          <c:showLegendKey val="0"/>
          <c:showVal val="0"/>
          <c:showCatName val="0"/>
          <c:showSerName val="0"/>
          <c:showPercent val="0"/>
          <c:showBubbleSize val="0"/>
        </c:dLbls>
        <c:axId val="938217840"/>
        <c:axId val="1015613472"/>
      </c:scatterChart>
      <c:valAx>
        <c:axId val="938217840"/>
        <c:scaling>
          <c:orientation val="minMax"/>
          <c:max val="40"/>
        </c:scaling>
        <c:delete val="0"/>
        <c:axPos val="b"/>
        <c:majorGridlines>
          <c:spPr>
            <a:ln w="9525" cap="flat" cmpd="sng" algn="ctr">
              <a:solidFill>
                <a:schemeClr val="tx1">
                  <a:lumMod val="15000"/>
                  <a:lumOff val="85000"/>
                </a:schemeClr>
              </a:solidFill>
              <a:round/>
            </a:ln>
            <a:effectLst/>
          </c:spPr>
        </c:majorGridlines>
        <c:title>
          <c:tx>
            <c:rich>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V(s1)</a:t>
                </a:r>
              </a:p>
            </c:rich>
          </c:tx>
          <c:overlay val="0"/>
          <c:spPr>
            <a:noFill/>
            <a:ln>
              <a:noFill/>
            </a:ln>
            <a:effectLst/>
          </c:spPr>
          <c:txPr>
            <a:bodyPr rot="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0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1015613472"/>
        <c:crosses val="autoZero"/>
        <c:crossBetween val="midCat"/>
      </c:valAx>
      <c:valAx>
        <c:axId val="1015613472"/>
        <c:scaling>
          <c:orientation val="minMax"/>
          <c:max val="40"/>
          <c:min val="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r>
                  <a:rPr lang="en-US"/>
                  <a:t>V(s2)</a:t>
                </a:r>
              </a:p>
            </c:rich>
          </c:tx>
          <c:overlay val="0"/>
          <c:spPr>
            <a:noFill/>
            <a:ln>
              <a:noFill/>
            </a:ln>
            <a:effectLst/>
          </c:spPr>
          <c:txPr>
            <a:bodyPr rot="-5400000" spcFirstLastPara="1" vertOverflow="ellipsis" vert="horz" wrap="square" anchor="ctr" anchorCtr="1"/>
            <a:lstStyle/>
            <a:p>
              <a:pPr>
                <a:defRPr sz="1000" b="0" i="0" u="none" strike="noStrike" kern="1200" baseline="0">
                  <a:solidFill>
                    <a:schemeClr val="tx1">
                      <a:lumMod val="65000"/>
                      <a:lumOff val="35000"/>
                    </a:schemeClr>
                  </a:solidFill>
                  <a:latin typeface="+mn-lt"/>
                  <a:ea typeface="+mn-ea"/>
                  <a:cs typeface="+mn-cs"/>
                </a:defRPr>
              </a:pPr>
              <a:endParaRPr lang="en-US"/>
            </a:p>
          </c:txPr>
        </c:title>
        <c:numFmt formatCode="0.00"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crossAx val="938217840"/>
        <c:crosses val="autoZero"/>
        <c:crossBetween val="midCat"/>
        <c:majorUnit val="10"/>
      </c:val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D5558-2701-D852-1A01-0BF39B58DEE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0E150F4-19D6-3927-AF4C-79938CACB9B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7A1C3DC3-6BE4-4AD5-BF83-83DBE6741D39}"/>
              </a:ext>
            </a:extLst>
          </p:cNvPr>
          <p:cNvSpPr>
            <a:spLocks noGrp="1"/>
          </p:cNvSpPr>
          <p:nvPr>
            <p:ph type="dt" sz="half" idx="10"/>
          </p:nvPr>
        </p:nvSpPr>
        <p:spPr/>
        <p:txBody>
          <a:bodyPr/>
          <a:lstStyle/>
          <a:p>
            <a:fld id="{3E22BF2E-04DA-469E-97C5-BB68A0368813}" type="datetimeFigureOut">
              <a:rPr lang="en-US" smtClean="0"/>
              <a:t>10/15/26</a:t>
            </a:fld>
            <a:endParaRPr lang="en-US"/>
          </a:p>
        </p:txBody>
      </p:sp>
      <p:sp>
        <p:nvSpPr>
          <p:cNvPr id="5" name="Footer Placeholder 4">
            <a:extLst>
              <a:ext uri="{FF2B5EF4-FFF2-40B4-BE49-F238E27FC236}">
                <a16:creationId xmlns:a16="http://schemas.microsoft.com/office/drawing/2014/main" id="{4BCD0FF9-FEE5-7DEA-F2A0-04CD3C8E9F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FBCCB2C-BF64-0CEB-C138-EC1E0FF17963}"/>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20773802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3EA809-C199-A2CA-4B62-C11FD83604C0}"/>
              </a:ext>
            </a:extLst>
          </p:cNvPr>
          <p:cNvSpPr>
            <a:spLocks noGrp="1"/>
          </p:cNvSpPr>
          <p:nvPr>
            <p:ph type="title"/>
          </p:nvPr>
        </p:nvSpPr>
        <p:spPr>
          <a:xfrm>
            <a:off x="838200" y="365126"/>
            <a:ext cx="10515600" cy="759072"/>
          </a:xfrm>
        </p:spPr>
        <p:txBody>
          <a:bodyPr/>
          <a:lstStyle/>
          <a:p>
            <a:r>
              <a:rPr lang="en-US"/>
              <a:t>Click to edit Master title style</a:t>
            </a:r>
          </a:p>
        </p:txBody>
      </p:sp>
      <p:sp>
        <p:nvSpPr>
          <p:cNvPr id="3" name="Content Placeholder 2">
            <a:extLst>
              <a:ext uri="{FF2B5EF4-FFF2-40B4-BE49-F238E27FC236}">
                <a16:creationId xmlns:a16="http://schemas.microsoft.com/office/drawing/2014/main" id="{A9ABD398-BC57-413F-4426-6AE62DCF0FF4}"/>
              </a:ext>
            </a:extLst>
          </p:cNvPr>
          <p:cNvSpPr>
            <a:spLocks noGrp="1"/>
          </p:cNvSpPr>
          <p:nvPr>
            <p:ph idx="1"/>
          </p:nvPr>
        </p:nvSpPr>
        <p:spPr>
          <a:xfrm>
            <a:off x="838200" y="1397330"/>
            <a:ext cx="10515600" cy="4779633"/>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8F009A95-DE70-5583-0BB6-25CA049AFAD6}"/>
              </a:ext>
            </a:extLst>
          </p:cNvPr>
          <p:cNvSpPr>
            <a:spLocks noGrp="1"/>
          </p:cNvSpPr>
          <p:nvPr>
            <p:ph type="dt" sz="half" idx="10"/>
          </p:nvPr>
        </p:nvSpPr>
        <p:spPr/>
        <p:txBody>
          <a:bodyPr/>
          <a:lstStyle/>
          <a:p>
            <a:fld id="{3E22BF2E-04DA-469E-97C5-BB68A0368813}" type="datetimeFigureOut">
              <a:rPr lang="en-US" smtClean="0"/>
              <a:t>10/15/26</a:t>
            </a:fld>
            <a:endParaRPr lang="en-US"/>
          </a:p>
        </p:txBody>
      </p:sp>
      <p:sp>
        <p:nvSpPr>
          <p:cNvPr id="5" name="Footer Placeholder 4">
            <a:extLst>
              <a:ext uri="{FF2B5EF4-FFF2-40B4-BE49-F238E27FC236}">
                <a16:creationId xmlns:a16="http://schemas.microsoft.com/office/drawing/2014/main" id="{722F8C87-113F-3949-D291-E8101A072BA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968CBE1-6776-590E-6A36-B274F6F6168A}"/>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24271652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37B990-0C44-FE72-89C1-7BAFB2C892A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1BF51AA-25F1-19ED-49F4-909710D8F4A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86F3394-E947-7BBC-4B4E-FC222CF9E355}"/>
              </a:ext>
            </a:extLst>
          </p:cNvPr>
          <p:cNvSpPr>
            <a:spLocks noGrp="1"/>
          </p:cNvSpPr>
          <p:nvPr>
            <p:ph type="dt" sz="half" idx="10"/>
          </p:nvPr>
        </p:nvSpPr>
        <p:spPr/>
        <p:txBody>
          <a:bodyPr/>
          <a:lstStyle/>
          <a:p>
            <a:fld id="{3E22BF2E-04DA-469E-97C5-BB68A0368813}" type="datetimeFigureOut">
              <a:rPr lang="en-US" smtClean="0"/>
              <a:t>10/15/26</a:t>
            </a:fld>
            <a:endParaRPr lang="en-US"/>
          </a:p>
        </p:txBody>
      </p:sp>
      <p:sp>
        <p:nvSpPr>
          <p:cNvPr id="5" name="Footer Placeholder 4">
            <a:extLst>
              <a:ext uri="{FF2B5EF4-FFF2-40B4-BE49-F238E27FC236}">
                <a16:creationId xmlns:a16="http://schemas.microsoft.com/office/drawing/2014/main" id="{D0090F51-989A-F265-1B59-526B06EC070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A96400B-F255-95CF-8BD8-3D8AE595A270}"/>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25583376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0DC8DE-D8D3-04F9-7952-B3C9B444DE1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05C6199-C068-6A1D-B9C6-37C04A922F6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CB26636-1E6C-5A66-DCE9-40F0239C9A0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485DEA3-FC5C-77B6-8AEC-BF4A26C7605A}"/>
              </a:ext>
            </a:extLst>
          </p:cNvPr>
          <p:cNvSpPr>
            <a:spLocks noGrp="1"/>
          </p:cNvSpPr>
          <p:nvPr>
            <p:ph type="dt" sz="half" idx="10"/>
          </p:nvPr>
        </p:nvSpPr>
        <p:spPr/>
        <p:txBody>
          <a:bodyPr/>
          <a:lstStyle/>
          <a:p>
            <a:fld id="{3E22BF2E-04DA-469E-97C5-BB68A0368813}" type="datetimeFigureOut">
              <a:rPr lang="en-US" smtClean="0"/>
              <a:t>10/15/26</a:t>
            </a:fld>
            <a:endParaRPr lang="en-US"/>
          </a:p>
        </p:txBody>
      </p:sp>
      <p:sp>
        <p:nvSpPr>
          <p:cNvPr id="6" name="Footer Placeholder 5">
            <a:extLst>
              <a:ext uri="{FF2B5EF4-FFF2-40B4-BE49-F238E27FC236}">
                <a16:creationId xmlns:a16="http://schemas.microsoft.com/office/drawing/2014/main" id="{50A2BAE8-516B-EE07-0EF8-4E37D353BE3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F1D7F8D-0B8A-CA54-C5D1-DAFB9A217260}"/>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18095358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37762D-C67C-6FB4-D8AF-A2AEADD0B2F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A66F3E59-5CAF-AE52-066A-662EAF232F9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8294A81-151A-F8B5-9A7D-43577F3F693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CBDED1E-7743-9D82-5A8F-215AF2DB838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3E3FED4-7E43-512F-BDC2-AB5A6F6A961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CE71D6A-F625-133A-E751-2B967B94A668}"/>
              </a:ext>
            </a:extLst>
          </p:cNvPr>
          <p:cNvSpPr>
            <a:spLocks noGrp="1"/>
          </p:cNvSpPr>
          <p:nvPr>
            <p:ph type="dt" sz="half" idx="10"/>
          </p:nvPr>
        </p:nvSpPr>
        <p:spPr/>
        <p:txBody>
          <a:bodyPr/>
          <a:lstStyle/>
          <a:p>
            <a:fld id="{3E22BF2E-04DA-469E-97C5-BB68A0368813}" type="datetimeFigureOut">
              <a:rPr lang="en-US" smtClean="0"/>
              <a:t>10/15/26</a:t>
            </a:fld>
            <a:endParaRPr lang="en-US"/>
          </a:p>
        </p:txBody>
      </p:sp>
      <p:sp>
        <p:nvSpPr>
          <p:cNvPr id="8" name="Footer Placeholder 7">
            <a:extLst>
              <a:ext uri="{FF2B5EF4-FFF2-40B4-BE49-F238E27FC236}">
                <a16:creationId xmlns:a16="http://schemas.microsoft.com/office/drawing/2014/main" id="{33256629-E601-1BA5-526C-36960EEBE0E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665DDDF-B6D4-29FB-6B7F-C7017B4EABAD}"/>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349571708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42B25A-3F20-51F4-D136-F73B176833C2}"/>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EFF8609-CAA0-6678-FCA9-C0252974D715}"/>
              </a:ext>
            </a:extLst>
          </p:cNvPr>
          <p:cNvSpPr>
            <a:spLocks noGrp="1"/>
          </p:cNvSpPr>
          <p:nvPr>
            <p:ph type="dt" sz="half" idx="10"/>
          </p:nvPr>
        </p:nvSpPr>
        <p:spPr/>
        <p:txBody>
          <a:bodyPr/>
          <a:lstStyle/>
          <a:p>
            <a:fld id="{3E22BF2E-04DA-469E-97C5-BB68A0368813}" type="datetimeFigureOut">
              <a:rPr lang="en-US" smtClean="0"/>
              <a:t>10/15/26</a:t>
            </a:fld>
            <a:endParaRPr lang="en-US"/>
          </a:p>
        </p:txBody>
      </p:sp>
      <p:sp>
        <p:nvSpPr>
          <p:cNvPr id="4" name="Footer Placeholder 3">
            <a:extLst>
              <a:ext uri="{FF2B5EF4-FFF2-40B4-BE49-F238E27FC236}">
                <a16:creationId xmlns:a16="http://schemas.microsoft.com/office/drawing/2014/main" id="{E911A081-E4EB-7E96-A0AA-2E4D49099832}"/>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5DD0AC27-1467-337C-D636-190385E39769}"/>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29573179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EC8C3DB-E47E-C122-D7BD-AAAC105B291A}"/>
              </a:ext>
            </a:extLst>
          </p:cNvPr>
          <p:cNvSpPr>
            <a:spLocks noGrp="1"/>
          </p:cNvSpPr>
          <p:nvPr>
            <p:ph type="dt" sz="half" idx="10"/>
          </p:nvPr>
        </p:nvSpPr>
        <p:spPr/>
        <p:txBody>
          <a:bodyPr/>
          <a:lstStyle/>
          <a:p>
            <a:fld id="{3E22BF2E-04DA-469E-97C5-BB68A0368813}" type="datetimeFigureOut">
              <a:rPr lang="en-US" smtClean="0"/>
              <a:t>10/15/26</a:t>
            </a:fld>
            <a:endParaRPr lang="en-US"/>
          </a:p>
        </p:txBody>
      </p:sp>
      <p:sp>
        <p:nvSpPr>
          <p:cNvPr id="3" name="Footer Placeholder 2">
            <a:extLst>
              <a:ext uri="{FF2B5EF4-FFF2-40B4-BE49-F238E27FC236}">
                <a16:creationId xmlns:a16="http://schemas.microsoft.com/office/drawing/2014/main" id="{12194795-A7C6-B915-9849-6DDF9E5561D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ABBD6E5-D6AC-7828-B9FA-162561BDB702}"/>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35875874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CDDA5E-FB2F-65E3-9AC6-77E9E333A26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EF88CA7-EDCF-7BC9-0D50-5F550487A70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7F96387-78E1-111C-2860-3620802599F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8A170FC-BF4D-52B4-3D96-975E35B67EE0}"/>
              </a:ext>
            </a:extLst>
          </p:cNvPr>
          <p:cNvSpPr>
            <a:spLocks noGrp="1"/>
          </p:cNvSpPr>
          <p:nvPr>
            <p:ph type="dt" sz="half" idx="10"/>
          </p:nvPr>
        </p:nvSpPr>
        <p:spPr/>
        <p:txBody>
          <a:bodyPr/>
          <a:lstStyle/>
          <a:p>
            <a:fld id="{3E22BF2E-04DA-469E-97C5-BB68A0368813}" type="datetimeFigureOut">
              <a:rPr lang="en-US" smtClean="0"/>
              <a:t>10/15/26</a:t>
            </a:fld>
            <a:endParaRPr lang="en-US"/>
          </a:p>
        </p:txBody>
      </p:sp>
      <p:sp>
        <p:nvSpPr>
          <p:cNvPr id="6" name="Footer Placeholder 5">
            <a:extLst>
              <a:ext uri="{FF2B5EF4-FFF2-40B4-BE49-F238E27FC236}">
                <a16:creationId xmlns:a16="http://schemas.microsoft.com/office/drawing/2014/main" id="{13EB24C2-CDEC-1D6D-42DB-F885EAF6C23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9ACA044-7F46-1F0F-A966-A66706F2D13F}"/>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74319248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692354-EE3F-C81F-2C98-42CA24F0424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B37B54A-0E38-1C0F-EA90-8D9A628CC2C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2DF9108-1890-E2BF-7EA2-A2F28DEA6C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D668F02-6193-91DC-69E0-6CC09A2476EE}"/>
              </a:ext>
            </a:extLst>
          </p:cNvPr>
          <p:cNvSpPr>
            <a:spLocks noGrp="1"/>
          </p:cNvSpPr>
          <p:nvPr>
            <p:ph type="dt" sz="half" idx="10"/>
          </p:nvPr>
        </p:nvSpPr>
        <p:spPr/>
        <p:txBody>
          <a:bodyPr/>
          <a:lstStyle/>
          <a:p>
            <a:fld id="{3E22BF2E-04DA-469E-97C5-BB68A0368813}" type="datetimeFigureOut">
              <a:rPr lang="en-US" smtClean="0"/>
              <a:t>10/15/26</a:t>
            </a:fld>
            <a:endParaRPr lang="en-US"/>
          </a:p>
        </p:txBody>
      </p:sp>
      <p:sp>
        <p:nvSpPr>
          <p:cNvPr id="6" name="Footer Placeholder 5">
            <a:extLst>
              <a:ext uri="{FF2B5EF4-FFF2-40B4-BE49-F238E27FC236}">
                <a16:creationId xmlns:a16="http://schemas.microsoft.com/office/drawing/2014/main" id="{2534B642-5606-ACB8-4ADF-6DDE8BE4B5C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F89560E-8858-1CED-6B2E-1EF0F58F2FAF}"/>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35947570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5BA8BF-0F66-F00E-4527-03CBDE1E6F7C}"/>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548F7C1-32BC-0F71-0130-0DFB9C183A5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C59C7E0-3252-37DB-73A7-7F070748FFEC}"/>
              </a:ext>
            </a:extLst>
          </p:cNvPr>
          <p:cNvSpPr>
            <a:spLocks noGrp="1"/>
          </p:cNvSpPr>
          <p:nvPr>
            <p:ph type="dt" sz="half" idx="10"/>
          </p:nvPr>
        </p:nvSpPr>
        <p:spPr/>
        <p:txBody>
          <a:bodyPr/>
          <a:lstStyle/>
          <a:p>
            <a:fld id="{3E22BF2E-04DA-469E-97C5-BB68A0368813}" type="datetimeFigureOut">
              <a:rPr lang="en-US" smtClean="0"/>
              <a:t>10/15/26</a:t>
            </a:fld>
            <a:endParaRPr lang="en-US"/>
          </a:p>
        </p:txBody>
      </p:sp>
      <p:sp>
        <p:nvSpPr>
          <p:cNvPr id="5" name="Footer Placeholder 4">
            <a:extLst>
              <a:ext uri="{FF2B5EF4-FFF2-40B4-BE49-F238E27FC236}">
                <a16:creationId xmlns:a16="http://schemas.microsoft.com/office/drawing/2014/main" id="{A676C5EE-EAD9-8D18-3741-930600D3BD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05647D8-342D-AED5-3763-DD02F7C2A439}"/>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6508442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DD0B639-7A1F-68FA-45DD-3196E2CB572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8CF4F1BB-B40D-E6E4-111B-122348C261F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C52DAFD-560D-9508-6F31-281EC974361A}"/>
              </a:ext>
            </a:extLst>
          </p:cNvPr>
          <p:cNvSpPr>
            <a:spLocks noGrp="1"/>
          </p:cNvSpPr>
          <p:nvPr>
            <p:ph type="dt" sz="half" idx="10"/>
          </p:nvPr>
        </p:nvSpPr>
        <p:spPr/>
        <p:txBody>
          <a:bodyPr/>
          <a:lstStyle/>
          <a:p>
            <a:fld id="{3E22BF2E-04DA-469E-97C5-BB68A0368813}" type="datetimeFigureOut">
              <a:rPr lang="en-US" smtClean="0"/>
              <a:t>10/15/26</a:t>
            </a:fld>
            <a:endParaRPr lang="en-US"/>
          </a:p>
        </p:txBody>
      </p:sp>
      <p:sp>
        <p:nvSpPr>
          <p:cNvPr id="5" name="Footer Placeholder 4">
            <a:extLst>
              <a:ext uri="{FF2B5EF4-FFF2-40B4-BE49-F238E27FC236}">
                <a16:creationId xmlns:a16="http://schemas.microsoft.com/office/drawing/2014/main" id="{F90C6320-E161-CE4A-CBDD-27072D2A155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4C3E81-2AD2-5FBE-B6F5-1512F3AF9719}"/>
              </a:ext>
            </a:extLst>
          </p:cNvPr>
          <p:cNvSpPr>
            <a:spLocks noGrp="1"/>
          </p:cNvSpPr>
          <p:nvPr>
            <p:ph type="sldNum" sz="quarter" idx="12"/>
          </p:nvPr>
        </p:nvSpPr>
        <p:spPr/>
        <p:txBody>
          <a:bodyPr/>
          <a:lstStyle/>
          <a:p>
            <a:fld id="{B3362146-1680-4254-AA84-26EEDD41027B}" type="slidenum">
              <a:rPr lang="en-US" smtClean="0"/>
              <a:t>‹#›</a:t>
            </a:fld>
            <a:endParaRPr lang="en-US"/>
          </a:p>
        </p:txBody>
      </p:sp>
    </p:spTree>
    <p:extLst>
      <p:ext uri="{BB962C8B-B14F-4D97-AF65-F5344CB8AC3E}">
        <p14:creationId xmlns:p14="http://schemas.microsoft.com/office/powerpoint/2010/main" val="35705800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C946CF1-7E31-D1FD-63E0-29688510ED5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5499997-F7F8-3FB5-F294-092654769C9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2FEC26E-B485-AE94-5C91-D0E504CEB56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E22BF2E-04DA-469E-97C5-BB68A0368813}" type="datetimeFigureOut">
              <a:rPr lang="en-US" smtClean="0"/>
              <a:t>10/15/26</a:t>
            </a:fld>
            <a:endParaRPr lang="en-US"/>
          </a:p>
        </p:txBody>
      </p:sp>
      <p:sp>
        <p:nvSpPr>
          <p:cNvPr id="5" name="Footer Placeholder 4">
            <a:extLst>
              <a:ext uri="{FF2B5EF4-FFF2-40B4-BE49-F238E27FC236}">
                <a16:creationId xmlns:a16="http://schemas.microsoft.com/office/drawing/2014/main" id="{4A3ECD47-D4F5-A47B-6CA1-E8E47C1C43B8}"/>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C9C8C2B9-7B85-792D-492E-EE9D50875A0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3362146-1680-4254-AA84-26EEDD41027B}" type="slidenum">
              <a:rPr lang="en-US" smtClean="0"/>
              <a:t>‹#›</a:t>
            </a:fld>
            <a:endParaRPr lang="en-US"/>
          </a:p>
        </p:txBody>
      </p:sp>
    </p:spTree>
    <p:extLst>
      <p:ext uri="{BB962C8B-B14F-4D97-AF65-F5344CB8AC3E}">
        <p14:creationId xmlns:p14="http://schemas.microsoft.com/office/powerpoint/2010/main" val="9587391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5.png"/><Relationship Id="rId2" Type="http://schemas.openxmlformats.org/officeDocument/2006/relationships/image" Target="../media/image1.jpeg"/><Relationship Id="rId1" Type="http://schemas.openxmlformats.org/officeDocument/2006/relationships/slideLayout" Target="../slideLayouts/slideLayout1.xml"/><Relationship Id="rId6" Type="http://schemas.openxmlformats.org/officeDocument/2006/relationships/hyperlink" Target="https://creativecommons.org/licenses/by-nc-sa/4.0/" TargetMode="External"/><Relationship Id="rId5" Type="http://schemas.openxmlformats.org/officeDocument/2006/relationships/image" Target="../media/image4.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90.png"/><Relationship Id="rId2" Type="http://schemas.openxmlformats.org/officeDocument/2006/relationships/image" Target="../media/image40.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chart" Target="../charts/chart1.xml"/><Relationship Id="rId4" Type="http://schemas.openxmlformats.org/officeDocument/2006/relationships/chart" Target="../charts/chart1.xml"/></Relationships>
</file>

<file path=ppt/slides/_rels/slide10.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42.png"/><Relationship Id="rId7" Type="http://schemas.openxmlformats.org/officeDocument/2006/relationships/image" Target="../media/image151.png"/><Relationship Id="rId1" Type="http://schemas.openxmlformats.org/officeDocument/2006/relationships/slideLayout" Target="../slideLayouts/slideLayout2.xml"/><Relationship Id="rId6" Type="http://schemas.openxmlformats.org/officeDocument/2006/relationships/image" Target="../media/image141.png"/><Relationship Id="rId5" Type="http://schemas.openxmlformats.org/officeDocument/2006/relationships/image" Target="../media/image15.png"/><Relationship Id="rId4" Type="http://schemas.openxmlformats.org/officeDocument/2006/relationships/image" Target="../media/image14.png"/></Relationships>
</file>

<file path=ppt/slides/_rels/slide11.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9.png"/><Relationship Id="rId7" Type="http://schemas.openxmlformats.org/officeDocument/2006/relationships/image" Target="../media/image151.png"/><Relationship Id="rId12" Type="http://schemas.openxmlformats.org/officeDocument/2006/relationships/image" Target="../media/image25.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141.png"/><Relationship Id="rId11" Type="http://schemas.openxmlformats.org/officeDocument/2006/relationships/image" Target="../media/image24.png"/><Relationship Id="rId5" Type="http://schemas.openxmlformats.org/officeDocument/2006/relationships/image" Target="../media/image21.png"/><Relationship Id="rId10" Type="http://schemas.openxmlformats.org/officeDocument/2006/relationships/image" Target="../media/image23.png"/><Relationship Id="rId9" Type="http://schemas.openxmlformats.org/officeDocument/2006/relationships/image" Target="../media/image22.png"/></Relationships>
</file>

<file path=ppt/slides/_rels/slide12.xml.rels><?xml version="1.0" encoding="UTF-8" standalone="yes"?>
<Relationships xmlns="http://schemas.openxmlformats.org/package/2006/relationships"><Relationship Id="rId3" Type="http://schemas.openxmlformats.org/officeDocument/2006/relationships/image" Target="../media/image201.png"/><Relationship Id="rId2" Type="http://schemas.openxmlformats.org/officeDocument/2006/relationships/image" Target="../media/image17.png"/><Relationship Id="rId1" Type="http://schemas.openxmlformats.org/officeDocument/2006/relationships/slideLayout" Target="../slideLayouts/slideLayout2.xml"/><Relationship Id="rId6" Type="http://schemas.openxmlformats.org/officeDocument/2006/relationships/image" Target="../media/image230.png"/><Relationship Id="rId5" Type="http://schemas.openxmlformats.org/officeDocument/2006/relationships/image" Target="../media/image221.png"/><Relationship Id="rId4" Type="http://schemas.openxmlformats.org/officeDocument/2006/relationships/image" Target="../media/image2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4" Type="http://schemas.openxmlformats.org/officeDocument/2006/relationships/image" Target="../media/image28.png"/></Relationships>
</file>

<file path=ppt/slides/_rels/slide15.xml.rels><?xml version="1.0" encoding="UTF-8" standalone="yes"?>
<Relationships xmlns="http://schemas.openxmlformats.org/package/2006/relationships"><Relationship Id="rId8" Type="http://schemas.openxmlformats.org/officeDocument/2006/relationships/image" Target="../media/image270.png"/><Relationship Id="rId3" Type="http://schemas.openxmlformats.org/officeDocument/2006/relationships/image" Target="../media/image260.png"/><Relationship Id="rId7" Type="http://schemas.openxmlformats.org/officeDocument/2006/relationships/image" Target="../media/image150.png"/><Relationship Id="rId2" Type="http://schemas.openxmlformats.org/officeDocument/2006/relationships/image" Target="../media/image250.png"/><Relationship Id="rId1" Type="http://schemas.openxmlformats.org/officeDocument/2006/relationships/slideLayout" Target="../slideLayouts/slideLayout2.xml"/><Relationship Id="rId6" Type="http://schemas.openxmlformats.org/officeDocument/2006/relationships/image" Target="../media/image140.png"/><Relationship Id="rId5" Type="http://schemas.openxmlformats.org/officeDocument/2006/relationships/image" Target="../media/image130.png"/><Relationship Id="rId4" Type="http://schemas.openxmlformats.org/officeDocument/2006/relationships/image" Target="../media/image120.png"/></Relationships>
</file>

<file path=ppt/slides/_rels/slide1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90.png"/><Relationship Id="rId7" Type="http://schemas.openxmlformats.org/officeDocument/2006/relationships/image" Target="../media/image310.png"/><Relationship Id="rId2" Type="http://schemas.openxmlformats.org/officeDocument/2006/relationships/image" Target="../media/image291.png"/><Relationship Id="rId1" Type="http://schemas.openxmlformats.org/officeDocument/2006/relationships/slideLayout" Target="../slideLayouts/slideLayout2.xml"/><Relationship Id="rId6" Type="http://schemas.openxmlformats.org/officeDocument/2006/relationships/image" Target="../media/image220.png"/><Relationship Id="rId5" Type="http://schemas.openxmlformats.org/officeDocument/2006/relationships/image" Target="../media/image210.png"/><Relationship Id="rId4" Type="http://schemas.openxmlformats.org/officeDocument/2006/relationships/image" Target="../media/image200.png"/></Relationships>
</file>

<file path=ppt/slides/_rels/slide1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3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3.png"/><Relationship Id="rId1" Type="http://schemas.openxmlformats.org/officeDocument/2006/relationships/slideLayout" Target="../slideLayouts/slideLayout2.xml"/><Relationship Id="rId4" Type="http://schemas.openxmlformats.org/officeDocument/2006/relationships/image" Target="../media/image34.png"/></Relationships>
</file>

<file path=ppt/slides/_rels/slide2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38.png"/><Relationship Id="rId1" Type="http://schemas.openxmlformats.org/officeDocument/2006/relationships/slideLayout" Target="../slideLayouts/slideLayout2.xml"/><Relationship Id="rId4"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671A8AE-40A1-4631-A6B8-581AFF0654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72B02EEF-8413-288E-566D-063A066A6CBC}"/>
              </a:ext>
              <a:ext uri="{C183D7F6-B498-43B3-948B-1728B52AA6E4}">
                <adec:decorative xmlns:adec="http://schemas.microsoft.com/office/drawing/2017/decorative" val="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377" r="23298" b="3714"/>
          <a:stretch>
            <a:fillRect/>
          </a:stretch>
        </p:blipFill>
        <p:spPr bwMode="auto">
          <a:xfrm>
            <a:off x="3527560" y="-1502"/>
            <a:ext cx="8668512" cy="6857990"/>
          </a:xfrm>
          <a:prstGeom prst="rect">
            <a:avLst/>
          </a:prstGeom>
          <a:noFill/>
          <a:extLst>
            <a:ext uri="{909E8E84-426E-40DD-AFC4-6F175D3DCCD1}">
              <a14:hiddenFill xmlns:a14="http://schemas.microsoft.com/office/drawing/2010/main">
                <a:solidFill>
                  <a:srgbClr val="FFFFFF"/>
                </a:solidFill>
              </a14:hiddenFill>
            </a:ext>
          </a:extLst>
        </p:spPr>
      </p:pic>
      <p:sp>
        <p:nvSpPr>
          <p:cNvPr id="12" name="Rectangle 11">
            <a:extLst>
              <a:ext uri="{FF2B5EF4-FFF2-40B4-BE49-F238E27FC236}">
                <a16:creationId xmlns:a16="http://schemas.microsoft.com/office/drawing/2014/main" id="{AB58EF07-17C2-48CF-ABB0-EEF1F17CB8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 y="0"/>
            <a:ext cx="9339206" cy="6858000"/>
          </a:xfrm>
          <a:prstGeom prst="rect">
            <a:avLst/>
          </a:prstGeom>
          <a:gradFill>
            <a:gsLst>
              <a:gs pos="58000">
                <a:schemeClr val="tx1"/>
              </a:gs>
              <a:gs pos="33000">
                <a:schemeClr val="tx1">
                  <a:alpha val="64000"/>
                </a:schemeClr>
              </a:gs>
              <a:gs pos="0">
                <a:schemeClr val="tx1">
                  <a:alpha val="0"/>
                </a:schemeClr>
              </a:gs>
              <a:gs pos="100000">
                <a:schemeClr val="tx1"/>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pic>
        <p:nvPicPr>
          <p:cNvPr id="6" name="Picture 4">
            <a:extLst>
              <a:ext uri="{FF2B5EF4-FFF2-40B4-BE49-F238E27FC236}">
                <a16:creationId xmlns:a16="http://schemas.microsoft.com/office/drawing/2014/main" id="{DF818925-CF68-EB6E-413D-FFCD573CCFF7}"/>
              </a:ext>
              <a:ext uri="{C183D7F6-B498-43B3-948B-1728B52AA6E4}">
                <adec:decorative xmlns:adec="http://schemas.microsoft.com/office/drawing/2017/decorative" val="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87456" y="125210"/>
            <a:ext cx="4182403" cy="1000945"/>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A51EE42B-57B4-EB74-A37C-6675858E7D29}"/>
              </a:ext>
            </a:extLst>
          </p:cNvPr>
          <p:cNvSpPr>
            <a:spLocks noGrp="1"/>
          </p:cNvSpPr>
          <p:nvPr>
            <p:ph type="ctrTitle"/>
          </p:nvPr>
        </p:nvSpPr>
        <p:spPr>
          <a:xfrm>
            <a:off x="477981" y="1122363"/>
            <a:ext cx="4463968" cy="3204134"/>
          </a:xfrm>
        </p:spPr>
        <p:txBody>
          <a:bodyPr anchor="b">
            <a:normAutofit fontScale="90000"/>
          </a:bodyPr>
          <a:lstStyle/>
          <a:p>
            <a:pPr algn="l"/>
            <a:r>
              <a:rPr lang="en-US" sz="4800" dirty="0">
                <a:solidFill>
                  <a:schemeClr val="bg1"/>
                </a:solidFill>
              </a:rPr>
              <a:t>Reinforcement Learning</a:t>
            </a:r>
            <a:br>
              <a:rPr lang="en-US" sz="4800" dirty="0">
                <a:solidFill>
                  <a:schemeClr val="bg1"/>
                </a:solidFill>
              </a:rPr>
            </a:br>
            <a:br>
              <a:rPr lang="en-US" sz="4800" dirty="0">
                <a:solidFill>
                  <a:schemeClr val="bg1"/>
                </a:solidFill>
              </a:rPr>
            </a:br>
            <a:r>
              <a:rPr lang="en-US" sz="4000" dirty="0">
                <a:solidFill>
                  <a:schemeClr val="bg1"/>
                </a:solidFill>
              </a:rPr>
              <a:t>Dynamic Programming</a:t>
            </a:r>
            <a:br>
              <a:rPr lang="en-US" sz="4000" dirty="0">
                <a:solidFill>
                  <a:schemeClr val="bg1"/>
                </a:solidFill>
              </a:rPr>
            </a:br>
            <a:r>
              <a:rPr lang="en-US" sz="2800" dirty="0">
                <a:solidFill>
                  <a:schemeClr val="bg1"/>
                </a:solidFill>
              </a:rPr>
              <a:t>Sutton/Barto*</a:t>
            </a:r>
            <a:r>
              <a:rPr lang="en-US" sz="2700" dirty="0">
                <a:solidFill>
                  <a:schemeClr val="bg1"/>
                </a:solidFill>
              </a:rPr>
              <a:t> Chapter 4</a:t>
            </a:r>
          </a:p>
        </p:txBody>
      </p:sp>
      <p:sp>
        <p:nvSpPr>
          <p:cNvPr id="14" name="Rectangle 13">
            <a:extLst>
              <a:ext uri="{FF2B5EF4-FFF2-40B4-BE49-F238E27FC236}">
                <a16:creationId xmlns:a16="http://schemas.microsoft.com/office/drawing/2014/main" id="{AF2F604E-43BE-4DC3-B983-E071523364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9921" y="346791"/>
            <a:ext cx="146304"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6" name="Rectangle 15">
            <a:extLst>
              <a:ext uri="{FF2B5EF4-FFF2-40B4-BE49-F238E27FC236}">
                <a16:creationId xmlns:a16="http://schemas.microsoft.com/office/drawing/2014/main" id="{08C9B587-E65E-4B52-B37C-ABEBB6E879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1029" y="4546920"/>
            <a:ext cx="3977640" cy="18288"/>
          </a:xfrm>
          <a:prstGeom prst="rect">
            <a:avLst/>
          </a:prstGeom>
          <a:solidFill>
            <a:schemeClr val="tx1"/>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3" name="Subtitle 2">
            <a:extLst>
              <a:ext uri="{FF2B5EF4-FFF2-40B4-BE49-F238E27FC236}">
                <a16:creationId xmlns:a16="http://schemas.microsoft.com/office/drawing/2014/main" id="{7FFF10C2-8C10-0E89-D285-D614C36EEE69}"/>
              </a:ext>
              <a:ext uri="{C183D7F6-B498-43B3-948B-1728B52AA6E4}">
                <adec:decorative xmlns:adec="http://schemas.microsoft.com/office/drawing/2017/decorative" val="1"/>
              </a:ext>
            </a:extLst>
          </p:cNvPr>
          <p:cNvSpPr>
            <a:spLocks noGrp="1"/>
          </p:cNvSpPr>
          <p:nvPr>
            <p:ph type="subTitle" idx="1"/>
          </p:nvPr>
        </p:nvSpPr>
        <p:spPr>
          <a:xfrm>
            <a:off x="477982" y="4868822"/>
            <a:ext cx="4169519" cy="1443894"/>
          </a:xfrm>
        </p:spPr>
        <p:txBody>
          <a:bodyPr>
            <a:normAutofit fontScale="92500"/>
          </a:bodyPr>
          <a:lstStyle/>
          <a:p>
            <a:pPr algn="l"/>
            <a:r>
              <a:rPr lang="en-US" sz="1700" dirty="0">
                <a:solidFill>
                  <a:schemeClr val="bg1"/>
                </a:solidFill>
              </a:rPr>
              <a:t>Michael Hahsler, SMU</a:t>
            </a:r>
          </a:p>
          <a:p>
            <a:pPr algn="l"/>
            <a:r>
              <a:rPr lang="en-US" sz="1300" dirty="0">
                <a:solidFill>
                  <a:schemeClr val="bg1"/>
                </a:solidFill>
              </a:rPr>
              <a:t>With figures from Sutton/Barto*</a:t>
            </a:r>
          </a:p>
          <a:p>
            <a:pPr algn="l"/>
            <a:endParaRPr lang="en-US" sz="1300" dirty="0">
              <a:solidFill>
                <a:schemeClr val="bg1"/>
              </a:solidFill>
            </a:endParaRPr>
          </a:p>
          <a:p>
            <a:pPr algn="l"/>
            <a:r>
              <a:rPr lang="en-US" sz="1300" dirty="0">
                <a:solidFill>
                  <a:schemeClr val="bg1"/>
                </a:solidFill>
              </a:rPr>
              <a:t>*Sutton and Barto, Reinforcement Learning: An Introduction, 2</a:t>
            </a:r>
            <a:r>
              <a:rPr lang="en-US" sz="1300" baseline="30000" dirty="0">
                <a:solidFill>
                  <a:schemeClr val="bg1"/>
                </a:solidFill>
              </a:rPr>
              <a:t>nd</a:t>
            </a:r>
            <a:r>
              <a:rPr lang="en-US" sz="1300" dirty="0">
                <a:solidFill>
                  <a:schemeClr val="bg1"/>
                </a:solidFill>
              </a:rPr>
              <a:t> edition, MIT Press, Cambridge, MA, 2018</a:t>
            </a:r>
          </a:p>
        </p:txBody>
      </p:sp>
      <p:grpSp>
        <p:nvGrpSpPr>
          <p:cNvPr id="7" name="Group 6">
            <a:extLst>
              <a:ext uri="{FF2B5EF4-FFF2-40B4-BE49-F238E27FC236}">
                <a16:creationId xmlns:a16="http://schemas.microsoft.com/office/drawing/2014/main" id="{DA1C6744-BD97-2C10-F393-A0B726F71E7A}"/>
              </a:ext>
              <a:ext uri="{C183D7F6-B498-43B3-948B-1728B52AA6E4}">
                <adec:decorative xmlns:adec="http://schemas.microsoft.com/office/drawing/2017/decorative" val="1"/>
              </a:ext>
            </a:extLst>
          </p:cNvPr>
          <p:cNvGrpSpPr/>
          <p:nvPr/>
        </p:nvGrpSpPr>
        <p:grpSpPr>
          <a:xfrm>
            <a:off x="10961015" y="4868822"/>
            <a:ext cx="1037459" cy="1303078"/>
            <a:chOff x="5248582" y="2401735"/>
            <a:chExt cx="1694835" cy="2054530"/>
          </a:xfrm>
        </p:grpSpPr>
        <p:pic>
          <p:nvPicPr>
            <p:cNvPr id="8" name="Picture 7">
              <a:extLst>
                <a:ext uri="{FF2B5EF4-FFF2-40B4-BE49-F238E27FC236}">
                  <a16:creationId xmlns:a16="http://schemas.microsoft.com/office/drawing/2014/main" id="{2F5FC233-1ACF-0EE9-5B1F-F0A29270EECF}"/>
                </a:ex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5248582" y="2401735"/>
              <a:ext cx="1694835" cy="2054530"/>
            </a:xfrm>
            <a:prstGeom prst="rect">
              <a:avLst/>
            </a:prstGeom>
          </p:spPr>
        </p:pic>
        <p:pic>
          <p:nvPicPr>
            <p:cNvPr id="9" name="Picture 8" descr="QR code linking to the online course material.">
              <a:extLst>
                <a:ext uri="{FF2B5EF4-FFF2-40B4-BE49-F238E27FC236}">
                  <a16:creationId xmlns:a16="http://schemas.microsoft.com/office/drawing/2014/main" id="{26CB3135-CE78-1137-FBA3-29AA8592D8FA}"/>
                </a:ext>
              </a:extLst>
            </p:cNvPr>
            <p:cNvPicPr>
              <a:picLocks noChangeAspect="1"/>
            </p:cNvPicPr>
            <p:nvPr/>
          </p:nvPicPr>
          <p:blipFill>
            <a:blip r:embed="rId5"/>
            <a:stretch>
              <a:fillRect/>
            </a:stretch>
          </p:blipFill>
          <p:spPr>
            <a:xfrm>
              <a:off x="5315643" y="2435129"/>
              <a:ext cx="1560711" cy="1560711"/>
            </a:xfrm>
            <a:prstGeom prst="rect">
              <a:avLst/>
            </a:prstGeom>
          </p:spPr>
        </p:pic>
      </p:grpSp>
      <p:pic>
        <p:nvPicPr>
          <p:cNvPr id="4" name="object 23">
            <a:hlinkClick r:id="rId6"/>
            <a:extLst>
              <a:ext uri="{FF2B5EF4-FFF2-40B4-BE49-F238E27FC236}">
                <a16:creationId xmlns:a16="http://schemas.microsoft.com/office/drawing/2014/main" id="{3CBD6548-3D4E-9A40-CA35-355261D4E92C}"/>
              </a:ext>
              <a:ext uri="{C183D7F6-B498-43B3-948B-1728B52AA6E4}">
                <adec:decorative xmlns:adec="http://schemas.microsoft.com/office/drawing/2017/decorative" val="1"/>
              </a:ext>
            </a:extLst>
          </p:cNvPr>
          <p:cNvPicPr/>
          <p:nvPr/>
        </p:nvPicPr>
        <p:blipFill>
          <a:blip r:embed="rId7" cstate="print"/>
          <a:stretch>
            <a:fillRect/>
          </a:stretch>
        </p:blipFill>
        <p:spPr>
          <a:xfrm>
            <a:off x="10961016" y="6265038"/>
            <a:ext cx="1037459" cy="383579"/>
          </a:xfrm>
          <a:prstGeom prst="rect">
            <a:avLst/>
          </a:prstGeom>
        </p:spPr>
      </p:pic>
    </p:spTree>
    <p:extLst>
      <p:ext uri="{BB962C8B-B14F-4D97-AF65-F5344CB8AC3E}">
        <p14:creationId xmlns:p14="http://schemas.microsoft.com/office/powerpoint/2010/main" val="38527529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7A3493-2ED6-DF09-F569-7F3DCA81AB18}"/>
              </a:ext>
            </a:extLst>
          </p:cNvPr>
          <p:cNvSpPr>
            <a:spLocks noGrp="1"/>
          </p:cNvSpPr>
          <p:nvPr>
            <p:ph type="title"/>
          </p:nvPr>
        </p:nvSpPr>
        <p:spPr/>
        <p:txBody>
          <a:bodyPr/>
          <a:lstStyle/>
          <a:p>
            <a:r>
              <a:rPr lang="en-US" dirty="0"/>
              <a:t>Topics of this Course</a:t>
            </a:r>
          </a:p>
        </p:txBody>
      </p:sp>
      <p:sp>
        <p:nvSpPr>
          <p:cNvPr id="3" name="Content Placeholder 2">
            <a:extLst>
              <a:ext uri="{FF2B5EF4-FFF2-40B4-BE49-F238E27FC236}">
                <a16:creationId xmlns:a16="http://schemas.microsoft.com/office/drawing/2014/main" id="{8F95E019-92A5-79AC-D777-59B4926F61AA}"/>
              </a:ext>
            </a:extLst>
          </p:cNvPr>
          <p:cNvSpPr>
            <a:spLocks noGrp="1"/>
          </p:cNvSpPr>
          <p:nvPr>
            <p:ph idx="1"/>
          </p:nvPr>
        </p:nvSpPr>
        <p:spPr/>
        <p:txBody>
          <a:bodyPr>
            <a:normAutofit fontScale="85000" lnSpcReduction="20000"/>
          </a:bodyPr>
          <a:lstStyle/>
          <a:p>
            <a:r>
              <a:rPr lang="en-US" dirty="0"/>
              <a:t>Introduction to reinforcement learning</a:t>
            </a:r>
          </a:p>
          <a:p>
            <a:r>
              <a:rPr lang="en-US" dirty="0"/>
              <a:t>Markov decision processes</a:t>
            </a:r>
          </a:p>
          <a:p>
            <a:r>
              <a:rPr lang="en-US" b="1" dirty="0"/>
              <a:t>Part I: Tabular Methods</a:t>
            </a:r>
          </a:p>
          <a:p>
            <a:pPr lvl="1"/>
            <a:r>
              <a:rPr lang="en-US" b="1" dirty="0"/>
              <a:t>Dynamic programming</a:t>
            </a:r>
          </a:p>
          <a:p>
            <a:pPr lvl="1"/>
            <a:r>
              <a:rPr lang="en-US" dirty="0"/>
              <a:t>Monte Carlo methods</a:t>
            </a:r>
          </a:p>
          <a:p>
            <a:pPr lvl="1"/>
            <a:r>
              <a:rPr lang="en-US" dirty="0"/>
              <a:t>Temporal-difference learning</a:t>
            </a:r>
          </a:p>
          <a:p>
            <a:pPr lvl="1"/>
            <a:r>
              <a:rPr lang="en-US" dirty="0"/>
              <a:t>Multi-step bootstrapping</a:t>
            </a:r>
          </a:p>
          <a:p>
            <a:pPr lvl="1"/>
            <a:r>
              <a:rPr lang="en-US" dirty="0"/>
              <a:t>Planning and learning with tabular methods</a:t>
            </a:r>
          </a:p>
          <a:p>
            <a:r>
              <a:rPr lang="en-US" dirty="0"/>
              <a:t>Part II: Approximate Solution Methods</a:t>
            </a:r>
          </a:p>
          <a:p>
            <a:pPr lvl="1"/>
            <a:r>
              <a:rPr lang="en-US" dirty="0"/>
              <a:t>Prediction and Control using Approximation</a:t>
            </a:r>
          </a:p>
          <a:p>
            <a:pPr lvl="1"/>
            <a:r>
              <a:rPr lang="en-US" dirty="0"/>
              <a:t>Eligibility Traces</a:t>
            </a:r>
          </a:p>
          <a:p>
            <a:pPr lvl="1"/>
            <a:r>
              <a:rPr lang="en-US" dirty="0"/>
              <a:t>Policy Gradient Methods</a:t>
            </a:r>
          </a:p>
          <a:p>
            <a:r>
              <a:rPr lang="en-US" dirty="0"/>
              <a:t>Part III: Modern RL Methods</a:t>
            </a:r>
          </a:p>
          <a:p>
            <a:pPr lvl="1"/>
            <a:r>
              <a:rPr lang="en-US" dirty="0"/>
              <a:t>Deep Reinforcement Learning</a:t>
            </a:r>
          </a:p>
          <a:p>
            <a:pPr lvl="1"/>
            <a:r>
              <a:rPr lang="en-US" dirty="0"/>
              <a:t>Current Applications</a:t>
            </a:r>
          </a:p>
        </p:txBody>
      </p:sp>
    </p:spTree>
    <p:extLst>
      <p:ext uri="{BB962C8B-B14F-4D97-AF65-F5344CB8AC3E}">
        <p14:creationId xmlns:p14="http://schemas.microsoft.com/office/powerpoint/2010/main" val="36533675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A4E1A2-75E3-3C9C-6C10-EE078C5AD54A}"/>
              </a:ext>
            </a:extLst>
          </p:cNvPr>
          <p:cNvSpPr>
            <a:spLocks noGrp="1"/>
          </p:cNvSpPr>
          <p:nvPr>
            <p:ph type="title"/>
          </p:nvPr>
        </p:nvSpPr>
        <p:spPr/>
        <p:txBody>
          <a:bodyPr/>
          <a:lstStyle/>
          <a:p>
            <a:r>
              <a:rPr lang="en-US" dirty="0"/>
              <a:t>Summary of Notation</a:t>
            </a:r>
          </a:p>
        </p:txBody>
      </p:sp>
      <mc:AlternateContent xmlns:mc="http://schemas.openxmlformats.org/markup-compatibility/2006" xmlns:a14="http://schemas.microsoft.com/office/drawing/2010/main">
        <mc:Choice Requires="a14">
          <p:sp>
            <p:nvSpPr>
              <p:cNvPr id="10" name="TextBox 9" descr="General. X capital letters: random variables x, p lower-case letters: realizations of random variables or scalar functions. w Bold lower-case letters: real-valued vectors (even if random variables). W bold capitals: matrices. alpha Greek letters: parameters (vectors if in bolt). Pr{X equals x} probability that a random variable X takes on the value x. X~p random variable X selected from distribution p (x) equals Pr{X equals x}. E[X] expectation of a random variable X, i.e., E [X] equals the sum over x, of p (x) x. argmax sub a f(a) a value of action a at which f(a) takes its maximal value">
                <a:extLst>
                  <a:ext uri="{FF2B5EF4-FFF2-40B4-BE49-F238E27FC236}">
                    <a16:creationId xmlns:a16="http://schemas.microsoft.com/office/drawing/2014/main" id="{5CD475E5-BE3B-5594-57DC-46A17411F2F9}"/>
                  </a:ext>
                </a:extLst>
              </p:cNvPr>
              <p:cNvSpPr txBox="1"/>
              <p:nvPr/>
            </p:nvSpPr>
            <p:spPr>
              <a:xfrm>
                <a:off x="822820" y="1124198"/>
                <a:ext cx="5273179" cy="2308324"/>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sz="1200" b="1" dirty="0"/>
                  <a:t>General</a:t>
                </a:r>
                <a:endParaRPr lang="en-US" sz="1200" dirty="0"/>
              </a:p>
              <a:p>
                <a14:m>
                  <m:oMath xmlns:m="http://schemas.openxmlformats.org/officeDocument/2006/math">
                    <m:r>
                      <a:rPr lang="en-US" sz="1200" i="1" dirty="0" smtClean="0">
                        <a:latin typeface="Cambria Math" panose="02040503050406030204" pitchFamily="18" charset="0"/>
                      </a:rPr>
                      <m:t>𝑋</m:t>
                    </m:r>
                  </m:oMath>
                </a14:m>
                <a:r>
                  <a:rPr lang="en-US" sz="1200" dirty="0"/>
                  <a:t>	capital letters: random variables</a:t>
                </a:r>
                <a:br>
                  <a:rPr lang="en-US" sz="1200" dirty="0"/>
                </a:br>
                <a14:m>
                  <m:oMath xmlns:m="http://schemas.openxmlformats.org/officeDocument/2006/math">
                    <m:r>
                      <a:rPr lang="en-US" sz="1200" b="0" i="1" smtClean="0">
                        <a:latin typeface="Cambria Math" panose="02040503050406030204" pitchFamily="18" charset="0"/>
                      </a:rPr>
                      <m:t>𝑥</m:t>
                    </m:r>
                    <m:r>
                      <a:rPr lang="en-US" sz="1200" b="0" i="0" smtClean="0">
                        <a:latin typeface="Cambria Math" panose="02040503050406030204" pitchFamily="18" charset="0"/>
                      </a:rPr>
                      <m:t>, </m:t>
                    </m:r>
                    <m:r>
                      <a:rPr lang="en-US" sz="1200" b="0" i="1" smtClean="0">
                        <a:latin typeface="Cambria Math" panose="02040503050406030204" pitchFamily="18" charset="0"/>
                      </a:rPr>
                      <m:t>𝑝</m:t>
                    </m:r>
                  </m:oMath>
                </a14:m>
                <a:r>
                  <a:rPr lang="en-US" sz="1200" dirty="0"/>
                  <a:t>	lower-case letters: realizations of random variables </a:t>
                </a:r>
                <a:br>
                  <a:rPr lang="en-US" sz="1200" dirty="0"/>
                </a:br>
                <a:r>
                  <a:rPr lang="en-US" sz="1200" dirty="0"/>
                  <a:t>	or scalar functions</a:t>
                </a:r>
              </a:p>
              <a:p>
                <a14:m>
                  <m:oMath xmlns:m="http://schemas.openxmlformats.org/officeDocument/2006/math">
                    <m:r>
                      <a:rPr lang="en-US" sz="1200" b="1" i="1" smtClean="0">
                        <a:latin typeface="Cambria Math" panose="02040503050406030204" pitchFamily="18" charset="0"/>
                      </a:rPr>
                      <m:t>𝒘</m:t>
                    </m:r>
                  </m:oMath>
                </a14:m>
                <a:r>
                  <a:rPr lang="en-US" sz="1200" dirty="0"/>
                  <a:t> 	Bold lower-case letters: real-valued vectors </a:t>
                </a:r>
                <a:br>
                  <a:rPr lang="en-US" sz="1200" dirty="0"/>
                </a:br>
                <a:r>
                  <a:rPr lang="en-US" sz="1200" dirty="0"/>
                  <a:t>	(even if random variables)</a:t>
                </a:r>
              </a:p>
              <a:p>
                <a14:m>
                  <m:oMath xmlns:m="http://schemas.openxmlformats.org/officeDocument/2006/math">
                    <m:r>
                      <a:rPr lang="en-US" sz="1200" b="1" i="1" smtClean="0">
                        <a:latin typeface="Cambria Math" panose="02040503050406030204" pitchFamily="18" charset="0"/>
                      </a:rPr>
                      <m:t>𝑾</m:t>
                    </m:r>
                  </m:oMath>
                </a14:m>
                <a:r>
                  <a:rPr lang="en-US" sz="1200" dirty="0"/>
                  <a:t>	bold capitals: matrices</a:t>
                </a:r>
              </a:p>
              <a:p>
                <a14:m>
                  <m:oMath xmlns:m="http://schemas.openxmlformats.org/officeDocument/2006/math">
                    <m:r>
                      <a:rPr lang="en-US" sz="1200" b="0" i="1" smtClean="0">
                        <a:latin typeface="Cambria Math" panose="02040503050406030204" pitchFamily="18" charset="0"/>
                      </a:rPr>
                      <m:t>𝛼</m:t>
                    </m:r>
                  </m:oMath>
                </a14:m>
                <a:r>
                  <a:rPr lang="en-US" sz="1200" dirty="0"/>
                  <a:t>	Greek letters: parameters (vectors if in bolt)</a:t>
                </a:r>
              </a:p>
              <a:p>
                <a14:m>
                  <m:oMath xmlns:m="http://schemas.openxmlformats.org/officeDocument/2006/math">
                    <m:r>
                      <m:rPr>
                        <m:sty m:val="p"/>
                      </m:rPr>
                      <a:rPr lang="en-US" sz="1200" i="1" dirty="0">
                        <a:latin typeface="Cambria Math" panose="02040503050406030204" pitchFamily="18" charset="0"/>
                      </a:rPr>
                      <m:t>Pr</m:t>
                    </m:r>
                    <m:r>
                      <a:rPr lang="en-US" sz="1200" i="1" dirty="0">
                        <a:latin typeface="Cambria Math" panose="02040503050406030204" pitchFamily="18" charset="0"/>
                      </a:rPr>
                      <m:t>⁡{</m:t>
                    </m:r>
                    <m:r>
                      <a:rPr lang="en-US" sz="1200" i="1" dirty="0">
                        <a:latin typeface="Cambria Math" panose="02040503050406030204" pitchFamily="18" charset="0"/>
                      </a:rPr>
                      <m:t>𝑋</m:t>
                    </m:r>
                    <m:r>
                      <a:rPr lang="en-US" sz="1200" i="1" dirty="0">
                        <a:latin typeface="Cambria Math" panose="02040503050406030204" pitchFamily="18" charset="0"/>
                      </a:rPr>
                      <m:t>=</m:t>
                    </m:r>
                    <m:r>
                      <a:rPr lang="en-US" sz="1200" i="1" dirty="0">
                        <a:latin typeface="Cambria Math" panose="02040503050406030204" pitchFamily="18" charset="0"/>
                      </a:rPr>
                      <m:t>𝑥</m:t>
                    </m:r>
                    <m:r>
                      <a:rPr lang="en-US" sz="1200" i="1" dirty="0">
                        <a:latin typeface="Cambria Math" panose="02040503050406030204" pitchFamily="18" charset="0"/>
                      </a:rPr>
                      <m:t>}</m:t>
                    </m:r>
                  </m:oMath>
                </a14:m>
                <a:r>
                  <a:rPr lang="en-US" sz="1200" dirty="0"/>
                  <a:t>	probability that a random variable </a:t>
                </a:r>
                <a14:m>
                  <m:oMath xmlns:m="http://schemas.openxmlformats.org/officeDocument/2006/math">
                    <m:r>
                      <a:rPr lang="en-US" sz="1200" i="1" dirty="0">
                        <a:latin typeface="Cambria Math" panose="02040503050406030204" pitchFamily="18" charset="0"/>
                      </a:rPr>
                      <m:t>𝑋</m:t>
                    </m:r>
                  </m:oMath>
                </a14:m>
                <a:r>
                  <a:rPr lang="en-US" sz="1200" dirty="0"/>
                  <a:t> takes on the value </a:t>
                </a:r>
                <a14:m>
                  <m:oMath xmlns:m="http://schemas.openxmlformats.org/officeDocument/2006/math">
                    <m:r>
                      <a:rPr lang="en-US" sz="1200" i="1" dirty="0">
                        <a:latin typeface="Cambria Math" panose="02040503050406030204" pitchFamily="18" charset="0"/>
                      </a:rPr>
                      <m:t>𝑥</m:t>
                    </m:r>
                  </m:oMath>
                </a14:m>
                <a:endParaRPr lang="en-US" sz="1200" dirty="0"/>
              </a:p>
              <a:p>
                <a14:m>
                  <m:oMath xmlns:m="http://schemas.openxmlformats.org/officeDocument/2006/math">
                    <m:r>
                      <a:rPr lang="en-US" sz="1200" i="1" dirty="0">
                        <a:latin typeface="Cambria Math" panose="02040503050406030204" pitchFamily="18" charset="0"/>
                      </a:rPr>
                      <m:t>𝑋</m:t>
                    </m:r>
                    <m:r>
                      <a:rPr lang="en-US" sz="1200" i="1" dirty="0">
                        <a:latin typeface="Cambria Math" panose="02040503050406030204" pitchFamily="18" charset="0"/>
                      </a:rPr>
                      <m:t>~</m:t>
                    </m:r>
                    <m:r>
                      <a:rPr lang="en-US" sz="1200" i="1" dirty="0">
                        <a:latin typeface="Cambria Math" panose="02040503050406030204" pitchFamily="18" charset="0"/>
                      </a:rPr>
                      <m:t>𝑝</m:t>
                    </m:r>
                  </m:oMath>
                </a14:m>
                <a:r>
                  <a:rPr lang="en-US" sz="1200" dirty="0"/>
                  <a:t>	random variable </a:t>
                </a:r>
                <a14:m>
                  <m:oMath xmlns:m="http://schemas.openxmlformats.org/officeDocument/2006/math">
                    <m:r>
                      <a:rPr lang="en-US" sz="1200" i="1" dirty="0">
                        <a:latin typeface="Cambria Math" panose="02040503050406030204" pitchFamily="18" charset="0"/>
                      </a:rPr>
                      <m:t>𝑋</m:t>
                    </m:r>
                  </m:oMath>
                </a14:m>
                <a:r>
                  <a:rPr lang="en-US" sz="1200" dirty="0"/>
                  <a:t> selected from distribution </a:t>
                </a:r>
                <a14:m>
                  <m:oMath xmlns:m="http://schemas.openxmlformats.org/officeDocument/2006/math">
                    <m:r>
                      <a:rPr lang="en-US" sz="1200" i="1">
                        <a:latin typeface="Cambria Math" panose="02040503050406030204" pitchFamily="18" charset="0"/>
                      </a:rPr>
                      <m:t>𝑝</m:t>
                    </m:r>
                    <m:d>
                      <m:dPr>
                        <m:ctrlPr>
                          <a:rPr lang="en-US" sz="1200" i="1">
                            <a:latin typeface="Cambria Math" panose="02040503050406030204" pitchFamily="18" charset="0"/>
                          </a:rPr>
                        </m:ctrlPr>
                      </m:dPr>
                      <m:e>
                        <m:r>
                          <a:rPr lang="en-US" sz="1200" i="1">
                            <a:latin typeface="Cambria Math" panose="02040503050406030204" pitchFamily="18" charset="0"/>
                          </a:rPr>
                          <m:t>𝑥</m:t>
                        </m:r>
                      </m:e>
                    </m:d>
                    <m:r>
                      <a:rPr lang="en-US" sz="1200" i="1">
                        <a:latin typeface="Cambria Math" panose="02040503050406030204" pitchFamily="18" charset="0"/>
                      </a:rPr>
                      <m:t>=</m:t>
                    </m:r>
                    <m:r>
                      <m:rPr>
                        <m:sty m:val="p"/>
                      </m:rPr>
                      <a:rPr lang="en-US" sz="1200">
                        <a:latin typeface="Cambria Math" panose="02040503050406030204" pitchFamily="18" charset="0"/>
                      </a:rPr>
                      <m:t>Pr</m:t>
                    </m:r>
                    <m:r>
                      <a:rPr lang="en-US" sz="1200" i="1">
                        <a:latin typeface="Cambria Math" panose="02040503050406030204" pitchFamily="18" charset="0"/>
                      </a:rPr>
                      <m:t>⁡{</m:t>
                    </m:r>
                    <m:r>
                      <a:rPr lang="en-US" sz="1200" i="1">
                        <a:latin typeface="Cambria Math" panose="02040503050406030204" pitchFamily="18" charset="0"/>
                      </a:rPr>
                      <m:t>𝑋</m:t>
                    </m:r>
                    <m:r>
                      <a:rPr lang="en-US" sz="1200" i="1">
                        <a:latin typeface="Cambria Math" panose="02040503050406030204" pitchFamily="18" charset="0"/>
                      </a:rPr>
                      <m:t>=</m:t>
                    </m:r>
                    <m:r>
                      <a:rPr lang="en-US" sz="1200" i="1">
                        <a:latin typeface="Cambria Math" panose="02040503050406030204" pitchFamily="18" charset="0"/>
                      </a:rPr>
                      <m:t>𝑥</m:t>
                    </m:r>
                    <m:r>
                      <a:rPr lang="en-US" sz="1200" i="1">
                        <a:latin typeface="Cambria Math" panose="02040503050406030204" pitchFamily="18" charset="0"/>
                      </a:rPr>
                      <m:t>}</m:t>
                    </m:r>
                  </m:oMath>
                </a14:m>
                <a:endParaRPr lang="en-US" sz="1200" dirty="0"/>
              </a:p>
              <a:p>
                <a14:m>
                  <m:oMath xmlns:m="http://schemas.openxmlformats.org/officeDocument/2006/math">
                    <m:r>
                      <a:rPr lang="en-US" sz="1200" i="1">
                        <a:latin typeface="Cambria Math" panose="02040503050406030204" pitchFamily="18" charset="0"/>
                        <a:ea typeface="Cambria Math" panose="02040503050406030204" pitchFamily="18" charset="0"/>
                      </a:rPr>
                      <m:t>𝔼</m:t>
                    </m:r>
                    <m:r>
                      <a:rPr lang="en-US" sz="1200" i="1">
                        <a:latin typeface="Cambria Math" panose="02040503050406030204" pitchFamily="18" charset="0"/>
                        <a:ea typeface="Cambria Math" panose="02040503050406030204" pitchFamily="18" charset="0"/>
                      </a:rPr>
                      <m:t>[</m:t>
                    </m:r>
                    <m:r>
                      <a:rPr lang="en-US" sz="1200" i="1">
                        <a:latin typeface="Cambria Math" panose="02040503050406030204" pitchFamily="18" charset="0"/>
                        <a:ea typeface="Cambria Math" panose="02040503050406030204" pitchFamily="18" charset="0"/>
                      </a:rPr>
                      <m:t>𝑋</m:t>
                    </m:r>
                    <m:r>
                      <a:rPr lang="en-US" sz="1200" i="1">
                        <a:latin typeface="Cambria Math" panose="02040503050406030204" pitchFamily="18" charset="0"/>
                        <a:ea typeface="Cambria Math" panose="02040503050406030204" pitchFamily="18" charset="0"/>
                      </a:rPr>
                      <m:t>]</m:t>
                    </m:r>
                  </m:oMath>
                </a14:m>
                <a:r>
                  <a:rPr lang="en-US" sz="1200" dirty="0"/>
                  <a:t>	expectation of a random variable </a:t>
                </a:r>
                <a14:m>
                  <m:oMath xmlns:m="http://schemas.openxmlformats.org/officeDocument/2006/math">
                    <m:r>
                      <a:rPr lang="en-US" sz="1200" i="1" dirty="0">
                        <a:latin typeface="Cambria Math" panose="02040503050406030204" pitchFamily="18" charset="0"/>
                      </a:rPr>
                      <m:t>𝑋</m:t>
                    </m:r>
                  </m:oMath>
                </a14:m>
                <a:r>
                  <a:rPr lang="en-US" sz="1200" dirty="0"/>
                  <a:t>, i.e., </a:t>
                </a:r>
                <a14:m>
                  <m:oMath xmlns:m="http://schemas.openxmlformats.org/officeDocument/2006/math">
                    <m:r>
                      <a:rPr lang="en-US" sz="1200" i="1">
                        <a:latin typeface="Cambria Math" panose="02040503050406030204" pitchFamily="18" charset="0"/>
                        <a:ea typeface="Cambria Math" panose="02040503050406030204" pitchFamily="18" charset="0"/>
                      </a:rPr>
                      <m:t>𝔼</m:t>
                    </m:r>
                    <m:d>
                      <m:dPr>
                        <m:begChr m:val="["/>
                        <m:endChr m:val="]"/>
                        <m:ctrlPr>
                          <a:rPr lang="en-US" sz="1200" i="1">
                            <a:latin typeface="Cambria Math" panose="02040503050406030204" pitchFamily="18" charset="0"/>
                            <a:ea typeface="Cambria Math" panose="02040503050406030204" pitchFamily="18" charset="0"/>
                          </a:rPr>
                        </m:ctrlPr>
                      </m:dPr>
                      <m:e>
                        <m:r>
                          <a:rPr lang="en-US" sz="1200" i="1">
                            <a:latin typeface="Cambria Math" panose="02040503050406030204" pitchFamily="18" charset="0"/>
                            <a:ea typeface="Cambria Math" panose="02040503050406030204" pitchFamily="18" charset="0"/>
                          </a:rPr>
                          <m:t>𝑋</m:t>
                        </m:r>
                      </m:e>
                    </m:d>
                    <m:r>
                      <a:rPr lang="en-US" sz="1200" i="1">
                        <a:latin typeface="Cambria Math" panose="02040503050406030204" pitchFamily="18" charset="0"/>
                        <a:ea typeface="Cambria Math" panose="02040503050406030204" pitchFamily="18" charset="0"/>
                      </a:rPr>
                      <m:t>=</m:t>
                    </m:r>
                    <m:nary>
                      <m:naryPr>
                        <m:chr m:val="∑"/>
                        <m:supHide m:val="on"/>
                        <m:ctrlPr>
                          <a:rPr lang="en-US" sz="1200" i="1">
                            <a:latin typeface="Cambria Math" panose="02040503050406030204" pitchFamily="18" charset="0"/>
                            <a:ea typeface="Cambria Math" panose="02040503050406030204" pitchFamily="18" charset="0"/>
                          </a:rPr>
                        </m:ctrlPr>
                      </m:naryPr>
                      <m:sub>
                        <m:r>
                          <a:rPr lang="en-US" sz="1200" i="1">
                            <a:latin typeface="Cambria Math" panose="02040503050406030204" pitchFamily="18" charset="0"/>
                            <a:ea typeface="Cambria Math" panose="02040503050406030204" pitchFamily="18" charset="0"/>
                          </a:rPr>
                          <m:t>𝑥</m:t>
                        </m:r>
                      </m:sub>
                      <m:sup/>
                      <m:e>
                        <m:r>
                          <a:rPr lang="en-US" sz="1200" i="1">
                            <a:latin typeface="Cambria Math" panose="02040503050406030204" pitchFamily="18" charset="0"/>
                            <a:ea typeface="Cambria Math" panose="02040503050406030204" pitchFamily="18" charset="0"/>
                          </a:rPr>
                          <m:t>𝑝</m:t>
                        </m:r>
                        <m:d>
                          <m:dPr>
                            <m:ctrlPr>
                              <a:rPr lang="en-US" sz="1200" i="1">
                                <a:latin typeface="Cambria Math" panose="02040503050406030204" pitchFamily="18" charset="0"/>
                                <a:ea typeface="Cambria Math" panose="02040503050406030204" pitchFamily="18" charset="0"/>
                              </a:rPr>
                            </m:ctrlPr>
                          </m:dPr>
                          <m:e>
                            <m:r>
                              <a:rPr lang="en-US" sz="1200" i="1">
                                <a:latin typeface="Cambria Math" panose="02040503050406030204" pitchFamily="18" charset="0"/>
                                <a:ea typeface="Cambria Math" panose="02040503050406030204" pitchFamily="18" charset="0"/>
                              </a:rPr>
                              <m:t>𝑥</m:t>
                            </m:r>
                          </m:e>
                        </m:d>
                        <m:r>
                          <a:rPr lang="en-US" sz="1200" i="1">
                            <a:latin typeface="Cambria Math" panose="02040503050406030204" pitchFamily="18" charset="0"/>
                            <a:ea typeface="Cambria Math" panose="02040503050406030204" pitchFamily="18" charset="0"/>
                          </a:rPr>
                          <m:t>𝑥</m:t>
                        </m:r>
                      </m:e>
                    </m:nary>
                  </m:oMath>
                </a14:m>
                <a:endParaRPr lang="en-US" sz="1200" dirty="0">
                  <a:ea typeface="Cambria Math" panose="02040503050406030204" pitchFamily="18" charset="0"/>
                </a:endParaRPr>
              </a:p>
              <a:p>
                <a14:m>
                  <m:oMath xmlns:m="http://schemas.openxmlformats.org/officeDocument/2006/math">
                    <m:sSub>
                      <m:sSubPr>
                        <m:ctrlPr>
                          <a:rPr lang="en-US" sz="1200" dirty="0">
                            <a:latin typeface="Cambria Math" panose="02040503050406030204" pitchFamily="18" charset="0"/>
                          </a:rPr>
                        </m:ctrlPr>
                      </m:sSubPr>
                      <m:e>
                        <m:r>
                          <m:rPr>
                            <m:sty m:val="p"/>
                          </m:rPr>
                          <a:rPr lang="en-US" sz="1200" dirty="0">
                            <a:latin typeface="Cambria Math" panose="02040503050406030204" pitchFamily="18" charset="0"/>
                          </a:rPr>
                          <m:t>argmax</m:t>
                        </m:r>
                      </m:e>
                      <m:sub>
                        <m:r>
                          <m:rPr>
                            <m:sty m:val="p"/>
                          </m:rPr>
                          <a:rPr lang="en-US" sz="1200" dirty="0">
                            <a:latin typeface="Cambria Math" panose="02040503050406030204" pitchFamily="18" charset="0"/>
                          </a:rPr>
                          <m:t>a</m:t>
                        </m:r>
                      </m:sub>
                    </m:sSub>
                    <m:r>
                      <a:rPr lang="en-US" sz="1200" dirty="0">
                        <a:latin typeface="Cambria Math" panose="02040503050406030204" pitchFamily="18" charset="0"/>
                      </a:rPr>
                      <m:t> </m:t>
                    </m:r>
                    <m:r>
                      <a:rPr lang="en-US" sz="1200" i="1" dirty="0">
                        <a:latin typeface="Cambria Math" panose="02040503050406030204" pitchFamily="18" charset="0"/>
                      </a:rPr>
                      <m:t>𝑓</m:t>
                    </m:r>
                    <m:r>
                      <a:rPr lang="en-US" sz="1200" i="1" dirty="0">
                        <a:latin typeface="Cambria Math" panose="02040503050406030204" pitchFamily="18" charset="0"/>
                      </a:rPr>
                      <m:t>(</m:t>
                    </m:r>
                    <m:r>
                      <a:rPr lang="en-US" sz="1200" i="1" dirty="0">
                        <a:latin typeface="Cambria Math" panose="02040503050406030204" pitchFamily="18" charset="0"/>
                      </a:rPr>
                      <m:t>𝑎</m:t>
                    </m:r>
                    <m:r>
                      <a:rPr lang="en-US" sz="1200" i="1" dirty="0">
                        <a:latin typeface="Cambria Math" panose="02040503050406030204" pitchFamily="18" charset="0"/>
                      </a:rPr>
                      <m:t>)</m:t>
                    </m:r>
                  </m:oMath>
                </a14:m>
                <a:r>
                  <a:rPr lang="en-US" sz="1200" dirty="0"/>
                  <a:t> a value of action </a:t>
                </a:r>
                <a14:m>
                  <m:oMath xmlns:m="http://schemas.openxmlformats.org/officeDocument/2006/math">
                    <m:r>
                      <a:rPr lang="en-US" sz="1200" i="1" dirty="0">
                        <a:latin typeface="Cambria Math" panose="02040503050406030204" pitchFamily="18" charset="0"/>
                      </a:rPr>
                      <m:t>𝑎</m:t>
                    </m:r>
                  </m:oMath>
                </a14:m>
                <a:r>
                  <a:rPr lang="en-US" sz="1200" dirty="0"/>
                  <a:t> at which </a:t>
                </a:r>
                <a14:m>
                  <m:oMath xmlns:m="http://schemas.openxmlformats.org/officeDocument/2006/math">
                    <m:r>
                      <a:rPr lang="en-US" sz="1200" i="1" dirty="0">
                        <a:latin typeface="Cambria Math" panose="02040503050406030204" pitchFamily="18" charset="0"/>
                      </a:rPr>
                      <m:t>𝑓</m:t>
                    </m:r>
                    <m:r>
                      <a:rPr lang="en-US" sz="1200" i="1" dirty="0">
                        <a:latin typeface="Cambria Math" panose="02040503050406030204" pitchFamily="18" charset="0"/>
                      </a:rPr>
                      <m:t>(</m:t>
                    </m:r>
                    <m:r>
                      <a:rPr lang="en-US" sz="1200" i="1" dirty="0">
                        <a:latin typeface="Cambria Math" panose="02040503050406030204" pitchFamily="18" charset="0"/>
                      </a:rPr>
                      <m:t>𝑎</m:t>
                    </m:r>
                    <m:r>
                      <a:rPr lang="en-US" sz="1200" i="1" dirty="0">
                        <a:latin typeface="Cambria Math" panose="02040503050406030204" pitchFamily="18" charset="0"/>
                      </a:rPr>
                      <m:t>)</m:t>
                    </m:r>
                  </m:oMath>
                </a14:m>
                <a:r>
                  <a:rPr lang="en-US" sz="1200" dirty="0"/>
                  <a:t> takes its maximal value</a:t>
                </a:r>
              </a:p>
            </p:txBody>
          </p:sp>
        </mc:Choice>
        <mc:Fallback xmlns="">
          <p:sp>
            <p:nvSpPr>
              <p:cNvPr id="10" name="TextBox 9" descr="General. X capital letters: random variables x, p lower-case letters: realizations of random variables or scalar functions. w Bold lower-case letters: real-valued vectors (even if random variables). W bold capitals: matrices. alpha Greek letters: parameters (vectors if in bolt). Pr{X equals x} probability that a random variable X takes on the value x. X~p random variable X selected from distribution p (x) equals Pr{X equals x}. E[X] expectation of a random variable X, i.e., E [X] equals the sum over x, of p (x) x. argmax sub a f(a) a value of action a at which f(a) takes its maximal value">
                <a:extLst>
                  <a:ext uri="{FF2B5EF4-FFF2-40B4-BE49-F238E27FC236}">
                    <a16:creationId xmlns:a16="http://schemas.microsoft.com/office/drawing/2014/main" id="{5CD475E5-BE3B-5594-57DC-46A17411F2F9}"/>
                  </a:ext>
                </a:extLst>
              </p:cNvPr>
              <p:cNvSpPr txBox="1">
                <a:spLocks noRot="1" noChangeAspect="1" noMove="1" noResize="1" noEditPoints="1" noAdjustHandles="1" noChangeArrowheads="1" noChangeShapeType="1" noTextEdit="1"/>
              </p:cNvSpPr>
              <p:nvPr/>
            </p:nvSpPr>
            <p:spPr>
              <a:xfrm>
                <a:off x="822820" y="1124198"/>
                <a:ext cx="5273179" cy="2308324"/>
              </a:xfrm>
              <a:prstGeom prst="rect">
                <a:avLst/>
              </a:prstGeom>
              <a:blipFill>
                <a:blip r:embed="rId3"/>
                <a:stretch>
                  <a:fillRect b="-942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descr="Value Function. G sub t return (cumulative reward) following time t. G sub t:h return from t to h (discounted and corrected). v sub pi (s) value of state s under policy pi (expected return). v sub star (s) value of state s under the optimal policy. q sub pi (s,a) value of taking action a in state s under policy pi. q sub star (s,a) value of taking action a in state s under the optimal policy. V, V sub t array estimates of state-value function v sub pi or v sub star. Q,Q sub t array estimates of action-value function q sub pi or v sub star">
                <a:extLst>
                  <a:ext uri="{FF2B5EF4-FFF2-40B4-BE49-F238E27FC236}">
                    <a16:creationId xmlns:a16="http://schemas.microsoft.com/office/drawing/2014/main" id="{47E69C9C-42B6-9B0F-9AE0-20D17703E490}"/>
                  </a:ext>
                </a:extLst>
              </p:cNvPr>
              <p:cNvSpPr>
                <a:spLocks noGrp="1"/>
              </p:cNvSpPr>
              <p:nvPr>
                <p:ph idx="1"/>
              </p:nvPr>
            </p:nvSpPr>
            <p:spPr>
              <a:xfrm>
                <a:off x="822819" y="3658891"/>
                <a:ext cx="5273179" cy="1902124"/>
              </a:xfrm>
            </p:spPr>
            <p:style>
              <a:lnRef idx="2">
                <a:schemeClr val="accent2"/>
              </a:lnRef>
              <a:fillRef idx="1">
                <a:schemeClr val="lt1"/>
              </a:fillRef>
              <a:effectRef idx="0">
                <a:schemeClr val="accent2"/>
              </a:effectRef>
              <a:fontRef idx="minor">
                <a:schemeClr val="dk1"/>
              </a:fontRef>
            </p:style>
            <p:txBody>
              <a:bodyPr>
                <a:spAutoFit/>
              </a:bodyPr>
              <a:lstStyle/>
              <a:p>
                <a:pPr marL="0" indent="0">
                  <a:lnSpc>
                    <a:spcPct val="100000"/>
                  </a:lnSpc>
                  <a:spcBef>
                    <a:spcPts val="0"/>
                  </a:spcBef>
                  <a:buNone/>
                </a:pPr>
                <a:r>
                  <a:rPr lang="en-US" sz="1200" b="1" dirty="0"/>
                  <a:t>Value Function</a:t>
                </a:r>
                <a:endParaRPr lang="en-US" sz="1200" i="1" dirty="0">
                  <a:latin typeface="Cambria Math" panose="02040503050406030204" pitchFamily="18" charset="0"/>
                </a:endParaRPr>
              </a:p>
              <a:p>
                <a:pPr marL="0" indent="0">
                  <a:lnSpc>
                    <a:spcPct val="100000"/>
                  </a:lnSpc>
                  <a:spcBef>
                    <a:spcPts val="0"/>
                  </a:spcBef>
                  <a:buNone/>
                </a:pPr>
                <a14:m>
                  <m:oMath xmlns:m="http://schemas.openxmlformats.org/officeDocument/2006/math">
                    <m:sSub>
                      <m:sSubPr>
                        <m:ctrlPr>
                          <a:rPr lang="en-US" sz="1200" i="1" dirty="0">
                            <a:latin typeface="Cambria Math" panose="02040503050406030204" pitchFamily="18" charset="0"/>
                          </a:rPr>
                        </m:ctrlPr>
                      </m:sSubPr>
                      <m:e>
                        <m:r>
                          <a:rPr lang="en-US" sz="1200" i="1" dirty="0">
                            <a:latin typeface="Cambria Math" panose="02040503050406030204" pitchFamily="18" charset="0"/>
                          </a:rPr>
                          <m:t>𝐺</m:t>
                        </m:r>
                      </m:e>
                      <m:sub>
                        <m:r>
                          <a:rPr lang="en-US" sz="1200" i="1" dirty="0">
                            <a:latin typeface="Cambria Math" panose="02040503050406030204" pitchFamily="18" charset="0"/>
                          </a:rPr>
                          <m:t>𝑡</m:t>
                        </m:r>
                      </m:sub>
                    </m:sSub>
                  </m:oMath>
                </a14:m>
                <a:r>
                  <a:rPr lang="en-US" sz="1200" dirty="0"/>
                  <a:t> 	return (cumulative reward) following time </a:t>
                </a:r>
                <a14:m>
                  <m:oMath xmlns:m="http://schemas.openxmlformats.org/officeDocument/2006/math">
                    <m:r>
                      <a:rPr lang="en-US" sz="1200" i="1" dirty="0">
                        <a:latin typeface="Cambria Math" panose="02040503050406030204" pitchFamily="18" charset="0"/>
                      </a:rPr>
                      <m:t>𝑡</m:t>
                    </m:r>
                  </m:oMath>
                </a14:m>
                <a:endParaRPr lang="en-US" sz="1200" dirty="0"/>
              </a:p>
              <a:p>
                <a:pPr marL="0" indent="0">
                  <a:lnSpc>
                    <a:spcPct val="100000"/>
                  </a:lnSpc>
                  <a:spcBef>
                    <a:spcPts val="0"/>
                  </a:spcBef>
                  <a:buNone/>
                </a:pPr>
                <a14:m>
                  <m:oMath xmlns:m="http://schemas.openxmlformats.org/officeDocument/2006/math">
                    <m:sSub>
                      <m:sSubPr>
                        <m:ctrlPr>
                          <a:rPr lang="en-US" sz="1200" i="1" dirty="0">
                            <a:solidFill>
                              <a:schemeClr val="tx1"/>
                            </a:solidFill>
                            <a:latin typeface="Cambria Math" panose="02040503050406030204" pitchFamily="18" charset="0"/>
                          </a:rPr>
                        </m:ctrlPr>
                      </m:sSubPr>
                      <m:e>
                        <m:r>
                          <a:rPr lang="en-US" sz="1200" i="1" dirty="0">
                            <a:solidFill>
                              <a:schemeClr val="tx1"/>
                            </a:solidFill>
                            <a:latin typeface="Cambria Math" panose="02040503050406030204" pitchFamily="18" charset="0"/>
                          </a:rPr>
                          <m:t>𝐺</m:t>
                        </m:r>
                      </m:e>
                      <m:sub>
                        <m:r>
                          <a:rPr lang="en-US" sz="1200" i="1" dirty="0">
                            <a:solidFill>
                              <a:schemeClr val="tx1"/>
                            </a:solidFill>
                            <a:latin typeface="Cambria Math" panose="02040503050406030204" pitchFamily="18" charset="0"/>
                          </a:rPr>
                          <m:t>𝑡</m:t>
                        </m:r>
                        <m:r>
                          <a:rPr lang="en-US" sz="1200" i="1" dirty="0">
                            <a:solidFill>
                              <a:schemeClr val="tx1"/>
                            </a:solidFill>
                            <a:latin typeface="Cambria Math" panose="02040503050406030204" pitchFamily="18" charset="0"/>
                          </a:rPr>
                          <m:t>:</m:t>
                        </m:r>
                        <m:r>
                          <a:rPr lang="en-US" sz="1200" i="1" dirty="0">
                            <a:solidFill>
                              <a:schemeClr val="tx1"/>
                            </a:solidFill>
                            <a:latin typeface="Cambria Math" panose="02040503050406030204" pitchFamily="18" charset="0"/>
                          </a:rPr>
                          <m:t>ℎ</m:t>
                        </m:r>
                      </m:sub>
                    </m:sSub>
                  </m:oMath>
                </a14:m>
                <a:r>
                  <a:rPr lang="en-US" sz="1200" dirty="0">
                    <a:solidFill>
                      <a:schemeClr val="tx1"/>
                    </a:solidFill>
                  </a:rPr>
                  <a:t>	return from </a:t>
                </a:r>
                <a14:m>
                  <m:oMath xmlns:m="http://schemas.openxmlformats.org/officeDocument/2006/math">
                    <m:r>
                      <a:rPr lang="en-US" sz="1200" i="1" dirty="0">
                        <a:solidFill>
                          <a:schemeClr val="tx1"/>
                        </a:solidFill>
                        <a:latin typeface="Cambria Math" panose="02040503050406030204" pitchFamily="18" charset="0"/>
                      </a:rPr>
                      <m:t>𝑡</m:t>
                    </m:r>
                  </m:oMath>
                </a14:m>
                <a:r>
                  <a:rPr lang="en-US" sz="1200" dirty="0">
                    <a:solidFill>
                      <a:schemeClr val="tx1"/>
                    </a:solidFill>
                  </a:rPr>
                  <a:t> to </a:t>
                </a:r>
                <a14:m>
                  <m:oMath xmlns:m="http://schemas.openxmlformats.org/officeDocument/2006/math">
                    <m:r>
                      <a:rPr lang="en-US" sz="1200" i="1" dirty="0">
                        <a:solidFill>
                          <a:schemeClr val="tx1"/>
                        </a:solidFill>
                        <a:latin typeface="Cambria Math" panose="02040503050406030204" pitchFamily="18" charset="0"/>
                      </a:rPr>
                      <m:t>ℎ</m:t>
                    </m:r>
                  </m:oMath>
                </a14:m>
                <a:r>
                  <a:rPr lang="en-US" sz="1200" dirty="0">
                    <a:solidFill>
                      <a:schemeClr val="tx1"/>
                    </a:solidFill>
                  </a:rPr>
                  <a:t> (discounted and corrected)</a:t>
                </a:r>
                <a:endParaRPr lang="en-US" sz="1200" dirty="0"/>
              </a:p>
              <a:p>
                <a:pPr marL="0" indent="0">
                  <a:lnSpc>
                    <a:spcPct val="100000"/>
                  </a:lnSpc>
                  <a:spcBef>
                    <a:spcPts val="0"/>
                  </a:spcBef>
                  <a:buNone/>
                </a:pPr>
                <a:endParaRPr lang="en-US" sz="1200" i="1" dirty="0">
                  <a:latin typeface="Cambria Math" panose="02040503050406030204" pitchFamily="18" charset="0"/>
                </a:endParaRPr>
              </a:p>
              <a:p>
                <a:pPr marL="0" indent="0">
                  <a:lnSpc>
                    <a:spcPct val="100000"/>
                  </a:lnSpc>
                  <a:spcBef>
                    <a:spcPts val="0"/>
                  </a:spcBef>
                  <a:buNone/>
                </a:pPr>
                <a14:m>
                  <m:oMath xmlns:m="http://schemas.openxmlformats.org/officeDocument/2006/math">
                    <m:sSub>
                      <m:sSubPr>
                        <m:ctrlPr>
                          <a:rPr lang="en-US" sz="1200" i="1" dirty="0">
                            <a:latin typeface="Cambria Math" panose="02040503050406030204" pitchFamily="18" charset="0"/>
                          </a:rPr>
                        </m:ctrlPr>
                      </m:sSubPr>
                      <m:e>
                        <m:r>
                          <a:rPr lang="en-US" sz="1200" i="1" dirty="0">
                            <a:latin typeface="Cambria Math" panose="02040503050406030204" pitchFamily="18" charset="0"/>
                          </a:rPr>
                          <m:t>𝑣</m:t>
                        </m:r>
                      </m:e>
                      <m:sub>
                        <m:r>
                          <a:rPr lang="en-US" sz="1200" i="1" dirty="0">
                            <a:latin typeface="Cambria Math" panose="02040503050406030204" pitchFamily="18" charset="0"/>
                          </a:rPr>
                          <m:t>𝜋</m:t>
                        </m:r>
                      </m:sub>
                    </m:sSub>
                    <m:r>
                      <a:rPr lang="en-US" sz="1200" i="1" dirty="0">
                        <a:latin typeface="Cambria Math" panose="02040503050406030204" pitchFamily="18" charset="0"/>
                      </a:rPr>
                      <m:t>(</m:t>
                    </m:r>
                    <m:r>
                      <a:rPr lang="en-US" sz="1200" i="1" dirty="0">
                        <a:latin typeface="Cambria Math" panose="02040503050406030204" pitchFamily="18" charset="0"/>
                      </a:rPr>
                      <m:t>𝑠</m:t>
                    </m:r>
                    <m:r>
                      <a:rPr lang="en-US" sz="1200" i="1" dirty="0">
                        <a:latin typeface="Cambria Math" panose="02040503050406030204" pitchFamily="18" charset="0"/>
                      </a:rPr>
                      <m:t>)</m:t>
                    </m:r>
                  </m:oMath>
                </a14:m>
                <a:r>
                  <a:rPr lang="en-US" sz="1200" dirty="0"/>
                  <a:t>	value of state </a:t>
                </a:r>
                <a14:m>
                  <m:oMath xmlns:m="http://schemas.openxmlformats.org/officeDocument/2006/math">
                    <m:r>
                      <a:rPr lang="en-US" sz="1200" i="1" dirty="0">
                        <a:latin typeface="Cambria Math" panose="02040503050406030204" pitchFamily="18" charset="0"/>
                      </a:rPr>
                      <m:t>𝑠</m:t>
                    </m:r>
                  </m:oMath>
                </a14:m>
                <a:r>
                  <a:rPr lang="en-US" sz="1200" dirty="0"/>
                  <a:t> under policy </a:t>
                </a:r>
                <a14:m>
                  <m:oMath xmlns:m="http://schemas.openxmlformats.org/officeDocument/2006/math">
                    <m:r>
                      <a:rPr lang="en-US" sz="1200" i="1" dirty="0">
                        <a:latin typeface="Cambria Math" panose="02040503050406030204" pitchFamily="18" charset="0"/>
                      </a:rPr>
                      <m:t>𝜋</m:t>
                    </m:r>
                  </m:oMath>
                </a14:m>
                <a:r>
                  <a:rPr lang="en-US" sz="1200" dirty="0"/>
                  <a:t> (expected return)</a:t>
                </a:r>
              </a:p>
              <a:p>
                <a:pPr marL="0" indent="0">
                  <a:lnSpc>
                    <a:spcPct val="100000"/>
                  </a:lnSpc>
                  <a:spcBef>
                    <a:spcPts val="0"/>
                  </a:spcBef>
                  <a:buNone/>
                </a:pPr>
                <a14:m>
                  <m:oMath xmlns:m="http://schemas.openxmlformats.org/officeDocument/2006/math">
                    <m:sSub>
                      <m:sSubPr>
                        <m:ctrlPr>
                          <a:rPr lang="en-US" sz="1200" i="1" dirty="0">
                            <a:latin typeface="Cambria Math" panose="02040503050406030204" pitchFamily="18" charset="0"/>
                          </a:rPr>
                        </m:ctrlPr>
                      </m:sSubPr>
                      <m:e>
                        <m:r>
                          <a:rPr lang="en-US" sz="1200" i="1" dirty="0">
                            <a:latin typeface="Cambria Math" panose="02040503050406030204" pitchFamily="18" charset="0"/>
                          </a:rPr>
                          <m:t>𝑣</m:t>
                        </m:r>
                      </m:e>
                      <m:sub>
                        <m:r>
                          <a:rPr lang="en-US" sz="1200" i="1" dirty="0">
                            <a:latin typeface="Cambria Math" panose="02040503050406030204" pitchFamily="18" charset="0"/>
                          </a:rPr>
                          <m:t>∗</m:t>
                        </m:r>
                      </m:sub>
                    </m:sSub>
                    <m:r>
                      <a:rPr lang="en-US" sz="1200" i="1" dirty="0">
                        <a:latin typeface="Cambria Math" panose="02040503050406030204" pitchFamily="18" charset="0"/>
                      </a:rPr>
                      <m:t>(</m:t>
                    </m:r>
                    <m:r>
                      <a:rPr lang="en-US" sz="1200" i="1" dirty="0">
                        <a:latin typeface="Cambria Math" panose="02040503050406030204" pitchFamily="18" charset="0"/>
                      </a:rPr>
                      <m:t>𝑠</m:t>
                    </m:r>
                    <m:r>
                      <a:rPr lang="en-US" sz="1200" i="1" dirty="0">
                        <a:latin typeface="Cambria Math" panose="02040503050406030204" pitchFamily="18" charset="0"/>
                      </a:rPr>
                      <m:t>)</m:t>
                    </m:r>
                  </m:oMath>
                </a14:m>
                <a:r>
                  <a:rPr lang="en-US" sz="1200" dirty="0"/>
                  <a:t>	value of state s under the optimal policy</a:t>
                </a:r>
              </a:p>
              <a:p>
                <a:pPr marL="0" indent="0">
                  <a:lnSpc>
                    <a:spcPct val="100000"/>
                  </a:lnSpc>
                  <a:spcBef>
                    <a:spcPts val="0"/>
                  </a:spcBef>
                  <a:buNone/>
                </a:pPr>
                <a14:m>
                  <m:oMath xmlns:m="http://schemas.openxmlformats.org/officeDocument/2006/math">
                    <m:sSub>
                      <m:sSubPr>
                        <m:ctrlPr>
                          <a:rPr lang="en-US" sz="1200" i="1" dirty="0">
                            <a:latin typeface="Cambria Math" panose="02040503050406030204" pitchFamily="18" charset="0"/>
                          </a:rPr>
                        </m:ctrlPr>
                      </m:sSubPr>
                      <m:e>
                        <m:r>
                          <a:rPr lang="en-US" sz="1200" i="1" dirty="0">
                            <a:latin typeface="Cambria Math" panose="02040503050406030204" pitchFamily="18" charset="0"/>
                          </a:rPr>
                          <m:t>𝑞</m:t>
                        </m:r>
                      </m:e>
                      <m:sub>
                        <m:r>
                          <a:rPr lang="en-US" sz="1200" i="1" dirty="0">
                            <a:latin typeface="Cambria Math" panose="02040503050406030204" pitchFamily="18" charset="0"/>
                          </a:rPr>
                          <m:t>𝜋</m:t>
                        </m:r>
                      </m:sub>
                    </m:sSub>
                    <m:r>
                      <a:rPr lang="en-US" sz="1200" i="1" dirty="0">
                        <a:latin typeface="Cambria Math" panose="02040503050406030204" pitchFamily="18" charset="0"/>
                      </a:rPr>
                      <m:t>(</m:t>
                    </m:r>
                    <m:r>
                      <a:rPr lang="en-US" sz="1200" i="1" dirty="0">
                        <a:latin typeface="Cambria Math" panose="02040503050406030204" pitchFamily="18" charset="0"/>
                      </a:rPr>
                      <m:t>𝑠</m:t>
                    </m:r>
                    <m:r>
                      <a:rPr lang="en-US" sz="1200" i="1" dirty="0">
                        <a:latin typeface="Cambria Math" panose="02040503050406030204" pitchFamily="18" charset="0"/>
                      </a:rPr>
                      <m:t>,</m:t>
                    </m:r>
                    <m:r>
                      <a:rPr lang="en-US" sz="1200" i="1" dirty="0">
                        <a:latin typeface="Cambria Math" panose="02040503050406030204" pitchFamily="18" charset="0"/>
                      </a:rPr>
                      <m:t>𝑎</m:t>
                    </m:r>
                    <m:r>
                      <a:rPr lang="en-US" sz="1200" i="1" dirty="0">
                        <a:latin typeface="Cambria Math" panose="02040503050406030204" pitchFamily="18" charset="0"/>
                      </a:rPr>
                      <m:t>)</m:t>
                    </m:r>
                  </m:oMath>
                </a14:m>
                <a:r>
                  <a:rPr lang="en-US" sz="1200" dirty="0"/>
                  <a:t>	value of taking action </a:t>
                </a:r>
                <a14:m>
                  <m:oMath xmlns:m="http://schemas.openxmlformats.org/officeDocument/2006/math">
                    <m:r>
                      <a:rPr lang="en-US" sz="1200" i="1" dirty="0">
                        <a:latin typeface="Cambria Math" panose="02040503050406030204" pitchFamily="18" charset="0"/>
                      </a:rPr>
                      <m:t>𝑎</m:t>
                    </m:r>
                  </m:oMath>
                </a14:m>
                <a:r>
                  <a:rPr lang="en-US" sz="1200" dirty="0"/>
                  <a:t> in state </a:t>
                </a:r>
                <a14:m>
                  <m:oMath xmlns:m="http://schemas.openxmlformats.org/officeDocument/2006/math">
                    <m:r>
                      <a:rPr lang="en-US" sz="1200" i="1" dirty="0" smtClean="0">
                        <a:latin typeface="Cambria Math" panose="02040503050406030204" pitchFamily="18" charset="0"/>
                      </a:rPr>
                      <m:t>𝑠</m:t>
                    </m:r>
                  </m:oMath>
                </a14:m>
                <a:r>
                  <a:rPr lang="en-US" sz="1200" dirty="0"/>
                  <a:t> under policy </a:t>
                </a:r>
                <a14:m>
                  <m:oMath xmlns:m="http://schemas.openxmlformats.org/officeDocument/2006/math">
                    <m:r>
                      <a:rPr lang="en-US" sz="1200" i="1" dirty="0">
                        <a:latin typeface="Cambria Math" panose="02040503050406030204" pitchFamily="18" charset="0"/>
                      </a:rPr>
                      <m:t>𝜋</m:t>
                    </m:r>
                  </m:oMath>
                </a14:m>
                <a:endParaRPr lang="en-US" sz="1200" dirty="0"/>
              </a:p>
              <a:p>
                <a:pPr marL="0" indent="0">
                  <a:lnSpc>
                    <a:spcPct val="100000"/>
                  </a:lnSpc>
                  <a:spcBef>
                    <a:spcPts val="0"/>
                  </a:spcBef>
                  <a:buNone/>
                </a:pPr>
                <a14:m>
                  <m:oMath xmlns:m="http://schemas.openxmlformats.org/officeDocument/2006/math">
                    <m:sSub>
                      <m:sSubPr>
                        <m:ctrlPr>
                          <a:rPr lang="en-US" sz="1200" i="1" dirty="0">
                            <a:latin typeface="Cambria Math" panose="02040503050406030204" pitchFamily="18" charset="0"/>
                          </a:rPr>
                        </m:ctrlPr>
                      </m:sSubPr>
                      <m:e>
                        <m:r>
                          <a:rPr lang="en-US" sz="1200" i="1" dirty="0">
                            <a:latin typeface="Cambria Math" panose="02040503050406030204" pitchFamily="18" charset="0"/>
                          </a:rPr>
                          <m:t>𝑞</m:t>
                        </m:r>
                      </m:e>
                      <m:sub>
                        <m:r>
                          <a:rPr lang="en-US" sz="1200" i="1" dirty="0">
                            <a:latin typeface="Cambria Math" panose="02040503050406030204" pitchFamily="18" charset="0"/>
                          </a:rPr>
                          <m:t>∗</m:t>
                        </m:r>
                      </m:sub>
                    </m:sSub>
                    <m:r>
                      <a:rPr lang="en-US" sz="1200" i="1" dirty="0">
                        <a:latin typeface="Cambria Math" panose="02040503050406030204" pitchFamily="18" charset="0"/>
                      </a:rPr>
                      <m:t>(</m:t>
                    </m:r>
                    <m:r>
                      <a:rPr lang="en-US" sz="1200" i="1" dirty="0">
                        <a:latin typeface="Cambria Math" panose="02040503050406030204" pitchFamily="18" charset="0"/>
                      </a:rPr>
                      <m:t>𝑠</m:t>
                    </m:r>
                    <m:r>
                      <a:rPr lang="en-US" sz="1200" i="1" dirty="0">
                        <a:latin typeface="Cambria Math" panose="02040503050406030204" pitchFamily="18" charset="0"/>
                      </a:rPr>
                      <m:t>,</m:t>
                    </m:r>
                    <m:r>
                      <a:rPr lang="en-US" sz="1200" i="1" dirty="0">
                        <a:latin typeface="Cambria Math" panose="02040503050406030204" pitchFamily="18" charset="0"/>
                      </a:rPr>
                      <m:t>𝑎</m:t>
                    </m:r>
                    <m:r>
                      <a:rPr lang="en-US" sz="1200" i="1" dirty="0">
                        <a:latin typeface="Cambria Math" panose="02040503050406030204" pitchFamily="18" charset="0"/>
                      </a:rPr>
                      <m:t>)</m:t>
                    </m:r>
                  </m:oMath>
                </a14:m>
                <a:r>
                  <a:rPr lang="en-US" sz="1200" dirty="0"/>
                  <a:t>	value of taking action </a:t>
                </a:r>
                <a14:m>
                  <m:oMath xmlns:m="http://schemas.openxmlformats.org/officeDocument/2006/math">
                    <m:r>
                      <a:rPr lang="en-US" sz="1200" i="1" dirty="0">
                        <a:latin typeface="Cambria Math" panose="02040503050406030204" pitchFamily="18" charset="0"/>
                      </a:rPr>
                      <m:t>𝑎</m:t>
                    </m:r>
                  </m:oMath>
                </a14:m>
                <a:r>
                  <a:rPr lang="en-US" sz="1200" dirty="0"/>
                  <a:t> in state </a:t>
                </a:r>
                <a14:m>
                  <m:oMath xmlns:m="http://schemas.openxmlformats.org/officeDocument/2006/math">
                    <m:r>
                      <a:rPr lang="en-US" sz="1200" i="1" dirty="0" smtClean="0">
                        <a:latin typeface="Cambria Math" panose="02040503050406030204" pitchFamily="18" charset="0"/>
                      </a:rPr>
                      <m:t>𝑠</m:t>
                    </m:r>
                  </m:oMath>
                </a14:m>
                <a:r>
                  <a:rPr lang="en-US" sz="1200" dirty="0"/>
                  <a:t> under the optimal policy</a:t>
                </a:r>
              </a:p>
              <a:p>
                <a:pPr marL="0" indent="0">
                  <a:spcBef>
                    <a:spcPts val="0"/>
                  </a:spcBef>
                  <a:buNone/>
                </a:pPr>
                <a14:m>
                  <m:oMath xmlns:m="http://schemas.openxmlformats.org/officeDocument/2006/math">
                    <m:r>
                      <a:rPr lang="en-US" sz="1200" i="1" dirty="0">
                        <a:solidFill>
                          <a:schemeClr val="tx1"/>
                        </a:solidFill>
                        <a:latin typeface="Cambria Math" panose="02040503050406030204" pitchFamily="18" charset="0"/>
                      </a:rPr>
                      <m:t>𝑉</m:t>
                    </m:r>
                    <m:r>
                      <a:rPr lang="en-US" sz="1200" i="1" dirty="0">
                        <a:solidFill>
                          <a:schemeClr val="tx1"/>
                        </a:solidFill>
                        <a:latin typeface="Cambria Math" panose="02040503050406030204" pitchFamily="18" charset="0"/>
                      </a:rPr>
                      <m:t>, </m:t>
                    </m:r>
                    <m:sSub>
                      <m:sSubPr>
                        <m:ctrlPr>
                          <a:rPr lang="en-US" sz="1200" i="1" dirty="0">
                            <a:solidFill>
                              <a:schemeClr val="tx1"/>
                            </a:solidFill>
                            <a:latin typeface="Cambria Math" panose="02040503050406030204" pitchFamily="18" charset="0"/>
                          </a:rPr>
                        </m:ctrlPr>
                      </m:sSubPr>
                      <m:e>
                        <m:r>
                          <a:rPr lang="en-US" sz="1200" i="1" dirty="0">
                            <a:solidFill>
                              <a:schemeClr val="tx1"/>
                            </a:solidFill>
                            <a:latin typeface="Cambria Math" panose="02040503050406030204" pitchFamily="18" charset="0"/>
                          </a:rPr>
                          <m:t>𝑉</m:t>
                        </m:r>
                      </m:e>
                      <m:sub>
                        <m:r>
                          <a:rPr lang="en-US" sz="1200" i="1" dirty="0">
                            <a:solidFill>
                              <a:schemeClr val="tx1"/>
                            </a:solidFill>
                            <a:latin typeface="Cambria Math" panose="02040503050406030204" pitchFamily="18" charset="0"/>
                          </a:rPr>
                          <m:t>𝑡</m:t>
                        </m:r>
                      </m:sub>
                    </m:sSub>
                    <m:r>
                      <a:rPr lang="en-US" sz="1200" i="1" dirty="0">
                        <a:solidFill>
                          <a:schemeClr val="tx1"/>
                        </a:solidFill>
                        <a:latin typeface="Cambria Math" panose="02040503050406030204" pitchFamily="18" charset="0"/>
                      </a:rPr>
                      <m:t> </m:t>
                    </m:r>
                  </m:oMath>
                </a14:m>
                <a:r>
                  <a:rPr lang="en-US" sz="1200" dirty="0">
                    <a:solidFill>
                      <a:schemeClr val="tx1"/>
                    </a:solidFill>
                  </a:rPr>
                  <a:t>	array estimates of state-value function </a:t>
                </a:r>
                <a14:m>
                  <m:oMath xmlns:m="http://schemas.openxmlformats.org/officeDocument/2006/math">
                    <m:sSub>
                      <m:sSubPr>
                        <m:ctrlPr>
                          <a:rPr lang="en-US" sz="1200" i="1" dirty="0">
                            <a:solidFill>
                              <a:schemeClr val="tx1"/>
                            </a:solidFill>
                            <a:latin typeface="Cambria Math" panose="02040503050406030204" pitchFamily="18" charset="0"/>
                          </a:rPr>
                        </m:ctrlPr>
                      </m:sSubPr>
                      <m:e>
                        <m:r>
                          <a:rPr lang="en-US" sz="1200" i="1" dirty="0">
                            <a:solidFill>
                              <a:schemeClr val="tx1"/>
                            </a:solidFill>
                            <a:latin typeface="Cambria Math" panose="02040503050406030204" pitchFamily="18" charset="0"/>
                          </a:rPr>
                          <m:t>𝑣</m:t>
                        </m:r>
                      </m:e>
                      <m:sub>
                        <m:r>
                          <a:rPr lang="en-US" sz="1200" i="1" dirty="0">
                            <a:solidFill>
                              <a:schemeClr val="tx1"/>
                            </a:solidFill>
                            <a:latin typeface="Cambria Math" panose="02040503050406030204" pitchFamily="18" charset="0"/>
                          </a:rPr>
                          <m:t>𝜋</m:t>
                        </m:r>
                      </m:sub>
                    </m:sSub>
                    <m:r>
                      <a:rPr lang="en-US" sz="1200" i="1" dirty="0">
                        <a:solidFill>
                          <a:schemeClr val="tx1"/>
                        </a:solidFill>
                        <a:latin typeface="Cambria Math" panose="02040503050406030204" pitchFamily="18" charset="0"/>
                      </a:rPr>
                      <m:t> </m:t>
                    </m:r>
                  </m:oMath>
                </a14:m>
                <a:r>
                  <a:rPr lang="en-US" sz="1200" dirty="0">
                    <a:solidFill>
                      <a:schemeClr val="tx1"/>
                    </a:solidFill>
                  </a:rPr>
                  <a:t>or </a:t>
                </a:r>
                <a14:m>
                  <m:oMath xmlns:m="http://schemas.openxmlformats.org/officeDocument/2006/math">
                    <m:sSub>
                      <m:sSubPr>
                        <m:ctrlPr>
                          <a:rPr lang="en-US" sz="1200" i="1" dirty="0">
                            <a:solidFill>
                              <a:schemeClr val="tx1"/>
                            </a:solidFill>
                            <a:latin typeface="Cambria Math" panose="02040503050406030204" pitchFamily="18" charset="0"/>
                          </a:rPr>
                        </m:ctrlPr>
                      </m:sSubPr>
                      <m:e>
                        <m:r>
                          <a:rPr lang="en-US" sz="1200" i="1" dirty="0">
                            <a:solidFill>
                              <a:schemeClr val="tx1"/>
                            </a:solidFill>
                            <a:latin typeface="Cambria Math" panose="02040503050406030204" pitchFamily="18" charset="0"/>
                          </a:rPr>
                          <m:t>𝑣</m:t>
                        </m:r>
                      </m:e>
                      <m:sub>
                        <m:r>
                          <a:rPr lang="en-US" sz="1200" i="1" dirty="0">
                            <a:solidFill>
                              <a:schemeClr val="tx1"/>
                            </a:solidFill>
                            <a:latin typeface="Cambria Math" panose="02040503050406030204" pitchFamily="18" charset="0"/>
                          </a:rPr>
                          <m:t>∗</m:t>
                        </m:r>
                      </m:sub>
                    </m:sSub>
                    <m:r>
                      <a:rPr lang="en-US" sz="1200" i="1" dirty="0">
                        <a:solidFill>
                          <a:schemeClr val="tx1"/>
                        </a:solidFill>
                        <a:latin typeface="Cambria Math" panose="02040503050406030204" pitchFamily="18" charset="0"/>
                      </a:rPr>
                      <m:t> </m:t>
                    </m:r>
                  </m:oMath>
                </a14:m>
                <a:endParaRPr lang="en-US" sz="1200" dirty="0">
                  <a:solidFill>
                    <a:schemeClr val="tx1"/>
                  </a:solidFill>
                </a:endParaRPr>
              </a:p>
              <a:p>
                <a:pPr marL="0" indent="0">
                  <a:spcBef>
                    <a:spcPts val="0"/>
                  </a:spcBef>
                  <a:buNone/>
                </a:pPr>
                <a14:m>
                  <m:oMath xmlns:m="http://schemas.openxmlformats.org/officeDocument/2006/math">
                    <m:r>
                      <a:rPr lang="en-US" sz="1200" i="1" dirty="0">
                        <a:solidFill>
                          <a:schemeClr val="tx1"/>
                        </a:solidFill>
                        <a:latin typeface="Cambria Math" panose="02040503050406030204" pitchFamily="18" charset="0"/>
                      </a:rPr>
                      <m:t>𝑄</m:t>
                    </m:r>
                    <m:r>
                      <a:rPr lang="en-US" sz="1200" i="1" dirty="0">
                        <a:solidFill>
                          <a:schemeClr val="tx1"/>
                        </a:solidFill>
                        <a:latin typeface="Cambria Math" panose="02040503050406030204" pitchFamily="18" charset="0"/>
                      </a:rPr>
                      <m:t>,</m:t>
                    </m:r>
                    <m:sSub>
                      <m:sSubPr>
                        <m:ctrlPr>
                          <a:rPr lang="en-US" sz="1200" i="1" dirty="0">
                            <a:solidFill>
                              <a:schemeClr val="tx1"/>
                            </a:solidFill>
                            <a:latin typeface="Cambria Math" panose="02040503050406030204" pitchFamily="18" charset="0"/>
                          </a:rPr>
                        </m:ctrlPr>
                      </m:sSubPr>
                      <m:e>
                        <m:r>
                          <a:rPr lang="en-US" sz="1200" i="1" dirty="0">
                            <a:solidFill>
                              <a:schemeClr val="tx1"/>
                            </a:solidFill>
                            <a:latin typeface="Cambria Math" panose="02040503050406030204" pitchFamily="18" charset="0"/>
                          </a:rPr>
                          <m:t>𝑄</m:t>
                        </m:r>
                      </m:e>
                      <m:sub>
                        <m:r>
                          <a:rPr lang="en-US" sz="1200" i="1" dirty="0">
                            <a:solidFill>
                              <a:schemeClr val="tx1"/>
                            </a:solidFill>
                            <a:latin typeface="Cambria Math" panose="02040503050406030204" pitchFamily="18" charset="0"/>
                          </a:rPr>
                          <m:t>𝑡</m:t>
                        </m:r>
                      </m:sub>
                    </m:sSub>
                    <m:r>
                      <a:rPr lang="en-US" sz="1200" i="1" dirty="0">
                        <a:solidFill>
                          <a:schemeClr val="tx1"/>
                        </a:solidFill>
                        <a:latin typeface="Cambria Math" panose="02040503050406030204" pitchFamily="18" charset="0"/>
                      </a:rPr>
                      <m:t> </m:t>
                    </m:r>
                  </m:oMath>
                </a14:m>
                <a:r>
                  <a:rPr lang="en-US" sz="1200" dirty="0">
                    <a:solidFill>
                      <a:schemeClr val="tx1"/>
                    </a:solidFill>
                  </a:rPr>
                  <a:t>	array estimates of action-value function </a:t>
                </a:r>
                <a14:m>
                  <m:oMath xmlns:m="http://schemas.openxmlformats.org/officeDocument/2006/math">
                    <m:sSub>
                      <m:sSubPr>
                        <m:ctrlPr>
                          <a:rPr lang="en-US" sz="1200" i="1" dirty="0">
                            <a:solidFill>
                              <a:schemeClr val="tx1"/>
                            </a:solidFill>
                            <a:latin typeface="Cambria Math" panose="02040503050406030204" pitchFamily="18" charset="0"/>
                          </a:rPr>
                        </m:ctrlPr>
                      </m:sSubPr>
                      <m:e>
                        <m:r>
                          <a:rPr lang="en-US" sz="1200" i="1" dirty="0">
                            <a:solidFill>
                              <a:schemeClr val="tx1"/>
                            </a:solidFill>
                            <a:latin typeface="Cambria Math" panose="02040503050406030204" pitchFamily="18" charset="0"/>
                          </a:rPr>
                          <m:t>𝑞</m:t>
                        </m:r>
                      </m:e>
                      <m:sub>
                        <m:r>
                          <a:rPr lang="en-US" sz="1200" i="1" dirty="0">
                            <a:solidFill>
                              <a:schemeClr val="tx1"/>
                            </a:solidFill>
                            <a:latin typeface="Cambria Math" panose="02040503050406030204" pitchFamily="18" charset="0"/>
                          </a:rPr>
                          <m:t>𝜋</m:t>
                        </m:r>
                      </m:sub>
                    </m:sSub>
                    <m:r>
                      <a:rPr lang="en-US" sz="1200" i="1" dirty="0">
                        <a:solidFill>
                          <a:schemeClr val="tx1"/>
                        </a:solidFill>
                        <a:latin typeface="Cambria Math" panose="02040503050406030204" pitchFamily="18" charset="0"/>
                      </a:rPr>
                      <m:t> </m:t>
                    </m:r>
                  </m:oMath>
                </a14:m>
                <a:r>
                  <a:rPr lang="en-US" sz="1200" dirty="0">
                    <a:solidFill>
                      <a:schemeClr val="tx1"/>
                    </a:solidFill>
                  </a:rPr>
                  <a:t>or </a:t>
                </a:r>
                <a14:m>
                  <m:oMath xmlns:m="http://schemas.openxmlformats.org/officeDocument/2006/math">
                    <m:sSub>
                      <m:sSubPr>
                        <m:ctrlPr>
                          <a:rPr lang="en-US" sz="1200" i="1" dirty="0">
                            <a:solidFill>
                              <a:schemeClr val="tx1"/>
                            </a:solidFill>
                            <a:latin typeface="Cambria Math" panose="02040503050406030204" pitchFamily="18" charset="0"/>
                          </a:rPr>
                        </m:ctrlPr>
                      </m:sSubPr>
                      <m:e>
                        <m:r>
                          <a:rPr lang="en-US" sz="1200" i="1" dirty="0">
                            <a:solidFill>
                              <a:schemeClr val="tx1"/>
                            </a:solidFill>
                            <a:latin typeface="Cambria Math" panose="02040503050406030204" pitchFamily="18" charset="0"/>
                          </a:rPr>
                          <m:t>𝑣</m:t>
                        </m:r>
                      </m:e>
                      <m:sub>
                        <m:r>
                          <a:rPr lang="en-US" sz="1200" i="1" dirty="0">
                            <a:solidFill>
                              <a:schemeClr val="tx1"/>
                            </a:solidFill>
                            <a:latin typeface="Cambria Math" panose="02040503050406030204" pitchFamily="18" charset="0"/>
                          </a:rPr>
                          <m:t>∗</m:t>
                        </m:r>
                      </m:sub>
                    </m:sSub>
                  </m:oMath>
                </a14:m>
                <a:endParaRPr lang="en-US" sz="1200" dirty="0">
                  <a:solidFill>
                    <a:schemeClr val="tx1"/>
                  </a:solidFill>
                </a:endParaRPr>
              </a:p>
            </p:txBody>
          </p:sp>
        </mc:Choice>
        <mc:Fallback xmlns="">
          <p:sp>
            <p:nvSpPr>
              <p:cNvPr id="3" name="Content Placeholder 2" descr="Value Function. G sub t return (cumulative reward) following time t. G sub t:h return from t to h (discounted and corrected). v sub pi (s) value of state s under policy pi (expected return). v sub star (s) value of state s under the optimal policy. q sub pi (s,a) value of taking action a in state s under policy pi. q sub star (s,a) value of taking action a in state s under the optimal policy. V, V sub t array estimates of state-value function v sub pi or v sub star. Q,Q sub t array estimates of action-value function q sub pi or v sub star">
                <a:extLst>
                  <a:ext uri="{FF2B5EF4-FFF2-40B4-BE49-F238E27FC236}">
                    <a16:creationId xmlns:a16="http://schemas.microsoft.com/office/drawing/2014/main" id="{47E69C9C-42B6-9B0F-9AE0-20D17703E490}"/>
                  </a:ext>
                </a:extLst>
              </p:cNvPr>
              <p:cNvSpPr>
                <a:spLocks noGrp="1" noRot="1" noChangeAspect="1" noMove="1" noResize="1" noEditPoints="1" noAdjustHandles="1" noChangeArrowheads="1" noChangeShapeType="1" noTextEdit="1"/>
              </p:cNvSpPr>
              <p:nvPr>
                <p:ph idx="1"/>
              </p:nvPr>
            </p:nvSpPr>
            <p:spPr>
              <a:xfrm>
                <a:off x="822819" y="3658891"/>
                <a:ext cx="5273179" cy="1902124"/>
              </a:xfrm>
              <a:blipFill>
                <a:blip r:embed="rId2"/>
                <a:stretch>
                  <a:fillRect b="-952"/>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Content Placeholder 2" descr="MDP. s, s prime states. a an action. r a reward. S set of all (nonterminal) states, S to the power plus are all states. A(s) set of all actions available in state s. gamma discount-rate parameter. t discrete time step. T final time step of an episode (a.k.a. horizon). A sub t random variable for the action at time t. S sub t random variable for the state at time t. R sub t random variable for the reward at time t. p (s prime,r | s, a) probability of transition to state s prime and receiving reward r, from state s taking action a . p (s prime | s, a) probability of transition to state s prime fom state s taking action a . r(s,a) expected immediate reward from state s after action a. r(s,a,s prime) expected immediate reward from state s to s prime with action a. pi (a given s) probability of taking action a in state s under stochastic policy pi. pi (s) action taken in state s under deterministic policy pi">
                <a:extLst>
                  <a:ext uri="{FF2B5EF4-FFF2-40B4-BE49-F238E27FC236}">
                    <a16:creationId xmlns:a16="http://schemas.microsoft.com/office/drawing/2014/main" id="{6F45EA4F-65F9-5141-0B09-C395CF9CA7A0}"/>
                  </a:ext>
                </a:extLst>
              </p:cNvPr>
              <p:cNvSpPr txBox="1">
                <a:spLocks/>
              </p:cNvSpPr>
              <p:nvPr/>
            </p:nvSpPr>
            <p:spPr>
              <a:xfrm>
                <a:off x="6267338" y="1124198"/>
                <a:ext cx="5273179" cy="3693383"/>
              </a:xfrm>
              <a:prstGeom prst="rect">
                <a:avLst/>
              </a:prstGeom>
            </p:spPr>
            <p:style>
              <a:lnRef idx="2">
                <a:schemeClr val="accent2"/>
              </a:lnRef>
              <a:fillRef idx="1">
                <a:schemeClr val="lt1"/>
              </a:fillRef>
              <a:effectRef idx="0">
                <a:schemeClr val="accent2"/>
              </a:effectRef>
              <a:fontRef idx="minor">
                <a:schemeClr val="dk1"/>
              </a:fontRef>
            </p:style>
            <p:txBody>
              <a:bodyPr vert="horz" wrap="square" lIns="91440" tIns="45720" rIns="91440" bIns="45720" rtlCol="0">
                <a:sp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0"/>
                  </a:spcBef>
                  <a:buNone/>
                </a:pPr>
                <a:r>
                  <a:rPr lang="en-US" sz="1200" b="1" dirty="0"/>
                  <a:t>MDP</a:t>
                </a:r>
              </a:p>
              <a:p>
                <a:pPr marL="0" indent="0">
                  <a:spcBef>
                    <a:spcPts val="0"/>
                  </a:spcBef>
                  <a:buNone/>
                </a:pPr>
                <a14:m>
                  <m:oMath xmlns:m="http://schemas.openxmlformats.org/officeDocument/2006/math">
                    <m:r>
                      <a:rPr lang="en-US" sz="1200" i="1" dirty="0" smtClean="0">
                        <a:latin typeface="Cambria Math" panose="02040503050406030204" pitchFamily="18" charset="0"/>
                      </a:rPr>
                      <m:t>𝑠</m:t>
                    </m:r>
                    <m:r>
                      <a:rPr lang="en-US" sz="1200" i="1" dirty="0" smtClean="0">
                        <a:latin typeface="Cambria Math" panose="02040503050406030204" pitchFamily="18" charset="0"/>
                      </a:rPr>
                      <m:t>, </m:t>
                    </m:r>
                    <m:r>
                      <a:rPr lang="en-US" sz="1200" i="1" dirty="0" smtClean="0">
                        <a:latin typeface="Cambria Math" panose="02040503050406030204" pitchFamily="18" charset="0"/>
                      </a:rPr>
                      <m:t>𝑠</m:t>
                    </m:r>
                    <m:r>
                      <a:rPr lang="en-US" sz="1200" b="0" i="1" dirty="0" smtClean="0">
                        <a:latin typeface="Cambria Math" panose="02040503050406030204" pitchFamily="18" charset="0"/>
                      </a:rPr>
                      <m:t>′</m:t>
                    </m:r>
                  </m:oMath>
                </a14:m>
                <a:r>
                  <a:rPr lang="en-US" sz="1200" dirty="0"/>
                  <a:t> 	states</a:t>
                </a:r>
              </a:p>
              <a:p>
                <a:pPr marL="0" indent="0">
                  <a:spcBef>
                    <a:spcPts val="0"/>
                  </a:spcBef>
                  <a:buNone/>
                </a:pPr>
                <a14:m>
                  <m:oMath xmlns:m="http://schemas.openxmlformats.org/officeDocument/2006/math">
                    <m:r>
                      <a:rPr lang="en-US" sz="1200" i="1" dirty="0" smtClean="0">
                        <a:latin typeface="Cambria Math" panose="02040503050406030204" pitchFamily="18" charset="0"/>
                      </a:rPr>
                      <m:t>𝑎</m:t>
                    </m:r>
                  </m:oMath>
                </a14:m>
                <a:r>
                  <a:rPr lang="en-US" sz="1200" dirty="0"/>
                  <a:t> 	an action</a:t>
                </a:r>
              </a:p>
              <a:p>
                <a:pPr marL="0" indent="0">
                  <a:spcBef>
                    <a:spcPts val="0"/>
                  </a:spcBef>
                  <a:buNone/>
                </a:pPr>
                <a14:m>
                  <m:oMath xmlns:m="http://schemas.openxmlformats.org/officeDocument/2006/math">
                    <m:r>
                      <a:rPr lang="en-US" sz="1200" i="1" dirty="0" smtClean="0">
                        <a:latin typeface="Cambria Math" panose="02040503050406030204" pitchFamily="18" charset="0"/>
                      </a:rPr>
                      <m:t>𝑟</m:t>
                    </m:r>
                  </m:oMath>
                </a14:m>
                <a:r>
                  <a:rPr lang="en-US" sz="1200" dirty="0"/>
                  <a:t> 	a reward</a:t>
                </a:r>
              </a:p>
              <a:p>
                <a:pPr marL="0" indent="0">
                  <a:spcBef>
                    <a:spcPts val="0"/>
                  </a:spcBef>
                  <a:buNone/>
                </a:pPr>
                <a14:m>
                  <m:oMath xmlns:m="http://schemas.openxmlformats.org/officeDocument/2006/math">
                    <m:r>
                      <a:rPr lang="en-US" sz="1200" i="1" dirty="0" smtClean="0">
                        <a:latin typeface="Cambria Math" panose="02040503050406030204" pitchFamily="18" charset="0"/>
                        <a:ea typeface="Cambria Math" panose="02040503050406030204" pitchFamily="18" charset="0"/>
                      </a:rPr>
                      <m:t>𝒮</m:t>
                    </m:r>
                  </m:oMath>
                </a14:m>
                <a:r>
                  <a:rPr lang="en-US" sz="1200" dirty="0"/>
                  <a:t> 	set of all (nonterminal) states, </a:t>
                </a:r>
                <a14:m>
                  <m:oMath xmlns:m="http://schemas.openxmlformats.org/officeDocument/2006/math">
                    <m:sSup>
                      <m:sSupPr>
                        <m:ctrlPr>
                          <a:rPr lang="en-US" sz="1200" i="1" dirty="0">
                            <a:latin typeface="Cambria Math" panose="02040503050406030204" pitchFamily="18" charset="0"/>
                            <a:ea typeface="Cambria Math" panose="02040503050406030204" pitchFamily="18" charset="0"/>
                          </a:rPr>
                        </m:ctrlPr>
                      </m:sSupPr>
                      <m:e>
                        <m:r>
                          <a:rPr lang="en-US" sz="1200" i="1" dirty="0">
                            <a:latin typeface="Cambria Math" panose="02040503050406030204" pitchFamily="18" charset="0"/>
                            <a:ea typeface="Cambria Math" panose="02040503050406030204" pitchFamily="18" charset="0"/>
                          </a:rPr>
                          <m:t>𝒮</m:t>
                        </m:r>
                      </m:e>
                      <m:sup>
                        <m:r>
                          <a:rPr lang="en-US" sz="1200" b="0" i="1" dirty="0" smtClean="0">
                            <a:latin typeface="Cambria Math" panose="02040503050406030204" pitchFamily="18" charset="0"/>
                            <a:ea typeface="Cambria Math" panose="02040503050406030204" pitchFamily="18" charset="0"/>
                          </a:rPr>
                          <m:t>+</m:t>
                        </m:r>
                      </m:sup>
                    </m:sSup>
                  </m:oMath>
                </a14:m>
                <a:r>
                  <a:rPr lang="en-US" sz="1200" dirty="0"/>
                  <a:t> are all states </a:t>
                </a:r>
              </a:p>
              <a:p>
                <a:pPr marL="0" indent="0">
                  <a:spcBef>
                    <a:spcPts val="0"/>
                  </a:spcBef>
                  <a:buNone/>
                </a:pPr>
                <a14:m>
                  <m:oMath xmlns:m="http://schemas.openxmlformats.org/officeDocument/2006/math">
                    <m:r>
                      <a:rPr lang="en-US" sz="1200" i="1" dirty="0" smtClean="0">
                        <a:latin typeface="Cambria Math" panose="02040503050406030204" pitchFamily="18" charset="0"/>
                        <a:ea typeface="Cambria Math" panose="02040503050406030204" pitchFamily="18" charset="0"/>
                      </a:rPr>
                      <m:t>𝒜</m:t>
                    </m:r>
                    <m:r>
                      <a:rPr lang="en-US" sz="1200" i="1" dirty="0">
                        <a:latin typeface="Cambria Math" panose="02040503050406030204" pitchFamily="18" charset="0"/>
                      </a:rPr>
                      <m:t>(</m:t>
                    </m:r>
                    <m:r>
                      <a:rPr lang="en-US" sz="1200" i="1" dirty="0">
                        <a:latin typeface="Cambria Math" panose="02040503050406030204" pitchFamily="18" charset="0"/>
                      </a:rPr>
                      <m:t>𝑠</m:t>
                    </m:r>
                    <m:r>
                      <a:rPr lang="en-US" sz="1200" i="1" dirty="0">
                        <a:latin typeface="Cambria Math" panose="02040503050406030204" pitchFamily="18" charset="0"/>
                      </a:rPr>
                      <m:t>)</m:t>
                    </m:r>
                  </m:oMath>
                </a14:m>
                <a:r>
                  <a:rPr lang="en-US" sz="1200" dirty="0"/>
                  <a:t>	set of all actions available in state </a:t>
                </a:r>
                <a14:m>
                  <m:oMath xmlns:m="http://schemas.openxmlformats.org/officeDocument/2006/math">
                    <m:r>
                      <a:rPr lang="en-US" sz="1200" i="1" dirty="0" smtClean="0">
                        <a:latin typeface="Cambria Math" panose="02040503050406030204" pitchFamily="18" charset="0"/>
                      </a:rPr>
                      <m:t>𝑠</m:t>
                    </m:r>
                  </m:oMath>
                </a14:m>
                <a:endParaRPr lang="en-US" sz="1200" dirty="0"/>
              </a:p>
              <a:p>
                <a:pPr marL="0" indent="0">
                  <a:spcBef>
                    <a:spcPts val="0"/>
                  </a:spcBef>
                  <a:buNone/>
                </a:pPr>
                <a14:m>
                  <m:oMath xmlns:m="http://schemas.openxmlformats.org/officeDocument/2006/math">
                    <m:r>
                      <a:rPr lang="en-US" sz="1200" i="1">
                        <a:latin typeface="Cambria Math" panose="02040503050406030204" pitchFamily="18" charset="0"/>
                      </a:rPr>
                      <m:t>𝛾</m:t>
                    </m:r>
                  </m:oMath>
                </a14:m>
                <a:r>
                  <a:rPr lang="en-US" sz="1200" dirty="0"/>
                  <a:t> 	discount-rate parameter</a:t>
                </a:r>
                <a:endParaRPr lang="en-US" sz="1200" i="1" dirty="0">
                  <a:latin typeface="Cambria Math" panose="02040503050406030204" pitchFamily="18" charset="0"/>
                </a:endParaRPr>
              </a:p>
              <a:p>
                <a:pPr marL="0" indent="0">
                  <a:spcBef>
                    <a:spcPts val="0"/>
                  </a:spcBef>
                  <a:buNone/>
                </a:pPr>
                <a14:m>
                  <m:oMath xmlns:m="http://schemas.openxmlformats.org/officeDocument/2006/math">
                    <m:r>
                      <a:rPr lang="en-US" sz="1200" i="1" dirty="0" smtClean="0">
                        <a:latin typeface="Cambria Math" panose="02040503050406030204" pitchFamily="18" charset="0"/>
                      </a:rPr>
                      <m:t>𝑡</m:t>
                    </m:r>
                  </m:oMath>
                </a14:m>
                <a:r>
                  <a:rPr lang="en-US" sz="1200" dirty="0"/>
                  <a:t> 	discrete time step</a:t>
                </a:r>
              </a:p>
              <a:p>
                <a:pPr marL="0" indent="0">
                  <a:spcBef>
                    <a:spcPts val="0"/>
                  </a:spcBef>
                  <a:buNone/>
                </a:pPr>
                <a14:m>
                  <m:oMath xmlns:m="http://schemas.openxmlformats.org/officeDocument/2006/math">
                    <m:r>
                      <a:rPr lang="en-US" sz="1200" i="1" dirty="0" smtClean="0">
                        <a:latin typeface="Cambria Math" panose="02040503050406030204" pitchFamily="18" charset="0"/>
                      </a:rPr>
                      <m:t>𝑇</m:t>
                    </m:r>
                  </m:oMath>
                </a14:m>
                <a:r>
                  <a:rPr lang="en-US" sz="1200" dirty="0"/>
                  <a:t> 	final time step of an episode (a.k.a. horizon)</a:t>
                </a:r>
              </a:p>
              <a:p>
                <a:pPr marL="0" indent="0">
                  <a:spcBef>
                    <a:spcPts val="0"/>
                  </a:spcBef>
                  <a:buNone/>
                </a:pPr>
                <a14:m>
                  <m:oMath xmlns:m="http://schemas.openxmlformats.org/officeDocument/2006/math">
                    <m:sSub>
                      <m:sSubPr>
                        <m:ctrlPr>
                          <a:rPr lang="en-US" sz="1200" i="1" dirty="0" smtClean="0">
                            <a:latin typeface="Cambria Math" panose="02040503050406030204" pitchFamily="18" charset="0"/>
                          </a:rPr>
                        </m:ctrlPr>
                      </m:sSubPr>
                      <m:e>
                        <m:r>
                          <a:rPr lang="en-US" sz="1200" i="1" dirty="0" smtClean="0">
                            <a:latin typeface="Cambria Math" panose="02040503050406030204" pitchFamily="18" charset="0"/>
                          </a:rPr>
                          <m:t>𝐴</m:t>
                        </m:r>
                      </m:e>
                      <m:sub>
                        <m:r>
                          <a:rPr lang="en-US" sz="1200" b="0" i="1" dirty="0" smtClean="0">
                            <a:latin typeface="Cambria Math" panose="02040503050406030204" pitchFamily="18" charset="0"/>
                          </a:rPr>
                          <m:t>𝑡</m:t>
                        </m:r>
                      </m:sub>
                    </m:sSub>
                  </m:oMath>
                </a14:m>
                <a:r>
                  <a:rPr lang="en-US" sz="1200" dirty="0"/>
                  <a:t> 	random variable for the action at time </a:t>
                </a:r>
                <a14:m>
                  <m:oMath xmlns:m="http://schemas.openxmlformats.org/officeDocument/2006/math">
                    <m:r>
                      <a:rPr lang="en-US" sz="1200" i="1" dirty="0" smtClean="0">
                        <a:latin typeface="Cambria Math" panose="02040503050406030204" pitchFamily="18" charset="0"/>
                      </a:rPr>
                      <m:t>𝑡</m:t>
                    </m:r>
                  </m:oMath>
                </a14:m>
                <a:endParaRPr lang="en-US" sz="1200" dirty="0"/>
              </a:p>
              <a:p>
                <a:pPr marL="0" indent="0">
                  <a:spcBef>
                    <a:spcPts val="0"/>
                  </a:spcBef>
                  <a:buNone/>
                </a:pPr>
                <a14:m>
                  <m:oMath xmlns:m="http://schemas.openxmlformats.org/officeDocument/2006/math">
                    <m:sSub>
                      <m:sSubPr>
                        <m:ctrlPr>
                          <a:rPr lang="en-US" sz="1200" i="1" dirty="0" smtClean="0">
                            <a:latin typeface="Cambria Math" panose="02040503050406030204" pitchFamily="18" charset="0"/>
                          </a:rPr>
                        </m:ctrlPr>
                      </m:sSubPr>
                      <m:e>
                        <m:r>
                          <a:rPr lang="en-US" sz="1200" i="1" dirty="0" smtClean="0">
                            <a:latin typeface="Cambria Math" panose="02040503050406030204" pitchFamily="18" charset="0"/>
                          </a:rPr>
                          <m:t>𝑆</m:t>
                        </m:r>
                      </m:e>
                      <m:sub>
                        <m:r>
                          <a:rPr lang="en-US" sz="1200" b="0" i="1" dirty="0" smtClean="0">
                            <a:latin typeface="Cambria Math" panose="02040503050406030204" pitchFamily="18" charset="0"/>
                          </a:rPr>
                          <m:t>𝑡</m:t>
                        </m:r>
                      </m:sub>
                    </m:sSub>
                  </m:oMath>
                </a14:m>
                <a:r>
                  <a:rPr lang="en-US" sz="1200" dirty="0"/>
                  <a:t>	random variable for the state at time </a:t>
                </a:r>
                <a14:m>
                  <m:oMath xmlns:m="http://schemas.openxmlformats.org/officeDocument/2006/math">
                    <m:r>
                      <a:rPr lang="en-US" sz="1200" i="1" dirty="0" smtClean="0">
                        <a:latin typeface="Cambria Math" panose="02040503050406030204" pitchFamily="18" charset="0"/>
                      </a:rPr>
                      <m:t>𝑡</m:t>
                    </m:r>
                  </m:oMath>
                </a14:m>
                <a:endParaRPr lang="en-US" sz="1200" dirty="0"/>
              </a:p>
              <a:p>
                <a:pPr marL="0" indent="0">
                  <a:spcBef>
                    <a:spcPts val="0"/>
                  </a:spcBef>
                  <a:buNone/>
                </a:pPr>
                <a14:m>
                  <m:oMath xmlns:m="http://schemas.openxmlformats.org/officeDocument/2006/math">
                    <m:sSub>
                      <m:sSubPr>
                        <m:ctrlPr>
                          <a:rPr lang="en-US" sz="1200" i="1" dirty="0" smtClean="0">
                            <a:latin typeface="Cambria Math" panose="02040503050406030204" pitchFamily="18" charset="0"/>
                          </a:rPr>
                        </m:ctrlPr>
                      </m:sSubPr>
                      <m:e>
                        <m:r>
                          <a:rPr lang="en-US" sz="1200" i="1" dirty="0" smtClean="0">
                            <a:latin typeface="Cambria Math" panose="02040503050406030204" pitchFamily="18" charset="0"/>
                          </a:rPr>
                          <m:t>𝑅</m:t>
                        </m:r>
                      </m:e>
                      <m:sub>
                        <m:r>
                          <a:rPr lang="en-US" sz="1200" b="0" i="1" dirty="0" smtClean="0">
                            <a:latin typeface="Cambria Math" panose="02040503050406030204" pitchFamily="18" charset="0"/>
                          </a:rPr>
                          <m:t>𝑡</m:t>
                        </m:r>
                      </m:sub>
                    </m:sSub>
                  </m:oMath>
                </a14:m>
                <a:r>
                  <a:rPr lang="en-US" sz="1200" dirty="0"/>
                  <a:t> 	random variable for the reward at time </a:t>
                </a:r>
                <a14:m>
                  <m:oMath xmlns:m="http://schemas.openxmlformats.org/officeDocument/2006/math">
                    <m:r>
                      <a:rPr lang="en-US" sz="1200" i="1" dirty="0" smtClean="0">
                        <a:latin typeface="Cambria Math" panose="02040503050406030204" pitchFamily="18" charset="0"/>
                      </a:rPr>
                      <m:t>𝑡</m:t>
                    </m:r>
                  </m:oMath>
                </a14:m>
                <a:endParaRPr lang="en-US" sz="1200" dirty="0"/>
              </a:p>
              <a:p>
                <a:pPr marL="0" indent="0">
                  <a:lnSpc>
                    <a:spcPct val="100000"/>
                  </a:lnSpc>
                  <a:spcBef>
                    <a:spcPts val="0"/>
                  </a:spcBef>
                  <a:buNone/>
                </a:pPr>
                <a:endParaRPr lang="en-US" sz="1200" i="1" dirty="0">
                  <a:latin typeface="Cambria Math" panose="02040503050406030204" pitchFamily="18" charset="0"/>
                </a:endParaRPr>
              </a:p>
              <a:p>
                <a:pPr marL="0" indent="0">
                  <a:lnSpc>
                    <a:spcPct val="100000"/>
                  </a:lnSpc>
                  <a:spcBef>
                    <a:spcPts val="0"/>
                  </a:spcBef>
                  <a:buNone/>
                </a:pPr>
                <a14:m>
                  <m:oMath xmlns:m="http://schemas.openxmlformats.org/officeDocument/2006/math">
                    <m:r>
                      <a:rPr lang="en-US" sz="1200" i="1" dirty="0">
                        <a:latin typeface="Cambria Math" panose="02040503050406030204" pitchFamily="18" charset="0"/>
                      </a:rPr>
                      <m:t>𝑝</m:t>
                    </m:r>
                    <m:d>
                      <m:dPr>
                        <m:endChr m:val="|"/>
                        <m:ctrlPr>
                          <a:rPr lang="en-US" sz="1200" i="1" dirty="0">
                            <a:latin typeface="Cambria Math" panose="02040503050406030204" pitchFamily="18" charset="0"/>
                          </a:rPr>
                        </m:ctrlPr>
                      </m:dPr>
                      <m:e>
                        <m:sSup>
                          <m:sSupPr>
                            <m:ctrlPr>
                              <a:rPr lang="en-US" sz="1200" i="1" dirty="0">
                                <a:latin typeface="Cambria Math" panose="02040503050406030204" pitchFamily="18" charset="0"/>
                              </a:rPr>
                            </m:ctrlPr>
                          </m:sSupPr>
                          <m:e>
                            <m:r>
                              <a:rPr lang="en-US" sz="1200" i="1" dirty="0">
                                <a:latin typeface="Cambria Math" panose="02040503050406030204" pitchFamily="18" charset="0"/>
                              </a:rPr>
                              <m:t>𝑠</m:t>
                            </m:r>
                          </m:e>
                          <m:sup>
                            <m:r>
                              <a:rPr lang="en-US" sz="1200" i="1" dirty="0">
                                <a:latin typeface="Cambria Math" panose="02040503050406030204" pitchFamily="18" charset="0"/>
                              </a:rPr>
                              <m:t>′</m:t>
                            </m:r>
                          </m:sup>
                        </m:sSup>
                        <m:r>
                          <a:rPr lang="en-US" sz="1200" b="0" i="1" dirty="0" smtClean="0">
                            <a:latin typeface="Cambria Math" panose="02040503050406030204" pitchFamily="18" charset="0"/>
                          </a:rPr>
                          <m:t>,</m:t>
                        </m:r>
                        <m:r>
                          <a:rPr lang="en-US" sz="1200" b="0" i="1" dirty="0" smtClean="0">
                            <a:latin typeface="Cambria Math" panose="02040503050406030204" pitchFamily="18" charset="0"/>
                          </a:rPr>
                          <m:t>𝑟</m:t>
                        </m:r>
                        <m:r>
                          <a:rPr lang="en-US" sz="1200" i="1" dirty="0">
                            <a:latin typeface="Cambria Math" panose="02040503050406030204" pitchFamily="18" charset="0"/>
                          </a:rPr>
                          <m:t> </m:t>
                        </m:r>
                      </m:e>
                    </m:d>
                    <m:r>
                      <a:rPr lang="en-US" sz="1200" i="1" dirty="0">
                        <a:latin typeface="Cambria Math" panose="02040503050406030204" pitchFamily="18" charset="0"/>
                      </a:rPr>
                      <m:t>𝑠</m:t>
                    </m:r>
                    <m:r>
                      <a:rPr lang="en-US" sz="1200" i="1" dirty="0">
                        <a:latin typeface="Cambria Math" panose="02040503050406030204" pitchFamily="18" charset="0"/>
                      </a:rPr>
                      <m:t>, </m:t>
                    </m:r>
                    <m:r>
                      <a:rPr lang="en-US" sz="1200" i="1" dirty="0">
                        <a:latin typeface="Cambria Math" panose="02040503050406030204" pitchFamily="18" charset="0"/>
                      </a:rPr>
                      <m:t>𝑎</m:t>
                    </m:r>
                    <m:r>
                      <a:rPr lang="en-US" sz="1200" i="1" dirty="0">
                        <a:latin typeface="Cambria Math" panose="02040503050406030204" pitchFamily="18" charset="0"/>
                      </a:rPr>
                      <m:t>)</m:t>
                    </m:r>
                  </m:oMath>
                </a14:m>
                <a:r>
                  <a:rPr lang="en-US" sz="1200" dirty="0"/>
                  <a:t>	probability of transition to state </a:t>
                </a:r>
                <a14:m>
                  <m:oMath xmlns:m="http://schemas.openxmlformats.org/officeDocument/2006/math">
                    <m:r>
                      <a:rPr lang="en-US" sz="1200" i="1" dirty="0">
                        <a:latin typeface="Cambria Math" panose="02040503050406030204" pitchFamily="18" charset="0"/>
                      </a:rPr>
                      <m:t>𝑠</m:t>
                    </m:r>
                    <m:r>
                      <a:rPr lang="en-US" sz="1200" i="1" dirty="0">
                        <a:latin typeface="Cambria Math" panose="02040503050406030204" pitchFamily="18" charset="0"/>
                      </a:rPr>
                      <m:t>′</m:t>
                    </m:r>
                  </m:oMath>
                </a14:m>
                <a:r>
                  <a:rPr lang="en-US" sz="1200" dirty="0"/>
                  <a:t> and receiving reward </a:t>
                </a:r>
                <a14:m>
                  <m:oMath xmlns:m="http://schemas.openxmlformats.org/officeDocument/2006/math">
                    <m:r>
                      <a:rPr lang="en-US" sz="1200" b="0" i="1" smtClean="0">
                        <a:latin typeface="Cambria Math" panose="02040503050406030204" pitchFamily="18" charset="0"/>
                      </a:rPr>
                      <m:t>𝑟</m:t>
                    </m:r>
                  </m:oMath>
                </a14:m>
                <a:r>
                  <a:rPr lang="en-US" sz="1200" dirty="0"/>
                  <a:t>, </a:t>
                </a:r>
                <a:br>
                  <a:rPr lang="en-US" sz="1200" dirty="0"/>
                </a:br>
                <a:r>
                  <a:rPr lang="en-US" sz="1200" dirty="0"/>
                  <a:t>	from state </a:t>
                </a:r>
                <a14:m>
                  <m:oMath xmlns:m="http://schemas.openxmlformats.org/officeDocument/2006/math">
                    <m:r>
                      <a:rPr lang="en-US" sz="1200" i="1" dirty="0">
                        <a:latin typeface="Cambria Math" panose="02040503050406030204" pitchFamily="18" charset="0"/>
                      </a:rPr>
                      <m:t>𝑠</m:t>
                    </m:r>
                  </m:oMath>
                </a14:m>
                <a:r>
                  <a:rPr lang="en-US" sz="1200" dirty="0"/>
                  <a:t> taking action </a:t>
                </a:r>
                <a14:m>
                  <m:oMath xmlns:m="http://schemas.openxmlformats.org/officeDocument/2006/math">
                    <m:r>
                      <a:rPr lang="en-US" sz="1200" i="1" dirty="0">
                        <a:latin typeface="Cambria Math" panose="02040503050406030204" pitchFamily="18" charset="0"/>
                      </a:rPr>
                      <m:t>𝑎</m:t>
                    </m:r>
                  </m:oMath>
                </a14:m>
                <a:r>
                  <a:rPr lang="en-US" sz="1200" dirty="0"/>
                  <a:t>.</a:t>
                </a:r>
              </a:p>
              <a:p>
                <a:pPr marL="0" indent="0">
                  <a:lnSpc>
                    <a:spcPct val="100000"/>
                  </a:lnSpc>
                  <a:spcBef>
                    <a:spcPts val="0"/>
                  </a:spcBef>
                  <a:buNone/>
                </a:pPr>
                <a14:m>
                  <m:oMath xmlns:m="http://schemas.openxmlformats.org/officeDocument/2006/math">
                    <m:r>
                      <a:rPr lang="en-US" sz="1200" i="1" dirty="0">
                        <a:latin typeface="Cambria Math" panose="02040503050406030204" pitchFamily="18" charset="0"/>
                      </a:rPr>
                      <m:t>𝑝</m:t>
                    </m:r>
                    <m:d>
                      <m:dPr>
                        <m:endChr m:val="|"/>
                        <m:ctrlPr>
                          <a:rPr lang="en-US" sz="1200" i="1" dirty="0">
                            <a:latin typeface="Cambria Math" panose="02040503050406030204" pitchFamily="18" charset="0"/>
                          </a:rPr>
                        </m:ctrlPr>
                      </m:dPr>
                      <m:e>
                        <m:sSup>
                          <m:sSupPr>
                            <m:ctrlPr>
                              <a:rPr lang="en-US" sz="1200" i="1" dirty="0">
                                <a:latin typeface="Cambria Math" panose="02040503050406030204" pitchFamily="18" charset="0"/>
                              </a:rPr>
                            </m:ctrlPr>
                          </m:sSupPr>
                          <m:e>
                            <m:r>
                              <a:rPr lang="en-US" sz="1200" i="1" dirty="0">
                                <a:latin typeface="Cambria Math" panose="02040503050406030204" pitchFamily="18" charset="0"/>
                              </a:rPr>
                              <m:t>𝑠</m:t>
                            </m:r>
                          </m:e>
                          <m:sup>
                            <m:r>
                              <a:rPr lang="en-US" sz="1200" i="1" dirty="0">
                                <a:latin typeface="Cambria Math" panose="02040503050406030204" pitchFamily="18" charset="0"/>
                              </a:rPr>
                              <m:t>′</m:t>
                            </m:r>
                          </m:sup>
                        </m:sSup>
                      </m:e>
                    </m:d>
                    <m:r>
                      <a:rPr lang="en-US" sz="1200" i="1" dirty="0">
                        <a:latin typeface="Cambria Math" panose="02040503050406030204" pitchFamily="18" charset="0"/>
                      </a:rPr>
                      <m:t>𝑠</m:t>
                    </m:r>
                    <m:r>
                      <a:rPr lang="en-US" sz="1200" i="1" dirty="0">
                        <a:latin typeface="Cambria Math" panose="02040503050406030204" pitchFamily="18" charset="0"/>
                      </a:rPr>
                      <m:t>, </m:t>
                    </m:r>
                    <m:r>
                      <a:rPr lang="en-US" sz="1200" i="1" dirty="0">
                        <a:latin typeface="Cambria Math" panose="02040503050406030204" pitchFamily="18" charset="0"/>
                      </a:rPr>
                      <m:t>𝑎</m:t>
                    </m:r>
                    <m:r>
                      <a:rPr lang="en-US" sz="1200" i="1" dirty="0">
                        <a:latin typeface="Cambria Math" panose="02040503050406030204" pitchFamily="18" charset="0"/>
                      </a:rPr>
                      <m:t>)</m:t>
                    </m:r>
                  </m:oMath>
                </a14:m>
                <a:r>
                  <a:rPr lang="en-US" sz="1200" dirty="0"/>
                  <a:t> 	probability of transition to state </a:t>
                </a:r>
                <a14:m>
                  <m:oMath xmlns:m="http://schemas.openxmlformats.org/officeDocument/2006/math">
                    <m:r>
                      <a:rPr lang="en-US" sz="1200" i="1" dirty="0">
                        <a:latin typeface="Cambria Math" panose="02040503050406030204" pitchFamily="18" charset="0"/>
                      </a:rPr>
                      <m:t>𝑠</m:t>
                    </m:r>
                    <m:r>
                      <a:rPr lang="en-US" sz="1200" i="1" dirty="0">
                        <a:latin typeface="Cambria Math" panose="02040503050406030204" pitchFamily="18" charset="0"/>
                      </a:rPr>
                      <m:t>′</m:t>
                    </m:r>
                  </m:oMath>
                </a14:m>
                <a:r>
                  <a:rPr lang="en-US" sz="1200" dirty="0"/>
                  <a:t> fom state </a:t>
                </a:r>
                <a14:m>
                  <m:oMath xmlns:m="http://schemas.openxmlformats.org/officeDocument/2006/math">
                    <m:r>
                      <a:rPr lang="en-US" sz="1200" i="1" dirty="0">
                        <a:latin typeface="Cambria Math" panose="02040503050406030204" pitchFamily="18" charset="0"/>
                      </a:rPr>
                      <m:t>𝑠</m:t>
                    </m:r>
                  </m:oMath>
                </a14:m>
                <a:r>
                  <a:rPr lang="en-US" sz="1200" dirty="0"/>
                  <a:t> taking action </a:t>
                </a:r>
                <a14:m>
                  <m:oMath xmlns:m="http://schemas.openxmlformats.org/officeDocument/2006/math">
                    <m:r>
                      <a:rPr lang="en-US" sz="1200" i="1" dirty="0">
                        <a:latin typeface="Cambria Math" panose="02040503050406030204" pitchFamily="18" charset="0"/>
                      </a:rPr>
                      <m:t>𝑎</m:t>
                    </m:r>
                  </m:oMath>
                </a14:m>
                <a:r>
                  <a:rPr lang="en-US" sz="1200" dirty="0"/>
                  <a:t>.</a:t>
                </a:r>
              </a:p>
              <a:p>
                <a:pPr marL="0" indent="0">
                  <a:lnSpc>
                    <a:spcPct val="100000"/>
                  </a:lnSpc>
                  <a:spcBef>
                    <a:spcPts val="0"/>
                  </a:spcBef>
                  <a:buNone/>
                </a:pPr>
                <a14:m>
                  <m:oMath xmlns:m="http://schemas.openxmlformats.org/officeDocument/2006/math">
                    <m:r>
                      <a:rPr lang="en-US" sz="1200" b="0" i="1" smtClean="0">
                        <a:latin typeface="Cambria Math" panose="02040503050406030204" pitchFamily="18" charset="0"/>
                      </a:rPr>
                      <m:t>𝑟</m:t>
                    </m:r>
                    <m:r>
                      <a:rPr lang="en-US" sz="1200" b="0" i="1" smtClean="0">
                        <a:latin typeface="Cambria Math" panose="02040503050406030204" pitchFamily="18" charset="0"/>
                      </a:rPr>
                      <m:t>(</m:t>
                    </m:r>
                    <m:r>
                      <a:rPr lang="en-US" sz="1200" b="0" i="1" smtClean="0">
                        <a:latin typeface="Cambria Math" panose="02040503050406030204" pitchFamily="18" charset="0"/>
                      </a:rPr>
                      <m:t>𝑠</m:t>
                    </m:r>
                    <m:r>
                      <a:rPr lang="en-US" sz="1200" b="0" i="1" smtClean="0">
                        <a:latin typeface="Cambria Math" panose="02040503050406030204" pitchFamily="18" charset="0"/>
                      </a:rPr>
                      <m:t>,</m:t>
                    </m:r>
                    <m:r>
                      <a:rPr lang="en-US" sz="1200" b="0" i="1" smtClean="0">
                        <a:latin typeface="Cambria Math" panose="02040503050406030204" pitchFamily="18" charset="0"/>
                      </a:rPr>
                      <m:t>𝑎</m:t>
                    </m:r>
                    <m:r>
                      <a:rPr lang="en-US" sz="1200" b="0" i="1" smtClean="0">
                        <a:latin typeface="Cambria Math" panose="02040503050406030204" pitchFamily="18" charset="0"/>
                      </a:rPr>
                      <m:t>)</m:t>
                    </m:r>
                  </m:oMath>
                </a14:m>
                <a:r>
                  <a:rPr lang="en-US" sz="1200" dirty="0"/>
                  <a:t>	expected immediate reward from state </a:t>
                </a:r>
                <a14:m>
                  <m:oMath xmlns:m="http://schemas.openxmlformats.org/officeDocument/2006/math">
                    <m:r>
                      <a:rPr lang="en-US" sz="1200" i="1" dirty="0">
                        <a:latin typeface="Cambria Math" panose="02040503050406030204" pitchFamily="18" charset="0"/>
                      </a:rPr>
                      <m:t>𝑠</m:t>
                    </m:r>
                  </m:oMath>
                </a14:m>
                <a:r>
                  <a:rPr lang="en-US" sz="1200" dirty="0"/>
                  <a:t> after action </a:t>
                </a:r>
                <a14:m>
                  <m:oMath xmlns:m="http://schemas.openxmlformats.org/officeDocument/2006/math">
                    <m:r>
                      <a:rPr lang="en-US" sz="1200" i="1" dirty="0">
                        <a:latin typeface="Cambria Math" panose="02040503050406030204" pitchFamily="18" charset="0"/>
                      </a:rPr>
                      <m:t>𝑎</m:t>
                    </m:r>
                    <m:r>
                      <a:rPr lang="en-US" sz="1200" b="0" i="1" dirty="0" smtClean="0">
                        <a:latin typeface="Cambria Math" panose="02040503050406030204" pitchFamily="18" charset="0"/>
                      </a:rPr>
                      <m:t>.</m:t>
                    </m:r>
                  </m:oMath>
                </a14:m>
                <a:endParaRPr lang="en-US" sz="1200" b="0" dirty="0"/>
              </a:p>
              <a:p>
                <a:pPr marL="0" indent="0">
                  <a:lnSpc>
                    <a:spcPct val="100000"/>
                  </a:lnSpc>
                  <a:spcBef>
                    <a:spcPts val="0"/>
                  </a:spcBef>
                  <a:buNone/>
                </a:pPr>
                <a14:m>
                  <m:oMath xmlns:m="http://schemas.openxmlformats.org/officeDocument/2006/math">
                    <m:r>
                      <a:rPr lang="en-US" sz="1200" i="1">
                        <a:latin typeface="Cambria Math" panose="02040503050406030204" pitchFamily="18" charset="0"/>
                      </a:rPr>
                      <m:t>𝑟</m:t>
                    </m:r>
                    <m:r>
                      <a:rPr lang="en-US" sz="1200" i="1">
                        <a:latin typeface="Cambria Math" panose="02040503050406030204" pitchFamily="18" charset="0"/>
                      </a:rPr>
                      <m:t>(</m:t>
                    </m:r>
                    <m:r>
                      <a:rPr lang="en-US" sz="1200" i="1">
                        <a:latin typeface="Cambria Math" panose="02040503050406030204" pitchFamily="18" charset="0"/>
                      </a:rPr>
                      <m:t>𝑠</m:t>
                    </m:r>
                    <m:r>
                      <a:rPr lang="en-US" sz="1200" i="1">
                        <a:latin typeface="Cambria Math" panose="02040503050406030204" pitchFamily="18" charset="0"/>
                      </a:rPr>
                      <m:t>,</m:t>
                    </m:r>
                    <m:r>
                      <a:rPr lang="en-US" sz="1200" i="1">
                        <a:latin typeface="Cambria Math" panose="02040503050406030204" pitchFamily="18" charset="0"/>
                      </a:rPr>
                      <m:t>𝑎</m:t>
                    </m:r>
                    <m:r>
                      <a:rPr lang="en-US" sz="1200" b="0" i="1" smtClean="0">
                        <a:latin typeface="Cambria Math" panose="02040503050406030204" pitchFamily="18" charset="0"/>
                      </a:rPr>
                      <m:t>,</m:t>
                    </m:r>
                    <m:r>
                      <a:rPr lang="en-US" sz="1200" b="0" i="1" smtClean="0">
                        <a:latin typeface="Cambria Math" panose="02040503050406030204" pitchFamily="18" charset="0"/>
                      </a:rPr>
                      <m:t>𝑠</m:t>
                    </m:r>
                    <m:r>
                      <a:rPr lang="en-US" sz="1200" b="0" i="1" smtClean="0">
                        <a:latin typeface="Cambria Math" panose="02040503050406030204" pitchFamily="18" charset="0"/>
                      </a:rPr>
                      <m:t>′)</m:t>
                    </m:r>
                  </m:oMath>
                </a14:m>
                <a:r>
                  <a:rPr lang="en-US" sz="1200" dirty="0"/>
                  <a:t>	expected immediate reward from state </a:t>
                </a:r>
                <a14:m>
                  <m:oMath xmlns:m="http://schemas.openxmlformats.org/officeDocument/2006/math">
                    <m:r>
                      <a:rPr lang="en-US" sz="1200" i="1" dirty="0">
                        <a:latin typeface="Cambria Math" panose="02040503050406030204" pitchFamily="18" charset="0"/>
                      </a:rPr>
                      <m:t>𝑠</m:t>
                    </m:r>
                  </m:oMath>
                </a14:m>
                <a:r>
                  <a:rPr lang="en-US" sz="1200" dirty="0"/>
                  <a:t> to </a:t>
                </a:r>
                <a14:m>
                  <m:oMath xmlns:m="http://schemas.openxmlformats.org/officeDocument/2006/math">
                    <m:sSup>
                      <m:sSupPr>
                        <m:ctrlPr>
                          <a:rPr lang="en-US" sz="1200" b="0" i="1" smtClean="0">
                            <a:latin typeface="Cambria Math" panose="02040503050406030204" pitchFamily="18" charset="0"/>
                          </a:rPr>
                        </m:ctrlPr>
                      </m:sSupPr>
                      <m:e>
                        <m:r>
                          <a:rPr lang="en-US" sz="1200" b="0" i="1" smtClean="0">
                            <a:latin typeface="Cambria Math" panose="02040503050406030204" pitchFamily="18" charset="0"/>
                          </a:rPr>
                          <m:t>𝑠</m:t>
                        </m:r>
                      </m:e>
                      <m:sup>
                        <m:r>
                          <a:rPr lang="en-US" sz="1200" b="0" i="1" smtClean="0">
                            <a:latin typeface="Cambria Math" panose="02040503050406030204" pitchFamily="18" charset="0"/>
                          </a:rPr>
                          <m:t>′</m:t>
                        </m:r>
                      </m:sup>
                    </m:sSup>
                  </m:oMath>
                </a14:m>
                <a:r>
                  <a:rPr lang="en-US" sz="1200" dirty="0"/>
                  <a:t> with action </a:t>
                </a:r>
                <a14:m>
                  <m:oMath xmlns:m="http://schemas.openxmlformats.org/officeDocument/2006/math">
                    <m:r>
                      <a:rPr lang="en-US" sz="1200" i="1" dirty="0">
                        <a:latin typeface="Cambria Math" panose="02040503050406030204" pitchFamily="18" charset="0"/>
                      </a:rPr>
                      <m:t>𝑎</m:t>
                    </m:r>
                    <m:r>
                      <a:rPr lang="en-US" sz="1200" b="0" i="1" dirty="0" smtClean="0">
                        <a:latin typeface="Cambria Math" panose="02040503050406030204" pitchFamily="18" charset="0"/>
                      </a:rPr>
                      <m:t>.</m:t>
                    </m:r>
                  </m:oMath>
                </a14:m>
                <a:endParaRPr lang="en-US" sz="1200" i="1" dirty="0">
                  <a:latin typeface="Cambria Math" panose="02040503050406030204" pitchFamily="18" charset="0"/>
                </a:endParaRPr>
              </a:p>
              <a:p>
                <a:pPr marL="0" indent="0">
                  <a:spcBef>
                    <a:spcPts val="0"/>
                  </a:spcBef>
                  <a:buNone/>
                </a:pPr>
                <a:endParaRPr lang="en-US" sz="1200" i="1" dirty="0">
                  <a:latin typeface="Cambria Math" panose="02040503050406030204" pitchFamily="18" charset="0"/>
                </a:endParaRPr>
              </a:p>
              <a:p>
                <a:pPr marL="0" indent="0">
                  <a:spcBef>
                    <a:spcPts val="0"/>
                  </a:spcBef>
                  <a:buNone/>
                </a:pPr>
                <a14:m>
                  <m:oMath xmlns:m="http://schemas.openxmlformats.org/officeDocument/2006/math">
                    <m:r>
                      <a:rPr lang="en-US" sz="1200" i="1" dirty="0">
                        <a:latin typeface="Cambria Math" panose="02040503050406030204" pitchFamily="18" charset="0"/>
                      </a:rPr>
                      <m:t>𝜋</m:t>
                    </m:r>
                    <m:r>
                      <a:rPr lang="en-US" sz="1200" i="1" dirty="0">
                        <a:latin typeface="Cambria Math" panose="02040503050406030204" pitchFamily="18" charset="0"/>
                      </a:rPr>
                      <m:t>(</m:t>
                    </m:r>
                    <m:r>
                      <a:rPr lang="en-US" sz="1200" i="1" dirty="0" err="1">
                        <a:latin typeface="Cambria Math" panose="02040503050406030204" pitchFamily="18" charset="0"/>
                      </a:rPr>
                      <m:t>𝑎</m:t>
                    </m:r>
                    <m:r>
                      <a:rPr lang="en-US" sz="1200" i="1" dirty="0" err="1">
                        <a:latin typeface="Cambria Math" panose="02040503050406030204" pitchFamily="18" charset="0"/>
                      </a:rPr>
                      <m:t>|</m:t>
                    </m:r>
                    <m:r>
                      <a:rPr lang="en-US" sz="1200" i="1" dirty="0" err="1">
                        <a:latin typeface="Cambria Math" panose="02040503050406030204" pitchFamily="18" charset="0"/>
                      </a:rPr>
                      <m:t>𝑠</m:t>
                    </m:r>
                    <m:r>
                      <a:rPr lang="en-US" sz="1200" i="1" dirty="0">
                        <a:latin typeface="Cambria Math" panose="02040503050406030204" pitchFamily="18" charset="0"/>
                      </a:rPr>
                      <m:t>)</m:t>
                    </m:r>
                  </m:oMath>
                </a14:m>
                <a:r>
                  <a:rPr lang="en-US" sz="1200" dirty="0"/>
                  <a:t>	probability of taking action </a:t>
                </a:r>
                <a14:m>
                  <m:oMath xmlns:m="http://schemas.openxmlformats.org/officeDocument/2006/math">
                    <m:r>
                      <a:rPr lang="en-US" sz="1200" i="1" dirty="0">
                        <a:latin typeface="Cambria Math" panose="02040503050406030204" pitchFamily="18" charset="0"/>
                      </a:rPr>
                      <m:t>𝑎</m:t>
                    </m:r>
                  </m:oMath>
                </a14:m>
                <a:r>
                  <a:rPr lang="en-US" sz="1200" dirty="0"/>
                  <a:t> in state </a:t>
                </a:r>
                <a14:m>
                  <m:oMath xmlns:m="http://schemas.openxmlformats.org/officeDocument/2006/math">
                    <m:r>
                      <a:rPr lang="en-US" sz="1200" i="1" dirty="0">
                        <a:latin typeface="Cambria Math" panose="02040503050406030204" pitchFamily="18" charset="0"/>
                      </a:rPr>
                      <m:t>𝑠</m:t>
                    </m:r>
                  </m:oMath>
                </a14:m>
                <a:r>
                  <a:rPr lang="en-US" sz="1200" dirty="0"/>
                  <a:t> under stochastic policy </a:t>
                </a:r>
                <a14:m>
                  <m:oMath xmlns:m="http://schemas.openxmlformats.org/officeDocument/2006/math">
                    <m:r>
                      <a:rPr lang="en-US" sz="1200" i="1" dirty="0">
                        <a:latin typeface="Cambria Math" panose="02040503050406030204" pitchFamily="18" charset="0"/>
                      </a:rPr>
                      <m:t>𝜋</m:t>
                    </m:r>
                  </m:oMath>
                </a14:m>
                <a:endParaRPr lang="en-US" sz="1200" dirty="0">
                  <a:ea typeface="Cambria Math" panose="02040503050406030204" pitchFamily="18" charset="0"/>
                </a:endParaRPr>
              </a:p>
              <a:p>
                <a:pPr marL="0" indent="0">
                  <a:spcBef>
                    <a:spcPts val="0"/>
                  </a:spcBef>
                  <a:buNone/>
                </a:pPr>
                <a14:m>
                  <m:oMath xmlns:m="http://schemas.openxmlformats.org/officeDocument/2006/math">
                    <m:r>
                      <a:rPr lang="en-US" sz="1200" i="1" dirty="0" smtClean="0">
                        <a:latin typeface="Cambria Math" panose="02040503050406030204" pitchFamily="18" charset="0"/>
                      </a:rPr>
                      <m:t>𝜋</m:t>
                    </m:r>
                    <m:r>
                      <a:rPr lang="en-US" sz="1200" i="1" dirty="0" smtClean="0">
                        <a:latin typeface="Cambria Math" panose="02040503050406030204" pitchFamily="18" charset="0"/>
                      </a:rPr>
                      <m:t>(</m:t>
                    </m:r>
                    <m:r>
                      <a:rPr lang="en-US" sz="1200" i="1" dirty="0" smtClean="0">
                        <a:latin typeface="Cambria Math" panose="02040503050406030204" pitchFamily="18" charset="0"/>
                      </a:rPr>
                      <m:t>𝑠</m:t>
                    </m:r>
                    <m:r>
                      <a:rPr lang="en-US" sz="1200" i="1" dirty="0" smtClean="0">
                        <a:latin typeface="Cambria Math" panose="02040503050406030204" pitchFamily="18" charset="0"/>
                      </a:rPr>
                      <m:t>)</m:t>
                    </m:r>
                  </m:oMath>
                </a14:m>
                <a:r>
                  <a:rPr lang="en-US" sz="1200" dirty="0"/>
                  <a:t>	action taken in state </a:t>
                </a:r>
                <a14:m>
                  <m:oMath xmlns:m="http://schemas.openxmlformats.org/officeDocument/2006/math">
                    <m:r>
                      <a:rPr lang="en-US" sz="1200" i="1" dirty="0" smtClean="0">
                        <a:latin typeface="Cambria Math" panose="02040503050406030204" pitchFamily="18" charset="0"/>
                      </a:rPr>
                      <m:t>𝑠</m:t>
                    </m:r>
                  </m:oMath>
                </a14:m>
                <a:r>
                  <a:rPr lang="en-US" sz="1200" dirty="0"/>
                  <a:t> under deterministic policy </a:t>
                </a:r>
                <a14:m>
                  <m:oMath xmlns:m="http://schemas.openxmlformats.org/officeDocument/2006/math">
                    <m:r>
                      <a:rPr lang="en-US" sz="1200" b="0" i="1" dirty="0" smtClean="0">
                        <a:latin typeface="Cambria Math" panose="02040503050406030204" pitchFamily="18" charset="0"/>
                      </a:rPr>
                      <m:t>𝜋</m:t>
                    </m:r>
                  </m:oMath>
                </a14:m>
                <a:endParaRPr lang="en-US" sz="1200" dirty="0"/>
              </a:p>
            </p:txBody>
          </p:sp>
        </mc:Choice>
        <mc:Fallback xmlns="">
          <p:sp>
            <p:nvSpPr>
              <p:cNvPr id="11" name="Content Placeholder 2" descr="MDP. s, s prime states. a an action. r a reward. S set of all (nonterminal) states, S to the power plus are all states. A(s) set of all actions available in state s. gamma discount-rate parameter. t discrete time step. T final time step of an episode (a.k.a. horizon). A sub t random variable for the action at time t. S sub t random variable for the state at time t. R sub t random variable for the reward at time t. p (s prime,r | s, a) probability of transition to state s prime and receiving reward r, from state s taking action a . p (s prime | s, a) probability of transition to state s prime fom state s taking action a . r(s,a) expected immediate reward from state s after action a. r(s,a,s prime) expected immediate reward from state s to s prime with action a. pi (a given s) probability of taking action a in state s under stochastic policy pi. pi (s) action taken in state s under deterministic policy pi">
                <a:extLst>
                  <a:ext uri="{FF2B5EF4-FFF2-40B4-BE49-F238E27FC236}">
                    <a16:creationId xmlns:a16="http://schemas.microsoft.com/office/drawing/2014/main" id="{6F45EA4F-65F9-5141-0B09-C395CF9CA7A0}"/>
                  </a:ext>
                </a:extLst>
              </p:cNvPr>
              <p:cNvSpPr txBox="1">
                <a:spLocks noRot="1" noChangeAspect="1" noMove="1" noResize="1" noEditPoints="1" noAdjustHandles="1" noChangeArrowheads="1" noChangeShapeType="1" noTextEdit="1"/>
              </p:cNvSpPr>
              <p:nvPr/>
            </p:nvSpPr>
            <p:spPr>
              <a:xfrm>
                <a:off x="6267338" y="1124198"/>
                <a:ext cx="5273179" cy="3693383"/>
              </a:xfrm>
              <a:prstGeom prst="rect">
                <a:avLst/>
              </a:prstGeom>
              <a:blipFill>
                <a:blip r:embed="rId4"/>
                <a:stretch>
                  <a:fillRect t="-328"/>
                </a:stretch>
              </a:blipFill>
            </p:spPr>
            <p:txBody>
              <a:bodyPr/>
              <a:lstStyle/>
              <a:p>
                <a:r>
                  <a:rPr lang="en-US">
                    <a:noFill/>
                  </a:rPr>
                  <a:t> </a:t>
                </a:r>
              </a:p>
            </p:txBody>
          </p:sp>
        </mc:Fallback>
      </mc:AlternateContent>
    </p:spTree>
    <p:extLst>
      <p:ext uri="{BB962C8B-B14F-4D97-AF65-F5344CB8AC3E}">
        <p14:creationId xmlns:p14="http://schemas.microsoft.com/office/powerpoint/2010/main" val="9206940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EFE431-EDDE-8F36-4640-902EF247D5D0}"/>
              </a:ext>
            </a:extLst>
          </p:cNvPr>
          <p:cNvSpPr>
            <a:spLocks noGrp="1"/>
          </p:cNvSpPr>
          <p:nvPr>
            <p:ph type="title"/>
          </p:nvPr>
        </p:nvSpPr>
        <p:spPr/>
        <p:txBody>
          <a:bodyPr/>
          <a:lstStyle/>
          <a:p>
            <a:r>
              <a:rPr lang="en-US" dirty="0"/>
              <a:t>Goal</a:t>
            </a:r>
          </a:p>
        </p:txBody>
      </p:sp>
      <mc:AlternateContent xmlns:mc="http://schemas.openxmlformats.org/markup-compatibility/2006" xmlns:a14="http://schemas.microsoft.com/office/drawing/2010/main">
        <mc:Choice Requires="a14">
          <p:sp>
            <p:nvSpPr>
              <p:cNvPr id="3" name="Content Placeholder 2" descr="Remember: Finite MDPs have an optimal deterministic policy (under some mild conditions). Goal: Compute the optimal deterministic policy pi sub star equals argmax over a, of q sub star (s,a) given a perfect MDP model. Solve the Bellman optimality equations (the optimal policy always picks the best action):. v sub star (s) equals max over a E sub pi [R sub t plus 1, plus gamma v sub star (S sub t plus 1) | S sub t equals s,A sub t equals a]. or. q sub star (s,a) equals max over a E sub pi [R sub t plus 1, plus gamma max over a prime, of q sub star (S sub t plus 1,a prime) | S sub t equals s, A sub t equals a]. Issues: The value estimate for S sub t depends on the current estimates of the successor states S sub t plus 1 ! We need to solve all optimality equations at the same time. Idea: We can find the optimal policy by stepwise improving a policy till it is optimal. A policy is better if it has larger state values. pi prime is greater than or equal to pi v sub pi prime, (s) is greater than or equal to v sub pi (s) for all s in S. To do this we need to be able to compute v sub pi and v sub pi prime">
                <a:extLst>
                  <a:ext uri="{FF2B5EF4-FFF2-40B4-BE49-F238E27FC236}">
                    <a16:creationId xmlns:a16="http://schemas.microsoft.com/office/drawing/2014/main" id="{0F0BC304-9F53-1D52-E987-0090E50732AE}"/>
                  </a:ext>
                </a:extLst>
              </p:cNvPr>
              <p:cNvSpPr>
                <a:spLocks noGrp="1"/>
              </p:cNvSpPr>
              <p:nvPr>
                <p:ph idx="1"/>
              </p:nvPr>
            </p:nvSpPr>
            <p:spPr>
              <a:xfrm>
                <a:off x="838200" y="1170264"/>
                <a:ext cx="8403522" cy="5265437"/>
              </a:xfrm>
            </p:spPr>
            <p:txBody>
              <a:bodyPr>
                <a:normAutofit/>
              </a:bodyPr>
              <a:lstStyle/>
              <a:p>
                <a:r>
                  <a:rPr lang="en-US" sz="1500" b="1" dirty="0"/>
                  <a:t>Remember</a:t>
                </a:r>
                <a:r>
                  <a:rPr lang="en-US" sz="1500" dirty="0"/>
                  <a:t>: Finite MDPs have an optimal deterministic policy (under some mild conditions).</a:t>
                </a:r>
              </a:p>
              <a:p>
                <a:r>
                  <a:rPr lang="en-US" sz="1500" b="1" dirty="0"/>
                  <a:t>Goal</a:t>
                </a:r>
                <a:r>
                  <a:rPr lang="en-US" sz="1500" dirty="0"/>
                  <a:t>: Compute the </a:t>
                </a:r>
                <a:r>
                  <a:rPr lang="en-US" sz="1500" b="1" dirty="0"/>
                  <a:t>optimal deterministic policy </a:t>
                </a:r>
                <a14:m>
                  <m:oMath xmlns:m="http://schemas.openxmlformats.org/officeDocument/2006/math">
                    <m:sSub>
                      <m:sSubPr>
                        <m:ctrlPr>
                          <a:rPr lang="en-US" sz="1500" b="0" i="1" smtClean="0">
                            <a:latin typeface="Cambria Math" panose="02040503050406030204" pitchFamily="18" charset="0"/>
                          </a:rPr>
                        </m:ctrlPr>
                      </m:sSubPr>
                      <m:e>
                        <m:r>
                          <a:rPr lang="en-US" sz="1500" b="0" i="1" smtClean="0">
                            <a:latin typeface="Cambria Math" panose="02040503050406030204" pitchFamily="18" charset="0"/>
                          </a:rPr>
                          <m:t>𝜋</m:t>
                        </m:r>
                      </m:e>
                      <m:sub>
                        <m:r>
                          <a:rPr lang="en-US" sz="1500" b="0" i="1" smtClean="0">
                            <a:latin typeface="Cambria Math" panose="02040503050406030204" pitchFamily="18" charset="0"/>
                          </a:rPr>
                          <m:t>∗</m:t>
                        </m:r>
                      </m:sub>
                    </m:sSub>
                    <m:r>
                      <a:rPr lang="en-US" sz="1500" b="1" i="1" smtClean="0">
                        <a:latin typeface="Cambria Math" panose="02040503050406030204" pitchFamily="18" charset="0"/>
                      </a:rPr>
                      <m:t>=</m:t>
                    </m:r>
                    <m:func>
                      <m:funcPr>
                        <m:ctrlPr>
                          <a:rPr lang="en-US" sz="1600" i="1">
                            <a:latin typeface="Cambria Math" panose="02040503050406030204" pitchFamily="18" charset="0"/>
                          </a:rPr>
                        </m:ctrlPr>
                      </m:funcPr>
                      <m:fName>
                        <m:limLow>
                          <m:limLowPr>
                            <m:ctrlPr>
                              <a:rPr lang="en-US" sz="1600">
                                <a:latin typeface="Cambria Math" panose="02040503050406030204" pitchFamily="18" charset="0"/>
                              </a:rPr>
                            </m:ctrlPr>
                          </m:limLowPr>
                          <m:e>
                            <m:r>
                              <m:rPr>
                                <m:sty m:val="p"/>
                              </m:rPr>
                              <a:rPr lang="en-US" sz="1600">
                                <a:latin typeface="Cambria Math" panose="02040503050406030204" pitchFamily="18" charset="0"/>
                              </a:rPr>
                              <m:t>argmax</m:t>
                            </m:r>
                          </m:e>
                          <m:lim>
                            <m:r>
                              <a:rPr lang="en-US" sz="1600" i="1">
                                <a:latin typeface="Cambria Math" panose="02040503050406030204" pitchFamily="18" charset="0"/>
                              </a:rPr>
                              <m:t>𝑎</m:t>
                            </m:r>
                          </m:lim>
                        </m:limLow>
                      </m:fName>
                      <m:e>
                        <m:sSub>
                          <m:sSubPr>
                            <m:ctrlPr>
                              <a:rPr lang="en-US" sz="1600" i="1">
                                <a:latin typeface="Cambria Math" panose="02040503050406030204" pitchFamily="18" charset="0"/>
                              </a:rPr>
                            </m:ctrlPr>
                          </m:sSubPr>
                          <m:e>
                            <m:r>
                              <a:rPr lang="en-US" sz="1600" i="1">
                                <a:latin typeface="Cambria Math" panose="02040503050406030204" pitchFamily="18" charset="0"/>
                              </a:rPr>
                              <m:t>𝑞</m:t>
                            </m:r>
                          </m:e>
                          <m:sub>
                            <m:r>
                              <a:rPr lang="en-US" sz="1600" b="0" i="1" smtClean="0">
                                <a:latin typeface="Cambria Math" panose="02040503050406030204" pitchFamily="18" charset="0"/>
                              </a:rPr>
                              <m:t>∗</m:t>
                            </m:r>
                          </m:sub>
                        </m:sSub>
                        <m:r>
                          <a:rPr lang="en-US" sz="1600" i="1">
                            <a:latin typeface="Cambria Math" panose="02040503050406030204" pitchFamily="18" charset="0"/>
                          </a:rPr>
                          <m:t>(</m:t>
                        </m:r>
                        <m:r>
                          <a:rPr lang="en-US" sz="1600" i="1">
                            <a:latin typeface="Cambria Math" panose="02040503050406030204" pitchFamily="18" charset="0"/>
                          </a:rPr>
                          <m:t>𝑠</m:t>
                        </m:r>
                        <m:r>
                          <a:rPr lang="en-US" sz="1600" i="1">
                            <a:latin typeface="Cambria Math" panose="02040503050406030204" pitchFamily="18" charset="0"/>
                          </a:rPr>
                          <m:t>,</m:t>
                        </m:r>
                        <m:r>
                          <a:rPr lang="en-US" sz="1600" i="1">
                            <a:latin typeface="Cambria Math" panose="02040503050406030204" pitchFamily="18" charset="0"/>
                          </a:rPr>
                          <m:t>𝑎</m:t>
                        </m:r>
                        <m:r>
                          <a:rPr lang="en-US" sz="1600" i="1">
                            <a:latin typeface="Cambria Math" panose="02040503050406030204" pitchFamily="18" charset="0"/>
                          </a:rPr>
                          <m:t>)</m:t>
                        </m:r>
                      </m:e>
                    </m:func>
                  </m:oMath>
                </a14:m>
                <a:r>
                  <a:rPr lang="en-US" sz="1500" dirty="0"/>
                  <a:t> given a perfect MDP model.</a:t>
                </a:r>
              </a:p>
              <a:p>
                <a:r>
                  <a:rPr lang="en-US" sz="1500" dirty="0"/>
                  <a:t>Solve the Bellman optimality equations (the optimal policy always picks the best action):</a:t>
                </a:r>
              </a:p>
              <a:p>
                <a:pPr marL="0" indent="0">
                  <a:buNone/>
                </a:pPr>
                <a:endParaRPr lang="en-US" sz="1500" dirty="0"/>
              </a:p>
              <a:p>
                <a:pPr marL="0" indent="0">
                  <a:buNone/>
                </a:pPr>
                <a14:m>
                  <m:oMathPara xmlns:m="http://schemas.openxmlformats.org/officeDocument/2006/math">
                    <m:oMath>
                      <m:sSub>
                        <m:sSubPr>
                          <m:ctrlPr>
                            <a:rPr lang="en-US" sz="1500" i="1">
                              <a:latin typeface="Cambria Math" panose="02040503050406030204" pitchFamily="18" charset="0"/>
                            </a:rPr>
                          </m:ctrlPr>
                        </m:sSubPr>
                        <m:e>
                          <m:r>
                            <a:rPr lang="en-US" sz="1500" i="1">
                              <a:latin typeface="Cambria Math" panose="02040503050406030204" pitchFamily="18" charset="0"/>
                            </a:rPr>
                            <m:t>𝑣</m:t>
                          </m:r>
                        </m:e>
                        <m:sub>
                          <m:r>
                            <a:rPr lang="en-US" sz="1500" i="1">
                              <a:latin typeface="Cambria Math" panose="02040503050406030204" pitchFamily="18" charset="0"/>
                            </a:rPr>
                            <m:t>∗</m:t>
                          </m:r>
                        </m:sub>
                      </m:sSub>
                      <m:d>
                        <m:dPr>
                          <m:ctrlPr>
                            <a:rPr lang="en-US" sz="1500" i="1">
                              <a:latin typeface="Cambria Math" panose="02040503050406030204" pitchFamily="18" charset="0"/>
                            </a:rPr>
                          </m:ctrlPr>
                        </m:dPr>
                        <m:e>
                          <m:r>
                            <a:rPr lang="en-US" sz="1500" i="1">
                              <a:latin typeface="Cambria Math" panose="02040503050406030204" pitchFamily="18" charset="0"/>
                            </a:rPr>
                            <m:t>𝑠</m:t>
                          </m:r>
                        </m:e>
                      </m:d>
                      <m:sSub>
                        <m:sSubPr>
                          <m:ctrlPr>
                            <a:rPr lang="en-US" sz="1500" i="1">
                              <a:latin typeface="Cambria Math" panose="02040503050406030204" pitchFamily="18" charset="0"/>
                              <a:ea typeface="Cambria Math" panose="02040503050406030204" pitchFamily="18" charset="0"/>
                            </a:rPr>
                          </m:ctrlPr>
                        </m:sSubPr>
                        <m:e>
                          <m:r>
                            <m:rPr>
                              <m:aln/>
                            </m:rPr>
                            <a:rPr lang="en-US" sz="1500" i="1">
                              <a:latin typeface="Cambria Math" panose="02040503050406030204" pitchFamily="18" charset="0"/>
                              <a:ea typeface="Cambria Math" panose="02040503050406030204" pitchFamily="18" charset="0"/>
                            </a:rPr>
                            <m:t>=</m:t>
                          </m:r>
                          <m:limLow>
                            <m:limLowPr>
                              <m:ctrlPr>
                                <a:rPr lang="en-US" sz="1500">
                                  <a:latin typeface="Cambria Math" panose="02040503050406030204" pitchFamily="18" charset="0"/>
                                </a:rPr>
                              </m:ctrlPr>
                            </m:limLowPr>
                            <m:e>
                              <m:r>
                                <m:rPr>
                                  <m:sty m:val="p"/>
                                </m:rPr>
                                <a:rPr lang="en-US" sz="1500">
                                  <a:latin typeface="Cambria Math" panose="02040503050406030204" pitchFamily="18" charset="0"/>
                                </a:rPr>
                                <m:t>max</m:t>
                              </m:r>
                            </m:e>
                            <m:lim>
                              <m:r>
                                <a:rPr lang="en-US" sz="1500" i="1">
                                  <a:latin typeface="Cambria Math" panose="02040503050406030204" pitchFamily="18" charset="0"/>
                                </a:rPr>
                                <m:t>𝑎</m:t>
                              </m:r>
                            </m:lim>
                          </m:limLow>
                          <m:r>
                            <a:rPr lang="en-US" sz="1500" i="1">
                              <a:latin typeface="Cambria Math" panose="02040503050406030204" pitchFamily="18" charset="0"/>
                            </a:rPr>
                            <m:t> </m:t>
                          </m:r>
                          <m:r>
                            <a:rPr lang="en-US" sz="1500" i="1">
                              <a:latin typeface="Cambria Math" panose="02040503050406030204" pitchFamily="18" charset="0"/>
                              <a:ea typeface="Cambria Math" panose="02040503050406030204" pitchFamily="18" charset="0"/>
                            </a:rPr>
                            <m:t>𝔼</m:t>
                          </m:r>
                        </m:e>
                        <m:sub>
                          <m:r>
                            <a:rPr lang="en-US" sz="1500" i="1">
                              <a:latin typeface="Cambria Math" panose="02040503050406030204" pitchFamily="18" charset="0"/>
                              <a:ea typeface="Cambria Math" panose="02040503050406030204" pitchFamily="18" charset="0"/>
                            </a:rPr>
                            <m:t>𝜋</m:t>
                          </m:r>
                        </m:sub>
                      </m:sSub>
                      <m:d>
                        <m:dPr>
                          <m:begChr m:val="["/>
                          <m:endChr m:val="|"/>
                          <m:ctrlPr>
                            <a:rPr lang="en-US" sz="1500" i="1">
                              <a:latin typeface="Cambria Math" panose="02040503050406030204" pitchFamily="18" charset="0"/>
                              <a:ea typeface="Cambria Math" panose="02040503050406030204" pitchFamily="18" charset="0"/>
                            </a:rPr>
                          </m:ctrlPr>
                        </m:dPr>
                        <m:e>
                          <m:sSub>
                            <m:sSubPr>
                              <m:ctrlPr>
                                <a:rPr lang="en-US" sz="1500" i="1">
                                  <a:latin typeface="Cambria Math" panose="02040503050406030204" pitchFamily="18" charset="0"/>
                                  <a:ea typeface="Cambria Math" panose="02040503050406030204" pitchFamily="18" charset="0"/>
                                </a:rPr>
                              </m:ctrlPr>
                            </m:sSubPr>
                            <m:e>
                              <m:r>
                                <a:rPr lang="en-US" sz="1500" i="1">
                                  <a:latin typeface="Cambria Math" panose="02040503050406030204" pitchFamily="18" charset="0"/>
                                  <a:ea typeface="Cambria Math" panose="02040503050406030204" pitchFamily="18" charset="0"/>
                                </a:rPr>
                                <m:t>𝑅</m:t>
                              </m:r>
                            </m:e>
                            <m:sub>
                              <m:r>
                                <a:rPr lang="en-US" sz="1500" i="1">
                                  <a:latin typeface="Cambria Math" panose="02040503050406030204" pitchFamily="18" charset="0"/>
                                  <a:ea typeface="Cambria Math" panose="02040503050406030204" pitchFamily="18" charset="0"/>
                                </a:rPr>
                                <m:t>𝑡</m:t>
                              </m:r>
                              <m:r>
                                <a:rPr lang="en-US" sz="1500" i="1">
                                  <a:latin typeface="Cambria Math" panose="02040503050406030204" pitchFamily="18" charset="0"/>
                                  <a:ea typeface="Cambria Math" panose="02040503050406030204" pitchFamily="18" charset="0"/>
                                </a:rPr>
                                <m:t>+1</m:t>
                              </m:r>
                            </m:sub>
                          </m:sSub>
                          <m:r>
                            <a:rPr lang="en-US" sz="1500" i="1">
                              <a:latin typeface="Cambria Math" panose="02040503050406030204" pitchFamily="18" charset="0"/>
                              <a:ea typeface="Cambria Math" panose="02040503050406030204" pitchFamily="18" charset="0"/>
                            </a:rPr>
                            <m:t>+</m:t>
                          </m:r>
                          <m:r>
                            <a:rPr lang="en-US" sz="1500" i="1">
                              <a:latin typeface="Cambria Math" panose="02040503050406030204" pitchFamily="18" charset="0"/>
                              <a:ea typeface="Cambria Math" panose="02040503050406030204" pitchFamily="18" charset="0"/>
                            </a:rPr>
                            <m:t>𝛾</m:t>
                          </m:r>
                          <m:sSub>
                            <m:sSubPr>
                              <m:ctrlPr>
                                <a:rPr lang="en-US" sz="1500" i="1">
                                  <a:latin typeface="Cambria Math" panose="02040503050406030204" pitchFamily="18" charset="0"/>
                                  <a:ea typeface="Cambria Math" panose="02040503050406030204" pitchFamily="18" charset="0"/>
                                </a:rPr>
                              </m:ctrlPr>
                            </m:sSubPr>
                            <m:e>
                              <m:r>
                                <a:rPr lang="en-US" sz="1500" i="1">
                                  <a:latin typeface="Cambria Math" panose="02040503050406030204" pitchFamily="18" charset="0"/>
                                  <a:ea typeface="Cambria Math" panose="02040503050406030204" pitchFamily="18" charset="0"/>
                                </a:rPr>
                                <m:t>𝑣</m:t>
                              </m:r>
                            </m:e>
                            <m:sub>
                              <m:r>
                                <a:rPr lang="en-US" sz="1500" i="1">
                                  <a:latin typeface="Cambria Math" panose="02040503050406030204" pitchFamily="18" charset="0"/>
                                  <a:ea typeface="Cambria Math" panose="02040503050406030204" pitchFamily="18" charset="0"/>
                                </a:rPr>
                                <m:t>∗</m:t>
                              </m:r>
                            </m:sub>
                          </m:sSub>
                          <m:d>
                            <m:dPr>
                              <m:ctrlPr>
                                <a:rPr lang="en-US" sz="1500" i="1">
                                  <a:latin typeface="Cambria Math" panose="02040503050406030204" pitchFamily="18" charset="0"/>
                                  <a:ea typeface="Cambria Math" panose="02040503050406030204" pitchFamily="18" charset="0"/>
                                </a:rPr>
                              </m:ctrlPr>
                            </m:dPr>
                            <m:e>
                              <m:sSub>
                                <m:sSubPr>
                                  <m:ctrlPr>
                                    <a:rPr lang="en-US" sz="1500" i="1">
                                      <a:latin typeface="Cambria Math" panose="02040503050406030204" pitchFamily="18" charset="0"/>
                                      <a:ea typeface="Cambria Math" panose="02040503050406030204" pitchFamily="18" charset="0"/>
                                    </a:rPr>
                                  </m:ctrlPr>
                                </m:sSubPr>
                                <m:e>
                                  <m:r>
                                    <a:rPr lang="en-US" sz="1500" i="1">
                                      <a:latin typeface="Cambria Math" panose="02040503050406030204" pitchFamily="18" charset="0"/>
                                      <a:ea typeface="Cambria Math" panose="02040503050406030204" pitchFamily="18" charset="0"/>
                                    </a:rPr>
                                    <m:t>𝑆</m:t>
                                  </m:r>
                                </m:e>
                                <m:sub>
                                  <m:r>
                                    <a:rPr lang="en-US" sz="1500" i="1">
                                      <a:latin typeface="Cambria Math" panose="02040503050406030204" pitchFamily="18" charset="0"/>
                                      <a:ea typeface="Cambria Math" panose="02040503050406030204" pitchFamily="18" charset="0"/>
                                    </a:rPr>
                                    <m:t>𝑡</m:t>
                                  </m:r>
                                  <m:r>
                                    <a:rPr lang="en-US" sz="1500" i="1">
                                      <a:latin typeface="Cambria Math" panose="02040503050406030204" pitchFamily="18" charset="0"/>
                                      <a:ea typeface="Cambria Math" panose="02040503050406030204" pitchFamily="18" charset="0"/>
                                    </a:rPr>
                                    <m:t>+1</m:t>
                                  </m:r>
                                </m:sub>
                              </m:sSub>
                            </m:e>
                          </m:d>
                        </m:e>
                      </m:d>
                      <m:sSub>
                        <m:sSubPr>
                          <m:ctrlPr>
                            <a:rPr lang="en-US" sz="1500" i="1">
                              <a:latin typeface="Cambria Math" panose="02040503050406030204" pitchFamily="18" charset="0"/>
                              <a:ea typeface="Cambria Math" panose="02040503050406030204" pitchFamily="18" charset="0"/>
                            </a:rPr>
                          </m:ctrlPr>
                        </m:sSubPr>
                        <m:e>
                          <m:r>
                            <a:rPr lang="en-US" sz="1500" i="1">
                              <a:latin typeface="Cambria Math" panose="02040503050406030204" pitchFamily="18" charset="0"/>
                              <a:ea typeface="Cambria Math" panose="02040503050406030204" pitchFamily="18" charset="0"/>
                            </a:rPr>
                            <m:t>𝑆</m:t>
                          </m:r>
                        </m:e>
                        <m:sub>
                          <m:r>
                            <a:rPr lang="en-US" sz="1500" i="1">
                              <a:latin typeface="Cambria Math" panose="02040503050406030204" pitchFamily="18" charset="0"/>
                              <a:ea typeface="Cambria Math" panose="02040503050406030204" pitchFamily="18" charset="0"/>
                            </a:rPr>
                            <m:t>𝑡</m:t>
                          </m:r>
                        </m:sub>
                      </m:sSub>
                      <m:r>
                        <a:rPr lang="en-US" sz="1500" i="1">
                          <a:latin typeface="Cambria Math" panose="02040503050406030204" pitchFamily="18" charset="0"/>
                          <a:ea typeface="Cambria Math" panose="02040503050406030204" pitchFamily="18" charset="0"/>
                        </a:rPr>
                        <m:t>=</m:t>
                      </m:r>
                      <m:r>
                        <a:rPr lang="en-US" sz="1500" i="1">
                          <a:latin typeface="Cambria Math" panose="02040503050406030204" pitchFamily="18" charset="0"/>
                          <a:ea typeface="Cambria Math" panose="02040503050406030204" pitchFamily="18" charset="0"/>
                        </a:rPr>
                        <m:t>𝑠</m:t>
                      </m:r>
                      <m:r>
                        <a:rPr lang="en-US" sz="1500" b="0" i="1" smtClean="0">
                          <a:latin typeface="Cambria Math" panose="02040503050406030204" pitchFamily="18" charset="0"/>
                          <a:ea typeface="Cambria Math" panose="02040503050406030204" pitchFamily="18" charset="0"/>
                        </a:rPr>
                        <m:t>,</m:t>
                      </m:r>
                      <m:sSub>
                        <m:sSubPr>
                          <m:ctrlPr>
                            <a:rPr lang="en-US" sz="1500" i="1">
                              <a:latin typeface="Cambria Math" panose="02040503050406030204" pitchFamily="18" charset="0"/>
                              <a:ea typeface="Cambria Math" panose="02040503050406030204" pitchFamily="18" charset="0"/>
                            </a:rPr>
                          </m:ctrlPr>
                        </m:sSubPr>
                        <m:e>
                          <m:r>
                            <a:rPr lang="en-US" sz="1500" i="1">
                              <a:latin typeface="Cambria Math" panose="02040503050406030204" pitchFamily="18" charset="0"/>
                              <a:ea typeface="Cambria Math" panose="02040503050406030204" pitchFamily="18" charset="0"/>
                            </a:rPr>
                            <m:t>𝐴</m:t>
                          </m:r>
                        </m:e>
                        <m:sub>
                          <m:r>
                            <a:rPr lang="en-US" sz="1500" i="1">
                              <a:latin typeface="Cambria Math" panose="02040503050406030204" pitchFamily="18" charset="0"/>
                              <a:ea typeface="Cambria Math" panose="02040503050406030204" pitchFamily="18" charset="0"/>
                            </a:rPr>
                            <m:t>𝑡</m:t>
                          </m:r>
                        </m:sub>
                      </m:sSub>
                      <m:r>
                        <a:rPr lang="en-US" sz="1500" i="1">
                          <a:latin typeface="Cambria Math" panose="02040503050406030204" pitchFamily="18" charset="0"/>
                          <a:ea typeface="Cambria Math" panose="02040503050406030204" pitchFamily="18" charset="0"/>
                        </a:rPr>
                        <m:t>=</m:t>
                      </m:r>
                      <m:r>
                        <a:rPr lang="en-US" sz="1500" i="1">
                          <a:latin typeface="Cambria Math" panose="02040503050406030204" pitchFamily="18" charset="0"/>
                          <a:ea typeface="Cambria Math" panose="02040503050406030204" pitchFamily="18" charset="0"/>
                        </a:rPr>
                        <m:t>𝑎</m:t>
                      </m:r>
                      <m:r>
                        <a:rPr lang="en-US" sz="1500" i="1">
                          <a:latin typeface="Cambria Math" panose="02040503050406030204" pitchFamily="18" charset="0"/>
                          <a:ea typeface="Cambria Math" panose="02040503050406030204" pitchFamily="18" charset="0"/>
                        </a:rPr>
                        <m:t>]</m:t>
                      </m:r>
                    </m:oMath>
                  </m:oMathPara>
                </a14:m>
                <a:endParaRPr lang="en-US" sz="1500" dirty="0"/>
              </a:p>
              <a:p>
                <a:pPr marL="0" indent="0" algn="ctr">
                  <a:buNone/>
                </a:pPr>
                <a:r>
                  <a:rPr lang="en-US" sz="1500" dirty="0"/>
                  <a:t>or</a:t>
                </a:r>
              </a:p>
              <a:p>
                <a:pPr marL="0" indent="0">
                  <a:buNone/>
                </a:pPr>
                <a14:m>
                  <m:oMathPara xmlns:m="http://schemas.openxmlformats.org/officeDocument/2006/math">
                    <m:oMath>
                      <m:sSub>
                        <m:sSubPr>
                          <m:ctrlPr>
                            <a:rPr lang="en-US" sz="1500" b="0" i="1" smtClean="0">
                              <a:latin typeface="Cambria Math" panose="02040503050406030204" pitchFamily="18" charset="0"/>
                            </a:rPr>
                          </m:ctrlPr>
                        </m:sSubPr>
                        <m:e>
                          <m:r>
                            <a:rPr lang="en-US" sz="1500" b="0" i="1" smtClean="0">
                              <a:latin typeface="Cambria Math" panose="02040503050406030204" pitchFamily="18" charset="0"/>
                            </a:rPr>
                            <m:t>𝑞</m:t>
                          </m:r>
                        </m:e>
                        <m:sub>
                          <m:r>
                            <a:rPr lang="en-US" sz="1500" i="1">
                              <a:latin typeface="Cambria Math" panose="02040503050406030204" pitchFamily="18" charset="0"/>
                            </a:rPr>
                            <m:t>∗</m:t>
                          </m:r>
                        </m:sub>
                      </m:sSub>
                      <m:d>
                        <m:dPr>
                          <m:ctrlPr>
                            <a:rPr lang="en-US" sz="1500" i="1">
                              <a:latin typeface="Cambria Math" panose="02040503050406030204" pitchFamily="18" charset="0"/>
                            </a:rPr>
                          </m:ctrlPr>
                        </m:dPr>
                        <m:e>
                          <m:r>
                            <a:rPr lang="en-US" sz="1500" i="1">
                              <a:latin typeface="Cambria Math" panose="02040503050406030204" pitchFamily="18" charset="0"/>
                            </a:rPr>
                            <m:t>𝑠</m:t>
                          </m:r>
                          <m:r>
                            <a:rPr lang="en-US" sz="1500" b="0" i="1" smtClean="0">
                              <a:latin typeface="Cambria Math" panose="02040503050406030204" pitchFamily="18" charset="0"/>
                            </a:rPr>
                            <m:t>,</m:t>
                          </m:r>
                          <m:r>
                            <a:rPr lang="en-US" sz="1500" b="0" i="1" smtClean="0">
                              <a:latin typeface="Cambria Math" panose="02040503050406030204" pitchFamily="18" charset="0"/>
                            </a:rPr>
                            <m:t>𝑎</m:t>
                          </m:r>
                        </m:e>
                      </m:d>
                      <m:sSub>
                        <m:sSubPr>
                          <m:ctrlPr>
                            <a:rPr lang="en-US" sz="1500" i="1">
                              <a:latin typeface="Cambria Math" panose="02040503050406030204" pitchFamily="18" charset="0"/>
                              <a:ea typeface="Cambria Math" panose="02040503050406030204" pitchFamily="18" charset="0"/>
                            </a:rPr>
                          </m:ctrlPr>
                        </m:sSubPr>
                        <m:e>
                          <m:r>
                            <m:rPr>
                              <m:aln/>
                            </m:rPr>
                            <a:rPr lang="en-US" sz="1500" i="1">
                              <a:latin typeface="Cambria Math" panose="02040503050406030204" pitchFamily="18" charset="0"/>
                              <a:ea typeface="Cambria Math" panose="02040503050406030204" pitchFamily="18" charset="0"/>
                            </a:rPr>
                            <m:t>=</m:t>
                          </m:r>
                          <m:limLow>
                            <m:limLowPr>
                              <m:ctrlPr>
                                <a:rPr lang="en-US" sz="1500">
                                  <a:latin typeface="Cambria Math" panose="02040503050406030204" pitchFamily="18" charset="0"/>
                                </a:rPr>
                              </m:ctrlPr>
                            </m:limLowPr>
                            <m:e>
                              <m:r>
                                <m:rPr>
                                  <m:sty m:val="p"/>
                                </m:rPr>
                                <a:rPr lang="en-US" sz="1500">
                                  <a:latin typeface="Cambria Math" panose="02040503050406030204" pitchFamily="18" charset="0"/>
                                </a:rPr>
                                <m:t>max</m:t>
                              </m:r>
                            </m:e>
                            <m:lim>
                              <m:r>
                                <a:rPr lang="en-US" sz="1500" i="1">
                                  <a:latin typeface="Cambria Math" panose="02040503050406030204" pitchFamily="18" charset="0"/>
                                </a:rPr>
                                <m:t>𝑎</m:t>
                              </m:r>
                            </m:lim>
                          </m:limLow>
                          <m:r>
                            <a:rPr lang="en-US" sz="1500" i="1">
                              <a:latin typeface="Cambria Math" panose="02040503050406030204" pitchFamily="18" charset="0"/>
                            </a:rPr>
                            <m:t> </m:t>
                          </m:r>
                          <m:r>
                            <a:rPr lang="en-US" sz="1500" i="1">
                              <a:latin typeface="Cambria Math" panose="02040503050406030204" pitchFamily="18" charset="0"/>
                              <a:ea typeface="Cambria Math" panose="02040503050406030204" pitchFamily="18" charset="0"/>
                            </a:rPr>
                            <m:t>𝔼</m:t>
                          </m:r>
                        </m:e>
                        <m:sub>
                          <m:r>
                            <a:rPr lang="en-US" sz="1500" i="1">
                              <a:latin typeface="Cambria Math" panose="02040503050406030204" pitchFamily="18" charset="0"/>
                              <a:ea typeface="Cambria Math" panose="02040503050406030204" pitchFamily="18" charset="0"/>
                            </a:rPr>
                            <m:t>𝜋</m:t>
                          </m:r>
                        </m:sub>
                      </m:sSub>
                      <m:d>
                        <m:dPr>
                          <m:begChr m:val="["/>
                          <m:endChr m:val="|"/>
                          <m:ctrlPr>
                            <a:rPr lang="en-US" sz="1500" i="1">
                              <a:latin typeface="Cambria Math" panose="02040503050406030204" pitchFamily="18" charset="0"/>
                              <a:ea typeface="Cambria Math" panose="02040503050406030204" pitchFamily="18" charset="0"/>
                            </a:rPr>
                          </m:ctrlPr>
                        </m:dPr>
                        <m:e>
                          <m:sSub>
                            <m:sSubPr>
                              <m:ctrlPr>
                                <a:rPr lang="en-US" sz="1500" i="1">
                                  <a:latin typeface="Cambria Math" panose="02040503050406030204" pitchFamily="18" charset="0"/>
                                  <a:ea typeface="Cambria Math" panose="02040503050406030204" pitchFamily="18" charset="0"/>
                                </a:rPr>
                              </m:ctrlPr>
                            </m:sSubPr>
                            <m:e>
                              <m:r>
                                <a:rPr lang="en-US" sz="1500" i="1">
                                  <a:latin typeface="Cambria Math" panose="02040503050406030204" pitchFamily="18" charset="0"/>
                                  <a:ea typeface="Cambria Math" panose="02040503050406030204" pitchFamily="18" charset="0"/>
                                </a:rPr>
                                <m:t>𝑅</m:t>
                              </m:r>
                            </m:e>
                            <m:sub>
                              <m:r>
                                <a:rPr lang="en-US" sz="1500" i="1">
                                  <a:latin typeface="Cambria Math" panose="02040503050406030204" pitchFamily="18" charset="0"/>
                                  <a:ea typeface="Cambria Math" panose="02040503050406030204" pitchFamily="18" charset="0"/>
                                </a:rPr>
                                <m:t>𝑡</m:t>
                              </m:r>
                              <m:r>
                                <a:rPr lang="en-US" sz="1500" i="1">
                                  <a:latin typeface="Cambria Math" panose="02040503050406030204" pitchFamily="18" charset="0"/>
                                  <a:ea typeface="Cambria Math" panose="02040503050406030204" pitchFamily="18" charset="0"/>
                                </a:rPr>
                                <m:t>+1</m:t>
                              </m:r>
                            </m:sub>
                          </m:sSub>
                          <m:r>
                            <a:rPr lang="en-US" sz="1500" i="1">
                              <a:latin typeface="Cambria Math" panose="02040503050406030204" pitchFamily="18" charset="0"/>
                              <a:ea typeface="Cambria Math" panose="02040503050406030204" pitchFamily="18" charset="0"/>
                            </a:rPr>
                            <m:t>+</m:t>
                          </m:r>
                          <m:r>
                            <a:rPr lang="en-US" sz="1500" i="1">
                              <a:latin typeface="Cambria Math" panose="02040503050406030204" pitchFamily="18" charset="0"/>
                              <a:ea typeface="Cambria Math" panose="02040503050406030204" pitchFamily="18" charset="0"/>
                            </a:rPr>
                            <m:t>𝛾</m:t>
                          </m:r>
                          <m:func>
                            <m:funcPr>
                              <m:ctrlPr>
                                <a:rPr lang="en-US" sz="1500" i="1" smtClean="0">
                                  <a:latin typeface="Cambria Math" panose="02040503050406030204" pitchFamily="18" charset="0"/>
                                  <a:ea typeface="Cambria Math" panose="02040503050406030204" pitchFamily="18" charset="0"/>
                                </a:rPr>
                              </m:ctrlPr>
                            </m:funcPr>
                            <m:fName>
                              <m:limLow>
                                <m:limLowPr>
                                  <m:ctrlPr>
                                    <a:rPr lang="en-US" sz="1500" i="0" smtClean="0">
                                      <a:latin typeface="Cambria Math" panose="02040503050406030204" pitchFamily="18" charset="0"/>
                                      <a:ea typeface="Cambria Math" panose="02040503050406030204" pitchFamily="18" charset="0"/>
                                    </a:rPr>
                                  </m:ctrlPr>
                                </m:limLowPr>
                                <m:e>
                                  <m:r>
                                    <m:rPr>
                                      <m:sty m:val="p"/>
                                    </m:rPr>
                                    <a:rPr lang="en-US" sz="1500" i="0" smtClean="0">
                                      <a:latin typeface="Cambria Math" panose="02040503050406030204" pitchFamily="18" charset="0"/>
                                      <a:ea typeface="Cambria Math" panose="02040503050406030204" pitchFamily="18" charset="0"/>
                                    </a:rPr>
                                    <m:t>max</m:t>
                                  </m:r>
                                </m:e>
                                <m:lim>
                                  <m:r>
                                    <m:rPr>
                                      <m:sty m:val="p"/>
                                    </m:rPr>
                                    <a:rPr lang="en-US" sz="1500" b="0" i="1" smtClean="0">
                                      <a:latin typeface="Cambria Math" panose="02040503050406030204" pitchFamily="18" charset="0"/>
                                      <a:ea typeface="Cambria Math" panose="02040503050406030204" pitchFamily="18" charset="0"/>
                                    </a:rPr>
                                    <m:t>a</m:t>
                                  </m:r>
                                  <m:r>
                                    <a:rPr lang="en-US" sz="1500" b="0" i="1" smtClean="0">
                                      <a:latin typeface="Cambria Math" panose="02040503050406030204" pitchFamily="18" charset="0"/>
                                      <a:ea typeface="Cambria Math" panose="02040503050406030204" pitchFamily="18" charset="0"/>
                                    </a:rPr>
                                    <m:t>′</m:t>
                                  </m:r>
                                </m:lim>
                              </m:limLow>
                            </m:fName>
                            <m:e>
                              <m:sSub>
                                <m:sSubPr>
                                  <m:ctrlPr>
                                    <a:rPr lang="en-US" sz="1500" b="0" i="1" smtClean="0">
                                      <a:latin typeface="Cambria Math" panose="02040503050406030204" pitchFamily="18" charset="0"/>
                                      <a:ea typeface="Cambria Math" panose="02040503050406030204" pitchFamily="18" charset="0"/>
                                    </a:rPr>
                                  </m:ctrlPr>
                                </m:sSubPr>
                                <m:e>
                                  <m:r>
                                    <a:rPr lang="en-US" sz="1500" b="0" i="1" smtClean="0">
                                      <a:latin typeface="Cambria Math" panose="02040503050406030204" pitchFamily="18" charset="0"/>
                                      <a:ea typeface="Cambria Math" panose="02040503050406030204" pitchFamily="18" charset="0"/>
                                    </a:rPr>
                                    <m:t>𝑞</m:t>
                                  </m:r>
                                </m:e>
                                <m:sub>
                                  <m:r>
                                    <a:rPr lang="en-US" sz="1500" b="0" i="1" smtClean="0">
                                      <a:latin typeface="Cambria Math" panose="02040503050406030204" pitchFamily="18" charset="0"/>
                                      <a:ea typeface="Cambria Math" panose="02040503050406030204" pitchFamily="18" charset="0"/>
                                    </a:rPr>
                                    <m:t>∗</m:t>
                                  </m:r>
                                </m:sub>
                              </m:sSub>
                              <m:r>
                                <a:rPr lang="en-US" sz="1500" b="0" i="1" smtClean="0">
                                  <a:latin typeface="Cambria Math" panose="02040503050406030204" pitchFamily="18" charset="0"/>
                                  <a:ea typeface="Cambria Math" panose="02040503050406030204" pitchFamily="18" charset="0"/>
                                </a:rPr>
                                <m:t>(</m:t>
                              </m:r>
                              <m:sSub>
                                <m:sSubPr>
                                  <m:ctrlPr>
                                    <a:rPr lang="en-US" sz="1500" b="0" i="1" smtClean="0">
                                      <a:latin typeface="Cambria Math" panose="02040503050406030204" pitchFamily="18" charset="0"/>
                                      <a:ea typeface="Cambria Math" panose="02040503050406030204" pitchFamily="18" charset="0"/>
                                    </a:rPr>
                                  </m:ctrlPr>
                                </m:sSubPr>
                                <m:e>
                                  <m:r>
                                    <a:rPr lang="en-US" sz="1500" b="0" i="1" smtClean="0">
                                      <a:latin typeface="Cambria Math" panose="02040503050406030204" pitchFamily="18" charset="0"/>
                                      <a:ea typeface="Cambria Math" panose="02040503050406030204" pitchFamily="18" charset="0"/>
                                    </a:rPr>
                                    <m:t>𝑆</m:t>
                                  </m:r>
                                </m:e>
                                <m:sub>
                                  <m:r>
                                    <m:rPr>
                                      <m:sty m:val="p"/>
                                    </m:rPr>
                                    <a:rPr lang="en-US" sz="1500" b="0" i="1" smtClean="0">
                                      <a:latin typeface="Cambria Math" panose="02040503050406030204" pitchFamily="18" charset="0"/>
                                      <a:ea typeface="Cambria Math" panose="02040503050406030204" pitchFamily="18" charset="0"/>
                                    </a:rPr>
                                    <m:t>t</m:t>
                                  </m:r>
                                  <m:r>
                                    <a:rPr lang="en-US" sz="1500" b="0" i="1" smtClean="0">
                                      <a:latin typeface="Cambria Math" panose="02040503050406030204" pitchFamily="18" charset="0"/>
                                      <a:ea typeface="Cambria Math" panose="02040503050406030204" pitchFamily="18" charset="0"/>
                                    </a:rPr>
                                    <m:t>+1</m:t>
                                  </m:r>
                                </m:sub>
                              </m:sSub>
                              <m:r>
                                <a:rPr lang="en-US" sz="1500" b="0" i="1" smtClean="0">
                                  <a:latin typeface="Cambria Math" panose="02040503050406030204" pitchFamily="18" charset="0"/>
                                  <a:ea typeface="Cambria Math" panose="02040503050406030204" pitchFamily="18" charset="0"/>
                                </a:rPr>
                                <m:t>,</m:t>
                              </m:r>
                              <m:sSup>
                                <m:sSupPr>
                                  <m:ctrlPr>
                                    <a:rPr lang="en-US" sz="1500" b="0" i="1" smtClean="0">
                                      <a:latin typeface="Cambria Math" panose="02040503050406030204" pitchFamily="18" charset="0"/>
                                      <a:ea typeface="Cambria Math" panose="02040503050406030204" pitchFamily="18" charset="0"/>
                                    </a:rPr>
                                  </m:ctrlPr>
                                </m:sSupPr>
                                <m:e>
                                  <m:r>
                                    <a:rPr lang="en-US" sz="1500" b="0" i="1" smtClean="0">
                                      <a:latin typeface="Cambria Math" panose="02040503050406030204" pitchFamily="18" charset="0"/>
                                      <a:ea typeface="Cambria Math" panose="02040503050406030204" pitchFamily="18" charset="0"/>
                                    </a:rPr>
                                    <m:t>𝑎</m:t>
                                  </m:r>
                                </m:e>
                                <m:sup>
                                  <m:r>
                                    <a:rPr lang="en-US" sz="1500" b="0" i="1" smtClean="0">
                                      <a:latin typeface="Cambria Math" panose="02040503050406030204" pitchFamily="18" charset="0"/>
                                      <a:ea typeface="Cambria Math" panose="02040503050406030204" pitchFamily="18" charset="0"/>
                                    </a:rPr>
                                    <m:t>′</m:t>
                                  </m:r>
                                </m:sup>
                              </m:sSup>
                              <m:r>
                                <a:rPr lang="en-US" sz="1500" b="0" i="1" smtClean="0">
                                  <a:latin typeface="Cambria Math" panose="02040503050406030204" pitchFamily="18" charset="0"/>
                                  <a:ea typeface="Cambria Math" panose="02040503050406030204" pitchFamily="18" charset="0"/>
                                </a:rPr>
                                <m:t>)</m:t>
                              </m:r>
                            </m:e>
                          </m:func>
                        </m:e>
                      </m:d>
                      <m:sSub>
                        <m:sSubPr>
                          <m:ctrlPr>
                            <a:rPr lang="en-US" sz="1500" i="1">
                              <a:latin typeface="Cambria Math" panose="02040503050406030204" pitchFamily="18" charset="0"/>
                              <a:ea typeface="Cambria Math" panose="02040503050406030204" pitchFamily="18" charset="0"/>
                            </a:rPr>
                          </m:ctrlPr>
                        </m:sSubPr>
                        <m:e>
                          <m:r>
                            <a:rPr lang="en-US" sz="1500" i="1">
                              <a:latin typeface="Cambria Math" panose="02040503050406030204" pitchFamily="18" charset="0"/>
                              <a:ea typeface="Cambria Math" panose="02040503050406030204" pitchFamily="18" charset="0"/>
                            </a:rPr>
                            <m:t>𝑆</m:t>
                          </m:r>
                        </m:e>
                        <m:sub>
                          <m:r>
                            <a:rPr lang="en-US" sz="1500" i="1">
                              <a:latin typeface="Cambria Math" panose="02040503050406030204" pitchFamily="18" charset="0"/>
                              <a:ea typeface="Cambria Math" panose="02040503050406030204" pitchFamily="18" charset="0"/>
                            </a:rPr>
                            <m:t>𝑡</m:t>
                          </m:r>
                        </m:sub>
                      </m:sSub>
                      <m:r>
                        <a:rPr lang="en-US" sz="1500" i="1">
                          <a:latin typeface="Cambria Math" panose="02040503050406030204" pitchFamily="18" charset="0"/>
                          <a:ea typeface="Cambria Math" panose="02040503050406030204" pitchFamily="18" charset="0"/>
                        </a:rPr>
                        <m:t>=</m:t>
                      </m:r>
                      <m:r>
                        <a:rPr lang="en-US" sz="1500" i="1">
                          <a:latin typeface="Cambria Math" panose="02040503050406030204" pitchFamily="18" charset="0"/>
                          <a:ea typeface="Cambria Math" panose="02040503050406030204" pitchFamily="18" charset="0"/>
                        </a:rPr>
                        <m:t>𝑠</m:t>
                      </m:r>
                      <m:r>
                        <a:rPr lang="en-US" sz="1500" i="1">
                          <a:latin typeface="Cambria Math" panose="02040503050406030204" pitchFamily="18" charset="0"/>
                          <a:ea typeface="Cambria Math" panose="02040503050406030204" pitchFamily="18" charset="0"/>
                        </a:rPr>
                        <m:t>, </m:t>
                      </m:r>
                      <m:sSub>
                        <m:sSubPr>
                          <m:ctrlPr>
                            <a:rPr lang="en-US" sz="1500" i="1">
                              <a:latin typeface="Cambria Math" panose="02040503050406030204" pitchFamily="18" charset="0"/>
                              <a:ea typeface="Cambria Math" panose="02040503050406030204" pitchFamily="18" charset="0"/>
                            </a:rPr>
                          </m:ctrlPr>
                        </m:sSubPr>
                        <m:e>
                          <m:r>
                            <a:rPr lang="en-US" sz="1500" i="1">
                              <a:latin typeface="Cambria Math" panose="02040503050406030204" pitchFamily="18" charset="0"/>
                              <a:ea typeface="Cambria Math" panose="02040503050406030204" pitchFamily="18" charset="0"/>
                            </a:rPr>
                            <m:t>𝐴</m:t>
                          </m:r>
                        </m:e>
                        <m:sub>
                          <m:r>
                            <a:rPr lang="en-US" sz="1500" i="1">
                              <a:latin typeface="Cambria Math" panose="02040503050406030204" pitchFamily="18" charset="0"/>
                              <a:ea typeface="Cambria Math" panose="02040503050406030204" pitchFamily="18" charset="0"/>
                            </a:rPr>
                            <m:t>𝑡</m:t>
                          </m:r>
                        </m:sub>
                      </m:sSub>
                      <m:r>
                        <a:rPr lang="en-US" sz="1500" i="1">
                          <a:latin typeface="Cambria Math" panose="02040503050406030204" pitchFamily="18" charset="0"/>
                          <a:ea typeface="Cambria Math" panose="02040503050406030204" pitchFamily="18" charset="0"/>
                        </a:rPr>
                        <m:t>=</m:t>
                      </m:r>
                      <m:r>
                        <a:rPr lang="en-US" sz="1500" i="1">
                          <a:latin typeface="Cambria Math" panose="02040503050406030204" pitchFamily="18" charset="0"/>
                          <a:ea typeface="Cambria Math" panose="02040503050406030204" pitchFamily="18" charset="0"/>
                        </a:rPr>
                        <m:t>𝑎</m:t>
                      </m:r>
                      <m:r>
                        <a:rPr lang="en-US" sz="1500" i="1">
                          <a:latin typeface="Cambria Math" panose="02040503050406030204" pitchFamily="18" charset="0"/>
                          <a:ea typeface="Cambria Math" panose="02040503050406030204" pitchFamily="18" charset="0"/>
                        </a:rPr>
                        <m:t>]</m:t>
                      </m:r>
                    </m:oMath>
                  </m:oMathPara>
                </a14:m>
                <a:endParaRPr lang="en-US" sz="1500" dirty="0"/>
              </a:p>
              <a:p>
                <a:pPr marL="0" indent="0">
                  <a:buNone/>
                </a:pPr>
                <a:endParaRPr lang="en-US" sz="1500" b="1" dirty="0"/>
              </a:p>
              <a:p>
                <a:r>
                  <a:rPr lang="en-US" sz="1500" b="1" dirty="0"/>
                  <a:t>Issues</a:t>
                </a:r>
                <a:r>
                  <a:rPr lang="en-US" sz="1500" dirty="0"/>
                  <a:t>: The value estimate for </a:t>
                </a:r>
                <a14:m>
                  <m:oMath xmlns:m="http://schemas.openxmlformats.org/officeDocument/2006/math">
                    <m:sSub>
                      <m:sSubPr>
                        <m:ctrlPr>
                          <a:rPr lang="en-US" sz="1500" i="1">
                            <a:latin typeface="Cambria Math" panose="02040503050406030204" pitchFamily="18" charset="0"/>
                          </a:rPr>
                        </m:ctrlPr>
                      </m:sSubPr>
                      <m:e>
                        <m:r>
                          <a:rPr lang="en-US" sz="1500" i="1">
                            <a:latin typeface="Cambria Math" panose="02040503050406030204" pitchFamily="18" charset="0"/>
                          </a:rPr>
                          <m:t>𝑆</m:t>
                        </m:r>
                      </m:e>
                      <m:sub>
                        <m:r>
                          <a:rPr lang="en-US" sz="1500" i="1">
                            <a:latin typeface="Cambria Math" panose="02040503050406030204" pitchFamily="18" charset="0"/>
                          </a:rPr>
                          <m:t>𝑡</m:t>
                        </m:r>
                      </m:sub>
                    </m:sSub>
                  </m:oMath>
                </a14:m>
                <a:r>
                  <a:rPr lang="en-US" sz="1500" dirty="0"/>
                  <a:t> depends on the current estimates of the successor states </a:t>
                </a:r>
                <a14:m>
                  <m:oMath xmlns:m="http://schemas.openxmlformats.org/officeDocument/2006/math">
                    <m:sSub>
                      <m:sSubPr>
                        <m:ctrlPr>
                          <a:rPr lang="en-US" sz="1500" i="1">
                            <a:latin typeface="Cambria Math" panose="02040503050406030204" pitchFamily="18" charset="0"/>
                          </a:rPr>
                        </m:ctrlPr>
                      </m:sSubPr>
                      <m:e>
                        <m:r>
                          <a:rPr lang="en-US" sz="1500" i="1">
                            <a:latin typeface="Cambria Math" panose="02040503050406030204" pitchFamily="18" charset="0"/>
                          </a:rPr>
                          <m:t>𝑆</m:t>
                        </m:r>
                      </m:e>
                      <m:sub>
                        <m:r>
                          <a:rPr lang="en-US" sz="1500" i="1">
                            <a:latin typeface="Cambria Math" panose="02040503050406030204" pitchFamily="18" charset="0"/>
                          </a:rPr>
                          <m:t>𝑡</m:t>
                        </m:r>
                        <m:r>
                          <a:rPr lang="en-US" sz="1500" i="1">
                            <a:latin typeface="Cambria Math" panose="02040503050406030204" pitchFamily="18" charset="0"/>
                          </a:rPr>
                          <m:t>+1</m:t>
                        </m:r>
                      </m:sub>
                    </m:sSub>
                  </m:oMath>
                </a14:m>
                <a:r>
                  <a:rPr lang="en-US" sz="1500" dirty="0"/>
                  <a:t>! </a:t>
                </a:r>
                <a:br>
                  <a:rPr lang="en-US" sz="1500" dirty="0"/>
                </a:br>
                <a:r>
                  <a:rPr lang="en-US" sz="1500" dirty="0"/>
                  <a:t>We need to solve all optimality equations at the same time.</a:t>
                </a:r>
              </a:p>
              <a:p>
                <a:endParaRPr lang="en-US" sz="1500" b="1" dirty="0"/>
              </a:p>
              <a:p>
                <a:r>
                  <a:rPr lang="en-US" sz="1500" b="1" dirty="0"/>
                  <a:t>Idea</a:t>
                </a:r>
                <a:r>
                  <a:rPr lang="en-US" sz="1500" dirty="0"/>
                  <a:t>: We can find the optimal policy by stepwise </a:t>
                </a:r>
                <a:r>
                  <a:rPr lang="en-US" sz="1500" b="1" dirty="0"/>
                  <a:t>improving a policy </a:t>
                </a:r>
                <a:r>
                  <a:rPr lang="en-US" sz="1500" dirty="0"/>
                  <a:t>till it is optimal. A policy is better if it has larger state values.</a:t>
                </a:r>
              </a:p>
              <a:p>
                <a:pPr marL="0" indent="0">
                  <a:buNone/>
                </a:pPr>
                <a14:m>
                  <m:oMathPara xmlns:m="http://schemas.openxmlformats.org/officeDocument/2006/math">
                    <m:oMath>
                      <m:r>
                        <a:rPr lang="en-US" sz="1500" i="1">
                          <a:latin typeface="Cambria Math" panose="02040503050406030204" pitchFamily="18" charset="0"/>
                        </a:rPr>
                        <m:t>𝜋</m:t>
                      </m:r>
                      <m:r>
                        <a:rPr lang="en-US" sz="1500" b="0" i="1" smtClean="0">
                          <a:latin typeface="Cambria Math" panose="02040503050406030204" pitchFamily="18" charset="0"/>
                        </a:rPr>
                        <m:t>′</m:t>
                      </m:r>
                      <m:r>
                        <a:rPr lang="en-US" sz="1500" i="1">
                          <a:latin typeface="Cambria Math" panose="02040503050406030204" pitchFamily="18" charset="0"/>
                        </a:rPr>
                        <m:t>≥</m:t>
                      </m:r>
                      <m:r>
                        <a:rPr lang="en-US" sz="1500" b="0" i="1" smtClean="0">
                          <a:latin typeface="Cambria Math" panose="02040503050406030204" pitchFamily="18" charset="0"/>
                        </a:rPr>
                        <m:t>𝜋</m:t>
                      </m:r>
                      <m:groupChr>
                        <m:groupChrPr>
                          <m:chr m:val="⇔"/>
                          <m:pos m:val="top"/>
                          <m:vertJc m:val="top"/>
                          <m:ctrlPr>
                            <a:rPr lang="en-US" sz="1500" i="1">
                              <a:latin typeface="Cambria Math" panose="02040503050406030204" pitchFamily="18" charset="0"/>
                            </a:rPr>
                          </m:ctrlPr>
                        </m:groupChrPr>
                        <m:e/>
                      </m:groupChr>
                      <m:sSub>
                        <m:sSubPr>
                          <m:ctrlPr>
                            <a:rPr lang="en-US" sz="1500" i="1">
                              <a:latin typeface="Cambria Math" panose="02040503050406030204" pitchFamily="18" charset="0"/>
                            </a:rPr>
                          </m:ctrlPr>
                        </m:sSubPr>
                        <m:e>
                          <m:r>
                            <a:rPr lang="en-US" sz="1500" i="1">
                              <a:latin typeface="Cambria Math" panose="02040503050406030204" pitchFamily="18" charset="0"/>
                            </a:rPr>
                            <m:t>𝑣</m:t>
                          </m:r>
                        </m:e>
                        <m:sub>
                          <m:sSup>
                            <m:sSupPr>
                              <m:ctrlPr>
                                <a:rPr lang="en-US" sz="1500" i="1">
                                  <a:latin typeface="Cambria Math" panose="02040503050406030204" pitchFamily="18" charset="0"/>
                                </a:rPr>
                              </m:ctrlPr>
                            </m:sSupPr>
                            <m:e>
                              <m:r>
                                <a:rPr lang="en-US" sz="1500" i="1">
                                  <a:latin typeface="Cambria Math" panose="02040503050406030204" pitchFamily="18" charset="0"/>
                                </a:rPr>
                                <m:t>𝜋</m:t>
                              </m:r>
                            </m:e>
                            <m:sup>
                              <m:r>
                                <a:rPr lang="en-US" sz="1500" b="0" i="1" smtClean="0">
                                  <a:latin typeface="Cambria Math" panose="02040503050406030204" pitchFamily="18" charset="0"/>
                                </a:rPr>
                                <m:t>′</m:t>
                              </m:r>
                            </m:sup>
                          </m:sSup>
                        </m:sub>
                      </m:sSub>
                      <m:d>
                        <m:dPr>
                          <m:ctrlPr>
                            <a:rPr lang="en-US" sz="1500" i="1">
                              <a:latin typeface="Cambria Math" panose="02040503050406030204" pitchFamily="18" charset="0"/>
                            </a:rPr>
                          </m:ctrlPr>
                        </m:dPr>
                        <m:e>
                          <m:r>
                            <a:rPr lang="en-US" sz="1500" i="1">
                              <a:latin typeface="Cambria Math" panose="02040503050406030204" pitchFamily="18" charset="0"/>
                            </a:rPr>
                            <m:t>𝑠</m:t>
                          </m:r>
                        </m:e>
                      </m:d>
                      <m:r>
                        <a:rPr lang="en-US" sz="1500" i="1">
                          <a:latin typeface="Cambria Math" panose="02040503050406030204" pitchFamily="18" charset="0"/>
                        </a:rPr>
                        <m:t>≥</m:t>
                      </m:r>
                      <m:sSub>
                        <m:sSubPr>
                          <m:ctrlPr>
                            <a:rPr lang="en-US" sz="1500" i="1">
                              <a:latin typeface="Cambria Math" panose="02040503050406030204" pitchFamily="18" charset="0"/>
                            </a:rPr>
                          </m:ctrlPr>
                        </m:sSubPr>
                        <m:e>
                          <m:r>
                            <a:rPr lang="en-US" sz="1500" i="1">
                              <a:latin typeface="Cambria Math" panose="02040503050406030204" pitchFamily="18" charset="0"/>
                            </a:rPr>
                            <m:t>𝑣</m:t>
                          </m:r>
                        </m:e>
                        <m:sub>
                          <m:r>
                            <a:rPr lang="en-US" sz="1500" b="0" i="1" smtClean="0">
                              <a:latin typeface="Cambria Math" panose="02040503050406030204" pitchFamily="18" charset="0"/>
                            </a:rPr>
                            <m:t>𝜋</m:t>
                          </m:r>
                        </m:sub>
                      </m:sSub>
                      <m:d>
                        <m:dPr>
                          <m:ctrlPr>
                            <a:rPr lang="en-US" sz="1500" i="1">
                              <a:latin typeface="Cambria Math" panose="02040503050406030204" pitchFamily="18" charset="0"/>
                            </a:rPr>
                          </m:ctrlPr>
                        </m:dPr>
                        <m:e>
                          <m:r>
                            <a:rPr lang="en-US" sz="1500" i="1">
                              <a:latin typeface="Cambria Math" panose="02040503050406030204" pitchFamily="18" charset="0"/>
                            </a:rPr>
                            <m:t>𝑠</m:t>
                          </m:r>
                        </m:e>
                      </m:d>
                      <m:r>
                        <m:rPr>
                          <m:nor/>
                        </m:rPr>
                        <a:rPr lang="en-US" sz="1500" i="0">
                          <a:latin typeface="Cambria Math" panose="02040503050406030204" pitchFamily="18" charset="0"/>
                        </a:rPr>
                        <m:t> </m:t>
                      </m:r>
                      <m:r>
                        <m:rPr>
                          <m:nor/>
                        </m:rPr>
                        <a:rPr lang="en-US" sz="1500" b="0" i="0" smtClean="0">
                          <a:latin typeface="Cambria Math" panose="02040503050406030204" pitchFamily="18" charset="0"/>
                        </a:rPr>
                        <m:t>            </m:t>
                      </m:r>
                      <m:r>
                        <m:rPr>
                          <m:nor/>
                        </m:rPr>
                        <a:rPr lang="en-US" sz="1500" i="0">
                          <a:latin typeface="Cambria Math" panose="02040503050406030204" pitchFamily="18" charset="0"/>
                        </a:rPr>
                        <m:t> for  all</m:t>
                      </m:r>
                      <m:r>
                        <a:rPr lang="en-US" sz="1500" i="1">
                          <a:latin typeface="Cambria Math" panose="02040503050406030204" pitchFamily="18" charset="0"/>
                        </a:rPr>
                        <m:t> </m:t>
                      </m:r>
                      <m:r>
                        <a:rPr lang="en-US" sz="1500" i="1">
                          <a:latin typeface="Cambria Math" panose="02040503050406030204" pitchFamily="18" charset="0"/>
                        </a:rPr>
                        <m:t>𝑠</m:t>
                      </m:r>
                      <m:r>
                        <a:rPr lang="en-US" sz="1500" i="1">
                          <a:latin typeface="Cambria Math" panose="02040503050406030204" pitchFamily="18" charset="0"/>
                        </a:rPr>
                        <m:t>∈</m:t>
                      </m:r>
                      <m:r>
                        <a:rPr lang="en-US" sz="1500" i="1">
                          <a:latin typeface="Cambria Math" panose="02040503050406030204" pitchFamily="18" charset="0"/>
                          <a:ea typeface="Cambria Math" panose="02040503050406030204" pitchFamily="18" charset="0"/>
                        </a:rPr>
                        <m:t>𝒮</m:t>
                      </m:r>
                    </m:oMath>
                  </m:oMathPara>
                </a14:m>
                <a:endParaRPr lang="en-US" sz="1500" dirty="0"/>
              </a:p>
              <a:p>
                <a:r>
                  <a:rPr lang="en-US" sz="1500" dirty="0"/>
                  <a:t>To do this we need to be able to compute </a:t>
                </a:r>
                <a14:m>
                  <m:oMath xmlns:m="http://schemas.openxmlformats.org/officeDocument/2006/math">
                    <m:sSub>
                      <m:sSubPr>
                        <m:ctrlPr>
                          <a:rPr lang="en-US" sz="1500" b="0" i="1" smtClean="0">
                            <a:latin typeface="Cambria Math" panose="02040503050406030204" pitchFamily="18" charset="0"/>
                          </a:rPr>
                        </m:ctrlPr>
                      </m:sSubPr>
                      <m:e>
                        <m:r>
                          <a:rPr lang="en-US" sz="1500" b="0" i="1" smtClean="0">
                            <a:latin typeface="Cambria Math" panose="02040503050406030204" pitchFamily="18" charset="0"/>
                          </a:rPr>
                          <m:t>𝑣</m:t>
                        </m:r>
                      </m:e>
                      <m:sub>
                        <m:r>
                          <a:rPr lang="en-US" sz="1500" b="0" i="1" smtClean="0">
                            <a:latin typeface="Cambria Math" panose="02040503050406030204" pitchFamily="18" charset="0"/>
                          </a:rPr>
                          <m:t>𝜋</m:t>
                        </m:r>
                      </m:sub>
                    </m:sSub>
                  </m:oMath>
                </a14:m>
                <a:r>
                  <a:rPr lang="en-US" sz="1500" dirty="0"/>
                  <a:t> and </a:t>
                </a:r>
                <a14:m>
                  <m:oMath xmlns:m="http://schemas.openxmlformats.org/officeDocument/2006/math">
                    <m:sSub>
                      <m:sSubPr>
                        <m:ctrlPr>
                          <a:rPr lang="en-US" sz="1500" b="0" i="1" smtClean="0">
                            <a:latin typeface="Cambria Math" panose="02040503050406030204" pitchFamily="18" charset="0"/>
                          </a:rPr>
                        </m:ctrlPr>
                      </m:sSubPr>
                      <m:e>
                        <m:r>
                          <a:rPr lang="en-US" sz="1500" b="0" i="1" smtClean="0">
                            <a:latin typeface="Cambria Math" panose="02040503050406030204" pitchFamily="18" charset="0"/>
                          </a:rPr>
                          <m:t>𝑣</m:t>
                        </m:r>
                      </m:e>
                      <m:sub>
                        <m:r>
                          <a:rPr lang="en-US" sz="1500" b="0" i="1" smtClean="0">
                            <a:latin typeface="Cambria Math" panose="02040503050406030204" pitchFamily="18" charset="0"/>
                          </a:rPr>
                          <m:t>𝜋</m:t>
                        </m:r>
                        <m:r>
                          <a:rPr lang="en-US" sz="1500" b="0" i="1" smtClean="0">
                            <a:latin typeface="Cambria Math" panose="02040503050406030204" pitchFamily="18" charset="0"/>
                          </a:rPr>
                          <m:t>′</m:t>
                        </m:r>
                      </m:sub>
                    </m:sSub>
                  </m:oMath>
                </a14:m>
                <a:r>
                  <a:rPr lang="en-US" sz="1500" dirty="0"/>
                  <a:t>. </a:t>
                </a:r>
              </a:p>
            </p:txBody>
          </p:sp>
        </mc:Choice>
        <mc:Fallback xmlns="">
          <p:sp>
            <p:nvSpPr>
              <p:cNvPr id="3" name="Content Placeholder 2" descr="Remember: Finite MDPs have an optimal deterministic policy (under some mild conditions). Goal: Compute the optimal deterministic policy pi sub star equals argmax over a, of q sub star (s,a) given a perfect MDP model. Solve the Bellman optimality equations (the optimal policy always picks the best action):. v sub star (s) equals max over a E sub pi [R sub t plus 1, plus gamma v sub star (S sub t plus 1) | S sub t equals s,A sub t equals a]. or. q sub star (s,a) equals max over a E sub pi [R sub t plus 1, plus gamma max over a prime, of q sub star (S sub t plus 1,a prime) | S sub t equals s, A sub t equals a]. Issues: The value estimate for S sub t depends on the current estimates of the successor states S sub t plus 1 ! We need to solve all optimality equations at the same time. Idea: We can find the optimal policy by stepwise improving a policy till it is optimal. A policy is better if it has larger state values. pi prime is greater than or equal to pi v sub pi prime, (s) is greater than or equal to v sub pi (s) for all s in S. To do this we need to be able to compute v sub pi and v sub pi prime">
                <a:extLst>
                  <a:ext uri="{FF2B5EF4-FFF2-40B4-BE49-F238E27FC236}">
                    <a16:creationId xmlns:a16="http://schemas.microsoft.com/office/drawing/2014/main" id="{0F0BC304-9F53-1D52-E987-0090E50732AE}"/>
                  </a:ext>
                </a:extLst>
              </p:cNvPr>
              <p:cNvSpPr>
                <a:spLocks noGrp="1" noRot="1" noChangeAspect="1" noMove="1" noResize="1" noEditPoints="1" noAdjustHandles="1" noChangeArrowheads="1" noChangeShapeType="1" noTextEdit="1"/>
              </p:cNvSpPr>
              <p:nvPr>
                <p:ph idx="1"/>
              </p:nvPr>
            </p:nvSpPr>
            <p:spPr>
              <a:xfrm>
                <a:off x="838200" y="1170264"/>
                <a:ext cx="8403522" cy="5265437"/>
              </a:xfrm>
              <a:blipFill>
                <a:blip r:embed="rId2"/>
                <a:stretch>
                  <a:fillRect l="-218" t="-579"/>
                </a:stretch>
              </a:blipFill>
            </p:spPr>
            <p:txBody>
              <a:bodyPr/>
              <a:lstStyle/>
              <a:p>
                <a:r>
                  <a:rPr lang="en-US">
                    <a:noFill/>
                  </a:rPr>
                  <a:t> </a:t>
                </a:r>
              </a:p>
            </p:txBody>
          </p:sp>
        </mc:Fallback>
      </mc:AlternateContent>
      <p:grpSp>
        <p:nvGrpSpPr>
          <p:cNvPr id="13" name="Group 12" descr="Brace grouping the Bellman optimality equations, labelled: Control Problem: find the optimal policy.">
            <a:extLst>
              <a:ext uri="{FF2B5EF4-FFF2-40B4-BE49-F238E27FC236}">
                <a16:creationId xmlns:a16="http://schemas.microsoft.com/office/drawing/2014/main" id="{CB12223B-5984-DA37-7047-D622C8E2D116}"/>
              </a:ext>
            </a:extLst>
          </p:cNvPr>
          <p:cNvGrpSpPr/>
          <p:nvPr/>
        </p:nvGrpSpPr>
        <p:grpSpPr>
          <a:xfrm>
            <a:off x="9241722" y="1765979"/>
            <a:ext cx="2656115" cy="2436074"/>
            <a:chOff x="9241722" y="1765979"/>
            <a:chExt cx="2656115" cy="2436074"/>
          </a:xfrm>
        </p:grpSpPr>
        <p:sp>
          <p:nvSpPr>
            <p:cNvPr id="7" name="Right Brace 6">
              <a:extLst>
                <a:ext uri="{FF2B5EF4-FFF2-40B4-BE49-F238E27FC236}">
                  <a16:creationId xmlns:a16="http://schemas.microsoft.com/office/drawing/2014/main" id="{866273BC-75CB-7A69-263C-BB0ECD222D37}"/>
                </a:ext>
                <a:ext uri="{C183D7F6-B498-43B3-948B-1728B52AA6E4}">
                  <adec:decorative xmlns:adec="http://schemas.microsoft.com/office/drawing/2017/decorative" val="1"/>
                </a:ext>
              </a:extLst>
            </p:cNvPr>
            <p:cNvSpPr/>
            <p:nvPr/>
          </p:nvSpPr>
          <p:spPr>
            <a:xfrm>
              <a:off x="9241722" y="1765979"/>
              <a:ext cx="383908" cy="2436074"/>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9" name="TextBox 8">
              <a:extLst>
                <a:ext uri="{FF2B5EF4-FFF2-40B4-BE49-F238E27FC236}">
                  <a16:creationId xmlns:a16="http://schemas.microsoft.com/office/drawing/2014/main" id="{0465BAAC-5796-5993-D172-BA7B294D59A7}"/>
                </a:ext>
              </a:extLst>
            </p:cNvPr>
            <p:cNvSpPr txBox="1"/>
            <p:nvPr/>
          </p:nvSpPr>
          <p:spPr>
            <a:xfrm>
              <a:off x="9723353" y="2660850"/>
              <a:ext cx="2174484" cy="58477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square">
              <a:spAutoFit/>
            </a:bodyPr>
            <a:lstStyle/>
            <a:p>
              <a:r>
                <a:rPr lang="en-US" sz="1600" b="1" dirty="0"/>
                <a:t>Control Problem</a:t>
              </a:r>
              <a:r>
                <a:rPr lang="en-US" sz="1600" dirty="0"/>
                <a:t>: Find the optimal policy</a:t>
              </a:r>
            </a:p>
          </p:txBody>
        </p:sp>
      </p:grpSp>
      <p:grpSp>
        <p:nvGrpSpPr>
          <p:cNvPr id="4" name="Group 3" descr="Underbrace noting that the max over a prime of q star of S t plus 1, a prime equals v star of S t plus 1.">
            <a:extLst>
              <a:ext uri="{FF2B5EF4-FFF2-40B4-BE49-F238E27FC236}">
                <a16:creationId xmlns:a16="http://schemas.microsoft.com/office/drawing/2014/main" id="{2F685B52-5D31-046C-FA57-23AD9A7FCCFF}"/>
              </a:ext>
            </a:extLst>
          </p:cNvPr>
          <p:cNvGrpSpPr/>
          <p:nvPr/>
        </p:nvGrpSpPr>
        <p:grpSpPr>
          <a:xfrm>
            <a:off x="4889708" y="3599283"/>
            <a:ext cx="1299326" cy="398202"/>
            <a:chOff x="2533296" y="3175233"/>
            <a:chExt cx="1544242" cy="398202"/>
          </a:xfrm>
        </p:grpSpPr>
        <p:sp>
          <p:nvSpPr>
            <p:cNvPr id="5" name="Right Brace 4">
              <a:extLst>
                <a:ext uri="{FF2B5EF4-FFF2-40B4-BE49-F238E27FC236}">
                  <a16:creationId xmlns:a16="http://schemas.microsoft.com/office/drawing/2014/main" id="{898E18C9-0941-AC3C-3E0A-203470D94889}"/>
                </a:ext>
                <a:ext uri="{C183D7F6-B498-43B3-948B-1728B52AA6E4}">
                  <adec:decorative xmlns:adec="http://schemas.microsoft.com/office/drawing/2017/decorative" val="1"/>
                </a:ext>
              </a:extLst>
            </p:cNvPr>
            <p:cNvSpPr/>
            <p:nvPr/>
          </p:nvSpPr>
          <p:spPr>
            <a:xfrm rot="5400000">
              <a:off x="3194734" y="2513795"/>
              <a:ext cx="180849" cy="1503726"/>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p>
          </p:txBody>
        </p:sp>
        <mc:AlternateContent xmlns:mc="http://schemas.openxmlformats.org/markup-compatibility/2006" xmlns:a14="http://schemas.microsoft.com/office/drawing/2010/main">
          <mc:Choice Requires="a14">
            <p:sp>
              <p:nvSpPr>
                <p:cNvPr id="6" name="TextBox 5" descr="Equation: equals v sub star (S sub t plus 1)">
                  <a:extLst>
                    <a:ext uri="{FF2B5EF4-FFF2-40B4-BE49-F238E27FC236}">
                      <a16:creationId xmlns:a16="http://schemas.microsoft.com/office/drawing/2014/main" id="{43F2E145-B5BC-7419-FB96-26B18193DDA7}"/>
                    </a:ext>
                  </a:extLst>
                </p:cNvPr>
                <p:cNvSpPr txBox="1"/>
                <p:nvPr/>
              </p:nvSpPr>
              <p:spPr>
                <a:xfrm>
                  <a:off x="2711871" y="3265658"/>
                  <a:ext cx="1365667" cy="307777"/>
                </a:xfrm>
                <a:prstGeom prst="rect">
                  <a:avLst/>
                </a:prstGeom>
                <a:noFill/>
              </p:spPr>
              <p:txBody>
                <a:bodyPr wrap="square" rtlCol="0">
                  <a:spAutoFit/>
                </a:bodyPr>
                <a:lstStyle/>
                <a:p>
                  <a:pPr algn="ctr"/>
                  <a14:m>
                    <m:oMathPara xmlns:m="http://schemas.openxmlformats.org/officeDocument/2006/math">
                      <m:oMath>
                        <m:r>
                          <a:rPr lang="en-US" sz="1400" b="0" i="1" dirty="0" smtClean="0">
                            <a:latin typeface="Cambria Math" panose="02040503050406030204" pitchFamily="18" charset="0"/>
                          </a:rPr>
                          <m:t>=</m:t>
                        </m:r>
                        <m:sSub>
                          <m:sSubPr>
                            <m:ctrlPr>
                              <a:rPr lang="en-US" sz="1400" b="0" i="1" dirty="0" smtClean="0">
                                <a:latin typeface="Cambria Math" panose="02040503050406030204" pitchFamily="18" charset="0"/>
                              </a:rPr>
                            </m:ctrlPr>
                          </m:sSubPr>
                          <m:e>
                            <m:r>
                              <a:rPr lang="en-US" sz="1400" b="0" i="1" dirty="0" smtClean="0">
                                <a:latin typeface="Cambria Math" panose="02040503050406030204" pitchFamily="18" charset="0"/>
                              </a:rPr>
                              <m:t>𝑣</m:t>
                            </m:r>
                          </m:e>
                          <m:sub>
                            <m:r>
                              <a:rPr lang="en-US" sz="1400" b="0" i="1" dirty="0" smtClean="0">
                                <a:latin typeface="Cambria Math" panose="02040503050406030204" pitchFamily="18" charset="0"/>
                              </a:rPr>
                              <m:t>∗</m:t>
                            </m:r>
                          </m:sub>
                        </m:sSub>
                        <m:r>
                          <a:rPr lang="en-US" sz="1400" b="0" i="1" dirty="0" smtClean="0">
                            <a:latin typeface="Cambria Math" panose="02040503050406030204" pitchFamily="18" charset="0"/>
                          </a:rPr>
                          <m:t>(</m:t>
                        </m:r>
                        <m:sSub>
                          <m:sSubPr>
                            <m:ctrlPr>
                              <a:rPr lang="en-US" sz="1400" b="0" i="1" dirty="0" smtClean="0">
                                <a:latin typeface="Cambria Math" panose="02040503050406030204" pitchFamily="18" charset="0"/>
                              </a:rPr>
                            </m:ctrlPr>
                          </m:sSubPr>
                          <m:e>
                            <m:r>
                              <a:rPr lang="en-US" sz="1400" b="0" i="1" dirty="0" smtClean="0">
                                <a:latin typeface="Cambria Math" panose="02040503050406030204" pitchFamily="18" charset="0"/>
                              </a:rPr>
                              <m:t>𝑆</m:t>
                            </m:r>
                          </m:e>
                          <m:sub>
                            <m:r>
                              <a:rPr lang="en-US" sz="1400" b="0" i="1" dirty="0" smtClean="0">
                                <a:latin typeface="Cambria Math" panose="02040503050406030204" pitchFamily="18" charset="0"/>
                              </a:rPr>
                              <m:t>𝑡</m:t>
                            </m:r>
                            <m:r>
                              <a:rPr lang="en-US" sz="1400" b="0" i="1" dirty="0" smtClean="0">
                                <a:latin typeface="Cambria Math" panose="02040503050406030204" pitchFamily="18" charset="0"/>
                              </a:rPr>
                              <m:t>+1</m:t>
                            </m:r>
                          </m:sub>
                        </m:sSub>
                        <m:r>
                          <a:rPr lang="en-US" sz="1400" b="0" i="1" dirty="0" smtClean="0">
                            <a:latin typeface="Cambria Math" panose="02040503050406030204" pitchFamily="18" charset="0"/>
                          </a:rPr>
                          <m:t>)</m:t>
                        </m:r>
                      </m:oMath>
                    </m:oMathPara>
                  </a14:m>
                  <a:endParaRPr lang="en-US" sz="1400" dirty="0"/>
                </a:p>
              </p:txBody>
            </p:sp>
          </mc:Choice>
          <mc:Fallback xmlns="">
            <p:sp>
              <p:nvSpPr>
                <p:cNvPr id="6" name="TextBox 5" descr="Equation: equals v sub star (S sub t plus 1)">
                  <a:extLst>
                    <a:ext uri="{FF2B5EF4-FFF2-40B4-BE49-F238E27FC236}">
                      <a16:creationId xmlns:a16="http://schemas.microsoft.com/office/drawing/2014/main" id="{43F2E145-B5BC-7419-FB96-26B18193DDA7}"/>
                    </a:ext>
                  </a:extLst>
                </p:cNvPr>
                <p:cNvSpPr txBox="1">
                  <a:spLocks noRot="1" noChangeAspect="1" noMove="1" noResize="1" noEditPoints="1" noAdjustHandles="1" noChangeArrowheads="1" noChangeShapeType="1" noTextEdit="1"/>
                </p:cNvSpPr>
                <p:nvPr/>
              </p:nvSpPr>
              <p:spPr>
                <a:xfrm>
                  <a:off x="2711871" y="3265658"/>
                  <a:ext cx="1365667" cy="307777"/>
                </a:xfrm>
                <a:prstGeom prst="rect">
                  <a:avLst/>
                </a:prstGeom>
                <a:blipFill>
                  <a:blip r:embed="rId3"/>
                  <a:stretch>
                    <a:fillRect b="-5882"/>
                  </a:stretch>
                </a:blipFill>
              </p:spPr>
              <p:txBody>
                <a:bodyPr/>
                <a:lstStyle/>
                <a:p>
                  <a:r>
                    <a:rPr lang="en-US">
                      <a:noFill/>
                    </a:rPr>
                    <a:t> </a:t>
                  </a:r>
                </a:p>
              </p:txBody>
            </p:sp>
          </mc:Fallback>
        </mc:AlternateContent>
      </p:grpSp>
      <p:grpSp>
        <p:nvGrpSpPr>
          <p:cNvPr id="14" name="Group 13" descr="Brace grouping the policy improvement idea, labelled: Prediction Problem: estimate the value function for a policy.">
            <a:extLst>
              <a:ext uri="{FF2B5EF4-FFF2-40B4-BE49-F238E27FC236}">
                <a16:creationId xmlns:a16="http://schemas.microsoft.com/office/drawing/2014/main" id="{87D15AB9-3CD7-2FB5-029A-77CCA4C92D07}"/>
              </a:ext>
            </a:extLst>
          </p:cNvPr>
          <p:cNvGrpSpPr/>
          <p:nvPr/>
        </p:nvGrpSpPr>
        <p:grpSpPr>
          <a:xfrm>
            <a:off x="9260295" y="5151352"/>
            <a:ext cx="2740473" cy="975421"/>
            <a:chOff x="9283602" y="5446084"/>
            <a:chExt cx="2752267" cy="975421"/>
          </a:xfrm>
        </p:grpSpPr>
        <p:sp>
          <p:nvSpPr>
            <p:cNvPr id="10" name="Right Brace 9">
              <a:extLst>
                <a:ext uri="{FF2B5EF4-FFF2-40B4-BE49-F238E27FC236}">
                  <a16:creationId xmlns:a16="http://schemas.microsoft.com/office/drawing/2014/main" id="{DF5A9186-41F0-8C89-4311-A80AF67129F1}"/>
                </a:ext>
                <a:ext uri="{C183D7F6-B498-43B3-948B-1728B52AA6E4}">
                  <adec:decorative xmlns:adec="http://schemas.microsoft.com/office/drawing/2017/decorative" val="1"/>
                </a:ext>
              </a:extLst>
            </p:cNvPr>
            <p:cNvSpPr/>
            <p:nvPr/>
          </p:nvSpPr>
          <p:spPr>
            <a:xfrm>
              <a:off x="9283602" y="5446084"/>
              <a:ext cx="385560" cy="975421"/>
            </a:xfrm>
            <a:prstGeom prst="rightBrace">
              <a:avLst/>
            </a:prstGeom>
          </p:spPr>
          <p:style>
            <a:lnRef idx="2">
              <a:schemeClr val="accent3"/>
            </a:lnRef>
            <a:fillRef idx="0">
              <a:schemeClr val="accent3"/>
            </a:fillRef>
            <a:effectRef idx="1">
              <a:schemeClr val="accent3"/>
            </a:effectRef>
            <a:fontRef idx="minor">
              <a:schemeClr val="tx1"/>
            </a:fontRef>
          </p:style>
          <p:txBody>
            <a:bodyPr rtlCol="0" anchor="ctr"/>
            <a:lstStyle/>
            <a:p>
              <a:pPr algn="ctr"/>
              <a:endParaRPr lang="en-US"/>
            </a:p>
          </p:txBody>
        </p:sp>
        <p:sp>
          <p:nvSpPr>
            <p:cNvPr id="12" name="TextBox 11">
              <a:extLst>
                <a:ext uri="{FF2B5EF4-FFF2-40B4-BE49-F238E27FC236}">
                  <a16:creationId xmlns:a16="http://schemas.microsoft.com/office/drawing/2014/main" id="{F98FB361-7D81-7549-BB19-0BA3C1F55C05}"/>
                </a:ext>
              </a:extLst>
            </p:cNvPr>
            <p:cNvSpPr txBox="1"/>
            <p:nvPr/>
          </p:nvSpPr>
          <p:spPr>
            <a:xfrm>
              <a:off x="9748653" y="5518295"/>
              <a:ext cx="2287216" cy="830997"/>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a:spAutoFit/>
            </a:bodyPr>
            <a:lstStyle/>
            <a:p>
              <a:r>
                <a:rPr lang="en-US" sz="1600" b="1" dirty="0"/>
                <a:t>Prediction Problem: </a:t>
              </a:r>
              <a:r>
                <a:rPr lang="en-US" sz="1600" dirty="0"/>
                <a:t> Estimate the value function for a policy.</a:t>
              </a:r>
            </a:p>
          </p:txBody>
        </p:sp>
      </p:grpSp>
    </p:spTree>
    <p:extLst>
      <p:ext uri="{BB962C8B-B14F-4D97-AF65-F5344CB8AC3E}">
        <p14:creationId xmlns:p14="http://schemas.microsoft.com/office/powerpoint/2010/main" val="14339409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10" end="10"/>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11" end="11"/>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AC6BA7-ADBF-A187-1481-819E42FCC44B}"/>
              </a:ext>
            </a:extLst>
          </p:cNvPr>
          <p:cNvSpPr>
            <a:spLocks noGrp="1"/>
          </p:cNvSpPr>
          <p:nvPr>
            <p:ph type="title"/>
          </p:nvPr>
        </p:nvSpPr>
        <p:spPr/>
        <p:txBody>
          <a:bodyPr/>
          <a:lstStyle/>
          <a:p>
            <a:r>
              <a:rPr lang="en-US" dirty="0"/>
              <a:t>Tabular Methods</a:t>
            </a:r>
          </a:p>
        </p:txBody>
      </p:sp>
      <mc:AlternateContent xmlns:mc="http://schemas.openxmlformats.org/markup-compatibility/2006" xmlns:a14="http://schemas.microsoft.com/office/drawing/2010/main">
        <mc:Choice Requires="a14">
          <p:sp>
            <p:nvSpPr>
              <p:cNvPr id="3" name="Content Placeholder 2" descr="Tabular means: The value functions v or q are stored in arrays (tables) called V or Q . Important property: Entries in the table do not influence each other. We can change them independently. Tabular methods find the exact solution (i.e., optimal value function and policy) given enough memory and time. Issues:. Table size:. v and deterministic pi have the absolute value of S entries. q has the absolute value of S times given A given entries. This is only feasible for problems with a small discrete state/action space!. No generalization: Knowledge about the value of one state (state-action pair) does not help us with similar states. We will later talk about approximate methods that generalize and can work with large state spaces">
                <a:extLst>
                  <a:ext uri="{FF2B5EF4-FFF2-40B4-BE49-F238E27FC236}">
                    <a16:creationId xmlns:a16="http://schemas.microsoft.com/office/drawing/2014/main" id="{CC29710D-F26D-E73F-A3F8-50BB8250FEC4}"/>
                  </a:ext>
                </a:extLst>
              </p:cNvPr>
              <p:cNvSpPr>
                <a:spLocks noGrp="1"/>
              </p:cNvSpPr>
              <p:nvPr>
                <p:ph idx="1"/>
              </p:nvPr>
            </p:nvSpPr>
            <p:spPr>
              <a:xfrm>
                <a:off x="838200" y="1397330"/>
                <a:ext cx="6763186" cy="4986692"/>
              </a:xfrm>
            </p:spPr>
            <p:txBody>
              <a:bodyPr>
                <a:normAutofit fontScale="70000" lnSpcReduction="20000"/>
              </a:bodyPr>
              <a:lstStyle/>
              <a:p>
                <a:r>
                  <a:rPr lang="en-US" dirty="0"/>
                  <a:t>Tabular means: The value functions </a:t>
                </a:r>
                <a14:m>
                  <m:oMath xmlns:m="http://schemas.openxmlformats.org/officeDocument/2006/math">
                    <m:r>
                      <a:rPr lang="en-US" i="1" dirty="0" smtClean="0">
                        <a:latin typeface="Cambria Math" panose="02040503050406030204" pitchFamily="18" charset="0"/>
                      </a:rPr>
                      <m:t>𝑣</m:t>
                    </m:r>
                  </m:oMath>
                </a14:m>
                <a:r>
                  <a:rPr lang="en-US" dirty="0"/>
                  <a:t> or </a:t>
                </a:r>
                <a14:m>
                  <m:oMath xmlns:m="http://schemas.openxmlformats.org/officeDocument/2006/math">
                    <m:r>
                      <a:rPr lang="en-US" i="1" dirty="0" smtClean="0">
                        <a:latin typeface="Cambria Math" panose="02040503050406030204" pitchFamily="18" charset="0"/>
                      </a:rPr>
                      <m:t>𝑞</m:t>
                    </m:r>
                  </m:oMath>
                </a14:m>
                <a:r>
                  <a:rPr lang="en-US" dirty="0"/>
                  <a:t> are stored in arrays (tables) called </a:t>
                </a:r>
                <a14:m>
                  <m:oMath xmlns:m="http://schemas.openxmlformats.org/officeDocument/2006/math">
                    <m:r>
                      <a:rPr lang="en-US" b="0" i="1" smtClean="0">
                        <a:latin typeface="Cambria Math" panose="02040503050406030204" pitchFamily="18" charset="0"/>
                      </a:rPr>
                      <m:t>𝑉</m:t>
                    </m:r>
                  </m:oMath>
                </a14:m>
                <a:r>
                  <a:rPr lang="en-US" dirty="0"/>
                  <a:t> or </a:t>
                </a:r>
                <a14:m>
                  <m:oMath xmlns:m="http://schemas.openxmlformats.org/officeDocument/2006/math">
                    <m:r>
                      <a:rPr lang="en-US" b="0" i="1" smtClean="0">
                        <a:latin typeface="Cambria Math" panose="02040503050406030204" pitchFamily="18" charset="0"/>
                      </a:rPr>
                      <m:t>𝑄</m:t>
                    </m:r>
                  </m:oMath>
                </a14:m>
                <a:r>
                  <a:rPr lang="en-US" dirty="0"/>
                  <a:t>.</a:t>
                </a:r>
              </a:p>
              <a:p>
                <a:r>
                  <a:rPr lang="en-US" dirty="0"/>
                  <a:t>Important property: Entries in the table do not influence each other. We can change them independently.</a:t>
                </a:r>
              </a:p>
              <a:p>
                <a:r>
                  <a:rPr lang="en-US" dirty="0"/>
                  <a:t>Tabular methods find the exact solution (i.e., optimal value function and policy) given enough memory and time.</a:t>
                </a:r>
              </a:p>
              <a:p>
                <a:endParaRPr lang="en-US" dirty="0"/>
              </a:p>
              <a:p>
                <a:r>
                  <a:rPr lang="en-US" b="1" dirty="0"/>
                  <a:t>Issues</a:t>
                </a:r>
                <a:r>
                  <a:rPr lang="en-US" dirty="0"/>
                  <a:t>: </a:t>
                </a:r>
              </a:p>
              <a:p>
                <a:pPr lvl="1"/>
                <a:r>
                  <a:rPr lang="en-US" dirty="0"/>
                  <a:t>Table size:</a:t>
                </a:r>
              </a:p>
              <a:p>
                <a:pPr lvl="2"/>
                <a14:m>
                  <m:oMath xmlns:m="http://schemas.openxmlformats.org/officeDocument/2006/math">
                    <m:r>
                      <a:rPr lang="en-US" i="1" dirty="0" smtClean="0">
                        <a:latin typeface="Cambria Math" panose="02040503050406030204" pitchFamily="18" charset="0"/>
                      </a:rPr>
                      <m:t>𝑣</m:t>
                    </m:r>
                  </m:oMath>
                </a14:m>
                <a:r>
                  <a:rPr lang="en-US" dirty="0"/>
                  <a:t> and deterministic </a:t>
                </a:r>
                <a14:m>
                  <m:oMath xmlns:m="http://schemas.openxmlformats.org/officeDocument/2006/math">
                    <m:r>
                      <a:rPr lang="en-US" b="0" i="1" smtClean="0">
                        <a:latin typeface="Cambria Math" panose="02040503050406030204" pitchFamily="18" charset="0"/>
                      </a:rPr>
                      <m:t>𝜋</m:t>
                    </m:r>
                  </m:oMath>
                </a14:m>
                <a:r>
                  <a:rPr lang="en-US" dirty="0"/>
                  <a:t> have </a:t>
                </a:r>
                <a14:m>
                  <m:oMath xmlns:m="http://schemas.openxmlformats.org/officeDocument/2006/math">
                    <m:d>
                      <m:dPr>
                        <m:begChr m:val="|"/>
                        <m:endChr m:val="|"/>
                        <m:ctrlPr>
                          <a:rPr lang="en-US" b="0" i="1" smtClean="0">
                            <a:latin typeface="Cambria Math" panose="02040503050406030204" pitchFamily="18" charset="0"/>
                            <a:ea typeface="Cambria Math" panose="02040503050406030204" pitchFamily="18" charset="0"/>
                          </a:rPr>
                        </m:ctrlPr>
                      </m:dPr>
                      <m:e>
                        <m:r>
                          <a:rPr lang="en-US" b="0" i="1" smtClean="0">
                            <a:latin typeface="Cambria Math" panose="02040503050406030204" pitchFamily="18" charset="0"/>
                            <a:ea typeface="Cambria Math" panose="02040503050406030204" pitchFamily="18" charset="0"/>
                          </a:rPr>
                          <m:t>𝒮</m:t>
                        </m:r>
                      </m:e>
                    </m:d>
                  </m:oMath>
                </a14:m>
                <a:r>
                  <a:rPr lang="en-US" dirty="0"/>
                  <a:t> entries </a:t>
                </a:r>
              </a:p>
              <a:p>
                <a:pPr lvl="2"/>
                <a14:m>
                  <m:oMath xmlns:m="http://schemas.openxmlformats.org/officeDocument/2006/math">
                    <m:r>
                      <a:rPr lang="en-US" i="1" dirty="0" smtClean="0">
                        <a:latin typeface="Cambria Math" panose="02040503050406030204" pitchFamily="18" charset="0"/>
                      </a:rPr>
                      <m:t>𝑞</m:t>
                    </m:r>
                  </m:oMath>
                </a14:m>
                <a:r>
                  <a:rPr lang="en-US" dirty="0"/>
                  <a:t> has </a:t>
                </a:r>
                <a14:m>
                  <m:oMath xmlns:m="http://schemas.openxmlformats.org/officeDocument/2006/math">
                    <m:d>
                      <m:dPr>
                        <m:begChr m:val="|"/>
                        <m:endChr m:val="|"/>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𝒮</m:t>
                        </m:r>
                      </m:e>
                    </m:d>
                    <m:r>
                      <a:rPr lang="en-US" b="0" i="1" smtClean="0">
                        <a:latin typeface="Cambria Math" panose="02040503050406030204" pitchFamily="18" charset="0"/>
                        <a:ea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𝒜</m:t>
                    </m:r>
                    <m:r>
                      <a:rPr lang="en-US" b="0" i="1" smtClean="0">
                        <a:latin typeface="Cambria Math" panose="02040503050406030204" pitchFamily="18" charset="0"/>
                        <a:ea typeface="Cambria Math" panose="02040503050406030204" pitchFamily="18" charset="0"/>
                      </a:rPr>
                      <m:t>|</m:t>
                    </m:r>
                  </m:oMath>
                </a14:m>
                <a:r>
                  <a:rPr lang="en-US" dirty="0"/>
                  <a:t> entries</a:t>
                </a:r>
              </a:p>
              <a:p>
                <a:pPr marL="914400" lvl="2" indent="0">
                  <a:buNone/>
                </a:pPr>
                <a:r>
                  <a:rPr lang="en-US" dirty="0"/>
                  <a:t>This is only feasible for problems with a small discrete state/action space!</a:t>
                </a:r>
              </a:p>
              <a:p>
                <a:pPr lvl="1"/>
                <a:r>
                  <a:rPr lang="en-US" dirty="0"/>
                  <a:t>No generalization: Knowledge about the value of one state (state-action pair) does not help us with similar states</a:t>
                </a:r>
              </a:p>
              <a:p>
                <a:endParaRPr lang="en-US" dirty="0"/>
              </a:p>
              <a:p>
                <a:r>
                  <a:rPr lang="en-US" dirty="0"/>
                  <a:t>We will later talk about approximate methods that generalize and can work with large state spaces.</a:t>
                </a:r>
              </a:p>
            </p:txBody>
          </p:sp>
        </mc:Choice>
        <mc:Fallback xmlns="">
          <p:sp>
            <p:nvSpPr>
              <p:cNvPr id="3" name="Content Placeholder 2" descr="Tabular means: The value functions v or q are stored in arrays (tables) called V or Q . Important property: Entries in the table do not influence each other. We can change them independently. Tabular methods find the exact solution (i.e., optimal value function and policy) given enough memory and time. Issues:. Table size:. v and deterministic pi have the absolute value of S entries. q has the absolute value of S times given A given entries. This is only feasible for problems with a small discrete state/action space!. No generalization: Knowledge about the value of one state (state-action pair) does not help us with similar states. We will later talk about approximate methods that generalize and can work with large state spaces">
                <a:extLst>
                  <a:ext uri="{FF2B5EF4-FFF2-40B4-BE49-F238E27FC236}">
                    <a16:creationId xmlns:a16="http://schemas.microsoft.com/office/drawing/2014/main" id="{CC29710D-F26D-E73F-A3F8-50BB8250FEC4}"/>
                  </a:ext>
                </a:extLst>
              </p:cNvPr>
              <p:cNvSpPr>
                <a:spLocks noGrp="1" noRot="1" noChangeAspect="1" noMove="1" noResize="1" noEditPoints="1" noAdjustHandles="1" noChangeArrowheads="1" noChangeShapeType="1" noTextEdit="1"/>
              </p:cNvSpPr>
              <p:nvPr>
                <p:ph idx="1"/>
              </p:nvPr>
            </p:nvSpPr>
            <p:spPr>
              <a:xfrm>
                <a:off x="838200" y="1397330"/>
                <a:ext cx="6763186" cy="4986692"/>
              </a:xfrm>
              <a:blipFill>
                <a:blip r:embed="rId2"/>
                <a:stretch>
                  <a:fillRect l="-812" t="-2078" r="-902"/>
                </a:stretch>
              </a:blipFill>
            </p:spPr>
            <p:txBody>
              <a:bodyPr/>
              <a:lstStyle/>
              <a:p>
                <a:r>
                  <a:rPr lang="en-US">
                    <a:noFill/>
                  </a:rPr>
                  <a:t> </a:t>
                </a:r>
              </a:p>
            </p:txBody>
          </p:sp>
        </mc:Fallback>
      </mc:AlternateContent>
      <p:sp>
        <p:nvSpPr>
          <p:cNvPr id="4" name="TextBox 5">
            <a:extLst>
              <a:ext uri="{FF2B5EF4-FFF2-40B4-BE49-F238E27FC236}">
                <a16:creationId xmlns:a16="http://schemas.microsoft.com/office/drawing/2014/main" id="{0975C344-F52A-8D1F-9D79-6E224183C692}"/>
              </a:ext>
            </a:extLst>
          </p:cNvPr>
          <p:cNvSpPr txBox="1"/>
          <p:nvPr/>
        </p:nvSpPr>
        <p:spPr>
          <a:xfrm>
            <a:off x="8911619" y="781545"/>
            <a:ext cx="2151600" cy="369332"/>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dirty="0"/>
              <a:t>Value Function</a:t>
            </a:r>
          </a:p>
        </p:txBody>
      </p:sp>
      <mc:AlternateContent xmlns:mc="http://schemas.openxmlformats.org/markup-compatibility/2006" xmlns:a14="http://schemas.microsoft.com/office/drawing/2010/main">
        <mc:Choice Requires="a14">
          <p:graphicFrame>
            <p:nvGraphicFramePr>
              <p:cNvPr id="10" name="Table 9" descr="Table with 4 rows and 2 columns. Column headers: s, State Value V(s). Row 1: (1,1), 0.7453. Row 2: (1,2), 0.8016. Row 3: …, ….">
                <a:extLst>
                  <a:ext uri="{FF2B5EF4-FFF2-40B4-BE49-F238E27FC236}">
                    <a16:creationId xmlns:a16="http://schemas.microsoft.com/office/drawing/2014/main" id="{67C3BC08-2A24-51EA-3AA9-3629C95375A8}"/>
                  </a:ext>
                </a:extLst>
              </p:cNvPr>
              <p:cNvGraphicFramePr>
                <a:graphicFrameLocks noGrp="1"/>
              </p:cNvGraphicFramePr>
              <p:nvPr>
                <p:extLst>
                  <p:ext uri="{D42A27DB-BD31-4B8C-83A1-F6EECF244321}">
                    <p14:modId xmlns:p14="http://schemas.microsoft.com/office/powerpoint/2010/main" val="2982476008"/>
                  </p:ext>
                </p:extLst>
              </p:nvPr>
            </p:nvGraphicFramePr>
            <p:xfrm>
              <a:off x="8913602" y="1131354"/>
              <a:ext cx="2147634" cy="1097280"/>
            </p:xfrm>
            <a:graphic>
              <a:graphicData uri="http://schemas.openxmlformats.org/drawingml/2006/table">
                <a:tbl>
                  <a:tblPr firstRow="1" bandRow="1">
                    <a:tableStyleId>{93296810-A885-4BE3-A3E7-6D5BEEA58F35}</a:tableStyleId>
                  </a:tblPr>
                  <a:tblGrid>
                    <a:gridCol w="592187">
                      <a:extLst>
                        <a:ext uri="{9D8B030D-6E8A-4147-A177-3AD203B41FA5}">
                          <a16:colId xmlns:a16="http://schemas.microsoft.com/office/drawing/2014/main" val="3711460689"/>
                        </a:ext>
                      </a:extLst>
                    </a:gridCol>
                    <a:gridCol w="1555447">
                      <a:extLst>
                        <a:ext uri="{9D8B030D-6E8A-4147-A177-3AD203B41FA5}">
                          <a16:colId xmlns:a16="http://schemas.microsoft.com/office/drawing/2014/main" val="2080107700"/>
                        </a:ext>
                      </a:extLst>
                    </a:gridCol>
                  </a:tblGrid>
                  <a:tr h="182880">
                    <a:tc>
                      <a:txBody>
                        <a:bodyPr/>
                        <a:lstStyle/>
                        <a:p>
                          <a:pPr/>
                          <a14:m>
                            <m:oMathPara xmlns:m="http://schemas.openxmlformats.org/officeDocument/2006/math">
                              <m:oMath>
                                <m:r>
                                  <a:rPr lang="en-US" sz="1200" dirty="0" smtClean="0">
                                    <a:latin typeface="Cambria Math" panose="02040503050406030204" pitchFamily="18" charset="0"/>
                                  </a:rPr>
                                  <m:t>𝑠</m:t>
                                </m:r>
                              </m:oMath>
                            </m:oMathPara>
                          </a14:m>
                          <a:endParaRPr lang="en-US" sz="1200" dirty="0"/>
                        </a:p>
                      </a:txBody>
                      <a:tcPr/>
                    </a:tc>
                    <a:tc>
                      <a:txBody>
                        <a:bodyPr/>
                        <a:lstStyle/>
                        <a:p>
                          <a:r>
                            <a:rPr lang="en-US" sz="1200" b="1" dirty="0"/>
                            <a:t>State Value </a:t>
                          </a:r>
                          <a14:m>
                            <m:oMath xmlns:m="http://schemas.openxmlformats.org/officeDocument/2006/math">
                              <m:r>
                                <a:rPr lang="en-US" sz="1200" b="1" i="1" dirty="0" smtClean="0">
                                  <a:latin typeface="Cambria Math" panose="02040503050406030204" pitchFamily="18" charset="0"/>
                                </a:rPr>
                                <m:t>𝑽</m:t>
                              </m:r>
                              <m:r>
                                <a:rPr lang="en-US" sz="1200" dirty="0" smtClean="0">
                                  <a:latin typeface="Cambria Math" panose="02040503050406030204" pitchFamily="18" charset="0"/>
                                </a:rPr>
                                <m:t>(</m:t>
                              </m:r>
                              <m:r>
                                <a:rPr lang="en-US" sz="1200" b="1" i="0" dirty="0" smtClean="0">
                                  <a:latin typeface="Cambria Math" panose="02040503050406030204" pitchFamily="18" charset="0"/>
                                </a:rPr>
                                <m:t>𝐬</m:t>
                              </m:r>
                              <m:r>
                                <a:rPr lang="en-US" sz="1200" dirty="0" smtClean="0">
                                  <a:latin typeface="Cambria Math" panose="02040503050406030204" pitchFamily="18" charset="0"/>
                                </a:rPr>
                                <m:t>)</m:t>
                              </m:r>
                            </m:oMath>
                          </a14:m>
                          <a:endParaRPr lang="en-US" sz="1200" dirty="0"/>
                        </a:p>
                      </a:txBody>
                      <a:tcPr/>
                    </a:tc>
                    <a:extLst>
                      <a:ext uri="{0D108BD9-81ED-4DB2-BD59-A6C34878D82A}">
                        <a16:rowId xmlns:a16="http://schemas.microsoft.com/office/drawing/2014/main" val="2008869826"/>
                      </a:ext>
                    </a:extLst>
                  </a:tr>
                  <a:tr h="182880">
                    <a:tc>
                      <a:txBody>
                        <a:bodyPr/>
                        <a:lstStyle/>
                        <a:p>
                          <a:r>
                            <a:rPr lang="en-US" sz="1200" dirty="0"/>
                            <a:t>(1,1)</a:t>
                          </a:r>
                        </a:p>
                      </a:txBody>
                      <a:tcPr/>
                    </a:tc>
                    <a:tc>
                      <a:txBody>
                        <a:bodyPr/>
                        <a:lstStyle/>
                        <a:p>
                          <a:r>
                            <a:rPr lang="en-US" sz="1200" dirty="0"/>
                            <a:t>0.7453</a:t>
                          </a:r>
                        </a:p>
                      </a:txBody>
                      <a:tcPr/>
                    </a:tc>
                    <a:extLst>
                      <a:ext uri="{0D108BD9-81ED-4DB2-BD59-A6C34878D82A}">
                        <a16:rowId xmlns:a16="http://schemas.microsoft.com/office/drawing/2014/main" val="524805492"/>
                      </a:ext>
                    </a:extLst>
                  </a:tr>
                  <a:tr h="182880">
                    <a:tc>
                      <a:txBody>
                        <a:bodyPr/>
                        <a:lstStyle/>
                        <a:p>
                          <a:r>
                            <a:rPr lang="en-US" sz="1200" dirty="0"/>
                            <a:t>(1,2)</a:t>
                          </a:r>
                        </a:p>
                      </a:txBody>
                      <a:tcPr/>
                    </a:tc>
                    <a:tc>
                      <a:txBody>
                        <a:bodyPr/>
                        <a:lstStyle/>
                        <a:p>
                          <a:r>
                            <a:rPr lang="en-US" sz="1200" dirty="0"/>
                            <a:t>0.8016</a:t>
                          </a:r>
                        </a:p>
                      </a:txBody>
                      <a:tcPr/>
                    </a:tc>
                    <a:extLst>
                      <a:ext uri="{0D108BD9-81ED-4DB2-BD59-A6C34878D82A}">
                        <a16:rowId xmlns:a16="http://schemas.microsoft.com/office/drawing/2014/main" val="3725035416"/>
                      </a:ext>
                    </a:extLst>
                  </a:tr>
                  <a:tr h="182880">
                    <a:tc>
                      <a:txBody>
                        <a:bodyPr/>
                        <a:lstStyle/>
                        <a:p>
                          <a:r>
                            <a:rPr lang="en-US" sz="1200" dirty="0"/>
                            <a:t>…</a:t>
                          </a:r>
                        </a:p>
                      </a:txBody>
                      <a:tcPr/>
                    </a:tc>
                    <a:tc>
                      <a:txBody>
                        <a:bodyPr/>
                        <a:lstStyle/>
                        <a:p>
                          <a:r>
                            <a:rPr lang="en-US" sz="1200" dirty="0"/>
                            <a:t>…</a:t>
                          </a:r>
                        </a:p>
                      </a:txBody>
                      <a:tcPr/>
                    </a:tc>
                    <a:extLst>
                      <a:ext uri="{0D108BD9-81ED-4DB2-BD59-A6C34878D82A}">
                        <a16:rowId xmlns:a16="http://schemas.microsoft.com/office/drawing/2014/main" val="868402448"/>
                      </a:ext>
                    </a:extLst>
                  </a:tr>
                </a:tbl>
              </a:graphicData>
            </a:graphic>
          </p:graphicFrame>
        </mc:Choice>
        <mc:Fallback xmlns="">
          <p:graphicFrame>
            <p:nvGraphicFramePr>
              <p:cNvPr id="10" name="Table 9">
                <a:extLst>
                  <a:ext uri="{FF2B5EF4-FFF2-40B4-BE49-F238E27FC236}">
                    <a16:creationId xmlns:a16="http://schemas.microsoft.com/office/drawing/2014/main" id="{67C3BC08-2A24-51EA-3AA9-3629C95375A8}"/>
                  </a:ext>
                </a:extLst>
              </p:cNvPr>
              <p:cNvGraphicFramePr>
                <a:graphicFrameLocks noGrp="1"/>
              </p:cNvGraphicFramePr>
              <p:nvPr>
                <p:extLst>
                  <p:ext uri="{D42A27DB-BD31-4B8C-83A1-F6EECF244321}">
                    <p14:modId xmlns:p14="http://schemas.microsoft.com/office/powerpoint/2010/main" val="2982476008"/>
                  </p:ext>
                </p:extLst>
              </p:nvPr>
            </p:nvGraphicFramePr>
            <p:xfrm>
              <a:off x="8913602" y="1131354"/>
              <a:ext cx="2147634" cy="1097280"/>
            </p:xfrm>
            <a:graphic>
              <a:graphicData uri="http://schemas.openxmlformats.org/drawingml/2006/table">
                <a:tbl>
                  <a:tblPr firstRow="1" bandRow="1">
                    <a:tableStyleId>{93296810-A885-4BE3-A3E7-6D5BEEA58F35}</a:tableStyleId>
                  </a:tblPr>
                  <a:tblGrid>
                    <a:gridCol w="592187">
                      <a:extLst>
                        <a:ext uri="{9D8B030D-6E8A-4147-A177-3AD203B41FA5}">
                          <a16:colId xmlns:a16="http://schemas.microsoft.com/office/drawing/2014/main" val="3711460689"/>
                        </a:ext>
                      </a:extLst>
                    </a:gridCol>
                    <a:gridCol w="1555447">
                      <a:extLst>
                        <a:ext uri="{9D8B030D-6E8A-4147-A177-3AD203B41FA5}">
                          <a16:colId xmlns:a16="http://schemas.microsoft.com/office/drawing/2014/main" val="2080107700"/>
                        </a:ext>
                      </a:extLst>
                    </a:gridCol>
                  </a:tblGrid>
                  <a:tr h="274320">
                    <a:tc>
                      <a:txBody>
                        <a:bodyPr/>
                        <a:lstStyle/>
                        <a:p>
                          <a:endParaRPr lang="en-US"/>
                        </a:p>
                      </a:txBody>
                      <a:tcPr>
                        <a:blipFill>
                          <a:blip r:embed="rId4"/>
                          <a:stretch>
                            <a:fillRect l="-1031" t="-2222" r="-268041" b="-320000"/>
                          </a:stretch>
                        </a:blipFill>
                      </a:tcPr>
                    </a:tc>
                    <a:tc>
                      <a:txBody>
                        <a:bodyPr/>
                        <a:lstStyle/>
                        <a:p>
                          <a:endParaRPr lang="en-US"/>
                        </a:p>
                      </a:txBody>
                      <a:tcPr>
                        <a:blipFill>
                          <a:blip r:embed="rId4"/>
                          <a:stretch>
                            <a:fillRect l="-38281" t="-2222" r="-1563" b="-320000"/>
                          </a:stretch>
                        </a:blipFill>
                      </a:tcPr>
                    </a:tc>
                    <a:extLst>
                      <a:ext uri="{0D108BD9-81ED-4DB2-BD59-A6C34878D82A}">
                        <a16:rowId xmlns:a16="http://schemas.microsoft.com/office/drawing/2014/main" val="2008869826"/>
                      </a:ext>
                    </a:extLst>
                  </a:tr>
                  <a:tr h="274320">
                    <a:tc>
                      <a:txBody>
                        <a:bodyPr/>
                        <a:lstStyle/>
                        <a:p>
                          <a:r>
                            <a:rPr lang="en-US" sz="1200" dirty="0"/>
                            <a:t>(1,1)</a:t>
                          </a:r>
                        </a:p>
                      </a:txBody>
                      <a:tcPr/>
                    </a:tc>
                    <a:tc>
                      <a:txBody>
                        <a:bodyPr/>
                        <a:lstStyle/>
                        <a:p>
                          <a:r>
                            <a:rPr lang="en-US" sz="1200" dirty="0"/>
                            <a:t>0.7453</a:t>
                          </a:r>
                        </a:p>
                      </a:txBody>
                      <a:tcPr/>
                    </a:tc>
                    <a:extLst>
                      <a:ext uri="{0D108BD9-81ED-4DB2-BD59-A6C34878D82A}">
                        <a16:rowId xmlns:a16="http://schemas.microsoft.com/office/drawing/2014/main" val="524805492"/>
                      </a:ext>
                    </a:extLst>
                  </a:tr>
                  <a:tr h="274320">
                    <a:tc>
                      <a:txBody>
                        <a:bodyPr/>
                        <a:lstStyle/>
                        <a:p>
                          <a:r>
                            <a:rPr lang="en-US" sz="1200" dirty="0"/>
                            <a:t>(1,2)</a:t>
                          </a:r>
                        </a:p>
                      </a:txBody>
                      <a:tcPr/>
                    </a:tc>
                    <a:tc>
                      <a:txBody>
                        <a:bodyPr/>
                        <a:lstStyle/>
                        <a:p>
                          <a:r>
                            <a:rPr lang="en-US" sz="1200" dirty="0"/>
                            <a:t>0.8016</a:t>
                          </a:r>
                        </a:p>
                      </a:txBody>
                      <a:tcPr/>
                    </a:tc>
                    <a:extLst>
                      <a:ext uri="{0D108BD9-81ED-4DB2-BD59-A6C34878D82A}">
                        <a16:rowId xmlns:a16="http://schemas.microsoft.com/office/drawing/2014/main" val="3725035416"/>
                      </a:ext>
                    </a:extLst>
                  </a:tr>
                  <a:tr h="274320">
                    <a:tc>
                      <a:txBody>
                        <a:bodyPr/>
                        <a:lstStyle/>
                        <a:p>
                          <a:r>
                            <a:rPr lang="en-US" sz="1200" dirty="0"/>
                            <a:t>…</a:t>
                          </a:r>
                        </a:p>
                      </a:txBody>
                      <a:tcPr/>
                    </a:tc>
                    <a:tc>
                      <a:txBody>
                        <a:bodyPr/>
                        <a:lstStyle/>
                        <a:p>
                          <a:r>
                            <a:rPr lang="en-US" sz="1200" dirty="0"/>
                            <a:t>…</a:t>
                          </a:r>
                        </a:p>
                      </a:txBody>
                      <a:tcPr/>
                    </a:tc>
                    <a:extLst>
                      <a:ext uri="{0D108BD9-81ED-4DB2-BD59-A6C34878D82A}">
                        <a16:rowId xmlns:a16="http://schemas.microsoft.com/office/drawing/2014/main" val="868402448"/>
                      </a:ext>
                    </a:extLst>
                  </a:tr>
                </a:tbl>
              </a:graphicData>
            </a:graphic>
          </p:graphicFrame>
        </mc:Fallback>
      </mc:AlternateContent>
      <p:sp>
        <p:nvSpPr>
          <p:cNvPr id="6" name="TextBox 4">
            <a:extLst>
              <a:ext uri="{FF2B5EF4-FFF2-40B4-BE49-F238E27FC236}">
                <a16:creationId xmlns:a16="http://schemas.microsoft.com/office/drawing/2014/main" id="{84CE4623-8DCA-34FA-3404-B71214310EC9}"/>
              </a:ext>
            </a:extLst>
          </p:cNvPr>
          <p:cNvSpPr txBox="1"/>
          <p:nvPr/>
        </p:nvSpPr>
        <p:spPr>
          <a:xfrm>
            <a:off x="9004460" y="2440195"/>
            <a:ext cx="1965919" cy="338554"/>
          </a:xfrm>
          <a:prstGeom prst="rect">
            <a:avLst/>
          </a:prstGeom>
          <a:noFill/>
        </p:spPr>
        <p:txBody>
          <a:bodyPr wrap="squar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600" dirty="0"/>
              <a:t>Q-Value Function</a:t>
            </a:r>
          </a:p>
        </p:txBody>
      </p:sp>
      <mc:AlternateContent xmlns:mc="http://schemas.openxmlformats.org/markup-compatibility/2006" xmlns:a14="http://schemas.microsoft.com/office/drawing/2010/main">
        <mc:Choice Requires="a14">
          <p:graphicFrame>
            <p:nvGraphicFramePr>
              <p:cNvPr id="9" name="Table 8" descr="Table with 6 rows and 3 columns. Column headers: s, a, q(s,a). Row 1: (1,1), up, 0.7453. Row 2: (1,1), right, 0.6709. Row 3: (1,1), down, 0.7003. Row 4: (1,1), left, 0.7109. Row 5: …, …, ….">
                <a:extLst>
                  <a:ext uri="{FF2B5EF4-FFF2-40B4-BE49-F238E27FC236}">
                    <a16:creationId xmlns:a16="http://schemas.microsoft.com/office/drawing/2014/main" id="{78248F0E-2FF3-2020-DE60-ADD421262953}"/>
                  </a:ext>
                </a:extLst>
              </p:cNvPr>
              <p:cNvGraphicFramePr>
                <a:graphicFrameLocks noGrp="1"/>
              </p:cNvGraphicFramePr>
              <p:nvPr>
                <p:extLst>
                  <p:ext uri="{D42A27DB-BD31-4B8C-83A1-F6EECF244321}">
                    <p14:modId xmlns:p14="http://schemas.microsoft.com/office/powerpoint/2010/main" val="2985909591"/>
                  </p:ext>
                </p:extLst>
              </p:nvPr>
            </p:nvGraphicFramePr>
            <p:xfrm>
              <a:off x="8656227" y="2799490"/>
              <a:ext cx="2662384" cy="1645920"/>
            </p:xfrm>
            <a:graphic>
              <a:graphicData uri="http://schemas.openxmlformats.org/drawingml/2006/table">
                <a:tbl>
                  <a:tblPr firstRow="1" bandRow="1">
                    <a:tableStyleId>{93296810-A885-4BE3-A3E7-6D5BEEA58F35}</a:tableStyleId>
                  </a:tblPr>
                  <a:tblGrid>
                    <a:gridCol w="816336">
                      <a:extLst>
                        <a:ext uri="{9D8B030D-6E8A-4147-A177-3AD203B41FA5}">
                          <a16:colId xmlns:a16="http://schemas.microsoft.com/office/drawing/2014/main" val="3711460689"/>
                        </a:ext>
                      </a:extLst>
                    </a:gridCol>
                    <a:gridCol w="685800">
                      <a:extLst>
                        <a:ext uri="{9D8B030D-6E8A-4147-A177-3AD203B41FA5}">
                          <a16:colId xmlns:a16="http://schemas.microsoft.com/office/drawing/2014/main" val="2988890879"/>
                        </a:ext>
                      </a:extLst>
                    </a:gridCol>
                    <a:gridCol w="1160248">
                      <a:extLst>
                        <a:ext uri="{9D8B030D-6E8A-4147-A177-3AD203B41FA5}">
                          <a16:colId xmlns:a16="http://schemas.microsoft.com/office/drawing/2014/main" val="2080107700"/>
                        </a:ext>
                      </a:extLst>
                    </a:gridCol>
                  </a:tblGrid>
                  <a:tr h="182880">
                    <a:tc>
                      <a:txBody>
                        <a:bodyPr/>
                        <a:lstStyle/>
                        <a:p>
                          <a:pPr/>
                          <a14:m>
                            <m:oMathPara xmlns:m="http://schemas.openxmlformats.org/officeDocument/2006/math">
                              <m:oMath>
                                <m:r>
                                  <a:rPr lang="en-US" sz="1200" dirty="0" smtClean="0">
                                    <a:latin typeface="Cambria Math" panose="02040503050406030204" pitchFamily="18" charset="0"/>
                                  </a:rPr>
                                  <m:t>𝑠</m:t>
                                </m:r>
                              </m:oMath>
                            </m:oMathPara>
                          </a14:m>
                          <a:endParaRPr lang="en-US" sz="1200" dirty="0"/>
                        </a:p>
                      </a:txBody>
                      <a:tcPr/>
                    </a:tc>
                    <a:tc>
                      <a:txBody>
                        <a:bodyPr/>
                        <a:lstStyle/>
                        <a:p>
                          <a:pPr/>
                          <a14:m>
                            <m:oMathPara xmlns:m="http://schemas.openxmlformats.org/officeDocument/2006/math">
                              <m:oMath>
                                <m:r>
                                  <a:rPr lang="en-US" sz="1200" dirty="0" smtClean="0">
                                    <a:latin typeface="Cambria Math" panose="02040503050406030204" pitchFamily="18" charset="0"/>
                                  </a:rPr>
                                  <m:t>𝑎</m:t>
                                </m:r>
                              </m:oMath>
                            </m:oMathPara>
                          </a14:m>
                          <a:endParaRPr lang="en-US" sz="1200" dirty="0"/>
                        </a:p>
                      </a:txBody>
                      <a:tcPr/>
                    </a:tc>
                    <a:tc>
                      <a:txBody>
                        <a:bodyPr/>
                        <a:lstStyle/>
                        <a:p>
                          <a:pPr/>
                          <a14:m>
                            <m:oMathPara xmlns:m="http://schemas.openxmlformats.org/officeDocument/2006/math">
                              <m:oMath>
                                <m:r>
                                  <a:rPr lang="en-US" sz="1200" b="0" i="1" dirty="0" smtClean="0">
                                    <a:latin typeface="Cambria Math" panose="02040503050406030204" pitchFamily="18" charset="0"/>
                                  </a:rPr>
                                  <m:t>𝑞</m:t>
                                </m:r>
                                <m:r>
                                  <a:rPr lang="en-US" sz="1200" dirty="0" smtClean="0">
                                    <a:latin typeface="Cambria Math" panose="02040503050406030204" pitchFamily="18" charset="0"/>
                                  </a:rPr>
                                  <m:t>(</m:t>
                                </m:r>
                                <m:r>
                                  <a:rPr lang="en-US" sz="1200" dirty="0" err="1" smtClean="0">
                                    <a:latin typeface="Cambria Math" panose="02040503050406030204" pitchFamily="18" charset="0"/>
                                  </a:rPr>
                                  <m:t>𝑠</m:t>
                                </m:r>
                                <m:r>
                                  <a:rPr lang="en-US" sz="1200" dirty="0" err="1" smtClean="0">
                                    <a:latin typeface="Cambria Math" panose="02040503050406030204" pitchFamily="18" charset="0"/>
                                  </a:rPr>
                                  <m:t>,</m:t>
                                </m:r>
                                <m:r>
                                  <a:rPr lang="en-US" sz="1200" dirty="0" err="1" smtClean="0">
                                    <a:latin typeface="Cambria Math" panose="02040503050406030204" pitchFamily="18" charset="0"/>
                                  </a:rPr>
                                  <m:t>𝑎</m:t>
                                </m:r>
                                <m:r>
                                  <a:rPr lang="en-US" sz="1200" dirty="0" smtClean="0">
                                    <a:latin typeface="Cambria Math" panose="02040503050406030204" pitchFamily="18" charset="0"/>
                                  </a:rPr>
                                  <m:t>)</m:t>
                                </m:r>
                              </m:oMath>
                            </m:oMathPara>
                          </a14:m>
                          <a:endParaRPr lang="en-US" sz="1200" dirty="0"/>
                        </a:p>
                      </a:txBody>
                      <a:tcPr/>
                    </a:tc>
                    <a:extLst>
                      <a:ext uri="{0D108BD9-81ED-4DB2-BD59-A6C34878D82A}">
                        <a16:rowId xmlns:a16="http://schemas.microsoft.com/office/drawing/2014/main" val="2008869826"/>
                      </a:ext>
                    </a:extLst>
                  </a:tr>
                  <a:tr h="182880">
                    <a:tc>
                      <a:txBody>
                        <a:bodyPr/>
                        <a:lstStyle/>
                        <a:p>
                          <a:r>
                            <a:rPr lang="en-US" sz="1200" dirty="0"/>
                            <a:t>(1,1)</a:t>
                          </a:r>
                        </a:p>
                      </a:txBody>
                      <a:tcPr/>
                    </a:tc>
                    <a:tc>
                      <a:txBody>
                        <a:bodyPr/>
                        <a:lstStyle/>
                        <a:p>
                          <a:r>
                            <a:rPr lang="en-US" sz="1200" dirty="0"/>
                            <a:t>up</a:t>
                          </a:r>
                        </a:p>
                      </a:txBody>
                      <a:tcPr/>
                    </a:tc>
                    <a:tc>
                      <a:txBody>
                        <a:bodyPr/>
                        <a:lstStyle/>
                        <a:p>
                          <a:r>
                            <a:rPr lang="en-US" sz="1200" dirty="0"/>
                            <a:t>0.7453</a:t>
                          </a:r>
                        </a:p>
                      </a:txBody>
                      <a:tcPr/>
                    </a:tc>
                    <a:extLst>
                      <a:ext uri="{0D108BD9-81ED-4DB2-BD59-A6C34878D82A}">
                        <a16:rowId xmlns:a16="http://schemas.microsoft.com/office/drawing/2014/main" val="524805492"/>
                      </a:ext>
                    </a:extLst>
                  </a:tr>
                  <a:tr h="182880">
                    <a:tc>
                      <a:txBody>
                        <a:bodyPr/>
                        <a:lstStyle/>
                        <a:p>
                          <a:r>
                            <a:rPr lang="en-US" sz="1200" dirty="0"/>
                            <a:t>(1,1)</a:t>
                          </a:r>
                        </a:p>
                      </a:txBody>
                      <a:tcPr/>
                    </a:tc>
                    <a:tc>
                      <a:txBody>
                        <a:bodyPr/>
                        <a:lstStyle/>
                        <a:p>
                          <a:r>
                            <a:rPr lang="en-US" sz="1200" dirty="0"/>
                            <a:t>right</a:t>
                          </a:r>
                        </a:p>
                      </a:txBody>
                      <a:tcPr/>
                    </a:tc>
                    <a:tc>
                      <a:txBody>
                        <a:bodyPr/>
                        <a:lstStyle/>
                        <a:p>
                          <a:r>
                            <a:rPr lang="en-US" sz="1200" dirty="0"/>
                            <a:t>0.6709</a:t>
                          </a:r>
                        </a:p>
                      </a:txBody>
                      <a:tcPr/>
                    </a:tc>
                    <a:extLst>
                      <a:ext uri="{0D108BD9-81ED-4DB2-BD59-A6C34878D82A}">
                        <a16:rowId xmlns:a16="http://schemas.microsoft.com/office/drawing/2014/main" val="3725035416"/>
                      </a:ext>
                    </a:extLst>
                  </a:tr>
                  <a:tr h="182880">
                    <a:tc>
                      <a:txBody>
                        <a:bodyPr/>
                        <a:lstStyle/>
                        <a:p>
                          <a:r>
                            <a:rPr lang="en-US" sz="1200" dirty="0"/>
                            <a:t>(1,1)</a:t>
                          </a:r>
                        </a:p>
                      </a:txBody>
                      <a:tcPr/>
                    </a:tc>
                    <a:tc>
                      <a:txBody>
                        <a:bodyPr/>
                        <a:lstStyle/>
                        <a:p>
                          <a:r>
                            <a:rPr lang="en-US" sz="1200" dirty="0"/>
                            <a:t>down</a:t>
                          </a:r>
                        </a:p>
                      </a:txBody>
                      <a:tcPr/>
                    </a:tc>
                    <a:tc>
                      <a:txBody>
                        <a:bodyPr/>
                        <a:lstStyle/>
                        <a:p>
                          <a:r>
                            <a:rPr lang="en-US" sz="1200" dirty="0"/>
                            <a:t>0.7003</a:t>
                          </a:r>
                        </a:p>
                      </a:txBody>
                      <a:tcPr/>
                    </a:tc>
                    <a:extLst>
                      <a:ext uri="{0D108BD9-81ED-4DB2-BD59-A6C34878D82A}">
                        <a16:rowId xmlns:a16="http://schemas.microsoft.com/office/drawing/2014/main" val="868402448"/>
                      </a:ext>
                    </a:extLst>
                  </a:tr>
                  <a:tr h="182880">
                    <a:tc>
                      <a:txBody>
                        <a:bodyPr/>
                        <a:lstStyle/>
                        <a:p>
                          <a:r>
                            <a:rPr lang="en-US" sz="1200" dirty="0"/>
                            <a:t>(1,1)</a:t>
                          </a:r>
                        </a:p>
                      </a:txBody>
                      <a:tcPr/>
                    </a:tc>
                    <a:tc>
                      <a:txBody>
                        <a:bodyPr/>
                        <a:lstStyle/>
                        <a:p>
                          <a:r>
                            <a:rPr lang="en-US" sz="1200" dirty="0"/>
                            <a:t>left</a:t>
                          </a:r>
                        </a:p>
                      </a:txBody>
                      <a:tcPr/>
                    </a:tc>
                    <a:tc>
                      <a:txBody>
                        <a:bodyPr/>
                        <a:lstStyle/>
                        <a:p>
                          <a:r>
                            <a:rPr lang="en-US" sz="1200" dirty="0"/>
                            <a:t>0.7109</a:t>
                          </a:r>
                        </a:p>
                      </a:txBody>
                      <a:tcPr/>
                    </a:tc>
                    <a:extLst>
                      <a:ext uri="{0D108BD9-81ED-4DB2-BD59-A6C34878D82A}">
                        <a16:rowId xmlns:a16="http://schemas.microsoft.com/office/drawing/2014/main" val="460961713"/>
                      </a:ext>
                    </a:extLst>
                  </a:tr>
                  <a:tr h="182880">
                    <a:tc>
                      <a:txBody>
                        <a:bodyPr/>
                        <a:lstStyle/>
                        <a:p>
                          <a:r>
                            <a:rPr lang="en-US" sz="1200" dirty="0"/>
                            <a:t>…</a:t>
                          </a:r>
                        </a:p>
                      </a:txBody>
                      <a:tcPr/>
                    </a:tc>
                    <a:tc>
                      <a:txBody>
                        <a:bodyPr/>
                        <a:lstStyle/>
                        <a:p>
                          <a:r>
                            <a:rPr lang="en-US" sz="1200" dirty="0"/>
                            <a:t>…</a:t>
                          </a:r>
                        </a:p>
                      </a:txBody>
                      <a:tcPr/>
                    </a:tc>
                    <a:tc>
                      <a:txBody>
                        <a:bodyPr/>
                        <a:lstStyle/>
                        <a:p>
                          <a:r>
                            <a:rPr lang="en-US" sz="1200" dirty="0"/>
                            <a:t>…</a:t>
                          </a:r>
                        </a:p>
                      </a:txBody>
                      <a:tcPr/>
                    </a:tc>
                    <a:extLst>
                      <a:ext uri="{0D108BD9-81ED-4DB2-BD59-A6C34878D82A}">
                        <a16:rowId xmlns:a16="http://schemas.microsoft.com/office/drawing/2014/main" val="3207722718"/>
                      </a:ext>
                    </a:extLst>
                  </a:tr>
                </a:tbl>
              </a:graphicData>
            </a:graphic>
          </p:graphicFrame>
        </mc:Choice>
        <mc:Fallback xmlns="">
          <p:graphicFrame>
            <p:nvGraphicFramePr>
              <p:cNvPr id="9" name="Table 8">
                <a:extLst>
                  <a:ext uri="{FF2B5EF4-FFF2-40B4-BE49-F238E27FC236}">
                    <a16:creationId xmlns:a16="http://schemas.microsoft.com/office/drawing/2014/main" id="{78248F0E-2FF3-2020-DE60-ADD421262953}"/>
                  </a:ext>
                </a:extLst>
              </p:cNvPr>
              <p:cNvGraphicFramePr>
                <a:graphicFrameLocks noGrp="1"/>
              </p:cNvGraphicFramePr>
              <p:nvPr>
                <p:extLst>
                  <p:ext uri="{D42A27DB-BD31-4B8C-83A1-F6EECF244321}">
                    <p14:modId xmlns:p14="http://schemas.microsoft.com/office/powerpoint/2010/main" val="2985909591"/>
                  </p:ext>
                </p:extLst>
              </p:nvPr>
            </p:nvGraphicFramePr>
            <p:xfrm>
              <a:off x="8656227" y="2799490"/>
              <a:ext cx="2662384" cy="1645920"/>
            </p:xfrm>
            <a:graphic>
              <a:graphicData uri="http://schemas.openxmlformats.org/drawingml/2006/table">
                <a:tbl>
                  <a:tblPr firstRow="1" bandRow="1">
                    <a:tableStyleId>{93296810-A885-4BE3-A3E7-6D5BEEA58F35}</a:tableStyleId>
                  </a:tblPr>
                  <a:tblGrid>
                    <a:gridCol w="816336">
                      <a:extLst>
                        <a:ext uri="{9D8B030D-6E8A-4147-A177-3AD203B41FA5}">
                          <a16:colId xmlns:a16="http://schemas.microsoft.com/office/drawing/2014/main" val="3711460689"/>
                        </a:ext>
                      </a:extLst>
                    </a:gridCol>
                    <a:gridCol w="685800">
                      <a:extLst>
                        <a:ext uri="{9D8B030D-6E8A-4147-A177-3AD203B41FA5}">
                          <a16:colId xmlns:a16="http://schemas.microsoft.com/office/drawing/2014/main" val="2988890879"/>
                        </a:ext>
                      </a:extLst>
                    </a:gridCol>
                    <a:gridCol w="1160248">
                      <a:extLst>
                        <a:ext uri="{9D8B030D-6E8A-4147-A177-3AD203B41FA5}">
                          <a16:colId xmlns:a16="http://schemas.microsoft.com/office/drawing/2014/main" val="2080107700"/>
                        </a:ext>
                      </a:extLst>
                    </a:gridCol>
                  </a:tblGrid>
                  <a:tr h="274320">
                    <a:tc>
                      <a:txBody>
                        <a:bodyPr/>
                        <a:lstStyle/>
                        <a:p>
                          <a:endParaRPr lang="en-US"/>
                        </a:p>
                      </a:txBody>
                      <a:tcPr>
                        <a:blipFill>
                          <a:blip r:embed="rId3"/>
                          <a:stretch>
                            <a:fillRect l="-746" t="-2222" r="-229851" b="-517778"/>
                          </a:stretch>
                        </a:blipFill>
                      </a:tcPr>
                    </a:tc>
                    <a:tc>
                      <a:txBody>
                        <a:bodyPr/>
                        <a:lstStyle/>
                        <a:p>
                          <a:endParaRPr lang="en-US"/>
                        </a:p>
                      </a:txBody>
                      <a:tcPr>
                        <a:blipFill>
                          <a:blip r:embed="rId3"/>
                          <a:stretch>
                            <a:fillRect l="-119469" t="-2222" r="-172566" b="-517778"/>
                          </a:stretch>
                        </a:blipFill>
                      </a:tcPr>
                    </a:tc>
                    <a:tc>
                      <a:txBody>
                        <a:bodyPr/>
                        <a:lstStyle/>
                        <a:p>
                          <a:endParaRPr lang="en-US"/>
                        </a:p>
                      </a:txBody>
                      <a:tcPr>
                        <a:blipFill>
                          <a:blip r:embed="rId3"/>
                          <a:stretch>
                            <a:fillRect l="-129843" t="-2222" r="-2094" b="-517778"/>
                          </a:stretch>
                        </a:blipFill>
                      </a:tcPr>
                    </a:tc>
                    <a:extLst>
                      <a:ext uri="{0D108BD9-81ED-4DB2-BD59-A6C34878D82A}">
                        <a16:rowId xmlns:a16="http://schemas.microsoft.com/office/drawing/2014/main" val="2008869826"/>
                      </a:ext>
                    </a:extLst>
                  </a:tr>
                  <a:tr h="274320">
                    <a:tc>
                      <a:txBody>
                        <a:bodyPr/>
                        <a:lstStyle/>
                        <a:p>
                          <a:r>
                            <a:rPr lang="en-US" sz="1200" dirty="0"/>
                            <a:t>(1,1)</a:t>
                          </a:r>
                        </a:p>
                      </a:txBody>
                      <a:tcPr/>
                    </a:tc>
                    <a:tc>
                      <a:txBody>
                        <a:bodyPr/>
                        <a:lstStyle/>
                        <a:p>
                          <a:r>
                            <a:rPr lang="en-US" sz="1200" dirty="0"/>
                            <a:t>up</a:t>
                          </a:r>
                        </a:p>
                      </a:txBody>
                      <a:tcPr/>
                    </a:tc>
                    <a:tc>
                      <a:txBody>
                        <a:bodyPr/>
                        <a:lstStyle/>
                        <a:p>
                          <a:r>
                            <a:rPr lang="en-US" sz="1200" dirty="0"/>
                            <a:t>0.7453</a:t>
                          </a:r>
                        </a:p>
                      </a:txBody>
                      <a:tcPr/>
                    </a:tc>
                    <a:extLst>
                      <a:ext uri="{0D108BD9-81ED-4DB2-BD59-A6C34878D82A}">
                        <a16:rowId xmlns:a16="http://schemas.microsoft.com/office/drawing/2014/main" val="524805492"/>
                      </a:ext>
                    </a:extLst>
                  </a:tr>
                  <a:tr h="274320">
                    <a:tc>
                      <a:txBody>
                        <a:bodyPr/>
                        <a:lstStyle/>
                        <a:p>
                          <a:r>
                            <a:rPr lang="en-US" sz="1200" dirty="0"/>
                            <a:t>(1,1)</a:t>
                          </a:r>
                        </a:p>
                      </a:txBody>
                      <a:tcPr/>
                    </a:tc>
                    <a:tc>
                      <a:txBody>
                        <a:bodyPr/>
                        <a:lstStyle/>
                        <a:p>
                          <a:r>
                            <a:rPr lang="en-US" sz="1200" dirty="0"/>
                            <a:t>right</a:t>
                          </a:r>
                        </a:p>
                      </a:txBody>
                      <a:tcPr/>
                    </a:tc>
                    <a:tc>
                      <a:txBody>
                        <a:bodyPr/>
                        <a:lstStyle/>
                        <a:p>
                          <a:r>
                            <a:rPr lang="en-US" sz="1200" dirty="0"/>
                            <a:t>0.6709</a:t>
                          </a:r>
                        </a:p>
                      </a:txBody>
                      <a:tcPr/>
                    </a:tc>
                    <a:extLst>
                      <a:ext uri="{0D108BD9-81ED-4DB2-BD59-A6C34878D82A}">
                        <a16:rowId xmlns:a16="http://schemas.microsoft.com/office/drawing/2014/main" val="3725035416"/>
                      </a:ext>
                    </a:extLst>
                  </a:tr>
                  <a:tr h="274320">
                    <a:tc>
                      <a:txBody>
                        <a:bodyPr/>
                        <a:lstStyle/>
                        <a:p>
                          <a:r>
                            <a:rPr lang="en-US" sz="1200" dirty="0"/>
                            <a:t>(1,1)</a:t>
                          </a:r>
                        </a:p>
                      </a:txBody>
                      <a:tcPr/>
                    </a:tc>
                    <a:tc>
                      <a:txBody>
                        <a:bodyPr/>
                        <a:lstStyle/>
                        <a:p>
                          <a:r>
                            <a:rPr lang="en-US" sz="1200" dirty="0"/>
                            <a:t>down</a:t>
                          </a:r>
                        </a:p>
                      </a:txBody>
                      <a:tcPr/>
                    </a:tc>
                    <a:tc>
                      <a:txBody>
                        <a:bodyPr/>
                        <a:lstStyle/>
                        <a:p>
                          <a:r>
                            <a:rPr lang="en-US" sz="1200" dirty="0"/>
                            <a:t>0.7003</a:t>
                          </a:r>
                        </a:p>
                      </a:txBody>
                      <a:tcPr/>
                    </a:tc>
                    <a:extLst>
                      <a:ext uri="{0D108BD9-81ED-4DB2-BD59-A6C34878D82A}">
                        <a16:rowId xmlns:a16="http://schemas.microsoft.com/office/drawing/2014/main" val="868402448"/>
                      </a:ext>
                    </a:extLst>
                  </a:tr>
                  <a:tr h="274320">
                    <a:tc>
                      <a:txBody>
                        <a:bodyPr/>
                        <a:lstStyle/>
                        <a:p>
                          <a:r>
                            <a:rPr lang="en-US" sz="1200" dirty="0"/>
                            <a:t>(1,1)</a:t>
                          </a:r>
                        </a:p>
                      </a:txBody>
                      <a:tcPr/>
                    </a:tc>
                    <a:tc>
                      <a:txBody>
                        <a:bodyPr/>
                        <a:lstStyle/>
                        <a:p>
                          <a:r>
                            <a:rPr lang="en-US" sz="1200" dirty="0"/>
                            <a:t>left</a:t>
                          </a:r>
                        </a:p>
                      </a:txBody>
                      <a:tcPr/>
                    </a:tc>
                    <a:tc>
                      <a:txBody>
                        <a:bodyPr/>
                        <a:lstStyle/>
                        <a:p>
                          <a:r>
                            <a:rPr lang="en-US" sz="1200" dirty="0"/>
                            <a:t>0.7109</a:t>
                          </a:r>
                        </a:p>
                      </a:txBody>
                      <a:tcPr/>
                    </a:tc>
                    <a:extLst>
                      <a:ext uri="{0D108BD9-81ED-4DB2-BD59-A6C34878D82A}">
                        <a16:rowId xmlns:a16="http://schemas.microsoft.com/office/drawing/2014/main" val="460961713"/>
                      </a:ext>
                    </a:extLst>
                  </a:tr>
                  <a:tr h="274320">
                    <a:tc>
                      <a:txBody>
                        <a:bodyPr/>
                        <a:lstStyle/>
                        <a:p>
                          <a:r>
                            <a:rPr lang="en-US" sz="1200" dirty="0"/>
                            <a:t>…</a:t>
                          </a:r>
                        </a:p>
                      </a:txBody>
                      <a:tcPr/>
                    </a:tc>
                    <a:tc>
                      <a:txBody>
                        <a:bodyPr/>
                        <a:lstStyle/>
                        <a:p>
                          <a:r>
                            <a:rPr lang="en-US" sz="1200" dirty="0"/>
                            <a:t>…</a:t>
                          </a:r>
                        </a:p>
                      </a:txBody>
                      <a:tcPr/>
                    </a:tc>
                    <a:tc>
                      <a:txBody>
                        <a:bodyPr/>
                        <a:lstStyle/>
                        <a:p>
                          <a:r>
                            <a:rPr lang="en-US" sz="1200" dirty="0"/>
                            <a:t>…</a:t>
                          </a:r>
                        </a:p>
                      </a:txBody>
                      <a:tcPr/>
                    </a:tc>
                    <a:extLst>
                      <a:ext uri="{0D108BD9-81ED-4DB2-BD59-A6C34878D82A}">
                        <a16:rowId xmlns:a16="http://schemas.microsoft.com/office/drawing/2014/main" val="3207722718"/>
                      </a:ext>
                    </a:extLst>
                  </a:tr>
                </a:tbl>
              </a:graphicData>
            </a:graphic>
          </p:graphicFrame>
        </mc:Fallback>
      </mc:AlternateContent>
      <p:sp>
        <p:nvSpPr>
          <p:cNvPr id="15" name="TextBox 14">
            <a:extLst>
              <a:ext uri="{FF2B5EF4-FFF2-40B4-BE49-F238E27FC236}">
                <a16:creationId xmlns:a16="http://schemas.microsoft.com/office/drawing/2014/main" id="{4F618E29-8BC7-5465-7F90-DBCC57613545}"/>
              </a:ext>
            </a:extLst>
          </p:cNvPr>
          <p:cNvSpPr txBox="1"/>
          <p:nvPr/>
        </p:nvSpPr>
        <p:spPr>
          <a:xfrm>
            <a:off x="8685923" y="4598699"/>
            <a:ext cx="2602993" cy="338554"/>
          </a:xfrm>
          <a:prstGeom prst="rect">
            <a:avLst/>
          </a:prstGeom>
          <a:noFill/>
        </p:spPr>
        <p:txBody>
          <a:bodyPr wrap="square" rtlCol="0">
            <a:spAutoFit/>
          </a:bodyPr>
          <a:lstStyle/>
          <a:p>
            <a:pPr algn="ctr"/>
            <a:r>
              <a:rPr lang="en-US" sz="1600" dirty="0"/>
              <a:t>Policy </a:t>
            </a:r>
          </a:p>
        </p:txBody>
      </p:sp>
      <mc:AlternateContent xmlns:mc="http://schemas.openxmlformats.org/markup-compatibility/2006" xmlns:a14="http://schemas.microsoft.com/office/drawing/2010/main">
        <mc:Choice Requires="a14">
          <p:graphicFrame>
            <p:nvGraphicFramePr>
              <p:cNvPr id="17" name="Table 16" descr="Table with 4 rows and 2 columns. Column headers: s, Action pi (s). Row 1: (1,1), up. Row 2: …, …. Row 3: …, ….">
                <a:extLst>
                  <a:ext uri="{FF2B5EF4-FFF2-40B4-BE49-F238E27FC236}">
                    <a16:creationId xmlns:a16="http://schemas.microsoft.com/office/drawing/2014/main" id="{CA774F2A-88BA-B1E8-30E2-DDB62E0F5EF0}"/>
                  </a:ext>
                </a:extLst>
              </p:cNvPr>
              <p:cNvGraphicFramePr>
                <a:graphicFrameLocks noGrp="1"/>
              </p:cNvGraphicFramePr>
              <p:nvPr>
                <p:extLst>
                  <p:ext uri="{D42A27DB-BD31-4B8C-83A1-F6EECF244321}">
                    <p14:modId xmlns:p14="http://schemas.microsoft.com/office/powerpoint/2010/main" val="1352679748"/>
                  </p:ext>
                </p:extLst>
              </p:nvPr>
            </p:nvGraphicFramePr>
            <p:xfrm>
              <a:off x="9171327" y="4994415"/>
              <a:ext cx="1632185" cy="1082040"/>
            </p:xfrm>
            <a:graphic>
              <a:graphicData uri="http://schemas.openxmlformats.org/drawingml/2006/table">
                <a:tbl>
                  <a:tblPr firstRow="1" bandRow="1">
                    <a:tableStyleId>{93296810-A885-4BE3-A3E7-6D5BEEA58F35}</a:tableStyleId>
                  </a:tblPr>
                  <a:tblGrid>
                    <a:gridCol w="512256">
                      <a:extLst>
                        <a:ext uri="{9D8B030D-6E8A-4147-A177-3AD203B41FA5}">
                          <a16:colId xmlns:a16="http://schemas.microsoft.com/office/drawing/2014/main" val="3711460689"/>
                        </a:ext>
                      </a:extLst>
                    </a:gridCol>
                    <a:gridCol w="1119929">
                      <a:extLst>
                        <a:ext uri="{9D8B030D-6E8A-4147-A177-3AD203B41FA5}">
                          <a16:colId xmlns:a16="http://schemas.microsoft.com/office/drawing/2014/main" val="2080107700"/>
                        </a:ext>
                      </a:extLst>
                    </a:gridCol>
                  </a:tblGrid>
                  <a:tr h="0">
                    <a:tc>
                      <a:txBody>
                        <a:bodyPr/>
                        <a:lstStyle/>
                        <a:p>
                          <a:pPr/>
                          <a14:m>
                            <m:oMathPara xmlns:m="http://schemas.openxmlformats.org/officeDocument/2006/math">
                              <m:oMath>
                                <m:r>
                                  <a:rPr lang="en-US" sz="1200" dirty="0" smtClean="0">
                                    <a:latin typeface="Cambria Math" panose="02040503050406030204" pitchFamily="18" charset="0"/>
                                  </a:rPr>
                                  <m:t>𝑠</m:t>
                                </m:r>
                              </m:oMath>
                            </m:oMathPara>
                          </a14:m>
                          <a:endParaRPr lang="en-US" sz="1200" dirty="0"/>
                        </a:p>
                      </a:txBody>
                      <a:tcPr/>
                    </a:tc>
                    <a:tc>
                      <a:txBody>
                        <a:bodyPr/>
                        <a:lstStyle/>
                        <a:p>
                          <a:r>
                            <a:rPr lang="en-US" sz="1200" b="1" dirty="0"/>
                            <a:t>Action </a:t>
                          </a:r>
                          <a14:m>
                            <m:oMath xmlns:m="http://schemas.openxmlformats.org/officeDocument/2006/math">
                              <m:r>
                                <a:rPr lang="en-US" sz="1200" i="1" smtClean="0">
                                  <a:latin typeface="Cambria Math" panose="02040503050406030204" pitchFamily="18" charset="0"/>
                                </a:rPr>
                                <m:t>𝜋</m:t>
                              </m:r>
                              <m:d>
                                <m:dPr>
                                  <m:ctrlPr>
                                    <a:rPr lang="en-US" sz="1200" i="1">
                                      <a:latin typeface="Cambria Math" panose="02040503050406030204" pitchFamily="18" charset="0"/>
                                    </a:rPr>
                                  </m:ctrlPr>
                                </m:dPr>
                                <m:e>
                                  <m:r>
                                    <a:rPr lang="en-US" sz="1200" i="1">
                                      <a:latin typeface="Cambria Math" panose="02040503050406030204" pitchFamily="18" charset="0"/>
                                    </a:rPr>
                                    <m:t>𝑠</m:t>
                                  </m:r>
                                </m:e>
                              </m:d>
                            </m:oMath>
                          </a14:m>
                          <a:endParaRPr lang="en-US" sz="1200" dirty="0"/>
                        </a:p>
                      </a:txBody>
                      <a:tcPr/>
                    </a:tc>
                    <a:extLst>
                      <a:ext uri="{0D108BD9-81ED-4DB2-BD59-A6C34878D82A}">
                        <a16:rowId xmlns:a16="http://schemas.microsoft.com/office/drawing/2014/main" val="2008869826"/>
                      </a:ext>
                    </a:extLst>
                  </a:tr>
                  <a:tr h="0">
                    <a:tc>
                      <a:txBody>
                        <a:bodyPr/>
                        <a:lstStyle/>
                        <a:p>
                          <a:r>
                            <a:rPr lang="en-US" sz="1100" dirty="0"/>
                            <a:t>(1,1)</a:t>
                          </a:r>
                        </a:p>
                      </a:txBody>
                      <a:tcPr/>
                    </a:tc>
                    <a:tc>
                      <a:txBody>
                        <a:bodyPr/>
                        <a:lstStyle/>
                        <a:p>
                          <a:r>
                            <a:rPr lang="en-US" sz="1100" dirty="0"/>
                            <a:t>up</a:t>
                          </a:r>
                        </a:p>
                      </a:txBody>
                      <a:tcPr/>
                    </a:tc>
                    <a:extLst>
                      <a:ext uri="{0D108BD9-81ED-4DB2-BD59-A6C34878D82A}">
                        <a16:rowId xmlns:a16="http://schemas.microsoft.com/office/drawing/2014/main" val="524805492"/>
                      </a:ext>
                    </a:extLst>
                  </a:tr>
                  <a:tr h="0">
                    <a:tc>
                      <a:txBody>
                        <a:bodyPr/>
                        <a:lstStyle/>
                        <a:p>
                          <a:r>
                            <a:rPr lang="en-US" sz="1200" dirty="0"/>
                            <a:t>…</a:t>
                          </a:r>
                        </a:p>
                      </a:txBody>
                      <a:tcPr/>
                    </a:tc>
                    <a:tc>
                      <a:txBody>
                        <a:bodyPr/>
                        <a:lstStyle/>
                        <a:p>
                          <a:r>
                            <a:rPr lang="en-US" sz="1200" dirty="0"/>
                            <a:t>…</a:t>
                          </a:r>
                        </a:p>
                      </a:txBody>
                      <a:tcPr/>
                    </a:tc>
                    <a:extLst>
                      <a:ext uri="{0D108BD9-81ED-4DB2-BD59-A6C34878D82A}">
                        <a16:rowId xmlns:a16="http://schemas.microsoft.com/office/drawing/2014/main" val="3725035416"/>
                      </a:ext>
                    </a:extLst>
                  </a:tr>
                  <a:tr h="0">
                    <a:tc>
                      <a:txBody>
                        <a:bodyPr/>
                        <a:lstStyle/>
                        <a:p>
                          <a:r>
                            <a:rPr lang="en-US" sz="1200" dirty="0"/>
                            <a:t>…</a:t>
                          </a:r>
                        </a:p>
                      </a:txBody>
                      <a:tcPr/>
                    </a:tc>
                    <a:tc>
                      <a:txBody>
                        <a:bodyPr/>
                        <a:lstStyle/>
                        <a:p>
                          <a:r>
                            <a:rPr lang="en-US" sz="1200" dirty="0"/>
                            <a:t>…</a:t>
                          </a:r>
                        </a:p>
                      </a:txBody>
                      <a:tcPr/>
                    </a:tc>
                    <a:extLst>
                      <a:ext uri="{0D108BD9-81ED-4DB2-BD59-A6C34878D82A}">
                        <a16:rowId xmlns:a16="http://schemas.microsoft.com/office/drawing/2014/main" val="868402448"/>
                      </a:ext>
                    </a:extLst>
                  </a:tr>
                </a:tbl>
              </a:graphicData>
            </a:graphic>
          </p:graphicFrame>
        </mc:Choice>
        <mc:Fallback xmlns="">
          <p:graphicFrame>
            <p:nvGraphicFramePr>
              <p:cNvPr id="17" name="Table 16">
                <a:extLst>
                  <a:ext uri="{FF2B5EF4-FFF2-40B4-BE49-F238E27FC236}">
                    <a16:creationId xmlns:a16="http://schemas.microsoft.com/office/drawing/2014/main" id="{CA774F2A-88BA-B1E8-30E2-DDB62E0F5EF0}"/>
                  </a:ext>
                </a:extLst>
              </p:cNvPr>
              <p:cNvGraphicFramePr>
                <a:graphicFrameLocks noGrp="1"/>
              </p:cNvGraphicFramePr>
              <p:nvPr>
                <p:extLst>
                  <p:ext uri="{D42A27DB-BD31-4B8C-83A1-F6EECF244321}">
                    <p14:modId xmlns:p14="http://schemas.microsoft.com/office/powerpoint/2010/main" val="1352679748"/>
                  </p:ext>
                </p:extLst>
              </p:nvPr>
            </p:nvGraphicFramePr>
            <p:xfrm>
              <a:off x="9171327" y="4994415"/>
              <a:ext cx="1632185" cy="1082040"/>
            </p:xfrm>
            <a:graphic>
              <a:graphicData uri="http://schemas.openxmlformats.org/drawingml/2006/table">
                <a:tbl>
                  <a:tblPr firstRow="1" bandRow="1">
                    <a:tableStyleId>{93296810-A885-4BE3-A3E7-6D5BEEA58F35}</a:tableStyleId>
                  </a:tblPr>
                  <a:tblGrid>
                    <a:gridCol w="512256">
                      <a:extLst>
                        <a:ext uri="{9D8B030D-6E8A-4147-A177-3AD203B41FA5}">
                          <a16:colId xmlns:a16="http://schemas.microsoft.com/office/drawing/2014/main" val="3711460689"/>
                        </a:ext>
                      </a:extLst>
                    </a:gridCol>
                    <a:gridCol w="1119929">
                      <a:extLst>
                        <a:ext uri="{9D8B030D-6E8A-4147-A177-3AD203B41FA5}">
                          <a16:colId xmlns:a16="http://schemas.microsoft.com/office/drawing/2014/main" val="2080107700"/>
                        </a:ext>
                      </a:extLst>
                    </a:gridCol>
                  </a:tblGrid>
                  <a:tr h="274320">
                    <a:tc>
                      <a:txBody>
                        <a:bodyPr/>
                        <a:lstStyle/>
                        <a:p>
                          <a:endParaRPr lang="en-US"/>
                        </a:p>
                      </a:txBody>
                      <a:tcPr>
                        <a:blipFill>
                          <a:blip r:embed="rId5"/>
                          <a:stretch>
                            <a:fillRect l="-1190" t="-2222" r="-225000" b="-313333"/>
                          </a:stretch>
                        </a:blipFill>
                      </a:tcPr>
                    </a:tc>
                    <a:tc>
                      <a:txBody>
                        <a:bodyPr/>
                        <a:lstStyle/>
                        <a:p>
                          <a:endParaRPr lang="en-US"/>
                        </a:p>
                      </a:txBody>
                      <a:tcPr>
                        <a:blipFill>
                          <a:blip r:embed="rId5"/>
                          <a:stretch>
                            <a:fillRect l="-45946" t="-2222" r="-2162" b="-313333"/>
                          </a:stretch>
                        </a:blipFill>
                      </a:tcPr>
                    </a:tc>
                    <a:extLst>
                      <a:ext uri="{0D108BD9-81ED-4DB2-BD59-A6C34878D82A}">
                        <a16:rowId xmlns:a16="http://schemas.microsoft.com/office/drawing/2014/main" val="2008869826"/>
                      </a:ext>
                    </a:extLst>
                  </a:tr>
                  <a:tr h="259080">
                    <a:tc>
                      <a:txBody>
                        <a:bodyPr/>
                        <a:lstStyle/>
                        <a:p>
                          <a:r>
                            <a:rPr lang="en-US" sz="1100" dirty="0"/>
                            <a:t>(1,1)</a:t>
                          </a:r>
                        </a:p>
                      </a:txBody>
                      <a:tcPr/>
                    </a:tc>
                    <a:tc>
                      <a:txBody>
                        <a:bodyPr/>
                        <a:lstStyle/>
                        <a:p>
                          <a:r>
                            <a:rPr lang="en-US" sz="1100" dirty="0"/>
                            <a:t>up</a:t>
                          </a:r>
                        </a:p>
                      </a:txBody>
                      <a:tcPr/>
                    </a:tc>
                    <a:extLst>
                      <a:ext uri="{0D108BD9-81ED-4DB2-BD59-A6C34878D82A}">
                        <a16:rowId xmlns:a16="http://schemas.microsoft.com/office/drawing/2014/main" val="524805492"/>
                      </a:ext>
                    </a:extLst>
                  </a:tr>
                  <a:tr h="274320">
                    <a:tc>
                      <a:txBody>
                        <a:bodyPr/>
                        <a:lstStyle/>
                        <a:p>
                          <a:r>
                            <a:rPr lang="en-US" sz="1200" dirty="0"/>
                            <a:t>…</a:t>
                          </a:r>
                        </a:p>
                      </a:txBody>
                      <a:tcPr/>
                    </a:tc>
                    <a:tc>
                      <a:txBody>
                        <a:bodyPr/>
                        <a:lstStyle/>
                        <a:p>
                          <a:r>
                            <a:rPr lang="en-US" sz="1200" dirty="0"/>
                            <a:t>…</a:t>
                          </a:r>
                        </a:p>
                      </a:txBody>
                      <a:tcPr/>
                    </a:tc>
                    <a:extLst>
                      <a:ext uri="{0D108BD9-81ED-4DB2-BD59-A6C34878D82A}">
                        <a16:rowId xmlns:a16="http://schemas.microsoft.com/office/drawing/2014/main" val="3725035416"/>
                      </a:ext>
                    </a:extLst>
                  </a:tr>
                  <a:tr h="274320">
                    <a:tc>
                      <a:txBody>
                        <a:bodyPr/>
                        <a:lstStyle/>
                        <a:p>
                          <a:r>
                            <a:rPr lang="en-US" sz="1200" dirty="0"/>
                            <a:t>…</a:t>
                          </a:r>
                        </a:p>
                      </a:txBody>
                      <a:tcPr/>
                    </a:tc>
                    <a:tc>
                      <a:txBody>
                        <a:bodyPr/>
                        <a:lstStyle/>
                        <a:p>
                          <a:r>
                            <a:rPr lang="en-US" sz="1200" dirty="0"/>
                            <a:t>…</a:t>
                          </a:r>
                        </a:p>
                      </a:txBody>
                      <a:tcPr/>
                    </a:tc>
                    <a:extLst>
                      <a:ext uri="{0D108BD9-81ED-4DB2-BD59-A6C34878D82A}">
                        <a16:rowId xmlns:a16="http://schemas.microsoft.com/office/drawing/2014/main" val="868402448"/>
                      </a:ext>
                    </a:extLst>
                  </a:tr>
                </a:tbl>
              </a:graphicData>
            </a:graphic>
          </p:graphicFrame>
        </mc:Fallback>
      </mc:AlternateContent>
    </p:spTree>
    <p:extLst>
      <p:ext uri="{BB962C8B-B14F-4D97-AF65-F5344CB8AC3E}">
        <p14:creationId xmlns:p14="http://schemas.microsoft.com/office/powerpoint/2010/main" val="39568588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31C883-1AA7-C2E6-D09D-DAD2AE001FFA}"/>
              </a:ext>
            </a:extLst>
          </p:cNvPr>
          <p:cNvSpPr>
            <a:spLocks noGrp="1"/>
          </p:cNvSpPr>
          <p:nvPr>
            <p:ph type="title"/>
          </p:nvPr>
        </p:nvSpPr>
        <p:spPr/>
        <p:txBody>
          <a:bodyPr/>
          <a:lstStyle/>
          <a:p>
            <a:r>
              <a:rPr lang="en-US" dirty="0"/>
              <a:t>Prediction vs. Control</a:t>
            </a:r>
          </a:p>
        </p:txBody>
      </p:sp>
      <p:sp>
        <p:nvSpPr>
          <p:cNvPr id="3" name="Content Placeholder 2">
            <a:extLst>
              <a:ext uri="{FF2B5EF4-FFF2-40B4-BE49-F238E27FC236}">
                <a16:creationId xmlns:a16="http://schemas.microsoft.com/office/drawing/2014/main" id="{14207924-B986-8A34-1581-62645BDB5130}"/>
              </a:ext>
            </a:extLst>
          </p:cNvPr>
          <p:cNvSpPr>
            <a:spLocks noGrp="1"/>
          </p:cNvSpPr>
          <p:nvPr>
            <p:ph idx="1"/>
          </p:nvPr>
        </p:nvSpPr>
        <p:spPr/>
        <p:txBody>
          <a:bodyPr/>
          <a:lstStyle/>
          <a:p>
            <a:r>
              <a:rPr lang="en-US" dirty="0"/>
              <a:t>In this class, we will always talk about two tasks:</a:t>
            </a:r>
          </a:p>
          <a:p>
            <a:endParaRPr lang="en-US" dirty="0"/>
          </a:p>
          <a:p>
            <a:pPr marL="514350" indent="-514350">
              <a:buFont typeface="+mj-lt"/>
              <a:buAutoNum type="arabicPeriod"/>
            </a:pPr>
            <a:r>
              <a:rPr lang="en-US" b="1" dirty="0"/>
              <a:t>Prediction to evaluate a policy</a:t>
            </a:r>
            <a:r>
              <a:rPr lang="en-US" dirty="0"/>
              <a:t>: Estimate the value function for a given policy. We can use this to compare two policies.</a:t>
            </a:r>
          </a:p>
          <a:p>
            <a:pPr marL="514350" indent="-514350">
              <a:buFont typeface="+mj-lt"/>
              <a:buAutoNum type="arabicPeriod"/>
            </a:pPr>
            <a:endParaRPr lang="en-US" dirty="0"/>
          </a:p>
          <a:p>
            <a:pPr marL="514350" indent="-514350">
              <a:buFont typeface="+mj-lt"/>
              <a:buAutoNum type="arabicPeriod"/>
            </a:pPr>
            <a:r>
              <a:rPr lang="en-US" b="1" dirty="0"/>
              <a:t>Control</a:t>
            </a:r>
            <a:r>
              <a:rPr lang="en-US" dirty="0"/>
              <a:t>: Control the agent’s behavior to find the optimal policy. This requires being able to evaluate policies.</a:t>
            </a:r>
          </a:p>
        </p:txBody>
      </p:sp>
    </p:spTree>
    <p:extLst>
      <p:ext uri="{BB962C8B-B14F-4D97-AF65-F5344CB8AC3E}">
        <p14:creationId xmlns:p14="http://schemas.microsoft.com/office/powerpoint/2010/main" val="39215834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4843C56-7419-CE0C-1D18-6CC80DC10B03}"/>
              </a:ext>
            </a:extLst>
          </p:cNvPr>
          <p:cNvSpPr>
            <a:spLocks noGrp="1"/>
          </p:cNvSpPr>
          <p:nvPr>
            <p:ph type="title"/>
          </p:nvPr>
        </p:nvSpPr>
        <p:spPr/>
        <p:txBody>
          <a:bodyPr/>
          <a:lstStyle/>
          <a:p>
            <a:r>
              <a:rPr lang="en-US" dirty="0"/>
              <a:t>Prediction: Policy Evaluation</a:t>
            </a:r>
          </a:p>
        </p:txBody>
      </p:sp>
      <p:sp>
        <p:nvSpPr>
          <p:cNvPr id="5" name="Text Placeholder 4">
            <a:extLst>
              <a:ext uri="{FF2B5EF4-FFF2-40B4-BE49-F238E27FC236}">
                <a16:creationId xmlns:a16="http://schemas.microsoft.com/office/drawing/2014/main" id="{59250192-9C75-1175-C27F-B882D7E51173}"/>
              </a:ext>
            </a:extLst>
          </p:cNvPr>
          <p:cNvSpPr>
            <a:spLocks noGrp="1"/>
          </p:cNvSpPr>
          <p:nvPr>
            <p:ph type="body" idx="1"/>
          </p:nvPr>
        </p:nvSpPr>
        <p:spPr/>
        <p:txBody>
          <a:bodyPr/>
          <a:lstStyle/>
          <a:p>
            <a:r>
              <a:rPr lang="en-US" dirty="0"/>
              <a:t>What is the value function for a given policy?</a:t>
            </a:r>
          </a:p>
        </p:txBody>
      </p:sp>
    </p:spTree>
    <p:extLst>
      <p:ext uri="{BB962C8B-B14F-4D97-AF65-F5344CB8AC3E}">
        <p14:creationId xmlns:p14="http://schemas.microsoft.com/office/powerpoint/2010/main" val="9557505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descr="Policy Evaluation to Estimate v sub pi">
                <a:extLst>
                  <a:ext uri="{FF2B5EF4-FFF2-40B4-BE49-F238E27FC236}">
                    <a16:creationId xmlns:a16="http://schemas.microsoft.com/office/drawing/2014/main" id="{AA35F1C3-5C0A-145A-FD0E-11A8D3F8EC92}"/>
                  </a:ext>
                </a:extLst>
              </p:cNvPr>
              <p:cNvSpPr>
                <a:spLocks noGrp="1"/>
              </p:cNvSpPr>
              <p:nvPr>
                <p:ph type="title"/>
              </p:nvPr>
            </p:nvSpPr>
            <p:spPr/>
            <p:txBody>
              <a:bodyPr>
                <a:normAutofit/>
              </a:bodyPr>
              <a:lstStyle/>
              <a:p>
                <a:r>
                  <a:rPr lang="en-US" dirty="0"/>
                  <a:t>Policy Evaluation to Estimate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𝜋</m:t>
                        </m:r>
                      </m:sub>
                    </m:sSub>
                  </m:oMath>
                </a14:m>
                <a:endParaRPr lang="en-US" dirty="0"/>
              </a:p>
            </p:txBody>
          </p:sp>
        </mc:Choice>
        <mc:Fallback xmlns="">
          <p:sp>
            <p:nvSpPr>
              <p:cNvPr id="2" name="Title 1" descr="Policy Evaluation to Estimate v sub pi">
                <a:extLst>
                  <a:ext uri="{FF2B5EF4-FFF2-40B4-BE49-F238E27FC236}">
                    <a16:creationId xmlns:a16="http://schemas.microsoft.com/office/drawing/2014/main" id="{AA35F1C3-5C0A-145A-FD0E-11A8D3F8EC92}"/>
                  </a:ext>
                </a:extLst>
              </p:cNvPr>
              <p:cNvSpPr>
                <a:spLocks noGrp="1" noRot="1" noChangeAspect="1" noMove="1" noResize="1" noEditPoints="1" noAdjustHandles="1" noChangeArrowheads="1" noChangeShapeType="1" noTextEdit="1"/>
              </p:cNvSpPr>
              <p:nvPr>
                <p:ph type="title"/>
              </p:nvPr>
            </p:nvSpPr>
            <p:spPr>
              <a:blipFill>
                <a:blip r:embed="rId2"/>
                <a:stretch>
                  <a:fillRect l="-2377" t="-20161" b="-3548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Content Placeholder 2" descr="Goal: Compute the state-value function v sub pi for a given policy pi . Bellman expectation equations give us the recursive relationship:. v sub pi (s) is defined as E sub pi [G sub t | S sub t equals s]; equals E sub pi [R sub t plus 1, plus gamma G sub t plus 1, | S sub t equals s]; equals E sub pi [R sub t plus 1, plus gamma v sub pi (S sub t plus 1) | S sub t equals s]; equals the sum over a, of pi (a given s) the sum over s prime,r, of p (s prime,r | s,a)[r plus gamma v sub pi (s prime)]. with the absolute value of S equations, one for each state s . Guarantees:. Discounted finite MDPs (gamma is less than 1) have a unique v sub pi . Undiscounted finite MDPs (gamma equals 1) have a unique v sub pi if pi guarantees to reach a terminal state. Finite-horizon MDPs have unique v sub pi, to the power k where k is the time step. I.e., value depends on how close we are to the end of the episode. Issue: Recursive relationship between v sub pi (s) and v sub pi (s prime)">
                <a:extLst>
                  <a:ext uri="{FF2B5EF4-FFF2-40B4-BE49-F238E27FC236}">
                    <a16:creationId xmlns:a16="http://schemas.microsoft.com/office/drawing/2014/main" id="{E8D1FCBE-98A8-ED20-FB57-A0D8E461935E}"/>
                  </a:ext>
                </a:extLst>
              </p:cNvPr>
              <p:cNvSpPr>
                <a:spLocks noGrp="1"/>
              </p:cNvSpPr>
              <p:nvPr>
                <p:ph idx="1"/>
              </p:nvPr>
            </p:nvSpPr>
            <p:spPr>
              <a:xfrm>
                <a:off x="838200" y="1397330"/>
                <a:ext cx="10515600" cy="4806329"/>
              </a:xfrm>
            </p:spPr>
            <p:txBody>
              <a:bodyPr>
                <a:normAutofit fontScale="62500" lnSpcReduction="20000"/>
              </a:bodyPr>
              <a:lstStyle/>
              <a:p>
                <a:pPr marL="0" indent="0">
                  <a:buNone/>
                </a:pPr>
                <a:r>
                  <a:rPr lang="en-US" b="1" dirty="0"/>
                  <a:t>Goal</a:t>
                </a:r>
                <a:r>
                  <a:rPr lang="en-US" dirty="0"/>
                  <a:t>: Compute the state-value function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𝜋</m:t>
                        </m:r>
                      </m:sub>
                    </m:sSub>
                  </m:oMath>
                </a14:m>
                <a:r>
                  <a:rPr lang="en-US" dirty="0"/>
                  <a:t> for a given policy </a:t>
                </a:r>
                <a14:m>
                  <m:oMath xmlns:m="http://schemas.openxmlformats.org/officeDocument/2006/math">
                    <m:r>
                      <a:rPr lang="en-US" b="0" i="1" smtClean="0">
                        <a:latin typeface="Cambria Math" panose="02040503050406030204" pitchFamily="18" charset="0"/>
                      </a:rPr>
                      <m:t>𝜋</m:t>
                    </m:r>
                  </m:oMath>
                </a14:m>
                <a:r>
                  <a:rPr lang="en-US" dirty="0"/>
                  <a:t>.</a:t>
                </a:r>
              </a:p>
              <a:p>
                <a:pPr>
                  <a:lnSpc>
                    <a:spcPct val="100000"/>
                  </a:lnSpc>
                </a:pPr>
                <a:endParaRPr lang="en-US" i="1" dirty="0">
                  <a:latin typeface="Cambria Math" panose="02040503050406030204" pitchFamily="18" charset="0"/>
                </a:endParaRPr>
              </a:p>
              <a:p>
                <a:pPr marL="0" indent="0">
                  <a:lnSpc>
                    <a:spcPct val="100000"/>
                  </a:lnSpc>
                  <a:buNone/>
                </a:pPr>
                <a:r>
                  <a:rPr lang="en-US" dirty="0"/>
                  <a:t>Bellman expectation equations give us the recursive relationship:</a:t>
                </a:r>
              </a:p>
              <a:p>
                <a:pPr marL="0" indent="0">
                  <a:lnSpc>
                    <a:spcPct val="100000"/>
                  </a:lnSpc>
                  <a:buNone/>
                </a:pPr>
                <a14:m>
                  <m:oMathPara xmlns:m="http://schemas.openxmlformats.org/officeDocument/2006/math">
                    <m:oMath>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b="0" i="1" smtClean="0">
                              <a:latin typeface="Cambria Math" panose="02040503050406030204" pitchFamily="18" charset="0"/>
                            </a:rPr>
                            <m:t>𝜋</m:t>
                          </m:r>
                        </m:sub>
                      </m:sSub>
                      <m:d>
                        <m:dPr>
                          <m:ctrlPr>
                            <a:rPr lang="en-US" i="1">
                              <a:latin typeface="Cambria Math" panose="02040503050406030204" pitchFamily="18" charset="0"/>
                            </a:rPr>
                          </m:ctrlPr>
                        </m:dPr>
                        <m:e>
                          <m:r>
                            <a:rPr lang="en-US" i="1">
                              <a:latin typeface="Cambria Math" panose="02040503050406030204" pitchFamily="18" charset="0"/>
                            </a:rPr>
                            <m:t>𝑠</m:t>
                          </m:r>
                        </m:e>
                      </m:d>
                      <m:r>
                        <m:rPr>
                          <m:aln/>
                        </m:rPr>
                        <a:rPr lang="en-US" i="1" smtClean="0">
                          <a:latin typeface="Cambria Math" panose="02040503050406030204" pitchFamily="18" charset="0"/>
                        </a:rPr>
                        <m:t>≝</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𝔼</m:t>
                          </m:r>
                        </m:e>
                        <m:sub>
                          <m:r>
                            <a:rPr lang="en-US" i="1">
                              <a:latin typeface="Cambria Math" panose="02040503050406030204" pitchFamily="18" charset="0"/>
                              <a:ea typeface="Cambria Math" panose="02040503050406030204" pitchFamily="18" charset="0"/>
                            </a:rPr>
                            <m:t>𝜋</m:t>
                          </m:r>
                        </m:sub>
                      </m:sSub>
                      <m:d>
                        <m:dPr>
                          <m:begChr m:val="["/>
                          <m:endChr m:val="|"/>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𝐺</m:t>
                              </m:r>
                            </m:e>
                            <m:sub>
                              <m:r>
                                <a:rPr lang="en-US" i="1">
                                  <a:latin typeface="Cambria Math" panose="02040503050406030204" pitchFamily="18" charset="0"/>
                                  <a:ea typeface="Cambria Math" panose="02040503050406030204" pitchFamily="18" charset="0"/>
                                </a:rPr>
                                <m:t>𝑡</m:t>
                              </m:r>
                            </m:sub>
                          </m:sSub>
                        </m:e>
                      </m:d>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𝑆</m:t>
                          </m:r>
                        </m:e>
                        <m:sub>
                          <m:r>
                            <a:rPr lang="en-US" i="1">
                              <a:latin typeface="Cambria Math" panose="02040503050406030204" pitchFamily="18" charset="0"/>
                              <a:ea typeface="Cambria Math" panose="02040503050406030204" pitchFamily="18" charset="0"/>
                            </a:rPr>
                            <m:t>𝑡</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𝑠</m:t>
                      </m:r>
                      <m:r>
                        <a:rPr lang="en-US" i="1">
                          <a:latin typeface="Cambria Math" panose="02040503050406030204" pitchFamily="18" charset="0"/>
                          <a:ea typeface="Cambria Math" panose="02040503050406030204" pitchFamily="18" charset="0"/>
                        </a:rPr>
                        <m:t>]</m:t>
                      </m:r>
                    </m:oMath>
                    <m:oMath>
                      <m:sSub>
                        <m:sSubPr>
                          <m:ctrlPr>
                            <a:rPr lang="en-US" i="1">
                              <a:latin typeface="Cambria Math" panose="02040503050406030204" pitchFamily="18" charset="0"/>
                              <a:ea typeface="Cambria Math" panose="02040503050406030204" pitchFamily="18" charset="0"/>
                            </a:rPr>
                          </m:ctrlPr>
                        </m:sSubPr>
                        <m:e>
                          <m:r>
                            <m:rPr>
                              <m:aln/>
                            </m:rP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𝔼</m:t>
                          </m:r>
                        </m:e>
                        <m:sub>
                          <m:r>
                            <a:rPr lang="en-US" i="1">
                              <a:latin typeface="Cambria Math" panose="02040503050406030204" pitchFamily="18" charset="0"/>
                              <a:ea typeface="Cambria Math" panose="02040503050406030204" pitchFamily="18" charset="0"/>
                            </a:rPr>
                            <m:t>𝜋</m:t>
                          </m:r>
                        </m:sub>
                      </m:sSub>
                      <m:d>
                        <m:dPr>
                          <m:begChr m:val="["/>
                          <m:endChr m:val="|"/>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𝑅</m:t>
                              </m:r>
                            </m:e>
                            <m:sub>
                              <m:r>
                                <a:rPr lang="en-US" i="1">
                                  <a:latin typeface="Cambria Math" panose="02040503050406030204" pitchFamily="18" charset="0"/>
                                  <a:ea typeface="Cambria Math" panose="02040503050406030204" pitchFamily="18" charset="0"/>
                                </a:rPr>
                                <m:t>𝑡</m:t>
                              </m:r>
                              <m:r>
                                <a:rPr lang="en-US" i="1">
                                  <a:latin typeface="Cambria Math" panose="02040503050406030204" pitchFamily="18" charset="0"/>
                                  <a:ea typeface="Cambria Math" panose="02040503050406030204" pitchFamily="18" charset="0"/>
                                </a:rPr>
                                <m:t>+1</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𝛾</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𝐺</m:t>
                              </m:r>
                            </m:e>
                            <m:sub>
                              <m:r>
                                <a:rPr lang="en-US" i="1">
                                  <a:latin typeface="Cambria Math" panose="02040503050406030204" pitchFamily="18" charset="0"/>
                                  <a:ea typeface="Cambria Math" panose="02040503050406030204" pitchFamily="18" charset="0"/>
                                </a:rPr>
                                <m:t>𝑡</m:t>
                              </m:r>
                              <m:r>
                                <a:rPr lang="en-US" i="1">
                                  <a:latin typeface="Cambria Math" panose="02040503050406030204" pitchFamily="18" charset="0"/>
                                  <a:ea typeface="Cambria Math" panose="02040503050406030204" pitchFamily="18" charset="0"/>
                                </a:rPr>
                                <m:t>+1</m:t>
                              </m:r>
                            </m:sub>
                          </m:sSub>
                        </m:e>
                      </m:d>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𝑆</m:t>
                          </m:r>
                        </m:e>
                        <m:sub>
                          <m:r>
                            <a:rPr lang="en-US" i="1">
                              <a:latin typeface="Cambria Math" panose="02040503050406030204" pitchFamily="18" charset="0"/>
                              <a:ea typeface="Cambria Math" panose="02040503050406030204" pitchFamily="18" charset="0"/>
                            </a:rPr>
                            <m:t>𝑡</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𝑠</m:t>
                      </m:r>
                      <m:r>
                        <a:rPr lang="en-US" i="1">
                          <a:latin typeface="Cambria Math" panose="02040503050406030204" pitchFamily="18" charset="0"/>
                          <a:ea typeface="Cambria Math" panose="02040503050406030204" pitchFamily="18" charset="0"/>
                        </a:rPr>
                        <m:t>]</m:t>
                      </m:r>
                    </m:oMath>
                    <m:oMath>
                      <m:sSub>
                        <m:sSubPr>
                          <m:ctrlPr>
                            <a:rPr lang="en-US" i="1">
                              <a:latin typeface="Cambria Math" panose="02040503050406030204" pitchFamily="18" charset="0"/>
                              <a:ea typeface="Cambria Math" panose="02040503050406030204" pitchFamily="18" charset="0"/>
                            </a:rPr>
                          </m:ctrlPr>
                        </m:sSubPr>
                        <m:e>
                          <m:r>
                            <m:rPr>
                              <m:aln/>
                            </m:rP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𝔼</m:t>
                          </m:r>
                        </m:e>
                        <m:sub>
                          <m:r>
                            <a:rPr lang="en-US" i="1">
                              <a:latin typeface="Cambria Math" panose="02040503050406030204" pitchFamily="18" charset="0"/>
                              <a:ea typeface="Cambria Math" panose="02040503050406030204" pitchFamily="18" charset="0"/>
                            </a:rPr>
                            <m:t>𝜋</m:t>
                          </m:r>
                        </m:sub>
                      </m:sSub>
                      <m:d>
                        <m:dPr>
                          <m:begChr m:val="["/>
                          <m:endChr m:val="|"/>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𝑅</m:t>
                              </m:r>
                            </m:e>
                            <m:sub>
                              <m:r>
                                <a:rPr lang="en-US" i="1">
                                  <a:latin typeface="Cambria Math" panose="02040503050406030204" pitchFamily="18" charset="0"/>
                                  <a:ea typeface="Cambria Math" panose="02040503050406030204" pitchFamily="18" charset="0"/>
                                </a:rPr>
                                <m:t>𝑡</m:t>
                              </m:r>
                              <m:r>
                                <a:rPr lang="en-US" i="1">
                                  <a:latin typeface="Cambria Math" panose="02040503050406030204" pitchFamily="18" charset="0"/>
                                  <a:ea typeface="Cambria Math" panose="02040503050406030204" pitchFamily="18" charset="0"/>
                                </a:rPr>
                                <m:t>+1</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𝛾</m:t>
                          </m:r>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𝑣</m:t>
                              </m:r>
                            </m:e>
                            <m:sub>
                              <m:r>
                                <a:rPr lang="en-US" b="0" i="1" smtClean="0">
                                  <a:latin typeface="Cambria Math" panose="02040503050406030204" pitchFamily="18" charset="0"/>
                                  <a:ea typeface="Cambria Math" panose="02040503050406030204" pitchFamily="18" charset="0"/>
                                </a:rPr>
                                <m:t>𝜋</m:t>
                              </m:r>
                            </m:sub>
                          </m:sSub>
                          <m:d>
                            <m:dPr>
                              <m:ctrlPr>
                                <a:rPr lang="en-US" i="1">
                                  <a:latin typeface="Cambria Math" panose="02040503050406030204" pitchFamily="18" charset="0"/>
                                  <a:ea typeface="Cambria Math" panose="02040503050406030204" pitchFamily="18" charset="0"/>
                                </a:rPr>
                              </m:ctrlPr>
                            </m:dPr>
                            <m:e>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𝑆</m:t>
                                  </m:r>
                                </m:e>
                                <m:sub>
                                  <m:r>
                                    <a:rPr lang="en-US" i="1">
                                      <a:latin typeface="Cambria Math" panose="02040503050406030204" pitchFamily="18" charset="0"/>
                                      <a:ea typeface="Cambria Math" panose="02040503050406030204" pitchFamily="18" charset="0"/>
                                    </a:rPr>
                                    <m:t>𝑡</m:t>
                                  </m:r>
                                  <m:r>
                                    <a:rPr lang="en-US" i="1">
                                      <a:latin typeface="Cambria Math" panose="02040503050406030204" pitchFamily="18" charset="0"/>
                                      <a:ea typeface="Cambria Math" panose="02040503050406030204" pitchFamily="18" charset="0"/>
                                    </a:rPr>
                                    <m:t>+1</m:t>
                                  </m:r>
                                </m:sub>
                              </m:sSub>
                            </m:e>
                          </m:d>
                        </m:e>
                      </m:d>
                      <m:sSub>
                        <m:sSubPr>
                          <m:ctrlPr>
                            <a:rPr lang="en-US" i="1">
                              <a:latin typeface="Cambria Math" panose="02040503050406030204" pitchFamily="18" charset="0"/>
                              <a:ea typeface="Cambria Math" panose="02040503050406030204" pitchFamily="18" charset="0"/>
                            </a:rPr>
                          </m:ctrlPr>
                        </m:sSubPr>
                        <m:e>
                          <m:r>
                            <a:rPr lang="en-US" i="1">
                              <a:latin typeface="Cambria Math" panose="02040503050406030204" pitchFamily="18" charset="0"/>
                              <a:ea typeface="Cambria Math" panose="02040503050406030204" pitchFamily="18" charset="0"/>
                            </a:rPr>
                            <m:t>𝑆</m:t>
                          </m:r>
                        </m:e>
                        <m:sub>
                          <m:r>
                            <a:rPr lang="en-US" i="1">
                              <a:latin typeface="Cambria Math" panose="02040503050406030204" pitchFamily="18" charset="0"/>
                              <a:ea typeface="Cambria Math" panose="02040503050406030204" pitchFamily="18" charset="0"/>
                            </a:rPr>
                            <m:t>𝑡</m:t>
                          </m:r>
                        </m:sub>
                      </m:sSub>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𝑠</m:t>
                      </m:r>
                      <m:r>
                        <a:rPr lang="en-US" i="1" smtClean="0">
                          <a:latin typeface="Cambria Math" panose="02040503050406030204" pitchFamily="18" charset="0"/>
                          <a:ea typeface="Cambria Math" panose="02040503050406030204" pitchFamily="18" charset="0"/>
                        </a:rPr>
                        <m:t>]</m:t>
                      </m:r>
                    </m:oMath>
                    <m:oMath>
                      <m:r>
                        <m:rPr>
                          <m:aln/>
                        </m:rPr>
                        <a:rPr lang="en-US" i="1">
                          <a:latin typeface="Cambria Math" panose="02040503050406030204" pitchFamily="18" charset="0"/>
                        </a:rPr>
                        <m:t>=</m:t>
                      </m:r>
                      <m:nary>
                        <m:naryPr>
                          <m:chr m:val="∑"/>
                          <m:supHide m:val="on"/>
                          <m:ctrlPr>
                            <a:rPr lang="en-US" b="0" i="1" smtClean="0">
                              <a:latin typeface="Cambria Math" panose="02040503050406030204" pitchFamily="18" charset="0"/>
                            </a:rPr>
                          </m:ctrlPr>
                        </m:naryPr>
                        <m:sub>
                          <m:r>
                            <a:rPr lang="en-US" b="0" i="1" smtClean="0">
                              <a:latin typeface="Cambria Math" panose="02040503050406030204" pitchFamily="18" charset="0"/>
                            </a:rPr>
                            <m:t>𝑎</m:t>
                          </m:r>
                        </m:sub>
                        <m:sup/>
                        <m:e>
                          <m:r>
                            <a:rPr lang="en-US" b="0" i="1" smtClean="0">
                              <a:latin typeface="Cambria Math" panose="02040503050406030204" pitchFamily="18" charset="0"/>
                            </a:rPr>
                            <m:t>𝜋</m:t>
                          </m:r>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e>
                      </m:nary>
                      <m:nary>
                        <m:naryPr>
                          <m:chr m:val="∑"/>
                          <m:supHide m:val="on"/>
                          <m:ctrlPr>
                            <a:rPr lang="en-US" i="1">
                              <a:latin typeface="Cambria Math" panose="02040503050406030204" pitchFamily="18" charset="0"/>
                            </a:rPr>
                          </m:ctrlPr>
                        </m:naryPr>
                        <m:sub>
                          <m:sSup>
                            <m:sSupPr>
                              <m:ctrlPr>
                                <a:rPr lang="en-US" i="1">
                                  <a:latin typeface="Cambria Math" panose="02040503050406030204" pitchFamily="18" charset="0"/>
                                </a:rPr>
                              </m:ctrlPr>
                            </m:sSupPr>
                            <m:e>
                              <m:r>
                                <a:rPr lang="en-US" i="1">
                                  <a:latin typeface="Cambria Math" panose="02040503050406030204" pitchFamily="18" charset="0"/>
                                </a:rPr>
                                <m:t>𝑠</m:t>
                              </m:r>
                            </m:e>
                            <m:sup>
                              <m:r>
                                <a:rPr lang="en-US" i="1">
                                  <a:latin typeface="Cambria Math" panose="02040503050406030204" pitchFamily="18" charset="0"/>
                                </a:rPr>
                                <m:t>′</m:t>
                              </m:r>
                            </m:sup>
                          </m:sSup>
                          <m:r>
                            <a:rPr lang="en-US" i="1">
                              <a:latin typeface="Cambria Math" panose="02040503050406030204" pitchFamily="18" charset="0"/>
                            </a:rPr>
                            <m:t>,</m:t>
                          </m:r>
                          <m:r>
                            <a:rPr lang="en-US" i="1">
                              <a:latin typeface="Cambria Math" panose="02040503050406030204" pitchFamily="18" charset="0"/>
                            </a:rPr>
                            <m:t>𝑟</m:t>
                          </m:r>
                        </m:sub>
                        <m:sup/>
                        <m:e>
                          <m:r>
                            <a:rPr lang="en-US" i="1">
                              <a:latin typeface="Cambria Math" panose="02040503050406030204" pitchFamily="18" charset="0"/>
                            </a:rPr>
                            <m:t>𝑝</m:t>
                          </m:r>
                          <m:d>
                            <m:dPr>
                              <m:endChr m:val="|"/>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𝑠</m:t>
                                  </m:r>
                                </m:e>
                                <m:sup>
                                  <m:r>
                                    <a:rPr lang="en-US" i="1">
                                      <a:latin typeface="Cambria Math" panose="02040503050406030204" pitchFamily="18" charset="0"/>
                                    </a:rPr>
                                    <m:t>′</m:t>
                                  </m:r>
                                </m:sup>
                              </m:sSup>
                              <m:r>
                                <a:rPr lang="en-US" i="1">
                                  <a:latin typeface="Cambria Math" panose="02040503050406030204" pitchFamily="18" charset="0"/>
                                </a:rPr>
                                <m:t>,</m:t>
                              </m:r>
                              <m:r>
                                <a:rPr lang="en-US" i="1">
                                  <a:latin typeface="Cambria Math" panose="02040503050406030204" pitchFamily="18" charset="0"/>
                                </a:rPr>
                                <m:t>𝑟</m:t>
                              </m:r>
                              <m:r>
                                <a:rPr lang="en-US" i="1">
                                  <a:latin typeface="Cambria Math" panose="02040503050406030204" pitchFamily="18" charset="0"/>
                                </a:rPr>
                                <m:t> </m:t>
                              </m:r>
                            </m:e>
                          </m:d>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𝑎</m:t>
                          </m:r>
                          <m:r>
                            <a:rPr lang="en-US" i="1">
                              <a:latin typeface="Cambria Math" panose="02040503050406030204" pitchFamily="18" charset="0"/>
                            </a:rPr>
                            <m:t>)[</m:t>
                          </m:r>
                          <m:r>
                            <a:rPr lang="en-US" i="1">
                              <a:latin typeface="Cambria Math" panose="02040503050406030204" pitchFamily="18" charset="0"/>
                            </a:rPr>
                            <m:t>𝑟</m:t>
                          </m:r>
                          <m:r>
                            <a:rPr lang="en-US" i="1">
                              <a:latin typeface="Cambria Math" panose="02040503050406030204" pitchFamily="18" charset="0"/>
                            </a:rPr>
                            <m:t>+</m:t>
                          </m:r>
                          <m:r>
                            <a:rPr lang="en-US" i="1">
                              <a:latin typeface="Cambria Math" panose="02040503050406030204" pitchFamily="18" charset="0"/>
                            </a:rPr>
                            <m:t>𝛾</m:t>
                          </m:r>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b="0" i="1" smtClean="0">
                                  <a:latin typeface="Cambria Math" panose="02040503050406030204" pitchFamily="18" charset="0"/>
                                </a:rPr>
                                <m:t>𝜋</m:t>
                              </m:r>
                            </m:sub>
                          </m:sSub>
                          <m:d>
                            <m:dPr>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𝑠</m:t>
                                  </m:r>
                                </m:e>
                                <m:sup>
                                  <m:r>
                                    <a:rPr lang="en-US" i="1">
                                      <a:latin typeface="Cambria Math" panose="02040503050406030204" pitchFamily="18" charset="0"/>
                                    </a:rPr>
                                    <m:t>′</m:t>
                                  </m:r>
                                </m:sup>
                              </m:sSup>
                            </m:e>
                          </m:d>
                          <m:r>
                            <a:rPr lang="en-US" i="1">
                              <a:latin typeface="Cambria Math" panose="02040503050406030204" pitchFamily="18" charset="0"/>
                            </a:rPr>
                            <m:t>]</m:t>
                          </m:r>
                        </m:e>
                      </m:nary>
                    </m:oMath>
                  </m:oMathPara>
                </a14:m>
                <a:endParaRPr lang="en-US" dirty="0"/>
              </a:p>
              <a:p>
                <a:pPr marL="457200" lvl="1" indent="0">
                  <a:buNone/>
                </a:pPr>
                <a:r>
                  <a:rPr lang="en-US" dirty="0"/>
                  <a:t>with </a:t>
                </a:r>
                <a14:m>
                  <m:oMath xmlns:m="http://schemas.openxmlformats.org/officeDocument/2006/math">
                    <m:d>
                      <m:dPr>
                        <m:begChr m:val="|"/>
                        <m:endChr m:val="|"/>
                        <m:ctrlPr>
                          <a:rPr lang="en-US" i="1" smtClean="0">
                            <a:latin typeface="Cambria Math" panose="02040503050406030204" pitchFamily="18" charset="0"/>
                            <a:ea typeface="Cambria Math" panose="02040503050406030204" pitchFamily="18" charset="0"/>
                          </a:rPr>
                        </m:ctrlPr>
                      </m:dPr>
                      <m:e>
                        <m:r>
                          <a:rPr lang="en-US" i="1" smtClean="0">
                            <a:latin typeface="Cambria Math" panose="02040503050406030204" pitchFamily="18" charset="0"/>
                            <a:ea typeface="Cambria Math" panose="02040503050406030204" pitchFamily="18" charset="0"/>
                          </a:rPr>
                          <m:t>𝒮</m:t>
                        </m:r>
                      </m:e>
                    </m:d>
                  </m:oMath>
                </a14:m>
                <a:r>
                  <a:rPr lang="en-US" dirty="0"/>
                  <a:t> equations, one for each state </a:t>
                </a:r>
                <a14:m>
                  <m:oMath xmlns:m="http://schemas.openxmlformats.org/officeDocument/2006/math">
                    <m:r>
                      <a:rPr lang="en-US" i="1" dirty="0" smtClean="0">
                        <a:latin typeface="Cambria Math" panose="02040503050406030204" pitchFamily="18" charset="0"/>
                      </a:rPr>
                      <m:t>𝑠</m:t>
                    </m:r>
                  </m:oMath>
                </a14:m>
                <a:r>
                  <a:rPr lang="en-US" dirty="0"/>
                  <a:t>.</a:t>
                </a:r>
              </a:p>
              <a:p>
                <a:pPr marL="0" indent="0">
                  <a:buNone/>
                </a:pPr>
                <a:endParaRPr lang="en-US" b="1" dirty="0"/>
              </a:p>
              <a:p>
                <a:pPr marL="0" indent="0">
                  <a:buNone/>
                </a:pPr>
                <a:r>
                  <a:rPr lang="en-US" b="1" dirty="0"/>
                  <a:t>Guarantees</a:t>
                </a:r>
                <a:r>
                  <a:rPr lang="en-US" dirty="0"/>
                  <a:t>: </a:t>
                </a:r>
              </a:p>
              <a:p>
                <a:pPr lvl="1"/>
                <a:r>
                  <a:rPr lang="en-US" dirty="0"/>
                  <a:t>Discounted finite MDPs (</a:t>
                </a:r>
                <a14:m>
                  <m:oMath xmlns:m="http://schemas.openxmlformats.org/officeDocument/2006/math">
                    <m:r>
                      <a:rPr lang="en-US" i="1">
                        <a:latin typeface="Cambria Math" panose="02040503050406030204" pitchFamily="18" charset="0"/>
                      </a:rPr>
                      <m:t>𝛾</m:t>
                    </m:r>
                    <m:r>
                      <a:rPr lang="en-US" i="1">
                        <a:latin typeface="Cambria Math" panose="02040503050406030204" pitchFamily="18" charset="0"/>
                      </a:rPr>
                      <m:t>&lt;1 </m:t>
                    </m:r>
                  </m:oMath>
                </a14:m>
                <a:r>
                  <a:rPr lang="en-US" dirty="0"/>
                  <a:t>)  have a unique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𝜋</m:t>
                        </m:r>
                      </m:sub>
                    </m:sSub>
                  </m:oMath>
                </a14:m>
                <a:r>
                  <a:rPr lang="en-US" dirty="0"/>
                  <a:t>.</a:t>
                </a:r>
              </a:p>
              <a:p>
                <a:pPr lvl="1"/>
                <a:r>
                  <a:rPr lang="en-US" dirty="0"/>
                  <a:t>Undiscounted finite MDPs (</a:t>
                </a:r>
                <a14:m>
                  <m:oMath xmlns:m="http://schemas.openxmlformats.org/officeDocument/2006/math">
                    <m:r>
                      <a:rPr lang="en-US" b="0" i="1" smtClean="0">
                        <a:latin typeface="Cambria Math" panose="02040503050406030204" pitchFamily="18" charset="0"/>
                      </a:rPr>
                      <m:t>𝛾</m:t>
                    </m:r>
                    <m:r>
                      <a:rPr lang="en-US" b="0" i="1" smtClean="0">
                        <a:latin typeface="Cambria Math" panose="02040503050406030204" pitchFamily="18" charset="0"/>
                      </a:rPr>
                      <m:t>=1</m:t>
                    </m:r>
                  </m:oMath>
                </a14:m>
                <a:r>
                  <a:rPr lang="en-US" dirty="0"/>
                  <a:t>) have a unique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rPr>
                          <m:t>𝜋</m:t>
                        </m:r>
                      </m:sub>
                    </m:sSub>
                  </m:oMath>
                </a14:m>
                <a:r>
                  <a:rPr lang="en-US" dirty="0"/>
                  <a:t> if </a:t>
                </a:r>
                <a14:m>
                  <m:oMath xmlns:m="http://schemas.openxmlformats.org/officeDocument/2006/math">
                    <m:r>
                      <a:rPr lang="en-US" b="0" i="1" smtClean="0">
                        <a:latin typeface="Cambria Math" panose="02040503050406030204" pitchFamily="18" charset="0"/>
                      </a:rPr>
                      <m:t>𝜋</m:t>
                    </m:r>
                  </m:oMath>
                </a14:m>
                <a:r>
                  <a:rPr lang="en-US" dirty="0"/>
                  <a:t> guarantees to reach a terminal state.</a:t>
                </a:r>
              </a:p>
              <a:p>
                <a:pPr lvl="1"/>
                <a:r>
                  <a:rPr lang="en-US" dirty="0"/>
                  <a:t>Finite-horizon MDPs have unique </a:t>
                </a:r>
                <a14:m>
                  <m:oMath xmlns:m="http://schemas.openxmlformats.org/officeDocument/2006/math">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𝑣</m:t>
                        </m:r>
                      </m:e>
                      <m:sub>
                        <m:r>
                          <a:rPr lang="en-US" b="0" i="1" smtClean="0">
                            <a:latin typeface="Cambria Math" panose="02040503050406030204" pitchFamily="18" charset="0"/>
                          </a:rPr>
                          <m:t>𝜋</m:t>
                        </m:r>
                      </m:sub>
                      <m:sup>
                        <m:r>
                          <a:rPr lang="en-US" b="0" i="1" smtClean="0">
                            <a:latin typeface="Cambria Math" panose="02040503050406030204" pitchFamily="18" charset="0"/>
                          </a:rPr>
                          <m:t>𝑘</m:t>
                        </m:r>
                      </m:sup>
                    </m:sSubSup>
                  </m:oMath>
                </a14:m>
                <a:r>
                  <a:rPr lang="en-US" dirty="0"/>
                  <a:t> where </a:t>
                </a:r>
                <a14:m>
                  <m:oMath xmlns:m="http://schemas.openxmlformats.org/officeDocument/2006/math">
                    <m:r>
                      <a:rPr lang="en-US" b="0" i="1" smtClean="0">
                        <a:latin typeface="Cambria Math" panose="02040503050406030204" pitchFamily="18" charset="0"/>
                      </a:rPr>
                      <m:t>𝑘</m:t>
                    </m:r>
                  </m:oMath>
                </a14:m>
                <a:r>
                  <a:rPr lang="en-US" dirty="0"/>
                  <a:t> is the time step.  I.e. , value depends on how close we are to the end of the episode.</a:t>
                </a:r>
              </a:p>
              <a:p>
                <a:pPr lvl="1"/>
                <a:endParaRPr lang="en-US" dirty="0"/>
              </a:p>
              <a:p>
                <a:pPr marL="0" indent="0">
                  <a:buNone/>
                </a:pPr>
                <a:r>
                  <a:rPr lang="en-US" b="1" dirty="0"/>
                  <a:t>Issue</a:t>
                </a:r>
                <a:r>
                  <a:rPr lang="en-US" dirty="0"/>
                  <a:t>: Recursive relationship between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𝜋</m:t>
                        </m:r>
                      </m:sub>
                    </m:sSub>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oMath>
                </a14:m>
                <a:r>
                  <a:rPr lang="en-US" dirty="0"/>
                  <a:t> and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𝜋</m:t>
                        </m:r>
                      </m:sub>
                    </m:sSub>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𝑠</m:t>
                            </m:r>
                          </m:e>
                          <m:sup>
                            <m:r>
                              <a:rPr lang="en-US" b="0" i="1" smtClean="0">
                                <a:latin typeface="Cambria Math" panose="02040503050406030204" pitchFamily="18" charset="0"/>
                              </a:rPr>
                              <m:t>′</m:t>
                            </m:r>
                          </m:sup>
                        </m:sSup>
                      </m:e>
                    </m:d>
                  </m:oMath>
                </a14:m>
                <a:endParaRPr lang="en-US" dirty="0"/>
              </a:p>
            </p:txBody>
          </p:sp>
        </mc:Choice>
        <mc:Fallback xmlns="">
          <p:sp>
            <p:nvSpPr>
              <p:cNvPr id="3" name="Content Placeholder 2" descr="Goal: Compute the state-value function v sub pi for a given policy pi . Bellman expectation equations give us the recursive relationship:. v sub pi (s) is defined as E sub pi [G sub t | S sub t equals s]; equals E sub pi [R sub t plus 1, plus gamma G sub t plus 1, | S sub t equals s]; equals E sub pi [R sub t plus 1, plus gamma v sub pi (S sub t plus 1) | S sub t equals s]; equals the sum over a, of pi (a given s) the sum over s prime,r, of p (s prime,r | s,a)[r plus gamma v sub pi (s prime)]. with the absolute value of S equations, one for each state s . Guarantees:. Discounted finite MDPs (gamma is less than 1) have a unique v sub pi . Undiscounted finite MDPs (gamma equals 1) have a unique v sub pi if pi guarantees to reach a terminal state. Finite-horizon MDPs have unique v sub pi, to the power k where k is the time step. I.e., value depends on how close we are to the end of the episode. Issue: Recursive relationship between v sub pi (s) and v sub pi (s prime)">
                <a:extLst>
                  <a:ext uri="{FF2B5EF4-FFF2-40B4-BE49-F238E27FC236}">
                    <a16:creationId xmlns:a16="http://schemas.microsoft.com/office/drawing/2014/main" id="{E8D1FCBE-98A8-ED20-FB57-A0D8E461935E}"/>
                  </a:ext>
                </a:extLst>
              </p:cNvPr>
              <p:cNvSpPr>
                <a:spLocks noGrp="1" noRot="1" noChangeAspect="1" noMove="1" noResize="1" noEditPoints="1" noAdjustHandles="1" noChangeArrowheads="1" noChangeShapeType="1" noTextEdit="1"/>
              </p:cNvSpPr>
              <p:nvPr>
                <p:ph idx="1"/>
              </p:nvPr>
            </p:nvSpPr>
            <p:spPr>
              <a:xfrm>
                <a:off x="838200" y="1397330"/>
                <a:ext cx="10515600" cy="4806329"/>
              </a:xfrm>
              <a:blipFill>
                <a:blip r:embed="rId3"/>
                <a:stretch>
                  <a:fillRect l="-522" t="-1901" b="-887"/>
                </a:stretch>
              </a:blipFill>
            </p:spPr>
            <p:txBody>
              <a:bodyPr/>
              <a:lstStyle/>
              <a:p>
                <a:r>
                  <a:rPr lang="en-US">
                    <a:noFill/>
                  </a:rPr>
                  <a:t> </a:t>
                </a:r>
              </a:p>
            </p:txBody>
          </p:sp>
        </mc:Fallback>
      </mc:AlternateContent>
    </p:spTree>
    <p:extLst>
      <p:ext uri="{BB962C8B-B14F-4D97-AF65-F5344CB8AC3E}">
        <p14:creationId xmlns:p14="http://schemas.microsoft.com/office/powerpoint/2010/main" val="8583060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B5D3C2-BFBE-479C-C276-D13BC409FA5E}"/>
              </a:ext>
            </a:extLst>
          </p:cNvPr>
          <p:cNvSpPr>
            <a:spLocks noGrp="1"/>
          </p:cNvSpPr>
          <p:nvPr>
            <p:ph type="title"/>
          </p:nvPr>
        </p:nvSpPr>
        <p:spPr/>
        <p:txBody>
          <a:bodyPr/>
          <a:lstStyle/>
          <a:p>
            <a:r>
              <a:rPr lang="en-US" dirty="0"/>
              <a:t>Solution Option 1: Linear Program</a:t>
            </a:r>
          </a:p>
        </p:txBody>
      </p:sp>
      <p:grpSp>
        <p:nvGrpSpPr>
          <p:cNvPr id="37" name="Group 36" descr="Example: a 2-state MDP solved as a linear program. Minimize V(s1) + V(s2) subject to V(s1) ≥ R1 + gamma (P11 V(s1) + P12 V(s2)) and V(s2) ≥ R2 + gamma (P21 V(s1) + P22 V(s2)), where, following pi, R x is the immediate reward of s x and P x y is the transition probability from s x to s y. A plot titled &quot;LP for 2-State MDP&quot; has axes V(s1) and V(s2) from 0 to 40: the two constraint lines (blue and orange) bound a green feasible region at the upper right, and dashed objective lines move toward the corner where the constraints meet, which is the optimal solution.">
            <a:extLst>
              <a:ext uri="{FF2B5EF4-FFF2-40B4-BE49-F238E27FC236}">
                <a16:creationId xmlns:a16="http://schemas.microsoft.com/office/drawing/2014/main" id="{66CB828E-C25E-8A36-C71B-92344FFDD713}"/>
              </a:ext>
            </a:extLst>
          </p:cNvPr>
          <p:cNvGrpSpPr/>
          <p:nvPr/>
        </p:nvGrpSpPr>
        <p:grpSpPr>
          <a:xfrm>
            <a:off x="8432631" y="1033063"/>
            <a:ext cx="3601758" cy="5577287"/>
            <a:chOff x="8432631" y="1033063"/>
            <a:chExt cx="3601758" cy="5577287"/>
          </a:xfrm>
        </p:grpSpPr>
        <p:grpSp>
          <p:nvGrpSpPr>
            <p:cNvPr id="26" name="Group 25" descr="Diagram with labels: Example: 2-State MDP. Min: V (s sub 1) plus V(s sub 2). S.t.: V (s sub 1) is greater than or equal to R sub 1 plus gamma (P sub 11 V (s sub 1) plus P sub 12 V (s sub 2)). V (s sub 2) is greater than or equal to R sub 2 plus gamma (P sub 21 V (s sub 1) plus P sub 22 V (s sub 2)). Where following pi has. R sub x immediate reward of s sub x. P sub xy transition probability s sub x to s sub y; Feasible Region; Objective; min.">
              <a:extLst>
                <a:ext uri="{FF2B5EF4-FFF2-40B4-BE49-F238E27FC236}">
                  <a16:creationId xmlns:a16="http://schemas.microsoft.com/office/drawing/2014/main" id="{7FA6A3FA-BE98-9EA5-E3AE-89E6FF29DCA5}"/>
                </a:ext>
              </a:extLst>
            </p:cNvPr>
            <p:cNvGrpSpPr/>
            <p:nvPr/>
          </p:nvGrpSpPr>
          <p:grpSpPr>
            <a:xfrm>
              <a:off x="8432631" y="1033063"/>
              <a:ext cx="3601758" cy="5577287"/>
              <a:chOff x="8432631" y="1033063"/>
              <a:chExt cx="3601758" cy="5577287"/>
            </a:xfrm>
          </p:grpSpPr>
          <p:grpSp>
            <p:nvGrpSpPr>
              <p:cNvPr id="10" name="Group 9" descr="Diagram with labels: Example: 2-State MDP. Min: V (s sub 1) plus V(s sub 2). S.t.: V (s sub 1) is greater than or equal to R sub 1 plus gamma (P sub 11 V (s sub 1) plus P sub 12 V (s sub 2)). V (s sub 2) is greater than or equal to R sub 2 plus gamma (P sub 21 V (s sub 1) plus P sub 22 V (s sub 2)). Where following pi has. R sub x immediate reward of s sub x. P sub xy transition probability s sub x to s sub y.">
                <a:extLst>
                  <a:ext uri="{FF2B5EF4-FFF2-40B4-BE49-F238E27FC236}">
                    <a16:creationId xmlns:a16="http://schemas.microsoft.com/office/drawing/2014/main" id="{F9BC0917-F24E-73E3-0ED1-DF374DF98E97}"/>
                  </a:ext>
                </a:extLst>
              </p:cNvPr>
              <p:cNvGrpSpPr/>
              <p:nvPr/>
            </p:nvGrpSpPr>
            <p:grpSpPr>
              <a:xfrm>
                <a:off x="8432631" y="1033063"/>
                <a:ext cx="3601758" cy="5577287"/>
                <a:chOff x="8306382" y="1228507"/>
                <a:chExt cx="3601758" cy="5339815"/>
              </a:xfrm>
            </p:grpSpPr>
            <p:sp>
              <p:nvSpPr>
                <p:cNvPr id="5" name="Rectangle 4">
                  <a:extLst>
                    <a:ext uri="{FF2B5EF4-FFF2-40B4-BE49-F238E27FC236}">
                      <a16:creationId xmlns:a16="http://schemas.microsoft.com/office/drawing/2014/main" id="{94A67163-ACB2-FA39-36EB-A99E9C883C84}"/>
                    </a:ext>
                    <a:ext uri="{C183D7F6-B498-43B3-948B-1728B52AA6E4}">
                      <adec:decorative xmlns:adec="http://schemas.microsoft.com/office/drawing/2017/decorative" val="1"/>
                    </a:ext>
                  </a:extLst>
                </p:cNvPr>
                <p:cNvSpPr/>
                <p:nvPr/>
              </p:nvSpPr>
              <p:spPr>
                <a:xfrm>
                  <a:off x="8306382" y="1228507"/>
                  <a:ext cx="3601758" cy="5339815"/>
                </a:xfrm>
                <a:prstGeom prst="rect">
                  <a:avLst/>
                </a:prstGeom>
                <a:noFill/>
                <a:ln w="9525" cap="flat" cmpd="sng" algn="ctr">
                  <a:solidFill>
                    <a:schemeClr val="accent1"/>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 name="TextBox 3" descr="Example: 2-State MDP. Min: V (s sub 1) plus V(s sub 2). S.t.: V (s sub 1) is greater than or equal to R sub 1 plus gamma (P sub 11 V (s sub 1) plus P sub 12 V (s sub 2)). V (s sub 2) is greater than or equal to R sub 2 plus gamma (P sub 21 V (s sub 1) plus P sub 22 V (s sub 2)). Where following pi has. R sub x immediate reward of s sub x. P sub xy transition probability s sub x to s sub y">
                      <a:extLst>
                        <a:ext uri="{FF2B5EF4-FFF2-40B4-BE49-F238E27FC236}">
                          <a16:creationId xmlns:a16="http://schemas.microsoft.com/office/drawing/2014/main" id="{63B2C840-7C72-C056-FD2A-B1FAC79C9C9D}"/>
                        </a:ext>
                      </a:extLst>
                    </p:cNvPr>
                    <p:cNvSpPr txBox="1"/>
                    <p:nvPr/>
                  </p:nvSpPr>
                  <p:spPr>
                    <a:xfrm>
                      <a:off x="8397124" y="1293020"/>
                      <a:ext cx="3420274" cy="2503827"/>
                    </a:xfrm>
                    <a:prstGeom prst="rect">
                      <a:avLst/>
                    </a:prstGeom>
                    <a:noFill/>
                  </p:spPr>
                  <p:txBody>
                    <a:bodyPr wrap="square" rtlCol="0">
                      <a:spAutoFit/>
                    </a:bodyPr>
                    <a:lstStyle/>
                    <a:p>
                      <a:r>
                        <a:rPr lang="en-US" b="1" dirty="0"/>
                        <a:t>Example: 2-State MDP</a:t>
                      </a:r>
                    </a:p>
                    <a:p>
                      <a:endParaRPr lang="en-US" dirty="0"/>
                    </a:p>
                    <a:p>
                      <a:r>
                        <a:rPr lang="en-US" sz="1400" dirty="0"/>
                        <a:t>Min: </a:t>
                      </a:r>
                      <a14:m>
                        <m:oMath xmlns:m="http://schemas.openxmlformats.org/officeDocument/2006/math">
                          <m:r>
                            <a:rPr lang="en-US" sz="1400" b="0" i="1" smtClean="0">
                              <a:latin typeface="Cambria Math" panose="02040503050406030204" pitchFamily="18" charset="0"/>
                            </a:rPr>
                            <m:t>𝑉</m:t>
                          </m:r>
                          <m:d>
                            <m:dPr>
                              <m:ctrlPr>
                                <a:rPr lang="en-US" sz="1400" b="0" i="1" smtClean="0">
                                  <a:latin typeface="Cambria Math" panose="02040503050406030204" pitchFamily="18" charset="0"/>
                                </a:rPr>
                              </m:ctrlPr>
                            </m:dPr>
                            <m:e>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𝑠</m:t>
                                  </m:r>
                                </m:e>
                                <m:sub>
                                  <m:r>
                                    <a:rPr lang="en-US" sz="1400" b="0" i="1" smtClean="0">
                                      <a:latin typeface="Cambria Math" panose="02040503050406030204" pitchFamily="18" charset="0"/>
                                    </a:rPr>
                                    <m:t>1</m:t>
                                  </m:r>
                                </m:sub>
                              </m:sSub>
                            </m:e>
                          </m:d>
                          <m:r>
                            <a:rPr lang="en-US" sz="1400" b="0" i="1" smtClean="0">
                              <a:latin typeface="Cambria Math" panose="02040503050406030204" pitchFamily="18" charset="0"/>
                            </a:rPr>
                            <m:t>+</m:t>
                          </m:r>
                          <m:r>
                            <a:rPr lang="en-US" sz="1400" b="0" i="1" smtClean="0">
                              <a:latin typeface="Cambria Math" panose="02040503050406030204" pitchFamily="18" charset="0"/>
                            </a:rPr>
                            <m:t>𝑉</m:t>
                          </m:r>
                          <m:r>
                            <a:rPr lang="en-US" sz="1400" b="0" i="1" smtClean="0">
                              <a:latin typeface="Cambria Math" panose="02040503050406030204" pitchFamily="18" charset="0"/>
                            </a:rPr>
                            <m:t>(</m:t>
                          </m:r>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𝑠</m:t>
                              </m:r>
                            </m:e>
                            <m:sub>
                              <m:r>
                                <a:rPr lang="en-US" sz="1400" b="0" i="1" smtClean="0">
                                  <a:latin typeface="Cambria Math" panose="02040503050406030204" pitchFamily="18" charset="0"/>
                                </a:rPr>
                                <m:t>2</m:t>
                              </m:r>
                            </m:sub>
                          </m:sSub>
                          <m:r>
                            <a:rPr lang="en-US" sz="1400" b="0" i="1" smtClean="0">
                              <a:latin typeface="Cambria Math" panose="02040503050406030204" pitchFamily="18" charset="0"/>
                            </a:rPr>
                            <m:t>)</m:t>
                          </m:r>
                        </m:oMath>
                      </a14:m>
                      <a:endParaRPr lang="en-US" sz="1400" dirty="0"/>
                    </a:p>
                    <a:p>
                      <a:r>
                        <a:rPr lang="en-US" sz="1400" dirty="0" err="1"/>
                        <a:t>S.t.</a:t>
                      </a:r>
                      <a:r>
                        <a:rPr lang="en-US" sz="1400" dirty="0"/>
                        <a:t>:  </a:t>
                      </a:r>
                      <a14:m>
                        <m:oMath xmlns:m="http://schemas.openxmlformats.org/officeDocument/2006/math">
                          <m:r>
                            <a:rPr lang="en-US" sz="1400" b="0" i="1" smtClean="0">
                              <a:latin typeface="Cambria Math" panose="02040503050406030204" pitchFamily="18" charset="0"/>
                            </a:rPr>
                            <m:t>𝑉</m:t>
                          </m:r>
                          <m:d>
                            <m:dPr>
                              <m:ctrlPr>
                                <a:rPr lang="en-US" sz="1400" b="0" i="1" smtClean="0">
                                  <a:latin typeface="Cambria Math" panose="02040503050406030204" pitchFamily="18" charset="0"/>
                                </a:rPr>
                              </m:ctrlPr>
                            </m:dPr>
                            <m:e>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𝑠</m:t>
                                  </m:r>
                                </m:e>
                                <m:sub>
                                  <m:r>
                                    <a:rPr lang="en-US" sz="1400" b="0" i="1" smtClean="0">
                                      <a:latin typeface="Cambria Math" panose="02040503050406030204" pitchFamily="18" charset="0"/>
                                    </a:rPr>
                                    <m:t>1</m:t>
                                  </m:r>
                                </m:sub>
                              </m:sSub>
                            </m:e>
                          </m:d>
                          <m:r>
                            <a:rPr lang="en-US" sz="1400" b="0" i="1" smtClean="0">
                              <a:latin typeface="Cambria Math" panose="02040503050406030204" pitchFamily="18" charset="0"/>
                            </a:rPr>
                            <m:t>≥</m:t>
                          </m:r>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𝑅</m:t>
                              </m:r>
                            </m:e>
                            <m:sub>
                              <m:r>
                                <a:rPr lang="en-US" sz="1400" b="0" i="1" smtClean="0">
                                  <a:latin typeface="Cambria Math" panose="02040503050406030204" pitchFamily="18" charset="0"/>
                                </a:rPr>
                                <m:t>1</m:t>
                              </m:r>
                            </m:sub>
                          </m:sSub>
                          <m:r>
                            <a:rPr lang="en-US" sz="1400" b="0" i="1" smtClean="0">
                              <a:latin typeface="Cambria Math" panose="02040503050406030204" pitchFamily="18" charset="0"/>
                            </a:rPr>
                            <m:t>+</m:t>
                          </m:r>
                          <m:r>
                            <a:rPr lang="en-US" sz="1400" b="0" i="1" smtClean="0">
                              <a:latin typeface="Cambria Math" panose="02040503050406030204" pitchFamily="18" charset="0"/>
                            </a:rPr>
                            <m:t>𝛾</m:t>
                          </m:r>
                          <m:d>
                            <m:dPr>
                              <m:ctrlPr>
                                <a:rPr lang="en-US" sz="1400" b="0" i="1" smtClean="0">
                                  <a:latin typeface="Cambria Math" panose="02040503050406030204" pitchFamily="18" charset="0"/>
                                </a:rPr>
                              </m:ctrlPr>
                            </m:dPr>
                            <m:e>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𝑃</m:t>
                                  </m:r>
                                </m:e>
                                <m:sub>
                                  <m:r>
                                    <a:rPr lang="en-US" sz="1400" b="0" i="1" smtClean="0">
                                      <a:latin typeface="Cambria Math" panose="02040503050406030204" pitchFamily="18" charset="0"/>
                                    </a:rPr>
                                    <m:t>11</m:t>
                                  </m:r>
                                </m:sub>
                              </m:sSub>
                              <m:r>
                                <a:rPr lang="en-US" sz="1400" b="0" i="1" smtClean="0">
                                  <a:latin typeface="Cambria Math" panose="02040503050406030204" pitchFamily="18" charset="0"/>
                                </a:rPr>
                                <m:t>𝑉</m:t>
                              </m:r>
                              <m:d>
                                <m:dPr>
                                  <m:ctrlPr>
                                    <a:rPr lang="en-US" sz="1400" b="0" i="1" smtClean="0">
                                      <a:latin typeface="Cambria Math" panose="02040503050406030204" pitchFamily="18" charset="0"/>
                                    </a:rPr>
                                  </m:ctrlPr>
                                </m:dPr>
                                <m:e>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𝑠</m:t>
                                      </m:r>
                                    </m:e>
                                    <m:sub>
                                      <m:r>
                                        <a:rPr lang="en-US" sz="1400" b="0" i="1" smtClean="0">
                                          <a:latin typeface="Cambria Math" panose="02040503050406030204" pitchFamily="18" charset="0"/>
                                        </a:rPr>
                                        <m:t>1</m:t>
                                      </m:r>
                                    </m:sub>
                                  </m:sSub>
                                </m:e>
                              </m:d>
                              <m:r>
                                <a:rPr lang="en-US" sz="1400" b="0" i="1" smtClean="0">
                                  <a:latin typeface="Cambria Math" panose="02040503050406030204" pitchFamily="18" charset="0"/>
                                </a:rPr>
                                <m:t>+</m:t>
                              </m:r>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𝑃</m:t>
                                  </m:r>
                                </m:e>
                                <m:sub>
                                  <m:r>
                                    <a:rPr lang="en-US" sz="1400" b="0" i="1" smtClean="0">
                                      <a:latin typeface="Cambria Math" panose="02040503050406030204" pitchFamily="18" charset="0"/>
                                    </a:rPr>
                                    <m:t>12</m:t>
                                  </m:r>
                                </m:sub>
                              </m:sSub>
                              <m:r>
                                <a:rPr lang="en-US" sz="1400" b="0" i="1" smtClean="0">
                                  <a:latin typeface="Cambria Math" panose="02040503050406030204" pitchFamily="18" charset="0"/>
                                </a:rPr>
                                <m:t>𝑉</m:t>
                              </m:r>
                              <m:d>
                                <m:dPr>
                                  <m:ctrlPr>
                                    <a:rPr lang="en-US" sz="1400" b="0" i="1" smtClean="0">
                                      <a:latin typeface="Cambria Math" panose="02040503050406030204" pitchFamily="18" charset="0"/>
                                    </a:rPr>
                                  </m:ctrlPr>
                                </m:dPr>
                                <m:e>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𝑠</m:t>
                                      </m:r>
                                    </m:e>
                                    <m:sub>
                                      <m:r>
                                        <a:rPr lang="en-US" sz="1400" b="0" i="1" smtClean="0">
                                          <a:latin typeface="Cambria Math" panose="02040503050406030204" pitchFamily="18" charset="0"/>
                                        </a:rPr>
                                        <m:t>2</m:t>
                                      </m:r>
                                    </m:sub>
                                  </m:sSub>
                                </m:e>
                              </m:d>
                            </m:e>
                          </m:d>
                        </m:oMath>
                      </a14:m>
                      <a:endParaRPr lang="en-US" sz="1400" b="0" dirty="0"/>
                    </a:p>
                    <a:p>
                      <a:pPr/>
                      <a14:m>
                        <m:oMathPara xmlns:m="http://schemas.openxmlformats.org/officeDocument/2006/math">
                          <m:oMath>
                            <m:r>
                              <a:rPr lang="en-US" sz="1400" b="0" i="1" smtClean="0">
                                <a:latin typeface="Cambria Math" panose="02040503050406030204" pitchFamily="18" charset="0"/>
                              </a:rPr>
                              <m:t>         </m:t>
                            </m:r>
                            <m:r>
                              <a:rPr lang="en-US" sz="1400" i="1">
                                <a:latin typeface="Cambria Math" panose="02040503050406030204" pitchFamily="18" charset="0"/>
                              </a:rPr>
                              <m:t>𝑉</m:t>
                            </m:r>
                            <m:d>
                              <m:dPr>
                                <m:ctrlPr>
                                  <a:rPr lang="en-US" sz="1400" i="1">
                                    <a:latin typeface="Cambria Math" panose="02040503050406030204" pitchFamily="18" charset="0"/>
                                  </a:rPr>
                                </m:ctrlPr>
                              </m:dPr>
                              <m:e>
                                <m:sSub>
                                  <m:sSubPr>
                                    <m:ctrlPr>
                                      <a:rPr lang="en-US" sz="1400" i="1">
                                        <a:latin typeface="Cambria Math" panose="02040503050406030204" pitchFamily="18" charset="0"/>
                                      </a:rPr>
                                    </m:ctrlPr>
                                  </m:sSubPr>
                                  <m:e>
                                    <m:r>
                                      <a:rPr lang="en-US" sz="1400" i="1">
                                        <a:latin typeface="Cambria Math" panose="02040503050406030204" pitchFamily="18" charset="0"/>
                                      </a:rPr>
                                      <m:t>𝑠</m:t>
                                    </m:r>
                                  </m:e>
                                  <m:sub>
                                    <m:r>
                                      <a:rPr lang="en-US" sz="1400" b="0" i="1" smtClean="0">
                                        <a:latin typeface="Cambria Math" panose="02040503050406030204" pitchFamily="18" charset="0"/>
                                      </a:rPr>
                                      <m:t>2</m:t>
                                    </m:r>
                                  </m:sub>
                                </m:sSub>
                              </m:e>
                            </m:d>
                            <m:r>
                              <a:rPr lang="en-US" sz="1400" b="0" i="1" smtClean="0">
                                <a:latin typeface="Cambria Math" panose="02040503050406030204" pitchFamily="18" charset="0"/>
                              </a:rPr>
                              <m:t>≥</m:t>
                            </m:r>
                            <m:sSub>
                              <m:sSubPr>
                                <m:ctrlPr>
                                  <a:rPr lang="en-US" sz="1400" i="1">
                                    <a:latin typeface="Cambria Math" panose="02040503050406030204" pitchFamily="18" charset="0"/>
                                  </a:rPr>
                                </m:ctrlPr>
                              </m:sSubPr>
                              <m:e>
                                <m:r>
                                  <a:rPr lang="en-US" sz="1400" i="1">
                                    <a:latin typeface="Cambria Math" panose="02040503050406030204" pitchFamily="18" charset="0"/>
                                  </a:rPr>
                                  <m:t>𝑅</m:t>
                                </m:r>
                              </m:e>
                              <m:sub>
                                <m:r>
                                  <a:rPr lang="en-US" sz="1400" b="0" i="1" smtClean="0">
                                    <a:latin typeface="Cambria Math" panose="02040503050406030204" pitchFamily="18" charset="0"/>
                                  </a:rPr>
                                  <m:t>2</m:t>
                                </m:r>
                              </m:sub>
                            </m:sSub>
                            <m:r>
                              <a:rPr lang="en-US" sz="1400" i="1">
                                <a:latin typeface="Cambria Math" panose="02040503050406030204" pitchFamily="18" charset="0"/>
                              </a:rPr>
                              <m:t>+</m:t>
                            </m:r>
                            <m:r>
                              <a:rPr lang="en-US" sz="1400" i="1">
                                <a:latin typeface="Cambria Math" panose="02040503050406030204" pitchFamily="18" charset="0"/>
                              </a:rPr>
                              <m:t>𝛾</m:t>
                            </m:r>
                            <m:d>
                              <m:dPr>
                                <m:ctrlPr>
                                  <a:rPr lang="en-US" sz="1400" i="1">
                                    <a:latin typeface="Cambria Math" panose="02040503050406030204" pitchFamily="18" charset="0"/>
                                  </a:rPr>
                                </m:ctrlPr>
                              </m:dPr>
                              <m:e>
                                <m:sSub>
                                  <m:sSubPr>
                                    <m:ctrlPr>
                                      <a:rPr lang="en-US" sz="1400" i="1">
                                        <a:latin typeface="Cambria Math" panose="02040503050406030204" pitchFamily="18" charset="0"/>
                                      </a:rPr>
                                    </m:ctrlPr>
                                  </m:sSubPr>
                                  <m:e>
                                    <m:r>
                                      <a:rPr lang="en-US" sz="1400" i="1">
                                        <a:latin typeface="Cambria Math" panose="02040503050406030204" pitchFamily="18" charset="0"/>
                                      </a:rPr>
                                      <m:t>𝑃</m:t>
                                    </m:r>
                                  </m:e>
                                  <m:sub>
                                    <m:r>
                                      <a:rPr lang="en-US" sz="1400" b="0" i="1" smtClean="0">
                                        <a:latin typeface="Cambria Math" panose="02040503050406030204" pitchFamily="18" charset="0"/>
                                      </a:rPr>
                                      <m:t>2</m:t>
                                    </m:r>
                                    <m:r>
                                      <a:rPr lang="en-US" sz="1400" i="1">
                                        <a:latin typeface="Cambria Math" panose="02040503050406030204" pitchFamily="18" charset="0"/>
                                      </a:rPr>
                                      <m:t>1</m:t>
                                    </m:r>
                                  </m:sub>
                                </m:sSub>
                                <m:r>
                                  <a:rPr lang="en-US" sz="1400" i="1">
                                    <a:latin typeface="Cambria Math" panose="02040503050406030204" pitchFamily="18" charset="0"/>
                                  </a:rPr>
                                  <m:t>𝑉</m:t>
                                </m:r>
                                <m:d>
                                  <m:dPr>
                                    <m:ctrlPr>
                                      <a:rPr lang="en-US" sz="1400" i="1">
                                        <a:latin typeface="Cambria Math" panose="02040503050406030204" pitchFamily="18" charset="0"/>
                                      </a:rPr>
                                    </m:ctrlPr>
                                  </m:dPr>
                                  <m:e>
                                    <m:sSub>
                                      <m:sSubPr>
                                        <m:ctrlPr>
                                          <a:rPr lang="en-US" sz="1400" i="1">
                                            <a:latin typeface="Cambria Math" panose="02040503050406030204" pitchFamily="18" charset="0"/>
                                          </a:rPr>
                                        </m:ctrlPr>
                                      </m:sSubPr>
                                      <m:e>
                                        <m:r>
                                          <a:rPr lang="en-US" sz="1400" i="1">
                                            <a:latin typeface="Cambria Math" panose="02040503050406030204" pitchFamily="18" charset="0"/>
                                          </a:rPr>
                                          <m:t>𝑠</m:t>
                                        </m:r>
                                      </m:e>
                                      <m:sub>
                                        <m:r>
                                          <a:rPr lang="en-US" sz="1400" i="1">
                                            <a:latin typeface="Cambria Math" panose="02040503050406030204" pitchFamily="18" charset="0"/>
                                          </a:rPr>
                                          <m:t>1</m:t>
                                        </m:r>
                                      </m:sub>
                                    </m:sSub>
                                  </m:e>
                                </m:d>
                                <m:r>
                                  <a:rPr lang="en-US" sz="1400" i="1">
                                    <a:latin typeface="Cambria Math" panose="02040503050406030204" pitchFamily="18" charset="0"/>
                                  </a:rPr>
                                  <m:t>+</m:t>
                                </m:r>
                                <m:sSub>
                                  <m:sSubPr>
                                    <m:ctrlPr>
                                      <a:rPr lang="en-US" sz="1400" i="1">
                                        <a:latin typeface="Cambria Math" panose="02040503050406030204" pitchFamily="18" charset="0"/>
                                      </a:rPr>
                                    </m:ctrlPr>
                                  </m:sSubPr>
                                  <m:e>
                                    <m:r>
                                      <a:rPr lang="en-US" sz="1400" i="1">
                                        <a:latin typeface="Cambria Math" panose="02040503050406030204" pitchFamily="18" charset="0"/>
                                      </a:rPr>
                                      <m:t>𝑃</m:t>
                                    </m:r>
                                  </m:e>
                                  <m:sub>
                                    <m:r>
                                      <a:rPr lang="en-US" sz="1400" b="0" i="1" smtClean="0">
                                        <a:latin typeface="Cambria Math" panose="02040503050406030204" pitchFamily="18" charset="0"/>
                                      </a:rPr>
                                      <m:t>2</m:t>
                                    </m:r>
                                    <m:r>
                                      <a:rPr lang="en-US" sz="1400" i="1">
                                        <a:latin typeface="Cambria Math" panose="02040503050406030204" pitchFamily="18" charset="0"/>
                                      </a:rPr>
                                      <m:t>2</m:t>
                                    </m:r>
                                  </m:sub>
                                </m:sSub>
                                <m:r>
                                  <a:rPr lang="en-US" sz="1400" i="1">
                                    <a:latin typeface="Cambria Math" panose="02040503050406030204" pitchFamily="18" charset="0"/>
                                  </a:rPr>
                                  <m:t>𝑉</m:t>
                                </m:r>
                                <m:d>
                                  <m:dPr>
                                    <m:ctrlPr>
                                      <a:rPr lang="en-US" sz="1400" i="1">
                                        <a:latin typeface="Cambria Math" panose="02040503050406030204" pitchFamily="18" charset="0"/>
                                      </a:rPr>
                                    </m:ctrlPr>
                                  </m:dPr>
                                  <m:e>
                                    <m:sSub>
                                      <m:sSubPr>
                                        <m:ctrlPr>
                                          <a:rPr lang="en-US" sz="1400" i="1">
                                            <a:latin typeface="Cambria Math" panose="02040503050406030204" pitchFamily="18" charset="0"/>
                                          </a:rPr>
                                        </m:ctrlPr>
                                      </m:sSubPr>
                                      <m:e>
                                        <m:r>
                                          <a:rPr lang="en-US" sz="1400" i="1">
                                            <a:latin typeface="Cambria Math" panose="02040503050406030204" pitchFamily="18" charset="0"/>
                                          </a:rPr>
                                          <m:t>𝑠</m:t>
                                        </m:r>
                                      </m:e>
                                      <m:sub>
                                        <m:r>
                                          <a:rPr lang="en-US" sz="1400" i="1">
                                            <a:latin typeface="Cambria Math" panose="02040503050406030204" pitchFamily="18" charset="0"/>
                                          </a:rPr>
                                          <m:t>2</m:t>
                                        </m:r>
                                      </m:sub>
                                    </m:sSub>
                                  </m:e>
                                </m:d>
                              </m:e>
                            </m:d>
                          </m:oMath>
                        </m:oMathPara>
                      </a14:m>
                      <a:endParaRPr lang="en-US" sz="1400" dirty="0"/>
                    </a:p>
                    <a:p>
                      <a:endParaRPr lang="en-US" sz="1400" dirty="0"/>
                    </a:p>
                    <a:p>
                      <a:r>
                        <a:rPr lang="en-US" sz="1400" dirty="0"/>
                        <a:t>Where </a:t>
                      </a:r>
                      <a:r>
                        <a:rPr lang="en-US" sz="1400" b="1" dirty="0"/>
                        <a:t>following </a:t>
                      </a:r>
                      <a14:m>
                        <m:oMath xmlns:m="http://schemas.openxmlformats.org/officeDocument/2006/math">
                          <m:r>
                            <a:rPr lang="en-US" sz="1400" b="1" i="1" smtClean="0">
                              <a:latin typeface="Cambria Math" panose="02040503050406030204" pitchFamily="18" charset="0"/>
                            </a:rPr>
                            <m:t>𝝅</m:t>
                          </m:r>
                        </m:oMath>
                      </a14:m>
                      <a:r>
                        <a:rPr lang="en-US" sz="1400" b="1" dirty="0"/>
                        <a:t> </a:t>
                      </a:r>
                      <a:r>
                        <a:rPr lang="en-US" sz="1400" dirty="0"/>
                        <a:t>has</a:t>
                      </a:r>
                    </a:p>
                    <a:p>
                      <a14:m>
                        <m:oMath xmlns:m="http://schemas.openxmlformats.org/officeDocument/2006/math">
                          <m:sSub>
                            <m:sSubPr>
                              <m:ctrlPr>
                                <a:rPr lang="en-US" sz="1400" i="1" dirty="0">
                                  <a:latin typeface="Cambria Math" panose="02040503050406030204" pitchFamily="18" charset="0"/>
                                </a:rPr>
                              </m:ctrlPr>
                            </m:sSubPr>
                            <m:e>
                              <m:r>
                                <a:rPr lang="en-US" sz="1400" i="1" dirty="0">
                                  <a:latin typeface="Cambria Math" panose="02040503050406030204" pitchFamily="18" charset="0"/>
                                </a:rPr>
                                <m:t>𝑅</m:t>
                              </m:r>
                            </m:e>
                            <m:sub>
                              <m:r>
                                <a:rPr lang="en-US" sz="1400" i="1" dirty="0">
                                  <a:latin typeface="Cambria Math" panose="02040503050406030204" pitchFamily="18" charset="0"/>
                                </a:rPr>
                                <m:t>𝑥</m:t>
                              </m:r>
                            </m:sub>
                          </m:sSub>
                          <m:r>
                            <a:rPr lang="en-US" sz="1400" i="1" dirty="0">
                              <a:latin typeface="Cambria Math" panose="02040503050406030204" pitchFamily="18" charset="0"/>
                            </a:rPr>
                            <m:t> </m:t>
                          </m:r>
                        </m:oMath>
                      </a14:m>
                      <a:r>
                        <a:rPr lang="en-US" sz="1400" dirty="0"/>
                        <a:t>immediate reward of  </a:t>
                      </a:r>
                      <a14:m>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rPr>
                                <m:t>𝑠</m:t>
                              </m:r>
                            </m:e>
                            <m:sub>
                              <m:r>
                                <a:rPr lang="en-US" sz="1400" i="1">
                                  <a:latin typeface="Cambria Math" panose="02040503050406030204" pitchFamily="18" charset="0"/>
                                </a:rPr>
                                <m:t>𝑥</m:t>
                              </m:r>
                            </m:sub>
                          </m:sSub>
                        </m:oMath>
                      </a14:m>
                      <a:endParaRPr lang="en-US" sz="1400" dirty="0"/>
                    </a:p>
                    <a:p>
                      <a:pPr lvl="0"/>
                      <a14:m>
                        <m:oMath xmlns:m="http://schemas.openxmlformats.org/officeDocument/2006/math">
                          <m:sSub>
                            <m:sSubPr>
                              <m:ctrlPr>
                                <a:rPr lang="en-US" sz="1400" i="1" dirty="0">
                                  <a:latin typeface="Cambria Math" panose="02040503050406030204" pitchFamily="18" charset="0"/>
                                </a:rPr>
                              </m:ctrlPr>
                            </m:sSubPr>
                            <m:e>
                              <m:r>
                                <a:rPr lang="en-US" sz="1400" i="1" dirty="0">
                                  <a:latin typeface="Cambria Math" panose="02040503050406030204" pitchFamily="18" charset="0"/>
                                </a:rPr>
                                <m:t>𝑃</m:t>
                              </m:r>
                            </m:e>
                            <m:sub>
                              <m:r>
                                <a:rPr lang="en-US" sz="1400" i="1" dirty="0">
                                  <a:latin typeface="Cambria Math" panose="02040503050406030204" pitchFamily="18" charset="0"/>
                                </a:rPr>
                                <m:t>𝑥𝑦</m:t>
                              </m:r>
                            </m:sub>
                          </m:sSub>
                          <m:r>
                            <a:rPr lang="en-US" sz="1400" i="1" dirty="0">
                              <a:latin typeface="Cambria Math" panose="02040503050406030204" pitchFamily="18" charset="0"/>
                            </a:rPr>
                            <m:t> </m:t>
                          </m:r>
                        </m:oMath>
                      </a14:m>
                      <a:r>
                        <a:rPr lang="en-US" sz="1400" dirty="0"/>
                        <a:t>transition probability </a:t>
                      </a:r>
                      <a14:m>
                        <m:oMath xmlns:m="http://schemas.openxmlformats.org/officeDocument/2006/math">
                          <m:sSub>
                            <m:sSubPr>
                              <m:ctrlPr>
                                <a:rPr lang="en-US" sz="1400" i="1">
                                  <a:latin typeface="Cambria Math" panose="02040503050406030204" pitchFamily="18" charset="0"/>
                                </a:rPr>
                              </m:ctrlPr>
                            </m:sSubPr>
                            <m:e>
                              <m:r>
                                <a:rPr lang="en-US" sz="1400" i="1">
                                  <a:latin typeface="Cambria Math" panose="02040503050406030204" pitchFamily="18" charset="0"/>
                                </a:rPr>
                                <m:t>𝑠</m:t>
                              </m:r>
                            </m:e>
                            <m:sub>
                              <m:r>
                                <a:rPr lang="en-US" sz="1400" i="1">
                                  <a:latin typeface="Cambria Math" panose="02040503050406030204" pitchFamily="18" charset="0"/>
                                </a:rPr>
                                <m:t>𝑥</m:t>
                              </m:r>
                            </m:sub>
                          </m:sSub>
                          <m:r>
                            <a:rPr lang="en-US" sz="1400" i="1">
                              <a:latin typeface="Cambria Math" panose="02040503050406030204" pitchFamily="18" charset="0"/>
                            </a:rPr>
                            <m:t>→</m:t>
                          </m:r>
                          <m:sSub>
                            <m:sSubPr>
                              <m:ctrlPr>
                                <a:rPr lang="en-US" sz="1400" i="1">
                                  <a:latin typeface="Cambria Math" panose="02040503050406030204" pitchFamily="18" charset="0"/>
                                </a:rPr>
                              </m:ctrlPr>
                            </m:sSubPr>
                            <m:e>
                              <m:r>
                                <a:rPr lang="en-US" sz="1400" i="1">
                                  <a:latin typeface="Cambria Math" panose="02040503050406030204" pitchFamily="18" charset="0"/>
                                </a:rPr>
                                <m:t>𝑠</m:t>
                              </m:r>
                            </m:e>
                            <m:sub>
                              <m:r>
                                <a:rPr lang="en-US" sz="1400" i="1">
                                  <a:latin typeface="Cambria Math" panose="02040503050406030204" pitchFamily="18" charset="0"/>
                                </a:rPr>
                                <m:t>𝑦</m:t>
                              </m:r>
                            </m:sub>
                          </m:sSub>
                        </m:oMath>
                      </a14:m>
                      <a:endParaRPr lang="en-US" sz="1400" dirty="0"/>
                    </a:p>
                    <a:p>
                      <a:endParaRPr lang="en-US" dirty="0"/>
                    </a:p>
                  </p:txBody>
                </p:sp>
              </mc:Choice>
              <mc:Fallback xmlns="">
                <p:sp>
                  <p:nvSpPr>
                    <p:cNvPr id="4" name="TextBox 3" descr="Example: 2-State MDP. Min: V (s sub 1) plus V(s sub 2). S.t.: V (s sub 1) is greater than or equal to R sub 1 plus gamma (P sub 11 V (s sub 1) plus P sub 12 V (s sub 2)). V (s sub 2) is greater than or equal to R sub 2 plus gamma (P sub 21 V (s sub 1) plus P sub 22 V (s sub 2)). Where following pi has. R sub x immediate reward of s sub x. P sub xy transition probability s sub x to s sub y">
                      <a:extLst>
                        <a:ext uri="{FF2B5EF4-FFF2-40B4-BE49-F238E27FC236}">
                          <a16:creationId xmlns:a16="http://schemas.microsoft.com/office/drawing/2014/main" id="{63B2C840-7C72-C056-FD2A-B1FAC79C9C9D}"/>
                        </a:ext>
                      </a:extLst>
                    </p:cNvPr>
                    <p:cNvSpPr txBox="1">
                      <a:spLocks noRot="1" noChangeAspect="1" noMove="1" noResize="1" noEditPoints="1" noAdjustHandles="1" noChangeArrowheads="1" noChangeShapeType="1" noTextEdit="1"/>
                    </p:cNvSpPr>
                    <p:nvPr/>
                  </p:nvSpPr>
                  <p:spPr>
                    <a:xfrm>
                      <a:off x="8397124" y="1293020"/>
                      <a:ext cx="3420274" cy="2503827"/>
                    </a:xfrm>
                    <a:prstGeom prst="rect">
                      <a:avLst/>
                    </a:prstGeom>
                    <a:blipFill>
                      <a:blip r:embed="rId3"/>
                      <a:stretch>
                        <a:fillRect l="-1426" t="-1193"/>
                      </a:stretch>
                    </a:blipFill>
                  </p:spPr>
                  <p:txBody>
                    <a:bodyPr/>
                    <a:lstStyle/>
                    <a:p>
                      <a:r>
                        <a:rPr lang="en-US">
                          <a:noFill/>
                        </a:rPr>
                        <a:t> </a:t>
                      </a:r>
                    </a:p>
                  </p:txBody>
                </p:sp>
              </mc:Fallback>
            </mc:AlternateContent>
          </p:grpSp>
          <p:grpSp>
            <p:nvGrpSpPr>
              <p:cNvPr id="24" name="Group 23" descr="Diagram with labels: Feasible Region; Objective; min.">
                <a:extLst>
                  <a:ext uri="{FF2B5EF4-FFF2-40B4-BE49-F238E27FC236}">
                    <a16:creationId xmlns:a16="http://schemas.microsoft.com/office/drawing/2014/main" id="{43C63E96-2747-CB55-7AE6-1C2067C3DB3F}"/>
                  </a:ext>
                </a:extLst>
              </p:cNvPr>
              <p:cNvGrpSpPr/>
              <p:nvPr/>
            </p:nvGrpSpPr>
            <p:grpSpPr>
              <a:xfrm>
                <a:off x="8654193" y="3268857"/>
                <a:ext cx="3001036" cy="3263714"/>
                <a:chOff x="8654193" y="3268857"/>
                <a:chExt cx="3001036" cy="3263714"/>
              </a:xfrm>
            </p:grpSpPr>
            <p:sp>
              <p:nvSpPr>
                <p:cNvPr id="32" name="TextBox 31">
                  <a:extLst>
                    <a:ext uri="{FF2B5EF4-FFF2-40B4-BE49-F238E27FC236}">
                      <a16:creationId xmlns:a16="http://schemas.microsoft.com/office/drawing/2014/main" id="{BC01A90C-3DC2-24D5-7AEB-F176EB14962C}"/>
                    </a:ext>
                  </a:extLst>
                </p:cNvPr>
                <p:cNvSpPr txBox="1"/>
                <p:nvPr/>
              </p:nvSpPr>
              <p:spPr>
                <a:xfrm>
                  <a:off x="10486716" y="6295213"/>
                  <a:ext cx="998161" cy="230832"/>
                </a:xfrm>
                <a:prstGeom prst="rect">
                  <a:avLst/>
                </a:prstGeom>
                <a:noFill/>
              </p:spPr>
              <p:txBody>
                <a:bodyPr wrap="square" rtlCol="0">
                  <a:spAutoFit/>
                </a:bodyPr>
                <a:lstStyle/>
                <a:p>
                  <a:r>
                    <a:rPr lang="en-US" sz="900" dirty="0">
                      <a:solidFill>
                        <a:schemeClr val="tx1">
                          <a:lumMod val="75000"/>
                          <a:lumOff val="25000"/>
                        </a:schemeClr>
                      </a:solidFill>
                    </a:rPr>
                    <a:t>Feasible Region</a:t>
                  </a:r>
                </a:p>
              </p:txBody>
            </p:sp>
            <p:sp>
              <p:nvSpPr>
                <p:cNvPr id="34" name="TextBox 33">
                  <a:extLst>
                    <a:ext uri="{FF2B5EF4-FFF2-40B4-BE49-F238E27FC236}">
                      <a16:creationId xmlns:a16="http://schemas.microsoft.com/office/drawing/2014/main" id="{C0F1D236-089D-C565-6073-49307F48A7FB}"/>
                    </a:ext>
                  </a:extLst>
                </p:cNvPr>
                <p:cNvSpPr txBox="1"/>
                <p:nvPr/>
              </p:nvSpPr>
              <p:spPr>
                <a:xfrm>
                  <a:off x="9235349" y="6301739"/>
                  <a:ext cx="998161" cy="230832"/>
                </a:xfrm>
                <a:prstGeom prst="rect">
                  <a:avLst/>
                </a:prstGeom>
                <a:noFill/>
              </p:spPr>
              <p:txBody>
                <a:bodyPr wrap="square" rtlCol="0">
                  <a:spAutoFit/>
                </a:bodyPr>
                <a:lstStyle/>
                <a:p>
                  <a:r>
                    <a:rPr lang="en-US" sz="900" dirty="0">
                      <a:solidFill>
                        <a:schemeClr val="tx1">
                          <a:lumMod val="75000"/>
                          <a:lumOff val="25000"/>
                        </a:schemeClr>
                      </a:solidFill>
                    </a:rPr>
                    <a:t>Objective</a:t>
                  </a:r>
                </a:p>
              </p:txBody>
            </p:sp>
            <p:cxnSp>
              <p:nvCxnSpPr>
                <p:cNvPr id="36" name="Straight Connector 35">
                  <a:extLst>
                    <a:ext uri="{FF2B5EF4-FFF2-40B4-BE49-F238E27FC236}">
                      <a16:creationId xmlns:a16="http://schemas.microsoft.com/office/drawing/2014/main" id="{3572DEA6-FA04-75F0-4595-BF28C491920D}"/>
                    </a:ext>
                    <a:ext uri="{C183D7F6-B498-43B3-948B-1728B52AA6E4}">
                      <adec:decorative xmlns:adec="http://schemas.microsoft.com/office/drawing/2017/decorative" val="1"/>
                    </a:ext>
                  </a:extLst>
                </p:cNvPr>
                <p:cNvCxnSpPr>
                  <a:cxnSpLocks/>
                </p:cNvCxnSpPr>
                <p:nvPr/>
              </p:nvCxnSpPr>
              <p:spPr>
                <a:xfrm>
                  <a:off x="9003472" y="6432383"/>
                  <a:ext cx="293166" cy="0"/>
                </a:xfrm>
                <a:prstGeom prst="line">
                  <a:avLst/>
                </a:prstGeom>
                <a:ln w="28575">
                  <a:prstDash val="dash"/>
                </a:ln>
              </p:spPr>
              <p:style>
                <a:lnRef idx="2">
                  <a:schemeClr val="dk1"/>
                </a:lnRef>
                <a:fillRef idx="0">
                  <a:schemeClr val="dk1"/>
                </a:fillRef>
                <a:effectRef idx="1">
                  <a:schemeClr val="dk1"/>
                </a:effectRef>
                <a:fontRef idx="minor">
                  <a:schemeClr val="tx1"/>
                </a:fontRef>
              </p:style>
            </p:cxnSp>
            <mc:AlternateContent xmlns:mc="http://schemas.openxmlformats.org/markup-compatibility/2006" xmlns:a14="http://schemas.microsoft.com/office/drawing/2010/main">
              <mc:Choice Requires="a14">
                <p:graphicFrame>
                  <p:nvGraphicFramePr>
                    <p:cNvPr id="8" name="Chart 7" descr="Chart titled LP for 2-State MDP, with V(s1) on the horizontal axis and V(s2) on the vertical axis, both from 0 to 40. A blue line, Constraint V(s1), rises steeply (from about −2.2 at V(s1) = 0). An orange line, Constraint V(s2), rises gently (from about 10.5 at V(s1) = 0). The green feasible region lies above both lines. Dashed black lines show levels of the objective V(s1) + V(s2), and an arrow points down and to the left, toward the optimum, circled in red where the two constraint lines cross, at about V(s1) = 17, V(s2) = 18.6.">
                      <a:extLst>
                        <a:ext uri="{FF2B5EF4-FFF2-40B4-BE49-F238E27FC236}">
                          <a16:creationId xmlns:a16="http://schemas.microsoft.com/office/drawing/2014/main" id="{B7392BAE-65BB-DF7C-4722-CF4BC4EA04F0}"/>
                        </a:ext>
                      </a:extLst>
                    </p:cNvPr>
                    <p:cNvGraphicFramePr>
                      <a:graphicFrameLocks/>
                    </p:cNvGraphicFramePr>
                    <p:nvPr>
                      <p:extLst>
                        <p:ext uri="{D42A27DB-BD31-4B8C-83A1-F6EECF244321}">
                          <p14:modId xmlns:p14="http://schemas.microsoft.com/office/powerpoint/2010/main" val="404206085"/>
                        </p:ext>
                      </p:extLst>
                    </p:nvPr>
                  </p:nvGraphicFramePr>
                  <p:xfrm>
                    <a:off x="8654193" y="3268857"/>
                    <a:ext cx="3001036" cy="3091488"/>
                  </p:xfrm>
                  <a:graphic>
                    <a:graphicData uri="http://schemas.openxmlformats.org/drawingml/2006/chart">
                      <c:chart xmlns:c="http://schemas.openxmlformats.org/drawingml/2006/chart" xmlns:r="http://schemas.openxmlformats.org/officeDocument/2006/relationships" r:id="rId4"/>
                    </a:graphicData>
                  </a:graphic>
                </p:graphicFrame>
              </mc:Choice>
              <mc:Fallback xmlns="">
                <p:graphicFrame>
                  <p:nvGraphicFramePr>
                    <p:cNvPr id="8" name="Chart 7" descr="Chart titled LP for 2-State MDP, with V(s1) on the horizontal axis and V(s2) on the vertical axis, both from 0 to 40. A blue line, Constraint V(s1), rises steeply (from about −2.2 at V(s1) = 0). An orange line, Constraint V(s2), rises gently (from about 10.5 at V(s1) = 0). The green feasible region lies above both lines. Dashed black lines show levels of the objective V(s1) + V(s2), and an arrow points down and to the left, toward the optimum, circled in red where the two constraint lines cross, at about V(s1) = 17, V(s2) = 18.6.">
                      <a:extLst>
                        <a:ext uri="{FF2B5EF4-FFF2-40B4-BE49-F238E27FC236}">
                          <a16:creationId xmlns:a16="http://schemas.microsoft.com/office/drawing/2014/main" id="{B7392BAE-65BB-DF7C-4722-CF4BC4EA04F0}"/>
                        </a:ext>
                      </a:extLst>
                    </p:cNvPr>
                    <p:cNvGraphicFramePr>
                      <a:graphicFrameLocks/>
                    </p:cNvGraphicFramePr>
                    <p:nvPr>
                      <p:extLst>
                        <p:ext uri="{D42A27DB-BD31-4B8C-83A1-F6EECF244321}">
                          <p14:modId xmlns:p14="http://schemas.microsoft.com/office/powerpoint/2010/main" val="404206085"/>
                        </p:ext>
                      </p:extLst>
                    </p:nvPr>
                  </p:nvGraphicFramePr>
                  <p:xfrm>
                    <a:off x="8654193" y="3268857"/>
                    <a:ext cx="3001036" cy="3091488"/>
                  </p:xfrm>
                  <a:graphic>
                    <a:graphicData uri="http://schemas.openxmlformats.org/drawingml/2006/chart">
                      <c:chart xmlns:c="http://schemas.openxmlformats.org/drawingml/2006/chart" r:id="rId5"/>
                    </a:graphicData>
                  </a:graphic>
                </p:graphicFrame>
              </mc:Fallback>
            </mc:AlternateContent>
            <p:sp>
              <p:nvSpPr>
                <p:cNvPr id="31" name="Rectangle 30">
                  <a:extLst>
                    <a:ext uri="{FF2B5EF4-FFF2-40B4-BE49-F238E27FC236}">
                      <a16:creationId xmlns:a16="http://schemas.microsoft.com/office/drawing/2014/main" id="{071AA459-F063-70B6-69BF-3CF753D9DFFD}"/>
                    </a:ext>
                    <a:ext uri="{C183D7F6-B498-43B3-948B-1728B52AA6E4}">
                      <adec:decorative xmlns:adec="http://schemas.microsoft.com/office/drawing/2017/decorative" val="1"/>
                    </a:ext>
                  </a:extLst>
                </p:cNvPr>
                <p:cNvSpPr/>
                <p:nvPr/>
              </p:nvSpPr>
              <p:spPr>
                <a:xfrm>
                  <a:off x="10257589" y="6360345"/>
                  <a:ext cx="272226" cy="104702"/>
                </a:xfrm>
                <a:prstGeom prst="rect">
                  <a:avLst/>
                </a:pr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cxnSp>
              <p:nvCxnSpPr>
                <p:cNvPr id="15" name="Straight Connector 14">
                  <a:extLst>
                    <a:ext uri="{FF2B5EF4-FFF2-40B4-BE49-F238E27FC236}">
                      <a16:creationId xmlns:a16="http://schemas.microsoft.com/office/drawing/2014/main" id="{38276DAE-6A06-26E9-2E13-5AFB76A49DD3}"/>
                    </a:ext>
                    <a:ext uri="{C183D7F6-B498-43B3-948B-1728B52AA6E4}">
                      <adec:decorative xmlns:adec="http://schemas.microsoft.com/office/drawing/2017/decorative" val="1"/>
                    </a:ext>
                  </a:extLst>
                </p:cNvPr>
                <p:cNvCxnSpPr>
                  <a:cxnSpLocks/>
                </p:cNvCxnSpPr>
                <p:nvPr/>
              </p:nvCxnSpPr>
              <p:spPr>
                <a:xfrm>
                  <a:off x="9900027" y="3769528"/>
                  <a:ext cx="1473932" cy="1281387"/>
                </a:xfrm>
                <a:prstGeom prst="line">
                  <a:avLst/>
                </a:prstGeom>
                <a:ln w="19050" cap="flat" cmpd="sng" algn="ctr">
                  <a:solidFill>
                    <a:schemeClr val="dk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cxnSp>
            <p:cxnSp>
              <p:nvCxnSpPr>
                <p:cNvPr id="19" name="Straight Connector 18">
                  <a:extLst>
                    <a:ext uri="{FF2B5EF4-FFF2-40B4-BE49-F238E27FC236}">
                      <a16:creationId xmlns:a16="http://schemas.microsoft.com/office/drawing/2014/main" id="{9A82668A-976C-2EE8-6FF4-EAD852BA2BBB}"/>
                    </a:ext>
                    <a:ext uri="{C183D7F6-B498-43B3-948B-1728B52AA6E4}">
                      <adec:decorative xmlns:adec="http://schemas.microsoft.com/office/drawing/2017/decorative" val="1"/>
                    </a:ext>
                  </a:extLst>
                </p:cNvPr>
                <p:cNvCxnSpPr>
                  <a:cxnSpLocks/>
                </p:cNvCxnSpPr>
                <p:nvPr/>
              </p:nvCxnSpPr>
              <p:spPr>
                <a:xfrm>
                  <a:off x="9389054" y="3941468"/>
                  <a:ext cx="1790251" cy="1533708"/>
                </a:xfrm>
                <a:prstGeom prst="line">
                  <a:avLst/>
                </a:prstGeom>
                <a:ln>
                  <a:prstDash val="dash"/>
                  <a:headEnd type="none" w="med" len="med"/>
                  <a:tailEnd type="none" w="med" len="med"/>
                </a:ln>
              </p:spPr>
              <p:style>
                <a:lnRef idx="2">
                  <a:schemeClr val="dk1"/>
                </a:lnRef>
                <a:fillRef idx="0">
                  <a:schemeClr val="dk1"/>
                </a:fillRef>
                <a:effectRef idx="1">
                  <a:schemeClr val="dk1"/>
                </a:effectRef>
                <a:fontRef idx="minor">
                  <a:schemeClr val="tx1"/>
                </a:fontRef>
              </p:style>
            </p:cxnSp>
            <p:sp>
              <p:nvSpPr>
                <p:cNvPr id="21" name="Arrow: Right 20">
                  <a:extLst>
                    <a:ext uri="{FF2B5EF4-FFF2-40B4-BE49-F238E27FC236}">
                      <a16:creationId xmlns:a16="http://schemas.microsoft.com/office/drawing/2014/main" id="{CAC1E6C5-81C8-462F-C6CA-14B12340386A}"/>
                    </a:ext>
                    <a:ext uri="{C183D7F6-B498-43B3-948B-1728B52AA6E4}">
                      <adec:decorative xmlns:adec="http://schemas.microsoft.com/office/drawing/2017/decorative" val="1"/>
                    </a:ext>
                  </a:extLst>
                </p:cNvPr>
                <p:cNvSpPr/>
                <p:nvPr/>
              </p:nvSpPr>
              <p:spPr>
                <a:xfrm rot="7804867">
                  <a:off x="9926867" y="4163517"/>
                  <a:ext cx="278151" cy="170745"/>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0692D36B-4A13-D527-F0C3-F0E026972B2D}"/>
                    </a:ext>
                    <a:ext uri="{C183D7F6-B498-43B3-948B-1728B52AA6E4}">
                      <adec:decorative xmlns:adec="http://schemas.microsoft.com/office/drawing/2017/decorative" val="1"/>
                    </a:ext>
                  </a:extLst>
                </p:cNvPr>
                <p:cNvSpPr/>
                <p:nvPr/>
              </p:nvSpPr>
              <p:spPr>
                <a:xfrm>
                  <a:off x="10177334" y="4601721"/>
                  <a:ext cx="114303" cy="121118"/>
                </a:xfrm>
                <a:prstGeom prst="ellipse">
                  <a:avLst/>
                </a:prstGeom>
                <a:noFill/>
                <a:ln w="28575" cap="flat" cmpd="sng" algn="ctr">
                  <a:solidFill>
                    <a:srgbClr val="C0000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38" name="TextBox 37">
                  <a:extLst>
                    <a:ext uri="{FF2B5EF4-FFF2-40B4-BE49-F238E27FC236}">
                      <a16:creationId xmlns:a16="http://schemas.microsoft.com/office/drawing/2014/main" id="{FD68DB8D-17B1-E89F-6F92-76DF48399885}"/>
                    </a:ext>
                  </a:extLst>
                </p:cNvPr>
                <p:cNvSpPr txBox="1"/>
                <p:nvPr/>
              </p:nvSpPr>
              <p:spPr>
                <a:xfrm rot="18450171">
                  <a:off x="9743656" y="3980931"/>
                  <a:ext cx="439749" cy="261610"/>
                </a:xfrm>
                <a:prstGeom prst="rect">
                  <a:avLst/>
                </a:prstGeom>
                <a:noFill/>
              </p:spPr>
              <p:txBody>
                <a:bodyPr wrap="square" rtlCol="0">
                  <a:spAutoFit/>
                </a:bodyPr>
                <a:lstStyle/>
                <a:p>
                  <a:r>
                    <a:rPr lang="en-US" sz="1100" dirty="0"/>
                    <a:t>min</a:t>
                  </a:r>
                </a:p>
              </p:txBody>
            </p:sp>
            <p:sp>
              <p:nvSpPr>
                <p:cNvPr id="23" name="Freeform: Shape 22">
                  <a:extLst>
                    <a:ext uri="{FF2B5EF4-FFF2-40B4-BE49-F238E27FC236}">
                      <a16:creationId xmlns:a16="http://schemas.microsoft.com/office/drawing/2014/main" id="{F68730D9-6E46-BC68-7873-6F33997C405E}"/>
                    </a:ext>
                    <a:ext uri="{C183D7F6-B498-43B3-948B-1728B52AA6E4}">
                      <adec:decorative xmlns:adec="http://schemas.microsoft.com/office/drawing/2017/decorative" val="1"/>
                    </a:ext>
                  </a:extLst>
                </p:cNvPr>
                <p:cNvSpPr/>
                <p:nvPr/>
              </p:nvSpPr>
              <p:spPr>
                <a:xfrm>
                  <a:off x="10248089" y="3715966"/>
                  <a:ext cx="1128409" cy="928991"/>
                </a:xfrm>
                <a:custGeom>
                  <a:avLst/>
                  <a:gdLst>
                    <a:gd name="csX0" fmla="*/ 0 w 1128409"/>
                    <a:gd name="csY0" fmla="*/ 928991 h 928991"/>
                    <a:gd name="csX1" fmla="*/ 865762 w 1128409"/>
                    <a:gd name="csY1" fmla="*/ 0 h 928991"/>
                    <a:gd name="csX2" fmla="*/ 1128409 w 1128409"/>
                    <a:gd name="csY2" fmla="*/ 4864 h 928991"/>
                    <a:gd name="csX3" fmla="*/ 1128409 w 1128409"/>
                    <a:gd name="csY3" fmla="*/ 437745 h 928991"/>
                    <a:gd name="csX4" fmla="*/ 0 w 1128409"/>
                    <a:gd name="csY4" fmla="*/ 928991 h 928991"/>
                  </a:gdLst>
                  <a:ahLst/>
                  <a:cxnLst>
                    <a:cxn ang="0">
                      <a:pos x="csX0" y="csY0"/>
                    </a:cxn>
                    <a:cxn ang="0">
                      <a:pos x="csX1" y="csY1"/>
                    </a:cxn>
                    <a:cxn ang="0">
                      <a:pos x="csX2" y="csY2"/>
                    </a:cxn>
                    <a:cxn ang="0">
                      <a:pos x="csX3" y="csY3"/>
                    </a:cxn>
                    <a:cxn ang="0">
                      <a:pos x="csX4" y="csY4"/>
                    </a:cxn>
                  </a:cxnLst>
                  <a:rect l="l" t="t" r="r" b="b"/>
                  <a:pathLst>
                    <a:path w="1128409" h="928991">
                      <a:moveTo>
                        <a:pt x="0" y="928991"/>
                      </a:moveTo>
                      <a:lnTo>
                        <a:pt x="865762" y="0"/>
                      </a:lnTo>
                      <a:lnTo>
                        <a:pt x="1128409" y="4864"/>
                      </a:lnTo>
                      <a:lnTo>
                        <a:pt x="1128409" y="437745"/>
                      </a:lnTo>
                      <a:lnTo>
                        <a:pt x="0" y="928991"/>
                      </a:lnTo>
                      <a:close/>
                    </a:path>
                  </a:pathLst>
                </a:custGeom>
                <a:solidFill>
                  <a:schemeClr val="accent6">
                    <a:alpha val="50000"/>
                  </a:schemeClr>
                </a:solidFill>
                <a:ln>
                  <a:no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a:p>
              </p:txBody>
            </p:sp>
          </p:grpSp>
        </p:grpSp>
        <p:cxnSp>
          <p:nvCxnSpPr>
            <p:cNvPr id="28" name="Straight Connector 27">
              <a:extLst>
                <a:ext uri="{FF2B5EF4-FFF2-40B4-BE49-F238E27FC236}">
                  <a16:creationId xmlns:a16="http://schemas.microsoft.com/office/drawing/2014/main" id="{765F6525-990F-A915-9A5F-E986BB3CBC1B}"/>
                </a:ext>
                <a:ext uri="{C183D7F6-B498-43B3-948B-1728B52AA6E4}">
                  <adec:decorative xmlns:adec="http://schemas.microsoft.com/office/drawing/2017/decorative" val="1"/>
                </a:ext>
              </a:extLst>
            </p:cNvPr>
            <p:cNvCxnSpPr/>
            <p:nvPr/>
          </p:nvCxnSpPr>
          <p:spPr>
            <a:xfrm>
              <a:off x="10243226" y="4669277"/>
              <a:ext cx="0" cy="821987"/>
            </a:xfrm>
            <a:prstGeom prst="line">
              <a:avLst/>
            </a:prstGeom>
            <a:ln>
              <a:solidFill>
                <a:schemeClr val="bg2">
                  <a:lumMod val="75000"/>
                </a:schemeClr>
              </a:solidFill>
              <a:prstDash val="sysDot"/>
            </a:ln>
          </p:spPr>
          <p:style>
            <a:lnRef idx="2">
              <a:schemeClr val="accent1"/>
            </a:lnRef>
            <a:fillRef idx="0">
              <a:schemeClr val="accent1"/>
            </a:fillRef>
            <a:effectRef idx="1">
              <a:schemeClr val="accent1"/>
            </a:effectRef>
            <a:fontRef idx="minor">
              <a:schemeClr val="tx1"/>
            </a:fontRef>
          </p:style>
        </p:cxnSp>
        <p:cxnSp>
          <p:nvCxnSpPr>
            <p:cNvPr id="29" name="Straight Connector 28">
              <a:extLst>
                <a:ext uri="{FF2B5EF4-FFF2-40B4-BE49-F238E27FC236}">
                  <a16:creationId xmlns:a16="http://schemas.microsoft.com/office/drawing/2014/main" id="{23576AD0-3FF1-A836-B5DC-AC6096F7B37C}"/>
                </a:ext>
                <a:ext uri="{C183D7F6-B498-43B3-948B-1728B52AA6E4}">
                  <adec:decorative xmlns:adec="http://schemas.microsoft.com/office/drawing/2017/decorative" val="1"/>
                </a:ext>
              </a:extLst>
            </p:cNvPr>
            <p:cNvCxnSpPr>
              <a:cxnSpLocks/>
            </p:cNvCxnSpPr>
            <p:nvPr/>
          </p:nvCxnSpPr>
          <p:spPr>
            <a:xfrm flipH="1">
              <a:off x="9386515" y="4662280"/>
              <a:ext cx="846995" cy="0"/>
            </a:xfrm>
            <a:prstGeom prst="line">
              <a:avLst/>
            </a:prstGeom>
            <a:ln>
              <a:solidFill>
                <a:schemeClr val="bg2">
                  <a:lumMod val="75000"/>
                </a:schemeClr>
              </a:solidFill>
              <a:prstDash val="sysDot"/>
            </a:ln>
          </p:spPr>
          <p:style>
            <a:lnRef idx="2">
              <a:schemeClr val="accent1"/>
            </a:lnRef>
            <a:fillRef idx="0">
              <a:schemeClr val="accent1"/>
            </a:fillRef>
            <a:effectRef idx="1">
              <a:schemeClr val="accent1"/>
            </a:effectRef>
            <a:fontRef idx="minor">
              <a:schemeClr val="tx1"/>
            </a:fontRef>
          </p:style>
        </p:cxnSp>
      </p:grpSp>
      <mc:AlternateContent xmlns:mc="http://schemas.openxmlformats.org/markup-compatibility/2006" xmlns:a14="http://schemas.microsoft.com/office/drawing/2010/main">
        <mc:Choice Requires="a14">
          <p:sp>
            <p:nvSpPr>
              <p:cNvPr id="3" name="Content Placeholder 2" descr="Solve the system of the absolute value of S linear Bellman Expectation Equations:. v sub pi (s sub 1) equals the sum over a, of pi (a given s sub 1) the sum over s prime,r, of p (s prime,r | s sub 1,a)[r plus gamma v sub pi (s prime)]. v sub pi (s sub 2) equals the sum over a, of pi (a given s sub 2) the sum over s prime,r, of p (s prime,r | s sub 2,a)[r plus gamma v sub pi (s prime)]. dot dot dot for all s in S. Formulate as a linear program. Objective function: min over V, of the sum over s in S, of V(s). Constraints: V (s) is greater than or equal to the sum over s prime,r, of p (s prime,r given s, pi (s)) [r plus gamma V (s prime)] for all s in S. Why this works: The smallest feasible solution will satisfy all Bellman equations. V(s) equals the sum over s prime,r, of p (s prime,r given s, pi (s)) [r plus gamma V (s prime)] for all s in S">
                <a:extLst>
                  <a:ext uri="{FF2B5EF4-FFF2-40B4-BE49-F238E27FC236}">
                    <a16:creationId xmlns:a16="http://schemas.microsoft.com/office/drawing/2014/main" id="{295FDADB-CB9E-5700-5CD5-2A4F4B7D2B20}"/>
                  </a:ext>
                </a:extLst>
              </p:cNvPr>
              <p:cNvSpPr>
                <a:spLocks noGrp="1"/>
              </p:cNvSpPr>
              <p:nvPr>
                <p:ph idx="1"/>
              </p:nvPr>
            </p:nvSpPr>
            <p:spPr>
              <a:xfrm>
                <a:off x="838199" y="1397329"/>
                <a:ext cx="7579865" cy="5170993"/>
              </a:xfrm>
            </p:spPr>
            <p:txBody>
              <a:bodyPr>
                <a:normAutofit fontScale="77500" lnSpcReduction="20000"/>
              </a:bodyPr>
              <a:lstStyle/>
              <a:p>
                <a:pPr marL="0" indent="0">
                  <a:buNone/>
                </a:pPr>
                <a:r>
                  <a:rPr lang="en-US" sz="2400" dirty="0"/>
                  <a:t>Solve the system of </a:t>
                </a:r>
                <a14:m>
                  <m:oMath xmlns:m="http://schemas.openxmlformats.org/officeDocument/2006/math">
                    <m:d>
                      <m:dPr>
                        <m:begChr m:val="|"/>
                        <m:endChr m:val="|"/>
                        <m:ctrlPr>
                          <a:rPr lang="en-US" sz="2400" i="1" smtClean="0">
                            <a:latin typeface="Cambria Math" panose="02040503050406030204" pitchFamily="18" charset="0"/>
                            <a:ea typeface="Cambria Math" panose="02040503050406030204" pitchFamily="18" charset="0"/>
                          </a:rPr>
                        </m:ctrlPr>
                      </m:dPr>
                      <m:e>
                        <m:r>
                          <a:rPr lang="en-US" sz="2400" i="1" smtClean="0">
                            <a:latin typeface="Cambria Math" panose="02040503050406030204" pitchFamily="18" charset="0"/>
                            <a:ea typeface="Cambria Math" panose="02040503050406030204" pitchFamily="18" charset="0"/>
                          </a:rPr>
                          <m:t>𝒮</m:t>
                        </m:r>
                      </m:e>
                    </m:d>
                  </m:oMath>
                </a14:m>
                <a:r>
                  <a:rPr lang="en-US" sz="2400" dirty="0"/>
                  <a:t> linear Bellman Expectation Equations:</a:t>
                </a:r>
                <a:br>
                  <a:rPr lang="en-US" sz="2400" dirty="0"/>
                </a:br>
                <a:endParaRPr lang="en-US" sz="2400" dirty="0"/>
              </a:p>
              <a:p>
                <a:pPr marL="0" indent="0">
                  <a:buNone/>
                </a:pPr>
                <a14:m>
                  <m:oMathPara xmlns:m="http://schemas.openxmlformats.org/officeDocument/2006/math">
                    <m:oMath>
                      <m:sSub>
                        <m:sSubPr>
                          <m:ctrlPr>
                            <a:rPr lang="en-US" sz="2400" i="1">
                              <a:latin typeface="Cambria Math" panose="02040503050406030204" pitchFamily="18" charset="0"/>
                            </a:rPr>
                          </m:ctrlPr>
                        </m:sSubPr>
                        <m:e>
                          <m:r>
                            <a:rPr lang="en-US" sz="2400" i="1">
                              <a:latin typeface="Cambria Math" panose="02040503050406030204" pitchFamily="18" charset="0"/>
                            </a:rPr>
                            <m:t>𝑣</m:t>
                          </m:r>
                        </m:e>
                        <m:sub>
                          <m:r>
                            <a:rPr lang="en-US" sz="2400" i="1">
                              <a:latin typeface="Cambria Math" panose="02040503050406030204" pitchFamily="18" charset="0"/>
                            </a:rPr>
                            <m:t>𝜋</m:t>
                          </m:r>
                        </m:sub>
                      </m:sSub>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𝑠</m:t>
                              </m:r>
                            </m:e>
                            <m:sub>
                              <m:r>
                                <a:rPr lang="en-US" sz="2400" b="0" i="1" smtClean="0">
                                  <a:latin typeface="Cambria Math" panose="02040503050406030204" pitchFamily="18" charset="0"/>
                                </a:rPr>
                                <m:t>1</m:t>
                              </m:r>
                            </m:sub>
                          </m:sSub>
                        </m:e>
                      </m:d>
                      <m:r>
                        <m:rPr>
                          <m:aln/>
                        </m:rPr>
                        <a:rPr lang="en-US" sz="2400" i="1">
                          <a:latin typeface="Cambria Math" panose="02040503050406030204" pitchFamily="18" charset="0"/>
                        </a:rPr>
                        <m:t>=</m:t>
                      </m:r>
                      <m:nary>
                        <m:naryPr>
                          <m:chr m:val="∑"/>
                          <m:supHide m:val="on"/>
                          <m:ctrlPr>
                            <a:rPr lang="en-US" sz="2400" i="1">
                              <a:latin typeface="Cambria Math" panose="02040503050406030204" pitchFamily="18" charset="0"/>
                            </a:rPr>
                          </m:ctrlPr>
                        </m:naryPr>
                        <m:sub>
                          <m:r>
                            <a:rPr lang="en-US" sz="2400" i="1">
                              <a:latin typeface="Cambria Math" panose="02040503050406030204" pitchFamily="18" charset="0"/>
                            </a:rPr>
                            <m:t>𝑎</m:t>
                          </m:r>
                        </m:sub>
                        <m:sup/>
                        <m:e>
                          <m:r>
                            <a:rPr lang="en-US" sz="2400" i="1">
                              <a:latin typeface="Cambria Math" panose="02040503050406030204" pitchFamily="18" charset="0"/>
                            </a:rPr>
                            <m:t>𝜋</m:t>
                          </m:r>
                          <m:r>
                            <a:rPr lang="en-US" sz="2400" i="1">
                              <a:latin typeface="Cambria Math" panose="02040503050406030204" pitchFamily="18" charset="0"/>
                            </a:rPr>
                            <m:t>(</m:t>
                          </m:r>
                          <m:r>
                            <a:rPr lang="en-US" sz="2400" i="1">
                              <a:latin typeface="Cambria Math" panose="02040503050406030204" pitchFamily="18" charset="0"/>
                            </a:rPr>
                            <m:t>𝑎</m:t>
                          </m:r>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𝑠</m:t>
                              </m:r>
                            </m:e>
                            <m:sub>
                              <m:r>
                                <a:rPr lang="en-US" sz="2400" b="0" i="1" smtClean="0">
                                  <a:latin typeface="Cambria Math" panose="02040503050406030204" pitchFamily="18" charset="0"/>
                                </a:rPr>
                                <m:t>1</m:t>
                              </m:r>
                            </m:sub>
                          </m:sSub>
                          <m:r>
                            <a:rPr lang="en-US" sz="2400" i="1">
                              <a:latin typeface="Cambria Math" panose="02040503050406030204" pitchFamily="18" charset="0"/>
                            </a:rPr>
                            <m:t>)</m:t>
                          </m:r>
                        </m:e>
                      </m:nary>
                      <m:nary>
                        <m:naryPr>
                          <m:chr m:val="∑"/>
                          <m:supHide m:val="on"/>
                          <m:ctrlPr>
                            <a:rPr lang="en-US" sz="2400" i="1">
                              <a:latin typeface="Cambria Math" panose="02040503050406030204" pitchFamily="18" charset="0"/>
                            </a:rPr>
                          </m:ctrlPr>
                        </m:naryPr>
                        <m:sub>
                          <m:sSup>
                            <m:sSupPr>
                              <m:ctrlPr>
                                <a:rPr lang="en-US" sz="2400" i="1">
                                  <a:latin typeface="Cambria Math" panose="02040503050406030204" pitchFamily="18" charset="0"/>
                                </a:rPr>
                              </m:ctrlPr>
                            </m:sSupPr>
                            <m:e>
                              <m:r>
                                <a:rPr lang="en-US" sz="2400" i="1">
                                  <a:latin typeface="Cambria Math" panose="02040503050406030204" pitchFamily="18" charset="0"/>
                                </a:rPr>
                                <m:t>𝑠</m:t>
                              </m:r>
                            </m:e>
                            <m:sup>
                              <m:r>
                                <a:rPr lang="en-US" sz="2400" i="1">
                                  <a:latin typeface="Cambria Math" panose="02040503050406030204" pitchFamily="18" charset="0"/>
                                </a:rPr>
                                <m:t>′</m:t>
                              </m:r>
                            </m:sup>
                          </m:sSup>
                          <m:r>
                            <a:rPr lang="en-US" sz="2400" i="1">
                              <a:latin typeface="Cambria Math" panose="02040503050406030204" pitchFamily="18" charset="0"/>
                            </a:rPr>
                            <m:t>,</m:t>
                          </m:r>
                          <m:r>
                            <a:rPr lang="en-US" sz="2400" i="1">
                              <a:latin typeface="Cambria Math" panose="02040503050406030204" pitchFamily="18" charset="0"/>
                            </a:rPr>
                            <m:t>𝑟</m:t>
                          </m:r>
                        </m:sub>
                        <m:sup/>
                        <m:e>
                          <m:r>
                            <a:rPr lang="en-US" sz="2400" i="1">
                              <a:latin typeface="Cambria Math" panose="02040503050406030204" pitchFamily="18" charset="0"/>
                            </a:rPr>
                            <m:t>𝑝</m:t>
                          </m:r>
                          <m:d>
                            <m:dPr>
                              <m:endChr m:val="|"/>
                              <m:ctrlPr>
                                <a:rPr lang="en-US" sz="2400" i="1">
                                  <a:latin typeface="Cambria Math" panose="02040503050406030204" pitchFamily="18" charset="0"/>
                                </a:rPr>
                              </m:ctrlPr>
                            </m:dPr>
                            <m:e>
                              <m:sSup>
                                <m:sSupPr>
                                  <m:ctrlPr>
                                    <a:rPr lang="en-US" sz="2400" i="1">
                                      <a:latin typeface="Cambria Math" panose="02040503050406030204" pitchFamily="18" charset="0"/>
                                    </a:rPr>
                                  </m:ctrlPr>
                                </m:sSupPr>
                                <m:e>
                                  <m:r>
                                    <a:rPr lang="en-US" sz="2400" i="1">
                                      <a:latin typeface="Cambria Math" panose="02040503050406030204" pitchFamily="18" charset="0"/>
                                    </a:rPr>
                                    <m:t>𝑠</m:t>
                                  </m:r>
                                </m:e>
                                <m:sup>
                                  <m:r>
                                    <a:rPr lang="en-US" sz="2400" i="1">
                                      <a:latin typeface="Cambria Math" panose="02040503050406030204" pitchFamily="18" charset="0"/>
                                    </a:rPr>
                                    <m:t>′</m:t>
                                  </m:r>
                                </m:sup>
                              </m:sSup>
                              <m:r>
                                <a:rPr lang="en-US" sz="2400" i="1">
                                  <a:latin typeface="Cambria Math" panose="02040503050406030204" pitchFamily="18" charset="0"/>
                                </a:rPr>
                                <m:t>,</m:t>
                              </m:r>
                              <m:r>
                                <a:rPr lang="en-US" sz="2400" i="1">
                                  <a:latin typeface="Cambria Math" panose="02040503050406030204" pitchFamily="18" charset="0"/>
                                </a:rPr>
                                <m:t>𝑟</m:t>
                              </m:r>
                              <m:r>
                                <a:rPr lang="en-US" sz="2400" i="1">
                                  <a:latin typeface="Cambria Math" panose="02040503050406030204" pitchFamily="18" charset="0"/>
                                </a:rPr>
                                <m:t> </m:t>
                              </m:r>
                            </m:e>
                          </m:d>
                          <m:sSub>
                            <m:sSubPr>
                              <m:ctrlPr>
                                <a:rPr lang="en-US" sz="2400" i="1">
                                  <a:latin typeface="Cambria Math" panose="02040503050406030204" pitchFamily="18" charset="0"/>
                                </a:rPr>
                              </m:ctrlPr>
                            </m:sSubPr>
                            <m:e>
                              <m:r>
                                <a:rPr lang="en-US" sz="2400" i="1">
                                  <a:latin typeface="Cambria Math" panose="02040503050406030204" pitchFamily="18" charset="0"/>
                                </a:rPr>
                                <m:t>𝑠</m:t>
                              </m:r>
                            </m:e>
                            <m:sub>
                              <m:r>
                                <a:rPr lang="en-US" sz="2400" b="0" i="1" smtClean="0">
                                  <a:latin typeface="Cambria Math" panose="02040503050406030204" pitchFamily="18" charset="0"/>
                                </a:rPr>
                                <m:t>1</m:t>
                              </m:r>
                            </m:sub>
                          </m:sSub>
                          <m:r>
                            <a:rPr lang="en-US" sz="2400" i="1">
                              <a:latin typeface="Cambria Math" panose="02040503050406030204" pitchFamily="18" charset="0"/>
                            </a:rPr>
                            <m:t>,</m:t>
                          </m:r>
                          <m:r>
                            <a:rPr lang="en-US" sz="2400" i="1">
                              <a:latin typeface="Cambria Math" panose="02040503050406030204" pitchFamily="18" charset="0"/>
                            </a:rPr>
                            <m:t>𝑎</m:t>
                          </m:r>
                          <m:r>
                            <a:rPr lang="en-US" sz="2400" i="1">
                              <a:latin typeface="Cambria Math" panose="02040503050406030204" pitchFamily="18" charset="0"/>
                            </a:rPr>
                            <m:t>)[</m:t>
                          </m:r>
                          <m:r>
                            <a:rPr lang="en-US" sz="2400" i="1">
                              <a:latin typeface="Cambria Math" panose="02040503050406030204" pitchFamily="18" charset="0"/>
                            </a:rPr>
                            <m:t>𝑟</m:t>
                          </m:r>
                          <m:r>
                            <a:rPr lang="en-US" sz="2400" i="1">
                              <a:latin typeface="Cambria Math" panose="02040503050406030204" pitchFamily="18" charset="0"/>
                            </a:rPr>
                            <m:t>+</m:t>
                          </m:r>
                          <m:r>
                            <a:rPr lang="en-US" sz="2400" i="1">
                              <a:latin typeface="Cambria Math" panose="02040503050406030204" pitchFamily="18" charset="0"/>
                            </a:rPr>
                            <m:t>𝛾</m:t>
                          </m:r>
                          <m:sSub>
                            <m:sSubPr>
                              <m:ctrlPr>
                                <a:rPr lang="en-US" sz="2400" i="1">
                                  <a:latin typeface="Cambria Math" panose="02040503050406030204" pitchFamily="18" charset="0"/>
                                </a:rPr>
                              </m:ctrlPr>
                            </m:sSubPr>
                            <m:e>
                              <m:r>
                                <a:rPr lang="en-US" sz="2400" i="1">
                                  <a:latin typeface="Cambria Math" panose="02040503050406030204" pitchFamily="18" charset="0"/>
                                </a:rPr>
                                <m:t>𝑣</m:t>
                              </m:r>
                            </m:e>
                            <m:sub>
                              <m:r>
                                <a:rPr lang="en-US" sz="2400" i="1">
                                  <a:latin typeface="Cambria Math" panose="02040503050406030204" pitchFamily="18" charset="0"/>
                                </a:rPr>
                                <m:t>𝜋</m:t>
                              </m:r>
                            </m:sub>
                          </m:sSub>
                          <m:d>
                            <m:dPr>
                              <m:ctrlPr>
                                <a:rPr lang="en-US" sz="2400" i="1">
                                  <a:latin typeface="Cambria Math" panose="02040503050406030204" pitchFamily="18" charset="0"/>
                                </a:rPr>
                              </m:ctrlPr>
                            </m:dPr>
                            <m:e>
                              <m:sSup>
                                <m:sSupPr>
                                  <m:ctrlPr>
                                    <a:rPr lang="en-US" sz="2400" i="1">
                                      <a:latin typeface="Cambria Math" panose="02040503050406030204" pitchFamily="18" charset="0"/>
                                    </a:rPr>
                                  </m:ctrlPr>
                                </m:sSupPr>
                                <m:e>
                                  <m:r>
                                    <a:rPr lang="en-US" sz="2400" i="1">
                                      <a:latin typeface="Cambria Math" panose="02040503050406030204" pitchFamily="18" charset="0"/>
                                    </a:rPr>
                                    <m:t>𝑠</m:t>
                                  </m:r>
                                </m:e>
                                <m:sup>
                                  <m:r>
                                    <a:rPr lang="en-US" sz="2400" i="1">
                                      <a:latin typeface="Cambria Math" panose="02040503050406030204" pitchFamily="18" charset="0"/>
                                    </a:rPr>
                                    <m:t>′</m:t>
                                  </m:r>
                                </m:sup>
                              </m:sSup>
                            </m:e>
                          </m:d>
                          <m:r>
                            <a:rPr lang="en-US" sz="2400" i="1">
                              <a:latin typeface="Cambria Math" panose="02040503050406030204" pitchFamily="18" charset="0"/>
                            </a:rPr>
                            <m:t>]</m:t>
                          </m:r>
                        </m:e>
                      </m:nary>
                    </m:oMath>
                  </m:oMathPara>
                </a14:m>
                <a:endParaRPr lang="en-US" sz="2400" dirty="0"/>
              </a:p>
              <a:p>
                <a:pPr marL="0" indent="0">
                  <a:buNone/>
                </a:pPr>
                <a14:m>
                  <m:oMathPara xmlns:m="http://schemas.openxmlformats.org/officeDocument/2006/math">
                    <m:oMath>
                      <m:sSub>
                        <m:sSubPr>
                          <m:ctrlPr>
                            <a:rPr lang="en-US" sz="2400" i="1">
                              <a:latin typeface="Cambria Math" panose="02040503050406030204" pitchFamily="18" charset="0"/>
                            </a:rPr>
                          </m:ctrlPr>
                        </m:sSubPr>
                        <m:e>
                          <m:r>
                            <a:rPr lang="en-US" sz="2400" i="1">
                              <a:latin typeface="Cambria Math" panose="02040503050406030204" pitchFamily="18" charset="0"/>
                            </a:rPr>
                            <m:t>𝑣</m:t>
                          </m:r>
                        </m:e>
                        <m:sub>
                          <m:r>
                            <a:rPr lang="en-US" sz="2400" i="1">
                              <a:latin typeface="Cambria Math" panose="02040503050406030204" pitchFamily="18" charset="0"/>
                            </a:rPr>
                            <m:t>𝜋</m:t>
                          </m:r>
                        </m:sub>
                      </m:sSub>
                      <m:d>
                        <m:dPr>
                          <m:ctrlPr>
                            <a:rPr lang="en-US" sz="2400" i="1">
                              <a:latin typeface="Cambria Math" panose="02040503050406030204" pitchFamily="18" charset="0"/>
                            </a:rPr>
                          </m:ctrlPr>
                        </m:dPr>
                        <m:e>
                          <m:sSub>
                            <m:sSubPr>
                              <m:ctrlPr>
                                <a:rPr lang="en-US" sz="2400" i="1">
                                  <a:latin typeface="Cambria Math" panose="02040503050406030204" pitchFamily="18" charset="0"/>
                                </a:rPr>
                              </m:ctrlPr>
                            </m:sSubPr>
                            <m:e>
                              <m:r>
                                <a:rPr lang="en-US" sz="2400" i="1">
                                  <a:latin typeface="Cambria Math" panose="02040503050406030204" pitchFamily="18" charset="0"/>
                                </a:rPr>
                                <m:t>𝑠</m:t>
                              </m:r>
                            </m:e>
                            <m:sub>
                              <m:r>
                                <a:rPr lang="en-US" sz="2400" b="0" i="1" smtClean="0">
                                  <a:latin typeface="Cambria Math" panose="02040503050406030204" pitchFamily="18" charset="0"/>
                                </a:rPr>
                                <m:t>2</m:t>
                              </m:r>
                            </m:sub>
                          </m:sSub>
                        </m:e>
                      </m:d>
                      <m:r>
                        <m:rPr>
                          <m:aln/>
                        </m:rPr>
                        <a:rPr lang="en-US" sz="2400" i="1">
                          <a:latin typeface="Cambria Math" panose="02040503050406030204" pitchFamily="18" charset="0"/>
                        </a:rPr>
                        <m:t>=</m:t>
                      </m:r>
                      <m:nary>
                        <m:naryPr>
                          <m:chr m:val="∑"/>
                          <m:supHide m:val="on"/>
                          <m:ctrlPr>
                            <a:rPr lang="en-US" sz="2400" i="1">
                              <a:latin typeface="Cambria Math" panose="02040503050406030204" pitchFamily="18" charset="0"/>
                            </a:rPr>
                          </m:ctrlPr>
                        </m:naryPr>
                        <m:sub>
                          <m:r>
                            <a:rPr lang="en-US" sz="2400" i="1">
                              <a:latin typeface="Cambria Math" panose="02040503050406030204" pitchFamily="18" charset="0"/>
                            </a:rPr>
                            <m:t>𝑎</m:t>
                          </m:r>
                        </m:sub>
                        <m:sup/>
                        <m:e>
                          <m:r>
                            <a:rPr lang="en-US" sz="2400" i="1">
                              <a:latin typeface="Cambria Math" panose="02040503050406030204" pitchFamily="18" charset="0"/>
                            </a:rPr>
                            <m:t>𝜋</m:t>
                          </m:r>
                          <m:r>
                            <a:rPr lang="en-US" sz="2400" i="1">
                              <a:latin typeface="Cambria Math" panose="02040503050406030204" pitchFamily="18" charset="0"/>
                            </a:rPr>
                            <m:t>(</m:t>
                          </m:r>
                          <m:r>
                            <a:rPr lang="en-US" sz="2400" i="1">
                              <a:latin typeface="Cambria Math" panose="02040503050406030204" pitchFamily="18" charset="0"/>
                            </a:rPr>
                            <m:t>𝑎</m:t>
                          </m:r>
                          <m:r>
                            <a:rPr lang="en-US" sz="2400" i="1">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𝑠</m:t>
                              </m:r>
                            </m:e>
                            <m:sub>
                              <m:r>
                                <a:rPr lang="en-US" sz="2400" b="0" i="1" smtClean="0">
                                  <a:latin typeface="Cambria Math" panose="02040503050406030204" pitchFamily="18" charset="0"/>
                                </a:rPr>
                                <m:t>2</m:t>
                              </m:r>
                            </m:sub>
                          </m:sSub>
                          <m:r>
                            <a:rPr lang="en-US" sz="2400" i="1">
                              <a:latin typeface="Cambria Math" panose="02040503050406030204" pitchFamily="18" charset="0"/>
                            </a:rPr>
                            <m:t>)</m:t>
                          </m:r>
                        </m:e>
                      </m:nary>
                      <m:nary>
                        <m:naryPr>
                          <m:chr m:val="∑"/>
                          <m:supHide m:val="on"/>
                          <m:ctrlPr>
                            <a:rPr lang="en-US" sz="2400" i="1">
                              <a:latin typeface="Cambria Math" panose="02040503050406030204" pitchFamily="18" charset="0"/>
                            </a:rPr>
                          </m:ctrlPr>
                        </m:naryPr>
                        <m:sub>
                          <m:sSup>
                            <m:sSupPr>
                              <m:ctrlPr>
                                <a:rPr lang="en-US" sz="2400" i="1">
                                  <a:latin typeface="Cambria Math" panose="02040503050406030204" pitchFamily="18" charset="0"/>
                                </a:rPr>
                              </m:ctrlPr>
                            </m:sSupPr>
                            <m:e>
                              <m:r>
                                <a:rPr lang="en-US" sz="2400" i="1">
                                  <a:latin typeface="Cambria Math" panose="02040503050406030204" pitchFamily="18" charset="0"/>
                                </a:rPr>
                                <m:t>𝑠</m:t>
                              </m:r>
                            </m:e>
                            <m:sup>
                              <m:r>
                                <a:rPr lang="en-US" sz="2400" i="1">
                                  <a:latin typeface="Cambria Math" panose="02040503050406030204" pitchFamily="18" charset="0"/>
                                </a:rPr>
                                <m:t>′</m:t>
                              </m:r>
                            </m:sup>
                          </m:sSup>
                          <m:r>
                            <a:rPr lang="en-US" sz="2400" i="1">
                              <a:latin typeface="Cambria Math" panose="02040503050406030204" pitchFamily="18" charset="0"/>
                            </a:rPr>
                            <m:t>,</m:t>
                          </m:r>
                          <m:r>
                            <a:rPr lang="en-US" sz="2400" i="1">
                              <a:latin typeface="Cambria Math" panose="02040503050406030204" pitchFamily="18" charset="0"/>
                            </a:rPr>
                            <m:t>𝑟</m:t>
                          </m:r>
                        </m:sub>
                        <m:sup/>
                        <m:e>
                          <m:r>
                            <a:rPr lang="en-US" sz="2400" i="1">
                              <a:latin typeface="Cambria Math" panose="02040503050406030204" pitchFamily="18" charset="0"/>
                            </a:rPr>
                            <m:t>𝑝</m:t>
                          </m:r>
                          <m:d>
                            <m:dPr>
                              <m:endChr m:val="|"/>
                              <m:ctrlPr>
                                <a:rPr lang="en-US" sz="2400" i="1">
                                  <a:latin typeface="Cambria Math" panose="02040503050406030204" pitchFamily="18" charset="0"/>
                                </a:rPr>
                              </m:ctrlPr>
                            </m:dPr>
                            <m:e>
                              <m:sSup>
                                <m:sSupPr>
                                  <m:ctrlPr>
                                    <a:rPr lang="en-US" sz="2400" i="1">
                                      <a:latin typeface="Cambria Math" panose="02040503050406030204" pitchFamily="18" charset="0"/>
                                    </a:rPr>
                                  </m:ctrlPr>
                                </m:sSupPr>
                                <m:e>
                                  <m:r>
                                    <a:rPr lang="en-US" sz="2400" i="1">
                                      <a:latin typeface="Cambria Math" panose="02040503050406030204" pitchFamily="18" charset="0"/>
                                    </a:rPr>
                                    <m:t>𝑠</m:t>
                                  </m:r>
                                </m:e>
                                <m:sup>
                                  <m:r>
                                    <a:rPr lang="en-US" sz="2400" i="1">
                                      <a:latin typeface="Cambria Math" panose="02040503050406030204" pitchFamily="18" charset="0"/>
                                    </a:rPr>
                                    <m:t>′</m:t>
                                  </m:r>
                                </m:sup>
                              </m:sSup>
                              <m:r>
                                <a:rPr lang="en-US" sz="2400" i="1">
                                  <a:latin typeface="Cambria Math" panose="02040503050406030204" pitchFamily="18" charset="0"/>
                                </a:rPr>
                                <m:t>,</m:t>
                              </m:r>
                              <m:r>
                                <a:rPr lang="en-US" sz="2400" i="1">
                                  <a:latin typeface="Cambria Math" panose="02040503050406030204" pitchFamily="18" charset="0"/>
                                </a:rPr>
                                <m:t>𝑟</m:t>
                              </m:r>
                              <m:r>
                                <a:rPr lang="en-US" sz="2400" i="1">
                                  <a:latin typeface="Cambria Math" panose="02040503050406030204" pitchFamily="18" charset="0"/>
                                </a:rPr>
                                <m:t> </m:t>
                              </m:r>
                            </m:e>
                          </m:d>
                          <m:sSub>
                            <m:sSubPr>
                              <m:ctrlPr>
                                <a:rPr lang="en-US" sz="2400" i="1">
                                  <a:latin typeface="Cambria Math" panose="02040503050406030204" pitchFamily="18" charset="0"/>
                                </a:rPr>
                              </m:ctrlPr>
                            </m:sSubPr>
                            <m:e>
                              <m:r>
                                <a:rPr lang="en-US" sz="2400" i="1">
                                  <a:latin typeface="Cambria Math" panose="02040503050406030204" pitchFamily="18" charset="0"/>
                                </a:rPr>
                                <m:t>𝑠</m:t>
                              </m:r>
                            </m:e>
                            <m:sub>
                              <m:r>
                                <a:rPr lang="en-US" sz="2400" b="0" i="1" smtClean="0">
                                  <a:latin typeface="Cambria Math" panose="02040503050406030204" pitchFamily="18" charset="0"/>
                                </a:rPr>
                                <m:t>2</m:t>
                              </m:r>
                            </m:sub>
                          </m:sSub>
                          <m:r>
                            <a:rPr lang="en-US" sz="2400" i="1">
                              <a:latin typeface="Cambria Math" panose="02040503050406030204" pitchFamily="18" charset="0"/>
                            </a:rPr>
                            <m:t>,</m:t>
                          </m:r>
                          <m:r>
                            <a:rPr lang="en-US" sz="2400" i="1">
                              <a:latin typeface="Cambria Math" panose="02040503050406030204" pitchFamily="18" charset="0"/>
                            </a:rPr>
                            <m:t>𝑎</m:t>
                          </m:r>
                          <m:r>
                            <a:rPr lang="en-US" sz="2400" i="1">
                              <a:latin typeface="Cambria Math" panose="02040503050406030204" pitchFamily="18" charset="0"/>
                            </a:rPr>
                            <m:t>)[</m:t>
                          </m:r>
                          <m:r>
                            <a:rPr lang="en-US" sz="2400" i="1">
                              <a:latin typeface="Cambria Math" panose="02040503050406030204" pitchFamily="18" charset="0"/>
                            </a:rPr>
                            <m:t>𝑟</m:t>
                          </m:r>
                          <m:r>
                            <a:rPr lang="en-US" sz="2400" i="1">
                              <a:latin typeface="Cambria Math" panose="02040503050406030204" pitchFamily="18" charset="0"/>
                            </a:rPr>
                            <m:t>+</m:t>
                          </m:r>
                          <m:r>
                            <a:rPr lang="en-US" sz="2400" i="1">
                              <a:latin typeface="Cambria Math" panose="02040503050406030204" pitchFamily="18" charset="0"/>
                            </a:rPr>
                            <m:t>𝛾</m:t>
                          </m:r>
                          <m:sSub>
                            <m:sSubPr>
                              <m:ctrlPr>
                                <a:rPr lang="en-US" sz="2400" i="1">
                                  <a:latin typeface="Cambria Math" panose="02040503050406030204" pitchFamily="18" charset="0"/>
                                </a:rPr>
                              </m:ctrlPr>
                            </m:sSubPr>
                            <m:e>
                              <m:r>
                                <a:rPr lang="en-US" sz="2400" i="1">
                                  <a:latin typeface="Cambria Math" panose="02040503050406030204" pitchFamily="18" charset="0"/>
                                </a:rPr>
                                <m:t>𝑣</m:t>
                              </m:r>
                            </m:e>
                            <m:sub>
                              <m:r>
                                <a:rPr lang="en-US" sz="2400" i="1">
                                  <a:latin typeface="Cambria Math" panose="02040503050406030204" pitchFamily="18" charset="0"/>
                                </a:rPr>
                                <m:t>𝜋</m:t>
                              </m:r>
                            </m:sub>
                          </m:sSub>
                          <m:d>
                            <m:dPr>
                              <m:ctrlPr>
                                <a:rPr lang="en-US" sz="2400" i="1">
                                  <a:latin typeface="Cambria Math" panose="02040503050406030204" pitchFamily="18" charset="0"/>
                                </a:rPr>
                              </m:ctrlPr>
                            </m:dPr>
                            <m:e>
                              <m:sSup>
                                <m:sSupPr>
                                  <m:ctrlPr>
                                    <a:rPr lang="en-US" sz="2400" i="1">
                                      <a:latin typeface="Cambria Math" panose="02040503050406030204" pitchFamily="18" charset="0"/>
                                    </a:rPr>
                                  </m:ctrlPr>
                                </m:sSupPr>
                                <m:e>
                                  <m:r>
                                    <a:rPr lang="en-US" sz="2400" i="1">
                                      <a:latin typeface="Cambria Math" panose="02040503050406030204" pitchFamily="18" charset="0"/>
                                    </a:rPr>
                                    <m:t>𝑠</m:t>
                                  </m:r>
                                </m:e>
                                <m:sup>
                                  <m:r>
                                    <a:rPr lang="en-US" sz="2400" i="1">
                                      <a:latin typeface="Cambria Math" panose="02040503050406030204" pitchFamily="18" charset="0"/>
                                    </a:rPr>
                                    <m:t>′</m:t>
                                  </m:r>
                                </m:sup>
                              </m:sSup>
                            </m:e>
                          </m:d>
                          <m:r>
                            <a:rPr lang="en-US" sz="2400" i="1">
                              <a:latin typeface="Cambria Math" panose="02040503050406030204" pitchFamily="18" charset="0"/>
                            </a:rPr>
                            <m:t>]</m:t>
                          </m:r>
                        </m:e>
                      </m:nary>
                    </m:oMath>
                  </m:oMathPara>
                </a14:m>
                <a:endParaRPr lang="en-US" sz="2400" dirty="0"/>
              </a:p>
              <a:p>
                <a:pPr marL="0" indent="0">
                  <a:buNone/>
                </a:pPr>
                <a:endParaRPr lang="en-US" sz="2400" dirty="0"/>
              </a:p>
              <a:p>
                <a:pPr marL="0" indent="0">
                  <a:buNone/>
                </a:pPr>
                <a14:m>
                  <m:oMathPara xmlns:m="http://schemas.openxmlformats.org/officeDocument/2006/math">
                    <m:oMath>
                      <m:r>
                        <a:rPr lang="en-US" sz="2400" b="0" i="1" smtClean="0">
                          <a:latin typeface="Cambria Math" panose="02040503050406030204" pitchFamily="18" charset="0"/>
                        </a:rPr>
                        <m:t>…  </m:t>
                      </m:r>
                      <m:r>
                        <m:rPr>
                          <m:nor/>
                        </m:rPr>
                        <a:rPr lang="en-US" sz="2400" b="0" i="0" smtClean="0">
                          <a:latin typeface="Cambria Math" panose="02040503050406030204" pitchFamily="18" charset="0"/>
                        </a:rPr>
                        <m:t>for all </m:t>
                      </m:r>
                      <m:r>
                        <a:rPr lang="en-US" sz="2400" b="0" i="1" smtClean="0">
                          <a:latin typeface="Cambria Math" panose="02040503050406030204" pitchFamily="18" charset="0"/>
                        </a:rPr>
                        <m:t>𝑠</m:t>
                      </m:r>
                      <m:r>
                        <a:rPr lang="en-US" sz="2400" b="0" i="1" smtClean="0">
                          <a:latin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𝒮</m:t>
                      </m:r>
                    </m:oMath>
                  </m:oMathPara>
                </a14:m>
                <a:endParaRPr lang="en-US" sz="2400" dirty="0"/>
              </a:p>
              <a:p>
                <a:pPr marL="0" indent="0">
                  <a:buNone/>
                </a:pPr>
                <a:r>
                  <a:rPr lang="en-US" sz="2400" dirty="0"/>
                  <a:t>Formulate as a linear program</a:t>
                </a:r>
              </a:p>
              <a:p>
                <a:pPr lvl="1"/>
                <a:r>
                  <a:rPr lang="en-US" sz="2300" dirty="0"/>
                  <a:t>Objective function:  </a:t>
                </a:r>
                <a14:m>
                  <m:oMath xmlns:m="http://schemas.openxmlformats.org/officeDocument/2006/math">
                    <m:func>
                      <m:funcPr>
                        <m:ctrlPr>
                          <a:rPr lang="en-US" sz="2300" i="1" smtClean="0">
                            <a:latin typeface="Cambria Math" panose="02040503050406030204" pitchFamily="18" charset="0"/>
                          </a:rPr>
                        </m:ctrlPr>
                      </m:funcPr>
                      <m:fName>
                        <m:limLow>
                          <m:limLowPr>
                            <m:ctrlPr>
                              <a:rPr lang="en-US" sz="2300" i="0" smtClean="0">
                                <a:latin typeface="Cambria Math" panose="02040503050406030204" pitchFamily="18" charset="0"/>
                              </a:rPr>
                            </m:ctrlPr>
                          </m:limLowPr>
                          <m:e>
                            <m:r>
                              <m:rPr>
                                <m:sty m:val="p"/>
                              </m:rPr>
                              <a:rPr lang="en-US" sz="2300" i="0" smtClean="0">
                                <a:latin typeface="Cambria Math" panose="02040503050406030204" pitchFamily="18" charset="0"/>
                              </a:rPr>
                              <m:t>min</m:t>
                            </m:r>
                          </m:e>
                          <m:lim>
                            <m:r>
                              <a:rPr lang="en-US" sz="2300" b="0" i="1" smtClean="0">
                                <a:latin typeface="Cambria Math" panose="02040503050406030204" pitchFamily="18" charset="0"/>
                              </a:rPr>
                              <m:t>𝑉</m:t>
                            </m:r>
                          </m:lim>
                        </m:limLow>
                      </m:fName>
                      <m:e>
                        <m:nary>
                          <m:naryPr>
                            <m:chr m:val="∑"/>
                            <m:supHide m:val="on"/>
                            <m:ctrlPr>
                              <a:rPr lang="en-US" sz="2300" b="0" i="1" smtClean="0">
                                <a:latin typeface="Cambria Math" panose="02040503050406030204" pitchFamily="18" charset="0"/>
                              </a:rPr>
                            </m:ctrlPr>
                          </m:naryPr>
                          <m:sub>
                            <m:r>
                              <m:rPr>
                                <m:brk m:alnAt="7"/>
                              </m:rPr>
                              <a:rPr lang="en-US" sz="2300" b="0" i="1" smtClean="0">
                                <a:latin typeface="Cambria Math" panose="02040503050406030204" pitchFamily="18" charset="0"/>
                              </a:rPr>
                              <m:t>𝑠</m:t>
                            </m:r>
                            <m:r>
                              <a:rPr lang="en-US" sz="2300" b="0" i="1" smtClean="0">
                                <a:latin typeface="Cambria Math" panose="02040503050406030204" pitchFamily="18" charset="0"/>
                              </a:rPr>
                              <m:t>∈</m:t>
                            </m:r>
                            <m:r>
                              <a:rPr lang="en-US" sz="2300" b="0" i="1" smtClean="0">
                                <a:latin typeface="Cambria Math" panose="02040503050406030204" pitchFamily="18" charset="0"/>
                                <a:ea typeface="Cambria Math" panose="02040503050406030204" pitchFamily="18" charset="0"/>
                              </a:rPr>
                              <m:t>𝒮</m:t>
                            </m:r>
                          </m:sub>
                          <m:sup/>
                          <m:e>
                            <m:r>
                              <a:rPr lang="en-US" sz="2300" b="0" i="1" smtClean="0">
                                <a:latin typeface="Cambria Math" panose="02040503050406030204" pitchFamily="18" charset="0"/>
                              </a:rPr>
                              <m:t>𝑉</m:t>
                            </m:r>
                            <m:r>
                              <a:rPr lang="en-US" sz="2300" b="0" i="1" smtClean="0">
                                <a:latin typeface="Cambria Math" panose="02040503050406030204" pitchFamily="18" charset="0"/>
                              </a:rPr>
                              <m:t>(</m:t>
                            </m:r>
                            <m:r>
                              <a:rPr lang="en-US" sz="2300" b="0" i="1" smtClean="0">
                                <a:latin typeface="Cambria Math" panose="02040503050406030204" pitchFamily="18" charset="0"/>
                              </a:rPr>
                              <m:t>𝑠</m:t>
                            </m:r>
                            <m:r>
                              <a:rPr lang="en-US" sz="2300" b="0" i="1" smtClean="0">
                                <a:latin typeface="Cambria Math" panose="02040503050406030204" pitchFamily="18" charset="0"/>
                              </a:rPr>
                              <m:t>)</m:t>
                            </m:r>
                          </m:e>
                        </m:nary>
                      </m:e>
                    </m:func>
                  </m:oMath>
                </a14:m>
                <a:endParaRPr lang="en-US" sz="2300" dirty="0"/>
              </a:p>
              <a:p>
                <a:pPr lvl="1"/>
                <a:r>
                  <a:rPr lang="en-US" sz="2300" dirty="0"/>
                  <a:t>Constraints:                </a:t>
                </a:r>
                <a14:m>
                  <m:oMath xmlns:m="http://schemas.openxmlformats.org/officeDocument/2006/math">
                    <m:r>
                      <a:rPr lang="en-US" sz="2300" b="0" i="1" smtClean="0">
                        <a:latin typeface="Cambria Math" panose="02040503050406030204" pitchFamily="18" charset="0"/>
                      </a:rPr>
                      <m:t>𝑉</m:t>
                    </m:r>
                    <m:d>
                      <m:dPr>
                        <m:ctrlPr>
                          <a:rPr lang="en-US" sz="2300" b="0" i="1" smtClean="0">
                            <a:latin typeface="Cambria Math" panose="02040503050406030204" pitchFamily="18" charset="0"/>
                          </a:rPr>
                        </m:ctrlPr>
                      </m:dPr>
                      <m:e>
                        <m:r>
                          <a:rPr lang="en-US" sz="2300" b="0" i="1" smtClean="0">
                            <a:latin typeface="Cambria Math" panose="02040503050406030204" pitchFamily="18" charset="0"/>
                          </a:rPr>
                          <m:t>𝑠</m:t>
                        </m:r>
                      </m:e>
                    </m:d>
                    <m:r>
                      <a:rPr lang="en-US" sz="2300" b="0" i="1" smtClean="0">
                        <a:solidFill>
                          <a:srgbClr val="FF0000"/>
                        </a:solidFill>
                        <a:latin typeface="Cambria Math" panose="02040503050406030204" pitchFamily="18" charset="0"/>
                      </a:rPr>
                      <m:t>≥</m:t>
                    </m:r>
                    <m:nary>
                      <m:naryPr>
                        <m:chr m:val="∑"/>
                        <m:supHide m:val="on"/>
                        <m:ctrlPr>
                          <a:rPr lang="en-US" sz="2300" b="0" i="1" smtClean="0">
                            <a:latin typeface="Cambria Math" panose="02040503050406030204" pitchFamily="18" charset="0"/>
                          </a:rPr>
                        </m:ctrlPr>
                      </m:naryPr>
                      <m:sub>
                        <m:sSup>
                          <m:sSupPr>
                            <m:ctrlPr>
                              <a:rPr lang="en-US" sz="2300" b="0" i="1" smtClean="0">
                                <a:latin typeface="Cambria Math" panose="02040503050406030204" pitchFamily="18" charset="0"/>
                              </a:rPr>
                            </m:ctrlPr>
                          </m:sSupPr>
                          <m:e>
                            <m:r>
                              <m:rPr>
                                <m:brk m:alnAt="7"/>
                              </m:rPr>
                              <a:rPr lang="en-US" sz="2300" b="0" i="1" smtClean="0">
                                <a:latin typeface="Cambria Math" panose="02040503050406030204" pitchFamily="18" charset="0"/>
                              </a:rPr>
                              <m:t>𝑠</m:t>
                            </m:r>
                          </m:e>
                          <m:sup>
                            <m:r>
                              <a:rPr lang="en-US" sz="2300" b="0" i="1" smtClean="0">
                                <a:latin typeface="Cambria Math" panose="02040503050406030204" pitchFamily="18" charset="0"/>
                              </a:rPr>
                              <m:t>′</m:t>
                            </m:r>
                          </m:sup>
                        </m:sSup>
                        <m:r>
                          <m:rPr>
                            <m:brk m:alnAt="7"/>
                          </m:rPr>
                          <a:rPr lang="en-US" sz="2300" b="0" i="1" smtClean="0">
                            <a:latin typeface="Cambria Math" panose="02040503050406030204" pitchFamily="18" charset="0"/>
                          </a:rPr>
                          <m:t>,</m:t>
                        </m:r>
                        <m:r>
                          <a:rPr lang="en-US" sz="2300" b="0" i="1" smtClean="0">
                            <a:latin typeface="Cambria Math" panose="02040503050406030204" pitchFamily="18" charset="0"/>
                          </a:rPr>
                          <m:t>𝑟</m:t>
                        </m:r>
                      </m:sub>
                      <m:sup/>
                      <m:e>
                        <m:r>
                          <a:rPr lang="en-US" sz="2300" i="1">
                            <a:latin typeface="Cambria Math" panose="02040503050406030204" pitchFamily="18" charset="0"/>
                          </a:rPr>
                          <m:t>𝑝</m:t>
                        </m:r>
                        <m:d>
                          <m:dPr>
                            <m:ctrlPr>
                              <a:rPr lang="en-US" sz="2300" i="1">
                                <a:latin typeface="Cambria Math" panose="02040503050406030204" pitchFamily="18" charset="0"/>
                              </a:rPr>
                            </m:ctrlPr>
                          </m:dPr>
                          <m:e>
                            <m:r>
                              <a:rPr lang="en-US" sz="2300" i="1">
                                <a:latin typeface="Cambria Math" panose="02040503050406030204" pitchFamily="18" charset="0"/>
                              </a:rPr>
                              <m:t>𝑠</m:t>
                            </m:r>
                            <m:r>
                              <a:rPr lang="en-US" sz="2300" i="1">
                                <a:latin typeface="Cambria Math" panose="02040503050406030204" pitchFamily="18" charset="0"/>
                              </a:rPr>
                              <m:t>′,</m:t>
                            </m:r>
                            <m:r>
                              <a:rPr lang="en-US" sz="2300" i="1">
                                <a:latin typeface="Cambria Math" panose="02040503050406030204" pitchFamily="18" charset="0"/>
                              </a:rPr>
                              <m:t>𝑟</m:t>
                            </m:r>
                            <m:r>
                              <a:rPr lang="en-US" sz="2300" i="1">
                                <a:latin typeface="Cambria Math" panose="02040503050406030204" pitchFamily="18" charset="0"/>
                              </a:rPr>
                              <m:t>|</m:t>
                            </m:r>
                            <m:r>
                              <a:rPr lang="en-US" sz="2300" i="1">
                                <a:latin typeface="Cambria Math" panose="02040503050406030204" pitchFamily="18" charset="0"/>
                              </a:rPr>
                              <m:t>𝑠</m:t>
                            </m:r>
                            <m:r>
                              <a:rPr lang="en-US" sz="2300" i="1">
                                <a:latin typeface="Cambria Math" panose="02040503050406030204" pitchFamily="18" charset="0"/>
                              </a:rPr>
                              <m:t>,</m:t>
                            </m:r>
                            <m:r>
                              <a:rPr lang="en-US" sz="2300" i="1">
                                <a:latin typeface="Cambria Math" panose="02040503050406030204" pitchFamily="18" charset="0"/>
                              </a:rPr>
                              <m:t>𝜋</m:t>
                            </m:r>
                            <m:d>
                              <m:dPr>
                                <m:ctrlPr>
                                  <a:rPr lang="en-US" sz="2300" i="1">
                                    <a:latin typeface="Cambria Math" panose="02040503050406030204" pitchFamily="18" charset="0"/>
                                  </a:rPr>
                                </m:ctrlPr>
                              </m:dPr>
                              <m:e>
                                <m:r>
                                  <a:rPr lang="en-US" sz="2300" i="1">
                                    <a:latin typeface="Cambria Math" panose="02040503050406030204" pitchFamily="18" charset="0"/>
                                  </a:rPr>
                                  <m:t>𝑠</m:t>
                                </m:r>
                              </m:e>
                            </m:d>
                          </m:e>
                        </m:d>
                        <m:d>
                          <m:dPr>
                            <m:begChr m:val="["/>
                            <m:endChr m:val="]"/>
                            <m:ctrlPr>
                              <a:rPr lang="en-US" sz="2300" i="1">
                                <a:latin typeface="Cambria Math" panose="02040503050406030204" pitchFamily="18" charset="0"/>
                              </a:rPr>
                            </m:ctrlPr>
                          </m:dPr>
                          <m:e>
                            <m:r>
                              <a:rPr lang="en-US" sz="2300" i="1">
                                <a:latin typeface="Cambria Math" panose="02040503050406030204" pitchFamily="18" charset="0"/>
                              </a:rPr>
                              <m:t>𝑟</m:t>
                            </m:r>
                            <m:r>
                              <a:rPr lang="en-US" sz="2300" i="1">
                                <a:latin typeface="Cambria Math" panose="02040503050406030204" pitchFamily="18" charset="0"/>
                              </a:rPr>
                              <m:t>+</m:t>
                            </m:r>
                            <m:r>
                              <a:rPr lang="en-US" sz="2300" i="1">
                                <a:latin typeface="Cambria Math" panose="02040503050406030204" pitchFamily="18" charset="0"/>
                              </a:rPr>
                              <m:t>𝛾</m:t>
                            </m:r>
                            <m:r>
                              <a:rPr lang="en-US" sz="2300" i="1">
                                <a:latin typeface="Cambria Math" panose="02040503050406030204" pitchFamily="18" charset="0"/>
                              </a:rPr>
                              <m:t>𝑉</m:t>
                            </m:r>
                            <m:d>
                              <m:dPr>
                                <m:ctrlPr>
                                  <a:rPr lang="en-US" sz="2300" i="1">
                                    <a:latin typeface="Cambria Math" panose="02040503050406030204" pitchFamily="18" charset="0"/>
                                  </a:rPr>
                                </m:ctrlPr>
                              </m:dPr>
                              <m:e>
                                <m:sSup>
                                  <m:sSupPr>
                                    <m:ctrlPr>
                                      <a:rPr lang="en-US" sz="2300" i="1">
                                        <a:latin typeface="Cambria Math" panose="02040503050406030204" pitchFamily="18" charset="0"/>
                                      </a:rPr>
                                    </m:ctrlPr>
                                  </m:sSupPr>
                                  <m:e>
                                    <m:r>
                                      <a:rPr lang="en-US" sz="2300" i="1">
                                        <a:latin typeface="Cambria Math" panose="02040503050406030204" pitchFamily="18" charset="0"/>
                                      </a:rPr>
                                      <m:t>𝑠</m:t>
                                    </m:r>
                                  </m:e>
                                  <m:sup>
                                    <m:r>
                                      <a:rPr lang="en-US" sz="2300" i="1">
                                        <a:latin typeface="Cambria Math" panose="02040503050406030204" pitchFamily="18" charset="0"/>
                                      </a:rPr>
                                      <m:t>′</m:t>
                                    </m:r>
                                  </m:sup>
                                </m:sSup>
                              </m:e>
                            </m:d>
                          </m:e>
                        </m:d>
                        <m:r>
                          <a:rPr lang="en-US" sz="2300" b="0" i="1" smtClean="0">
                            <a:latin typeface="Cambria Math" panose="02040503050406030204" pitchFamily="18" charset="0"/>
                          </a:rPr>
                          <m:t>   ∀</m:t>
                        </m:r>
                        <m:r>
                          <a:rPr lang="en-US" sz="2300" b="0" i="1" smtClean="0">
                            <a:latin typeface="Cambria Math" panose="02040503050406030204" pitchFamily="18" charset="0"/>
                          </a:rPr>
                          <m:t>𝑠</m:t>
                        </m:r>
                        <m:r>
                          <a:rPr lang="en-US" sz="2300" b="0" i="1" smtClean="0">
                            <a:latin typeface="Cambria Math" panose="02040503050406030204" pitchFamily="18" charset="0"/>
                          </a:rPr>
                          <m:t>∈</m:t>
                        </m:r>
                        <m:r>
                          <a:rPr lang="en-US" sz="2300" b="0" i="1" smtClean="0">
                            <a:latin typeface="Cambria Math" panose="02040503050406030204" pitchFamily="18" charset="0"/>
                            <a:ea typeface="Cambria Math" panose="02040503050406030204" pitchFamily="18" charset="0"/>
                          </a:rPr>
                          <m:t>𝒮</m:t>
                        </m:r>
                      </m:e>
                    </m:nary>
                  </m:oMath>
                </a14:m>
                <a:endParaRPr lang="en-US" sz="2000" dirty="0"/>
              </a:p>
              <a:p>
                <a:endParaRPr lang="en-US" sz="2400" dirty="0"/>
              </a:p>
              <a:p>
                <a:pPr marL="0" indent="0">
                  <a:buNone/>
                </a:pPr>
                <a:r>
                  <a:rPr lang="en-US" sz="2400" dirty="0"/>
                  <a:t>Why this works: The smallest feasible solution will satisfy all Bellman equations. </a:t>
                </a:r>
                <a:endParaRPr lang="en-US" sz="2400" i="1" dirty="0">
                  <a:latin typeface="Cambria Math" panose="02040503050406030204" pitchFamily="18" charset="0"/>
                </a:endParaRPr>
              </a:p>
              <a:p>
                <a:pPr marL="0" indent="0">
                  <a:buNone/>
                </a:pPr>
                <a14:m>
                  <m:oMathPara xmlns:m="http://schemas.openxmlformats.org/officeDocument/2006/math">
                    <m:oMath>
                      <m:r>
                        <a:rPr lang="en-US" sz="2400" i="1">
                          <a:latin typeface="Cambria Math" panose="02040503050406030204" pitchFamily="18" charset="0"/>
                        </a:rPr>
                        <m:t>𝑉</m:t>
                      </m:r>
                      <m:r>
                        <a:rPr lang="en-US" sz="2400" b="0" i="1" smtClean="0">
                          <a:latin typeface="Cambria Math" panose="02040503050406030204" pitchFamily="18" charset="0"/>
                        </a:rPr>
                        <m:t>(</m:t>
                      </m:r>
                      <m:r>
                        <a:rPr lang="en-US" sz="2400" b="0" i="1" smtClean="0">
                          <a:latin typeface="Cambria Math" panose="02040503050406030204" pitchFamily="18" charset="0"/>
                        </a:rPr>
                        <m:t>𝑠</m:t>
                      </m:r>
                      <m:r>
                        <a:rPr lang="en-US" sz="2400" b="0" i="1" smtClean="0">
                          <a:latin typeface="Cambria Math" panose="02040503050406030204" pitchFamily="18" charset="0"/>
                        </a:rPr>
                        <m:t>)=</m:t>
                      </m:r>
                      <m:nary>
                        <m:naryPr>
                          <m:chr m:val="∑"/>
                          <m:supHide m:val="on"/>
                          <m:ctrlPr>
                            <a:rPr lang="en-US" sz="2400" i="1">
                              <a:latin typeface="Cambria Math" panose="02040503050406030204" pitchFamily="18" charset="0"/>
                            </a:rPr>
                          </m:ctrlPr>
                        </m:naryPr>
                        <m:sub>
                          <m:sSup>
                            <m:sSupPr>
                              <m:ctrlPr>
                                <a:rPr lang="en-US" sz="2400" i="1">
                                  <a:latin typeface="Cambria Math" panose="02040503050406030204" pitchFamily="18" charset="0"/>
                                </a:rPr>
                              </m:ctrlPr>
                            </m:sSupPr>
                            <m:e>
                              <m:r>
                                <m:rPr>
                                  <m:brk m:alnAt="7"/>
                                </m:rPr>
                                <a:rPr lang="en-US" sz="2400" i="1">
                                  <a:latin typeface="Cambria Math" panose="02040503050406030204" pitchFamily="18" charset="0"/>
                                </a:rPr>
                                <m:t>𝑠</m:t>
                              </m:r>
                            </m:e>
                            <m:sup>
                              <m:r>
                                <a:rPr lang="en-US" sz="2400" i="1">
                                  <a:latin typeface="Cambria Math" panose="02040503050406030204" pitchFamily="18" charset="0"/>
                                </a:rPr>
                                <m:t>′</m:t>
                              </m:r>
                            </m:sup>
                          </m:sSup>
                          <m:r>
                            <a:rPr lang="en-US" sz="2400" b="0" i="1" smtClean="0">
                              <a:latin typeface="Cambria Math" panose="02040503050406030204" pitchFamily="18" charset="0"/>
                            </a:rPr>
                            <m:t>,</m:t>
                          </m:r>
                          <m:r>
                            <a:rPr lang="en-US" sz="2400" b="0" i="1" smtClean="0">
                              <a:latin typeface="Cambria Math" panose="02040503050406030204" pitchFamily="18" charset="0"/>
                            </a:rPr>
                            <m:t>𝑟</m:t>
                          </m:r>
                        </m:sub>
                        <m:sup/>
                        <m:e>
                          <m:r>
                            <a:rPr lang="en-US" sz="2400" i="1">
                              <a:latin typeface="Cambria Math" panose="02040503050406030204" pitchFamily="18" charset="0"/>
                            </a:rPr>
                            <m:t>𝑝</m:t>
                          </m:r>
                          <m:d>
                            <m:dPr>
                              <m:ctrlPr>
                                <a:rPr lang="en-US" sz="2400" i="1">
                                  <a:latin typeface="Cambria Math" panose="02040503050406030204" pitchFamily="18" charset="0"/>
                                </a:rPr>
                              </m:ctrlPr>
                            </m:dPr>
                            <m:e>
                              <m:r>
                                <a:rPr lang="en-US" sz="2400" i="1">
                                  <a:latin typeface="Cambria Math" panose="02040503050406030204" pitchFamily="18" charset="0"/>
                                </a:rPr>
                                <m:t>𝑠</m:t>
                              </m:r>
                              <m:r>
                                <a:rPr lang="en-US" sz="2400" b="0" i="1" smtClean="0">
                                  <a:latin typeface="Cambria Math" panose="02040503050406030204" pitchFamily="18" charset="0"/>
                                </a:rPr>
                                <m:t>′</m:t>
                              </m:r>
                              <m:r>
                                <a:rPr lang="en-US" sz="2400" i="1">
                                  <a:latin typeface="Cambria Math" panose="02040503050406030204" pitchFamily="18" charset="0"/>
                                </a:rPr>
                                <m:t>,</m:t>
                              </m:r>
                              <m:r>
                                <a:rPr lang="en-US" sz="2400" b="0" i="1" smtClean="0">
                                  <a:latin typeface="Cambria Math" panose="02040503050406030204" pitchFamily="18" charset="0"/>
                                </a:rPr>
                                <m:t>𝑟</m:t>
                              </m:r>
                              <m:r>
                                <a:rPr lang="en-US" sz="2400" b="0" i="1" smtClean="0">
                                  <a:latin typeface="Cambria Math" panose="02040503050406030204" pitchFamily="18" charset="0"/>
                                </a:rPr>
                                <m:t>|</m:t>
                              </m:r>
                              <m:r>
                                <a:rPr lang="en-US" sz="2400" b="0" i="1" smtClean="0">
                                  <a:latin typeface="Cambria Math" panose="02040503050406030204" pitchFamily="18" charset="0"/>
                                </a:rPr>
                                <m:t>𝑠</m:t>
                              </m:r>
                              <m:r>
                                <a:rPr lang="en-US" sz="2400" b="0" i="1" smtClean="0">
                                  <a:latin typeface="Cambria Math" panose="02040503050406030204" pitchFamily="18" charset="0"/>
                                </a:rPr>
                                <m:t>,</m:t>
                              </m:r>
                              <m:r>
                                <a:rPr lang="en-US" sz="2400" i="1">
                                  <a:latin typeface="Cambria Math" panose="02040503050406030204" pitchFamily="18" charset="0"/>
                                </a:rPr>
                                <m:t>𝜋</m:t>
                              </m:r>
                              <m:d>
                                <m:dPr>
                                  <m:ctrlPr>
                                    <a:rPr lang="en-US" sz="2400" i="1">
                                      <a:latin typeface="Cambria Math" panose="02040503050406030204" pitchFamily="18" charset="0"/>
                                    </a:rPr>
                                  </m:ctrlPr>
                                </m:dPr>
                                <m:e>
                                  <m:r>
                                    <a:rPr lang="en-US" sz="2400" i="1">
                                      <a:latin typeface="Cambria Math" panose="02040503050406030204" pitchFamily="18" charset="0"/>
                                    </a:rPr>
                                    <m:t>𝑠</m:t>
                                  </m:r>
                                </m:e>
                              </m:d>
                            </m:e>
                          </m:d>
                          <m:r>
                            <a:rPr lang="en-US" sz="2400" b="0" i="1" smtClean="0">
                              <a:latin typeface="Cambria Math" panose="02040503050406030204" pitchFamily="18" charset="0"/>
                            </a:rPr>
                            <m:t>[</m:t>
                          </m:r>
                          <m:r>
                            <a:rPr lang="en-US" sz="2400" b="0" i="1" smtClean="0">
                              <a:latin typeface="Cambria Math" panose="02040503050406030204" pitchFamily="18" charset="0"/>
                            </a:rPr>
                            <m:t>𝑟</m:t>
                          </m:r>
                          <m:r>
                            <a:rPr lang="en-US" sz="2400" b="0" i="1" smtClean="0">
                              <a:latin typeface="Cambria Math" panose="02040503050406030204" pitchFamily="18" charset="0"/>
                            </a:rPr>
                            <m:t>+</m:t>
                          </m:r>
                          <m:r>
                            <a:rPr lang="en-US" sz="2400" b="0" i="1" smtClean="0">
                              <a:latin typeface="Cambria Math" panose="02040503050406030204" pitchFamily="18" charset="0"/>
                            </a:rPr>
                            <m:t>𝛾</m:t>
                          </m:r>
                          <m:r>
                            <a:rPr lang="en-US" sz="2400" i="1">
                              <a:latin typeface="Cambria Math" panose="02040503050406030204" pitchFamily="18" charset="0"/>
                            </a:rPr>
                            <m:t>𝑉</m:t>
                          </m:r>
                          <m:d>
                            <m:dPr>
                              <m:ctrlPr>
                                <a:rPr lang="en-US" sz="2400" i="1">
                                  <a:latin typeface="Cambria Math" panose="02040503050406030204" pitchFamily="18" charset="0"/>
                                </a:rPr>
                              </m:ctrlPr>
                            </m:dPr>
                            <m:e>
                              <m:sSup>
                                <m:sSupPr>
                                  <m:ctrlPr>
                                    <a:rPr lang="en-US" sz="2400" i="1">
                                      <a:latin typeface="Cambria Math" panose="02040503050406030204" pitchFamily="18" charset="0"/>
                                    </a:rPr>
                                  </m:ctrlPr>
                                </m:sSupPr>
                                <m:e>
                                  <m:r>
                                    <a:rPr lang="en-US" sz="2400" i="1">
                                      <a:latin typeface="Cambria Math" panose="02040503050406030204" pitchFamily="18" charset="0"/>
                                    </a:rPr>
                                    <m:t>𝑠</m:t>
                                  </m:r>
                                </m:e>
                                <m:sup>
                                  <m:r>
                                    <a:rPr lang="en-US" sz="2400" i="1">
                                      <a:latin typeface="Cambria Math" panose="02040503050406030204" pitchFamily="18" charset="0"/>
                                    </a:rPr>
                                    <m:t>′</m:t>
                                  </m:r>
                                </m:sup>
                              </m:sSup>
                            </m:e>
                          </m:d>
                          <m:r>
                            <a:rPr lang="en-US" sz="2400" b="0" i="1" smtClean="0">
                              <a:latin typeface="Cambria Math" panose="02040503050406030204" pitchFamily="18" charset="0"/>
                            </a:rPr>
                            <m:t>]</m:t>
                          </m:r>
                          <m:r>
                            <a:rPr lang="en-US" sz="2400" i="1">
                              <a:latin typeface="Cambria Math" panose="02040503050406030204" pitchFamily="18" charset="0"/>
                            </a:rPr>
                            <m:t> </m:t>
                          </m:r>
                          <m:r>
                            <a:rPr lang="en-US" sz="2400" b="0" i="1" smtClean="0">
                              <a:latin typeface="Cambria Math" panose="02040503050406030204" pitchFamily="18" charset="0"/>
                            </a:rPr>
                            <m:t>     </m:t>
                          </m:r>
                          <m:r>
                            <a:rPr lang="en-US" sz="2400" i="1">
                              <a:latin typeface="Cambria Math" panose="02040503050406030204" pitchFamily="18" charset="0"/>
                            </a:rPr>
                            <m:t>∀</m:t>
                          </m:r>
                          <m:r>
                            <a:rPr lang="en-US" sz="2400" i="1">
                              <a:latin typeface="Cambria Math" panose="02040503050406030204" pitchFamily="18" charset="0"/>
                            </a:rPr>
                            <m:t>𝑠</m:t>
                          </m:r>
                          <m:r>
                            <a:rPr lang="en-US" sz="2400" i="1">
                              <a:latin typeface="Cambria Math" panose="02040503050406030204" pitchFamily="18" charset="0"/>
                            </a:rPr>
                            <m:t>∈</m:t>
                          </m:r>
                          <m:r>
                            <a:rPr lang="en-US" sz="2400" i="1">
                              <a:latin typeface="Cambria Math" panose="02040503050406030204" pitchFamily="18" charset="0"/>
                              <a:ea typeface="Cambria Math" panose="02040503050406030204" pitchFamily="18" charset="0"/>
                            </a:rPr>
                            <m:t>𝒮</m:t>
                          </m:r>
                        </m:e>
                      </m:nary>
                    </m:oMath>
                  </m:oMathPara>
                </a14:m>
                <a:endParaRPr lang="en-US" sz="2400" dirty="0"/>
              </a:p>
              <a:p>
                <a:endParaRPr lang="en-US" sz="2400" dirty="0"/>
              </a:p>
              <a:p>
                <a:pPr marL="0" indent="0">
                  <a:buNone/>
                </a:pPr>
                <a:endParaRPr lang="en-US" sz="2400" dirty="0"/>
              </a:p>
            </p:txBody>
          </p:sp>
        </mc:Choice>
        <mc:Fallback xmlns="">
          <p:sp>
            <p:nvSpPr>
              <p:cNvPr id="3" name="Content Placeholder 2" descr="Solve the system of the absolute value of S linear Bellman Expectation Equations:. v sub pi (s sub 1) equals the sum over a, of pi (a given s sub 1) the sum over s prime,r, of p (s prime,r | s sub 1,a)[r plus gamma v sub pi (s prime)]. v sub pi (s sub 2) equals the sum over a, of pi (a given s sub 2) the sum over s prime,r, of p (s prime,r | s sub 2,a)[r plus gamma v sub pi (s prime)]. dot dot dot for all s in S. Formulate as a linear program. Objective function: min over V, of the sum over s in S, of V(s). Constraints: V (s) is greater than or equal to the sum over s prime,r, of p (s prime,r given s, pi (s)) [r plus gamma V (s prime)] for all s in S. Why this works: The smallest feasible solution will satisfy all Bellman equations. V(s) equals the sum over s prime,r, of p (s prime,r given s, pi (s)) [r plus gamma V (s prime)] for all s in S">
                <a:extLst>
                  <a:ext uri="{FF2B5EF4-FFF2-40B4-BE49-F238E27FC236}">
                    <a16:creationId xmlns:a16="http://schemas.microsoft.com/office/drawing/2014/main" id="{295FDADB-CB9E-5700-5CD5-2A4F4B7D2B20}"/>
                  </a:ext>
                </a:extLst>
              </p:cNvPr>
              <p:cNvSpPr>
                <a:spLocks noGrp="1" noRot="1" noChangeAspect="1" noMove="1" noResize="1" noEditPoints="1" noAdjustHandles="1" noChangeArrowheads="1" noChangeShapeType="1" noTextEdit="1"/>
              </p:cNvSpPr>
              <p:nvPr>
                <p:ph idx="1"/>
              </p:nvPr>
            </p:nvSpPr>
            <p:spPr>
              <a:xfrm>
                <a:off x="838199" y="1397329"/>
                <a:ext cx="7579865" cy="5170993"/>
              </a:xfrm>
              <a:blipFill>
                <a:blip r:embed="rId2"/>
                <a:stretch>
                  <a:fillRect l="-723" t="-2005"/>
                </a:stretch>
              </a:blipFill>
            </p:spPr>
            <p:txBody>
              <a:bodyPr/>
              <a:lstStyle/>
              <a:p>
                <a:r>
                  <a:rPr lang="en-US">
                    <a:noFill/>
                  </a:rPr>
                  <a:t> </a:t>
                </a:r>
              </a:p>
            </p:txBody>
          </p:sp>
        </mc:Fallback>
      </mc:AlternateContent>
    </p:spTree>
    <p:extLst>
      <p:ext uri="{BB962C8B-B14F-4D97-AF65-F5344CB8AC3E}">
        <p14:creationId xmlns:p14="http://schemas.microsoft.com/office/powerpoint/2010/main" val="1864265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9" end="9"/>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D6658F-139C-0BE8-0CD7-8FE00B9A33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5886B1-B3C3-36AF-DCCF-70C3CEDCBC67}"/>
              </a:ext>
            </a:extLst>
          </p:cNvPr>
          <p:cNvSpPr>
            <a:spLocks noGrp="1"/>
          </p:cNvSpPr>
          <p:nvPr>
            <p:ph type="title"/>
          </p:nvPr>
        </p:nvSpPr>
        <p:spPr/>
        <p:txBody>
          <a:bodyPr>
            <a:normAutofit/>
          </a:bodyPr>
          <a:lstStyle/>
          <a:p>
            <a:r>
              <a:rPr lang="en-US" dirty="0"/>
              <a:t>Solution Option 2: Iterative Policy Evaluation</a:t>
            </a:r>
          </a:p>
        </p:txBody>
      </p:sp>
      <mc:AlternateContent xmlns:mc="http://schemas.openxmlformats.org/markup-compatibility/2006" xmlns:a14="http://schemas.microsoft.com/office/drawing/2010/main">
        <mc:Choice Requires="a14">
          <p:sp>
            <p:nvSpPr>
              <p:cNvPr id="3" name="Content Placeholder 2" descr="Dynamic Programming: solves a complex optimization problem by breaking it down into smaller, overlapping subproblems and using their solutions to build the overall optimal solution. Start with arbitrary values for all v (s). Update all state values (called sweeping over the state space) using the Bellman Update (k is the iteration counter):. v sub k plus 1, (s) is defined as [R sub t plus 1, plus gamma v sub k (S sub t plus 1) | S sub t equals s]; equals the sum over a, of pi (a given s) the sum over s prime,r, of p (s prime,r | s,a)[r plus gamma v sub k (s prime)]. Convergence: Updates converge to v sub pi for k to infinity iterations. Reason is on the next slide">
                <a:extLst>
                  <a:ext uri="{FF2B5EF4-FFF2-40B4-BE49-F238E27FC236}">
                    <a16:creationId xmlns:a16="http://schemas.microsoft.com/office/drawing/2014/main" id="{C25F1F25-389C-B9C9-77EC-6351FB4FE076}"/>
                  </a:ext>
                </a:extLst>
              </p:cNvPr>
              <p:cNvSpPr>
                <a:spLocks noGrp="1"/>
              </p:cNvSpPr>
              <p:nvPr>
                <p:ph idx="1"/>
              </p:nvPr>
            </p:nvSpPr>
            <p:spPr>
              <a:xfrm>
                <a:off x="838200" y="1397330"/>
                <a:ext cx="7732419" cy="5120418"/>
              </a:xfrm>
            </p:spPr>
            <p:txBody>
              <a:bodyPr>
                <a:normAutofit fontScale="92500" lnSpcReduction="20000"/>
              </a:bodyPr>
              <a:lstStyle/>
              <a:p>
                <a:pPr marL="0" indent="0">
                  <a:buNone/>
                </a:pPr>
                <a:r>
                  <a:rPr lang="en-US" sz="2400" b="1" dirty="0"/>
                  <a:t>Dynamic Programming</a:t>
                </a:r>
                <a:r>
                  <a:rPr lang="en-US" sz="2400" dirty="0"/>
                  <a:t>: solves a complex optimization problem by breaking it down into smaller, overlapping subproblems and using their solutions to build the overall optimal solution.</a:t>
                </a:r>
              </a:p>
              <a:p>
                <a:pPr marL="0" indent="0">
                  <a:buNone/>
                </a:pPr>
                <a:endParaRPr lang="en-US" sz="2400" dirty="0"/>
              </a:p>
              <a:p>
                <a:pPr lvl="1"/>
                <a:r>
                  <a:rPr lang="en-US" sz="2000" dirty="0"/>
                  <a:t>Start with arbitrary values for all </a:t>
                </a:r>
                <a14:m>
                  <m:oMath xmlns:m="http://schemas.openxmlformats.org/officeDocument/2006/math">
                    <m:r>
                      <a:rPr lang="en-US" sz="2000" b="0" i="1" smtClean="0">
                        <a:latin typeface="Cambria Math" panose="02040503050406030204" pitchFamily="18" charset="0"/>
                      </a:rPr>
                      <m:t>𝑣</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𝑠</m:t>
                        </m:r>
                      </m:e>
                    </m:d>
                  </m:oMath>
                </a14:m>
                <a:endParaRPr lang="en-US" sz="2000" dirty="0"/>
              </a:p>
              <a:p>
                <a:pPr lvl="1"/>
                <a:r>
                  <a:rPr lang="en-US" sz="2000" dirty="0"/>
                  <a:t>Update all state values (called sweeping over the state space) using the</a:t>
                </a:r>
                <a:r>
                  <a:rPr lang="en-US" sz="2000" b="1" dirty="0"/>
                  <a:t> Bellman Update</a:t>
                </a:r>
                <a:r>
                  <a:rPr lang="en-US" sz="2000" dirty="0"/>
                  <a:t> (</a:t>
                </a:r>
                <a14:m>
                  <m:oMath xmlns:m="http://schemas.openxmlformats.org/officeDocument/2006/math">
                    <m:r>
                      <a:rPr lang="en-US" sz="2000" b="0" i="1" smtClean="0">
                        <a:latin typeface="Cambria Math" panose="02040503050406030204" pitchFamily="18" charset="0"/>
                      </a:rPr>
                      <m:t>𝑘</m:t>
                    </m:r>
                  </m:oMath>
                </a14:m>
                <a:r>
                  <a:rPr lang="en-US" sz="2000" dirty="0"/>
                  <a:t> is the iteration counter):</a:t>
                </a:r>
                <a:endParaRPr lang="en-US" sz="2000" b="1" dirty="0"/>
              </a:p>
              <a:p>
                <a:pPr lvl="1"/>
                <a:endParaRPr lang="en-US" sz="2000" dirty="0"/>
              </a:p>
              <a:p>
                <a:pPr marL="457200" lvl="1" indent="0">
                  <a:buNone/>
                </a:pPr>
                <a14:m>
                  <m:oMathPara xmlns:m="http://schemas.openxmlformats.org/officeDocument/2006/math">
                    <m:oMath>
                      <m:sSub>
                        <m:sSubPr>
                          <m:ctrlPr>
                            <a:rPr lang="en-US" sz="2000" i="1">
                              <a:latin typeface="Cambria Math" panose="02040503050406030204" pitchFamily="18" charset="0"/>
                            </a:rPr>
                          </m:ctrlPr>
                        </m:sSubPr>
                        <m:e>
                          <m:r>
                            <a:rPr lang="en-US" sz="2000" i="1">
                              <a:latin typeface="Cambria Math" panose="02040503050406030204" pitchFamily="18" charset="0"/>
                            </a:rPr>
                            <m:t>𝑣</m:t>
                          </m:r>
                        </m:e>
                        <m:sub>
                          <m:r>
                            <a:rPr lang="en-US" sz="2000" b="0" i="1" smtClean="0">
                              <a:latin typeface="Cambria Math" panose="02040503050406030204" pitchFamily="18" charset="0"/>
                            </a:rPr>
                            <m:t>𝑘</m:t>
                          </m:r>
                          <m:r>
                            <a:rPr lang="en-US" sz="2000" b="0" i="1" smtClean="0">
                              <a:latin typeface="Cambria Math" panose="02040503050406030204" pitchFamily="18" charset="0"/>
                            </a:rPr>
                            <m:t>+1</m:t>
                          </m:r>
                        </m:sub>
                      </m:sSub>
                      <m:d>
                        <m:dPr>
                          <m:ctrlPr>
                            <a:rPr lang="en-US" sz="2000" i="1">
                              <a:latin typeface="Cambria Math" panose="02040503050406030204" pitchFamily="18" charset="0"/>
                            </a:rPr>
                          </m:ctrlPr>
                        </m:dPr>
                        <m:e>
                          <m:r>
                            <a:rPr lang="en-US" sz="2000" i="1">
                              <a:latin typeface="Cambria Math" panose="02040503050406030204" pitchFamily="18" charset="0"/>
                            </a:rPr>
                            <m:t>𝑠</m:t>
                          </m:r>
                        </m:e>
                      </m:d>
                      <m:r>
                        <m:rPr>
                          <m:aln/>
                        </m:rPr>
                        <a:rPr lang="en-US" sz="2000" i="1">
                          <a:latin typeface="Cambria Math" panose="02040503050406030204" pitchFamily="18" charset="0"/>
                        </a:rPr>
                        <m:t>≝</m:t>
                      </m:r>
                      <m:d>
                        <m:dPr>
                          <m:begChr m:val="["/>
                          <m:endChr m:val="|"/>
                          <m:ctrlPr>
                            <a:rPr lang="en-US" sz="2000" i="1">
                              <a:latin typeface="Cambria Math" panose="02040503050406030204" pitchFamily="18" charset="0"/>
                              <a:ea typeface="Cambria Math" panose="02040503050406030204" pitchFamily="18" charset="0"/>
                            </a:rPr>
                          </m:ctrlPr>
                        </m:dPr>
                        <m:e>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𝑅</m:t>
                              </m:r>
                            </m:e>
                            <m:sub>
                              <m:r>
                                <a:rPr lang="en-US" sz="2000" i="1">
                                  <a:latin typeface="Cambria Math" panose="02040503050406030204" pitchFamily="18" charset="0"/>
                                  <a:ea typeface="Cambria Math" panose="02040503050406030204" pitchFamily="18" charset="0"/>
                                </a:rPr>
                                <m:t>𝑡</m:t>
                              </m:r>
                              <m:r>
                                <a:rPr lang="en-US" sz="2000" i="1">
                                  <a:latin typeface="Cambria Math" panose="02040503050406030204" pitchFamily="18" charset="0"/>
                                  <a:ea typeface="Cambria Math" panose="02040503050406030204" pitchFamily="18" charset="0"/>
                                </a:rPr>
                                <m:t>+1</m:t>
                              </m:r>
                            </m:sub>
                          </m:sSub>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𝛾</m:t>
                          </m:r>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𝑣</m:t>
                              </m:r>
                            </m:e>
                            <m:sub>
                              <m:r>
                                <a:rPr lang="en-US" sz="2000" b="0" i="1" smtClean="0">
                                  <a:latin typeface="Cambria Math" panose="02040503050406030204" pitchFamily="18" charset="0"/>
                                  <a:ea typeface="Cambria Math" panose="02040503050406030204" pitchFamily="18" charset="0"/>
                                </a:rPr>
                                <m:t>𝑘</m:t>
                              </m:r>
                            </m:sub>
                          </m:sSub>
                          <m:d>
                            <m:dPr>
                              <m:ctrlPr>
                                <a:rPr lang="en-US" sz="2000" i="1">
                                  <a:latin typeface="Cambria Math" panose="02040503050406030204" pitchFamily="18" charset="0"/>
                                  <a:ea typeface="Cambria Math" panose="02040503050406030204" pitchFamily="18" charset="0"/>
                                </a:rPr>
                              </m:ctrlPr>
                            </m:dPr>
                            <m:e>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𝑆</m:t>
                                  </m:r>
                                </m:e>
                                <m:sub>
                                  <m:r>
                                    <a:rPr lang="en-US" sz="2000" i="1">
                                      <a:latin typeface="Cambria Math" panose="02040503050406030204" pitchFamily="18" charset="0"/>
                                      <a:ea typeface="Cambria Math" panose="02040503050406030204" pitchFamily="18" charset="0"/>
                                    </a:rPr>
                                    <m:t>𝑡</m:t>
                                  </m:r>
                                  <m:r>
                                    <a:rPr lang="en-US" sz="2000" i="1">
                                      <a:latin typeface="Cambria Math" panose="02040503050406030204" pitchFamily="18" charset="0"/>
                                      <a:ea typeface="Cambria Math" panose="02040503050406030204" pitchFamily="18" charset="0"/>
                                    </a:rPr>
                                    <m:t>+1</m:t>
                                  </m:r>
                                </m:sub>
                              </m:sSub>
                            </m:e>
                          </m:d>
                        </m:e>
                      </m:d>
                      <m:sSub>
                        <m:sSubPr>
                          <m:ctrlPr>
                            <a:rPr lang="en-US" sz="2000" i="1">
                              <a:latin typeface="Cambria Math" panose="02040503050406030204" pitchFamily="18" charset="0"/>
                              <a:ea typeface="Cambria Math" panose="02040503050406030204" pitchFamily="18" charset="0"/>
                            </a:rPr>
                          </m:ctrlPr>
                        </m:sSubPr>
                        <m:e>
                          <m:r>
                            <a:rPr lang="en-US" sz="2000" i="1">
                              <a:latin typeface="Cambria Math" panose="02040503050406030204" pitchFamily="18" charset="0"/>
                              <a:ea typeface="Cambria Math" panose="02040503050406030204" pitchFamily="18" charset="0"/>
                            </a:rPr>
                            <m:t>𝑆</m:t>
                          </m:r>
                        </m:e>
                        <m:sub>
                          <m:r>
                            <a:rPr lang="en-US" sz="2000" i="1">
                              <a:latin typeface="Cambria Math" panose="02040503050406030204" pitchFamily="18" charset="0"/>
                              <a:ea typeface="Cambria Math" panose="02040503050406030204" pitchFamily="18" charset="0"/>
                            </a:rPr>
                            <m:t>𝑡</m:t>
                          </m:r>
                        </m:sub>
                      </m:sSub>
                      <m:r>
                        <a:rPr lang="en-US" sz="2000" i="1">
                          <a:latin typeface="Cambria Math" panose="02040503050406030204" pitchFamily="18" charset="0"/>
                          <a:ea typeface="Cambria Math" panose="02040503050406030204" pitchFamily="18" charset="0"/>
                        </a:rPr>
                        <m:t>=</m:t>
                      </m:r>
                      <m:r>
                        <a:rPr lang="en-US" sz="2000" i="1">
                          <a:latin typeface="Cambria Math" panose="02040503050406030204" pitchFamily="18" charset="0"/>
                          <a:ea typeface="Cambria Math" panose="02040503050406030204" pitchFamily="18" charset="0"/>
                        </a:rPr>
                        <m:t>𝑠</m:t>
                      </m:r>
                      <m:r>
                        <a:rPr lang="en-US" sz="2000" b="0" i="1" smtClean="0">
                          <a:latin typeface="Cambria Math" panose="02040503050406030204" pitchFamily="18" charset="0"/>
                          <a:ea typeface="Cambria Math" panose="02040503050406030204" pitchFamily="18" charset="0"/>
                        </a:rPr>
                        <m:t>]</m:t>
                      </m:r>
                    </m:oMath>
                    <m:oMath>
                      <m:r>
                        <m:rPr>
                          <m:aln/>
                        </m:rPr>
                        <a:rPr lang="en-US" sz="2000" i="1">
                          <a:latin typeface="Cambria Math" panose="02040503050406030204" pitchFamily="18" charset="0"/>
                        </a:rPr>
                        <m:t>=</m:t>
                      </m:r>
                      <m:nary>
                        <m:naryPr>
                          <m:chr m:val="∑"/>
                          <m:supHide m:val="on"/>
                          <m:ctrlPr>
                            <a:rPr lang="en-US" sz="2000" i="1">
                              <a:latin typeface="Cambria Math" panose="02040503050406030204" pitchFamily="18" charset="0"/>
                            </a:rPr>
                          </m:ctrlPr>
                        </m:naryPr>
                        <m:sub>
                          <m:r>
                            <a:rPr lang="en-US" sz="2000" i="1">
                              <a:latin typeface="Cambria Math" panose="02040503050406030204" pitchFamily="18" charset="0"/>
                            </a:rPr>
                            <m:t>𝑎</m:t>
                          </m:r>
                        </m:sub>
                        <m:sup/>
                        <m:e>
                          <m:r>
                            <a:rPr lang="en-US" sz="2000" i="1">
                              <a:latin typeface="Cambria Math" panose="02040503050406030204" pitchFamily="18" charset="0"/>
                            </a:rPr>
                            <m:t>𝜋</m:t>
                          </m:r>
                          <m:r>
                            <a:rPr lang="en-US" sz="2000" i="1">
                              <a:latin typeface="Cambria Math" panose="02040503050406030204" pitchFamily="18" charset="0"/>
                            </a:rPr>
                            <m:t>(</m:t>
                          </m:r>
                          <m:r>
                            <a:rPr lang="en-US" sz="2000" i="1">
                              <a:latin typeface="Cambria Math" panose="02040503050406030204" pitchFamily="18" charset="0"/>
                            </a:rPr>
                            <m:t>𝑎</m:t>
                          </m:r>
                          <m:r>
                            <a:rPr lang="en-US" sz="2000" i="1">
                              <a:latin typeface="Cambria Math" panose="02040503050406030204" pitchFamily="18" charset="0"/>
                            </a:rPr>
                            <m:t>|</m:t>
                          </m:r>
                          <m:r>
                            <a:rPr lang="en-US" sz="2000" i="1">
                              <a:latin typeface="Cambria Math" panose="02040503050406030204" pitchFamily="18" charset="0"/>
                            </a:rPr>
                            <m:t>𝑠</m:t>
                          </m:r>
                          <m:r>
                            <a:rPr lang="en-US" sz="2000" i="1">
                              <a:latin typeface="Cambria Math" panose="02040503050406030204" pitchFamily="18" charset="0"/>
                            </a:rPr>
                            <m:t>)</m:t>
                          </m:r>
                        </m:e>
                      </m:nary>
                      <m:nary>
                        <m:naryPr>
                          <m:chr m:val="∑"/>
                          <m:supHide m:val="on"/>
                          <m:ctrlPr>
                            <a:rPr lang="en-US" sz="2000" i="1">
                              <a:latin typeface="Cambria Math" panose="02040503050406030204" pitchFamily="18" charset="0"/>
                            </a:rPr>
                          </m:ctrlPr>
                        </m:naryPr>
                        <m:sub>
                          <m:sSup>
                            <m:sSupPr>
                              <m:ctrlPr>
                                <a:rPr lang="en-US" sz="2000" i="1">
                                  <a:latin typeface="Cambria Math" panose="02040503050406030204" pitchFamily="18" charset="0"/>
                                </a:rPr>
                              </m:ctrlPr>
                            </m:sSupPr>
                            <m:e>
                              <m:r>
                                <a:rPr lang="en-US" sz="2000" i="1">
                                  <a:latin typeface="Cambria Math" panose="02040503050406030204" pitchFamily="18" charset="0"/>
                                </a:rPr>
                                <m:t>𝑠</m:t>
                              </m:r>
                            </m:e>
                            <m:sup>
                              <m:r>
                                <a:rPr lang="en-US" sz="2000" i="1">
                                  <a:latin typeface="Cambria Math" panose="02040503050406030204" pitchFamily="18" charset="0"/>
                                </a:rPr>
                                <m:t>′</m:t>
                              </m:r>
                            </m:sup>
                          </m:sSup>
                          <m:r>
                            <a:rPr lang="en-US" sz="2000" i="1">
                              <a:latin typeface="Cambria Math" panose="02040503050406030204" pitchFamily="18" charset="0"/>
                            </a:rPr>
                            <m:t>,</m:t>
                          </m:r>
                          <m:r>
                            <a:rPr lang="en-US" sz="2000" i="1">
                              <a:latin typeface="Cambria Math" panose="02040503050406030204" pitchFamily="18" charset="0"/>
                            </a:rPr>
                            <m:t>𝑟</m:t>
                          </m:r>
                        </m:sub>
                        <m:sup/>
                        <m:e>
                          <m:r>
                            <a:rPr lang="en-US" sz="2000" i="1">
                              <a:latin typeface="Cambria Math" panose="02040503050406030204" pitchFamily="18" charset="0"/>
                            </a:rPr>
                            <m:t>𝑝</m:t>
                          </m:r>
                          <m:d>
                            <m:dPr>
                              <m:endChr m:val="|"/>
                              <m:ctrlPr>
                                <a:rPr lang="en-US" sz="2000" i="1">
                                  <a:latin typeface="Cambria Math" panose="02040503050406030204" pitchFamily="18" charset="0"/>
                                </a:rPr>
                              </m:ctrlPr>
                            </m:dPr>
                            <m:e>
                              <m:sSup>
                                <m:sSupPr>
                                  <m:ctrlPr>
                                    <a:rPr lang="en-US" sz="2000" i="1">
                                      <a:latin typeface="Cambria Math" panose="02040503050406030204" pitchFamily="18" charset="0"/>
                                    </a:rPr>
                                  </m:ctrlPr>
                                </m:sSupPr>
                                <m:e>
                                  <m:r>
                                    <a:rPr lang="en-US" sz="2000" i="1">
                                      <a:latin typeface="Cambria Math" panose="02040503050406030204" pitchFamily="18" charset="0"/>
                                    </a:rPr>
                                    <m:t>𝑠</m:t>
                                  </m:r>
                                </m:e>
                                <m:sup>
                                  <m:r>
                                    <a:rPr lang="en-US" sz="2000" i="1">
                                      <a:latin typeface="Cambria Math" panose="02040503050406030204" pitchFamily="18" charset="0"/>
                                    </a:rPr>
                                    <m:t>′</m:t>
                                  </m:r>
                                </m:sup>
                              </m:sSup>
                              <m:r>
                                <a:rPr lang="en-US" sz="2000" i="1">
                                  <a:latin typeface="Cambria Math" panose="02040503050406030204" pitchFamily="18" charset="0"/>
                                </a:rPr>
                                <m:t>,</m:t>
                              </m:r>
                              <m:r>
                                <a:rPr lang="en-US" sz="2000" i="1">
                                  <a:latin typeface="Cambria Math" panose="02040503050406030204" pitchFamily="18" charset="0"/>
                                </a:rPr>
                                <m:t>𝑟</m:t>
                              </m:r>
                              <m:r>
                                <a:rPr lang="en-US" sz="2000" i="1">
                                  <a:latin typeface="Cambria Math" panose="02040503050406030204" pitchFamily="18" charset="0"/>
                                </a:rPr>
                                <m:t> </m:t>
                              </m:r>
                            </m:e>
                          </m:d>
                          <m:r>
                            <a:rPr lang="en-US" sz="2000" i="1">
                              <a:latin typeface="Cambria Math" panose="02040503050406030204" pitchFamily="18" charset="0"/>
                            </a:rPr>
                            <m:t>𝑠</m:t>
                          </m:r>
                          <m:r>
                            <a:rPr lang="en-US" sz="2000" i="1">
                              <a:latin typeface="Cambria Math" panose="02040503050406030204" pitchFamily="18" charset="0"/>
                            </a:rPr>
                            <m:t>,</m:t>
                          </m:r>
                          <m:r>
                            <a:rPr lang="en-US" sz="2000" i="1">
                              <a:latin typeface="Cambria Math" panose="02040503050406030204" pitchFamily="18" charset="0"/>
                            </a:rPr>
                            <m:t>𝑎</m:t>
                          </m:r>
                          <m:r>
                            <a:rPr lang="en-US" sz="2000" i="1">
                              <a:latin typeface="Cambria Math" panose="02040503050406030204" pitchFamily="18" charset="0"/>
                            </a:rPr>
                            <m:t>)[</m:t>
                          </m:r>
                          <m:r>
                            <a:rPr lang="en-US" sz="2000" i="1">
                              <a:latin typeface="Cambria Math" panose="02040503050406030204" pitchFamily="18" charset="0"/>
                            </a:rPr>
                            <m:t>𝑟</m:t>
                          </m:r>
                          <m:r>
                            <a:rPr lang="en-US" sz="2000" i="1">
                              <a:latin typeface="Cambria Math" panose="02040503050406030204" pitchFamily="18" charset="0"/>
                            </a:rPr>
                            <m:t>+</m:t>
                          </m:r>
                          <m:r>
                            <a:rPr lang="en-US" sz="2000" i="1">
                              <a:latin typeface="Cambria Math" panose="02040503050406030204" pitchFamily="18" charset="0"/>
                            </a:rPr>
                            <m:t>𝛾</m:t>
                          </m:r>
                          <m:sSub>
                            <m:sSubPr>
                              <m:ctrlPr>
                                <a:rPr lang="en-US" sz="2000" i="1">
                                  <a:latin typeface="Cambria Math" panose="02040503050406030204" pitchFamily="18" charset="0"/>
                                </a:rPr>
                              </m:ctrlPr>
                            </m:sSubPr>
                            <m:e>
                              <m:r>
                                <a:rPr lang="en-US" sz="2000" i="1">
                                  <a:latin typeface="Cambria Math" panose="02040503050406030204" pitchFamily="18" charset="0"/>
                                </a:rPr>
                                <m:t>𝑣</m:t>
                              </m:r>
                            </m:e>
                            <m:sub>
                              <m:r>
                                <a:rPr lang="en-US" sz="2000" b="0" i="1" smtClean="0">
                                  <a:latin typeface="Cambria Math" panose="02040503050406030204" pitchFamily="18" charset="0"/>
                                </a:rPr>
                                <m:t>𝑘</m:t>
                              </m:r>
                            </m:sub>
                          </m:sSub>
                          <m:d>
                            <m:dPr>
                              <m:ctrlPr>
                                <a:rPr lang="en-US" sz="2000" i="1">
                                  <a:latin typeface="Cambria Math" panose="02040503050406030204" pitchFamily="18" charset="0"/>
                                </a:rPr>
                              </m:ctrlPr>
                            </m:dPr>
                            <m:e>
                              <m:sSup>
                                <m:sSupPr>
                                  <m:ctrlPr>
                                    <a:rPr lang="en-US" sz="2000" i="1">
                                      <a:latin typeface="Cambria Math" panose="02040503050406030204" pitchFamily="18" charset="0"/>
                                    </a:rPr>
                                  </m:ctrlPr>
                                </m:sSupPr>
                                <m:e>
                                  <m:r>
                                    <a:rPr lang="en-US" sz="2000" i="1">
                                      <a:latin typeface="Cambria Math" panose="02040503050406030204" pitchFamily="18" charset="0"/>
                                    </a:rPr>
                                    <m:t>𝑠</m:t>
                                  </m:r>
                                </m:e>
                                <m:sup>
                                  <m:r>
                                    <a:rPr lang="en-US" sz="2000" i="1">
                                      <a:latin typeface="Cambria Math" panose="02040503050406030204" pitchFamily="18" charset="0"/>
                                    </a:rPr>
                                    <m:t>′</m:t>
                                  </m:r>
                                </m:sup>
                              </m:sSup>
                            </m:e>
                          </m:d>
                          <m:r>
                            <a:rPr lang="en-US" sz="2000" i="1">
                              <a:latin typeface="Cambria Math" panose="02040503050406030204" pitchFamily="18" charset="0"/>
                            </a:rPr>
                            <m:t>]</m:t>
                          </m:r>
                        </m:e>
                      </m:nary>
                    </m:oMath>
                  </m:oMathPara>
                </a14:m>
                <a:endParaRPr lang="en-US" sz="2000" dirty="0"/>
              </a:p>
              <a:p>
                <a:pPr lvl="1"/>
                <a:endParaRPr lang="en-US" sz="2000" b="0" i="1" dirty="0">
                  <a:latin typeface="Cambria Math" panose="02040503050406030204" pitchFamily="18" charset="0"/>
                </a:endParaRPr>
              </a:p>
              <a:p>
                <a:pPr lvl="1"/>
                <a:endParaRPr lang="en-US" sz="2000" b="0" i="1" dirty="0">
                  <a:latin typeface="Cambria Math" panose="02040503050406030204" pitchFamily="18" charset="0"/>
                </a:endParaRPr>
              </a:p>
              <a:p>
                <a:pPr lvl="1"/>
                <a:endParaRPr lang="en-US" sz="2000" b="0" i="1" dirty="0">
                  <a:latin typeface="Cambria Math" panose="02040503050406030204" pitchFamily="18" charset="0"/>
                </a:endParaRPr>
              </a:p>
              <a:p>
                <a:pPr lvl="1"/>
                <a:endParaRPr lang="en-US" sz="2000" b="1" dirty="0"/>
              </a:p>
              <a:p>
                <a:pPr lvl="1"/>
                <a:r>
                  <a:rPr lang="en-US" sz="2000" b="1" dirty="0"/>
                  <a:t>Convergence</a:t>
                </a:r>
                <a:r>
                  <a:rPr lang="en-US" sz="2000" b="0" dirty="0"/>
                  <a:t>: </a:t>
                </a:r>
                <a:r>
                  <a:rPr lang="en-US" sz="2000" dirty="0"/>
                  <a:t>Updates converge to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𝑣</m:t>
                        </m:r>
                      </m:e>
                      <m:sub>
                        <m:r>
                          <a:rPr lang="en-US" sz="2000" i="1">
                            <a:latin typeface="Cambria Math" panose="02040503050406030204" pitchFamily="18" charset="0"/>
                          </a:rPr>
                          <m:t>𝜋</m:t>
                        </m:r>
                      </m:sub>
                    </m:sSub>
                  </m:oMath>
                </a14:m>
                <a:r>
                  <a:rPr lang="en-US" sz="2000" dirty="0"/>
                  <a:t> for </a:t>
                </a:r>
                <a14:m>
                  <m:oMath xmlns:m="http://schemas.openxmlformats.org/officeDocument/2006/math">
                    <m:r>
                      <a:rPr lang="en-US" sz="2000" b="0" i="1" smtClean="0">
                        <a:latin typeface="Cambria Math" panose="02040503050406030204" pitchFamily="18" charset="0"/>
                      </a:rPr>
                      <m:t>𝑘</m:t>
                    </m:r>
                    <m:r>
                      <a:rPr lang="en-US" sz="2000" b="0" i="1" smtClean="0">
                        <a:latin typeface="Cambria Math" panose="02040503050406030204" pitchFamily="18" charset="0"/>
                      </a:rPr>
                      <m:t>→∞</m:t>
                    </m:r>
                  </m:oMath>
                </a14:m>
                <a:r>
                  <a:rPr lang="en-US" sz="2000" dirty="0"/>
                  <a:t> iterations.</a:t>
                </a:r>
                <a:br>
                  <a:rPr lang="en-US" sz="2000" dirty="0"/>
                </a:br>
                <a:r>
                  <a:rPr lang="en-US" sz="2000" dirty="0"/>
                  <a:t>Reason is on the next slide.</a:t>
                </a:r>
              </a:p>
            </p:txBody>
          </p:sp>
        </mc:Choice>
        <mc:Fallback xmlns="">
          <p:sp>
            <p:nvSpPr>
              <p:cNvPr id="3" name="Content Placeholder 2" descr="Dynamic Programming: solves a complex optimization problem by breaking it down into smaller, overlapping subproblems and using their solutions to build the overall optimal solution. Start with arbitrary values for all v (s). Update all state values (called sweeping over the state space) using the Bellman Update (k is the iteration counter):. v sub k plus 1, (s) is defined as [R sub t plus 1, plus gamma v sub k (S sub t plus 1) | S sub t equals s]; equals the sum over a, of pi (a given s) the sum over s prime,r, of p (s prime,r | s,a)[r plus gamma v sub k (s prime)]. Convergence: Updates converge to v sub pi for k to infinity iterations. Reason is on the next slide">
                <a:extLst>
                  <a:ext uri="{FF2B5EF4-FFF2-40B4-BE49-F238E27FC236}">
                    <a16:creationId xmlns:a16="http://schemas.microsoft.com/office/drawing/2014/main" id="{C25F1F25-389C-B9C9-77EC-6351FB4FE076}"/>
                  </a:ext>
                </a:extLst>
              </p:cNvPr>
              <p:cNvSpPr>
                <a:spLocks noGrp="1" noRot="1" noChangeAspect="1" noMove="1" noResize="1" noEditPoints="1" noAdjustHandles="1" noChangeArrowheads="1" noChangeShapeType="1" noTextEdit="1"/>
              </p:cNvSpPr>
              <p:nvPr>
                <p:ph idx="1"/>
              </p:nvPr>
            </p:nvSpPr>
            <p:spPr>
              <a:xfrm>
                <a:off x="838200" y="1397330"/>
                <a:ext cx="7732419" cy="5120418"/>
              </a:xfrm>
              <a:blipFill>
                <a:blip r:embed="rId3"/>
                <a:stretch>
                  <a:fillRect l="-1025" t="-2381"/>
                </a:stretch>
              </a:blipFill>
            </p:spPr>
            <p:txBody>
              <a:bodyPr/>
              <a:lstStyle/>
              <a:p>
                <a:r>
                  <a:rPr lang="en-US">
                    <a:noFill/>
                  </a:rPr>
                  <a:t> </a:t>
                </a:r>
              </a:p>
            </p:txBody>
          </p:sp>
        </mc:Fallback>
      </mc:AlternateContent>
      <p:grpSp>
        <p:nvGrpSpPr>
          <p:cNvPr id="27" name="Group 26" descr="Sweep the state space: AIMA Figure 17.1. (a) A 3-by-4 grid world with 4 columns and 3 rows: the start is the bottom-left cell (1,1), terminal cells are +1 at (4,3) and −1 at (4,2), and cell (2,2) is a wall. (b) The transition model: the intended move succeeds with probability 0.8, and with probability 0.1 each the agent moves at right angles instead.">
            <a:extLst>
              <a:ext uri="{FF2B5EF4-FFF2-40B4-BE49-F238E27FC236}">
                <a16:creationId xmlns:a16="http://schemas.microsoft.com/office/drawing/2014/main" id="{CD6C0487-07CF-0018-3062-50B52F2A7AAD}"/>
              </a:ext>
            </a:extLst>
          </p:cNvPr>
          <p:cNvGrpSpPr/>
          <p:nvPr/>
        </p:nvGrpSpPr>
        <p:grpSpPr>
          <a:xfrm>
            <a:off x="8464259" y="1342160"/>
            <a:ext cx="3325726" cy="2180896"/>
            <a:chOff x="8464259" y="1342160"/>
            <a:chExt cx="3325726" cy="2180896"/>
          </a:xfrm>
        </p:grpSpPr>
        <p:sp>
          <p:nvSpPr>
            <p:cNvPr id="21" name="TextBox 20">
              <a:extLst>
                <a:ext uri="{FF2B5EF4-FFF2-40B4-BE49-F238E27FC236}">
                  <a16:creationId xmlns:a16="http://schemas.microsoft.com/office/drawing/2014/main" id="{E32527A9-170C-6824-B9CF-D3911C12D2CB}"/>
                </a:ext>
              </a:extLst>
            </p:cNvPr>
            <p:cNvSpPr txBox="1"/>
            <p:nvPr/>
          </p:nvSpPr>
          <p:spPr>
            <a:xfrm>
              <a:off x="8956148" y="1342160"/>
              <a:ext cx="2437818" cy="338554"/>
            </a:xfrm>
            <a:prstGeom prst="rect">
              <a:avLst/>
            </a:prstGeom>
            <a:noFill/>
          </p:spPr>
          <p:txBody>
            <a:bodyPr wrap="square">
              <a:spAutoFit/>
            </a:bodyPr>
            <a:lstStyle/>
            <a:p>
              <a:r>
                <a:rPr lang="en-US" sz="1600" dirty="0"/>
                <a:t>Sweep the state space</a:t>
              </a:r>
            </a:p>
          </p:txBody>
        </p:sp>
        <p:pic>
          <p:nvPicPr>
            <p:cNvPr id="10" name="Picture 2">
              <a:extLst>
                <a:ext uri="{FF2B5EF4-FFF2-40B4-BE49-F238E27FC236}">
                  <a16:creationId xmlns:a16="http://schemas.microsoft.com/office/drawing/2014/main" id="{AA982B42-2673-74EA-CFA0-028006FCF612}"/>
                </a:ext>
                <a:ext uri="{C183D7F6-B498-43B3-948B-1728B52AA6E4}">
                  <adec:decorative xmlns:adec="http://schemas.microsoft.com/office/drawing/2017/decorative" val="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464259" y="1838913"/>
              <a:ext cx="3325726" cy="1684143"/>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5" name="Group 24">
            <a:extLst>
              <a:ext uri="{FF2B5EF4-FFF2-40B4-BE49-F238E27FC236}">
                <a16:creationId xmlns:a16="http://schemas.microsoft.com/office/drawing/2014/main" id="{52543F45-3A9E-C880-1230-772119373948}"/>
              </a:ext>
              <a:ext uri="{C183D7F6-B498-43B3-948B-1728B52AA6E4}">
                <adec:decorative xmlns:adec="http://schemas.microsoft.com/office/drawing/2017/decorative" val="1"/>
              </a:ext>
            </a:extLst>
          </p:cNvPr>
          <p:cNvGrpSpPr/>
          <p:nvPr/>
        </p:nvGrpSpPr>
        <p:grpSpPr>
          <a:xfrm>
            <a:off x="146613" y="3573224"/>
            <a:ext cx="2299156" cy="1713408"/>
            <a:chOff x="8709114" y="1909044"/>
            <a:chExt cx="2660677" cy="2268522"/>
          </a:xfrm>
        </p:grpSpPr>
        <p:pic>
          <p:nvPicPr>
            <p:cNvPr id="9" name="Picture 8">
              <a:extLst>
                <a:ext uri="{FF2B5EF4-FFF2-40B4-BE49-F238E27FC236}">
                  <a16:creationId xmlns:a16="http://schemas.microsoft.com/office/drawing/2014/main" id="{DC4F431F-EEDB-B955-97C6-C588C6C939BA}"/>
                </a:ext>
                <a:ext uri="{C183D7F6-B498-43B3-948B-1728B52AA6E4}">
                  <adec:decorative xmlns:adec="http://schemas.microsoft.com/office/drawing/2017/decorative" val="1"/>
                </a:ext>
              </a:extLst>
            </p:cNvPr>
            <p:cNvPicPr>
              <a:picLocks noChangeAspect="1"/>
            </p:cNvPicPr>
            <p:nvPr/>
          </p:nvPicPr>
          <p:blipFill>
            <a:blip r:embed="rId5"/>
            <a:srcRect b="15184"/>
            <a:stretch>
              <a:fillRect/>
            </a:stretch>
          </p:blipFill>
          <p:spPr>
            <a:xfrm>
              <a:off x="8709114" y="2205386"/>
              <a:ext cx="2660677" cy="1972180"/>
            </a:xfrm>
            <a:prstGeom prst="rect">
              <a:avLst/>
            </a:prstGeom>
          </p:spPr>
        </p:pic>
        <p:sp>
          <p:nvSpPr>
            <p:cNvPr id="24" name="TextBox 23">
              <a:extLst>
                <a:ext uri="{FF2B5EF4-FFF2-40B4-BE49-F238E27FC236}">
                  <a16:creationId xmlns:a16="http://schemas.microsoft.com/office/drawing/2014/main" id="{E45E00C3-80D2-F1CC-F7E7-B3AD2D79EB12}"/>
                </a:ext>
              </a:extLst>
            </p:cNvPr>
            <p:cNvSpPr txBox="1"/>
            <p:nvPr/>
          </p:nvSpPr>
          <p:spPr>
            <a:xfrm>
              <a:off x="8928479" y="1909044"/>
              <a:ext cx="2177124" cy="389782"/>
            </a:xfrm>
            <a:prstGeom prst="rect">
              <a:avLst/>
            </a:prstGeom>
            <a:noFill/>
          </p:spPr>
          <p:txBody>
            <a:bodyPr wrap="square">
              <a:spAutoFit/>
            </a:bodyPr>
            <a:lstStyle/>
            <a:p>
              <a:pPr algn="ctr"/>
              <a:r>
                <a:rPr lang="en-US" sz="1400" dirty="0"/>
                <a:t>Backup diagram</a:t>
              </a:r>
            </a:p>
          </p:txBody>
        </p:sp>
      </p:grpSp>
      <p:grpSp>
        <p:nvGrpSpPr>
          <p:cNvPr id="4" name="Group 3" descr="Brace under the update, labelled: In DP called &quot;expected update.&quot; Uses the expectation over all possible actions and next states.">
            <a:extLst>
              <a:ext uri="{FF2B5EF4-FFF2-40B4-BE49-F238E27FC236}">
                <a16:creationId xmlns:a16="http://schemas.microsoft.com/office/drawing/2014/main" id="{92891670-5E19-0B92-2000-67EB986C67EA}"/>
              </a:ext>
            </a:extLst>
          </p:cNvPr>
          <p:cNvGrpSpPr/>
          <p:nvPr/>
        </p:nvGrpSpPr>
        <p:grpSpPr>
          <a:xfrm>
            <a:off x="3338818" y="4633526"/>
            <a:ext cx="4981697" cy="730954"/>
            <a:chOff x="2344485" y="3098314"/>
            <a:chExt cx="1813961" cy="730954"/>
          </a:xfrm>
        </p:grpSpPr>
        <p:sp>
          <p:nvSpPr>
            <p:cNvPr id="5" name="Right Brace 4">
              <a:extLst>
                <a:ext uri="{FF2B5EF4-FFF2-40B4-BE49-F238E27FC236}">
                  <a16:creationId xmlns:a16="http://schemas.microsoft.com/office/drawing/2014/main" id="{C6BB2930-2803-7CC6-BE5E-4F581F3D8212}"/>
                </a:ext>
                <a:ext uri="{C183D7F6-B498-43B3-948B-1728B52AA6E4}">
                  <adec:decorative xmlns:adec="http://schemas.microsoft.com/office/drawing/2017/decorative" val="1"/>
                </a:ext>
              </a:extLst>
            </p:cNvPr>
            <p:cNvSpPr/>
            <p:nvPr/>
          </p:nvSpPr>
          <p:spPr>
            <a:xfrm rot="5400000">
              <a:off x="3099931" y="2531679"/>
              <a:ext cx="257767" cy="1391038"/>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dirty="0"/>
            </a:p>
          </p:txBody>
        </p:sp>
        <p:sp>
          <p:nvSpPr>
            <p:cNvPr id="6" name="TextBox 5">
              <a:extLst>
                <a:ext uri="{FF2B5EF4-FFF2-40B4-BE49-F238E27FC236}">
                  <a16:creationId xmlns:a16="http://schemas.microsoft.com/office/drawing/2014/main" id="{90F03579-6BB3-CB46-DAC5-72EC42C594FC}"/>
                </a:ext>
              </a:extLst>
            </p:cNvPr>
            <p:cNvSpPr txBox="1"/>
            <p:nvPr/>
          </p:nvSpPr>
          <p:spPr>
            <a:xfrm>
              <a:off x="2344485" y="3306048"/>
              <a:ext cx="1813961" cy="523220"/>
            </a:xfrm>
            <a:prstGeom prst="rect">
              <a:avLst/>
            </a:prstGeom>
            <a:noFill/>
          </p:spPr>
          <p:txBody>
            <a:bodyPr wrap="square" rtlCol="0">
              <a:spAutoFit/>
            </a:bodyPr>
            <a:lstStyle/>
            <a:p>
              <a:pPr algn="ctr"/>
              <a:r>
                <a:rPr lang="en-US" sz="1400" dirty="0"/>
                <a:t>In DP called “expected update.”</a:t>
              </a:r>
              <a:br>
                <a:rPr lang="en-US" sz="1400" dirty="0"/>
              </a:br>
              <a:r>
                <a:rPr lang="en-US" sz="1400" dirty="0"/>
                <a:t>Uses the expectation over all possible actions and next states.</a:t>
              </a:r>
            </a:p>
          </p:txBody>
        </p:sp>
      </p:grpSp>
      <p:grpSp>
        <p:nvGrpSpPr>
          <p:cNvPr id="26" name="Group 25" descr="Bellman updates drawn as a sequence of arcs along a line from v sub 0 to v sub 1 and onward, each arc shorter than the last, converging to v pi; the distance between points represents the difference between value functions.">
            <a:extLst>
              <a:ext uri="{FF2B5EF4-FFF2-40B4-BE49-F238E27FC236}">
                <a16:creationId xmlns:a16="http://schemas.microsoft.com/office/drawing/2014/main" id="{43D5FCA8-6ACA-3C79-36FA-E785B877518C}"/>
              </a:ext>
            </a:extLst>
          </p:cNvPr>
          <p:cNvGrpSpPr/>
          <p:nvPr/>
        </p:nvGrpSpPr>
        <p:grpSpPr>
          <a:xfrm>
            <a:off x="8930583" y="4867978"/>
            <a:ext cx="2854818" cy="1480504"/>
            <a:chOff x="8867761" y="4764111"/>
            <a:chExt cx="2854818" cy="1480504"/>
          </a:xfrm>
        </p:grpSpPr>
        <p:grpSp>
          <p:nvGrpSpPr>
            <p:cNvPr id="8" name="Group 7" descr="Updating the value function using iterative Bellman updates.">
              <a:extLst>
                <a:ext uri="{FF2B5EF4-FFF2-40B4-BE49-F238E27FC236}">
                  <a16:creationId xmlns:a16="http://schemas.microsoft.com/office/drawing/2014/main" id="{E042F5F5-5CB0-3535-780C-93DC3965B4B3}"/>
                </a:ext>
              </a:extLst>
            </p:cNvPr>
            <p:cNvGrpSpPr/>
            <p:nvPr/>
          </p:nvGrpSpPr>
          <p:grpSpPr>
            <a:xfrm>
              <a:off x="8867761" y="4764111"/>
              <a:ext cx="2854818" cy="1428805"/>
              <a:chOff x="9337182" y="2229868"/>
              <a:chExt cx="2854818" cy="1428805"/>
            </a:xfrm>
          </p:grpSpPr>
          <p:cxnSp>
            <p:nvCxnSpPr>
              <p:cNvPr id="11" name="Straight Connector 10">
                <a:extLst>
                  <a:ext uri="{FF2B5EF4-FFF2-40B4-BE49-F238E27FC236}">
                    <a16:creationId xmlns:a16="http://schemas.microsoft.com/office/drawing/2014/main" id="{1876D76D-10B4-4679-F653-BD6BA18B2860}"/>
                  </a:ext>
                  <a:ext uri="{C183D7F6-B498-43B3-948B-1728B52AA6E4}">
                    <adec:decorative xmlns:adec="http://schemas.microsoft.com/office/drawing/2017/decorative" val="1"/>
                  </a:ext>
                </a:extLst>
              </p:cNvPr>
              <p:cNvCxnSpPr>
                <a:cxnSpLocks/>
              </p:cNvCxnSpPr>
              <p:nvPr/>
            </p:nvCxnSpPr>
            <p:spPr>
              <a:xfrm>
                <a:off x="9337182" y="3124199"/>
                <a:ext cx="2393078" cy="0"/>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 name="TextBox 8" descr="Equation: v sub pi">
                    <a:extLst>
                      <a:ext uri="{FF2B5EF4-FFF2-40B4-BE49-F238E27FC236}">
                        <a16:creationId xmlns:a16="http://schemas.microsoft.com/office/drawing/2014/main" id="{CD2E66AA-EA36-8916-48A7-F5C017DA6964}"/>
                      </a:ext>
                    </a:extLst>
                  </p:cNvPr>
                  <p:cNvSpPr txBox="1"/>
                  <p:nvPr/>
                </p:nvSpPr>
                <p:spPr>
                  <a:xfrm>
                    <a:off x="11425004" y="3092683"/>
                    <a:ext cx="766996" cy="369332"/>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14:m>
                      <m:oMathPara xmlns:m="http://schemas.openxmlformats.org/officeDocument/2006/math">
                        <m:o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𝑣</m:t>
                              </m:r>
                            </m:e>
                            <m:sub>
                              <m:r>
                                <a:rPr lang="en-US" sz="1800" b="0" i="1" smtClean="0">
                                  <a:latin typeface="Cambria Math" panose="02040503050406030204" pitchFamily="18" charset="0"/>
                                </a:rPr>
                                <m:t>𝜋</m:t>
                              </m:r>
                            </m:sub>
                          </m:sSub>
                        </m:oMath>
                      </m:oMathPara>
                    </a14:m>
                    <a:endParaRPr lang="en-US" dirty="0"/>
                  </a:p>
                </p:txBody>
              </p:sp>
            </mc:Choice>
            <mc:Fallback xmlns="">
              <p:sp>
                <p:nvSpPr>
                  <p:cNvPr id="12" name="TextBox 8" descr="Equation: v sub pi">
                    <a:extLst>
                      <a:ext uri="{FF2B5EF4-FFF2-40B4-BE49-F238E27FC236}">
                        <a16:creationId xmlns:a16="http://schemas.microsoft.com/office/drawing/2014/main" id="{115AA05C-2180-0AF6-A384-9D75BED15ED1}"/>
                      </a:ext>
                    </a:extLst>
                  </p:cNvPr>
                  <p:cNvSpPr txBox="1">
                    <a:spLocks noRot="1" noChangeAspect="1" noMove="1" noResize="1" noEditPoints="1" noAdjustHandles="1" noChangeArrowheads="1" noChangeShapeType="1" noTextEdit="1"/>
                  </p:cNvSpPr>
                  <p:nvPr/>
                </p:nvSpPr>
                <p:spPr>
                  <a:xfrm>
                    <a:off x="11425004" y="3092683"/>
                    <a:ext cx="766996" cy="369332"/>
                  </a:xfrm>
                  <a:prstGeom prst="rect">
                    <a:avLst/>
                  </a:prstGeom>
                  <a:blipFill>
                    <a:blip r:embed="rId6"/>
                    <a:stretch>
                      <a:fillRect/>
                    </a:stretch>
                  </a:blipFill>
                </p:spPr>
                <p:txBody>
                  <a:bodyPr/>
                  <a:lstStyle/>
                  <a:p>
                    <a:r>
                      <a:rPr lang="en-US">
                        <a:noFill/>
                      </a:rPr>
                      <a:t> </a:t>
                    </a:r>
                  </a:p>
                </p:txBody>
              </p:sp>
            </mc:Fallback>
          </mc:AlternateContent>
          <p:sp>
            <p:nvSpPr>
              <p:cNvPr id="13" name="Arc 12">
                <a:extLst>
                  <a:ext uri="{FF2B5EF4-FFF2-40B4-BE49-F238E27FC236}">
                    <a16:creationId xmlns:a16="http://schemas.microsoft.com/office/drawing/2014/main" id="{A915BDCA-A78B-A713-EF2C-BD76D59CE4C3}"/>
                  </a:ext>
                  <a:ext uri="{C183D7F6-B498-43B3-948B-1728B52AA6E4}">
                    <adec:decorative xmlns:adec="http://schemas.microsoft.com/office/drawing/2017/decorative" val="1"/>
                  </a:ext>
                </a:extLst>
              </p:cNvPr>
              <p:cNvSpPr/>
              <p:nvPr/>
            </p:nvSpPr>
            <p:spPr>
              <a:xfrm>
                <a:off x="9760371" y="2649297"/>
                <a:ext cx="574339" cy="1009376"/>
              </a:xfrm>
              <a:prstGeom prst="arc">
                <a:avLst>
                  <a:gd name="adj1" fmla="val 10871568"/>
                  <a:gd name="adj2" fmla="val 0"/>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14" name="Arc 13">
                <a:extLst>
                  <a:ext uri="{FF2B5EF4-FFF2-40B4-BE49-F238E27FC236}">
                    <a16:creationId xmlns:a16="http://schemas.microsoft.com/office/drawing/2014/main" id="{9046C63F-C083-8CE3-5B67-AD0FC59C20CB}"/>
                  </a:ext>
                  <a:ext uri="{C183D7F6-B498-43B3-948B-1728B52AA6E4}">
                    <adec:decorative xmlns:adec="http://schemas.microsoft.com/office/drawing/2017/decorative" val="1"/>
                  </a:ext>
                </a:extLst>
              </p:cNvPr>
              <p:cNvSpPr/>
              <p:nvPr/>
            </p:nvSpPr>
            <p:spPr>
              <a:xfrm>
                <a:off x="10334710" y="2614308"/>
                <a:ext cx="765785" cy="1019782"/>
              </a:xfrm>
              <a:prstGeom prst="arc">
                <a:avLst>
                  <a:gd name="adj1" fmla="val 10871568"/>
                  <a:gd name="adj2" fmla="val 0"/>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15" name="Arc 14">
                <a:extLst>
                  <a:ext uri="{FF2B5EF4-FFF2-40B4-BE49-F238E27FC236}">
                    <a16:creationId xmlns:a16="http://schemas.microsoft.com/office/drawing/2014/main" id="{FA9CADED-6B11-F60E-3E70-35BC15580022}"/>
                  </a:ext>
                  <a:ext uri="{C183D7F6-B498-43B3-948B-1728B52AA6E4}">
                    <adec:decorative xmlns:adec="http://schemas.microsoft.com/office/drawing/2017/decorative" val="1"/>
                  </a:ext>
                </a:extLst>
              </p:cNvPr>
              <p:cNvSpPr/>
              <p:nvPr/>
            </p:nvSpPr>
            <p:spPr>
              <a:xfrm>
                <a:off x="11100495" y="2627412"/>
                <a:ext cx="220048" cy="1019782"/>
              </a:xfrm>
              <a:prstGeom prst="arc">
                <a:avLst>
                  <a:gd name="adj1" fmla="val 10871568"/>
                  <a:gd name="adj2" fmla="val 0"/>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16" name="Arc 15">
                <a:extLst>
                  <a:ext uri="{FF2B5EF4-FFF2-40B4-BE49-F238E27FC236}">
                    <a16:creationId xmlns:a16="http://schemas.microsoft.com/office/drawing/2014/main" id="{2124ACB0-C3FA-2FAA-37B1-C6EECFECCE0B}"/>
                  </a:ext>
                  <a:ext uri="{C183D7F6-B498-43B3-948B-1728B52AA6E4}">
                    <adec:decorative xmlns:adec="http://schemas.microsoft.com/office/drawing/2017/decorative" val="1"/>
                  </a:ext>
                </a:extLst>
              </p:cNvPr>
              <p:cNvSpPr/>
              <p:nvPr/>
            </p:nvSpPr>
            <p:spPr>
              <a:xfrm>
                <a:off x="11308888" y="2648522"/>
                <a:ext cx="417487" cy="951353"/>
              </a:xfrm>
              <a:prstGeom prst="arc">
                <a:avLst>
                  <a:gd name="adj1" fmla="val 10871568"/>
                  <a:gd name="adj2" fmla="val 0"/>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mc:AlternateContent xmlns:mc="http://schemas.openxmlformats.org/markup-compatibility/2006" xmlns:a14="http://schemas.microsoft.com/office/drawing/2010/main">
            <mc:Choice Requires="a14">
              <p:sp>
                <p:nvSpPr>
                  <p:cNvPr id="17" name="TextBox 29" descr="Equation: v sub 0">
                    <a:extLst>
                      <a:ext uri="{FF2B5EF4-FFF2-40B4-BE49-F238E27FC236}">
                        <a16:creationId xmlns:a16="http://schemas.microsoft.com/office/drawing/2014/main" id="{9FFAF23B-1B2A-B56C-21FE-4753439D8E51}"/>
                      </a:ext>
                    </a:extLst>
                  </p:cNvPr>
                  <p:cNvSpPr txBox="1"/>
                  <p:nvPr/>
                </p:nvSpPr>
                <p:spPr>
                  <a:xfrm>
                    <a:off x="9564903" y="3086337"/>
                    <a:ext cx="395810" cy="369332"/>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14:m>
                      <m:oMathPara xmlns:m="http://schemas.openxmlformats.org/officeDocument/2006/math">
                        <m:o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𝑣</m:t>
                              </m:r>
                            </m:e>
                            <m:sub>
                              <m:r>
                                <a:rPr lang="en-US" sz="1800" b="0" i="1" smtClean="0">
                                  <a:latin typeface="Cambria Math" panose="02040503050406030204" pitchFamily="18" charset="0"/>
                                </a:rPr>
                                <m:t>0</m:t>
                              </m:r>
                            </m:sub>
                          </m:sSub>
                        </m:oMath>
                      </m:oMathPara>
                    </a14:m>
                    <a:endParaRPr lang="en-US" dirty="0"/>
                  </a:p>
                </p:txBody>
              </p:sp>
            </mc:Choice>
            <mc:Fallback xmlns="">
              <p:sp>
                <p:nvSpPr>
                  <p:cNvPr id="17" name="TextBox 29" descr="Equation: v sub 0">
                    <a:extLst>
                      <a:ext uri="{FF2B5EF4-FFF2-40B4-BE49-F238E27FC236}">
                        <a16:creationId xmlns:a16="http://schemas.microsoft.com/office/drawing/2014/main" id="{6DB673C8-2425-685A-8CBE-35EDDCA1EB91}"/>
                      </a:ext>
                    </a:extLst>
                  </p:cNvPr>
                  <p:cNvSpPr txBox="1">
                    <a:spLocks noRot="1" noChangeAspect="1" noMove="1" noResize="1" noEditPoints="1" noAdjustHandles="1" noChangeArrowheads="1" noChangeShapeType="1" noTextEdit="1"/>
                  </p:cNvSpPr>
                  <p:nvPr/>
                </p:nvSpPr>
                <p:spPr>
                  <a:xfrm>
                    <a:off x="9564903" y="3086337"/>
                    <a:ext cx="395810"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30" descr="Equation: v sub 1">
                    <a:extLst>
                      <a:ext uri="{FF2B5EF4-FFF2-40B4-BE49-F238E27FC236}">
                        <a16:creationId xmlns:a16="http://schemas.microsoft.com/office/drawing/2014/main" id="{6147F0A6-B8EB-E05B-C1C0-350546463BA5}"/>
                      </a:ext>
                    </a:extLst>
                  </p:cNvPr>
                  <p:cNvSpPr txBox="1"/>
                  <p:nvPr/>
                </p:nvSpPr>
                <p:spPr>
                  <a:xfrm>
                    <a:off x="10066895" y="3115740"/>
                    <a:ext cx="395810" cy="369332"/>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14:m>
                      <m:oMathPara xmlns:m="http://schemas.openxmlformats.org/officeDocument/2006/math">
                        <m:o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𝑣</m:t>
                              </m:r>
                            </m:e>
                            <m:sub>
                              <m:r>
                                <a:rPr lang="en-US" sz="1800" b="0" i="1" smtClean="0">
                                  <a:latin typeface="Cambria Math" panose="02040503050406030204" pitchFamily="18" charset="0"/>
                                </a:rPr>
                                <m:t>1</m:t>
                              </m:r>
                            </m:sub>
                          </m:sSub>
                        </m:oMath>
                      </m:oMathPara>
                    </a14:m>
                    <a:endParaRPr lang="en-US" dirty="0"/>
                  </a:p>
                </p:txBody>
              </p:sp>
            </mc:Choice>
            <mc:Fallback xmlns="">
              <p:sp>
                <p:nvSpPr>
                  <p:cNvPr id="18" name="TextBox 30" descr="Equation: v sub 1">
                    <a:extLst>
                      <a:ext uri="{FF2B5EF4-FFF2-40B4-BE49-F238E27FC236}">
                        <a16:creationId xmlns:a16="http://schemas.microsoft.com/office/drawing/2014/main" id="{56DA2FE2-AC26-7B66-B5BD-7064ECD50CE7}"/>
                      </a:ext>
                    </a:extLst>
                  </p:cNvPr>
                  <p:cNvSpPr txBox="1">
                    <a:spLocks noRot="1" noChangeAspect="1" noMove="1" noResize="1" noEditPoints="1" noAdjustHandles="1" noChangeArrowheads="1" noChangeShapeType="1" noTextEdit="1"/>
                  </p:cNvSpPr>
                  <p:nvPr/>
                </p:nvSpPr>
                <p:spPr>
                  <a:xfrm>
                    <a:off x="10066895" y="3115740"/>
                    <a:ext cx="395810" cy="369332"/>
                  </a:xfrm>
                  <a:prstGeom prst="rect">
                    <a:avLst/>
                  </a:prstGeom>
                  <a:blipFill>
                    <a:blip r:embed="rId8"/>
                    <a:stretch>
                      <a:fillRect/>
                    </a:stretch>
                  </a:blipFill>
                </p:spPr>
                <p:txBody>
                  <a:bodyPr/>
                  <a:lstStyle/>
                  <a:p>
                    <a:r>
                      <a:rPr lang="en-US">
                        <a:noFill/>
                      </a:rPr>
                      <a:t> </a:t>
                    </a:r>
                  </a:p>
                </p:txBody>
              </p:sp>
            </mc:Fallback>
          </mc:AlternateContent>
          <p:sp>
            <p:nvSpPr>
              <p:cNvPr id="19" name="Oval 18">
                <a:extLst>
                  <a:ext uri="{FF2B5EF4-FFF2-40B4-BE49-F238E27FC236}">
                    <a16:creationId xmlns:a16="http://schemas.microsoft.com/office/drawing/2014/main" id="{15DA345C-A981-1A04-9E3B-9233BA91B30B}"/>
                  </a:ext>
                  <a:ext uri="{C183D7F6-B498-43B3-948B-1728B52AA6E4}">
                    <adec:decorative xmlns:adec="http://schemas.microsoft.com/office/drawing/2017/decorative" val="1"/>
                  </a:ext>
                </a:extLst>
              </p:cNvPr>
              <p:cNvSpPr/>
              <p:nvPr/>
            </p:nvSpPr>
            <p:spPr>
              <a:xfrm>
                <a:off x="11680507" y="3066584"/>
                <a:ext cx="127995" cy="117892"/>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0" name="TextBox 35">
                <a:extLst>
                  <a:ext uri="{FF2B5EF4-FFF2-40B4-BE49-F238E27FC236}">
                    <a16:creationId xmlns:a16="http://schemas.microsoft.com/office/drawing/2014/main" id="{89DB2870-24A4-433E-3096-F45510D7F24A}"/>
                  </a:ext>
                  <a:ext uri="{C183D7F6-B498-43B3-948B-1728B52AA6E4}">
                    <adec:decorative xmlns:adec="http://schemas.microsoft.com/office/drawing/2017/decorative" val="1"/>
                  </a:ext>
                </a:extLst>
              </p:cNvPr>
              <p:cNvSpPr txBox="1"/>
              <p:nvPr/>
            </p:nvSpPr>
            <p:spPr>
              <a:xfrm>
                <a:off x="9337182" y="2229868"/>
                <a:ext cx="1796338" cy="338554"/>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600" dirty="0"/>
                  <a:t>Bellman updates</a:t>
                </a:r>
              </a:p>
            </p:txBody>
          </p:sp>
        </p:grpSp>
        <p:sp>
          <p:nvSpPr>
            <p:cNvPr id="22" name="TextBox 21">
              <a:extLst>
                <a:ext uri="{FF2B5EF4-FFF2-40B4-BE49-F238E27FC236}">
                  <a16:creationId xmlns:a16="http://schemas.microsoft.com/office/drawing/2014/main" id="{DA226FBF-E15E-0A93-5374-77CBC09832B9}"/>
                </a:ext>
              </a:extLst>
            </p:cNvPr>
            <p:cNvSpPr txBox="1"/>
            <p:nvPr/>
          </p:nvSpPr>
          <p:spPr>
            <a:xfrm>
              <a:off x="9189345" y="5967616"/>
              <a:ext cx="1978780" cy="276999"/>
            </a:xfrm>
            <a:prstGeom prst="rect">
              <a:avLst/>
            </a:prstGeom>
            <a:noFill/>
          </p:spPr>
          <p:txBody>
            <a:bodyPr wrap="square" rtlCol="0">
              <a:spAutoFit/>
            </a:bodyPr>
            <a:lstStyle/>
            <a:p>
              <a:pPr algn="ctr"/>
              <a:r>
                <a:rPr lang="en-US" sz="1200" dirty="0"/>
                <a:t>Distance means difference</a:t>
              </a:r>
            </a:p>
          </p:txBody>
        </p:sp>
      </p:grpSp>
    </p:spTree>
    <p:extLst>
      <p:ext uri="{BB962C8B-B14F-4D97-AF65-F5344CB8AC3E}">
        <p14:creationId xmlns:p14="http://schemas.microsoft.com/office/powerpoint/2010/main" val="13130349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0" end="1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C72B55-524F-2A13-6BD8-9A03EF8EAF5D}"/>
              </a:ext>
            </a:extLst>
          </p:cNvPr>
          <p:cNvSpPr>
            <a:spLocks noGrp="1"/>
          </p:cNvSpPr>
          <p:nvPr>
            <p:ph type="title"/>
          </p:nvPr>
        </p:nvSpPr>
        <p:spPr/>
        <p:txBody>
          <a:bodyPr/>
          <a:lstStyle/>
          <a:p>
            <a:r>
              <a:rPr lang="en-US" dirty="0"/>
              <a:t>Convergence of Iterative Policy Evaluation</a:t>
            </a:r>
          </a:p>
        </p:txBody>
      </p:sp>
      <mc:AlternateContent xmlns:mc="http://schemas.openxmlformats.org/markup-compatibility/2006" xmlns:a14="http://schemas.microsoft.com/office/drawing/2010/main">
        <mc:Choice Requires="a14">
          <p:sp>
            <p:nvSpPr>
              <p:cNvPr id="3" name="Content Placeholder 2" descr="The Bellman update can be rewritten as an operator: Bellman Expectation Operator T to the power pi :. (T to the power pi v) (s) equals the sum over a, of pi (a given s) the sum over s prime,r, of p (s prime,r | s,a)[r plus gamma v (s prime)]. The Fixed Point Property: The value function is unchanged if all state values are already consistent. v sub pi equals T to the power pi (v sub pi). The Contraction Property: The operator T to the power pi is gamma -contracting (see textbook for derivation): the norm of T to the power pi u minus T to the power pi v sub infinity is less than or equal to gamma the norm of u minus v sub infinity for any gamma is less than 1 I.e. : Applying T to the power pi reduces the largest difference (infinity norm) between any arbitrary value functions u and v by at least a factor of gamma. This implies: the norm of v sub pi minus T to the power pi v sub infinity is less than or equal to gamma the norm of v sub pi minus v sub infinity for any gamma is less than 1">
                <a:extLst>
                  <a:ext uri="{FF2B5EF4-FFF2-40B4-BE49-F238E27FC236}">
                    <a16:creationId xmlns:a16="http://schemas.microsoft.com/office/drawing/2014/main" id="{1FC648E6-02D2-1E64-6265-DB7D1C1179F6}"/>
                  </a:ext>
                </a:extLst>
              </p:cNvPr>
              <p:cNvSpPr>
                <a:spLocks noGrp="1"/>
              </p:cNvSpPr>
              <p:nvPr>
                <p:ph idx="1"/>
              </p:nvPr>
            </p:nvSpPr>
            <p:spPr>
              <a:xfrm>
                <a:off x="838200" y="1397330"/>
                <a:ext cx="8581869" cy="4145562"/>
              </a:xfrm>
            </p:spPr>
            <p:txBody>
              <a:bodyPr>
                <a:normAutofit fontScale="55000" lnSpcReduction="20000"/>
              </a:bodyPr>
              <a:lstStyle/>
              <a:p>
                <a:r>
                  <a:rPr lang="en-US" dirty="0"/>
                  <a:t>The Bellman update can be rewritten as an operator:</a:t>
                </a:r>
                <a:br>
                  <a:rPr lang="en-US" dirty="0"/>
                </a:br>
                <a:r>
                  <a:rPr lang="en-US" b="1" dirty="0"/>
                  <a:t>Bellman Expectation Operator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𝜋</m:t>
                        </m:r>
                      </m:sup>
                    </m:sSup>
                  </m:oMath>
                </a14:m>
                <a:r>
                  <a:rPr lang="en-US" dirty="0"/>
                  <a:t>:</a:t>
                </a:r>
              </a:p>
              <a:p>
                <a:endParaRPr lang="en-US" dirty="0"/>
              </a:p>
              <a:p>
                <a:pPr marL="0" indent="0">
                  <a:buNone/>
                </a:pPr>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m:t>
                          </m:r>
                          <m:r>
                            <a:rPr lang="en-US" b="0" i="1" smtClean="0">
                              <a:latin typeface="Cambria Math" panose="02040503050406030204" pitchFamily="18" charset="0"/>
                            </a:rPr>
                            <m:t>𝑇</m:t>
                          </m:r>
                        </m:e>
                        <m:sup>
                          <m:r>
                            <a:rPr lang="en-US" b="0" i="1" smtClean="0">
                              <a:latin typeface="Cambria Math" panose="02040503050406030204" pitchFamily="18" charset="0"/>
                            </a:rPr>
                            <m:t>𝜋</m:t>
                          </m:r>
                        </m:sup>
                      </m:sSup>
                      <m:r>
                        <a:rPr lang="en-US" b="0" i="1" smtClean="0">
                          <a:latin typeface="Cambria Math" panose="02040503050406030204" pitchFamily="18" charset="0"/>
                        </a:rPr>
                        <m:t>𝑣</m:t>
                      </m:r>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r>
                        <a:rPr lang="en-US" b="0" i="1" smtClean="0">
                          <a:latin typeface="Cambria Math" panose="02040503050406030204" pitchFamily="18" charset="0"/>
                        </a:rPr>
                        <m:t>=</m:t>
                      </m:r>
                      <m:nary>
                        <m:naryPr>
                          <m:chr m:val="∑"/>
                          <m:supHide m:val="on"/>
                          <m:ctrlPr>
                            <a:rPr lang="en-US" i="1">
                              <a:latin typeface="Cambria Math" panose="02040503050406030204" pitchFamily="18" charset="0"/>
                            </a:rPr>
                          </m:ctrlPr>
                        </m:naryPr>
                        <m:sub>
                          <m:r>
                            <a:rPr lang="en-US" i="1">
                              <a:latin typeface="Cambria Math" panose="02040503050406030204" pitchFamily="18" charset="0"/>
                            </a:rPr>
                            <m:t>𝑎</m:t>
                          </m:r>
                        </m:sub>
                        <m:sup/>
                        <m:e>
                          <m:r>
                            <a:rPr lang="en-US" i="1">
                              <a:latin typeface="Cambria Math" panose="02040503050406030204" pitchFamily="18" charset="0"/>
                            </a:rPr>
                            <m:t>𝜋</m:t>
                          </m:r>
                          <m:r>
                            <a:rPr lang="en-US" i="1">
                              <a:latin typeface="Cambria Math" panose="02040503050406030204" pitchFamily="18" charset="0"/>
                            </a:rPr>
                            <m:t>(</m:t>
                          </m:r>
                          <m:r>
                            <a:rPr lang="en-US" i="1">
                              <a:latin typeface="Cambria Math" panose="02040503050406030204" pitchFamily="18" charset="0"/>
                            </a:rPr>
                            <m:t>𝑎</m:t>
                          </m:r>
                          <m:r>
                            <a:rPr lang="en-US" i="1">
                              <a:latin typeface="Cambria Math" panose="02040503050406030204" pitchFamily="18" charset="0"/>
                            </a:rPr>
                            <m:t>|</m:t>
                          </m:r>
                          <m:r>
                            <a:rPr lang="en-US" i="1">
                              <a:latin typeface="Cambria Math" panose="02040503050406030204" pitchFamily="18" charset="0"/>
                            </a:rPr>
                            <m:t>𝑠</m:t>
                          </m:r>
                          <m:r>
                            <a:rPr lang="en-US" i="1">
                              <a:latin typeface="Cambria Math" panose="02040503050406030204" pitchFamily="18" charset="0"/>
                            </a:rPr>
                            <m:t>)</m:t>
                          </m:r>
                        </m:e>
                      </m:nary>
                      <m:nary>
                        <m:naryPr>
                          <m:chr m:val="∑"/>
                          <m:supHide m:val="on"/>
                          <m:ctrlPr>
                            <a:rPr lang="en-US" i="1">
                              <a:latin typeface="Cambria Math" panose="02040503050406030204" pitchFamily="18" charset="0"/>
                            </a:rPr>
                          </m:ctrlPr>
                        </m:naryPr>
                        <m:sub>
                          <m:sSup>
                            <m:sSupPr>
                              <m:ctrlPr>
                                <a:rPr lang="en-US" i="1">
                                  <a:latin typeface="Cambria Math" panose="02040503050406030204" pitchFamily="18" charset="0"/>
                                </a:rPr>
                              </m:ctrlPr>
                            </m:sSupPr>
                            <m:e>
                              <m:r>
                                <a:rPr lang="en-US" i="1">
                                  <a:latin typeface="Cambria Math" panose="02040503050406030204" pitchFamily="18" charset="0"/>
                                </a:rPr>
                                <m:t>𝑠</m:t>
                              </m:r>
                            </m:e>
                            <m:sup>
                              <m:r>
                                <a:rPr lang="en-US" i="1">
                                  <a:latin typeface="Cambria Math" panose="02040503050406030204" pitchFamily="18" charset="0"/>
                                </a:rPr>
                                <m:t>′</m:t>
                              </m:r>
                            </m:sup>
                          </m:sSup>
                          <m:r>
                            <a:rPr lang="en-US" i="1">
                              <a:latin typeface="Cambria Math" panose="02040503050406030204" pitchFamily="18" charset="0"/>
                            </a:rPr>
                            <m:t>,</m:t>
                          </m:r>
                          <m:r>
                            <a:rPr lang="en-US" i="1">
                              <a:latin typeface="Cambria Math" panose="02040503050406030204" pitchFamily="18" charset="0"/>
                            </a:rPr>
                            <m:t>𝑟</m:t>
                          </m:r>
                        </m:sub>
                        <m:sup/>
                        <m:e>
                          <m:r>
                            <a:rPr lang="en-US" i="1">
                              <a:latin typeface="Cambria Math" panose="02040503050406030204" pitchFamily="18" charset="0"/>
                            </a:rPr>
                            <m:t>𝑝</m:t>
                          </m:r>
                          <m:d>
                            <m:dPr>
                              <m:endChr m:val="|"/>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𝑠</m:t>
                                  </m:r>
                                </m:e>
                                <m:sup>
                                  <m:r>
                                    <a:rPr lang="en-US" i="1">
                                      <a:latin typeface="Cambria Math" panose="02040503050406030204" pitchFamily="18" charset="0"/>
                                    </a:rPr>
                                    <m:t>′</m:t>
                                  </m:r>
                                </m:sup>
                              </m:sSup>
                              <m:r>
                                <a:rPr lang="en-US" i="1">
                                  <a:latin typeface="Cambria Math" panose="02040503050406030204" pitchFamily="18" charset="0"/>
                                </a:rPr>
                                <m:t>,</m:t>
                              </m:r>
                              <m:r>
                                <a:rPr lang="en-US" i="1">
                                  <a:latin typeface="Cambria Math" panose="02040503050406030204" pitchFamily="18" charset="0"/>
                                </a:rPr>
                                <m:t>𝑟</m:t>
                              </m:r>
                              <m:r>
                                <a:rPr lang="en-US" i="1">
                                  <a:latin typeface="Cambria Math" panose="02040503050406030204" pitchFamily="18" charset="0"/>
                                </a:rPr>
                                <m:t> </m:t>
                              </m:r>
                            </m:e>
                          </m:d>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𝑎</m:t>
                          </m:r>
                          <m:r>
                            <a:rPr lang="en-US" i="1">
                              <a:latin typeface="Cambria Math" panose="02040503050406030204" pitchFamily="18" charset="0"/>
                            </a:rPr>
                            <m:t>)[</m:t>
                          </m:r>
                          <m:r>
                            <a:rPr lang="en-US" i="1">
                              <a:latin typeface="Cambria Math" panose="02040503050406030204" pitchFamily="18" charset="0"/>
                            </a:rPr>
                            <m:t>𝑟</m:t>
                          </m:r>
                          <m:r>
                            <a:rPr lang="en-US" i="1">
                              <a:latin typeface="Cambria Math" panose="02040503050406030204" pitchFamily="18" charset="0"/>
                            </a:rPr>
                            <m:t>+</m:t>
                          </m:r>
                          <m:r>
                            <a:rPr lang="en-US" i="1">
                              <a:latin typeface="Cambria Math" panose="02040503050406030204" pitchFamily="18" charset="0"/>
                            </a:rPr>
                            <m:t>𝛾</m:t>
                          </m:r>
                          <m:r>
                            <a:rPr lang="en-US" b="0" i="1" smtClean="0">
                              <a:latin typeface="Cambria Math" panose="02040503050406030204" pitchFamily="18" charset="0"/>
                            </a:rPr>
                            <m:t>𝑣</m:t>
                          </m:r>
                          <m:d>
                            <m:dPr>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𝑠</m:t>
                                  </m:r>
                                </m:e>
                                <m:sup>
                                  <m:r>
                                    <a:rPr lang="en-US" i="1">
                                      <a:latin typeface="Cambria Math" panose="02040503050406030204" pitchFamily="18" charset="0"/>
                                    </a:rPr>
                                    <m:t>′</m:t>
                                  </m:r>
                                </m:sup>
                              </m:sSup>
                            </m:e>
                          </m:d>
                          <m:r>
                            <a:rPr lang="en-US" i="1">
                              <a:latin typeface="Cambria Math" panose="02040503050406030204" pitchFamily="18" charset="0"/>
                            </a:rPr>
                            <m:t>]</m:t>
                          </m:r>
                        </m:e>
                      </m:nary>
                    </m:oMath>
                  </m:oMathPara>
                </a14:m>
                <a:endParaRPr lang="en-US" dirty="0"/>
              </a:p>
              <a:p>
                <a:endParaRPr lang="en-US" dirty="0"/>
              </a:p>
              <a:p>
                <a:r>
                  <a:rPr lang="en-US" b="1" dirty="0"/>
                  <a:t>The Fixed Point Property: </a:t>
                </a:r>
                <a:r>
                  <a:rPr lang="en-US" dirty="0"/>
                  <a:t>The value function is unchanged if all state values are already consistent.</a:t>
                </a:r>
              </a:p>
              <a:p>
                <a:pPr marL="0" indent="0">
                  <a:buNone/>
                </a:pPr>
                <a14:m>
                  <m:oMathPara xmlns:m="http://schemas.openxmlformats.org/officeDocument/2006/math">
                    <m:oMath>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rPr>
                            <m:t>𝜋</m:t>
                          </m:r>
                        </m:sub>
                      </m:sSub>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𝑇</m:t>
                          </m:r>
                        </m:e>
                        <m:sup>
                          <m:r>
                            <a:rPr lang="en-US" i="1">
                              <a:latin typeface="Cambria Math" panose="02040503050406030204" pitchFamily="18" charset="0"/>
                            </a:rPr>
                            <m:t>𝜋</m:t>
                          </m:r>
                        </m:sup>
                      </m:sSup>
                      <m:d>
                        <m:dPr>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rPr>
                                <m:t>𝜋</m:t>
                              </m:r>
                            </m:sub>
                          </m:sSub>
                        </m:e>
                      </m:d>
                    </m:oMath>
                  </m:oMathPara>
                </a14:m>
                <a:endParaRPr lang="en-US" dirty="0"/>
              </a:p>
              <a:p>
                <a:endParaRPr lang="en-US" dirty="0"/>
              </a:p>
              <a:p>
                <a:r>
                  <a:rPr lang="en-US" b="1" dirty="0"/>
                  <a:t>The Contraction Property</a:t>
                </a:r>
                <a:r>
                  <a:rPr lang="en-US" dirty="0"/>
                  <a:t>: The operator </a:t>
                </a:r>
                <a14:m>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𝜋</m:t>
                        </m:r>
                      </m:sup>
                    </m:sSup>
                  </m:oMath>
                </a14:m>
                <a:r>
                  <a:rPr lang="en-US" dirty="0"/>
                  <a:t> is </a:t>
                </a:r>
                <a14:m>
                  <m:oMath xmlns:m="http://schemas.openxmlformats.org/officeDocument/2006/math">
                    <m:r>
                      <a:rPr lang="en-US" b="0" i="1" smtClean="0">
                        <a:latin typeface="Cambria Math" panose="02040503050406030204" pitchFamily="18" charset="0"/>
                      </a:rPr>
                      <m:t>𝛾</m:t>
                    </m:r>
                  </m:oMath>
                </a14:m>
                <a:r>
                  <a:rPr lang="en-US" dirty="0"/>
                  <a:t>-contracting (see textbook for derivation):</a:t>
                </a:r>
                <a:br>
                  <a:rPr lang="en-US" dirty="0"/>
                </a:br>
                <a:br>
                  <a:rPr lang="en-US" dirty="0"/>
                </a:br>
                <a14:m>
                  <m:oMath xmlns:m="http://schemas.openxmlformats.org/officeDocument/2006/math">
                    <m:sSub>
                      <m:sSubPr>
                        <m:ctrlPr>
                          <a:rPr lang="en-US" i="1">
                            <a:latin typeface="Cambria Math" panose="02040503050406030204" pitchFamily="18" charset="0"/>
                          </a:rPr>
                        </m:ctrlPr>
                      </m:sSubPr>
                      <m:e>
                        <m:d>
                          <m:dPr>
                            <m:begChr m:val="‖"/>
                            <m:endChr m:val="‖"/>
                            <m:ctrlPr>
                              <a:rPr lang="en-US" i="1">
                                <a:latin typeface="Cambria Math" panose="02040503050406030204" pitchFamily="18" charset="0"/>
                              </a:rPr>
                            </m:ctrlPr>
                          </m:dPr>
                          <m:e>
                            <m:sSup>
                              <m:sSupPr>
                                <m:ctrlPr>
                                  <a:rPr lang="en-US" i="1">
                                    <a:latin typeface="Cambria Math" panose="02040503050406030204" pitchFamily="18" charset="0"/>
                                  </a:rPr>
                                </m:ctrlPr>
                              </m:sSupPr>
                              <m:e>
                                <m:r>
                                  <a:rPr lang="en-US" i="1">
                                    <a:latin typeface="Cambria Math" panose="02040503050406030204" pitchFamily="18" charset="0"/>
                                  </a:rPr>
                                  <m:t>𝑇</m:t>
                                </m:r>
                              </m:e>
                              <m:sup>
                                <m:r>
                                  <a:rPr lang="en-US" i="1">
                                    <a:latin typeface="Cambria Math" panose="02040503050406030204" pitchFamily="18" charset="0"/>
                                  </a:rPr>
                                  <m:t>𝜋</m:t>
                                </m:r>
                              </m:sup>
                            </m:sSup>
                            <m:r>
                              <a:rPr lang="en-US" b="0" i="1" smtClean="0">
                                <a:latin typeface="Cambria Math" panose="02040503050406030204" pitchFamily="18" charset="0"/>
                              </a:rPr>
                              <m:t>𝑢</m:t>
                            </m:r>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𝑇</m:t>
                                </m:r>
                              </m:e>
                              <m:sup>
                                <m:r>
                                  <a:rPr lang="en-US" i="1">
                                    <a:latin typeface="Cambria Math" panose="02040503050406030204" pitchFamily="18" charset="0"/>
                                  </a:rPr>
                                  <m:t>𝜋</m:t>
                                </m:r>
                              </m:sup>
                            </m:sSup>
                            <m:r>
                              <a:rPr lang="en-US" i="1">
                                <a:latin typeface="Cambria Math" panose="02040503050406030204" pitchFamily="18" charset="0"/>
                              </a:rPr>
                              <m:t>𝑣</m:t>
                            </m:r>
                          </m:e>
                        </m:d>
                      </m:e>
                      <m:sub>
                        <m:r>
                          <a:rPr lang="en-US" i="1">
                            <a:latin typeface="Cambria Math" panose="02040503050406030204" pitchFamily="18" charset="0"/>
                          </a:rPr>
                          <m:t>∞</m:t>
                        </m:r>
                      </m:sub>
                    </m:sSub>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𝛾</m:t>
                        </m:r>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𝑢</m:t>
                            </m:r>
                            <m:r>
                              <a:rPr lang="en-US" i="1">
                                <a:latin typeface="Cambria Math" panose="02040503050406030204" pitchFamily="18" charset="0"/>
                              </a:rPr>
                              <m:t>−</m:t>
                            </m:r>
                            <m:r>
                              <a:rPr lang="en-US" i="1">
                                <a:latin typeface="Cambria Math" panose="02040503050406030204" pitchFamily="18" charset="0"/>
                              </a:rPr>
                              <m:t>𝑣</m:t>
                            </m:r>
                          </m:e>
                        </m:d>
                      </m:e>
                      <m:sub>
                        <m:r>
                          <a:rPr lang="en-US" i="1">
                            <a:latin typeface="Cambria Math" panose="02040503050406030204" pitchFamily="18" charset="0"/>
                          </a:rPr>
                          <m:t>∞</m:t>
                        </m:r>
                      </m:sub>
                    </m:sSub>
                    <m:r>
                      <a:rPr lang="en-US" i="1">
                        <a:latin typeface="Cambria Math" panose="02040503050406030204" pitchFamily="18" charset="0"/>
                      </a:rPr>
                      <m:t>  </m:t>
                    </m:r>
                    <m:r>
                      <m:rPr>
                        <m:nor/>
                      </m:rPr>
                      <a:rPr lang="en-US" i="0">
                        <a:latin typeface="Cambria Math" panose="02040503050406030204" pitchFamily="18" charset="0"/>
                      </a:rPr>
                      <m:t> for any   </m:t>
                    </m:r>
                    <m:r>
                      <a:rPr lang="en-US" i="1">
                        <a:latin typeface="Cambria Math" panose="02040503050406030204" pitchFamily="18" charset="0"/>
                      </a:rPr>
                      <m:t>𝛾</m:t>
                    </m:r>
                    <m:r>
                      <a:rPr lang="en-US" i="1">
                        <a:latin typeface="Cambria Math" panose="02040503050406030204" pitchFamily="18" charset="0"/>
                      </a:rPr>
                      <m:t>&lt;1</m:t>
                    </m:r>
                  </m:oMath>
                </a14:m>
                <a:br>
                  <a:rPr lang="en-US" dirty="0"/>
                </a:br>
                <a:br>
                  <a:rPr lang="en-US" dirty="0"/>
                </a:br>
                <a:r>
                  <a:rPr lang="en-US" dirty="0"/>
                  <a:t>I.e. : Applying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𝑇</m:t>
                        </m:r>
                      </m:e>
                      <m:sup>
                        <m:r>
                          <a:rPr lang="en-US" i="1">
                            <a:latin typeface="Cambria Math" panose="02040503050406030204" pitchFamily="18" charset="0"/>
                          </a:rPr>
                          <m:t>𝜋</m:t>
                        </m:r>
                      </m:sup>
                    </m:sSup>
                    <m:r>
                      <a:rPr lang="en-US" i="1">
                        <a:latin typeface="Cambria Math" panose="02040503050406030204" pitchFamily="18" charset="0"/>
                      </a:rPr>
                      <m:t> </m:t>
                    </m:r>
                  </m:oMath>
                </a14:m>
                <a:r>
                  <a:rPr lang="en-US" dirty="0"/>
                  <a:t>reduces the largest difference (infinity norm) between any arbitrary value functions </a:t>
                </a:r>
                <a14:m>
                  <m:oMath xmlns:m="http://schemas.openxmlformats.org/officeDocument/2006/math">
                    <m:r>
                      <a:rPr lang="en-US" b="0" i="1" smtClean="0">
                        <a:latin typeface="Cambria Math" panose="02040503050406030204" pitchFamily="18" charset="0"/>
                      </a:rPr>
                      <m:t>𝑢</m:t>
                    </m:r>
                  </m:oMath>
                </a14:m>
                <a:r>
                  <a:rPr lang="en-US" dirty="0"/>
                  <a:t> and </a:t>
                </a:r>
                <a14:m>
                  <m:oMath xmlns:m="http://schemas.openxmlformats.org/officeDocument/2006/math">
                    <m:r>
                      <a:rPr lang="en-US" b="0" i="1" smtClean="0">
                        <a:latin typeface="Cambria Math" panose="02040503050406030204" pitchFamily="18" charset="0"/>
                      </a:rPr>
                      <m:t>𝑣</m:t>
                    </m:r>
                  </m:oMath>
                </a14:m>
                <a:r>
                  <a:rPr lang="en-US" dirty="0"/>
                  <a:t> by at least a factor of </a:t>
                </a:r>
                <a14:m>
                  <m:oMath xmlns:m="http://schemas.openxmlformats.org/officeDocument/2006/math">
                    <m:r>
                      <a:rPr lang="en-US" i="1">
                        <a:latin typeface="Cambria Math" panose="02040503050406030204" pitchFamily="18" charset="0"/>
                      </a:rPr>
                      <m:t>𝛾</m:t>
                    </m:r>
                  </m:oMath>
                </a14:m>
                <a:endParaRPr lang="en-US" dirty="0"/>
              </a:p>
              <a:p>
                <a:r>
                  <a:rPr lang="en-US" dirty="0"/>
                  <a:t>This implies:</a:t>
                </a:r>
                <a:br>
                  <a:rPr lang="en-US" dirty="0"/>
                </a:br>
                <a14:m>
                  <m:oMath xmlns:m="http://schemas.openxmlformats.org/officeDocument/2006/math">
                    <m:sSub>
                      <m:sSubPr>
                        <m:ctrlPr>
                          <a:rPr lang="en-US" i="1">
                            <a:latin typeface="Cambria Math" panose="02040503050406030204" pitchFamily="18" charset="0"/>
                          </a:rPr>
                        </m:ctrlPr>
                      </m:sSubPr>
                      <m:e>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rPr>
                                  <m:t>𝜋</m:t>
                                </m:r>
                              </m:sub>
                            </m:sSub>
                            <m:r>
                              <a:rPr lang="en-US" i="1">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𝑇</m:t>
                                </m:r>
                              </m:e>
                              <m:sup>
                                <m:r>
                                  <a:rPr lang="en-US" i="1">
                                    <a:latin typeface="Cambria Math" panose="02040503050406030204" pitchFamily="18" charset="0"/>
                                  </a:rPr>
                                  <m:t>𝜋</m:t>
                                </m:r>
                              </m:sup>
                            </m:sSup>
                            <m:r>
                              <a:rPr lang="en-US" i="1">
                                <a:latin typeface="Cambria Math" panose="02040503050406030204" pitchFamily="18" charset="0"/>
                              </a:rPr>
                              <m:t>𝑣</m:t>
                            </m:r>
                          </m:e>
                        </m:d>
                      </m:e>
                      <m:sub>
                        <m:r>
                          <a:rPr lang="en-US" i="1">
                            <a:latin typeface="Cambria Math" panose="02040503050406030204" pitchFamily="18" charset="0"/>
                          </a:rPr>
                          <m:t>∞</m:t>
                        </m:r>
                      </m:sub>
                    </m:sSub>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𝛾</m:t>
                        </m:r>
                        <m:d>
                          <m:dPr>
                            <m:begChr m:val="‖"/>
                            <m:endChr m:val="‖"/>
                            <m:ctrlPr>
                              <a:rPr lang="en-US" i="1">
                                <a:latin typeface="Cambria Math" panose="02040503050406030204" pitchFamily="18" charset="0"/>
                              </a:rPr>
                            </m:ctrlPr>
                          </m:dPr>
                          <m:e>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rPr>
                                  <m:t>𝜋</m:t>
                                </m:r>
                              </m:sub>
                            </m:sSub>
                            <m:r>
                              <a:rPr lang="en-US" i="1">
                                <a:latin typeface="Cambria Math" panose="02040503050406030204" pitchFamily="18" charset="0"/>
                              </a:rPr>
                              <m:t>−</m:t>
                            </m:r>
                            <m:r>
                              <a:rPr lang="en-US" i="1">
                                <a:latin typeface="Cambria Math" panose="02040503050406030204" pitchFamily="18" charset="0"/>
                              </a:rPr>
                              <m:t>𝑣</m:t>
                            </m:r>
                          </m:e>
                        </m:d>
                      </m:e>
                      <m:sub>
                        <m:r>
                          <a:rPr lang="en-US" i="1">
                            <a:latin typeface="Cambria Math" panose="02040503050406030204" pitchFamily="18" charset="0"/>
                          </a:rPr>
                          <m:t>∞</m:t>
                        </m:r>
                      </m:sub>
                    </m:sSub>
                    <m:r>
                      <a:rPr lang="en-US" i="1">
                        <a:latin typeface="Cambria Math" panose="02040503050406030204" pitchFamily="18" charset="0"/>
                      </a:rPr>
                      <m:t>  </m:t>
                    </m:r>
                    <m:r>
                      <m:rPr>
                        <m:nor/>
                      </m:rPr>
                      <a:rPr lang="en-US" i="0">
                        <a:latin typeface="Cambria Math" panose="02040503050406030204" pitchFamily="18" charset="0"/>
                      </a:rPr>
                      <m:t> for any   </m:t>
                    </m:r>
                    <m:r>
                      <a:rPr lang="en-US" i="1">
                        <a:latin typeface="Cambria Math" panose="02040503050406030204" pitchFamily="18" charset="0"/>
                      </a:rPr>
                      <m:t>𝛾</m:t>
                    </m:r>
                    <m:r>
                      <a:rPr lang="en-US" i="1">
                        <a:latin typeface="Cambria Math" panose="02040503050406030204" pitchFamily="18" charset="0"/>
                      </a:rPr>
                      <m:t>&lt;1</m:t>
                    </m:r>
                  </m:oMath>
                </a14:m>
                <a:endParaRPr lang="en-US" dirty="0"/>
              </a:p>
              <a:p>
                <a:pPr marL="0" indent="0">
                  <a:buNone/>
                </a:pPr>
                <a:endParaRPr lang="en-US" b="0" i="1" dirty="0">
                  <a:latin typeface="Cambria Math" panose="02040503050406030204" pitchFamily="18" charset="0"/>
                </a:endParaRPr>
              </a:p>
              <a:p>
                <a:pPr marL="0" indent="0">
                  <a:buNone/>
                </a:pPr>
                <a:endParaRPr lang="en-US" dirty="0"/>
              </a:p>
            </p:txBody>
          </p:sp>
        </mc:Choice>
        <mc:Fallback xmlns="">
          <p:sp>
            <p:nvSpPr>
              <p:cNvPr id="3" name="Content Placeholder 2" descr="The Bellman update can be rewritten as an operator: Bellman Expectation Operator T to the power pi :. (T to the power pi v) (s) equals the sum over a, of pi (a given s) the sum over s prime,r, of p (s prime,r | s,a)[r plus gamma v (s prime)]. The Fixed Point Property: The value function is unchanged if all state values are already consistent. v sub pi equals T to the power pi (v sub pi). The Contraction Property: The operator T to the power pi is gamma -contracting (see textbook for derivation): the norm of T to the power pi u minus T to the power pi v sub infinity is less than or equal to gamma the norm of u minus v sub infinity for any gamma is less than 1 I.e. : Applying T to the power pi reduces the largest difference (infinity norm) between any arbitrary value functions u and v by at least a factor of gamma. This implies: the norm of v sub pi minus T to the power pi v sub infinity is less than or equal to gamma the norm of v sub pi minus v sub infinity for any gamma is less than 1">
                <a:extLst>
                  <a:ext uri="{FF2B5EF4-FFF2-40B4-BE49-F238E27FC236}">
                    <a16:creationId xmlns:a16="http://schemas.microsoft.com/office/drawing/2014/main" id="{1FC648E6-02D2-1E64-6265-DB7D1C1179F6}"/>
                  </a:ext>
                </a:extLst>
              </p:cNvPr>
              <p:cNvSpPr>
                <a:spLocks noGrp="1" noRot="1" noChangeAspect="1" noMove="1" noResize="1" noEditPoints="1" noAdjustHandles="1" noChangeArrowheads="1" noChangeShapeType="1" noTextEdit="1"/>
              </p:cNvSpPr>
              <p:nvPr>
                <p:ph idx="1"/>
              </p:nvPr>
            </p:nvSpPr>
            <p:spPr>
              <a:xfrm>
                <a:off x="838200" y="1397330"/>
                <a:ext cx="8581869" cy="4145562"/>
              </a:xfrm>
              <a:blipFill>
                <a:blip r:embed="rId2"/>
                <a:stretch>
                  <a:fillRect l="-213" t="-514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Speech Bubble: Rectangle with Corners Rounded 4" descr="Convergence if gamma is less than 1 : T to the power pi T to the power pi T to the power pi dot dot dot T to the power pi v to v sub pi for any v">
                <a:extLst>
                  <a:ext uri="{FF2B5EF4-FFF2-40B4-BE49-F238E27FC236}">
                    <a16:creationId xmlns:a16="http://schemas.microsoft.com/office/drawing/2014/main" id="{32C5A7CC-4FA8-C473-6FA9-CC4B56CECEA4}"/>
                  </a:ext>
                </a:extLst>
              </p:cNvPr>
              <p:cNvSpPr/>
              <p:nvPr/>
            </p:nvSpPr>
            <p:spPr>
              <a:xfrm>
                <a:off x="3507303" y="5630091"/>
                <a:ext cx="3363494" cy="718762"/>
              </a:xfrm>
              <a:prstGeom prst="wedgeRoundRectCallout">
                <a:avLst>
                  <a:gd name="adj1" fmla="val -17540"/>
                  <a:gd name="adj2" fmla="val -93676"/>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b="0" dirty="0"/>
                  <a:t>Convergence if </a:t>
                </a:r>
                <a14:m>
                  <m:oMath xmlns:m="http://schemas.openxmlformats.org/officeDocument/2006/math">
                    <m:r>
                      <a:rPr lang="en-US" i="1">
                        <a:latin typeface="Cambria Math" panose="02040503050406030204" pitchFamily="18" charset="0"/>
                      </a:rPr>
                      <m:t>𝛾</m:t>
                    </m:r>
                    <m:r>
                      <a:rPr lang="en-US" i="1">
                        <a:latin typeface="Cambria Math" panose="02040503050406030204" pitchFamily="18" charset="0"/>
                      </a:rPr>
                      <m:t>&lt;1</m:t>
                    </m:r>
                  </m:oMath>
                </a14:m>
                <a:r>
                  <a:rPr lang="en-US" b="0" dirty="0"/>
                  <a:t>:</a:t>
                </a:r>
                <a:br>
                  <a:rPr lang="en-US" b="0" dirty="0"/>
                </a:b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𝑇</m:t>
                        </m:r>
                      </m:e>
                      <m:sup>
                        <m:r>
                          <a:rPr lang="en-US" i="1">
                            <a:latin typeface="Cambria Math" panose="02040503050406030204" pitchFamily="18" charset="0"/>
                          </a:rPr>
                          <m:t>𝜋</m:t>
                        </m:r>
                      </m:sup>
                    </m:sSup>
                    <m:sSup>
                      <m:sSupPr>
                        <m:ctrlPr>
                          <a:rPr lang="en-US" i="1">
                            <a:latin typeface="Cambria Math" panose="02040503050406030204" pitchFamily="18" charset="0"/>
                          </a:rPr>
                        </m:ctrlPr>
                      </m:sSupPr>
                      <m:e>
                        <m:r>
                          <a:rPr lang="en-US" i="1">
                            <a:latin typeface="Cambria Math" panose="02040503050406030204" pitchFamily="18" charset="0"/>
                          </a:rPr>
                          <m:t>𝑇</m:t>
                        </m:r>
                      </m:e>
                      <m:sup>
                        <m:r>
                          <a:rPr lang="en-US" i="1">
                            <a:latin typeface="Cambria Math" panose="02040503050406030204" pitchFamily="18" charset="0"/>
                          </a:rPr>
                          <m:t>𝜋</m:t>
                        </m:r>
                      </m:sup>
                    </m:sSup>
                    <m:sSup>
                      <m:sSupPr>
                        <m:ctrlPr>
                          <a:rPr lang="en-US" i="1">
                            <a:latin typeface="Cambria Math" panose="02040503050406030204" pitchFamily="18" charset="0"/>
                          </a:rPr>
                        </m:ctrlPr>
                      </m:sSupPr>
                      <m:e>
                        <m:r>
                          <a:rPr lang="en-US" i="1">
                            <a:latin typeface="Cambria Math" panose="02040503050406030204" pitchFamily="18" charset="0"/>
                          </a:rPr>
                          <m:t>𝑇</m:t>
                        </m:r>
                      </m:e>
                      <m:sup>
                        <m:r>
                          <a:rPr lang="en-US" i="1">
                            <a:latin typeface="Cambria Math" panose="02040503050406030204" pitchFamily="18" charset="0"/>
                          </a:rPr>
                          <m:t>𝜋</m:t>
                        </m:r>
                      </m:sup>
                    </m:sSup>
                    <m:r>
                      <a:rPr lang="en-US" b="0" i="1" smtClean="0">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𝑇</m:t>
                        </m:r>
                      </m:e>
                      <m:sup>
                        <m:r>
                          <a:rPr lang="en-US" i="1">
                            <a:latin typeface="Cambria Math" panose="02040503050406030204" pitchFamily="18" charset="0"/>
                          </a:rPr>
                          <m:t>𝜋</m:t>
                        </m:r>
                      </m:sup>
                    </m:sSup>
                    <m:r>
                      <a:rPr lang="en-US" b="0" i="1" smtClean="0">
                        <a:latin typeface="Cambria Math" panose="02040503050406030204" pitchFamily="18" charset="0"/>
                      </a:rPr>
                      <m:t>𝑣</m:t>
                    </m:r>
                    <m:r>
                      <a:rPr lang="en-US" b="0" i="1" smtClean="0">
                        <a:latin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𝜋</m:t>
                        </m:r>
                      </m:sub>
                    </m:sSub>
                  </m:oMath>
                </a14:m>
                <a:r>
                  <a:rPr lang="en-US" dirty="0"/>
                  <a:t> for any </a:t>
                </a:r>
                <a14:m>
                  <m:oMath xmlns:m="http://schemas.openxmlformats.org/officeDocument/2006/math">
                    <m:r>
                      <a:rPr lang="en-US" i="1">
                        <a:latin typeface="Cambria Math" panose="02040503050406030204" pitchFamily="18" charset="0"/>
                      </a:rPr>
                      <m:t>𝑣</m:t>
                    </m:r>
                  </m:oMath>
                </a14:m>
                <a:r>
                  <a:rPr lang="en-US" dirty="0"/>
                  <a:t> </a:t>
                </a:r>
              </a:p>
            </p:txBody>
          </p:sp>
        </mc:Choice>
        <mc:Fallback xmlns="">
          <p:sp>
            <p:nvSpPr>
              <p:cNvPr id="5" name="Speech Bubble: Rectangle with Corners Rounded 4" descr="Convergence if gamma is less than 1 : T to the power pi T to the power pi T to the power pi dot dot dot T to the power pi v to v sub pi for any v">
                <a:extLst>
                  <a:ext uri="{FF2B5EF4-FFF2-40B4-BE49-F238E27FC236}">
                    <a16:creationId xmlns:a16="http://schemas.microsoft.com/office/drawing/2014/main" id="{32C5A7CC-4FA8-C473-6FA9-CC4B56CECEA4}"/>
                  </a:ext>
                </a:extLst>
              </p:cNvPr>
              <p:cNvSpPr>
                <a:spLocks noRot="1" noChangeAspect="1" noMove="1" noResize="1" noEditPoints="1" noAdjustHandles="1" noChangeArrowheads="1" noChangeShapeType="1" noTextEdit="1"/>
              </p:cNvSpPr>
              <p:nvPr/>
            </p:nvSpPr>
            <p:spPr>
              <a:xfrm>
                <a:off x="3507303" y="5630091"/>
                <a:ext cx="3363494" cy="718762"/>
              </a:xfrm>
              <a:prstGeom prst="wedgeRoundRectCallout">
                <a:avLst>
                  <a:gd name="adj1" fmla="val -17540"/>
                  <a:gd name="adj2" fmla="val -93676"/>
                  <a:gd name="adj3" fmla="val 16667"/>
                </a:avLst>
              </a:prstGeom>
              <a:blipFill>
                <a:blip r:embed="rId3"/>
                <a:stretch>
                  <a:fillRect b="-52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descr="Notation:. (T to the power pi v) is the new value function after applying the operator. We could write v sub k plus 1, equals T to the power pi (v sub k)">
                <a:extLst>
                  <a:ext uri="{FF2B5EF4-FFF2-40B4-BE49-F238E27FC236}">
                    <a16:creationId xmlns:a16="http://schemas.microsoft.com/office/drawing/2014/main" id="{EE207778-6483-F070-5EC6-C6BD88D3F8AA}"/>
                  </a:ext>
                </a:extLst>
              </p:cNvPr>
              <p:cNvSpPr txBox="1"/>
              <p:nvPr/>
            </p:nvSpPr>
            <p:spPr>
              <a:xfrm>
                <a:off x="9229235" y="1195993"/>
                <a:ext cx="2227288" cy="1323439"/>
              </a:xfrm>
              <a:prstGeom prst="rect">
                <a:avLst/>
              </a:prstGeom>
            </p:spPr>
            <p:style>
              <a:lnRef idx="2">
                <a:schemeClr val="accent3"/>
              </a:lnRef>
              <a:fillRef idx="1">
                <a:schemeClr val="lt1"/>
              </a:fillRef>
              <a:effectRef idx="0">
                <a:schemeClr val="accent3"/>
              </a:effectRef>
              <a:fontRef idx="minor">
                <a:schemeClr val="dk1"/>
              </a:fontRef>
            </p:style>
            <p:txBody>
              <a:bodyPr wrap="square" rtlCol="0">
                <a:spAutoFit/>
              </a:bodyPr>
              <a:lstStyle/>
              <a:p>
                <a:r>
                  <a:rPr lang="en-US" sz="1600" dirty="0"/>
                  <a:t>Notation:</a:t>
                </a:r>
              </a:p>
              <a:p>
                <a14:m>
                  <m:oMath xmlns:m="http://schemas.openxmlformats.org/officeDocument/2006/math">
                    <m:sSup>
                      <m:sSupPr>
                        <m:ctrlPr>
                          <a:rPr lang="en-US" sz="1600" i="1">
                            <a:latin typeface="Cambria Math" panose="02040503050406030204" pitchFamily="18" charset="0"/>
                          </a:rPr>
                        </m:ctrlPr>
                      </m:sSupPr>
                      <m:e>
                        <m:r>
                          <a:rPr lang="en-US" sz="1600" i="1">
                            <a:latin typeface="Cambria Math" panose="02040503050406030204" pitchFamily="18" charset="0"/>
                          </a:rPr>
                          <m:t>(</m:t>
                        </m:r>
                        <m:r>
                          <a:rPr lang="en-US" sz="1600" i="1">
                            <a:latin typeface="Cambria Math" panose="02040503050406030204" pitchFamily="18" charset="0"/>
                          </a:rPr>
                          <m:t>𝑇</m:t>
                        </m:r>
                      </m:e>
                      <m:sup>
                        <m:r>
                          <a:rPr lang="en-US" sz="1600" i="1">
                            <a:latin typeface="Cambria Math" panose="02040503050406030204" pitchFamily="18" charset="0"/>
                          </a:rPr>
                          <m:t>𝜋</m:t>
                        </m:r>
                      </m:sup>
                    </m:sSup>
                    <m:r>
                      <a:rPr lang="en-US" sz="1600" i="1">
                        <a:latin typeface="Cambria Math" panose="02040503050406030204" pitchFamily="18" charset="0"/>
                      </a:rPr>
                      <m:t>𝑣</m:t>
                    </m:r>
                    <m:r>
                      <a:rPr lang="en-US" sz="1600" i="1">
                        <a:latin typeface="Cambria Math" panose="02040503050406030204" pitchFamily="18" charset="0"/>
                      </a:rPr>
                      <m:t>)</m:t>
                    </m:r>
                  </m:oMath>
                </a14:m>
                <a:r>
                  <a:rPr lang="en-US" sz="1600" dirty="0"/>
                  <a:t> is the new value function after applying the operator. We could write </a:t>
                </a:r>
                <a14:m>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𝑣</m:t>
                        </m:r>
                      </m:e>
                      <m:sub>
                        <m:r>
                          <a:rPr lang="en-US" sz="1600" b="0" i="1" smtClean="0">
                            <a:latin typeface="Cambria Math" panose="02040503050406030204" pitchFamily="18" charset="0"/>
                          </a:rPr>
                          <m:t>𝑘</m:t>
                        </m:r>
                        <m:r>
                          <a:rPr lang="en-US" sz="1600" b="0" i="1" smtClean="0">
                            <a:latin typeface="Cambria Math" panose="02040503050406030204" pitchFamily="18" charset="0"/>
                          </a:rPr>
                          <m:t>+1</m:t>
                        </m:r>
                      </m:sub>
                    </m:sSub>
                    <m:r>
                      <a:rPr lang="en-US" sz="1600" b="0" i="1" smtClean="0">
                        <a:latin typeface="Cambria Math" panose="02040503050406030204" pitchFamily="18" charset="0"/>
                      </a:rPr>
                      <m:t>=</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𝑇</m:t>
                        </m:r>
                      </m:e>
                      <m:sup>
                        <m:r>
                          <a:rPr lang="en-US" sz="1600" b="0" i="1" smtClean="0">
                            <a:latin typeface="Cambria Math" panose="02040503050406030204" pitchFamily="18" charset="0"/>
                          </a:rPr>
                          <m:t>𝜋</m:t>
                        </m:r>
                      </m:sup>
                    </m:sSup>
                    <m:d>
                      <m:dPr>
                        <m:ctrlPr>
                          <a:rPr lang="en-US" sz="1600" b="0" i="1" smtClean="0">
                            <a:latin typeface="Cambria Math" panose="02040503050406030204" pitchFamily="18" charset="0"/>
                          </a:rPr>
                        </m:ctrlPr>
                      </m:dPr>
                      <m:e>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𝑣</m:t>
                            </m:r>
                          </m:e>
                          <m:sub>
                            <m:r>
                              <a:rPr lang="en-US" sz="1600" b="0" i="1" smtClean="0">
                                <a:latin typeface="Cambria Math" panose="02040503050406030204" pitchFamily="18" charset="0"/>
                              </a:rPr>
                              <m:t>𝑘</m:t>
                            </m:r>
                          </m:sub>
                        </m:sSub>
                      </m:e>
                    </m:d>
                  </m:oMath>
                </a14:m>
                <a:endParaRPr lang="en-US" sz="1600" b="0" dirty="0"/>
              </a:p>
            </p:txBody>
          </p:sp>
        </mc:Choice>
        <mc:Fallback xmlns="">
          <p:sp>
            <p:nvSpPr>
              <p:cNvPr id="6" name="TextBox 5" descr="Notation:. (T to the power pi v) is the new value function after applying the operator. We could write v sub k plus 1, equals T to the power pi (v sub k)">
                <a:extLst>
                  <a:ext uri="{FF2B5EF4-FFF2-40B4-BE49-F238E27FC236}">
                    <a16:creationId xmlns:a16="http://schemas.microsoft.com/office/drawing/2014/main" id="{EE207778-6483-F070-5EC6-C6BD88D3F8AA}"/>
                  </a:ext>
                </a:extLst>
              </p:cNvPr>
              <p:cNvSpPr txBox="1">
                <a:spLocks noRot="1" noChangeAspect="1" noMove="1" noResize="1" noEditPoints="1" noAdjustHandles="1" noChangeArrowheads="1" noChangeShapeType="1" noTextEdit="1"/>
              </p:cNvSpPr>
              <p:nvPr/>
            </p:nvSpPr>
            <p:spPr>
              <a:xfrm>
                <a:off x="9229235" y="1195993"/>
                <a:ext cx="2227288" cy="1323439"/>
              </a:xfrm>
              <a:prstGeom prst="rect">
                <a:avLst/>
              </a:prstGeom>
              <a:blipFill>
                <a:blip r:embed="rId5"/>
                <a:stretch>
                  <a:fillRect l="-1359" t="-909" b="-4091"/>
                </a:stretch>
              </a:blipFill>
            </p:spPr>
            <p:txBody>
              <a:bodyPr/>
              <a:lstStyle/>
              <a:p>
                <a:r>
                  <a:rPr lang="en-US">
                    <a:noFill/>
                  </a:rPr>
                  <a:t> </a:t>
                </a:r>
              </a:p>
            </p:txBody>
          </p:sp>
        </mc:Fallback>
      </mc:AlternateContent>
      <p:grpSp>
        <p:nvGrpSpPr>
          <p:cNvPr id="28" name="Group 27" descr="Bellman updates drawn as a sequence of arcs along a line from v sub 0 to v sub 1 and onward, each arc shorter than the last, converging to v pi; the distance between points represents the difference between value functions. Each arc is labelled T pi, one application of the Bellman expectation operator.">
            <a:extLst>
              <a:ext uri="{FF2B5EF4-FFF2-40B4-BE49-F238E27FC236}">
                <a16:creationId xmlns:a16="http://schemas.microsoft.com/office/drawing/2014/main" id="{6FA554BD-05FF-369E-7672-880FEF6243EC}"/>
              </a:ext>
            </a:extLst>
          </p:cNvPr>
          <p:cNvGrpSpPr/>
          <p:nvPr/>
        </p:nvGrpSpPr>
        <p:grpSpPr>
          <a:xfrm>
            <a:off x="9027743" y="4880328"/>
            <a:ext cx="2854818" cy="1745524"/>
            <a:chOff x="9027743" y="4880328"/>
            <a:chExt cx="2854818" cy="1745524"/>
          </a:xfrm>
        </p:grpSpPr>
        <p:grpSp>
          <p:nvGrpSpPr>
            <p:cNvPr id="8" name="Group 7" descr="Diagram with labels: v sub pi; v sub 0; v sub 1; Bellman updates; Distance means difference.">
              <a:extLst>
                <a:ext uri="{FF2B5EF4-FFF2-40B4-BE49-F238E27FC236}">
                  <a16:creationId xmlns:a16="http://schemas.microsoft.com/office/drawing/2014/main" id="{73DFF17E-DF67-BABC-A51D-6F73F6245657}"/>
                </a:ext>
              </a:extLst>
            </p:cNvPr>
            <p:cNvGrpSpPr/>
            <p:nvPr/>
          </p:nvGrpSpPr>
          <p:grpSpPr>
            <a:xfrm>
              <a:off x="9027743" y="4880328"/>
              <a:ext cx="2854818" cy="1745524"/>
              <a:chOff x="8867761" y="4499091"/>
              <a:chExt cx="2854818" cy="1745524"/>
            </a:xfrm>
          </p:grpSpPr>
          <p:grpSp>
            <p:nvGrpSpPr>
              <p:cNvPr id="9" name="Group 8" descr="Updating the value function using iterative Bellman updates.">
                <a:extLst>
                  <a:ext uri="{FF2B5EF4-FFF2-40B4-BE49-F238E27FC236}">
                    <a16:creationId xmlns:a16="http://schemas.microsoft.com/office/drawing/2014/main" id="{5E13A197-79F1-6CAE-0A97-FAA7508CBCC7}"/>
                  </a:ext>
                </a:extLst>
              </p:cNvPr>
              <p:cNvGrpSpPr/>
              <p:nvPr/>
            </p:nvGrpSpPr>
            <p:grpSpPr>
              <a:xfrm>
                <a:off x="8867761" y="4499091"/>
                <a:ext cx="2854818" cy="1693825"/>
                <a:chOff x="9337182" y="1964848"/>
                <a:chExt cx="2854818" cy="1693825"/>
              </a:xfrm>
            </p:grpSpPr>
            <p:cxnSp>
              <p:nvCxnSpPr>
                <p:cNvPr id="11" name="Straight Connector 10">
                  <a:extLst>
                    <a:ext uri="{FF2B5EF4-FFF2-40B4-BE49-F238E27FC236}">
                      <a16:creationId xmlns:a16="http://schemas.microsoft.com/office/drawing/2014/main" id="{8A7CFF6D-44E5-4AC6-F8FA-305C74E68FE9}"/>
                    </a:ext>
                    <a:ext uri="{C183D7F6-B498-43B3-948B-1728B52AA6E4}">
                      <adec:decorative xmlns:adec="http://schemas.microsoft.com/office/drawing/2017/decorative" val="1"/>
                    </a:ext>
                  </a:extLst>
                </p:cNvPr>
                <p:cNvCxnSpPr>
                  <a:cxnSpLocks/>
                </p:cNvCxnSpPr>
                <p:nvPr/>
              </p:nvCxnSpPr>
              <p:spPr>
                <a:xfrm>
                  <a:off x="9337182" y="3124199"/>
                  <a:ext cx="2393078" cy="0"/>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2" name="TextBox 8" descr="Equation: v sub pi">
                      <a:extLst>
                        <a:ext uri="{FF2B5EF4-FFF2-40B4-BE49-F238E27FC236}">
                          <a16:creationId xmlns:a16="http://schemas.microsoft.com/office/drawing/2014/main" id="{FC62ADE9-9B2E-0CE9-B525-28B9E250FACF}"/>
                        </a:ext>
                      </a:extLst>
                    </p:cNvPr>
                    <p:cNvSpPr txBox="1"/>
                    <p:nvPr/>
                  </p:nvSpPr>
                  <p:spPr>
                    <a:xfrm>
                      <a:off x="11425004" y="3092683"/>
                      <a:ext cx="766996" cy="369332"/>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14:m>
                        <m:oMathPara xmlns:m="http://schemas.openxmlformats.org/officeDocument/2006/math">
                          <m:o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𝑣</m:t>
                                </m:r>
                              </m:e>
                              <m:sub>
                                <m:r>
                                  <a:rPr lang="en-US" sz="1800" b="0" i="1" smtClean="0">
                                    <a:latin typeface="Cambria Math" panose="02040503050406030204" pitchFamily="18" charset="0"/>
                                  </a:rPr>
                                  <m:t>𝜋</m:t>
                                </m:r>
                              </m:sub>
                            </m:sSub>
                          </m:oMath>
                        </m:oMathPara>
                      </a14:m>
                      <a:endParaRPr lang="en-US" dirty="0"/>
                    </a:p>
                  </p:txBody>
                </p:sp>
              </mc:Choice>
              <mc:Fallback xmlns="">
                <p:sp>
                  <p:nvSpPr>
                    <p:cNvPr id="12" name="TextBox 8" descr="Equation: v sub pi">
                      <a:extLst>
                        <a:ext uri="{FF2B5EF4-FFF2-40B4-BE49-F238E27FC236}">
                          <a16:creationId xmlns:a16="http://schemas.microsoft.com/office/drawing/2014/main" id="{115AA05C-2180-0AF6-A384-9D75BED15ED1}"/>
                        </a:ext>
                      </a:extLst>
                    </p:cNvPr>
                    <p:cNvSpPr txBox="1">
                      <a:spLocks noRot="1" noChangeAspect="1" noMove="1" noResize="1" noEditPoints="1" noAdjustHandles="1" noChangeArrowheads="1" noChangeShapeType="1" noTextEdit="1"/>
                    </p:cNvSpPr>
                    <p:nvPr/>
                  </p:nvSpPr>
                  <p:spPr>
                    <a:xfrm>
                      <a:off x="11425004" y="3092683"/>
                      <a:ext cx="766996" cy="369332"/>
                    </a:xfrm>
                    <a:prstGeom prst="rect">
                      <a:avLst/>
                    </a:prstGeom>
                    <a:blipFill>
                      <a:blip r:embed="rId6"/>
                      <a:stretch>
                        <a:fillRect/>
                      </a:stretch>
                    </a:blipFill>
                  </p:spPr>
                  <p:txBody>
                    <a:bodyPr/>
                    <a:lstStyle/>
                    <a:p>
                      <a:r>
                        <a:rPr lang="en-US">
                          <a:noFill/>
                        </a:rPr>
                        <a:t> </a:t>
                      </a:r>
                    </a:p>
                  </p:txBody>
                </p:sp>
              </mc:Fallback>
            </mc:AlternateContent>
            <p:sp>
              <p:nvSpPr>
                <p:cNvPr id="13" name="Arc 12">
                  <a:extLst>
                    <a:ext uri="{FF2B5EF4-FFF2-40B4-BE49-F238E27FC236}">
                      <a16:creationId xmlns:a16="http://schemas.microsoft.com/office/drawing/2014/main" id="{58658A5E-4BF3-F495-C114-E6EA460FC871}"/>
                    </a:ext>
                    <a:ext uri="{C183D7F6-B498-43B3-948B-1728B52AA6E4}">
                      <adec:decorative xmlns:adec="http://schemas.microsoft.com/office/drawing/2017/decorative" val="1"/>
                    </a:ext>
                  </a:extLst>
                </p:cNvPr>
                <p:cNvSpPr/>
                <p:nvPr/>
              </p:nvSpPr>
              <p:spPr>
                <a:xfrm>
                  <a:off x="9760371" y="2649297"/>
                  <a:ext cx="574339" cy="1009376"/>
                </a:xfrm>
                <a:prstGeom prst="arc">
                  <a:avLst>
                    <a:gd name="adj1" fmla="val 10871568"/>
                    <a:gd name="adj2" fmla="val 0"/>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14" name="Arc 13">
                  <a:extLst>
                    <a:ext uri="{FF2B5EF4-FFF2-40B4-BE49-F238E27FC236}">
                      <a16:creationId xmlns:a16="http://schemas.microsoft.com/office/drawing/2014/main" id="{8C2E7F1D-DC32-A251-BB28-41567AFC7C70}"/>
                    </a:ext>
                    <a:ext uri="{C183D7F6-B498-43B3-948B-1728B52AA6E4}">
                      <adec:decorative xmlns:adec="http://schemas.microsoft.com/office/drawing/2017/decorative" val="1"/>
                    </a:ext>
                  </a:extLst>
                </p:cNvPr>
                <p:cNvSpPr/>
                <p:nvPr/>
              </p:nvSpPr>
              <p:spPr>
                <a:xfrm>
                  <a:off x="10334710" y="2614308"/>
                  <a:ext cx="765785" cy="1019782"/>
                </a:xfrm>
                <a:prstGeom prst="arc">
                  <a:avLst>
                    <a:gd name="adj1" fmla="val 10871568"/>
                    <a:gd name="adj2" fmla="val 0"/>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15" name="Arc 14">
                  <a:extLst>
                    <a:ext uri="{FF2B5EF4-FFF2-40B4-BE49-F238E27FC236}">
                      <a16:creationId xmlns:a16="http://schemas.microsoft.com/office/drawing/2014/main" id="{7026F178-8BD0-9B6E-1868-851FF19E16DA}"/>
                    </a:ext>
                    <a:ext uri="{C183D7F6-B498-43B3-948B-1728B52AA6E4}">
                      <adec:decorative xmlns:adec="http://schemas.microsoft.com/office/drawing/2017/decorative" val="1"/>
                    </a:ext>
                  </a:extLst>
                </p:cNvPr>
                <p:cNvSpPr/>
                <p:nvPr/>
              </p:nvSpPr>
              <p:spPr>
                <a:xfrm>
                  <a:off x="11100495" y="2627412"/>
                  <a:ext cx="220048" cy="1019782"/>
                </a:xfrm>
                <a:prstGeom prst="arc">
                  <a:avLst>
                    <a:gd name="adj1" fmla="val 10871568"/>
                    <a:gd name="adj2" fmla="val 0"/>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16" name="Arc 15">
                  <a:extLst>
                    <a:ext uri="{FF2B5EF4-FFF2-40B4-BE49-F238E27FC236}">
                      <a16:creationId xmlns:a16="http://schemas.microsoft.com/office/drawing/2014/main" id="{57088D6C-4C8C-FE23-F85D-8685A8BA96A3}"/>
                    </a:ext>
                    <a:ext uri="{C183D7F6-B498-43B3-948B-1728B52AA6E4}">
                      <adec:decorative xmlns:adec="http://schemas.microsoft.com/office/drawing/2017/decorative" val="1"/>
                    </a:ext>
                  </a:extLst>
                </p:cNvPr>
                <p:cNvSpPr/>
                <p:nvPr/>
              </p:nvSpPr>
              <p:spPr>
                <a:xfrm>
                  <a:off x="11308888" y="2648522"/>
                  <a:ext cx="417487" cy="951353"/>
                </a:xfrm>
                <a:prstGeom prst="arc">
                  <a:avLst>
                    <a:gd name="adj1" fmla="val 10871568"/>
                    <a:gd name="adj2" fmla="val 0"/>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mc:AlternateContent xmlns:mc="http://schemas.openxmlformats.org/markup-compatibility/2006" xmlns:a14="http://schemas.microsoft.com/office/drawing/2010/main">
              <mc:Choice Requires="a14">
                <p:sp>
                  <p:nvSpPr>
                    <p:cNvPr id="17" name="TextBox 29" descr="Equation: v sub 0">
                      <a:extLst>
                        <a:ext uri="{FF2B5EF4-FFF2-40B4-BE49-F238E27FC236}">
                          <a16:creationId xmlns:a16="http://schemas.microsoft.com/office/drawing/2014/main" id="{33B57A32-72F6-077F-22AE-C34A118F7D55}"/>
                        </a:ext>
                      </a:extLst>
                    </p:cNvPr>
                    <p:cNvSpPr txBox="1"/>
                    <p:nvPr/>
                  </p:nvSpPr>
                  <p:spPr>
                    <a:xfrm>
                      <a:off x="9564903" y="3086337"/>
                      <a:ext cx="395810" cy="369332"/>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14:m>
                        <m:oMathPara xmlns:m="http://schemas.openxmlformats.org/officeDocument/2006/math">
                          <m:o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𝑣</m:t>
                                </m:r>
                              </m:e>
                              <m:sub>
                                <m:r>
                                  <a:rPr lang="en-US" sz="1800" b="0" i="1" smtClean="0">
                                    <a:latin typeface="Cambria Math" panose="02040503050406030204" pitchFamily="18" charset="0"/>
                                  </a:rPr>
                                  <m:t>0</m:t>
                                </m:r>
                              </m:sub>
                            </m:sSub>
                          </m:oMath>
                        </m:oMathPara>
                      </a14:m>
                      <a:endParaRPr lang="en-US" dirty="0"/>
                    </a:p>
                  </p:txBody>
                </p:sp>
              </mc:Choice>
              <mc:Fallback xmlns="">
                <p:sp>
                  <p:nvSpPr>
                    <p:cNvPr id="17" name="TextBox 29" descr="Equation: v sub 0">
                      <a:extLst>
                        <a:ext uri="{FF2B5EF4-FFF2-40B4-BE49-F238E27FC236}">
                          <a16:creationId xmlns:a16="http://schemas.microsoft.com/office/drawing/2014/main" id="{6DB673C8-2425-685A-8CBE-35EDDCA1EB91}"/>
                        </a:ext>
                      </a:extLst>
                    </p:cNvPr>
                    <p:cNvSpPr txBox="1">
                      <a:spLocks noRot="1" noChangeAspect="1" noMove="1" noResize="1" noEditPoints="1" noAdjustHandles="1" noChangeArrowheads="1" noChangeShapeType="1" noTextEdit="1"/>
                    </p:cNvSpPr>
                    <p:nvPr/>
                  </p:nvSpPr>
                  <p:spPr>
                    <a:xfrm>
                      <a:off x="9564903" y="3086337"/>
                      <a:ext cx="395810"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30" descr="Equation: v sub 1">
                      <a:extLst>
                        <a:ext uri="{FF2B5EF4-FFF2-40B4-BE49-F238E27FC236}">
                          <a16:creationId xmlns:a16="http://schemas.microsoft.com/office/drawing/2014/main" id="{1223FDB0-EDE1-D3F8-B49E-7C42FE2277C4}"/>
                        </a:ext>
                      </a:extLst>
                    </p:cNvPr>
                    <p:cNvSpPr txBox="1"/>
                    <p:nvPr/>
                  </p:nvSpPr>
                  <p:spPr>
                    <a:xfrm>
                      <a:off x="10066895" y="3115740"/>
                      <a:ext cx="395810" cy="369332"/>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14:m>
                        <m:oMathPara xmlns:m="http://schemas.openxmlformats.org/officeDocument/2006/math">
                          <m:o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𝑣</m:t>
                                </m:r>
                              </m:e>
                              <m:sub>
                                <m:r>
                                  <a:rPr lang="en-US" sz="1800" b="0" i="1" smtClean="0">
                                    <a:latin typeface="Cambria Math" panose="02040503050406030204" pitchFamily="18" charset="0"/>
                                  </a:rPr>
                                  <m:t>1</m:t>
                                </m:r>
                              </m:sub>
                            </m:sSub>
                          </m:oMath>
                        </m:oMathPara>
                      </a14:m>
                      <a:endParaRPr lang="en-US" dirty="0"/>
                    </a:p>
                  </p:txBody>
                </p:sp>
              </mc:Choice>
              <mc:Fallback xmlns="">
                <p:sp>
                  <p:nvSpPr>
                    <p:cNvPr id="18" name="TextBox 30" descr="Equation: v sub 1">
                      <a:extLst>
                        <a:ext uri="{FF2B5EF4-FFF2-40B4-BE49-F238E27FC236}">
                          <a16:creationId xmlns:a16="http://schemas.microsoft.com/office/drawing/2014/main" id="{56DA2FE2-AC26-7B66-B5BD-7064ECD50CE7}"/>
                        </a:ext>
                      </a:extLst>
                    </p:cNvPr>
                    <p:cNvSpPr txBox="1">
                      <a:spLocks noRot="1" noChangeAspect="1" noMove="1" noResize="1" noEditPoints="1" noAdjustHandles="1" noChangeArrowheads="1" noChangeShapeType="1" noTextEdit="1"/>
                    </p:cNvSpPr>
                    <p:nvPr/>
                  </p:nvSpPr>
                  <p:spPr>
                    <a:xfrm>
                      <a:off x="10066895" y="3115740"/>
                      <a:ext cx="395810" cy="369332"/>
                    </a:xfrm>
                    <a:prstGeom prst="rect">
                      <a:avLst/>
                    </a:prstGeom>
                    <a:blipFill>
                      <a:blip r:embed="rId8"/>
                      <a:stretch>
                        <a:fillRect/>
                      </a:stretch>
                    </a:blipFill>
                  </p:spPr>
                  <p:txBody>
                    <a:bodyPr/>
                    <a:lstStyle/>
                    <a:p>
                      <a:r>
                        <a:rPr lang="en-US">
                          <a:noFill/>
                        </a:rPr>
                        <a:t> </a:t>
                      </a:r>
                    </a:p>
                  </p:txBody>
                </p:sp>
              </mc:Fallback>
            </mc:AlternateContent>
            <p:sp>
              <p:nvSpPr>
                <p:cNvPr id="19" name="Oval 18">
                  <a:extLst>
                    <a:ext uri="{FF2B5EF4-FFF2-40B4-BE49-F238E27FC236}">
                      <a16:creationId xmlns:a16="http://schemas.microsoft.com/office/drawing/2014/main" id="{4FB5ACCD-0701-2FB2-F78E-42498C38670D}"/>
                    </a:ext>
                    <a:ext uri="{C183D7F6-B498-43B3-948B-1728B52AA6E4}">
                      <adec:decorative xmlns:adec="http://schemas.microsoft.com/office/drawing/2017/decorative" val="1"/>
                    </a:ext>
                  </a:extLst>
                </p:cNvPr>
                <p:cNvSpPr/>
                <p:nvPr/>
              </p:nvSpPr>
              <p:spPr>
                <a:xfrm>
                  <a:off x="11680507" y="3066584"/>
                  <a:ext cx="127995" cy="117892"/>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0" name="TextBox 35">
                  <a:extLst>
                    <a:ext uri="{FF2B5EF4-FFF2-40B4-BE49-F238E27FC236}">
                      <a16:creationId xmlns:a16="http://schemas.microsoft.com/office/drawing/2014/main" id="{0BA13DE3-9692-0A72-42C2-2997B4BD90D3}"/>
                    </a:ext>
                    <a:ext uri="{C183D7F6-B498-43B3-948B-1728B52AA6E4}">
                      <adec:decorative xmlns:adec="http://schemas.microsoft.com/office/drawing/2017/decorative" val="1"/>
                    </a:ext>
                  </a:extLst>
                </p:cNvPr>
                <p:cNvSpPr txBox="1"/>
                <p:nvPr/>
              </p:nvSpPr>
              <p:spPr>
                <a:xfrm>
                  <a:off x="9366631" y="1964848"/>
                  <a:ext cx="1796338" cy="338554"/>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600" dirty="0"/>
                    <a:t>Bellman updates</a:t>
                  </a:r>
                </a:p>
              </p:txBody>
            </p:sp>
          </p:grpSp>
          <p:sp>
            <p:nvSpPr>
              <p:cNvPr id="10" name="TextBox 9">
                <a:extLst>
                  <a:ext uri="{FF2B5EF4-FFF2-40B4-BE49-F238E27FC236}">
                    <a16:creationId xmlns:a16="http://schemas.microsoft.com/office/drawing/2014/main" id="{6EDF9F97-99C7-C914-8056-5CB2B24BFC7D}"/>
                  </a:ext>
                </a:extLst>
              </p:cNvPr>
              <p:cNvSpPr txBox="1"/>
              <p:nvPr/>
            </p:nvSpPr>
            <p:spPr>
              <a:xfrm>
                <a:off x="9189345" y="5967616"/>
                <a:ext cx="1978780" cy="276999"/>
              </a:xfrm>
              <a:prstGeom prst="rect">
                <a:avLst/>
              </a:prstGeom>
              <a:noFill/>
            </p:spPr>
            <p:txBody>
              <a:bodyPr wrap="square" rtlCol="0">
                <a:spAutoFit/>
              </a:bodyPr>
              <a:lstStyle/>
              <a:p>
                <a:pPr algn="ctr"/>
                <a:r>
                  <a:rPr lang="en-US" sz="1200" dirty="0"/>
                  <a:t>Distance means difference</a:t>
                </a:r>
              </a:p>
            </p:txBody>
          </p:sp>
        </p:grpSp>
        <mc:AlternateContent xmlns:mc="http://schemas.openxmlformats.org/markup-compatibility/2006" xmlns:a14="http://schemas.microsoft.com/office/drawing/2010/main">
          <mc:Choice Requires="a14">
            <p:sp>
              <p:nvSpPr>
                <p:cNvPr id="21" name="TextBox 20" descr="Equation: T to the power pi">
                  <a:extLst>
                    <a:ext uri="{FF2B5EF4-FFF2-40B4-BE49-F238E27FC236}">
                      <a16:creationId xmlns:a16="http://schemas.microsoft.com/office/drawing/2014/main" id="{3FD4057F-5032-BC1B-A63D-1B8B48716C06}"/>
                    </a:ext>
                  </a:extLst>
                </p:cNvPr>
                <p:cNvSpPr txBox="1"/>
                <p:nvPr/>
              </p:nvSpPr>
              <p:spPr>
                <a:xfrm>
                  <a:off x="9501294" y="5233425"/>
                  <a:ext cx="501748" cy="338554"/>
                </a:xfrm>
                <a:prstGeom prst="rect">
                  <a:avLst/>
                </a:prstGeom>
                <a:noFill/>
              </p:spPr>
              <p:txBody>
                <a:bodyPr wrap="square">
                  <a:spAutoFit/>
                </a:bodyPr>
                <a:lstStyle/>
                <a:p>
                  <a:pPr/>
                  <a14:m>
                    <m:oMathPara xmlns:m="http://schemas.openxmlformats.org/officeDocument/2006/math">
                      <m:oMath>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𝑇</m:t>
                            </m:r>
                          </m:e>
                          <m:sup>
                            <m:r>
                              <a:rPr lang="en-US" sz="1600" b="0" i="1" smtClean="0">
                                <a:latin typeface="Cambria Math" panose="02040503050406030204" pitchFamily="18" charset="0"/>
                              </a:rPr>
                              <m:t>𝜋</m:t>
                            </m:r>
                          </m:sup>
                        </m:sSup>
                      </m:oMath>
                    </m:oMathPara>
                  </a14:m>
                  <a:endParaRPr lang="en-US" sz="1600" dirty="0"/>
                </a:p>
              </p:txBody>
            </p:sp>
          </mc:Choice>
          <mc:Fallback xmlns="">
            <p:sp>
              <p:nvSpPr>
                <p:cNvPr id="21" name="TextBox 20" descr="Equation: T to the power pi">
                  <a:extLst>
                    <a:ext uri="{FF2B5EF4-FFF2-40B4-BE49-F238E27FC236}">
                      <a16:creationId xmlns:a16="http://schemas.microsoft.com/office/drawing/2014/main" id="{3FD4057F-5032-BC1B-A63D-1B8B48716C06}"/>
                    </a:ext>
                  </a:extLst>
                </p:cNvPr>
                <p:cNvSpPr txBox="1">
                  <a:spLocks noRot="1" noChangeAspect="1" noMove="1" noResize="1" noEditPoints="1" noAdjustHandles="1" noChangeArrowheads="1" noChangeShapeType="1" noTextEdit="1"/>
                </p:cNvSpPr>
                <p:nvPr/>
              </p:nvSpPr>
              <p:spPr>
                <a:xfrm>
                  <a:off x="9501294" y="5233425"/>
                  <a:ext cx="501748" cy="338554"/>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3" name="TextBox 22" descr="Equation: T to the power pi">
                  <a:extLst>
                    <a:ext uri="{FF2B5EF4-FFF2-40B4-BE49-F238E27FC236}">
                      <a16:creationId xmlns:a16="http://schemas.microsoft.com/office/drawing/2014/main" id="{E99B973D-2558-A2C6-4BF8-EFA820911BD3}"/>
                    </a:ext>
                  </a:extLst>
                </p:cNvPr>
                <p:cNvSpPr txBox="1"/>
                <p:nvPr/>
              </p:nvSpPr>
              <p:spPr>
                <a:xfrm>
                  <a:off x="10190449" y="5233425"/>
                  <a:ext cx="501748" cy="338554"/>
                </a:xfrm>
                <a:prstGeom prst="rect">
                  <a:avLst/>
                </a:prstGeom>
                <a:noFill/>
              </p:spPr>
              <p:txBody>
                <a:bodyPr wrap="square">
                  <a:spAutoFit/>
                </a:bodyPr>
                <a:lstStyle/>
                <a:p>
                  <a:pPr/>
                  <a14:m>
                    <m:oMathPara xmlns:m="http://schemas.openxmlformats.org/officeDocument/2006/math">
                      <m:oMath>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𝑇</m:t>
                            </m:r>
                          </m:e>
                          <m:sup>
                            <m:r>
                              <a:rPr lang="en-US" sz="1600" b="0" i="1" smtClean="0">
                                <a:latin typeface="Cambria Math" panose="02040503050406030204" pitchFamily="18" charset="0"/>
                              </a:rPr>
                              <m:t>𝜋</m:t>
                            </m:r>
                          </m:sup>
                        </m:sSup>
                      </m:oMath>
                    </m:oMathPara>
                  </a14:m>
                  <a:endParaRPr lang="en-US" sz="1600" dirty="0"/>
                </a:p>
              </p:txBody>
            </p:sp>
          </mc:Choice>
          <mc:Fallback xmlns="">
            <p:sp>
              <p:nvSpPr>
                <p:cNvPr id="23" name="TextBox 22" descr="Equation: T to the power pi">
                  <a:extLst>
                    <a:ext uri="{FF2B5EF4-FFF2-40B4-BE49-F238E27FC236}">
                      <a16:creationId xmlns:a16="http://schemas.microsoft.com/office/drawing/2014/main" id="{E99B973D-2558-A2C6-4BF8-EFA820911BD3}"/>
                    </a:ext>
                  </a:extLst>
                </p:cNvPr>
                <p:cNvSpPr txBox="1">
                  <a:spLocks noRot="1" noChangeAspect="1" noMove="1" noResize="1" noEditPoints="1" noAdjustHandles="1" noChangeArrowheads="1" noChangeShapeType="1" noTextEdit="1"/>
                </p:cNvSpPr>
                <p:nvPr/>
              </p:nvSpPr>
              <p:spPr>
                <a:xfrm>
                  <a:off x="10190449" y="5233425"/>
                  <a:ext cx="501748" cy="338554"/>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TextBox 24" descr="Equation: T to the power pi">
                  <a:extLst>
                    <a:ext uri="{FF2B5EF4-FFF2-40B4-BE49-F238E27FC236}">
                      <a16:creationId xmlns:a16="http://schemas.microsoft.com/office/drawing/2014/main" id="{9A128481-FC48-A100-EFEE-53B99DA80707}"/>
                    </a:ext>
                  </a:extLst>
                </p:cNvPr>
                <p:cNvSpPr txBox="1"/>
                <p:nvPr/>
              </p:nvSpPr>
              <p:spPr>
                <a:xfrm>
                  <a:off x="11038934" y="5233425"/>
                  <a:ext cx="501748" cy="338554"/>
                </a:xfrm>
                <a:prstGeom prst="rect">
                  <a:avLst/>
                </a:prstGeom>
                <a:noFill/>
              </p:spPr>
              <p:txBody>
                <a:bodyPr wrap="square">
                  <a:spAutoFit/>
                </a:bodyPr>
                <a:lstStyle/>
                <a:p>
                  <a:pPr/>
                  <a14:m>
                    <m:oMathPara xmlns:m="http://schemas.openxmlformats.org/officeDocument/2006/math">
                      <m:oMath>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𝑇</m:t>
                            </m:r>
                          </m:e>
                          <m:sup>
                            <m:r>
                              <a:rPr lang="en-US" sz="1600" b="0" i="1" smtClean="0">
                                <a:latin typeface="Cambria Math" panose="02040503050406030204" pitchFamily="18" charset="0"/>
                              </a:rPr>
                              <m:t>𝜋</m:t>
                            </m:r>
                          </m:sup>
                        </m:sSup>
                      </m:oMath>
                    </m:oMathPara>
                  </a14:m>
                  <a:endParaRPr lang="en-US" sz="1600" dirty="0"/>
                </a:p>
              </p:txBody>
            </p:sp>
          </mc:Choice>
          <mc:Fallback xmlns="">
            <p:sp>
              <p:nvSpPr>
                <p:cNvPr id="25" name="TextBox 24" descr="Equation: T to the power pi">
                  <a:extLst>
                    <a:ext uri="{FF2B5EF4-FFF2-40B4-BE49-F238E27FC236}">
                      <a16:creationId xmlns:a16="http://schemas.microsoft.com/office/drawing/2014/main" id="{9A128481-FC48-A100-EFEE-53B99DA80707}"/>
                    </a:ext>
                  </a:extLst>
                </p:cNvPr>
                <p:cNvSpPr txBox="1">
                  <a:spLocks noRot="1" noChangeAspect="1" noMove="1" noResize="1" noEditPoints="1" noAdjustHandles="1" noChangeArrowheads="1" noChangeShapeType="1" noTextEdit="1"/>
                </p:cNvSpPr>
                <p:nvPr/>
              </p:nvSpPr>
              <p:spPr>
                <a:xfrm>
                  <a:off x="11038934" y="5233425"/>
                  <a:ext cx="501748" cy="338554"/>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Box 26" descr="Equation: T to the power pi">
                  <a:extLst>
                    <a:ext uri="{FF2B5EF4-FFF2-40B4-BE49-F238E27FC236}">
                      <a16:creationId xmlns:a16="http://schemas.microsoft.com/office/drawing/2014/main" id="{FA372508-99EC-EFF8-6F86-5D6D9B152179}"/>
                    </a:ext>
                  </a:extLst>
                </p:cNvPr>
                <p:cNvSpPr txBox="1"/>
                <p:nvPr/>
              </p:nvSpPr>
              <p:spPr>
                <a:xfrm>
                  <a:off x="10682975" y="5233425"/>
                  <a:ext cx="501748" cy="338554"/>
                </a:xfrm>
                <a:prstGeom prst="rect">
                  <a:avLst/>
                </a:prstGeom>
                <a:noFill/>
              </p:spPr>
              <p:txBody>
                <a:bodyPr wrap="square">
                  <a:spAutoFit/>
                </a:bodyPr>
                <a:lstStyle/>
                <a:p>
                  <a:pPr/>
                  <a14:m>
                    <m:oMathPara xmlns:m="http://schemas.openxmlformats.org/officeDocument/2006/math">
                      <m:oMath>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𝑇</m:t>
                            </m:r>
                          </m:e>
                          <m:sup>
                            <m:r>
                              <a:rPr lang="en-US" sz="1600" b="0" i="1" smtClean="0">
                                <a:latin typeface="Cambria Math" panose="02040503050406030204" pitchFamily="18" charset="0"/>
                              </a:rPr>
                              <m:t>𝜋</m:t>
                            </m:r>
                          </m:sup>
                        </m:sSup>
                      </m:oMath>
                    </m:oMathPara>
                  </a14:m>
                  <a:endParaRPr lang="en-US" sz="1600" dirty="0"/>
                </a:p>
              </p:txBody>
            </p:sp>
          </mc:Choice>
          <mc:Fallback xmlns="">
            <p:sp>
              <p:nvSpPr>
                <p:cNvPr id="27" name="TextBox 26" descr="Equation: T to the power pi">
                  <a:extLst>
                    <a:ext uri="{FF2B5EF4-FFF2-40B4-BE49-F238E27FC236}">
                      <a16:creationId xmlns:a16="http://schemas.microsoft.com/office/drawing/2014/main" id="{FA372508-99EC-EFF8-6F86-5D6D9B152179}"/>
                    </a:ext>
                  </a:extLst>
                </p:cNvPr>
                <p:cNvSpPr txBox="1">
                  <a:spLocks noRot="1" noChangeAspect="1" noMove="1" noResize="1" noEditPoints="1" noAdjustHandles="1" noChangeArrowheads="1" noChangeShapeType="1" noTextEdit="1"/>
                </p:cNvSpPr>
                <p:nvPr/>
              </p:nvSpPr>
              <p:spPr>
                <a:xfrm>
                  <a:off x="10682975" y="5233425"/>
                  <a:ext cx="501748" cy="338554"/>
                </a:xfrm>
                <a:prstGeom prst="rect">
                  <a:avLst/>
                </a:prstGeom>
                <a:blipFill>
                  <a:blip r:embed="rId12"/>
                  <a:stretch>
                    <a:fillRect/>
                  </a:stretch>
                </a:blipFill>
              </p:spPr>
              <p:txBody>
                <a:bodyPr/>
                <a:lstStyle/>
                <a:p>
                  <a:r>
                    <a:rPr lang="en-US">
                      <a:noFill/>
                    </a:rPr>
                    <a:t> </a:t>
                  </a:r>
                </a:p>
              </p:txBody>
            </p:sp>
          </mc:Fallback>
        </mc:AlternateContent>
      </p:grpSp>
    </p:spTree>
    <p:extLst>
      <p:ext uri="{BB962C8B-B14F-4D97-AF65-F5344CB8AC3E}">
        <p14:creationId xmlns:p14="http://schemas.microsoft.com/office/powerpoint/2010/main" val="348570250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6978EC-0ABA-0841-5F8F-F9F724EE99ED}"/>
              </a:ext>
            </a:extLst>
          </p:cNvPr>
          <p:cNvSpPr>
            <a:spLocks noGrp="1"/>
          </p:cNvSpPr>
          <p:nvPr>
            <p:ph type="title"/>
          </p:nvPr>
        </p:nvSpPr>
        <p:spPr/>
        <p:txBody>
          <a:bodyPr/>
          <a:lstStyle/>
          <a:p>
            <a:r>
              <a:rPr lang="en-US" dirty="0"/>
              <a:t>Alg. Iterative Policy Evaluation</a:t>
            </a:r>
          </a:p>
        </p:txBody>
      </p:sp>
      <p:pic>
        <p:nvPicPr>
          <p:cNvPr id="5" name="Picture 4" descr="Algorithm box: Iterative Policy Evaluation, for estimating V approximately v pi. Input pi, the policy to be evaluated. Algorithm parameter: a small threshold theta &gt; 0 determining accuracy of estimation. Initialize V(s) arbitrarily, for s in S, and V(terminal) to 0. Loop: Delta ← 0; Loop for each s in S: v ← V(s); V(s) ← sum over a of pi(a|s) times sum over s′, r of p(s′, r | s, a) [r + gamma V(s′)]; Delta ← max(Delta, |v − V(s)|); until Delta &lt; theta.">
            <a:extLst>
              <a:ext uri="{FF2B5EF4-FFF2-40B4-BE49-F238E27FC236}">
                <a16:creationId xmlns:a16="http://schemas.microsoft.com/office/drawing/2014/main" id="{9E571EE0-04FA-AFEF-D4C0-742C0CA1C621}"/>
              </a:ext>
            </a:extLst>
          </p:cNvPr>
          <p:cNvPicPr>
            <a:picLocks noChangeAspect="1"/>
          </p:cNvPicPr>
          <p:nvPr/>
        </p:nvPicPr>
        <p:blipFill>
          <a:blip r:embed="rId2"/>
          <a:stretch>
            <a:fillRect/>
          </a:stretch>
        </p:blipFill>
        <p:spPr>
          <a:xfrm>
            <a:off x="1823441" y="1614234"/>
            <a:ext cx="8545118" cy="3629532"/>
          </a:xfrm>
          <a:prstGeom prst="rect">
            <a:avLst/>
          </a:prstGeom>
        </p:spPr>
      </p:pic>
      <mc:AlternateContent xmlns:mc="http://schemas.openxmlformats.org/markup-compatibility/2006" xmlns:a14="http://schemas.microsoft.com/office/drawing/2010/main">
        <mc:Choice Requires="a14">
          <p:sp>
            <p:nvSpPr>
              <p:cNvPr id="3" name="Speech Bubble: Rectangle with Corners Rounded 2" descr="Bellman operator T to the power pi : V sub k plus 1, equals T to the power pi V sub k">
                <a:extLst>
                  <a:ext uri="{FF2B5EF4-FFF2-40B4-BE49-F238E27FC236}">
                    <a16:creationId xmlns:a16="http://schemas.microsoft.com/office/drawing/2014/main" id="{4FDB9947-9818-7FF7-6A8C-58889DDE4BD2}"/>
                  </a:ext>
                </a:extLst>
              </p:cNvPr>
              <p:cNvSpPr/>
              <p:nvPr/>
            </p:nvSpPr>
            <p:spPr>
              <a:xfrm>
                <a:off x="7838712" y="3329532"/>
                <a:ext cx="1947462" cy="593313"/>
              </a:xfrm>
              <a:prstGeom prst="wedgeRoundRectCallout">
                <a:avLst>
                  <a:gd name="adj1" fmla="val -76118"/>
                  <a:gd name="adj2" fmla="val 99041"/>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Bellman operator </a:t>
                </a:r>
                <a14:m>
                  <m:oMath xmlns:m="http://schemas.openxmlformats.org/officeDocument/2006/math">
                    <m:sSup>
                      <m:sSupPr>
                        <m:ctrlPr>
                          <a:rPr lang="en-US" sz="1400" i="1">
                            <a:latin typeface="Cambria Math" panose="02040503050406030204" pitchFamily="18" charset="0"/>
                          </a:rPr>
                        </m:ctrlPr>
                      </m:sSupPr>
                      <m:e>
                        <m:r>
                          <a:rPr lang="en-US" sz="1400" i="1">
                            <a:latin typeface="Cambria Math" panose="02040503050406030204" pitchFamily="18" charset="0"/>
                          </a:rPr>
                          <m:t>𝑇</m:t>
                        </m:r>
                      </m:e>
                      <m:sup>
                        <m:r>
                          <a:rPr lang="en-US" sz="1400" b="0" i="1" smtClean="0">
                            <a:latin typeface="Cambria Math" panose="02040503050406030204" pitchFamily="18" charset="0"/>
                          </a:rPr>
                          <m:t>𝜋</m:t>
                        </m:r>
                      </m:sup>
                    </m:sSup>
                  </m:oMath>
                </a14:m>
                <a:r>
                  <a:rPr lang="en-US" sz="1400" dirty="0"/>
                  <a:t>: </a:t>
                </a:r>
                <a:br>
                  <a:rPr lang="en-US" sz="1400" dirty="0"/>
                </a:br>
                <a14:m>
                  <m:oMathPara xmlns:m="http://schemas.openxmlformats.org/officeDocument/2006/math">
                    <m:oMath>
                      <m:sSub>
                        <m:sSubPr>
                          <m:ctrlPr>
                            <a:rPr lang="en-US" sz="1400" i="1">
                              <a:latin typeface="Cambria Math" panose="02040503050406030204" pitchFamily="18" charset="0"/>
                            </a:rPr>
                          </m:ctrlPr>
                        </m:sSubPr>
                        <m:e>
                          <m:r>
                            <a:rPr lang="en-US" sz="1400" i="1">
                              <a:latin typeface="Cambria Math" panose="02040503050406030204" pitchFamily="18" charset="0"/>
                            </a:rPr>
                            <m:t>𝑉</m:t>
                          </m:r>
                        </m:e>
                        <m:sub>
                          <m:r>
                            <a:rPr lang="en-US" sz="1400" i="1">
                              <a:latin typeface="Cambria Math" panose="02040503050406030204" pitchFamily="18" charset="0"/>
                            </a:rPr>
                            <m:t>𝑘</m:t>
                          </m:r>
                          <m:r>
                            <a:rPr lang="en-US" sz="1400" i="1">
                              <a:latin typeface="Cambria Math" panose="02040503050406030204" pitchFamily="18" charset="0"/>
                            </a:rPr>
                            <m:t>+1</m:t>
                          </m:r>
                        </m:sub>
                      </m:sSub>
                      <m:r>
                        <a:rPr lang="en-US" sz="1400" i="1">
                          <a:latin typeface="Cambria Math" panose="02040503050406030204" pitchFamily="18" charset="0"/>
                        </a:rPr>
                        <m:t>=</m:t>
                      </m:r>
                      <m:sSup>
                        <m:sSupPr>
                          <m:ctrlPr>
                            <a:rPr lang="en-US" sz="1400" i="1">
                              <a:latin typeface="Cambria Math" panose="02040503050406030204" pitchFamily="18" charset="0"/>
                            </a:rPr>
                          </m:ctrlPr>
                        </m:sSupPr>
                        <m:e>
                          <m:r>
                            <a:rPr lang="en-US" sz="1400" i="1">
                              <a:latin typeface="Cambria Math" panose="02040503050406030204" pitchFamily="18" charset="0"/>
                            </a:rPr>
                            <m:t>𝑇</m:t>
                          </m:r>
                        </m:e>
                        <m:sup>
                          <m:r>
                            <a:rPr lang="en-US" sz="1400" b="0" i="1" smtClean="0">
                              <a:latin typeface="Cambria Math" panose="02040503050406030204" pitchFamily="18" charset="0"/>
                            </a:rPr>
                            <m:t>𝜋</m:t>
                          </m:r>
                        </m:sup>
                      </m:sSup>
                      <m:sSub>
                        <m:sSubPr>
                          <m:ctrlPr>
                            <a:rPr lang="en-US" sz="1400" i="1">
                              <a:latin typeface="Cambria Math" panose="02040503050406030204" pitchFamily="18" charset="0"/>
                            </a:rPr>
                          </m:ctrlPr>
                        </m:sSubPr>
                        <m:e>
                          <m:r>
                            <a:rPr lang="en-US" sz="1400" i="1">
                              <a:latin typeface="Cambria Math" panose="02040503050406030204" pitchFamily="18" charset="0"/>
                            </a:rPr>
                            <m:t>𝑉</m:t>
                          </m:r>
                        </m:e>
                        <m:sub>
                          <m:r>
                            <a:rPr lang="en-US" sz="1400" i="1">
                              <a:latin typeface="Cambria Math" panose="02040503050406030204" pitchFamily="18" charset="0"/>
                            </a:rPr>
                            <m:t>𝑘</m:t>
                          </m:r>
                        </m:sub>
                      </m:sSub>
                    </m:oMath>
                  </m:oMathPara>
                </a14:m>
                <a:endParaRPr lang="en-US" sz="1400" dirty="0"/>
              </a:p>
            </p:txBody>
          </p:sp>
        </mc:Choice>
        <mc:Fallback xmlns="">
          <p:sp>
            <p:nvSpPr>
              <p:cNvPr id="3" name="Speech Bubble: Rectangle with Corners Rounded 2" descr="Bellman operator T to the power pi : V sub k plus 1, equals T to the power pi V sub k">
                <a:extLst>
                  <a:ext uri="{FF2B5EF4-FFF2-40B4-BE49-F238E27FC236}">
                    <a16:creationId xmlns:a16="http://schemas.microsoft.com/office/drawing/2014/main" id="{4FDB9947-9818-7FF7-6A8C-58889DDE4BD2}"/>
                  </a:ext>
                </a:extLst>
              </p:cNvPr>
              <p:cNvSpPr>
                <a:spLocks noRot="1" noChangeAspect="1" noMove="1" noResize="1" noEditPoints="1" noAdjustHandles="1" noChangeArrowheads="1" noChangeShapeType="1" noTextEdit="1"/>
              </p:cNvSpPr>
              <p:nvPr/>
            </p:nvSpPr>
            <p:spPr>
              <a:xfrm>
                <a:off x="7838712" y="3329532"/>
                <a:ext cx="1947462" cy="593313"/>
              </a:xfrm>
              <a:prstGeom prst="wedgeRoundRectCallout">
                <a:avLst>
                  <a:gd name="adj1" fmla="val -76118"/>
                  <a:gd name="adj2" fmla="val 99041"/>
                  <a:gd name="adj3" fmla="val 16667"/>
                </a:avLst>
              </a:prstGeom>
              <a:blipFill>
                <a:blip r:embed="rId3"/>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Speech Bubble: Rectangle with Corners Rounded 5" descr="Stop when value function changes little: the norm of T to the power pi V sub k minus V sub k sub infinity is less than theta. It can be shown that the error is bounded:. the norm of V sub k minus v sub pi sub infinity is less than the fraction theta, over 1 minus gamma, end fraction">
                <a:extLst>
                  <a:ext uri="{FF2B5EF4-FFF2-40B4-BE49-F238E27FC236}">
                    <a16:creationId xmlns:a16="http://schemas.microsoft.com/office/drawing/2014/main" id="{A1E667CB-0634-45C9-45D9-EAFB5DCCC40D}"/>
                  </a:ext>
                </a:extLst>
              </p:cNvPr>
              <p:cNvSpPr/>
              <p:nvPr/>
            </p:nvSpPr>
            <p:spPr>
              <a:xfrm>
                <a:off x="3699481" y="5381209"/>
                <a:ext cx="3608738" cy="1111665"/>
              </a:xfrm>
              <a:prstGeom prst="wedgeRoundRectCallout">
                <a:avLst>
                  <a:gd name="adj1" fmla="val -35573"/>
                  <a:gd name="adj2" fmla="val -112651"/>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Stop when value function changes little:</a:t>
                </a:r>
                <a:br>
                  <a:rPr lang="en-US" sz="1400" b="0" i="0" dirty="0">
                    <a:latin typeface="Cambria Math" panose="02040503050406030204" pitchFamily="18" charset="0"/>
                  </a:rPr>
                </a:br>
                <a14:m>
                  <m:oMathPara xmlns:m="http://schemas.openxmlformats.org/officeDocument/2006/math">
                    <m:oMath>
                      <m:r>
                        <a:rPr lang="en-US" sz="1400" b="0" i="0" smtClean="0">
                          <a:latin typeface="Cambria Math" panose="02040503050406030204" pitchFamily="18" charset="0"/>
                        </a:rPr>
                        <m:t> </m:t>
                      </m:r>
                      <m:sSub>
                        <m:sSubPr>
                          <m:ctrlPr>
                            <a:rPr lang="en-US" sz="1400" b="0" i="1" smtClean="0">
                              <a:latin typeface="Cambria Math" panose="02040503050406030204" pitchFamily="18" charset="0"/>
                            </a:rPr>
                          </m:ctrlPr>
                        </m:sSubPr>
                        <m:e>
                          <m:d>
                            <m:dPr>
                              <m:begChr m:val="‖"/>
                              <m:endChr m:val="‖"/>
                              <m:ctrlPr>
                                <a:rPr lang="en-US" sz="1400" b="0" i="1" smtClean="0">
                                  <a:latin typeface="Cambria Math" panose="02040503050406030204" pitchFamily="18" charset="0"/>
                                </a:rPr>
                              </m:ctrlPr>
                            </m:dPr>
                            <m:e>
                              <m:sSup>
                                <m:sSupPr>
                                  <m:ctrlPr>
                                    <a:rPr lang="en-US" sz="1400" b="0" i="1" smtClean="0">
                                      <a:latin typeface="Cambria Math" panose="02040503050406030204" pitchFamily="18" charset="0"/>
                                    </a:rPr>
                                  </m:ctrlPr>
                                </m:sSupPr>
                                <m:e>
                                  <m:r>
                                    <a:rPr lang="en-US" sz="1400" b="0" i="1" smtClean="0">
                                      <a:latin typeface="Cambria Math" panose="02040503050406030204" pitchFamily="18" charset="0"/>
                                    </a:rPr>
                                    <m:t>𝑇</m:t>
                                  </m:r>
                                </m:e>
                                <m:sup>
                                  <m:r>
                                    <a:rPr lang="en-US" sz="1400" b="0" i="1" smtClean="0">
                                      <a:latin typeface="Cambria Math" panose="02040503050406030204" pitchFamily="18" charset="0"/>
                                    </a:rPr>
                                    <m:t>𝜋</m:t>
                                  </m:r>
                                </m:sup>
                              </m:sSup>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𝑉</m:t>
                                  </m:r>
                                </m:e>
                                <m:sub>
                                  <m:r>
                                    <a:rPr lang="en-US" sz="1400" b="0" i="1" smtClean="0">
                                      <a:latin typeface="Cambria Math" panose="02040503050406030204" pitchFamily="18" charset="0"/>
                                    </a:rPr>
                                    <m:t>𝑘</m:t>
                                  </m:r>
                                </m:sub>
                              </m:sSub>
                              <m:r>
                                <a:rPr lang="en-US" sz="1400" b="0" i="1" smtClean="0">
                                  <a:latin typeface="Cambria Math" panose="02040503050406030204" pitchFamily="18" charset="0"/>
                                </a:rPr>
                                <m:t>−</m:t>
                              </m:r>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𝑉</m:t>
                                  </m:r>
                                </m:e>
                                <m:sub>
                                  <m:r>
                                    <a:rPr lang="en-US" sz="1400" b="0" i="1" smtClean="0">
                                      <a:latin typeface="Cambria Math" panose="02040503050406030204" pitchFamily="18" charset="0"/>
                                    </a:rPr>
                                    <m:t>𝑘</m:t>
                                  </m:r>
                                </m:sub>
                              </m:sSub>
                            </m:e>
                          </m:d>
                        </m:e>
                        <m:sub>
                          <m:r>
                            <a:rPr lang="en-US" sz="1400" b="0" i="1" smtClean="0">
                              <a:latin typeface="Cambria Math" panose="02040503050406030204" pitchFamily="18" charset="0"/>
                            </a:rPr>
                            <m:t>∞</m:t>
                          </m:r>
                        </m:sub>
                      </m:sSub>
                      <m:r>
                        <a:rPr lang="en-US" sz="1400" b="0" i="1" smtClean="0">
                          <a:latin typeface="Cambria Math" panose="02040503050406030204" pitchFamily="18" charset="0"/>
                        </a:rPr>
                        <m:t>&lt;</m:t>
                      </m:r>
                      <m:r>
                        <a:rPr lang="en-US" sz="1400" b="0" i="1" smtClean="0">
                          <a:latin typeface="Cambria Math" panose="02040503050406030204" pitchFamily="18" charset="0"/>
                        </a:rPr>
                        <m:t>𝜃</m:t>
                      </m:r>
                    </m:oMath>
                  </m:oMathPara>
                </a14:m>
                <a:endParaRPr lang="en-US" sz="1400" dirty="0"/>
              </a:p>
              <a:p>
                <a:pPr algn="ctr"/>
                <a:r>
                  <a:rPr lang="en-US" sz="1400" dirty="0"/>
                  <a:t>It can be shown that the error is bounded:</a:t>
                </a:r>
              </a:p>
              <a:p>
                <a:pPr algn="ctr"/>
                <a14:m>
                  <m:oMathPara xmlns:m="http://schemas.openxmlformats.org/officeDocument/2006/math">
                    <m:oMath>
                      <m:sSub>
                        <m:sSubPr>
                          <m:ctrlPr>
                            <a:rPr lang="en-US" sz="1400" b="0" i="1" smtClean="0">
                              <a:latin typeface="Cambria Math" panose="02040503050406030204" pitchFamily="18" charset="0"/>
                            </a:rPr>
                          </m:ctrlPr>
                        </m:sSubPr>
                        <m:e>
                          <m:d>
                            <m:dPr>
                              <m:begChr m:val="‖"/>
                              <m:endChr m:val="‖"/>
                              <m:ctrlPr>
                                <a:rPr lang="en-US" sz="1400" b="0" i="1" smtClean="0">
                                  <a:latin typeface="Cambria Math" panose="02040503050406030204" pitchFamily="18" charset="0"/>
                                </a:rPr>
                              </m:ctrlPr>
                            </m:dPr>
                            <m:e>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𝑉</m:t>
                                  </m:r>
                                </m:e>
                                <m:sub>
                                  <m:r>
                                    <a:rPr lang="en-US" sz="1400" b="0" i="1" smtClean="0">
                                      <a:latin typeface="Cambria Math" panose="02040503050406030204" pitchFamily="18" charset="0"/>
                                    </a:rPr>
                                    <m:t>𝑘</m:t>
                                  </m:r>
                                </m:sub>
                              </m:sSub>
                              <m:r>
                                <a:rPr lang="en-US" sz="1400" b="0" i="1" smtClean="0">
                                  <a:latin typeface="Cambria Math" panose="02040503050406030204" pitchFamily="18" charset="0"/>
                                </a:rPr>
                                <m:t>−</m:t>
                              </m:r>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𝑣</m:t>
                                  </m:r>
                                </m:e>
                                <m:sub>
                                  <m:r>
                                    <a:rPr lang="en-US" sz="1400" b="0" i="1" smtClean="0">
                                      <a:latin typeface="Cambria Math" panose="02040503050406030204" pitchFamily="18" charset="0"/>
                                    </a:rPr>
                                    <m:t>𝜋</m:t>
                                  </m:r>
                                </m:sub>
                              </m:sSub>
                            </m:e>
                          </m:d>
                        </m:e>
                        <m:sub>
                          <m:r>
                            <a:rPr lang="en-US" sz="1400" b="0" i="1" smtClean="0">
                              <a:latin typeface="Cambria Math" panose="02040503050406030204" pitchFamily="18" charset="0"/>
                            </a:rPr>
                            <m:t>∞</m:t>
                          </m:r>
                        </m:sub>
                      </m:sSub>
                      <m:r>
                        <a:rPr lang="en-US" sz="1400" b="0" i="1" smtClean="0">
                          <a:latin typeface="Cambria Math" panose="02040503050406030204" pitchFamily="18" charset="0"/>
                        </a:rPr>
                        <m:t>&lt;</m:t>
                      </m:r>
                      <m:f>
                        <m:fPr>
                          <m:ctrlPr>
                            <a:rPr lang="en-US" sz="1400" b="0" i="1" smtClean="0">
                              <a:latin typeface="Cambria Math" panose="02040503050406030204" pitchFamily="18" charset="0"/>
                            </a:rPr>
                          </m:ctrlPr>
                        </m:fPr>
                        <m:num>
                          <m:r>
                            <a:rPr lang="en-US" sz="1400" b="0" i="1" smtClean="0">
                              <a:latin typeface="Cambria Math" panose="02040503050406030204" pitchFamily="18" charset="0"/>
                            </a:rPr>
                            <m:t>𝜃</m:t>
                          </m:r>
                        </m:num>
                        <m:den>
                          <m:r>
                            <a:rPr lang="en-US" sz="1400" b="0" i="1" smtClean="0">
                              <a:latin typeface="Cambria Math" panose="02040503050406030204" pitchFamily="18" charset="0"/>
                            </a:rPr>
                            <m:t>1−</m:t>
                          </m:r>
                          <m:r>
                            <a:rPr lang="en-US" sz="1400" b="0" i="1" smtClean="0">
                              <a:latin typeface="Cambria Math" panose="02040503050406030204" pitchFamily="18" charset="0"/>
                            </a:rPr>
                            <m:t>𝛾</m:t>
                          </m:r>
                        </m:den>
                      </m:f>
                    </m:oMath>
                  </m:oMathPara>
                </a14:m>
                <a:endParaRPr lang="en-US" sz="1400" dirty="0"/>
              </a:p>
            </p:txBody>
          </p:sp>
        </mc:Choice>
        <mc:Fallback xmlns="">
          <p:sp>
            <p:nvSpPr>
              <p:cNvPr id="6" name="Speech Bubble: Rectangle with Corners Rounded 5" descr="Stop when value function changes little: the norm of T to the power pi V sub k minus V sub k sub infinity is less than theta. It can be shown that the error is bounded:. the norm of V sub k minus v sub pi sub infinity is less than the fraction theta, over 1 minus gamma, end fraction">
                <a:extLst>
                  <a:ext uri="{FF2B5EF4-FFF2-40B4-BE49-F238E27FC236}">
                    <a16:creationId xmlns:a16="http://schemas.microsoft.com/office/drawing/2014/main" id="{A1E667CB-0634-45C9-45D9-EAFB5DCCC40D}"/>
                  </a:ext>
                </a:extLst>
              </p:cNvPr>
              <p:cNvSpPr>
                <a:spLocks noRot="1" noChangeAspect="1" noMove="1" noResize="1" noEditPoints="1" noAdjustHandles="1" noChangeArrowheads="1" noChangeShapeType="1" noTextEdit="1"/>
              </p:cNvSpPr>
              <p:nvPr/>
            </p:nvSpPr>
            <p:spPr>
              <a:xfrm>
                <a:off x="3699481" y="5381209"/>
                <a:ext cx="3608738" cy="1111665"/>
              </a:xfrm>
              <a:prstGeom prst="wedgeRoundRectCallout">
                <a:avLst>
                  <a:gd name="adj1" fmla="val -35573"/>
                  <a:gd name="adj2" fmla="val -112651"/>
                  <a:gd name="adj3" fmla="val 16667"/>
                </a:avLst>
              </a:prstGeom>
              <a:blipFill>
                <a:blip r:embed="rId4"/>
                <a:stretch>
                  <a:fillRect b="-166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Speech Bubble: Rectangle with Corners Rounded 6" descr="Notation: V is the tabular estimate of v">
                <a:extLst>
                  <a:ext uri="{FF2B5EF4-FFF2-40B4-BE49-F238E27FC236}">
                    <a16:creationId xmlns:a16="http://schemas.microsoft.com/office/drawing/2014/main" id="{DC293BB5-29C7-EBCB-3BD0-962870DC2F43}"/>
                  </a:ext>
                </a:extLst>
              </p:cNvPr>
              <p:cNvSpPr/>
              <p:nvPr/>
            </p:nvSpPr>
            <p:spPr>
              <a:xfrm>
                <a:off x="8242397" y="827541"/>
                <a:ext cx="1947462" cy="593313"/>
              </a:xfrm>
              <a:prstGeom prst="wedgeRoundRectCallout">
                <a:avLst>
                  <a:gd name="adj1" fmla="val -99057"/>
                  <a:gd name="adj2" fmla="val 119041"/>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b="0" dirty="0"/>
                  <a:t>Notation: </a:t>
                </a:r>
                <a14:m>
                  <m:oMath xmlns:m="http://schemas.openxmlformats.org/officeDocument/2006/math">
                    <m:r>
                      <a:rPr lang="en-US" sz="1400" b="0" i="1" smtClean="0">
                        <a:latin typeface="Cambria Math" panose="02040503050406030204" pitchFamily="18" charset="0"/>
                      </a:rPr>
                      <m:t>𝑉</m:t>
                    </m:r>
                  </m:oMath>
                </a14:m>
                <a:r>
                  <a:rPr lang="en-US" sz="1400" dirty="0"/>
                  <a:t> is the tabular estimate of </a:t>
                </a:r>
                <a14:m>
                  <m:oMath xmlns:m="http://schemas.openxmlformats.org/officeDocument/2006/math">
                    <m:r>
                      <a:rPr lang="en-US" sz="1400" b="0" i="1" smtClean="0">
                        <a:latin typeface="Cambria Math" panose="02040503050406030204" pitchFamily="18" charset="0"/>
                      </a:rPr>
                      <m:t>𝑣</m:t>
                    </m:r>
                  </m:oMath>
                </a14:m>
                <a:endParaRPr lang="en-US" sz="1400" dirty="0"/>
              </a:p>
            </p:txBody>
          </p:sp>
        </mc:Choice>
        <mc:Fallback xmlns="">
          <p:sp>
            <p:nvSpPr>
              <p:cNvPr id="7" name="Speech Bubble: Rectangle with Corners Rounded 6" descr="Notation: V is the tabular estimate of v">
                <a:extLst>
                  <a:ext uri="{FF2B5EF4-FFF2-40B4-BE49-F238E27FC236}">
                    <a16:creationId xmlns:a16="http://schemas.microsoft.com/office/drawing/2014/main" id="{DC293BB5-29C7-EBCB-3BD0-962870DC2F43}"/>
                  </a:ext>
                </a:extLst>
              </p:cNvPr>
              <p:cNvSpPr>
                <a:spLocks noRot="1" noChangeAspect="1" noMove="1" noResize="1" noEditPoints="1" noAdjustHandles="1" noChangeArrowheads="1" noChangeShapeType="1" noTextEdit="1"/>
              </p:cNvSpPr>
              <p:nvPr/>
            </p:nvSpPr>
            <p:spPr>
              <a:xfrm>
                <a:off x="8242397" y="827541"/>
                <a:ext cx="1947462" cy="593313"/>
              </a:xfrm>
              <a:prstGeom prst="wedgeRoundRectCallout">
                <a:avLst>
                  <a:gd name="adj1" fmla="val -99057"/>
                  <a:gd name="adj2" fmla="val 119041"/>
                  <a:gd name="adj3" fmla="val 16667"/>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ectangle: Rounded Corners 7" descr="If we stop policy evaluation early (after n iterations) then it is called modified policy iteration and we end up with an approximation">
                <a:extLst>
                  <a:ext uri="{FF2B5EF4-FFF2-40B4-BE49-F238E27FC236}">
                    <a16:creationId xmlns:a16="http://schemas.microsoft.com/office/drawing/2014/main" id="{E2583962-6C30-E802-8782-E155488FA659}"/>
                  </a:ext>
                </a:extLst>
              </p:cNvPr>
              <p:cNvSpPr/>
              <p:nvPr/>
            </p:nvSpPr>
            <p:spPr>
              <a:xfrm>
                <a:off x="8242397" y="5381209"/>
                <a:ext cx="3212034" cy="1040531"/>
              </a:xfrm>
              <a:prstGeom prst="roundRect">
                <a:avLst/>
              </a:prstGeom>
              <a:solidFill>
                <a:srgbClr val="C35115"/>
              </a:solidFill>
            </p:spPr>
            <p:style>
              <a:lnRef idx="2">
                <a:schemeClr val="accent2">
                  <a:shade val="15000"/>
                </a:schemeClr>
              </a:lnRef>
              <a:fillRef idx="1">
                <a:schemeClr val="accent2"/>
              </a:fillRef>
              <a:effectRef idx="0">
                <a:schemeClr val="accent2"/>
              </a:effectRef>
              <a:fontRef idx="minor">
                <a:schemeClr val="lt1"/>
              </a:fontRef>
            </p:style>
            <p:txBody>
              <a:bodyPr rtlCol="0" anchor="ctr"/>
              <a:lstStyle/>
              <a:p>
                <a:pPr algn="ctr"/>
                <a:r>
                  <a:rPr lang="en-US" sz="1600" dirty="0"/>
                  <a:t>If we stop policy evaluation early (after </a:t>
                </a:r>
                <a14:m>
                  <m:oMath xmlns:m="http://schemas.openxmlformats.org/officeDocument/2006/math">
                    <m:r>
                      <a:rPr lang="en-US" sz="1600" i="1" dirty="0" smtClean="0">
                        <a:latin typeface="Cambria Math" panose="02040503050406030204" pitchFamily="18" charset="0"/>
                      </a:rPr>
                      <m:t>𝑛</m:t>
                    </m:r>
                  </m:oMath>
                </a14:m>
                <a:r>
                  <a:rPr lang="en-US" sz="1600" dirty="0"/>
                  <a:t> iterations) then it is called </a:t>
                </a:r>
                <a:r>
                  <a:rPr lang="en-US" sz="1600" b="1" dirty="0"/>
                  <a:t>modified policy iteration </a:t>
                </a:r>
                <a:r>
                  <a:rPr lang="en-US" sz="1600" dirty="0"/>
                  <a:t>and we end up with an approximation.</a:t>
                </a:r>
                <a:endParaRPr lang="en-US" sz="1600" b="1" dirty="0"/>
              </a:p>
            </p:txBody>
          </p:sp>
        </mc:Choice>
        <mc:Fallback xmlns="">
          <p:sp>
            <p:nvSpPr>
              <p:cNvPr id="8" name="Rectangle: Rounded Corners 7" descr="If we stop policy evaluation early (after n iterations) then it is called modified policy iteration and we end up with an approximation">
                <a:extLst>
                  <a:ext uri="{FF2B5EF4-FFF2-40B4-BE49-F238E27FC236}">
                    <a16:creationId xmlns:a16="http://schemas.microsoft.com/office/drawing/2014/main" id="{E2583962-6C30-E802-8782-E155488FA659}"/>
                  </a:ext>
                </a:extLst>
              </p:cNvPr>
              <p:cNvSpPr>
                <a:spLocks noRot="1" noChangeAspect="1" noMove="1" noResize="1" noEditPoints="1" noAdjustHandles="1" noChangeArrowheads="1" noChangeShapeType="1" noTextEdit="1"/>
              </p:cNvSpPr>
              <p:nvPr/>
            </p:nvSpPr>
            <p:spPr>
              <a:xfrm>
                <a:off x="8242397" y="5381209"/>
                <a:ext cx="3212034" cy="1040531"/>
              </a:xfrm>
              <a:prstGeom prst="roundRect">
                <a:avLst/>
              </a:prstGeom>
              <a:blipFill>
                <a:blip r:embed="rId6"/>
                <a:stretch>
                  <a:fillRect t="-2312" r="-189" b="-8092"/>
                </a:stretch>
              </a:blipFill>
            </p:spPr>
            <p:txBody>
              <a:bodyPr/>
              <a:lstStyle/>
              <a:p>
                <a:r>
                  <a:rPr lang="en-US">
                    <a:noFill/>
                  </a:rPr>
                  <a:t> </a:t>
                </a:r>
              </a:p>
            </p:txBody>
          </p:sp>
        </mc:Fallback>
      </mc:AlternateContent>
    </p:spTree>
    <p:extLst>
      <p:ext uri="{BB962C8B-B14F-4D97-AF65-F5344CB8AC3E}">
        <p14:creationId xmlns:p14="http://schemas.microsoft.com/office/powerpoint/2010/main" val="40910455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animBg="1"/>
      <p:bldP spid="8"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8CF1CC-10CD-B582-2B11-0A66BEC5A9A3}"/>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64054114-96CE-D97E-B075-31C454DDAC24}"/>
              </a:ext>
            </a:extLst>
          </p:cNvPr>
          <p:cNvSpPr>
            <a:spLocks noGrp="1"/>
          </p:cNvSpPr>
          <p:nvPr>
            <p:ph type="title"/>
          </p:nvPr>
        </p:nvSpPr>
        <p:spPr/>
        <p:txBody>
          <a:bodyPr/>
          <a:lstStyle/>
          <a:p>
            <a:r>
              <a:rPr lang="en-US" dirty="0"/>
              <a:t>Control: Policy Iteration</a:t>
            </a:r>
          </a:p>
        </p:txBody>
      </p:sp>
      <p:sp>
        <p:nvSpPr>
          <p:cNvPr id="5" name="Text Placeholder 4">
            <a:extLst>
              <a:ext uri="{FF2B5EF4-FFF2-40B4-BE49-F238E27FC236}">
                <a16:creationId xmlns:a16="http://schemas.microsoft.com/office/drawing/2014/main" id="{5762B658-5985-EDF0-1906-5FE3656E56FA}"/>
              </a:ext>
            </a:extLst>
          </p:cNvPr>
          <p:cNvSpPr>
            <a:spLocks noGrp="1"/>
          </p:cNvSpPr>
          <p:nvPr>
            <p:ph type="body" idx="1"/>
          </p:nvPr>
        </p:nvSpPr>
        <p:spPr/>
        <p:txBody>
          <a:bodyPr/>
          <a:lstStyle/>
          <a:p>
            <a:r>
              <a:rPr lang="en-US" dirty="0"/>
              <a:t>Find the optimal policy based on the environment model.</a:t>
            </a:r>
          </a:p>
        </p:txBody>
      </p:sp>
    </p:spTree>
    <p:extLst>
      <p:ext uri="{BB962C8B-B14F-4D97-AF65-F5344CB8AC3E}">
        <p14:creationId xmlns:p14="http://schemas.microsoft.com/office/powerpoint/2010/main" val="37772480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7BFCE80A-5561-7918-7BB7-41058FE7D7B4}"/>
              </a:ext>
            </a:extLst>
          </p:cNvPr>
          <p:cNvSpPr>
            <a:spLocks noGrp="1"/>
          </p:cNvSpPr>
          <p:nvPr>
            <p:ph type="title"/>
          </p:nvPr>
        </p:nvSpPr>
        <p:spPr/>
        <p:txBody>
          <a:bodyPr/>
          <a:lstStyle/>
          <a:p>
            <a:r>
              <a:rPr lang="en-US" dirty="0"/>
              <a:t>Policy Improvement and the Greedy Policy</a:t>
            </a:r>
          </a:p>
        </p:txBody>
      </p:sp>
      <mc:AlternateContent xmlns:mc="http://schemas.openxmlformats.org/markup-compatibility/2006" xmlns:a14="http://schemas.microsoft.com/office/drawing/2010/main">
        <mc:Choice Requires="a14">
          <p:sp>
            <p:nvSpPr>
              <p:cNvPr id="6" name="TextBox 5" descr="Policy Improvement Theorem. q sub pi (s, pi prime (s)) is greater than or equal to v sub pi (s) for all s in S implies v sub pi prime, (s) is greater than or equal to v sub pi (s) for all s in S. If pi prime is the same as pi but has a better action for at least one state, then pi prime is strictly better than pi">
                <a:extLst>
                  <a:ext uri="{FF2B5EF4-FFF2-40B4-BE49-F238E27FC236}">
                    <a16:creationId xmlns:a16="http://schemas.microsoft.com/office/drawing/2014/main" id="{BFC66EED-553B-0E0F-6F59-A9AF7183D9BE}"/>
                  </a:ext>
                </a:extLst>
              </p:cNvPr>
              <p:cNvSpPr txBox="1"/>
              <p:nvPr/>
            </p:nvSpPr>
            <p:spPr>
              <a:xfrm>
                <a:off x="976969" y="1396409"/>
                <a:ext cx="10846964" cy="1512978"/>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pPr algn="ctr"/>
                <a:r>
                  <a:rPr lang="en-US" b="1" dirty="0"/>
                  <a:t>Policy Improvement Theorem</a:t>
                </a:r>
              </a:p>
              <a:p>
                <a:endParaRPr lang="en-US" dirty="0"/>
              </a:p>
              <a:p>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𝜋</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𝑠</m:t>
                          </m:r>
                          <m:r>
                            <a:rPr lang="en-US" b="0" i="1" smtClean="0">
                              <a:latin typeface="Cambria Math" panose="02040503050406030204" pitchFamily="18" charset="0"/>
                            </a:rPr>
                            <m:t>, </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𝜋</m:t>
                              </m:r>
                            </m:e>
                            <m:sup>
                              <m:r>
                                <a:rPr lang="en-US" b="0" i="1" smtClean="0">
                                  <a:latin typeface="Cambria Math" panose="02040503050406030204" pitchFamily="18" charset="0"/>
                                </a:rPr>
                                <m:t>′</m:t>
                              </m:r>
                            </m:sup>
                          </m:sSup>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e>
                      </m:d>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r>
                            <a:rPr lang="en-US" b="0" i="1" smtClean="0">
                              <a:latin typeface="Cambria Math" panose="02040503050406030204" pitchFamily="18" charset="0"/>
                            </a:rPr>
                            <m:t>𝜋</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𝑠</m:t>
                          </m:r>
                        </m:e>
                      </m:d>
                      <m:r>
                        <a:rPr lang="en-US" b="0" i="1" smtClean="0">
                          <a:latin typeface="Cambria Math" panose="02040503050406030204" pitchFamily="18" charset="0"/>
                        </a:rPr>
                        <m:t>  ∀</m:t>
                      </m:r>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𝒮</m:t>
                      </m:r>
                      <m:r>
                        <a:rPr lang="en-US" b="0" i="1" smtClean="0">
                          <a:latin typeface="Cambria Math" panose="02040503050406030204" pitchFamily="18" charset="0"/>
                          <a:ea typeface="Cambria Math" panose="02040503050406030204" pitchFamily="18" charset="0"/>
                        </a:rPr>
                        <m:t>  ⇒</m:t>
                      </m:r>
                      <m:sSub>
                        <m:sSubPr>
                          <m:ctrlPr>
                            <a:rPr lang="en-US" b="0" i="1" smtClean="0">
                              <a:latin typeface="Cambria Math" panose="02040503050406030204" pitchFamily="18" charset="0"/>
                            </a:rPr>
                          </m:ctrlPr>
                        </m:sSubPr>
                        <m:e>
                          <m:r>
                            <a:rPr lang="en-US" b="0" i="1" smtClean="0">
                              <a:latin typeface="Cambria Math" panose="02040503050406030204" pitchFamily="18" charset="0"/>
                            </a:rPr>
                            <m:t>    </m:t>
                          </m:r>
                          <m:r>
                            <a:rPr lang="en-US" i="1">
                              <a:latin typeface="Cambria Math" panose="02040503050406030204" pitchFamily="18" charset="0"/>
                            </a:rPr>
                            <m:t>𝑣</m:t>
                          </m:r>
                        </m:e>
                        <m:sub>
                          <m:sSup>
                            <m:sSupPr>
                              <m:ctrlPr>
                                <a:rPr lang="en-US" i="1">
                                  <a:latin typeface="Cambria Math" panose="02040503050406030204" pitchFamily="18" charset="0"/>
                                </a:rPr>
                              </m:ctrlPr>
                            </m:sSupPr>
                            <m:e>
                              <m:r>
                                <a:rPr lang="en-US" i="1">
                                  <a:latin typeface="Cambria Math" panose="02040503050406030204" pitchFamily="18" charset="0"/>
                                </a:rPr>
                                <m:t>𝜋</m:t>
                              </m:r>
                            </m:e>
                            <m:sup>
                              <m:r>
                                <a:rPr lang="en-US" i="1">
                                  <a:latin typeface="Cambria Math" panose="02040503050406030204" pitchFamily="18" charset="0"/>
                                </a:rPr>
                                <m:t>′</m:t>
                              </m:r>
                            </m:sup>
                          </m:sSup>
                        </m:sub>
                      </m:sSub>
                      <m:d>
                        <m:dPr>
                          <m:ctrlPr>
                            <a:rPr lang="en-US" i="1">
                              <a:latin typeface="Cambria Math" panose="02040503050406030204" pitchFamily="18" charset="0"/>
                            </a:rPr>
                          </m:ctrlPr>
                        </m:dPr>
                        <m:e>
                          <m:r>
                            <a:rPr lang="en-US" i="1">
                              <a:latin typeface="Cambria Math" panose="02040503050406030204" pitchFamily="18" charset="0"/>
                            </a:rPr>
                            <m:t>𝑠</m:t>
                          </m:r>
                        </m:e>
                      </m:d>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rPr>
                            <m:t>𝜋</m:t>
                          </m:r>
                        </m:sub>
                      </m:sSub>
                      <m:d>
                        <m:dPr>
                          <m:ctrlPr>
                            <a:rPr lang="en-US" i="1">
                              <a:latin typeface="Cambria Math" panose="02040503050406030204" pitchFamily="18" charset="0"/>
                            </a:rPr>
                          </m:ctrlPr>
                        </m:dPr>
                        <m:e>
                          <m:r>
                            <a:rPr lang="en-US" i="1">
                              <a:latin typeface="Cambria Math" panose="02040503050406030204" pitchFamily="18" charset="0"/>
                            </a:rPr>
                            <m:t>𝑠</m:t>
                          </m:r>
                        </m:e>
                      </m:d>
                      <m:r>
                        <a:rPr lang="en-US" i="1">
                          <a:latin typeface="Cambria Math" panose="02040503050406030204" pitchFamily="18" charset="0"/>
                        </a:rPr>
                        <m:t>  ∀</m:t>
                      </m:r>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ea typeface="Cambria Math" panose="02040503050406030204" pitchFamily="18" charset="0"/>
                        </a:rPr>
                        <m:t>𝒮</m:t>
                      </m:r>
                    </m:oMath>
                  </m:oMathPara>
                </a14:m>
                <a:endParaRPr lang="en-US" dirty="0"/>
              </a:p>
              <a:p>
                <a:endParaRPr lang="en-US" dirty="0"/>
              </a:p>
              <a:p>
                <a:r>
                  <a:rPr lang="en-US" dirty="0"/>
                  <a:t>If </a:t>
                </a:r>
                <a14:m>
                  <m:oMath xmlns:m="http://schemas.openxmlformats.org/officeDocument/2006/math">
                    <m:r>
                      <a:rPr lang="en-US" i="1">
                        <a:latin typeface="Cambria Math" panose="02040503050406030204" pitchFamily="18" charset="0"/>
                      </a:rPr>
                      <m:t>𝜋</m:t>
                    </m:r>
                    <m:r>
                      <a:rPr lang="en-US" i="1">
                        <a:latin typeface="Cambria Math" panose="02040503050406030204" pitchFamily="18" charset="0"/>
                      </a:rPr>
                      <m:t>′</m:t>
                    </m:r>
                  </m:oMath>
                </a14:m>
                <a:r>
                  <a:rPr lang="en-US" dirty="0"/>
                  <a:t> is the same as </a:t>
                </a:r>
                <a14:m>
                  <m:oMath xmlns:m="http://schemas.openxmlformats.org/officeDocument/2006/math">
                    <m:r>
                      <a:rPr lang="en-US" b="0" i="1" smtClean="0">
                        <a:latin typeface="Cambria Math" panose="02040503050406030204" pitchFamily="18" charset="0"/>
                      </a:rPr>
                      <m:t>𝜋</m:t>
                    </m:r>
                  </m:oMath>
                </a14:m>
                <a:r>
                  <a:rPr lang="en-US" dirty="0"/>
                  <a:t> but has a better action for at least one state, then </a:t>
                </a:r>
                <a14:m>
                  <m:oMath xmlns:m="http://schemas.openxmlformats.org/officeDocument/2006/math">
                    <m:r>
                      <a:rPr lang="en-US" b="0" i="1" smtClean="0">
                        <a:latin typeface="Cambria Math" panose="02040503050406030204" pitchFamily="18" charset="0"/>
                      </a:rPr>
                      <m:t>𝜋</m:t>
                    </m:r>
                    <m:r>
                      <a:rPr lang="en-US" b="0" i="1" smtClean="0">
                        <a:latin typeface="Cambria Math" panose="02040503050406030204" pitchFamily="18" charset="0"/>
                      </a:rPr>
                      <m:t>′</m:t>
                    </m:r>
                  </m:oMath>
                </a14:m>
                <a:r>
                  <a:rPr lang="en-US" dirty="0"/>
                  <a:t> is strictly better than </a:t>
                </a:r>
                <a14:m>
                  <m:oMath xmlns:m="http://schemas.openxmlformats.org/officeDocument/2006/math">
                    <m:r>
                      <a:rPr lang="en-US" b="0" i="1" smtClean="0">
                        <a:latin typeface="Cambria Math" panose="02040503050406030204" pitchFamily="18" charset="0"/>
                      </a:rPr>
                      <m:t>𝜋</m:t>
                    </m:r>
                  </m:oMath>
                </a14:m>
                <a:endParaRPr lang="en-US" dirty="0"/>
              </a:p>
            </p:txBody>
          </p:sp>
        </mc:Choice>
        <mc:Fallback xmlns="">
          <p:sp>
            <p:nvSpPr>
              <p:cNvPr id="6" name="TextBox 5" descr="Policy Improvement Theorem. q sub pi (s, pi prime (s)) is greater than or equal to v sub pi (s) for all s in S implies v sub pi prime, (s) is greater than or equal to v sub pi (s) for all s in S. If pi prime is the same as pi but has a better action for at least one state, then pi prime is strictly better than pi">
                <a:extLst>
                  <a:ext uri="{FF2B5EF4-FFF2-40B4-BE49-F238E27FC236}">
                    <a16:creationId xmlns:a16="http://schemas.microsoft.com/office/drawing/2014/main" id="{BFC66EED-553B-0E0F-6F59-A9AF7183D9BE}"/>
                  </a:ext>
                </a:extLst>
              </p:cNvPr>
              <p:cNvSpPr txBox="1">
                <a:spLocks noRot="1" noChangeAspect="1" noMove="1" noResize="1" noEditPoints="1" noAdjustHandles="1" noChangeArrowheads="1" noChangeShapeType="1" noTextEdit="1"/>
              </p:cNvSpPr>
              <p:nvPr/>
            </p:nvSpPr>
            <p:spPr>
              <a:xfrm>
                <a:off x="976969" y="1396409"/>
                <a:ext cx="10846964" cy="1512978"/>
              </a:xfrm>
              <a:prstGeom prst="rect">
                <a:avLst/>
              </a:prstGeom>
              <a:blipFill>
                <a:blip r:embed="rId3"/>
                <a:stretch>
                  <a:fillRect l="-393" t="-1195" b="-517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Content Placeholder 4" descr="Greedy policy improvement: create a new policy pi prime by choosing in each state the best (aka greedy) action with respect to q sub pi (s,a) . pi prime (s) equals argmax over a, of q sub pi (s,a). Guarantee: This greedy policy pi prime is strictly better unless pi is already optimal. Proof: v sub pi sub k plus 1, (s) equals q sub pi sub k, (s, pi sub k plus 1, (s)) equals q sub pi sub k, (s, argmax over a, of q sub pi sub k, (s,a)) equals max over a q sub pi sub k, (s,a) is greater than or equal to q sub pi sub k, (s, pi sub k (s)) is greater than or equal to v sub pi sub k, (s)">
                <a:extLst>
                  <a:ext uri="{FF2B5EF4-FFF2-40B4-BE49-F238E27FC236}">
                    <a16:creationId xmlns:a16="http://schemas.microsoft.com/office/drawing/2014/main" id="{1A53698B-84CA-6CEC-1390-2BE83DC5515F}"/>
                  </a:ext>
                </a:extLst>
              </p:cNvPr>
              <p:cNvSpPr>
                <a:spLocks noGrp="1"/>
              </p:cNvSpPr>
              <p:nvPr>
                <p:ph idx="1"/>
              </p:nvPr>
            </p:nvSpPr>
            <p:spPr>
              <a:xfrm>
                <a:off x="917896" y="3181599"/>
                <a:ext cx="10965110" cy="3164674"/>
              </a:xfrm>
            </p:spPr>
            <p:txBody>
              <a:bodyPr>
                <a:normAutofit fontScale="62500" lnSpcReduction="20000"/>
              </a:bodyPr>
              <a:lstStyle/>
              <a:p>
                <a:r>
                  <a:rPr lang="en-US" b="1" dirty="0"/>
                  <a:t>Greedy policy improvement</a:t>
                </a:r>
                <a:r>
                  <a:rPr lang="en-US" dirty="0"/>
                  <a:t>: create a new policy </a:t>
                </a:r>
                <a14:m>
                  <m:oMath xmlns:m="http://schemas.openxmlformats.org/officeDocument/2006/math">
                    <m:r>
                      <a:rPr lang="en-US" b="0" i="1" smtClean="0">
                        <a:latin typeface="Cambria Math" panose="02040503050406030204" pitchFamily="18" charset="0"/>
                      </a:rPr>
                      <m:t>𝜋</m:t>
                    </m:r>
                    <m:r>
                      <a:rPr lang="en-US" b="0" i="1" smtClean="0">
                        <a:latin typeface="Cambria Math" panose="02040503050406030204" pitchFamily="18" charset="0"/>
                      </a:rPr>
                      <m:t>′</m:t>
                    </m:r>
                  </m:oMath>
                </a14:m>
                <a:r>
                  <a:rPr lang="en-US" dirty="0"/>
                  <a:t> by choosing in each state the best (aka greedy) action with respect to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𝜋</m:t>
                        </m:r>
                      </m:sub>
                    </m:sSub>
                    <m:d>
                      <m:dPr>
                        <m:ctrlPr>
                          <a:rPr lang="en-US" b="0" i="1" smtClean="0">
                            <a:latin typeface="Cambria Math" panose="02040503050406030204" pitchFamily="18" charset="0"/>
                          </a:rPr>
                        </m:ctrlPr>
                      </m:dPr>
                      <m:e>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𝑎</m:t>
                        </m:r>
                      </m:e>
                    </m:d>
                  </m:oMath>
                </a14:m>
                <a:r>
                  <a:rPr lang="en-US" dirty="0"/>
                  <a:t>. </a:t>
                </a:r>
                <a:br>
                  <a:rPr lang="en-US" dirty="0"/>
                </a:br>
                <a:endParaRPr lang="en-US" dirty="0"/>
              </a:p>
              <a:p>
                <a:pPr marL="0" indent="0">
                  <a:buNone/>
                </a:pPr>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𝜋</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 </m:t>
                      </m:r>
                      <m:func>
                        <m:funcPr>
                          <m:ctrlPr>
                            <a:rPr lang="en-US" b="0" i="1" smtClean="0">
                              <a:latin typeface="Cambria Math" panose="02040503050406030204" pitchFamily="18" charset="0"/>
                            </a:rPr>
                          </m:ctrlPr>
                        </m:funcPr>
                        <m:fName>
                          <m:limLow>
                            <m:limLowPr>
                              <m:ctrlPr>
                                <a:rPr lang="en-US" b="0" i="0" smtClean="0">
                                  <a:latin typeface="Cambria Math" panose="02040503050406030204" pitchFamily="18" charset="0"/>
                                </a:rPr>
                              </m:ctrlPr>
                            </m:limLowPr>
                            <m:e>
                              <m:r>
                                <m:rPr>
                                  <m:sty m:val="p"/>
                                </m:rPr>
                                <a:rPr lang="en-US" b="0" i="0" smtClean="0">
                                  <a:latin typeface="Cambria Math" panose="02040503050406030204" pitchFamily="18" charset="0"/>
                                </a:rPr>
                                <m:t>argmax</m:t>
                              </m:r>
                            </m:e>
                            <m:lim>
                              <m:r>
                                <a:rPr lang="en-US" b="0" i="1" smtClean="0">
                                  <a:latin typeface="Cambria Math" panose="02040503050406030204" pitchFamily="18" charset="0"/>
                                </a:rPr>
                                <m:t>𝑎</m:t>
                              </m:r>
                            </m:lim>
                          </m:limLow>
                        </m:fName>
                        <m:e>
                          <m:sSub>
                            <m:sSubPr>
                              <m:ctrlPr>
                                <a:rPr lang="en-US" b="0" i="1" smtClean="0">
                                  <a:latin typeface="Cambria Math" panose="02040503050406030204" pitchFamily="18" charset="0"/>
                                </a:rPr>
                              </m:ctrlPr>
                            </m:sSubPr>
                            <m:e>
                              <m:r>
                                <a:rPr lang="en-US" b="0" i="1" smtClean="0">
                                  <a:latin typeface="Cambria Math" panose="02040503050406030204" pitchFamily="18" charset="0"/>
                                </a:rPr>
                                <m:t>𝑞</m:t>
                              </m:r>
                            </m:e>
                            <m:sub>
                              <m:r>
                                <a:rPr lang="en-US" b="0" i="1" smtClean="0">
                                  <a:latin typeface="Cambria Math" panose="02040503050406030204" pitchFamily="18" charset="0"/>
                                </a:rPr>
                                <m:t>𝜋</m:t>
                              </m:r>
                            </m:sub>
                          </m:sSub>
                          <m:r>
                            <a:rPr lang="en-US" b="0" i="1" smtClean="0">
                              <a:latin typeface="Cambria Math" panose="02040503050406030204" pitchFamily="18" charset="0"/>
                            </a:rPr>
                            <m:t>(</m:t>
                          </m:r>
                          <m:r>
                            <a:rPr lang="en-US" b="0" i="1" smtClean="0">
                              <a:latin typeface="Cambria Math" panose="02040503050406030204" pitchFamily="18" charset="0"/>
                            </a:rPr>
                            <m:t>𝑠</m:t>
                          </m:r>
                          <m:r>
                            <a:rPr lang="en-US" b="0" i="1" smtClean="0">
                              <a:latin typeface="Cambria Math" panose="02040503050406030204" pitchFamily="18" charset="0"/>
                            </a:rPr>
                            <m:t>,</m:t>
                          </m:r>
                          <m:r>
                            <a:rPr lang="en-US" b="0" i="1" smtClean="0">
                              <a:latin typeface="Cambria Math" panose="02040503050406030204" pitchFamily="18" charset="0"/>
                            </a:rPr>
                            <m:t>𝑎</m:t>
                          </m:r>
                          <m:r>
                            <a:rPr lang="en-US" b="0" i="1" smtClean="0">
                              <a:latin typeface="Cambria Math" panose="02040503050406030204" pitchFamily="18" charset="0"/>
                            </a:rPr>
                            <m:t>)</m:t>
                          </m:r>
                        </m:e>
                      </m:func>
                    </m:oMath>
                  </m:oMathPara>
                </a14:m>
                <a:endParaRPr lang="en-US" dirty="0"/>
              </a:p>
              <a:p>
                <a:endParaRPr lang="en-US" b="1" dirty="0"/>
              </a:p>
              <a:p>
                <a:r>
                  <a:rPr lang="en-US" b="1" dirty="0"/>
                  <a:t>Guarantee</a:t>
                </a:r>
                <a:r>
                  <a:rPr lang="en-US" dirty="0"/>
                  <a:t>: This </a:t>
                </a:r>
                <a:r>
                  <a:rPr lang="en-US" b="1" dirty="0"/>
                  <a:t>greedy policy </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𝜋</m:t>
                        </m:r>
                      </m:e>
                      <m:sup>
                        <m:r>
                          <a:rPr lang="en-US" i="1">
                            <a:latin typeface="Cambria Math" panose="02040503050406030204" pitchFamily="18" charset="0"/>
                          </a:rPr>
                          <m:t>′</m:t>
                        </m:r>
                      </m:sup>
                    </m:sSup>
                  </m:oMath>
                </a14:m>
                <a:r>
                  <a:rPr lang="en-US" dirty="0"/>
                  <a:t> is strictly better unless </a:t>
                </a:r>
                <a14:m>
                  <m:oMath xmlns:m="http://schemas.openxmlformats.org/officeDocument/2006/math">
                    <m:r>
                      <a:rPr lang="en-US" b="0" i="1" smtClean="0">
                        <a:latin typeface="Cambria Math" panose="02040503050406030204" pitchFamily="18" charset="0"/>
                      </a:rPr>
                      <m:t>𝜋</m:t>
                    </m:r>
                  </m:oMath>
                </a14:m>
                <a:r>
                  <a:rPr lang="en-US" dirty="0"/>
                  <a:t> is already optimal.</a:t>
                </a:r>
              </a:p>
              <a:p>
                <a:r>
                  <a:rPr lang="en-US" b="1" dirty="0"/>
                  <a:t>Proof</a:t>
                </a:r>
                <a:r>
                  <a:rPr lang="en-US" dirty="0"/>
                  <a:t>:</a:t>
                </a:r>
                <a:br>
                  <a:rPr lang="en-US" dirty="0"/>
                </a:b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𝑣</m:t>
                        </m:r>
                      </m:e>
                      <m:sub>
                        <m:sSub>
                          <m:sSubPr>
                            <m:ctrlPr>
                              <a:rPr lang="en-US" i="1">
                                <a:latin typeface="Cambria Math" panose="02040503050406030204" pitchFamily="18" charset="0"/>
                              </a:rPr>
                            </m:ctrlPr>
                          </m:sSubPr>
                          <m:e>
                            <m:r>
                              <a:rPr lang="en-US" i="1">
                                <a:latin typeface="Cambria Math" panose="02040503050406030204" pitchFamily="18" charset="0"/>
                              </a:rPr>
                              <m:t>𝜋</m:t>
                            </m:r>
                          </m:e>
                          <m:sub>
                            <m:r>
                              <a:rPr lang="en-US" i="1">
                                <a:latin typeface="Cambria Math" panose="02040503050406030204" pitchFamily="18" charset="0"/>
                              </a:rPr>
                              <m:t>𝑘</m:t>
                            </m:r>
                            <m:r>
                              <a:rPr lang="en-US" i="1">
                                <a:latin typeface="Cambria Math" panose="02040503050406030204" pitchFamily="18" charset="0"/>
                              </a:rPr>
                              <m:t>+1</m:t>
                            </m:r>
                          </m:sub>
                        </m:sSub>
                      </m:sub>
                    </m:sSub>
                    <m:d>
                      <m:dPr>
                        <m:ctrlPr>
                          <a:rPr lang="en-US" i="1">
                            <a:latin typeface="Cambria Math" panose="02040503050406030204" pitchFamily="18" charset="0"/>
                          </a:rPr>
                        </m:ctrlPr>
                      </m:dPr>
                      <m:e>
                        <m:r>
                          <a:rPr lang="en-US" i="1">
                            <a:latin typeface="Cambria Math" panose="02040503050406030204" pitchFamily="18" charset="0"/>
                          </a:rPr>
                          <m:t>𝑠</m:t>
                        </m:r>
                      </m:e>
                    </m:d>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𝑞</m:t>
                        </m:r>
                      </m:e>
                      <m:sub>
                        <m:sSub>
                          <m:sSubPr>
                            <m:ctrlPr>
                              <a:rPr lang="en-US" i="1">
                                <a:latin typeface="Cambria Math" panose="02040503050406030204" pitchFamily="18" charset="0"/>
                              </a:rPr>
                            </m:ctrlPr>
                          </m:sSubPr>
                          <m:e>
                            <m:r>
                              <a:rPr lang="en-US" i="1">
                                <a:latin typeface="Cambria Math" panose="02040503050406030204" pitchFamily="18" charset="0"/>
                              </a:rPr>
                              <m:t>𝜋</m:t>
                            </m:r>
                          </m:e>
                          <m:sub>
                            <m:r>
                              <a:rPr lang="en-US" i="1">
                                <a:latin typeface="Cambria Math" panose="02040503050406030204" pitchFamily="18" charset="0"/>
                              </a:rPr>
                              <m:t>𝑘</m:t>
                            </m:r>
                          </m:sub>
                        </m:sSub>
                      </m:sub>
                    </m:sSub>
                    <m:d>
                      <m:dPr>
                        <m:ctrlPr>
                          <a:rPr lang="en-US" i="1">
                            <a:latin typeface="Cambria Math" panose="02040503050406030204" pitchFamily="18" charset="0"/>
                          </a:rPr>
                        </m:ctrlPr>
                      </m:dPr>
                      <m:e>
                        <m:r>
                          <a:rPr lang="en-US" i="1">
                            <a:latin typeface="Cambria Math" panose="02040503050406030204" pitchFamily="18" charset="0"/>
                          </a:rPr>
                          <m:t>𝑠</m:t>
                        </m:r>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𝜋</m:t>
                            </m:r>
                          </m:e>
                          <m:sub>
                            <m:r>
                              <a:rPr lang="en-US" i="1">
                                <a:latin typeface="Cambria Math" panose="02040503050406030204" pitchFamily="18" charset="0"/>
                              </a:rPr>
                              <m:t>𝑘</m:t>
                            </m:r>
                            <m:r>
                              <a:rPr lang="en-US" i="1">
                                <a:latin typeface="Cambria Math" panose="02040503050406030204" pitchFamily="18" charset="0"/>
                              </a:rPr>
                              <m:t>+1</m:t>
                            </m:r>
                          </m:sub>
                        </m:sSub>
                        <m:d>
                          <m:dPr>
                            <m:ctrlPr>
                              <a:rPr lang="en-US" i="1">
                                <a:latin typeface="Cambria Math" panose="02040503050406030204" pitchFamily="18" charset="0"/>
                              </a:rPr>
                            </m:ctrlPr>
                          </m:dPr>
                          <m:e>
                            <m:r>
                              <a:rPr lang="en-US" i="1">
                                <a:latin typeface="Cambria Math" panose="02040503050406030204" pitchFamily="18" charset="0"/>
                              </a:rPr>
                              <m:t>𝑠</m:t>
                            </m:r>
                          </m:e>
                        </m:d>
                      </m:e>
                    </m:d>
                    <m:r>
                      <m:rPr>
                        <m:aln/>
                      </m:rP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𝑞</m:t>
                        </m:r>
                      </m:e>
                      <m:sub>
                        <m:sSub>
                          <m:sSubPr>
                            <m:ctrlPr>
                              <a:rPr lang="en-US" i="1">
                                <a:latin typeface="Cambria Math" panose="02040503050406030204" pitchFamily="18" charset="0"/>
                              </a:rPr>
                            </m:ctrlPr>
                          </m:sSubPr>
                          <m:e>
                            <m:r>
                              <a:rPr lang="en-US" i="1">
                                <a:latin typeface="Cambria Math" panose="02040503050406030204" pitchFamily="18" charset="0"/>
                              </a:rPr>
                              <m:t>𝜋</m:t>
                            </m:r>
                          </m:e>
                          <m:sub>
                            <m:r>
                              <a:rPr lang="en-US" i="1">
                                <a:latin typeface="Cambria Math" panose="02040503050406030204" pitchFamily="18" charset="0"/>
                              </a:rPr>
                              <m:t>𝑘</m:t>
                            </m:r>
                          </m:sub>
                        </m:sSub>
                      </m:sub>
                    </m:sSub>
                    <m:r>
                      <a:rPr lang="en-US" i="1">
                        <a:latin typeface="Cambria Math" panose="02040503050406030204" pitchFamily="18" charset="0"/>
                      </a:rPr>
                      <m:t>(</m:t>
                    </m:r>
                    <m:r>
                      <a:rPr lang="en-US" i="1">
                        <a:latin typeface="Cambria Math" panose="02040503050406030204" pitchFamily="18" charset="0"/>
                      </a:rPr>
                      <m:t>𝑠</m:t>
                    </m:r>
                    <m:r>
                      <a:rPr lang="en-US" i="1">
                        <a:latin typeface="Cambria Math" panose="02040503050406030204" pitchFamily="18" charset="0"/>
                      </a:rPr>
                      <m:t>, </m:t>
                    </m:r>
                    <m:func>
                      <m:funcPr>
                        <m:ctrlPr>
                          <a:rPr lang="en-US" i="1">
                            <a:latin typeface="Cambria Math" panose="02040503050406030204" pitchFamily="18" charset="0"/>
                          </a:rPr>
                        </m:ctrlPr>
                      </m:funcPr>
                      <m:fName>
                        <m:limLow>
                          <m:limLowPr>
                            <m:ctrlPr>
                              <a:rPr lang="en-US">
                                <a:latin typeface="Cambria Math" panose="02040503050406030204" pitchFamily="18" charset="0"/>
                              </a:rPr>
                            </m:ctrlPr>
                          </m:limLowPr>
                          <m:e>
                            <m:r>
                              <m:rPr>
                                <m:sty m:val="p"/>
                              </m:rPr>
                              <a:rPr lang="en-US">
                                <a:latin typeface="Cambria Math" panose="02040503050406030204" pitchFamily="18" charset="0"/>
                              </a:rPr>
                              <m:t>argmax</m:t>
                            </m:r>
                          </m:e>
                          <m:lim>
                            <m:r>
                              <a:rPr lang="en-US" i="1">
                                <a:latin typeface="Cambria Math" panose="02040503050406030204" pitchFamily="18" charset="0"/>
                              </a:rPr>
                              <m:t>𝑎</m:t>
                            </m:r>
                          </m:lim>
                        </m:limLow>
                      </m:fName>
                      <m:e>
                        <m:sSub>
                          <m:sSubPr>
                            <m:ctrlPr>
                              <a:rPr lang="en-US" i="1">
                                <a:latin typeface="Cambria Math" panose="02040503050406030204" pitchFamily="18" charset="0"/>
                              </a:rPr>
                            </m:ctrlPr>
                          </m:sSubPr>
                          <m:e>
                            <m:r>
                              <a:rPr lang="en-US" i="1">
                                <a:latin typeface="Cambria Math" panose="02040503050406030204" pitchFamily="18" charset="0"/>
                              </a:rPr>
                              <m:t>𝑞</m:t>
                            </m:r>
                          </m:e>
                          <m:sub>
                            <m:sSub>
                              <m:sSubPr>
                                <m:ctrlPr>
                                  <a:rPr lang="en-US" i="1">
                                    <a:latin typeface="Cambria Math" panose="02040503050406030204" pitchFamily="18" charset="0"/>
                                  </a:rPr>
                                </m:ctrlPr>
                              </m:sSubPr>
                              <m:e>
                                <m:r>
                                  <a:rPr lang="en-US" i="1">
                                    <a:latin typeface="Cambria Math" panose="02040503050406030204" pitchFamily="18" charset="0"/>
                                  </a:rPr>
                                  <m:t>𝜋</m:t>
                                </m:r>
                              </m:e>
                              <m:sub>
                                <m:r>
                                  <a:rPr lang="en-US" i="1">
                                    <a:latin typeface="Cambria Math" panose="02040503050406030204" pitchFamily="18" charset="0"/>
                                  </a:rPr>
                                  <m:t>𝑘</m:t>
                                </m:r>
                              </m:sub>
                            </m:sSub>
                          </m:sub>
                        </m:sSub>
                        <m:d>
                          <m:dPr>
                            <m:ctrlPr>
                              <a:rPr lang="en-US" i="1">
                                <a:latin typeface="Cambria Math" panose="02040503050406030204" pitchFamily="18" charset="0"/>
                              </a:rPr>
                            </m:ctrlPr>
                          </m:dPr>
                          <m:e>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𝑎</m:t>
                            </m:r>
                          </m:e>
                        </m:d>
                      </m:e>
                    </m:func>
                    <m:r>
                      <a:rPr lang="en-US" i="1">
                        <a:latin typeface="Cambria Math" panose="02040503050406030204" pitchFamily="18" charset="0"/>
                      </a:rPr>
                      <m:t>)</m:t>
                    </m:r>
                  </m:oMath>
                </a14:m>
                <a:br>
                  <a:rPr lang="en-US" i="1" dirty="0">
                    <a:latin typeface="Cambria Math" panose="02040503050406030204" pitchFamily="18" charset="0"/>
                  </a:rPr>
                </a:br>
                <a14:m>
                  <m:oMath xmlns:m="http://schemas.openxmlformats.org/officeDocument/2006/math">
                    <m:r>
                      <m:rPr>
                        <m:aln/>
                      </m:rPr>
                      <a:rPr lang="en-US" i="1">
                        <a:latin typeface="Cambria Math" panose="02040503050406030204" pitchFamily="18" charset="0"/>
                      </a:rPr>
                      <m:t>=</m:t>
                    </m:r>
                    <m:limLow>
                      <m:limLowPr>
                        <m:ctrlPr>
                          <a:rPr lang="en-US">
                            <a:latin typeface="Cambria Math" panose="02040503050406030204" pitchFamily="18" charset="0"/>
                          </a:rPr>
                        </m:ctrlPr>
                      </m:limLowPr>
                      <m:e>
                        <m:r>
                          <m:rPr>
                            <m:sty m:val="p"/>
                          </m:rPr>
                          <a:rPr lang="en-US">
                            <a:latin typeface="Cambria Math" panose="02040503050406030204" pitchFamily="18" charset="0"/>
                          </a:rPr>
                          <m:t>max</m:t>
                        </m:r>
                      </m:e>
                      <m:lim>
                        <m:r>
                          <a:rPr lang="en-US" i="1">
                            <a:latin typeface="Cambria Math" panose="02040503050406030204" pitchFamily="18" charset="0"/>
                          </a:rPr>
                          <m:t>𝑎</m:t>
                        </m:r>
                      </m:lim>
                    </m:limLow>
                    <m:r>
                      <a:rPr lang="en-US" i="1">
                        <a:latin typeface="Cambria Math" panose="02040503050406030204" pitchFamily="18" charset="0"/>
                      </a:rPr>
                      <m:t> </m:t>
                    </m:r>
                    <m:sSub>
                      <m:sSubPr>
                        <m:ctrlPr>
                          <a:rPr lang="en-US" i="1">
                            <a:latin typeface="Cambria Math" panose="02040503050406030204" pitchFamily="18" charset="0"/>
                          </a:rPr>
                        </m:ctrlPr>
                      </m:sSubPr>
                      <m:e>
                        <m:r>
                          <a:rPr lang="en-US" i="1">
                            <a:latin typeface="Cambria Math" panose="02040503050406030204" pitchFamily="18" charset="0"/>
                          </a:rPr>
                          <m:t>𝑞</m:t>
                        </m:r>
                      </m:e>
                      <m:sub>
                        <m:sSub>
                          <m:sSubPr>
                            <m:ctrlPr>
                              <a:rPr lang="en-US" i="1">
                                <a:latin typeface="Cambria Math" panose="02040503050406030204" pitchFamily="18" charset="0"/>
                              </a:rPr>
                            </m:ctrlPr>
                          </m:sSubPr>
                          <m:e>
                            <m:r>
                              <a:rPr lang="en-US" i="1">
                                <a:latin typeface="Cambria Math" panose="02040503050406030204" pitchFamily="18" charset="0"/>
                              </a:rPr>
                              <m:t>𝜋</m:t>
                            </m:r>
                          </m:e>
                          <m:sub>
                            <m:r>
                              <a:rPr lang="en-US" i="1">
                                <a:latin typeface="Cambria Math" panose="02040503050406030204" pitchFamily="18" charset="0"/>
                              </a:rPr>
                              <m:t>𝑘</m:t>
                            </m:r>
                          </m:sub>
                        </m:sSub>
                      </m:sub>
                    </m:sSub>
                    <m:d>
                      <m:dPr>
                        <m:ctrlPr>
                          <a:rPr lang="en-US" i="1">
                            <a:latin typeface="Cambria Math" panose="02040503050406030204" pitchFamily="18" charset="0"/>
                          </a:rPr>
                        </m:ctrlPr>
                      </m:dPr>
                      <m:e>
                        <m:r>
                          <a:rPr lang="en-US" i="1">
                            <a:latin typeface="Cambria Math" panose="02040503050406030204" pitchFamily="18" charset="0"/>
                          </a:rPr>
                          <m:t>𝑠</m:t>
                        </m:r>
                        <m:r>
                          <a:rPr lang="en-US" i="1">
                            <a:latin typeface="Cambria Math" panose="02040503050406030204" pitchFamily="18" charset="0"/>
                          </a:rPr>
                          <m:t>,</m:t>
                        </m:r>
                        <m:r>
                          <a:rPr lang="en-US" i="1">
                            <a:latin typeface="Cambria Math" panose="02040503050406030204" pitchFamily="18" charset="0"/>
                          </a:rPr>
                          <m:t>𝑎</m:t>
                        </m:r>
                      </m:e>
                    </m:d>
                  </m:oMath>
                </a14:m>
                <a:br>
                  <a:rPr lang="en-US" i="1" dirty="0">
                    <a:latin typeface="Cambria Math" panose="02040503050406030204" pitchFamily="18" charset="0"/>
                  </a:rPr>
                </a:br>
                <a14:m>
                  <m:oMath xmlns:m="http://schemas.openxmlformats.org/officeDocument/2006/math">
                    <m:r>
                      <m:rPr>
                        <m:aln/>
                      </m:rP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𝑞</m:t>
                        </m:r>
                      </m:e>
                      <m:sub>
                        <m:sSub>
                          <m:sSubPr>
                            <m:ctrlPr>
                              <a:rPr lang="en-US" i="1">
                                <a:latin typeface="Cambria Math" panose="02040503050406030204" pitchFamily="18" charset="0"/>
                              </a:rPr>
                            </m:ctrlPr>
                          </m:sSubPr>
                          <m:e>
                            <m:r>
                              <a:rPr lang="en-US" i="1">
                                <a:latin typeface="Cambria Math" panose="02040503050406030204" pitchFamily="18" charset="0"/>
                              </a:rPr>
                              <m:t>𝜋</m:t>
                            </m:r>
                          </m:e>
                          <m:sub>
                            <m:r>
                              <a:rPr lang="en-US" i="1">
                                <a:latin typeface="Cambria Math" panose="02040503050406030204" pitchFamily="18" charset="0"/>
                              </a:rPr>
                              <m:t>𝑘</m:t>
                            </m:r>
                          </m:sub>
                        </m:sSub>
                      </m:sub>
                    </m:sSub>
                    <m:d>
                      <m:dPr>
                        <m:ctrlPr>
                          <a:rPr lang="en-US" i="1">
                            <a:latin typeface="Cambria Math" panose="02040503050406030204" pitchFamily="18" charset="0"/>
                          </a:rPr>
                        </m:ctrlPr>
                      </m:dPr>
                      <m:e>
                        <m:r>
                          <a:rPr lang="en-US" i="1">
                            <a:latin typeface="Cambria Math" panose="02040503050406030204" pitchFamily="18" charset="0"/>
                          </a:rPr>
                          <m:t>𝑠</m:t>
                        </m:r>
                        <m: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𝜋</m:t>
                            </m:r>
                          </m:e>
                          <m:sub>
                            <m:r>
                              <a:rPr lang="en-US" i="1">
                                <a:latin typeface="Cambria Math" panose="02040503050406030204" pitchFamily="18" charset="0"/>
                              </a:rPr>
                              <m:t>𝑘</m:t>
                            </m:r>
                          </m:sub>
                        </m:sSub>
                        <m:d>
                          <m:dPr>
                            <m:ctrlPr>
                              <a:rPr lang="en-US" i="1">
                                <a:latin typeface="Cambria Math" panose="02040503050406030204" pitchFamily="18" charset="0"/>
                              </a:rPr>
                            </m:ctrlPr>
                          </m:dPr>
                          <m:e>
                            <m:r>
                              <a:rPr lang="en-US" i="1">
                                <a:latin typeface="Cambria Math" panose="02040503050406030204" pitchFamily="18" charset="0"/>
                              </a:rPr>
                              <m:t>𝑠</m:t>
                            </m:r>
                          </m:e>
                        </m:d>
                      </m:e>
                    </m:d>
                  </m:oMath>
                </a14:m>
                <a:br>
                  <a:rPr lang="en-US" i="1" dirty="0">
                    <a:latin typeface="Cambria Math" panose="02040503050406030204" pitchFamily="18" charset="0"/>
                  </a:rPr>
                </a:br>
                <a14:m>
                  <m:oMath xmlns:m="http://schemas.openxmlformats.org/officeDocument/2006/math">
                    <m:r>
                      <m:rPr>
                        <m:aln/>
                      </m:rPr>
                      <a:rPr lang="en-US" i="1">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𝑣</m:t>
                        </m:r>
                      </m:e>
                      <m:sub>
                        <m:sSub>
                          <m:sSubPr>
                            <m:ctrlPr>
                              <a:rPr lang="en-US" i="1">
                                <a:latin typeface="Cambria Math" panose="02040503050406030204" pitchFamily="18" charset="0"/>
                              </a:rPr>
                            </m:ctrlPr>
                          </m:sSubPr>
                          <m:e>
                            <m:r>
                              <a:rPr lang="en-US" i="1">
                                <a:latin typeface="Cambria Math" panose="02040503050406030204" pitchFamily="18" charset="0"/>
                              </a:rPr>
                              <m:t>𝜋</m:t>
                            </m:r>
                          </m:e>
                          <m:sub>
                            <m:r>
                              <a:rPr lang="en-US" i="1">
                                <a:latin typeface="Cambria Math" panose="02040503050406030204" pitchFamily="18" charset="0"/>
                              </a:rPr>
                              <m:t>𝑘</m:t>
                            </m:r>
                          </m:sub>
                        </m:sSub>
                      </m:sub>
                    </m:sSub>
                    <m:r>
                      <a:rPr lang="en-US" i="1">
                        <a:latin typeface="Cambria Math" panose="02040503050406030204" pitchFamily="18" charset="0"/>
                      </a:rPr>
                      <m:t>(</m:t>
                    </m:r>
                    <m:r>
                      <a:rPr lang="en-US" i="1">
                        <a:latin typeface="Cambria Math" panose="02040503050406030204" pitchFamily="18" charset="0"/>
                      </a:rPr>
                      <m:t>𝑠</m:t>
                    </m:r>
                    <m:r>
                      <a:rPr lang="en-US" i="1">
                        <a:latin typeface="Cambria Math" panose="02040503050406030204" pitchFamily="18" charset="0"/>
                      </a:rPr>
                      <m:t>)</m:t>
                    </m:r>
                  </m:oMath>
                </a14:m>
                <a:endParaRPr lang="en-US" dirty="0"/>
              </a:p>
            </p:txBody>
          </p:sp>
        </mc:Choice>
        <mc:Fallback xmlns="">
          <p:sp>
            <p:nvSpPr>
              <p:cNvPr id="5" name="Content Placeholder 4" descr="Greedy policy improvement: create a new policy pi prime by choosing in each state the best (aka greedy) action with respect to q sub pi (s,a) . pi prime (s) equals argmax over a, of q sub pi (s,a). Guarantee: This greedy policy pi prime is strictly better unless pi is already optimal. Proof: v sub pi sub k plus 1, (s) equals q sub pi sub k, (s, pi sub k plus 1, (s)) equals q sub pi sub k, (s, argmax over a, of q sub pi sub k, (s,a)) equals max over a q sub pi sub k, (s,a) is greater than or equal to q sub pi sub k, (s, pi sub k (s)) is greater than or equal to v sub pi sub k, (s)">
                <a:extLst>
                  <a:ext uri="{FF2B5EF4-FFF2-40B4-BE49-F238E27FC236}">
                    <a16:creationId xmlns:a16="http://schemas.microsoft.com/office/drawing/2014/main" id="{1A53698B-84CA-6CEC-1390-2BE83DC5515F}"/>
                  </a:ext>
                </a:extLst>
              </p:cNvPr>
              <p:cNvSpPr>
                <a:spLocks noGrp="1" noRot="1" noChangeAspect="1" noMove="1" noResize="1" noEditPoints="1" noAdjustHandles="1" noChangeArrowheads="1" noChangeShapeType="1" noTextEdit="1"/>
              </p:cNvSpPr>
              <p:nvPr>
                <p:ph idx="1"/>
              </p:nvPr>
            </p:nvSpPr>
            <p:spPr>
              <a:xfrm>
                <a:off x="917896" y="3181599"/>
                <a:ext cx="10965110" cy="3164674"/>
              </a:xfrm>
              <a:blipFill>
                <a:blip r:embed="rId2"/>
                <a:stretch>
                  <a:fillRect l="-389" t="-308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Speech Bubble: Rectangle with Corners Rounded 10" descr="pi sub k plus 1 chooses greedy action for s">
                <a:extLst>
                  <a:ext uri="{FF2B5EF4-FFF2-40B4-BE49-F238E27FC236}">
                    <a16:creationId xmlns:a16="http://schemas.microsoft.com/office/drawing/2014/main" id="{D086C4F6-4539-C0FB-374C-830B01387B13}"/>
                  </a:ext>
                </a:extLst>
              </p:cNvPr>
              <p:cNvSpPr/>
              <p:nvPr/>
            </p:nvSpPr>
            <p:spPr>
              <a:xfrm>
                <a:off x="9670987" y="4757576"/>
                <a:ext cx="2031167" cy="464759"/>
              </a:xfrm>
              <a:prstGeom prst="wedgeRoundRectCallout">
                <a:avLst>
                  <a:gd name="adj1" fmla="val -80506"/>
                  <a:gd name="adj2" fmla="val 43591"/>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 xmlns:m="http://schemas.openxmlformats.org/officeDocument/2006/math">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𝜋</m:t>
                        </m:r>
                      </m:e>
                      <m:sub>
                        <m:r>
                          <a:rPr lang="en-US" sz="1400" b="0" i="1" smtClean="0">
                            <a:latin typeface="Cambria Math" panose="02040503050406030204" pitchFamily="18" charset="0"/>
                          </a:rPr>
                          <m:t>𝑘</m:t>
                        </m:r>
                        <m:r>
                          <a:rPr lang="en-US" sz="1400" b="0" i="1" smtClean="0">
                            <a:latin typeface="Cambria Math" panose="02040503050406030204" pitchFamily="18" charset="0"/>
                          </a:rPr>
                          <m:t>+1</m:t>
                        </m:r>
                      </m:sub>
                    </m:sSub>
                  </m:oMath>
                </a14:m>
                <a:r>
                  <a:rPr lang="en-US" sz="1400" dirty="0"/>
                  <a:t> chooses greedy action for </a:t>
                </a:r>
                <a14:m>
                  <m:oMath xmlns:m="http://schemas.openxmlformats.org/officeDocument/2006/math">
                    <m:r>
                      <a:rPr lang="en-US" sz="1400" b="0" i="1" smtClean="0">
                        <a:latin typeface="Cambria Math" panose="02040503050406030204" pitchFamily="18" charset="0"/>
                      </a:rPr>
                      <m:t>𝑠</m:t>
                    </m:r>
                  </m:oMath>
                </a14:m>
                <a:endParaRPr lang="en-US" sz="1400" dirty="0"/>
              </a:p>
            </p:txBody>
          </p:sp>
        </mc:Choice>
        <mc:Fallback xmlns="">
          <p:sp>
            <p:nvSpPr>
              <p:cNvPr id="11" name="Speech Bubble: Rectangle with Corners Rounded 10" descr="pi sub k plus 1 chooses greedy action for s">
                <a:extLst>
                  <a:ext uri="{FF2B5EF4-FFF2-40B4-BE49-F238E27FC236}">
                    <a16:creationId xmlns:a16="http://schemas.microsoft.com/office/drawing/2014/main" id="{D086C4F6-4539-C0FB-374C-830B01387B13}"/>
                  </a:ext>
                </a:extLst>
              </p:cNvPr>
              <p:cNvSpPr>
                <a:spLocks noRot="1" noChangeAspect="1" noMove="1" noResize="1" noEditPoints="1" noAdjustHandles="1" noChangeArrowheads="1" noChangeShapeType="1" noTextEdit="1"/>
              </p:cNvSpPr>
              <p:nvPr/>
            </p:nvSpPr>
            <p:spPr>
              <a:xfrm>
                <a:off x="9670987" y="4757576"/>
                <a:ext cx="2031167" cy="464759"/>
              </a:xfrm>
              <a:prstGeom prst="wedgeRoundRectCallout">
                <a:avLst>
                  <a:gd name="adj1" fmla="val -80506"/>
                  <a:gd name="adj2" fmla="val 43591"/>
                  <a:gd name="adj3" fmla="val 16667"/>
                </a:avLst>
              </a:prstGeom>
              <a:blipFill>
                <a:blip r:embed="rId4"/>
                <a:stretch>
                  <a:fillRect t="-6250" b="-16250"/>
                </a:stretch>
              </a:blipFill>
            </p:spPr>
            <p:txBody>
              <a:bodyPr/>
              <a:lstStyle/>
              <a:p>
                <a:r>
                  <a:rPr lang="en-US">
                    <a:noFill/>
                  </a:rPr>
                  <a:t> </a:t>
                </a:r>
              </a:p>
            </p:txBody>
          </p:sp>
        </mc:Fallback>
      </mc:AlternateContent>
      <p:sp>
        <p:nvSpPr>
          <p:cNvPr id="13" name="Speech Bubble: Rectangle with Corners Rounded 12">
            <a:extLst>
              <a:ext uri="{FF2B5EF4-FFF2-40B4-BE49-F238E27FC236}">
                <a16:creationId xmlns:a16="http://schemas.microsoft.com/office/drawing/2014/main" id="{59270C0F-08F4-3155-6EDB-9B5E891DF373}"/>
              </a:ext>
            </a:extLst>
          </p:cNvPr>
          <p:cNvSpPr/>
          <p:nvPr/>
        </p:nvSpPr>
        <p:spPr>
          <a:xfrm>
            <a:off x="9290619" y="5551861"/>
            <a:ext cx="2440898" cy="661369"/>
          </a:xfrm>
          <a:prstGeom prst="wedgeRoundRectCallout">
            <a:avLst>
              <a:gd name="adj1" fmla="val -99327"/>
              <a:gd name="adj2" fmla="val -39027"/>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400" dirty="0"/>
              <a:t>Choosing the best action will never lead to a lower value!</a:t>
            </a:r>
          </a:p>
        </p:txBody>
      </p:sp>
    </p:spTree>
    <p:extLst>
      <p:ext uri="{BB962C8B-B14F-4D97-AF65-F5344CB8AC3E}">
        <p14:creationId xmlns:p14="http://schemas.microsoft.com/office/powerpoint/2010/main" val="3871635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uiExpand="1" build="p"/>
      <p:bldP spid="11" grpId="0" animBg="1"/>
      <p:bldP spid="13"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05F9D9-4282-B818-FCEC-0D021362CCDC}"/>
              </a:ext>
            </a:extLst>
          </p:cNvPr>
          <p:cNvSpPr>
            <a:spLocks noGrp="1"/>
          </p:cNvSpPr>
          <p:nvPr>
            <p:ph type="title"/>
          </p:nvPr>
        </p:nvSpPr>
        <p:spPr/>
        <p:txBody>
          <a:bodyPr/>
          <a:lstStyle/>
          <a:p>
            <a:r>
              <a:rPr lang="en-US" dirty="0"/>
              <a:t>Policy Iteration</a:t>
            </a:r>
          </a:p>
        </p:txBody>
      </p:sp>
      <mc:AlternateContent xmlns:mc="http://schemas.openxmlformats.org/markup-compatibility/2006" xmlns:a14="http://schemas.microsoft.com/office/drawing/2010/main">
        <mc:Choice Requires="a14">
          <p:sp>
            <p:nvSpPr>
              <p:cNvPr id="3" name="Content Placeholder 2" descr="Idea: Create a sequence of monotonically improving policies:. pi sub 0 Ev sub pi sub o, I pi sub 1 Ev sub pi sub 1, I pi sub 2 Ev sub pi sub 2, I pi sub 3 Ev sub pi sub 3, I dot dot dot pi sub star Ev sub star">
                <a:extLst>
                  <a:ext uri="{FF2B5EF4-FFF2-40B4-BE49-F238E27FC236}">
                    <a16:creationId xmlns:a16="http://schemas.microsoft.com/office/drawing/2014/main" id="{B138641C-75BB-03D4-C701-9095E6E26D1F}"/>
                  </a:ext>
                </a:extLst>
              </p:cNvPr>
              <p:cNvSpPr>
                <a:spLocks noGrp="1"/>
              </p:cNvSpPr>
              <p:nvPr>
                <p:ph idx="1"/>
              </p:nvPr>
            </p:nvSpPr>
            <p:spPr>
              <a:xfrm>
                <a:off x="838200" y="1397330"/>
                <a:ext cx="8771389" cy="1383619"/>
              </a:xfrm>
            </p:spPr>
            <p:txBody>
              <a:bodyPr>
                <a:normAutofit fontScale="85000" lnSpcReduction="10000"/>
              </a:bodyPr>
              <a:lstStyle/>
              <a:p>
                <a:pPr marL="0" indent="0">
                  <a:buNone/>
                </a:pPr>
                <a:r>
                  <a:rPr lang="en-US" b="1" dirty="0"/>
                  <a:t>Idea</a:t>
                </a:r>
                <a:r>
                  <a:rPr lang="en-US" dirty="0"/>
                  <a:t>: Create a sequence of monotonically improving policies:</a:t>
                </a:r>
              </a:p>
              <a:p>
                <a:endParaRPr lang="en-US" dirty="0"/>
              </a:p>
              <a:p>
                <a:pPr marL="0" indent="0" algn="ctr">
                  <a:buNone/>
                </a:pPr>
                <a14:m>
                  <m:oMathPara xmlns:m="http://schemas.openxmlformats.org/officeDocument/2006/math">
                    <m:oMath>
                      <m:sSub>
                        <m:sSubPr>
                          <m:ctrlPr>
                            <a:rPr lang="en-US" b="0" i="1" smtClean="0">
                              <a:latin typeface="Cambria Math" panose="02040503050406030204" pitchFamily="18" charset="0"/>
                            </a:rPr>
                          </m:ctrlPr>
                        </m:sSubPr>
                        <m:e>
                          <m:r>
                            <a:rPr lang="en-US" b="0" i="1" smtClean="0">
                              <a:latin typeface="Cambria Math" panose="02040503050406030204" pitchFamily="18" charset="0"/>
                            </a:rPr>
                            <m:t>𝜋</m:t>
                          </m:r>
                        </m:e>
                        <m:sub>
                          <m:r>
                            <a:rPr lang="en-US" b="0" i="1" smtClean="0">
                              <a:latin typeface="Cambria Math" panose="02040503050406030204" pitchFamily="18" charset="0"/>
                            </a:rPr>
                            <m:t>0</m:t>
                          </m:r>
                        </m:sub>
                      </m:sSub>
                      <m:groupChr>
                        <m:groupChrPr>
                          <m:chr m:val="→"/>
                          <m:pos m:val="bot"/>
                          <m:vertJc m:val="bot"/>
                          <m:ctrlPr>
                            <a:rPr lang="en-US" b="0" i="1" smtClean="0">
                              <a:latin typeface="Cambria Math" panose="02040503050406030204" pitchFamily="18" charset="0"/>
                            </a:rPr>
                          </m:ctrlPr>
                        </m:groupChrPr>
                        <m:e>
                          <m:r>
                            <m:rPr>
                              <m:brk m:alnAt="2"/>
                            </m:rPr>
                            <a:rPr lang="en-US" b="0" i="1" smtClean="0">
                              <a:latin typeface="Cambria Math" panose="02040503050406030204" pitchFamily="18" charset="0"/>
                            </a:rPr>
                            <m:t>𝐸</m:t>
                          </m:r>
                        </m:e>
                      </m:groupChr>
                      <m:sSub>
                        <m:sSubPr>
                          <m:ctrlPr>
                            <a:rPr lang="en-US" b="0" i="1" smtClean="0">
                              <a:latin typeface="Cambria Math" panose="02040503050406030204" pitchFamily="18" charset="0"/>
                            </a:rPr>
                          </m:ctrlPr>
                        </m:sSubPr>
                        <m:e>
                          <m:r>
                            <a:rPr lang="en-US" b="0" i="1" smtClean="0">
                              <a:latin typeface="Cambria Math" panose="02040503050406030204" pitchFamily="18" charset="0"/>
                            </a:rPr>
                            <m:t>𝑣</m:t>
                          </m:r>
                        </m:e>
                        <m:sub>
                          <m:sSub>
                            <m:sSubPr>
                              <m:ctrlPr>
                                <a:rPr lang="en-US" b="0" i="1" smtClean="0">
                                  <a:latin typeface="Cambria Math" panose="02040503050406030204" pitchFamily="18" charset="0"/>
                                </a:rPr>
                              </m:ctrlPr>
                            </m:sSubPr>
                            <m:e>
                              <m:r>
                                <a:rPr lang="en-US" b="0" i="1" smtClean="0">
                                  <a:latin typeface="Cambria Math" panose="02040503050406030204" pitchFamily="18" charset="0"/>
                                </a:rPr>
                                <m:t>𝜋</m:t>
                              </m:r>
                            </m:e>
                            <m:sub>
                              <m:r>
                                <a:rPr lang="en-US" b="0" i="1" smtClean="0">
                                  <a:latin typeface="Cambria Math" panose="02040503050406030204" pitchFamily="18" charset="0"/>
                                </a:rPr>
                                <m:t>𝑜</m:t>
                              </m:r>
                            </m:sub>
                          </m:sSub>
                        </m:sub>
                      </m:sSub>
                      <m:groupChr>
                        <m:groupChrPr>
                          <m:chr m:val="→"/>
                          <m:pos m:val="bot"/>
                          <m:vertJc m:val="bot"/>
                          <m:ctrlPr>
                            <a:rPr lang="en-US" i="1">
                              <a:latin typeface="Cambria Math" panose="02040503050406030204" pitchFamily="18" charset="0"/>
                            </a:rPr>
                          </m:ctrlPr>
                        </m:groupChrPr>
                        <m:e>
                          <m:r>
                            <m:rPr>
                              <m:brk m:alnAt="2"/>
                            </m:rPr>
                            <a:rPr lang="en-US" i="1">
                              <a:latin typeface="Cambria Math" panose="02040503050406030204" pitchFamily="18" charset="0"/>
                            </a:rPr>
                            <m:t>𝐼</m:t>
                          </m:r>
                        </m:e>
                      </m:groupChr>
                      <m:sSub>
                        <m:sSubPr>
                          <m:ctrlPr>
                            <a:rPr lang="en-US" i="1">
                              <a:latin typeface="Cambria Math" panose="02040503050406030204" pitchFamily="18" charset="0"/>
                            </a:rPr>
                          </m:ctrlPr>
                        </m:sSubPr>
                        <m:e>
                          <m:r>
                            <a:rPr lang="en-US" i="1">
                              <a:latin typeface="Cambria Math" panose="02040503050406030204" pitchFamily="18" charset="0"/>
                            </a:rPr>
                            <m:t>𝜋</m:t>
                          </m:r>
                        </m:e>
                        <m:sub>
                          <m:r>
                            <a:rPr lang="en-US" b="0" i="1" smtClean="0">
                              <a:latin typeface="Cambria Math" panose="02040503050406030204" pitchFamily="18" charset="0"/>
                            </a:rPr>
                            <m:t>1</m:t>
                          </m:r>
                        </m:sub>
                      </m:sSub>
                      <m:groupChr>
                        <m:groupChrPr>
                          <m:chr m:val="→"/>
                          <m:pos m:val="bot"/>
                          <m:vertJc m:val="bot"/>
                          <m:ctrlPr>
                            <a:rPr lang="en-US" i="1">
                              <a:latin typeface="Cambria Math" panose="02040503050406030204" pitchFamily="18" charset="0"/>
                            </a:rPr>
                          </m:ctrlPr>
                        </m:groupChrPr>
                        <m:e>
                          <m:r>
                            <m:rPr>
                              <m:brk m:alnAt="2"/>
                            </m:rPr>
                            <a:rPr lang="en-US" i="1">
                              <a:latin typeface="Cambria Math" panose="02040503050406030204" pitchFamily="18" charset="0"/>
                            </a:rPr>
                            <m:t>𝐸</m:t>
                          </m:r>
                        </m:e>
                      </m:groupChr>
                      <m:sSub>
                        <m:sSubPr>
                          <m:ctrlPr>
                            <a:rPr lang="en-US" i="1">
                              <a:latin typeface="Cambria Math" panose="02040503050406030204" pitchFamily="18" charset="0"/>
                            </a:rPr>
                          </m:ctrlPr>
                        </m:sSubPr>
                        <m:e>
                          <m:r>
                            <a:rPr lang="en-US" i="1">
                              <a:latin typeface="Cambria Math" panose="02040503050406030204" pitchFamily="18" charset="0"/>
                            </a:rPr>
                            <m:t>𝑣</m:t>
                          </m:r>
                        </m:e>
                        <m:sub>
                          <m:sSub>
                            <m:sSubPr>
                              <m:ctrlPr>
                                <a:rPr lang="en-US" i="1">
                                  <a:latin typeface="Cambria Math" panose="02040503050406030204" pitchFamily="18" charset="0"/>
                                </a:rPr>
                              </m:ctrlPr>
                            </m:sSubPr>
                            <m:e>
                              <m:r>
                                <a:rPr lang="en-US" i="1">
                                  <a:latin typeface="Cambria Math" panose="02040503050406030204" pitchFamily="18" charset="0"/>
                                </a:rPr>
                                <m:t>𝜋</m:t>
                              </m:r>
                            </m:e>
                            <m:sub>
                              <m:r>
                                <a:rPr lang="en-US" b="0" i="1" smtClean="0">
                                  <a:latin typeface="Cambria Math" panose="02040503050406030204" pitchFamily="18" charset="0"/>
                                </a:rPr>
                                <m:t>1</m:t>
                              </m:r>
                            </m:sub>
                          </m:sSub>
                        </m:sub>
                      </m:sSub>
                      <m:groupChr>
                        <m:groupChrPr>
                          <m:chr m:val="→"/>
                          <m:pos m:val="bot"/>
                          <m:vertJc m:val="bot"/>
                          <m:ctrlPr>
                            <a:rPr lang="en-US" i="1">
                              <a:latin typeface="Cambria Math" panose="02040503050406030204" pitchFamily="18" charset="0"/>
                            </a:rPr>
                          </m:ctrlPr>
                        </m:groupChrPr>
                        <m:e>
                          <m:r>
                            <m:rPr>
                              <m:brk m:alnAt="2"/>
                            </m:rPr>
                            <a:rPr lang="en-US" i="1">
                              <a:latin typeface="Cambria Math" panose="02040503050406030204" pitchFamily="18" charset="0"/>
                            </a:rPr>
                            <m:t>𝐼</m:t>
                          </m:r>
                        </m:e>
                      </m:groupChr>
                      <m:sSub>
                        <m:sSubPr>
                          <m:ctrlPr>
                            <a:rPr lang="en-US" i="1">
                              <a:latin typeface="Cambria Math" panose="02040503050406030204" pitchFamily="18" charset="0"/>
                            </a:rPr>
                          </m:ctrlPr>
                        </m:sSubPr>
                        <m:e>
                          <m:r>
                            <a:rPr lang="en-US" i="1">
                              <a:latin typeface="Cambria Math" panose="02040503050406030204" pitchFamily="18" charset="0"/>
                            </a:rPr>
                            <m:t>𝜋</m:t>
                          </m:r>
                        </m:e>
                        <m:sub>
                          <m:r>
                            <a:rPr lang="en-US" b="0" i="1" smtClean="0">
                              <a:latin typeface="Cambria Math" panose="02040503050406030204" pitchFamily="18" charset="0"/>
                            </a:rPr>
                            <m:t>2</m:t>
                          </m:r>
                        </m:sub>
                      </m:sSub>
                      <m:groupChr>
                        <m:groupChrPr>
                          <m:chr m:val="→"/>
                          <m:pos m:val="bot"/>
                          <m:vertJc m:val="bot"/>
                          <m:ctrlPr>
                            <a:rPr lang="en-US" i="1">
                              <a:latin typeface="Cambria Math" panose="02040503050406030204" pitchFamily="18" charset="0"/>
                            </a:rPr>
                          </m:ctrlPr>
                        </m:groupChrPr>
                        <m:e>
                          <m:r>
                            <m:rPr>
                              <m:brk m:alnAt="2"/>
                            </m:rPr>
                            <a:rPr lang="en-US" i="1">
                              <a:latin typeface="Cambria Math" panose="02040503050406030204" pitchFamily="18" charset="0"/>
                            </a:rPr>
                            <m:t>𝐸</m:t>
                          </m:r>
                        </m:e>
                      </m:groupChr>
                      <m:sSub>
                        <m:sSubPr>
                          <m:ctrlPr>
                            <a:rPr lang="en-US" i="1">
                              <a:latin typeface="Cambria Math" panose="02040503050406030204" pitchFamily="18" charset="0"/>
                            </a:rPr>
                          </m:ctrlPr>
                        </m:sSubPr>
                        <m:e>
                          <m:r>
                            <a:rPr lang="en-US" i="1">
                              <a:latin typeface="Cambria Math" panose="02040503050406030204" pitchFamily="18" charset="0"/>
                            </a:rPr>
                            <m:t>𝑣</m:t>
                          </m:r>
                        </m:e>
                        <m:sub>
                          <m:sSub>
                            <m:sSubPr>
                              <m:ctrlPr>
                                <a:rPr lang="en-US" i="1">
                                  <a:latin typeface="Cambria Math" panose="02040503050406030204" pitchFamily="18" charset="0"/>
                                </a:rPr>
                              </m:ctrlPr>
                            </m:sSubPr>
                            <m:e>
                              <m:r>
                                <a:rPr lang="en-US" i="1">
                                  <a:latin typeface="Cambria Math" panose="02040503050406030204" pitchFamily="18" charset="0"/>
                                </a:rPr>
                                <m:t>𝜋</m:t>
                              </m:r>
                            </m:e>
                            <m:sub>
                              <m:r>
                                <a:rPr lang="en-US" b="0" i="1" smtClean="0">
                                  <a:latin typeface="Cambria Math" panose="02040503050406030204" pitchFamily="18" charset="0"/>
                                </a:rPr>
                                <m:t>2</m:t>
                              </m:r>
                            </m:sub>
                          </m:sSub>
                        </m:sub>
                      </m:sSub>
                      <m:groupChr>
                        <m:groupChrPr>
                          <m:chr m:val="→"/>
                          <m:pos m:val="bot"/>
                          <m:vertJc m:val="bot"/>
                          <m:ctrlPr>
                            <a:rPr lang="en-US" i="1">
                              <a:latin typeface="Cambria Math" panose="02040503050406030204" pitchFamily="18" charset="0"/>
                            </a:rPr>
                          </m:ctrlPr>
                        </m:groupChrPr>
                        <m:e>
                          <m:r>
                            <m:rPr>
                              <m:brk m:alnAt="2"/>
                            </m:rPr>
                            <a:rPr lang="en-US" i="1">
                              <a:latin typeface="Cambria Math" panose="02040503050406030204" pitchFamily="18" charset="0"/>
                            </a:rPr>
                            <m:t>𝐼</m:t>
                          </m:r>
                        </m:e>
                      </m:groupChr>
                      <m:sSub>
                        <m:sSubPr>
                          <m:ctrlPr>
                            <a:rPr lang="en-US" i="1">
                              <a:latin typeface="Cambria Math" panose="02040503050406030204" pitchFamily="18" charset="0"/>
                            </a:rPr>
                          </m:ctrlPr>
                        </m:sSubPr>
                        <m:e>
                          <m:r>
                            <a:rPr lang="en-US" i="1">
                              <a:latin typeface="Cambria Math" panose="02040503050406030204" pitchFamily="18" charset="0"/>
                            </a:rPr>
                            <m:t>𝜋</m:t>
                          </m:r>
                        </m:e>
                        <m:sub>
                          <m:r>
                            <a:rPr lang="en-US" b="0" i="1" smtClean="0">
                              <a:latin typeface="Cambria Math" panose="02040503050406030204" pitchFamily="18" charset="0"/>
                            </a:rPr>
                            <m:t>3</m:t>
                          </m:r>
                        </m:sub>
                      </m:sSub>
                      <m:groupChr>
                        <m:groupChrPr>
                          <m:chr m:val="→"/>
                          <m:pos m:val="bot"/>
                          <m:vertJc m:val="bot"/>
                          <m:ctrlPr>
                            <a:rPr lang="en-US" i="1">
                              <a:latin typeface="Cambria Math" panose="02040503050406030204" pitchFamily="18" charset="0"/>
                            </a:rPr>
                          </m:ctrlPr>
                        </m:groupChrPr>
                        <m:e>
                          <m:r>
                            <m:rPr>
                              <m:brk m:alnAt="2"/>
                            </m:rPr>
                            <a:rPr lang="en-US" i="1">
                              <a:latin typeface="Cambria Math" panose="02040503050406030204" pitchFamily="18" charset="0"/>
                            </a:rPr>
                            <m:t>𝐸</m:t>
                          </m:r>
                        </m:e>
                      </m:groupChr>
                      <m:sSub>
                        <m:sSubPr>
                          <m:ctrlPr>
                            <a:rPr lang="en-US" i="1">
                              <a:latin typeface="Cambria Math" panose="02040503050406030204" pitchFamily="18" charset="0"/>
                            </a:rPr>
                          </m:ctrlPr>
                        </m:sSubPr>
                        <m:e>
                          <m:r>
                            <a:rPr lang="en-US" i="1">
                              <a:latin typeface="Cambria Math" panose="02040503050406030204" pitchFamily="18" charset="0"/>
                            </a:rPr>
                            <m:t>𝑣</m:t>
                          </m:r>
                        </m:e>
                        <m:sub>
                          <m:sSub>
                            <m:sSubPr>
                              <m:ctrlPr>
                                <a:rPr lang="en-US" i="1">
                                  <a:latin typeface="Cambria Math" panose="02040503050406030204" pitchFamily="18" charset="0"/>
                                </a:rPr>
                              </m:ctrlPr>
                            </m:sSubPr>
                            <m:e>
                              <m:r>
                                <a:rPr lang="en-US" i="1">
                                  <a:latin typeface="Cambria Math" panose="02040503050406030204" pitchFamily="18" charset="0"/>
                                </a:rPr>
                                <m:t>𝜋</m:t>
                              </m:r>
                            </m:e>
                            <m:sub>
                              <m:r>
                                <a:rPr lang="en-US" b="0" i="1" smtClean="0">
                                  <a:latin typeface="Cambria Math" panose="02040503050406030204" pitchFamily="18" charset="0"/>
                                </a:rPr>
                                <m:t>3</m:t>
                              </m:r>
                            </m:sub>
                          </m:sSub>
                        </m:sub>
                      </m:sSub>
                      <m:groupChr>
                        <m:groupChrPr>
                          <m:chr m:val="→"/>
                          <m:pos m:val="bot"/>
                          <m:vertJc m:val="bot"/>
                          <m:ctrlPr>
                            <a:rPr lang="en-US" i="1">
                              <a:latin typeface="Cambria Math" panose="02040503050406030204" pitchFamily="18" charset="0"/>
                            </a:rPr>
                          </m:ctrlPr>
                        </m:groupChrPr>
                        <m:e>
                          <m:r>
                            <m:rPr>
                              <m:brk m:alnAt="2"/>
                            </m:rPr>
                            <a:rPr lang="en-US" i="1">
                              <a:latin typeface="Cambria Math" panose="02040503050406030204" pitchFamily="18" charset="0"/>
                            </a:rPr>
                            <m:t>𝐼</m:t>
                          </m:r>
                        </m:e>
                      </m:groupChr>
                      <m:r>
                        <a:rPr lang="en-US" b="0" i="1" smtClean="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𝜋</m:t>
                          </m:r>
                        </m:e>
                        <m:sub>
                          <m:r>
                            <a:rPr lang="en-US" b="0" i="1" smtClean="0">
                              <a:latin typeface="Cambria Math" panose="02040503050406030204" pitchFamily="18" charset="0"/>
                            </a:rPr>
                            <m:t>∗</m:t>
                          </m:r>
                        </m:sub>
                      </m:sSub>
                      <m:groupChr>
                        <m:groupChrPr>
                          <m:chr m:val="→"/>
                          <m:pos m:val="bot"/>
                          <m:vertJc m:val="bot"/>
                          <m:ctrlPr>
                            <a:rPr lang="en-US" i="1">
                              <a:latin typeface="Cambria Math" panose="02040503050406030204" pitchFamily="18" charset="0"/>
                            </a:rPr>
                          </m:ctrlPr>
                        </m:groupChrPr>
                        <m:e>
                          <m:r>
                            <m:rPr>
                              <m:brk m:alnAt="2"/>
                            </m:rPr>
                            <a:rPr lang="en-US" i="1">
                              <a:latin typeface="Cambria Math" panose="02040503050406030204" pitchFamily="18" charset="0"/>
                            </a:rPr>
                            <m:t>𝐸</m:t>
                          </m:r>
                        </m:e>
                      </m:groupChr>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b="0" i="1" smtClean="0">
                              <a:latin typeface="Cambria Math" panose="02040503050406030204" pitchFamily="18" charset="0"/>
                            </a:rPr>
                            <m:t>∗</m:t>
                          </m:r>
                        </m:sub>
                      </m:sSub>
                    </m:oMath>
                  </m:oMathPara>
                </a14:m>
                <a:endParaRPr lang="en-US" dirty="0"/>
              </a:p>
            </p:txBody>
          </p:sp>
        </mc:Choice>
        <mc:Fallback xmlns="">
          <p:sp>
            <p:nvSpPr>
              <p:cNvPr id="3" name="Content Placeholder 2" descr="Idea: Create a sequence of monotonically improving policies:. pi sub 0 Ev sub pi sub o, I pi sub 1 Ev sub pi sub 1, I pi sub 2 Ev sub pi sub 2, I pi sub 3 Ev sub pi sub 3, I dot dot dot pi sub star Ev sub star">
                <a:extLst>
                  <a:ext uri="{FF2B5EF4-FFF2-40B4-BE49-F238E27FC236}">
                    <a16:creationId xmlns:a16="http://schemas.microsoft.com/office/drawing/2014/main" id="{B138641C-75BB-03D4-C701-9095E6E26D1F}"/>
                  </a:ext>
                </a:extLst>
              </p:cNvPr>
              <p:cNvSpPr>
                <a:spLocks noGrp="1" noRot="1" noChangeAspect="1" noMove="1" noResize="1" noEditPoints="1" noAdjustHandles="1" noChangeArrowheads="1" noChangeShapeType="1" noTextEdit="1"/>
              </p:cNvSpPr>
              <p:nvPr>
                <p:ph idx="1"/>
              </p:nvPr>
            </p:nvSpPr>
            <p:spPr>
              <a:xfrm>
                <a:off x="838200" y="1397330"/>
                <a:ext cx="8771389" cy="1383619"/>
              </a:xfrm>
              <a:blipFill>
                <a:blip r:embed="rId2"/>
                <a:stretch>
                  <a:fillRect l="-1113" t="-793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descr="E policy eval. step. I policy improvement step">
                <a:extLst>
                  <a:ext uri="{FF2B5EF4-FFF2-40B4-BE49-F238E27FC236}">
                    <a16:creationId xmlns:a16="http://schemas.microsoft.com/office/drawing/2014/main" id="{E0EB2B97-5320-C668-434C-A64C12BB5DD6}"/>
                  </a:ext>
                </a:extLst>
              </p:cNvPr>
              <p:cNvSpPr txBox="1"/>
              <p:nvPr/>
            </p:nvSpPr>
            <p:spPr>
              <a:xfrm>
                <a:off x="9230142" y="2098313"/>
                <a:ext cx="2599595" cy="753924"/>
              </a:xfrm>
              <a:prstGeom prst="rect">
                <a:avLst/>
              </a:prstGeom>
              <a:solidFill>
                <a:srgbClr val="C35115"/>
              </a:solidFill>
            </p:spPr>
            <p:style>
              <a:lnRef idx="2">
                <a:schemeClr val="accent2">
                  <a:shade val="15000"/>
                </a:schemeClr>
              </a:lnRef>
              <a:fillRef idx="1">
                <a:schemeClr val="accent2"/>
              </a:fillRef>
              <a:effectRef idx="0">
                <a:schemeClr val="accent2"/>
              </a:effectRef>
              <a:fontRef idx="minor">
                <a:schemeClr val="lt1"/>
              </a:fontRef>
            </p:style>
            <p:txBody>
              <a:bodyPr wrap="square">
                <a:spAutoFit/>
              </a:bodyPr>
              <a:lstStyle/>
              <a:p>
                <a14:m>
                  <m:oMath xmlns:m="http://schemas.openxmlformats.org/officeDocument/2006/math">
                    <m:groupChr>
                      <m:groupChrPr>
                        <m:chr m:val="→"/>
                        <m:pos m:val="bot"/>
                        <m:vertJc m:val="bot"/>
                        <m:ctrlPr>
                          <a:rPr lang="en-US" sz="1600" b="0" i="1" smtClean="0">
                            <a:latin typeface="Cambria Math" panose="02040503050406030204" pitchFamily="18" charset="0"/>
                          </a:rPr>
                        </m:ctrlPr>
                      </m:groupChrPr>
                      <m:e>
                        <m:r>
                          <m:rPr>
                            <m:brk m:alnAt="2"/>
                          </m:rPr>
                          <a:rPr lang="en-US" sz="1600" b="0" i="1" smtClean="0">
                            <a:latin typeface="Cambria Math" panose="02040503050406030204" pitchFamily="18" charset="0"/>
                          </a:rPr>
                          <m:t>𝐸</m:t>
                        </m:r>
                      </m:e>
                    </m:groupChr>
                  </m:oMath>
                </a14:m>
                <a:r>
                  <a:rPr lang="en-US" sz="1600" b="0" i="1" dirty="0">
                    <a:latin typeface="Cambria Math" panose="02040503050406030204" pitchFamily="18" charset="0"/>
                  </a:rPr>
                  <a:t> </a:t>
                </a:r>
                <a:r>
                  <a:rPr lang="en-US" sz="1600" dirty="0"/>
                  <a:t>policy eval. step</a:t>
                </a:r>
                <a:r>
                  <a:rPr lang="en-US" sz="1600" b="0" i="1" dirty="0">
                    <a:latin typeface="Cambria Math" panose="02040503050406030204" pitchFamily="18" charset="0"/>
                  </a:rPr>
                  <a:t>  </a:t>
                </a:r>
                <a:endParaRPr lang="en-US" sz="1600" i="1" dirty="0">
                  <a:latin typeface="Cambria Math" panose="02040503050406030204" pitchFamily="18" charset="0"/>
                </a:endParaRPr>
              </a:p>
              <a:p>
                <a14:m>
                  <m:oMath xmlns:m="http://schemas.openxmlformats.org/officeDocument/2006/math">
                    <m:groupChr>
                      <m:groupChrPr>
                        <m:chr m:val="→"/>
                        <m:pos m:val="bot"/>
                        <m:vertJc m:val="bot"/>
                        <m:ctrlPr>
                          <a:rPr lang="en-US" sz="1600" b="0" i="1" smtClean="0">
                            <a:latin typeface="Cambria Math" panose="02040503050406030204" pitchFamily="18" charset="0"/>
                          </a:rPr>
                        </m:ctrlPr>
                      </m:groupChrPr>
                      <m:e>
                        <m:r>
                          <m:rPr>
                            <m:brk m:alnAt="2"/>
                          </m:rPr>
                          <a:rPr lang="en-US" sz="1600" b="0" i="1" smtClean="0">
                            <a:latin typeface="Cambria Math" panose="02040503050406030204" pitchFamily="18" charset="0"/>
                          </a:rPr>
                          <m:t>𝐼</m:t>
                        </m:r>
                      </m:e>
                    </m:groupChr>
                  </m:oMath>
                </a14:m>
                <a:r>
                  <a:rPr lang="en-US" sz="1600" dirty="0"/>
                  <a:t> policy improvement step</a:t>
                </a:r>
                <a:r>
                  <a:rPr lang="en-US" sz="1600" i="1" dirty="0">
                    <a:latin typeface="Cambria Math" panose="02040503050406030204" pitchFamily="18" charset="0"/>
                  </a:rPr>
                  <a:t> </a:t>
                </a:r>
                <a:endParaRPr lang="en-US" sz="1600" dirty="0"/>
              </a:p>
            </p:txBody>
          </p:sp>
        </mc:Choice>
        <mc:Fallback xmlns="">
          <p:sp>
            <p:nvSpPr>
              <p:cNvPr id="5" name="TextBox 4" descr="E policy eval. step. I policy improvement step">
                <a:extLst>
                  <a:ext uri="{FF2B5EF4-FFF2-40B4-BE49-F238E27FC236}">
                    <a16:creationId xmlns:a16="http://schemas.microsoft.com/office/drawing/2014/main" id="{E0EB2B97-5320-C668-434C-A64C12BB5DD6}"/>
                  </a:ext>
                </a:extLst>
              </p:cNvPr>
              <p:cNvSpPr txBox="1">
                <a:spLocks noRot="1" noChangeAspect="1" noMove="1" noResize="1" noEditPoints="1" noAdjustHandles="1" noChangeArrowheads="1" noChangeShapeType="1" noTextEdit="1"/>
              </p:cNvSpPr>
              <p:nvPr/>
            </p:nvSpPr>
            <p:spPr>
              <a:xfrm>
                <a:off x="9230142" y="2098313"/>
                <a:ext cx="2599595" cy="753924"/>
              </a:xfrm>
              <a:prstGeom prst="rect">
                <a:avLst/>
              </a:prstGeom>
              <a:blipFill>
                <a:blip r:embed="rId3"/>
                <a:stretch>
                  <a:fillRect l="-2791" b="-2204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5" name="Content Placeholder 2" descr="Guarantees:. Policy improvement is guaranteed to improve the policy. Finite MDPs have a finite number of policies to Policy Iteration must converge!. Advantages:. Policy becomes stable before v sub star is reached. Policy iteration typically converges fast. Issue:. Policy estimation is computationally expensive! Using fewer iterations leads to modified policy iteration">
                <a:extLst>
                  <a:ext uri="{FF2B5EF4-FFF2-40B4-BE49-F238E27FC236}">
                    <a16:creationId xmlns:a16="http://schemas.microsoft.com/office/drawing/2014/main" id="{20B55EFD-EEBE-AE5F-7566-305C5EAE57B1}"/>
                  </a:ext>
                </a:extLst>
              </p:cNvPr>
              <p:cNvSpPr txBox="1">
                <a:spLocks/>
              </p:cNvSpPr>
              <p:nvPr/>
            </p:nvSpPr>
            <p:spPr>
              <a:xfrm>
                <a:off x="846192" y="3292095"/>
                <a:ext cx="7897536" cy="3049982"/>
              </a:xfrm>
              <a:prstGeom prst="rect">
                <a:avLst/>
              </a:prstGeom>
            </p:spPr>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b="1" dirty="0"/>
                  <a:t>Guarantees</a:t>
                </a:r>
                <a:r>
                  <a:rPr lang="en-US" dirty="0"/>
                  <a:t>:</a:t>
                </a:r>
              </a:p>
              <a:p>
                <a:pPr lvl="1"/>
                <a:r>
                  <a:rPr lang="en-US" dirty="0"/>
                  <a:t>Policy improvement is guaranteed to improve the policy.</a:t>
                </a:r>
              </a:p>
              <a:p>
                <a:pPr lvl="1"/>
                <a:r>
                  <a:rPr lang="en-US" dirty="0"/>
                  <a:t>Finite MDPs have a finite number of policies </a:t>
                </a:r>
                <a14:m>
                  <m:oMath xmlns:m="http://schemas.openxmlformats.org/officeDocument/2006/math">
                    <m:r>
                      <a:rPr lang="en-US" b="0" i="1" smtClean="0">
                        <a:latin typeface="Cambria Math" panose="02040503050406030204" pitchFamily="18" charset="0"/>
                      </a:rPr>
                      <m:t>→</m:t>
                    </m:r>
                  </m:oMath>
                </a14:m>
                <a:r>
                  <a:rPr lang="en-US" dirty="0"/>
                  <a:t> Policy Iteration must </a:t>
                </a:r>
                <a:r>
                  <a:rPr lang="en-US" b="1" dirty="0"/>
                  <a:t>converge</a:t>
                </a:r>
                <a:r>
                  <a:rPr lang="en-US" dirty="0"/>
                  <a:t>!</a:t>
                </a:r>
              </a:p>
              <a:p>
                <a:pPr marL="0" indent="0">
                  <a:buNone/>
                </a:pPr>
                <a:r>
                  <a:rPr lang="en-US" b="1" dirty="0"/>
                  <a:t>Advantages</a:t>
                </a:r>
                <a:r>
                  <a:rPr lang="en-US" dirty="0"/>
                  <a:t>:</a:t>
                </a:r>
              </a:p>
              <a:p>
                <a:pPr lvl="1"/>
                <a:r>
                  <a:rPr lang="en-US" dirty="0"/>
                  <a:t>Policy becomes stable before </a:t>
                </a:r>
                <a14:m>
                  <m:oMath xmlns:m="http://schemas.openxmlformats.org/officeDocument/2006/math">
                    <m:sSub>
                      <m:sSubPr>
                        <m:ctrlPr>
                          <a:rPr lang="en-US" i="1">
                            <a:latin typeface="Cambria Math" panose="02040503050406030204" pitchFamily="18" charset="0"/>
                          </a:rPr>
                        </m:ctrlPr>
                      </m:sSubPr>
                      <m:e>
                        <m:r>
                          <a:rPr lang="en-US" i="1">
                            <a:latin typeface="Cambria Math" panose="02040503050406030204" pitchFamily="18" charset="0"/>
                          </a:rPr>
                          <m:t>𝑣</m:t>
                        </m:r>
                      </m:e>
                      <m:sub>
                        <m:r>
                          <a:rPr lang="en-US" i="1">
                            <a:latin typeface="Cambria Math" panose="02040503050406030204" pitchFamily="18" charset="0"/>
                          </a:rPr>
                          <m:t>∗</m:t>
                        </m:r>
                      </m:sub>
                    </m:sSub>
                  </m:oMath>
                </a14:m>
                <a:r>
                  <a:rPr lang="en-US" dirty="0"/>
                  <a:t> is reached.</a:t>
                </a:r>
              </a:p>
              <a:p>
                <a:pPr lvl="1"/>
                <a:r>
                  <a:rPr lang="en-US" dirty="0"/>
                  <a:t>Policy iteration typically converges fast.</a:t>
                </a:r>
              </a:p>
              <a:p>
                <a:pPr marL="0" indent="0">
                  <a:buNone/>
                </a:pPr>
                <a:r>
                  <a:rPr lang="en-US" b="1" dirty="0"/>
                  <a:t>Issue</a:t>
                </a:r>
                <a:r>
                  <a:rPr lang="en-US" dirty="0"/>
                  <a:t>: </a:t>
                </a:r>
              </a:p>
              <a:p>
                <a:pPr lvl="1"/>
                <a:r>
                  <a:rPr lang="en-US" dirty="0"/>
                  <a:t>Policy estimation is computationally expensive! </a:t>
                </a:r>
                <a:br>
                  <a:rPr lang="en-US" dirty="0"/>
                </a:br>
                <a:r>
                  <a:rPr lang="en-US" dirty="0"/>
                  <a:t>Using fewer iterations leads to modified policy iteration.</a:t>
                </a:r>
              </a:p>
            </p:txBody>
          </p:sp>
        </mc:Choice>
        <mc:Fallback xmlns="">
          <p:sp>
            <p:nvSpPr>
              <p:cNvPr id="25" name="Content Placeholder 2" descr="Guarantees:. Policy improvement is guaranteed to improve the policy. Finite MDPs have a finite number of policies to Policy Iteration must converge!. Advantages:. Policy becomes stable before v sub star is reached. Policy iteration typically converges fast. Issue:. Policy estimation is computationally expensive! Using fewer iterations leads to modified policy iteration">
                <a:extLst>
                  <a:ext uri="{FF2B5EF4-FFF2-40B4-BE49-F238E27FC236}">
                    <a16:creationId xmlns:a16="http://schemas.microsoft.com/office/drawing/2014/main" id="{20B55EFD-EEBE-AE5F-7566-305C5EAE57B1}"/>
                  </a:ext>
                </a:extLst>
              </p:cNvPr>
              <p:cNvSpPr txBox="1">
                <a:spLocks noRot="1" noChangeAspect="1" noMove="1" noResize="1" noEditPoints="1" noAdjustHandles="1" noChangeArrowheads="1" noChangeShapeType="1" noTextEdit="1"/>
              </p:cNvSpPr>
              <p:nvPr/>
            </p:nvSpPr>
            <p:spPr>
              <a:xfrm>
                <a:off x="846192" y="3292095"/>
                <a:ext cx="7897536" cy="3049982"/>
              </a:xfrm>
              <a:prstGeom prst="rect">
                <a:avLst/>
              </a:prstGeom>
              <a:blipFill>
                <a:blip r:embed="rId8"/>
                <a:stretch>
                  <a:fillRect l="-1236" t="-4400" b="-200"/>
                </a:stretch>
              </a:blipFill>
            </p:spPr>
            <p:txBody>
              <a:bodyPr/>
              <a:lstStyle/>
              <a:p>
                <a:r>
                  <a:rPr lang="en-US">
                    <a:noFill/>
                  </a:rPr>
                  <a:t> </a:t>
                </a:r>
              </a:p>
            </p:txBody>
          </p:sp>
        </mc:Fallback>
      </mc:AlternateContent>
      <p:grpSp>
        <p:nvGrpSpPr>
          <p:cNvPr id="6" name="Group 5" descr="Policy iteration as a zig-zag between two converging lines: starting at pi_0, a policy evaluation step goes up to v_pi0 on the upper line, a policy improvement step goes down to the next policy on the lower line, and the alternating steps get shorter until both lines meet at v star and pi star.">
            <a:extLst>
              <a:ext uri="{FF2B5EF4-FFF2-40B4-BE49-F238E27FC236}">
                <a16:creationId xmlns:a16="http://schemas.microsoft.com/office/drawing/2014/main" id="{5330DBED-05CE-C5CD-1726-3FFBB3C2F0B3}"/>
              </a:ext>
            </a:extLst>
          </p:cNvPr>
          <p:cNvGrpSpPr/>
          <p:nvPr/>
        </p:nvGrpSpPr>
        <p:grpSpPr>
          <a:xfrm>
            <a:off x="9123912" y="3626421"/>
            <a:ext cx="3198391" cy="2284485"/>
            <a:chOff x="9723059" y="2019762"/>
            <a:chExt cx="2494019" cy="2284485"/>
          </a:xfrm>
        </p:grpSpPr>
        <p:cxnSp>
          <p:nvCxnSpPr>
            <p:cNvPr id="7" name="Straight Connector 6">
              <a:extLst>
                <a:ext uri="{FF2B5EF4-FFF2-40B4-BE49-F238E27FC236}">
                  <a16:creationId xmlns:a16="http://schemas.microsoft.com/office/drawing/2014/main" id="{447A44AD-8292-96EC-1994-4950D408FAE5}"/>
                </a:ext>
                <a:ext uri="{C183D7F6-B498-43B3-948B-1728B52AA6E4}">
                  <adec:decorative xmlns:adec="http://schemas.microsoft.com/office/drawing/2017/decorative" val="1"/>
                </a:ext>
              </a:extLst>
            </p:cNvPr>
            <p:cNvCxnSpPr>
              <a:cxnSpLocks/>
            </p:cNvCxnSpPr>
            <p:nvPr/>
          </p:nvCxnSpPr>
          <p:spPr>
            <a:xfrm>
              <a:off x="9767243" y="2133600"/>
              <a:ext cx="1963017" cy="990599"/>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8" name="TextBox 3" descr="Equation: v sub star">
                  <a:extLst>
                    <a:ext uri="{FF2B5EF4-FFF2-40B4-BE49-F238E27FC236}">
                      <a16:creationId xmlns:a16="http://schemas.microsoft.com/office/drawing/2014/main" id="{19BECD92-8EB4-3F3A-747C-2F7B09A3A737}"/>
                    </a:ext>
                  </a:extLst>
                </p:cNvPr>
                <p:cNvSpPr txBox="1"/>
                <p:nvPr/>
              </p:nvSpPr>
              <p:spPr>
                <a:xfrm>
                  <a:off x="11450082" y="2744954"/>
                  <a:ext cx="766996" cy="369332"/>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14:m>
                    <m:oMathPara xmlns:m="http://schemas.openxmlformats.org/officeDocument/2006/math">
                      <m:o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𝑣</m:t>
                            </m:r>
                          </m:e>
                          <m:sub>
                            <m:r>
                              <a:rPr lang="en-US" sz="1800" b="0" i="1" smtClean="0">
                                <a:latin typeface="Cambria Math" panose="02040503050406030204" pitchFamily="18" charset="0"/>
                              </a:rPr>
                              <m:t>∗</m:t>
                            </m:r>
                          </m:sub>
                        </m:sSub>
                      </m:oMath>
                    </m:oMathPara>
                  </a14:m>
                  <a:endParaRPr lang="en-US" dirty="0"/>
                </a:p>
              </p:txBody>
            </p:sp>
          </mc:Choice>
          <mc:Fallback xmlns="">
            <p:sp>
              <p:nvSpPr>
                <p:cNvPr id="8" name="TextBox 3" descr="Equation: v sub star">
                  <a:extLst>
                    <a:ext uri="{FF2B5EF4-FFF2-40B4-BE49-F238E27FC236}">
                      <a16:creationId xmlns:a16="http://schemas.microsoft.com/office/drawing/2014/main" id="{19BECD92-8EB4-3F3A-747C-2F7B09A3A737}"/>
                    </a:ext>
                  </a:extLst>
                </p:cNvPr>
                <p:cNvSpPr txBox="1">
                  <a:spLocks noRot="1" noChangeAspect="1" noMove="1" noResize="1" noEditPoints="1" noAdjustHandles="1" noChangeArrowheads="1" noChangeShapeType="1" noTextEdit="1"/>
                </p:cNvSpPr>
                <p:nvPr/>
              </p:nvSpPr>
              <p:spPr>
                <a:xfrm>
                  <a:off x="11450082" y="2744954"/>
                  <a:ext cx="766996"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13" descr="Equation: v sub pi sub 0">
                  <a:extLst>
                    <a:ext uri="{FF2B5EF4-FFF2-40B4-BE49-F238E27FC236}">
                      <a16:creationId xmlns:a16="http://schemas.microsoft.com/office/drawing/2014/main" id="{FB9EE7AE-F5DB-6FED-EB86-DEBFF10FC2A3}"/>
                    </a:ext>
                  </a:extLst>
                </p:cNvPr>
                <p:cNvSpPr txBox="1"/>
                <p:nvPr/>
              </p:nvSpPr>
              <p:spPr>
                <a:xfrm>
                  <a:off x="10182391" y="2019762"/>
                  <a:ext cx="395810" cy="394660"/>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14:m>
                    <m:oMathPara xmlns:m="http://schemas.openxmlformats.org/officeDocument/2006/math">
                      <m:o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𝑣</m:t>
                            </m:r>
                          </m:e>
                          <m:sub>
                            <m:r>
                              <m:rPr>
                                <m:lit/>
                              </m:rPr>
                              <a:rPr lang="en-US" sz="1800" b="0" i="1" smtClean="0">
                                <a:latin typeface="Cambria Math" panose="02040503050406030204" pitchFamily="18" charset="0"/>
                              </a:rPr>
                              <m:t> </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𝜋</m:t>
                                </m:r>
                              </m:e>
                              <m:sub>
                                <m:r>
                                  <a:rPr lang="en-US" sz="1800" b="0" i="1" smtClean="0">
                                    <a:latin typeface="Cambria Math" panose="02040503050406030204" pitchFamily="18" charset="0"/>
                                  </a:rPr>
                                  <m:t>0</m:t>
                                </m:r>
                              </m:sub>
                            </m:sSub>
                          </m:sub>
                        </m:sSub>
                        <m:r>
                          <a:rPr lang="en-US" sz="1800" b="0" i="1" smtClean="0">
                            <a:latin typeface="Cambria Math" panose="02040503050406030204" pitchFamily="18" charset="0"/>
                          </a:rPr>
                          <m:t> </m:t>
                        </m:r>
                      </m:oMath>
                    </m:oMathPara>
                  </a14:m>
                  <a:endParaRPr lang="en-US" dirty="0"/>
                </a:p>
              </p:txBody>
            </p:sp>
          </mc:Choice>
          <mc:Fallback xmlns="">
            <p:sp>
              <p:nvSpPr>
                <p:cNvPr id="9" name="TextBox 13" descr="Equation: v sub pi sub 0">
                  <a:extLst>
                    <a:ext uri="{FF2B5EF4-FFF2-40B4-BE49-F238E27FC236}">
                      <a16:creationId xmlns:a16="http://schemas.microsoft.com/office/drawing/2014/main" id="{FB9EE7AE-F5DB-6FED-EB86-DEBFF10FC2A3}"/>
                    </a:ext>
                  </a:extLst>
                </p:cNvPr>
                <p:cNvSpPr txBox="1">
                  <a:spLocks noRot="1" noChangeAspect="1" noMove="1" noResize="1" noEditPoints="1" noAdjustHandles="1" noChangeArrowheads="1" noChangeShapeType="1" noTextEdit="1"/>
                </p:cNvSpPr>
                <p:nvPr/>
              </p:nvSpPr>
              <p:spPr>
                <a:xfrm>
                  <a:off x="10182391" y="2019762"/>
                  <a:ext cx="395810" cy="394660"/>
                </a:xfrm>
                <a:prstGeom prst="rect">
                  <a:avLst/>
                </a:prstGeom>
                <a:blipFill>
                  <a:blip r:embed="rId5"/>
                  <a:stretch>
                    <a:fillRect/>
                  </a:stretch>
                </a:blipFill>
              </p:spPr>
              <p:txBody>
                <a:bodyPr/>
                <a:lstStyle/>
                <a:p>
                  <a:r>
                    <a:rPr lang="en-US">
                      <a:noFill/>
                    </a:rPr>
                    <a:t> </a:t>
                  </a:r>
                </a:p>
              </p:txBody>
            </p:sp>
          </mc:Fallback>
        </mc:AlternateContent>
        <p:sp>
          <p:nvSpPr>
            <p:cNvPr id="10" name="Oval 9">
              <a:extLst>
                <a:ext uri="{FF2B5EF4-FFF2-40B4-BE49-F238E27FC236}">
                  <a16:creationId xmlns:a16="http://schemas.microsoft.com/office/drawing/2014/main" id="{E957BD3F-E8AA-B5A0-FC84-59F338DCDE83}"/>
                </a:ext>
                <a:ext uri="{C183D7F6-B498-43B3-948B-1728B52AA6E4}">
                  <adec:decorative xmlns:adec="http://schemas.microsoft.com/office/drawing/2017/decorative" val="1"/>
                </a:ext>
              </a:extLst>
            </p:cNvPr>
            <p:cNvSpPr/>
            <p:nvPr/>
          </p:nvSpPr>
          <p:spPr>
            <a:xfrm>
              <a:off x="11714409" y="3091219"/>
              <a:ext cx="96282" cy="117892"/>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mc:AlternateContent xmlns:mc="http://schemas.openxmlformats.org/markup-compatibility/2006" xmlns:a14="http://schemas.microsoft.com/office/drawing/2010/main">
          <mc:Choice Requires="a14">
            <p:sp>
              <p:nvSpPr>
                <p:cNvPr id="11" name="TextBox 20" descr="Equation: pi sub star">
                  <a:extLst>
                    <a:ext uri="{FF2B5EF4-FFF2-40B4-BE49-F238E27FC236}">
                      <a16:creationId xmlns:a16="http://schemas.microsoft.com/office/drawing/2014/main" id="{0F8E891D-D5E8-ACFF-2493-1B2D9A842592}"/>
                    </a:ext>
                  </a:extLst>
                </p:cNvPr>
                <p:cNvSpPr txBox="1"/>
                <p:nvPr/>
              </p:nvSpPr>
              <p:spPr>
                <a:xfrm>
                  <a:off x="11509673" y="3150165"/>
                  <a:ext cx="670882" cy="369332"/>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14:m>
                    <m:oMathPara xmlns:m="http://schemas.openxmlformats.org/officeDocument/2006/math">
                      <m:o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𝜋</m:t>
                            </m:r>
                          </m:e>
                          <m:sub>
                            <m:r>
                              <a:rPr lang="en-US" sz="1800" b="0" i="1" smtClean="0">
                                <a:latin typeface="Cambria Math" panose="02040503050406030204" pitchFamily="18" charset="0"/>
                              </a:rPr>
                              <m:t>∗</m:t>
                            </m:r>
                          </m:sub>
                        </m:sSub>
                      </m:oMath>
                    </m:oMathPara>
                  </a14:m>
                  <a:endParaRPr lang="en-US" dirty="0"/>
                </a:p>
              </p:txBody>
            </p:sp>
          </mc:Choice>
          <mc:Fallback xmlns="">
            <p:sp>
              <p:nvSpPr>
                <p:cNvPr id="11" name="TextBox 20" descr="Equation: pi sub star">
                  <a:extLst>
                    <a:ext uri="{FF2B5EF4-FFF2-40B4-BE49-F238E27FC236}">
                      <a16:creationId xmlns:a16="http://schemas.microsoft.com/office/drawing/2014/main" id="{0F8E891D-D5E8-ACFF-2493-1B2D9A842592}"/>
                    </a:ext>
                  </a:extLst>
                </p:cNvPr>
                <p:cNvSpPr txBox="1">
                  <a:spLocks noRot="1" noChangeAspect="1" noMove="1" noResize="1" noEditPoints="1" noAdjustHandles="1" noChangeArrowheads="1" noChangeShapeType="1" noTextEdit="1"/>
                </p:cNvSpPr>
                <p:nvPr/>
              </p:nvSpPr>
              <p:spPr>
                <a:xfrm>
                  <a:off x="11509673" y="3150165"/>
                  <a:ext cx="670882"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2" name="TextBox 22" descr="Equation: pi sub 0">
                  <a:extLst>
                    <a:ext uri="{FF2B5EF4-FFF2-40B4-BE49-F238E27FC236}">
                      <a16:creationId xmlns:a16="http://schemas.microsoft.com/office/drawing/2014/main" id="{855B6615-2A40-D9F1-B014-C079BEA81885}"/>
                    </a:ext>
                  </a:extLst>
                </p:cNvPr>
                <p:cNvSpPr txBox="1"/>
                <p:nvPr/>
              </p:nvSpPr>
              <p:spPr>
                <a:xfrm>
                  <a:off x="9723059" y="3934915"/>
                  <a:ext cx="453512" cy="369332"/>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14:m>
                    <m:oMathPara xmlns:m="http://schemas.openxmlformats.org/officeDocument/2006/math">
                      <m:o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𝜋</m:t>
                            </m:r>
                          </m:e>
                          <m:sub>
                            <m:r>
                              <a:rPr lang="en-US" sz="1800" b="0" i="1" smtClean="0">
                                <a:latin typeface="Cambria Math" panose="02040503050406030204" pitchFamily="18" charset="0"/>
                              </a:rPr>
                              <m:t>0</m:t>
                            </m:r>
                          </m:sub>
                        </m:sSub>
                      </m:oMath>
                    </m:oMathPara>
                  </a14:m>
                  <a:endParaRPr lang="en-US" dirty="0"/>
                </a:p>
              </p:txBody>
            </p:sp>
          </mc:Choice>
          <mc:Fallback xmlns="">
            <p:sp>
              <p:nvSpPr>
                <p:cNvPr id="12" name="TextBox 22" descr="Equation: pi sub 0">
                  <a:extLst>
                    <a:ext uri="{FF2B5EF4-FFF2-40B4-BE49-F238E27FC236}">
                      <a16:creationId xmlns:a16="http://schemas.microsoft.com/office/drawing/2014/main" id="{855B6615-2A40-D9F1-B014-C079BEA81885}"/>
                    </a:ext>
                  </a:extLst>
                </p:cNvPr>
                <p:cNvSpPr txBox="1">
                  <a:spLocks noRot="1" noChangeAspect="1" noMove="1" noResize="1" noEditPoints="1" noAdjustHandles="1" noChangeArrowheads="1" noChangeShapeType="1" noTextEdit="1"/>
                </p:cNvSpPr>
                <p:nvPr/>
              </p:nvSpPr>
              <p:spPr>
                <a:xfrm>
                  <a:off x="9723059" y="3934915"/>
                  <a:ext cx="453512" cy="369332"/>
                </a:xfrm>
                <a:prstGeom prst="rect">
                  <a:avLst/>
                </a:prstGeom>
                <a:blipFill>
                  <a:blip r:embed="rId7"/>
                  <a:stretch>
                    <a:fillRect/>
                  </a:stretch>
                </a:blipFill>
              </p:spPr>
              <p:txBody>
                <a:bodyPr/>
                <a:lstStyle/>
                <a:p>
                  <a:r>
                    <a:rPr lang="en-US">
                      <a:noFill/>
                    </a:rPr>
                    <a:t> </a:t>
                  </a:r>
                </a:p>
              </p:txBody>
            </p:sp>
          </mc:Fallback>
        </mc:AlternateContent>
        <p:cxnSp>
          <p:nvCxnSpPr>
            <p:cNvPr id="13" name="Straight Connector 12">
              <a:extLst>
                <a:ext uri="{FF2B5EF4-FFF2-40B4-BE49-F238E27FC236}">
                  <a16:creationId xmlns:a16="http://schemas.microsoft.com/office/drawing/2014/main" id="{463B50D4-BD22-4970-434D-879A140DE0A4}"/>
                </a:ext>
                <a:ext uri="{C183D7F6-B498-43B3-948B-1728B52AA6E4}">
                  <adec:decorative xmlns:adec="http://schemas.microsoft.com/office/drawing/2017/decorative" val="1"/>
                </a:ext>
              </a:extLst>
            </p:cNvPr>
            <p:cNvCxnSpPr>
              <a:cxnSpLocks/>
            </p:cNvCxnSpPr>
            <p:nvPr/>
          </p:nvCxnSpPr>
          <p:spPr>
            <a:xfrm flipV="1">
              <a:off x="9740767" y="3202752"/>
              <a:ext cx="1984379" cy="921098"/>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E6948348-E14F-E78C-7925-6D07B342DDDD}"/>
                </a:ext>
                <a:ext uri="{C183D7F6-B498-43B3-948B-1728B52AA6E4}">
                  <adec:decorative xmlns:adec="http://schemas.microsoft.com/office/drawing/2017/decorative" val="1"/>
                </a:ext>
              </a:extLst>
            </p:cNvPr>
            <p:cNvCxnSpPr/>
            <p:nvPr/>
          </p:nvCxnSpPr>
          <p:spPr>
            <a:xfrm flipV="1">
              <a:off x="9982200" y="2438400"/>
              <a:ext cx="360675" cy="1515404"/>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15" name="Straight Arrow Connector 14">
              <a:extLst>
                <a:ext uri="{FF2B5EF4-FFF2-40B4-BE49-F238E27FC236}">
                  <a16:creationId xmlns:a16="http://schemas.microsoft.com/office/drawing/2014/main" id="{11A484C5-4702-A9B7-9D77-FC3973E8A67F}"/>
                </a:ext>
                <a:ext uri="{C183D7F6-B498-43B3-948B-1728B52AA6E4}">
                  <adec:decorative xmlns:adec="http://schemas.microsoft.com/office/drawing/2017/decorative" val="1"/>
                </a:ext>
              </a:extLst>
            </p:cNvPr>
            <p:cNvCxnSpPr>
              <a:cxnSpLocks/>
            </p:cNvCxnSpPr>
            <p:nvPr/>
          </p:nvCxnSpPr>
          <p:spPr>
            <a:xfrm>
              <a:off x="10342875" y="2438400"/>
              <a:ext cx="325125" cy="1219200"/>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16" name="Straight Arrow Connector 15">
              <a:extLst>
                <a:ext uri="{FF2B5EF4-FFF2-40B4-BE49-F238E27FC236}">
                  <a16:creationId xmlns:a16="http://schemas.microsoft.com/office/drawing/2014/main" id="{FEB4DCB4-48A5-6E51-B9FE-EF0E9B4BAFF8}"/>
                </a:ext>
                <a:ext uri="{C183D7F6-B498-43B3-948B-1728B52AA6E4}">
                  <adec:decorative xmlns:adec="http://schemas.microsoft.com/office/drawing/2017/decorative" val="1"/>
                </a:ext>
              </a:extLst>
            </p:cNvPr>
            <p:cNvCxnSpPr>
              <a:cxnSpLocks/>
            </p:cNvCxnSpPr>
            <p:nvPr/>
          </p:nvCxnSpPr>
          <p:spPr>
            <a:xfrm flipV="1">
              <a:off x="10668000" y="2819400"/>
              <a:ext cx="457200" cy="838200"/>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17" name="Straight Arrow Connector 16">
              <a:extLst>
                <a:ext uri="{FF2B5EF4-FFF2-40B4-BE49-F238E27FC236}">
                  <a16:creationId xmlns:a16="http://schemas.microsoft.com/office/drawing/2014/main" id="{6CB15DB5-D53A-F51F-8727-21F569598D38}"/>
                </a:ext>
                <a:ext uri="{C183D7F6-B498-43B3-948B-1728B52AA6E4}">
                  <adec:decorative xmlns:adec="http://schemas.microsoft.com/office/drawing/2017/decorative" val="1"/>
                </a:ext>
              </a:extLst>
            </p:cNvPr>
            <p:cNvCxnSpPr>
              <a:cxnSpLocks/>
            </p:cNvCxnSpPr>
            <p:nvPr/>
          </p:nvCxnSpPr>
          <p:spPr>
            <a:xfrm>
              <a:off x="11125200" y="2819400"/>
              <a:ext cx="228600" cy="533400"/>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18" name="Straight Arrow Connector 17">
              <a:extLst>
                <a:ext uri="{FF2B5EF4-FFF2-40B4-BE49-F238E27FC236}">
                  <a16:creationId xmlns:a16="http://schemas.microsoft.com/office/drawing/2014/main" id="{B79E848C-DEE2-2B22-D382-CB1D0AFA6287}"/>
                </a:ext>
                <a:ext uri="{C183D7F6-B498-43B3-948B-1728B52AA6E4}">
                  <adec:decorative xmlns:adec="http://schemas.microsoft.com/office/drawing/2017/decorative" val="1"/>
                </a:ext>
              </a:extLst>
            </p:cNvPr>
            <p:cNvCxnSpPr>
              <a:cxnSpLocks/>
            </p:cNvCxnSpPr>
            <p:nvPr/>
          </p:nvCxnSpPr>
          <p:spPr>
            <a:xfrm flipV="1">
              <a:off x="11353800" y="3066584"/>
              <a:ext cx="228600" cy="286216"/>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cxnSp>
          <p:nvCxnSpPr>
            <p:cNvPr id="19" name="Straight Arrow Connector 18">
              <a:extLst>
                <a:ext uri="{FF2B5EF4-FFF2-40B4-BE49-F238E27FC236}">
                  <a16:creationId xmlns:a16="http://schemas.microsoft.com/office/drawing/2014/main" id="{2F360256-AFD1-C0BB-ABF4-6ED717BE241E}"/>
                </a:ext>
                <a:ext uri="{C183D7F6-B498-43B3-948B-1728B52AA6E4}">
                  <adec:decorative xmlns:adec="http://schemas.microsoft.com/office/drawing/2017/decorative" val="1"/>
                </a:ext>
              </a:extLst>
            </p:cNvPr>
            <p:cNvCxnSpPr>
              <a:cxnSpLocks/>
            </p:cNvCxnSpPr>
            <p:nvPr/>
          </p:nvCxnSpPr>
          <p:spPr>
            <a:xfrm>
              <a:off x="11582400" y="3086337"/>
              <a:ext cx="98107" cy="114063"/>
            </a:xfrm>
            <a:prstGeom prst="straightConnector1">
              <a:avLst/>
            </a:prstGeom>
            <a:ln>
              <a:tailEnd type="triangle"/>
            </a:ln>
          </p:spPr>
          <p:style>
            <a:lnRef idx="3">
              <a:schemeClr val="accent6"/>
            </a:lnRef>
            <a:fillRef idx="0">
              <a:schemeClr val="accent6"/>
            </a:fillRef>
            <a:effectRef idx="2">
              <a:schemeClr val="accent6"/>
            </a:effectRef>
            <a:fontRef idx="minor">
              <a:schemeClr val="tx1"/>
            </a:fontRef>
          </p:style>
        </p:cxnSp>
        <p:sp>
          <p:nvSpPr>
            <p:cNvPr id="20" name="TextBox 56">
              <a:extLst>
                <a:ext uri="{FF2B5EF4-FFF2-40B4-BE49-F238E27FC236}">
                  <a16:creationId xmlns:a16="http://schemas.microsoft.com/office/drawing/2014/main" id="{AFD80097-9184-52DD-89E7-0E2ED869BB5C}"/>
                </a:ext>
                <a:ext uri="{C183D7F6-B498-43B3-948B-1728B52AA6E4}">
                  <adec:decorative xmlns:adec="http://schemas.microsoft.com/office/drawing/2017/decorative" val="1"/>
                </a:ext>
              </a:extLst>
            </p:cNvPr>
            <p:cNvSpPr txBox="1"/>
            <p:nvPr/>
          </p:nvSpPr>
          <p:spPr>
            <a:xfrm rot="17199066">
              <a:off x="9460902" y="3071193"/>
              <a:ext cx="1236749" cy="276999"/>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200" dirty="0"/>
                <a:t>Policy evaluation</a:t>
              </a:r>
            </a:p>
          </p:txBody>
        </p:sp>
        <p:sp>
          <p:nvSpPr>
            <p:cNvPr id="21" name="TextBox 57">
              <a:extLst>
                <a:ext uri="{FF2B5EF4-FFF2-40B4-BE49-F238E27FC236}">
                  <a16:creationId xmlns:a16="http://schemas.microsoft.com/office/drawing/2014/main" id="{17FBEAB6-A067-564C-70A8-D8E9A5A200F3}"/>
                </a:ext>
                <a:ext uri="{C183D7F6-B498-43B3-948B-1728B52AA6E4}">
                  <adec:decorative xmlns:adec="http://schemas.microsoft.com/office/drawing/2017/decorative" val="1"/>
                </a:ext>
              </a:extLst>
            </p:cNvPr>
            <p:cNvSpPr txBox="1"/>
            <p:nvPr/>
          </p:nvSpPr>
          <p:spPr>
            <a:xfrm rot="4406454">
              <a:off x="10019882" y="2910998"/>
              <a:ext cx="1103187" cy="261610"/>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100" dirty="0"/>
                <a:t>P. improvement</a:t>
              </a:r>
            </a:p>
          </p:txBody>
        </p:sp>
      </p:grpSp>
    </p:spTree>
    <p:extLst>
      <p:ext uri="{BB962C8B-B14F-4D97-AF65-F5344CB8AC3E}">
        <p14:creationId xmlns:p14="http://schemas.microsoft.com/office/powerpoint/2010/main" val="15990092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E57162-18FD-7F93-177F-3D55B41AEC31}"/>
              </a:ext>
            </a:extLst>
          </p:cNvPr>
          <p:cNvSpPr>
            <a:spLocks noGrp="1"/>
          </p:cNvSpPr>
          <p:nvPr>
            <p:ph type="title"/>
          </p:nvPr>
        </p:nvSpPr>
        <p:spPr/>
        <p:txBody>
          <a:bodyPr/>
          <a:lstStyle/>
          <a:p>
            <a:r>
              <a:rPr lang="en-US" dirty="0"/>
              <a:t>Alg. Policy Iteration</a:t>
            </a:r>
          </a:p>
        </p:txBody>
      </p:sp>
      <p:pic>
        <p:nvPicPr>
          <p:cNvPr id="5" name="Content Placeholder 4" descr="Algorithm box: Policy Iteration (using iterative policy evaluation) for estimating pi approximately pi star. 1. Initialization: V(s) in R and pi(s) in A(s) arbitrarily for all s in S; V(terminal) = 0. 2. Policy Evaluation: Loop: Delta ← 0; Loop for each s in S: v ← V(s); V(s) ← sum over s′, r of p(s′, r | s, pi(s)) [r + gamma V(s′)]; Delta ← max(Delta, |v − V(s)|); until Delta &lt; theta (a small positive number determining the accuracy of estimation). 3. Policy Improvement: policy-stable ← true; For each s in S: old-action ← pi(s); pi(s) ← argmax over a of sum over s′, r of p(s′, r | s, a) [r + gamma V(s′)]; If old-action ≠ pi(s), then policy-stable ← false. If policy-stable, then stop and return V ≈ v star and pi ≈ pi star; else go to 2.">
            <a:extLst>
              <a:ext uri="{FF2B5EF4-FFF2-40B4-BE49-F238E27FC236}">
                <a16:creationId xmlns:a16="http://schemas.microsoft.com/office/drawing/2014/main" id="{7BB67C0D-A372-0D64-BB80-32D4D2FCE8EA}"/>
              </a:ext>
            </a:extLst>
          </p:cNvPr>
          <p:cNvPicPr>
            <a:picLocks noGrp="1" noChangeAspect="1"/>
          </p:cNvPicPr>
          <p:nvPr>
            <p:ph idx="1"/>
          </p:nvPr>
        </p:nvPicPr>
        <p:blipFill>
          <a:blip r:embed="rId2"/>
          <a:stretch>
            <a:fillRect/>
          </a:stretch>
        </p:blipFill>
        <p:spPr>
          <a:xfrm>
            <a:off x="2671181" y="1397000"/>
            <a:ext cx="6849637" cy="4779963"/>
          </a:xfrm>
          <a:prstGeom prst="rect">
            <a:avLst/>
          </a:prstGeom>
        </p:spPr>
      </p:pic>
      <p:sp>
        <p:nvSpPr>
          <p:cNvPr id="3" name="Speech Bubble: Rectangle with Corners Rounded 2">
            <a:extLst>
              <a:ext uri="{FF2B5EF4-FFF2-40B4-BE49-F238E27FC236}">
                <a16:creationId xmlns:a16="http://schemas.microsoft.com/office/drawing/2014/main" id="{DBD8C865-4D7E-35E7-E0FA-305C8DD8611A}"/>
              </a:ext>
            </a:extLst>
          </p:cNvPr>
          <p:cNvSpPr/>
          <p:nvPr/>
        </p:nvSpPr>
        <p:spPr>
          <a:xfrm>
            <a:off x="6330998" y="2506070"/>
            <a:ext cx="3587689" cy="753857"/>
          </a:xfrm>
          <a:prstGeom prst="wedgeRoundRectCallout">
            <a:avLst>
              <a:gd name="adj1" fmla="val -123530"/>
              <a:gd name="adj2" fmla="val 527"/>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Just policy evaluation from before. </a:t>
            </a:r>
            <a:br>
              <a:rPr lang="en-US" sz="1600" dirty="0"/>
            </a:br>
            <a:r>
              <a:rPr lang="en-US" sz="1600" dirty="0"/>
              <a:t>We can also stop this loop early (modified policy iteration).</a:t>
            </a:r>
          </a:p>
        </p:txBody>
      </p:sp>
      <p:sp>
        <p:nvSpPr>
          <p:cNvPr id="4" name="Speech Bubble: Rectangle with Corners Rounded 3">
            <a:extLst>
              <a:ext uri="{FF2B5EF4-FFF2-40B4-BE49-F238E27FC236}">
                <a16:creationId xmlns:a16="http://schemas.microsoft.com/office/drawing/2014/main" id="{A8BE2AD8-D811-FC6E-9D2F-35BC6E1C23CB}"/>
              </a:ext>
            </a:extLst>
          </p:cNvPr>
          <p:cNvSpPr/>
          <p:nvPr/>
        </p:nvSpPr>
        <p:spPr>
          <a:xfrm>
            <a:off x="7237254" y="4641802"/>
            <a:ext cx="3683079" cy="557248"/>
          </a:xfrm>
          <a:prstGeom prst="wedgeRoundRectCallout">
            <a:avLst>
              <a:gd name="adj1" fmla="val -57774"/>
              <a:gd name="adj2" fmla="val 87946"/>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t>Picks the greedy action with the highest Q-value to improve the policy.</a:t>
            </a:r>
          </a:p>
        </p:txBody>
      </p:sp>
    </p:spTree>
    <p:extLst>
      <p:ext uri="{BB962C8B-B14F-4D97-AF65-F5344CB8AC3E}">
        <p14:creationId xmlns:p14="http://schemas.microsoft.com/office/powerpoint/2010/main" val="35471138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89A4790-D161-0E92-E9A9-5BEEA5CFC168}"/>
              </a:ext>
            </a:extLst>
          </p:cNvPr>
          <p:cNvSpPr>
            <a:spLocks noGrp="1"/>
          </p:cNvSpPr>
          <p:nvPr>
            <p:ph type="title"/>
          </p:nvPr>
        </p:nvSpPr>
        <p:spPr/>
        <p:txBody>
          <a:bodyPr/>
          <a:lstStyle/>
          <a:p>
            <a:r>
              <a:rPr lang="en-US" dirty="0"/>
              <a:t>Control: Value Iteration</a:t>
            </a:r>
          </a:p>
        </p:txBody>
      </p:sp>
      <p:sp>
        <p:nvSpPr>
          <p:cNvPr id="5" name="Text Placeholder 4">
            <a:extLst>
              <a:ext uri="{FF2B5EF4-FFF2-40B4-BE49-F238E27FC236}">
                <a16:creationId xmlns:a16="http://schemas.microsoft.com/office/drawing/2014/main" id="{55806331-75C8-8E65-5F2F-5059452CA020}"/>
              </a:ext>
            </a:extLst>
          </p:cNvPr>
          <p:cNvSpPr>
            <a:spLocks noGrp="1"/>
          </p:cNvSpPr>
          <p:nvPr>
            <p:ph type="body" idx="1"/>
          </p:nvPr>
        </p:nvSpPr>
        <p:spPr/>
        <p:txBody>
          <a:bodyPr/>
          <a:lstStyle/>
          <a:p>
            <a:r>
              <a:rPr lang="en-US" dirty="0"/>
              <a:t>Find the optimal value function based on the environment model.</a:t>
            </a:r>
          </a:p>
        </p:txBody>
      </p:sp>
    </p:spTree>
    <p:extLst>
      <p:ext uri="{BB962C8B-B14F-4D97-AF65-F5344CB8AC3E}">
        <p14:creationId xmlns:p14="http://schemas.microsoft.com/office/powerpoint/2010/main" val="5343925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A6D9EF-5990-B359-32C3-C72B2C6A06F5}"/>
              </a:ext>
            </a:extLst>
          </p:cNvPr>
          <p:cNvSpPr>
            <a:spLocks noGrp="1"/>
          </p:cNvSpPr>
          <p:nvPr>
            <p:ph type="title"/>
          </p:nvPr>
        </p:nvSpPr>
        <p:spPr/>
        <p:txBody>
          <a:bodyPr/>
          <a:lstStyle/>
          <a:p>
            <a:r>
              <a:rPr lang="en-US" dirty="0"/>
              <a:t>Value Iteration</a:t>
            </a:r>
          </a:p>
        </p:txBody>
      </p:sp>
      <mc:AlternateContent xmlns:mc="http://schemas.openxmlformats.org/markup-compatibility/2006" xmlns:a14="http://schemas.microsoft.com/office/drawing/2010/main">
        <mc:Choice Requires="a14">
          <p:sp>
            <p:nvSpPr>
              <p:cNvPr id="3" name="Content Placeholder 2" descr="Combines policy improvement and truncated policy evaluation into a single step. This is called the expected Bellman optimality update. v sub k plus 1, (s) is defined as max over a, of E [R sub t plus 1, plus gamma v sub k (S sub t plus 1) | S sub t equals s,A sub t equals a]; equals max over a the sum over s prime,r, of p (s prime,r | s,a)[r plus gamma v sub k (s prime)]. Written as the Bellman optimality operator:. (T star v) (s) equals max over a the sum over s prime,r, of p (s prime,r | s,a)[r plus gamma v (s prime)]. Guarantee: T star is a non-linear operator, but it is also gamma -contracting. The Sequence {v sub k} converges to v sub star">
                <a:extLst>
                  <a:ext uri="{FF2B5EF4-FFF2-40B4-BE49-F238E27FC236}">
                    <a16:creationId xmlns:a16="http://schemas.microsoft.com/office/drawing/2014/main" id="{F13D67A5-12C4-DAB0-8869-5122697A558D}"/>
                  </a:ext>
                </a:extLst>
              </p:cNvPr>
              <p:cNvSpPr>
                <a:spLocks noGrp="1"/>
              </p:cNvSpPr>
              <p:nvPr>
                <p:ph idx="1"/>
              </p:nvPr>
            </p:nvSpPr>
            <p:spPr>
              <a:xfrm>
                <a:off x="838200" y="1397330"/>
                <a:ext cx="7990869" cy="4759161"/>
              </a:xfrm>
            </p:spPr>
            <p:txBody>
              <a:bodyPr>
                <a:normAutofit fontScale="85000" lnSpcReduction="10000"/>
              </a:bodyPr>
              <a:lstStyle/>
              <a:p>
                <a:r>
                  <a:rPr lang="en-US" sz="2400" dirty="0"/>
                  <a:t>Combines policy improvement and truncated policy evaluation into a single step. This is called the </a:t>
                </a:r>
                <a:r>
                  <a:rPr lang="en-US" sz="2400" b="1" dirty="0"/>
                  <a:t>expected Bellman optimality update</a:t>
                </a:r>
                <a:r>
                  <a:rPr lang="en-US" sz="2400" dirty="0"/>
                  <a:t>.</a:t>
                </a:r>
              </a:p>
              <a:p>
                <a:endParaRPr lang="en-US" sz="2400" dirty="0"/>
              </a:p>
              <a:p>
                <a:pPr marL="0" indent="0">
                  <a:buNone/>
                </a:pPr>
                <a14:m>
                  <m:oMathPara xmlns:m="http://schemas.openxmlformats.org/officeDocument/2006/math">
                    <m:oMath>
                      <m:sSub>
                        <m:sSubPr>
                          <m:ctrlPr>
                            <a:rPr lang="en-US" sz="2400" i="1">
                              <a:latin typeface="Cambria Math" panose="02040503050406030204" pitchFamily="18" charset="0"/>
                            </a:rPr>
                          </m:ctrlPr>
                        </m:sSubPr>
                        <m:e>
                          <m:r>
                            <a:rPr lang="en-US" sz="2400" i="1">
                              <a:latin typeface="Cambria Math" panose="02040503050406030204" pitchFamily="18" charset="0"/>
                            </a:rPr>
                            <m:t>𝑣</m:t>
                          </m:r>
                        </m:e>
                        <m:sub>
                          <m:r>
                            <a:rPr lang="en-US" sz="2400" i="1">
                              <a:latin typeface="Cambria Math" panose="02040503050406030204" pitchFamily="18" charset="0"/>
                            </a:rPr>
                            <m:t>𝑘</m:t>
                          </m:r>
                          <m:r>
                            <a:rPr lang="en-US" sz="2400" i="1">
                              <a:latin typeface="Cambria Math" panose="02040503050406030204" pitchFamily="18" charset="0"/>
                            </a:rPr>
                            <m:t>+1</m:t>
                          </m:r>
                        </m:sub>
                      </m:sSub>
                      <m:d>
                        <m:dPr>
                          <m:ctrlPr>
                            <a:rPr lang="en-US" sz="2400" i="1">
                              <a:latin typeface="Cambria Math" panose="02040503050406030204" pitchFamily="18" charset="0"/>
                            </a:rPr>
                          </m:ctrlPr>
                        </m:dPr>
                        <m:e>
                          <m:r>
                            <a:rPr lang="en-US" sz="2400" i="1">
                              <a:latin typeface="Cambria Math" panose="02040503050406030204" pitchFamily="18" charset="0"/>
                            </a:rPr>
                            <m:t>𝑠</m:t>
                          </m:r>
                        </m:e>
                      </m:d>
                      <m:r>
                        <m:rPr>
                          <m:aln/>
                        </m:rPr>
                        <a:rPr lang="en-US" sz="2400" i="1">
                          <a:latin typeface="Cambria Math" panose="02040503050406030204" pitchFamily="18" charset="0"/>
                        </a:rPr>
                        <m:t>≝</m:t>
                      </m:r>
                      <m:func>
                        <m:funcPr>
                          <m:ctrlPr>
                            <a:rPr lang="en-US" sz="2400" i="1" smtClean="0">
                              <a:latin typeface="Cambria Math" panose="02040503050406030204" pitchFamily="18" charset="0"/>
                            </a:rPr>
                          </m:ctrlPr>
                        </m:funcPr>
                        <m:fName>
                          <m:limLow>
                            <m:limLowPr>
                              <m:ctrlPr>
                                <a:rPr lang="en-US" sz="2400" i="0" smtClean="0">
                                  <a:latin typeface="Cambria Math" panose="02040503050406030204" pitchFamily="18" charset="0"/>
                                </a:rPr>
                              </m:ctrlPr>
                            </m:limLowPr>
                            <m:e>
                              <m:r>
                                <m:rPr>
                                  <m:sty m:val="p"/>
                                </m:rPr>
                                <a:rPr lang="en-US" sz="2400" i="0" smtClean="0">
                                  <a:latin typeface="Cambria Math" panose="02040503050406030204" pitchFamily="18" charset="0"/>
                                </a:rPr>
                                <m:t>max</m:t>
                              </m:r>
                            </m:e>
                            <m:lim>
                              <m:r>
                                <a:rPr lang="en-US" sz="2400" b="0" i="1" smtClean="0">
                                  <a:latin typeface="Cambria Math" panose="02040503050406030204" pitchFamily="18" charset="0"/>
                                </a:rPr>
                                <m:t>𝑎</m:t>
                              </m:r>
                            </m:lim>
                          </m:limLow>
                        </m:fName>
                        <m:e>
                          <m:r>
                            <a:rPr lang="en-US" sz="2400" i="1">
                              <a:latin typeface="Cambria Math" panose="02040503050406030204" pitchFamily="18" charset="0"/>
                              <a:ea typeface="Cambria Math" panose="02040503050406030204" pitchFamily="18" charset="0"/>
                            </a:rPr>
                            <m:t>𝔼</m:t>
                          </m:r>
                          <m:d>
                            <m:dPr>
                              <m:begChr m:val="["/>
                              <m:endChr m:val="|"/>
                              <m:ctrlPr>
                                <a:rPr lang="en-US" sz="2400" i="1">
                                  <a:latin typeface="Cambria Math" panose="02040503050406030204" pitchFamily="18" charset="0"/>
                                  <a:ea typeface="Cambria Math" panose="02040503050406030204" pitchFamily="18" charset="0"/>
                                </a:rPr>
                              </m:ctrlPr>
                            </m:dPr>
                            <m:e>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𝑅</m:t>
                                  </m:r>
                                </m:e>
                                <m:sub>
                                  <m:r>
                                    <a:rPr lang="en-US" sz="2400" i="1">
                                      <a:latin typeface="Cambria Math" panose="02040503050406030204" pitchFamily="18" charset="0"/>
                                      <a:ea typeface="Cambria Math" panose="02040503050406030204" pitchFamily="18" charset="0"/>
                                    </a:rPr>
                                    <m:t>𝑡</m:t>
                                  </m:r>
                                  <m:r>
                                    <a:rPr lang="en-US" sz="2400" i="1">
                                      <a:latin typeface="Cambria Math" panose="02040503050406030204" pitchFamily="18" charset="0"/>
                                      <a:ea typeface="Cambria Math" panose="02040503050406030204" pitchFamily="18" charset="0"/>
                                    </a:rPr>
                                    <m:t>+1</m:t>
                                  </m:r>
                                </m:sub>
                              </m:sSub>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𝛾</m:t>
                              </m:r>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𝑣</m:t>
                                  </m:r>
                                </m:e>
                                <m:sub>
                                  <m:r>
                                    <a:rPr lang="en-US" sz="2400" i="1">
                                      <a:latin typeface="Cambria Math" panose="02040503050406030204" pitchFamily="18" charset="0"/>
                                      <a:ea typeface="Cambria Math" panose="02040503050406030204" pitchFamily="18" charset="0"/>
                                    </a:rPr>
                                    <m:t>𝑘</m:t>
                                  </m:r>
                                </m:sub>
                              </m:sSub>
                              <m:d>
                                <m:dPr>
                                  <m:ctrlPr>
                                    <a:rPr lang="en-US" sz="2400" i="1">
                                      <a:latin typeface="Cambria Math" panose="02040503050406030204" pitchFamily="18" charset="0"/>
                                      <a:ea typeface="Cambria Math" panose="02040503050406030204" pitchFamily="18" charset="0"/>
                                    </a:rPr>
                                  </m:ctrlPr>
                                </m:dPr>
                                <m:e>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𝑆</m:t>
                                      </m:r>
                                    </m:e>
                                    <m:sub>
                                      <m:r>
                                        <a:rPr lang="en-US" sz="2400" i="1">
                                          <a:latin typeface="Cambria Math" panose="02040503050406030204" pitchFamily="18" charset="0"/>
                                          <a:ea typeface="Cambria Math" panose="02040503050406030204" pitchFamily="18" charset="0"/>
                                        </a:rPr>
                                        <m:t>𝑡</m:t>
                                      </m:r>
                                      <m:r>
                                        <a:rPr lang="en-US" sz="2400" i="1">
                                          <a:latin typeface="Cambria Math" panose="02040503050406030204" pitchFamily="18" charset="0"/>
                                          <a:ea typeface="Cambria Math" panose="02040503050406030204" pitchFamily="18" charset="0"/>
                                        </a:rPr>
                                        <m:t>+1</m:t>
                                      </m:r>
                                    </m:sub>
                                  </m:sSub>
                                </m:e>
                              </m:d>
                            </m:e>
                          </m:d>
                          <m:sSub>
                            <m:sSubPr>
                              <m:ctrlPr>
                                <a:rPr lang="en-US" sz="2400" i="1">
                                  <a:latin typeface="Cambria Math" panose="02040503050406030204" pitchFamily="18" charset="0"/>
                                  <a:ea typeface="Cambria Math" panose="02040503050406030204" pitchFamily="18" charset="0"/>
                                </a:rPr>
                              </m:ctrlPr>
                            </m:sSubPr>
                            <m:e>
                              <m:r>
                                <a:rPr lang="en-US" sz="2400" i="1">
                                  <a:latin typeface="Cambria Math" panose="02040503050406030204" pitchFamily="18" charset="0"/>
                                  <a:ea typeface="Cambria Math" panose="02040503050406030204" pitchFamily="18" charset="0"/>
                                </a:rPr>
                                <m:t>𝑆</m:t>
                              </m:r>
                            </m:e>
                            <m:sub>
                              <m:r>
                                <a:rPr lang="en-US" sz="2400" i="1">
                                  <a:latin typeface="Cambria Math" panose="02040503050406030204" pitchFamily="18" charset="0"/>
                                  <a:ea typeface="Cambria Math" panose="02040503050406030204" pitchFamily="18" charset="0"/>
                                </a:rPr>
                                <m:t>𝑡</m:t>
                              </m:r>
                            </m:sub>
                          </m:sSub>
                          <m:r>
                            <a:rPr lang="en-US" sz="2400" i="1">
                              <a:latin typeface="Cambria Math" panose="02040503050406030204" pitchFamily="18" charset="0"/>
                              <a:ea typeface="Cambria Math" panose="02040503050406030204" pitchFamily="18" charset="0"/>
                            </a:rPr>
                            <m:t>=</m:t>
                          </m:r>
                          <m:r>
                            <a:rPr lang="en-US" sz="2400" i="1">
                              <a:latin typeface="Cambria Math" panose="02040503050406030204" pitchFamily="18" charset="0"/>
                              <a:ea typeface="Cambria Math" panose="02040503050406030204" pitchFamily="18" charset="0"/>
                            </a:rPr>
                            <m:t>𝑠</m:t>
                          </m:r>
                          <m:r>
                            <a:rPr lang="en-US" sz="2400" b="0" i="1" smtClean="0">
                              <a:latin typeface="Cambria Math" panose="02040503050406030204" pitchFamily="18" charset="0"/>
                              <a:ea typeface="Cambria Math" panose="02040503050406030204" pitchFamily="18" charset="0"/>
                            </a:rPr>
                            <m:t>,</m:t>
                          </m:r>
                          <m:sSub>
                            <m:sSubPr>
                              <m:ctrlPr>
                                <a:rPr lang="en-US" sz="2400" b="0" i="1" smtClean="0">
                                  <a:latin typeface="Cambria Math" panose="02040503050406030204" pitchFamily="18" charset="0"/>
                                  <a:ea typeface="Cambria Math" panose="02040503050406030204" pitchFamily="18" charset="0"/>
                                </a:rPr>
                              </m:ctrlPr>
                            </m:sSubPr>
                            <m:e>
                              <m:r>
                                <a:rPr lang="en-US" sz="2400" b="0" i="1" smtClean="0">
                                  <a:latin typeface="Cambria Math" panose="02040503050406030204" pitchFamily="18" charset="0"/>
                                  <a:ea typeface="Cambria Math" panose="02040503050406030204" pitchFamily="18" charset="0"/>
                                </a:rPr>
                                <m:t>𝐴</m:t>
                              </m:r>
                            </m:e>
                            <m:sub>
                              <m:r>
                                <a:rPr lang="en-US" sz="2400" b="0" i="1" smtClean="0">
                                  <a:latin typeface="Cambria Math" panose="02040503050406030204" pitchFamily="18" charset="0"/>
                                  <a:ea typeface="Cambria Math" panose="02040503050406030204" pitchFamily="18" charset="0"/>
                                </a:rPr>
                                <m:t>𝑡</m:t>
                              </m:r>
                            </m:sub>
                          </m:sSub>
                          <m:r>
                            <a:rPr lang="en-US" sz="2400" b="0" i="1" smtClean="0">
                              <a:latin typeface="Cambria Math" panose="02040503050406030204" pitchFamily="18" charset="0"/>
                              <a:ea typeface="Cambria Math" panose="02040503050406030204" pitchFamily="18" charset="0"/>
                            </a:rPr>
                            <m:t>=</m:t>
                          </m:r>
                          <m:r>
                            <a:rPr lang="en-US" sz="2400" b="0" i="1" smtClean="0">
                              <a:latin typeface="Cambria Math" panose="02040503050406030204" pitchFamily="18" charset="0"/>
                              <a:ea typeface="Cambria Math" panose="02040503050406030204" pitchFamily="18" charset="0"/>
                            </a:rPr>
                            <m:t>𝑎</m:t>
                          </m:r>
                          <m:r>
                            <a:rPr lang="en-US" sz="2400" i="1">
                              <a:latin typeface="Cambria Math" panose="02040503050406030204" pitchFamily="18" charset="0"/>
                              <a:ea typeface="Cambria Math" panose="02040503050406030204" pitchFamily="18" charset="0"/>
                            </a:rPr>
                            <m:t>]</m:t>
                          </m:r>
                          <m:r>
                            <m:rPr>
                              <m:nor/>
                            </m:rPr>
                            <a:rPr lang="en-US" sz="2400" i="1" dirty="0">
                              <a:latin typeface="Cambria Math" panose="02040503050406030204" pitchFamily="18" charset="0"/>
                              <a:ea typeface="Cambria Math" panose="02040503050406030204" pitchFamily="18" charset="0"/>
                            </a:rPr>
                            <m:t> </m:t>
                          </m:r>
                        </m:e>
                      </m:func>
                    </m:oMath>
                    <m:oMath>
                      <m:r>
                        <m:rPr>
                          <m:aln/>
                        </m:rPr>
                        <a:rPr lang="en-US" sz="2400" i="1">
                          <a:latin typeface="Cambria Math" panose="02040503050406030204" pitchFamily="18" charset="0"/>
                        </a:rPr>
                        <m:t>=</m:t>
                      </m:r>
                      <m:limLow>
                        <m:limLowPr>
                          <m:ctrlPr>
                            <a:rPr lang="en-US" sz="2400">
                              <a:latin typeface="Cambria Math" panose="02040503050406030204" pitchFamily="18" charset="0"/>
                            </a:rPr>
                          </m:ctrlPr>
                        </m:limLowPr>
                        <m:e>
                          <m:r>
                            <m:rPr>
                              <m:sty m:val="p"/>
                            </m:rPr>
                            <a:rPr lang="en-US" sz="2400">
                              <a:latin typeface="Cambria Math" panose="02040503050406030204" pitchFamily="18" charset="0"/>
                            </a:rPr>
                            <m:t>max</m:t>
                          </m:r>
                        </m:e>
                        <m:lim>
                          <m:r>
                            <a:rPr lang="en-US" sz="2400" i="1">
                              <a:latin typeface="Cambria Math" panose="02040503050406030204" pitchFamily="18" charset="0"/>
                            </a:rPr>
                            <m:t>𝑎</m:t>
                          </m:r>
                        </m:lim>
                      </m:limLow>
                      <m:nary>
                        <m:naryPr>
                          <m:chr m:val="∑"/>
                          <m:supHide m:val="on"/>
                          <m:ctrlPr>
                            <a:rPr lang="en-US" sz="2400" i="1">
                              <a:latin typeface="Cambria Math" panose="02040503050406030204" pitchFamily="18" charset="0"/>
                            </a:rPr>
                          </m:ctrlPr>
                        </m:naryPr>
                        <m:sub>
                          <m:sSup>
                            <m:sSupPr>
                              <m:ctrlPr>
                                <a:rPr lang="en-US" sz="2400" i="1">
                                  <a:latin typeface="Cambria Math" panose="02040503050406030204" pitchFamily="18" charset="0"/>
                                </a:rPr>
                              </m:ctrlPr>
                            </m:sSupPr>
                            <m:e>
                              <m:r>
                                <a:rPr lang="en-US" sz="2400" i="1">
                                  <a:latin typeface="Cambria Math" panose="02040503050406030204" pitchFamily="18" charset="0"/>
                                </a:rPr>
                                <m:t>𝑠</m:t>
                              </m:r>
                            </m:e>
                            <m:sup>
                              <m:r>
                                <a:rPr lang="en-US" sz="2400" i="1">
                                  <a:latin typeface="Cambria Math" panose="02040503050406030204" pitchFamily="18" charset="0"/>
                                </a:rPr>
                                <m:t>′</m:t>
                              </m:r>
                            </m:sup>
                          </m:sSup>
                          <m:r>
                            <a:rPr lang="en-US" sz="2400" i="1">
                              <a:latin typeface="Cambria Math" panose="02040503050406030204" pitchFamily="18" charset="0"/>
                            </a:rPr>
                            <m:t>,</m:t>
                          </m:r>
                          <m:r>
                            <a:rPr lang="en-US" sz="2400" i="1">
                              <a:latin typeface="Cambria Math" panose="02040503050406030204" pitchFamily="18" charset="0"/>
                            </a:rPr>
                            <m:t>𝑟</m:t>
                          </m:r>
                        </m:sub>
                        <m:sup/>
                        <m:e>
                          <m:r>
                            <a:rPr lang="en-US" sz="2400" i="1">
                              <a:latin typeface="Cambria Math" panose="02040503050406030204" pitchFamily="18" charset="0"/>
                            </a:rPr>
                            <m:t>𝑝</m:t>
                          </m:r>
                          <m:d>
                            <m:dPr>
                              <m:endChr m:val="|"/>
                              <m:ctrlPr>
                                <a:rPr lang="en-US" sz="2400" i="1">
                                  <a:latin typeface="Cambria Math" panose="02040503050406030204" pitchFamily="18" charset="0"/>
                                </a:rPr>
                              </m:ctrlPr>
                            </m:dPr>
                            <m:e>
                              <m:sSup>
                                <m:sSupPr>
                                  <m:ctrlPr>
                                    <a:rPr lang="en-US" sz="2400" i="1">
                                      <a:latin typeface="Cambria Math" panose="02040503050406030204" pitchFamily="18" charset="0"/>
                                    </a:rPr>
                                  </m:ctrlPr>
                                </m:sSupPr>
                                <m:e>
                                  <m:r>
                                    <a:rPr lang="en-US" sz="2400" i="1">
                                      <a:latin typeface="Cambria Math" panose="02040503050406030204" pitchFamily="18" charset="0"/>
                                    </a:rPr>
                                    <m:t>𝑠</m:t>
                                  </m:r>
                                </m:e>
                                <m:sup>
                                  <m:r>
                                    <a:rPr lang="en-US" sz="2400" i="1">
                                      <a:latin typeface="Cambria Math" panose="02040503050406030204" pitchFamily="18" charset="0"/>
                                    </a:rPr>
                                    <m:t>′</m:t>
                                  </m:r>
                                </m:sup>
                              </m:sSup>
                              <m:r>
                                <a:rPr lang="en-US" sz="2400" i="1">
                                  <a:latin typeface="Cambria Math" panose="02040503050406030204" pitchFamily="18" charset="0"/>
                                </a:rPr>
                                <m:t>,</m:t>
                              </m:r>
                              <m:r>
                                <a:rPr lang="en-US" sz="2400" i="1">
                                  <a:latin typeface="Cambria Math" panose="02040503050406030204" pitchFamily="18" charset="0"/>
                                </a:rPr>
                                <m:t>𝑟</m:t>
                              </m:r>
                              <m:r>
                                <a:rPr lang="en-US" sz="2400" i="1">
                                  <a:latin typeface="Cambria Math" panose="02040503050406030204" pitchFamily="18" charset="0"/>
                                </a:rPr>
                                <m:t> </m:t>
                              </m:r>
                            </m:e>
                          </m:d>
                          <m:r>
                            <a:rPr lang="en-US" sz="2400" i="1">
                              <a:latin typeface="Cambria Math" panose="02040503050406030204" pitchFamily="18" charset="0"/>
                            </a:rPr>
                            <m:t>𝑠</m:t>
                          </m:r>
                          <m:r>
                            <a:rPr lang="en-US" sz="2400" i="1">
                              <a:latin typeface="Cambria Math" panose="02040503050406030204" pitchFamily="18" charset="0"/>
                            </a:rPr>
                            <m:t>,</m:t>
                          </m:r>
                          <m:r>
                            <a:rPr lang="en-US" sz="2400" i="1">
                              <a:latin typeface="Cambria Math" panose="02040503050406030204" pitchFamily="18" charset="0"/>
                            </a:rPr>
                            <m:t>𝑎</m:t>
                          </m:r>
                          <m:r>
                            <a:rPr lang="en-US" sz="2400" i="1">
                              <a:latin typeface="Cambria Math" panose="02040503050406030204" pitchFamily="18" charset="0"/>
                            </a:rPr>
                            <m:t>)[</m:t>
                          </m:r>
                          <m:r>
                            <a:rPr lang="en-US" sz="2400" i="1">
                              <a:latin typeface="Cambria Math" panose="02040503050406030204" pitchFamily="18" charset="0"/>
                            </a:rPr>
                            <m:t>𝑟</m:t>
                          </m:r>
                          <m:r>
                            <a:rPr lang="en-US" sz="2400" i="1">
                              <a:latin typeface="Cambria Math" panose="02040503050406030204" pitchFamily="18" charset="0"/>
                            </a:rPr>
                            <m:t>+</m:t>
                          </m:r>
                          <m:r>
                            <a:rPr lang="en-US" sz="2400" i="1">
                              <a:latin typeface="Cambria Math" panose="02040503050406030204" pitchFamily="18" charset="0"/>
                            </a:rPr>
                            <m:t>𝛾</m:t>
                          </m:r>
                          <m:sSub>
                            <m:sSubPr>
                              <m:ctrlPr>
                                <a:rPr lang="en-US" sz="2400" i="1">
                                  <a:latin typeface="Cambria Math" panose="02040503050406030204" pitchFamily="18" charset="0"/>
                                </a:rPr>
                              </m:ctrlPr>
                            </m:sSubPr>
                            <m:e>
                              <m:r>
                                <a:rPr lang="en-US" sz="2400" i="1">
                                  <a:latin typeface="Cambria Math" panose="02040503050406030204" pitchFamily="18" charset="0"/>
                                </a:rPr>
                                <m:t>𝑣</m:t>
                              </m:r>
                            </m:e>
                            <m:sub>
                              <m:r>
                                <a:rPr lang="en-US" sz="2400" i="1">
                                  <a:latin typeface="Cambria Math" panose="02040503050406030204" pitchFamily="18" charset="0"/>
                                </a:rPr>
                                <m:t>𝑘</m:t>
                              </m:r>
                            </m:sub>
                          </m:sSub>
                          <m:d>
                            <m:dPr>
                              <m:ctrlPr>
                                <a:rPr lang="en-US" sz="2400" i="1">
                                  <a:latin typeface="Cambria Math" panose="02040503050406030204" pitchFamily="18" charset="0"/>
                                </a:rPr>
                              </m:ctrlPr>
                            </m:dPr>
                            <m:e>
                              <m:sSup>
                                <m:sSupPr>
                                  <m:ctrlPr>
                                    <a:rPr lang="en-US" sz="2400" i="1">
                                      <a:latin typeface="Cambria Math" panose="02040503050406030204" pitchFamily="18" charset="0"/>
                                    </a:rPr>
                                  </m:ctrlPr>
                                </m:sSupPr>
                                <m:e>
                                  <m:r>
                                    <a:rPr lang="en-US" sz="2400" i="1">
                                      <a:latin typeface="Cambria Math" panose="02040503050406030204" pitchFamily="18" charset="0"/>
                                    </a:rPr>
                                    <m:t>𝑠</m:t>
                                  </m:r>
                                </m:e>
                                <m:sup>
                                  <m:r>
                                    <a:rPr lang="en-US" sz="2400" i="1">
                                      <a:latin typeface="Cambria Math" panose="02040503050406030204" pitchFamily="18" charset="0"/>
                                    </a:rPr>
                                    <m:t>′</m:t>
                                  </m:r>
                                </m:sup>
                              </m:sSup>
                            </m:e>
                          </m:d>
                          <m:r>
                            <a:rPr lang="en-US" sz="2400" i="1">
                              <a:latin typeface="Cambria Math" panose="02040503050406030204" pitchFamily="18" charset="0"/>
                            </a:rPr>
                            <m:t>]</m:t>
                          </m:r>
                        </m:e>
                      </m:nary>
                    </m:oMath>
                  </m:oMathPara>
                </a14:m>
                <a:endParaRPr lang="en-US" sz="2400" i="1" dirty="0">
                  <a:latin typeface="Cambria Math" panose="02040503050406030204" pitchFamily="18" charset="0"/>
                </a:endParaRPr>
              </a:p>
              <a:p>
                <a:endParaRPr lang="en-US" sz="2400" dirty="0"/>
              </a:p>
              <a:p>
                <a:r>
                  <a:rPr lang="en-US" sz="2400" dirty="0"/>
                  <a:t>Written as the </a:t>
                </a:r>
                <a:r>
                  <a:rPr lang="en-US" sz="2400" b="1" dirty="0"/>
                  <a:t>Bellman optimality operator</a:t>
                </a:r>
                <a:r>
                  <a:rPr lang="en-US" sz="2400" dirty="0"/>
                  <a:t>:</a:t>
                </a:r>
              </a:p>
              <a:p>
                <a:pPr marL="0" indent="0">
                  <a:buNone/>
                </a:pPr>
                <a14:m>
                  <m:oMathPara xmlns:m="http://schemas.openxmlformats.org/officeDocument/2006/math">
                    <m:oMath>
                      <m:d>
                        <m:dPr>
                          <m:ctrlPr>
                            <a:rPr lang="en-US" sz="2400" b="0" i="1" smtClean="0">
                              <a:latin typeface="Cambria Math" panose="02040503050406030204" pitchFamily="18" charset="0"/>
                            </a:rPr>
                          </m:ctrlPr>
                        </m:dPr>
                        <m:e>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𝑇</m:t>
                              </m:r>
                            </m:e>
                            <m:sup>
                              <m:r>
                                <a:rPr lang="en-US" sz="2400" b="0" i="1" smtClean="0">
                                  <a:latin typeface="Cambria Math" panose="02040503050406030204" pitchFamily="18" charset="0"/>
                                </a:rPr>
                                <m:t>∗</m:t>
                              </m:r>
                            </m:sup>
                          </m:sSup>
                          <m:r>
                            <a:rPr lang="en-US" sz="2400" b="0" i="1" smtClean="0">
                              <a:latin typeface="Cambria Math" panose="02040503050406030204" pitchFamily="18" charset="0"/>
                            </a:rPr>
                            <m:t>𝑣</m:t>
                          </m:r>
                        </m:e>
                      </m:d>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𝑠</m:t>
                          </m:r>
                        </m:e>
                      </m:d>
                      <m:r>
                        <a:rPr lang="en-US" sz="2400" b="0" i="1" smtClean="0">
                          <a:latin typeface="Cambria Math" panose="02040503050406030204" pitchFamily="18" charset="0"/>
                        </a:rPr>
                        <m:t>=</m:t>
                      </m:r>
                      <m:limLow>
                        <m:limLowPr>
                          <m:ctrlPr>
                            <a:rPr lang="en-US" sz="2400">
                              <a:latin typeface="Cambria Math" panose="02040503050406030204" pitchFamily="18" charset="0"/>
                            </a:rPr>
                          </m:ctrlPr>
                        </m:limLowPr>
                        <m:e>
                          <m:r>
                            <m:rPr>
                              <m:sty m:val="p"/>
                            </m:rPr>
                            <a:rPr lang="en-US" sz="2400">
                              <a:latin typeface="Cambria Math" panose="02040503050406030204" pitchFamily="18" charset="0"/>
                            </a:rPr>
                            <m:t>max</m:t>
                          </m:r>
                        </m:e>
                        <m:lim>
                          <m:r>
                            <a:rPr lang="en-US" sz="2400" i="1">
                              <a:latin typeface="Cambria Math" panose="02040503050406030204" pitchFamily="18" charset="0"/>
                            </a:rPr>
                            <m:t>𝑎</m:t>
                          </m:r>
                        </m:lim>
                      </m:limLow>
                      <m:nary>
                        <m:naryPr>
                          <m:chr m:val="∑"/>
                          <m:supHide m:val="on"/>
                          <m:ctrlPr>
                            <a:rPr lang="en-US" sz="2400" i="1">
                              <a:latin typeface="Cambria Math" panose="02040503050406030204" pitchFamily="18" charset="0"/>
                            </a:rPr>
                          </m:ctrlPr>
                        </m:naryPr>
                        <m:sub>
                          <m:sSup>
                            <m:sSupPr>
                              <m:ctrlPr>
                                <a:rPr lang="en-US" sz="2400" i="1">
                                  <a:latin typeface="Cambria Math" panose="02040503050406030204" pitchFamily="18" charset="0"/>
                                </a:rPr>
                              </m:ctrlPr>
                            </m:sSupPr>
                            <m:e>
                              <m:r>
                                <a:rPr lang="en-US" sz="2400" i="1">
                                  <a:latin typeface="Cambria Math" panose="02040503050406030204" pitchFamily="18" charset="0"/>
                                </a:rPr>
                                <m:t>𝑠</m:t>
                              </m:r>
                            </m:e>
                            <m:sup>
                              <m:r>
                                <a:rPr lang="en-US" sz="2400" i="1">
                                  <a:latin typeface="Cambria Math" panose="02040503050406030204" pitchFamily="18" charset="0"/>
                                </a:rPr>
                                <m:t>′</m:t>
                              </m:r>
                            </m:sup>
                          </m:sSup>
                          <m:r>
                            <a:rPr lang="en-US" sz="2400" i="1">
                              <a:latin typeface="Cambria Math" panose="02040503050406030204" pitchFamily="18" charset="0"/>
                            </a:rPr>
                            <m:t>,</m:t>
                          </m:r>
                          <m:r>
                            <a:rPr lang="en-US" sz="2400" i="1">
                              <a:latin typeface="Cambria Math" panose="02040503050406030204" pitchFamily="18" charset="0"/>
                            </a:rPr>
                            <m:t>𝑟</m:t>
                          </m:r>
                        </m:sub>
                        <m:sup/>
                        <m:e>
                          <m:r>
                            <a:rPr lang="en-US" sz="2400" i="1">
                              <a:latin typeface="Cambria Math" panose="02040503050406030204" pitchFamily="18" charset="0"/>
                            </a:rPr>
                            <m:t>𝑝</m:t>
                          </m:r>
                          <m:d>
                            <m:dPr>
                              <m:endChr m:val="|"/>
                              <m:ctrlPr>
                                <a:rPr lang="en-US" sz="2400" i="1">
                                  <a:latin typeface="Cambria Math" panose="02040503050406030204" pitchFamily="18" charset="0"/>
                                </a:rPr>
                              </m:ctrlPr>
                            </m:dPr>
                            <m:e>
                              <m:sSup>
                                <m:sSupPr>
                                  <m:ctrlPr>
                                    <a:rPr lang="en-US" sz="2400" i="1">
                                      <a:latin typeface="Cambria Math" panose="02040503050406030204" pitchFamily="18" charset="0"/>
                                    </a:rPr>
                                  </m:ctrlPr>
                                </m:sSupPr>
                                <m:e>
                                  <m:r>
                                    <a:rPr lang="en-US" sz="2400" i="1">
                                      <a:latin typeface="Cambria Math" panose="02040503050406030204" pitchFamily="18" charset="0"/>
                                    </a:rPr>
                                    <m:t>𝑠</m:t>
                                  </m:r>
                                </m:e>
                                <m:sup>
                                  <m:r>
                                    <a:rPr lang="en-US" sz="2400" i="1">
                                      <a:latin typeface="Cambria Math" panose="02040503050406030204" pitchFamily="18" charset="0"/>
                                    </a:rPr>
                                    <m:t>′</m:t>
                                  </m:r>
                                </m:sup>
                              </m:sSup>
                              <m:r>
                                <a:rPr lang="en-US" sz="2400" i="1">
                                  <a:latin typeface="Cambria Math" panose="02040503050406030204" pitchFamily="18" charset="0"/>
                                </a:rPr>
                                <m:t>,</m:t>
                              </m:r>
                              <m:r>
                                <a:rPr lang="en-US" sz="2400" i="1">
                                  <a:latin typeface="Cambria Math" panose="02040503050406030204" pitchFamily="18" charset="0"/>
                                </a:rPr>
                                <m:t>𝑟</m:t>
                              </m:r>
                              <m:r>
                                <a:rPr lang="en-US" sz="2400" i="1">
                                  <a:latin typeface="Cambria Math" panose="02040503050406030204" pitchFamily="18" charset="0"/>
                                </a:rPr>
                                <m:t> </m:t>
                              </m:r>
                            </m:e>
                          </m:d>
                          <m:r>
                            <a:rPr lang="en-US" sz="2400" i="1">
                              <a:latin typeface="Cambria Math" panose="02040503050406030204" pitchFamily="18" charset="0"/>
                            </a:rPr>
                            <m:t>𝑠</m:t>
                          </m:r>
                          <m:r>
                            <a:rPr lang="en-US" sz="2400" i="1">
                              <a:latin typeface="Cambria Math" panose="02040503050406030204" pitchFamily="18" charset="0"/>
                            </a:rPr>
                            <m:t>,</m:t>
                          </m:r>
                          <m:r>
                            <a:rPr lang="en-US" sz="2400" i="1">
                              <a:latin typeface="Cambria Math" panose="02040503050406030204" pitchFamily="18" charset="0"/>
                            </a:rPr>
                            <m:t>𝑎</m:t>
                          </m:r>
                          <m:r>
                            <a:rPr lang="en-US" sz="2400" i="1">
                              <a:latin typeface="Cambria Math" panose="02040503050406030204" pitchFamily="18" charset="0"/>
                            </a:rPr>
                            <m:t>)[</m:t>
                          </m:r>
                          <m:r>
                            <a:rPr lang="en-US" sz="2400" i="1">
                              <a:latin typeface="Cambria Math" panose="02040503050406030204" pitchFamily="18" charset="0"/>
                            </a:rPr>
                            <m:t>𝑟</m:t>
                          </m:r>
                          <m:r>
                            <a:rPr lang="en-US" sz="2400" i="1">
                              <a:latin typeface="Cambria Math" panose="02040503050406030204" pitchFamily="18" charset="0"/>
                            </a:rPr>
                            <m:t>+</m:t>
                          </m:r>
                          <m:r>
                            <a:rPr lang="en-US" sz="2400" i="1">
                              <a:latin typeface="Cambria Math" panose="02040503050406030204" pitchFamily="18" charset="0"/>
                            </a:rPr>
                            <m:t>𝛾</m:t>
                          </m:r>
                          <m:r>
                            <a:rPr lang="en-US" sz="2400" b="0" i="1" smtClean="0">
                              <a:latin typeface="Cambria Math" panose="02040503050406030204" pitchFamily="18" charset="0"/>
                            </a:rPr>
                            <m:t>𝑣</m:t>
                          </m:r>
                          <m:d>
                            <m:dPr>
                              <m:ctrlPr>
                                <a:rPr lang="en-US" sz="2400" i="1">
                                  <a:latin typeface="Cambria Math" panose="02040503050406030204" pitchFamily="18" charset="0"/>
                                </a:rPr>
                              </m:ctrlPr>
                            </m:dPr>
                            <m:e>
                              <m:sSup>
                                <m:sSupPr>
                                  <m:ctrlPr>
                                    <a:rPr lang="en-US" sz="2400" i="1">
                                      <a:latin typeface="Cambria Math" panose="02040503050406030204" pitchFamily="18" charset="0"/>
                                    </a:rPr>
                                  </m:ctrlPr>
                                </m:sSupPr>
                                <m:e>
                                  <m:r>
                                    <a:rPr lang="en-US" sz="2400" i="1">
                                      <a:latin typeface="Cambria Math" panose="02040503050406030204" pitchFamily="18" charset="0"/>
                                    </a:rPr>
                                    <m:t>𝑠</m:t>
                                  </m:r>
                                </m:e>
                                <m:sup>
                                  <m:r>
                                    <a:rPr lang="en-US" sz="2400" i="1">
                                      <a:latin typeface="Cambria Math" panose="02040503050406030204" pitchFamily="18" charset="0"/>
                                    </a:rPr>
                                    <m:t>′</m:t>
                                  </m:r>
                                </m:sup>
                              </m:sSup>
                            </m:e>
                          </m:d>
                          <m:r>
                            <a:rPr lang="en-US" sz="2400" i="1">
                              <a:latin typeface="Cambria Math" panose="02040503050406030204" pitchFamily="18" charset="0"/>
                            </a:rPr>
                            <m:t>]</m:t>
                          </m:r>
                        </m:e>
                      </m:nary>
                    </m:oMath>
                  </m:oMathPara>
                </a14:m>
                <a:endParaRPr lang="en-US" sz="2400" dirty="0"/>
              </a:p>
              <a:p>
                <a:endParaRPr lang="en-US" sz="2400" b="1" dirty="0"/>
              </a:p>
              <a:p>
                <a:r>
                  <a:rPr lang="en-US" sz="2400" b="1" dirty="0"/>
                  <a:t>Guarantee</a:t>
                </a:r>
                <a:r>
                  <a:rPr lang="en-US" sz="2400" dirty="0"/>
                  <a:t>:  </a:t>
                </a:r>
                <a14:m>
                  <m:oMath xmlns:m="http://schemas.openxmlformats.org/officeDocument/2006/math">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𝑇</m:t>
                        </m:r>
                      </m:e>
                      <m:sup>
                        <m:r>
                          <a:rPr lang="en-US" sz="2400" b="0" i="1" smtClean="0">
                            <a:latin typeface="Cambria Math" panose="02040503050406030204" pitchFamily="18" charset="0"/>
                          </a:rPr>
                          <m:t>∗</m:t>
                        </m:r>
                      </m:sup>
                    </m:sSup>
                  </m:oMath>
                </a14:m>
                <a:r>
                  <a:rPr lang="en-US" sz="2400" dirty="0"/>
                  <a:t> is a non-linear operator, but it is also </a:t>
                </a:r>
                <a14:m>
                  <m:oMath xmlns:m="http://schemas.openxmlformats.org/officeDocument/2006/math">
                    <m:r>
                      <a:rPr lang="en-US" sz="2400" b="0" i="1" smtClean="0">
                        <a:latin typeface="Cambria Math" panose="02040503050406030204" pitchFamily="18" charset="0"/>
                      </a:rPr>
                      <m:t>𝛾</m:t>
                    </m:r>
                  </m:oMath>
                </a14:m>
                <a:r>
                  <a:rPr lang="en-US" sz="2400" dirty="0"/>
                  <a:t>-contracting. The Sequence </a:t>
                </a:r>
                <a14:m>
                  <m:oMath xmlns:m="http://schemas.openxmlformats.org/officeDocument/2006/math">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𝑣</m:t>
                        </m:r>
                      </m:e>
                      <m:sub>
                        <m:r>
                          <a:rPr lang="en-US" sz="2400" b="0" i="1" smtClean="0">
                            <a:latin typeface="Cambria Math" panose="02040503050406030204" pitchFamily="18" charset="0"/>
                          </a:rPr>
                          <m:t>𝑘</m:t>
                        </m:r>
                      </m:sub>
                    </m:sSub>
                    <m:r>
                      <a:rPr lang="en-US" sz="2400" b="0" i="1" smtClean="0">
                        <a:latin typeface="Cambria Math" panose="02040503050406030204" pitchFamily="18" charset="0"/>
                      </a:rPr>
                      <m:t>}</m:t>
                    </m:r>
                  </m:oMath>
                </a14:m>
                <a:r>
                  <a:rPr lang="en-US" sz="2400" dirty="0"/>
                  <a:t> converges to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𝑣</m:t>
                        </m:r>
                      </m:e>
                      <m:sub>
                        <m:r>
                          <a:rPr lang="en-US" sz="2400" b="0" i="1" smtClean="0">
                            <a:latin typeface="Cambria Math" panose="02040503050406030204" pitchFamily="18" charset="0"/>
                          </a:rPr>
                          <m:t>∗</m:t>
                        </m:r>
                      </m:sub>
                    </m:sSub>
                  </m:oMath>
                </a14:m>
                <a:r>
                  <a:rPr lang="en-US" sz="2400" dirty="0"/>
                  <a:t>.</a:t>
                </a:r>
              </a:p>
            </p:txBody>
          </p:sp>
        </mc:Choice>
        <mc:Fallback xmlns="">
          <p:sp>
            <p:nvSpPr>
              <p:cNvPr id="3" name="Content Placeholder 2" descr="Combines policy improvement and truncated policy evaluation into a single step. This is called the expected Bellman optimality update. v sub k plus 1, (s) is defined as max over a, of E [R sub t plus 1, plus gamma v sub k (S sub t plus 1) | S sub t equals s,A sub t equals a]; equals max over a the sum over s prime,r, of p (s prime,r | s,a)[r plus gamma v sub k (s prime)]. Written as the Bellman optimality operator:. (T star v) (s) equals max over a the sum over s prime,r, of p (s prime,r | s,a)[r plus gamma v (s prime)]. Guarantee: T star is a non-linear operator, but it is also gamma -contracting. The Sequence {v sub k} converges to v sub star">
                <a:extLst>
                  <a:ext uri="{FF2B5EF4-FFF2-40B4-BE49-F238E27FC236}">
                    <a16:creationId xmlns:a16="http://schemas.microsoft.com/office/drawing/2014/main" id="{F13D67A5-12C4-DAB0-8869-5122697A558D}"/>
                  </a:ext>
                </a:extLst>
              </p:cNvPr>
              <p:cNvSpPr>
                <a:spLocks noGrp="1" noRot="1" noChangeAspect="1" noMove="1" noResize="1" noEditPoints="1" noAdjustHandles="1" noChangeArrowheads="1" noChangeShapeType="1" noTextEdit="1"/>
              </p:cNvSpPr>
              <p:nvPr>
                <p:ph idx="1"/>
              </p:nvPr>
            </p:nvSpPr>
            <p:spPr>
              <a:xfrm>
                <a:off x="838200" y="1397330"/>
                <a:ext cx="7990869" cy="4759161"/>
              </a:xfrm>
              <a:blipFill>
                <a:blip r:embed="rId2"/>
                <a:stretch>
                  <a:fillRect l="-687" t="-1665" r="-61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Box 17" descr="max over a … policy improvement. E … truncated policy evaluation (1 step)">
                <a:extLst>
                  <a:ext uri="{FF2B5EF4-FFF2-40B4-BE49-F238E27FC236}">
                    <a16:creationId xmlns:a16="http://schemas.microsoft.com/office/drawing/2014/main" id="{B3954ED2-5491-8A3F-7138-9F0DEDA17235}"/>
                  </a:ext>
                </a:extLst>
              </p:cNvPr>
              <p:cNvSpPr txBox="1"/>
              <p:nvPr/>
            </p:nvSpPr>
            <p:spPr>
              <a:xfrm>
                <a:off x="8231667" y="2248185"/>
                <a:ext cx="2988896" cy="906915"/>
              </a:xfrm>
              <a:prstGeom prst="rect">
                <a:avLst/>
              </a:prstGeom>
            </p:spPr>
            <p:style>
              <a:lnRef idx="2">
                <a:schemeClr val="accent3">
                  <a:shade val="15000"/>
                </a:schemeClr>
              </a:lnRef>
              <a:fillRef idx="1">
                <a:schemeClr val="accent3"/>
              </a:fillRef>
              <a:effectRef idx="0">
                <a:schemeClr val="accent3"/>
              </a:effectRef>
              <a:fontRef idx="minor">
                <a:schemeClr val="lt1"/>
              </a:fontRef>
            </p:style>
            <p:txBody>
              <a:bodyPr wrap="square" rtlCol="0">
                <a:spAutoFit/>
              </a:bodyPr>
              <a:lstStyle/>
              <a:p>
                <a14:m>
                  <m:oMath xmlns:m="http://schemas.openxmlformats.org/officeDocument/2006/math">
                    <m:limLow>
                      <m:limLowPr>
                        <m:ctrlPr>
                          <a:rPr lang="en-US" sz="1600" smtClean="0">
                            <a:latin typeface="Cambria Math" panose="02040503050406030204" pitchFamily="18" charset="0"/>
                          </a:rPr>
                        </m:ctrlPr>
                      </m:limLowPr>
                      <m:e>
                        <m:r>
                          <m:rPr>
                            <m:sty m:val="p"/>
                          </m:rPr>
                          <a:rPr lang="en-US" sz="1600" smtClean="0">
                            <a:latin typeface="Cambria Math" panose="02040503050406030204" pitchFamily="18" charset="0"/>
                          </a:rPr>
                          <m:t>max</m:t>
                        </m:r>
                      </m:e>
                      <m:lim>
                        <m:r>
                          <m:rPr>
                            <m:sty m:val="p"/>
                          </m:rPr>
                          <a:rPr lang="en-US" sz="1600" b="0" i="0" smtClean="0">
                            <a:latin typeface="Cambria Math" panose="02040503050406030204" pitchFamily="18" charset="0"/>
                          </a:rPr>
                          <m:t>a</m:t>
                        </m:r>
                      </m:lim>
                    </m:limLow>
                  </m:oMath>
                </a14:m>
                <a:r>
                  <a:rPr lang="en-US" sz="1600" dirty="0"/>
                  <a:t> … policy improvement</a:t>
                </a:r>
              </a:p>
              <a:p>
                <a14:m>
                  <m:oMath xmlns:m="http://schemas.openxmlformats.org/officeDocument/2006/math">
                    <m:r>
                      <a:rPr lang="en-US" sz="1600" i="1">
                        <a:latin typeface="Cambria Math" panose="02040503050406030204" pitchFamily="18" charset="0"/>
                        <a:ea typeface="Cambria Math" panose="02040503050406030204" pitchFamily="18" charset="0"/>
                      </a:rPr>
                      <m:t>𝔼</m:t>
                    </m:r>
                  </m:oMath>
                </a14:m>
                <a:r>
                  <a:rPr lang="en-US" sz="1600" dirty="0"/>
                  <a:t>       … truncated policy </a:t>
                </a:r>
                <a:br>
                  <a:rPr lang="en-US" sz="1600" dirty="0"/>
                </a:br>
                <a:r>
                  <a:rPr lang="en-US" sz="1600" dirty="0"/>
                  <a:t>                evaluation (1 step)</a:t>
                </a:r>
              </a:p>
            </p:txBody>
          </p:sp>
        </mc:Choice>
        <mc:Fallback xmlns="">
          <p:sp>
            <p:nvSpPr>
              <p:cNvPr id="18" name="TextBox 17" descr="max over a … policy improvement. E … truncated policy evaluation (1 step)">
                <a:extLst>
                  <a:ext uri="{FF2B5EF4-FFF2-40B4-BE49-F238E27FC236}">
                    <a16:creationId xmlns:a16="http://schemas.microsoft.com/office/drawing/2014/main" id="{B3954ED2-5491-8A3F-7138-9F0DEDA17235}"/>
                  </a:ext>
                </a:extLst>
              </p:cNvPr>
              <p:cNvSpPr txBox="1">
                <a:spLocks noRot="1" noChangeAspect="1" noMove="1" noResize="1" noEditPoints="1" noAdjustHandles="1" noChangeArrowheads="1" noChangeShapeType="1" noTextEdit="1"/>
              </p:cNvSpPr>
              <p:nvPr/>
            </p:nvSpPr>
            <p:spPr>
              <a:xfrm>
                <a:off x="8231667" y="2248185"/>
                <a:ext cx="2988896" cy="906915"/>
              </a:xfrm>
              <a:prstGeom prst="rect">
                <a:avLst/>
              </a:prstGeom>
              <a:blipFill>
                <a:blip r:embed="rId7"/>
                <a:stretch>
                  <a:fillRect t="-658" b="-5921"/>
                </a:stretch>
              </a:blipFill>
            </p:spPr>
            <p:txBody>
              <a:bodyPr/>
              <a:lstStyle/>
              <a:p>
                <a:r>
                  <a:rPr lang="en-US">
                    <a:noFill/>
                  </a:rPr>
                  <a:t> </a:t>
                </a:r>
              </a:p>
            </p:txBody>
          </p:sp>
        </mc:Fallback>
      </mc:AlternateContent>
      <p:grpSp>
        <p:nvGrpSpPr>
          <p:cNvPr id="4" name="Group 3" descr="Bellman optimality updates drawn as arcs from v sub 0 to v sub 1 and onward, converging to v star; a downward arrow from v star is labelled &quot;Extract greedy pi star&quot;.">
            <a:extLst>
              <a:ext uri="{FF2B5EF4-FFF2-40B4-BE49-F238E27FC236}">
                <a16:creationId xmlns:a16="http://schemas.microsoft.com/office/drawing/2014/main" id="{5DDD6752-393B-5DE4-89C9-FB6C1BD42C20}"/>
              </a:ext>
            </a:extLst>
          </p:cNvPr>
          <p:cNvGrpSpPr/>
          <p:nvPr/>
        </p:nvGrpSpPr>
        <p:grpSpPr>
          <a:xfrm>
            <a:off x="8975345" y="3682639"/>
            <a:ext cx="2854818" cy="2270823"/>
            <a:chOff x="9337182" y="2229868"/>
            <a:chExt cx="2854818" cy="2270823"/>
          </a:xfrm>
        </p:grpSpPr>
        <p:grpSp>
          <p:nvGrpSpPr>
            <p:cNvPr id="5" name="Group 4" descr="Updating the value function using iterative Bellman updates.">
              <a:extLst>
                <a:ext uri="{FF2B5EF4-FFF2-40B4-BE49-F238E27FC236}">
                  <a16:creationId xmlns:a16="http://schemas.microsoft.com/office/drawing/2014/main" id="{63FD7C4D-64E2-3FEF-F62C-382BE07E89C8}"/>
                </a:ext>
              </a:extLst>
            </p:cNvPr>
            <p:cNvGrpSpPr/>
            <p:nvPr/>
          </p:nvGrpSpPr>
          <p:grpSpPr>
            <a:xfrm>
              <a:off x="9337182" y="2229868"/>
              <a:ext cx="2854818" cy="1428805"/>
              <a:chOff x="9337182" y="2229868"/>
              <a:chExt cx="2854818" cy="1428805"/>
            </a:xfrm>
          </p:grpSpPr>
          <p:cxnSp>
            <p:nvCxnSpPr>
              <p:cNvPr id="8" name="Straight Connector 7">
                <a:extLst>
                  <a:ext uri="{FF2B5EF4-FFF2-40B4-BE49-F238E27FC236}">
                    <a16:creationId xmlns:a16="http://schemas.microsoft.com/office/drawing/2014/main" id="{53024366-3B9C-8541-0D28-708BBC7AE6C7}"/>
                  </a:ext>
                  <a:ext uri="{C183D7F6-B498-43B3-948B-1728B52AA6E4}">
                    <adec:decorative xmlns:adec="http://schemas.microsoft.com/office/drawing/2017/decorative" val="1"/>
                  </a:ext>
                </a:extLst>
              </p:cNvPr>
              <p:cNvCxnSpPr>
                <a:cxnSpLocks/>
              </p:cNvCxnSpPr>
              <p:nvPr/>
            </p:nvCxnSpPr>
            <p:spPr>
              <a:xfrm>
                <a:off x="9337182" y="3124199"/>
                <a:ext cx="2393078" cy="0"/>
              </a:xfrm>
              <a:prstGeom prst="line">
                <a:avLst/>
              </a:prstGeom>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9" name="TextBox 8" descr="Equation: v sub star">
                    <a:extLst>
                      <a:ext uri="{FF2B5EF4-FFF2-40B4-BE49-F238E27FC236}">
                        <a16:creationId xmlns:a16="http://schemas.microsoft.com/office/drawing/2014/main" id="{115AA05C-2180-0AF6-A384-9D75BED15ED1}"/>
                      </a:ext>
                    </a:extLst>
                  </p:cNvPr>
                  <p:cNvSpPr txBox="1"/>
                  <p:nvPr/>
                </p:nvSpPr>
                <p:spPr>
                  <a:xfrm>
                    <a:off x="11425004" y="3125590"/>
                    <a:ext cx="766996" cy="369332"/>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14:m>
                      <m:oMathPara xmlns:m="http://schemas.openxmlformats.org/officeDocument/2006/math">
                        <m:o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𝑣</m:t>
                              </m:r>
                            </m:e>
                            <m:sub>
                              <m:r>
                                <a:rPr lang="en-US" sz="1800" b="0" i="1" smtClean="0">
                                  <a:latin typeface="Cambria Math" panose="02040503050406030204" pitchFamily="18" charset="0"/>
                                </a:rPr>
                                <m:t>∗</m:t>
                              </m:r>
                            </m:sub>
                          </m:sSub>
                        </m:oMath>
                      </m:oMathPara>
                    </a14:m>
                    <a:endParaRPr lang="en-US" dirty="0"/>
                  </a:p>
                </p:txBody>
              </p:sp>
            </mc:Choice>
            <mc:Fallback xmlns="">
              <p:sp>
                <p:nvSpPr>
                  <p:cNvPr id="9" name="TextBox 8" descr="Equation: v sub star">
                    <a:extLst>
                      <a:ext uri="{FF2B5EF4-FFF2-40B4-BE49-F238E27FC236}">
                        <a16:creationId xmlns:a16="http://schemas.microsoft.com/office/drawing/2014/main" id="{115AA05C-2180-0AF6-A384-9D75BED15ED1}"/>
                      </a:ext>
                    </a:extLst>
                  </p:cNvPr>
                  <p:cNvSpPr txBox="1">
                    <a:spLocks noRot="1" noChangeAspect="1" noMove="1" noResize="1" noEditPoints="1" noAdjustHandles="1" noChangeArrowheads="1" noChangeShapeType="1" noTextEdit="1"/>
                  </p:cNvSpPr>
                  <p:nvPr/>
                </p:nvSpPr>
                <p:spPr>
                  <a:xfrm>
                    <a:off x="11425004" y="3125590"/>
                    <a:ext cx="766996" cy="369332"/>
                  </a:xfrm>
                  <a:prstGeom prst="rect">
                    <a:avLst/>
                  </a:prstGeom>
                  <a:blipFill>
                    <a:blip r:embed="rId3"/>
                    <a:stretch>
                      <a:fillRect/>
                    </a:stretch>
                  </a:blipFill>
                </p:spPr>
                <p:txBody>
                  <a:bodyPr/>
                  <a:lstStyle/>
                  <a:p>
                    <a:r>
                      <a:rPr lang="en-US">
                        <a:noFill/>
                      </a:rPr>
                      <a:t> </a:t>
                    </a:r>
                  </a:p>
                </p:txBody>
              </p:sp>
            </mc:Fallback>
          </mc:AlternateContent>
          <p:sp>
            <p:nvSpPr>
              <p:cNvPr id="10" name="Arc 9">
                <a:extLst>
                  <a:ext uri="{FF2B5EF4-FFF2-40B4-BE49-F238E27FC236}">
                    <a16:creationId xmlns:a16="http://schemas.microsoft.com/office/drawing/2014/main" id="{830A3C56-435D-BEBE-B83F-3BA9F9E0169B}"/>
                  </a:ext>
                  <a:ext uri="{C183D7F6-B498-43B3-948B-1728B52AA6E4}">
                    <adec:decorative xmlns:adec="http://schemas.microsoft.com/office/drawing/2017/decorative" val="1"/>
                  </a:ext>
                </a:extLst>
              </p:cNvPr>
              <p:cNvSpPr/>
              <p:nvPr/>
            </p:nvSpPr>
            <p:spPr>
              <a:xfrm>
                <a:off x="9760371" y="2649297"/>
                <a:ext cx="574339" cy="1009376"/>
              </a:xfrm>
              <a:prstGeom prst="arc">
                <a:avLst>
                  <a:gd name="adj1" fmla="val 10871568"/>
                  <a:gd name="adj2" fmla="val 0"/>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11" name="Arc 10">
                <a:extLst>
                  <a:ext uri="{FF2B5EF4-FFF2-40B4-BE49-F238E27FC236}">
                    <a16:creationId xmlns:a16="http://schemas.microsoft.com/office/drawing/2014/main" id="{3FB9398F-7C22-1F4D-9C1A-D846D19FEED3}"/>
                  </a:ext>
                  <a:ext uri="{C183D7F6-B498-43B3-948B-1728B52AA6E4}">
                    <adec:decorative xmlns:adec="http://schemas.microsoft.com/office/drawing/2017/decorative" val="1"/>
                  </a:ext>
                </a:extLst>
              </p:cNvPr>
              <p:cNvSpPr/>
              <p:nvPr/>
            </p:nvSpPr>
            <p:spPr>
              <a:xfrm>
                <a:off x="10334710" y="2614308"/>
                <a:ext cx="765785" cy="1019782"/>
              </a:xfrm>
              <a:prstGeom prst="arc">
                <a:avLst>
                  <a:gd name="adj1" fmla="val 10871568"/>
                  <a:gd name="adj2" fmla="val 0"/>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12" name="Arc 11">
                <a:extLst>
                  <a:ext uri="{FF2B5EF4-FFF2-40B4-BE49-F238E27FC236}">
                    <a16:creationId xmlns:a16="http://schemas.microsoft.com/office/drawing/2014/main" id="{72229F87-12B2-362D-80BC-031A6CAAE42F}"/>
                  </a:ext>
                  <a:ext uri="{C183D7F6-B498-43B3-948B-1728B52AA6E4}">
                    <adec:decorative xmlns:adec="http://schemas.microsoft.com/office/drawing/2017/decorative" val="1"/>
                  </a:ext>
                </a:extLst>
              </p:cNvPr>
              <p:cNvSpPr/>
              <p:nvPr/>
            </p:nvSpPr>
            <p:spPr>
              <a:xfrm>
                <a:off x="11100495" y="2627412"/>
                <a:ext cx="220048" cy="1019782"/>
              </a:xfrm>
              <a:prstGeom prst="arc">
                <a:avLst>
                  <a:gd name="adj1" fmla="val 10871568"/>
                  <a:gd name="adj2" fmla="val 0"/>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p:sp>
            <p:nvSpPr>
              <p:cNvPr id="13" name="Arc 12">
                <a:extLst>
                  <a:ext uri="{FF2B5EF4-FFF2-40B4-BE49-F238E27FC236}">
                    <a16:creationId xmlns:a16="http://schemas.microsoft.com/office/drawing/2014/main" id="{936EFA66-6C09-679B-C4C9-F361F262C3E0}"/>
                  </a:ext>
                  <a:ext uri="{C183D7F6-B498-43B3-948B-1728B52AA6E4}">
                    <adec:decorative xmlns:adec="http://schemas.microsoft.com/office/drawing/2017/decorative" val="1"/>
                  </a:ext>
                </a:extLst>
              </p:cNvPr>
              <p:cNvSpPr/>
              <p:nvPr/>
            </p:nvSpPr>
            <p:spPr>
              <a:xfrm>
                <a:off x="11308888" y="2648522"/>
                <a:ext cx="417487" cy="951353"/>
              </a:xfrm>
              <a:prstGeom prst="arc">
                <a:avLst>
                  <a:gd name="adj1" fmla="val 10871568"/>
                  <a:gd name="adj2" fmla="val 0"/>
                </a:avLst>
              </a:prstGeom>
              <a:ln w="19050" cap="flat" cmpd="sng" algn="ctr">
                <a:solidFill>
                  <a:schemeClr val="accent6"/>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en-US"/>
              </a:p>
            </p:txBody>
          </p:sp>
          <mc:AlternateContent xmlns:mc="http://schemas.openxmlformats.org/markup-compatibility/2006" xmlns:a14="http://schemas.microsoft.com/office/drawing/2010/main">
            <mc:Choice Requires="a14">
              <p:sp>
                <p:nvSpPr>
                  <p:cNvPr id="14" name="TextBox 29" descr="Equation: v sub 0">
                    <a:extLst>
                      <a:ext uri="{FF2B5EF4-FFF2-40B4-BE49-F238E27FC236}">
                        <a16:creationId xmlns:a16="http://schemas.microsoft.com/office/drawing/2014/main" id="{6DB673C8-2425-685A-8CBE-35EDDCA1EB91}"/>
                      </a:ext>
                    </a:extLst>
                  </p:cNvPr>
                  <p:cNvSpPr txBox="1"/>
                  <p:nvPr/>
                </p:nvSpPr>
                <p:spPr>
                  <a:xfrm>
                    <a:off x="9564903" y="3086337"/>
                    <a:ext cx="395810" cy="369332"/>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14:m>
                      <m:oMathPara xmlns:m="http://schemas.openxmlformats.org/officeDocument/2006/math">
                        <m:o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𝑣</m:t>
                              </m:r>
                            </m:e>
                            <m:sub>
                              <m:r>
                                <a:rPr lang="en-US" sz="1800" b="0" i="1" smtClean="0">
                                  <a:latin typeface="Cambria Math" panose="02040503050406030204" pitchFamily="18" charset="0"/>
                                </a:rPr>
                                <m:t>0</m:t>
                              </m:r>
                            </m:sub>
                          </m:sSub>
                        </m:oMath>
                      </m:oMathPara>
                    </a14:m>
                    <a:endParaRPr lang="en-US" dirty="0"/>
                  </a:p>
                </p:txBody>
              </p:sp>
            </mc:Choice>
            <mc:Fallback xmlns="">
              <p:sp>
                <p:nvSpPr>
                  <p:cNvPr id="14" name="TextBox 29" descr="Equation: v sub 0">
                    <a:extLst>
                      <a:ext uri="{FF2B5EF4-FFF2-40B4-BE49-F238E27FC236}">
                        <a16:creationId xmlns:a16="http://schemas.microsoft.com/office/drawing/2014/main" id="{6DB673C8-2425-685A-8CBE-35EDDCA1EB91}"/>
                      </a:ext>
                    </a:extLst>
                  </p:cNvPr>
                  <p:cNvSpPr txBox="1">
                    <a:spLocks noRot="1" noChangeAspect="1" noMove="1" noResize="1" noEditPoints="1" noAdjustHandles="1" noChangeArrowheads="1" noChangeShapeType="1" noTextEdit="1"/>
                  </p:cNvSpPr>
                  <p:nvPr/>
                </p:nvSpPr>
                <p:spPr>
                  <a:xfrm>
                    <a:off x="9564903" y="3086337"/>
                    <a:ext cx="395810" cy="369332"/>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TextBox 30" descr="Equation: v sub 1">
                    <a:extLst>
                      <a:ext uri="{FF2B5EF4-FFF2-40B4-BE49-F238E27FC236}">
                        <a16:creationId xmlns:a16="http://schemas.microsoft.com/office/drawing/2014/main" id="{56DA2FE2-AC26-7B66-B5BD-7064ECD50CE7}"/>
                      </a:ext>
                    </a:extLst>
                  </p:cNvPr>
                  <p:cNvSpPr txBox="1"/>
                  <p:nvPr/>
                </p:nvSpPr>
                <p:spPr>
                  <a:xfrm>
                    <a:off x="10066895" y="3115740"/>
                    <a:ext cx="395810" cy="369332"/>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14:m>
                      <m:oMathPara xmlns:m="http://schemas.openxmlformats.org/officeDocument/2006/math">
                        <m:oMath>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𝑣</m:t>
                              </m:r>
                            </m:e>
                            <m:sub>
                              <m:r>
                                <a:rPr lang="en-US" sz="1800" b="0" i="1" smtClean="0">
                                  <a:latin typeface="Cambria Math" panose="02040503050406030204" pitchFamily="18" charset="0"/>
                                </a:rPr>
                                <m:t>1</m:t>
                              </m:r>
                            </m:sub>
                          </m:sSub>
                        </m:oMath>
                      </m:oMathPara>
                    </a14:m>
                    <a:endParaRPr lang="en-US" dirty="0"/>
                  </a:p>
                </p:txBody>
              </p:sp>
            </mc:Choice>
            <mc:Fallback xmlns="">
              <p:sp>
                <p:nvSpPr>
                  <p:cNvPr id="15" name="TextBox 30" descr="Equation: v sub 1">
                    <a:extLst>
                      <a:ext uri="{FF2B5EF4-FFF2-40B4-BE49-F238E27FC236}">
                        <a16:creationId xmlns:a16="http://schemas.microsoft.com/office/drawing/2014/main" id="{56DA2FE2-AC26-7B66-B5BD-7064ECD50CE7}"/>
                      </a:ext>
                    </a:extLst>
                  </p:cNvPr>
                  <p:cNvSpPr txBox="1">
                    <a:spLocks noRot="1" noChangeAspect="1" noMove="1" noResize="1" noEditPoints="1" noAdjustHandles="1" noChangeArrowheads="1" noChangeShapeType="1" noTextEdit="1"/>
                  </p:cNvSpPr>
                  <p:nvPr/>
                </p:nvSpPr>
                <p:spPr>
                  <a:xfrm>
                    <a:off x="10066895" y="3115740"/>
                    <a:ext cx="395810" cy="369332"/>
                  </a:xfrm>
                  <a:prstGeom prst="rect">
                    <a:avLst/>
                  </a:prstGeom>
                  <a:blipFill>
                    <a:blip r:embed="rId5"/>
                    <a:stretch>
                      <a:fillRect/>
                    </a:stretch>
                  </a:blipFill>
                </p:spPr>
                <p:txBody>
                  <a:bodyPr/>
                  <a:lstStyle/>
                  <a:p>
                    <a:r>
                      <a:rPr lang="en-US">
                        <a:noFill/>
                      </a:rPr>
                      <a:t> </a:t>
                    </a:r>
                  </a:p>
                </p:txBody>
              </p:sp>
            </mc:Fallback>
          </mc:AlternateContent>
          <p:sp>
            <p:nvSpPr>
              <p:cNvPr id="16" name="Oval 15">
                <a:extLst>
                  <a:ext uri="{FF2B5EF4-FFF2-40B4-BE49-F238E27FC236}">
                    <a16:creationId xmlns:a16="http://schemas.microsoft.com/office/drawing/2014/main" id="{4AF4F629-36FB-BF7C-2361-1AFA669F5F24}"/>
                  </a:ext>
                  <a:ext uri="{C183D7F6-B498-43B3-948B-1728B52AA6E4}">
                    <adec:decorative xmlns:adec="http://schemas.microsoft.com/office/drawing/2017/decorative" val="1"/>
                  </a:ext>
                </a:extLst>
              </p:cNvPr>
              <p:cNvSpPr/>
              <p:nvPr/>
            </p:nvSpPr>
            <p:spPr>
              <a:xfrm>
                <a:off x="11680507" y="3066584"/>
                <a:ext cx="127995" cy="117892"/>
              </a:xfrm>
              <a:prstGeom prst="ellipse">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17" name="TextBox 35">
                <a:extLst>
                  <a:ext uri="{FF2B5EF4-FFF2-40B4-BE49-F238E27FC236}">
                    <a16:creationId xmlns:a16="http://schemas.microsoft.com/office/drawing/2014/main" id="{0C0182D5-6E45-5881-FEB0-C4755A1551A6}"/>
                  </a:ext>
                  <a:ext uri="{C183D7F6-B498-43B3-948B-1728B52AA6E4}">
                    <adec:decorative xmlns:adec="http://schemas.microsoft.com/office/drawing/2017/decorative" val="1"/>
                  </a:ext>
                </a:extLst>
              </p:cNvPr>
              <p:cNvSpPr txBox="1"/>
              <p:nvPr/>
            </p:nvSpPr>
            <p:spPr>
              <a:xfrm>
                <a:off x="9337182" y="2229868"/>
                <a:ext cx="1796338" cy="338554"/>
              </a:xfrm>
              <a:prstGeom prst="rect">
                <a:avLst/>
              </a:prstGeom>
              <a:noFill/>
            </p:spPr>
            <p:txBody>
              <a:bodyPr wrap="square">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600" dirty="0"/>
                  <a:t>Bellman updates</a:t>
                </a:r>
              </a:p>
            </p:txBody>
          </p:sp>
        </p:grpSp>
        <p:sp>
          <p:nvSpPr>
            <p:cNvPr id="6" name="Arrow: Down 5">
              <a:extLst>
                <a:ext uri="{FF2B5EF4-FFF2-40B4-BE49-F238E27FC236}">
                  <a16:creationId xmlns:a16="http://schemas.microsoft.com/office/drawing/2014/main" id="{489C2DDD-1EBF-335C-9781-0FE90D3CF19A}"/>
                </a:ext>
                <a:ext uri="{C183D7F6-B498-43B3-948B-1728B52AA6E4}">
                  <adec:decorative xmlns:adec="http://schemas.microsoft.com/office/drawing/2017/decorative" val="1"/>
                </a:ext>
              </a:extLst>
            </p:cNvPr>
            <p:cNvSpPr/>
            <p:nvPr/>
          </p:nvSpPr>
          <p:spPr>
            <a:xfrm>
              <a:off x="11582400" y="3481251"/>
              <a:ext cx="248436" cy="388563"/>
            </a:xfrm>
            <a:prstGeom prst="downArrow">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mc:AlternateContent xmlns:mc="http://schemas.openxmlformats.org/markup-compatibility/2006" xmlns:a14="http://schemas.microsoft.com/office/drawing/2010/main">
          <mc:Choice Requires="a14">
            <p:sp>
              <p:nvSpPr>
                <p:cNvPr id="7" name="TextBox 37" descr="Extract greedy pi star">
                  <a:extLst>
                    <a:ext uri="{FF2B5EF4-FFF2-40B4-BE49-F238E27FC236}">
                      <a16:creationId xmlns:a16="http://schemas.microsoft.com/office/drawing/2014/main" id="{1B940FEA-C9FB-9A35-6062-2E30E7F88345}"/>
                    </a:ext>
                  </a:extLst>
                </p:cNvPr>
                <p:cNvSpPr txBox="1"/>
                <p:nvPr/>
              </p:nvSpPr>
              <p:spPr>
                <a:xfrm>
                  <a:off x="11028594" y="3915916"/>
                  <a:ext cx="1107611" cy="584775"/>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600" dirty="0"/>
                    <a:t>Extract</a:t>
                  </a:r>
                  <a:br>
                    <a:rPr lang="en-US" sz="1600" dirty="0"/>
                  </a:br>
                  <a:r>
                    <a:rPr lang="en-US" sz="1600" dirty="0"/>
                    <a:t> greedy </a:t>
                  </a:r>
                  <a14:m>
                    <m:oMath xmlns:m="http://schemas.openxmlformats.org/officeDocument/2006/math">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𝜋</m:t>
                          </m:r>
                        </m:e>
                        <m:sup>
                          <m:r>
                            <a:rPr lang="en-US" sz="1600" b="0" i="1" smtClean="0">
                              <a:latin typeface="Cambria Math" panose="02040503050406030204" pitchFamily="18" charset="0"/>
                            </a:rPr>
                            <m:t>∗</m:t>
                          </m:r>
                        </m:sup>
                      </m:sSup>
                      <m:r>
                        <a:rPr lang="en-US" sz="1600" b="0" i="1" smtClean="0">
                          <a:latin typeface="Cambria Math" panose="02040503050406030204" pitchFamily="18" charset="0"/>
                        </a:rPr>
                        <m:t> </m:t>
                      </m:r>
                    </m:oMath>
                  </a14:m>
                  <a:endParaRPr lang="en-US" sz="1600" dirty="0"/>
                </a:p>
              </p:txBody>
            </p:sp>
          </mc:Choice>
          <mc:Fallback xmlns="">
            <p:sp>
              <p:nvSpPr>
                <p:cNvPr id="7" name="TextBox 37" descr="Extract greedy pi star">
                  <a:extLst>
                    <a:ext uri="{FF2B5EF4-FFF2-40B4-BE49-F238E27FC236}">
                      <a16:creationId xmlns:a16="http://schemas.microsoft.com/office/drawing/2014/main" id="{1B940FEA-C9FB-9A35-6062-2E30E7F88345}"/>
                    </a:ext>
                  </a:extLst>
                </p:cNvPr>
                <p:cNvSpPr txBox="1">
                  <a:spLocks noRot="1" noChangeAspect="1" noMove="1" noResize="1" noEditPoints="1" noAdjustHandles="1" noChangeArrowheads="1" noChangeShapeType="1" noTextEdit="1"/>
                </p:cNvSpPr>
                <p:nvPr/>
              </p:nvSpPr>
              <p:spPr>
                <a:xfrm>
                  <a:off x="11028594" y="3915916"/>
                  <a:ext cx="1107611" cy="584775"/>
                </a:xfrm>
                <a:prstGeom prst="rect">
                  <a:avLst/>
                </a:prstGeom>
                <a:blipFill>
                  <a:blip r:embed="rId6"/>
                  <a:stretch>
                    <a:fillRect t="-3125" b="-12500"/>
                  </a:stretch>
                </a:blipFill>
              </p:spPr>
              <p:txBody>
                <a:bodyPr/>
                <a:lstStyle/>
                <a:p>
                  <a:r>
                    <a:rPr lang="en-US">
                      <a:noFill/>
                    </a:rPr>
                    <a:t> </a:t>
                  </a:r>
                </a:p>
              </p:txBody>
            </p:sp>
          </mc:Fallback>
        </mc:AlternateContent>
      </p:grpSp>
    </p:spTree>
    <p:extLst>
      <p:ext uri="{BB962C8B-B14F-4D97-AF65-F5344CB8AC3E}">
        <p14:creationId xmlns:p14="http://schemas.microsoft.com/office/powerpoint/2010/main" val="35368126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7C93B2-B8AE-DF85-EA1B-8078C4975CE1}"/>
              </a:ext>
            </a:extLst>
          </p:cNvPr>
          <p:cNvSpPr>
            <a:spLocks noGrp="1"/>
          </p:cNvSpPr>
          <p:nvPr>
            <p:ph type="title"/>
          </p:nvPr>
        </p:nvSpPr>
        <p:spPr/>
        <p:txBody>
          <a:bodyPr/>
          <a:lstStyle/>
          <a:p>
            <a:r>
              <a:rPr lang="en-US" dirty="0"/>
              <a:t>Alg. Value Iteration</a:t>
            </a:r>
          </a:p>
        </p:txBody>
      </p:sp>
      <p:pic>
        <p:nvPicPr>
          <p:cNvPr id="7" name="Content Placeholder 4" descr="Algorithm box: Policy Iteration (using iterative policy evaluation) for estimating pi approximately pi star. 1. Initialization: V(s) in R and pi(s) in A(s) arbitrarily for all s in S; V(terminal) = 0. 2. Policy Evaluation: Loop: Delta ← 0; Loop for each s in S: v ← V(s); V(s) ← sum over s′, r of p(s′, r | s, pi(s)) [r + gamma V(s′)]; Delta ← max(Delta, |v − V(s)|); until Delta &lt; theta (a small positive number determining the accuracy of estimation). 3. Policy Improvement: policy-stable ← true; For each s in S: old-action ← pi(s); pi(s) ← argmax over a of sum over s′, r of p(s′, r | s, a) [r + gamma V(s′)]; If old-action ≠ pi(s), then policy-stable ← false. If policy-stable, then stop and return V ≈ v star and pi ≈ pi star; else go to 2.">
            <a:extLst>
              <a:ext uri="{FF2B5EF4-FFF2-40B4-BE49-F238E27FC236}">
                <a16:creationId xmlns:a16="http://schemas.microsoft.com/office/drawing/2014/main" id="{76B44262-ED50-A04F-C5AA-E6A746D04708}"/>
              </a:ext>
            </a:extLst>
          </p:cNvPr>
          <p:cNvPicPr>
            <a:picLocks noChangeAspect="1"/>
          </p:cNvPicPr>
          <p:nvPr/>
        </p:nvPicPr>
        <p:blipFill>
          <a:blip r:embed="rId2"/>
          <a:stretch>
            <a:fillRect/>
          </a:stretch>
        </p:blipFill>
        <p:spPr>
          <a:xfrm>
            <a:off x="520239" y="1039018"/>
            <a:ext cx="6849637" cy="4779963"/>
          </a:xfrm>
          <a:prstGeom prst="rect">
            <a:avLst/>
          </a:prstGeom>
        </p:spPr>
      </p:pic>
      <p:pic>
        <p:nvPicPr>
          <p:cNvPr id="5" name="Content Placeholder 4" descr="Algorithm box: Value Iteration, for estimating pi approximately pi star. Algorithm parameter: a small threshold theta &gt; 0 determining accuracy of estimation. Initialize V(s), for all s in S plus, arbitrarily except that V(terminal) = 0. Loop: Delta ← 0; Loop for each s in S: v ← V(s); V(s) ← max over a of sum over s′, r of p(s′, r | s, a) [r + gamma V(s′)]; Delta ← max(Delta, |v − V(s)|); until Delta &lt; theta. Output a deterministic policy, pi ≈ pi star, such that pi(s) = argmax over a of sum over s′, r of p(s′, r | s, a) [r + gamma V(s′)].">
            <a:extLst>
              <a:ext uri="{FF2B5EF4-FFF2-40B4-BE49-F238E27FC236}">
                <a16:creationId xmlns:a16="http://schemas.microsoft.com/office/drawing/2014/main" id="{EA7CD4F4-7550-2FF0-26AF-786588E65B53}"/>
              </a:ext>
            </a:extLst>
          </p:cNvPr>
          <p:cNvPicPr>
            <a:picLocks noGrp="1" noChangeAspect="1"/>
          </p:cNvPicPr>
          <p:nvPr>
            <p:ph idx="1"/>
          </p:nvPr>
        </p:nvPicPr>
        <p:blipFill>
          <a:blip r:embed="rId3"/>
          <a:srcRect l="1659" t="2281"/>
          <a:stretch>
            <a:fillRect/>
          </a:stretch>
        </p:blipFill>
        <p:spPr>
          <a:xfrm>
            <a:off x="4411456" y="3092208"/>
            <a:ext cx="7034263" cy="3307667"/>
          </a:xfrm>
          <a:prstGeom prst="rect">
            <a:avLst/>
          </a:prstGeom>
        </p:spPr>
      </p:pic>
      <mc:AlternateContent xmlns:mc="http://schemas.openxmlformats.org/markup-compatibility/2006">
        <mc:Choice xmlns:a14="http://schemas.microsoft.com/office/drawing/2010/main" Requires="a14">
          <p:sp>
            <p:nvSpPr>
              <p:cNvPr id="3" name="Speech Bubble: Rectangle with Corners Rounded 2">
                <a:extLst>
                  <a:ext uri="{FF2B5EF4-FFF2-40B4-BE49-F238E27FC236}">
                    <a16:creationId xmlns:a16="http://schemas.microsoft.com/office/drawing/2014/main" id="{9540CE52-AAD7-F286-13F5-1B8D753FE1D7}"/>
                  </a:ext>
                  <a:ext uri="{C183D7F6-B498-43B3-948B-1728B52AA6E4}">
                    <adec:decorative xmlns:adec="http://schemas.microsoft.com/office/drawing/2017/decorative" val="1"/>
                  </a:ext>
                </a:extLst>
              </p:cNvPr>
              <p:cNvSpPr/>
              <p:nvPr/>
            </p:nvSpPr>
            <p:spPr>
              <a:xfrm>
                <a:off x="8103956" y="4239859"/>
                <a:ext cx="2889785" cy="569466"/>
              </a:xfrm>
              <a:prstGeom prst="wedgeRoundRectCallout">
                <a:avLst>
                  <a:gd name="adj1" fmla="val -66744"/>
                  <a:gd name="adj2" fmla="val 62281"/>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0" dirty="0"/>
                  <a:t>Bellman optimality operator:</a:t>
                </a:r>
                <a:br>
                  <a:rPr lang="en-US" sz="1600" b="0" dirty="0"/>
                </a:br>
                <a:r>
                  <a:rPr lang="en-US" sz="1600" b="0" dirty="0"/>
                  <a:t> </a:t>
                </a:r>
                <a14:m>
                  <m:oMath xmlns:m="http://schemas.openxmlformats.org/officeDocument/2006/math">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𝑉</m:t>
                        </m:r>
                      </m:e>
                      <m:sub>
                        <m:r>
                          <a:rPr lang="en-US" sz="1600" b="0" i="1" smtClean="0">
                            <a:latin typeface="Cambria Math" panose="02040503050406030204" pitchFamily="18" charset="0"/>
                          </a:rPr>
                          <m:t>𝑘</m:t>
                        </m:r>
                        <m:r>
                          <a:rPr lang="en-US" sz="1600" b="0" i="1" smtClean="0">
                            <a:latin typeface="Cambria Math" panose="02040503050406030204" pitchFamily="18" charset="0"/>
                          </a:rPr>
                          <m:t>+1</m:t>
                        </m:r>
                      </m:sub>
                    </m:sSub>
                    <m:r>
                      <a:rPr lang="en-US" sz="1600" b="0" i="1" smtClean="0">
                        <a:latin typeface="Cambria Math" panose="02040503050406030204" pitchFamily="18" charset="0"/>
                      </a:rPr>
                      <m:t>=</m:t>
                    </m:r>
                    <m:sSup>
                      <m:sSupPr>
                        <m:ctrlPr>
                          <a:rPr lang="en-US" sz="1600" b="0" i="1" smtClean="0">
                            <a:latin typeface="Cambria Math" panose="02040503050406030204" pitchFamily="18" charset="0"/>
                          </a:rPr>
                        </m:ctrlPr>
                      </m:sSupPr>
                      <m:e>
                        <m:r>
                          <a:rPr lang="en-US" sz="1600" b="0" i="1" smtClean="0">
                            <a:latin typeface="Cambria Math" panose="02040503050406030204" pitchFamily="18" charset="0"/>
                          </a:rPr>
                          <m:t>𝑇</m:t>
                        </m:r>
                      </m:e>
                      <m:sup>
                        <m:r>
                          <a:rPr lang="en-US" sz="1600" b="0" i="1" smtClean="0">
                            <a:latin typeface="Cambria Math" panose="02040503050406030204" pitchFamily="18" charset="0"/>
                          </a:rPr>
                          <m:t>∗</m:t>
                        </m:r>
                      </m:sup>
                    </m:sSup>
                    <m:sSub>
                      <m:sSubPr>
                        <m:ctrlPr>
                          <a:rPr lang="en-US" sz="1600" b="0" i="1" smtClean="0">
                            <a:latin typeface="Cambria Math" panose="02040503050406030204" pitchFamily="18" charset="0"/>
                          </a:rPr>
                        </m:ctrlPr>
                      </m:sSubPr>
                      <m:e>
                        <m:r>
                          <a:rPr lang="en-US" sz="1600" b="0" i="1" smtClean="0">
                            <a:latin typeface="Cambria Math" panose="02040503050406030204" pitchFamily="18" charset="0"/>
                          </a:rPr>
                          <m:t>𝑉</m:t>
                        </m:r>
                      </m:e>
                      <m:sub>
                        <m:r>
                          <a:rPr lang="en-US" sz="1600" b="0" i="1" smtClean="0">
                            <a:latin typeface="Cambria Math" panose="02040503050406030204" pitchFamily="18" charset="0"/>
                          </a:rPr>
                          <m:t>𝑘</m:t>
                        </m:r>
                      </m:sub>
                    </m:sSub>
                  </m:oMath>
                </a14:m>
                <a:endParaRPr lang="en-US" sz="1600" dirty="0"/>
              </a:p>
            </p:txBody>
          </p:sp>
        </mc:Choice>
        <mc:Fallback>
          <p:sp>
            <p:nvSpPr>
              <p:cNvPr id="3" name="Speech Bubble: Rectangle with Corners Rounded 2">
                <a:extLst>
                  <a:ext uri="{FF2B5EF4-FFF2-40B4-BE49-F238E27FC236}">
                    <a16:creationId xmlns:a16="http://schemas.microsoft.com/office/drawing/2014/main" id="{9540CE52-AAD7-F286-13F5-1B8D753FE1D7}"/>
                  </a:ext>
                  <a:ext uri="{C183D7F6-B498-43B3-948B-1728B52AA6E4}">
                    <adec:decorative xmlns:adec="http://schemas.microsoft.com/office/drawing/2017/decorative" val="1"/>
                  </a:ext>
                </a:extLst>
              </p:cNvPr>
              <p:cNvSpPr>
                <a:spLocks noRot="1" noChangeAspect="1" noMove="1" noResize="1" noEditPoints="1" noAdjustHandles="1" noChangeArrowheads="1" noChangeShapeType="1" noTextEdit="1"/>
              </p:cNvSpPr>
              <p:nvPr/>
            </p:nvSpPr>
            <p:spPr>
              <a:xfrm>
                <a:off x="8103956" y="4239859"/>
                <a:ext cx="2889785" cy="569466"/>
              </a:xfrm>
              <a:prstGeom prst="wedgeRoundRectCallout">
                <a:avLst>
                  <a:gd name="adj1" fmla="val -66744"/>
                  <a:gd name="adj2" fmla="val 62281"/>
                  <a:gd name="adj3" fmla="val 16667"/>
                </a:avLst>
              </a:prstGeom>
              <a:blipFill>
                <a:blip r:embed="rId4"/>
                <a:stretch>
                  <a:fillRect t="-1818"/>
                </a:stretch>
              </a:blipFill>
            </p:spPr>
            <p:txBody>
              <a:bodyPr/>
              <a:lstStyle/>
              <a:p>
                <a:r>
                  <a:rPr lang="en-US">
                    <a:noFill/>
                  </a:rPr>
                  <a:t> </a:t>
                </a:r>
              </a:p>
            </p:txBody>
          </p:sp>
        </mc:Fallback>
      </mc:AlternateContent>
      <p:sp>
        <p:nvSpPr>
          <p:cNvPr id="6" name="Speech Bubble: Rectangle with Corners Rounded 5">
            <a:extLst>
              <a:ext uri="{FF2B5EF4-FFF2-40B4-BE49-F238E27FC236}">
                <a16:creationId xmlns:a16="http://schemas.microsoft.com/office/drawing/2014/main" id="{C94FA055-A74C-A901-CCD7-6A1A7CC80DA2}"/>
              </a:ext>
              <a:ext uri="{C183D7F6-B498-43B3-948B-1728B52AA6E4}">
                <adec:decorative xmlns:adec="http://schemas.microsoft.com/office/drawing/2017/decorative" val="1"/>
              </a:ext>
            </a:extLst>
          </p:cNvPr>
          <p:cNvSpPr/>
          <p:nvPr/>
        </p:nvSpPr>
        <p:spPr>
          <a:xfrm>
            <a:off x="8577442" y="6207869"/>
            <a:ext cx="2667583" cy="384011"/>
          </a:xfrm>
          <a:prstGeom prst="wedgeRoundRectCallout">
            <a:avLst>
              <a:gd name="adj1" fmla="val -75681"/>
              <a:gd name="adj2" fmla="val -48428"/>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0" dirty="0"/>
              <a:t>Extract the greedy policy.</a:t>
            </a:r>
            <a:endParaRPr lang="en-US" sz="1600" dirty="0"/>
          </a:p>
        </p:txBody>
      </p:sp>
      <p:sp>
        <p:nvSpPr>
          <p:cNvPr id="8" name="Rectangle 7">
            <a:extLst>
              <a:ext uri="{FF2B5EF4-FFF2-40B4-BE49-F238E27FC236}">
                <a16:creationId xmlns:a16="http://schemas.microsoft.com/office/drawing/2014/main" id="{AAC0C2CF-3D6C-5FB5-6FAF-5A3C70799FAF}"/>
              </a:ext>
              <a:ext uri="{C183D7F6-B498-43B3-948B-1728B52AA6E4}">
                <adec:decorative xmlns:adec="http://schemas.microsoft.com/office/drawing/2017/decorative" val="1"/>
              </a:ext>
            </a:extLst>
          </p:cNvPr>
          <p:cNvSpPr/>
          <p:nvPr/>
        </p:nvSpPr>
        <p:spPr>
          <a:xfrm>
            <a:off x="1563554" y="3231811"/>
            <a:ext cx="2847902" cy="300146"/>
          </a:xfrm>
          <a:prstGeom prst="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10" name="TextBox 9">
            <a:extLst>
              <a:ext uri="{FF2B5EF4-FFF2-40B4-BE49-F238E27FC236}">
                <a16:creationId xmlns:a16="http://schemas.microsoft.com/office/drawing/2014/main" id="{C06B028D-DF2E-6F82-30C8-7142C1BEBEA8}"/>
              </a:ext>
              <a:ext uri="{C183D7F6-B498-43B3-948B-1728B52AA6E4}">
                <adec:decorative xmlns:adec="http://schemas.microsoft.com/office/drawing/2017/decorative" val="1"/>
              </a:ext>
            </a:extLst>
          </p:cNvPr>
          <p:cNvSpPr txBox="1"/>
          <p:nvPr/>
        </p:nvSpPr>
        <p:spPr>
          <a:xfrm>
            <a:off x="1695311" y="3678540"/>
            <a:ext cx="2584388" cy="1200329"/>
          </a:xfrm>
          <a:prstGeom prst="rect">
            <a:avLst/>
          </a:prstGeom>
        </p:spPr>
        <p:style>
          <a:lnRef idx="2">
            <a:schemeClr val="accent2">
              <a:shade val="15000"/>
            </a:schemeClr>
          </a:lnRef>
          <a:fillRef idx="1">
            <a:schemeClr val="accent2"/>
          </a:fillRef>
          <a:effectRef idx="0">
            <a:schemeClr val="accent2"/>
          </a:effectRef>
          <a:fontRef idx="minor">
            <a:schemeClr val="lt1"/>
          </a:fontRef>
        </p:style>
        <p:txBody>
          <a:bodyPr wrap="square" rtlCol="0">
            <a:spAutoFit/>
          </a:bodyPr>
          <a:lstStyle/>
          <a:p>
            <a:r>
              <a:rPr lang="en-US" dirty="0"/>
              <a:t>Combine improvement and modified evaluation (1 iteration only) into a single update.</a:t>
            </a:r>
          </a:p>
        </p:txBody>
      </p:sp>
      <p:sp>
        <p:nvSpPr>
          <p:cNvPr id="9" name="Rectangle 8">
            <a:extLst>
              <a:ext uri="{FF2B5EF4-FFF2-40B4-BE49-F238E27FC236}">
                <a16:creationId xmlns:a16="http://schemas.microsoft.com/office/drawing/2014/main" id="{6D968F04-390C-807C-E196-34BFDCCC50A5}"/>
              </a:ext>
              <a:ext uri="{C183D7F6-B498-43B3-948B-1728B52AA6E4}">
                <adec:decorative xmlns:adec="http://schemas.microsoft.com/office/drawing/2017/decorative" val="1"/>
              </a:ext>
            </a:extLst>
          </p:cNvPr>
          <p:cNvSpPr/>
          <p:nvPr/>
        </p:nvSpPr>
        <p:spPr>
          <a:xfrm>
            <a:off x="1199213" y="4954746"/>
            <a:ext cx="3212243" cy="300146"/>
          </a:xfrm>
          <a:prstGeom prst="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11" name="Rectangle 10">
            <a:extLst>
              <a:ext uri="{FF2B5EF4-FFF2-40B4-BE49-F238E27FC236}">
                <a16:creationId xmlns:a16="http://schemas.microsoft.com/office/drawing/2014/main" id="{73AAE380-C886-4AD1-501B-DC3FA8D0D18B}"/>
              </a:ext>
              <a:ext uri="{C183D7F6-B498-43B3-948B-1728B52AA6E4}">
                <adec:decorative xmlns:adec="http://schemas.microsoft.com/office/drawing/2017/decorative" val="1"/>
              </a:ext>
            </a:extLst>
          </p:cNvPr>
          <p:cNvSpPr/>
          <p:nvPr/>
        </p:nvSpPr>
        <p:spPr>
          <a:xfrm>
            <a:off x="5114123" y="4899809"/>
            <a:ext cx="3541266" cy="300146"/>
          </a:xfrm>
          <a:prstGeom prst="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
        <p:nvSpPr>
          <p:cNvPr id="4" name="Speech Bubble: Rectangle with Corners Rounded 3">
            <a:extLst>
              <a:ext uri="{FF2B5EF4-FFF2-40B4-BE49-F238E27FC236}">
                <a16:creationId xmlns:a16="http://schemas.microsoft.com/office/drawing/2014/main" id="{7EDE205F-7A5D-E9BD-56DA-89AC4D034BAD}"/>
              </a:ext>
              <a:ext uri="{C183D7F6-B498-43B3-948B-1728B52AA6E4}">
                <adec:decorative xmlns:adec="http://schemas.microsoft.com/office/drawing/2017/decorative" val="1"/>
              </a:ext>
            </a:extLst>
          </p:cNvPr>
          <p:cNvSpPr/>
          <p:nvPr/>
        </p:nvSpPr>
        <p:spPr>
          <a:xfrm>
            <a:off x="8103956" y="5254892"/>
            <a:ext cx="2667583" cy="474765"/>
          </a:xfrm>
          <a:prstGeom prst="wedgeRoundRectCallout">
            <a:avLst>
              <a:gd name="adj1" fmla="val -141709"/>
              <a:gd name="adj2" fmla="val 13915"/>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0" dirty="0"/>
              <a:t>Stopping criterion from policy evaluation</a:t>
            </a:r>
            <a:endParaRPr lang="en-US" sz="1600" dirty="0"/>
          </a:p>
        </p:txBody>
      </p:sp>
      <p:sp>
        <p:nvSpPr>
          <p:cNvPr id="12" name="Rectangle 11">
            <a:extLst>
              <a:ext uri="{FF2B5EF4-FFF2-40B4-BE49-F238E27FC236}">
                <a16:creationId xmlns:a16="http://schemas.microsoft.com/office/drawing/2014/main" id="{2F357B00-C899-A34F-CC4A-48E9DDA5567A}"/>
              </a:ext>
              <a:ext uri="{C183D7F6-B498-43B3-948B-1728B52AA6E4}">
                <adec:decorative xmlns:adec="http://schemas.microsoft.com/office/drawing/2017/decorative" val="1"/>
              </a:ext>
            </a:extLst>
          </p:cNvPr>
          <p:cNvSpPr/>
          <p:nvPr/>
        </p:nvSpPr>
        <p:spPr>
          <a:xfrm>
            <a:off x="4781862" y="5914693"/>
            <a:ext cx="3729702" cy="300146"/>
          </a:xfrm>
          <a:prstGeom prst="rect">
            <a:avLst/>
          </a:prstGeom>
          <a:noFill/>
          <a:ln w="9525" cap="flat" cmpd="sng" algn="ctr">
            <a:solidFill>
              <a:schemeClr val="accent2"/>
            </a:solidFill>
            <a:prstDash val="solid"/>
            <a:round/>
            <a:headEnd type="none" w="med" len="med"/>
            <a:tailEnd type="none" w="med" len="med"/>
          </a:ln>
        </p:spPr>
        <p:style>
          <a:lnRef idx="0">
            <a:scrgbClr r="0" g="0" b="0"/>
          </a:lnRef>
          <a:fillRef idx="0">
            <a:scrgbClr r="0" g="0" b="0"/>
          </a:fillRef>
          <a:effectRef idx="0">
            <a:scrgbClr r="0" g="0" b="0"/>
          </a:effectRef>
          <a:fontRef idx="minor">
            <a:schemeClr val="accent2"/>
          </a:fontRef>
        </p:style>
        <p:txBody>
          <a:bodyPr rtlCol="0" anchor="ctr"/>
          <a:lstStyle/>
          <a:p>
            <a:pPr algn="ctr"/>
            <a:endParaRPr lang="en-US"/>
          </a:p>
        </p:txBody>
      </p:sp>
    </p:spTree>
    <p:extLst>
      <p:ext uri="{BB962C8B-B14F-4D97-AF65-F5344CB8AC3E}">
        <p14:creationId xmlns:p14="http://schemas.microsoft.com/office/powerpoint/2010/main" val="24479941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4"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0930CFB0-D2B7-437F-8981-207DBA2A813F}"/>
              </a:ext>
            </a:extLst>
          </p:cNvPr>
          <p:cNvSpPr>
            <a:spLocks noGrp="1"/>
          </p:cNvSpPr>
          <p:nvPr>
            <p:ph type="title"/>
          </p:nvPr>
        </p:nvSpPr>
        <p:spPr/>
        <p:txBody>
          <a:bodyPr/>
          <a:lstStyle/>
          <a:p>
            <a:r>
              <a:rPr lang="en-US" dirty="0"/>
              <a:t>Code…</a:t>
            </a:r>
          </a:p>
        </p:txBody>
      </p:sp>
      <p:sp>
        <p:nvSpPr>
          <p:cNvPr id="5" name="Text Placeholder 4">
            <a:extLst>
              <a:ext uri="{FF2B5EF4-FFF2-40B4-BE49-F238E27FC236}">
                <a16:creationId xmlns:a16="http://schemas.microsoft.com/office/drawing/2014/main" id="{6BF9353D-E2F6-5C2D-E559-4D7DA584DF5F}"/>
              </a:ext>
              <a:ext uri="{C183D7F6-B498-43B3-948B-1728B52AA6E4}">
                <adec:decorative xmlns:adec="http://schemas.microsoft.com/office/drawing/2017/decorative" val="1"/>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41645094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42819D-6D6F-85AF-5816-7FFAE79AF0F0}"/>
              </a:ext>
            </a:extLst>
          </p:cNvPr>
          <p:cNvSpPr>
            <a:spLocks noGrp="1"/>
          </p:cNvSpPr>
          <p:nvPr>
            <p:ph type="title"/>
          </p:nvPr>
        </p:nvSpPr>
        <p:spPr/>
        <p:txBody>
          <a:bodyPr/>
          <a:lstStyle/>
          <a:p>
            <a:r>
              <a:rPr lang="en-US" dirty="0"/>
              <a:t>GPI: Generalized Policy Iteration</a:t>
            </a:r>
          </a:p>
        </p:txBody>
      </p:sp>
      <p:sp>
        <p:nvSpPr>
          <p:cNvPr id="4" name="Text Placeholder 3">
            <a:extLst>
              <a:ext uri="{FF2B5EF4-FFF2-40B4-BE49-F238E27FC236}">
                <a16:creationId xmlns:a16="http://schemas.microsoft.com/office/drawing/2014/main" id="{2C33D3AB-3DD4-67C8-8B22-66483B0E48C0}"/>
              </a:ext>
            </a:extLst>
          </p:cNvPr>
          <p:cNvSpPr>
            <a:spLocks noGrp="1"/>
          </p:cNvSpPr>
          <p:nvPr>
            <p:ph type="body" idx="1"/>
          </p:nvPr>
        </p:nvSpPr>
        <p:spPr/>
        <p:txBody>
          <a:bodyPr/>
          <a:lstStyle/>
          <a:p>
            <a:r>
              <a:rPr lang="en-US" dirty="0"/>
              <a:t>Generalizing value and policy iteration into a single framework.</a:t>
            </a:r>
          </a:p>
        </p:txBody>
      </p:sp>
    </p:spTree>
    <p:extLst>
      <p:ext uri="{BB962C8B-B14F-4D97-AF65-F5344CB8AC3E}">
        <p14:creationId xmlns:p14="http://schemas.microsoft.com/office/powerpoint/2010/main" val="3911526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863CDC-59B1-7366-BF66-6498BF0BDA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27E42A-9F26-864D-705B-AD1A7F35C8A1}"/>
              </a:ext>
            </a:extLst>
          </p:cNvPr>
          <p:cNvSpPr>
            <a:spLocks noGrp="1"/>
          </p:cNvSpPr>
          <p:nvPr>
            <p:ph type="title"/>
          </p:nvPr>
        </p:nvSpPr>
        <p:spPr/>
        <p:txBody>
          <a:bodyPr/>
          <a:lstStyle/>
          <a:p>
            <a:r>
              <a:rPr lang="en-US" dirty="0"/>
              <a:t>GPI: Generalized Policy Iteration </a:t>
            </a:r>
          </a:p>
        </p:txBody>
      </p:sp>
      <mc:AlternateContent xmlns:mc="http://schemas.openxmlformats.org/markup-compatibility/2006" xmlns:a14="http://schemas.microsoft.com/office/drawing/2010/main">
        <mc:Choice Requires="a14">
          <p:sp>
            <p:nvSpPr>
              <p:cNvPr id="3" name="Content Placeholder 2" descr="Steps. Policy evaluation: make the value function consistent with the current policy pi . Policy improvement: make policy greedy with respect to the current value function estimate V. Most DP methods can be described as a special case of GPI:. Policy iteration: each evaluation and improvement step is completed (by a sweep over S) before moving on. Value iteration: uses a single iteration for the policy evaluation step. Asynchronous DP: Instead of sweeps over S, updates states in some other order (e.g., focus on states where the value function changed a lot in the last step). This interleaves pol. eval. and pol. Improvement. All three approaches typically converge to the optimal solution due to the Policy Improvement Theorem">
                <a:extLst>
                  <a:ext uri="{FF2B5EF4-FFF2-40B4-BE49-F238E27FC236}">
                    <a16:creationId xmlns:a16="http://schemas.microsoft.com/office/drawing/2014/main" id="{439A61E8-38E7-2C6A-1812-C00D57947FA6}"/>
                  </a:ext>
                </a:extLst>
              </p:cNvPr>
              <p:cNvSpPr>
                <a:spLocks noGrp="1"/>
              </p:cNvSpPr>
              <p:nvPr>
                <p:ph idx="1"/>
              </p:nvPr>
            </p:nvSpPr>
            <p:spPr>
              <a:xfrm>
                <a:off x="838201" y="1397330"/>
                <a:ext cx="7223876" cy="4779633"/>
              </a:xfrm>
            </p:spPr>
            <p:txBody>
              <a:bodyPr>
                <a:normAutofit fontScale="70000" lnSpcReduction="20000"/>
              </a:bodyPr>
              <a:lstStyle/>
              <a:p>
                <a:pPr marL="0" indent="0">
                  <a:buNone/>
                </a:pPr>
                <a:endParaRPr lang="en-US" dirty="0"/>
              </a:p>
              <a:p>
                <a:pPr marL="0" indent="0">
                  <a:buNone/>
                </a:pPr>
                <a:r>
                  <a:rPr lang="en-US" b="1" dirty="0"/>
                  <a:t>Steps</a:t>
                </a:r>
              </a:p>
              <a:p>
                <a:pPr lvl="1"/>
                <a:r>
                  <a:rPr lang="en-US" b="1" dirty="0"/>
                  <a:t>Policy evaluation</a:t>
                </a:r>
                <a:r>
                  <a:rPr lang="en-US" dirty="0"/>
                  <a:t>: make the value function consistent with the current policy </a:t>
                </a:r>
                <a14:m>
                  <m:oMath xmlns:m="http://schemas.openxmlformats.org/officeDocument/2006/math">
                    <m:r>
                      <a:rPr lang="en-US" b="0" i="1" smtClean="0">
                        <a:latin typeface="Cambria Math" panose="02040503050406030204" pitchFamily="18" charset="0"/>
                      </a:rPr>
                      <m:t>𝜋</m:t>
                    </m:r>
                  </m:oMath>
                </a14:m>
                <a:r>
                  <a:rPr lang="en-US" dirty="0"/>
                  <a:t>.</a:t>
                </a:r>
              </a:p>
              <a:p>
                <a:pPr lvl="1"/>
                <a:r>
                  <a:rPr lang="en-US" b="1" dirty="0"/>
                  <a:t>Policy improvement</a:t>
                </a:r>
                <a:r>
                  <a:rPr lang="en-US" dirty="0"/>
                  <a:t>: make policy greedy with respect to the current value function estimate </a:t>
                </a:r>
                <a14:m>
                  <m:oMath xmlns:m="http://schemas.openxmlformats.org/officeDocument/2006/math">
                    <m:r>
                      <a:rPr lang="en-US" b="0" i="1" smtClean="0">
                        <a:latin typeface="Cambria Math" panose="02040503050406030204" pitchFamily="18" charset="0"/>
                      </a:rPr>
                      <m:t>𝑉</m:t>
                    </m:r>
                    <m:r>
                      <a:rPr lang="en-US" b="0" i="1" smtClean="0">
                        <a:latin typeface="Cambria Math" panose="02040503050406030204" pitchFamily="18" charset="0"/>
                      </a:rPr>
                      <m:t>.</m:t>
                    </m:r>
                  </m:oMath>
                </a14:m>
                <a:endParaRPr lang="en-US" dirty="0"/>
              </a:p>
              <a:p>
                <a:endParaRPr lang="en-US" dirty="0"/>
              </a:p>
              <a:p>
                <a:pPr marL="0" indent="0">
                  <a:buNone/>
                </a:pPr>
                <a:r>
                  <a:rPr lang="en-US" dirty="0"/>
                  <a:t>Most DP methods can be described as a special case of GPI:</a:t>
                </a:r>
              </a:p>
              <a:p>
                <a:pPr lvl="1"/>
                <a:r>
                  <a:rPr lang="en-US" b="1" dirty="0"/>
                  <a:t>Policy iteration</a:t>
                </a:r>
                <a:r>
                  <a:rPr lang="en-US" dirty="0"/>
                  <a:t>: each evaluation and improvement step is completed (by a sweep over </a:t>
                </a:r>
                <a14:m>
                  <m:oMath xmlns:m="http://schemas.openxmlformats.org/officeDocument/2006/math">
                    <m:r>
                      <a:rPr lang="en-US" i="1" smtClean="0">
                        <a:latin typeface="Cambria Math" panose="02040503050406030204" pitchFamily="18" charset="0"/>
                        <a:ea typeface="Cambria Math" panose="02040503050406030204" pitchFamily="18" charset="0"/>
                      </a:rPr>
                      <m:t>𝒮</m:t>
                    </m:r>
                  </m:oMath>
                </a14:m>
                <a:r>
                  <a:rPr lang="en-US" dirty="0"/>
                  <a:t>) before moving on.</a:t>
                </a:r>
              </a:p>
              <a:p>
                <a:pPr lvl="1"/>
                <a:r>
                  <a:rPr lang="en-US" b="1" dirty="0"/>
                  <a:t>Value iteration</a:t>
                </a:r>
                <a:r>
                  <a:rPr lang="en-US" dirty="0"/>
                  <a:t>: uses a single iteration for the policy evaluation step.</a:t>
                </a:r>
              </a:p>
              <a:p>
                <a:pPr lvl="1"/>
                <a:r>
                  <a:rPr lang="en-US" b="1" dirty="0"/>
                  <a:t>Asynchronous DP</a:t>
                </a:r>
                <a:r>
                  <a:rPr lang="en-US" dirty="0"/>
                  <a:t>: Instead of sweeps over </a:t>
                </a:r>
                <a14:m>
                  <m:oMath xmlns:m="http://schemas.openxmlformats.org/officeDocument/2006/math">
                    <m:r>
                      <a:rPr lang="en-US" i="1" smtClean="0">
                        <a:latin typeface="Cambria Math" panose="02040503050406030204" pitchFamily="18" charset="0"/>
                        <a:ea typeface="Cambria Math" panose="02040503050406030204" pitchFamily="18" charset="0"/>
                      </a:rPr>
                      <m:t>𝒮</m:t>
                    </m:r>
                  </m:oMath>
                </a14:m>
                <a:r>
                  <a:rPr lang="en-US" dirty="0"/>
                  <a:t>, updates states in some other order (e.g., focus on states where the value function changed a lot in the last step). This interleaves pol. eval. and pol. Improvement. </a:t>
                </a:r>
              </a:p>
              <a:p>
                <a:pPr marL="0" indent="0">
                  <a:buNone/>
                </a:pPr>
                <a:endParaRPr lang="en-US" dirty="0"/>
              </a:p>
              <a:p>
                <a:pPr marL="0" indent="0">
                  <a:buNone/>
                </a:pPr>
                <a:r>
                  <a:rPr lang="en-US" dirty="0"/>
                  <a:t>All three approaches typically converge to the optimal solution due to the </a:t>
                </a:r>
                <a:r>
                  <a:rPr lang="en-US" b="1" dirty="0"/>
                  <a:t>Policy Improvement Theorem</a:t>
                </a:r>
                <a:r>
                  <a:rPr lang="en-US" dirty="0"/>
                  <a:t>.</a:t>
                </a:r>
              </a:p>
            </p:txBody>
          </p:sp>
        </mc:Choice>
        <mc:Fallback xmlns="">
          <p:sp>
            <p:nvSpPr>
              <p:cNvPr id="3" name="Content Placeholder 2" descr="Steps. Policy evaluation: make the value function consistent with the current policy pi . Policy improvement: make policy greedy with respect to the current value function estimate V. Most DP methods can be described as a special case of GPI:. Policy iteration: each evaluation and improvement step is completed (by a sweep over S) before moving on. Value iteration: uses a single iteration for the policy evaluation step. Asynchronous DP: Instead of sweeps over S, updates states in some other order (e.g., focus on states where the value function changed a lot in the last step). This interleaves pol. eval. and pol. Improvement. All three approaches typically converge to the optimal solution due to the Policy Improvement Theorem">
                <a:extLst>
                  <a:ext uri="{FF2B5EF4-FFF2-40B4-BE49-F238E27FC236}">
                    <a16:creationId xmlns:a16="http://schemas.microsoft.com/office/drawing/2014/main" id="{439A61E8-38E7-2C6A-1812-C00D57947FA6}"/>
                  </a:ext>
                </a:extLst>
              </p:cNvPr>
              <p:cNvSpPr>
                <a:spLocks noGrp="1" noRot="1" noChangeAspect="1" noMove="1" noResize="1" noEditPoints="1" noAdjustHandles="1" noChangeArrowheads="1" noChangeShapeType="1" noTextEdit="1"/>
              </p:cNvSpPr>
              <p:nvPr>
                <p:ph idx="1"/>
              </p:nvPr>
            </p:nvSpPr>
            <p:spPr>
              <a:xfrm>
                <a:off x="838201" y="1397330"/>
                <a:ext cx="7223876" cy="4779633"/>
              </a:xfrm>
              <a:blipFill>
                <a:blip r:embed="rId2"/>
                <a:stretch>
                  <a:fillRect l="-928" r="-675"/>
                </a:stretch>
              </a:blipFill>
            </p:spPr>
            <p:txBody>
              <a:bodyPr/>
              <a:lstStyle/>
              <a:p>
                <a:r>
                  <a:rPr lang="en-US">
                    <a:noFill/>
                  </a:rPr>
                  <a:t> </a:t>
                </a:r>
              </a:p>
            </p:txBody>
          </p:sp>
        </mc:Fallback>
      </mc:AlternateContent>
      <p:pic>
        <p:nvPicPr>
          <p:cNvPr id="7" name="Picture 6" descr="Generalized policy iteration cycle: an evaluation arrow from pi to V, labelled V goes to v pi, and an improvement arrow from V back to pi, labelled pi goes to greedy of V.">
            <a:extLst>
              <a:ext uri="{FF2B5EF4-FFF2-40B4-BE49-F238E27FC236}">
                <a16:creationId xmlns:a16="http://schemas.microsoft.com/office/drawing/2014/main" id="{37D4EB40-D8C7-544A-60A9-FB0F86C14D14}"/>
              </a:ext>
            </a:extLst>
          </p:cNvPr>
          <p:cNvPicPr>
            <a:picLocks noChangeAspect="1"/>
          </p:cNvPicPr>
          <p:nvPr/>
        </p:nvPicPr>
        <p:blipFill>
          <a:blip r:embed="rId3"/>
          <a:srcRect b="38762"/>
          <a:stretch>
            <a:fillRect/>
          </a:stretch>
        </p:blipFill>
        <p:spPr>
          <a:xfrm>
            <a:off x="8760146" y="309335"/>
            <a:ext cx="2682923" cy="2628738"/>
          </a:xfrm>
          <a:prstGeom prst="rect">
            <a:avLst/>
          </a:prstGeom>
        </p:spPr>
      </p:pic>
      <p:pic>
        <p:nvPicPr>
          <p:cNvPr id="10" name="Picture 9" descr="Generalized policy iteration convergence diagram: two lines, v = v pi and pi = greedy(v), meet at the point v star, pi star. A zig-zag path that starts at v, pi alternates between the two lines and approaches the point where both are satisfied.">
            <a:extLst>
              <a:ext uri="{FF2B5EF4-FFF2-40B4-BE49-F238E27FC236}">
                <a16:creationId xmlns:a16="http://schemas.microsoft.com/office/drawing/2014/main" id="{349C9802-DC7A-3741-A414-F95D8B5FE1E8}"/>
              </a:ext>
            </a:extLst>
          </p:cNvPr>
          <p:cNvPicPr>
            <a:picLocks noChangeAspect="1"/>
          </p:cNvPicPr>
          <p:nvPr/>
        </p:nvPicPr>
        <p:blipFill>
          <a:blip r:embed="rId4"/>
          <a:stretch>
            <a:fillRect/>
          </a:stretch>
        </p:blipFill>
        <p:spPr>
          <a:xfrm>
            <a:off x="8490323" y="3585975"/>
            <a:ext cx="3511083" cy="2389817"/>
          </a:xfrm>
          <a:prstGeom prst="rect">
            <a:avLst/>
          </a:prstGeom>
        </p:spPr>
      </p:pic>
    </p:spTree>
    <p:extLst>
      <p:ext uri="{BB962C8B-B14F-4D97-AF65-F5344CB8AC3E}">
        <p14:creationId xmlns:p14="http://schemas.microsoft.com/office/powerpoint/2010/main" val="41592987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64B189-2BE7-EF8E-90AD-B8D2A5B4A30A}"/>
              </a:ext>
            </a:extLst>
          </p:cNvPr>
          <p:cNvSpPr>
            <a:spLocks noGrp="1"/>
          </p:cNvSpPr>
          <p:nvPr>
            <p:ph type="title"/>
          </p:nvPr>
        </p:nvSpPr>
        <p:spPr/>
        <p:txBody>
          <a:bodyPr/>
          <a:lstStyle/>
          <a:p>
            <a:r>
              <a:rPr lang="en-US" dirty="0"/>
              <a:t>Issues with DP Methods</a:t>
            </a:r>
          </a:p>
        </p:txBody>
      </p:sp>
      <mc:AlternateContent xmlns:mc="http://schemas.openxmlformats.org/markup-compatibility/2006" xmlns:a14="http://schemas.microsoft.com/office/drawing/2010/main">
        <mc:Choice Requires="a14">
          <p:sp>
            <p:nvSpPr>
              <p:cNvPr id="3" name="Content Placeholder 2" descr="Require perfect knowledge of the model!. Space Complexity. Tabular method: stores the complete value function as tables V or Q . Time Complexity. Updates repeatedly sweep over the whole state space. Wastes computation by updating states that are not relevant for the optimal behavior. I.e., the optimal policy will never visit them. Tabular methods can not generalize between similar states">
                <a:extLst>
                  <a:ext uri="{FF2B5EF4-FFF2-40B4-BE49-F238E27FC236}">
                    <a16:creationId xmlns:a16="http://schemas.microsoft.com/office/drawing/2014/main" id="{5664E2E2-C328-F2E5-08B7-7436CBE7F52E}"/>
                  </a:ext>
                </a:extLst>
              </p:cNvPr>
              <p:cNvSpPr>
                <a:spLocks noGrp="1"/>
              </p:cNvSpPr>
              <p:nvPr>
                <p:ph idx="1"/>
              </p:nvPr>
            </p:nvSpPr>
            <p:spPr>
              <a:xfrm>
                <a:off x="838200" y="1397330"/>
                <a:ext cx="8804945" cy="4779633"/>
              </a:xfrm>
            </p:spPr>
            <p:txBody>
              <a:bodyPr>
                <a:normAutofit lnSpcReduction="10000"/>
              </a:bodyPr>
              <a:lstStyle/>
              <a:p>
                <a:pPr marL="0" indent="0">
                  <a:buNone/>
                </a:pPr>
                <a:r>
                  <a:rPr lang="en-US" b="1" dirty="0"/>
                  <a:t>Require perfect knowledge of the model!</a:t>
                </a:r>
              </a:p>
              <a:p>
                <a:pPr marL="0" indent="0">
                  <a:buNone/>
                </a:pPr>
                <a:endParaRPr lang="en-US" b="1" dirty="0"/>
              </a:p>
              <a:p>
                <a:pPr marL="0" indent="0">
                  <a:buNone/>
                </a:pPr>
                <a:r>
                  <a:rPr lang="en-US" b="1" dirty="0"/>
                  <a:t>Space Complexity</a:t>
                </a:r>
                <a:endParaRPr lang="en-US" dirty="0"/>
              </a:p>
              <a:p>
                <a:pPr lvl="1"/>
                <a:r>
                  <a:rPr lang="en-US" dirty="0"/>
                  <a:t>Tabular method: stores the complete value function as tables </a:t>
                </a:r>
                <a14:m>
                  <m:oMath xmlns:m="http://schemas.openxmlformats.org/officeDocument/2006/math">
                    <m:r>
                      <a:rPr lang="en-US" b="0" i="1" smtClean="0">
                        <a:latin typeface="Cambria Math" panose="02040503050406030204" pitchFamily="18" charset="0"/>
                      </a:rPr>
                      <m:t>𝑉</m:t>
                    </m:r>
                  </m:oMath>
                </a14:m>
                <a:r>
                  <a:rPr lang="en-US" dirty="0"/>
                  <a:t> or </a:t>
                </a:r>
                <a14:m>
                  <m:oMath xmlns:m="http://schemas.openxmlformats.org/officeDocument/2006/math">
                    <m:r>
                      <a:rPr lang="en-US" b="0" i="1" smtClean="0">
                        <a:latin typeface="Cambria Math" panose="02040503050406030204" pitchFamily="18" charset="0"/>
                      </a:rPr>
                      <m:t>𝑄</m:t>
                    </m:r>
                  </m:oMath>
                </a14:m>
                <a:r>
                  <a:rPr lang="en-US" dirty="0"/>
                  <a:t>. </a:t>
                </a:r>
              </a:p>
              <a:p>
                <a:endParaRPr lang="en-US" dirty="0"/>
              </a:p>
              <a:p>
                <a:pPr marL="0" indent="0">
                  <a:buNone/>
                </a:pPr>
                <a:r>
                  <a:rPr lang="en-US" b="1" dirty="0"/>
                  <a:t>Time Complexity</a:t>
                </a:r>
              </a:p>
              <a:p>
                <a:pPr lvl="1"/>
                <a:r>
                  <a:rPr lang="en-US" dirty="0"/>
                  <a:t>Updates repeatedly sweep over the whole state space.</a:t>
                </a:r>
              </a:p>
              <a:p>
                <a:pPr lvl="1"/>
                <a:r>
                  <a:rPr lang="en-US" dirty="0"/>
                  <a:t>Wastes computation by updating states that are not relevant for the optimal behavior. I.e., the optimal policy will never visit them.</a:t>
                </a:r>
              </a:p>
              <a:p>
                <a:pPr lvl="1"/>
                <a:r>
                  <a:rPr lang="en-US" dirty="0"/>
                  <a:t>Tabular methods can not generalize between similar states.</a:t>
                </a:r>
              </a:p>
            </p:txBody>
          </p:sp>
        </mc:Choice>
        <mc:Fallback xmlns="">
          <p:sp>
            <p:nvSpPr>
              <p:cNvPr id="3" name="Content Placeholder 2" descr="Require perfect knowledge of the model!. Space Complexity. Tabular method: stores the complete value function as tables V or Q . Time Complexity. Updates repeatedly sweep over the whole state space. Wastes computation by updating states that are not relevant for the optimal behavior. I.e., the optimal policy will never visit them. Tabular methods can not generalize between similar states">
                <a:extLst>
                  <a:ext uri="{FF2B5EF4-FFF2-40B4-BE49-F238E27FC236}">
                    <a16:creationId xmlns:a16="http://schemas.microsoft.com/office/drawing/2014/main" id="{5664E2E2-C328-F2E5-08B7-7436CBE7F52E}"/>
                  </a:ext>
                </a:extLst>
              </p:cNvPr>
              <p:cNvSpPr>
                <a:spLocks noGrp="1" noRot="1" noChangeAspect="1" noMove="1" noResize="1" noEditPoints="1" noAdjustHandles="1" noChangeArrowheads="1" noChangeShapeType="1" noTextEdit="1"/>
              </p:cNvSpPr>
              <p:nvPr>
                <p:ph idx="1"/>
              </p:nvPr>
            </p:nvSpPr>
            <p:spPr>
              <a:xfrm>
                <a:off x="838200" y="1397330"/>
                <a:ext cx="8804945" cy="4779633"/>
              </a:xfrm>
              <a:blipFill>
                <a:blip r:embed="rId2"/>
                <a:stretch>
                  <a:fillRect l="-1454" t="-2806" r="-1108"/>
                </a:stretch>
              </a:blipFill>
            </p:spPr>
            <p:txBody>
              <a:bodyPr/>
              <a:lstStyle/>
              <a:p>
                <a:r>
                  <a:rPr lang="en-US">
                    <a:noFill/>
                  </a:rPr>
                  <a:t> </a:t>
                </a:r>
              </a:p>
            </p:txBody>
          </p:sp>
        </mc:Fallback>
      </mc:AlternateContent>
      <p:sp>
        <p:nvSpPr>
          <p:cNvPr id="4" name="Right Brace 3">
            <a:extLst>
              <a:ext uri="{FF2B5EF4-FFF2-40B4-BE49-F238E27FC236}">
                <a16:creationId xmlns:a16="http://schemas.microsoft.com/office/drawing/2014/main" id="{6339C8F8-48C4-0C07-3B0E-F41FE0B782D3}"/>
              </a:ext>
              <a:ext uri="{C183D7F6-B498-43B3-948B-1728B52AA6E4}">
                <adec:decorative xmlns:adec="http://schemas.microsoft.com/office/drawing/2017/decorative" val="1"/>
              </a:ext>
            </a:extLst>
          </p:cNvPr>
          <p:cNvSpPr/>
          <p:nvPr/>
        </p:nvSpPr>
        <p:spPr>
          <a:xfrm>
            <a:off x="9582325" y="4408415"/>
            <a:ext cx="281031" cy="1103152"/>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n-US"/>
          </a:p>
        </p:txBody>
      </p:sp>
      <p:sp>
        <p:nvSpPr>
          <p:cNvPr id="5" name="TextBox 4">
            <a:extLst>
              <a:ext uri="{FF2B5EF4-FFF2-40B4-BE49-F238E27FC236}">
                <a16:creationId xmlns:a16="http://schemas.microsoft.com/office/drawing/2014/main" id="{DC7DAF1B-95EB-22B1-1191-7C8BC9E6FAC3}"/>
              </a:ext>
            </a:extLst>
          </p:cNvPr>
          <p:cNvSpPr txBox="1"/>
          <p:nvPr/>
        </p:nvSpPr>
        <p:spPr>
          <a:xfrm>
            <a:off x="9987094" y="4636825"/>
            <a:ext cx="1635854" cy="64633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wrap="square" rtlCol="0">
            <a:spAutoFit/>
          </a:bodyPr>
          <a:lstStyle/>
          <a:p>
            <a:r>
              <a:rPr lang="en-US" dirty="0"/>
              <a:t>Asynchronous DP can help</a:t>
            </a:r>
          </a:p>
        </p:txBody>
      </p:sp>
    </p:spTree>
    <p:extLst>
      <p:ext uri="{BB962C8B-B14F-4D97-AF65-F5344CB8AC3E}">
        <p14:creationId xmlns:p14="http://schemas.microsoft.com/office/powerpoint/2010/main" val="248696844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84FA30-1294-3E3D-F7B7-AE5ECD84C7FF}"/>
              </a:ext>
            </a:extLst>
          </p:cNvPr>
          <p:cNvSpPr>
            <a:spLocks noGrp="1"/>
          </p:cNvSpPr>
          <p:nvPr>
            <p:ph type="title"/>
          </p:nvPr>
        </p:nvSpPr>
        <p:spPr/>
        <p:txBody>
          <a:bodyPr/>
          <a:lstStyle/>
          <a:p>
            <a:r>
              <a:rPr lang="en-US" dirty="0"/>
              <a:t>Efficiency</a:t>
            </a:r>
          </a:p>
        </p:txBody>
      </p:sp>
      <mc:AlternateContent xmlns:mc="http://schemas.openxmlformats.org/markup-compatibility/2006" xmlns:a14="http://schemas.microsoft.com/office/drawing/2010/main">
        <mc:Choice Requires="a14">
          <p:sp>
            <p:nvSpPr>
              <p:cNvPr id="3" name="Content Placeholder 2" descr="Direct Search: In each state we can choose one of the available actions. Search space O(given A given to the power the absolute value of S) is exponential in the number of states the absolute value of S . LP (linear program): Linearize the non-linear Bellman Optimality Equations by introducing constraints for all action/state pairs. Leads to a time complexity of O(the absolute value of S to the power 3) . DP: Time O(the absolute value of S squared times given A given) is quadratic in the absolute value of S . Sparse transition matrices lead to better performance. Conclusion: Search and LP are impractical. The number of actions is typically relatively small. DP can be used today with millions of states">
                <a:extLst>
                  <a:ext uri="{FF2B5EF4-FFF2-40B4-BE49-F238E27FC236}">
                    <a16:creationId xmlns:a16="http://schemas.microsoft.com/office/drawing/2014/main" id="{A665C76A-B55E-DE87-E461-B000ACB29197}"/>
                  </a:ext>
                </a:extLst>
              </p:cNvPr>
              <p:cNvSpPr>
                <a:spLocks noGrp="1"/>
              </p:cNvSpPr>
              <p:nvPr>
                <p:ph idx="1"/>
              </p:nvPr>
            </p:nvSpPr>
            <p:spPr/>
            <p:txBody>
              <a:bodyPr>
                <a:normAutofit fontScale="85000" lnSpcReduction="20000"/>
              </a:bodyPr>
              <a:lstStyle/>
              <a:p>
                <a:r>
                  <a:rPr lang="en-US" b="1" dirty="0"/>
                  <a:t>Direct Search</a:t>
                </a:r>
                <a:r>
                  <a:rPr lang="en-US" dirty="0"/>
                  <a:t>: In each state we can choose one of the available actions. Search space </a:t>
                </a:r>
                <a14:m>
                  <m:oMath xmlns:m="http://schemas.openxmlformats.org/officeDocument/2006/math">
                    <m:r>
                      <a:rPr lang="en-US" i="1" dirty="0">
                        <a:latin typeface="Cambria Math" panose="02040503050406030204" pitchFamily="18" charset="0"/>
                      </a:rPr>
                      <m:t>𝑂</m:t>
                    </m:r>
                    <m:r>
                      <a:rPr lang="en-US" i="1" dirty="0">
                        <a:latin typeface="Cambria Math" panose="02040503050406030204" pitchFamily="18" charset="0"/>
                      </a:rPr>
                      <m:t>(</m:t>
                    </m:r>
                    <m:sSup>
                      <m:sSupPr>
                        <m:ctrlPr>
                          <a:rPr lang="en-US" i="1">
                            <a:latin typeface="Cambria Math" panose="02040503050406030204" pitchFamily="18" charset="0"/>
                          </a:rPr>
                        </m:ctrlPr>
                      </m:sSupPr>
                      <m:e>
                        <m:r>
                          <a:rPr lang="en-US" i="1">
                            <a:latin typeface="Cambria Math" panose="02040503050406030204" pitchFamily="18" charset="0"/>
                          </a:rPr>
                          <m:t>|</m:t>
                        </m:r>
                        <m:r>
                          <a:rPr lang="en-US" i="1">
                            <a:latin typeface="Cambria Math" panose="02040503050406030204" pitchFamily="18" charset="0"/>
                            <a:ea typeface="Cambria Math" panose="02040503050406030204" pitchFamily="18" charset="0"/>
                          </a:rPr>
                          <m:t>𝒜</m:t>
                        </m:r>
                        <m:r>
                          <a:rPr lang="en-US" i="1">
                            <a:latin typeface="Cambria Math" panose="02040503050406030204" pitchFamily="18" charset="0"/>
                            <a:ea typeface="Cambria Math" panose="02040503050406030204" pitchFamily="18" charset="0"/>
                          </a:rPr>
                          <m:t>|</m:t>
                        </m:r>
                      </m:e>
                      <m:sup>
                        <m:d>
                          <m:dPr>
                            <m:begChr m:val="|"/>
                            <m:endChr m:val="|"/>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𝒮</m:t>
                            </m:r>
                          </m:e>
                        </m:d>
                      </m:sup>
                    </m:sSup>
                    <m:r>
                      <a:rPr lang="en-US" i="1">
                        <a:latin typeface="Cambria Math" panose="02040503050406030204" pitchFamily="18" charset="0"/>
                        <a:ea typeface="Cambria Math" panose="02040503050406030204" pitchFamily="18" charset="0"/>
                      </a:rPr>
                      <m:t>)</m:t>
                    </m:r>
                  </m:oMath>
                </a14:m>
                <a:r>
                  <a:rPr lang="en-US" dirty="0"/>
                  <a:t> is </a:t>
                </a:r>
                <a:r>
                  <a:rPr lang="en-US" b="1" dirty="0"/>
                  <a:t>exponential</a:t>
                </a:r>
                <a:r>
                  <a:rPr lang="en-US" dirty="0"/>
                  <a:t> in the number of states </a:t>
                </a:r>
                <a14:m>
                  <m:oMath xmlns:m="http://schemas.openxmlformats.org/officeDocument/2006/math">
                    <m:d>
                      <m:dPr>
                        <m:begChr m:val="|"/>
                        <m:endChr m:val="|"/>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𝒮</m:t>
                        </m:r>
                      </m:e>
                    </m:d>
                    <m:r>
                      <a:rPr lang="en-US" b="0" i="1" smtClean="0">
                        <a:latin typeface="Cambria Math" panose="02040503050406030204" pitchFamily="18" charset="0"/>
                        <a:ea typeface="Cambria Math" panose="02040503050406030204" pitchFamily="18" charset="0"/>
                      </a:rPr>
                      <m:t>.</m:t>
                    </m:r>
                  </m:oMath>
                </a14:m>
                <a:endParaRPr lang="en-US" dirty="0"/>
              </a:p>
              <a:p>
                <a:endParaRPr lang="en-US" dirty="0"/>
              </a:p>
              <a:p>
                <a:r>
                  <a:rPr lang="en-US" b="1" dirty="0"/>
                  <a:t>LP (linear program): </a:t>
                </a:r>
                <a:r>
                  <a:rPr lang="en-US" dirty="0"/>
                  <a:t>Linearize the non-linear Bellman Optimality Equations by introducing constraints for all action/state pairs. Leads to a time complexity of </a:t>
                </a:r>
                <a14:m>
                  <m:oMath xmlns:m="http://schemas.openxmlformats.org/officeDocument/2006/math">
                    <m:r>
                      <a:rPr lang="en-US" i="1" dirty="0">
                        <a:latin typeface="Cambria Math" panose="02040503050406030204" pitchFamily="18" charset="0"/>
                      </a:rPr>
                      <m:t>𝑂</m:t>
                    </m:r>
                    <m:r>
                      <a:rPr lang="en-US" i="1" dirty="0">
                        <a:latin typeface="Cambria Math" panose="02040503050406030204" pitchFamily="18" charset="0"/>
                      </a:rPr>
                      <m:t>(</m:t>
                    </m:r>
                    <m:sSup>
                      <m:sSupPr>
                        <m:ctrlPr>
                          <a:rPr lang="en-US" i="1">
                            <a:latin typeface="Cambria Math" panose="02040503050406030204" pitchFamily="18" charset="0"/>
                            <a:ea typeface="Cambria Math" panose="02040503050406030204" pitchFamily="18" charset="0"/>
                          </a:rPr>
                        </m:ctrlPr>
                      </m:sSupPr>
                      <m:e>
                        <m:d>
                          <m:dPr>
                            <m:begChr m:val="|"/>
                            <m:endChr m:val="|"/>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𝒮</m:t>
                            </m:r>
                          </m:e>
                        </m:d>
                      </m:e>
                      <m:sup>
                        <m:r>
                          <a:rPr lang="en-US" b="0" i="1" smtClean="0">
                            <a:latin typeface="Cambria Math" panose="02040503050406030204" pitchFamily="18" charset="0"/>
                            <a:ea typeface="Cambria Math" panose="02040503050406030204" pitchFamily="18" charset="0"/>
                          </a:rPr>
                          <m:t>3</m:t>
                        </m:r>
                      </m:sup>
                    </m:sSup>
                    <m:r>
                      <a:rPr lang="en-US" b="0" i="1" smtClean="0">
                        <a:latin typeface="Cambria Math" panose="02040503050406030204" pitchFamily="18" charset="0"/>
                        <a:ea typeface="Cambria Math" panose="02040503050406030204" pitchFamily="18" charset="0"/>
                      </a:rPr>
                      <m:t>)</m:t>
                    </m:r>
                  </m:oMath>
                </a14:m>
                <a:r>
                  <a:rPr lang="en-US" dirty="0"/>
                  <a:t>.</a:t>
                </a:r>
              </a:p>
              <a:p>
                <a:endParaRPr lang="en-US" dirty="0"/>
              </a:p>
              <a:p>
                <a:r>
                  <a:rPr lang="en-US" b="1" dirty="0"/>
                  <a:t>DP</a:t>
                </a:r>
                <a:r>
                  <a:rPr lang="en-US" dirty="0"/>
                  <a:t>: Time </a:t>
                </a:r>
                <a14:m>
                  <m:oMath xmlns:m="http://schemas.openxmlformats.org/officeDocument/2006/math">
                    <m:r>
                      <a:rPr lang="en-US" i="1" dirty="0" smtClean="0">
                        <a:latin typeface="Cambria Math" panose="02040503050406030204" pitchFamily="18" charset="0"/>
                      </a:rPr>
                      <m:t>𝑂</m:t>
                    </m:r>
                    <m:r>
                      <a:rPr lang="en-US" i="1" dirty="0" smtClean="0">
                        <a:latin typeface="Cambria Math" panose="02040503050406030204" pitchFamily="18" charset="0"/>
                      </a:rPr>
                      <m:t>(</m:t>
                    </m:r>
                    <m:sSup>
                      <m:sSupPr>
                        <m:ctrlPr>
                          <a:rPr lang="en-US" i="1">
                            <a:latin typeface="Cambria Math" panose="02040503050406030204" pitchFamily="18" charset="0"/>
                            <a:ea typeface="Cambria Math" panose="02040503050406030204" pitchFamily="18" charset="0"/>
                          </a:rPr>
                        </m:ctrlPr>
                      </m:sSupPr>
                      <m:e>
                        <m:d>
                          <m:dPr>
                            <m:begChr m:val="|"/>
                            <m:endChr m:val="|"/>
                            <m:ctrlPr>
                              <a:rPr lang="en-US" i="1">
                                <a:latin typeface="Cambria Math" panose="02040503050406030204" pitchFamily="18" charset="0"/>
                                <a:ea typeface="Cambria Math" panose="02040503050406030204" pitchFamily="18" charset="0"/>
                              </a:rPr>
                            </m:ctrlPr>
                          </m:dPr>
                          <m:e>
                            <m:r>
                              <a:rPr lang="en-US" i="1">
                                <a:latin typeface="Cambria Math" panose="02040503050406030204" pitchFamily="18" charset="0"/>
                                <a:ea typeface="Cambria Math" panose="02040503050406030204" pitchFamily="18" charset="0"/>
                              </a:rPr>
                              <m:t>𝒮</m:t>
                            </m:r>
                          </m:e>
                        </m:d>
                      </m:e>
                      <m:sup>
                        <m:r>
                          <a:rPr lang="en-US" b="0" i="1" smtClean="0">
                            <a:latin typeface="Cambria Math" panose="02040503050406030204" pitchFamily="18" charset="0"/>
                            <a:ea typeface="Cambria Math" panose="02040503050406030204" pitchFamily="18" charset="0"/>
                          </a:rPr>
                          <m:t>2</m:t>
                        </m:r>
                      </m:sup>
                    </m:sSup>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rPr>
                      <m:t>|</m:t>
                    </m:r>
                    <m:r>
                      <a:rPr lang="en-US" i="1">
                        <a:latin typeface="Cambria Math" panose="02040503050406030204" pitchFamily="18" charset="0"/>
                        <a:ea typeface="Cambria Math" panose="02040503050406030204" pitchFamily="18" charset="0"/>
                      </a:rPr>
                      <m:t>𝒜</m:t>
                    </m:r>
                    <m:r>
                      <a:rPr lang="en-US" i="1">
                        <a:latin typeface="Cambria Math" panose="02040503050406030204" pitchFamily="18" charset="0"/>
                        <a:ea typeface="Cambria Math" panose="02040503050406030204" pitchFamily="18" charset="0"/>
                      </a:rPr>
                      <m:t>|)</m:t>
                    </m:r>
                  </m:oMath>
                </a14:m>
                <a:r>
                  <a:rPr lang="en-US" dirty="0"/>
                  <a:t> is </a:t>
                </a:r>
                <a:r>
                  <a:rPr lang="en-US" b="1" dirty="0"/>
                  <a:t>quadratic</a:t>
                </a:r>
                <a:r>
                  <a:rPr lang="en-US" dirty="0"/>
                  <a:t> in </a:t>
                </a:r>
                <a14:m>
                  <m:oMath xmlns:m="http://schemas.openxmlformats.org/officeDocument/2006/math">
                    <m:d>
                      <m:dPr>
                        <m:begChr m:val="|"/>
                        <m:endChr m:val="|"/>
                        <m:ctrlPr>
                          <a:rPr lang="en-US" i="1" smtClean="0">
                            <a:latin typeface="Cambria Math" panose="02040503050406030204" pitchFamily="18" charset="0"/>
                            <a:ea typeface="Cambria Math" panose="02040503050406030204" pitchFamily="18" charset="0"/>
                          </a:rPr>
                        </m:ctrlPr>
                      </m:dPr>
                      <m:e>
                        <m:r>
                          <a:rPr lang="en-US" i="1" smtClean="0">
                            <a:latin typeface="Cambria Math" panose="02040503050406030204" pitchFamily="18" charset="0"/>
                            <a:ea typeface="Cambria Math" panose="02040503050406030204" pitchFamily="18" charset="0"/>
                          </a:rPr>
                          <m:t>𝒮</m:t>
                        </m:r>
                      </m:e>
                    </m:d>
                  </m:oMath>
                </a14:m>
                <a:r>
                  <a:rPr lang="en-US" dirty="0"/>
                  <a:t>.</a:t>
                </a:r>
              </a:p>
              <a:p>
                <a:pPr marL="0" indent="0">
                  <a:buNone/>
                </a:pPr>
                <a:endParaRPr lang="en-US" dirty="0"/>
              </a:p>
              <a:p>
                <a:pPr marL="0" indent="0">
                  <a:buNone/>
                </a:pPr>
                <a:r>
                  <a:rPr lang="en-US" dirty="0"/>
                  <a:t>Sparse transition matrices lead to better performance.</a:t>
                </a:r>
              </a:p>
              <a:p>
                <a:pPr marL="0" indent="0">
                  <a:buNone/>
                </a:pPr>
                <a:endParaRPr lang="en-US" dirty="0"/>
              </a:p>
              <a:p>
                <a:pPr marL="0" indent="0">
                  <a:buNone/>
                </a:pPr>
                <a:r>
                  <a:rPr lang="en-US" b="1" dirty="0"/>
                  <a:t>Conclusion</a:t>
                </a:r>
                <a:r>
                  <a:rPr lang="en-US" dirty="0"/>
                  <a:t>: Search and LP are impractical. The number of actions is typically relatively small. </a:t>
                </a:r>
                <a:r>
                  <a:rPr lang="en-US" b="1" dirty="0"/>
                  <a:t>DP can be used today with millions of states.</a:t>
                </a:r>
              </a:p>
            </p:txBody>
          </p:sp>
        </mc:Choice>
        <mc:Fallback xmlns="">
          <p:sp>
            <p:nvSpPr>
              <p:cNvPr id="3" name="Content Placeholder 2" descr="Direct Search: In each state we can choose one of the available actions. Search space O(given A given to the power the absolute value of S) is exponential in the number of states the absolute value of S . LP (linear program): Linearize the non-linear Bellman Optimality Equations by introducing constraints for all action/state pairs. Leads to a time complexity of O(the absolute value of S to the power 3) . DP: Time O(the absolute value of S squared times given A given) is quadratic in the absolute value of S . Sparse transition matrices lead to better performance. Conclusion: Search and LP are impractical. The number of actions is typically relatively small. DP can be used today with millions of states">
                <a:extLst>
                  <a:ext uri="{FF2B5EF4-FFF2-40B4-BE49-F238E27FC236}">
                    <a16:creationId xmlns:a16="http://schemas.microsoft.com/office/drawing/2014/main" id="{A665C76A-B55E-DE87-E461-B000ACB29197}"/>
                  </a:ext>
                </a:extLst>
              </p:cNvPr>
              <p:cNvSpPr>
                <a:spLocks noGrp="1" noRot="1" noChangeAspect="1" noMove="1" noResize="1" noEditPoints="1" noAdjustHandles="1" noChangeArrowheads="1" noChangeShapeType="1" noTextEdit="1"/>
              </p:cNvSpPr>
              <p:nvPr>
                <p:ph idx="1"/>
              </p:nvPr>
            </p:nvSpPr>
            <p:spPr>
              <a:blipFill>
                <a:blip r:embed="rId2"/>
                <a:stretch>
                  <a:fillRect l="-928" t="-2806"/>
                </a:stretch>
              </a:blipFill>
            </p:spPr>
            <p:txBody>
              <a:bodyPr/>
              <a:lstStyle/>
              <a:p>
                <a:r>
                  <a:rPr lang="en-US">
                    <a:noFill/>
                  </a:rPr>
                  <a:t> </a:t>
                </a:r>
              </a:p>
            </p:txBody>
          </p:sp>
        </mc:Fallback>
      </mc:AlternateContent>
    </p:spTree>
    <p:extLst>
      <p:ext uri="{BB962C8B-B14F-4D97-AF65-F5344CB8AC3E}">
        <p14:creationId xmlns:p14="http://schemas.microsoft.com/office/powerpoint/2010/main" val="25510672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718276" y="729523"/>
            <a:ext cx="6858000" cy="5398953"/>
          </a:xfrm>
          <a:prstGeom prst="rect">
            <a:avLst/>
          </a:prstGeom>
          <a:ln>
            <a:noFill/>
          </a:ln>
          <a:effectLst>
            <a:outerShdw blurRad="419100" dist="152400" sx="94000" sy="94000" algn="l" rotWithShape="0">
              <a:prstClr val="black">
                <a:alpha val="3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E2C52A3-FAA4-BCF8-A90D-D0A2BBA5D10E}"/>
              </a:ext>
            </a:extLst>
          </p:cNvPr>
          <p:cNvSpPr>
            <a:spLocks noGrp="1"/>
          </p:cNvSpPr>
          <p:nvPr>
            <p:ph type="title"/>
          </p:nvPr>
        </p:nvSpPr>
        <p:spPr>
          <a:xfrm>
            <a:off x="758952" y="785366"/>
            <a:ext cx="3687405" cy="2072853"/>
          </a:xfrm>
        </p:spPr>
        <p:txBody>
          <a:bodyPr anchor="t">
            <a:normAutofit/>
          </a:bodyPr>
          <a:lstStyle/>
          <a:p>
            <a:r>
              <a:rPr lang="en-US" sz="4000" dirty="0"/>
              <a:t>What You Need to Know</a:t>
            </a:r>
          </a:p>
        </p:txBody>
      </p:sp>
      <mc:AlternateContent xmlns:mc="http://schemas.openxmlformats.org/markup-compatibility/2006" xmlns:a14="http://schemas.microsoft.com/office/drawing/2010/main">
        <mc:Choice Requires="a14">
          <p:sp>
            <p:nvSpPr>
              <p:cNvPr id="3" name="Content Placeholder 2" descr="Requirements:. Model access: DP methods need access to the model’s function p . Small discrete state/action space since it is a tabular method. Tasks:. Prediction: Calculates the value function for a given policy called in DP policy evaluation. Control: Calculates the optimal policy for an MDP. Is not truly control, but an offline planning method. Value Iteration:. Convert the recursive Bellman equations into the Belmann update operators and sweep the state space till the optimal value function is found. The Expected Bellman operator is gamma -contracting and converges to the optimal value function (requires either gamma is less than 1 or a guarantee that the policy will reach a terminal state). Policy Iteration:. Policy Improvement Theorem: the policy strictly improves with each policy iteration step. Value iteration is a special case of modified policy iteration with a single policy evaluation iteration. All DP methods can be generalized using the GPI evaluation/improvement framework">
                <a:extLst>
                  <a:ext uri="{FF2B5EF4-FFF2-40B4-BE49-F238E27FC236}">
                    <a16:creationId xmlns:a16="http://schemas.microsoft.com/office/drawing/2014/main" id="{52ED8835-0B09-E3B5-B39B-6B68E1180DC0}"/>
                  </a:ext>
                </a:extLst>
              </p:cNvPr>
              <p:cNvSpPr>
                <a:spLocks noGrp="1"/>
              </p:cNvSpPr>
              <p:nvPr>
                <p:ph idx="1"/>
              </p:nvPr>
            </p:nvSpPr>
            <p:spPr>
              <a:xfrm>
                <a:off x="6096000" y="528505"/>
                <a:ext cx="5257797" cy="5796793"/>
              </a:xfrm>
            </p:spPr>
            <p:txBody>
              <a:bodyPr anchor="ctr">
                <a:normAutofit fontScale="85000" lnSpcReduction="20000"/>
              </a:bodyPr>
              <a:lstStyle/>
              <a:p>
                <a:pPr marL="0" indent="0">
                  <a:buNone/>
                </a:pPr>
                <a:r>
                  <a:rPr lang="en-US" sz="1600" b="1" dirty="0"/>
                  <a:t>Requirements</a:t>
                </a:r>
                <a:r>
                  <a:rPr lang="en-US" sz="1600" dirty="0"/>
                  <a:t>:</a:t>
                </a:r>
              </a:p>
              <a:p>
                <a:pPr lvl="1"/>
                <a:r>
                  <a:rPr lang="en-US" sz="1600" b="1" dirty="0"/>
                  <a:t>Model access</a:t>
                </a:r>
                <a:r>
                  <a:rPr lang="en-US" sz="1600" dirty="0"/>
                  <a:t>: DP methods need access to the </a:t>
                </a:r>
                <a:r>
                  <a:rPr lang="en-US" sz="1600" b="1" dirty="0"/>
                  <a:t>model</a:t>
                </a:r>
                <a:r>
                  <a:rPr lang="en-US" sz="1600" dirty="0"/>
                  <a:t>’s function </a:t>
                </a:r>
                <a14:m>
                  <m:oMath xmlns:m="http://schemas.openxmlformats.org/officeDocument/2006/math">
                    <m:r>
                      <a:rPr lang="en-US" sz="1600" i="1">
                        <a:latin typeface="Cambria Math" panose="02040503050406030204" pitchFamily="18" charset="0"/>
                      </a:rPr>
                      <m:t>𝑝</m:t>
                    </m:r>
                  </m:oMath>
                </a14:m>
                <a:r>
                  <a:rPr lang="en-US" sz="1600" dirty="0"/>
                  <a:t>.</a:t>
                </a:r>
              </a:p>
              <a:p>
                <a:pPr lvl="1"/>
                <a:r>
                  <a:rPr lang="en-US" sz="1600" b="1" dirty="0"/>
                  <a:t>Small discrete state/action space </a:t>
                </a:r>
                <a:r>
                  <a:rPr lang="en-US" sz="1600" dirty="0"/>
                  <a:t>since it is a tabular method.</a:t>
                </a:r>
              </a:p>
              <a:p>
                <a:pPr marL="0" indent="0">
                  <a:buNone/>
                </a:pPr>
                <a:endParaRPr lang="en-US" sz="1600" b="1" dirty="0"/>
              </a:p>
              <a:p>
                <a:pPr marL="0" indent="0">
                  <a:buNone/>
                </a:pPr>
                <a:r>
                  <a:rPr lang="en-US" sz="1600" b="1" dirty="0"/>
                  <a:t>Tasks</a:t>
                </a:r>
                <a:r>
                  <a:rPr lang="en-US" sz="1600" dirty="0"/>
                  <a:t>:</a:t>
                </a:r>
              </a:p>
              <a:p>
                <a:pPr lvl="1"/>
                <a:r>
                  <a:rPr lang="en-US" sz="1600" b="1" dirty="0"/>
                  <a:t>Prediction</a:t>
                </a:r>
                <a:r>
                  <a:rPr lang="en-US" sz="1600" dirty="0"/>
                  <a:t>: Calculates the value function for a given policy called in DP policy evaluation.</a:t>
                </a:r>
              </a:p>
              <a:p>
                <a:pPr lvl="1"/>
                <a:r>
                  <a:rPr lang="en-US" sz="1600" b="1" dirty="0"/>
                  <a:t>Control</a:t>
                </a:r>
                <a:r>
                  <a:rPr lang="en-US" sz="1600" dirty="0"/>
                  <a:t>: Calculates the optimal policy for an MDP. Is not truly control, but an offline planning method. </a:t>
                </a:r>
              </a:p>
              <a:p>
                <a:endParaRPr lang="en-US" sz="1600" dirty="0"/>
              </a:p>
              <a:p>
                <a:pPr marL="0" indent="0">
                  <a:buNone/>
                </a:pPr>
                <a:r>
                  <a:rPr lang="en-US" sz="1600" b="1" dirty="0"/>
                  <a:t>Value Iteration: </a:t>
                </a:r>
              </a:p>
              <a:p>
                <a:pPr lvl="1"/>
                <a:r>
                  <a:rPr lang="en-US" sz="1600" dirty="0"/>
                  <a:t>Convert the recursive Bellman equations into the Belmann update operators and sweep the state space till the optimal value function is found.</a:t>
                </a:r>
              </a:p>
              <a:p>
                <a:pPr lvl="1"/>
                <a:r>
                  <a:rPr lang="en-US" sz="1600" b="1" dirty="0"/>
                  <a:t>The Expected Bellman operator is </a:t>
                </a:r>
                <a14:m>
                  <m:oMath xmlns:m="http://schemas.openxmlformats.org/officeDocument/2006/math">
                    <m:r>
                      <a:rPr lang="en-US" sz="1600" b="1" i="1">
                        <a:latin typeface="Cambria Math" panose="02040503050406030204" pitchFamily="18" charset="0"/>
                      </a:rPr>
                      <m:t>𝜸</m:t>
                    </m:r>
                  </m:oMath>
                </a14:m>
                <a:r>
                  <a:rPr lang="en-US" sz="1600" b="1" dirty="0"/>
                  <a:t>-contracting and converges to the optimal value function</a:t>
                </a:r>
                <a:r>
                  <a:rPr lang="en-US" sz="1600" dirty="0"/>
                  <a:t> (requires either </a:t>
                </a:r>
                <a14:m>
                  <m:oMath xmlns:m="http://schemas.openxmlformats.org/officeDocument/2006/math">
                    <m:r>
                      <a:rPr lang="en-US" sz="1600" i="1">
                        <a:latin typeface="Cambria Math" panose="02040503050406030204" pitchFamily="18" charset="0"/>
                      </a:rPr>
                      <m:t>𝛾</m:t>
                    </m:r>
                    <m:r>
                      <a:rPr lang="en-US" sz="1600" i="1">
                        <a:latin typeface="Cambria Math" panose="02040503050406030204" pitchFamily="18" charset="0"/>
                      </a:rPr>
                      <m:t>&lt;1</m:t>
                    </m:r>
                  </m:oMath>
                </a14:m>
                <a:r>
                  <a:rPr lang="en-US" sz="1600" dirty="0"/>
                  <a:t> or a guarantee that the policy will reach a terminal state).</a:t>
                </a:r>
              </a:p>
              <a:p>
                <a:pPr lvl="1"/>
                <a:endParaRPr lang="en-US" sz="1600" b="1" dirty="0"/>
              </a:p>
              <a:p>
                <a:pPr marL="0" indent="0">
                  <a:buNone/>
                </a:pPr>
                <a:r>
                  <a:rPr lang="en-US" sz="1600" b="1" dirty="0"/>
                  <a:t>Policy Iteration:</a:t>
                </a:r>
                <a:endParaRPr lang="en-US" sz="1600" dirty="0"/>
              </a:p>
              <a:p>
                <a:pPr lvl="1"/>
                <a:r>
                  <a:rPr lang="en-US" sz="1600" b="1" dirty="0"/>
                  <a:t>Policy Improvement Theorem</a:t>
                </a:r>
                <a:r>
                  <a:rPr lang="en-US" sz="1600" dirty="0"/>
                  <a:t>: the policy strictly improves with each policy iteration step.</a:t>
                </a:r>
              </a:p>
              <a:p>
                <a:pPr lvl="1"/>
                <a:r>
                  <a:rPr lang="en-US" sz="1600" dirty="0"/>
                  <a:t>Value iteration is a special case of modified policy iteration with a single policy evaluation iteration.</a:t>
                </a:r>
              </a:p>
              <a:p>
                <a:pPr lvl="1"/>
                <a:r>
                  <a:rPr lang="en-US" sz="1600" dirty="0"/>
                  <a:t>All DP methods can be generalized using the GPI evaluation/improvement framework.</a:t>
                </a:r>
              </a:p>
            </p:txBody>
          </p:sp>
        </mc:Choice>
        <mc:Fallback xmlns="">
          <p:sp>
            <p:nvSpPr>
              <p:cNvPr id="3" name="Content Placeholder 2" descr="Requirements:. Model access: DP methods need access to the model’s function p . Small discrete state/action space since it is a tabular method. Tasks:. Prediction: Calculates the value function for a given policy called in DP policy evaluation. Control: Calculates the optimal policy for an MDP. Is not truly control, but an offline planning method. Value Iteration:. Convert the recursive Bellman equations into the Belmann update operators and sweep the state space till the optimal value function is found. The Expected Bellman operator is gamma -contracting and converges to the optimal value function (requires either gamma is less than 1 or a guarantee that the policy will reach a terminal state). Policy Iteration:. Policy Improvement Theorem: the policy strictly improves with each policy iteration step. Value iteration is a special case of modified policy iteration with a single policy evaluation iteration. All DP methods can be generalized using the GPI evaluation/improvement framework">
                <a:extLst>
                  <a:ext uri="{FF2B5EF4-FFF2-40B4-BE49-F238E27FC236}">
                    <a16:creationId xmlns:a16="http://schemas.microsoft.com/office/drawing/2014/main" id="{52ED8835-0B09-E3B5-B39B-6B68E1180DC0}"/>
                  </a:ext>
                </a:extLst>
              </p:cNvPr>
              <p:cNvSpPr>
                <a:spLocks noGrp="1" noRot="1" noChangeAspect="1" noMove="1" noResize="1" noEditPoints="1" noAdjustHandles="1" noChangeArrowheads="1" noChangeShapeType="1" noTextEdit="1"/>
              </p:cNvSpPr>
              <p:nvPr>
                <p:ph idx="1"/>
              </p:nvPr>
            </p:nvSpPr>
            <p:spPr>
              <a:xfrm>
                <a:off x="6096000" y="528505"/>
                <a:ext cx="5257797" cy="5796793"/>
              </a:xfrm>
              <a:blipFill>
                <a:blip r:embed="rId3"/>
                <a:stretch>
                  <a:fillRect l="-348" r="-1044"/>
                </a:stretch>
              </a:blipFill>
            </p:spPr>
            <p:txBody>
              <a:bodyPr/>
              <a:lstStyle/>
              <a:p>
                <a:r>
                  <a:rPr lang="en-US">
                    <a:noFill/>
                  </a:rPr>
                  <a:t> </a:t>
                </a:r>
              </a:p>
            </p:txBody>
          </p:sp>
        </mc:Fallback>
      </mc:AlternateContent>
      <p:pic>
        <p:nvPicPr>
          <p:cNvPr id="4" name="Picture 3">
            <a:extLst>
              <a:ext uri="{FF2B5EF4-FFF2-40B4-BE49-F238E27FC236}">
                <a16:creationId xmlns:a16="http://schemas.microsoft.com/office/drawing/2014/main" id="{63B8B81D-82C4-D9E0-6DED-9C99A065A096}"/>
              </a:ext>
              <a:ext uri="{C183D7F6-B498-43B3-948B-1728B52AA6E4}">
                <adec:decorative xmlns:adec="http://schemas.microsoft.com/office/drawing/2017/decorative" val="1"/>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r="1110" b="-1"/>
          <a:stretch>
            <a:fillRect/>
          </a:stretch>
        </p:blipFill>
        <p:spPr bwMode="auto">
          <a:xfrm>
            <a:off x="724708" y="3429000"/>
            <a:ext cx="3951110" cy="266699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987711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Facet</Template>
  <TotalTime>8057</TotalTime>
  <Words>2674</Words>
  <Application>Microsoft Macintosh PowerPoint</Application>
  <PresentationFormat>Widescreen</PresentationFormat>
  <Paragraphs>339</Paragraphs>
  <Slides>25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Aptos</vt:lpstr>
      <vt:lpstr>Aptos Display</vt:lpstr>
      <vt:lpstr>Arial</vt:lpstr>
      <vt:lpstr>Calibri</vt:lpstr>
      <vt:lpstr>Cambria Math</vt:lpstr>
      <vt:lpstr>Office Theme</vt:lpstr>
      <vt:lpstr>Reinforcement Learning  Dynamic Programming Sutton/Barto* Chapter 4</vt:lpstr>
      <vt:lpstr>Topics of this Course</vt:lpstr>
      <vt:lpstr>Summary of Notation</vt:lpstr>
      <vt:lpstr>Goal</vt:lpstr>
      <vt:lpstr>Tabular Methods</vt:lpstr>
      <vt:lpstr>Prediction vs. Control</vt:lpstr>
      <vt:lpstr>Prediction: Policy Evaluation</vt:lpstr>
      <vt:lpstr>Policy Evaluation to Estimate v_π</vt:lpstr>
      <vt:lpstr>Solution Option 1: Linear Program</vt:lpstr>
      <vt:lpstr>Solution Option 2: Iterative Policy Evaluation</vt:lpstr>
      <vt:lpstr>Convergence of Iterative Policy Evaluation</vt:lpstr>
      <vt:lpstr>Alg. Iterative Policy Evaluation</vt:lpstr>
      <vt:lpstr>Control: Policy Iteration</vt:lpstr>
      <vt:lpstr>Policy Improvement and the Greedy Policy</vt:lpstr>
      <vt:lpstr>Policy Iteration</vt:lpstr>
      <vt:lpstr>Alg. Policy Iteration</vt:lpstr>
      <vt:lpstr>Control: Value Iteration</vt:lpstr>
      <vt:lpstr>Value Iteration</vt:lpstr>
      <vt:lpstr>Alg. Value Iteration</vt:lpstr>
      <vt:lpstr>Code…</vt:lpstr>
      <vt:lpstr>GPI: Generalized Policy Iteration</vt:lpstr>
      <vt:lpstr>GPI: Generalized Policy Iteration </vt:lpstr>
      <vt:lpstr>Issues with DP Methods</vt:lpstr>
      <vt:lpstr>Efficiency</vt:lpstr>
      <vt:lpstr>What You Need to Know</vt:lpstr>
    </vt:vector>
  </TitlesOfParts>
  <Company>Southern Methodist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Hahsler, Michael</dc:creator>
  <cp:lastModifiedBy>Munoth, Prerna</cp:lastModifiedBy>
  <cp:revision>149</cp:revision>
  <dcterms:created xsi:type="dcterms:W3CDTF">2025-09-08T14:44:49Z</dcterms:created>
  <dcterms:modified xsi:type="dcterms:W3CDTF">2026-10-15T22:04:55Z</dcterms:modified>
</cp:coreProperties>
</file>