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68" r:id="rId4"/>
    <p:sldId id="380" r:id="rId5"/>
    <p:sldId id="388" r:id="rId6"/>
    <p:sldId id="372" r:id="rId7"/>
    <p:sldId id="369" r:id="rId8"/>
    <p:sldId id="370" r:id="rId9"/>
    <p:sldId id="389" r:id="rId10"/>
    <p:sldId id="390" r:id="rId11"/>
    <p:sldId id="371" r:id="rId12"/>
    <p:sldId id="373" r:id="rId13"/>
    <p:sldId id="375" r:id="rId14"/>
    <p:sldId id="376" r:id="rId15"/>
    <p:sldId id="377" r:id="rId16"/>
    <p:sldId id="378" r:id="rId17"/>
    <p:sldId id="379" r:id="rId18"/>
    <p:sldId id="382" r:id="rId19"/>
    <p:sldId id="479" r:id="rId20"/>
    <p:sldId id="383" r:id="rId21"/>
    <p:sldId id="384" r:id="rId22"/>
    <p:sldId id="385" r:id="rId23"/>
    <p:sldId id="386" r:id="rId24"/>
    <p:sldId id="38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  <p14:sldId id="383"/>
          </p14:sldIdLst>
        </p14:section>
        <p14:section name="Generalized Policy Iteration" id="{24242526-B5FF-45B4-A80E-CA85C1F5783D}">
          <p14:sldIdLst>
            <p14:sldId id="384"/>
            <p14:sldId id="385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8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</p:spPr>
            <p:txBody>
              <a:bodyPr>
                <a:norm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Finite MDPs have an optimal deterministic policy (under some mild conditions).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𝜋</m:t>
                      </m:r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 b="0" i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  <a:blipFill>
                <a:blip r:embed="rId2"/>
                <a:stretch>
                  <a:fillRect l="-218" t="-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889708" y="3599283"/>
            <a:ext cx="1299326" cy="398202"/>
            <a:chOff x="2533296" y="3175233"/>
            <a:chExt cx="1544242" cy="39820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 Problem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60295" y="5151352"/>
            <a:ext cx="2740473" cy="975421"/>
            <a:chOff x="9283602" y="5446084"/>
            <a:chExt cx="2752267" cy="97542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446084"/>
              <a:ext cx="385560" cy="975421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48653" y="5518295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 Problem: </a:t>
              </a:r>
              <a:r>
                <a:rPr lang="en-US" sz="1600" dirty="0"/>
                <a:t>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for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Discounted finite MDPs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) 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Undiscounted finite MDPs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guarantees to reach a terminal state.</a:t>
                </a:r>
              </a:p>
              <a:p>
                <a:pPr lvl="1"/>
                <a:r>
                  <a:rPr lang="en-US" dirty="0"/>
                  <a:t>Finite-horizon MDPs have unique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time step.  I.e. , value depends on how close we are to the end of the episode.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522" t="-1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Bellman Expectation Equations: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Formulate as a linear program</a:t>
                </a:r>
              </a:p>
              <a:p>
                <a:pPr lvl="1"/>
                <a:r>
                  <a:rPr lang="en-US" sz="2300" dirty="0"/>
                  <a:t>Objective function: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       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all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589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  <a:br>
                  <a:rPr lang="en-US" sz="2000" dirty="0"/>
                </a:br>
                <a:r>
                  <a:rPr lang="en-US" sz="2000" dirty="0"/>
                  <a:t>Reason is on the next slide.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  <a:blipFill>
                <a:blip r:embed="rId3"/>
                <a:stretch>
                  <a:fillRect l="-102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  <a:br>
                  <a:rPr lang="en-US" dirty="0"/>
                </a:br>
                <a:r>
                  <a:rPr lang="en-US" dirty="0"/>
                  <a:t>(see textbook for derivation)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  <a:blipFill>
                <a:blip r:embed="rId2"/>
                <a:stretch>
                  <a:fillRect l="-640" t="-3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 by applying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, leading to convergence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is applied many times.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547488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guaranteed if the discount factor is strictly smaller than 1!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359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3DFF17E-DF67-BABC-A51D-6F73F6245657}"/>
              </a:ext>
            </a:extLst>
          </p:cNvPr>
          <p:cNvGrpSpPr/>
          <p:nvPr/>
        </p:nvGrpSpPr>
        <p:grpSpPr>
          <a:xfrm>
            <a:off x="9065494" y="3469270"/>
            <a:ext cx="2854818" cy="1480504"/>
            <a:chOff x="8867761" y="4764111"/>
            <a:chExt cx="2854818" cy="1480504"/>
          </a:xfrm>
        </p:grpSpPr>
        <p:grpSp>
          <p:nvGrpSpPr>
            <p:cNvPr id="9" name="Group 8" descr="Updating the value function using iterative Bellman updates.">
              <a:extLst>
                <a:ext uri="{FF2B5EF4-FFF2-40B4-BE49-F238E27FC236}">
                  <a16:creationId xmlns:a16="http://schemas.microsoft.com/office/drawing/2014/main" id="{5E13A197-79F1-6CAE-0A97-FAA7508CBCC7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A7CFF6D-44E5-4AC6-F8FA-305C74E68F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FC62ADE9-9B2E-0CE9-B525-28B9E250FAC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58658A5E-4BF3-F495-C114-E6EA460FC8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8C2E7F1D-DC32-A251-BB28-41567AFC7C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7026F178-8BD0-9B6E-1868-851FF19E16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57088D6C-4C8C-FE23-F85D-8685A8BA96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33B57A32-72F6-077F-22AE-C34A118F7D5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1223FDB0-EDE1-D3F8-B49E-7C42FE2277C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FB5ACCD-0701-2FB2-F78E-42498C3867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0BA13DE3-9692-0A72-42C2-2997B4BD90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EDF9F97-99C7-C914-8056-5CB2B24BFC7D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Policy Improvement Theorem</a:t>
                </a:r>
              </a:p>
              <a:p>
                <a:endParaRPr lang="en-US" sz="20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the same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but has a better action for at least one state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  <a:blipFill>
                <a:blip r:embed="rId3"/>
                <a:stretch>
                  <a:fillRect l="-565" t="-1444" b="-5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Requires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 has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423" r="-162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Evaluation/Prediction</a:t>
                </a:r>
                <a:r>
                  <a:rPr lang="en-US" sz="1600" dirty="0"/>
                  <a:t>: Calculates the value function for a given policy.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Approach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sz="1600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600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Convergence requires either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state.</a:t>
                </a:r>
              </a:p>
              <a:p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GPI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464" r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7607</TotalTime>
  <Words>2381</Words>
  <Application>Microsoft Office PowerPoint</Application>
  <PresentationFormat>Widescreen</PresentationFormat>
  <Paragraphs>317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Policy Iteration</vt:lpstr>
      <vt:lpstr>Policy Improvement and the Greedy Policy</vt:lpstr>
      <vt:lpstr>Policy Iteration</vt:lpstr>
      <vt:lpstr>Alg. Policy Iteration</vt:lpstr>
      <vt:lpstr>Value Iteration</vt:lpstr>
      <vt:lpstr>Value Iteration</vt:lpstr>
      <vt:lpstr>Alg. Value Iteration</vt:lpstr>
      <vt:lpstr>Code…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123</cp:revision>
  <dcterms:created xsi:type="dcterms:W3CDTF">2025-09-08T14:44:49Z</dcterms:created>
  <dcterms:modified xsi:type="dcterms:W3CDTF">2026-02-05T17:09:43Z</dcterms:modified>
</cp:coreProperties>
</file>