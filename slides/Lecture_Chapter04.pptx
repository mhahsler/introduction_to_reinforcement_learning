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1" r:id="rId3"/>
    <p:sldId id="368" r:id="rId4"/>
    <p:sldId id="380" r:id="rId5"/>
    <p:sldId id="388" r:id="rId6"/>
    <p:sldId id="372" r:id="rId7"/>
    <p:sldId id="369" r:id="rId8"/>
    <p:sldId id="370" r:id="rId9"/>
    <p:sldId id="389" r:id="rId10"/>
    <p:sldId id="390" r:id="rId11"/>
    <p:sldId id="371" r:id="rId12"/>
    <p:sldId id="373" r:id="rId13"/>
    <p:sldId id="375" r:id="rId14"/>
    <p:sldId id="376" r:id="rId15"/>
    <p:sldId id="377" r:id="rId16"/>
    <p:sldId id="378" r:id="rId17"/>
    <p:sldId id="379" r:id="rId18"/>
    <p:sldId id="382" r:id="rId19"/>
    <p:sldId id="383" r:id="rId20"/>
    <p:sldId id="384" r:id="rId21"/>
    <p:sldId id="385" r:id="rId22"/>
    <p:sldId id="386" r:id="rId23"/>
    <p:sldId id="38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1"/>
            <p14:sldId id="368"/>
            <p14:sldId id="380"/>
            <p14:sldId id="388"/>
            <p14:sldId id="372"/>
            <p14:sldId id="369"/>
            <p14:sldId id="370"/>
            <p14:sldId id="389"/>
            <p14:sldId id="390"/>
            <p14:sldId id="371"/>
            <p14:sldId id="373"/>
            <p14:sldId id="375"/>
            <p14:sldId id="376"/>
            <p14:sldId id="377"/>
            <p14:sldId id="378"/>
            <p14:sldId id="379"/>
            <p14:sldId id="382"/>
            <p14:sldId id="383"/>
            <p14:sldId id="384"/>
            <p14:sldId id="385"/>
            <p14:sldId id="386"/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10.png"/><Relationship Id="rId7" Type="http://schemas.openxmlformats.org/officeDocument/2006/relationships/image" Target="../media/image15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2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53200" y="-18278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Dynamic Programming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F818925-CF68-EB6E-413D-FFCD573CC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17359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1735924"/>
              </a:xfrm>
              <a:blipFill>
                <a:blip r:embed="rId2"/>
                <a:stretch>
                  <a:fillRect b="-1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</a:t>
                </a:r>
                <a:r>
                  <a:rPr lang="en-US" sz="1200"/>
                  <a:t>all states </a:t>
                </a:r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5471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000" b="1" dirty="0"/>
                  <a:t>Remember</a:t>
                </a:r>
                <a:r>
                  <a:rPr lang="en-US" sz="2000" dirty="0"/>
                  <a:t>: MDPs have an optimal </a:t>
                </a:r>
                <a:r>
                  <a:rPr lang="en-US" sz="2000"/>
                  <a:t>deterministic policy.</a:t>
                </a:r>
                <a:endParaRPr lang="en-US" sz="2000" dirty="0"/>
              </a:p>
              <a:p>
                <a:r>
                  <a:rPr lang="en-US" sz="2000" b="1" dirty="0"/>
                  <a:t>Goal</a:t>
                </a:r>
                <a:r>
                  <a:rPr lang="en-US" sz="2000" dirty="0"/>
                  <a:t>: Compute the </a:t>
                </a:r>
                <a:r>
                  <a:rPr lang="en-US" sz="2000" b="1" dirty="0"/>
                  <a:t>optimal deterministic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given a perfect finite MDP model.</a:t>
                </a:r>
              </a:p>
              <a:p>
                <a:r>
                  <a:rPr lang="en-US" sz="2000" dirty="0"/>
                  <a:t>Bellman optimality equations: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  <a:p>
                <a:pPr marL="0" indent="0" algn="ctr">
                  <a:buNone/>
                </a:pPr>
                <a:r>
                  <a:rPr lang="en-US" sz="2000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b="1" dirty="0"/>
              </a:p>
              <a:p>
                <a:r>
                  <a:rPr lang="en-US" sz="2000" b="1" dirty="0"/>
                  <a:t>Issues</a:t>
                </a:r>
                <a:r>
                  <a:rPr lang="en-US" sz="2000" dirty="0"/>
                  <a:t>: </a:t>
                </a:r>
                <a:r>
                  <a:rPr lang="en-US" sz="1800" dirty="0"/>
                  <a:t>The value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depends on the current estimates of the successor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800" dirty="0"/>
                  <a:t>! </a:t>
                </a:r>
                <a:br>
                  <a:rPr lang="en-US" sz="1800" dirty="0"/>
                </a:br>
                <a:r>
                  <a:rPr lang="en-US" sz="1800" dirty="0"/>
                  <a:t>We need to solve all optimality equations at the same time.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685B52-5D31-046C-FA57-23AD9A7FCCFF}"/>
              </a:ext>
            </a:extLst>
          </p:cNvPr>
          <p:cNvGrpSpPr/>
          <p:nvPr/>
        </p:nvGrpSpPr>
        <p:grpSpPr>
          <a:xfrm>
            <a:off x="5945262" y="4233229"/>
            <a:ext cx="1622631" cy="579543"/>
            <a:chOff x="2533296" y="3175233"/>
            <a:chExt cx="1503726" cy="5795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898E18C9-0941-AC3C-3E0A-203470D94889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/>
                <p:nvPr/>
              </p:nvSpPr>
              <p:spPr>
                <a:xfrm>
                  <a:off x="2602325" y="3385444"/>
                  <a:ext cx="136566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2325" y="3385444"/>
                  <a:ext cx="1365667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C6BA7-ADBF-A187-1481-819E42FC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63186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Tabular means: The value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are stored in arrays (tables) called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Tabular methods can often find the exact solution (i.e., optimal value function and policy).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Table size: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entries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entries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this is only feasible for problems with a small discrete state/action spaces!</a:t>
                </a:r>
              </a:p>
              <a:p>
                <a:endParaRPr lang="en-US" dirty="0"/>
              </a:p>
              <a:p>
                <a:r>
                  <a:rPr lang="en-US" dirty="0"/>
                  <a:t>We will later talk about approximate methods that can work with large state spaces.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63186" cy="4779633"/>
              </a:xfrm>
              <a:blipFill>
                <a:blip r:embed="rId2"/>
                <a:stretch>
                  <a:fillRect l="-1262" t="-2806" r="-7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8838343" y="1124198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Value Function</a:t>
            </a:r>
          </a:p>
        </p:txBody>
      </p:sp>
      <p:pic>
        <p:nvPicPr>
          <p:cNvPr id="5" name="table">
            <a:extLst>
              <a:ext uri="{FF2B5EF4-FFF2-40B4-BE49-F238E27FC236}">
                <a16:creationId xmlns:a16="http://schemas.microsoft.com/office/drawing/2014/main" id="{6909DC8F-0404-8E17-1F75-A7A4FB0B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925" y="1524422"/>
            <a:ext cx="1934437" cy="1483360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086691" y="332669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Q-Table</a:t>
            </a:r>
          </a:p>
        </p:txBody>
      </p:sp>
      <p:pic>
        <p:nvPicPr>
          <p:cNvPr id="7" name="table">
            <a:extLst>
              <a:ext uri="{FF2B5EF4-FFF2-40B4-BE49-F238E27FC236}">
                <a16:creationId xmlns:a16="http://schemas.microsoft.com/office/drawing/2014/main" id="{DD3BA89E-3990-B01B-3B38-A7D22EE81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1416" y="3696031"/>
            <a:ext cx="2662384" cy="219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858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1C883-1AA7-C2E6-D09D-DAD2AE00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vs.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07924-B986-8A34-1581-62645BDB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always talk about two tasks:</a:t>
            </a:r>
          </a:p>
          <a:p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Prediction to evaluate a policy</a:t>
            </a:r>
            <a:r>
              <a:rPr lang="en-US" dirty="0"/>
              <a:t>: Estimate the value function for a policy. We can use this to compare two policies.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Control</a:t>
            </a:r>
            <a:r>
              <a:rPr lang="en-US" dirty="0"/>
              <a:t>: Find the optimal policy. This requires to be able to evaluate policies.</a:t>
            </a:r>
          </a:p>
        </p:txBody>
      </p:sp>
    </p:spTree>
    <p:extLst>
      <p:ext uri="{BB962C8B-B14F-4D97-AF65-F5344CB8AC3E}">
        <p14:creationId xmlns:p14="http://schemas.microsoft.com/office/powerpoint/2010/main" val="3921583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843C56-7419-CE0C-1D18-6CC80DC1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Evaluation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50192-9C75-1175-C27F-B882D7E5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value of a given policy?</a:t>
            </a:r>
          </a:p>
        </p:txBody>
      </p:sp>
    </p:spTree>
    <p:extLst>
      <p:ext uri="{BB962C8B-B14F-4D97-AF65-F5344CB8AC3E}">
        <p14:creationId xmlns:p14="http://schemas.microsoft.com/office/powerpoint/2010/main" val="955750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Policy Evaluation (Prediction):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Compute the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00000"/>
                  </a:lnSpc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r>
                  <a:rPr lang="en-US" dirty="0"/>
                  <a:t>Recursive relationship: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equations, one for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The exists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&lt;1 </m:t>
                    </m:r>
                  </m:oMath>
                </a14:m>
                <a:r>
                  <a:rPr lang="en-US" dirty="0"/>
                  <a:t>or termination is guaranteed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  <a:blipFill>
                <a:blip r:embed="rId3"/>
                <a:stretch>
                  <a:fillRect l="-812" t="-2788" b="-20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0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5D3C2-BFBE-479C-C276-D13BC409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Option 1: Linear Program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Directly solve the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linear equations. </a:t>
                </a:r>
                <a:br>
                  <a:rPr lang="en-US" sz="2400" dirty="0"/>
                </a:b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 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This is hard 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is very large.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  <a:blipFill>
                <a:blip r:embed="rId2"/>
                <a:stretch>
                  <a:fillRect l="-766" t="-1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4265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658F-139C-0BE8-0CD7-8FE00B9A3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886B1-B3C3-36AF-DCCF-70C3CEDCB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Solution Option 2: Iterative Policy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29"/>
                <a:ext cx="7398380" cy="5170993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Dynamic Programming</a:t>
                </a:r>
                <a:r>
                  <a:rPr lang="en-US" sz="2400" dirty="0"/>
                  <a:t>: solves a complex optimization problem by breaking it down into smaller, overlapping subproblems and using their solutions to build the overall optimal solution.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lvl="1"/>
                <a:r>
                  <a:rPr lang="en-US" sz="2000" dirty="0"/>
                  <a:t>Start with arbitrary values for all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Update all state values for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iterations (sweeps over the state space) using the </a:t>
                </a:r>
                <a:r>
                  <a:rPr lang="en-US" sz="2000" b="1" dirty="0"/>
                  <a:t>(expected) Bellman Update:</a:t>
                </a:r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1" dirty="0"/>
              </a:p>
              <a:p>
                <a:pPr lvl="1"/>
                <a:r>
                  <a:rPr lang="en-US" sz="2000" b="1" dirty="0"/>
                  <a:t>Convergence</a:t>
                </a:r>
                <a:r>
                  <a:rPr lang="en-US" sz="2000" b="0" dirty="0"/>
                  <a:t>: The </a:t>
                </a:r>
                <a:r>
                  <a:rPr lang="en-US" sz="2000" dirty="0"/>
                  <a:t>Belman update is a contracting mapping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as its fixed point (for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2000" dirty="0"/>
                  <a:t>). </a:t>
                </a:r>
                <a:br>
                  <a:rPr lang="en-US" sz="2000" dirty="0"/>
                </a:br>
                <a:r>
                  <a:rPr lang="en-US" sz="2000" dirty="0"/>
                  <a:t>I.e., updates converge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29"/>
                <a:ext cx="7398380" cy="5170993"/>
              </a:xfrm>
              <a:blipFill>
                <a:blip r:embed="rId2"/>
                <a:stretch>
                  <a:fillRect l="-1072" t="-2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2891670-5E19-0B92-2000-67EB986C67EA}"/>
              </a:ext>
            </a:extLst>
          </p:cNvPr>
          <p:cNvGrpSpPr/>
          <p:nvPr/>
        </p:nvGrpSpPr>
        <p:grpSpPr>
          <a:xfrm>
            <a:off x="3309346" y="4635227"/>
            <a:ext cx="5249074" cy="730954"/>
            <a:chOff x="2458533" y="3098314"/>
            <a:chExt cx="1699913" cy="730954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C6BB2930-2803-7CC6-BE5E-4F581F3D8212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0F03579-6BB3-CB46-DAC5-72EC42C594FC}"/>
                </a:ext>
              </a:extLst>
            </p:cNvPr>
            <p:cNvSpPr txBox="1"/>
            <p:nvPr/>
          </p:nvSpPr>
          <p:spPr>
            <a:xfrm>
              <a:off x="2458533" y="3306048"/>
              <a:ext cx="169991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 DP called “expected update.”</a:t>
              </a:r>
              <a:br>
                <a:rPr lang="en-US" sz="1400" dirty="0"/>
              </a:br>
              <a:r>
                <a:rPr lang="en-US" sz="1400" dirty="0"/>
                <a:t>Uses the expectation over all possible actions and next states.</a:t>
              </a:r>
            </a:p>
          </p:txBody>
        </p:sp>
      </p:grpSp>
      <p:grpSp>
        <p:nvGrpSpPr>
          <p:cNvPr id="8" name="Group 7" descr="Updating the value function using iterative Bellman updates.">
            <a:extLst>
              <a:ext uri="{FF2B5EF4-FFF2-40B4-BE49-F238E27FC236}">
                <a16:creationId xmlns:a16="http://schemas.microsoft.com/office/drawing/2014/main" id="{E042F5F5-5CB0-3535-780C-93DC3965B4B3}"/>
              </a:ext>
            </a:extLst>
          </p:cNvPr>
          <p:cNvGrpSpPr/>
          <p:nvPr/>
        </p:nvGrpSpPr>
        <p:grpSpPr>
          <a:xfrm>
            <a:off x="8752700" y="3086857"/>
            <a:ext cx="2854818" cy="1428805"/>
            <a:chOff x="9337182" y="2229868"/>
            <a:chExt cx="2854818" cy="142880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876D76D-10B4-4679-F653-BD6BA18B28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337182" y="3124199"/>
              <a:ext cx="239307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8">
                  <a:extLst>
                    <a:ext uri="{FF2B5EF4-FFF2-40B4-BE49-F238E27FC236}">
                      <a16:creationId xmlns:a16="http://schemas.microsoft.com/office/drawing/2014/main" id="{CD2E66AA-EA36-8916-48A7-F5C017DA696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25004" y="3092683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8">
                  <a:extLst>
                    <a:ext uri="{FF2B5EF4-FFF2-40B4-BE49-F238E27FC236}">
                      <a16:creationId xmlns:a16="http://schemas.microsoft.com/office/drawing/2014/main" id="{115AA05C-2180-0AF6-A384-9D75BED15ED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004" y="3092683"/>
                  <a:ext cx="76699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A915BDCA-A78B-A713-EF2C-BD76D59CE4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60371" y="2649297"/>
              <a:ext cx="574339" cy="1009376"/>
            </a:xfrm>
            <a:prstGeom prst="arc">
              <a:avLst>
                <a:gd name="adj1" fmla="val 10871568"/>
                <a:gd name="adj2" fmla="val 0"/>
              </a:avLst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9046C63F-C083-8CE3-5B67-AD0FC59C20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34710" y="2614308"/>
              <a:ext cx="765785" cy="1019782"/>
            </a:xfrm>
            <a:prstGeom prst="arc">
              <a:avLst>
                <a:gd name="adj1" fmla="val 10871568"/>
                <a:gd name="adj2" fmla="val 0"/>
              </a:avLst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FA9CADED-6B11-F60E-3E70-35BC155800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100495" y="2627412"/>
              <a:ext cx="220048" cy="1019782"/>
            </a:xfrm>
            <a:prstGeom prst="arc">
              <a:avLst>
                <a:gd name="adj1" fmla="val 10871568"/>
                <a:gd name="adj2" fmla="val 0"/>
              </a:avLst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2124ACB0-C3FA-2FAA-37B1-C6EECFECC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08888" y="2648522"/>
              <a:ext cx="417487" cy="951353"/>
            </a:xfrm>
            <a:prstGeom prst="arc">
              <a:avLst>
                <a:gd name="adj1" fmla="val 10871568"/>
                <a:gd name="adj2" fmla="val 0"/>
              </a:avLst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29">
                  <a:extLst>
                    <a:ext uri="{FF2B5EF4-FFF2-40B4-BE49-F238E27FC236}">
                      <a16:creationId xmlns:a16="http://schemas.microsoft.com/office/drawing/2014/main" id="{9FFAF23B-1B2A-B56C-21FE-4753439D8E5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564903" y="3086337"/>
                  <a:ext cx="39581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29">
                  <a:extLst>
                    <a:ext uri="{FF2B5EF4-FFF2-40B4-BE49-F238E27FC236}">
                      <a16:creationId xmlns:a16="http://schemas.microsoft.com/office/drawing/2014/main" id="{6DB673C8-2425-685A-8CBE-35EDDCA1EB9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4903" y="3086337"/>
                  <a:ext cx="39581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30">
                  <a:extLst>
                    <a:ext uri="{FF2B5EF4-FFF2-40B4-BE49-F238E27FC236}">
                      <a16:creationId xmlns:a16="http://schemas.microsoft.com/office/drawing/2014/main" id="{6147F0A6-B8EB-E05B-C1C0-350546463BA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066895" y="3115740"/>
                  <a:ext cx="39581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30">
                  <a:extLst>
                    <a:ext uri="{FF2B5EF4-FFF2-40B4-BE49-F238E27FC236}">
                      <a16:creationId xmlns:a16="http://schemas.microsoft.com/office/drawing/2014/main" id="{56DA2FE2-AC26-7B66-B5BD-7064ECD50CE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6895" y="3115740"/>
                  <a:ext cx="39581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5DA345C-A981-1A04-9E3B-9233BA91B3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80507" y="3066584"/>
              <a:ext cx="127995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TextBox 35">
              <a:extLst>
                <a:ext uri="{FF2B5EF4-FFF2-40B4-BE49-F238E27FC236}">
                  <a16:creationId xmlns:a16="http://schemas.microsoft.com/office/drawing/2014/main" id="{89DB2870-24A4-433E-3096-F45510D7F2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9337182" y="2229868"/>
              <a:ext cx="179633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600" dirty="0"/>
                <a:t>Bellman updates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3034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72B55-524F-2A13-6BD8-9A03EF8EA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Iterative Policy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3258432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expected Bellman update can be rewritten as an operator:</a:t>
                </a:r>
                <a:br>
                  <a:rPr lang="en-US" dirty="0"/>
                </a:br>
                <a:r>
                  <a:rPr lang="en-US" b="1" dirty="0"/>
                  <a:t>Expected Bellman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-contracting: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some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3258432"/>
              </a:xfrm>
              <a:blipFill>
                <a:blip r:embed="rId2"/>
                <a:stretch>
                  <a:fillRect l="-928" t="-46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/>
              <p:nvPr/>
            </p:nvSpPr>
            <p:spPr>
              <a:xfrm>
                <a:off x="2596617" y="5460670"/>
                <a:ext cx="3776262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This means the largest difference (infinity norm) will be reduced, leading to convergence 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applied many times.</a:t>
                </a:r>
              </a:p>
            </p:txBody>
          </p:sp>
        </mc:Choice>
        <mc:Fallback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6617" y="5460670"/>
                <a:ext cx="3776262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  <a:blipFill>
                <a:blip r:embed="rId3"/>
                <a:stretch>
                  <a:fillRect b="-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32C5A7CC-4FA8-C473-6FA9-CC4B56CECEA4}"/>
              </a:ext>
            </a:extLst>
          </p:cNvPr>
          <p:cNvSpPr/>
          <p:nvPr/>
        </p:nvSpPr>
        <p:spPr>
          <a:xfrm>
            <a:off x="7656065" y="5460670"/>
            <a:ext cx="3198072" cy="1214547"/>
          </a:xfrm>
          <a:prstGeom prst="wedgeRoundRectCallout">
            <a:avLst>
              <a:gd name="adj1" fmla="val 2965"/>
              <a:gd name="adj2" fmla="val -12025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Convergence is only guaranteed if the discount rate is strictly smaller than 1!</a:t>
            </a:r>
          </a:p>
        </p:txBody>
      </p:sp>
    </p:spTree>
    <p:extLst>
      <p:ext uri="{BB962C8B-B14F-4D97-AF65-F5344CB8AC3E}">
        <p14:creationId xmlns:p14="http://schemas.microsoft.com/office/powerpoint/2010/main" val="3485702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78EC-0ABA-0841-5F8F-F9F724EE9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Iterative Policy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71EE0-04FA-AFEF-D4C0-742C0CA1C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41" y="1614234"/>
            <a:ext cx="8545118" cy="362953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/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Bellman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400" dirty="0"/>
                  <a:t>: </a:t>
                </a:r>
                <a:br>
                  <a:rPr lang="en-US" sz="1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/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Stop when value function changes little:</a:t>
                </a:r>
                <a:br>
                  <a:rPr lang="en-US" sz="14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400" dirty="0"/>
              </a:p>
              <a:p>
                <a:pPr algn="ctr"/>
                <a:r>
                  <a:rPr lang="en-US" sz="1400" dirty="0"/>
                  <a:t>It can be shown that the error is bounded: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  <a:blipFill>
                <a:blip r:embed="rId4"/>
                <a:stretch>
                  <a:fillRect b="-1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/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0" dirty="0"/>
                  <a:t>Notation: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400" dirty="0"/>
                  <a:t> is the tabular estimate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/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If we stop policy evaluation early (after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iterations) then it is called </a:t>
                </a:r>
                <a:r>
                  <a:rPr lang="en-US" sz="1600" b="1" dirty="0"/>
                  <a:t>modified policy iteration.</a:t>
                </a:r>
              </a:p>
            </p:txBody>
          </p:sp>
        </mc:Choice>
        <mc:Fallback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  <a:blipFill>
                <a:blip r:embed="rId6"/>
                <a:stretch>
                  <a:fillRect r="-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10455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F1CC-10CD-B582-2B11-0A66BEC5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054114-96CE-D97E-B075-31C454DDA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2B658-5985-EDF0-1906-5FE3656E5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Contol</a:t>
            </a:r>
            <a:r>
              <a:rPr lang="en-US" dirty="0"/>
              <a:t>: Find the optimal policy.</a:t>
            </a:r>
          </a:p>
        </p:txBody>
      </p:sp>
    </p:spTree>
    <p:extLst>
      <p:ext uri="{BB962C8B-B14F-4D97-AF65-F5344CB8AC3E}">
        <p14:creationId xmlns:p14="http://schemas.microsoft.com/office/powerpoint/2010/main" val="3777248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CE80A-5561-7918-7BB7-41058FE7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Improvement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better policy.</a:t>
                </a:r>
              </a:p>
              <a:p>
                <a:r>
                  <a:rPr lang="en-US" b="1" dirty="0"/>
                  <a:t>Policy improvement theorem</a:t>
                </a:r>
                <a:r>
                  <a:rPr lang="en-US" dirty="0"/>
                  <a:t>: If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	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is a least as good or better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i.e.,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create 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choosing in each state the best (aka greedy) action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This gives a strictly better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unless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already optimal.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 b="-2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1635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5F9D9-4282-B818-FCEC-0D021362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8771389" cy="90789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Sequence of monotonically improving policies: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8771389" cy="907896"/>
              </a:xfrm>
              <a:blipFill>
                <a:blip r:embed="rId2"/>
                <a:stretch>
                  <a:fillRect l="-1113" t="-16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/>
              <p:nvPr/>
            </p:nvSpPr>
            <p:spPr>
              <a:xfrm>
                <a:off x="9313355" y="1489113"/>
                <a:ext cx="2599595" cy="753924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groupCh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600" dirty="0"/>
                  <a:t>policy eval. step</a:t>
                </a:r>
                <a:r>
                  <a:rPr lang="en-US" sz="1600" b="0" i="1" dirty="0">
                    <a:latin typeface="Cambria Math" panose="02040503050406030204" pitchFamily="18" charset="0"/>
                  </a:rPr>
                  <a:t> 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groupChr>
                  </m:oMath>
                </a14:m>
                <a:r>
                  <a:rPr lang="en-US" sz="1600" dirty="0"/>
                  <a:t> policy improvement step</a:t>
                </a:r>
                <a:r>
                  <a:rPr lang="en-US" sz="1600" i="1" dirty="0">
                    <a:latin typeface="Cambria Math" panose="02040503050406030204" pitchFamily="18" charset="0"/>
                  </a:rPr>
                  <a:t> </a:t>
                </a:r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3355" y="1489113"/>
                <a:ext cx="2599595" cy="753924"/>
              </a:xfrm>
              <a:prstGeom prst="rect">
                <a:avLst/>
              </a:prstGeom>
              <a:blipFill>
                <a:blip r:embed="rId3"/>
                <a:stretch>
                  <a:fillRect l="-3030" b="-2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9161388" y="2382237"/>
            <a:ext cx="3198391" cy="2284485"/>
            <a:chOff x="9723059" y="2019762"/>
            <a:chExt cx="2494019" cy="228448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lit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4409" y="3091219"/>
              <a:ext cx="96282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767" y="3202752"/>
              <a:ext cx="1984379" cy="9210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199066">
              <a:off x="9460902" y="3071193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21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06454">
              <a:off x="10019882" y="2910998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/>
                <a:t>P. improvement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6192" y="3292095"/>
                <a:ext cx="7897536" cy="24282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improvement is guaranteed to improve the policy + finite MDPs have a finite number of policies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Policy Iteration must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b="1" dirty="0"/>
                  <a:t>Notes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becomes stable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is reached.</a:t>
                </a:r>
              </a:p>
              <a:p>
                <a:pPr lvl="1"/>
                <a:r>
                  <a:rPr lang="en-US" dirty="0"/>
                  <a:t>Policy iteration typically converges very fast (a few iterations)</a:t>
                </a:r>
              </a:p>
              <a:p>
                <a:pPr lvl="1"/>
                <a:r>
                  <a:rPr lang="en-US" b="1" dirty="0"/>
                  <a:t>Issue</a:t>
                </a:r>
                <a:r>
                  <a:rPr lang="en-US" dirty="0"/>
                  <a:t>: Policy estimation is </a:t>
                </a:r>
                <a:r>
                  <a:rPr lang="en-US" dirty="0" err="1"/>
                  <a:t>computationaly</a:t>
                </a:r>
                <a:r>
                  <a:rPr lang="en-US" dirty="0"/>
                  <a:t> expensive! Using fewer iterations leads to modified policy iteration.</a:t>
                </a:r>
              </a:p>
            </p:txBody>
          </p:sp>
        </mc:Choice>
        <mc:Fallback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192" y="3292095"/>
                <a:ext cx="7897536" cy="2428293"/>
              </a:xfrm>
              <a:prstGeom prst="rect">
                <a:avLst/>
              </a:prstGeom>
              <a:blipFill>
                <a:blip r:embed="rId8"/>
                <a:stretch>
                  <a:fillRect l="-1004" t="-5025" b="-2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90092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162-18FD-7F93-177F-3D55B41AE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Policy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B67C0D-A372-0D64-BB80-32D4D2FCE8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181" y="1397000"/>
            <a:ext cx="6849637" cy="477996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BD8C865-4D7E-35E7-E0FA-305C8DD8611A}"/>
              </a:ext>
            </a:extLst>
          </p:cNvPr>
          <p:cNvSpPr/>
          <p:nvPr/>
        </p:nvSpPr>
        <p:spPr>
          <a:xfrm>
            <a:off x="6330998" y="2506070"/>
            <a:ext cx="3587689" cy="753857"/>
          </a:xfrm>
          <a:prstGeom prst="wedgeRoundRectCallout">
            <a:avLst>
              <a:gd name="adj1" fmla="val -123530"/>
              <a:gd name="adj2" fmla="val 5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Just policy evaluation from before. Can also stop this loop early (</a:t>
            </a:r>
            <a:r>
              <a:rPr lang="en-US" sz="1600" b="1" dirty="0"/>
              <a:t>modified policy iteration)</a:t>
            </a:r>
            <a:r>
              <a:rPr lang="en-US" sz="1600" dirty="0"/>
              <a:t>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8BE2AD8-D811-FC6E-9D2F-35BC6E1C23CB}"/>
              </a:ext>
            </a:extLst>
          </p:cNvPr>
          <p:cNvSpPr/>
          <p:nvPr/>
        </p:nvSpPr>
        <p:spPr>
          <a:xfrm>
            <a:off x="7237255" y="4641802"/>
            <a:ext cx="2625702" cy="557248"/>
          </a:xfrm>
          <a:prstGeom prst="wedgeRoundRectCallout">
            <a:avLst>
              <a:gd name="adj1" fmla="val -57774"/>
              <a:gd name="adj2" fmla="val 879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Picks the greedy action with the highest Q-value.</a:t>
            </a:r>
          </a:p>
        </p:txBody>
      </p:sp>
    </p:spTree>
    <p:extLst>
      <p:ext uri="{BB962C8B-B14F-4D97-AF65-F5344CB8AC3E}">
        <p14:creationId xmlns:p14="http://schemas.microsoft.com/office/powerpoint/2010/main" val="3547113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9A4790-D161-0E92-E9A9-5BEEA5CF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06331-75C8-8E65-5F2F-5059452C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Control: Find the optimal value function.</a:t>
            </a:r>
          </a:p>
        </p:txBody>
      </p:sp>
    </p:spTree>
    <p:extLst>
      <p:ext uri="{BB962C8B-B14F-4D97-AF65-F5344CB8AC3E}">
        <p14:creationId xmlns:p14="http://schemas.microsoft.com/office/powerpoint/2010/main" val="5343925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6D9EF-5990-B359-32C3-C72B2C6A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2400" dirty="0"/>
                  <a:t>Combines the policy improvement and truncated policy evaluation steps. This is called the </a:t>
                </a:r>
                <a:r>
                  <a:rPr lang="en-US" sz="2400" b="1" dirty="0"/>
                  <a:t>expected Bellman optimality update</a:t>
                </a:r>
                <a:r>
                  <a:rPr lang="en-US" sz="2400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r>
                  <a:rPr lang="en-US" sz="2400" dirty="0"/>
                  <a:t>Written as the </a:t>
                </a:r>
                <a:r>
                  <a:rPr lang="en-US" sz="2400" b="1" dirty="0"/>
                  <a:t>Bellman optimality operator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b="1" dirty="0"/>
              </a:p>
              <a:p>
                <a:r>
                  <a:rPr lang="en-US" sz="2400" b="1" dirty="0"/>
                  <a:t>Guarantee</a:t>
                </a:r>
                <a:r>
                  <a:rPr lang="en-US" sz="2400" dirty="0"/>
                  <a:t>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is also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400" dirty="0"/>
                  <a:t>-contracting. The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  <a:blipFill>
                <a:blip r:embed="rId2"/>
                <a:stretch>
                  <a:fillRect l="-1069" t="-2305" b="-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8975345" y="3682639"/>
            <a:ext cx="2854818" cy="2270823"/>
            <a:chOff x="9337182" y="2229868"/>
            <a:chExt cx="2854818" cy="2270823"/>
          </a:xfrm>
        </p:grpSpPr>
        <p:grpSp>
          <p:nvGrpSpPr>
            <p:cNvPr id="5" name="Group 4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7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6" name="Arrow: Down 5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6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/>
              <p:nvPr/>
            </p:nvSpPr>
            <p:spPr>
              <a:xfrm>
                <a:off x="8849408" y="2272967"/>
                <a:ext cx="2565174" cy="660694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60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lim>
                    </m:limLow>
                  </m:oMath>
                </a14:m>
                <a:r>
                  <a:rPr lang="en-US" sz="1600" dirty="0"/>
                  <a:t> … policy improvement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600" dirty="0"/>
                  <a:t>       … policy evaluation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408" y="2272967"/>
                <a:ext cx="2565174" cy="660694"/>
              </a:xfrm>
              <a:prstGeom prst="rect">
                <a:avLst/>
              </a:prstGeom>
              <a:blipFill>
                <a:blip r:embed="rId7"/>
                <a:stretch>
                  <a:fillRect t="-901" b="-9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68126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6B44262-ED50-A04F-C5AA-E6A746D0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39" y="1039018"/>
            <a:ext cx="6849637" cy="47799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7C93B2-B8AE-DF85-EA1B-8078C49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Value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7CD4F4-7550-2FF0-26AF-786588E6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659" t="2281"/>
          <a:stretch>
            <a:fillRect/>
          </a:stretch>
        </p:blipFill>
        <p:spPr>
          <a:xfrm>
            <a:off x="4411456" y="3092208"/>
            <a:ext cx="7034263" cy="330766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/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Bellman optimality operator:</a:t>
                </a:r>
                <a:br>
                  <a:rPr lang="en-US" sz="1600" b="0" dirty="0"/>
                </a:br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  <a:blipFill>
                <a:blip r:embed="rId4"/>
                <a:stretch>
                  <a:fillRect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94FA055-A74C-A901-CCD7-6A1A7CC80DA2}"/>
              </a:ext>
            </a:extLst>
          </p:cNvPr>
          <p:cNvSpPr/>
          <p:nvPr/>
        </p:nvSpPr>
        <p:spPr>
          <a:xfrm>
            <a:off x="8577442" y="6207869"/>
            <a:ext cx="2667583" cy="384011"/>
          </a:xfrm>
          <a:prstGeom prst="wedgeRoundRectCallout">
            <a:avLst>
              <a:gd name="adj1" fmla="val -75681"/>
              <a:gd name="adj2" fmla="val -4842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Extract the greedy policy.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C0C2CF-3D6C-5FB5-6FAF-5A3C70799FAF}"/>
              </a:ext>
            </a:extLst>
          </p:cNvPr>
          <p:cNvSpPr/>
          <p:nvPr/>
        </p:nvSpPr>
        <p:spPr>
          <a:xfrm>
            <a:off x="1563554" y="3231811"/>
            <a:ext cx="28479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968F04-390C-807C-E196-34BFDCCC50A5}"/>
              </a:ext>
            </a:extLst>
          </p:cNvPr>
          <p:cNvSpPr/>
          <p:nvPr/>
        </p:nvSpPr>
        <p:spPr>
          <a:xfrm>
            <a:off x="2155703" y="4954746"/>
            <a:ext cx="2255753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B028D-DF2E-6F82-30C8-7142C1BEBEA8}"/>
              </a:ext>
            </a:extLst>
          </p:cNvPr>
          <p:cNvSpPr txBox="1"/>
          <p:nvPr/>
        </p:nvSpPr>
        <p:spPr>
          <a:xfrm>
            <a:off x="1695311" y="3678540"/>
            <a:ext cx="2584388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Combine improvement and modified evaluation (1 iteration) into a single update.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AAE380-C886-4AD1-501B-DC3FA8D0D18B}"/>
              </a:ext>
            </a:extLst>
          </p:cNvPr>
          <p:cNvSpPr/>
          <p:nvPr/>
        </p:nvSpPr>
        <p:spPr>
          <a:xfrm>
            <a:off x="5114123" y="4899809"/>
            <a:ext cx="3541266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9941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B189-2BE7-EF8E-90AD-B8D2A5B4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DP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Space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Tabular method: stores the complete value function as table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Time</a:t>
                </a:r>
              </a:p>
              <a:p>
                <a:r>
                  <a:rPr lang="en-US" dirty="0"/>
                  <a:t>Updates repeatedly sweep over the whole state space.</a:t>
                </a:r>
              </a:p>
              <a:p>
                <a:r>
                  <a:rPr lang="en-US" dirty="0"/>
                  <a:t>Wastes computation by updating states that are not relevant for the optimal behavior.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69684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819D-6D6F-85AF-5816-7FFAE79A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3D3AB-3DD4-67C8-8B22-66483B0E4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26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3CDC-59B1-7366-BF66-6498BF0B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E42A-9F26-864D-705B-AD1A7F3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Steps</a:t>
                </a:r>
              </a:p>
              <a:p>
                <a:r>
                  <a:rPr lang="en-US" b="1" dirty="0"/>
                  <a:t>Policy evaluation</a:t>
                </a:r>
                <a:r>
                  <a:rPr lang="en-US" dirty="0"/>
                  <a:t>: make the value function consistent with the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make policy greedy with respect to the current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DP methods can be described as a special case of GPI:</a:t>
                </a:r>
              </a:p>
              <a:p>
                <a:r>
                  <a:rPr lang="en-US" b="1" dirty="0"/>
                  <a:t>Policy iteration</a:t>
                </a:r>
                <a:r>
                  <a:rPr lang="en-US" dirty="0"/>
                  <a:t>: each eval and improvement step is completed (by a sweep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 before moving on.</a:t>
                </a:r>
              </a:p>
              <a:p>
                <a:r>
                  <a:rPr lang="en-US" b="1" dirty="0"/>
                  <a:t>Value iteration</a:t>
                </a:r>
                <a:r>
                  <a:rPr lang="en-US" dirty="0"/>
                  <a:t>: uses a single iteration for the policy iteration.</a:t>
                </a:r>
              </a:p>
              <a:p>
                <a:r>
                  <a:rPr lang="en-US" b="1" dirty="0"/>
                  <a:t>Asynchronous DP</a:t>
                </a:r>
                <a:r>
                  <a:rPr lang="en-US" dirty="0"/>
                  <a:t>: Instead of sweeps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updates states in some other order. This interleaves pol. eval. and pol. Improvement.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three approaches typically converge to the optimal solution.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  <a:blipFill>
                <a:blip r:embed="rId2"/>
                <a:stretch>
                  <a:fillRect l="-759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7D4EB40-D8C7-544A-60A9-FB0F86C1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2513" y="1184939"/>
            <a:ext cx="2682923" cy="42926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9C9802-DC7A-3741-A414-F95D8B5FE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219" y="3787146"/>
            <a:ext cx="3511083" cy="23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98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4FA30-1294-3E3D-F7B7-AE5ECD84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Direct Search</a:t>
                </a:r>
                <a:r>
                  <a:rPr lang="en-US" dirty="0"/>
                  <a:t>: Search space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exponential</a:t>
                </a:r>
                <a:r>
                  <a:rPr lang="en-US" dirty="0"/>
                  <a:t> in the number of states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 and actions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LP (linear program): </a:t>
                </a:r>
                <a:r>
                  <a:rPr lang="en-US" dirty="0"/>
                  <a:t>Solve a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 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state variables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constraints has a time complexity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DP</a:t>
                </a:r>
                <a:r>
                  <a:rPr lang="en-US" dirty="0"/>
                  <a:t>: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polynomial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Search and LP are impractical. </a:t>
                </a:r>
                <a:r>
                  <a:rPr lang="en-US" b="1" dirty="0"/>
                  <a:t>DP can be used today with millions of states.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423" r="-1623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0672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C52A3-FAA4-BCF8-A90D-D0A2BBA5D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need to know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Requirements:</a:t>
                </a:r>
              </a:p>
              <a:p>
                <a:pPr lvl="1"/>
                <a:r>
                  <a:rPr lang="en-US" b="1" dirty="0"/>
                  <a:t>Model access</a:t>
                </a:r>
                <a:r>
                  <a:rPr lang="en-US" dirty="0"/>
                  <a:t>: DP methods need access to the </a:t>
                </a:r>
                <a:r>
                  <a:rPr lang="en-US" b="1" dirty="0"/>
                  <a:t>model</a:t>
                </a:r>
                <a:r>
                  <a:rPr lang="en-US" dirty="0"/>
                  <a:t>’s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Small discrete state/action space </a:t>
                </a:r>
                <a:r>
                  <a:rPr lang="en-US" dirty="0"/>
                  <a:t>since it is a tabular method.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dirty="0"/>
                  <a:t>Tasks:</a:t>
                </a:r>
              </a:p>
              <a:p>
                <a:pPr lvl="1"/>
                <a:r>
                  <a:rPr lang="en-US" b="1" dirty="0"/>
                  <a:t>Prediction</a:t>
                </a:r>
                <a:r>
                  <a:rPr lang="en-US" dirty="0"/>
                  <a:t>: Calculates the value function for a given policy.</a:t>
                </a:r>
              </a:p>
              <a:p>
                <a:pPr lvl="1"/>
                <a:r>
                  <a:rPr lang="en-US" b="1" dirty="0"/>
                  <a:t>Control</a:t>
                </a:r>
                <a:r>
                  <a:rPr lang="en-US" dirty="0"/>
                  <a:t>: Calculates the optimal policy for an MDP.</a:t>
                </a:r>
              </a:p>
              <a:p>
                <a:endParaRPr lang="en-US" dirty="0"/>
              </a:p>
              <a:p>
                <a:r>
                  <a:rPr lang="en-US" b="1" dirty="0"/>
                  <a:t>Approach</a:t>
                </a:r>
                <a:r>
                  <a:rPr lang="en-US" dirty="0"/>
                  <a:t>: Convert the recursive Bellman equations into the Belmann update operators and sweep the state space till the optimal solution is found.</a:t>
                </a:r>
              </a:p>
              <a:p>
                <a:pPr lvl="1"/>
                <a:r>
                  <a:rPr lang="en-US" dirty="0"/>
                  <a:t>Expected Bellman update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vs. Bellman optimality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Value iteration is a special case of modified policy iteration.</a:t>
                </a:r>
              </a:p>
              <a:p>
                <a:pPr lvl="1"/>
                <a:r>
                  <a:rPr lang="en-US" dirty="0"/>
                  <a:t>Why and when is convergence guaranteed?</a:t>
                </a:r>
              </a:p>
              <a:p>
                <a:endParaRPr lang="en-US" b="1" dirty="0"/>
              </a:p>
              <a:p>
                <a:r>
                  <a:rPr lang="en-US" b="1" dirty="0"/>
                  <a:t>GPI</a:t>
                </a:r>
                <a:r>
                  <a:rPr lang="en-US" dirty="0"/>
                  <a:t>: All DP methods can be generalized as the GPI approach.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77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5092</TotalTime>
  <Words>1855</Words>
  <Application>Microsoft Office PowerPoint</Application>
  <PresentationFormat>Widescreen</PresentationFormat>
  <Paragraphs>219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Dynamic Programming Sutton/Barto* Chapter 4</vt:lpstr>
      <vt:lpstr>Summary of Notation</vt:lpstr>
      <vt:lpstr>Goal</vt:lpstr>
      <vt:lpstr>Tabular Methods</vt:lpstr>
      <vt:lpstr>Prediction vs. Control</vt:lpstr>
      <vt:lpstr>Policy Evaluation</vt:lpstr>
      <vt:lpstr>Policy Evaluation (Prediction): Estimate v_π</vt:lpstr>
      <vt:lpstr>Solution Option 1: Linear Program</vt:lpstr>
      <vt:lpstr>Solution Option 2: Iterative Policy Evaluation</vt:lpstr>
      <vt:lpstr>Convergence of Iterative Policy Evaluation</vt:lpstr>
      <vt:lpstr>Alg. Iterative Policy Evaluation</vt:lpstr>
      <vt:lpstr>Policy Iteration</vt:lpstr>
      <vt:lpstr>Policy Improvement</vt:lpstr>
      <vt:lpstr>Policy Iteration</vt:lpstr>
      <vt:lpstr>Alg. Policy Iteration</vt:lpstr>
      <vt:lpstr>Value Iteration</vt:lpstr>
      <vt:lpstr>Value Iteration</vt:lpstr>
      <vt:lpstr>Alg. Value Iteration</vt:lpstr>
      <vt:lpstr>Issues with DP Methods</vt:lpstr>
      <vt:lpstr>GPI: Generalized Policy Iteration</vt:lpstr>
      <vt:lpstr>GPI: Generalized Policy Iteration</vt:lpstr>
      <vt:lpstr>Efficiency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102</cp:revision>
  <dcterms:created xsi:type="dcterms:W3CDTF">2025-09-08T14:44:49Z</dcterms:created>
  <dcterms:modified xsi:type="dcterms:W3CDTF">2026-01-20T16:51:57Z</dcterms:modified>
</cp:coreProperties>
</file>