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478" r:id="rId3"/>
    <p:sldId id="368" r:id="rId4"/>
    <p:sldId id="380" r:id="rId5"/>
    <p:sldId id="388" r:id="rId6"/>
    <p:sldId id="372" r:id="rId7"/>
    <p:sldId id="369" r:id="rId8"/>
    <p:sldId id="370" r:id="rId9"/>
    <p:sldId id="389" r:id="rId10"/>
    <p:sldId id="390" r:id="rId11"/>
    <p:sldId id="371" r:id="rId12"/>
    <p:sldId id="373" r:id="rId13"/>
    <p:sldId id="375" r:id="rId14"/>
    <p:sldId id="376" r:id="rId15"/>
    <p:sldId id="377" r:id="rId16"/>
    <p:sldId id="378" r:id="rId17"/>
    <p:sldId id="379" r:id="rId18"/>
    <p:sldId id="382" r:id="rId19"/>
    <p:sldId id="479" r:id="rId20"/>
    <p:sldId id="383" r:id="rId21"/>
    <p:sldId id="384" r:id="rId22"/>
    <p:sldId id="385" r:id="rId23"/>
    <p:sldId id="386" r:id="rId24"/>
    <p:sldId id="387" r:id="rId2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83286E67-F0F0-421C-8F74-7B93ABA17FBF}">
          <p14:sldIdLst>
            <p14:sldId id="256"/>
            <p14:sldId id="478"/>
          </p14:sldIdLst>
        </p14:section>
        <p14:section name="Introduction" id="{E0FB7704-6132-49E2-A4A4-C2DED466B618}">
          <p14:sldIdLst>
            <p14:sldId id="368"/>
            <p14:sldId id="380"/>
            <p14:sldId id="388"/>
          </p14:sldIdLst>
        </p14:section>
        <p14:section name="Policy Evaluation" id="{E4CB73A3-D0DE-4DED-94E7-4A458167A30F}">
          <p14:sldIdLst>
            <p14:sldId id="372"/>
            <p14:sldId id="369"/>
            <p14:sldId id="370"/>
            <p14:sldId id="389"/>
            <p14:sldId id="390"/>
            <p14:sldId id="371"/>
          </p14:sldIdLst>
        </p14:section>
        <p14:section name="Policy Iteration" id="{4DE153CC-8DA8-4101-A46B-0DFD73F9B57D}">
          <p14:sldIdLst>
            <p14:sldId id="373"/>
            <p14:sldId id="375"/>
            <p14:sldId id="376"/>
            <p14:sldId id="377"/>
          </p14:sldIdLst>
        </p14:section>
        <p14:section name="Value Iteration" id="{6A988A78-1EF4-4EB1-89B7-8F80075BCC63}">
          <p14:sldIdLst>
            <p14:sldId id="378"/>
            <p14:sldId id="379"/>
            <p14:sldId id="382"/>
            <p14:sldId id="479"/>
            <p14:sldId id="383"/>
          </p14:sldIdLst>
        </p14:section>
        <p14:section name="Generalized Policy Iteration" id="{24242526-B5FF-45B4-A80E-CA85C1F5783D}">
          <p14:sldIdLst>
            <p14:sldId id="384"/>
            <p14:sldId id="385"/>
            <p14:sldId id="386"/>
          </p14:sldIdLst>
        </p14:section>
        <p14:section name="Summary" id="{6AC1C20A-A1BF-4444-80D7-F422EA17542D}">
          <p14:sldIdLst>
            <p14:sldId id="38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4599F94E-CEE6-441E-89CC-EB005ECD8F06}">
      <a14:m xmlns:a14="http://schemas.microsoft.com/office/drawing/2010/main">
        <m:mathPr xmlns:m="http://schemas.openxmlformats.org/officeDocument/2006/math">
          <m:brkBin m:val="before"/>
          <m:brkBinSub m:val="--"/>
        </m:mathPr>
      </a14:m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3923" autoAdjust="0"/>
    <p:restoredTop sz="94660"/>
  </p:normalViewPr>
  <p:slideViewPr>
    <p:cSldViewPr snapToGrid="0">
      <p:cViewPr varScale="1">
        <p:scale>
          <a:sx n="152" d="100"/>
          <a:sy n="152" d="100"/>
        </p:scale>
        <p:origin x="144" y="10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8D5558-2701-D852-1A01-0BF39B58DEE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0E150F4-19D6-3927-AF4C-79938CACB9B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A1C3DC3-6BE4-4AD5-BF83-83DBE6741D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2/4/2026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BCD0FF9-FEE5-7DEA-F2A0-04CD3C8E9F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FBCCB2C-BF64-0CEB-C138-EC1E0FF179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738029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3EA809-C199-A2CA-4B62-C11FD83604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59072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9ABD398-BC57-413F-4426-6AE62DCF0FF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97330"/>
            <a:ext cx="10515600" cy="4779633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F009A95-DE70-5583-0BB6-25CA049AFA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2/4/2026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22F8C87-113F-3949-D291-E8101A072B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968CBE1-6776-590E-6A36-B274F6F616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716524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37B990-0C44-FE72-89C1-7BAFB2C892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1BF51AA-25F1-19ED-49F4-909710D8F4A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86F3394-E947-7BBC-4B4E-FC222CF9E3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2/4/2026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0090F51-989A-F265-1B59-526B06EC07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A96400B-F255-95CF-8BD8-3D8AE595A2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833765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0DC8DE-D8D3-04F9-7952-B3C9B444DE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5C6199-C068-6A1D-B9C6-37C04A922F6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CB26636-1E6C-5A66-DCE9-40F0239C9A0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485DEA3-FC5C-77B6-8AEC-BF4A26C760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2/4/2026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0A2BAE8-516B-EE07-0EF8-4E37D353BE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F1D7F8D-0B8A-CA54-C5D1-DAFB9A2172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953588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37762D-C67C-6FB4-D8AF-A2AEADD0B2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66F3E59-5CAF-AE52-066A-662EAF232F9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8294A81-151A-F8B5-9A7D-43577F3F693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CBDED1E-7743-9D82-5A8F-215AF2DB838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3E3FED4-7E43-512F-BDC2-AB5A6F6A961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CE71D6A-F625-133A-E751-2B967B94A6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2/4/2026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3256629-E601-1BA5-526C-36960EEBE0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665DDDF-B6D4-29FB-6B7F-C7017B4EAB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571708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42B25A-3F20-51F4-D136-F73B176833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EFF8609-CAA0-6678-FCA9-C0252974D7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2/4/2026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911A081-E4EB-7E96-A0AA-2E4D490998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DD0AC27-1467-337C-D636-190385E397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731793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EC8C3DB-E47E-C122-D7BD-AAAC105B29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2/4/2026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2194795-A7C6-B915-9849-6DDF9E5561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ABBD6E5-D6AC-7828-B9FA-162561BDB7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758747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CDDA5E-FB2F-65E3-9AC6-77E9E333A2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EF88CA7-EDCF-7BC9-0D50-5F550487A7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7F96387-78E1-111C-2860-3620802599F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8A170FC-BF4D-52B4-3D96-975E35B67E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2/4/2026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3EB24C2-CDEC-1D6D-42DB-F885EAF6C2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9ACA044-7F46-1F0F-A966-A66706F2D1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319248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692354-EE3F-C81F-2C98-42CA24F042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B37B54A-0E38-1C0F-EA90-8D9A628CC2C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2DF9108-1890-E2BF-7EA2-A2F28DEA6C3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D668F02-6193-91DC-69E0-6CC09A2476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2/4/2026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534B642-5606-ACB8-4ADF-6DDE8BE4B5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F89560E-8858-1CED-6B2E-1EF0F58F2F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475709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5BA8BF-0F66-F00E-4527-03CBDE1E6F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548F7C1-32BC-0F71-0130-0DFB9C183A5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C59C7E0-3252-37DB-73A7-7F070748FF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2/4/2026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676C5EE-EAD9-8D18-3741-930600D3BD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05647D8-342D-AED5-3763-DD02F7C2A4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084422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DD0B639-7A1F-68FA-45DD-3196E2CB572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CF4F1BB-B40D-E6E4-111B-122348C261F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C52DAFD-560D-9508-6F31-281EC97436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2/4/2026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90C6320-E161-CE4A-CBDD-27072D2A15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04C3E81-2AD2-5FBE-B6F5-1512F3AF97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058002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C946CF1-7E31-D1FD-63E0-29688510ED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5499997-F7F8-3FB5-F294-092654769C9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2FEC26E-B485-AE94-5C91-D0E504CEB56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E22BF2E-04DA-469E-97C5-BB68A0368813}" type="datetimeFigureOut">
              <a:rPr lang="en-US" smtClean="0"/>
              <a:t>2/4/2026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A3ECD47-D4F5-A47B-6CA1-E8E47C1C43B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9C8C2B9-7B85-792D-492E-EE9D50875A0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873914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creativecommons.org/licenses/by-nc-sa/4.0/" TargetMode="External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0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0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7" Type="http://schemas.openxmlformats.org/officeDocument/2006/relationships/image" Target="../media/image17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6.png"/><Relationship Id="rId5" Type="http://schemas.openxmlformats.org/officeDocument/2006/relationships/image" Target="../media/image15.png"/><Relationship Id="rId4" Type="http://schemas.openxmlformats.org/officeDocument/2006/relationships/image" Target="../media/image141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91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3.png"/><Relationship Id="rId5" Type="http://schemas.openxmlformats.org/officeDocument/2006/relationships/image" Target="../media/image22.png"/><Relationship Id="rId4" Type="http://schemas.openxmlformats.org/officeDocument/2006/relationships/image" Target="../media/image21.png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7.png"/><Relationship Id="rId3" Type="http://schemas.openxmlformats.org/officeDocument/2006/relationships/image" Target="../media/image26.png"/><Relationship Id="rId7" Type="http://schemas.openxmlformats.org/officeDocument/2006/relationships/image" Target="../media/image150.png"/><Relationship Id="rId2" Type="http://schemas.openxmlformats.org/officeDocument/2006/relationships/image" Target="../media/image25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40.png"/><Relationship Id="rId5" Type="http://schemas.openxmlformats.org/officeDocument/2006/relationships/image" Target="../media/image130.png"/><Relationship Id="rId4" Type="http://schemas.openxmlformats.org/officeDocument/2006/relationships/image" Target="../media/image120.pn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0.png"/><Relationship Id="rId7" Type="http://schemas.openxmlformats.org/officeDocument/2006/relationships/image" Target="../media/image31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20.png"/><Relationship Id="rId5" Type="http://schemas.openxmlformats.org/officeDocument/2006/relationships/image" Target="../media/image210.png"/><Relationship Id="rId4" Type="http://schemas.openxmlformats.org/officeDocument/2006/relationships/image" Target="../media/image200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80.png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6.png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0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0671A8AE-40A1-4631-A6B8-581AFF06548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2B02EEF-8413-288E-566D-063A066A6CB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377" r="23298" b="3714"/>
          <a:stretch>
            <a:fillRect/>
          </a:stretch>
        </p:blipFill>
        <p:spPr bwMode="auto">
          <a:xfrm>
            <a:off x="3527560" y="-1502"/>
            <a:ext cx="8668512" cy="68579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AB58EF07-17C2-48CF-ABB0-EEF1F17CB8F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" y="0"/>
            <a:ext cx="9339206" cy="6858000"/>
          </a:xfrm>
          <a:prstGeom prst="rect">
            <a:avLst/>
          </a:prstGeom>
          <a:gradFill>
            <a:gsLst>
              <a:gs pos="58000">
                <a:schemeClr val="tx1"/>
              </a:gs>
              <a:gs pos="33000">
                <a:schemeClr val="tx1">
                  <a:alpha val="64000"/>
                </a:schemeClr>
              </a:gs>
              <a:gs pos="0">
                <a:schemeClr val="tx1">
                  <a:alpha val="0"/>
                </a:schemeClr>
              </a:gs>
              <a:gs pos="100000">
                <a:schemeClr val="tx1"/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51EE42B-57B4-EB74-A37C-6675858E7D2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77981" y="1122363"/>
            <a:ext cx="4463968" cy="3204134"/>
          </a:xfrm>
        </p:spPr>
        <p:txBody>
          <a:bodyPr anchor="b">
            <a:normAutofit fontScale="90000"/>
          </a:bodyPr>
          <a:lstStyle/>
          <a:p>
            <a:pPr algn="l"/>
            <a:r>
              <a:rPr lang="en-US" sz="4800" dirty="0">
                <a:solidFill>
                  <a:schemeClr val="bg1"/>
                </a:solidFill>
              </a:rPr>
              <a:t>Reinforcement Learning</a:t>
            </a:r>
            <a:br>
              <a:rPr lang="en-US" sz="4800" dirty="0">
                <a:solidFill>
                  <a:schemeClr val="bg1"/>
                </a:solidFill>
              </a:rPr>
            </a:br>
            <a:br>
              <a:rPr lang="en-US" sz="4800" dirty="0">
                <a:solidFill>
                  <a:schemeClr val="bg1"/>
                </a:solidFill>
              </a:rPr>
            </a:br>
            <a:r>
              <a:rPr lang="en-US" sz="4000" dirty="0">
                <a:solidFill>
                  <a:schemeClr val="bg1"/>
                </a:solidFill>
              </a:rPr>
              <a:t>Dynamic Programming</a:t>
            </a:r>
            <a:br>
              <a:rPr lang="en-US" sz="4000" dirty="0">
                <a:solidFill>
                  <a:schemeClr val="bg1"/>
                </a:solidFill>
              </a:rPr>
            </a:br>
            <a:r>
              <a:rPr lang="en-US" sz="2800" dirty="0">
                <a:solidFill>
                  <a:schemeClr val="bg1"/>
                </a:solidFill>
              </a:rPr>
              <a:t>Sutton/Barto*</a:t>
            </a:r>
            <a:r>
              <a:rPr lang="en-US" sz="2700" dirty="0">
                <a:solidFill>
                  <a:schemeClr val="bg1"/>
                </a:solidFill>
              </a:rPr>
              <a:t> Chapter 4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FFF10C2-8C10-0E89-D285-D614C36EEE6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77982" y="4868822"/>
            <a:ext cx="4169519" cy="1443894"/>
          </a:xfrm>
        </p:spPr>
        <p:txBody>
          <a:bodyPr>
            <a:normAutofit fontScale="92500"/>
          </a:bodyPr>
          <a:lstStyle/>
          <a:p>
            <a:pPr algn="l"/>
            <a:r>
              <a:rPr lang="en-US" sz="1700" dirty="0">
                <a:solidFill>
                  <a:schemeClr val="bg1"/>
                </a:solidFill>
              </a:rPr>
              <a:t>Michael Hahsler, SMU</a:t>
            </a:r>
          </a:p>
          <a:p>
            <a:pPr algn="l"/>
            <a:r>
              <a:rPr lang="en-US" sz="1300" dirty="0">
                <a:solidFill>
                  <a:schemeClr val="bg1"/>
                </a:solidFill>
              </a:rPr>
              <a:t>With figures from Sutton/Barto*</a:t>
            </a:r>
          </a:p>
          <a:p>
            <a:pPr algn="l"/>
            <a:endParaRPr lang="en-US" sz="1300" dirty="0">
              <a:solidFill>
                <a:schemeClr val="bg1"/>
              </a:solidFill>
            </a:endParaRPr>
          </a:p>
          <a:p>
            <a:pPr algn="l"/>
            <a:r>
              <a:rPr lang="en-US" sz="1300" dirty="0">
                <a:solidFill>
                  <a:schemeClr val="bg1"/>
                </a:solidFill>
              </a:rPr>
              <a:t>*Sutton and Barto, Reinforcement Learning: An Introduction, 2</a:t>
            </a:r>
            <a:r>
              <a:rPr lang="en-US" sz="1300" baseline="30000" dirty="0">
                <a:solidFill>
                  <a:schemeClr val="bg1"/>
                </a:solidFill>
              </a:rPr>
              <a:t>nd</a:t>
            </a:r>
            <a:r>
              <a:rPr lang="en-US" sz="1300" dirty="0">
                <a:solidFill>
                  <a:schemeClr val="bg1"/>
                </a:solidFill>
              </a:rPr>
              <a:t> edition, MIT Press, Cambridge, MA, 2018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F2F604E-43BE-4DC3-B983-E071523364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759921" y="346791"/>
            <a:ext cx="146304" cy="7040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08C9B587-E65E-4B52-B37C-ABEBB6E879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1029" y="4546920"/>
            <a:ext cx="3977640" cy="18288"/>
          </a:xfrm>
          <a:prstGeom prst="rect">
            <a:avLst/>
          </a:prstGeom>
          <a:solidFill>
            <a:schemeClr val="tx1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4" name="object 23">
            <a:hlinkClick r:id="rId3"/>
            <a:extLst>
              <a:ext uri="{FF2B5EF4-FFF2-40B4-BE49-F238E27FC236}">
                <a16:creationId xmlns:a16="http://schemas.microsoft.com/office/drawing/2014/main" id="{3CBD6548-3D4E-9A40-CA35-355261D4E92C}"/>
              </a:ext>
            </a:extLst>
          </p:cNvPr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10961016" y="6265038"/>
            <a:ext cx="1037459" cy="383579"/>
          </a:xfrm>
          <a:prstGeom prst="rect">
            <a:avLst/>
          </a:prstGeom>
        </p:spPr>
      </p:pic>
      <p:pic>
        <p:nvPicPr>
          <p:cNvPr id="6" name="Picture 4">
            <a:extLst>
              <a:ext uri="{FF2B5EF4-FFF2-40B4-BE49-F238E27FC236}">
                <a16:creationId xmlns:a16="http://schemas.microsoft.com/office/drawing/2014/main" id="{DF818925-CF68-EB6E-413D-FFCD573CCFF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87456" y="125210"/>
            <a:ext cx="4182403" cy="100094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85275295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A4E1A2-75E3-3C9C-6C10-EE078C5AD5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Summary of Notation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7E69C9C-42B6-9B0F-9AE0-20D17703E49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22819" y="3658891"/>
                <a:ext cx="5273179" cy="1902124"/>
              </a:xfrm>
            </p:spPr>
            <p:style>
              <a:lnRef idx="2">
                <a:schemeClr val="accent2"/>
              </a:lnRef>
              <a:fillRef idx="1">
                <a:schemeClr val="lt1"/>
              </a:fillRef>
              <a:effectRef idx="0">
                <a:schemeClr val="accent2"/>
              </a:effectRef>
              <a:fontRef idx="minor">
                <a:schemeClr val="dk1"/>
              </a:fontRef>
            </p:style>
            <p:txBody>
              <a:bodyPr>
                <a:sp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:r>
                  <a:rPr lang="en-US" sz="1200" b="1" dirty="0"/>
                  <a:t>Value Function</a:t>
                </a:r>
                <a:endParaRPr lang="en-US" sz="1200" i="1" dirty="0">
                  <a:latin typeface="Cambria Math" panose="02040503050406030204" pitchFamily="18" charset="0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200" dirty="0"/>
                  <a:t> 	return (cumulative reward) following time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endParaRPr lang="en-US" sz="1200" dirty="0"/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:</m:t>
                        </m:r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h</m:t>
                        </m:r>
                      </m:sub>
                    </m:sSub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	return from </a:t>
                </a:r>
                <a14:m>
                  <m:oMath xmlns:m="http://schemas.openxmlformats.org/officeDocument/2006/math"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 to </a:t>
                </a:r>
                <a14:m>
                  <m:oMath xmlns:m="http://schemas.openxmlformats.org/officeDocument/2006/math"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h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 (discounted and corrected)</a:t>
                </a:r>
                <a:endParaRPr lang="en-US" sz="1200" dirty="0"/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:endParaRPr lang="en-US" sz="1200" i="1" dirty="0">
                  <a:latin typeface="Cambria Math" panose="02040503050406030204" pitchFamily="18" charset="0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value of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under policy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sz="1200" dirty="0"/>
                  <a:t> (expected return)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value of state s under the optimal policy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value of taking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 in state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under policy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endParaRPr lang="en-US" sz="1200" dirty="0"/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value of taking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 in state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under the optimal policy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𝑉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	array estimates of state-value function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endParaRPr lang="en-US" sz="1200" dirty="0">
                  <a:solidFill>
                    <a:schemeClr val="tx1"/>
                  </a:solidFill>
                </a:endParaRP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𝑄</m:t>
                    </m:r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𝑄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	array estimates of action-value function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</m:oMath>
                </a14:m>
                <a:endParaRPr lang="en-US" sz="1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7E69C9C-42B6-9B0F-9AE0-20D17703E49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22819" y="3658891"/>
                <a:ext cx="5273179" cy="1902124"/>
              </a:xfrm>
              <a:blipFill>
                <a:blip r:embed="rId2"/>
                <a:stretch>
                  <a:fillRect b="-95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5CD475E5-BE3B-5594-57DC-46A17411F2F9}"/>
                  </a:ext>
                </a:extLst>
              </p:cNvPr>
              <p:cNvSpPr txBox="1"/>
              <p:nvPr/>
            </p:nvSpPr>
            <p:spPr>
              <a:xfrm>
                <a:off x="822820" y="1124198"/>
                <a:ext cx="5273179" cy="2308324"/>
              </a:xfrm>
              <a:prstGeom prst="rect">
                <a:avLst/>
              </a:prstGeom>
            </p:spPr>
            <p:style>
              <a:lnRef idx="2">
                <a:schemeClr val="accent2"/>
              </a:lnRef>
              <a:fillRef idx="1">
                <a:schemeClr val="lt1"/>
              </a:fillRef>
              <a:effectRef idx="0">
                <a:schemeClr val="accent2"/>
              </a:effectRef>
              <a:fontRef idx="minor">
                <a:schemeClr val="dk1"/>
              </a:fontRef>
            </p:style>
            <p:txBody>
              <a:bodyPr wrap="square">
                <a:spAutoFit/>
              </a:bodyPr>
              <a:lstStyle/>
              <a:p>
                <a:r>
                  <a:rPr lang="en-US" sz="1200" b="1" dirty="0"/>
                  <a:t>General</a:t>
                </a:r>
                <a:endParaRPr lang="en-US" sz="1200" dirty="0"/>
              </a:p>
              <a:p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sz="1200" dirty="0"/>
                  <a:t>	capital letters: random variables</a:t>
                </a:r>
                <a:br>
                  <a:rPr lang="en-US" sz="1200" dirty="0"/>
                </a:br>
                <a14:m>
                  <m:oMath xmlns:m="http://schemas.openxmlformats.org/officeDocument/2006/math"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1200" b="0" i="0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lang="en-US" sz="1200" dirty="0"/>
                  <a:t>	lower-case letters: realizations of random variables </a:t>
                </a:r>
                <a:br>
                  <a:rPr lang="en-US" sz="1200" dirty="0"/>
                </a:br>
                <a:r>
                  <a:rPr lang="en-US" sz="1200" dirty="0"/>
                  <a:t>	or scalar functions</a:t>
                </a:r>
              </a:p>
              <a:p>
                <a14:m>
                  <m:oMath xmlns:m="http://schemas.openxmlformats.org/officeDocument/2006/math">
                    <m:r>
                      <a:rPr lang="en-US" sz="1200" b="1" i="1" smtClean="0">
                        <a:latin typeface="Cambria Math" panose="02040503050406030204" pitchFamily="18" charset="0"/>
                      </a:rPr>
                      <m:t>𝒘</m:t>
                    </m:r>
                  </m:oMath>
                </a14:m>
                <a:r>
                  <a:rPr lang="en-US" sz="1200" dirty="0"/>
                  <a:t> 	Bold lower-case letters: real-valued vectors </a:t>
                </a:r>
                <a:br>
                  <a:rPr lang="en-US" sz="1200" dirty="0"/>
                </a:br>
                <a:r>
                  <a:rPr lang="en-US" sz="1200" dirty="0"/>
                  <a:t>	(even if random variables)</a:t>
                </a:r>
              </a:p>
              <a:p>
                <a14:m>
                  <m:oMath xmlns:m="http://schemas.openxmlformats.org/officeDocument/2006/math">
                    <m:r>
                      <a:rPr lang="en-US" sz="1200" b="1" i="1" smtClean="0">
                        <a:latin typeface="Cambria Math" panose="02040503050406030204" pitchFamily="18" charset="0"/>
                      </a:rPr>
                      <m:t>𝑾</m:t>
                    </m:r>
                  </m:oMath>
                </a14:m>
                <a:r>
                  <a:rPr lang="en-US" sz="1200" dirty="0"/>
                  <a:t>	bold capitals: matrices</a:t>
                </a:r>
              </a:p>
              <a:p>
                <a14:m>
                  <m:oMath xmlns:m="http://schemas.openxmlformats.org/officeDocument/2006/math"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en-US" sz="1200" dirty="0"/>
                  <a:t>	Greek letters: parameters (vectors if in bolt)</a:t>
                </a:r>
              </a:p>
              <a:p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1200" i="1" dirty="0">
                        <a:latin typeface="Cambria Math" panose="02040503050406030204" pitchFamily="18" charset="0"/>
                      </a:rPr>
                      <m:t>Pr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⁡{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r>
                  <a:rPr lang="en-US" sz="1200" dirty="0"/>
                  <a:t>	probability that a random variable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sz="1200" dirty="0"/>
                  <a:t> takes on the value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endParaRPr lang="en-US" sz="1200" dirty="0"/>
              </a:p>
              <a:p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~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lang="en-US" sz="1200" dirty="0"/>
                  <a:t>	random variable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sz="1200" dirty="0"/>
                  <a:t> selected from distribution </a:t>
                </a:r>
                <a14:m>
                  <m:oMath xmlns:m="http://schemas.openxmlformats.org/officeDocument/2006/math">
                    <m:r>
                      <a:rPr lang="en-US" sz="1200" i="1"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ctrlPr>
                          <a:rPr lang="en-US" sz="12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  <m:r>
                      <a:rPr lang="en-US" sz="1200" i="1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 sz="1200">
                        <a:latin typeface="Cambria Math" panose="02040503050406030204" pitchFamily="18" charset="0"/>
                      </a:rPr>
                      <m:t>Pr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⁡{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endParaRPr lang="en-US" sz="1200" dirty="0"/>
              </a:p>
              <a:p>
                <a14:m>
                  <m:oMath xmlns:m="http://schemas.openxmlformats.org/officeDocument/2006/math"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𝔼</m:t>
                    </m:r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[</m:t>
                    </m:r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𝑋</m:t>
                    </m:r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en-US" sz="1200" dirty="0"/>
                  <a:t>	expectation of a random variable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sz="1200" dirty="0"/>
                  <a:t>, i.e., </a:t>
                </a:r>
                <a14:m>
                  <m:oMath xmlns:m="http://schemas.openxmlformats.org/officeDocument/2006/math"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𝔼</m:t>
                    </m:r>
                    <m:d>
                      <m:dPr>
                        <m:begChr m:val="["/>
                        <m:endChr m:val="]"/>
                        <m:ctrlP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𝑋</m:t>
                        </m:r>
                      </m:e>
                    </m:d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supHide m:val="on"/>
                        <m:ctrlP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sub>
                      <m:sup/>
                      <m:e>
                        <m: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𝑝</m:t>
                        </m:r>
                        <m:d>
                          <m:dPr>
                            <m:ctrlPr>
                              <a:rPr lang="en-US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𝑥</m:t>
                            </m:r>
                          </m:e>
                        </m:d>
                        <m: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e>
                    </m:nary>
                  </m:oMath>
                </a14:m>
                <a:endParaRPr lang="en-US" sz="1200" dirty="0">
                  <a:ea typeface="Cambria Math" panose="02040503050406030204" pitchFamily="18" charset="0"/>
                </a:endParaRP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1200" dirty="0">
                            <a:latin typeface="Cambria Math" panose="02040503050406030204" pitchFamily="18" charset="0"/>
                          </a:rPr>
                          <m:t>argmax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1200" dirty="0">
                            <a:latin typeface="Cambria Math" panose="02040503050406030204" pitchFamily="18" charset="0"/>
                          </a:rPr>
                          <m:t>a</m:t>
                        </m:r>
                      </m:sub>
                    </m:sSub>
                    <m:r>
                      <a:rPr lang="en-US" sz="1200" dirty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 a value of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 at which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 takes its maximal value</a:t>
                </a:r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5CD475E5-BE3B-5594-57DC-46A17411F2F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2820" y="1124198"/>
                <a:ext cx="5273179" cy="2308324"/>
              </a:xfrm>
              <a:prstGeom prst="rect">
                <a:avLst/>
              </a:prstGeom>
              <a:blipFill>
                <a:blip r:embed="rId3"/>
                <a:stretch>
                  <a:fillRect b="-942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Content Placeholder 2">
                <a:extLst>
                  <a:ext uri="{FF2B5EF4-FFF2-40B4-BE49-F238E27FC236}">
                    <a16:creationId xmlns:a16="http://schemas.microsoft.com/office/drawing/2014/main" id="{6F45EA4F-65F9-5141-0B09-C395CF9CA7A0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6267338" y="1124198"/>
                <a:ext cx="5273179" cy="3693383"/>
              </a:xfrm>
              <a:prstGeom prst="rect">
                <a:avLst/>
              </a:prstGeom>
            </p:spPr>
            <p:style>
              <a:lnRef idx="2">
                <a:schemeClr val="accent2"/>
              </a:lnRef>
              <a:fillRef idx="1">
                <a:schemeClr val="lt1"/>
              </a:fillRef>
              <a:effectRef idx="0">
                <a:schemeClr val="accent2"/>
              </a:effectRef>
              <a:fontRef idx="minor">
                <a:schemeClr val="dk1"/>
              </a:fontRef>
            </p:style>
            <p:txBody>
              <a:bodyPr vert="horz" wrap="square" lIns="91440" tIns="45720" rIns="91440" bIns="45720" rtlCol="0">
                <a:sp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spcBef>
                    <a:spcPts val="0"/>
                  </a:spcBef>
                  <a:buNone/>
                </a:pPr>
                <a:r>
                  <a:rPr lang="en-US" sz="1200" b="1" dirty="0"/>
                  <a:t>MDP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b="0" i="1" dirty="0" smtClean="0"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r>
                  <a:rPr lang="en-US" sz="1200" dirty="0"/>
                  <a:t> 	states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 	an action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𝑟</m:t>
                    </m:r>
                  </m:oMath>
                </a14:m>
                <a:r>
                  <a:rPr lang="en-US" sz="1200" dirty="0"/>
                  <a:t> 	a reward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𝒮</m:t>
                    </m:r>
                  </m:oMath>
                </a14:m>
                <a:r>
                  <a:rPr lang="en-US" sz="1200" dirty="0"/>
                  <a:t> 	set of all (nonterminal) states,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200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200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𝒮</m:t>
                        </m:r>
                      </m:e>
                      <m:sup>
                        <m:r>
                          <a:rPr lang="en-US" sz="1200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</m:t>
                        </m:r>
                      </m:sup>
                    </m:sSup>
                  </m:oMath>
                </a14:m>
                <a:r>
                  <a:rPr lang="en-US" sz="1200" dirty="0"/>
                  <a:t> are all states 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𝒜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set of all actions available in state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endParaRPr lang="en-US" sz="1200" dirty="0"/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>
                        <a:latin typeface="Cambria Math" panose="02040503050406030204" pitchFamily="18" charset="0"/>
                      </a:rPr>
                      <m:t>𝛾</m:t>
                    </m:r>
                  </m:oMath>
                </a14:m>
                <a:r>
                  <a:rPr lang="en-US" sz="1200" dirty="0"/>
                  <a:t> 	discount-rate parameter</a:t>
                </a:r>
                <a:endParaRPr lang="en-US" sz="1200" i="1" dirty="0">
                  <a:latin typeface="Cambria Math" panose="02040503050406030204" pitchFamily="18" charset="0"/>
                </a:endParaRP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en-US" sz="1200" dirty="0"/>
                  <a:t> 	discrete time step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r>
                  <a:rPr lang="en-US" sz="1200" dirty="0"/>
                  <a:t> 	final time step of an episode (a.k.a. horizon)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 smtClean="0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lang="en-US" sz="1200" b="0" i="1" dirty="0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200" dirty="0"/>
                  <a:t> 	random variable for the action at time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endParaRPr lang="en-US" sz="1200" dirty="0"/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 smtClean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sz="1200" b="0" i="1" dirty="0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200" dirty="0"/>
                  <a:t>	random variable for the state at time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endParaRPr lang="en-US" sz="1200" dirty="0"/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 smtClean="0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sz="1200" b="0" i="1" dirty="0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200" dirty="0"/>
                  <a:t> 	random variable for the reward at time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endParaRPr lang="en-US" sz="1200" dirty="0"/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:endParaRPr lang="en-US" sz="1200" i="1" dirty="0">
                  <a:latin typeface="Cambria Math" panose="02040503050406030204" pitchFamily="18" charset="0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endChr m:val="|"/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sz="1200" i="1" dirty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200" i="1" dirty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p>
                            <m:r>
                              <a:rPr lang="en-US" sz="1200" i="1" dirty="0"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  <m:r>
                          <a:rPr lang="en-US" sz="1200" b="0" i="1" dirty="0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1200" b="0" i="1" dirty="0" smtClean="0"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 </m:t>
                        </m:r>
                      </m:e>
                    </m:d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probability of transition to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r>
                  <a:rPr lang="en-US" sz="1200" dirty="0"/>
                  <a:t> and receiving reward </a:t>
                </a:r>
                <a14:m>
                  <m:oMath xmlns:m="http://schemas.openxmlformats.org/officeDocument/2006/math"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𝑟</m:t>
                    </m:r>
                  </m:oMath>
                </a14:m>
                <a:r>
                  <a:rPr lang="en-US" sz="1200" dirty="0"/>
                  <a:t>, </a:t>
                </a:r>
                <a:br>
                  <a:rPr lang="en-US" sz="1200" dirty="0"/>
                </a:br>
                <a:r>
                  <a:rPr lang="en-US" sz="1200" dirty="0"/>
                  <a:t>	from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taking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endChr m:val="|"/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sz="1200" i="1" dirty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200" i="1" dirty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p>
                            <m:r>
                              <a:rPr lang="en-US" sz="1200" i="1" dirty="0"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</m:e>
                    </m:d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 	probability of transition to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r>
                  <a:rPr lang="en-US" sz="1200" dirty="0"/>
                  <a:t> fom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taking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𝑟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expected immediate reward from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after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b="0" i="1" dirty="0" smtClean="0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en-US" sz="1200" b="0" dirty="0"/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>
                        <a:latin typeface="Cambria Math" panose="02040503050406030204" pitchFamily="18" charset="0"/>
                      </a:rPr>
                      <m:t>𝑟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′)</m:t>
                    </m:r>
                  </m:oMath>
                </a14:m>
                <a:r>
                  <a:rPr lang="en-US" sz="1200" dirty="0"/>
                  <a:t>	expected immediate reward from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to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2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p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</m:oMath>
                </a14:m>
                <a:r>
                  <a:rPr lang="en-US" sz="1200" dirty="0"/>
                  <a:t> with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b="0" i="1" dirty="0" smtClean="0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en-US" sz="1200" i="1" dirty="0">
                  <a:latin typeface="Cambria Math" panose="02040503050406030204" pitchFamily="18" charset="0"/>
                </a:endParaRPr>
              </a:p>
              <a:p>
                <a:pPr marL="0" indent="0">
                  <a:spcBef>
                    <a:spcPts val="0"/>
                  </a:spcBef>
                  <a:buNone/>
                </a:pPr>
                <a:endParaRPr lang="en-US" sz="1200" i="1" dirty="0">
                  <a:latin typeface="Cambria Math" panose="02040503050406030204" pitchFamily="18" charset="0"/>
                </a:endParaRP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𝜋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 err="1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 err="1">
                        <a:latin typeface="Cambria Math" panose="02040503050406030204" pitchFamily="18" charset="0"/>
                      </a:rPr>
                      <m:t>|</m:t>
                    </m:r>
                    <m:r>
                      <a:rPr lang="en-US" sz="1200" i="1" dirty="0" err="1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probability of taking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 in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under stochastic policy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endParaRPr lang="en-US" sz="1200" dirty="0">
                  <a:ea typeface="Cambria Math" panose="02040503050406030204" pitchFamily="18" charset="0"/>
                </a:endParaRP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𝜋</m:t>
                    </m:r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action taken in state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under deterministic policy </a:t>
                </a:r>
                <a14:m>
                  <m:oMath xmlns:m="http://schemas.openxmlformats.org/officeDocument/2006/math">
                    <m:r>
                      <a:rPr lang="en-US" sz="1200" b="0" i="1" dirty="0" smtClean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endParaRPr lang="en-US" sz="1200" dirty="0"/>
              </a:p>
            </p:txBody>
          </p:sp>
        </mc:Choice>
        <mc:Fallback xmlns="">
          <p:sp>
            <p:nvSpPr>
              <p:cNvPr id="11" name="Content Placeholder 2">
                <a:extLst>
                  <a:ext uri="{FF2B5EF4-FFF2-40B4-BE49-F238E27FC236}">
                    <a16:creationId xmlns:a16="http://schemas.microsoft.com/office/drawing/2014/main" id="{6F45EA4F-65F9-5141-0B09-C395CF9CA7A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67338" y="1124198"/>
                <a:ext cx="5273179" cy="3693383"/>
              </a:xfrm>
              <a:prstGeom prst="rect">
                <a:avLst/>
              </a:prstGeom>
              <a:blipFill>
                <a:blip r:embed="rId4"/>
                <a:stretch>
                  <a:fillRect t="-32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92069401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EFE431-EDDE-8F36-4640-902EF247D5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Goal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F0BC304-9F53-1D52-E987-0090E50732A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170264"/>
                <a:ext cx="8403522" cy="5006699"/>
              </a:xfrm>
            </p:spPr>
            <p:txBody>
              <a:bodyPr>
                <a:normAutofit lnSpcReduction="10000"/>
              </a:bodyPr>
              <a:lstStyle/>
              <a:p>
                <a:r>
                  <a:rPr lang="en-US" sz="1500" b="1" dirty="0"/>
                  <a:t>Remember</a:t>
                </a:r>
                <a:r>
                  <a:rPr lang="en-US" sz="1500" dirty="0"/>
                  <a:t>: MDPs have an optimal deterministic policy.</a:t>
                </a:r>
              </a:p>
              <a:p>
                <a:r>
                  <a:rPr lang="en-US" sz="1500" b="1" dirty="0"/>
                  <a:t>Goal</a:t>
                </a:r>
                <a:r>
                  <a:rPr lang="en-US" sz="1500" dirty="0"/>
                  <a:t>: Compute the </a:t>
                </a:r>
                <a:r>
                  <a:rPr lang="en-US" sz="1500" b="1" dirty="0"/>
                  <a:t>optimal deterministic policy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5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500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e>
                      <m:sub>
                        <m:r>
                          <a:rPr lang="en-US" sz="1500" b="0" i="1" smtClean="0"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  <m:r>
                      <a:rPr lang="en-US" sz="1500" b="1" i="1" smtClean="0">
                        <a:latin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en-US" sz="1600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limLow>
                          <m:limLowPr>
                            <m:ctrlPr>
                              <a:rPr lang="en-US" sz="1600" i="1">
                                <a:latin typeface="Cambria Math" panose="02040503050406030204" pitchFamily="18" charset="0"/>
                              </a:rPr>
                            </m:ctrlPr>
                          </m:limLowPr>
                          <m:e>
                            <m:r>
                              <m:rPr>
                                <m:sty m:val="p"/>
                              </m:rPr>
                              <a:rPr lang="en-US" sz="1600">
                                <a:latin typeface="Cambria Math" panose="02040503050406030204" pitchFamily="18" charset="0"/>
                              </a:rPr>
                              <m:t>argmax</m:t>
                            </m:r>
                          </m:e>
                          <m:lim>
                            <m:r>
                              <a:rPr lang="en-US" sz="1600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lim>
                        </m:limLow>
                      </m:fName>
                      <m:e>
                        <m:sSub>
                          <m:sSubPr>
                            <m:ctrlPr>
                              <a:rPr lang="en-US" sz="16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600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∗</m:t>
                            </m:r>
                          </m:sub>
                        </m:sSub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𝑎</m:t>
                        </m:r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func>
                  </m:oMath>
                </a14:m>
                <a:r>
                  <a:rPr lang="en-US" sz="1500" dirty="0"/>
                  <a:t> given a perfect finite MDP model.</a:t>
                </a:r>
              </a:p>
              <a:p>
                <a:r>
                  <a:rPr lang="en-US" sz="1500" dirty="0"/>
                  <a:t>Solve the Bellman optimality equations (the optimal policy always picks the best action):</a:t>
                </a:r>
              </a:p>
              <a:p>
                <a:pPr marL="0" indent="0">
                  <a:buNone/>
                </a:pPr>
                <a:endParaRPr lang="en-US" sz="15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5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500" i="1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sz="1500" i="1">
                              <a:latin typeface="Cambria Math" panose="02040503050406030204" pitchFamily="18" charset="0"/>
                            </a:rPr>
                            <m:t>∗</m:t>
                          </m:r>
                        </m:sub>
                      </m:sSub>
                      <m:d>
                        <m:dPr>
                          <m:ctrlPr>
                            <a:rPr lang="en-US" sz="15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500" i="1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sSub>
                        <m:sSubPr>
                          <m:ctrlPr>
                            <a:rPr lang="en-US" sz="15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aln/>
                            </m:rPr>
                            <a:rPr lang="en-US" sz="15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=</m:t>
                          </m:r>
                          <m:limLow>
                            <m:limLowPr>
                              <m:ctrlPr>
                                <a:rPr lang="en-US" sz="1500" i="1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 sz="1500">
                                  <a:latin typeface="Cambria Math" panose="02040503050406030204" pitchFamily="18" charset="0"/>
                                </a:rPr>
                                <m:t>max</m:t>
                              </m:r>
                            </m:e>
                            <m:lim>
                              <m:r>
                                <a:rPr lang="en-US" sz="1500" i="1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lim>
                          </m:limLow>
                          <m:r>
                            <a:rPr lang="en-US" sz="1500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15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𝔼</m:t>
                          </m:r>
                        </m:e>
                        <m:sub>
                          <m:r>
                            <a:rPr lang="en-US" sz="15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𝜋</m:t>
                          </m:r>
                        </m:sub>
                      </m:sSub>
                      <m:d>
                        <m:dPr>
                          <m:begChr m:val="["/>
                          <m:endChr m:val="|"/>
                          <m:ctrlPr>
                            <a:rPr lang="en-US" sz="15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15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5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en-US" sz="15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en-US" sz="15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+1</m:t>
                              </m:r>
                            </m:sub>
                          </m:sSub>
                          <m:r>
                            <a:rPr lang="en-US" sz="15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</m:t>
                          </m:r>
                          <m:r>
                            <a:rPr lang="en-US" sz="15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𝛾</m:t>
                          </m:r>
                          <m:sSub>
                            <m:sSubPr>
                              <m:ctrlPr>
                                <a:rPr lang="en-US" sz="15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5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𝑣</m:t>
                              </m:r>
                            </m:e>
                            <m:sub>
                              <m:r>
                                <a:rPr lang="en-US" sz="15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∗</m:t>
                              </m:r>
                            </m:sub>
                          </m:sSub>
                          <m:d>
                            <m:dPr>
                              <m:ctrlPr>
                                <a:rPr lang="en-US" sz="15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15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5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sz="15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en-US" sz="15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+1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sSub>
                        <m:sSubPr>
                          <m:ctrlPr>
                            <a:rPr lang="en-US" sz="15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5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US" sz="15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US" sz="15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US" sz="15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𝑠</m:t>
                      </m:r>
                      <m:r>
                        <a:rPr lang="en-US" sz="15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en-US" sz="15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5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𝐴</m:t>
                          </m:r>
                        </m:e>
                        <m:sub>
                          <m:r>
                            <a:rPr lang="en-US" sz="15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US" sz="15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US" sz="15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𝑎</m:t>
                      </m:r>
                      <m:r>
                        <a:rPr lang="en-US" sz="15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]</m:t>
                      </m:r>
                    </m:oMath>
                  </m:oMathPara>
                </a14:m>
                <a:endParaRPr lang="en-US" sz="1500" dirty="0"/>
              </a:p>
              <a:p>
                <a:pPr marL="0" indent="0" algn="ctr">
                  <a:buNone/>
                </a:pPr>
                <a:r>
                  <a:rPr lang="en-US" sz="1500" dirty="0"/>
                  <a:t>or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5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500" b="0" i="1" smtClean="0"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  <m:sub>
                          <m:r>
                            <a:rPr lang="en-US" sz="1500" i="1">
                              <a:latin typeface="Cambria Math" panose="02040503050406030204" pitchFamily="18" charset="0"/>
                            </a:rPr>
                            <m:t>∗</m:t>
                          </m:r>
                        </m:sub>
                      </m:sSub>
                      <m:d>
                        <m:dPr>
                          <m:ctrlPr>
                            <a:rPr lang="en-US" sz="15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500" i="1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sz="15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500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</m:d>
                      <m:sSub>
                        <m:sSubPr>
                          <m:ctrlPr>
                            <a:rPr lang="en-US" sz="15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aln/>
                            </m:rPr>
                            <a:rPr lang="en-US" sz="15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=</m:t>
                          </m:r>
                          <m:limLow>
                            <m:limLowPr>
                              <m:ctrlPr>
                                <a:rPr lang="en-US" sz="1500" i="1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 sz="1500">
                                  <a:latin typeface="Cambria Math" panose="02040503050406030204" pitchFamily="18" charset="0"/>
                                </a:rPr>
                                <m:t>max</m:t>
                              </m:r>
                            </m:e>
                            <m:lim>
                              <m:r>
                                <a:rPr lang="en-US" sz="1500" i="1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lim>
                          </m:limLow>
                          <m:r>
                            <a:rPr lang="en-US" sz="1500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15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𝔼</m:t>
                          </m:r>
                        </m:e>
                        <m:sub>
                          <m:r>
                            <a:rPr lang="en-US" sz="15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𝜋</m:t>
                          </m:r>
                        </m:sub>
                      </m:sSub>
                      <m:d>
                        <m:dPr>
                          <m:begChr m:val="["/>
                          <m:endChr m:val="|"/>
                          <m:ctrlPr>
                            <a:rPr lang="en-US" sz="15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15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5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en-US" sz="15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en-US" sz="15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+1</m:t>
                              </m:r>
                            </m:sub>
                          </m:sSub>
                          <m:r>
                            <a:rPr lang="en-US" sz="15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</m:t>
                          </m:r>
                          <m:r>
                            <a:rPr lang="en-US" sz="15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𝛾</m:t>
                          </m:r>
                          <m:func>
                            <m:funcPr>
                              <m:ctrlPr>
                                <a:rPr lang="en-US" sz="150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limLow>
                                <m:limLowPr>
                                  <m:ctrlPr>
                                    <a:rPr lang="en-US" sz="150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limLow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sz="1500" i="0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max</m:t>
                                  </m:r>
                                </m:e>
                                <m:lim>
                                  <m:r>
                                    <m:rPr>
                                      <m:sty m:val="p"/>
                                    </m:rPr>
                                    <a:rPr lang="en-US" sz="15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a</m:t>
                                  </m:r>
                                  <m:r>
                                    <a:rPr lang="en-US" sz="15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′</m:t>
                                  </m:r>
                                </m:lim>
                              </m:limLow>
                            </m:fName>
                            <m:e>
                              <m:sSub>
                                <m:sSubPr>
                                  <m:ctrlPr>
                                    <a:rPr lang="en-US" sz="15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5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𝑞</m:t>
                                  </m:r>
                                </m:e>
                                <m:sub>
                                  <m:r>
                                    <a:rPr lang="en-US" sz="15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∗</m:t>
                                  </m:r>
                                </m:sub>
                              </m:sSub>
                              <m:r>
                                <a:rPr lang="en-US" sz="15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(</m:t>
                              </m:r>
                              <m:sSub>
                                <m:sSubPr>
                                  <m:ctrlPr>
                                    <a:rPr lang="en-US" sz="15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5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en-US" sz="15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t</m:t>
                                  </m:r>
                                  <m:r>
                                    <a:rPr lang="en-US" sz="15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+1</m:t>
                                  </m:r>
                                </m:sub>
                              </m:sSub>
                              <m:r>
                                <a:rPr lang="en-US" sz="15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</m:t>
                              </m:r>
                              <m:sSup>
                                <m:sSupPr>
                                  <m:ctrlPr>
                                    <a:rPr lang="en-US" sz="15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15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  <m:sup>
                                  <m:r>
                                    <a:rPr lang="en-US" sz="15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′</m:t>
                                  </m:r>
                                </m:sup>
                              </m:sSup>
                              <m:r>
                                <a:rPr lang="en-US" sz="15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)</m:t>
                              </m:r>
                            </m:e>
                          </m:func>
                        </m:e>
                      </m:d>
                      <m:sSub>
                        <m:sSubPr>
                          <m:ctrlPr>
                            <a:rPr lang="en-US" sz="15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5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US" sz="15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US" sz="15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US" sz="15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𝑠</m:t>
                      </m:r>
                      <m:r>
                        <a:rPr lang="en-US" sz="15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 </m:t>
                      </m:r>
                      <m:sSub>
                        <m:sSubPr>
                          <m:ctrlPr>
                            <a:rPr lang="en-US" sz="15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5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𝐴</m:t>
                          </m:r>
                        </m:e>
                        <m:sub>
                          <m:r>
                            <a:rPr lang="en-US" sz="15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US" sz="15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US" sz="15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𝑎</m:t>
                      </m:r>
                      <m:r>
                        <a:rPr lang="en-US" sz="15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]</m:t>
                      </m:r>
                    </m:oMath>
                  </m:oMathPara>
                </a14:m>
                <a:endParaRPr lang="en-US" sz="1500" dirty="0"/>
              </a:p>
              <a:p>
                <a:pPr marL="0" indent="0">
                  <a:buNone/>
                </a:pPr>
                <a:endParaRPr lang="en-US" sz="1500" dirty="0"/>
              </a:p>
              <a:p>
                <a:pPr marL="0" indent="0">
                  <a:buNone/>
                </a:pPr>
                <a:endParaRPr lang="en-US" sz="1500" b="1" dirty="0"/>
              </a:p>
              <a:p>
                <a:r>
                  <a:rPr lang="en-US" sz="1500" b="1" dirty="0"/>
                  <a:t>Issues</a:t>
                </a:r>
                <a:r>
                  <a:rPr lang="en-US" sz="1500" dirty="0"/>
                  <a:t>: The value estimate for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5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500" i="1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sz="1500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500" dirty="0"/>
                  <a:t> depends on the current estimates of the successor states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5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500" i="1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sz="15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500" i="1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</m:oMath>
                </a14:m>
                <a:r>
                  <a:rPr lang="en-US" sz="1500" dirty="0"/>
                  <a:t>! </a:t>
                </a:r>
                <a:br>
                  <a:rPr lang="en-US" sz="1500" dirty="0"/>
                </a:br>
                <a:r>
                  <a:rPr lang="en-US" sz="1500" dirty="0"/>
                  <a:t>We need to solve all optimality equations at the same time.</a:t>
                </a:r>
              </a:p>
              <a:p>
                <a:endParaRPr lang="en-US" sz="1500" b="1" dirty="0"/>
              </a:p>
              <a:p>
                <a:r>
                  <a:rPr lang="en-US" sz="1500" b="1" dirty="0"/>
                  <a:t>Idea</a:t>
                </a:r>
                <a:r>
                  <a:rPr lang="en-US" sz="1500" dirty="0"/>
                  <a:t>: We can find the optimal policy by stepwise </a:t>
                </a:r>
                <a:r>
                  <a:rPr lang="en-US" sz="1500" b="1" dirty="0"/>
                  <a:t>improving a policy </a:t>
                </a:r>
                <a:r>
                  <a:rPr lang="en-US" sz="1500" dirty="0"/>
                  <a:t>till it is optimal. A policy is better if it has larger state values.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500" i="1">
                          <a:latin typeface="Cambria Math" panose="02040503050406030204" pitchFamily="18" charset="0"/>
                        </a:rPr>
                        <m:t>𝜋</m:t>
                      </m:r>
                      <m:r>
                        <a:rPr lang="en-US" sz="1500" i="1">
                          <a:latin typeface="Cambria Math" panose="02040503050406030204" pitchFamily="18" charset="0"/>
                        </a:rPr>
                        <m:t>≥</m:t>
                      </m:r>
                      <m:sSup>
                        <m:sSupPr>
                          <m:ctrlPr>
                            <a:rPr lang="en-US" sz="15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1500" i="1">
                              <a:latin typeface="Cambria Math" panose="02040503050406030204" pitchFamily="18" charset="0"/>
                            </a:rPr>
                            <m:t>𝜋</m:t>
                          </m:r>
                        </m:e>
                        <m:sup>
                          <m:r>
                            <a:rPr lang="en-US" sz="1500" i="1"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  <m:groupChr>
                        <m:groupChrPr>
                          <m:chr m:val="⇔"/>
                          <m:pos m:val="top"/>
                          <m:ctrlPr>
                            <a:rPr lang="en-US" sz="1500" i="1">
                              <a:latin typeface="Cambria Math" panose="02040503050406030204" pitchFamily="18" charset="0"/>
                            </a:rPr>
                          </m:ctrlPr>
                        </m:groupChrPr>
                        <m:e/>
                      </m:groupChr>
                      <m:sSub>
                        <m:sSubPr>
                          <m:ctrlPr>
                            <a:rPr lang="en-US" sz="15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500" i="1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sz="1500" i="1">
                              <a:latin typeface="Cambria Math" panose="02040503050406030204" pitchFamily="18" charset="0"/>
                            </a:rPr>
                            <m:t>𝜋</m:t>
                          </m:r>
                        </m:sub>
                      </m:sSub>
                      <m:d>
                        <m:dPr>
                          <m:ctrlPr>
                            <a:rPr lang="en-US" sz="15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500" i="1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en-US" sz="1500" i="1">
                          <a:latin typeface="Cambria Math" panose="02040503050406030204" pitchFamily="18" charset="0"/>
                        </a:rPr>
                        <m:t>≥</m:t>
                      </m:r>
                      <m:sSub>
                        <m:sSubPr>
                          <m:ctrlPr>
                            <a:rPr lang="en-US" sz="15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500" i="1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sSup>
                            <m:sSupPr>
                              <m:ctrlPr>
                                <a:rPr lang="en-US" sz="15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1500" i="1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p>
                              <m:r>
                                <a:rPr lang="en-US" sz="1500" i="1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</m:sub>
                      </m:sSub>
                      <m:d>
                        <m:dPr>
                          <m:ctrlPr>
                            <a:rPr lang="en-US" sz="15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500" i="1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m:rPr>
                          <m:nor/>
                        </m:rPr>
                        <a:rPr lang="en-US" sz="1500">
                          <a:latin typeface="Cambria Math" panose="02040503050406030204" pitchFamily="18" charset="0"/>
                        </a:rPr>
                        <m:t>  </m:t>
                      </m:r>
                      <m:r>
                        <m:rPr>
                          <m:nor/>
                        </m:rPr>
                        <a:rPr lang="en-US" sz="1500">
                          <a:latin typeface="Cambria Math" panose="02040503050406030204" pitchFamily="18" charset="0"/>
                        </a:rPr>
                        <m:t>for</m:t>
                      </m:r>
                      <m:r>
                        <m:rPr>
                          <m:nor/>
                        </m:rPr>
                        <a:rPr lang="en-US" sz="1500">
                          <a:latin typeface="Cambria Math" panose="02040503050406030204" pitchFamily="18" charset="0"/>
                        </a:rPr>
                        <m:t>  </m:t>
                      </m:r>
                      <m:r>
                        <m:rPr>
                          <m:nor/>
                        </m:rPr>
                        <a:rPr lang="en-US" sz="1500">
                          <a:latin typeface="Cambria Math" panose="02040503050406030204" pitchFamily="18" charset="0"/>
                        </a:rPr>
                        <m:t>all</m:t>
                      </m:r>
                      <m:r>
                        <a:rPr lang="en-US" sz="1500" i="1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1500" i="1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US" sz="1500" i="1">
                          <a:latin typeface="Cambria Math" panose="02040503050406030204" pitchFamily="18" charset="0"/>
                        </a:rPr>
                        <m:t>∈</m:t>
                      </m:r>
                      <m:r>
                        <a:rPr lang="en-US" sz="15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𝒮</m:t>
                      </m:r>
                    </m:oMath>
                  </m:oMathPara>
                </a14:m>
                <a:endParaRPr lang="en-US" sz="1500" dirty="0"/>
              </a:p>
              <a:p>
                <a:r>
                  <a:rPr lang="en-US" sz="1500" dirty="0"/>
                  <a:t>To do this we need to be able to </a:t>
                </a:r>
                <a:r>
                  <a:rPr lang="en-US" sz="1500" b="1" dirty="0"/>
                  <a:t>evaluate a policy </a:t>
                </a:r>
                <a:r>
                  <a:rPr lang="en-US" sz="1500" dirty="0"/>
                  <a:t>(i.e., compute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5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500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1500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</m:oMath>
                </a14:m>
                <a:r>
                  <a:rPr lang="en-US" sz="1500" dirty="0"/>
                  <a:t>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5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500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1500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  <m:r>
                          <a:rPr lang="en-US" sz="1500" b="0" i="1" smtClean="0">
                            <a:latin typeface="Cambria Math" panose="02040503050406030204" pitchFamily="18" charset="0"/>
                          </a:rPr>
                          <m:t>′</m:t>
                        </m:r>
                      </m:sub>
                    </m:sSub>
                  </m:oMath>
                </a14:m>
                <a:r>
                  <a:rPr lang="en-US" sz="1500" dirty="0"/>
                  <a:t>). 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F0BC304-9F53-1D52-E987-0090E50732A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170264"/>
                <a:ext cx="8403522" cy="5006699"/>
              </a:xfrm>
              <a:blipFill>
                <a:blip r:embed="rId2"/>
                <a:stretch>
                  <a:fillRect l="-218" t="-853" r="-43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" name="Group 3">
            <a:extLst>
              <a:ext uri="{FF2B5EF4-FFF2-40B4-BE49-F238E27FC236}">
                <a16:creationId xmlns:a16="http://schemas.microsoft.com/office/drawing/2014/main" id="{2F685B52-5D31-046C-FA57-23AD9A7FCCFF}"/>
              </a:ext>
            </a:extLst>
          </p:cNvPr>
          <p:cNvGrpSpPr/>
          <p:nvPr/>
        </p:nvGrpSpPr>
        <p:grpSpPr>
          <a:xfrm>
            <a:off x="4924608" y="3522501"/>
            <a:ext cx="1265236" cy="517988"/>
            <a:chOff x="2533296" y="3175233"/>
            <a:chExt cx="1503726" cy="517988"/>
          </a:xfrm>
        </p:grpSpPr>
        <p:sp>
          <p:nvSpPr>
            <p:cNvPr id="5" name="Right Brace 4">
              <a:extLst>
                <a:ext uri="{FF2B5EF4-FFF2-40B4-BE49-F238E27FC236}">
                  <a16:creationId xmlns:a16="http://schemas.microsoft.com/office/drawing/2014/main" id="{898E18C9-0941-AC3C-3E0A-203470D94889}"/>
                </a:ext>
              </a:extLst>
            </p:cNvPr>
            <p:cNvSpPr/>
            <p:nvPr/>
          </p:nvSpPr>
          <p:spPr>
            <a:xfrm rot="5400000">
              <a:off x="3194734" y="2513795"/>
              <a:ext cx="180849" cy="1503726"/>
            </a:xfrm>
            <a:prstGeom prst="rightBrac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TextBox 5">
                  <a:extLst>
                    <a:ext uri="{FF2B5EF4-FFF2-40B4-BE49-F238E27FC236}">
                      <a16:creationId xmlns:a16="http://schemas.microsoft.com/office/drawing/2014/main" id="{43F2E145-B5BC-7419-FB96-26B18193DDA7}"/>
                    </a:ext>
                  </a:extLst>
                </p:cNvPr>
                <p:cNvSpPr txBox="1"/>
                <p:nvPr/>
              </p:nvSpPr>
              <p:spPr>
                <a:xfrm>
                  <a:off x="2602325" y="3385444"/>
                  <a:ext cx="1365667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400" b="0" i="1" dirty="0" smtClean="0">
                            <a:latin typeface="Cambria Math" panose="02040503050406030204" pitchFamily="18" charset="0"/>
                          </a:rPr>
                          <m:t>=</m:t>
                        </m:r>
                        <m:sSub>
                          <m:sSubPr>
                            <m:ctrlPr>
                              <a:rPr lang="en-US" sz="1400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400" b="0" i="1" dirty="0" smtClean="0">
                                <a:latin typeface="Cambria Math" panose="02040503050406030204" pitchFamily="18" charset="0"/>
                              </a:rPr>
                              <m:t>𝑣</m:t>
                            </m:r>
                          </m:e>
                          <m:sub>
                            <m:r>
                              <a:rPr lang="en-US" sz="1400" b="0" i="1" dirty="0" smtClean="0">
                                <a:latin typeface="Cambria Math" panose="02040503050406030204" pitchFamily="18" charset="0"/>
                              </a:rPr>
                              <m:t>∗</m:t>
                            </m:r>
                          </m:sub>
                        </m:sSub>
                        <m:r>
                          <a:rPr lang="en-US" sz="1400" b="0" i="1" dirty="0" smtClean="0">
                            <a:latin typeface="Cambria Math" panose="02040503050406030204" pitchFamily="18" charset="0"/>
                          </a:rPr>
                          <m:t>(</m:t>
                        </m:r>
                        <m:sSub>
                          <m:sSubPr>
                            <m:ctrlPr>
                              <a:rPr lang="en-US" sz="1400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400" b="0" i="1" dirty="0" smtClean="0"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sz="1400" b="0" i="1" dirty="0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en-US" sz="1400" b="0" i="1" dirty="0" smtClean="0">
                                <a:latin typeface="Cambria Math" panose="02040503050406030204" pitchFamily="18" charset="0"/>
                              </a:rPr>
                              <m:t>+1</m:t>
                            </m:r>
                          </m:sub>
                        </m:sSub>
                        <m:r>
                          <a:rPr lang="en-US" sz="1400" b="0" i="1" dirty="0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6" name="TextBox 5">
                  <a:extLst>
                    <a:ext uri="{FF2B5EF4-FFF2-40B4-BE49-F238E27FC236}">
                      <a16:creationId xmlns:a16="http://schemas.microsoft.com/office/drawing/2014/main" id="{43F2E145-B5BC-7419-FB96-26B18193DDA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602325" y="3385444"/>
                  <a:ext cx="1365667" cy="307777"/>
                </a:xfrm>
                <a:prstGeom prst="rect">
                  <a:avLst/>
                </a:prstGeom>
                <a:blipFill>
                  <a:blip r:embed="rId3"/>
                  <a:stretch>
                    <a:fillRect b="-58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CB12223B-5984-DA37-7047-D622C8E2D116}"/>
              </a:ext>
            </a:extLst>
          </p:cNvPr>
          <p:cNvGrpSpPr/>
          <p:nvPr/>
        </p:nvGrpSpPr>
        <p:grpSpPr>
          <a:xfrm>
            <a:off x="9241722" y="1765979"/>
            <a:ext cx="2656115" cy="2436074"/>
            <a:chOff x="9241722" y="1765979"/>
            <a:chExt cx="2656115" cy="2436074"/>
          </a:xfrm>
        </p:grpSpPr>
        <p:sp>
          <p:nvSpPr>
            <p:cNvPr id="7" name="Right Brace 6">
              <a:extLst>
                <a:ext uri="{FF2B5EF4-FFF2-40B4-BE49-F238E27FC236}">
                  <a16:creationId xmlns:a16="http://schemas.microsoft.com/office/drawing/2014/main" id="{866273BC-75CB-7A69-263C-BB0ECD222D37}"/>
                </a:ext>
              </a:extLst>
            </p:cNvPr>
            <p:cNvSpPr/>
            <p:nvPr/>
          </p:nvSpPr>
          <p:spPr>
            <a:xfrm>
              <a:off x="9241722" y="1765979"/>
              <a:ext cx="383908" cy="2436074"/>
            </a:xfrm>
            <a:prstGeom prst="rightBrac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0465BAAC-5796-5993-D172-BA7B294D59A7}"/>
                </a:ext>
              </a:extLst>
            </p:cNvPr>
            <p:cNvSpPr txBox="1"/>
            <p:nvPr/>
          </p:nvSpPr>
          <p:spPr>
            <a:xfrm>
              <a:off x="9723353" y="2660850"/>
              <a:ext cx="2174484" cy="584775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>
              <a:spAutoFit/>
            </a:bodyPr>
            <a:lstStyle/>
            <a:p>
              <a:r>
                <a:rPr lang="en-US" sz="1600" b="1" dirty="0"/>
                <a:t>Control</a:t>
              </a:r>
              <a:r>
                <a:rPr lang="en-US" sz="1600" dirty="0"/>
                <a:t>: Find the optimal policy</a:t>
              </a:r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87D15AB9-3CD7-2FB5-029A-77CCA4C92D07}"/>
              </a:ext>
            </a:extLst>
          </p:cNvPr>
          <p:cNvGrpSpPr/>
          <p:nvPr/>
        </p:nvGrpSpPr>
        <p:grpSpPr>
          <a:xfrm>
            <a:off x="9283600" y="5079986"/>
            <a:ext cx="2717168" cy="1228272"/>
            <a:chOff x="9283602" y="5193234"/>
            <a:chExt cx="2728862" cy="1228272"/>
          </a:xfrm>
        </p:grpSpPr>
        <p:sp>
          <p:nvSpPr>
            <p:cNvPr id="10" name="Right Brace 9">
              <a:extLst>
                <a:ext uri="{FF2B5EF4-FFF2-40B4-BE49-F238E27FC236}">
                  <a16:creationId xmlns:a16="http://schemas.microsoft.com/office/drawing/2014/main" id="{DF5A9186-41F0-8C89-4311-A80AF67129F1}"/>
                </a:ext>
              </a:extLst>
            </p:cNvPr>
            <p:cNvSpPr/>
            <p:nvPr/>
          </p:nvSpPr>
          <p:spPr>
            <a:xfrm>
              <a:off x="9283602" y="5193234"/>
              <a:ext cx="289677" cy="1228272"/>
            </a:xfrm>
            <a:prstGeom prst="rightBrace">
              <a:avLst/>
            </a:prstGeom>
          </p:spPr>
          <p:style>
            <a:lnRef idx="2">
              <a:schemeClr val="accent3"/>
            </a:lnRef>
            <a:fillRef idx="0">
              <a:schemeClr val="accent3"/>
            </a:fillRef>
            <a:effectRef idx="1">
              <a:schemeClr val="accent3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F98FB361-7D81-7549-BB19-0BA3C1F55C05}"/>
                </a:ext>
              </a:extLst>
            </p:cNvPr>
            <p:cNvSpPr txBox="1"/>
            <p:nvPr/>
          </p:nvSpPr>
          <p:spPr>
            <a:xfrm>
              <a:off x="9725248" y="5345966"/>
              <a:ext cx="2287216" cy="830997"/>
            </a:xfrm>
            <a:prstGeom prst="rect">
              <a:avLst/>
            </a:prstGeom>
          </p:spPr>
          <p:style>
            <a:lnRef idx="2">
              <a:schemeClr val="accent3">
                <a:shade val="15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wrap="square">
              <a:spAutoFit/>
            </a:bodyPr>
            <a:lstStyle/>
            <a:p>
              <a:r>
                <a:rPr lang="en-US" sz="1600" b="1" dirty="0"/>
                <a:t>Prediction/</a:t>
              </a:r>
              <a:r>
                <a:rPr lang="en-US" sz="1600" b="1" dirty="0" err="1"/>
                <a:t>Evaluaiton</a:t>
              </a:r>
              <a:r>
                <a:rPr lang="en-US" sz="1600" dirty="0"/>
                <a:t>: Estimate the value function for a policy.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43394095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AC6BA7-ADBF-A187-1481-819E42FCC4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Tabular Methods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C29710D-F26D-E73F-A3F8-50BB8250FEC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397330"/>
                <a:ext cx="6763186" cy="4986692"/>
              </a:xfrm>
            </p:spPr>
            <p:txBody>
              <a:bodyPr>
                <a:normAutofit fontScale="70000" lnSpcReduction="20000"/>
              </a:bodyPr>
              <a:lstStyle/>
              <a:p>
                <a:r>
                  <a:rPr lang="en-US" dirty="0"/>
                  <a:t>Tabular means: The value functions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𝑣</m:t>
                    </m:r>
                  </m:oMath>
                </a14:m>
                <a:r>
                  <a:rPr lang="en-US" dirty="0"/>
                  <a:t> or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𝑞</m:t>
                    </m:r>
                  </m:oMath>
                </a14:m>
                <a:r>
                  <a:rPr lang="en-US" dirty="0"/>
                  <a:t> are stored in arrays (tables) called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𝑉</m:t>
                    </m:r>
                  </m:oMath>
                </a14:m>
                <a:r>
                  <a:rPr lang="en-US" dirty="0"/>
                  <a:t> or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𝑄</m:t>
                    </m:r>
                  </m:oMath>
                </a14:m>
                <a:r>
                  <a:rPr lang="en-US" dirty="0"/>
                  <a:t>.</a:t>
                </a:r>
              </a:p>
              <a:p>
                <a:r>
                  <a:rPr lang="en-US" dirty="0"/>
                  <a:t>Important property: Entries in the table do not influence each other. We can change them independently.</a:t>
                </a:r>
              </a:p>
              <a:p>
                <a:r>
                  <a:rPr lang="en-US" dirty="0"/>
                  <a:t>Tabular methods find the exact solution (i.e., optimal value function and policy) given enough memory and time.</a:t>
                </a:r>
              </a:p>
              <a:p>
                <a:endParaRPr lang="en-US" dirty="0"/>
              </a:p>
              <a:p>
                <a:r>
                  <a:rPr lang="en-US" b="1" dirty="0"/>
                  <a:t>Issues</a:t>
                </a:r>
                <a:r>
                  <a:rPr lang="en-US" dirty="0"/>
                  <a:t>: </a:t>
                </a:r>
              </a:p>
              <a:p>
                <a:pPr lvl="1"/>
                <a:r>
                  <a:rPr lang="en-US" dirty="0"/>
                  <a:t>Table size:</a:t>
                </a:r>
              </a:p>
              <a:p>
                <a:pPr lvl="2"/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𝑣</m:t>
                    </m:r>
                  </m:oMath>
                </a14:m>
                <a:r>
                  <a:rPr lang="en-US" dirty="0"/>
                  <a:t> has </a:t>
                </a:r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𝒮</m:t>
                        </m:r>
                      </m:e>
                    </m:d>
                  </m:oMath>
                </a14:m>
                <a:r>
                  <a:rPr lang="en-US" dirty="0"/>
                  <a:t> entries </a:t>
                </a:r>
              </a:p>
              <a:p>
                <a:pPr lvl="2"/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𝑞</m:t>
                    </m:r>
                  </m:oMath>
                </a14:m>
                <a:r>
                  <a:rPr lang="en-US" dirty="0"/>
                  <a:t> has </a:t>
                </a:r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𝒮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×|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𝒜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|</m:t>
                    </m:r>
                  </m:oMath>
                </a14:m>
                <a:r>
                  <a:rPr lang="en-US" dirty="0"/>
                  <a:t> entries</a:t>
                </a:r>
              </a:p>
              <a:p>
                <a:pPr marL="914400" lvl="2" indent="0">
                  <a:buNone/>
                </a:pPr>
                <a:r>
                  <a:rPr lang="en-US" dirty="0"/>
                  <a:t>This is only feasible for problems with a small discrete state/action space!</a:t>
                </a:r>
              </a:p>
              <a:p>
                <a:pPr lvl="1"/>
                <a:r>
                  <a:rPr lang="en-US" dirty="0"/>
                  <a:t>No generalization: Knowledge about the value of one state (state-action pair) does not help us with similar states</a:t>
                </a:r>
              </a:p>
              <a:p>
                <a:endParaRPr lang="en-US" dirty="0"/>
              </a:p>
              <a:p>
                <a:r>
                  <a:rPr lang="en-US" dirty="0"/>
                  <a:t>We will later talk about approximate methods that generalize and can work with large state spaces.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C29710D-F26D-E73F-A3F8-50BB8250FEC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397330"/>
                <a:ext cx="6763186" cy="4986692"/>
              </a:xfrm>
              <a:blipFill>
                <a:blip r:embed="rId2"/>
                <a:stretch>
                  <a:fillRect l="-812" t="-2078" r="-90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TextBox 5">
            <a:extLst>
              <a:ext uri="{FF2B5EF4-FFF2-40B4-BE49-F238E27FC236}">
                <a16:creationId xmlns:a16="http://schemas.microsoft.com/office/drawing/2014/main" id="{0975C344-F52A-8D1F-9D79-6E224183C692}"/>
              </a:ext>
            </a:extLst>
          </p:cNvPr>
          <p:cNvSpPr txBox="1"/>
          <p:nvPr/>
        </p:nvSpPr>
        <p:spPr>
          <a:xfrm>
            <a:off x="8838343" y="551826"/>
            <a:ext cx="2151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dirty="0"/>
              <a:t>Value Function</a:t>
            </a:r>
          </a:p>
        </p:txBody>
      </p:sp>
      <p:sp>
        <p:nvSpPr>
          <p:cNvPr id="6" name="TextBox 4">
            <a:extLst>
              <a:ext uri="{FF2B5EF4-FFF2-40B4-BE49-F238E27FC236}">
                <a16:creationId xmlns:a16="http://schemas.microsoft.com/office/drawing/2014/main" id="{84CE4623-8DCA-34FA-3404-B71214310EC9}"/>
              </a:ext>
            </a:extLst>
          </p:cNvPr>
          <p:cNvSpPr txBox="1"/>
          <p:nvPr/>
        </p:nvSpPr>
        <p:spPr>
          <a:xfrm>
            <a:off x="9086691" y="2565864"/>
            <a:ext cx="16402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dirty="0"/>
              <a:t>Q-Table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9" name="Table 8">
                <a:extLst>
                  <a:ext uri="{FF2B5EF4-FFF2-40B4-BE49-F238E27FC236}">
                    <a16:creationId xmlns:a16="http://schemas.microsoft.com/office/drawing/2014/main" id="{78248F0E-2FF3-2020-DE60-ADD421262953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521024740"/>
                  </p:ext>
                </p:extLst>
              </p:nvPr>
            </p:nvGraphicFramePr>
            <p:xfrm>
              <a:off x="8691416" y="2935196"/>
              <a:ext cx="2662384" cy="1828800"/>
            </p:xfrm>
            <a:graphic>
              <a:graphicData uri="http://schemas.openxmlformats.org/drawingml/2006/table">
                <a:tbl>
                  <a:tblPr firstRow="1" bandRow="1">
                    <a:tableStyleId>{93296810-A885-4BE3-A3E7-6D5BEEA58F35}</a:tableStyleId>
                  </a:tblPr>
                  <a:tblGrid>
                    <a:gridCol w="816336">
                      <a:extLst>
                        <a:ext uri="{9D8B030D-6E8A-4147-A177-3AD203B41FA5}">
                          <a16:colId xmlns:a16="http://schemas.microsoft.com/office/drawing/2014/main" val="3711460689"/>
                        </a:ext>
                      </a:extLst>
                    </a:gridCol>
                    <a:gridCol w="685800">
                      <a:extLst>
                        <a:ext uri="{9D8B030D-6E8A-4147-A177-3AD203B41FA5}">
                          <a16:colId xmlns:a16="http://schemas.microsoft.com/office/drawing/2014/main" val="2988890879"/>
                        </a:ext>
                      </a:extLst>
                    </a:gridCol>
                    <a:gridCol w="1160248">
                      <a:extLst>
                        <a:ext uri="{9D8B030D-6E8A-4147-A177-3AD203B41FA5}">
                          <a16:colId xmlns:a16="http://schemas.microsoft.com/office/drawing/2014/main" val="2080107700"/>
                        </a:ext>
                      </a:extLst>
                    </a:gridCol>
                  </a:tblGrid>
                  <a:tr h="27432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1400" dirty="0" smtClean="0"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</m:oMath>
                            </m:oMathPara>
                          </a14:m>
                          <a:endParaRPr lang="en-US" sz="1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1400" dirty="0" smtClean="0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oMath>
                            </m:oMathPara>
                          </a14:m>
                          <a:endParaRPr lang="en-US" sz="1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1400" b="0" i="1" dirty="0" smtClean="0">
                                    <a:latin typeface="Cambria Math" panose="02040503050406030204" pitchFamily="18" charset="0"/>
                                  </a:rPr>
                                  <m:t>𝑞</m:t>
                                </m:r>
                                <m:r>
                                  <a:rPr lang="en-US" sz="1400" dirty="0" smtClean="0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en-US" sz="1400" dirty="0" err="1" smtClean="0"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  <m:r>
                                  <a:rPr lang="en-US" sz="1400" dirty="0" err="1" smtClean="0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en-US" sz="1400" dirty="0" err="1" smtClean="0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  <m:r>
                                  <a:rPr lang="en-US" sz="1400" dirty="0" smtClean="0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sz="14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008869826"/>
                      </a:ext>
                    </a:extLst>
                  </a:tr>
                  <a:tr h="274320"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(1,1)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up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0.7453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524805492"/>
                      </a:ext>
                    </a:extLst>
                  </a:tr>
                  <a:tr h="274320"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(1,1)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right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0.6709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725035416"/>
                      </a:ext>
                    </a:extLst>
                  </a:tr>
                  <a:tr h="274320"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(1,1)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down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0.7003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868402448"/>
                      </a:ext>
                    </a:extLst>
                  </a:tr>
                  <a:tr h="274320"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(1,1)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left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0.7109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60961713"/>
                      </a:ext>
                    </a:extLst>
                  </a:tr>
                  <a:tr h="274320"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…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…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…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207722718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9" name="Table 8">
                <a:extLst>
                  <a:ext uri="{FF2B5EF4-FFF2-40B4-BE49-F238E27FC236}">
                    <a16:creationId xmlns:a16="http://schemas.microsoft.com/office/drawing/2014/main" id="{78248F0E-2FF3-2020-DE60-ADD421262953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521024740"/>
                  </p:ext>
                </p:extLst>
              </p:nvPr>
            </p:nvGraphicFramePr>
            <p:xfrm>
              <a:off x="8691416" y="2935196"/>
              <a:ext cx="2662384" cy="1828800"/>
            </p:xfrm>
            <a:graphic>
              <a:graphicData uri="http://schemas.openxmlformats.org/drawingml/2006/table">
                <a:tbl>
                  <a:tblPr firstRow="1" bandRow="1">
                    <a:tableStyleId>{93296810-A885-4BE3-A3E7-6D5BEEA58F35}</a:tableStyleId>
                  </a:tblPr>
                  <a:tblGrid>
                    <a:gridCol w="816336">
                      <a:extLst>
                        <a:ext uri="{9D8B030D-6E8A-4147-A177-3AD203B41FA5}">
                          <a16:colId xmlns:a16="http://schemas.microsoft.com/office/drawing/2014/main" val="3711460689"/>
                        </a:ext>
                      </a:extLst>
                    </a:gridCol>
                    <a:gridCol w="685800">
                      <a:extLst>
                        <a:ext uri="{9D8B030D-6E8A-4147-A177-3AD203B41FA5}">
                          <a16:colId xmlns:a16="http://schemas.microsoft.com/office/drawing/2014/main" val="2988890879"/>
                        </a:ext>
                      </a:extLst>
                    </a:gridCol>
                    <a:gridCol w="1160248">
                      <a:extLst>
                        <a:ext uri="{9D8B030D-6E8A-4147-A177-3AD203B41FA5}">
                          <a16:colId xmlns:a16="http://schemas.microsoft.com/office/drawing/2014/main" val="2080107700"/>
                        </a:ext>
                      </a:extLst>
                    </a:gridCol>
                  </a:tblGrid>
                  <a:tr h="30480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746" t="-2000" r="-229851" b="-522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119469" t="-2000" r="-172566" b="-522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129843" t="-2000" r="-2094" b="-52200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008869826"/>
                      </a:ext>
                    </a:extLst>
                  </a:tr>
                  <a:tr h="304800"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(1,1)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up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0.7453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524805492"/>
                      </a:ext>
                    </a:extLst>
                  </a:tr>
                  <a:tr h="304800"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(1,1)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right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0.6709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725035416"/>
                      </a:ext>
                    </a:extLst>
                  </a:tr>
                  <a:tr h="304800"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(1,1)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down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0.7003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868402448"/>
                      </a:ext>
                    </a:extLst>
                  </a:tr>
                  <a:tr h="304800"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(1,1)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left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0.7109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60961713"/>
                      </a:ext>
                    </a:extLst>
                  </a:tr>
                  <a:tr h="304800"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…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…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…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207722718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0" name="Table 9">
                <a:extLst>
                  <a:ext uri="{FF2B5EF4-FFF2-40B4-BE49-F238E27FC236}">
                    <a16:creationId xmlns:a16="http://schemas.microsoft.com/office/drawing/2014/main" id="{67C3BC08-2A24-51EA-3AA9-3629C95375A8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493349679"/>
                  </p:ext>
                </p:extLst>
              </p:nvPr>
            </p:nvGraphicFramePr>
            <p:xfrm>
              <a:off x="8946925" y="901635"/>
              <a:ext cx="2147634" cy="1483360"/>
            </p:xfrm>
            <a:graphic>
              <a:graphicData uri="http://schemas.openxmlformats.org/drawingml/2006/table">
                <a:tbl>
                  <a:tblPr firstRow="1" bandRow="1">
                    <a:tableStyleId>{93296810-A885-4BE3-A3E7-6D5BEEA58F35}</a:tableStyleId>
                  </a:tblPr>
                  <a:tblGrid>
                    <a:gridCol w="592187">
                      <a:extLst>
                        <a:ext uri="{9D8B030D-6E8A-4147-A177-3AD203B41FA5}">
                          <a16:colId xmlns:a16="http://schemas.microsoft.com/office/drawing/2014/main" val="3711460689"/>
                        </a:ext>
                      </a:extLst>
                    </a:gridCol>
                    <a:gridCol w="1555447">
                      <a:extLst>
                        <a:ext uri="{9D8B030D-6E8A-4147-A177-3AD203B41FA5}">
                          <a16:colId xmlns:a16="http://schemas.microsoft.com/office/drawing/2014/main" val="2080107700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1400" dirty="0" smtClean="0"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</m:oMath>
                            </m:oMathPara>
                          </a14:m>
                          <a:endParaRPr lang="en-US" sz="1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b="1" dirty="0"/>
                            <a:t>State Value </a:t>
                          </a:r>
                          <a14:m>
                            <m:oMath xmlns:m="http://schemas.openxmlformats.org/officeDocument/2006/math">
                              <m:r>
                                <a:rPr lang="en-US" sz="1400" b="1" i="1" dirty="0" smtClean="0">
                                  <a:latin typeface="Cambria Math" panose="02040503050406030204" pitchFamily="18" charset="0"/>
                                </a:rPr>
                                <m:t>𝑽</m:t>
                              </m:r>
                              <m:r>
                                <a:rPr lang="en-US" sz="1400" dirty="0" smtClean="0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sz="1400" b="1" i="0" dirty="0" smtClean="0">
                                  <a:latin typeface="Cambria Math" panose="02040503050406030204" pitchFamily="18" charset="0"/>
                                </a:rPr>
                                <m:t>𝐬</m:t>
                              </m:r>
                              <m:r>
                                <a:rPr lang="en-US" sz="1400" dirty="0" smtClean="0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oMath>
                          </a14:m>
                          <a:endParaRPr lang="en-US" sz="14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008869826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(1,1)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0.7453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524805492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(1,2)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0.8016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725035416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…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…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868402448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0" name="Table 9">
                <a:extLst>
                  <a:ext uri="{FF2B5EF4-FFF2-40B4-BE49-F238E27FC236}">
                    <a16:creationId xmlns:a16="http://schemas.microsoft.com/office/drawing/2014/main" id="{67C3BC08-2A24-51EA-3AA9-3629C95375A8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493349679"/>
                  </p:ext>
                </p:extLst>
              </p:nvPr>
            </p:nvGraphicFramePr>
            <p:xfrm>
              <a:off x="8946925" y="901635"/>
              <a:ext cx="2147634" cy="1483360"/>
            </p:xfrm>
            <a:graphic>
              <a:graphicData uri="http://schemas.openxmlformats.org/drawingml/2006/table">
                <a:tbl>
                  <a:tblPr firstRow="1" bandRow="1">
                    <a:tableStyleId>{93296810-A885-4BE3-A3E7-6D5BEEA58F35}</a:tableStyleId>
                  </a:tblPr>
                  <a:tblGrid>
                    <a:gridCol w="592187">
                      <a:extLst>
                        <a:ext uri="{9D8B030D-6E8A-4147-A177-3AD203B41FA5}">
                          <a16:colId xmlns:a16="http://schemas.microsoft.com/office/drawing/2014/main" val="3711460689"/>
                        </a:ext>
                      </a:extLst>
                    </a:gridCol>
                    <a:gridCol w="1555447">
                      <a:extLst>
                        <a:ext uri="{9D8B030D-6E8A-4147-A177-3AD203B41FA5}">
                          <a16:colId xmlns:a16="http://schemas.microsoft.com/office/drawing/2014/main" val="2080107700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4"/>
                          <a:stretch>
                            <a:fillRect l="-1031" t="-1639" r="-269072" b="-30491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4"/>
                          <a:stretch>
                            <a:fillRect l="-38281" t="-1639" r="-1953" b="-304918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008869826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(1,1)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0.7453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524805492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(1,2)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0.8016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725035416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…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…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868402448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1" name="Table 10">
                <a:extLst>
                  <a:ext uri="{FF2B5EF4-FFF2-40B4-BE49-F238E27FC236}">
                    <a16:creationId xmlns:a16="http://schemas.microsoft.com/office/drawing/2014/main" id="{5E155CE4-C8B8-A7CC-A291-879465D207B0}"/>
                  </a:ext>
                  <a:ext uri="{C183D7F6-B498-43B3-948B-1728B52AA6E4}">
                    <adec:decorative xmlns:adec="http://schemas.microsoft.com/office/drawing/2017/decorative" val="0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802102726"/>
                  </p:ext>
                </p:extLst>
              </p:nvPr>
            </p:nvGraphicFramePr>
            <p:xfrm>
              <a:off x="8410107" y="5060314"/>
              <a:ext cx="3221267" cy="1219200"/>
            </p:xfrm>
            <a:graphic>
              <a:graphicData uri="http://schemas.openxmlformats.org/drawingml/2006/table">
                <a:tbl>
                  <a:tblPr firstRow="1" bandRow="1">
                    <a:tableStyleId>{93296810-A885-4BE3-A3E7-6D5BEEA58F35}</a:tableStyleId>
                  </a:tblPr>
                  <a:tblGrid>
                    <a:gridCol w="594015">
                      <a:extLst>
                        <a:ext uri="{9D8B030D-6E8A-4147-A177-3AD203B41FA5}">
                          <a16:colId xmlns:a16="http://schemas.microsoft.com/office/drawing/2014/main" val="3711460689"/>
                        </a:ext>
                      </a:extLst>
                    </a:gridCol>
                    <a:gridCol w="644890">
                      <a:extLst>
                        <a:ext uri="{9D8B030D-6E8A-4147-A177-3AD203B41FA5}">
                          <a16:colId xmlns:a16="http://schemas.microsoft.com/office/drawing/2014/main" val="2080107700"/>
                        </a:ext>
                      </a:extLst>
                    </a:gridCol>
                    <a:gridCol w="642174">
                      <a:extLst>
                        <a:ext uri="{9D8B030D-6E8A-4147-A177-3AD203B41FA5}">
                          <a16:colId xmlns:a16="http://schemas.microsoft.com/office/drawing/2014/main" val="2654648091"/>
                        </a:ext>
                      </a:extLst>
                    </a:gridCol>
                    <a:gridCol w="709638">
                      <a:extLst>
                        <a:ext uri="{9D8B030D-6E8A-4147-A177-3AD203B41FA5}">
                          <a16:colId xmlns:a16="http://schemas.microsoft.com/office/drawing/2014/main" val="1830746805"/>
                        </a:ext>
                      </a:extLst>
                    </a:gridCol>
                    <a:gridCol w="630550">
                      <a:extLst>
                        <a:ext uri="{9D8B030D-6E8A-4147-A177-3AD203B41FA5}">
                          <a16:colId xmlns:a16="http://schemas.microsoft.com/office/drawing/2014/main" val="991393940"/>
                        </a:ext>
                      </a:extLst>
                    </a:gridCol>
                  </a:tblGrid>
                  <a:tr h="0">
                    <a:tc>
                      <a:txBody>
                        <a:bodyPr/>
                        <a:lstStyle/>
                        <a:p>
                          <a:endParaRPr lang="en-US" sz="1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up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right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down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left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008869826"/>
                      </a:ext>
                    </a:extLst>
                  </a:tr>
                  <a:tr h="0"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(1,1)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m:rPr>
                                    <m:nor/>
                                  </m:rPr>
                                  <a:rPr lang="en-US" sz="1400" dirty="0" smtClean="0">
                                    <a:latin typeface="Cambria Math" panose="02040503050406030204" pitchFamily="18" charset="0"/>
                                  </a:rPr>
                                  <m:t>0.7453</m:t>
                                </m:r>
                              </m:oMath>
                            </m:oMathPara>
                          </a14:m>
                          <a:endParaRPr lang="en-US" sz="1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m:rPr>
                                    <m:nor/>
                                  </m:rPr>
                                  <a:rPr lang="en-US" sz="1400" dirty="0" smtClean="0">
                                    <a:latin typeface="Cambria Math" panose="02040503050406030204" pitchFamily="18" charset="0"/>
                                  </a:rPr>
                                  <m:t>0.6709</m:t>
                                </m:r>
                              </m:oMath>
                            </m:oMathPara>
                          </a14:m>
                          <a:endParaRPr lang="en-US" sz="1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m:rPr>
                                    <m:nor/>
                                  </m:rPr>
                                  <a:rPr lang="en-US" sz="1400" dirty="0" smtClean="0">
                                    <a:latin typeface="Cambria Math" panose="02040503050406030204" pitchFamily="18" charset="0"/>
                                  </a:rPr>
                                  <m:t>0.7003</m:t>
                                </m:r>
                              </m:oMath>
                            </m:oMathPara>
                          </a14:m>
                          <a:endParaRPr lang="en-US" sz="1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m:rPr>
                                    <m:nor/>
                                  </m:rPr>
                                  <a:rPr lang="en-US" sz="1400" dirty="0" smtClean="0">
                                    <a:latin typeface="Cambria Math" panose="02040503050406030204" pitchFamily="18" charset="0"/>
                                  </a:rPr>
                                  <m:t>0.7109</m:t>
                                </m:r>
                              </m:oMath>
                            </m:oMathPara>
                          </a14:m>
                          <a:endParaRPr lang="en-US" sz="14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524805492"/>
                      </a:ext>
                    </a:extLst>
                  </a:tr>
                  <a:tr h="0"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…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…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1400" dirty="0"/>
                            <a:t>…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1400" dirty="0"/>
                            <a:t>…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…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725035416"/>
                      </a:ext>
                    </a:extLst>
                  </a:tr>
                  <a:tr h="0"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…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…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1400" dirty="0"/>
                            <a:t>…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1400" dirty="0"/>
                            <a:t>…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…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868402448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1" name="Table 10">
                <a:extLst>
                  <a:ext uri="{FF2B5EF4-FFF2-40B4-BE49-F238E27FC236}">
                    <a16:creationId xmlns:a16="http://schemas.microsoft.com/office/drawing/2014/main" id="{5E155CE4-C8B8-A7CC-A291-879465D207B0}"/>
                  </a:ext>
                  <a:ext uri="{C183D7F6-B498-43B3-948B-1728B52AA6E4}">
                    <adec:decorative xmlns:adec="http://schemas.microsoft.com/office/drawing/2017/decorative" val="0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802102726"/>
                  </p:ext>
                </p:extLst>
              </p:nvPr>
            </p:nvGraphicFramePr>
            <p:xfrm>
              <a:off x="8410107" y="5060314"/>
              <a:ext cx="3221267" cy="1219200"/>
            </p:xfrm>
            <a:graphic>
              <a:graphicData uri="http://schemas.openxmlformats.org/drawingml/2006/table">
                <a:tbl>
                  <a:tblPr firstRow="1" bandRow="1">
                    <a:tableStyleId>{93296810-A885-4BE3-A3E7-6D5BEEA58F35}</a:tableStyleId>
                  </a:tblPr>
                  <a:tblGrid>
                    <a:gridCol w="594015">
                      <a:extLst>
                        <a:ext uri="{9D8B030D-6E8A-4147-A177-3AD203B41FA5}">
                          <a16:colId xmlns:a16="http://schemas.microsoft.com/office/drawing/2014/main" val="3711460689"/>
                        </a:ext>
                      </a:extLst>
                    </a:gridCol>
                    <a:gridCol w="644890">
                      <a:extLst>
                        <a:ext uri="{9D8B030D-6E8A-4147-A177-3AD203B41FA5}">
                          <a16:colId xmlns:a16="http://schemas.microsoft.com/office/drawing/2014/main" val="2080107700"/>
                        </a:ext>
                      </a:extLst>
                    </a:gridCol>
                    <a:gridCol w="642174">
                      <a:extLst>
                        <a:ext uri="{9D8B030D-6E8A-4147-A177-3AD203B41FA5}">
                          <a16:colId xmlns:a16="http://schemas.microsoft.com/office/drawing/2014/main" val="2654648091"/>
                        </a:ext>
                      </a:extLst>
                    </a:gridCol>
                    <a:gridCol w="709638">
                      <a:extLst>
                        <a:ext uri="{9D8B030D-6E8A-4147-A177-3AD203B41FA5}">
                          <a16:colId xmlns:a16="http://schemas.microsoft.com/office/drawing/2014/main" val="1830746805"/>
                        </a:ext>
                      </a:extLst>
                    </a:gridCol>
                    <a:gridCol w="630550">
                      <a:extLst>
                        <a:ext uri="{9D8B030D-6E8A-4147-A177-3AD203B41FA5}">
                          <a16:colId xmlns:a16="http://schemas.microsoft.com/office/drawing/2014/main" val="991393940"/>
                        </a:ext>
                      </a:extLst>
                    </a:gridCol>
                  </a:tblGrid>
                  <a:tr h="304800">
                    <a:tc>
                      <a:txBody>
                        <a:bodyPr/>
                        <a:lstStyle/>
                        <a:p>
                          <a:endParaRPr lang="en-US" sz="1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up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right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down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left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008869826"/>
                      </a:ext>
                    </a:extLst>
                  </a:tr>
                  <a:tr h="304800"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(1,1)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5"/>
                          <a:stretch>
                            <a:fillRect l="-93396" t="-101961" r="-311321" b="-21568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5"/>
                          <a:stretch>
                            <a:fillRect l="-195238" t="-101961" r="-214286" b="-21568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5"/>
                          <a:stretch>
                            <a:fillRect l="-264957" t="-101961" r="-92308" b="-21568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5"/>
                          <a:stretch>
                            <a:fillRect l="-410577" t="-101961" r="-3846" b="-215686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524805492"/>
                      </a:ext>
                    </a:extLst>
                  </a:tr>
                  <a:tr h="304800"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…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…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1400" dirty="0"/>
                            <a:t>…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1400" dirty="0"/>
                            <a:t>…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…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725035416"/>
                      </a:ext>
                    </a:extLst>
                  </a:tr>
                  <a:tr h="304800"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…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…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1400" dirty="0"/>
                            <a:t>…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1400" dirty="0"/>
                            <a:t>…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…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868402448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12" name="TextBox 4">
            <a:extLst>
              <a:ext uri="{FF2B5EF4-FFF2-40B4-BE49-F238E27FC236}">
                <a16:creationId xmlns:a16="http://schemas.microsoft.com/office/drawing/2014/main" id="{44CFFF41-CFC5-E3BB-D794-D00B06D2A95F}"/>
              </a:ext>
            </a:extLst>
          </p:cNvPr>
          <p:cNvSpPr txBox="1"/>
          <p:nvPr/>
        </p:nvSpPr>
        <p:spPr>
          <a:xfrm>
            <a:off x="9200611" y="4727489"/>
            <a:ext cx="16402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dirty="0"/>
              <a:t>or</a:t>
            </a:r>
          </a:p>
        </p:txBody>
      </p:sp>
    </p:spTree>
    <p:extLst>
      <p:ext uri="{BB962C8B-B14F-4D97-AF65-F5344CB8AC3E}">
        <p14:creationId xmlns:p14="http://schemas.microsoft.com/office/powerpoint/2010/main" val="39568588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31C883-1AA7-C2E6-D09D-DAD2AE001F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Prediction vs. Control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4207924-B986-8A34-1581-62645BDB513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 this class, we will always talk about two tasks:</a:t>
            </a:r>
          </a:p>
          <a:p>
            <a:endParaRPr lang="en-US" dirty="0"/>
          </a:p>
          <a:p>
            <a:pPr marL="514350" indent="-514350">
              <a:buFont typeface="+mj-lt"/>
              <a:buAutoNum type="arabicPeriod"/>
            </a:pPr>
            <a:r>
              <a:rPr lang="en-US" b="1" dirty="0"/>
              <a:t>Prediction to evaluate a policy</a:t>
            </a:r>
            <a:r>
              <a:rPr lang="en-US" dirty="0"/>
              <a:t>: Estimate the value function for a given policy. We can use this to compare two policies.</a:t>
            </a:r>
          </a:p>
          <a:p>
            <a:pPr marL="514350" indent="-514350">
              <a:buFont typeface="+mj-lt"/>
              <a:buAutoNum type="arabicPeriod"/>
            </a:pPr>
            <a:endParaRPr lang="en-US" dirty="0"/>
          </a:p>
          <a:p>
            <a:pPr marL="514350" indent="-514350">
              <a:buFont typeface="+mj-lt"/>
              <a:buAutoNum type="arabicPeriod"/>
            </a:pPr>
            <a:r>
              <a:rPr lang="en-US" b="1" dirty="0"/>
              <a:t>Control</a:t>
            </a:r>
            <a:r>
              <a:rPr lang="en-US" dirty="0"/>
              <a:t>: Control the agent’s behavior to find the optimal policy. This requires being able to evaluate policies.</a:t>
            </a:r>
          </a:p>
        </p:txBody>
      </p:sp>
    </p:spTree>
    <p:extLst>
      <p:ext uri="{BB962C8B-B14F-4D97-AF65-F5344CB8AC3E}">
        <p14:creationId xmlns:p14="http://schemas.microsoft.com/office/powerpoint/2010/main" val="392158348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04843C56-7419-CE0C-1D18-6CC80DC10B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Prediction: Policy Evaluation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9250192-9C75-1175-C27F-B882D7E5117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What is the value function of a given policy?</a:t>
            </a:r>
          </a:p>
        </p:txBody>
      </p:sp>
    </p:spTree>
    <p:extLst>
      <p:ext uri="{BB962C8B-B14F-4D97-AF65-F5344CB8AC3E}">
        <p14:creationId xmlns:p14="http://schemas.microsoft.com/office/powerpoint/2010/main" val="95575057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AA35F1C3-5C0A-145A-FD0E-11A8D3F8EC92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en-US" dirty="0"/>
                  <a:t>Policy Evaluation to Estimate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AA35F1C3-5C0A-145A-FD0E-11A8D3F8EC9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l="-2377" t="-20161" b="-3548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8D1FCBE-98A8-ED20-FB57-A0D8E461935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397330"/>
                <a:ext cx="10515600" cy="4806329"/>
              </a:xfrm>
            </p:spPr>
            <p:txBody>
              <a:bodyPr>
                <a:normAutofit fontScale="77500" lnSpcReduction="20000"/>
              </a:bodyPr>
              <a:lstStyle/>
              <a:p>
                <a:r>
                  <a:rPr lang="en-US" b="1" dirty="0"/>
                  <a:t>Goal</a:t>
                </a:r>
                <a:r>
                  <a:rPr lang="en-US" dirty="0"/>
                  <a:t>: Compute the state-value function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</m:oMath>
                </a14:m>
                <a:r>
                  <a:rPr lang="en-US" dirty="0"/>
                  <a:t> for a given policy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dirty="0"/>
                  <a:t>.</a:t>
                </a:r>
              </a:p>
              <a:p>
                <a:pPr>
                  <a:lnSpc>
                    <a:spcPct val="100000"/>
                  </a:lnSpc>
                </a:pPr>
                <a:endParaRPr lang="en-US" i="1" dirty="0">
                  <a:latin typeface="Cambria Math" panose="02040503050406030204" pitchFamily="18" charset="0"/>
                </a:endParaRPr>
              </a:p>
              <a:p>
                <a:pPr>
                  <a:lnSpc>
                    <a:spcPct val="100000"/>
                  </a:lnSpc>
                </a:pPr>
                <a:r>
                  <a:rPr lang="en-US" dirty="0"/>
                  <a:t>Bellman expectation equations give us the recursive relationship:</a:t>
                </a:r>
              </a:p>
              <a:p>
                <a:pPr marL="0" indent="0">
                  <a:lnSpc>
                    <a:spcPct val="100000"/>
                  </a:lnSpc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𝜋</m:t>
                          </m:r>
                        </m:sub>
                      </m:sSub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m:rPr>
                          <m:aln/>
                        </m:rPr>
                        <a:rPr lang="en-US" i="1" smtClean="0">
                          <a:latin typeface="Cambria Math" panose="02040503050406030204" pitchFamily="18" charset="0"/>
                        </a:rPr>
                        <m:t>≝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𝔼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𝜋</m:t>
                          </m:r>
                        </m:sub>
                      </m:sSub>
                      <m:d>
                        <m:dPr>
                          <m:begChr m:val="["/>
                          <m:endChr m:val="|"/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𝐺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e>
                      </m:d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𝑠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]</m:t>
                      </m:r>
                    </m:oMath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aln/>
                            </m:r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=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𝔼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𝜋</m:t>
                          </m:r>
                        </m:sub>
                      </m:sSub>
                      <m:d>
                        <m:dPr>
                          <m:begChr m:val="["/>
                          <m:endChr m:val="|"/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+1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𝛾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𝐺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+1</m:t>
                              </m:r>
                            </m:sub>
                          </m:sSub>
                        </m:e>
                      </m:d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𝑠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]</m:t>
                      </m:r>
                    </m:oMath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aln/>
                            </m:r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=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𝔼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𝜋</m:t>
                          </m:r>
                        </m:sub>
                      </m:sSub>
                      <m:d>
                        <m:dPr>
                          <m:begChr m:val="["/>
                          <m:endChr m:val="|"/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+1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𝛾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𝑣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𝜋</m:t>
                              </m:r>
                            </m:sub>
                          </m:sSub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+1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𝑠</m:t>
                      </m:r>
                      <m:r>
                        <a:rPr lang="en-US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]</m:t>
                      </m:r>
                    </m:oMath>
                    <m:oMath xmlns:m="http://schemas.openxmlformats.org/officeDocument/2006/math">
                      <m:r>
                        <m:rPr>
                          <m:aln/>
                        </m:rP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sub>
                        <m:sup/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|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nary>
                      <m:nary>
                        <m:naryPr>
                          <m:chr m:val="∑"/>
                          <m:supHide m:val="on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sSup>
                            <m:sSup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p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𝑟</m:t>
                          </m:r>
                        </m:sub>
                        <m:sup/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𝑝</m:t>
                          </m:r>
                          <m:d>
                            <m:dPr>
                              <m:endChr m:val="|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  <m:sup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′</m:t>
                                  </m:r>
                                </m:sup>
                              </m:sSup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e>
                          </m:d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)[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𝑟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𝛾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</m:sub>
                          </m:sSub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  <m:sup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′</m:t>
                                  </m:r>
                                </m:sup>
                              </m:sSup>
                            </m:e>
                          </m:d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]</m:t>
                          </m:r>
                        </m:e>
                      </m:nary>
                    </m:oMath>
                  </m:oMathPara>
                </a14:m>
                <a:endParaRPr lang="en-US" dirty="0"/>
              </a:p>
              <a:p>
                <a:pPr marL="457200" lvl="1" indent="0">
                  <a:buNone/>
                </a:pPr>
                <a:r>
                  <a:rPr lang="en-US" dirty="0"/>
                  <a:t>with </a:t>
                </a:r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𝒮</m:t>
                        </m:r>
                      </m:e>
                    </m:d>
                  </m:oMath>
                </a14:m>
                <a:r>
                  <a:rPr lang="en-US" dirty="0"/>
                  <a:t> equations, one for each state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dirty="0"/>
                  <a:t>.</a:t>
                </a:r>
              </a:p>
              <a:p>
                <a:endParaRPr lang="en-US" b="1" dirty="0"/>
              </a:p>
              <a:p>
                <a:pPr marL="0" indent="0">
                  <a:buNone/>
                </a:pPr>
                <a:endParaRPr lang="en-US" b="1" dirty="0"/>
              </a:p>
              <a:p>
                <a:r>
                  <a:rPr lang="en-US" b="1" dirty="0"/>
                  <a:t>Guarantee</a:t>
                </a:r>
                <a:r>
                  <a:rPr lang="en-US" dirty="0"/>
                  <a:t>: There exists a unique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</m:oMath>
                </a14:m>
                <a:r>
                  <a:rPr lang="en-US" dirty="0"/>
                  <a:t> if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𝛾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&lt;1 </m:t>
                    </m:r>
                  </m:oMath>
                </a14:m>
                <a:r>
                  <a:rPr lang="en-US" dirty="0"/>
                  <a:t>or termination is guaranteed by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dirty="0"/>
                  <a:t>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8D1FCBE-98A8-ED20-FB57-A0D8E461935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397330"/>
                <a:ext cx="10515600" cy="4806329"/>
              </a:xfrm>
              <a:blipFill>
                <a:blip r:embed="rId3"/>
                <a:stretch>
                  <a:fillRect l="-696" t="-253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8583060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B5D3C2-BFBE-479C-C276-D13BC409FA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Solution Option 1: Linear Program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95FDADB-CB9E-5700-5CD5-2A4F4B7D2B2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9" y="1397329"/>
                <a:ext cx="10350985" cy="5170993"/>
              </a:xfrm>
            </p:spPr>
            <p:txBody>
              <a:bodyPr>
                <a:normAutofit fontScale="85000" lnSpcReduction="10000"/>
              </a:bodyPr>
              <a:lstStyle/>
              <a:p>
                <a:pPr marL="0" indent="0">
                  <a:buNone/>
                </a:pPr>
                <a:r>
                  <a:rPr lang="en-US" sz="2400" dirty="0"/>
                  <a:t>Solve the system of </a:t>
                </a:r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en-US" sz="240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𝒮</m:t>
                        </m:r>
                      </m:e>
                    </m:d>
                  </m:oMath>
                </a14:m>
                <a:r>
                  <a:rPr lang="en-US" sz="2400" dirty="0"/>
                  <a:t> linear equations. </a:t>
                </a:r>
                <a:br>
                  <a:rPr lang="en-US" sz="2400" dirty="0"/>
                </a:br>
                <a:endParaRPr lang="en-US" sz="24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𝜋</m:t>
                          </m:r>
                        </m:sub>
                      </m:sSub>
                      <m:d>
                        <m:d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e>
                      </m:d>
                      <m:r>
                        <m:rPr>
                          <m:aln/>
                        </m:rPr>
                        <a:rPr lang="en-US" sz="2400" i="1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𝑎</m:t>
                          </m:r>
                        </m:sub>
                        <m:sup/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|</m:t>
                          </m:r>
                          <m:sSub>
                            <m:sSubPr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nary>
                      <m:nary>
                        <m:naryPr>
                          <m:chr m:val="∑"/>
                          <m:supHide m:val="on"/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sSup>
                            <m:sSup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p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𝑟</m:t>
                          </m:r>
                        </m:sub>
                        <m:sup/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𝑝</m:t>
                          </m:r>
                          <m:d>
                            <m:dPr>
                              <m:endChr m:val="|"/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  <m:sup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′</m:t>
                                  </m:r>
                                </m:sup>
                              </m:sSup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e>
                          </m:d>
                          <m:sSub>
                            <m:sSubPr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)[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𝑟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𝛾</m:t>
                          </m:r>
                          <m:sSub>
                            <m:sSub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e>
                            <m:sub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</m:sub>
                          </m:sSub>
                          <m:d>
                            <m:d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  <m:sup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′</m:t>
                                  </m:r>
                                </m:sup>
                              </m:sSup>
                            </m:e>
                          </m:d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]</m:t>
                          </m:r>
                        </m:e>
                      </m:nary>
                    </m:oMath>
                  </m:oMathPara>
                </a14:m>
                <a:endParaRPr lang="en-US" sz="24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𝜋</m:t>
                          </m:r>
                        </m:sub>
                      </m:sSub>
                      <m:d>
                        <m:d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e>
                      </m:d>
                      <m:r>
                        <m:rPr>
                          <m:aln/>
                        </m:rPr>
                        <a:rPr lang="en-US" sz="2400" i="1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𝑎</m:t>
                          </m:r>
                        </m:sub>
                        <m:sup/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|</m:t>
                          </m:r>
                          <m:sSub>
                            <m:sSub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nary>
                      <m:nary>
                        <m:naryPr>
                          <m:chr m:val="∑"/>
                          <m:supHide m:val="on"/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sSup>
                            <m:sSup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p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𝑟</m:t>
                          </m:r>
                        </m:sub>
                        <m:sup/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𝑝</m:t>
                          </m:r>
                          <m:d>
                            <m:dPr>
                              <m:endChr m:val="|"/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  <m:sup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′</m:t>
                                  </m:r>
                                </m:sup>
                              </m:sSup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e>
                          </m:d>
                          <m:sSub>
                            <m:sSub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)[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𝑟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𝛾</m:t>
                          </m:r>
                          <m:sSub>
                            <m:sSub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e>
                            <m:sub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</m:sub>
                          </m:sSub>
                          <m:d>
                            <m:d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  <m:sup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′</m:t>
                                  </m:r>
                                </m:sup>
                              </m:sSup>
                            </m:e>
                          </m:d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]</m:t>
                          </m:r>
                        </m:e>
                      </m:nary>
                    </m:oMath>
                  </m:oMathPara>
                </a14:m>
                <a:endParaRPr lang="en-US" sz="2400" dirty="0"/>
              </a:p>
              <a:p>
                <a:pPr marL="0" indent="0">
                  <a:buNone/>
                </a:pPr>
                <a:endParaRPr lang="en-US" sz="24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…  </m:t>
                      </m:r>
                      <m:r>
                        <m:rPr>
                          <m:nor/>
                        </m:rPr>
                        <a:rPr lang="en-US" sz="2400" b="0" i="0" smtClean="0">
                          <a:latin typeface="Cambria Math" panose="02040503050406030204" pitchFamily="18" charset="0"/>
                        </a:rPr>
                        <m:t>for</m:t>
                      </m:r>
                      <m:r>
                        <m:rPr>
                          <m:nor/>
                        </m:rPr>
                        <a:rPr lang="en-US" sz="2400" b="0" i="0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nor/>
                        </m:rPr>
                        <a:rPr lang="en-US" sz="2400" b="0" i="0" smtClean="0">
                          <a:latin typeface="Cambria Math" panose="02040503050406030204" pitchFamily="18" charset="0"/>
                        </a:rPr>
                        <m:t>all</m:t>
                      </m:r>
                      <m:r>
                        <m:rPr>
                          <m:nor/>
                        </m:rPr>
                        <a:rPr lang="en-US" sz="2400" b="0" i="0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∈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𝒮</m:t>
                      </m:r>
                    </m:oMath>
                  </m:oMathPara>
                </a14:m>
                <a:endParaRPr lang="en-US" sz="2400" dirty="0"/>
              </a:p>
              <a:p>
                <a:pPr marL="0" indent="0">
                  <a:buNone/>
                </a:pPr>
                <a:r>
                  <a:rPr lang="en-US" sz="2400" dirty="0"/>
                  <a:t>As a linear program</a:t>
                </a:r>
              </a:p>
              <a:p>
                <a:pPr lvl="1"/>
                <a:r>
                  <a:rPr lang="en-US" sz="2300" dirty="0"/>
                  <a:t>Objective function:       </a:t>
                </a:r>
                <a14:m>
                  <m:oMath xmlns:m="http://schemas.openxmlformats.org/officeDocument/2006/math">
                    <m:func>
                      <m:funcPr>
                        <m:ctrlPr>
                          <a:rPr lang="en-US" sz="230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limLow>
                          <m:limLowPr>
                            <m:ctrlPr>
                              <a:rPr lang="en-US" sz="2300" i="1" smtClean="0">
                                <a:latin typeface="Cambria Math" panose="02040503050406030204" pitchFamily="18" charset="0"/>
                              </a:rPr>
                            </m:ctrlPr>
                          </m:limLowPr>
                          <m:e>
                            <m:r>
                              <m:rPr>
                                <m:sty m:val="p"/>
                              </m:rPr>
                              <a:rPr lang="en-US" sz="2300" i="0" smtClean="0">
                                <a:latin typeface="Cambria Math" panose="02040503050406030204" pitchFamily="18" charset="0"/>
                              </a:rPr>
                              <m:t>min</m:t>
                            </m:r>
                          </m:e>
                          <m:lim>
                            <m:r>
                              <a:rPr lang="en-US" sz="2300" b="0" i="1" smtClean="0">
                                <a:latin typeface="Cambria Math" panose="02040503050406030204" pitchFamily="18" charset="0"/>
                              </a:rPr>
                              <m:t>𝑉</m:t>
                            </m:r>
                          </m:lim>
                        </m:limLow>
                      </m:fName>
                      <m:e>
                        <m:nary>
                          <m:naryPr>
                            <m:chr m:val="∑"/>
                            <m:supHide m:val="on"/>
                            <m:ctrlPr>
                              <a:rPr lang="en-US" sz="2300" i="1" smtClean="0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m:rPr>
                                <m:brk m:alnAt="7"/>
                              </m:rPr>
                              <a:rPr lang="en-US" sz="2300" b="0" i="1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  <m:r>
                              <a:rPr lang="en-US" sz="2300" b="0" i="1" smtClean="0">
                                <a:latin typeface="Cambria Math" panose="02040503050406030204" pitchFamily="18" charset="0"/>
                              </a:rPr>
                              <m:t>∈</m:t>
                            </m:r>
                            <m:r>
                              <a:rPr lang="en-US" sz="23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𝒮</m:t>
                            </m:r>
                          </m:sub>
                          <m:sup/>
                          <m:e>
                            <m:r>
                              <a:rPr lang="en-US" sz="2300" b="0" i="1" smtClean="0">
                                <a:latin typeface="Cambria Math" panose="02040503050406030204" pitchFamily="18" charset="0"/>
                              </a:rPr>
                              <m:t>𝑉</m:t>
                            </m:r>
                            <m:r>
                              <a:rPr lang="en-US" sz="2300" b="0" i="1" smtClean="0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en-US" sz="2300" b="0" i="1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  <m:r>
                              <a:rPr lang="en-US" sz="2300" b="0" i="1" smtClean="0"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</m:nary>
                      </m:e>
                    </m:func>
                  </m:oMath>
                </a14:m>
                <a:endParaRPr lang="en-US" sz="2300" dirty="0"/>
              </a:p>
              <a:p>
                <a:pPr lvl="1"/>
                <a:r>
                  <a:rPr lang="en-US" sz="2300" dirty="0"/>
                  <a:t>Constraints:                     </a:t>
                </a:r>
                <a14:m>
                  <m:oMath xmlns:m="http://schemas.openxmlformats.org/officeDocument/2006/math">
                    <m:r>
                      <a:rPr lang="en-US" sz="2300" b="0" i="1" smtClean="0">
                        <a:latin typeface="Cambria Math" panose="02040503050406030204" pitchFamily="18" charset="0"/>
                      </a:rPr>
                      <m:t>𝑉</m:t>
                    </m:r>
                    <m:d>
                      <m:dPr>
                        <m:ctrlPr>
                          <a:rPr lang="en-US" sz="23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300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en-US" sz="2300" b="0" i="1" smtClean="0">
                        <a:latin typeface="Cambria Math" panose="02040503050406030204" pitchFamily="18" charset="0"/>
                      </a:rPr>
                      <m:t>≥</m:t>
                    </m:r>
                    <m:nary>
                      <m:naryPr>
                        <m:chr m:val="∑"/>
                        <m:supHide m:val="on"/>
                        <m:ctrlPr>
                          <a:rPr lang="en-US" sz="2300" b="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sSup>
                          <m:sSupPr>
                            <m:ctrlPr>
                              <a:rPr lang="en-US" sz="2300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m:rPr>
                                <m:brk m:alnAt="7"/>
                              </m:rPr>
                              <a:rPr lang="en-US" sz="2300" b="0" i="1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p>
                            <m:r>
                              <a:rPr lang="en-US" sz="2300" b="0" i="1" smtClean="0"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  <m:r>
                          <m:rPr>
                            <m:brk m:alnAt="7"/>
                          </m:rPr>
                          <a:rPr lang="en-US" sz="23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2300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</m:sub>
                      <m:sup/>
                      <m:e>
                        <m:r>
                          <a:rPr lang="en-US" sz="2300" i="1">
                            <a:latin typeface="Cambria Math" panose="02040503050406030204" pitchFamily="18" charset="0"/>
                          </a:rPr>
                          <m:t>𝑝</m:t>
                        </m:r>
                        <m:d>
                          <m:dPr>
                            <m:ctrlPr>
                              <a:rPr lang="en-US" sz="23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300" i="1">
                                <a:latin typeface="Cambria Math" panose="02040503050406030204" pitchFamily="18" charset="0"/>
                              </a:rPr>
                              <m:t>𝑠</m:t>
                            </m:r>
                            <m:r>
                              <a:rPr lang="en-US" sz="2300" i="1">
                                <a:latin typeface="Cambria Math" panose="02040503050406030204" pitchFamily="18" charset="0"/>
                              </a:rPr>
                              <m:t>′</m:t>
                            </m:r>
                            <m:r>
                              <a:rPr lang="en-US" sz="2300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2300" i="1">
                                <a:latin typeface="Cambria Math" panose="02040503050406030204" pitchFamily="18" charset="0"/>
                              </a:rPr>
                              <m:t>𝑟</m:t>
                            </m:r>
                            <m:r>
                              <a:rPr lang="en-US" sz="2300" i="1">
                                <a:latin typeface="Cambria Math" panose="02040503050406030204" pitchFamily="18" charset="0"/>
                              </a:rPr>
                              <m:t>|</m:t>
                            </m:r>
                            <m:r>
                              <a:rPr lang="en-US" sz="2300" i="1">
                                <a:latin typeface="Cambria Math" panose="02040503050406030204" pitchFamily="18" charset="0"/>
                              </a:rPr>
                              <m:t>𝑠</m:t>
                            </m:r>
                            <m:r>
                              <a:rPr lang="en-US" sz="2300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2300" i="1">
                                <a:latin typeface="Cambria Math" panose="02040503050406030204" pitchFamily="18" charset="0"/>
                              </a:rPr>
                              <m:t>𝜋</m:t>
                            </m:r>
                            <m:d>
                              <m:dPr>
                                <m:ctrlPr>
                                  <a:rPr lang="en-US" sz="2300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sz="2300" i="1"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</m:e>
                            </m:d>
                          </m:e>
                        </m:d>
                        <m:d>
                          <m:dPr>
                            <m:begChr m:val="["/>
                            <m:endChr m:val="]"/>
                            <m:ctrlPr>
                              <a:rPr lang="en-US" sz="23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300" i="1">
                                <a:latin typeface="Cambria Math" panose="02040503050406030204" pitchFamily="18" charset="0"/>
                              </a:rPr>
                              <m:t>𝑟</m:t>
                            </m:r>
                            <m:r>
                              <a:rPr lang="en-US" sz="2300" i="1"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a:rPr lang="en-US" sz="2300" i="1">
                                <a:latin typeface="Cambria Math" panose="02040503050406030204" pitchFamily="18" charset="0"/>
                              </a:rPr>
                              <m:t>𝛾</m:t>
                            </m:r>
                            <m:r>
                              <a:rPr lang="en-US" sz="2300" i="1">
                                <a:latin typeface="Cambria Math" panose="02040503050406030204" pitchFamily="18" charset="0"/>
                              </a:rPr>
                              <m:t>𝑉</m:t>
                            </m:r>
                            <m:d>
                              <m:dPr>
                                <m:ctrlPr>
                                  <a:rPr lang="en-US" sz="2300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p>
                                  <m:sSupPr>
                                    <m:ctrlPr>
                                      <a:rPr lang="en-US" sz="23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sz="2300" i="1">
                                        <a:latin typeface="Cambria Math" panose="02040503050406030204" pitchFamily="18" charset="0"/>
                                      </a:rPr>
                                      <m:t>𝑠</m:t>
                                    </m:r>
                                  </m:e>
                                  <m:sup>
                                    <m:r>
                                      <a:rPr lang="en-US" sz="2300" i="1">
                                        <a:latin typeface="Cambria Math" panose="02040503050406030204" pitchFamily="18" charset="0"/>
                                      </a:rPr>
                                      <m:t>′</m:t>
                                    </m:r>
                                  </m:sup>
                                </m:sSup>
                              </m:e>
                            </m:d>
                          </m:e>
                        </m:d>
                        <m:r>
                          <a:rPr lang="en-US" sz="2300" b="0" i="1" smtClean="0">
                            <a:latin typeface="Cambria Math" panose="02040503050406030204" pitchFamily="18" charset="0"/>
                          </a:rPr>
                          <m:t>          </m:t>
                        </m:r>
                        <m:r>
                          <a:rPr lang="en-US" sz="2300" b="0" i="1" smtClean="0">
                            <a:latin typeface="Cambria Math" panose="02040503050406030204" pitchFamily="18" charset="0"/>
                          </a:rPr>
                          <m:t>∀</m:t>
                        </m:r>
                        <m:r>
                          <a:rPr lang="en-US" sz="2300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sz="2300" b="0" i="1" smtClean="0">
                            <a:latin typeface="Cambria Math" panose="02040503050406030204" pitchFamily="18" charset="0"/>
                          </a:rPr>
                          <m:t>∈</m:t>
                        </m:r>
                        <m:r>
                          <a:rPr lang="en-US" sz="23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𝒮</m:t>
                        </m:r>
                      </m:e>
                    </m:nary>
                  </m:oMath>
                </a14:m>
                <a:endParaRPr lang="en-US" sz="2000" dirty="0"/>
              </a:p>
              <a:p>
                <a:endParaRPr lang="en-US" sz="2400" dirty="0"/>
              </a:p>
              <a:p>
                <a:pPr marL="0" indent="0">
                  <a:buNone/>
                </a:pPr>
                <a:r>
                  <a:rPr lang="en-US" sz="2400" dirty="0"/>
                  <a:t>Why this works: The smallest feasible solution will satisfy the Bellman equations. </a:t>
                </a:r>
                <a:endParaRPr lang="en-US" sz="240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i="1">
                          <a:latin typeface="Cambria Math" panose="02040503050406030204" pitchFamily="18" charset="0"/>
                        </a:rPr>
                        <m:t>𝑉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)=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sSup>
                            <m:sSup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m:rPr>
                                  <m:brk m:alnAt="7"/>
                                </m:rP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p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𝑟</m:t>
                          </m:r>
                        </m:sub>
                        <m:sup/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𝑝</m:t>
                          </m:r>
                          <m:d>
                            <m:d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|</m:t>
                              </m:r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  <m:d>
                                <m:dPr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</m:d>
                            </m:e>
                          </m:d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[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𝑟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𝛾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𝑉</m:t>
                          </m:r>
                          <m:d>
                            <m:d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  <m:sup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′</m:t>
                                  </m:r>
                                </m:sup>
                              </m:sSup>
                            </m:e>
                          </m:d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]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       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∀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∈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𝒮</m:t>
                          </m:r>
                        </m:e>
                      </m:nary>
                    </m:oMath>
                  </m:oMathPara>
                </a14:m>
                <a:endParaRPr lang="en-US" sz="2400" dirty="0"/>
              </a:p>
              <a:p>
                <a:endParaRPr lang="en-US" sz="2400" dirty="0"/>
              </a:p>
              <a:p>
                <a:pPr marL="0" indent="0">
                  <a:buNone/>
                </a:pPr>
                <a:endParaRPr lang="en-US" sz="2400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95FDADB-CB9E-5700-5CD5-2A4F4B7D2B2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397329"/>
                <a:ext cx="10350985" cy="5170993"/>
              </a:xfrm>
              <a:blipFill>
                <a:blip r:embed="rId2"/>
                <a:stretch>
                  <a:fillRect l="-589" t="-15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86426501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D6658F-139C-0BE8-0CD7-8FE00B9A33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5" name="Group 24">
            <a:extLst>
              <a:ext uri="{FF2B5EF4-FFF2-40B4-BE49-F238E27FC236}">
                <a16:creationId xmlns:a16="http://schemas.microsoft.com/office/drawing/2014/main" id="{52543F45-3A9E-C880-1230-772119373948}"/>
              </a:ext>
            </a:extLst>
          </p:cNvPr>
          <p:cNvGrpSpPr/>
          <p:nvPr/>
        </p:nvGrpSpPr>
        <p:grpSpPr>
          <a:xfrm>
            <a:off x="200701" y="3523056"/>
            <a:ext cx="2299156" cy="1791256"/>
            <a:chOff x="8709114" y="1909044"/>
            <a:chExt cx="2660677" cy="2268522"/>
          </a:xfrm>
        </p:grpSpPr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DC4F431F-EEDB-B955-97C6-C588C6C939B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b="15184"/>
            <a:stretch>
              <a:fillRect/>
            </a:stretch>
          </p:blipFill>
          <p:spPr>
            <a:xfrm>
              <a:off x="8709114" y="2205386"/>
              <a:ext cx="2660677" cy="1972180"/>
            </a:xfrm>
            <a:prstGeom prst="rect">
              <a:avLst/>
            </a:prstGeom>
          </p:spPr>
        </p:pic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E45E00C3-80D2-F1CC-F7E7-B3AD2D79EB12}"/>
                </a:ext>
              </a:extLst>
            </p:cNvPr>
            <p:cNvSpPr txBox="1"/>
            <p:nvPr/>
          </p:nvSpPr>
          <p:spPr>
            <a:xfrm>
              <a:off x="8928479" y="1909044"/>
              <a:ext cx="2177124" cy="38978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400" dirty="0"/>
                <a:t>Backup diagram</a:t>
              </a:r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C05886B1-B3C3-36AF-DCCF-70C3CEDCBC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Solution Option 2: Iterative Policy Evaluation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25F1F25-389C-B9C9-77EC-6351FB4FE07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397330"/>
                <a:ext cx="7732419" cy="4847286"/>
              </a:xfrm>
            </p:spPr>
            <p:txBody>
              <a:bodyPr>
                <a:normAutofit fontScale="92500" lnSpcReduction="20000"/>
              </a:bodyPr>
              <a:lstStyle/>
              <a:p>
                <a:pPr marL="0" indent="0">
                  <a:buNone/>
                </a:pPr>
                <a:r>
                  <a:rPr lang="en-US" sz="2400" b="1" dirty="0"/>
                  <a:t>Dynamic Programming</a:t>
                </a:r>
                <a:r>
                  <a:rPr lang="en-US" sz="2400" dirty="0"/>
                  <a:t>: solves a complex optimization problem by breaking it down into smaller, overlapping subproblems and using their solutions to build the overall optimal solution.</a:t>
                </a:r>
              </a:p>
              <a:p>
                <a:pPr marL="0" indent="0">
                  <a:buNone/>
                </a:pPr>
                <a:endParaRPr lang="en-US" sz="2400" dirty="0"/>
              </a:p>
              <a:p>
                <a:pPr lvl="1"/>
                <a:r>
                  <a:rPr lang="en-US" sz="2000" dirty="0"/>
                  <a:t>Start with arbitrary values for all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𝑣</m:t>
                    </m:r>
                    <m:d>
                      <m:d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</m:oMath>
                </a14:m>
                <a:endParaRPr lang="en-US" sz="2000" dirty="0"/>
              </a:p>
              <a:p>
                <a:pPr lvl="1"/>
                <a:r>
                  <a:rPr lang="en-US" sz="2000" dirty="0"/>
                  <a:t>Update all state values (called sweeping over the state space) using the</a:t>
                </a:r>
                <a:r>
                  <a:rPr lang="en-US" sz="2000" b="1" dirty="0"/>
                  <a:t> Bellman Update</a:t>
                </a:r>
                <a:r>
                  <a:rPr lang="en-US" sz="2000" dirty="0"/>
                  <a:t> (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sz="2000" dirty="0"/>
                  <a:t> is the iteration counter):</a:t>
                </a:r>
                <a:endParaRPr lang="en-US" sz="2000" b="1" dirty="0"/>
              </a:p>
              <a:p>
                <a:pPr lvl="1"/>
                <a:endParaRPr lang="en-US" sz="2000" dirty="0"/>
              </a:p>
              <a:p>
                <a:pPr marL="457200" lvl="1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d>
                        <m:dPr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m:rPr>
                          <m:aln/>
                        </m:rPr>
                        <a:rPr lang="en-US" sz="2000" i="1">
                          <a:latin typeface="Cambria Math" panose="02040503050406030204" pitchFamily="18" charset="0"/>
                        </a:rPr>
                        <m:t>≝</m:t>
                      </m:r>
                      <m:d>
                        <m:dPr>
                          <m:begChr m:val="["/>
                          <m:endChr m:val="|"/>
                          <m:ctrlP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0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en-US" sz="20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en-US" sz="20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+1</m:t>
                              </m:r>
                            </m:sub>
                          </m:sSub>
                          <m: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𝛾</m:t>
                          </m:r>
                          <m:sSub>
                            <m:sSubPr>
                              <m:ctrlPr>
                                <a:rPr lang="en-US" sz="20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𝑣</m:t>
                              </m:r>
                            </m:e>
                            <m:sub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  <m:d>
                            <m:dPr>
                              <m:ctrlPr>
                                <a:rPr lang="en-US" sz="20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20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0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sz="20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en-US" sz="20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+1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sSub>
                        <m:sSubPr>
                          <m:ctrlP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US" sz="20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US" sz="20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𝑠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]</m:t>
                      </m:r>
                    </m:oMath>
                    <m:oMath xmlns:m="http://schemas.openxmlformats.org/officeDocument/2006/math">
                      <m:r>
                        <m:rPr>
                          <m:aln/>
                        </m:rPr>
                        <a:rPr lang="en-US" sz="2000" i="1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𝑎</m:t>
                          </m:r>
                        </m:sub>
                        <m:sup/>
                        <m:e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|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nary>
                      <m:nary>
                        <m:naryPr>
                          <m:chr m:val="∑"/>
                          <m:supHide m:val="on"/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sSup>
                            <m:sSupPr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p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𝑟</m:t>
                          </m:r>
                        </m:sub>
                        <m:sup/>
                        <m:e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𝑝</m:t>
                          </m:r>
                          <m:d>
                            <m:dPr>
                              <m:endChr m:val="|"/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en-US" sz="200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2000" i="1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  <m:sup>
                                  <m:r>
                                    <a:rPr lang="en-US" sz="2000" i="1">
                                      <a:latin typeface="Cambria Math" panose="02040503050406030204" pitchFamily="18" charset="0"/>
                                    </a:rPr>
                                    <m:t>′</m:t>
                                  </m:r>
                                </m:sup>
                              </m:sSup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e>
                          </m:d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)[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𝑟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𝛾</m:t>
                          </m:r>
                          <m:sSub>
                            <m:sSubPr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e>
                            <m:sub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  <m:d>
                            <m:dPr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en-US" sz="200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2000" i="1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  <m:sup>
                                  <m:r>
                                    <a:rPr lang="en-US" sz="2000" i="1">
                                      <a:latin typeface="Cambria Math" panose="02040503050406030204" pitchFamily="18" charset="0"/>
                                    </a:rPr>
                                    <m:t>′</m:t>
                                  </m:r>
                                </m:sup>
                              </m:sSup>
                            </m:e>
                          </m:d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]</m:t>
                          </m:r>
                        </m:e>
                      </m:nary>
                    </m:oMath>
                  </m:oMathPara>
                </a14:m>
                <a:endParaRPr lang="en-US" sz="2000" dirty="0"/>
              </a:p>
              <a:p>
                <a:pPr lvl="1"/>
                <a:endParaRPr lang="en-US" sz="2000" b="0" i="1" dirty="0">
                  <a:latin typeface="Cambria Math" panose="02040503050406030204" pitchFamily="18" charset="0"/>
                </a:endParaRPr>
              </a:p>
              <a:p>
                <a:pPr lvl="1"/>
                <a:endParaRPr lang="en-US" sz="2000" b="0" i="1" dirty="0">
                  <a:latin typeface="Cambria Math" panose="02040503050406030204" pitchFamily="18" charset="0"/>
                </a:endParaRPr>
              </a:p>
              <a:p>
                <a:pPr lvl="1"/>
                <a:endParaRPr lang="en-US" sz="2000" b="0" i="1" dirty="0">
                  <a:latin typeface="Cambria Math" panose="02040503050406030204" pitchFamily="18" charset="0"/>
                </a:endParaRPr>
              </a:p>
              <a:p>
                <a:pPr lvl="1"/>
                <a:endParaRPr lang="en-US" sz="2000" b="1" dirty="0"/>
              </a:p>
              <a:p>
                <a:pPr lvl="1"/>
                <a:r>
                  <a:rPr lang="en-US" sz="2000" b="1" dirty="0"/>
                  <a:t>Convergence</a:t>
                </a:r>
                <a:r>
                  <a:rPr lang="en-US" sz="2000" b="0" dirty="0"/>
                  <a:t>: </a:t>
                </a:r>
                <a:r>
                  <a:rPr lang="en-US" sz="2000" dirty="0"/>
                  <a:t>Updates converge to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</m:oMath>
                </a14:m>
                <a:r>
                  <a:rPr lang="en-US" sz="2000" dirty="0"/>
                  <a:t> for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→∞</m:t>
                    </m:r>
                  </m:oMath>
                </a14:m>
                <a:r>
                  <a:rPr lang="en-US" sz="2000" dirty="0"/>
                  <a:t> iterations.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25F1F25-389C-B9C9-77EC-6351FB4FE07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397330"/>
                <a:ext cx="7732419" cy="4847286"/>
              </a:xfrm>
              <a:blipFill>
                <a:blip r:embed="rId3"/>
                <a:stretch>
                  <a:fillRect l="-1025" t="-251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" name="Group 3">
            <a:extLst>
              <a:ext uri="{FF2B5EF4-FFF2-40B4-BE49-F238E27FC236}">
                <a16:creationId xmlns:a16="http://schemas.microsoft.com/office/drawing/2014/main" id="{92891670-5E19-0B92-2000-67EB986C67EA}"/>
              </a:ext>
            </a:extLst>
          </p:cNvPr>
          <p:cNvGrpSpPr/>
          <p:nvPr/>
        </p:nvGrpSpPr>
        <p:grpSpPr>
          <a:xfrm>
            <a:off x="3338818" y="4633526"/>
            <a:ext cx="4981697" cy="730954"/>
            <a:chOff x="2344485" y="3098314"/>
            <a:chExt cx="1813961" cy="730954"/>
          </a:xfrm>
        </p:grpSpPr>
        <p:sp>
          <p:nvSpPr>
            <p:cNvPr id="5" name="Right Brace 4">
              <a:extLst>
                <a:ext uri="{FF2B5EF4-FFF2-40B4-BE49-F238E27FC236}">
                  <a16:creationId xmlns:a16="http://schemas.microsoft.com/office/drawing/2014/main" id="{C6BB2930-2803-7CC6-BE5E-4F581F3D8212}"/>
                </a:ext>
              </a:extLst>
            </p:cNvPr>
            <p:cNvSpPr/>
            <p:nvPr/>
          </p:nvSpPr>
          <p:spPr>
            <a:xfrm rot="5400000">
              <a:off x="3099931" y="2531679"/>
              <a:ext cx="257767" cy="1391038"/>
            </a:xfrm>
            <a:prstGeom prst="rightBrac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90F03579-6BB3-CB46-DAC5-72EC42C594FC}"/>
                </a:ext>
              </a:extLst>
            </p:cNvPr>
            <p:cNvSpPr txBox="1"/>
            <p:nvPr/>
          </p:nvSpPr>
          <p:spPr>
            <a:xfrm>
              <a:off x="2344485" y="3306048"/>
              <a:ext cx="1813961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400" dirty="0"/>
                <a:t>In DP called “expected update.”</a:t>
              </a:r>
              <a:br>
                <a:rPr lang="en-US" sz="1400" dirty="0"/>
              </a:br>
              <a:r>
                <a:rPr lang="en-US" sz="1400" dirty="0"/>
                <a:t>Uses the expectation over all possible actions and next states.</a:t>
              </a:r>
            </a:p>
          </p:txBody>
        </p:sp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43D5FCA8-6ACA-3C79-36FA-E785B877518C}"/>
              </a:ext>
            </a:extLst>
          </p:cNvPr>
          <p:cNvGrpSpPr/>
          <p:nvPr/>
        </p:nvGrpSpPr>
        <p:grpSpPr>
          <a:xfrm>
            <a:off x="8930583" y="4867978"/>
            <a:ext cx="2854818" cy="1480504"/>
            <a:chOff x="8867761" y="4764111"/>
            <a:chExt cx="2854818" cy="1480504"/>
          </a:xfrm>
        </p:grpSpPr>
        <p:grpSp>
          <p:nvGrpSpPr>
            <p:cNvPr id="8" name="Group 7" descr="Updating the value function using iterative Bellman updates.">
              <a:extLst>
                <a:ext uri="{FF2B5EF4-FFF2-40B4-BE49-F238E27FC236}">
                  <a16:creationId xmlns:a16="http://schemas.microsoft.com/office/drawing/2014/main" id="{E042F5F5-5CB0-3535-780C-93DC3965B4B3}"/>
                </a:ext>
              </a:extLst>
            </p:cNvPr>
            <p:cNvGrpSpPr/>
            <p:nvPr/>
          </p:nvGrpSpPr>
          <p:grpSpPr>
            <a:xfrm>
              <a:off x="8867761" y="4764111"/>
              <a:ext cx="2854818" cy="1428805"/>
              <a:chOff x="9337182" y="2229868"/>
              <a:chExt cx="2854818" cy="1428805"/>
            </a:xfrm>
          </p:grpSpPr>
          <p:cxnSp>
            <p:nvCxnSpPr>
              <p:cNvPr id="11" name="Straight Connector 10">
                <a:extLst>
                  <a:ext uri="{FF2B5EF4-FFF2-40B4-BE49-F238E27FC236}">
                    <a16:creationId xmlns:a16="http://schemas.microsoft.com/office/drawing/2014/main" id="{1876D76D-10B4-4679-F653-BD6BA18B2860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337182" y="3124199"/>
                <a:ext cx="2393078" cy="0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2" name="TextBox 8">
                    <a:extLst>
                      <a:ext uri="{FF2B5EF4-FFF2-40B4-BE49-F238E27FC236}">
                        <a16:creationId xmlns:a16="http://schemas.microsoft.com/office/drawing/2014/main" id="{CD2E66AA-EA36-8916-48A7-F5C017DA6964}"/>
                      </a:ext>
                      <a:ext uri="{C183D7F6-B498-43B3-948B-1728B52AA6E4}">
                        <adec:decorative xmlns:adec="http://schemas.microsoft.com/office/drawing/2017/decorative" val="1"/>
                      </a:ext>
                    </a:extLst>
                  </p:cNvPr>
                  <p:cNvSpPr txBox="1"/>
                  <p:nvPr/>
                </p:nvSpPr>
                <p:spPr>
                  <a:xfrm>
                    <a:off x="11425004" y="3092683"/>
                    <a:ext cx="766996" cy="369332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>
                    <a:defPPr>
                      <a:defRPr lang="en-US"/>
                    </a:defPPr>
                    <a:lvl1pPr marL="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18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800" b="0" i="1" smtClean="0"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e>
                            <m:sub>
                              <m:r>
                                <a:rPr lang="en-US" sz="1800" b="0" i="1" smtClean="0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</m:sub>
                          </m:sSub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12" name="TextBox 8">
                    <a:extLst>
                      <a:ext uri="{FF2B5EF4-FFF2-40B4-BE49-F238E27FC236}">
                        <a16:creationId xmlns:a16="http://schemas.microsoft.com/office/drawing/2014/main" id="{115AA05C-2180-0AF6-A384-9D75BED15ED1}"/>
                      </a:ext>
                      <a:ext uri="{C183D7F6-B498-43B3-948B-1728B52AA6E4}">
                        <adec:decorative xmlns:adec="http://schemas.microsoft.com/office/drawing/2017/decorative" val="1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1425004" y="3092683"/>
                    <a:ext cx="766996" cy="369332"/>
                  </a:xfrm>
                  <a:prstGeom prst="rect">
                    <a:avLst/>
                  </a:prstGeom>
                  <a:blipFill>
                    <a:blip r:embed="rId4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13" name="Arc 12">
                <a:extLst>
                  <a:ext uri="{FF2B5EF4-FFF2-40B4-BE49-F238E27FC236}">
                    <a16:creationId xmlns:a16="http://schemas.microsoft.com/office/drawing/2014/main" id="{A915BDCA-A78B-A713-EF2C-BD76D59CE4C3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/>
            </p:nvSpPr>
            <p:spPr>
              <a:xfrm>
                <a:off x="9760371" y="2649297"/>
                <a:ext cx="574339" cy="1009376"/>
              </a:xfrm>
              <a:prstGeom prst="arc">
                <a:avLst>
                  <a:gd name="adj1" fmla="val 10871568"/>
                  <a:gd name="adj2" fmla="val 0"/>
                </a:avLst>
              </a:prstGeom>
              <a:ln w="19050" cap="flat" cmpd="sng" algn="ctr">
                <a:solidFill>
                  <a:schemeClr val="accent6"/>
                </a:solidFill>
                <a:prstDash val="solid"/>
                <a:round/>
                <a:headEnd type="none" w="med" len="med"/>
                <a:tailEnd type="arrow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tx1"/>
              </a:fontRef>
            </p:style>
            <p:txBody>
              <a:bodyPr rtlCol="0" anchor="ctr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en-US"/>
              </a:p>
            </p:txBody>
          </p:sp>
          <p:sp>
            <p:nvSpPr>
              <p:cNvPr id="14" name="Arc 13">
                <a:extLst>
                  <a:ext uri="{FF2B5EF4-FFF2-40B4-BE49-F238E27FC236}">
                    <a16:creationId xmlns:a16="http://schemas.microsoft.com/office/drawing/2014/main" id="{9046C63F-C083-8CE3-5B67-AD0FC59C20CB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/>
            </p:nvSpPr>
            <p:spPr>
              <a:xfrm>
                <a:off x="10334710" y="2614308"/>
                <a:ext cx="765785" cy="1019782"/>
              </a:xfrm>
              <a:prstGeom prst="arc">
                <a:avLst>
                  <a:gd name="adj1" fmla="val 10871568"/>
                  <a:gd name="adj2" fmla="val 0"/>
                </a:avLst>
              </a:prstGeom>
              <a:ln w="19050" cap="flat" cmpd="sng" algn="ctr">
                <a:solidFill>
                  <a:schemeClr val="accent6"/>
                </a:solidFill>
                <a:prstDash val="solid"/>
                <a:round/>
                <a:headEnd type="none" w="med" len="med"/>
                <a:tailEnd type="arrow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tx1"/>
              </a:fontRef>
            </p:style>
            <p:txBody>
              <a:bodyPr rtlCol="0" anchor="ctr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en-US"/>
              </a:p>
            </p:txBody>
          </p:sp>
          <p:sp>
            <p:nvSpPr>
              <p:cNvPr id="15" name="Arc 14">
                <a:extLst>
                  <a:ext uri="{FF2B5EF4-FFF2-40B4-BE49-F238E27FC236}">
                    <a16:creationId xmlns:a16="http://schemas.microsoft.com/office/drawing/2014/main" id="{FA9CADED-6B11-F60E-3E70-35BC15580022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/>
            </p:nvSpPr>
            <p:spPr>
              <a:xfrm>
                <a:off x="11100495" y="2627412"/>
                <a:ext cx="220048" cy="1019782"/>
              </a:xfrm>
              <a:prstGeom prst="arc">
                <a:avLst>
                  <a:gd name="adj1" fmla="val 10871568"/>
                  <a:gd name="adj2" fmla="val 0"/>
                </a:avLst>
              </a:prstGeom>
              <a:ln w="19050" cap="flat" cmpd="sng" algn="ctr">
                <a:solidFill>
                  <a:schemeClr val="accent6"/>
                </a:solidFill>
                <a:prstDash val="solid"/>
                <a:round/>
                <a:headEnd type="none" w="med" len="med"/>
                <a:tailEnd type="arrow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tx1"/>
              </a:fontRef>
            </p:style>
            <p:txBody>
              <a:bodyPr rtlCol="0" anchor="ctr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en-US"/>
              </a:p>
            </p:txBody>
          </p:sp>
          <p:sp>
            <p:nvSpPr>
              <p:cNvPr id="16" name="Arc 15">
                <a:extLst>
                  <a:ext uri="{FF2B5EF4-FFF2-40B4-BE49-F238E27FC236}">
                    <a16:creationId xmlns:a16="http://schemas.microsoft.com/office/drawing/2014/main" id="{2124ACB0-C3FA-2FAA-37B1-C6EECFECCE0B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/>
            </p:nvSpPr>
            <p:spPr>
              <a:xfrm>
                <a:off x="11308888" y="2648522"/>
                <a:ext cx="417487" cy="951353"/>
              </a:xfrm>
              <a:prstGeom prst="arc">
                <a:avLst>
                  <a:gd name="adj1" fmla="val 10871568"/>
                  <a:gd name="adj2" fmla="val 0"/>
                </a:avLst>
              </a:prstGeom>
              <a:ln w="19050" cap="flat" cmpd="sng" algn="ctr">
                <a:solidFill>
                  <a:schemeClr val="accent6"/>
                </a:solidFill>
                <a:prstDash val="solid"/>
                <a:round/>
                <a:headEnd type="none" w="med" len="med"/>
                <a:tailEnd type="arrow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tx1"/>
              </a:fontRef>
            </p:style>
            <p:txBody>
              <a:bodyPr rtlCol="0" anchor="ctr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en-US"/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7" name="TextBox 29">
                    <a:extLst>
                      <a:ext uri="{FF2B5EF4-FFF2-40B4-BE49-F238E27FC236}">
                        <a16:creationId xmlns:a16="http://schemas.microsoft.com/office/drawing/2014/main" id="{9FFAF23B-1B2A-B56C-21FE-4753439D8E51}"/>
                      </a:ext>
                      <a:ext uri="{C183D7F6-B498-43B3-948B-1728B52AA6E4}">
                        <adec:decorative xmlns:adec="http://schemas.microsoft.com/office/drawing/2017/decorative" val="1"/>
                      </a:ext>
                    </a:extLst>
                  </p:cNvPr>
                  <p:cNvSpPr txBox="1"/>
                  <p:nvPr/>
                </p:nvSpPr>
                <p:spPr>
                  <a:xfrm>
                    <a:off x="9564903" y="3086337"/>
                    <a:ext cx="395810" cy="369332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>
                    <a:defPPr>
                      <a:defRPr lang="en-US"/>
                    </a:defPPr>
                    <a:lvl1pPr marL="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18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800" b="0" i="1" smtClean="0"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e>
                            <m:sub>
                              <m:r>
                                <a:rPr lang="en-US" sz="1800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17" name="TextBox 29">
                    <a:extLst>
                      <a:ext uri="{FF2B5EF4-FFF2-40B4-BE49-F238E27FC236}">
                        <a16:creationId xmlns:a16="http://schemas.microsoft.com/office/drawing/2014/main" id="{6DB673C8-2425-685A-8CBE-35EDDCA1EB91}"/>
                      </a:ext>
                      <a:ext uri="{C183D7F6-B498-43B3-948B-1728B52AA6E4}">
                        <adec:decorative xmlns:adec="http://schemas.microsoft.com/office/drawing/2017/decorative" val="1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564903" y="3086337"/>
                    <a:ext cx="395810" cy="369332"/>
                  </a:xfrm>
                  <a:prstGeom prst="rect">
                    <a:avLst/>
                  </a:prstGeom>
                  <a:blipFill>
                    <a:blip r:embed="rId5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8" name="TextBox 30">
                    <a:extLst>
                      <a:ext uri="{FF2B5EF4-FFF2-40B4-BE49-F238E27FC236}">
                        <a16:creationId xmlns:a16="http://schemas.microsoft.com/office/drawing/2014/main" id="{6147F0A6-B8EB-E05B-C1C0-350546463BA5}"/>
                      </a:ext>
                      <a:ext uri="{C183D7F6-B498-43B3-948B-1728B52AA6E4}">
                        <adec:decorative xmlns:adec="http://schemas.microsoft.com/office/drawing/2017/decorative" val="1"/>
                      </a:ext>
                    </a:extLst>
                  </p:cNvPr>
                  <p:cNvSpPr txBox="1"/>
                  <p:nvPr/>
                </p:nvSpPr>
                <p:spPr>
                  <a:xfrm>
                    <a:off x="10066895" y="3115740"/>
                    <a:ext cx="395810" cy="369332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>
                    <a:defPPr>
                      <a:defRPr lang="en-US"/>
                    </a:defPPr>
                    <a:lvl1pPr marL="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18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800" b="0" i="1" smtClean="0"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e>
                            <m:sub>
                              <m:r>
                                <a:rPr lang="en-US" sz="18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18" name="TextBox 30">
                    <a:extLst>
                      <a:ext uri="{FF2B5EF4-FFF2-40B4-BE49-F238E27FC236}">
                        <a16:creationId xmlns:a16="http://schemas.microsoft.com/office/drawing/2014/main" id="{56DA2FE2-AC26-7B66-B5BD-7064ECD50CE7}"/>
                      </a:ext>
                      <a:ext uri="{C183D7F6-B498-43B3-948B-1728B52AA6E4}">
                        <adec:decorative xmlns:adec="http://schemas.microsoft.com/office/drawing/2017/decorative" val="1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0066895" y="3115740"/>
                    <a:ext cx="395810" cy="369332"/>
                  </a:xfrm>
                  <a:prstGeom prst="rect">
                    <a:avLst/>
                  </a:prstGeom>
                  <a:blipFill>
                    <a:blip r:embed="rId6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19" name="Oval 18">
                <a:extLst>
                  <a:ext uri="{FF2B5EF4-FFF2-40B4-BE49-F238E27FC236}">
                    <a16:creationId xmlns:a16="http://schemas.microsoft.com/office/drawing/2014/main" id="{15DA345C-A981-1A04-9E3B-9233BA91B30B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/>
            </p:nvSpPr>
            <p:spPr>
              <a:xfrm>
                <a:off x="11680507" y="3066584"/>
                <a:ext cx="127995" cy="117892"/>
              </a:xfrm>
              <a:prstGeom prst="ellips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en-US"/>
              </a:p>
            </p:txBody>
          </p:sp>
          <p:sp>
            <p:nvSpPr>
              <p:cNvPr id="20" name="TextBox 35">
                <a:extLst>
                  <a:ext uri="{FF2B5EF4-FFF2-40B4-BE49-F238E27FC236}">
                    <a16:creationId xmlns:a16="http://schemas.microsoft.com/office/drawing/2014/main" id="{89DB2870-24A4-433E-3096-F45510D7F24A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 txBox="1"/>
              <p:nvPr/>
            </p:nvSpPr>
            <p:spPr>
              <a:xfrm>
                <a:off x="9337182" y="2229868"/>
                <a:ext cx="1796338" cy="33855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r>
                  <a:rPr lang="en-US" sz="1600" dirty="0"/>
                  <a:t>Bellman updates</a:t>
                </a:r>
              </a:p>
            </p:txBody>
          </p:sp>
        </p:grp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DA226FBF-E15E-0A93-5374-77CBC09832B9}"/>
                </a:ext>
              </a:extLst>
            </p:cNvPr>
            <p:cNvSpPr txBox="1"/>
            <p:nvPr/>
          </p:nvSpPr>
          <p:spPr>
            <a:xfrm>
              <a:off x="9189345" y="5967616"/>
              <a:ext cx="1978780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200" dirty="0"/>
                <a:t>Distance means difference</a:t>
              </a:r>
            </a:p>
          </p:txBody>
        </p:sp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CD6C0487-07CF-0018-3062-50B52F2A7AAD}"/>
              </a:ext>
            </a:extLst>
          </p:cNvPr>
          <p:cNvGrpSpPr/>
          <p:nvPr/>
        </p:nvGrpSpPr>
        <p:grpSpPr>
          <a:xfrm>
            <a:off x="8464259" y="1342160"/>
            <a:ext cx="3325726" cy="2180896"/>
            <a:chOff x="8464259" y="1342160"/>
            <a:chExt cx="3325726" cy="2180896"/>
          </a:xfrm>
        </p:grpSpPr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E32527A9-170C-6824-B9CF-D3911C12D2CB}"/>
                </a:ext>
              </a:extLst>
            </p:cNvPr>
            <p:cNvSpPr txBox="1"/>
            <p:nvPr/>
          </p:nvSpPr>
          <p:spPr>
            <a:xfrm>
              <a:off x="8956148" y="1342160"/>
              <a:ext cx="2437818" cy="33855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600" dirty="0"/>
                <a:t>Sweep the state space</a:t>
              </a:r>
            </a:p>
          </p:txBody>
        </p:sp>
        <p:pic>
          <p:nvPicPr>
            <p:cNvPr id="10" name="Picture 2">
              <a:extLst>
                <a:ext uri="{FF2B5EF4-FFF2-40B4-BE49-F238E27FC236}">
                  <a16:creationId xmlns:a16="http://schemas.microsoft.com/office/drawing/2014/main" id="{AA982B42-2673-74EA-CFA0-028006FCF612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464259" y="1838913"/>
              <a:ext cx="3325726" cy="168414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13130349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C72B55-524F-2A13-6BD8-9A03EF8EAF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Convergence of Iterative Policy Evaluation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FC648E6-02D2-1E64-6265-DB7D1C1179F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397331"/>
                <a:ext cx="8581869" cy="2942321"/>
              </a:xfrm>
            </p:spPr>
            <p:txBody>
              <a:bodyPr>
                <a:normAutofit fontScale="85000" lnSpcReduction="20000"/>
              </a:bodyPr>
              <a:lstStyle/>
              <a:p>
                <a:r>
                  <a:rPr lang="en-US" dirty="0"/>
                  <a:t>The Bellman update can be rewritten as an operator:</a:t>
                </a:r>
                <a:br>
                  <a:rPr lang="en-US" dirty="0"/>
                </a:br>
                <a:r>
                  <a:rPr lang="en-US" b="1" dirty="0"/>
                  <a:t>Bellman Expectation Operator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sup>
                    </m:sSup>
                  </m:oMath>
                </a14:m>
                <a:r>
                  <a:rPr lang="en-US" dirty="0"/>
                  <a:t>:</a:t>
                </a:r>
              </a:p>
              <a:p>
                <a:endParaRPr lang="en-US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𝜋</m:t>
                          </m:r>
                        </m:sup>
                      </m:sSup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𝑣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)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𝑎</m:t>
                          </m:r>
                        </m:sub>
                        <m:sup/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|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nary>
                      <m:nary>
                        <m:naryPr>
                          <m:chr m:val="∑"/>
                          <m:supHide m:val="on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sSup>
                            <m:sSup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p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𝑟</m:t>
                          </m:r>
                        </m:sub>
                        <m:sup/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𝑝</m:t>
                          </m:r>
                          <m:d>
                            <m:dPr>
                              <m:endChr m:val="|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  <m:sup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′</m:t>
                                  </m:r>
                                </m:sup>
                              </m:sSup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e>
                          </m:d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)[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𝑟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𝛾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𝑣</m:t>
                          </m:r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  <m:sup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′</m:t>
                                  </m:r>
                                </m:sup>
                              </m:sSup>
                            </m:e>
                          </m:d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]</m:t>
                          </m:r>
                        </m:e>
                      </m:nary>
                    </m:oMath>
                  </m:oMathPara>
                </a14:m>
                <a:endParaRPr lang="en-US" dirty="0"/>
              </a:p>
              <a:p>
                <a:endParaRPr lang="en-US" dirty="0"/>
              </a:p>
              <a:p>
                <a:r>
                  <a:rPr lang="en-US" dirty="0"/>
                  <a:t>The operator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sup>
                    </m:sSup>
                  </m:oMath>
                </a14:m>
                <a:r>
                  <a:rPr lang="en-US" dirty="0"/>
                  <a:t> is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𝛾</m:t>
                    </m:r>
                  </m:oMath>
                </a14:m>
                <a:r>
                  <a:rPr lang="en-US" dirty="0"/>
                  <a:t>-contracting with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</m:oMath>
                </a14:m>
                <a:r>
                  <a:rPr lang="en-US" dirty="0"/>
                  <a:t> as its fixed point: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d>
                            <m:dPr>
                              <m:begChr m:val="‖"/>
                              <m:endChr m:val="‖"/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</m:e>
                                <m:sup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𝜋</m:t>
                                  </m:r>
                                </m:sup>
                              </m:sSup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𝑣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𝜋</m:t>
                                  </m:r>
                                </m:sub>
                              </m:s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sSup>
                                <m:sSup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</m:e>
                                <m:sup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𝜋</m:t>
                                  </m:r>
                                </m:sup>
                              </m:s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e>
                          </m:d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∞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≤ 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𝛾</m:t>
                          </m:r>
                          <m:d>
                            <m:dPr>
                              <m:begChr m:val="‖"/>
                              <m:endChr m:val="‖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𝑣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𝜋</m:t>
                                  </m:r>
                                </m:sub>
                              </m:s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e>
                          </m:d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∞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  </m:t>
                      </m:r>
                      <m:r>
                        <m:rPr>
                          <m:nor/>
                        </m:rPr>
                        <a:rPr lang="en-US" b="0" i="0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nor/>
                        </m:rPr>
                        <a:rPr lang="en-US" b="0" i="0" smtClean="0">
                          <a:latin typeface="Cambria Math" panose="02040503050406030204" pitchFamily="18" charset="0"/>
                        </a:rPr>
                        <m:t>for</m:t>
                      </m:r>
                      <m:r>
                        <m:rPr>
                          <m:nor/>
                        </m:rPr>
                        <a:rPr lang="en-US" b="0" i="0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nor/>
                        </m:rPr>
                        <a:rPr lang="en-US" b="0" i="0" smtClean="0">
                          <a:latin typeface="Cambria Math" panose="02040503050406030204" pitchFamily="18" charset="0"/>
                        </a:rPr>
                        <m:t>any</m:t>
                      </m:r>
                      <m:r>
                        <m:rPr>
                          <m:nor/>
                        </m:rPr>
                        <a:rPr lang="en-US" b="0" i="0" smtClean="0">
                          <a:latin typeface="Cambria Math" panose="02040503050406030204" pitchFamily="18" charset="0"/>
                        </a:rPr>
                        <m:t>  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𝛾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&lt;1</m:t>
                      </m:r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FC648E6-02D2-1E64-6265-DB7D1C1179F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397331"/>
                <a:ext cx="8581869" cy="2942321"/>
              </a:xfrm>
              <a:blipFill>
                <a:blip r:embed="rId2"/>
                <a:stretch>
                  <a:fillRect l="-995" t="-4555" b="-82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Speech Bubble: Rectangle with Corners Rounded 3">
                <a:extLst>
                  <a:ext uri="{FF2B5EF4-FFF2-40B4-BE49-F238E27FC236}">
                    <a16:creationId xmlns:a16="http://schemas.microsoft.com/office/drawing/2014/main" id="{5515D800-FF17-B0C5-3048-BCF34084F051}"/>
                  </a:ext>
                </a:extLst>
              </p:cNvPr>
              <p:cNvSpPr/>
              <p:nvPr/>
            </p:nvSpPr>
            <p:spPr>
              <a:xfrm>
                <a:off x="955194" y="5312558"/>
                <a:ext cx="3776262" cy="1214547"/>
              </a:xfrm>
              <a:prstGeom prst="wedgeRoundRectCallout">
                <a:avLst>
                  <a:gd name="adj1" fmla="val 17160"/>
                  <a:gd name="adj2" fmla="val -122557"/>
                  <a:gd name="adj3" fmla="val 16667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This means the largest difference (infinity norm) will be reduced, leading to convergence of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𝑣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</m:oMath>
                </a14:m>
                <a:r>
                  <a:rPr lang="en-US" dirty="0"/>
                  <a:t> when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sup>
                    </m:sSup>
                  </m:oMath>
                </a14:m>
                <a:r>
                  <a:rPr lang="en-US" dirty="0"/>
                  <a:t> is applied many times.</a:t>
                </a:r>
              </a:p>
            </p:txBody>
          </p:sp>
        </mc:Choice>
        <mc:Fallback xmlns="">
          <p:sp>
            <p:nvSpPr>
              <p:cNvPr id="4" name="Speech Bubble: Rectangle with Corners Rounded 3">
                <a:extLst>
                  <a:ext uri="{FF2B5EF4-FFF2-40B4-BE49-F238E27FC236}">
                    <a16:creationId xmlns:a16="http://schemas.microsoft.com/office/drawing/2014/main" id="{5515D800-FF17-B0C5-3048-BCF34084F05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5194" y="5312558"/>
                <a:ext cx="3776262" cy="1214547"/>
              </a:xfrm>
              <a:prstGeom prst="wedgeRoundRectCallout">
                <a:avLst>
                  <a:gd name="adj1" fmla="val 17160"/>
                  <a:gd name="adj2" fmla="val -122557"/>
                  <a:gd name="adj3" fmla="val 16667"/>
                </a:avLst>
              </a:prstGeom>
              <a:blipFill>
                <a:blip r:embed="rId3"/>
                <a:stretch>
                  <a:fillRect b="-371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Speech Bubble: Rectangle with Corners Rounded 4">
            <a:extLst>
              <a:ext uri="{FF2B5EF4-FFF2-40B4-BE49-F238E27FC236}">
                <a16:creationId xmlns:a16="http://schemas.microsoft.com/office/drawing/2014/main" id="{32C5A7CC-4FA8-C473-6FA9-CC4B56CECEA4}"/>
              </a:ext>
            </a:extLst>
          </p:cNvPr>
          <p:cNvSpPr/>
          <p:nvPr/>
        </p:nvSpPr>
        <p:spPr>
          <a:xfrm>
            <a:off x="7697390" y="5278327"/>
            <a:ext cx="3363494" cy="1214547"/>
          </a:xfrm>
          <a:prstGeom prst="wedgeRoundRectCallout">
            <a:avLst>
              <a:gd name="adj1" fmla="val -46485"/>
              <a:gd name="adj2" fmla="val -122726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Convergence is only guaranteed if the discount factor is strictly smaller than 1!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EE207778-6483-F070-5EC6-C6BD88D3F8AA}"/>
                  </a:ext>
                </a:extLst>
              </p:cNvPr>
              <p:cNvSpPr txBox="1"/>
              <p:nvPr/>
            </p:nvSpPr>
            <p:spPr>
              <a:xfrm>
                <a:off x="9420069" y="2245216"/>
                <a:ext cx="2227288" cy="2084225"/>
              </a:xfrm>
              <a:prstGeom prst="rect">
                <a:avLst/>
              </a:prstGeom>
            </p:spPr>
            <p:style>
              <a:lnRef idx="2">
                <a:schemeClr val="accent3"/>
              </a:lnRef>
              <a:fillRef idx="1">
                <a:schemeClr val="lt1"/>
              </a:fillRef>
              <a:effectRef idx="0">
                <a:schemeClr val="accent3"/>
              </a:effectRef>
              <a:fontRef idx="minor">
                <a:schemeClr val="dk1"/>
              </a:fontRef>
            </p:style>
            <p:txBody>
              <a:bodyPr wrap="square" rtlCol="0">
                <a:spAutoFit/>
              </a:bodyPr>
              <a:lstStyle/>
              <a:p>
                <a:r>
                  <a:rPr lang="en-US" sz="1600" dirty="0"/>
                  <a:t>Notation:</a:t>
                </a:r>
              </a:p>
              <a:p>
                <a14:m>
                  <m:oMath xmlns:m="http://schemas.openxmlformats.org/officeDocument/2006/math">
                    <m:sSup>
                      <m:sSupPr>
                        <m:ctrlPr>
                          <a:rPr lang="en-US" sz="16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p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𝜋</m:t>
                        </m:r>
                      </m:sup>
                    </m:sSup>
                    <m:r>
                      <a:rPr lang="en-US" sz="1600" i="1">
                        <a:latin typeface="Cambria Math" panose="02040503050406030204" pitchFamily="18" charset="0"/>
                      </a:rPr>
                      <m:t>𝑣</m:t>
                    </m:r>
                    <m:r>
                      <a:rPr lang="en-US" sz="1600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600" dirty="0"/>
                  <a:t> is the new value function after applying the operator. We could write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6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sz="16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p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sup>
                    </m:sSup>
                    <m:d>
                      <m:dPr>
                        <m:ctrlPr>
                          <a:rPr lang="en-US" sz="16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𝑣</m:t>
                            </m:r>
                          </m:e>
                          <m:sub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e>
                    </m:d>
                  </m:oMath>
                </a14:m>
                <a:endParaRPr lang="en-US" sz="1600" b="0" dirty="0"/>
              </a:p>
              <a:p>
                <a:endParaRPr lang="en-US" sz="1600" dirty="0"/>
              </a:p>
              <a:p>
                <a:r>
                  <a:rPr lang="en-US" sz="1600" dirty="0"/>
                  <a:t>Note: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𝜋</m:t>
                          </m:r>
                        </m:sub>
                      </m:sSub>
                      <m:r>
                        <a:rPr lang="en-US" sz="1600" i="1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sz="16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p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𝜋</m:t>
                          </m:r>
                        </m:sup>
                      </m:sSup>
                      <m:d>
                        <m:dPr>
                          <m:ctrlPr>
                            <a:rPr lang="en-US" sz="1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16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600" i="1"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e>
                            <m:sub>
                              <m:r>
                                <a:rPr lang="en-US" sz="1600" b="0" i="1" smtClean="0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sz="1600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EE207778-6483-F070-5EC6-C6BD88D3F8A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420069" y="2245216"/>
                <a:ext cx="2227288" cy="2084225"/>
              </a:xfrm>
              <a:prstGeom prst="rect">
                <a:avLst/>
              </a:prstGeom>
              <a:blipFill>
                <a:blip r:embed="rId4"/>
                <a:stretch>
                  <a:fillRect l="-1084" t="-58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48570250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6978EC-0ABA-0841-5F8F-F9F724EE99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Alg. Iterative Policy Evaluation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E571EE0-04FA-AFEF-D4C0-742C0CA1C62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3441" y="1614234"/>
            <a:ext cx="8545118" cy="3629532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3" name="Speech Bubble: Rectangle with Corners Rounded 2">
                <a:extLst>
                  <a:ext uri="{FF2B5EF4-FFF2-40B4-BE49-F238E27FC236}">
                    <a16:creationId xmlns:a16="http://schemas.microsoft.com/office/drawing/2014/main" id="{4FDB9947-9818-7FF7-6A8C-58889DDE4BD2}"/>
                  </a:ext>
                </a:extLst>
              </p:cNvPr>
              <p:cNvSpPr/>
              <p:nvPr/>
            </p:nvSpPr>
            <p:spPr>
              <a:xfrm>
                <a:off x="7838712" y="3329532"/>
                <a:ext cx="1947462" cy="593313"/>
              </a:xfrm>
              <a:prstGeom prst="wedgeRoundRectCallout">
                <a:avLst>
                  <a:gd name="adj1" fmla="val -76118"/>
                  <a:gd name="adj2" fmla="val 99041"/>
                  <a:gd name="adj3" fmla="val 16667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400" dirty="0"/>
                  <a:t>Bellman operator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p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sup>
                    </m:sSup>
                  </m:oMath>
                </a14:m>
                <a:r>
                  <a:rPr lang="en-US" sz="1400" dirty="0"/>
                  <a:t>: </a:t>
                </a:r>
                <a:br>
                  <a:rPr lang="en-US" sz="1400" dirty="0"/>
                </a:b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𝑉</m:t>
                          </m:r>
                        </m:e>
                        <m:sub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r>
                        <a:rPr lang="en-US" sz="1400" i="1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p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𝜋</m:t>
                          </m:r>
                        </m:sup>
                      </m:sSup>
                      <m:sSub>
                        <m:sSubPr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𝑉</m:t>
                          </m:r>
                        </m:e>
                        <m:sub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</m:sSub>
                    </m:oMath>
                  </m:oMathPara>
                </a14:m>
                <a:endParaRPr lang="en-US" sz="1400" dirty="0"/>
              </a:p>
            </p:txBody>
          </p:sp>
        </mc:Choice>
        <mc:Fallback xmlns="">
          <p:sp>
            <p:nvSpPr>
              <p:cNvPr id="3" name="Speech Bubble: Rectangle with Corners Rounded 2">
                <a:extLst>
                  <a:ext uri="{FF2B5EF4-FFF2-40B4-BE49-F238E27FC236}">
                    <a16:creationId xmlns:a16="http://schemas.microsoft.com/office/drawing/2014/main" id="{4FDB9947-9818-7FF7-6A8C-58889DDE4BD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38712" y="3329532"/>
                <a:ext cx="1947462" cy="593313"/>
              </a:xfrm>
              <a:prstGeom prst="wedgeRoundRectCallout">
                <a:avLst>
                  <a:gd name="adj1" fmla="val -76118"/>
                  <a:gd name="adj2" fmla="val 99041"/>
                  <a:gd name="adj3" fmla="val 16667"/>
                </a:avLst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Speech Bubble: Rectangle with Corners Rounded 5">
                <a:extLst>
                  <a:ext uri="{FF2B5EF4-FFF2-40B4-BE49-F238E27FC236}">
                    <a16:creationId xmlns:a16="http://schemas.microsoft.com/office/drawing/2014/main" id="{A1E667CB-0634-45C9-45D9-EAFB5DCCC40D}"/>
                  </a:ext>
                </a:extLst>
              </p:cNvPr>
              <p:cNvSpPr/>
              <p:nvPr/>
            </p:nvSpPr>
            <p:spPr>
              <a:xfrm>
                <a:off x="3699481" y="5381209"/>
                <a:ext cx="3608738" cy="1111665"/>
              </a:xfrm>
              <a:prstGeom prst="wedgeRoundRectCallout">
                <a:avLst>
                  <a:gd name="adj1" fmla="val -35573"/>
                  <a:gd name="adj2" fmla="val -112651"/>
                  <a:gd name="adj3" fmla="val 16667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400" dirty="0"/>
                  <a:t>Stop when value function changes little:</a:t>
                </a:r>
                <a:br>
                  <a:rPr lang="en-US" sz="1400" b="0" i="0" dirty="0">
                    <a:latin typeface="Cambria Math" panose="02040503050406030204" pitchFamily="18" charset="0"/>
                  </a:rPr>
                </a:b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b="0" i="0" smtClean="0">
                          <a:latin typeface="Cambria Math" panose="02040503050406030204" pitchFamily="18" charset="0"/>
                        </a:rPr>
                        <m:t> </m:t>
                      </m:r>
                      <m:sSub>
                        <m:sSubPr>
                          <m:ctrlPr>
                            <a:rPr lang="en-US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d>
                            <m:dPr>
                              <m:begChr m:val="‖"/>
                              <m:endChr m:val="‖"/>
                              <m:ctrlPr>
                                <a:rPr lang="en-US" sz="140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en-US" sz="1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1400" b="0" i="1" smtClean="0"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</m:e>
                                <m:sup>
                                  <m:r>
                                    <a:rPr lang="en-US" sz="1400" b="0" i="1" smtClean="0">
                                      <a:latin typeface="Cambria Math" panose="02040503050406030204" pitchFamily="18" charset="0"/>
                                    </a:rPr>
                                    <m:t>𝜋</m:t>
                                  </m:r>
                                </m:sup>
                              </m:sSup>
                              <m:sSub>
                                <m:sSubPr>
                                  <m:ctrlPr>
                                    <a:rPr lang="en-US" sz="1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400" b="0" i="1" smtClean="0">
                                      <a:latin typeface="Cambria Math" panose="02040503050406030204" pitchFamily="18" charset="0"/>
                                    </a:rPr>
                                    <m:t>𝑉</m:t>
                                  </m:r>
                                </m:e>
                                <m:sub>
                                  <m:r>
                                    <a:rPr lang="en-US" sz="1400" b="0" i="1" smtClean="0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  <m:r>
                                <a:rPr lang="en-US" sz="1400" b="0" i="1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en-US" sz="1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400" b="0" i="1" smtClean="0">
                                      <a:latin typeface="Cambria Math" panose="02040503050406030204" pitchFamily="18" charset="0"/>
                                    </a:rPr>
                                    <m:t>𝑉</m:t>
                                  </m:r>
                                </m:e>
                                <m:sub>
                                  <m:r>
                                    <a:rPr lang="en-US" sz="1400" b="0" i="1" smtClean="0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</m:e>
                          </m:d>
                        </m:e>
                        <m:sub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∞</m:t>
                          </m:r>
                        </m:sub>
                      </m:sSub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&lt;</m:t>
                      </m:r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𝜃</m:t>
                      </m:r>
                    </m:oMath>
                  </m:oMathPara>
                </a14:m>
                <a:endParaRPr lang="en-US" sz="1400" dirty="0"/>
              </a:p>
              <a:p>
                <a:pPr algn="ctr"/>
                <a:r>
                  <a:rPr lang="en-US" sz="1400" dirty="0"/>
                  <a:t>It can be shown that the error is bounded: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d>
                            <m:dPr>
                              <m:begChr m:val="‖"/>
                              <m:endChr m:val="‖"/>
                              <m:ctrlPr>
                                <a:rPr lang="en-US" sz="140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1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400" b="0" i="1" smtClean="0">
                                      <a:latin typeface="Cambria Math" panose="02040503050406030204" pitchFamily="18" charset="0"/>
                                    </a:rPr>
                                    <m:t>𝑉</m:t>
                                  </m:r>
                                </m:e>
                                <m:sub>
                                  <m:r>
                                    <a:rPr lang="en-US" sz="1400" b="0" i="1" smtClean="0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  <m:r>
                                <a:rPr lang="en-US" sz="1400" b="0" i="1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en-US" sz="1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400" b="0" i="1" smtClean="0">
                                      <a:latin typeface="Cambria Math" panose="02040503050406030204" pitchFamily="18" charset="0"/>
                                    </a:rPr>
                                    <m:t>𝑣</m:t>
                                  </m:r>
                                </m:e>
                                <m:sub>
                                  <m:r>
                                    <a:rPr lang="en-US" sz="1400" b="0" i="1" smtClean="0">
                                      <a:latin typeface="Cambria Math" panose="02040503050406030204" pitchFamily="18" charset="0"/>
                                    </a:rPr>
                                    <m:t>𝜋</m:t>
                                  </m:r>
                                </m:sub>
                              </m:sSub>
                            </m:e>
                          </m:d>
                        </m:e>
                        <m:sub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∞</m:t>
                          </m:r>
                        </m:sub>
                      </m:sSub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&lt;</m:t>
                      </m:r>
                      <m:f>
                        <m:fPr>
                          <m:ctrlPr>
                            <a:rPr lang="en-US" sz="1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𝜃</m:t>
                          </m:r>
                        </m:num>
                        <m:den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1−</m:t>
                          </m:r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𝛾</m:t>
                          </m:r>
                        </m:den>
                      </m:f>
                    </m:oMath>
                  </m:oMathPara>
                </a14:m>
                <a:endParaRPr lang="en-US" sz="1400" dirty="0"/>
              </a:p>
            </p:txBody>
          </p:sp>
        </mc:Choice>
        <mc:Fallback xmlns="">
          <p:sp>
            <p:nvSpPr>
              <p:cNvPr id="6" name="Speech Bubble: Rectangle with Corners Rounded 5">
                <a:extLst>
                  <a:ext uri="{FF2B5EF4-FFF2-40B4-BE49-F238E27FC236}">
                    <a16:creationId xmlns:a16="http://schemas.microsoft.com/office/drawing/2014/main" id="{A1E667CB-0634-45C9-45D9-EAFB5DCCC40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99481" y="5381209"/>
                <a:ext cx="3608738" cy="1111665"/>
              </a:xfrm>
              <a:prstGeom prst="wedgeRoundRectCallout">
                <a:avLst>
                  <a:gd name="adj1" fmla="val -35573"/>
                  <a:gd name="adj2" fmla="val -112651"/>
                  <a:gd name="adj3" fmla="val 16667"/>
                </a:avLst>
              </a:prstGeom>
              <a:blipFill>
                <a:blip r:embed="rId4"/>
                <a:stretch>
                  <a:fillRect b="-166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Speech Bubble: Rectangle with Corners Rounded 6">
                <a:extLst>
                  <a:ext uri="{FF2B5EF4-FFF2-40B4-BE49-F238E27FC236}">
                    <a16:creationId xmlns:a16="http://schemas.microsoft.com/office/drawing/2014/main" id="{DC293BB5-29C7-EBCB-3BD0-962870DC2F43}"/>
                  </a:ext>
                </a:extLst>
              </p:cNvPr>
              <p:cNvSpPr/>
              <p:nvPr/>
            </p:nvSpPr>
            <p:spPr>
              <a:xfrm>
                <a:off x="8242397" y="827541"/>
                <a:ext cx="1947462" cy="593313"/>
              </a:xfrm>
              <a:prstGeom prst="wedgeRoundRectCallout">
                <a:avLst>
                  <a:gd name="adj1" fmla="val -99057"/>
                  <a:gd name="adj2" fmla="val 119041"/>
                  <a:gd name="adj3" fmla="val 16667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400" b="0" dirty="0"/>
                  <a:t>Notation: </a:t>
                </a:r>
                <a14:m>
                  <m:oMath xmlns:m="http://schemas.openxmlformats.org/officeDocument/2006/math"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𝑉</m:t>
                    </m:r>
                  </m:oMath>
                </a14:m>
                <a:r>
                  <a:rPr lang="en-US" sz="1400" dirty="0"/>
                  <a:t> is the tabular estimate of </a:t>
                </a:r>
                <a14:m>
                  <m:oMath xmlns:m="http://schemas.openxmlformats.org/officeDocument/2006/math"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𝑣</m:t>
                    </m:r>
                  </m:oMath>
                </a14:m>
                <a:endParaRPr lang="en-US" sz="1400" dirty="0"/>
              </a:p>
            </p:txBody>
          </p:sp>
        </mc:Choice>
        <mc:Fallback xmlns="">
          <p:sp>
            <p:nvSpPr>
              <p:cNvPr id="7" name="Speech Bubble: Rectangle with Corners Rounded 6">
                <a:extLst>
                  <a:ext uri="{FF2B5EF4-FFF2-40B4-BE49-F238E27FC236}">
                    <a16:creationId xmlns:a16="http://schemas.microsoft.com/office/drawing/2014/main" id="{DC293BB5-29C7-EBCB-3BD0-962870DC2F4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42397" y="827541"/>
                <a:ext cx="1947462" cy="593313"/>
              </a:xfrm>
              <a:prstGeom prst="wedgeRoundRectCallout">
                <a:avLst>
                  <a:gd name="adj1" fmla="val -99057"/>
                  <a:gd name="adj2" fmla="val 119041"/>
                  <a:gd name="adj3" fmla="val 16667"/>
                </a:avLst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Rectangle: Rounded Corners 7">
                <a:extLst>
                  <a:ext uri="{FF2B5EF4-FFF2-40B4-BE49-F238E27FC236}">
                    <a16:creationId xmlns:a16="http://schemas.microsoft.com/office/drawing/2014/main" id="{E2583962-6C30-E802-8782-E155488FA659}"/>
                  </a:ext>
                </a:extLst>
              </p:cNvPr>
              <p:cNvSpPr/>
              <p:nvPr/>
            </p:nvSpPr>
            <p:spPr>
              <a:xfrm>
                <a:off x="8242397" y="5381209"/>
                <a:ext cx="3212034" cy="1040531"/>
              </a:xfrm>
              <a:prstGeom prst="roundRect">
                <a:avLst/>
              </a:prstGeom>
            </p:spPr>
            <p:style>
              <a:lnRef idx="2">
                <a:schemeClr val="accent2">
                  <a:shade val="15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600" dirty="0"/>
                  <a:t>If we stop policy evaluation early (after </a:t>
                </a:r>
                <a14:m>
                  <m:oMath xmlns:m="http://schemas.openxmlformats.org/officeDocument/2006/math">
                    <m:r>
                      <a:rPr lang="en-US" sz="1600" i="1" dirty="0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sz="1600" dirty="0"/>
                  <a:t> iterations) then it is called </a:t>
                </a:r>
                <a:r>
                  <a:rPr lang="en-US" sz="1600" b="1" dirty="0"/>
                  <a:t>modified policy iteration </a:t>
                </a:r>
                <a:r>
                  <a:rPr lang="en-US" sz="1600" dirty="0"/>
                  <a:t>and we end up with an approximation.</a:t>
                </a:r>
                <a:endParaRPr lang="en-US" sz="1600" b="1" dirty="0"/>
              </a:p>
            </p:txBody>
          </p:sp>
        </mc:Choice>
        <mc:Fallback xmlns="">
          <p:sp>
            <p:nvSpPr>
              <p:cNvPr id="8" name="Rectangle: Rounded Corners 7">
                <a:extLst>
                  <a:ext uri="{FF2B5EF4-FFF2-40B4-BE49-F238E27FC236}">
                    <a16:creationId xmlns:a16="http://schemas.microsoft.com/office/drawing/2014/main" id="{E2583962-6C30-E802-8782-E155488FA65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42397" y="5381209"/>
                <a:ext cx="3212034" cy="1040531"/>
              </a:xfrm>
              <a:prstGeom prst="roundRect">
                <a:avLst/>
              </a:prstGeom>
              <a:blipFill>
                <a:blip r:embed="rId6"/>
                <a:stretch>
                  <a:fillRect t="-2312" r="-189" b="-809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0910455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6" grpId="0" animBg="1"/>
      <p:bldP spid="8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8CF1CC-10CD-B582-2B11-0A66BEC5A9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64054114-96CE-D97E-B075-31C454DDAC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Policy Iteration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762B658-5985-EDF0-1906-5FE3656E56F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Find the optimal policy based on the environment model.</a:t>
            </a:r>
          </a:p>
        </p:txBody>
      </p:sp>
    </p:spTree>
    <p:extLst>
      <p:ext uri="{BB962C8B-B14F-4D97-AF65-F5344CB8AC3E}">
        <p14:creationId xmlns:p14="http://schemas.microsoft.com/office/powerpoint/2010/main" val="377724807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7BFCE80A-5561-7918-7BB7-41058FE7D7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Policy Improvement and the Greedy Policy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1A53698B-84CA-6CEC-1390-2BE83DC5515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77500" lnSpcReduction="20000"/>
              </a:bodyPr>
              <a:lstStyle/>
              <a:p>
                <a:r>
                  <a:rPr lang="en-US" b="1" dirty="0"/>
                  <a:t>Goal</a:t>
                </a:r>
                <a:r>
                  <a:rPr lang="en-US" dirty="0"/>
                  <a:t>: Find a better policy.</a:t>
                </a:r>
              </a:p>
              <a:p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  <a:p>
                <a:r>
                  <a:rPr lang="en-US" b="1" dirty="0"/>
                  <a:t>Policy improvement</a:t>
                </a:r>
                <a:r>
                  <a:rPr lang="en-US" dirty="0"/>
                  <a:t>: creating a new policy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𝜋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r>
                  <a:rPr lang="en-US" dirty="0"/>
                  <a:t> by choosing in each state the best (aka greedy) action with respect to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</m:d>
                  </m:oMath>
                </a14:m>
                <a:r>
                  <a:rPr lang="en-US" dirty="0"/>
                  <a:t> will lead to the larges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sSup>
                          <m:s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𝜋</m:t>
                            </m:r>
                          </m:e>
                          <m:sup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</m:sub>
                    </m:sSub>
                  </m:oMath>
                </a14:m>
                <a:r>
                  <a:rPr lang="en-US" dirty="0"/>
                  <a:t>:</a:t>
                </a:r>
              </a:p>
              <a:p>
                <a:endParaRPr lang="en-US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𝜋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)= </m:t>
                      </m:r>
                      <m:func>
                        <m:func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  <m:t>argmax</m:t>
                              </m:r>
                            </m:e>
                            <m:lim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lim>
                          </m:limLow>
                        </m:fName>
                        <m:e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</m:oMath>
                  </m:oMathPara>
                </a14:m>
                <a:endParaRPr lang="en-US" dirty="0"/>
              </a:p>
              <a:p>
                <a:r>
                  <a:rPr lang="en-US" b="1" dirty="0"/>
                  <a:t>Guarantee</a:t>
                </a:r>
                <a:r>
                  <a:rPr lang="en-US" dirty="0"/>
                  <a:t>: This </a:t>
                </a:r>
                <a:r>
                  <a:rPr lang="en-US" b="1" dirty="0"/>
                  <a:t>greedy policy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𝜋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</m:oMath>
                </a14:m>
                <a:r>
                  <a:rPr lang="en-US" dirty="0"/>
                  <a:t> is strictly better unless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dirty="0"/>
                  <a:t> is already optimal.</a:t>
                </a:r>
              </a:p>
            </p:txBody>
          </p:sp>
        </mc:Choice>
        <mc:Fallback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1A53698B-84CA-6CEC-1390-2BE83DC5515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696" t="-255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BFC66EED-553B-0E0F-6F59-A9AF7183D9BE}"/>
                  </a:ext>
                </a:extLst>
              </p:cNvPr>
              <p:cNvSpPr txBox="1"/>
              <p:nvPr/>
            </p:nvSpPr>
            <p:spPr>
              <a:xfrm>
                <a:off x="2033107" y="1949537"/>
                <a:ext cx="8125786" cy="1366721"/>
              </a:xfrm>
              <a:prstGeom prst="rect">
                <a:avLst/>
              </a:prstGeom>
            </p:spPr>
            <p:style>
              <a:lnRef idx="2">
                <a:schemeClr val="accent2"/>
              </a:lnRef>
              <a:fillRef idx="1">
                <a:schemeClr val="lt1"/>
              </a:fillRef>
              <a:effectRef idx="0">
                <a:schemeClr val="accent2"/>
              </a:effectRef>
              <a:fontRef idx="minor">
                <a:schemeClr val="dk1"/>
              </a:fontRef>
            </p:style>
            <p:txBody>
              <a:bodyPr wrap="square">
                <a:spAutoFit/>
              </a:bodyPr>
              <a:lstStyle/>
              <a:p>
                <a:pPr algn="ctr"/>
                <a:r>
                  <a:rPr lang="en-US" sz="2000" b="1" dirty="0"/>
                  <a:t>Policy Improvement Theorem</a:t>
                </a:r>
              </a:p>
              <a:p>
                <a:endParaRPr lang="en-US" sz="2000" dirty="0"/>
              </a:p>
              <a:p>
                <a:r>
                  <a:rPr lang="en-US" sz="2000" dirty="0"/>
                  <a:t>If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  <m:d>
                      <m:d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, </m:t>
                        </m:r>
                        <m:sSup>
                          <m:sSupPr>
                            <m:ctrlP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𝜋</m:t>
                            </m:r>
                          </m:e>
                          <m:sup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  <m:d>
                          <m:dPr>
                            <m:ctrlP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</m:d>
                      </m:e>
                    </m:d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≥</m:t>
                    </m:r>
                    <m:sSub>
                      <m:sSub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  <m:d>
                      <m:d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  ∀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𝒮</m:t>
                    </m:r>
                  </m:oMath>
                </a14:m>
                <a:r>
                  <a:rPr lang="en-US" sz="2000" dirty="0"/>
                  <a:t> </a:t>
                </a:r>
              </a:p>
              <a:p>
                <a:pPr marL="0" indent="0">
                  <a:buNone/>
                </a:pPr>
                <a:r>
                  <a:rPr lang="en-US" sz="2000" dirty="0"/>
                  <a:t>then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𝜋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r>
                  <a:rPr lang="en-US" sz="2000" dirty="0"/>
                  <a:t> is a least as good as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sz="2000" dirty="0"/>
                  <a:t>, i.e.,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sSup>
                          <m:sSupPr>
                            <m:ctrlP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𝜋</m:t>
                            </m:r>
                          </m:e>
                          <m:sup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</m:sub>
                    </m:sSub>
                    <m:d>
                      <m:d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≥</m:t>
                    </m:r>
                    <m:sSub>
                      <m:sSub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  <m:d>
                      <m:d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  ∀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𝒮</m:t>
                    </m:r>
                  </m:oMath>
                </a14:m>
                <a:r>
                  <a:rPr lang="en-US" sz="2000" dirty="0"/>
                  <a:t>. </a:t>
                </a:r>
              </a:p>
            </p:txBody>
          </p:sp>
        </mc:Choice>
        <mc:Fallback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BFC66EED-553B-0E0F-6F59-A9AF7183D9B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33107" y="1949537"/>
                <a:ext cx="8125786" cy="1366721"/>
              </a:xfrm>
              <a:prstGeom prst="rect">
                <a:avLst/>
              </a:prstGeom>
              <a:blipFill>
                <a:blip r:embed="rId3"/>
                <a:stretch>
                  <a:fillRect l="-749" t="-2203" b="-660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8716358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05F9D9-4282-B818-FCEC-0D021362CC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Policy Iteration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138641C-75BB-03D4-C701-9095E6E26D1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397330"/>
                <a:ext cx="8771389" cy="1383619"/>
              </a:xfrm>
            </p:spPr>
            <p:txBody>
              <a:bodyPr>
                <a:normAutofit fontScale="85000" lnSpcReduction="10000"/>
              </a:bodyPr>
              <a:lstStyle/>
              <a:p>
                <a:pPr marL="0" indent="0">
                  <a:buNone/>
                </a:pPr>
                <a:r>
                  <a:rPr lang="en-US" b="1" dirty="0"/>
                  <a:t>Idea</a:t>
                </a:r>
                <a:r>
                  <a:rPr lang="en-US" dirty="0"/>
                  <a:t>: Create a sequence of monotonically improving policies:</a:t>
                </a:r>
              </a:p>
              <a:p>
                <a:endParaRPr lang="en-US" dirty="0"/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𝜋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groupChr>
                        <m:groupChrPr>
                          <m:chr m:val="→"/>
                          <m:vertJc m:val="bot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groupChrPr>
                        <m:e>
                          <m:r>
                            <m:rPr>
                              <m:brk m:alnAt="2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</m:groupCh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𝑜</m:t>
                              </m:r>
                            </m:sub>
                          </m:sSub>
                        </m:sub>
                      </m:sSub>
                      <m:groupChr>
                        <m:groupChrPr>
                          <m:chr m:val="→"/>
                          <m:vertJc m:val="bot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groupChrPr>
                        <m:e>
                          <m:r>
                            <m:rPr>
                              <m:brk m:alnAt="2"/>
                            </m:rPr>
                            <a:rPr lang="en-US" i="1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</m:groupCh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𝜋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groupChr>
                        <m:groupChrPr>
                          <m:chr m:val="→"/>
                          <m:vertJc m:val="bot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groupChrPr>
                        <m:e>
                          <m:r>
                            <m:rPr>
                              <m:brk m:alnAt="2"/>
                            </m:rPr>
                            <a:rPr lang="en-US" i="1"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</m:groupCh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sub>
                      </m:sSub>
                      <m:groupChr>
                        <m:groupChrPr>
                          <m:chr m:val="→"/>
                          <m:vertJc m:val="bot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groupChrPr>
                        <m:e>
                          <m:r>
                            <m:rPr>
                              <m:brk m:alnAt="2"/>
                            </m:rPr>
                            <a:rPr lang="en-US" i="1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</m:groupCh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𝜋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groupChr>
                        <m:groupChrPr>
                          <m:chr m:val="→"/>
                          <m:vertJc m:val="bot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groupChrPr>
                        <m:e>
                          <m:r>
                            <m:rPr>
                              <m:brk m:alnAt="2"/>
                            </m:rPr>
                            <a:rPr lang="en-US" i="1"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</m:groupCh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sub>
                      </m:sSub>
                      <m:groupChr>
                        <m:groupChrPr>
                          <m:chr m:val="→"/>
                          <m:vertJc m:val="bot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groupChrPr>
                        <m:e>
                          <m:r>
                            <m:rPr>
                              <m:brk m:alnAt="2"/>
                            </m:rPr>
                            <a:rPr lang="en-US" i="1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</m:groupCh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𝜋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groupChr>
                        <m:groupChrPr>
                          <m:chr m:val="→"/>
                          <m:vertJc m:val="bot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groupChrPr>
                        <m:e>
                          <m:r>
                            <m:rPr>
                              <m:brk m:alnAt="2"/>
                            </m:rPr>
                            <a:rPr lang="en-US" i="1"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</m:groupCh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</m:sub>
                      </m:sSub>
                      <m:groupChr>
                        <m:groupChrPr>
                          <m:chr m:val="→"/>
                          <m:vertJc m:val="bot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groupChrPr>
                        <m:e>
                          <m:r>
                            <m:rPr>
                              <m:brk m:alnAt="2"/>
                            </m:rPr>
                            <a:rPr lang="en-US" i="1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</m:groupCh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…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𝜋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</m:sub>
                      </m:sSub>
                      <m:groupChr>
                        <m:groupChrPr>
                          <m:chr m:val="→"/>
                          <m:vertJc m:val="bot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groupChrPr>
                        <m:e>
                          <m:r>
                            <m:rPr>
                              <m:brk m:alnAt="2"/>
                            </m:rPr>
                            <a:rPr lang="en-US" i="1"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</m:groupCh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138641C-75BB-03D4-C701-9095E6E26D1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397330"/>
                <a:ext cx="8771389" cy="1383619"/>
              </a:xfrm>
              <a:blipFill>
                <a:blip r:embed="rId2"/>
                <a:stretch>
                  <a:fillRect l="-1113" t="-793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E0EB2B97-5320-C668-434C-A64C12BB5DD6}"/>
                  </a:ext>
                </a:extLst>
              </p:cNvPr>
              <p:cNvSpPr txBox="1"/>
              <p:nvPr/>
            </p:nvSpPr>
            <p:spPr>
              <a:xfrm>
                <a:off x="9230142" y="2098313"/>
                <a:ext cx="2599595" cy="753924"/>
              </a:xfrm>
              <a:prstGeom prst="rect">
                <a:avLst/>
              </a:prstGeom>
            </p:spPr>
            <p:style>
              <a:lnRef idx="2">
                <a:schemeClr val="accent2">
                  <a:shade val="15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groupChr>
                      <m:groupChrPr>
                        <m:chr m:val="→"/>
                        <m:vertJc m:val="bot"/>
                        <m:ctrlPr>
                          <a:rPr lang="en-US" sz="1600" b="0" i="1" smtClean="0">
                            <a:latin typeface="Cambria Math" panose="02040503050406030204" pitchFamily="18" charset="0"/>
                          </a:rPr>
                        </m:ctrlPr>
                      </m:groupChrPr>
                      <m:e>
                        <m:r>
                          <m:rPr>
                            <m:brk m:alnAt="2"/>
                          </m:rPr>
                          <a:rPr lang="en-US" sz="1600" b="0" i="1" smtClean="0">
                            <a:latin typeface="Cambria Math" panose="02040503050406030204" pitchFamily="18" charset="0"/>
                          </a:rPr>
                          <m:t>𝐸</m:t>
                        </m:r>
                      </m:e>
                    </m:groupChr>
                  </m:oMath>
                </a14:m>
                <a:r>
                  <a:rPr lang="en-US" sz="1600" b="0" i="1" dirty="0">
                    <a:latin typeface="Cambria Math" panose="02040503050406030204" pitchFamily="18" charset="0"/>
                  </a:rPr>
                  <a:t> </a:t>
                </a:r>
                <a:r>
                  <a:rPr lang="en-US" sz="1600" dirty="0"/>
                  <a:t>policy eval. step</a:t>
                </a:r>
                <a:r>
                  <a:rPr lang="en-US" sz="1600" b="0" i="1" dirty="0">
                    <a:latin typeface="Cambria Math" panose="02040503050406030204" pitchFamily="18" charset="0"/>
                  </a:rPr>
                  <a:t>  </a:t>
                </a:r>
                <a:endParaRPr lang="en-US" sz="1600" i="1" dirty="0">
                  <a:latin typeface="Cambria Math" panose="02040503050406030204" pitchFamily="18" charset="0"/>
                </a:endParaRPr>
              </a:p>
              <a:p>
                <a14:m>
                  <m:oMath xmlns:m="http://schemas.openxmlformats.org/officeDocument/2006/math">
                    <m:groupChr>
                      <m:groupChrPr>
                        <m:chr m:val="→"/>
                        <m:vertJc m:val="bot"/>
                        <m:ctrlPr>
                          <a:rPr lang="en-US" sz="1600" i="1">
                            <a:latin typeface="Cambria Math" panose="02040503050406030204" pitchFamily="18" charset="0"/>
                          </a:rPr>
                        </m:ctrlPr>
                      </m:groupChrPr>
                      <m:e>
                        <m:r>
                          <m:rPr>
                            <m:brk m:alnAt="2"/>
                          </m:rPr>
                          <a:rPr lang="en-US" sz="1600" b="0" i="1" smtClean="0">
                            <a:latin typeface="Cambria Math" panose="02040503050406030204" pitchFamily="18" charset="0"/>
                          </a:rPr>
                          <m:t>𝐼</m:t>
                        </m:r>
                      </m:e>
                    </m:groupChr>
                  </m:oMath>
                </a14:m>
                <a:r>
                  <a:rPr lang="en-US" sz="1600" dirty="0"/>
                  <a:t> policy improvement step</a:t>
                </a:r>
                <a:r>
                  <a:rPr lang="en-US" sz="1600" i="1" dirty="0">
                    <a:latin typeface="Cambria Math" panose="02040503050406030204" pitchFamily="18" charset="0"/>
                  </a:rPr>
                  <a:t> </a:t>
                </a:r>
                <a:endParaRPr lang="en-US" sz="1600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E0EB2B97-5320-C668-434C-A64C12BB5DD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30142" y="2098313"/>
                <a:ext cx="2599595" cy="753924"/>
              </a:xfrm>
              <a:prstGeom prst="rect">
                <a:avLst/>
              </a:prstGeom>
              <a:blipFill>
                <a:blip r:embed="rId3"/>
                <a:stretch>
                  <a:fillRect l="-2791" b="-2204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6" name="Group 5" descr="Policy iteration as a sequence of policy evaluation and policy improvements.">
            <a:extLst>
              <a:ext uri="{FF2B5EF4-FFF2-40B4-BE49-F238E27FC236}">
                <a16:creationId xmlns:a16="http://schemas.microsoft.com/office/drawing/2014/main" id="{5330DBED-05CE-C5CD-1726-3FFBB3C2F0B3}"/>
              </a:ext>
            </a:extLst>
          </p:cNvPr>
          <p:cNvGrpSpPr/>
          <p:nvPr/>
        </p:nvGrpSpPr>
        <p:grpSpPr>
          <a:xfrm>
            <a:off x="9123912" y="3626421"/>
            <a:ext cx="3198391" cy="2284485"/>
            <a:chOff x="9723059" y="2019762"/>
            <a:chExt cx="2494019" cy="2284485"/>
          </a:xfrm>
        </p:grpSpPr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447A44AD-8292-96EC-1994-4950D408FAE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/>
          </p:nvCxnSpPr>
          <p:spPr>
            <a:xfrm>
              <a:off x="9767243" y="2133600"/>
              <a:ext cx="1963017" cy="990599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TextBox 3">
                  <a:extLst>
                    <a:ext uri="{FF2B5EF4-FFF2-40B4-BE49-F238E27FC236}">
                      <a16:creationId xmlns:a16="http://schemas.microsoft.com/office/drawing/2014/main" id="{19BECD92-8EB4-3F3A-747C-2F7B09A3A737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 txBox="1"/>
                <p:nvPr/>
              </p:nvSpPr>
              <p:spPr>
                <a:xfrm>
                  <a:off x="11450082" y="2744954"/>
                  <a:ext cx="766996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>
                  <a:defPPr>
                    <a:defRPr lang="en-US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18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800" b="0" i="1" smtClean="0">
                                <a:latin typeface="Cambria Math" panose="02040503050406030204" pitchFamily="18" charset="0"/>
                              </a:rPr>
                              <m:t>𝑣</m:t>
                            </m:r>
                          </m:e>
                          <m:sub>
                            <m:r>
                              <a:rPr lang="en-US" sz="1800" b="0" i="1" smtClean="0">
                                <a:latin typeface="Cambria Math" panose="02040503050406030204" pitchFamily="18" charset="0"/>
                              </a:rPr>
                              <m:t>∗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8" name="TextBox 3">
                  <a:extLst>
                    <a:ext uri="{FF2B5EF4-FFF2-40B4-BE49-F238E27FC236}">
                      <a16:creationId xmlns:a16="http://schemas.microsoft.com/office/drawing/2014/main" id="{19BECD92-8EB4-3F3A-747C-2F7B09A3A737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450082" y="2744954"/>
                  <a:ext cx="766996" cy="369332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TextBox 13">
                  <a:extLst>
                    <a:ext uri="{FF2B5EF4-FFF2-40B4-BE49-F238E27FC236}">
                      <a16:creationId xmlns:a16="http://schemas.microsoft.com/office/drawing/2014/main" id="{FB9EE7AE-F5DB-6FED-EB86-DEBFF10FC2A3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 txBox="1"/>
                <p:nvPr/>
              </p:nvSpPr>
              <p:spPr>
                <a:xfrm>
                  <a:off x="10182391" y="2019762"/>
                  <a:ext cx="395810" cy="394660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>
                  <a:defPPr>
                    <a:defRPr lang="en-US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18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800" b="0" i="1" smtClean="0">
                                <a:latin typeface="Cambria Math" panose="02040503050406030204" pitchFamily="18" charset="0"/>
                              </a:rPr>
                              <m:t>𝑣</m:t>
                            </m:r>
                          </m:e>
                          <m:sub>
                            <m:r>
                              <m:rPr>
                                <m:lit/>
                              </m:rPr>
                              <a:rPr lang="en-US" sz="1800" b="0" i="1" smtClean="0">
                                <a:latin typeface="Cambria Math" panose="02040503050406030204" pitchFamily="18" charset="0"/>
                              </a:rPr>
                              <m:t> </m:t>
                            </m:r>
                            <m:sSub>
                              <m:sSubPr>
                                <m:ctrlPr>
                                  <a:rPr lang="en-US" sz="18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1800" b="0" i="1" smtClean="0">
                                    <a:latin typeface="Cambria Math" panose="02040503050406030204" pitchFamily="18" charset="0"/>
                                  </a:rPr>
                                  <m:t>𝜋</m:t>
                                </m:r>
                              </m:e>
                              <m:sub>
                                <m:r>
                                  <a:rPr lang="en-US" sz="1800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</m:sub>
                        </m:sSub>
                        <m:r>
                          <a:rPr lang="en-US" sz="1800" b="0" i="1" smtClean="0">
                            <a:latin typeface="Cambria Math" panose="02040503050406030204" pitchFamily="18" charset="0"/>
                          </a:rPr>
                          <m:t> 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9" name="TextBox 13">
                  <a:extLst>
                    <a:ext uri="{FF2B5EF4-FFF2-40B4-BE49-F238E27FC236}">
                      <a16:creationId xmlns:a16="http://schemas.microsoft.com/office/drawing/2014/main" id="{FB9EE7AE-F5DB-6FED-EB86-DEBFF10FC2A3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182391" y="2019762"/>
                  <a:ext cx="395810" cy="394660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0" name="Oval 9">
              <a:extLst>
                <a:ext uri="{FF2B5EF4-FFF2-40B4-BE49-F238E27FC236}">
                  <a16:creationId xmlns:a16="http://schemas.microsoft.com/office/drawing/2014/main" id="{E957BD3F-E8AA-B5A0-FC84-59F338DCDE8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1714409" y="3091219"/>
              <a:ext cx="96282" cy="117892"/>
            </a:xfrm>
            <a:prstGeom prst="ellipse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TextBox 20">
                  <a:extLst>
                    <a:ext uri="{FF2B5EF4-FFF2-40B4-BE49-F238E27FC236}">
                      <a16:creationId xmlns:a16="http://schemas.microsoft.com/office/drawing/2014/main" id="{0F8E891D-D5E8-ACFF-2493-1B2D9A842592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 txBox="1"/>
                <p:nvPr/>
              </p:nvSpPr>
              <p:spPr>
                <a:xfrm>
                  <a:off x="11509673" y="3150165"/>
                  <a:ext cx="670882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>
                  <a:defPPr>
                    <a:defRPr lang="en-US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18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800" b="0" i="1" smtClean="0">
                                <a:latin typeface="Cambria Math" panose="02040503050406030204" pitchFamily="18" charset="0"/>
                              </a:rPr>
                              <m:t>𝜋</m:t>
                            </m:r>
                          </m:e>
                          <m:sub>
                            <m:r>
                              <a:rPr lang="en-US" sz="1800" b="0" i="1" smtClean="0">
                                <a:latin typeface="Cambria Math" panose="02040503050406030204" pitchFamily="18" charset="0"/>
                              </a:rPr>
                              <m:t>∗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1" name="TextBox 20">
                  <a:extLst>
                    <a:ext uri="{FF2B5EF4-FFF2-40B4-BE49-F238E27FC236}">
                      <a16:creationId xmlns:a16="http://schemas.microsoft.com/office/drawing/2014/main" id="{0F8E891D-D5E8-ACFF-2493-1B2D9A842592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509673" y="3150165"/>
                  <a:ext cx="670882" cy="369332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" name="TextBox 22">
                  <a:extLst>
                    <a:ext uri="{FF2B5EF4-FFF2-40B4-BE49-F238E27FC236}">
                      <a16:creationId xmlns:a16="http://schemas.microsoft.com/office/drawing/2014/main" id="{855B6615-2A40-D9F1-B014-C079BEA81885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 txBox="1"/>
                <p:nvPr/>
              </p:nvSpPr>
              <p:spPr>
                <a:xfrm>
                  <a:off x="9723059" y="3934915"/>
                  <a:ext cx="453512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>
                  <a:defPPr>
                    <a:defRPr lang="en-US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18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800" b="0" i="1" smtClean="0">
                                <a:latin typeface="Cambria Math" panose="02040503050406030204" pitchFamily="18" charset="0"/>
                              </a:rPr>
                              <m:t>𝜋</m:t>
                            </m:r>
                          </m:e>
                          <m:sub>
                            <m:r>
                              <a:rPr lang="en-US" sz="18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2" name="TextBox 22">
                  <a:extLst>
                    <a:ext uri="{FF2B5EF4-FFF2-40B4-BE49-F238E27FC236}">
                      <a16:creationId xmlns:a16="http://schemas.microsoft.com/office/drawing/2014/main" id="{855B6615-2A40-D9F1-B014-C079BEA81885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723059" y="3934915"/>
                  <a:ext cx="453512" cy="369332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463B50D4-BD22-4970-434D-879A140DE0A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740767" y="3202752"/>
              <a:ext cx="1984379" cy="921098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Arrow Connector 13">
              <a:extLst>
                <a:ext uri="{FF2B5EF4-FFF2-40B4-BE49-F238E27FC236}">
                  <a16:creationId xmlns:a16="http://schemas.microsoft.com/office/drawing/2014/main" id="{E6948348-E14F-E78C-7925-6D07B342DDD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/>
          </p:nvCxnSpPr>
          <p:spPr>
            <a:xfrm flipV="1">
              <a:off x="9982200" y="2438400"/>
              <a:ext cx="360675" cy="1515404"/>
            </a:xfrm>
            <a:prstGeom prst="straightConnector1">
              <a:avLst/>
            </a:prstGeom>
            <a:ln>
              <a:tailEnd type="triangle"/>
            </a:ln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</p:cxnSp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11A484C5-4702-A9B7-9D77-FC3973E8A67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/>
          </p:nvCxnSpPr>
          <p:spPr>
            <a:xfrm>
              <a:off x="10342875" y="2438400"/>
              <a:ext cx="325125" cy="1219200"/>
            </a:xfrm>
            <a:prstGeom prst="straightConnector1">
              <a:avLst/>
            </a:prstGeom>
            <a:ln>
              <a:tailEnd type="triangle"/>
            </a:ln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</p:cxnSp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FEB4DCB4-48A5-6E51-B9FE-EF0E9B4BAFF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668000" y="2819400"/>
              <a:ext cx="457200" cy="838200"/>
            </a:xfrm>
            <a:prstGeom prst="straightConnector1">
              <a:avLst/>
            </a:prstGeom>
            <a:ln>
              <a:tailEnd type="triangle"/>
            </a:ln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</p:cxnSp>
        <p:cxnSp>
          <p:nvCxnSpPr>
            <p:cNvPr id="17" name="Straight Arrow Connector 16">
              <a:extLst>
                <a:ext uri="{FF2B5EF4-FFF2-40B4-BE49-F238E27FC236}">
                  <a16:creationId xmlns:a16="http://schemas.microsoft.com/office/drawing/2014/main" id="{6CB15DB5-D53A-F51F-8727-21F569598D3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/>
          </p:nvCxnSpPr>
          <p:spPr>
            <a:xfrm>
              <a:off x="11125200" y="2819400"/>
              <a:ext cx="228600" cy="533400"/>
            </a:xfrm>
            <a:prstGeom prst="straightConnector1">
              <a:avLst/>
            </a:prstGeom>
            <a:ln>
              <a:tailEnd type="triangle"/>
            </a:ln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</p:cxnSp>
        <p:cxnSp>
          <p:nvCxnSpPr>
            <p:cNvPr id="18" name="Straight Arrow Connector 17">
              <a:extLst>
                <a:ext uri="{FF2B5EF4-FFF2-40B4-BE49-F238E27FC236}">
                  <a16:creationId xmlns:a16="http://schemas.microsoft.com/office/drawing/2014/main" id="{B79E848C-DEE2-2B22-D382-CB1D0AFA628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1353800" y="3066584"/>
              <a:ext cx="228600" cy="286216"/>
            </a:xfrm>
            <a:prstGeom prst="straightConnector1">
              <a:avLst/>
            </a:prstGeom>
            <a:ln>
              <a:tailEnd type="triangle"/>
            </a:ln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</p:cxnSp>
        <p:cxnSp>
          <p:nvCxnSpPr>
            <p:cNvPr id="19" name="Straight Arrow Connector 18">
              <a:extLst>
                <a:ext uri="{FF2B5EF4-FFF2-40B4-BE49-F238E27FC236}">
                  <a16:creationId xmlns:a16="http://schemas.microsoft.com/office/drawing/2014/main" id="{2F360256-AFD1-C0BB-ABF4-6ED717BE241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/>
          </p:nvCxnSpPr>
          <p:spPr>
            <a:xfrm>
              <a:off x="11582400" y="3086337"/>
              <a:ext cx="98107" cy="114063"/>
            </a:xfrm>
            <a:prstGeom prst="straightConnector1">
              <a:avLst/>
            </a:prstGeom>
            <a:ln>
              <a:tailEnd type="triangle"/>
            </a:ln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</p:cxnSp>
        <p:sp>
          <p:nvSpPr>
            <p:cNvPr id="20" name="TextBox 56">
              <a:extLst>
                <a:ext uri="{FF2B5EF4-FFF2-40B4-BE49-F238E27FC236}">
                  <a16:creationId xmlns:a16="http://schemas.microsoft.com/office/drawing/2014/main" id="{AFD80097-9184-52DD-89E7-0E2ED869BB5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 txBox="1"/>
            <p:nvPr/>
          </p:nvSpPr>
          <p:spPr>
            <a:xfrm rot="17199066">
              <a:off x="9460902" y="3071193"/>
              <a:ext cx="1236749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sz="1200" dirty="0"/>
                <a:t>Policy evaluation</a:t>
              </a:r>
            </a:p>
          </p:txBody>
        </p:sp>
        <p:sp>
          <p:nvSpPr>
            <p:cNvPr id="21" name="TextBox 57">
              <a:extLst>
                <a:ext uri="{FF2B5EF4-FFF2-40B4-BE49-F238E27FC236}">
                  <a16:creationId xmlns:a16="http://schemas.microsoft.com/office/drawing/2014/main" id="{17FBEAB6-A067-564C-70A8-D8E9A5A200F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 txBox="1"/>
            <p:nvPr/>
          </p:nvSpPr>
          <p:spPr>
            <a:xfrm rot="4406454">
              <a:off x="10019882" y="2910998"/>
              <a:ext cx="1103187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sz="1100" dirty="0"/>
                <a:t>P. improvement</a:t>
              </a: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25" name="Content Placeholder 2">
                <a:extLst>
                  <a:ext uri="{FF2B5EF4-FFF2-40B4-BE49-F238E27FC236}">
                    <a16:creationId xmlns:a16="http://schemas.microsoft.com/office/drawing/2014/main" id="{20B55EFD-EEBE-AE5F-7566-305C5EAE57B1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846192" y="3292095"/>
                <a:ext cx="7897536" cy="3049982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 fontScale="85000" lnSpcReduction="20000"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:r>
                  <a:rPr lang="en-US" b="1" dirty="0"/>
                  <a:t>Guarantees</a:t>
                </a:r>
                <a:r>
                  <a:rPr lang="en-US" dirty="0"/>
                  <a:t>:</a:t>
                </a:r>
              </a:p>
              <a:p>
                <a:pPr lvl="1"/>
                <a:r>
                  <a:rPr lang="en-US" dirty="0"/>
                  <a:t>Policy improvement is guaranteed to improve the policy.</a:t>
                </a:r>
              </a:p>
              <a:p>
                <a:pPr lvl="1"/>
                <a:r>
                  <a:rPr lang="en-US" dirty="0"/>
                  <a:t>Finite MDPs have a finite number of policies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en-US" dirty="0"/>
                  <a:t> Policy Iteration must </a:t>
                </a:r>
                <a:r>
                  <a:rPr lang="en-US" b="1" dirty="0"/>
                  <a:t>converge</a:t>
                </a:r>
                <a:r>
                  <a:rPr lang="en-US" dirty="0"/>
                  <a:t>!</a:t>
                </a:r>
              </a:p>
              <a:p>
                <a:pPr marL="0" indent="0">
                  <a:buNone/>
                </a:pPr>
                <a:r>
                  <a:rPr lang="en-US" b="1" dirty="0"/>
                  <a:t>Advantages</a:t>
                </a:r>
                <a:r>
                  <a:rPr lang="en-US" dirty="0"/>
                  <a:t>:</a:t>
                </a:r>
              </a:p>
              <a:p>
                <a:pPr lvl="1"/>
                <a:r>
                  <a:rPr lang="en-US" dirty="0"/>
                  <a:t>Policy becomes stable before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</m:oMath>
                </a14:m>
                <a:r>
                  <a:rPr lang="en-US" dirty="0"/>
                  <a:t> is reached.</a:t>
                </a:r>
              </a:p>
              <a:p>
                <a:pPr lvl="1"/>
                <a:r>
                  <a:rPr lang="en-US" dirty="0"/>
                  <a:t>Policy iteration typically converges fast.</a:t>
                </a:r>
              </a:p>
              <a:p>
                <a:pPr marL="0" indent="0">
                  <a:buNone/>
                </a:pPr>
                <a:r>
                  <a:rPr lang="en-US" b="1" dirty="0"/>
                  <a:t>Issue</a:t>
                </a:r>
                <a:r>
                  <a:rPr lang="en-US" dirty="0"/>
                  <a:t>: </a:t>
                </a:r>
              </a:p>
              <a:p>
                <a:pPr lvl="1"/>
                <a:r>
                  <a:rPr lang="en-US" dirty="0"/>
                  <a:t>Policy estimation is computationally expensive! </a:t>
                </a:r>
                <a:br>
                  <a:rPr lang="en-US" dirty="0"/>
                </a:br>
                <a:r>
                  <a:rPr lang="en-US" dirty="0"/>
                  <a:t>Using fewer iterations leads to modified policy iteration.</a:t>
                </a:r>
              </a:p>
            </p:txBody>
          </p:sp>
        </mc:Choice>
        <mc:Fallback xmlns="">
          <p:sp>
            <p:nvSpPr>
              <p:cNvPr id="25" name="Content Placeholder 2">
                <a:extLst>
                  <a:ext uri="{FF2B5EF4-FFF2-40B4-BE49-F238E27FC236}">
                    <a16:creationId xmlns:a16="http://schemas.microsoft.com/office/drawing/2014/main" id="{20B55EFD-EEBE-AE5F-7566-305C5EAE57B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6192" y="3292095"/>
                <a:ext cx="7897536" cy="3049982"/>
              </a:xfrm>
              <a:prstGeom prst="rect">
                <a:avLst/>
              </a:prstGeom>
              <a:blipFill>
                <a:blip r:embed="rId8"/>
                <a:stretch>
                  <a:fillRect l="-1236" t="-4400" b="-2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59900923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E57162-18FD-7F93-177F-3D55B41AEC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Alg. Policy Iteration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7BB67C0D-A372-0D64-BB80-32D4D2FCE8E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671181" y="1397000"/>
            <a:ext cx="6849637" cy="4779963"/>
          </a:xfrm>
          <a:prstGeom prst="rect">
            <a:avLst/>
          </a:prstGeom>
        </p:spPr>
      </p:pic>
      <p:sp>
        <p:nvSpPr>
          <p:cNvPr id="3" name="Speech Bubble: Rectangle with Corners Rounded 2">
            <a:extLst>
              <a:ext uri="{FF2B5EF4-FFF2-40B4-BE49-F238E27FC236}">
                <a16:creationId xmlns:a16="http://schemas.microsoft.com/office/drawing/2014/main" id="{DBD8C865-4D7E-35E7-E0FA-305C8DD8611A}"/>
              </a:ext>
            </a:extLst>
          </p:cNvPr>
          <p:cNvSpPr/>
          <p:nvPr/>
        </p:nvSpPr>
        <p:spPr>
          <a:xfrm>
            <a:off x="6330998" y="2506070"/>
            <a:ext cx="3587689" cy="753857"/>
          </a:xfrm>
          <a:prstGeom prst="wedgeRoundRectCallout">
            <a:avLst>
              <a:gd name="adj1" fmla="val -123530"/>
              <a:gd name="adj2" fmla="val 527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Just policy evaluation from before. </a:t>
            </a:r>
            <a:br>
              <a:rPr lang="en-US" sz="1600" dirty="0"/>
            </a:br>
            <a:r>
              <a:rPr lang="en-US" sz="1600" dirty="0"/>
              <a:t>We can also stop this loop early (modified policy iteration).</a:t>
            </a:r>
          </a:p>
        </p:txBody>
      </p:sp>
      <p:sp>
        <p:nvSpPr>
          <p:cNvPr id="4" name="Speech Bubble: Rectangle with Corners Rounded 3">
            <a:extLst>
              <a:ext uri="{FF2B5EF4-FFF2-40B4-BE49-F238E27FC236}">
                <a16:creationId xmlns:a16="http://schemas.microsoft.com/office/drawing/2014/main" id="{A8BE2AD8-D811-FC6E-9D2F-35BC6E1C23CB}"/>
              </a:ext>
            </a:extLst>
          </p:cNvPr>
          <p:cNvSpPr/>
          <p:nvPr/>
        </p:nvSpPr>
        <p:spPr>
          <a:xfrm>
            <a:off x="7237254" y="4641802"/>
            <a:ext cx="3683079" cy="557248"/>
          </a:xfrm>
          <a:prstGeom prst="wedgeRoundRectCallout">
            <a:avLst>
              <a:gd name="adj1" fmla="val -57774"/>
              <a:gd name="adj2" fmla="val 87946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Picks the greedy action with the highest Q-value to improve the policy.</a:t>
            </a:r>
          </a:p>
        </p:txBody>
      </p:sp>
    </p:spTree>
    <p:extLst>
      <p:ext uri="{BB962C8B-B14F-4D97-AF65-F5344CB8AC3E}">
        <p14:creationId xmlns:p14="http://schemas.microsoft.com/office/powerpoint/2010/main" val="354711387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F89A4790-D161-0E92-E9A9-5BEEA5CFC1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Value Iteration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5806331-75C8-8E65-5F2F-5059452CA02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Find the optimal value function based on the environment model.</a:t>
            </a:r>
          </a:p>
        </p:txBody>
      </p:sp>
    </p:spTree>
    <p:extLst>
      <p:ext uri="{BB962C8B-B14F-4D97-AF65-F5344CB8AC3E}">
        <p14:creationId xmlns:p14="http://schemas.microsoft.com/office/powerpoint/2010/main" val="53439255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A6D9EF-5990-B359-32C3-C72B2C6A06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Value Iteration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13D67A5-12C4-DAB0-8869-5122697A558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397330"/>
                <a:ext cx="7990869" cy="4759161"/>
              </a:xfrm>
            </p:spPr>
            <p:txBody>
              <a:bodyPr>
                <a:normAutofit fontScale="85000" lnSpcReduction="10000"/>
              </a:bodyPr>
              <a:lstStyle/>
              <a:p>
                <a:r>
                  <a:rPr lang="en-US" sz="2400" dirty="0"/>
                  <a:t>Combines policy improvement and truncated policy evaluation into a single step. This is called the </a:t>
                </a:r>
                <a:r>
                  <a:rPr lang="en-US" sz="2400" b="1" dirty="0"/>
                  <a:t>expected Bellman optimality update</a:t>
                </a:r>
                <a:r>
                  <a:rPr lang="en-US" sz="2400" dirty="0"/>
                  <a:t>.</a:t>
                </a:r>
              </a:p>
              <a:p>
                <a:endParaRPr lang="en-US" sz="24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d>
                        <m:d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m:rPr>
                          <m:aln/>
                        </m:rPr>
                        <a:rPr lang="en-US" sz="2400" i="1">
                          <a:latin typeface="Cambria Math" panose="02040503050406030204" pitchFamily="18" charset="0"/>
                        </a:rPr>
                        <m:t>≝</m:t>
                      </m:r>
                      <m:func>
                        <m:func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 sz="2400" i="1" smtClean="0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 sz="2400" i="0" smtClean="0">
                                  <a:latin typeface="Cambria Math" panose="02040503050406030204" pitchFamily="18" charset="0"/>
                                </a:rPr>
                                <m:t>max</m:t>
                              </m:r>
                            </m:e>
                            <m:lim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lim>
                          </m:limLow>
                        </m:fName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𝔼</m:t>
                          </m:r>
                          <m:d>
                            <m:dPr>
                              <m:begChr m:val="["/>
                              <m:endChr m:val="|"/>
                              <m:ctrlP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𝑅</m:t>
                                  </m:r>
                                </m:e>
                                <m:sub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+1</m:t>
                                  </m:r>
                                </m:sub>
                              </m:sSub>
                              <m: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𝛾</m:t>
                              </m:r>
                              <m:sSub>
                                <m:sSubPr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𝑣</m:t>
                                  </m:r>
                                </m:e>
                                <m:sub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sz="24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24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𝑆</m:t>
                                      </m:r>
                                    </m:e>
                                    <m:sub>
                                      <m:r>
                                        <a:rPr lang="en-US" sz="24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𝑡</m:t>
                                      </m:r>
                                      <m:r>
                                        <a:rPr lang="en-US" sz="24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+1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d>
                          <m:sSub>
                            <m:sSubPr>
                              <m:ctrlP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r>
                            <a:rPr lang="en-US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=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=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𝑎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]</m:t>
                          </m:r>
                          <m:r>
                            <m:rPr>
                              <m:nor/>
                            </m:rPr>
                            <a:rPr lang="en-US" sz="2400" i="1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</m:e>
                      </m:func>
                    </m:oMath>
                    <m:oMath xmlns:m="http://schemas.openxmlformats.org/officeDocument/2006/math">
                      <m:r>
                        <m:rPr>
                          <m:aln/>
                        </m:rPr>
                        <a:rPr lang="en-US" sz="2400" i="1">
                          <a:latin typeface="Cambria Math" panose="02040503050406030204" pitchFamily="18" charset="0"/>
                        </a:rPr>
                        <m:t>=</m:t>
                      </m:r>
                      <m:limLow>
                        <m:limLow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limLowPr>
                        <m:e>
                          <m:r>
                            <m:rPr>
                              <m:sty m:val="p"/>
                            </m:rPr>
                            <a:rPr lang="en-US" sz="2400">
                              <a:latin typeface="Cambria Math" panose="02040503050406030204" pitchFamily="18" charset="0"/>
                            </a:rPr>
                            <m:t>max</m:t>
                          </m:r>
                        </m:e>
                        <m:lim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𝑎</m:t>
                          </m:r>
                        </m:lim>
                      </m:limLow>
                      <m:nary>
                        <m:naryPr>
                          <m:chr m:val="∑"/>
                          <m:supHide m:val="on"/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sSup>
                            <m:sSup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p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𝑟</m:t>
                          </m:r>
                        </m:sub>
                        <m:sup/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𝑝</m:t>
                          </m:r>
                          <m:d>
                            <m:dPr>
                              <m:endChr m:val="|"/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  <m:sup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′</m:t>
                                  </m:r>
                                </m:sup>
                              </m:sSup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e>
                          </m:d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)[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𝑟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𝛾</m:t>
                          </m:r>
                          <m:sSub>
                            <m:sSub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e>
                            <m:sub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  <m:d>
                            <m:d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  <m:sup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′</m:t>
                                  </m:r>
                                </m:sup>
                              </m:sSup>
                            </m:e>
                          </m:d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]</m:t>
                          </m:r>
                        </m:e>
                      </m:nary>
                    </m:oMath>
                  </m:oMathPara>
                </a14:m>
                <a:endParaRPr lang="en-US" sz="2400" i="1" dirty="0">
                  <a:latin typeface="Cambria Math" panose="02040503050406030204" pitchFamily="18" charset="0"/>
                </a:endParaRPr>
              </a:p>
              <a:p>
                <a:endParaRPr lang="en-US" sz="2400" dirty="0"/>
              </a:p>
              <a:p>
                <a:r>
                  <a:rPr lang="en-US" sz="2400" dirty="0"/>
                  <a:t>Written as the </a:t>
                </a:r>
                <a:r>
                  <a:rPr lang="en-US" sz="2400" b="1" dirty="0"/>
                  <a:t>Bellman optimality operator</a:t>
                </a:r>
                <a:r>
                  <a:rPr lang="en-US" sz="2400" dirty="0"/>
                  <a:t>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p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∗</m:t>
                              </m:r>
                            </m:sup>
                          </m:sSup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</m:d>
                      <m:d>
                        <m:d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limLow>
                        <m:limLow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limLowPr>
                        <m:e>
                          <m:r>
                            <m:rPr>
                              <m:sty m:val="p"/>
                            </m:rPr>
                            <a:rPr lang="en-US" sz="2400">
                              <a:latin typeface="Cambria Math" panose="02040503050406030204" pitchFamily="18" charset="0"/>
                            </a:rPr>
                            <m:t>max</m:t>
                          </m:r>
                        </m:e>
                        <m:lim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𝑎</m:t>
                          </m:r>
                        </m:lim>
                      </m:limLow>
                      <m:nary>
                        <m:naryPr>
                          <m:chr m:val="∑"/>
                          <m:supHide m:val="on"/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sSup>
                            <m:sSup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p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𝑟</m:t>
                          </m:r>
                        </m:sub>
                        <m:sup/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𝑝</m:t>
                          </m:r>
                          <m:d>
                            <m:dPr>
                              <m:endChr m:val="|"/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  <m:sup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′</m:t>
                                  </m:r>
                                </m:sup>
                              </m:sSup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e>
                          </m:d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)[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𝑟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𝛾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𝑣</m:t>
                          </m:r>
                          <m:d>
                            <m:d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  <m:sup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′</m:t>
                                  </m:r>
                                </m:sup>
                              </m:sSup>
                            </m:e>
                          </m:d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]</m:t>
                          </m:r>
                        </m:e>
                      </m:nary>
                    </m:oMath>
                  </m:oMathPara>
                </a14:m>
                <a:endParaRPr lang="en-US" sz="2400" dirty="0"/>
              </a:p>
              <a:p>
                <a:endParaRPr lang="en-US" sz="2400" b="1" dirty="0"/>
              </a:p>
              <a:p>
                <a:r>
                  <a:rPr lang="en-US" sz="2400" b="1" dirty="0"/>
                  <a:t>Guarantee</a:t>
                </a:r>
                <a:r>
                  <a:rPr lang="en-US" sz="2400" dirty="0"/>
                  <a:t>: 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p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r>
                  <a:rPr lang="en-US" sz="2400" dirty="0"/>
                  <a:t> is a non-linear operator, but it is also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𝛾</m:t>
                    </m:r>
                  </m:oMath>
                </a14:m>
                <a:r>
                  <a:rPr lang="en-US" sz="2400" dirty="0"/>
                  <a:t>-contracting. The Sequence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{</m:t>
                    </m:r>
                    <m:sSub>
                      <m:sSub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r>
                  <a:rPr lang="en-US" sz="2400" dirty="0"/>
                  <a:t> converges to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</m:oMath>
                </a14:m>
                <a:r>
                  <a:rPr lang="en-US" sz="2400" dirty="0"/>
                  <a:t>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13D67A5-12C4-DAB0-8869-5122697A558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397330"/>
                <a:ext cx="7990869" cy="4759161"/>
              </a:xfrm>
              <a:blipFill>
                <a:blip r:embed="rId2"/>
                <a:stretch>
                  <a:fillRect l="-687" t="-1665" r="-61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" name="Group 3">
            <a:extLst>
              <a:ext uri="{FF2B5EF4-FFF2-40B4-BE49-F238E27FC236}">
                <a16:creationId xmlns:a16="http://schemas.microsoft.com/office/drawing/2014/main" id="{5DDD6752-393B-5DE4-89C9-FB6C1BD42C20}"/>
              </a:ext>
            </a:extLst>
          </p:cNvPr>
          <p:cNvGrpSpPr/>
          <p:nvPr/>
        </p:nvGrpSpPr>
        <p:grpSpPr>
          <a:xfrm>
            <a:off x="8975345" y="3682639"/>
            <a:ext cx="2854818" cy="2270823"/>
            <a:chOff x="9337182" y="2229868"/>
            <a:chExt cx="2854818" cy="2270823"/>
          </a:xfrm>
        </p:grpSpPr>
        <p:grpSp>
          <p:nvGrpSpPr>
            <p:cNvPr id="5" name="Group 4" descr="Updating the value function using iterative Bellman updates.">
              <a:extLst>
                <a:ext uri="{FF2B5EF4-FFF2-40B4-BE49-F238E27FC236}">
                  <a16:creationId xmlns:a16="http://schemas.microsoft.com/office/drawing/2014/main" id="{63FD7C4D-64E2-3FEF-F62C-382BE07E89C8}"/>
                </a:ext>
              </a:extLst>
            </p:cNvPr>
            <p:cNvGrpSpPr/>
            <p:nvPr/>
          </p:nvGrpSpPr>
          <p:grpSpPr>
            <a:xfrm>
              <a:off x="9337182" y="2229868"/>
              <a:ext cx="2854818" cy="1428805"/>
              <a:chOff x="9337182" y="2229868"/>
              <a:chExt cx="2854818" cy="1428805"/>
            </a:xfrm>
          </p:grpSpPr>
          <p:cxnSp>
            <p:nvCxnSpPr>
              <p:cNvPr id="8" name="Straight Connector 7">
                <a:extLst>
                  <a:ext uri="{FF2B5EF4-FFF2-40B4-BE49-F238E27FC236}">
                    <a16:creationId xmlns:a16="http://schemas.microsoft.com/office/drawing/2014/main" id="{53024366-3B9C-8541-0D28-708BBC7AE6C7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337182" y="3124199"/>
                <a:ext cx="2393078" cy="0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9" name="TextBox 8">
                    <a:extLst>
                      <a:ext uri="{FF2B5EF4-FFF2-40B4-BE49-F238E27FC236}">
                        <a16:creationId xmlns:a16="http://schemas.microsoft.com/office/drawing/2014/main" id="{115AA05C-2180-0AF6-A384-9D75BED15ED1}"/>
                      </a:ext>
                      <a:ext uri="{C183D7F6-B498-43B3-948B-1728B52AA6E4}">
                        <adec:decorative xmlns:adec="http://schemas.microsoft.com/office/drawing/2017/decorative" val="1"/>
                      </a:ext>
                    </a:extLst>
                  </p:cNvPr>
                  <p:cNvSpPr txBox="1"/>
                  <p:nvPr/>
                </p:nvSpPr>
                <p:spPr>
                  <a:xfrm>
                    <a:off x="11425004" y="3125590"/>
                    <a:ext cx="766996" cy="369332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>
                    <a:defPPr>
                      <a:defRPr lang="en-US"/>
                    </a:defPPr>
                    <a:lvl1pPr marL="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18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800" b="0" i="1" smtClean="0"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e>
                            <m:sub>
                              <m:r>
                                <a:rPr lang="en-US" sz="1800" b="0" i="1" smtClean="0">
                                  <a:latin typeface="Cambria Math" panose="02040503050406030204" pitchFamily="18" charset="0"/>
                                </a:rPr>
                                <m:t>∗</m:t>
                              </m:r>
                            </m:sub>
                          </m:sSub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9" name="TextBox 8">
                    <a:extLst>
                      <a:ext uri="{FF2B5EF4-FFF2-40B4-BE49-F238E27FC236}">
                        <a16:creationId xmlns:a16="http://schemas.microsoft.com/office/drawing/2014/main" id="{115AA05C-2180-0AF6-A384-9D75BED15ED1}"/>
                      </a:ext>
                      <a:ext uri="{C183D7F6-B498-43B3-948B-1728B52AA6E4}">
                        <adec:decorative xmlns:adec="http://schemas.microsoft.com/office/drawing/2017/decorative" val="1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1425004" y="3125590"/>
                    <a:ext cx="766996" cy="369332"/>
                  </a:xfrm>
                  <a:prstGeom prst="rect">
                    <a:avLst/>
                  </a:prstGeom>
                  <a:blipFill>
                    <a:blip r:embed="rId3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10" name="Arc 9">
                <a:extLst>
                  <a:ext uri="{FF2B5EF4-FFF2-40B4-BE49-F238E27FC236}">
                    <a16:creationId xmlns:a16="http://schemas.microsoft.com/office/drawing/2014/main" id="{830A3C56-435D-BEBE-B83F-3BA9F9E0169B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/>
            </p:nvSpPr>
            <p:spPr>
              <a:xfrm>
                <a:off x="9760371" y="2649297"/>
                <a:ext cx="574339" cy="1009376"/>
              </a:xfrm>
              <a:prstGeom prst="arc">
                <a:avLst>
                  <a:gd name="adj1" fmla="val 10871568"/>
                  <a:gd name="adj2" fmla="val 0"/>
                </a:avLst>
              </a:prstGeom>
              <a:ln w="19050" cap="flat" cmpd="sng" algn="ctr">
                <a:solidFill>
                  <a:schemeClr val="accent6"/>
                </a:solidFill>
                <a:prstDash val="solid"/>
                <a:round/>
                <a:headEnd type="none" w="med" len="med"/>
                <a:tailEnd type="arrow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tx1"/>
              </a:fontRef>
            </p:style>
            <p:txBody>
              <a:bodyPr rtlCol="0" anchor="ctr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en-US"/>
              </a:p>
            </p:txBody>
          </p:sp>
          <p:sp>
            <p:nvSpPr>
              <p:cNvPr id="11" name="Arc 10">
                <a:extLst>
                  <a:ext uri="{FF2B5EF4-FFF2-40B4-BE49-F238E27FC236}">
                    <a16:creationId xmlns:a16="http://schemas.microsoft.com/office/drawing/2014/main" id="{3FB9398F-7C22-1F4D-9C1A-D846D19FEED3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/>
            </p:nvSpPr>
            <p:spPr>
              <a:xfrm>
                <a:off x="10334710" y="2614308"/>
                <a:ext cx="765785" cy="1019782"/>
              </a:xfrm>
              <a:prstGeom prst="arc">
                <a:avLst>
                  <a:gd name="adj1" fmla="val 10871568"/>
                  <a:gd name="adj2" fmla="val 0"/>
                </a:avLst>
              </a:prstGeom>
              <a:ln w="19050" cap="flat" cmpd="sng" algn="ctr">
                <a:solidFill>
                  <a:schemeClr val="accent6"/>
                </a:solidFill>
                <a:prstDash val="solid"/>
                <a:round/>
                <a:headEnd type="none" w="med" len="med"/>
                <a:tailEnd type="arrow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tx1"/>
              </a:fontRef>
            </p:style>
            <p:txBody>
              <a:bodyPr rtlCol="0" anchor="ctr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en-US"/>
              </a:p>
            </p:txBody>
          </p:sp>
          <p:sp>
            <p:nvSpPr>
              <p:cNvPr id="12" name="Arc 11">
                <a:extLst>
                  <a:ext uri="{FF2B5EF4-FFF2-40B4-BE49-F238E27FC236}">
                    <a16:creationId xmlns:a16="http://schemas.microsoft.com/office/drawing/2014/main" id="{72229F87-12B2-362D-80BC-031A6CAAE42F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/>
            </p:nvSpPr>
            <p:spPr>
              <a:xfrm>
                <a:off x="11100495" y="2627412"/>
                <a:ext cx="220048" cy="1019782"/>
              </a:xfrm>
              <a:prstGeom prst="arc">
                <a:avLst>
                  <a:gd name="adj1" fmla="val 10871568"/>
                  <a:gd name="adj2" fmla="val 0"/>
                </a:avLst>
              </a:prstGeom>
              <a:ln w="19050" cap="flat" cmpd="sng" algn="ctr">
                <a:solidFill>
                  <a:schemeClr val="accent6"/>
                </a:solidFill>
                <a:prstDash val="solid"/>
                <a:round/>
                <a:headEnd type="none" w="med" len="med"/>
                <a:tailEnd type="arrow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tx1"/>
              </a:fontRef>
            </p:style>
            <p:txBody>
              <a:bodyPr rtlCol="0" anchor="ctr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en-US"/>
              </a:p>
            </p:txBody>
          </p:sp>
          <p:sp>
            <p:nvSpPr>
              <p:cNvPr id="13" name="Arc 12">
                <a:extLst>
                  <a:ext uri="{FF2B5EF4-FFF2-40B4-BE49-F238E27FC236}">
                    <a16:creationId xmlns:a16="http://schemas.microsoft.com/office/drawing/2014/main" id="{936EFA66-6C09-679B-C4C9-F361F262C3E0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/>
            </p:nvSpPr>
            <p:spPr>
              <a:xfrm>
                <a:off x="11308888" y="2648522"/>
                <a:ext cx="417487" cy="951353"/>
              </a:xfrm>
              <a:prstGeom prst="arc">
                <a:avLst>
                  <a:gd name="adj1" fmla="val 10871568"/>
                  <a:gd name="adj2" fmla="val 0"/>
                </a:avLst>
              </a:prstGeom>
              <a:ln w="19050" cap="flat" cmpd="sng" algn="ctr">
                <a:solidFill>
                  <a:schemeClr val="accent6"/>
                </a:solidFill>
                <a:prstDash val="solid"/>
                <a:round/>
                <a:headEnd type="none" w="med" len="med"/>
                <a:tailEnd type="arrow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tx1"/>
              </a:fontRef>
            </p:style>
            <p:txBody>
              <a:bodyPr rtlCol="0" anchor="ctr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en-US"/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4" name="TextBox 29">
                    <a:extLst>
                      <a:ext uri="{FF2B5EF4-FFF2-40B4-BE49-F238E27FC236}">
                        <a16:creationId xmlns:a16="http://schemas.microsoft.com/office/drawing/2014/main" id="{6DB673C8-2425-685A-8CBE-35EDDCA1EB91}"/>
                      </a:ext>
                      <a:ext uri="{C183D7F6-B498-43B3-948B-1728B52AA6E4}">
                        <adec:decorative xmlns:adec="http://schemas.microsoft.com/office/drawing/2017/decorative" val="1"/>
                      </a:ext>
                    </a:extLst>
                  </p:cNvPr>
                  <p:cNvSpPr txBox="1"/>
                  <p:nvPr/>
                </p:nvSpPr>
                <p:spPr>
                  <a:xfrm>
                    <a:off x="9564903" y="3086337"/>
                    <a:ext cx="395810" cy="369332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>
                    <a:defPPr>
                      <a:defRPr lang="en-US"/>
                    </a:defPPr>
                    <a:lvl1pPr marL="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18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800" b="0" i="1" smtClean="0"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e>
                            <m:sub>
                              <m:r>
                                <a:rPr lang="en-US" sz="1800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14" name="TextBox 29">
                    <a:extLst>
                      <a:ext uri="{FF2B5EF4-FFF2-40B4-BE49-F238E27FC236}">
                        <a16:creationId xmlns:a16="http://schemas.microsoft.com/office/drawing/2014/main" id="{6DB673C8-2425-685A-8CBE-35EDDCA1EB91}"/>
                      </a:ext>
                      <a:ext uri="{C183D7F6-B498-43B3-948B-1728B52AA6E4}">
                        <adec:decorative xmlns:adec="http://schemas.microsoft.com/office/drawing/2017/decorative" val="1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564903" y="3086337"/>
                    <a:ext cx="395810" cy="369332"/>
                  </a:xfrm>
                  <a:prstGeom prst="rect">
                    <a:avLst/>
                  </a:prstGeom>
                  <a:blipFill>
                    <a:blip r:embed="rId4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5" name="TextBox 30">
                    <a:extLst>
                      <a:ext uri="{FF2B5EF4-FFF2-40B4-BE49-F238E27FC236}">
                        <a16:creationId xmlns:a16="http://schemas.microsoft.com/office/drawing/2014/main" id="{56DA2FE2-AC26-7B66-B5BD-7064ECD50CE7}"/>
                      </a:ext>
                      <a:ext uri="{C183D7F6-B498-43B3-948B-1728B52AA6E4}">
                        <adec:decorative xmlns:adec="http://schemas.microsoft.com/office/drawing/2017/decorative" val="1"/>
                      </a:ext>
                    </a:extLst>
                  </p:cNvPr>
                  <p:cNvSpPr txBox="1"/>
                  <p:nvPr/>
                </p:nvSpPr>
                <p:spPr>
                  <a:xfrm>
                    <a:off x="10066895" y="3115740"/>
                    <a:ext cx="395810" cy="369332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>
                    <a:defPPr>
                      <a:defRPr lang="en-US"/>
                    </a:defPPr>
                    <a:lvl1pPr marL="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18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800" b="0" i="1" smtClean="0"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e>
                            <m:sub>
                              <m:r>
                                <a:rPr lang="en-US" sz="18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15" name="TextBox 30">
                    <a:extLst>
                      <a:ext uri="{FF2B5EF4-FFF2-40B4-BE49-F238E27FC236}">
                        <a16:creationId xmlns:a16="http://schemas.microsoft.com/office/drawing/2014/main" id="{56DA2FE2-AC26-7B66-B5BD-7064ECD50CE7}"/>
                      </a:ext>
                      <a:ext uri="{C183D7F6-B498-43B3-948B-1728B52AA6E4}">
                        <adec:decorative xmlns:adec="http://schemas.microsoft.com/office/drawing/2017/decorative" val="1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0066895" y="3115740"/>
                    <a:ext cx="395810" cy="369332"/>
                  </a:xfrm>
                  <a:prstGeom prst="rect">
                    <a:avLst/>
                  </a:prstGeom>
                  <a:blipFill>
                    <a:blip r:embed="rId5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16" name="Oval 15">
                <a:extLst>
                  <a:ext uri="{FF2B5EF4-FFF2-40B4-BE49-F238E27FC236}">
                    <a16:creationId xmlns:a16="http://schemas.microsoft.com/office/drawing/2014/main" id="{4AF4F629-36FB-BF7C-2361-1AFA669F5F24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/>
            </p:nvSpPr>
            <p:spPr>
              <a:xfrm>
                <a:off x="11680507" y="3066584"/>
                <a:ext cx="127995" cy="117892"/>
              </a:xfrm>
              <a:prstGeom prst="ellips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en-US"/>
              </a:p>
            </p:txBody>
          </p:sp>
          <p:sp>
            <p:nvSpPr>
              <p:cNvPr id="17" name="TextBox 35">
                <a:extLst>
                  <a:ext uri="{FF2B5EF4-FFF2-40B4-BE49-F238E27FC236}">
                    <a16:creationId xmlns:a16="http://schemas.microsoft.com/office/drawing/2014/main" id="{0C0182D5-6E45-5881-FEB0-C4755A1551A6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 txBox="1"/>
              <p:nvPr/>
            </p:nvSpPr>
            <p:spPr>
              <a:xfrm>
                <a:off x="9337182" y="2229868"/>
                <a:ext cx="1796338" cy="33855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r>
                  <a:rPr lang="en-US" sz="1600" dirty="0"/>
                  <a:t>Bellman updates</a:t>
                </a:r>
              </a:p>
            </p:txBody>
          </p:sp>
        </p:grpSp>
        <p:sp>
          <p:nvSpPr>
            <p:cNvPr id="6" name="Arrow: Down 5">
              <a:extLst>
                <a:ext uri="{FF2B5EF4-FFF2-40B4-BE49-F238E27FC236}">
                  <a16:creationId xmlns:a16="http://schemas.microsoft.com/office/drawing/2014/main" id="{489C2DDD-1EBF-335C-9781-0FE90D3CF19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1582400" y="3481251"/>
              <a:ext cx="248436" cy="388563"/>
            </a:xfrm>
            <a:prstGeom prst="downArrow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TextBox 37">
                  <a:extLst>
                    <a:ext uri="{FF2B5EF4-FFF2-40B4-BE49-F238E27FC236}">
                      <a16:creationId xmlns:a16="http://schemas.microsoft.com/office/drawing/2014/main" id="{1B940FEA-C9FB-9A35-6062-2E30E7F88345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 txBox="1"/>
                <p:nvPr/>
              </p:nvSpPr>
              <p:spPr>
                <a:xfrm>
                  <a:off x="11028594" y="3915916"/>
                  <a:ext cx="1107611" cy="584775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>
                  <a:defPPr>
                    <a:defRPr lang="en-US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r>
                    <a:rPr lang="en-US" sz="1600" dirty="0"/>
                    <a:t>Extract</a:t>
                  </a:r>
                  <a:br>
                    <a:rPr lang="en-US" sz="1600" dirty="0"/>
                  </a:br>
                  <a:r>
                    <a:rPr lang="en-US" sz="1600" dirty="0"/>
                    <a:t> greedy </a:t>
                  </a:r>
                  <a14:m>
                    <m:oMath xmlns:m="http://schemas.openxmlformats.org/officeDocument/2006/math">
                      <m:sSup>
                        <m:sSupPr>
                          <m:ctrlPr>
                            <a:rPr lang="en-US" sz="16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𝜋</m:t>
                          </m:r>
                        </m:e>
                        <m:sup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p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 </m:t>
                      </m:r>
                    </m:oMath>
                  </a14:m>
                  <a:endParaRPr lang="en-US" sz="1600" dirty="0"/>
                </a:p>
              </p:txBody>
            </p:sp>
          </mc:Choice>
          <mc:Fallback xmlns="">
            <p:sp>
              <p:nvSpPr>
                <p:cNvPr id="7" name="TextBox 37">
                  <a:extLst>
                    <a:ext uri="{FF2B5EF4-FFF2-40B4-BE49-F238E27FC236}">
                      <a16:creationId xmlns:a16="http://schemas.microsoft.com/office/drawing/2014/main" id="{1B940FEA-C9FB-9A35-6062-2E30E7F88345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028594" y="3915916"/>
                  <a:ext cx="1107611" cy="584775"/>
                </a:xfrm>
                <a:prstGeom prst="rect">
                  <a:avLst/>
                </a:prstGeom>
                <a:blipFill>
                  <a:blip r:embed="rId6"/>
                  <a:stretch>
                    <a:fillRect t="-3125" b="-12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B3954ED2-5491-8A3F-7138-9F0DEDA17235}"/>
                  </a:ext>
                </a:extLst>
              </p:cNvPr>
              <p:cNvSpPr txBox="1"/>
              <p:nvPr/>
            </p:nvSpPr>
            <p:spPr>
              <a:xfrm>
                <a:off x="8231667" y="2248185"/>
                <a:ext cx="2988896" cy="906915"/>
              </a:xfrm>
              <a:prstGeom prst="rect">
                <a:avLst/>
              </a:prstGeom>
            </p:spPr>
            <p:style>
              <a:lnRef idx="2">
                <a:schemeClr val="accent3">
                  <a:shade val="15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limLow>
                      <m:limLowPr>
                        <m:ctrlPr>
                          <a:rPr lang="en-US" sz="1600" b="0" i="1" smtClean="0">
                            <a:latin typeface="Cambria Math" panose="02040503050406030204" pitchFamily="18" charset="0"/>
                          </a:rPr>
                        </m:ctrlPr>
                      </m:limLowPr>
                      <m:e>
                        <m:r>
                          <m:rPr>
                            <m:sty m:val="p"/>
                          </m:rPr>
                          <a:rPr lang="en-US" sz="1600" smtClean="0">
                            <a:latin typeface="Cambria Math" panose="02040503050406030204" pitchFamily="18" charset="0"/>
                          </a:rPr>
                          <m:t>max</m:t>
                        </m:r>
                      </m:e>
                      <m:lim>
                        <m:r>
                          <m:rPr>
                            <m:sty m:val="p"/>
                          </m:rPr>
                          <a:rPr lang="en-US" sz="1600" b="0" i="0" smtClean="0">
                            <a:latin typeface="Cambria Math" panose="02040503050406030204" pitchFamily="18" charset="0"/>
                          </a:rPr>
                          <m:t>a</m:t>
                        </m:r>
                      </m:lim>
                    </m:limLow>
                  </m:oMath>
                </a14:m>
                <a:r>
                  <a:rPr lang="en-US" sz="1600" dirty="0"/>
                  <a:t> … policy improvement</a:t>
                </a:r>
              </a:p>
              <a:p>
                <a14:m>
                  <m:oMath xmlns:m="http://schemas.openxmlformats.org/officeDocument/2006/math">
                    <m:r>
                      <a:rPr lang="en-US" sz="16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𝔼</m:t>
                    </m:r>
                  </m:oMath>
                </a14:m>
                <a:r>
                  <a:rPr lang="en-US" sz="1600" dirty="0"/>
                  <a:t>       … truncated policy </a:t>
                </a:r>
                <a:br>
                  <a:rPr lang="en-US" sz="1600" dirty="0"/>
                </a:br>
                <a:r>
                  <a:rPr lang="en-US" sz="1600" dirty="0"/>
                  <a:t>                evaluation (1 step)</a:t>
                </a:r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B3954ED2-5491-8A3F-7138-9F0DEDA1723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31667" y="2248185"/>
                <a:ext cx="2988896" cy="906915"/>
              </a:xfrm>
              <a:prstGeom prst="rect">
                <a:avLst/>
              </a:prstGeom>
              <a:blipFill>
                <a:blip r:embed="rId7"/>
                <a:stretch>
                  <a:fillRect t="-658" b="-592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53681266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ontent Placeholder 4">
            <a:extLst>
              <a:ext uri="{FF2B5EF4-FFF2-40B4-BE49-F238E27FC236}">
                <a16:creationId xmlns:a16="http://schemas.microsoft.com/office/drawing/2014/main" id="{76B44262-ED50-A04F-C5AA-E6A746D0470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0239" y="1039018"/>
            <a:ext cx="6849637" cy="4779963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1D7C93B2-B8AE-DF85-EA1B-8078C4975C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Alg. Value Iteration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EA7CD4F4-7550-2FF0-26AF-786588E65B5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rcRect l="1659" t="2281"/>
          <a:stretch>
            <a:fillRect/>
          </a:stretch>
        </p:blipFill>
        <p:spPr>
          <a:xfrm>
            <a:off x="4411456" y="3092208"/>
            <a:ext cx="7034263" cy="3307667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3" name="Speech Bubble: Rectangle with Corners Rounded 2">
                <a:extLst>
                  <a:ext uri="{FF2B5EF4-FFF2-40B4-BE49-F238E27FC236}">
                    <a16:creationId xmlns:a16="http://schemas.microsoft.com/office/drawing/2014/main" id="{9540CE52-AAD7-F286-13F5-1B8D753FE1D7}"/>
                  </a:ext>
                </a:extLst>
              </p:cNvPr>
              <p:cNvSpPr/>
              <p:nvPr/>
            </p:nvSpPr>
            <p:spPr>
              <a:xfrm>
                <a:off x="8103956" y="4239859"/>
                <a:ext cx="2889785" cy="569466"/>
              </a:xfrm>
              <a:prstGeom prst="wedgeRoundRectCallout">
                <a:avLst>
                  <a:gd name="adj1" fmla="val -66744"/>
                  <a:gd name="adj2" fmla="val 62281"/>
                  <a:gd name="adj3" fmla="val 16667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600" b="0" dirty="0"/>
                  <a:t>Bellman optimality operator:</a:t>
                </a:r>
                <a:br>
                  <a:rPr lang="en-US" sz="1600" b="0" dirty="0"/>
                </a:br>
                <a:r>
                  <a:rPr lang="en-US" sz="1600" b="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6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𝑉</m:t>
                        </m:r>
                      </m:e>
                      <m:sub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sz="16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p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  <m:sSub>
                      <m:sSubPr>
                        <m:ctrlPr>
                          <a:rPr lang="en-US" sz="16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𝑉</m:t>
                        </m:r>
                      </m:e>
                      <m:sub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</m:oMath>
                </a14:m>
                <a:endParaRPr lang="en-US" sz="1600" dirty="0"/>
              </a:p>
            </p:txBody>
          </p:sp>
        </mc:Choice>
        <mc:Fallback xmlns="">
          <p:sp>
            <p:nvSpPr>
              <p:cNvPr id="3" name="Speech Bubble: Rectangle with Corners Rounded 2">
                <a:extLst>
                  <a:ext uri="{FF2B5EF4-FFF2-40B4-BE49-F238E27FC236}">
                    <a16:creationId xmlns:a16="http://schemas.microsoft.com/office/drawing/2014/main" id="{9540CE52-AAD7-F286-13F5-1B8D753FE1D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03956" y="4239859"/>
                <a:ext cx="2889785" cy="569466"/>
              </a:xfrm>
              <a:prstGeom prst="wedgeRoundRectCallout">
                <a:avLst>
                  <a:gd name="adj1" fmla="val -66744"/>
                  <a:gd name="adj2" fmla="val 62281"/>
                  <a:gd name="adj3" fmla="val 16667"/>
                </a:avLst>
              </a:prstGeom>
              <a:blipFill>
                <a:blip r:embed="rId4"/>
                <a:stretch>
                  <a:fillRect t="-267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Speech Bubble: Rectangle with Corners Rounded 5">
            <a:extLst>
              <a:ext uri="{FF2B5EF4-FFF2-40B4-BE49-F238E27FC236}">
                <a16:creationId xmlns:a16="http://schemas.microsoft.com/office/drawing/2014/main" id="{C94FA055-A74C-A901-CCD7-6A1A7CC80DA2}"/>
              </a:ext>
            </a:extLst>
          </p:cNvPr>
          <p:cNvSpPr/>
          <p:nvPr/>
        </p:nvSpPr>
        <p:spPr>
          <a:xfrm>
            <a:off x="8577442" y="6207869"/>
            <a:ext cx="2667583" cy="384011"/>
          </a:xfrm>
          <a:prstGeom prst="wedgeRoundRectCallout">
            <a:avLst>
              <a:gd name="adj1" fmla="val -75681"/>
              <a:gd name="adj2" fmla="val -48428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b="0" dirty="0"/>
              <a:t>Extract the greedy policy.</a:t>
            </a:r>
            <a:endParaRPr lang="en-US" sz="1600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AC0C2CF-3D6C-5FB5-6FAF-5A3C70799FAF}"/>
              </a:ext>
            </a:extLst>
          </p:cNvPr>
          <p:cNvSpPr/>
          <p:nvPr/>
        </p:nvSpPr>
        <p:spPr>
          <a:xfrm>
            <a:off x="1563554" y="3231811"/>
            <a:ext cx="2847902" cy="300146"/>
          </a:xfrm>
          <a:prstGeom prst="rect">
            <a:avLst/>
          </a:prstGeom>
          <a:noFill/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6D968F04-390C-807C-E196-34BFDCCC50A5}"/>
              </a:ext>
            </a:extLst>
          </p:cNvPr>
          <p:cNvSpPr/>
          <p:nvPr/>
        </p:nvSpPr>
        <p:spPr>
          <a:xfrm>
            <a:off x="1199213" y="4954746"/>
            <a:ext cx="3212243" cy="300146"/>
          </a:xfrm>
          <a:prstGeom prst="rect">
            <a:avLst/>
          </a:prstGeom>
          <a:noFill/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06B028D-DF2E-6F82-30C8-7142C1BEBEA8}"/>
              </a:ext>
            </a:extLst>
          </p:cNvPr>
          <p:cNvSpPr txBox="1"/>
          <p:nvPr/>
        </p:nvSpPr>
        <p:spPr>
          <a:xfrm>
            <a:off x="1695311" y="3678540"/>
            <a:ext cx="2584388" cy="1200329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r>
              <a:rPr lang="en-US" dirty="0"/>
              <a:t>Combine improvement and modified evaluation (1 iteration only) into a single update.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73AAE380-C886-4AD1-501B-DC3FA8D0D18B}"/>
              </a:ext>
            </a:extLst>
          </p:cNvPr>
          <p:cNvSpPr/>
          <p:nvPr/>
        </p:nvSpPr>
        <p:spPr>
          <a:xfrm>
            <a:off x="5114123" y="4899809"/>
            <a:ext cx="3541266" cy="300146"/>
          </a:xfrm>
          <a:prstGeom prst="rect">
            <a:avLst/>
          </a:prstGeom>
          <a:noFill/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Speech Bubble: Rectangle with Corners Rounded 3">
            <a:extLst>
              <a:ext uri="{FF2B5EF4-FFF2-40B4-BE49-F238E27FC236}">
                <a16:creationId xmlns:a16="http://schemas.microsoft.com/office/drawing/2014/main" id="{7EDE205F-7A5D-E9BD-56DA-89AC4D034BAD}"/>
              </a:ext>
            </a:extLst>
          </p:cNvPr>
          <p:cNvSpPr/>
          <p:nvPr/>
        </p:nvSpPr>
        <p:spPr>
          <a:xfrm>
            <a:off x="8103956" y="5254892"/>
            <a:ext cx="2667583" cy="474765"/>
          </a:xfrm>
          <a:prstGeom prst="wedgeRoundRectCallout">
            <a:avLst>
              <a:gd name="adj1" fmla="val -141709"/>
              <a:gd name="adj2" fmla="val 13915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b="0" dirty="0"/>
              <a:t>Stopping criterion from policy evaluation</a:t>
            </a:r>
            <a:endParaRPr lang="en-US" sz="1600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2F357B00-C899-A34F-CC4A-48E9DDA5567A}"/>
              </a:ext>
            </a:extLst>
          </p:cNvPr>
          <p:cNvSpPr/>
          <p:nvPr/>
        </p:nvSpPr>
        <p:spPr>
          <a:xfrm>
            <a:off x="4781862" y="5914693"/>
            <a:ext cx="3729702" cy="300146"/>
          </a:xfrm>
          <a:prstGeom prst="rect">
            <a:avLst/>
          </a:prstGeom>
          <a:noFill/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4799415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4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0930CFB0-D2B7-437F-8981-207DBA2A81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Code…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BF9353D-E2F6-5C2D-E559-4D7DA584DF5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6450942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64B189-2BE7-EF8E-90AD-B8D2A5B4A3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Issues with DP Methods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664E2E2-C328-F2E5-08B7-7436CBE7F52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b="1" dirty="0"/>
                  <a:t>Requires perfect knowledge of the model!</a:t>
                </a:r>
              </a:p>
              <a:p>
                <a:pPr marL="0" indent="0">
                  <a:buNone/>
                </a:pPr>
                <a:endParaRPr lang="en-US" b="1" dirty="0"/>
              </a:p>
              <a:p>
                <a:pPr marL="0" indent="0">
                  <a:buNone/>
                </a:pPr>
                <a:r>
                  <a:rPr lang="en-US" b="1" dirty="0"/>
                  <a:t>Space Complexity</a:t>
                </a:r>
                <a:endParaRPr lang="en-US" dirty="0"/>
              </a:p>
              <a:p>
                <a:pPr lvl="1"/>
                <a:r>
                  <a:rPr lang="en-US" dirty="0"/>
                  <a:t>Tabular method: stores the complete value function as table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𝑉</m:t>
                    </m:r>
                  </m:oMath>
                </a14:m>
                <a:r>
                  <a:rPr lang="en-US" dirty="0"/>
                  <a:t>. </a:t>
                </a:r>
              </a:p>
              <a:p>
                <a:endParaRPr lang="en-US" dirty="0"/>
              </a:p>
              <a:p>
                <a:pPr marL="0" indent="0">
                  <a:buNone/>
                </a:pPr>
                <a:r>
                  <a:rPr lang="en-US" b="1" dirty="0"/>
                  <a:t>Time Complexity</a:t>
                </a:r>
              </a:p>
              <a:p>
                <a:pPr lvl="1"/>
                <a:r>
                  <a:rPr lang="en-US" dirty="0"/>
                  <a:t>Updates repeatedly sweep over the whole state space.</a:t>
                </a:r>
              </a:p>
              <a:p>
                <a:pPr lvl="1"/>
                <a:r>
                  <a:rPr lang="en-US" dirty="0"/>
                  <a:t>Wastes computation by updating states that are not relevant for the optimal behavior. I.e., the optimal policy will never visit them.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664E2E2-C328-F2E5-08B7-7436CBE7F52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17" t="-216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48696844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42819D-6D6F-85AF-5816-7FFAE79AF0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GPI: Generalized Policy Iteration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C33D3AB-3DD4-67C8-8B22-66483B0E48C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Generalizing value and policy iteration into a single framework.</a:t>
            </a:r>
          </a:p>
        </p:txBody>
      </p:sp>
    </p:spTree>
    <p:extLst>
      <p:ext uri="{BB962C8B-B14F-4D97-AF65-F5344CB8AC3E}">
        <p14:creationId xmlns:p14="http://schemas.microsoft.com/office/powerpoint/2010/main" val="39115260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863CDC-59B1-7366-BF66-6498BF0BDA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27E42A-9F26-864D-705B-AD1A7F35C8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GPI: Generalized Policy Iteration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39A61E8-38E7-2C6A-1812-C00D57947FA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1" y="1397330"/>
                <a:ext cx="7223876" cy="4779633"/>
              </a:xfrm>
            </p:spPr>
            <p:txBody>
              <a:bodyPr>
                <a:normAutofit fontScale="70000" lnSpcReduction="20000"/>
              </a:bodyPr>
              <a:lstStyle/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r>
                  <a:rPr lang="en-US" b="1" dirty="0"/>
                  <a:t>Steps</a:t>
                </a:r>
              </a:p>
              <a:p>
                <a:pPr lvl="1"/>
                <a:r>
                  <a:rPr lang="en-US" b="1" dirty="0"/>
                  <a:t>Policy evaluation</a:t>
                </a:r>
                <a:r>
                  <a:rPr lang="en-US" dirty="0"/>
                  <a:t>: make the value function consistent with the current policy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dirty="0"/>
                  <a:t>.</a:t>
                </a:r>
              </a:p>
              <a:p>
                <a:pPr lvl="1"/>
                <a:r>
                  <a:rPr lang="en-US" b="1" dirty="0"/>
                  <a:t>Policy improvement</a:t>
                </a:r>
                <a:r>
                  <a:rPr lang="en-US" dirty="0"/>
                  <a:t>: make policy greedy with respect to the current value function estimate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en-US" dirty="0"/>
              </a:p>
              <a:p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Most DP methods can be described as a special case of GPI:</a:t>
                </a:r>
              </a:p>
              <a:p>
                <a:pPr lvl="1"/>
                <a:r>
                  <a:rPr lang="en-US" b="1" dirty="0"/>
                  <a:t>Policy iteration</a:t>
                </a:r>
                <a:r>
                  <a:rPr lang="en-US" dirty="0"/>
                  <a:t>: each evaluation and improvement step is completed (by a sweep over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𝒮</m:t>
                    </m:r>
                  </m:oMath>
                </a14:m>
                <a:r>
                  <a:rPr lang="en-US" dirty="0"/>
                  <a:t>) before moving on.</a:t>
                </a:r>
              </a:p>
              <a:p>
                <a:pPr lvl="1"/>
                <a:r>
                  <a:rPr lang="en-US" b="1" dirty="0"/>
                  <a:t>Value iteration</a:t>
                </a:r>
                <a:r>
                  <a:rPr lang="en-US" dirty="0"/>
                  <a:t>: uses a single iteration for the policy evaluation step.</a:t>
                </a:r>
              </a:p>
              <a:p>
                <a:pPr lvl="1"/>
                <a:r>
                  <a:rPr lang="en-US" b="1" dirty="0"/>
                  <a:t>Asynchronous DP</a:t>
                </a:r>
                <a:r>
                  <a:rPr lang="en-US" dirty="0"/>
                  <a:t>: Instead of sweeps over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𝒮</m:t>
                    </m:r>
                  </m:oMath>
                </a14:m>
                <a:r>
                  <a:rPr lang="en-US" dirty="0"/>
                  <a:t>, updates states in some other order (e.g., focus on states where the value function changed a lot in the last step). This interleaves pol. eval. and pol. Improvement. 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All three approaches typically converge to the optimal solution.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39A61E8-38E7-2C6A-1812-C00D57947FA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1" y="1397330"/>
                <a:ext cx="7223876" cy="4779633"/>
              </a:xfrm>
              <a:blipFill>
                <a:blip r:embed="rId2"/>
                <a:stretch>
                  <a:fillRect l="-928" r="-67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7" name="Picture 6">
            <a:extLst>
              <a:ext uri="{FF2B5EF4-FFF2-40B4-BE49-F238E27FC236}">
                <a16:creationId xmlns:a16="http://schemas.microsoft.com/office/drawing/2014/main" id="{37D4EB40-D8C7-544A-60A9-FB0F86C14D1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38762"/>
          <a:stretch>
            <a:fillRect/>
          </a:stretch>
        </p:blipFill>
        <p:spPr>
          <a:xfrm>
            <a:off x="8760146" y="309335"/>
            <a:ext cx="2682923" cy="2628738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349C9802-DC7A-3741-A414-F95D8B5FE1E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90323" y="3585975"/>
            <a:ext cx="3511083" cy="23898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5929873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84FA30-1294-3E3D-F7B7-AE5ECD84C7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Efficiency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665C76A-B55E-DE87-E461-B000ACB2919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lnSpcReduction="10000"/>
              </a:bodyPr>
              <a:lstStyle/>
              <a:p>
                <a:r>
                  <a:rPr lang="en-US" b="1" dirty="0"/>
                  <a:t>Direct Search</a:t>
                </a:r>
                <a:r>
                  <a:rPr lang="en-US" dirty="0"/>
                  <a:t>: Search space </a:t>
                </a:r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</a:rPr>
                      <m:t>𝑂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(</m:t>
                    </m:r>
                    <m:sSup>
                      <m:sSupPr>
                        <m:ctrlPr>
                          <a:rPr lang="en-US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|</m:t>
                        </m:r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𝒜</m:t>
                        </m:r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|</m:t>
                        </m:r>
                      </m:e>
                      <m:sup>
                        <m:d>
                          <m:dPr>
                            <m:begChr m:val="|"/>
                            <m:endChr m:val="|"/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𝒮</m:t>
                            </m:r>
                          </m:e>
                        </m:d>
                      </m:sup>
                    </m:sSup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is </a:t>
                </a:r>
                <a:r>
                  <a:rPr lang="en-US" b="1" dirty="0"/>
                  <a:t>exponential</a:t>
                </a:r>
                <a:r>
                  <a:rPr lang="en-US" dirty="0"/>
                  <a:t> in the number of states </a:t>
                </a:r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𝒮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.</m:t>
                    </m:r>
                  </m:oMath>
                </a14:m>
                <a:endParaRPr lang="en-US" dirty="0"/>
              </a:p>
              <a:p>
                <a:endParaRPr lang="en-US" dirty="0"/>
              </a:p>
              <a:p>
                <a:r>
                  <a:rPr lang="en-US" b="1" dirty="0"/>
                  <a:t>LP (linear program): </a:t>
                </a:r>
                <a:r>
                  <a:rPr lang="en-US" dirty="0"/>
                  <a:t>Solve a system of </a:t>
                </a:r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𝒮</m:t>
                        </m:r>
                      </m:e>
                    </m:d>
                  </m:oMath>
                </a14:m>
                <a:r>
                  <a:rPr lang="en-US" dirty="0"/>
                  <a:t> equations with </a:t>
                </a:r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𝒮</m:t>
                        </m:r>
                      </m:e>
                    </m:d>
                  </m:oMath>
                </a14:m>
                <a:r>
                  <a:rPr lang="en-US" dirty="0"/>
                  <a:t> state variables and </a:t>
                </a:r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𝒮</m:t>
                        </m:r>
                      </m:e>
                    </m:d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|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𝒜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|</m:t>
                    </m:r>
                  </m:oMath>
                </a14:m>
                <a:r>
                  <a:rPr lang="en-US" dirty="0"/>
                  <a:t> constraints has a time complexity of </a:t>
                </a:r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</a:rPr>
                      <m:t>𝑂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(</m:t>
                    </m:r>
                    <m:sSup>
                      <m:sSupPr>
                        <m:ctrlPr>
                          <a:rPr lang="en-US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begChr m:val="|"/>
                            <m:endChr m:val="|"/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𝒮</m:t>
                            </m:r>
                          </m:e>
                        </m:d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3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.</a:t>
                </a:r>
              </a:p>
              <a:p>
                <a:endParaRPr lang="en-US" dirty="0"/>
              </a:p>
              <a:p>
                <a:r>
                  <a:rPr lang="en-US" b="1" dirty="0"/>
                  <a:t>DP</a:t>
                </a:r>
                <a:r>
                  <a:rPr lang="en-US" dirty="0"/>
                  <a:t>: Time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𝑂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(</m:t>
                    </m:r>
                    <m:sSup>
                      <m:sSupPr>
                        <m:ctrlPr>
                          <a:rPr lang="en-US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begChr m:val="|"/>
                            <m:endChr m:val="|"/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𝒮</m:t>
                            </m:r>
                          </m:e>
                        </m:d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|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𝒜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|)</m:t>
                    </m:r>
                  </m:oMath>
                </a14:m>
                <a:r>
                  <a:rPr lang="en-US" dirty="0"/>
                  <a:t> is </a:t>
                </a:r>
                <a:r>
                  <a:rPr lang="en-US" b="1" dirty="0"/>
                  <a:t>quadratic</a:t>
                </a:r>
                <a:r>
                  <a:rPr lang="en-US" dirty="0"/>
                  <a:t> in </a:t>
                </a:r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𝒮</m:t>
                        </m:r>
                      </m:e>
                    </m:d>
                  </m:oMath>
                </a14:m>
                <a:r>
                  <a:rPr lang="en-US" dirty="0"/>
                  <a:t>.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Search and LP are impractical. The number of actions is typically relatively small. </a:t>
                </a:r>
                <a:r>
                  <a:rPr lang="en-US" b="1" dirty="0"/>
                  <a:t>DP can be used today with millions of states.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665C76A-B55E-DE87-E461-B000ACB2919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17" t="-2423" r="-1623" b="-63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55106721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E81BF4F6-F2CF-4984-9D14-D6966D92F9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-718276" y="729523"/>
            <a:ext cx="6858000" cy="5398953"/>
          </a:xfrm>
          <a:prstGeom prst="rect">
            <a:avLst/>
          </a:prstGeom>
          <a:ln>
            <a:noFill/>
          </a:ln>
          <a:effectLst>
            <a:outerShdw blurRad="419100" dist="152400" sx="94000" sy="94000" algn="l" rotWithShape="0">
              <a:prstClr val="black">
                <a:alpha val="32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E2C52A3-FAA4-BCF8-A90D-D0A2BBA5D1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8952" y="785366"/>
            <a:ext cx="4069055" cy="2072853"/>
          </a:xfrm>
        </p:spPr>
        <p:txBody>
          <a:bodyPr anchor="t">
            <a:normAutofit/>
          </a:bodyPr>
          <a:lstStyle/>
          <a:p>
            <a:r>
              <a:rPr lang="en-US" sz="4000" dirty="0"/>
              <a:t>What you need to know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3B8B81D-82C4-D9E0-6DED-9C99A065A09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1110" b="-1"/>
          <a:stretch>
            <a:fillRect/>
          </a:stretch>
        </p:blipFill>
        <p:spPr bwMode="auto">
          <a:xfrm>
            <a:off x="724708" y="3429000"/>
            <a:ext cx="3951110" cy="266699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2ED8835-0B09-E3B5-B39B-6B68E1180DC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096000" y="528505"/>
                <a:ext cx="5257797" cy="5796793"/>
              </a:xfrm>
            </p:spPr>
            <p:txBody>
              <a:bodyPr anchor="ctr">
                <a:normAutofit fontScale="92500" lnSpcReduction="20000"/>
              </a:bodyPr>
              <a:lstStyle/>
              <a:p>
                <a:pPr marL="0" indent="0">
                  <a:buNone/>
                </a:pPr>
                <a:r>
                  <a:rPr lang="en-US" sz="1600" b="1" dirty="0"/>
                  <a:t>Requirements</a:t>
                </a:r>
                <a:r>
                  <a:rPr lang="en-US" sz="1600" dirty="0"/>
                  <a:t>:</a:t>
                </a:r>
              </a:p>
              <a:p>
                <a:pPr lvl="1"/>
                <a:r>
                  <a:rPr lang="en-US" sz="1600" b="1" dirty="0"/>
                  <a:t>Model access</a:t>
                </a:r>
                <a:r>
                  <a:rPr lang="en-US" sz="1600" dirty="0"/>
                  <a:t>: DP methods need access to the </a:t>
                </a:r>
                <a:r>
                  <a:rPr lang="en-US" sz="1600" b="1" dirty="0"/>
                  <a:t>model</a:t>
                </a:r>
                <a:r>
                  <a:rPr lang="en-US" sz="1600" dirty="0"/>
                  <a:t>’s function </a:t>
                </a:r>
                <a14:m>
                  <m:oMath xmlns:m="http://schemas.openxmlformats.org/officeDocument/2006/math">
                    <m:r>
                      <a:rPr lang="en-US" sz="1600" i="1"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lang="en-US" sz="1600" dirty="0"/>
                  <a:t>.</a:t>
                </a:r>
              </a:p>
              <a:p>
                <a:pPr lvl="1"/>
                <a:r>
                  <a:rPr lang="en-US" sz="1600" b="1" dirty="0"/>
                  <a:t>Small discrete state/action space </a:t>
                </a:r>
                <a:r>
                  <a:rPr lang="en-US" sz="1600" dirty="0"/>
                  <a:t>since it is a tabular method.</a:t>
                </a:r>
              </a:p>
              <a:p>
                <a:pPr marL="0" indent="0">
                  <a:buNone/>
                </a:pPr>
                <a:endParaRPr lang="en-US" sz="1600" b="1" dirty="0"/>
              </a:p>
              <a:p>
                <a:pPr marL="0" indent="0">
                  <a:buNone/>
                </a:pPr>
                <a:r>
                  <a:rPr lang="en-US" sz="1600" b="1" dirty="0"/>
                  <a:t>Tasks</a:t>
                </a:r>
                <a:r>
                  <a:rPr lang="en-US" sz="1600" dirty="0"/>
                  <a:t>:</a:t>
                </a:r>
              </a:p>
              <a:p>
                <a:pPr lvl="1"/>
                <a:r>
                  <a:rPr lang="en-US" sz="1600" b="1" dirty="0"/>
                  <a:t>Evaluation/Prediction</a:t>
                </a:r>
                <a:r>
                  <a:rPr lang="en-US" sz="1600" dirty="0"/>
                  <a:t>: Calculates the value function for a given policy.</a:t>
                </a:r>
              </a:p>
              <a:p>
                <a:pPr lvl="1"/>
                <a:r>
                  <a:rPr lang="en-US" sz="1600" b="1" dirty="0"/>
                  <a:t>Control</a:t>
                </a:r>
                <a:r>
                  <a:rPr lang="en-US" sz="1600" dirty="0"/>
                  <a:t>: Calculates the optimal policy for an MDP.</a:t>
                </a:r>
              </a:p>
              <a:p>
                <a:endParaRPr lang="en-US" sz="1600" dirty="0"/>
              </a:p>
              <a:p>
                <a:pPr marL="0" indent="0">
                  <a:buNone/>
                </a:pPr>
                <a:r>
                  <a:rPr lang="en-US" sz="1600" b="1" dirty="0"/>
                  <a:t>Approach</a:t>
                </a:r>
                <a:r>
                  <a:rPr lang="en-US" sz="1600" dirty="0"/>
                  <a:t>: </a:t>
                </a:r>
              </a:p>
              <a:p>
                <a:r>
                  <a:rPr lang="en-US" sz="1600" dirty="0"/>
                  <a:t>Convert the recursive Bellman equations into the Belmann update operators and sweep the state space till the optimal solution is found.</a:t>
                </a:r>
              </a:p>
              <a:p>
                <a:pPr lvl="1"/>
                <a:r>
                  <a:rPr lang="en-US" sz="1600" dirty="0"/>
                  <a:t>Expected Bellman update operator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600" b="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600" b="0" i="1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p>
                        <m:r>
                          <a:rPr lang="en-US" sz="1600" b="0" i="1">
                            <a:latin typeface="Cambria Math" panose="02040503050406030204" pitchFamily="18" charset="0"/>
                          </a:rPr>
                          <m:t>𝜋</m:t>
                        </m:r>
                      </m:sup>
                    </m:sSup>
                  </m:oMath>
                </a14:m>
                <a:r>
                  <a:rPr lang="en-US" sz="1600" dirty="0"/>
                  <a:t> vs. Bellman optimality operator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600" b="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600" b="0" i="1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p>
                        <m:r>
                          <a:rPr lang="en-US" sz="1600" b="0" i="1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endParaRPr lang="en-US" sz="1600" dirty="0"/>
              </a:p>
              <a:p>
                <a:pPr lvl="1"/>
                <a:r>
                  <a:rPr lang="en-US" sz="1600" dirty="0"/>
                  <a:t>Value iteration is a special case of modified policy iteration with a single policy evaluation iteration.</a:t>
                </a:r>
              </a:p>
              <a:p>
                <a:pPr lvl="1"/>
                <a:r>
                  <a:rPr lang="en-US" sz="1600" dirty="0"/>
                  <a:t>Convergence requires either </a:t>
                </a:r>
                <a14:m>
                  <m:oMath xmlns:m="http://schemas.openxmlformats.org/officeDocument/2006/math"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𝛾</m:t>
                    </m:r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&lt;1</m:t>
                    </m:r>
                  </m:oMath>
                </a14:m>
                <a:r>
                  <a:rPr lang="en-US" sz="1600" dirty="0"/>
                  <a:t> or a guarantee that the policy will reach a terminal state.</a:t>
                </a:r>
              </a:p>
              <a:p>
                <a:endParaRPr lang="en-US" sz="1600" b="1" dirty="0"/>
              </a:p>
              <a:p>
                <a:pPr marL="0" indent="0">
                  <a:buNone/>
                </a:pPr>
                <a:r>
                  <a:rPr lang="en-US" sz="1600" b="1" dirty="0"/>
                  <a:t>GPI</a:t>
                </a:r>
                <a:r>
                  <a:rPr lang="en-US" sz="1600" dirty="0"/>
                  <a:t>: </a:t>
                </a:r>
              </a:p>
              <a:p>
                <a:r>
                  <a:rPr lang="en-US" sz="1600" dirty="0"/>
                  <a:t>All DP methods can be generalized using the GPI evaluation/improvement framework.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2ED8835-0B09-E3B5-B39B-6B68E1180DC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096000" y="528505"/>
                <a:ext cx="5257797" cy="5796793"/>
              </a:xfrm>
              <a:blipFill>
                <a:blip r:embed="rId3"/>
                <a:stretch>
                  <a:fillRect l="-464" r="-116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9877117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7443</TotalTime>
  <Words>2303</Words>
  <Application>Microsoft Office PowerPoint</Application>
  <PresentationFormat>Widescreen</PresentationFormat>
  <Paragraphs>307</Paragraphs>
  <Slides>24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30" baseType="lpstr">
      <vt:lpstr>Aptos</vt:lpstr>
      <vt:lpstr>Aptos Display</vt:lpstr>
      <vt:lpstr>Arial</vt:lpstr>
      <vt:lpstr>Calibri</vt:lpstr>
      <vt:lpstr>Cambria Math</vt:lpstr>
      <vt:lpstr>Office Theme</vt:lpstr>
      <vt:lpstr>Reinforcement Learning  Dynamic Programming Sutton/Barto* Chapter 4</vt:lpstr>
      <vt:lpstr>Summary of Notation</vt:lpstr>
      <vt:lpstr>Goal</vt:lpstr>
      <vt:lpstr>Tabular Methods</vt:lpstr>
      <vt:lpstr>Prediction vs. Control</vt:lpstr>
      <vt:lpstr>Prediction: Policy Evaluation</vt:lpstr>
      <vt:lpstr>Policy Evaluation to Estimate v_π</vt:lpstr>
      <vt:lpstr>Solution Option 1: Linear Program</vt:lpstr>
      <vt:lpstr>Solution Option 2: Iterative Policy Evaluation</vt:lpstr>
      <vt:lpstr>Convergence of Iterative Policy Evaluation</vt:lpstr>
      <vt:lpstr>Alg. Iterative Policy Evaluation</vt:lpstr>
      <vt:lpstr>Policy Iteration</vt:lpstr>
      <vt:lpstr>Policy Improvement and the Greedy Policy</vt:lpstr>
      <vt:lpstr>Policy Iteration</vt:lpstr>
      <vt:lpstr>Alg. Policy Iteration</vt:lpstr>
      <vt:lpstr>Value Iteration</vt:lpstr>
      <vt:lpstr>Value Iteration</vt:lpstr>
      <vt:lpstr>Alg. Value Iteration</vt:lpstr>
      <vt:lpstr>Code…</vt:lpstr>
      <vt:lpstr>Issues with DP Methods</vt:lpstr>
      <vt:lpstr>GPI: Generalized Policy Iteration</vt:lpstr>
      <vt:lpstr>GPI: Generalized Policy Iteration</vt:lpstr>
      <vt:lpstr>Efficiency</vt:lpstr>
      <vt:lpstr>What you need to know</vt:lpstr>
    </vt:vector>
  </TitlesOfParts>
  <Company>Southern Methodist University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Hahsler, Michael</dc:creator>
  <cp:lastModifiedBy>Hahsler, Michael</cp:lastModifiedBy>
  <cp:revision>120</cp:revision>
  <dcterms:created xsi:type="dcterms:W3CDTF">2025-09-08T14:44:49Z</dcterms:created>
  <dcterms:modified xsi:type="dcterms:W3CDTF">2026-02-04T19:56:19Z</dcterms:modified>
</cp:coreProperties>
</file>