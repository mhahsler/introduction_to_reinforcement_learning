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68" r:id="rId3"/>
    <p:sldId id="388" r:id="rId4"/>
    <p:sldId id="380" r:id="rId5"/>
    <p:sldId id="372" r:id="rId6"/>
    <p:sldId id="369" r:id="rId7"/>
    <p:sldId id="370" r:id="rId8"/>
    <p:sldId id="371" r:id="rId9"/>
    <p:sldId id="374" r:id="rId10"/>
    <p:sldId id="373" r:id="rId11"/>
    <p:sldId id="375" r:id="rId12"/>
    <p:sldId id="376" r:id="rId13"/>
    <p:sldId id="377" r:id="rId14"/>
    <p:sldId id="378" r:id="rId15"/>
    <p:sldId id="379" r:id="rId16"/>
    <p:sldId id="382" r:id="rId17"/>
    <p:sldId id="383" r:id="rId18"/>
    <p:sldId id="384" r:id="rId19"/>
    <p:sldId id="385" r:id="rId20"/>
    <p:sldId id="386" r:id="rId21"/>
    <p:sldId id="38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68"/>
            <p14:sldId id="388"/>
            <p14:sldId id="380"/>
            <p14:sldId id="372"/>
            <p14:sldId id="369"/>
            <p14:sldId id="370"/>
            <p14:sldId id="371"/>
            <p14:sldId id="374"/>
            <p14:sldId id="373"/>
            <p14:sldId id="375"/>
            <p14:sldId id="376"/>
            <p14:sldId id="377"/>
            <p14:sldId id="378"/>
            <p14:sldId id="379"/>
            <p14:sldId id="382"/>
            <p14:sldId id="383"/>
            <p14:sldId id="384"/>
            <p14:sldId id="385"/>
            <p14:sldId id="386"/>
            <p14:sldId id="3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653200" y="-18278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Dynamic Programming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sz="2000" dirty="0"/>
                  <a:t>Compute the 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000" dirty="0"/>
                  <a:t> given a perfect finite MDP model.</a:t>
                </a:r>
              </a:p>
              <a:p>
                <a:r>
                  <a:rPr lang="en-US" sz="2000" dirty="0"/>
                  <a:t>Bellman optimality equations: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/>
              </a:p>
              <a:p>
                <a:pPr marL="0" indent="0" algn="ctr">
                  <a:buNone/>
                </a:pPr>
                <a:r>
                  <a:rPr lang="en-US" sz="2000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b="1" dirty="0"/>
                  <a:t>Idea</a:t>
                </a:r>
                <a:r>
                  <a:rPr lang="en-US" sz="2000" dirty="0"/>
                  <a:t>: turn the Bellman optimality equations into update rules.</a:t>
                </a:r>
              </a:p>
              <a:p>
                <a:r>
                  <a:rPr lang="en-US" sz="2000" b="1" dirty="0"/>
                  <a:t>Issues</a:t>
                </a:r>
                <a:r>
                  <a:rPr lang="en-US" sz="2000" dirty="0"/>
                  <a:t>: </a:t>
                </a:r>
                <a:r>
                  <a:rPr lang="en-US" sz="1800" dirty="0"/>
                  <a:t>The estimate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800" dirty="0"/>
                  <a:t> depends on the current estimates of the successor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800" dirty="0"/>
                  <a:t>. This is a recursion!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F685B52-5D31-046C-FA57-23AD9A7FCCFF}"/>
              </a:ext>
            </a:extLst>
          </p:cNvPr>
          <p:cNvGrpSpPr/>
          <p:nvPr/>
        </p:nvGrpSpPr>
        <p:grpSpPr>
          <a:xfrm>
            <a:off x="5936874" y="3738285"/>
            <a:ext cx="1622631" cy="579543"/>
            <a:chOff x="2533296" y="3175233"/>
            <a:chExt cx="1503726" cy="5795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898E18C9-0941-AC3C-3E0A-203470D94889}"/>
                </a:ext>
              </a:extLst>
            </p:cNvPr>
            <p:cNvSpPr/>
            <p:nvPr/>
          </p:nvSpPr>
          <p:spPr>
            <a:xfrm rot="5400000">
              <a:off x="3194734" y="2513795"/>
              <a:ext cx="180849" cy="150372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/>
                <p:nvPr/>
              </p:nvSpPr>
              <p:spPr>
                <a:xfrm>
                  <a:off x="2602325" y="3385444"/>
                  <a:ext cx="136566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2325" y="3385444"/>
                  <a:ext cx="1365667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  <a:blipFill>
                <a:blip r:embed="rId2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:pPr/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0194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C6BA7-ADBF-A187-1481-819E42FCC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Tabular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Dynamic programming is a tabular method.</a:t>
                </a:r>
              </a:p>
              <a:p>
                <a:r>
                  <a:rPr lang="en-US" dirty="0"/>
                  <a:t>The value functions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are stored in arrays (tables).</a:t>
                </a:r>
              </a:p>
              <a:p>
                <a:r>
                  <a:rPr lang="en-US" dirty="0"/>
                  <a:t>Tabular methods can often find the exact solution (i.e., optimal value function and policy).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Since the table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and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many entries, this is only feasible for problems with a small state space!</a:t>
                </a:r>
              </a:p>
              <a:p>
                <a:endParaRPr lang="en-US" dirty="0"/>
              </a:p>
              <a:p>
                <a:r>
                  <a:rPr lang="en-US" dirty="0"/>
                  <a:t>We will later talk about approximate methods that can work with large state spaces.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406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6858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843C56-7419-CE0C-1D18-6CC80DC10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Evaluation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250192-9C75-1175-C27F-B882D7E51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750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5F1C3-5C0A-145A-FD0E-11A8D3F8E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Evaluation (Prediction)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First step: Compute the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In dynamic programming (DP) this is called policy evaluation.</a:t>
                </a:r>
              </a:p>
              <a:p>
                <a:pPr>
                  <a:lnSpc>
                    <a:spcPct val="100000"/>
                  </a:lnSpc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r>
                  <a:rPr lang="en-US" dirty="0"/>
                  <a:t>Recursive relationship: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equations, one for each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r>
                  <a:rPr lang="en-US" dirty="0"/>
                  <a:t>To calculate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from later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called </a:t>
                </a:r>
                <a:r>
                  <a:rPr lang="en-US" b="1" dirty="0"/>
                  <a:t>bootstrapping</a:t>
                </a:r>
                <a:r>
                  <a:rPr lang="en-US" dirty="0"/>
                  <a:t> in DP.</a:t>
                </a:r>
              </a:p>
              <a:p>
                <a:endParaRPr lang="en-US" b="1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&lt;1 </m:t>
                    </m:r>
                  </m:oMath>
                </a14:m>
                <a:r>
                  <a:rPr lang="en-US" dirty="0"/>
                  <a:t>or termination is guaranteed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  <a:blipFill>
                <a:blip r:embed="rId2"/>
                <a:stretch>
                  <a:fillRect l="-522" t="-2155" b="-20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30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5D3C2-BFBE-479C-C276-D13BC409F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Options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Solve the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linear equations. </a:t>
                </a:r>
                <a:br>
                  <a:rPr lang="en-US" sz="2400" dirty="0"/>
                </a:br>
                <a:r>
                  <a:rPr lang="en-US" sz="2400" dirty="0"/>
                  <a:t>This is hard 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is very large.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Iterative Policy Evaluation</a:t>
                </a:r>
              </a:p>
              <a:p>
                <a:pPr lvl="1"/>
                <a:r>
                  <a:rPr lang="en-US" sz="2000" dirty="0"/>
                  <a:t>Start with arbitrary values for all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Update all values at iteration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/>
                  <a:t> using </a:t>
                </a:r>
              </a:p>
              <a:p>
                <a:pPr lvl="1"/>
                <a:endParaRPr lang="en-US" sz="20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≝</m:t>
                      </m:r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2000" dirty="0"/>
                  <a:t> is a fixed point. Updates converge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786" b="-70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D69E0E1-150E-502B-230D-20020733C03F}"/>
              </a:ext>
            </a:extLst>
          </p:cNvPr>
          <p:cNvGrpSpPr/>
          <p:nvPr/>
        </p:nvGrpSpPr>
        <p:grpSpPr>
          <a:xfrm>
            <a:off x="4839829" y="4965969"/>
            <a:ext cx="5375181" cy="730954"/>
            <a:chOff x="2458533" y="3098314"/>
            <a:chExt cx="1699913" cy="730954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67214591-2070-0693-973A-E1B8CCC315CF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F88B54-F488-2CE8-6F14-974D1CC4F817}"/>
                </a:ext>
              </a:extLst>
            </p:cNvPr>
            <p:cNvSpPr txBox="1"/>
            <p:nvPr/>
          </p:nvSpPr>
          <p:spPr>
            <a:xfrm>
              <a:off x="2458533" y="3306048"/>
              <a:ext cx="169991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In DP called “expected update.”</a:t>
              </a:r>
              <a:br>
                <a:rPr lang="en-US" sz="1400" dirty="0"/>
              </a:br>
              <a:r>
                <a:rPr lang="en-US" sz="1400" dirty="0"/>
                <a:t>Uses the expectation over all possible next states.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642650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978EC-0ABA-0841-5F8F-F9F724EE9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Iterative Policy Evaluation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571EE0-04FA-AFEF-D4C0-742C0CA1C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441" y="1614234"/>
            <a:ext cx="8545118" cy="362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0455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98E72-A858-886F-FFC6-1EAF054B2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09B95-047C-85A1-59FC-0A9A298CFB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The nonterminal states are S = {1, 2, . . . , 14}. There are four actions possible in each</a:t>
            </a:r>
          </a:p>
          <a:p>
            <a:r>
              <a:rPr lang="en-US" dirty="0"/>
              <a:t>state, A = {up, down, right, left}, which deterministically cause the corresponding</a:t>
            </a:r>
          </a:p>
          <a:p>
            <a:r>
              <a:rPr lang="en-US" dirty="0"/>
              <a:t>state transitions, except that actions that would take the agent o↵ the grid in fact leave</a:t>
            </a:r>
          </a:p>
          <a:p>
            <a:r>
              <a:rPr lang="en-US" dirty="0"/>
              <a:t>the state unchanged. Thus, for instance, p(6,−1|5, right) = 1, p(7,−1|7, right) = 1,</a:t>
            </a:r>
          </a:p>
          <a:p>
            <a:r>
              <a:rPr lang="en-US" dirty="0"/>
              <a:t>and p(10, r|5, right) = 0 for all r 2 R. This is an undiscounted, episodic task. The</a:t>
            </a:r>
          </a:p>
          <a:p>
            <a:r>
              <a:rPr lang="en-US" dirty="0"/>
              <a:t>reward is −1 on all transitions until the terminal state is reached. The terminal state is</a:t>
            </a:r>
          </a:p>
          <a:p>
            <a:r>
              <a:rPr lang="en-US" dirty="0"/>
              <a:t>shaded in the figure (although it is shown in two places, it is formally one state). The</a:t>
            </a:r>
          </a:p>
          <a:p>
            <a:r>
              <a:rPr lang="en-US" dirty="0"/>
              <a:t>expected reward function is thus r(s, a, s0) = −1 for all states s, s0 and actions a. Suppose</a:t>
            </a:r>
          </a:p>
          <a:p>
            <a:r>
              <a:rPr lang="en-US" dirty="0"/>
              <a:t>the agent follows the equiprobable random policy (all actions equally likely). The left side</a:t>
            </a:r>
          </a:p>
          <a:p>
            <a:r>
              <a:rPr lang="en-US" dirty="0"/>
              <a:t>of Figure 4.1 shows the sequence of value functions {</a:t>
            </a:r>
            <a:r>
              <a:rPr lang="en-US" dirty="0" err="1"/>
              <a:t>vk</a:t>
            </a:r>
            <a:r>
              <a:rPr lang="en-US" dirty="0"/>
              <a:t>} computed by iterative policy</a:t>
            </a:r>
          </a:p>
          <a:p>
            <a:r>
              <a:rPr lang="en-US" dirty="0"/>
              <a:t>evaluation. The final estimate is in fact v⇡, which in this case gives for each state the</a:t>
            </a:r>
          </a:p>
          <a:p>
            <a:r>
              <a:rPr lang="en-US" dirty="0"/>
              <a:t>negation of the expected number of steps from that state until termination.</a:t>
            </a:r>
          </a:p>
          <a:p>
            <a:r>
              <a:rPr lang="en-US" dirty="0"/>
              <a:t>Exercise 4.1 In Example 4.1, if ⇡ is the equiprobable random policy, what is q⇡(11, down)?</a:t>
            </a:r>
          </a:p>
          <a:p>
            <a:r>
              <a:rPr lang="en-US" dirty="0"/>
              <a:t>What is q⇡(7, down)?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60DC1D-1A9A-5821-679A-6B4DC5B4E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4997" y="0"/>
            <a:ext cx="89170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708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CF1CC-10CD-B582-2B11-0A66BEC5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054114-96CE-D97E-B075-31C454DDA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62B658-5985-EDF0-1906-5FE3656E5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248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FCE80A-5561-7918-7BB7-41058FE7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Improvement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a better policy.</a:t>
                </a:r>
              </a:p>
              <a:p>
                <a:r>
                  <a:rPr lang="en-US" b="1" dirty="0"/>
                  <a:t>Policy improvement theorem</a:t>
                </a:r>
                <a:r>
                  <a:rPr lang="en-US" dirty="0"/>
                  <a:t>: If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	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is a least as good or better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i.e.,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create a new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by choosing in each state the best (aka greedy) action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This gives a strictly better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unless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is already optimal.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 b="-24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1635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5F9D9-4282-B818-FCEC-0D021362C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8771389" cy="907896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Sequence of monotonically improving policies: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8771389" cy="907896"/>
              </a:xfrm>
              <a:blipFill>
                <a:blip r:embed="rId2"/>
                <a:stretch>
                  <a:fillRect l="-1113" t="-167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/>
              <p:nvPr/>
            </p:nvSpPr>
            <p:spPr>
              <a:xfrm>
                <a:off x="9313355" y="1489113"/>
                <a:ext cx="2599595" cy="753924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groupChr>
                  </m:oMath>
                </a14:m>
                <a:r>
                  <a:rPr lang="en-US" sz="1600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sz="1600" dirty="0"/>
                  <a:t>policy eval. step</a:t>
                </a:r>
                <a:r>
                  <a:rPr lang="en-US" sz="1600" b="0" i="1" dirty="0">
                    <a:latin typeface="Cambria Math" panose="02040503050406030204" pitchFamily="18" charset="0"/>
                  </a:rPr>
                  <a:t>  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groupChr>
                  </m:oMath>
                </a14:m>
                <a:r>
                  <a:rPr lang="en-US" sz="1600" dirty="0"/>
                  <a:t> policy improvement step</a:t>
                </a:r>
                <a:r>
                  <a:rPr lang="en-US" sz="1600" i="1" dirty="0">
                    <a:latin typeface="Cambria Math" panose="02040503050406030204" pitchFamily="18" charset="0"/>
                  </a:rPr>
                  <a:t> </a:t>
                </a:r>
                <a:endParaRPr 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3355" y="1489113"/>
                <a:ext cx="2599595" cy="753924"/>
              </a:xfrm>
              <a:prstGeom prst="rect">
                <a:avLst/>
              </a:prstGeom>
              <a:blipFill>
                <a:blip r:embed="rId3"/>
                <a:stretch>
                  <a:fillRect l="-3030" b="-220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Policy iteration as a sequence of policy evaluation and policy improvements.">
            <a:extLst>
              <a:ext uri="{FF2B5EF4-FFF2-40B4-BE49-F238E27FC236}">
                <a16:creationId xmlns:a16="http://schemas.microsoft.com/office/drawing/2014/main" id="{5330DBED-05CE-C5CD-1726-3FFBB3C2F0B3}"/>
              </a:ext>
            </a:extLst>
          </p:cNvPr>
          <p:cNvGrpSpPr/>
          <p:nvPr/>
        </p:nvGrpSpPr>
        <p:grpSpPr>
          <a:xfrm>
            <a:off x="9161388" y="2382237"/>
            <a:ext cx="3198391" cy="2284485"/>
            <a:chOff x="9723059" y="2019762"/>
            <a:chExt cx="2494019" cy="2284485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47A44AD-8292-96EC-1994-4950D408F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767243" y="2133600"/>
              <a:ext cx="1963017" cy="9905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lit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957BD3F-E8AA-B5A0-FC84-59F338DCD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4409" y="3091219"/>
              <a:ext cx="96282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3B50D4-BD22-4970-434D-879A140DE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767" y="3202752"/>
              <a:ext cx="1984379" cy="9210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6948348-E14F-E78C-7925-6D07B342D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flipV="1">
              <a:off x="9982200" y="2438400"/>
              <a:ext cx="360675" cy="151540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1A484C5-4702-A9B7-9D77-FC3973E8A6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0342875" y="2438400"/>
              <a:ext cx="325125" cy="1219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EB4DCB4-48A5-6E51-B9FE-EF0E9B4BA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8000" y="2819400"/>
              <a:ext cx="457200" cy="838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CB15DB5-D53A-F51F-8727-21F569598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125200" y="2819400"/>
              <a:ext cx="228600" cy="5334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79E848C-DEE2-2B22-D382-CB1D0AFA6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53800" y="3066584"/>
              <a:ext cx="228600" cy="28621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F360256-AFD1-C0BB-ABF4-6ED717BE2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582400" y="3086337"/>
              <a:ext cx="98107" cy="11406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0" name="TextBox 56">
              <a:extLst>
                <a:ext uri="{FF2B5EF4-FFF2-40B4-BE49-F238E27FC236}">
                  <a16:creationId xmlns:a16="http://schemas.microsoft.com/office/drawing/2014/main" id="{AFD80097-9184-52DD-89E7-0E2ED869B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17199066">
              <a:off x="9460902" y="3071193"/>
              <a:ext cx="12367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Policy evaluation</a:t>
              </a:r>
            </a:p>
          </p:txBody>
        </p:sp>
        <p:sp>
          <p:nvSpPr>
            <p:cNvPr id="21" name="TextBox 57">
              <a:extLst>
                <a:ext uri="{FF2B5EF4-FFF2-40B4-BE49-F238E27FC236}">
                  <a16:creationId xmlns:a16="http://schemas.microsoft.com/office/drawing/2014/main" id="{17FBEAB6-A067-564C-70A8-D8E9A5A2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4406454">
              <a:off x="10019882" y="2910998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/>
                <a:t>P. improvement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6042" y="4181912"/>
                <a:ext cx="7897536" cy="219391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improvement is guaranteed to improve the policy + finite MDPs have a finite number of policies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Policy Iteration must </a:t>
                </a:r>
                <a:r>
                  <a:rPr lang="en-US" b="1" dirty="0"/>
                  <a:t>converge</a:t>
                </a:r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b="1" dirty="0"/>
                  <a:t>Notes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becomes stable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is reached.</a:t>
                </a:r>
              </a:p>
              <a:p>
                <a:pPr lvl="1"/>
                <a:r>
                  <a:rPr lang="en-US" dirty="0"/>
                  <a:t>Policy iteration typically converges very fast (a few iterations)</a:t>
                </a:r>
              </a:p>
              <a:p>
                <a:pPr lvl="1"/>
                <a:r>
                  <a:rPr lang="en-US" dirty="0"/>
                  <a:t>Issue: Policy estimation is </a:t>
                </a:r>
                <a:r>
                  <a:rPr lang="en-US" dirty="0" err="1"/>
                  <a:t>computationaly</a:t>
                </a:r>
                <a:r>
                  <a:rPr lang="en-US" dirty="0"/>
                  <a:t> expensive!</a:t>
                </a:r>
              </a:p>
            </p:txBody>
          </p:sp>
        </mc:Choice>
        <mc:Fallback xmlns="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042" y="4181912"/>
                <a:ext cx="7897536" cy="2193918"/>
              </a:xfrm>
              <a:prstGeom prst="rect">
                <a:avLst/>
              </a:prstGeom>
              <a:blipFill>
                <a:blip r:embed="rId8"/>
                <a:stretch>
                  <a:fillRect l="-1003" t="-5556" b="-3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90092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57162-18FD-7F93-177F-3D55B41AE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Policy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BB67C0D-A372-0D64-BB80-32D4D2FCE8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181" y="1397000"/>
            <a:ext cx="6849637" cy="477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1138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9A4790-D161-0E92-E9A9-5BEEA5CFC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806331-75C8-8E65-5F2F-5059452CA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3925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6D9EF-5990-B359-32C3-C72B2C6A0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7990869" cy="4235652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Combines the policy improvement and truncated policy evaluation steps: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  <m:r>
                            <m:rPr>
                              <m:nor/>
                            </m:r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400" dirty="0"/>
              </a:p>
              <a:p>
                <a:r>
                  <a:rPr lang="en-US" sz="2400" b="1" dirty="0"/>
                  <a:t>Guarantee</a:t>
                </a:r>
                <a:r>
                  <a:rPr lang="en-US" sz="2400" dirty="0"/>
                  <a:t>: Sequence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2400" dirty="0"/>
              </a:p>
              <a:p>
                <a:r>
                  <a:rPr lang="en-US" sz="2400" dirty="0"/>
                  <a:t>Practical termination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  ∀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7990869" cy="4235652"/>
              </a:xfrm>
              <a:blipFill>
                <a:blip r:embed="rId2"/>
                <a:stretch>
                  <a:fillRect l="-1069" t="-18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DDD6752-393B-5DE4-89C9-FB6C1BD42C20}"/>
              </a:ext>
            </a:extLst>
          </p:cNvPr>
          <p:cNvGrpSpPr/>
          <p:nvPr/>
        </p:nvGrpSpPr>
        <p:grpSpPr>
          <a:xfrm>
            <a:off x="8975345" y="3682639"/>
            <a:ext cx="2854818" cy="2270823"/>
            <a:chOff x="9337182" y="2229868"/>
            <a:chExt cx="2854818" cy="2270823"/>
          </a:xfrm>
        </p:grpSpPr>
        <p:grpSp>
          <p:nvGrpSpPr>
            <p:cNvPr id="5" name="Group 4" descr="Updating the value function using iterative Bellman updates.">
              <a:extLst>
                <a:ext uri="{FF2B5EF4-FFF2-40B4-BE49-F238E27FC236}">
                  <a16:creationId xmlns:a16="http://schemas.microsoft.com/office/drawing/2014/main" id="{63FD7C4D-64E2-3FEF-F62C-382BE07E89C8}"/>
                </a:ext>
              </a:extLst>
            </p:cNvPr>
            <p:cNvGrpSpPr/>
            <p:nvPr/>
          </p:nvGrpSpPr>
          <p:grpSpPr>
            <a:xfrm>
              <a:off x="9337182" y="2229868"/>
              <a:ext cx="2854818" cy="1428805"/>
              <a:chOff x="9337182" y="2229868"/>
              <a:chExt cx="2854818" cy="1428805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3024366-3B9C-8541-0D28-708BBC7AE6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" name="Arc 9">
                <a:extLst>
                  <a:ext uri="{FF2B5EF4-FFF2-40B4-BE49-F238E27FC236}">
                    <a16:creationId xmlns:a16="http://schemas.microsoft.com/office/drawing/2014/main" id="{830A3C56-435D-BEBE-B83F-3BA9F9E01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3FB9398F-7C22-1F4D-9C1A-D846D19FEE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2" name="Arc 11">
                <a:extLst>
                  <a:ext uri="{FF2B5EF4-FFF2-40B4-BE49-F238E27FC236}">
                    <a16:creationId xmlns:a16="http://schemas.microsoft.com/office/drawing/2014/main" id="{72229F87-12B2-362D-80BC-031A6CAAE4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936EFA66-6C09-679B-C4C9-F361F262C3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AF4F629-36FB-BF7C-2361-1AFA669F5F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7" name="TextBox 35">
                <a:extLst>
                  <a:ext uri="{FF2B5EF4-FFF2-40B4-BE49-F238E27FC236}">
                    <a16:creationId xmlns:a16="http://schemas.microsoft.com/office/drawing/2014/main" id="{0C0182D5-6E45-5881-FEB0-C4755A155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6" name="Arrow: Down 5">
              <a:extLst>
                <a:ext uri="{FF2B5EF4-FFF2-40B4-BE49-F238E27FC236}">
                  <a16:creationId xmlns:a16="http://schemas.microsoft.com/office/drawing/2014/main" id="{489C2DDD-1EBF-335C-9781-0FE90D3CF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82400" y="3481251"/>
              <a:ext cx="248436" cy="388563"/>
            </a:xfrm>
            <a:prstGeom prst="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1600" dirty="0"/>
                    <a:t>Extract</a:t>
                  </a:r>
                  <a:br>
                    <a:rPr lang="en-US" sz="1600" dirty="0"/>
                  </a:br>
                  <a:r>
                    <a:rPr lang="en-US" sz="1600" dirty="0"/>
                    <a:t> greedy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blipFill>
                  <a:blip r:embed="rId6"/>
                  <a:stretch>
                    <a:fillRect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/>
              <p:nvPr/>
            </p:nvSpPr>
            <p:spPr>
              <a:xfrm>
                <a:off x="8849408" y="2272967"/>
                <a:ext cx="2565174" cy="660694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limLow>
                      <m:limLow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160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lim>
                    </m:limLow>
                  </m:oMath>
                </a14:m>
                <a:r>
                  <a:rPr lang="en-US" sz="1600" dirty="0"/>
                  <a:t> … policy improvement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</m:oMath>
                </a14:m>
                <a:r>
                  <a:rPr lang="en-US" sz="1600" dirty="0"/>
                  <a:t>       … policy evaluation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408" y="2272967"/>
                <a:ext cx="2565174" cy="660694"/>
              </a:xfrm>
              <a:prstGeom prst="rect">
                <a:avLst/>
              </a:prstGeom>
              <a:blipFill>
                <a:blip r:embed="rId7"/>
                <a:stretch>
                  <a:fillRect t="-901" b="-9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68126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93B2-B8AE-DF85-EA1B-8078C497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Value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7CD4F4-7550-2FF0-26AF-786588E65B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28204" y="1767399"/>
            <a:ext cx="8535591" cy="4039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994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4B189-2BE7-EF8E-90AD-B8D2A5B4A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DP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Space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Tabular method: stores the complete value function as table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Time</a:t>
                </a:r>
              </a:p>
              <a:p>
                <a:r>
                  <a:rPr lang="en-US" dirty="0"/>
                  <a:t>Updates repeatedly sweep over the whole state space.</a:t>
                </a:r>
              </a:p>
              <a:p>
                <a:r>
                  <a:rPr lang="en-US" dirty="0"/>
                  <a:t>Wastes computation by updating states that are not relevant for the optimal behavior.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69684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2819D-6D6F-85AF-5816-7FFAE79AF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33D3AB-3DD4-67C8-8B22-66483B0E48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2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3CDC-59B1-7366-BF66-6498BF0BD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E42A-9F26-864D-705B-AD1A7F35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Steps</a:t>
                </a:r>
              </a:p>
              <a:p>
                <a:r>
                  <a:rPr lang="en-US" b="1" dirty="0"/>
                  <a:t>Policy evaluation</a:t>
                </a:r>
                <a:r>
                  <a:rPr lang="en-US" dirty="0"/>
                  <a:t>: make the value function consistent with the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make policy greedy with respect to the current value function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Most DP methods can be described as a special case of GPI:</a:t>
                </a:r>
              </a:p>
              <a:p>
                <a:r>
                  <a:rPr lang="en-US" b="1" dirty="0"/>
                  <a:t>Policy iteration</a:t>
                </a:r>
                <a:r>
                  <a:rPr lang="en-US" dirty="0"/>
                  <a:t>: each eval and improvement step is completed (by a sweep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) before moving on.</a:t>
                </a:r>
              </a:p>
              <a:p>
                <a:r>
                  <a:rPr lang="en-US" b="1" dirty="0"/>
                  <a:t>Value iteration</a:t>
                </a:r>
                <a:r>
                  <a:rPr lang="en-US" dirty="0"/>
                  <a:t>: uses a single iteration for the policy iteration.</a:t>
                </a:r>
              </a:p>
              <a:p>
                <a:r>
                  <a:rPr lang="en-US" b="1" dirty="0"/>
                  <a:t>Asynchronous DP</a:t>
                </a:r>
                <a:r>
                  <a:rPr lang="en-US" dirty="0"/>
                  <a:t>: Instead of sweeps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, updates states in some other order. This interleaves pol. eval. and pol. Improvement.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All three approaches typically converge to the optimal solution.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  <a:blipFill>
                <a:blip r:embed="rId2"/>
                <a:stretch>
                  <a:fillRect l="-759" r="-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7D4EB40-D8C7-544A-60A9-FB0F86C14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2513" y="1184939"/>
            <a:ext cx="2682923" cy="42926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9C9802-DC7A-3741-A414-F95D8B5FE1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219" y="3787146"/>
            <a:ext cx="3511083" cy="238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2987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4FA30-1294-3E3D-F7B7-AE5ECD84C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Direct Search</a:t>
                </a:r>
                <a:r>
                  <a:rPr lang="en-US" dirty="0"/>
                  <a:t>: Search space is </a:t>
                </a:r>
                <a:r>
                  <a:rPr lang="en-US" u="sng" dirty="0"/>
                  <a:t>exponential</a:t>
                </a:r>
                <a:r>
                  <a:rPr lang="en-US" dirty="0"/>
                  <a:t> in the number of states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 and actions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LP (linear program): </a:t>
                </a:r>
                <a:r>
                  <a:rPr lang="en-US" dirty="0"/>
                  <a:t>solve a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 with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state variables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constraints.</a:t>
                </a:r>
              </a:p>
              <a:p>
                <a:endParaRPr lang="en-US" dirty="0"/>
              </a:p>
              <a:p>
                <a:r>
                  <a:rPr lang="en-US" b="1" dirty="0"/>
                  <a:t>DP</a:t>
                </a:r>
                <a:r>
                  <a:rPr lang="en-US" dirty="0"/>
                  <a:t>: </a:t>
                </a:r>
                <a:r>
                  <a:rPr lang="en-US" u="sng" dirty="0"/>
                  <a:t>polynomial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Search and LP are impractical. </a:t>
                </a:r>
                <a:r>
                  <a:rPr lang="en-US" b="1" dirty="0"/>
                  <a:t>DP can be used today with millions of states.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 r="-1391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10672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C52A3-FAA4-BCF8-A90D-D0A2BBA5D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DP needs access to the </a:t>
                </a:r>
                <a:r>
                  <a:rPr lang="en-US" b="1" dirty="0"/>
                  <a:t>model</a:t>
                </a:r>
                <a:r>
                  <a:rPr lang="en-US" dirty="0"/>
                  <a:t>’s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Prediction</a:t>
                </a:r>
                <a:r>
                  <a:rPr lang="en-US" dirty="0"/>
                  <a:t>: Calculates the value function for a given policy.</a:t>
                </a:r>
              </a:p>
              <a:p>
                <a:r>
                  <a:rPr lang="en-US" b="1" dirty="0"/>
                  <a:t>Control</a:t>
                </a:r>
                <a:r>
                  <a:rPr lang="en-US" dirty="0"/>
                  <a:t>: Calculates the optimal policy for an MDP.</a:t>
                </a:r>
              </a:p>
              <a:p>
                <a:endParaRPr lang="en-US" dirty="0"/>
              </a:p>
              <a:p>
                <a:r>
                  <a:rPr lang="en-US" dirty="0"/>
                  <a:t>DP uses the recursive relationship between state values called the Bellman optimality equations.</a:t>
                </a:r>
              </a:p>
              <a:p>
                <a:r>
                  <a:rPr lang="en-US" dirty="0"/>
                  <a:t>It bootstraps, i.e., it calculates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from later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 methods store the complete value function as a table and iteratively sweep over the table.</a:t>
                </a:r>
              </a:p>
              <a:p>
                <a:r>
                  <a:rPr lang="en-US"/>
                  <a:t>The methods </a:t>
                </a:r>
                <a:r>
                  <a:rPr lang="en-US" dirty="0"/>
                  <a:t>can be </a:t>
                </a:r>
                <a:r>
                  <a:rPr lang="en-US"/>
                  <a:t>generalized as </a:t>
                </a:r>
                <a:r>
                  <a:rPr lang="en-US" dirty="0"/>
                  <a:t>the GPI approach.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771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3781</TotalTime>
  <Words>1718</Words>
  <Application>Microsoft Office PowerPoint</Application>
  <PresentationFormat>Widescreen</PresentationFormat>
  <Paragraphs>186</Paragraphs>
  <Slides>21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Dynamic Programming Sutton/Barto* Chapter 4</vt:lpstr>
      <vt:lpstr>Goal</vt:lpstr>
      <vt:lpstr>Summary of Notation</vt:lpstr>
      <vt:lpstr>Tabular Methods</vt:lpstr>
      <vt:lpstr>Policy Evaluation</vt:lpstr>
      <vt:lpstr>Policy Evaluation (Prediction)</vt:lpstr>
      <vt:lpstr>Solution Options</vt:lpstr>
      <vt:lpstr>Alg. Iterative Policy Evaluation</vt:lpstr>
      <vt:lpstr>Example</vt:lpstr>
      <vt:lpstr>Policy Iteration</vt:lpstr>
      <vt:lpstr>Policy Improvement</vt:lpstr>
      <vt:lpstr>Policy Iteration</vt:lpstr>
      <vt:lpstr>Alg. Policy Iteration</vt:lpstr>
      <vt:lpstr>Value Iteration</vt:lpstr>
      <vt:lpstr>Value Iteration</vt:lpstr>
      <vt:lpstr>Alg. Value Iteration</vt:lpstr>
      <vt:lpstr>Issues with DP Methods</vt:lpstr>
      <vt:lpstr>GPI: Generalized Policy Iteration</vt:lpstr>
      <vt:lpstr>GPI: Generalized Policy Iteration</vt:lpstr>
      <vt:lpstr>Efficiency</vt:lpstr>
      <vt:lpstr>Summary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93</cp:revision>
  <dcterms:created xsi:type="dcterms:W3CDTF">2025-09-08T14:44:49Z</dcterms:created>
  <dcterms:modified xsi:type="dcterms:W3CDTF">2025-09-18T14:20:51Z</dcterms:modified>
</cp:coreProperties>
</file>