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53" r:id="rId3"/>
    <p:sldId id="381" r:id="rId4"/>
    <p:sldId id="354" r:id="rId5"/>
    <p:sldId id="355" r:id="rId6"/>
    <p:sldId id="356" r:id="rId7"/>
    <p:sldId id="357" r:id="rId8"/>
    <p:sldId id="358" r:id="rId9"/>
    <p:sldId id="360" r:id="rId10"/>
    <p:sldId id="359" r:id="rId11"/>
    <p:sldId id="363" r:id="rId12"/>
    <p:sldId id="361" r:id="rId13"/>
    <p:sldId id="362" r:id="rId14"/>
    <p:sldId id="364" r:id="rId15"/>
    <p:sldId id="365" r:id="rId16"/>
    <p:sldId id="366" r:id="rId17"/>
    <p:sldId id="36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53"/>
            <p14:sldId id="381"/>
            <p14:sldId id="354"/>
            <p14:sldId id="355"/>
            <p14:sldId id="356"/>
            <p14:sldId id="357"/>
            <p14:sldId id="358"/>
            <p14:sldId id="360"/>
            <p14:sldId id="359"/>
            <p14:sldId id="363"/>
            <p14:sldId id="361"/>
            <p14:sldId id="362"/>
            <p14:sldId id="364"/>
            <p14:sldId id="365"/>
            <p14:sldId id="366"/>
            <p14:sldId id="3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78" d="100"/>
          <a:sy n="78" d="100"/>
        </p:scale>
        <p:origin x="64" y="3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653200" y="-18278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Markov Decision Processes (MDP)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CE117-B0FF-607A-0862-C421EADD0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Agent–Environment Interface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48F0FB8-B5FA-9473-2D66-BFE57DC88A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41703" y="942628"/>
            <a:ext cx="7478169" cy="24863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01D76A-A954-6D50-D235-D0B41CFF50CB}"/>
                  </a:ext>
                </a:extLst>
              </p:cNvPr>
              <p:cNvSpPr txBox="1"/>
              <p:nvPr/>
            </p:nvSpPr>
            <p:spPr>
              <a:xfrm>
                <a:off x="838200" y="3806015"/>
                <a:ext cx="10261697" cy="25853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dirty="0"/>
                  <a:t>Interaction is a sequence of discrete time steps,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0, 1, 2, 3, . . .</m:t>
                    </m:r>
                  </m:oMath>
                </a14:m>
                <a:endParaRPr lang="en-US" dirty="0"/>
              </a:p>
              <a:p>
                <a:pPr marL="171450" indent="-171450" algn="l">
                  <a:buFont typeface="Arial" panose="020B0604020202020204" pitchFamily="34" charset="0"/>
                  <a:buChar char="•"/>
                </a:pPr>
                <a:r>
                  <a:rPr lang="en-US" dirty="0"/>
                  <a:t> At each time step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800100" lvl="1" indent="-342900">
                  <a:buFont typeface="+mj-lt"/>
                  <a:buAutoNum type="arabicPeriod"/>
                </a:pPr>
                <a:r>
                  <a:rPr lang="en-US" dirty="0"/>
                  <a:t>Agent receives some representation of the environment’s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marL="800100" lvl="1" indent="-342900">
                  <a:buFont typeface="+mj-lt"/>
                  <a:buAutoNum type="arabicPeriod"/>
                </a:pPr>
                <a:r>
                  <a:rPr lang="en-US" dirty="0"/>
                  <a:t>Agent selects an action,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800100" lvl="1" indent="-342900">
                  <a:buFont typeface="+mj-lt"/>
                  <a:buAutoNum type="arabicPeriod"/>
                </a:pPr>
                <a:r>
                  <a:rPr lang="en-US" dirty="0"/>
                  <a:t>One time step later (as a consequence of its action) the agent receives a numerical reward,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ℛ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finds itself in a new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Leads to sequence or trajectory that begins like this: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 . . . </m:t>
                      </m:r>
                    </m:oMath>
                  </m:oMathPara>
                </a14:m>
                <a:endParaRPr lang="en-US" i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01D76A-A954-6D50-D235-D0B41CFF50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806015"/>
                <a:ext cx="10261697" cy="2585323"/>
              </a:xfrm>
              <a:prstGeom prst="rect">
                <a:avLst/>
              </a:prstGeom>
              <a:blipFill>
                <a:blip r:embed="rId3"/>
                <a:stretch>
                  <a:fillRect l="-535" t="-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D35FA07E-AB2F-CDB5-6011-310964B51CC6}"/>
              </a:ext>
            </a:extLst>
          </p:cNvPr>
          <p:cNvSpPr txBox="1"/>
          <p:nvPr/>
        </p:nvSpPr>
        <p:spPr>
          <a:xfrm>
            <a:off x="940576" y="1124198"/>
            <a:ext cx="402231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0" i="0" u="none" strike="noStrike" baseline="0" dirty="0">
                <a:latin typeface="CMR10"/>
              </a:rPr>
              <a:t>MDPs are meant to be a straightforward framing of the problem of learning from interaction to achieve a goal.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>
                <a:latin typeface="CMR10"/>
              </a:rPr>
              <a:t>Actions influence the future rewards by leading to different states.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114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expected approximate action value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  <a:blipFill>
                <a:blip r:embed="rId2"/>
                <a:stretch>
                  <a:fillRect b="-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</a:t>
                </a:r>
                <a:r>
                  <a:rPr lang="en-US" sz="1200"/>
                  <a:t>all states </a:t>
                </a:r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  <a:blipFill>
                <a:blip r:embed="rId4"/>
                <a:stretch>
                  <a:fillRect t="-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54715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A9816-6815-95B8-F6A5-9881CF91C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Finite MDP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663287-32CF-0AD4-FA4E-98A5F19259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An MDP is </a:t>
                </a:r>
                <a:r>
                  <a:rPr lang="en-US" b="1" dirty="0"/>
                  <a:t>finite</a:t>
                </a:r>
                <a:r>
                  <a:rPr lang="en-US" dirty="0"/>
                  <a:t> if the </a:t>
                </a:r>
              </a:p>
              <a:p>
                <a:pPr lvl="1"/>
                <a:r>
                  <a:rPr lang="en-US" dirty="0"/>
                  <a:t>sets of states 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), </a:t>
                </a:r>
              </a:p>
              <a:p>
                <a:pPr lvl="1"/>
                <a:r>
                  <a:rPr lang="en-US" dirty="0"/>
                  <a:t>actions 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/>
                  <a:t>), and </a:t>
                </a:r>
              </a:p>
              <a:p>
                <a:pPr lvl="1"/>
                <a:r>
                  <a:rPr lang="en-US" dirty="0"/>
                  <a:t>rewards 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dirty="0"/>
                  <a:t>) all have a finite number of elements.</a:t>
                </a:r>
                <a:endParaRPr lang="en-US" b="1" dirty="0"/>
              </a:p>
              <a:p>
                <a:endParaRPr lang="en-US" b="1" dirty="0"/>
              </a:p>
              <a:p>
                <a:r>
                  <a:rPr lang="en-US" b="1" dirty="0"/>
                  <a:t>Dynamics</a:t>
                </a:r>
                <a:r>
                  <a:rPr lang="en-US" dirty="0"/>
                  <a:t> of the MDP: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≝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{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r>
                  <a:rPr lang="en-US" dirty="0"/>
                  <a:t>As a deterministic functions: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: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→[0,1]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A decision process is a MDP if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completely characterizes the environment’s dynamics.</a:t>
                </a:r>
              </a:p>
              <a:p>
                <a:r>
                  <a:rPr lang="en-US" dirty="0"/>
                  <a:t>Dynamics only depends on the previous state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, so it must have sufficient information about the past. If this is true then it is called an </a:t>
                </a:r>
                <a:r>
                  <a:rPr lang="en-US" b="1" dirty="0"/>
                  <a:t>information state </a:t>
                </a:r>
                <a:r>
                  <a:rPr lang="en-US" dirty="0"/>
                  <a:t>and the system has the </a:t>
                </a:r>
                <a:r>
                  <a:rPr lang="en-US" b="1" dirty="0"/>
                  <a:t>Markov property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663287-32CF-0AD4-FA4E-98A5F19259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2806" b="-2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F1D7063-84BD-4E42-A446-949BC7D128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270" r="11643" b="13005"/>
          <a:stretch>
            <a:fillRect/>
          </a:stretch>
        </p:blipFill>
        <p:spPr>
          <a:xfrm>
            <a:off x="6977243" y="643922"/>
            <a:ext cx="4516160" cy="1716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650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6FB98-AF61-C4B8-3560-EC12AEE93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Transition and Reward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46943C-D2C2-C1A3-11D5-D702A0B1B6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State transition probabilities: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m:rPr>
                          <m:aln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{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}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ℛ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Expected reward for state-action pairs: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≝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ℛ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𝒮</m:t>
                              </m:r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Expected rewards for state-action-next state triples: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</a:rPr>
                        <m:t>≝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′]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ℛ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46943C-D2C2-C1A3-11D5-D702A0B1B6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647814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4F66F-25D5-D1E5-93BB-CB583DE97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an Example!!!!!!!!!!!!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DFAADF1-3BAF-1C5B-A7CB-DDA430778E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94912" y="5442913"/>
            <a:ext cx="8059275" cy="8192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C0AD28F-E684-471B-3861-2B9DDC870C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8284" y="2195340"/>
            <a:ext cx="7935432" cy="2467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6247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F4433-C8B5-8AE9-127E-A4B30383B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 and Rewards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49A3AA-6707-1111-4463-410B353C95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Goal: maximize the expected value of the cumulative sum of the received reward signal.</a:t>
                </a:r>
              </a:p>
              <a:p>
                <a:endParaRPr lang="en-US" dirty="0"/>
              </a:p>
              <a:p>
                <a:r>
                  <a:rPr lang="en-US" dirty="0"/>
                  <a:t>The reward signal at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is a single number: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ℛ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Note:</a:t>
                </a:r>
              </a:p>
              <a:p>
                <a:pPr lvl="1"/>
                <a:r>
                  <a:rPr lang="en-US" dirty="0"/>
                  <a:t>Reward signals should communicate what the agent wants to achieve and not how to do it!</a:t>
                </a:r>
              </a:p>
              <a:p>
                <a:pPr lvl="1"/>
                <a:r>
                  <a:rPr lang="en-US" dirty="0"/>
                  <a:t>Typically, only provide reward for the final goal.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49A3AA-6707-1111-4463-410B353C95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74068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670B3-AB17-A9A5-0AE1-997588EC9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Return and Episodes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651E1F-61E6-FD16-0A38-58F680A561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Goal is to maximize the expected return</a:t>
                </a:r>
                <a:br>
                  <a:rPr lang="en-US" dirty="0"/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+1 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+2 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+3 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+…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 is the final step.</a:t>
                </a:r>
              </a:p>
              <a:p>
                <a:endParaRPr lang="en-US" dirty="0"/>
              </a:p>
              <a:p>
                <a:r>
                  <a:rPr lang="en-US" dirty="0"/>
                  <a:t>Episodic task: </a:t>
                </a:r>
              </a:p>
              <a:p>
                <a:pPr lvl="1"/>
                <a:r>
                  <a:rPr lang="en-US" dirty="0"/>
                  <a:t>Episodes end with a terminal state at time T.</a:t>
                </a:r>
              </a:p>
              <a:p>
                <a:pPr lvl="1"/>
                <a:r>
                  <a:rPr lang="en-US" dirty="0"/>
                  <a:t>Typically followed by a reset for the next episode.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Continuing task:</a:t>
                </a:r>
              </a:p>
              <a:p>
                <a:pPr lvl="1"/>
                <a:r>
                  <a:rPr lang="en-US" dirty="0"/>
                  <a:t>Has no episodes!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651E1F-61E6-FD16-0A38-58F680A561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46277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B0AA0-AA1B-ACC4-4FCF-58DB52802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Reward Discounting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1F70E3-F602-7A9E-773C-3408AFD1FB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Discounting is often used when rewards now are more important then rewards later. Continuing tasks always use discounting.</a:t>
                </a:r>
                <a:br>
                  <a:rPr lang="en-US" dirty="0"/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+3 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+…=</m:t>
                    </m:r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nary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0≤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lang="en-US" dirty="0"/>
                  <a:t> is the discount factor.</a:t>
                </a:r>
              </a:p>
              <a:p>
                <a:endParaRPr lang="en-US" dirty="0"/>
              </a:p>
              <a:p>
                <a:r>
                  <a:rPr lang="en-US" dirty="0"/>
                  <a:t>Properties:</a:t>
                </a:r>
              </a:p>
              <a:p>
                <a:pPr lvl="1"/>
                <a:r>
                  <a:rPr lang="en-US" dirty="0"/>
                  <a:t>Discounting guarantees a finite sum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bounded for continuing tasks</a:t>
                </a:r>
              </a:p>
              <a:p>
                <a:pPr lvl="1"/>
                <a:r>
                  <a:rPr lang="en-US" dirty="0"/>
                  <a:t>“myopic” agents use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and only maximizes immediate rewards. </a:t>
                </a:r>
              </a:p>
              <a:p>
                <a:pPr lvl="1"/>
                <a:r>
                  <a:rPr lang="en-US" dirty="0"/>
                  <a:t>Larger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dirty="0"/>
                  <a:t> make the agent more farsighted.</a:t>
                </a:r>
              </a:p>
              <a:p>
                <a:endParaRPr lang="en-US" dirty="0"/>
              </a:p>
              <a:p>
                <a:r>
                  <a:rPr lang="en-US" dirty="0"/>
                  <a:t>Return is recursive: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</a:rPr>
                        <m:t>≝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+2 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+3 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+…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+3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+…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1F70E3-F602-7A9E-773C-3408AFD1FB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9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0425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3290B-A6B0-71A9-D7E0-C0CAFC7EF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2C4500-9370-2F16-784C-433251C5407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(Stochastic) </a:t>
                </a:r>
                <a:r>
                  <a:rPr lang="en-US" sz="2000" b="1" dirty="0"/>
                  <a:t>Policy</a:t>
                </a:r>
                <a:r>
                  <a:rPr lang="en-US" sz="2000" dirty="0"/>
                  <a:t>: a mapping from states to probabilities of selecting each possible action.</a:t>
                </a:r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  <a:p>
                <a:endParaRPr lang="en-US" sz="2000" dirty="0"/>
              </a:p>
              <a:p>
                <a:r>
                  <a:rPr lang="en-US" sz="2000" dirty="0"/>
                  <a:t>Following policy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000" dirty="0"/>
                  <a:t> at time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000" dirty="0"/>
                  <a:t> means to chose action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000" dirty="0"/>
                  <a:t> in state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000" dirty="0"/>
                  <a:t> with probability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endParaRPr lang="en-US" sz="2000" dirty="0"/>
              </a:p>
              <a:p>
                <a:pPr marL="0" indent="0">
                  <a:buNone/>
                </a:pPr>
                <a:r>
                  <a:rPr lang="en-US" sz="2000" b="1" dirty="0"/>
                  <a:t>Deterministic policy</a:t>
                </a:r>
                <a:r>
                  <a:rPr lang="en-US" sz="2000" dirty="0"/>
                  <a:t>: For each state prescribes a single action.</a:t>
                </a:r>
              </a:p>
              <a:p>
                <a:pPr marL="0" indent="0">
                  <a:buNone/>
                </a:pPr>
                <a:br>
                  <a:rPr lang="en-US" sz="20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endParaRPr lang="en-US" sz="2000" dirty="0"/>
              </a:p>
              <a:p>
                <a:r>
                  <a:rPr lang="en-US" sz="2000" dirty="0"/>
                  <a:t>This just means we have a stochastic policy that has a probability of 1 for exactly one action.</a:t>
                </a:r>
              </a:p>
              <a:p>
                <a:r>
                  <a:rPr lang="en-US" sz="2000" dirty="0"/>
                  <a:t>Finite MDP have an optimal deterministic policy.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2C4500-9370-2F16-784C-433251C540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6363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D1B89-AAB4-1699-9672-29DA1AA2E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5136F5-87F9-5EA5-C2E1-E827CC4CF2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211824" cy="4779633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/>
                  <a:t>Most RL algorithms estimate a value function for a policy.</a:t>
                </a:r>
              </a:p>
              <a:p>
                <a:r>
                  <a:rPr lang="en-US" sz="2000" dirty="0"/>
                  <a:t>State value function: Expected value of being in a state.</a:t>
                </a:r>
              </a:p>
              <a:p>
                <a:pPr marL="457200" lvl="1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aln/>
                        </m:rPr>
                        <a:rPr lang="en-US" sz="1600" i="1">
                          <a:latin typeface="Cambria Math" panose="02040503050406030204" pitchFamily="18" charset="0"/>
                        </a:rPr>
                        <m:t>≝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∞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  <m:sup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</m:sup>
                                  </m:sSup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sz="1600" i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sz="1600" i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600" i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all</m:t>
                      </m:r>
                      <m:r>
                        <m:rPr>
                          <m:nor/>
                        </m:rPr>
                        <a:rPr lang="en-US" sz="1600" i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br>
                  <a:rPr lang="en-US" sz="1600" dirty="0"/>
                </a:br>
                <a:endParaRPr lang="en-US" sz="1600" dirty="0"/>
              </a:p>
              <a:p>
                <a:endParaRPr lang="en-US" sz="2000" dirty="0"/>
              </a:p>
              <a:p>
                <a:r>
                  <a:rPr lang="en-US" sz="2000" dirty="0"/>
                  <a:t>Action value function: Expected value of choosing an action in a state.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aln/>
                        </m:rPr>
                        <a:rPr lang="en-US" sz="1600" i="1">
                          <a:latin typeface="Cambria Math" panose="02040503050406030204" pitchFamily="18" charset="0"/>
                        </a:rPr>
                        <m:t>≝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16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6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16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∞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  <m:sup>
                                      <m:r>
                                        <a:rPr lang="en-US" sz="16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</m:sup>
                                  </m:sSup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US" sz="16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16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16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6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all</m:t>
                      </m:r>
                      <m:r>
                        <m:rPr>
                          <m:nor/>
                        </m:rP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br>
                  <a:rPr lang="en-US" sz="2000" dirty="0"/>
                </a:b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5136F5-87F9-5EA5-C2E1-E827CC4CF2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211824" cy="4779633"/>
              </a:xfrm>
              <a:blipFill>
                <a:blip r:embed="rId2"/>
                <a:stretch>
                  <a:fillRect l="-883" t="-1148" r="-10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6DBEE3AD-4EC9-4D65-160C-CAEE7253B2DB}"/>
              </a:ext>
            </a:extLst>
          </p:cNvPr>
          <p:cNvGrpSpPr/>
          <p:nvPr/>
        </p:nvGrpSpPr>
        <p:grpSpPr>
          <a:xfrm>
            <a:off x="7100416" y="1200054"/>
            <a:ext cx="4879063" cy="4890516"/>
            <a:chOff x="7100416" y="1200054"/>
            <a:chExt cx="4879063" cy="489051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76AD783-8D3A-75D6-9E98-C16ACBC941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53938" y="1200054"/>
              <a:ext cx="4274331" cy="445789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BC90BF1-1EA4-4E0B-9CA9-F594000A2A04}"/>
                </a:ext>
              </a:extLst>
            </p:cNvPr>
            <p:cNvSpPr txBox="1"/>
            <p:nvPr/>
          </p:nvSpPr>
          <p:spPr>
            <a:xfrm>
              <a:off x="7271385" y="5813571"/>
              <a:ext cx="470809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Optimal action-value function for using the driver.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6354DC3-F5DF-DDC5-9493-7C6E7DE5FF85}"/>
                    </a:ext>
                  </a:extLst>
                </p:cNvPr>
                <p:cNvSpPr txBox="1"/>
                <p:nvPr/>
              </p:nvSpPr>
              <p:spPr>
                <a:xfrm>
                  <a:off x="9831010" y="1200054"/>
                  <a:ext cx="1821809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050" dirty="0"/>
                    <a:t>Each stroke: </a:t>
                  </a:r>
                  <a14:m>
                    <m:oMath xmlns:m="http://schemas.openxmlformats.org/officeDocument/2006/math">
                      <m:r>
                        <a:rPr lang="en-US" sz="1050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050" i="1" dirty="0" smtClean="0">
                          <a:latin typeface="Cambria Math" panose="02040503050406030204" pitchFamily="18" charset="0"/>
                        </a:rPr>
                        <m:t>=−1</m:t>
                      </m:r>
                    </m:oMath>
                  </a14:m>
                  <a:endParaRPr lang="en-US" sz="105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6354DC3-F5DF-DDC5-9493-7C6E7DE5FF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31010" y="1200054"/>
                  <a:ext cx="1821809" cy="261610"/>
                </a:xfrm>
                <a:prstGeom prst="rect">
                  <a:avLst/>
                </a:prstGeom>
                <a:blipFill>
                  <a:blip r:embed="rId4"/>
                  <a:stretch>
                    <a:fillRect b="-930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150A622-8878-D5FD-6A81-5B08989D2D48}"/>
                    </a:ext>
                  </a:extLst>
                </p:cNvPr>
                <p:cNvSpPr txBox="1"/>
                <p:nvPr/>
              </p:nvSpPr>
              <p:spPr>
                <a:xfrm>
                  <a:off x="7100416" y="1410629"/>
                  <a:ext cx="7424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150A622-8878-D5FD-6A81-5B08989D2D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416" y="1410629"/>
                  <a:ext cx="742426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569D7074-F69D-CE7C-6FD9-F3670571E748}"/>
                    </a:ext>
                  </a:extLst>
                </p:cNvPr>
                <p:cNvSpPr txBox="1"/>
                <p:nvPr/>
              </p:nvSpPr>
              <p:spPr>
                <a:xfrm>
                  <a:off x="7373493" y="3395787"/>
                  <a:ext cx="450387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200" dirty="0"/>
                    <a:t>State-value function for policy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r>
                    <a:rPr lang="en-US" sz="1200" dirty="0"/>
                    <a:t> that always uses the putter. </a:t>
                  </a: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569D7074-F69D-CE7C-6FD9-F3670571E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3493" y="3395787"/>
                  <a:ext cx="4503877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40EFF5B-9FF1-30C6-5BC4-6E75BDBB92CA}"/>
                  </a:ext>
                </a:extLst>
              </p:cNvPr>
              <p:cNvSpPr txBox="1"/>
              <p:nvPr/>
            </p:nvSpPr>
            <p:spPr>
              <a:xfrm>
                <a:off x="838200" y="6291743"/>
                <a:ext cx="4660783" cy="338554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1600" dirty="0"/>
                  <a:t> … Expectation under policy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600" dirty="0"/>
                  <a:t> = follow the policy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40EFF5B-9FF1-30C6-5BC4-6E75BDBB92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6291743"/>
                <a:ext cx="4660783" cy="338554"/>
              </a:xfrm>
              <a:prstGeom prst="rect">
                <a:avLst/>
              </a:prstGeom>
              <a:blipFill>
                <a:blip r:embed="rId7"/>
                <a:stretch>
                  <a:fillRect t="-3390" b="-16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8168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257A3-0814-F4B3-FBE8-7C0EEC853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Value Function Estimation and </a:t>
            </a:r>
            <a:br>
              <a:rPr lang="en-US" dirty="0"/>
            </a:br>
            <a:r>
              <a:rPr lang="en-US" dirty="0"/>
              <a:t>Monte Carlo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50DBB8-21E8-23B1-1F45-1AFF64F5D4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The value functions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can be estimated from experience. </a:t>
                </a:r>
              </a:p>
              <a:p>
                <a:endParaRPr lang="en-US" dirty="0"/>
              </a:p>
              <a:p>
                <a:r>
                  <a:rPr lang="en-US" dirty="0"/>
                  <a:t>Example: </a:t>
                </a:r>
              </a:p>
              <a:p>
                <a:pPr lvl="1"/>
                <a:r>
                  <a:rPr lang="en-US" dirty="0"/>
                  <a:t>agent follows policy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b="0" dirty="0"/>
                  <a:t>.</a:t>
                </a:r>
              </a:p>
              <a:p>
                <a:pPr lvl="1"/>
                <a:r>
                  <a:rPr lang="en-US" dirty="0"/>
                  <a:t>maintains an average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of the actual returns that have followed that state. The average is updated at each visit.</a:t>
                </a: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𝑣𝑖𝑠𝑖𝑡𝑠</m:t>
                            </m:r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This sample-average method is a simple Monte Carlo method.</a:t>
                </a:r>
              </a:p>
              <a:p>
                <a:endParaRPr lang="en-US" dirty="0"/>
              </a:p>
              <a:p>
                <a:r>
                  <a:rPr lang="en-US" dirty="0"/>
                  <a:t>This also works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r>
                  <a:rPr lang="en-US" dirty="0"/>
                  <a:t>For problems with many states: learn a function with a smaller number of parameters.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50DBB8-21E8-23B1-1F45-1AFF64F5D4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 r="-638" b="-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75125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35375-FD3B-7776-4067-3155F545A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Bellman Equation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63C09A-2598-95B5-6123-7C75AF2611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2935584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Value functions always have a </a:t>
                </a:r>
                <a:r>
                  <a:rPr lang="en-US" b="1" dirty="0"/>
                  <a:t>recursive relationship </a:t>
                </a:r>
                <a:r>
                  <a:rPr lang="en-US" dirty="0"/>
                  <a:t>between the </a:t>
                </a:r>
              </a:p>
              <a:p>
                <a:pPr lvl="1"/>
                <a:r>
                  <a:rPr lang="en-US" dirty="0"/>
                  <a:t>value of a state, and the </a:t>
                </a:r>
              </a:p>
              <a:p>
                <a:pPr lvl="1"/>
                <a:r>
                  <a:rPr lang="en-US" dirty="0"/>
                  <a:t>value of its successor.</a:t>
                </a:r>
              </a:p>
              <a:p>
                <a:endParaRPr lang="en-US" dirty="0"/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≝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)[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all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br>
                  <a:rPr lang="en-US" dirty="0">
                    <a:ea typeface="Cambria Math" panose="02040503050406030204" pitchFamily="18" charset="0"/>
                  </a:rPr>
                </a:b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63C09A-2598-95B5-6123-7C75AF2611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2935584"/>
              </a:xfrm>
              <a:blipFill>
                <a:blip r:embed="rId2"/>
                <a:stretch>
                  <a:fillRect l="-754" t="-4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115FEED1-5263-6978-1335-D8047A9A9B6D}"/>
              </a:ext>
            </a:extLst>
          </p:cNvPr>
          <p:cNvGrpSpPr/>
          <p:nvPr/>
        </p:nvGrpSpPr>
        <p:grpSpPr>
          <a:xfrm>
            <a:off x="3803151" y="4203950"/>
            <a:ext cx="1306585" cy="517988"/>
            <a:chOff x="2533296" y="3175233"/>
            <a:chExt cx="1503726" cy="517988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A6F53F34-DC74-85D4-625B-6EEC1FD7694E}"/>
                </a:ext>
              </a:extLst>
            </p:cNvPr>
            <p:cNvSpPr/>
            <p:nvPr/>
          </p:nvSpPr>
          <p:spPr>
            <a:xfrm rot="5400000">
              <a:off x="3194734" y="2513795"/>
              <a:ext cx="180849" cy="1503726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1D0C74D-FD67-E71A-5208-3A7E1687E3B8}"/>
                </a:ext>
              </a:extLst>
            </p:cNvPr>
            <p:cNvSpPr txBox="1"/>
            <p:nvPr/>
          </p:nvSpPr>
          <p:spPr>
            <a:xfrm>
              <a:off x="2602325" y="3385444"/>
              <a:ext cx="136566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Expectation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CD4D12A2-912D-795C-BDD2-413005339C80}"/>
              </a:ext>
            </a:extLst>
          </p:cNvPr>
          <p:cNvSpPr txBox="1"/>
          <p:nvPr/>
        </p:nvSpPr>
        <p:spPr>
          <a:xfrm>
            <a:off x="6096000" y="2034330"/>
            <a:ext cx="4785919" cy="36933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Value of a state = reward + value of successor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9CCDEC7-38F6-D2B2-28CB-9C74204E9F8E}"/>
              </a:ext>
            </a:extLst>
          </p:cNvPr>
          <p:cNvGrpSpPr/>
          <p:nvPr/>
        </p:nvGrpSpPr>
        <p:grpSpPr>
          <a:xfrm>
            <a:off x="1006169" y="4751299"/>
            <a:ext cx="5089831" cy="1849772"/>
            <a:chOff x="1006169" y="4751299"/>
            <a:chExt cx="5089831" cy="184977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2003229-FD22-0510-A340-BF002F9F28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15184"/>
            <a:stretch>
              <a:fillRect/>
            </a:stretch>
          </p:blipFill>
          <p:spPr>
            <a:xfrm>
              <a:off x="3511122" y="4751299"/>
              <a:ext cx="2495536" cy="1849772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21D70A9-69B7-7BC9-0D2C-D1C5CC35F3D8}"/>
                </a:ext>
              </a:extLst>
            </p:cNvPr>
            <p:cNvSpPr txBox="1"/>
            <p:nvPr/>
          </p:nvSpPr>
          <p:spPr>
            <a:xfrm>
              <a:off x="1154235" y="6215875"/>
              <a:ext cx="4941765" cy="276999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wrap="square" rtlCol="0">
              <a:spAutoFit/>
            </a:bodyPr>
            <a:lstStyle/>
            <a:p>
              <a:r>
                <a:rPr lang="en-US" sz="1200" dirty="0"/>
                <a:t>Bellman equation averages over all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C18FA37D-6647-443B-DC39-23DB7BC3C562}"/>
                    </a:ext>
                  </a:extLst>
                </p:cNvPr>
                <p:cNvSpPr txBox="1"/>
                <p:nvPr/>
              </p:nvSpPr>
              <p:spPr>
                <a:xfrm>
                  <a:off x="1006169" y="4919645"/>
                  <a:ext cx="2684988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Backup diagram </a:t>
                  </a:r>
                  <a:r>
                    <a:rPr lang="en-US" dirty="0"/>
                    <a:t>for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</m:oMath>
                  </a14:m>
                  <a:r>
                    <a:rPr lang="en-US" dirty="0"/>
                    <a:t> </a:t>
                  </a:r>
                  <a:br>
                    <a:rPr lang="en-US" dirty="0"/>
                  </a:br>
                  <a:r>
                    <a:rPr lang="en-US" dirty="0"/>
                    <a:t>shows all possible paths.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C18FA37D-6647-443B-DC39-23DB7BC3C5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6169" y="4919645"/>
                  <a:ext cx="2684988" cy="646331"/>
                </a:xfrm>
                <a:prstGeom prst="rect">
                  <a:avLst/>
                </a:prstGeom>
                <a:blipFill>
                  <a:blip r:embed="rId4"/>
                  <a:stretch>
                    <a:fillRect l="-1814" t="-3774" r="-907" b="-1509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AD5340-268C-D618-A2AC-98F85D54A9AA}"/>
              </a:ext>
            </a:extLst>
          </p:cNvPr>
          <p:cNvCxnSpPr>
            <a:cxnSpLocks/>
          </p:cNvCxnSpPr>
          <p:nvPr/>
        </p:nvCxnSpPr>
        <p:spPr>
          <a:xfrm flipV="1">
            <a:off x="6179334" y="5230536"/>
            <a:ext cx="0" cy="11238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003C9B0-E3BC-76E4-498F-6E69ECD581A5}"/>
              </a:ext>
            </a:extLst>
          </p:cNvPr>
          <p:cNvSpPr txBox="1"/>
          <p:nvPr/>
        </p:nvSpPr>
        <p:spPr>
          <a:xfrm>
            <a:off x="6096000" y="5519809"/>
            <a:ext cx="400110" cy="679801"/>
          </a:xfrm>
          <a:prstGeom prst="rect">
            <a:avLst/>
          </a:prstGeom>
          <a:noFill/>
        </p:spPr>
        <p:txBody>
          <a:bodyPr vert="vert270" wrap="none" rtlCol="0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Backup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8F61E090-EC02-6863-29F0-C351780E4A45}"/>
                  </a:ext>
                </a:extLst>
              </p:cNvPr>
              <p:cNvSpPr/>
              <p:nvPr/>
            </p:nvSpPr>
            <p:spPr>
              <a:xfrm>
                <a:off x="8792642" y="4622334"/>
                <a:ext cx="2687503" cy="608202"/>
              </a:xfrm>
              <a:prstGeom prst="wedgeRoundRectCallout">
                <a:avLst>
                  <a:gd name="adj1" fmla="val -17052"/>
                  <a:gd name="adj2" fmla="val -16232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There are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Bellman equations.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8F61E090-EC02-6863-29F0-C351780E4A4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2642" y="4622334"/>
                <a:ext cx="2687503" cy="608202"/>
              </a:xfrm>
              <a:prstGeom prst="wedgeRoundRectCallout">
                <a:avLst>
                  <a:gd name="adj1" fmla="val -17052"/>
                  <a:gd name="adj2" fmla="val -162327"/>
                  <a:gd name="adj3" fmla="val 16667"/>
                </a:avLst>
              </a:prstGeom>
              <a:blipFill>
                <a:blip r:embed="rId5"/>
                <a:stretch>
                  <a:fillRect b="-82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53764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BC9F0-2A9D-4C49-7BFF-52EEEDE82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Optimal Policies and Value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2983AE-A053-CC21-7A2E-F439E9BC0A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Value functions define a partial ordering over policies.</a:t>
                </a:r>
              </a:p>
              <a:p>
                <a:r>
                  <a:rPr lang="en-US" dirty="0"/>
                  <a:t>A policy is better if it has larger state values.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groupChr>
                        <m:groupChrPr>
                          <m:chr m:val="⇔"/>
                          <m:pos m:val="top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all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There is always an </a:t>
                </a:r>
                <a:r>
                  <a:rPr lang="en-US" b="1" dirty="0"/>
                  <a:t>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with the optimal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≝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all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Implies an optimal action-value function: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≝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</a:rPr>
                        <m:t>all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Since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2983AE-A053-CC21-7A2E-F439E9BC0A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 r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48D8F64-3A8A-2A56-96BF-3AEB319D2A94}"/>
              </a:ext>
            </a:extLst>
          </p:cNvPr>
          <p:cNvSpPr/>
          <p:nvPr/>
        </p:nvSpPr>
        <p:spPr>
          <a:xfrm>
            <a:off x="6027488" y="5557708"/>
            <a:ext cx="998290" cy="436227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5584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C0569-06AA-DAA0-567D-E141959DB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Bellman Optimality Equation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2EFF56-277B-32F2-63F8-9027DC2E43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3430534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Idea: the value of a state under an optimal policy must equal the expected return for the best action from that state.</a:t>
                </a:r>
              </a:p>
              <a:p>
                <a:endParaRPr lang="en-US" dirty="0"/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𝒜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b>
                              </m:sSub>
                            </m:sub>
                          </m:sSub>
                        </m:e>
                      </m:func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2EFF56-277B-32F2-63F8-9027DC2E43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3430534"/>
              </a:xfrm>
              <a:blipFill>
                <a:blip r:embed="rId2"/>
                <a:stretch>
                  <a:fillRect l="-522" t="-3020" r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34E3A9CF-CE41-CE7D-32DB-4BC6BC762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385" y="4258550"/>
            <a:ext cx="3277802" cy="2058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5257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E3F30-4A33-7C79-E9CB-BFD3E6751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Bellman Optimality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F5F62D-8D4F-8F2D-0ED2-14D5E264CD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The optimality condition is a system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non-linear equations of the from: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𝒜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b>
                              </m:sSub>
                            </m:sub>
                          </m:sSub>
                        </m:e>
                      </m:func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Guarantee: Finite MDPs have a unique solution.</a:t>
                </a:r>
              </a:p>
              <a:p>
                <a:endParaRPr lang="en-US" dirty="0"/>
              </a:p>
              <a:p>
                <a:r>
                  <a:rPr lang="en-US" dirty="0"/>
                  <a:t>Issues of solving the system:</a:t>
                </a:r>
              </a:p>
              <a:p>
                <a:pPr lvl="1"/>
                <a:r>
                  <a:rPr lang="en-US" dirty="0"/>
                  <a:t>The Markov property for states has to be satisfied.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dirty="0" smtClean="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en-US" dirty="0"/>
                  <a:t> needs to be completely known.</a:t>
                </a:r>
              </a:p>
              <a:p>
                <a:pPr lvl="1"/>
                <a:r>
                  <a:rPr lang="en-US" dirty="0"/>
                  <a:t>Computational resources for solving the system with many states.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This is rarely possible in real applications and we need approximations.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F5F62D-8D4F-8F2D-0ED2-14D5E264CD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51" r="-406" b="-3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08074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380997" y="381001"/>
            <a:ext cx="6858001" cy="6095995"/>
          </a:xfrm>
          <a:prstGeom prst="rect">
            <a:avLst/>
          </a:prstGeom>
          <a:ln>
            <a:noFill/>
          </a:ln>
          <a:effectLst>
            <a:outerShdw blurRad="381000" dist="101600" sx="99000" sy="99000" algn="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E192FE-AE28-3A6E-6E84-226227C73C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752" y="146639"/>
            <a:ext cx="4792635" cy="1811645"/>
          </a:xfrm>
        </p:spPr>
        <p:txBody>
          <a:bodyPr anchor="ctr">
            <a:normAutofit/>
          </a:bodyPr>
          <a:lstStyle/>
          <a:p>
            <a:r>
              <a:rPr lang="en-US" sz="4000" dirty="0"/>
              <a:t>Summary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C130E4-1333-F05C-2927-81A0A888C4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2" y="2350746"/>
            <a:ext cx="6096001" cy="4114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7A06D0-C7A7-094A-4B07-AC0436F7C2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03410" y="691912"/>
                <a:ext cx="4585646" cy="5474173"/>
              </a:xfrm>
            </p:spPr>
            <p:txBody>
              <a:bodyPr anchor="ctr">
                <a:normAutofit/>
              </a:bodyPr>
              <a:lstStyle/>
              <a:p>
                <a:pPr marL="0" indent="0">
                  <a:buNone/>
                </a:pPr>
                <a:r>
                  <a:rPr lang="en-US" sz="1600" b="1" dirty="0"/>
                  <a:t>Terms</a:t>
                </a:r>
              </a:p>
              <a:p>
                <a:pPr lvl="1"/>
                <a:r>
                  <a:rPr lang="en-US" sz="1600" b="1" dirty="0"/>
                  <a:t>Actions</a:t>
                </a:r>
                <a:r>
                  <a:rPr lang="en-US" sz="1600" dirty="0"/>
                  <a:t> are the agent’s choices</a:t>
                </a:r>
              </a:p>
              <a:p>
                <a:pPr lvl="1"/>
                <a:r>
                  <a:rPr lang="en-US" sz="1600" b="1" dirty="0"/>
                  <a:t>States</a:t>
                </a:r>
                <a:r>
                  <a:rPr lang="en-US" sz="1600" dirty="0"/>
                  <a:t> are the basis for the choices</a:t>
                </a:r>
              </a:p>
              <a:p>
                <a:pPr lvl="1"/>
                <a:r>
                  <a:rPr lang="en-US" sz="1600" b="1" dirty="0"/>
                  <a:t>Reward</a:t>
                </a:r>
                <a:r>
                  <a:rPr lang="en-US" sz="1600" dirty="0"/>
                  <a:t> is used to evaluate choices</a:t>
                </a:r>
              </a:p>
              <a:p>
                <a:pPr lvl="1"/>
                <a:r>
                  <a:rPr lang="en-US" sz="1600" b="1" dirty="0"/>
                  <a:t>Objective</a:t>
                </a:r>
                <a:r>
                  <a:rPr lang="en-US" sz="1600" dirty="0"/>
                  <a:t>: maximize reward over time</a:t>
                </a:r>
              </a:p>
              <a:p>
                <a:pPr lvl="1"/>
                <a:r>
                  <a:rPr lang="en-US" sz="1600" b="1" dirty="0"/>
                  <a:t>Policy</a:t>
                </a:r>
                <a:r>
                  <a:rPr lang="en-US" sz="1600" dirty="0"/>
                  <a:t>: a stochastic rule to select actions as a function of the state</a:t>
                </a:r>
              </a:p>
              <a:p>
                <a:endParaRPr lang="en-US" sz="1600" dirty="0"/>
              </a:p>
              <a:p>
                <a:pPr marL="0" indent="0">
                  <a:buNone/>
                </a:pPr>
                <a:r>
                  <a:rPr lang="en-US" sz="1600" b="1" dirty="0"/>
                  <a:t>Finite MDP</a:t>
                </a:r>
              </a:p>
              <a:p>
                <a:pPr lvl="1"/>
                <a:r>
                  <a:rPr lang="en-US" sz="1600" b="1" dirty="0"/>
                  <a:t>Complete knowledge</a:t>
                </a:r>
                <a:r>
                  <a:rPr lang="en-US" sz="1600" dirty="0"/>
                  <a:t>: solve the MDP directly to optimality. Only feasible for small problems</a:t>
                </a:r>
              </a:p>
              <a:p>
                <a:pPr lvl="1"/>
                <a:r>
                  <a:rPr lang="en-US" sz="1600" b="1" dirty="0"/>
                  <a:t>Incomplete knowledge</a:t>
                </a:r>
                <a:r>
                  <a:rPr lang="en-US" sz="1600" dirty="0"/>
                  <a:t>: RL focuses on this case by using approximation.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:r>
                  <a:rPr lang="en-US" sz="1600" b="1" dirty="0"/>
                  <a:t>Tasks</a:t>
                </a:r>
              </a:p>
              <a:p>
                <a:pPr lvl="1"/>
                <a:r>
                  <a:rPr lang="en-US" sz="1600" b="1" dirty="0"/>
                  <a:t>Policy evaluation </a:t>
                </a:r>
                <a:r>
                  <a:rPr lang="en-US" sz="1600" dirty="0"/>
                  <a:t>(prediction):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1600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1600" dirty="0"/>
                  <a:t> for a given fixed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1">
                        <a:latin typeface="Cambria Math" panose="02040503050406030204" pitchFamily="18" charset="0"/>
                      </a:rPr>
                      <m:t>π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pPr lvl="1"/>
                <a:r>
                  <a:rPr lang="en-US" sz="1600" b="1" dirty="0"/>
                  <a:t>Control</a:t>
                </a:r>
                <a:r>
                  <a:rPr lang="en-US" sz="1600" dirty="0"/>
                  <a:t>/policy improvement: 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7A06D0-C7A7-094A-4B07-AC0436F7C2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03410" y="691912"/>
                <a:ext cx="4585646" cy="5474173"/>
              </a:xfrm>
              <a:blipFill>
                <a:blip r:embed="rId3"/>
                <a:stretch>
                  <a:fillRect l="-665" b="-2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80777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3701</TotalTime>
  <Words>1796</Words>
  <Application>Microsoft Office PowerPoint</Application>
  <PresentationFormat>Widescreen</PresentationFormat>
  <Paragraphs>192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Cambria Math</vt:lpstr>
      <vt:lpstr>CMR10</vt:lpstr>
      <vt:lpstr>Office Theme</vt:lpstr>
      <vt:lpstr>Reinforcement Learning  Markov Decision Processes (MDP) Sutton/Barto* Chapter 3</vt:lpstr>
      <vt:lpstr>The Agent–Environment Interface</vt:lpstr>
      <vt:lpstr>Summary of Notation</vt:lpstr>
      <vt:lpstr>Finite MDP</vt:lpstr>
      <vt:lpstr>Transition and Reward Functions</vt:lpstr>
      <vt:lpstr>Add an Example!!!!!!!!!!!!</vt:lpstr>
      <vt:lpstr>Goals and Rewards</vt:lpstr>
      <vt:lpstr>Return and Episodes</vt:lpstr>
      <vt:lpstr>Reward Discounting</vt:lpstr>
      <vt:lpstr>Policy</vt:lpstr>
      <vt:lpstr>Value Functions</vt:lpstr>
      <vt:lpstr>Value Function Estimation and  Monte Carlo Methods</vt:lpstr>
      <vt:lpstr>Bellman Equation</vt:lpstr>
      <vt:lpstr>Optimal Policies and Value Functions</vt:lpstr>
      <vt:lpstr>Bellman Optimality Equation</vt:lpstr>
      <vt:lpstr>Bellman Optimality</vt:lpstr>
      <vt:lpstr>Summary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79</cp:revision>
  <dcterms:created xsi:type="dcterms:W3CDTF">2025-09-08T14:44:49Z</dcterms:created>
  <dcterms:modified xsi:type="dcterms:W3CDTF">2025-09-18T16:32:11Z</dcterms:modified>
</cp:coreProperties>
</file>