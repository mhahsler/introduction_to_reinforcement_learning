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13" r:id="rId3"/>
    <p:sldId id="478" r:id="rId4"/>
    <p:sldId id="482" r:id="rId5"/>
    <p:sldId id="353" r:id="rId6"/>
    <p:sldId id="486" r:id="rId7"/>
    <p:sldId id="485" r:id="rId8"/>
    <p:sldId id="354" r:id="rId9"/>
    <p:sldId id="487" r:id="rId10"/>
    <p:sldId id="355" r:id="rId11"/>
    <p:sldId id="470" r:id="rId12"/>
    <p:sldId id="356" r:id="rId13"/>
    <p:sldId id="387" r:id="rId14"/>
    <p:sldId id="382" r:id="rId15"/>
    <p:sldId id="357" r:id="rId16"/>
    <p:sldId id="358" r:id="rId17"/>
    <p:sldId id="360" r:id="rId18"/>
    <p:sldId id="383" r:id="rId19"/>
    <p:sldId id="359" r:id="rId20"/>
    <p:sldId id="476" r:id="rId21"/>
    <p:sldId id="474" r:id="rId22"/>
    <p:sldId id="475" r:id="rId23"/>
    <p:sldId id="361" r:id="rId24"/>
    <p:sldId id="364" r:id="rId25"/>
    <p:sldId id="479" r:id="rId26"/>
    <p:sldId id="481" r:id="rId27"/>
    <p:sldId id="362" r:id="rId28"/>
    <p:sldId id="385" r:id="rId29"/>
    <p:sldId id="386" r:id="rId30"/>
    <p:sldId id="365" r:id="rId31"/>
    <p:sldId id="366" r:id="rId32"/>
    <p:sldId id="480" r:id="rId33"/>
    <p:sldId id="484" r:id="rId34"/>
    <p:sldId id="483" r:id="rId35"/>
    <p:sldId id="477" r:id="rId36"/>
    <p:sldId id="462" r:id="rId37"/>
    <p:sldId id="36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486"/>
            <p14:sldId id="485"/>
            <p14:sldId id="354"/>
            <p14:sldId id="487"/>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89001" autoAdjust="0"/>
  </p:normalViewPr>
  <p:slideViewPr>
    <p:cSldViewPr snapToGrid="0">
      <p:cViewPr varScale="1">
        <p:scale>
          <a:sx n="85" d="100"/>
          <a:sy n="85" d="100"/>
        </p:scale>
        <p:origin x="580" y="60"/>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9/15/2026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11</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9/15/2026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9/15/2026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333.png"/><Relationship Id="rId18" Type="http://schemas.openxmlformats.org/officeDocument/2006/relationships/image" Target="../media/image190.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16" Type="http://schemas.openxmlformats.org/officeDocument/2006/relationships/image" Target="../media/image170.png"/><Relationship Id="rId20" Type="http://schemas.openxmlformats.org/officeDocument/2006/relationships/image" Target="../media/image21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0.png"/><Relationship Id="rId23" Type="http://schemas.openxmlformats.org/officeDocument/2006/relationships/image" Target="../media/image23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50.png"/></Relationships>
</file>

<file path=ppt/slides/_rels/slide13.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20.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2.png"/><Relationship Id="rId1" Type="http://schemas.openxmlformats.org/officeDocument/2006/relationships/slideLayout" Target="../slideLayouts/slideLayout2.xml"/><Relationship Id="rId5" Type="http://schemas.openxmlformats.org/officeDocument/2006/relationships/image" Target="../media/image351.png"/><Relationship Id="rId4" Type="http://schemas.openxmlformats.org/officeDocument/2006/relationships/image" Target="../media/image340.png"/></Relationships>
</file>

<file path=ppt/slides/_rels/slide21.xml.rels><?xml version="1.0" encoding="UTF-8" standalone="yes"?>
<Relationships xmlns="http://schemas.openxmlformats.org/package/2006/relationships"><Relationship Id="rId3" Type="http://schemas.openxmlformats.org/officeDocument/2006/relationships/image" Target="../media/image371.png"/><Relationship Id="rId2" Type="http://schemas.openxmlformats.org/officeDocument/2006/relationships/image" Target="../media/image360.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50.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41.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0.png"/><Relationship Id="rId7" Type="http://schemas.openxmlformats.org/officeDocument/2006/relationships/image" Target="../media/image441.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41.png"/><Relationship Id="rId4" Type="http://schemas.openxmlformats.org/officeDocument/2006/relationships/image" Target="../media/image431.png"/><Relationship Id="rId9" Type="http://schemas.openxmlformats.org/officeDocument/2006/relationships/image" Target="../media/image46.png"/></Relationships>
</file>

<file path=ppt/slides/_rels/slide28.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0.png"/><Relationship Id="rId12" Type="http://schemas.openxmlformats.org/officeDocument/2006/relationships/image" Target="../media/image51.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 Id="rId1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330.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450.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0.png"/><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0.png"/></Relationships>
</file>

<file path=ppt/slides/_rels/slide3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7.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850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𝑃𝑟</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giving the immediate reward depending on the current state and action. For stochastic reward functions, the expected immediate reward is used. </a:t>
                </a:r>
              </a:p>
              <a:p>
                <a:pPr marL="0" indent="0">
                  <a:buNone/>
                </a:pPr>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299" t="-3618"/>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𝑷𝒓</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r="-1478" b="-7547"/>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𝑝</m:t>
                      </m:r>
                      <m:r>
                        <a:rPr lang="en-US"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dirty="0"/>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C90CB-35F2-26E1-406D-23DBEECCDA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C0254-9D84-0BC4-BC08-16E1D956EFE2}"/>
              </a:ext>
            </a:extLst>
          </p:cNvPr>
          <p:cNvSpPr>
            <a:spLocks noGrp="1"/>
          </p:cNvSpPr>
          <p:nvPr>
            <p:ph type="title"/>
          </p:nvPr>
        </p:nvSpPr>
        <p:spPr/>
        <p:txBody>
          <a:bodyPr/>
          <a:lstStyle/>
          <a:p>
            <a:r>
              <a:rPr lang="en-US" dirty="0"/>
              <a:t>Transition Function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258D24E-653C-574F-B66B-334F198D5175}"/>
                  </a:ext>
                </a:extLst>
              </p:cNvPr>
              <p:cNvSpPr>
                <a:spLocks noGrp="1"/>
              </p:cNvSpPr>
              <p:nvPr>
                <p:ph idx="1"/>
              </p:nvPr>
            </p:nvSpPr>
            <p:spPr>
              <a:xfrm>
                <a:off x="838200" y="1397330"/>
                <a:ext cx="10515600" cy="4968569"/>
              </a:xfrm>
            </p:spPr>
            <p:txBody>
              <a:bodyPr>
                <a:normAutofit fontScale="92500" lnSpcReduction="20000"/>
              </a:bodyPr>
              <a:lstStyle/>
              <a:p>
                <a:r>
                  <a:rPr lang="en-US" sz="2400" dirty="0"/>
                  <a:t>The function </a:t>
                </a:r>
                <a:br>
                  <a:rPr lang="en-US" sz="2400" dirty="0"/>
                </a:br>
                <a:br>
                  <a:rPr lang="en-US" sz="2400" i="1" dirty="0">
                    <a:latin typeface="Cambria Math" panose="02040503050406030204" pitchFamily="18" charset="0"/>
                  </a:rPr>
                </a:br>
                <a14:m>
                  <m:oMath xmlns:m="http://schemas.openxmlformats.org/officeDocument/2006/math">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a:rPr lang="en-US" sz="2400" i="1">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sub>
                            </m:sSub>
                            <m:r>
                              <a:rPr lang="en-US" sz="2400" i="1">
                                <a:latin typeface="Cambria Math" panose="02040503050406030204" pitchFamily="18" charset="0"/>
                              </a:rPr>
                              <m:t>=</m:t>
                            </m:r>
                            <m:r>
                              <a:rPr lang="en-US" sz="2400" i="1">
                                <a:latin typeface="Cambria Math" panose="02040503050406030204" pitchFamily="18" charset="0"/>
                              </a:rPr>
                              <m:t>𝑟</m:t>
                            </m:r>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br>
                  <a:rPr lang="en-US" sz="2400" dirty="0"/>
                </a:br>
                <a:br>
                  <a:rPr lang="en-US" sz="2400" dirty="0"/>
                </a:br>
                <a:r>
                  <a:rPr lang="en-US" sz="2400" dirty="0"/>
                  <a:t>is often broken down into a separate transition and a reward function.</a:t>
                </a:r>
              </a:p>
              <a:p>
                <a:endParaRPr lang="en-US" sz="2400" dirty="0"/>
              </a:p>
              <a:p>
                <a:r>
                  <a:rPr lang="en-US" sz="2400" dirty="0"/>
                  <a:t>State transition probabilities (via marginalizing out </a:t>
                </a:r>
                <a14:m>
                  <m:oMath xmlns:m="http://schemas.openxmlformats.org/officeDocument/2006/math">
                    <m:r>
                      <a:rPr lang="en-US" sz="2400" b="0" i="1" smtClean="0">
                        <a:latin typeface="Cambria Math" panose="02040503050406030204" pitchFamily="18" charset="0"/>
                      </a:rPr>
                      <m:t>𝑟</m:t>
                    </m:r>
                  </m:oMath>
                </a14:m>
                <a:r>
                  <a:rPr lang="en-US" sz="2400" dirty="0"/>
                  <a:t>):</a:t>
                </a:r>
              </a:p>
              <a:p>
                <a:endParaRPr lang="en-US" sz="2400" dirty="0"/>
              </a:p>
              <a:p>
                <a:pPr marL="0" indent="0">
                  <a:lnSpc>
                    <a:spcPct val="120000"/>
                  </a:lnSpc>
                  <a:buNone/>
                </a:pPr>
                <a14:m>
                  <m:oMathPara xmlns:m="http://schemas.openxmlformats.org/officeDocument/2006/math">
                    <m:oMath>
                      <m:r>
                        <a:rPr lang="en-US" sz="2400" i="1" smtClean="0">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r>
                        <m:rPr>
                          <m:aln/>
                        </m:rPr>
                        <a:rPr lang="en-US" sz="2400" i="1" smtClean="0">
                          <a:latin typeface="Cambria Math" panose="02040503050406030204" pitchFamily="18" charset="0"/>
                        </a:rPr>
                        <m:t>≝</m:t>
                      </m:r>
                      <m:func>
                        <m:funcPr>
                          <m:ctrlPr>
                            <a:rPr lang="en-US" sz="2400">
                              <a:latin typeface="Cambria Math" panose="02040503050406030204" pitchFamily="18" charset="0"/>
                            </a:rPr>
                          </m:ctrlPr>
                        </m:funcPr>
                        <m:fName>
                          <m:r>
                            <m:rPr>
                              <m:sty m:val="p"/>
                            </m:rPr>
                            <a:rPr lang="en-US" sz="2400">
                              <a:latin typeface="Cambria Math" panose="02040503050406030204" pitchFamily="18" charset="0"/>
                            </a:rPr>
                            <m:t>Pr</m:t>
                          </m:r>
                        </m:fName>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 </m:t>
                              </m:r>
                            </m:e>
                          </m:d>
                        </m:e>
                      </m:func>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 </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m:oMath>
                      <m:r>
                        <m:rPr>
                          <m:aln/>
                        </m:rPr>
                        <a:rPr lang="en-US" sz="2400" b="0" i="0" smtClean="0">
                          <a:latin typeface="Cambria Math" panose="02040503050406030204" pitchFamily="18" charset="0"/>
                        </a:rPr>
                        <m:t>=</m:t>
                      </m:r>
                      <m:nary>
                        <m:naryPr>
                          <m:chr m:val="∑"/>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𝑟</m:t>
                          </m:r>
                          <m:r>
                            <a:rPr lang="en-US" sz="2400" b="0" i="1" smtClean="0">
                              <a:latin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ℛ</m:t>
                          </m:r>
                        </m:sub>
                        <m:sup/>
                        <m:e>
                          <m:r>
                            <a:rPr lang="en-US" sz="2400" i="1">
                              <a:latin typeface="Cambria Math" panose="02040503050406030204" pitchFamily="18" charset="0"/>
                            </a:rPr>
                            <m:t>𝑝</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panose="02040503050406030204" pitchFamily="18" charset="0"/>
                                    </a:rPr>
                                    <m:t>𝑠</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𝑟</m:t>
                              </m:r>
                            </m:e>
                            <m:e>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e>
                          </m:d>
                        </m:e>
                      </m:nary>
                    </m:oMath>
                  </m:oMathPara>
                </a14:m>
                <a:endParaRPr lang="en-US" sz="2400" dirty="0"/>
              </a:p>
              <a:p>
                <a:pPr>
                  <a:lnSpc>
                    <a:spcPct val="120000"/>
                  </a:lnSpc>
                </a:pPr>
                <a:endParaRPr lang="en-US" sz="2400" dirty="0"/>
              </a:p>
              <a:p>
                <a:pPr>
                  <a:lnSpc>
                    <a:spcPct val="120000"/>
                  </a:lnSpc>
                </a:pPr>
                <a:r>
                  <a:rPr lang="en-US" sz="2400" dirty="0"/>
                  <a:t>The probability indicates that the transition function is </a:t>
                </a:r>
                <a:r>
                  <a:rPr lang="en-US" sz="2400" b="1" dirty="0"/>
                  <a:t>stochastic</a:t>
                </a:r>
                <a:r>
                  <a:rPr lang="en-US" sz="2400" dirty="0"/>
                  <a:t>.</a:t>
                </a:r>
              </a:p>
            </p:txBody>
          </p:sp>
        </mc:Choice>
        <mc:Fallback>
          <p:sp>
            <p:nvSpPr>
              <p:cNvPr id="3" name="Content Placeholder 2">
                <a:extLst>
                  <a:ext uri="{FF2B5EF4-FFF2-40B4-BE49-F238E27FC236}">
                    <a16:creationId xmlns:a16="http://schemas.microsoft.com/office/drawing/2014/main" id="{0258D24E-653C-574F-B66B-334F198D5175}"/>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696" t="-2454"/>
                </a:stretch>
              </a:blipFill>
            </p:spPr>
            <p:txBody>
              <a:bodyPr/>
              <a:lstStyle/>
              <a:p>
                <a:r>
                  <a:rPr lang="en-US">
                    <a:noFill/>
                  </a:rPr>
                  <a:t> </a:t>
                </a:r>
              </a:p>
            </p:txBody>
          </p:sp>
        </mc:Fallback>
      </mc:AlternateContent>
    </p:spTree>
    <p:extLst>
      <p:ext uri="{BB962C8B-B14F-4D97-AF65-F5344CB8AC3E}">
        <p14:creationId xmlns:p14="http://schemas.microsoft.com/office/powerpoint/2010/main" val="1430757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Reward Function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76810" cy="5153372"/>
              </a:xfrm>
            </p:spPr>
            <p:txBody>
              <a:bodyPr>
                <a:normAutofit fontScale="70000" lnSpcReduction="20000"/>
              </a:bodyPr>
              <a:lstStyle/>
              <a:p>
                <a:r>
                  <a:rPr lang="en-US" dirty="0"/>
                  <a:t>The reward function </a:t>
                </a:r>
                <a:r>
                  <a:rPr lang="en-US" b="1" dirty="0"/>
                  <a:t>may be stochastic </a:t>
                </a:r>
                <a:r>
                  <a:rPr lang="en-US" dirty="0"/>
                  <a:t>so we use the random variable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sub>
                    </m:sSub>
                  </m:oMath>
                </a14:m>
                <a:r>
                  <a:rPr lang="en-US" dirty="0"/>
                  <a:t> and the expected immediate reward.</a:t>
                </a:r>
              </a:p>
              <a:p>
                <a:endParaRPr lang="en-US" dirty="0"/>
              </a:p>
              <a:p>
                <a:r>
                  <a:rPr lang="en-US" dirty="0"/>
                  <a:t>Two popular representations are: </a:t>
                </a:r>
                <a14:m>
                  <m:oMath xmlns:m="http://schemas.openxmlformats.org/officeDocument/2006/math">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and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oMath>
                </a14:m>
                <a:endParaRPr lang="en-US" dirty="0"/>
              </a:p>
              <a:p>
                <a:endParaRPr lang="en-US" dirty="0"/>
              </a:p>
              <a:p>
                <a:r>
                  <a:rPr lang="en-US" dirty="0"/>
                  <a:t>Expected immediate reward for a state-action pair (after marginalizing out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immediate rewards for a state-action-next-state triple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76810" cy="5153372"/>
              </a:xfrm>
              <a:blipFill>
                <a:blip r:embed="rId2"/>
                <a:stretch>
                  <a:fillRect l="-519" t="-2009"/>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dirty="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dirty="0"/>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159252629"/>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15836" y="3700843"/>
            <a:ext cx="5557473" cy="369332"/>
          </a:xfrm>
          <a:prstGeom prst="rect">
            <a:avLst/>
          </a:prstGeom>
          <a:noFill/>
        </p:spPr>
        <p:txBody>
          <a:bodyPr wrap="square" rtlCol="0">
            <a:spAutoFit/>
          </a:bodyPr>
          <a:lstStyle/>
          <a:p>
            <a:r>
              <a:rPr lang="en-US" b="1" dirty="0"/>
              <a:t>Reward matrices </a:t>
            </a:r>
            <a:endParaRPr lang="en-US" dirty="0"/>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775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of possible rewards: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marL="457200" lvl="1" indent="0">
                  <a:buNone/>
                </a:pPr>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state.</a:t>
                </a:r>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769990" cy="1240221"/>
              </a:xfrm>
              <a:prstGeom prst="wedgeRoundRectCallout">
                <a:avLst>
                  <a:gd name="adj1" fmla="val -150518"/>
                  <a:gd name="adj2" fmla="val -6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immediate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769990" cy="1240221"/>
              </a:xfrm>
              <a:prstGeom prst="wedgeRoundRectCallout">
                <a:avLst>
                  <a:gd name="adj1" fmla="val -150518"/>
                  <a:gd name="adj2" fmla="val -697"/>
                  <a:gd name="adj3" fmla="val 16667"/>
                </a:avLst>
              </a:prstGeom>
              <a:blipFill>
                <a:blip r:embed="rId3"/>
                <a:stretch>
                  <a:fillRect t="-3382" b="-8213"/>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used when rewards now are more important than rewards received later. Continuing tasks often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a:xfrm>
                <a:off x="838200" y="1397330"/>
                <a:ext cx="10515600" cy="759073"/>
              </a:xfrm>
            </p:spPr>
            <p:txBody>
              <a:bodyPr>
                <a:normAutofit fontScale="92500" lnSpcReduction="1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xfrm>
                <a:off x="838200" y="1397330"/>
                <a:ext cx="10515600" cy="759073"/>
              </a:xfrm>
              <a:blipFill>
                <a:blip r:embed="rId2"/>
                <a:stretch>
                  <a:fillRect l="-928" t="-16000" b="-176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84F6740-43E2-F7E2-9987-EF4EE55794F4}"/>
                  </a:ext>
                </a:extLst>
              </p:cNvPr>
              <p:cNvSpPr txBox="1"/>
              <p:nvPr/>
            </p:nvSpPr>
            <p:spPr>
              <a:xfrm>
                <a:off x="1322665" y="2291212"/>
                <a:ext cx="9546670" cy="24266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2400" dirty="0"/>
                  <a:t>A simple Monte Carlo method: </a:t>
                </a:r>
                <a:r>
                  <a:rPr lang="en-US" sz="2400" b="1" dirty="0"/>
                  <a:t>Sample-average method</a:t>
                </a:r>
              </a:p>
              <a:p>
                <a:endParaRPr lang="en-US" sz="2400" dirty="0"/>
              </a:p>
              <a:p>
                <a:pPr marL="800100" lvl="1" indent="-342900">
                  <a:buFont typeface="Arial" panose="020B0604020202020204" pitchFamily="34" charset="0"/>
                  <a:buChar char="•"/>
                </a:pPr>
                <a:r>
                  <a:rPr lang="en-US" sz="2400" dirty="0"/>
                  <a:t>Follow policy </a:t>
                </a:r>
                <a14:m>
                  <m:oMath xmlns:m="http://schemas.openxmlformats.org/officeDocument/2006/math">
                    <m:r>
                      <a:rPr lang="en-US" sz="2400" i="1" dirty="0">
                        <a:latin typeface="Cambria Math" panose="02040503050406030204" pitchFamily="18" charset="0"/>
                      </a:rPr>
                      <m:t>𝜋</m:t>
                    </m:r>
                  </m:oMath>
                </a14:m>
                <a:r>
                  <a:rPr lang="en-US" sz="2400" dirty="0"/>
                  <a:t> for a long time (e.g., sample many episodes).</a:t>
                </a:r>
              </a:p>
              <a:p>
                <a:pPr marL="800100" lvl="1" indent="-342900">
                  <a:buFont typeface="Arial" panose="020B0604020202020204" pitchFamily="34" charset="0"/>
                  <a:buChar char="•"/>
                </a:pPr>
                <a:r>
                  <a:rPr lang="en-US" sz="2400" dirty="0"/>
                  <a:t>Maintain an average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of the actual returns that have followed that state. Update the average at each visit of a state.</a:t>
                </a:r>
              </a:p>
              <a:p>
                <a:pPr marL="800100" lvl="1" indent="-342900">
                  <a:buFont typeface="Arial" panose="020B0604020202020204" pitchFamily="34" charset="0"/>
                  <a:buChar char="•"/>
                </a:pPr>
                <a:r>
                  <a:rPr lang="pt-BR" sz="2400" dirty="0"/>
                  <a:t>Convergence: </a:t>
                </a:r>
                <a14:m>
                  <m:oMath xmlns:m="http://schemas.openxmlformats.org/officeDocument/2006/math">
                    <m:func>
                      <m:funcPr>
                        <m:ctrlPr>
                          <a:rPr lang="pt-BR" sz="2400" i="1">
                            <a:latin typeface="Cambria Math" panose="02040503050406030204" pitchFamily="18" charset="0"/>
                          </a:rPr>
                        </m:ctrlPr>
                      </m:funcPr>
                      <m:fName>
                        <m:limLow>
                          <m:limLowPr>
                            <m:ctrlPr>
                              <a:rPr lang="pt-BR" sz="2400">
                                <a:latin typeface="Cambria Math" panose="02040503050406030204" pitchFamily="18" charset="0"/>
                              </a:rPr>
                            </m:ctrlPr>
                          </m:limLowPr>
                          <m:e>
                            <m:r>
                              <m:rPr>
                                <m:sty m:val="p"/>
                              </m:rPr>
                              <a:rPr lang="pt-BR" sz="2400">
                                <a:latin typeface="Cambria Math" panose="02040503050406030204" pitchFamily="18" charset="0"/>
                              </a:rPr>
                              <m:t>lim</m:t>
                            </m:r>
                          </m:e>
                          <m:lim>
                            <m:r>
                              <a:rPr lang="en-US" sz="2400" i="1">
                                <a:latin typeface="Cambria Math" panose="02040503050406030204" pitchFamily="18" charset="0"/>
                              </a:rPr>
                              <m:t>𝑣𝑖𝑠𝑖𝑡𝑠</m:t>
                            </m:r>
                            <m:r>
                              <a:rPr lang="pt-BR" sz="2400" i="1">
                                <a:latin typeface="Cambria Math" panose="02040503050406030204" pitchFamily="18" charset="0"/>
                              </a:rPr>
                              <m:t>→∞</m:t>
                            </m:r>
                          </m:lim>
                        </m:limLow>
                      </m:fName>
                      <m:e>
                        <m:acc>
                          <m:accPr>
                            <m:chr m:val="̅"/>
                            <m:ctrlPr>
                              <a:rPr lang="en-US" sz="2400" i="1">
                                <a:latin typeface="Cambria Math" panose="02040503050406030204" pitchFamily="18" charset="0"/>
                              </a:rPr>
                            </m:ctrlPr>
                          </m:accPr>
                          <m:e>
                            <m:r>
                              <a:rPr lang="en-US" sz="2400" i="1">
                                <a:latin typeface="Cambria Math" panose="02040503050406030204" pitchFamily="18" charset="0"/>
                              </a:rPr>
                              <m:t>𝑉</m:t>
                            </m:r>
                          </m:e>
                        </m:acc>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𝑣</m:t>
                            </m:r>
                          </m:e>
                          <m:sub>
                            <m:r>
                              <a:rPr lang="en-US" sz="2400" i="1">
                                <a:latin typeface="Cambria Math" panose="02040503050406030204" pitchFamily="18" charset="0"/>
                              </a:rPr>
                              <m:t>𝜋</m:t>
                            </m:r>
                          </m:sub>
                        </m:sSub>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e>
                    </m:func>
                  </m:oMath>
                </a14:m>
                <a:r>
                  <a:rPr lang="en-US" sz="2400" dirty="0"/>
                  <a:t> </a:t>
                </a:r>
              </a:p>
            </p:txBody>
          </p:sp>
        </mc:Choice>
        <mc:Fallback xmlns="">
          <p:sp>
            <p:nvSpPr>
              <p:cNvPr id="9" name="TextBox 8">
                <a:extLst>
                  <a:ext uri="{FF2B5EF4-FFF2-40B4-BE49-F238E27FC236}">
                    <a16:creationId xmlns:a16="http://schemas.microsoft.com/office/drawing/2014/main" id="{C84F6740-43E2-F7E2-9987-EF4EE55794F4}"/>
                  </a:ext>
                </a:extLst>
              </p:cNvPr>
              <p:cNvSpPr txBox="1">
                <a:spLocks noRot="1" noChangeAspect="1" noMove="1" noResize="1" noEditPoints="1" noAdjustHandles="1" noChangeArrowheads="1" noChangeShapeType="1" noTextEdit="1"/>
              </p:cNvSpPr>
              <p:nvPr/>
            </p:nvSpPr>
            <p:spPr>
              <a:xfrm>
                <a:off x="1322665" y="2291212"/>
                <a:ext cx="9546670" cy="2426626"/>
              </a:xfrm>
              <a:prstGeom prst="rect">
                <a:avLst/>
              </a:prstGeom>
              <a:blipFill>
                <a:blip r:embed="rId3"/>
                <a:stretch>
                  <a:fillRect l="-956" t="-1746" r="-319" b="-2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2">
                <a:extLst>
                  <a:ext uri="{FF2B5EF4-FFF2-40B4-BE49-F238E27FC236}">
                    <a16:creationId xmlns:a16="http://schemas.microsoft.com/office/drawing/2014/main" id="{F45019AC-14D2-0ECA-3DDE-75F3241ED370}"/>
                  </a:ext>
                </a:extLst>
              </p:cNvPr>
              <p:cNvSpPr txBox="1">
                <a:spLocks/>
              </p:cNvSpPr>
              <p:nvPr/>
            </p:nvSpPr>
            <p:spPr>
              <a:xfrm>
                <a:off x="905107" y="4910997"/>
                <a:ext cx="10515600" cy="167418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smtClean="0">
                        <a:latin typeface="Cambria Math" panose="02040503050406030204" pitchFamily="18" charset="0"/>
                      </a:rPr>
                      <m:t>(</m:t>
                    </m:r>
                    <m:r>
                      <m:rPr>
                        <m:sty m:val="p"/>
                      </m:rPr>
                      <a:rPr lang="en-US" smtClean="0">
                        <a:latin typeface="Cambria Math" panose="02040503050406030204" pitchFamily="18" charset="0"/>
                      </a:rPr>
                      <m:t>s</m:t>
                    </m:r>
                    <m:r>
                      <a:rPr lang="en-US" smtClean="0">
                        <a:latin typeface="Cambria Math" panose="02040503050406030204" pitchFamily="18" charset="0"/>
                      </a:rPr>
                      <m:t>,</m:t>
                    </m:r>
                    <m:r>
                      <m:rPr>
                        <m:sty m:val="p"/>
                      </m:rPr>
                      <a:rPr lang="en-US" smtClean="0">
                        <a:latin typeface="Cambria Math" panose="02040503050406030204" pitchFamily="18" charset="0"/>
                      </a:rPr>
                      <m:t>a</m:t>
                    </m:r>
                    <m:r>
                      <a:rPr lang="en-US"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e>
                        </m:d>
                        <m:r>
                          <a:rPr lang="en-US" i="1">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r>
                  <a:rPr lang="en-US" dirty="0"/>
                  <a:t>Issue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i="1" smtClean="0">
                        <a:latin typeface="Cambria Math" panose="02040503050406030204" pitchFamily="18" charset="0"/>
                      </a:rPr>
                      <m:t>,</m:t>
                    </m:r>
                    <m:r>
                      <a:rPr lang="en-US"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12" name="Content Placeholder 2">
                <a:extLst>
                  <a:ext uri="{FF2B5EF4-FFF2-40B4-BE49-F238E27FC236}">
                    <a16:creationId xmlns:a16="http://schemas.microsoft.com/office/drawing/2014/main" id="{F45019AC-14D2-0ECA-3DDE-75F3241ED370}"/>
                  </a:ext>
                </a:extLst>
              </p:cNvPr>
              <p:cNvSpPr txBox="1">
                <a:spLocks noRot="1" noChangeAspect="1" noMove="1" noResize="1" noEditPoints="1" noAdjustHandles="1" noChangeArrowheads="1" noChangeShapeType="1" noTextEdit="1"/>
              </p:cNvSpPr>
              <p:nvPr/>
            </p:nvSpPr>
            <p:spPr>
              <a:xfrm>
                <a:off x="905107" y="4910997"/>
                <a:ext cx="10515600" cy="1674186"/>
              </a:xfrm>
              <a:prstGeom prst="rect">
                <a:avLst/>
              </a:prstGeom>
              <a:blipFill>
                <a:blip r:embed="rId4"/>
                <a:stretch>
                  <a:fillRect l="-870" t="-4745"/>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8767072" y="1665052"/>
                <a:ext cx="3322552" cy="544888"/>
              </a:xfrm>
              <a:prstGeom prst="wedgeRoundRectCallout">
                <a:avLst>
                  <a:gd name="adj1" fmla="val -71967"/>
                  <a:gd name="adj2" fmla="val -166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𝐺</m:t>
                        </m:r>
                      </m:e>
                      <m:sub>
                        <m:r>
                          <a:rPr lang="en-US" sz="1600" i="1">
                            <a:latin typeface="Cambria Math" panose="02040503050406030204" pitchFamily="18" charset="0"/>
                          </a:rPr>
                          <m:t>𝑡</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+1 </m:t>
                        </m:r>
                      </m:sub>
                    </m:sSub>
                    <m:r>
                      <a:rPr lang="en-US" sz="1600" i="1">
                        <a:latin typeface="Cambria Math" panose="02040503050406030204" pitchFamily="18" charset="0"/>
                      </a:rPr>
                      <m:t>+</m:t>
                    </m:r>
                    <m:r>
                      <a:rPr lang="en-US" sz="1600" i="1">
                        <a:latin typeface="Cambria Math" panose="02040503050406030204" pitchFamily="18" charset="0"/>
                      </a:rPr>
                      <m:t>𝛾</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+2 </m:t>
                        </m:r>
                      </m:sub>
                    </m:sSub>
                    <m:r>
                      <a:rPr lang="en-US" sz="1600" b="0" i="1" smtClean="0">
                        <a:latin typeface="Cambria Math" panose="02040503050406030204" pitchFamily="18" charset="0"/>
                      </a:rPr>
                      <m:t>+…</m:t>
                    </m:r>
                    <m:r>
                      <a:rPr lang="en-US" sz="1600" i="1">
                        <a:latin typeface="Cambria Math" panose="02040503050406030204" pitchFamily="18" charset="0"/>
                      </a:rPr>
                      <m:t> </m:t>
                    </m:r>
                  </m:oMath>
                </a14:m>
                <a:r>
                  <a:rPr lang="en-US" sz="1600" dirty="0"/>
                  <a:t> </a:t>
                </a:r>
                <a:br>
                  <a:rPr lang="en-US" sz="1600" dirty="0"/>
                </a:br>
                <a:r>
                  <a:rPr lang="en-US" sz="1600" dirty="0"/>
                  <a:t>This considers complete episodes.</a:t>
                </a:r>
              </a:p>
            </p:txBody>
          </p:sp>
        </mc:Choice>
        <mc:Fallback xmlns="">
          <p:sp>
            <p:nvSpPr>
              <p:cNvPr id="22" name="Speech Bubble: Rectangle with Corners Rounded 21">
                <a:extLst>
                  <a:ext uri="{FF2B5EF4-FFF2-40B4-BE49-F238E27FC236}">
                    <a16:creationId xmlns:a16="http://schemas.microsoft.com/office/drawing/2014/main" id="{7EEB7279-5D4B-CA8A-D5E9-58A220604DB9}"/>
                  </a:ext>
                </a:extLst>
              </p:cNvPr>
              <p:cNvSpPr>
                <a:spLocks noRot="1" noChangeAspect="1" noMove="1" noResize="1" noEditPoints="1" noAdjustHandles="1" noChangeArrowheads="1" noChangeShapeType="1" noTextEdit="1"/>
              </p:cNvSpPr>
              <p:nvPr/>
            </p:nvSpPr>
            <p:spPr>
              <a:xfrm>
                <a:off x="8767072" y="1665052"/>
                <a:ext cx="3322552" cy="544888"/>
              </a:xfrm>
              <a:prstGeom prst="wedgeRoundRectCallout">
                <a:avLst>
                  <a:gd name="adj1" fmla="val -71967"/>
                  <a:gd name="adj2" fmla="val -16681"/>
                  <a:gd name="adj3" fmla="val 16667"/>
                </a:avLst>
              </a:prstGeom>
              <a:blipFill>
                <a:blip r:embed="rId4"/>
                <a:stretch>
                  <a:fillRect b="-13978"/>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6" name="Group 5">
            <a:extLst>
              <a:ext uri="{FF2B5EF4-FFF2-40B4-BE49-F238E27FC236}">
                <a16:creationId xmlns:a16="http://schemas.microsoft.com/office/drawing/2014/main" id="{48CF35C4-546D-3C1C-D788-0A9F33326540}"/>
              </a:ext>
            </a:extLst>
          </p:cNvPr>
          <p:cNvGrpSpPr/>
          <p:nvPr/>
        </p:nvGrpSpPr>
        <p:grpSpPr>
          <a:xfrm>
            <a:off x="8965554" y="2304263"/>
            <a:ext cx="3026577" cy="2888685"/>
            <a:chOff x="8965554" y="2304263"/>
            <a:chExt cx="3026577" cy="2888685"/>
          </a:xfrm>
        </p:grpSpPr>
        <p:pic>
          <p:nvPicPr>
            <p:cNvPr id="5" name="Picture 4">
              <a:extLst>
                <a:ext uri="{FF2B5EF4-FFF2-40B4-BE49-F238E27FC236}">
                  <a16:creationId xmlns:a16="http://schemas.microsoft.com/office/drawing/2014/main" id="{0B389E71-8B70-F7FA-E207-CDE2A09665CC}"/>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958361" y="2304263"/>
              <a:ext cx="918950" cy="863482"/>
            </a:xfrm>
            <a:prstGeom prst="rect">
              <a:avLst/>
            </a:prstGeom>
          </p:spPr>
        </p:pic>
        <p:grpSp>
          <p:nvGrpSpPr>
            <p:cNvPr id="33" name="Group 32">
              <a:extLst>
                <a:ext uri="{FF2B5EF4-FFF2-40B4-BE49-F238E27FC236}">
                  <a16:creationId xmlns:a16="http://schemas.microsoft.com/office/drawing/2014/main" id="{0056F82B-BE54-C59A-E83A-64BEC3F8FEDE}"/>
                </a:ext>
              </a:extLst>
            </p:cNvPr>
            <p:cNvGrpSpPr/>
            <p:nvPr/>
          </p:nvGrpSpPr>
          <p:grpSpPr>
            <a:xfrm>
              <a:off x="8965554" y="3009138"/>
              <a:ext cx="3026577" cy="2183810"/>
              <a:chOff x="8965554" y="3009138"/>
              <a:chExt cx="3026577" cy="2183810"/>
            </a:xfrm>
          </p:grpSpPr>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965554" y="3009138"/>
                <a:ext cx="3026577" cy="2183810"/>
              </a:xfrm>
              <a:prstGeom prst="rect">
                <a:avLst/>
              </a:prstGeom>
            </p:spPr>
          </p:pic>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089363" y="3634662"/>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r>
                                <a:rPr lang="en-US" sz="1400" b="1" i="1" smtClean="0">
                                  <a:solidFill>
                                    <a:schemeClr val="accent3"/>
                                  </a:solidFill>
                                  <a:latin typeface="Cambria Math" panose="02040503050406030204" pitchFamily="18" charset="0"/>
                                  <a:ea typeface="Cambria Math" panose="02040503050406030204" pitchFamily="18" charset="0"/>
                                </a:rPr>
                                <m:t>+</m:t>
                              </m:r>
                              <m:r>
                                <a:rPr lang="en-US" sz="1400" b="1" i="1" smtClean="0">
                                  <a:solidFill>
                                    <a:schemeClr val="accent3"/>
                                  </a:solidFill>
                                  <a:latin typeface="Cambria Math" panose="02040503050406030204" pitchFamily="18" charset="0"/>
                                  <a:ea typeface="Cambria Math" panose="02040503050406030204" pitchFamily="18" charset="0"/>
                                </a:rPr>
                                <m:t>𝟏</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089363" y="3634662"/>
                    <a:ext cx="1158349" cy="307777"/>
                  </a:xfrm>
                  <a:prstGeom prst="rect">
                    <a:avLst/>
                  </a:prstGeom>
                  <a:blipFill>
                    <a:blip r:embed="rId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9777915" y="4256239"/>
                    <a:ext cx="1034033" cy="307777"/>
                  </a:xfrm>
                  <a:prstGeom prst="rect">
                    <a:avLst/>
                  </a:prstGeom>
                  <a:noFill/>
                </p:spPr>
                <p:txBody>
                  <a:bodyPr wrap="square">
                    <a:spAutoFit/>
                  </a:bodyPr>
                  <a:lstStyle/>
                  <a:p>
                    <a:pPr/>
                    <a14:m>
                      <m:oMathPara xmlns:m="http://schemas.openxmlformats.org/officeDocument/2006/math">
                        <m:oMath>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𝒗</m:t>
                              </m:r>
                            </m:e>
                            <m:sub>
                              <m:r>
                                <a:rPr lang="en-US" sz="1400" b="1" i="1">
                                  <a:solidFill>
                                    <a:schemeClr val="accent3"/>
                                  </a:solidFill>
                                  <a:latin typeface="Cambria Math" panose="02040503050406030204" pitchFamily="18" charset="0"/>
                                  <a:ea typeface="Cambria Math" panose="02040503050406030204" pitchFamily="18" charset="0"/>
                                </a:rPr>
                                <m:t>𝝅</m:t>
                              </m:r>
                            </m:sub>
                          </m:sSub>
                          <m:r>
                            <a:rPr lang="en-US" sz="1400" b="1" i="1">
                              <a:solidFill>
                                <a:schemeClr val="accent3"/>
                              </a:solidFill>
                              <a:latin typeface="Cambria Math" panose="02040503050406030204" pitchFamily="18" charset="0"/>
                              <a:ea typeface="Cambria Math" panose="02040503050406030204" pitchFamily="18" charset="0"/>
                            </a:rPr>
                            <m:t>(</m:t>
                          </m:r>
                          <m:sSub>
                            <m:sSubPr>
                              <m:ctrlPr>
                                <a:rPr lang="en-US" sz="1400" b="1" i="1">
                                  <a:solidFill>
                                    <a:schemeClr val="accent3"/>
                                  </a:solidFill>
                                  <a:latin typeface="Cambria Math" panose="02040503050406030204" pitchFamily="18" charset="0"/>
                                  <a:ea typeface="Cambria Math" panose="02040503050406030204" pitchFamily="18" charset="0"/>
                                </a:rPr>
                              </m:ctrlPr>
                            </m:sSubPr>
                            <m:e>
                              <m:r>
                                <a:rPr lang="en-US" sz="1400" b="1" i="1">
                                  <a:solidFill>
                                    <a:schemeClr val="accent3"/>
                                  </a:solidFill>
                                  <a:latin typeface="Cambria Math" panose="02040503050406030204" pitchFamily="18" charset="0"/>
                                  <a:ea typeface="Cambria Math" panose="02040503050406030204" pitchFamily="18" charset="0"/>
                                </a:rPr>
                                <m:t>𝒔</m:t>
                              </m:r>
                            </m:e>
                            <m:sub>
                              <m:r>
                                <a:rPr lang="en-US" sz="1400" b="1" i="1">
                                  <a:solidFill>
                                    <a:schemeClr val="accent3"/>
                                  </a:solidFill>
                                  <a:latin typeface="Cambria Math" panose="02040503050406030204" pitchFamily="18" charset="0"/>
                                  <a:ea typeface="Cambria Math" panose="02040503050406030204" pitchFamily="18" charset="0"/>
                                </a:rPr>
                                <m:t>𝒕</m:t>
                              </m:r>
                              <m:r>
                                <a:rPr lang="en-US" sz="1400" b="1" i="1">
                                  <a:solidFill>
                                    <a:schemeClr val="accent3"/>
                                  </a:solidFill>
                                  <a:latin typeface="Cambria Math" panose="02040503050406030204" pitchFamily="18" charset="0"/>
                                  <a:ea typeface="Cambria Math" panose="02040503050406030204" pitchFamily="18" charset="0"/>
                                </a:rPr>
                                <m:t>+</m:t>
                              </m:r>
                              <m:r>
                                <a:rPr lang="en-US" sz="1400" b="1" i="1">
                                  <a:solidFill>
                                    <a:schemeClr val="accent3"/>
                                  </a:solidFill>
                                  <a:latin typeface="Cambria Math" panose="02040503050406030204" pitchFamily="18" charset="0"/>
                                  <a:ea typeface="Cambria Math" panose="02040503050406030204" pitchFamily="18" charset="0"/>
                                </a:rPr>
                                <m:t>𝟏</m:t>
                              </m:r>
                            </m:sub>
                          </m:sSub>
                          <m:r>
                            <a:rPr lang="en-US" sz="1400" b="1" i="1">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9777915" y="4256239"/>
                    <a:ext cx="1034033" cy="307777"/>
                  </a:xfrm>
                  <a:prstGeom prst="rect">
                    <a:avLst/>
                  </a:prstGeom>
                  <a:blipFill>
                    <a:blip r:embed="rId8"/>
                    <a:stretch>
                      <a:fillRect b="-58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3F8B22C-9470-087B-D747-0CE308C86113}"/>
                  </a:ext>
                </a:extLst>
              </p:cNvPr>
              <p:cNvSpPr txBox="1"/>
              <p:nvPr/>
            </p:nvSpPr>
            <p:spPr>
              <a:xfrm>
                <a:off x="9117854" y="4602688"/>
                <a:ext cx="1158349" cy="307777"/>
              </a:xfrm>
              <a:prstGeom prst="rect">
                <a:avLst/>
              </a:prstGeom>
              <a:noFill/>
            </p:spPr>
            <p:txBody>
              <a:bodyPr wrap="square">
                <a:spAutoFit/>
              </a:bodyPr>
              <a:lstStyle/>
              <a:p>
                <a:pPr/>
                <a14:m>
                  <m:oMathPara xmlns:m="http://schemas.openxmlformats.org/officeDocument/2006/math">
                    <m:oMath>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𝒗</m:t>
                          </m:r>
                        </m:e>
                        <m:sub>
                          <m:r>
                            <a:rPr lang="en-US" sz="1400" b="1" i="1" smtClean="0">
                              <a:solidFill>
                                <a:schemeClr val="accent3"/>
                              </a:solidFill>
                              <a:latin typeface="Cambria Math" panose="02040503050406030204" pitchFamily="18" charset="0"/>
                              <a:ea typeface="Cambria Math" panose="02040503050406030204" pitchFamily="18" charset="0"/>
                            </a:rPr>
                            <m:t>𝝅</m:t>
                          </m:r>
                        </m:sub>
                      </m:sSub>
                      <m:r>
                        <a:rPr lang="en-US" sz="1400" b="1" i="1" smtClean="0">
                          <a:solidFill>
                            <a:schemeClr val="accent3"/>
                          </a:solidFill>
                          <a:latin typeface="Cambria Math" panose="02040503050406030204" pitchFamily="18" charset="0"/>
                          <a:ea typeface="Cambria Math" panose="02040503050406030204" pitchFamily="18" charset="0"/>
                        </a:rPr>
                        <m:t>(</m:t>
                      </m:r>
                      <m:sSub>
                        <m:sSubPr>
                          <m:ctrlPr>
                            <a:rPr lang="en-US" sz="1400" b="1" i="1" smtClean="0">
                              <a:solidFill>
                                <a:schemeClr val="accent3"/>
                              </a:solidFill>
                              <a:latin typeface="Cambria Math" panose="02040503050406030204" pitchFamily="18" charset="0"/>
                              <a:ea typeface="Cambria Math" panose="02040503050406030204" pitchFamily="18" charset="0"/>
                            </a:rPr>
                          </m:ctrlPr>
                        </m:sSubPr>
                        <m:e>
                          <m:r>
                            <a:rPr lang="en-US" sz="1400" b="1" i="1" smtClean="0">
                              <a:solidFill>
                                <a:schemeClr val="accent3"/>
                              </a:solidFill>
                              <a:latin typeface="Cambria Math" panose="02040503050406030204" pitchFamily="18" charset="0"/>
                              <a:ea typeface="Cambria Math" panose="02040503050406030204" pitchFamily="18" charset="0"/>
                            </a:rPr>
                            <m:t>𝒔</m:t>
                          </m:r>
                        </m:e>
                        <m:sub>
                          <m:r>
                            <a:rPr lang="en-US" sz="1400" b="1" i="1" smtClean="0">
                              <a:solidFill>
                                <a:schemeClr val="accent3"/>
                              </a:solidFill>
                              <a:latin typeface="Cambria Math" panose="02040503050406030204" pitchFamily="18" charset="0"/>
                              <a:ea typeface="Cambria Math" panose="02040503050406030204" pitchFamily="18" charset="0"/>
                            </a:rPr>
                            <m:t>𝒕</m:t>
                          </m:r>
                        </m:sub>
                      </m:sSub>
                      <m:r>
                        <a:rPr lang="en-US" sz="1400" b="1" i="1" smtClean="0">
                          <a:solidFill>
                            <a:schemeClr val="accent3"/>
                          </a:solidFill>
                          <a:latin typeface="Cambria Math" panose="02040503050406030204" pitchFamily="18" charset="0"/>
                          <a:ea typeface="Cambria Math" panose="02040503050406030204" pitchFamily="18" charset="0"/>
                        </a:rPr>
                        <m:t>) </m:t>
                      </m:r>
                    </m:oMath>
                  </m:oMathPara>
                </a14:m>
                <a:endParaRPr lang="en-US" sz="1400" b="1" dirty="0">
                  <a:solidFill>
                    <a:schemeClr val="accent3"/>
                  </a:solidFill>
                </a:endParaRPr>
              </a:p>
            </p:txBody>
          </p:sp>
        </mc:Choice>
        <mc:Fallback xmlns="">
          <p:sp>
            <p:nvSpPr>
              <p:cNvPr id="9" name="TextBox 8">
                <a:extLst>
                  <a:ext uri="{FF2B5EF4-FFF2-40B4-BE49-F238E27FC236}">
                    <a16:creationId xmlns:a16="http://schemas.microsoft.com/office/drawing/2014/main" id="{13F8B22C-9470-087B-D747-0CE308C86113}"/>
                  </a:ext>
                </a:extLst>
              </p:cNvPr>
              <p:cNvSpPr txBox="1">
                <a:spLocks noRot="1" noChangeAspect="1" noMove="1" noResize="1" noEditPoints="1" noAdjustHandles="1" noChangeArrowheads="1" noChangeShapeType="1" noTextEdit="1"/>
              </p:cNvSpPr>
              <p:nvPr/>
            </p:nvSpPr>
            <p:spPr>
              <a:xfrm>
                <a:off x="9117854" y="4602688"/>
                <a:ext cx="1158349" cy="307777"/>
              </a:xfrm>
              <a:prstGeom prst="rect">
                <a:avLst/>
              </a:prstGeom>
              <a:blipFill>
                <a:blip r:embed="rId9"/>
                <a:stretch>
                  <a:fillRect b="-5882"/>
                </a:stretch>
              </a:blipFill>
            </p:spPr>
            <p:txBody>
              <a:bodyPr/>
              <a:lstStyle/>
              <a:p>
                <a:r>
                  <a:rPr lang="en-US">
                    <a:noFill/>
                  </a:rPr>
                  <a:t> </a:t>
                </a:r>
              </a:p>
            </p:txBody>
          </p:sp>
        </mc:Fallback>
      </mc:AlternateContent>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75589"/>
            <a:ext cx="7604234" cy="557914"/>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77336"/>
              <a:ext cx="6491573" cy="1423954"/>
              <a:chOff x="2687521" y="2477336"/>
              <a:chExt cx="6491573" cy="142395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7733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grpSp>
        <p:nvGrpSpPr>
          <p:cNvPr id="13" name="Group 12">
            <a:extLst>
              <a:ext uri="{FF2B5EF4-FFF2-40B4-BE49-F238E27FC236}">
                <a16:creationId xmlns:a16="http://schemas.microsoft.com/office/drawing/2014/main" id="{0C0D41D2-1EA5-07A4-B229-7F4CA508C68E}"/>
              </a:ext>
            </a:extLst>
          </p:cNvPr>
          <p:cNvGrpSpPr/>
          <p:nvPr/>
        </p:nvGrpSpPr>
        <p:grpSpPr>
          <a:xfrm>
            <a:off x="10018986" y="588158"/>
            <a:ext cx="1585171" cy="1191444"/>
            <a:chOff x="10452538" y="1502895"/>
            <a:chExt cx="1585171" cy="1191444"/>
          </a:xfrm>
        </p:grpSpPr>
        <p:sp>
          <p:nvSpPr>
            <p:cNvPr id="14" name="Oval 13">
              <a:extLst>
                <a:ext uri="{FF2B5EF4-FFF2-40B4-BE49-F238E27FC236}">
                  <a16:creationId xmlns:a16="http://schemas.microsoft.com/office/drawing/2014/main" id="{0F9C5211-79F0-B1EC-C049-809D873C6902}"/>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14D7A90B-B609-ACD1-4846-0F0C729F1FC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24F7317-172E-6741-4462-A466CED056F0}"/>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24" name="TextBox 23">
                  <a:extLst>
                    <a:ext uri="{FF2B5EF4-FFF2-40B4-BE49-F238E27FC236}">
                      <a16:creationId xmlns:a16="http://schemas.microsoft.com/office/drawing/2014/main" id="{324F7317-172E-6741-4462-A466CED056F0}"/>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14"/>
                  <a:stretch>
                    <a:fillRect l="-4301" t="-4717" b="-15094"/>
                  </a:stretch>
                </a:blipFill>
              </p:spPr>
              <p:txBody>
                <a:bodyPr/>
                <a:lstStyle/>
                <a:p>
                  <a:r>
                    <a:rPr lang="en-US">
                      <a:noFill/>
                    </a:rPr>
                    <a:t> </a:t>
                  </a:r>
                </a:p>
              </p:txBody>
            </p:sp>
          </mc:Fallback>
        </mc:AlternateContent>
        <p:sp>
          <p:nvSpPr>
            <p:cNvPr id="25" name="Rectangle 24">
              <a:extLst>
                <a:ext uri="{FF2B5EF4-FFF2-40B4-BE49-F238E27FC236}">
                  <a16:creationId xmlns:a16="http://schemas.microsoft.com/office/drawing/2014/main" id="{8C347699-7AE4-70B6-68B3-8DFEE0895BD4}"/>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grpSp>
        <p:nvGrpSpPr>
          <p:cNvPr id="17" name="Group 16">
            <a:extLst>
              <a:ext uri="{FF2B5EF4-FFF2-40B4-BE49-F238E27FC236}">
                <a16:creationId xmlns:a16="http://schemas.microsoft.com/office/drawing/2014/main" id="{1C9D19F8-38B2-66A9-EA73-B220AB2BF19E}"/>
              </a:ext>
            </a:extLst>
          </p:cNvPr>
          <p:cNvGrpSpPr/>
          <p:nvPr/>
        </p:nvGrpSpPr>
        <p:grpSpPr>
          <a:xfrm>
            <a:off x="10034751" y="569985"/>
            <a:ext cx="1585171" cy="1191444"/>
            <a:chOff x="10452538" y="1502895"/>
            <a:chExt cx="1585171" cy="1191444"/>
          </a:xfrm>
        </p:grpSpPr>
        <p:sp>
          <p:nvSpPr>
            <p:cNvPr id="7" name="Oval 6">
              <a:extLst>
                <a:ext uri="{FF2B5EF4-FFF2-40B4-BE49-F238E27FC236}">
                  <a16:creationId xmlns:a16="http://schemas.microsoft.com/office/drawing/2014/main" id="{C1B39F96-BEF8-3623-531E-0FF07248C7CA}"/>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2A996DB-90B4-49A8-0F2C-D34C8791D61C}"/>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02B9472-A42A-DCD6-1EC1-821E743D4E45}"/>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5" name="TextBox 14">
                  <a:extLst>
                    <a:ext uri="{FF2B5EF4-FFF2-40B4-BE49-F238E27FC236}">
                      <a16:creationId xmlns:a16="http://schemas.microsoft.com/office/drawing/2014/main" id="{D02B9472-A42A-DCD6-1EC1-821E743D4E45}"/>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4717" b="-15094"/>
                  </a:stretch>
                </a:blipFill>
              </p:spPr>
              <p:txBody>
                <a:bodyPr/>
                <a:lstStyle/>
                <a:p>
                  <a:r>
                    <a:rPr lang="en-US">
                      <a:noFill/>
                    </a:rPr>
                    <a:t> </a:t>
                  </a:r>
                </a:p>
              </p:txBody>
            </p:sp>
          </mc:Fallback>
        </mc:AlternateContent>
        <p:sp>
          <p:nvSpPr>
            <p:cNvPr id="16" name="Rectangle 15">
              <a:extLst>
                <a:ext uri="{FF2B5EF4-FFF2-40B4-BE49-F238E27FC236}">
                  <a16:creationId xmlns:a16="http://schemas.microsoft.com/office/drawing/2014/main" id="{CA33AF70-253D-0A8A-AE56-ABB06201D6CD}"/>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431343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grpSp>
        <p:nvGrpSpPr>
          <p:cNvPr id="10" name="Group 9">
            <a:extLst>
              <a:ext uri="{FF2B5EF4-FFF2-40B4-BE49-F238E27FC236}">
                <a16:creationId xmlns:a16="http://schemas.microsoft.com/office/drawing/2014/main" id="{2AACAC04-5C41-2B77-9B2B-2C01C12F2C5D}"/>
              </a:ext>
            </a:extLst>
          </p:cNvPr>
          <p:cNvGrpSpPr/>
          <p:nvPr/>
        </p:nvGrpSpPr>
        <p:grpSpPr>
          <a:xfrm>
            <a:off x="9876821" y="649234"/>
            <a:ext cx="1585171" cy="1191444"/>
            <a:chOff x="10452538" y="1502895"/>
            <a:chExt cx="1585171" cy="1191444"/>
          </a:xfrm>
        </p:grpSpPr>
        <p:sp>
          <p:nvSpPr>
            <p:cNvPr id="14" name="Oval 13">
              <a:extLst>
                <a:ext uri="{FF2B5EF4-FFF2-40B4-BE49-F238E27FC236}">
                  <a16:creationId xmlns:a16="http://schemas.microsoft.com/office/drawing/2014/main" id="{18393AB9-BF1A-A733-350D-85272A5A646F}"/>
                </a:ext>
              </a:extLst>
            </p:cNvPr>
            <p:cNvSpPr/>
            <p:nvPr/>
          </p:nvSpPr>
          <p:spPr>
            <a:xfrm>
              <a:off x="10693530" y="2367658"/>
              <a:ext cx="167515" cy="15270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C908B99-94CB-85D8-BA06-BDF0FCEFA702}"/>
                </a:ext>
              </a:extLst>
            </p:cNvPr>
            <p:cNvSpPr/>
            <p:nvPr/>
          </p:nvSpPr>
          <p:spPr>
            <a:xfrm>
              <a:off x="10651647" y="1987829"/>
              <a:ext cx="251283" cy="246237"/>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742AF52A-3230-BBB3-C411-046CF6FB664C}"/>
                    </a:ext>
                  </a:extLst>
                </p:cNvPr>
                <p:cNvSpPr txBox="1"/>
                <p:nvPr/>
              </p:nvSpPr>
              <p:spPr>
                <a:xfrm>
                  <a:off x="10906922" y="1932648"/>
                  <a:ext cx="1130787" cy="646331"/>
                </a:xfrm>
                <a:prstGeom prst="rect">
                  <a:avLst/>
                </a:prstGeom>
                <a:noFill/>
              </p:spPr>
              <p:txBody>
                <a:bodyPr wrap="square" rtlCol="0">
                  <a:spAutoFit/>
                </a:bodyPr>
                <a:lstStyle/>
                <a:p>
                  <a:r>
                    <a:rPr lang="en-US" b="0" dirty="0"/>
                    <a:t>… </a:t>
                  </a:r>
                  <a14:m>
                    <m:oMath xmlns:m="http://schemas.openxmlformats.org/officeDocument/2006/math">
                      <m:r>
                        <a:rPr lang="en-US" b="0" i="1" smtClean="0">
                          <a:latin typeface="Cambria Math" panose="02040503050406030204" pitchFamily="18" charset="0"/>
                        </a:rPr>
                        <m:t>𝑣</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endParaRPr lang="en-US" b="0" dirty="0"/>
                </a:p>
                <a:p>
                  <a:r>
                    <a:rPr lang="en-US" b="0" dirty="0"/>
                    <a:t>…</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endParaRPr lang="en-US" dirty="0"/>
                </a:p>
              </p:txBody>
            </p:sp>
          </mc:Choice>
          <mc:Fallback xmlns="">
            <p:sp>
              <p:nvSpPr>
                <p:cNvPr id="18" name="TextBox 17">
                  <a:extLst>
                    <a:ext uri="{FF2B5EF4-FFF2-40B4-BE49-F238E27FC236}">
                      <a16:creationId xmlns:a16="http://schemas.microsoft.com/office/drawing/2014/main" id="{742AF52A-3230-BBB3-C411-046CF6FB664C}"/>
                    </a:ext>
                  </a:extLst>
                </p:cNvPr>
                <p:cNvSpPr txBox="1">
                  <a:spLocks noRot="1" noChangeAspect="1" noMove="1" noResize="1" noEditPoints="1" noAdjustHandles="1" noChangeArrowheads="1" noChangeShapeType="1" noTextEdit="1"/>
                </p:cNvSpPr>
                <p:nvPr/>
              </p:nvSpPr>
              <p:spPr>
                <a:xfrm>
                  <a:off x="10906922" y="1932648"/>
                  <a:ext cx="1130787" cy="646331"/>
                </a:xfrm>
                <a:prstGeom prst="rect">
                  <a:avLst/>
                </a:prstGeom>
                <a:blipFill>
                  <a:blip r:embed="rId5"/>
                  <a:stretch>
                    <a:fillRect l="-4865" t="-3774" b="-15094"/>
                  </a:stretch>
                </a:blipFill>
              </p:spPr>
              <p:txBody>
                <a:bodyPr/>
                <a:lstStyle/>
                <a:p>
                  <a:r>
                    <a:rPr lang="en-US">
                      <a:noFill/>
                    </a:rPr>
                    <a:t> </a:t>
                  </a:r>
                </a:p>
              </p:txBody>
            </p:sp>
          </mc:Fallback>
        </mc:AlternateContent>
        <p:sp>
          <p:nvSpPr>
            <p:cNvPr id="19" name="Rectangle 18">
              <a:extLst>
                <a:ext uri="{FF2B5EF4-FFF2-40B4-BE49-F238E27FC236}">
                  <a16:creationId xmlns:a16="http://schemas.microsoft.com/office/drawing/2014/main" id="{038784B9-6B13-8ACE-4F08-9A95194E2625}"/>
                </a:ext>
              </a:extLst>
            </p:cNvPr>
            <p:cNvSpPr/>
            <p:nvPr/>
          </p:nvSpPr>
          <p:spPr>
            <a:xfrm>
              <a:off x="10452538" y="1502895"/>
              <a:ext cx="1481873" cy="119144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t" anchorCtr="0"/>
            <a:lstStyle/>
            <a:p>
              <a:pPr algn="ctr"/>
              <a:r>
                <a:rPr lang="en-US" dirty="0"/>
                <a:t>Symbols</a:t>
              </a:r>
            </a:p>
          </p:txBody>
        </p:sp>
      </p:gr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940649"/>
              </a:xfrm>
            </p:spPr>
            <p:txBody>
              <a:bodyPr>
                <a:normAutofit fontScale="62500" lnSpcReduction="20000"/>
              </a:bodyPr>
              <a:lstStyle/>
              <a:p>
                <a:pPr marL="0" indent="0">
                  <a:buNone/>
                </a:pPr>
                <a:r>
                  <a:rPr lang="en-US" b="1" dirty="0"/>
                  <a:t>For a given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The value functions are defined as expected returns following actions given by the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b="1" dirty="0"/>
                  <a:t>For the optimal policy</a:t>
                </a:r>
                <a:r>
                  <a:rPr lang="en-US" dirty="0"/>
                  <a:t>:  Always the optimal action is chosen and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940649"/>
              </a:xfrm>
              <a:blipFill>
                <a:blip r:embed="rId2"/>
                <a:stretch>
                  <a:fillRect l="-1044" t="-1850" r="-5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253331" y="133517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253331" y="1335179"/>
                <a:ext cx="5257799" cy="4332725"/>
              </a:xfrm>
              <a:prstGeom prst="rect">
                <a:avLst/>
              </a:prstGeom>
              <a:blipFill>
                <a:blip r:embed="rId3"/>
                <a:stretch>
                  <a:fillRect l="-925" t="-420"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a:extLst>
              <a:ext uri="{FF2B5EF4-FFF2-40B4-BE49-F238E27FC236}">
                <a16:creationId xmlns:a16="http://schemas.microsoft.com/office/drawing/2014/main" id="{08DE9F32-7B34-4C19-C31B-96905C0FBF82}"/>
              </a:ext>
              <a:ext uri="{C183D7F6-B498-43B3-948B-1728B52AA6E4}">
                <adec:decorative xmlns:adec="http://schemas.microsoft.com/office/drawing/2017/decorative" val="1"/>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18888</TotalTime>
  <Words>4572</Words>
  <Application>Microsoft Office PowerPoint</Application>
  <PresentationFormat>Widescreen</PresentationFormat>
  <Paragraphs>711</Paragraphs>
  <Slides>37</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Function</vt:lpstr>
      <vt:lpstr>Reward Function</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149</cp:revision>
  <dcterms:created xsi:type="dcterms:W3CDTF">2025-09-08T14:44:49Z</dcterms:created>
  <dcterms:modified xsi:type="dcterms:W3CDTF">2026-09-15T14:43:12Z</dcterms:modified>
</cp:coreProperties>
</file>