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8" r:id="rId4"/>
    <p:sldId id="482" r:id="rId5"/>
    <p:sldId id="353" r:id="rId6"/>
    <p:sldId id="486" r:id="rId7"/>
    <p:sldId id="485" r:id="rId8"/>
    <p:sldId id="354" r:id="rId9"/>
    <p:sldId id="355" r:id="rId10"/>
    <p:sldId id="470" r:id="rId11"/>
    <p:sldId id="356" r:id="rId12"/>
    <p:sldId id="387" r:id="rId13"/>
    <p:sldId id="382" r:id="rId14"/>
    <p:sldId id="357" r:id="rId15"/>
    <p:sldId id="358" r:id="rId16"/>
    <p:sldId id="360" r:id="rId17"/>
    <p:sldId id="383" r:id="rId18"/>
    <p:sldId id="359" r:id="rId19"/>
    <p:sldId id="476" r:id="rId20"/>
    <p:sldId id="474" r:id="rId21"/>
    <p:sldId id="475" r:id="rId22"/>
    <p:sldId id="361" r:id="rId23"/>
    <p:sldId id="364" r:id="rId24"/>
    <p:sldId id="479" r:id="rId25"/>
    <p:sldId id="481" r:id="rId26"/>
    <p:sldId id="362" r:id="rId27"/>
    <p:sldId id="385" r:id="rId28"/>
    <p:sldId id="386" r:id="rId29"/>
    <p:sldId id="365" r:id="rId30"/>
    <p:sldId id="366" r:id="rId31"/>
    <p:sldId id="480" r:id="rId32"/>
    <p:sldId id="484" r:id="rId33"/>
    <p:sldId id="483" r:id="rId34"/>
    <p:sldId id="477" r:id="rId35"/>
    <p:sldId id="462" r:id="rId36"/>
    <p:sldId id="367"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486"/>
            <p14:sldId id="485"/>
            <p14:sldId id="354"/>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85" d="100"/>
          <a:sy n="85" d="100"/>
        </p:scale>
        <p:origin x="80" y="180"/>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6/15/2026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10</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6/15/2026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6/15/2026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1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0.png"/><Relationship Id="rId18" Type="http://schemas.openxmlformats.org/officeDocument/2006/relationships/image" Target="../media/image190.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16" Type="http://schemas.openxmlformats.org/officeDocument/2006/relationships/image" Target="../media/image170.png"/><Relationship Id="rId20" Type="http://schemas.openxmlformats.org/officeDocument/2006/relationships/image" Target="../media/image21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0.png"/><Relationship Id="rId23" Type="http://schemas.openxmlformats.org/officeDocument/2006/relationships/image" Target="../media/image23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19.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50.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9.png"/><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8.png"/><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s>
</file>

<file path=ppt/slides/_rels/slide2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4" Type="http://schemas.openxmlformats.org/officeDocument/2006/relationships/image" Target="../media/image4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6.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925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the immediate reward depends on the current state and action.</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558" t="-4112"/>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3"/>
                            </a:solidFill>
                            <a:latin typeface="Cambria Math" panose="02040503050406030204" pitchFamily="18" charset="0"/>
                          </a:rPr>
                          <m:t>𝒑</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7547"/>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r>
                      <a:rPr lang="en-US" b="0" i="0" smtClean="0">
                        <a:latin typeface="Cambria Math" panose="02040503050406030204" pitchFamily="18" charset="0"/>
                        <a:ea typeface="Cambria Math" panose="02040503050406030204" pitchFamily="18" charset="0"/>
                      </a:rPr>
                      <m:t>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i="1">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b="0"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3" end="1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4" end="1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850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lvl="1"/>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a:t>
                </a:r>
                <a:r>
                  <a:rPr lang="en-US"/>
                  <a:t>state.</a:t>
                </a: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850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dirty="0"/>
                  <a:t>A simple Monte Carlo method: </a:t>
                </a:r>
                <a:r>
                  <a:rPr lang="en-US" b="1" dirty="0"/>
                  <a:t>Sample-average method</a:t>
                </a:r>
                <a:r>
                  <a:rPr lang="en-US" dirty="0"/>
                  <a:t>: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pPr marL="0" indent="0">
                  <a:buNone/>
                </a:pPr>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9366265" y="1665052"/>
            <a:ext cx="2625866" cy="544888"/>
          </a:xfrm>
          <a:prstGeom prst="wedgeRoundRectCallout">
            <a:avLst>
              <a:gd name="adj1" fmla="val -106631"/>
              <a:gd name="adj2" fmla="val -2052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Requires information about complete episodes.</a:t>
            </a:r>
          </a:p>
        </p:txBody>
      </p:sp>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33" name="Group 32">
            <a:extLst>
              <a:ext uri="{FF2B5EF4-FFF2-40B4-BE49-F238E27FC236}">
                <a16:creationId xmlns:a16="http://schemas.microsoft.com/office/drawing/2014/main" id="{0056F82B-BE54-C59A-E83A-64BEC3F8FEDE}"/>
              </a:ext>
            </a:extLst>
          </p:cNvPr>
          <p:cNvGrpSpPr/>
          <p:nvPr/>
        </p:nvGrpSpPr>
        <p:grpSpPr>
          <a:xfrm>
            <a:off x="8965554" y="2344854"/>
            <a:ext cx="3026577" cy="2848094"/>
            <a:chOff x="8965554" y="2344854"/>
            <a:chExt cx="3026577" cy="2848094"/>
          </a:xfrm>
        </p:grpSpPr>
        <p:pic>
          <p:nvPicPr>
            <p:cNvPr id="26" name="Picture 25">
              <a:extLst>
                <a:ext uri="{FF2B5EF4-FFF2-40B4-BE49-F238E27FC236}">
                  <a16:creationId xmlns:a16="http://schemas.microsoft.com/office/drawing/2014/main" id="{753AE11C-F01F-6C24-278A-0A15BFFFDDEA}"/>
                </a:ext>
                <a:ext uri="{C183D7F6-B498-43B3-948B-1728B52AA6E4}">
                  <adec:decorative xmlns:adec="http://schemas.microsoft.com/office/drawing/2017/decorative" val="1"/>
                </a:ext>
              </a:extLst>
            </p:cNvPr>
            <p:cNvPicPr>
              <a:picLocks noChangeAspect="1"/>
            </p:cNvPicPr>
            <p:nvPr/>
          </p:nvPicPr>
          <p:blipFill rotWithShape="1">
            <a:blip r:embed="rId4"/>
            <a:srcRect l="60759" t="3531" r="13453" b="53102"/>
            <a:stretch/>
          </p:blipFill>
          <p:spPr>
            <a:xfrm>
              <a:off x="11025130" y="2344854"/>
              <a:ext cx="889918" cy="836202"/>
            </a:xfrm>
            <a:prstGeom prst="rect">
              <a:avLst/>
            </a:prstGeom>
          </p:spPr>
        </p:pic>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65554" y="3009138"/>
              <a:ext cx="3026577" cy="2183810"/>
            </a:xfrm>
            <a:prstGeom prst="rect">
              <a:avLst/>
            </a:prstGeom>
          </p:spPr>
        </p:pic>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0FF32C7-84B2-F9EE-89F2-97441B45BA00}"/>
                    </a:ext>
                  </a:extLst>
                </p:cNvPr>
                <p:cNvSpPr txBox="1"/>
                <p:nvPr/>
              </p:nvSpPr>
              <p:spPr>
                <a:xfrm>
                  <a:off x="9517700" y="4564504"/>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a:solidFill>
                              <a:schemeClr val="accent3"/>
                            </a:solidFill>
                            <a:latin typeface="Cambria Math" panose="02040503050406030204" pitchFamily="18" charset="0"/>
                            <a:ea typeface="Cambria Math" panose="02040503050406030204" pitchFamily="18" charset="0"/>
                          </a:rPr>
                          <m:t>𝒔</m:t>
                        </m:r>
                      </m:oMath>
                    </m:oMathPara>
                  </a14:m>
                  <a:endParaRPr lang="en-US" b="1" dirty="0">
                    <a:solidFill>
                      <a:schemeClr val="accent3"/>
                    </a:solidFill>
                  </a:endParaRPr>
                </a:p>
              </p:txBody>
            </p:sp>
          </mc:Choice>
          <mc:Fallback xmlns="">
            <p:sp>
              <p:nvSpPr>
                <p:cNvPr id="28" name="TextBox 27">
                  <a:extLst>
                    <a:ext uri="{FF2B5EF4-FFF2-40B4-BE49-F238E27FC236}">
                      <a16:creationId xmlns:a16="http://schemas.microsoft.com/office/drawing/2014/main" id="{80FF32C7-84B2-F9EE-89F2-97441B45BA00}"/>
                    </a:ext>
                  </a:extLst>
                </p:cNvPr>
                <p:cNvSpPr txBox="1">
                  <a:spLocks noRot="1" noChangeAspect="1" noMove="1" noResize="1" noEditPoints="1" noAdjustHandles="1" noChangeArrowheads="1" noChangeShapeType="1" noTextEdit="1"/>
                </p:cNvSpPr>
                <p:nvPr/>
              </p:nvSpPr>
              <p:spPr>
                <a:xfrm>
                  <a:off x="9517700" y="4564504"/>
                  <a:ext cx="301677" cy="369332"/>
                </a:xfrm>
                <a:prstGeom prst="rect">
                  <a:avLst/>
                </a:prstGeom>
                <a:blipFill>
                  <a:blip r:embed="rId6"/>
                  <a:stretch>
                    <a:fillRect/>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479404" y="3616391"/>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479404" y="3616391"/>
                  <a:ext cx="301677" cy="369332"/>
                </a:xfrm>
                <a:prstGeom prst="rect">
                  <a:avLst/>
                </a:prstGeom>
                <a:blipFill>
                  <a:blip r:embed="rId7"/>
                  <a:stretch>
                    <a:fillRect r="-1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10092330" y="4233356"/>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10092330" y="4233356"/>
                  <a:ext cx="301677" cy="369332"/>
                </a:xfrm>
                <a:prstGeom prst="rect">
                  <a:avLst/>
                </a:prstGeom>
                <a:blipFill>
                  <a:blip r:embed="rId8"/>
                  <a:stretch>
                    <a:fillRect r="-20408"/>
                  </a:stretch>
                </a:blipFill>
              </p:spPr>
              <p:txBody>
                <a:bodyPr/>
                <a:lstStyle/>
                <a:p>
                  <a:r>
                    <a:rPr lang="en-US">
                      <a:noFill/>
                    </a:rPr>
                    <a:t> </a:t>
                  </a:r>
                </a:p>
              </p:txBody>
            </p:sp>
          </mc:Fallback>
        </mc:AlternateContent>
      </p:grpSp>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spTree>
    <p:extLst>
      <p:ext uri="{BB962C8B-B14F-4D97-AF65-F5344CB8AC3E}">
        <p14:creationId xmlns:p14="http://schemas.microsoft.com/office/powerpoint/2010/main" val="34313439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779633"/>
              </a:xfrm>
            </p:spPr>
            <p:txBody>
              <a:bodyPr>
                <a:normAutofit fontScale="625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779633"/>
              </a:xfrm>
              <a:blipFill>
                <a:blip r:embed="rId2"/>
                <a:stretch>
                  <a:fillRect l="-1044" t="-1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337093" y="136309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337093" y="1363099"/>
                <a:ext cx="5257799" cy="4332725"/>
              </a:xfrm>
              <a:prstGeom prst="rect">
                <a:avLst/>
              </a:prstGeom>
              <a:blipFill>
                <a:blip r:embed="rId3"/>
                <a:stretch>
                  <a:fillRect l="-925" t="-561"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a:latin typeface="Cambria Math" panose="02040503050406030204" pitchFamily="18" charset="0"/>
                        </a:rPr>
                        <m:t>update</m:t>
                      </m:r>
                      <m:d>
                        <m:dPr>
                          <m:ctrlPr>
                            <a:rPr lang="en-US" sz="1400" i="1">
                              <a:latin typeface="Cambria Math" panose="02040503050406030204" pitchFamily="18" charset="0"/>
                            </a:rPr>
                          </m:ctrlPr>
                        </m:dPr>
                        <m:e>
                          <m:r>
                            <m:rPr>
                              <m:nor/>
                            </m:rPr>
                            <a:rPr lang="en-US" sz="140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i="1">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18729</TotalTime>
  <Words>4400</Words>
  <Application>Microsoft Office PowerPoint</Application>
  <PresentationFormat>Widescreen</PresentationFormat>
  <Paragraphs>696</Paragraphs>
  <Slides>36</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and Reward Functions</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138</cp:revision>
  <dcterms:created xsi:type="dcterms:W3CDTF">2025-09-08T14:44:49Z</dcterms:created>
  <dcterms:modified xsi:type="dcterms:W3CDTF">2026-06-15T14:36:12Z</dcterms:modified>
</cp:coreProperties>
</file>