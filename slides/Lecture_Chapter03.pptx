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478" r:id="rId3"/>
    <p:sldId id="353" r:id="rId4"/>
    <p:sldId id="354" r:id="rId5"/>
    <p:sldId id="355" r:id="rId6"/>
    <p:sldId id="469" r:id="rId7"/>
    <p:sldId id="470" r:id="rId8"/>
    <p:sldId id="356" r:id="rId9"/>
    <p:sldId id="387" r:id="rId10"/>
    <p:sldId id="382" r:id="rId11"/>
    <p:sldId id="357" r:id="rId12"/>
    <p:sldId id="358" r:id="rId13"/>
    <p:sldId id="360" r:id="rId14"/>
    <p:sldId id="383" r:id="rId15"/>
    <p:sldId id="359" r:id="rId16"/>
    <p:sldId id="476" r:id="rId17"/>
    <p:sldId id="474" r:id="rId18"/>
    <p:sldId id="475" r:id="rId19"/>
    <p:sldId id="361" r:id="rId20"/>
    <p:sldId id="362" r:id="rId21"/>
    <p:sldId id="385" r:id="rId22"/>
    <p:sldId id="386" r:id="rId23"/>
    <p:sldId id="384" r:id="rId24"/>
    <p:sldId id="364" r:id="rId25"/>
    <p:sldId id="365" r:id="rId26"/>
    <p:sldId id="366" r:id="rId27"/>
    <p:sldId id="480" r:id="rId28"/>
    <p:sldId id="477" r:id="rId29"/>
    <p:sldId id="367"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478"/>
          </p14:sldIdLst>
        </p14:section>
        <p14:section name="Finite MDP" id="{99C52200-DC0B-4ED7-BC0A-CEC376E11BA5}">
          <p14:sldIdLst>
            <p14:sldId id="353"/>
            <p14:sldId id="354"/>
            <p14:sldId id="355"/>
            <p14:sldId id="469"/>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2"/>
            <p14:sldId id="385"/>
            <p14:sldId id="386"/>
          </p14:sldIdLst>
        </p14:section>
        <p14:section name="Optimal Solutions" id="{DE685EBE-7543-4C80-B6DE-E26C725CCD32}">
          <p14:sldIdLst>
            <p14:sldId id="384"/>
            <p14:sldId id="364"/>
            <p14:sldId id="365"/>
            <p14:sldId id="366"/>
            <p14:sldId id="480"/>
          </p14:sldIdLst>
        </p14:section>
        <p14:section name="Summary" id="{8BC0CBAD-81F8-4558-BDE1-1F8C08AC95EA}">
          <p14:sldIdLst>
            <p14:sldId id="477"/>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923" autoAdjust="0"/>
    <p:restoredTop sz="94660"/>
  </p:normalViewPr>
  <p:slideViewPr>
    <p:cSldViewPr snapToGrid="0">
      <p:cViewPr varScale="1">
        <p:scale>
          <a:sx n="91" d="100"/>
          <a:sy n="91" d="100"/>
        </p:scale>
        <p:origin x="340" y="4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34415058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2/3/2026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2/3/2026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2/3/2026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2/3/2026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2/3/2026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2/3/2026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2/3/2026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2/3/2026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2/3/2026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2/3/2026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2/3/2026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2/3/2026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1.png"/><Relationship Id="rId3" Type="http://schemas.openxmlformats.org/officeDocument/2006/relationships/image" Target="../media/image10.png"/><Relationship Id="rId7" Type="http://schemas.openxmlformats.org/officeDocument/2006/relationships/image" Target="../media/image171.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0" Type="http://schemas.openxmlformats.org/officeDocument/2006/relationships/image" Target="../media/image200.png"/><Relationship Id="rId4" Type="http://schemas.openxmlformats.org/officeDocument/2006/relationships/image" Target="../media/image141.png"/><Relationship Id="rId9" Type="http://schemas.openxmlformats.org/officeDocument/2006/relationships/image" Target="../media/image191.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2.png"/><Relationship Id="rId18" Type="http://schemas.openxmlformats.org/officeDocument/2006/relationships/image" Target="../media/image19.png"/><Relationship Id="rId21" Type="http://schemas.openxmlformats.org/officeDocument/2006/relationships/image" Target="../media/image22.png"/><Relationship Id="rId7" Type="http://schemas.openxmlformats.org/officeDocument/2006/relationships/image" Target="../media/image171.png"/><Relationship Id="rId12" Type="http://schemas.openxmlformats.org/officeDocument/2006/relationships/image" Target="../media/image13.png"/><Relationship Id="rId17" Type="http://schemas.openxmlformats.org/officeDocument/2006/relationships/image" Target="../media/image18.png"/><Relationship Id="rId2" Type="http://schemas.openxmlformats.org/officeDocument/2006/relationships/notesSlide" Target="../notesSlides/notesSlide2.xml"/><Relationship Id="rId16" Type="http://schemas.openxmlformats.org/officeDocument/2006/relationships/image" Target="../media/image17.png"/><Relationship Id="rId20"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png"/><Relationship Id="rId23" Type="http://schemas.openxmlformats.org/officeDocument/2006/relationships/image" Target="../media/image23.png"/><Relationship Id="rId10" Type="http://schemas.openxmlformats.org/officeDocument/2006/relationships/image" Target="../media/image200.png"/><Relationship Id="rId19" Type="http://schemas.openxmlformats.org/officeDocument/2006/relationships/image" Target="../media/image20.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png"/><Relationship Id="rId22"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0.png"/></Relationships>
</file>

<file path=ppt/slides/_rels/slide16.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350.png"/></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0.png"/><Relationship Id="rId5" Type="http://schemas.openxmlformats.org/officeDocument/2006/relationships/image" Target="../media/image38.pn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11.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1.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png"/><Relationship Id="rId12" Type="http://schemas.openxmlformats.org/officeDocument/2006/relationships/image" Target="../media/image43.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6.png"/><Relationship Id="rId11" Type="http://schemas.openxmlformats.org/officeDocument/2006/relationships/image" Target="../media/image44.png"/><Relationship Id="rId5" Type="http://schemas.openxmlformats.org/officeDocument/2006/relationships/image" Target="../media/image45.png"/><Relationship Id="rId10" Type="http://schemas.openxmlformats.org/officeDocument/2006/relationships/image" Target="../media/image50.png"/><Relationship Id="rId9"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330.png"/><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45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400.png"/></Relationships>
</file>

<file path=ppt/slides/_rels/slide2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8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838200" y="3806015"/>
                <a:ext cx="10261697" cy="2585323"/>
              </a:xfrm>
              <a:prstGeom prst="rect">
                <a:avLst/>
              </a:prstGeom>
              <a:noFill/>
            </p:spPr>
            <p:txBody>
              <a:bodyPr wrap="square">
                <a:spAutoFit/>
              </a:bodyPr>
              <a:lstStyle/>
              <a:p>
                <a:pPr algn="l"/>
                <a:r>
                  <a:rPr lang="en-US" dirty="0"/>
                  <a:t>An </a:t>
                </a:r>
                <a:r>
                  <a:rPr lang="en-US" b="1" dirty="0"/>
                  <a:t>interaction</a:t>
                </a:r>
                <a:r>
                  <a:rPr lang="en-US" dirty="0"/>
                  <a:t> is a sequence of discrete time steps,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 = 0, 1, 2, 3, . . .</m:t>
                    </m:r>
                  </m:oMath>
                </a14:m>
                <a:endParaRPr lang="en-US" dirty="0"/>
              </a:p>
              <a:p>
                <a:pPr marL="171450" indent="-171450" algn="l">
                  <a:buFont typeface="Arial" panose="020B0604020202020204" pitchFamily="34" charset="0"/>
                  <a:buChar char="•"/>
                </a:pPr>
                <a:r>
                  <a:rPr lang="en-US" dirty="0"/>
                  <a:t> At each time step </a:t>
                </a:r>
                <a14:m>
                  <m:oMath xmlns:m="http://schemas.openxmlformats.org/officeDocument/2006/math">
                    <m:r>
                      <a:rPr lang="en-US" i="1" dirty="0" smtClean="0">
                        <a:latin typeface="Cambria Math" panose="02040503050406030204" pitchFamily="18" charset="0"/>
                      </a:rPr>
                      <m:t>𝑡</m:t>
                    </m:r>
                  </m:oMath>
                </a14:m>
                <a:r>
                  <a:rPr lang="en-US" dirty="0"/>
                  <a:t>: </a:t>
                </a:r>
              </a:p>
              <a:p>
                <a:pPr marL="800100" lvl="1" indent="-342900">
                  <a:buFont typeface="+mj-lt"/>
                  <a:buAutoNum type="arabicPeriod"/>
                </a:pPr>
                <a:r>
                  <a:rPr lang="en-US" dirty="0"/>
                  <a:t>Agent receives some representation of the environment’s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𝒮</m:t>
                    </m:r>
                    <m:r>
                      <a:rPr lang="en-US" i="1" dirty="0" smtClean="0">
                        <a:latin typeface="Cambria Math" panose="02040503050406030204" pitchFamily="18" charset="0"/>
                      </a:rPr>
                      <m:t> </m:t>
                    </m:r>
                  </m:oMath>
                </a14:m>
                <a:endParaRPr lang="en-US" dirty="0"/>
              </a:p>
              <a:p>
                <a:pPr marL="800100" lvl="1" indent="-342900">
                  <a:buFont typeface="+mj-lt"/>
                  <a:buAutoNum type="arabicPeriod"/>
                </a:pPr>
                <a:r>
                  <a:rPr lang="en-US" dirty="0"/>
                  <a:t>Agent selects an action,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ea typeface="Cambria Math" panose="02040503050406030204" pitchFamily="18" charset="0"/>
                      </a:rPr>
                      <m:t>(</m:t>
                    </m:r>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𝑠</m:t>
                        </m:r>
                      </m:e>
                      <m:sub>
                        <m:r>
                          <a:rPr lang="en-US" b="0" i="1" dirty="0" smtClean="0">
                            <a:latin typeface="Cambria Math" panose="02040503050406030204" pitchFamily="18" charset="0"/>
                            <a:ea typeface="Cambria Math" panose="02040503050406030204" pitchFamily="18" charset="0"/>
                          </a:rPr>
                          <m:t>𝑡</m:t>
                        </m:r>
                      </m:sub>
                    </m:sSub>
                    <m:r>
                      <a:rPr lang="en-US" b="0" i="1" dirty="0" smtClean="0">
                        <a:latin typeface="Cambria Math" panose="02040503050406030204" pitchFamily="18" charset="0"/>
                        <a:ea typeface="Cambria Math" panose="02040503050406030204" pitchFamily="18" charset="0"/>
                      </a:rPr>
                      <m:t>)</m:t>
                    </m:r>
                  </m:oMath>
                </a14:m>
                <a:endParaRPr lang="en-US" dirty="0"/>
              </a:p>
              <a:p>
                <a:pPr marL="800100" lvl="1" indent="-342900">
                  <a:buFont typeface="+mj-lt"/>
                  <a:buAutoNum type="arabicPeriod"/>
                </a:pPr>
                <a:r>
                  <a:rPr lang="en-US" dirty="0"/>
                  <a:t>One time step later (as a consequence of its action) the agent receives a numerical reward,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rPr>
                      <m:t> </m:t>
                    </m:r>
                  </m:oMath>
                </a14:m>
                <a:r>
                  <a:rPr lang="en-US" dirty="0"/>
                  <a:t>and finds itself in a new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oMath>
                </a14:m>
                <a:endParaRPr lang="en-US" dirty="0"/>
              </a:p>
              <a:p>
                <a:endParaRPr lang="en-US" dirty="0"/>
              </a:p>
              <a:p>
                <a:r>
                  <a:rPr lang="en-US" dirty="0"/>
                  <a:t>Leads to sequence or trajectory that begins like this:</a:t>
                </a:r>
              </a:p>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0</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1</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2</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3</m:t>
                          </m:r>
                        </m:sub>
                      </m:sSub>
                      <m:r>
                        <a:rPr lang="en-US" i="1" dirty="0" smtClean="0">
                          <a:latin typeface="Cambria Math" panose="02040503050406030204" pitchFamily="18" charset="0"/>
                        </a:rPr>
                        <m:t>, . . . </m:t>
                      </m:r>
                    </m:oMath>
                  </m:oMathPara>
                </a14:m>
                <a:endParaRPr lang="en-US"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838200" y="3806015"/>
                <a:ext cx="10261697" cy="2585323"/>
              </a:xfrm>
              <a:prstGeom prst="rect">
                <a:avLst/>
              </a:prstGeom>
              <a:blipFill>
                <a:blip r:embed="rId3"/>
                <a:stretch>
                  <a:fillRect l="-535" t="-943"/>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082666"/>
            <a:ext cx="4343400" cy="2585323"/>
          </a:xfrm>
          <a:prstGeom prst="rect">
            <a:avLst/>
          </a:prstGeom>
          <a:noFill/>
        </p:spPr>
        <p:txBody>
          <a:bodyPr wrap="square">
            <a:spAutoFit/>
          </a:bodyPr>
          <a:lstStyle/>
          <a:p>
            <a:pPr marL="285750" indent="-285750" algn="l">
              <a:buFont typeface="Arial" panose="020B0604020202020204" pitchFamily="34" charset="0"/>
              <a:buChar char="•"/>
            </a:pPr>
            <a:r>
              <a:rPr lang="en-US" b="0" i="0" u="none" strike="noStrike" baseline="0" dirty="0">
                <a:latin typeface="CMR10"/>
              </a:rPr>
              <a:t>Markov decision process (MDP) is a mathematical model </a:t>
            </a:r>
            <a:r>
              <a:rPr lang="en-US" b="1" i="0" u="none" strike="noStrike" baseline="0" dirty="0">
                <a:latin typeface="CMR10"/>
              </a:rPr>
              <a:t>for sequential decision making </a:t>
            </a:r>
            <a:r>
              <a:rPr lang="en-US" b="0" i="0" u="none" strike="noStrike" baseline="0" dirty="0">
                <a:latin typeface="CMR10"/>
              </a:rPr>
              <a:t>when outcomes are uncertain.</a:t>
            </a:r>
          </a:p>
          <a:p>
            <a:pPr marL="285750" indent="-285750">
              <a:buFont typeface="Arial" panose="020B0604020202020204" pitchFamily="34" charset="0"/>
              <a:buChar char="•"/>
            </a:pPr>
            <a:r>
              <a:rPr lang="en-US" dirty="0">
                <a:latin typeface="CMR10"/>
              </a:rPr>
              <a:t>The MDP represents a </a:t>
            </a:r>
            <a:r>
              <a:rPr lang="en-US" b="1" dirty="0"/>
              <a:t>fully observable, stochastic, and known environment.</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The goal is specified via rewards.</a:t>
            </a:r>
            <a:endParaRPr lang="en-US" b="0" i="0" u="none" strike="noStrike" baseline="0" dirty="0">
              <a:latin typeface="CMR10"/>
            </a:endParaRPr>
          </a:p>
          <a:p>
            <a:pPr marL="285750" indent="-285750">
              <a:buFont typeface="Arial" panose="020B0604020202020204" pitchFamily="34" charset="0"/>
              <a:buChar char="•"/>
            </a:pPr>
            <a:r>
              <a:rPr lang="en-US" dirty="0">
                <a:latin typeface="CMR10"/>
              </a:rPr>
              <a:t>Actions influence the future rewards by leading to different states.</a:t>
            </a:r>
            <a:endParaRPr lang="en-US"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515600" cy="5143900"/>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endParaRPr lang="en-US" b="1" dirty="0"/>
              </a:p>
              <a:p>
                <a:endParaRPr lang="en-US" b="1" dirty="0"/>
              </a:p>
              <a:p>
                <a:r>
                  <a:rPr lang="en-US" b="1" dirty="0"/>
                  <a:t>Dynamics</a:t>
                </a:r>
                <a:r>
                  <a:rPr lang="en-US" dirty="0"/>
                  <a:t> of the MDP</a:t>
                </a:r>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a:p>
                <a:r>
                  <a:rPr lang="en-US" dirty="0"/>
                  <a:t>Are represented as a deterministic function </a:t>
                </a:r>
                <a14:m>
                  <m:oMath xmlns:m="http://schemas.openxmlformats.org/officeDocument/2006/math">
                    <m:r>
                      <a:rPr lang="en-US" i="1">
                        <a:latin typeface="Cambria Math" panose="02040503050406030204" pitchFamily="18" charset="0"/>
                      </a:rPr>
                      <m:t>𝑝</m:t>
                    </m:r>
                    <m:r>
                      <a:rPr lang="en-US" b="0" i="0"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0" smtClean="0">
                        <a:latin typeface="Cambria Math" panose="02040503050406030204" pitchFamily="18" charset="0"/>
                      </a:rPr>
                      <m:t>)</m:t>
                    </m:r>
                  </m:oMath>
                </a14:m>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→[0,1] </m:t>
                      </m:r>
                    </m:oMath>
                  </m:oMathPara>
                </a14:m>
                <a:endParaRPr lang="en-US" dirty="0"/>
              </a:p>
              <a:p>
                <a:endParaRPr lang="en-US" dirty="0"/>
              </a:p>
              <a:p>
                <a:r>
                  <a:rPr lang="en-US" dirty="0"/>
                  <a:t>A decision process is a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previous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The state must have sufficient information about the past. If this is true, then it is called an </a:t>
                </a:r>
                <a:r>
                  <a:rPr lang="en-US" b="1" dirty="0"/>
                  <a:t>information state </a:t>
                </a:r>
                <a:r>
                  <a:rPr lang="en-US" dirty="0"/>
                  <a:t>and the system has the </a:t>
                </a:r>
                <a:r>
                  <a:rPr lang="en-US" b="1" dirty="0"/>
                  <a:t>Markov property</a:t>
                </a:r>
                <a:r>
                  <a:rPr lang="en-US" dirty="0"/>
                  <a:t>.</a:t>
                </a:r>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515600" cy="5143900"/>
              </a:xfrm>
              <a:blipFill>
                <a:blip r:embed="rId2"/>
                <a:stretch>
                  <a:fillRect l="-406" t="-1777"/>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2477650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Often 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xmlns:m="http://schemas.openxmlformats.org/officeDocument/2006/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m:rPr>
                          <m:aln/>
                        </m:rP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the next state also affects the reward):</a:t>
                </a:r>
              </a:p>
              <a:p>
                <a:pPr marL="0" indent="0">
                  <a:lnSpc>
                    <a:spcPct val="120000"/>
                  </a:lnSpc>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smtClean="0">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smtClean="0">
                                  <a:latin typeface="Cambria Math" panose="02040503050406030204" pitchFamily="18" charset="0"/>
                                  <a:ea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5F5F5-EC40-5394-0867-04B1ECEE8CC3}"/>
              </a:ext>
            </a:extLst>
          </p:cNvPr>
          <p:cNvSpPr>
            <a:spLocks noGrp="1"/>
          </p:cNvSpPr>
          <p:nvPr>
            <p:ph type="title"/>
          </p:nvPr>
        </p:nvSpPr>
        <p:spPr/>
        <p:txBody>
          <a:bodyPr>
            <a:normAutofit/>
          </a:bodyPr>
          <a:lstStyle/>
          <a:p>
            <a:r>
              <a:rPr lang="en-US" dirty="0"/>
              <a:t>Finite 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4E457B-8075-F4C1-A239-1B05210072DE}"/>
                  </a:ext>
                </a:extLst>
              </p:cNvPr>
              <p:cNvSpPr>
                <a:spLocks noGrp="1"/>
              </p:cNvSpPr>
              <p:nvPr>
                <p:ph idx="1"/>
              </p:nvPr>
            </p:nvSpPr>
            <p:spPr>
              <a:xfrm>
                <a:off x="879260" y="1373998"/>
                <a:ext cx="7040943" cy="3323646"/>
              </a:xfrm>
            </p:spPr>
            <p:txBody>
              <a:bodyPr>
                <a:normAutofit lnSpcReduction="10000"/>
              </a:bodyPr>
              <a:lstStyle/>
              <a:p>
                <a:pPr marL="0" indent="0">
                  <a:buNone/>
                </a:pPr>
                <a:r>
                  <a:rPr lang="en-US" dirty="0"/>
                  <a:t>Finite MDPs are discrete-time stochastic control processes defined by:</a:t>
                </a:r>
              </a:p>
              <a:p>
                <a:pPr lvl="1"/>
                <a:r>
                  <a:rPr lang="en-US" dirty="0"/>
                  <a:t>a finite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𝑝</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where the immediate reward depends on the current state (often </a:t>
                </a:r>
                <a14:m>
                  <m:oMath xmlns:m="http://schemas.openxmlformats.org/officeDocument/2006/math">
                    <m:r>
                      <a:rPr lang="en-US" b="0" i="1" dirty="0" smtClean="0">
                        <a:latin typeface="Cambria Math" panose="02040503050406030204" pitchFamily="18" charset="0"/>
                      </a:rPr>
                      <m:t>𝑟</m:t>
                    </m:r>
                    <m:r>
                      <a:rPr lang="en-US" i="1" dirty="0" smtClean="0">
                        <a:latin typeface="Cambria Math" panose="02040503050406030204" pitchFamily="18" charset="0"/>
                      </a:rPr>
                      <m:t>(</m:t>
                    </m:r>
                    <m:r>
                      <a:rPr lang="en-US" i="1" dirty="0" err="1"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 </m:t>
                    </m:r>
                  </m:oMath>
                </a14:m>
                <a:r>
                  <a:rPr lang="en-US" dirty="0"/>
                  <a:t>is used to make modelling easier)</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304E457B-8075-F4C1-A239-1B05210072DE}"/>
                  </a:ext>
                </a:extLst>
              </p:cNvPr>
              <p:cNvSpPr>
                <a:spLocks noGrp="1" noRot="1" noChangeAspect="1" noMove="1" noResize="1" noEditPoints="1" noAdjustHandles="1" noChangeArrowheads="1" noChangeShapeType="1" noTextEdit="1"/>
              </p:cNvSpPr>
              <p:nvPr>
                <p:ph idx="1"/>
              </p:nvPr>
            </p:nvSpPr>
            <p:spPr>
              <a:xfrm>
                <a:off x="879260" y="1373998"/>
                <a:ext cx="7040943" cy="3323646"/>
              </a:xfrm>
              <a:blipFill>
                <a:blip r:embed="rId3"/>
                <a:stretch>
                  <a:fillRect l="-1732" t="-4029"/>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F144A596-19D3-5E85-442B-66C6DC148448}"/>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F79983A-CC8B-1C9B-61BD-A8B95DEE9F1A}"/>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7A0FEBA4-CCFB-34EB-F0E6-8EE13E477B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30646F-4C58-99C9-9F42-1645EDB3E21D}"/>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E36127A0-7D8C-67A9-5DC3-14028F6CE90F}"/>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551378A8-8F64-BF38-EE4C-1A2F5A38B550}"/>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9E36FEED-13BB-4590-AA9A-3DED9D1DAC52}"/>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7380142-D577-1EC6-5766-973F949CD006}"/>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A71AA67-63AD-0B89-45A3-BD29DE8366F8}"/>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D9F55D79-B6CC-EB9D-DA26-82CCCA7F4F1B}"/>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C352C94B-E6BC-43C0-54BC-6852061CD4B1}"/>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5EB354A-98D6-9C40-7CFD-940C968DC7A3}"/>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A768C2-1F7E-DAB8-8BC2-20FC382420E1}"/>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87D759C-6B08-6965-BE95-F71AE2A98772}"/>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74BA2CCD-FACF-3CC6-1AAC-7D2FE861F384}"/>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9003C3AC-8A99-6D7E-C22A-13449B59F4F2}"/>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7042CBFF-4384-4DEC-DAFD-59F385DB8A0A}"/>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F54AEDA1-8D6E-9C41-F0F9-AF4996B72AF8}"/>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ED35C69-CD15-769A-53A2-393014AC2E4B}"/>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2FA404E6-757E-9792-CA0B-0286541C0ED6}"/>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F4FCDCB7-6633-509A-A356-8AF2DF9EBCA5}"/>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AF7535-F3E7-ED0D-E28F-1AA8CB158C59}"/>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A3288E5-8862-2955-C168-A1D8DB82E322}"/>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F6037356-148B-D226-52DA-4F75745B84E5}"/>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0BE7BA9-007F-599F-CBE6-966DAC15295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00BE7BA9-007F-599F-CBE6-966DAC15295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604"/>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7B19582B-89B1-30F7-5D86-9CC995069B9D}"/>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p:spTree>
    <p:extLst>
      <p:ext uri="{BB962C8B-B14F-4D97-AF65-F5344CB8AC3E}">
        <p14:creationId xmlns:p14="http://schemas.microsoft.com/office/powerpoint/2010/main" val="2760546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180523" y="6125256"/>
                <a:ext cx="4716077" cy="307777"/>
              </a:xfrm>
              <a:prstGeom prst="rect">
                <a:avLst/>
              </a:prstGeom>
              <a:noFill/>
            </p:spPr>
            <p:txBody>
              <a:bodyPr wrap="square" rtlCol="0">
                <a:spAutoFit/>
              </a:bodyPr>
              <a:lstStyle/>
              <a:p>
                <a:r>
                  <a:rPr lang="en-US" sz="1400" dirty="0"/>
                  <a:t>* and </a:t>
                </a:r>
                <a14:m>
                  <m:oMath xmlns:m="http://schemas.openxmlformats.org/officeDocument/2006/math">
                    <m:r>
                      <a:rPr lang="en-US" sz="1400" b="0" i="1" smtClean="0">
                        <a:latin typeface="Cambria Math" panose="02040503050406030204" pitchFamily="18" charset="0"/>
                      </a:rPr>
                      <m:t>−∞</m:t>
                    </m:r>
                  </m:oMath>
                </a14:m>
                <a:r>
                  <a:rPr lang="en-US" sz="1400" dirty="0"/>
                  <a:t> represent illegal actions and transitions!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180523" y="6125256"/>
                <a:ext cx="4716077" cy="307777"/>
              </a:xfrm>
              <a:prstGeom prst="rect">
                <a:avLst/>
              </a:prstGeom>
              <a:blipFill>
                <a:blip r:embed="rId22"/>
                <a:stretch>
                  <a:fillRect l="-388" t="-4000" b="-20000"/>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1"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wait</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Goals, 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780298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92500" lnSpcReduction="10000"/>
              </a:bodyPr>
              <a:lstStyle/>
              <a:p>
                <a:r>
                  <a:rPr lang="en-US" b="1" dirty="0"/>
                  <a:t>Goal</a:t>
                </a:r>
                <a:r>
                  <a:rPr lang="en-US" dirty="0"/>
                  <a:t>: maximize the expected value of the cumulative sum of the received reward signal.</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Notes:</a:t>
                </a:r>
              </a:p>
              <a:p>
                <a:pPr lvl="1"/>
                <a:r>
                  <a:rPr lang="en-US" dirty="0"/>
                  <a:t>Reward signals should communicate what the agent wants to achieve and not how to do it. We want to learn how to do it!</a:t>
                </a:r>
              </a:p>
              <a:p>
                <a:pPr lvl="1"/>
                <a:r>
                  <a:rPr lang="en-US" dirty="0"/>
                  <a:t>Typically, only provides a reward for the final goal.</a:t>
                </a:r>
              </a:p>
              <a:p>
                <a:pPr lvl="1"/>
                <a:r>
                  <a:rPr lang="en-US" dirty="0"/>
                  <a:t>Reward shaping can be used to improve learning but may lead to issues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928" t="-2551" r="-174" b="-638"/>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92500" lnSpcReduction="10000"/>
              </a:bodyPr>
              <a:lstStyle/>
              <a:p>
                <a:r>
                  <a:rPr lang="en-US" dirty="0"/>
                  <a:t>The agent’s goal is to maximize the expected return.</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pPr marL="0" indent="0">
                  <a:buNone/>
                </a:pPr>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928" t="-2551" b="-2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534510" cy="1240221"/>
              </a:xfrm>
              <a:prstGeom prst="wedgeRoundRectCallout">
                <a:avLst>
                  <a:gd name="adj1" fmla="val -140696"/>
                  <a:gd name="adj2" fmla="val 201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534510" cy="1240221"/>
              </a:xfrm>
              <a:prstGeom prst="wedgeRoundRectCallout">
                <a:avLst>
                  <a:gd name="adj1" fmla="val -140696"/>
                  <a:gd name="adj2" fmla="val 20127"/>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often used when rewards now are more important then rewards later. Continuing tasks always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490872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r>
                        <m:rPr>
                          <m:aln/>
                        </m:rP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xmlns:m="http://schemas.openxmlformats.org/officeDocument/2006/math">
                      <m:r>
                        <a:rPr lang="en-US" sz="1800" b="0" i="1" smtClean="0">
                          <a:latin typeface="Cambria Math" panose="02040503050406030204" pitchFamily="18" charset="0"/>
                        </a:rPr>
                        <m:t> </m:t>
                      </m:r>
                    </m:oMath>
                    <m:oMath xmlns:m="http://schemas.openxmlformats.org/officeDocument/2006/math">
                      <m:r>
                        <m:rPr>
                          <m:aln/>
                        </m:rP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i="1">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i="1">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for</m:t>
                      </m:r>
                      <m:r>
                        <m:rPr>
                          <m:nor/>
                        </m:rP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all</m:t>
                      </m:r>
                      <m:r>
                        <m:rPr>
                          <m:nor/>
                        </m:rPr>
                        <a:rPr lang="en-US" sz="1800">
                          <a:latin typeface="Cambria Math" panose="02040503050406030204" pitchFamily="18" charset="0"/>
                          <a:ea typeface="Cambria Math" panose="02040503050406030204" pitchFamily="18" charset="0"/>
                        </a:rPr>
                        <m:t>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6"/>
                          <a:stretch>
                            <a:fillRect l="-746" t="-1667" r="-229104" b="-513333"/>
                          </a:stretch>
                        </a:blipFill>
                      </a:tcPr>
                    </a:tc>
                    <a:tc>
                      <a:txBody>
                        <a:bodyPr/>
                        <a:lstStyle/>
                        <a:p>
                          <a:endParaRPr lang="en-US"/>
                        </a:p>
                      </a:txBody>
                      <a:tcPr>
                        <a:blipFill>
                          <a:blip r:embed="rId6"/>
                          <a:stretch>
                            <a:fillRect l="-119469" t="-1667" r="-171681" b="-513333"/>
                          </a:stretch>
                        </a:blipFill>
                      </a:tcPr>
                    </a:tc>
                    <a:tc>
                      <a:txBody>
                        <a:bodyPr/>
                        <a:lstStyle/>
                        <a:p>
                          <a:endParaRPr lang="en-US"/>
                        </a:p>
                      </a:txBody>
                      <a:tcPr>
                        <a:blipFill>
                          <a:blip r:embed="rId6"/>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p:txBody>
              <a:bodyPr>
                <a:normAutofit fontScale="92500" lnSpcReduction="2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 </a:t>
                </a:r>
              </a:p>
              <a:p>
                <a:endParaRPr lang="en-US" dirty="0"/>
              </a:p>
              <a:p>
                <a:r>
                  <a:rPr lang="en-US" b="1" dirty="0"/>
                  <a:t>Sample-average method </a:t>
                </a:r>
                <a:r>
                  <a:rPr lang="en-US" dirty="0"/>
                  <a:t>(a simple Monte Carlo method): </a:t>
                </a:r>
              </a:p>
              <a:p>
                <a:pPr lvl="1"/>
                <a:r>
                  <a:rPr lang="en-US" dirty="0"/>
                  <a:t>Follow policy </a:t>
                </a:r>
                <a14:m>
                  <m:oMath xmlns:m="http://schemas.openxmlformats.org/officeDocument/2006/math">
                    <m:r>
                      <a:rPr lang="en-US" b="0" i="1" dirty="0" smtClean="0">
                        <a:latin typeface="Cambria Math" panose="02040503050406030204" pitchFamily="18" charset="0"/>
                      </a:rPr>
                      <m:t>𝜋</m:t>
                    </m:r>
                  </m:oMath>
                </a14:m>
                <a:r>
                  <a:rPr lang="en-US" b="0" dirty="0"/>
                  <a:t>.</a:t>
                </a:r>
              </a:p>
              <a:p>
                <a:pPr lvl="1"/>
                <a:r>
                  <a:rPr lang="en-US" dirty="0"/>
                  <a:t>Maintains an average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of the actual returns that have followed that state. The average is updated at each visit.</a:t>
                </a:r>
              </a:p>
              <a:p>
                <a:pPr lvl="1"/>
                <a:r>
                  <a:rPr lang="pt-BR" dirty="0"/>
                  <a:t>Convergence: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lim</m:t>
                            </m:r>
                          </m:e>
                          <m:lim>
                            <m:r>
                              <a:rPr lang="en-US" b="0" i="1" smtClean="0">
                                <a:latin typeface="Cambria Math" panose="02040503050406030204" pitchFamily="18" charset="0"/>
                              </a:rPr>
                              <m:t>𝑣𝑖𝑠𝑖𝑡𝑠</m:t>
                            </m:r>
                            <m:r>
                              <a:rPr lang="pt-BR" i="1" smtClean="0">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𝑉</m:t>
                            </m:r>
                          </m:e>
                        </m:acc>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r>
                  <a:rPr lang="en-US" dirty="0"/>
                  <a:t> </a:t>
                </a:r>
              </a:p>
              <a:p>
                <a:pPr marL="0" indent="0">
                  <a:buNone/>
                </a:pPr>
                <a:endParaRPr lang="en-US" dirty="0"/>
              </a:p>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s</m:t>
                    </m:r>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oMath>
                </a14:m>
                <a:r>
                  <a:rPr lang="en-US" dirty="0"/>
                  <a:t> </a:t>
                </a:r>
              </a:p>
              <a:p>
                <a:endParaRPr lang="en-US" dirty="0"/>
              </a:p>
              <a:p>
                <a:r>
                  <a:rPr lang="en-US" dirty="0"/>
                  <a:t>For problems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blipFill>
                <a:blip r:embed="rId2"/>
                <a:stretch>
                  <a:fillRect l="-928" t="-3189"/>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Calculating the 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1"/>
                <a:ext cx="10515600" cy="3493540"/>
              </a:xfrm>
            </p:spPr>
            <p:txBody>
              <a:bodyPr>
                <a:normAutofit fontScale="77500" lnSpcReduction="20000"/>
              </a:bodyPr>
              <a:lstStyle/>
              <a:p>
                <a:pPr marL="0" indent="0">
                  <a:buNone/>
                </a:pPr>
                <a:r>
                  <a:rPr lang="en-US" dirty="0"/>
                  <a:t>Value functions always have a </a:t>
                </a:r>
                <a:r>
                  <a:rPr lang="en-US" b="1" dirty="0"/>
                  <a:t>recursive relationship:</a:t>
                </a:r>
                <a:r>
                  <a:rPr lang="en-US" dirty="0"/>
                  <a:t> </a:t>
                </a:r>
              </a:p>
              <a:p>
                <a:endParaRPr lang="en-US" dirty="0"/>
              </a:p>
              <a:p>
                <a:endParaRPr lang="en-US" dirty="0"/>
              </a:p>
              <a:p>
                <a:pPr marL="0" indent="0">
                  <a:buNone/>
                </a:pPr>
                <a:r>
                  <a:rPr lang="en-US" dirty="0"/>
                  <a:t>The </a:t>
                </a:r>
                <a:r>
                  <a:rPr lang="en-US" b="1" dirty="0"/>
                  <a:t>Bellman (Expectation) Equations </a:t>
                </a:r>
                <a:r>
                  <a:rPr lang="en-US" dirty="0"/>
                  <a:t>for a given policy:</a:t>
                </a:r>
              </a:p>
              <a:p>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1"/>
                <a:ext cx="10515600" cy="3493540"/>
              </a:xfrm>
              <a:blipFill>
                <a:blip r:embed="rId2"/>
                <a:stretch>
                  <a:fillRect l="-754" t="-3490"/>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115FEED1-5263-6978-1335-D8047A9A9B6D}"/>
              </a:ext>
            </a:extLst>
          </p:cNvPr>
          <p:cNvGrpSpPr/>
          <p:nvPr/>
        </p:nvGrpSpPr>
        <p:grpSpPr>
          <a:xfrm>
            <a:off x="7175827" y="4622268"/>
            <a:ext cx="1607442" cy="782944"/>
            <a:chOff x="2355129" y="3175234"/>
            <a:chExt cx="1984328" cy="782944"/>
          </a:xfrm>
        </p:grpSpPr>
        <p:sp>
          <p:nvSpPr>
            <p:cNvPr id="4" name="Right Brace 3">
              <a:extLst>
                <a:ext uri="{FF2B5EF4-FFF2-40B4-BE49-F238E27FC236}">
                  <a16:creationId xmlns:a16="http://schemas.microsoft.com/office/drawing/2014/main" id="{A6F53F34-DC74-85D4-625B-6EEC1FD7694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000" dirty="0"/>
            </a:p>
          </p:txBody>
        </p:sp>
        <p:sp>
          <p:nvSpPr>
            <p:cNvPr id="5" name="TextBox 4">
              <a:extLst>
                <a:ext uri="{FF2B5EF4-FFF2-40B4-BE49-F238E27FC236}">
                  <a16:creationId xmlns:a16="http://schemas.microsoft.com/office/drawing/2014/main" id="{61D0C74D-FD67-E71A-5208-3A7E1687E3B8}"/>
                </a:ext>
              </a:extLst>
            </p:cNvPr>
            <p:cNvSpPr txBox="1"/>
            <p:nvPr/>
          </p:nvSpPr>
          <p:spPr>
            <a:xfrm>
              <a:off x="2355129" y="3373403"/>
              <a:ext cx="1984328" cy="584775"/>
            </a:xfrm>
            <a:prstGeom prst="rect">
              <a:avLst/>
            </a:prstGeom>
            <a:noFill/>
          </p:spPr>
          <p:txBody>
            <a:bodyPr wrap="square" rtlCol="0">
              <a:spAutoFit/>
            </a:bodyPr>
            <a:lstStyle/>
            <a:p>
              <a:pPr algn="ctr"/>
              <a:r>
                <a:rPr lang="en-US" sz="1600" dirty="0"/>
                <a:t>Value of next state</a:t>
              </a:r>
            </a:p>
          </p:txBody>
        </p:sp>
      </p:grpSp>
      <p:sp>
        <p:nvSpPr>
          <p:cNvPr id="7" name="TextBox 6">
            <a:extLst>
              <a:ext uri="{FF2B5EF4-FFF2-40B4-BE49-F238E27FC236}">
                <a16:creationId xmlns:a16="http://schemas.microsoft.com/office/drawing/2014/main" id="{CD4D12A2-912D-795C-BDD2-413005339C80}"/>
              </a:ext>
            </a:extLst>
          </p:cNvPr>
          <p:cNvSpPr txBox="1"/>
          <p:nvPr/>
        </p:nvSpPr>
        <p:spPr>
          <a:xfrm>
            <a:off x="2002971" y="1824926"/>
            <a:ext cx="8447315"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Value of a state = immediate reward + discounted value of successor state</a:t>
            </a:r>
          </a:p>
        </p:txBody>
      </p:sp>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339444" y="2561022"/>
                <a:ext cx="2203521" cy="608202"/>
              </a:xfrm>
              <a:prstGeom prst="wedgeRoundRectCallout">
                <a:avLst>
                  <a:gd name="adj1" fmla="val -46829"/>
                  <a:gd name="adj2" fmla="val 11770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There are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a:t>
                </a:r>
                <a:br>
                  <a:rPr lang="en-US" dirty="0"/>
                </a:br>
                <a:r>
                  <a:rPr lang="en-US" dirty="0"/>
                  <a:t>Bellman equations.</a:t>
                </a:r>
              </a:p>
            </p:txBody>
          </p:sp>
        </mc:Choice>
        <mc:Fallback xmlns="">
          <p:sp>
            <p:nvSpPr>
              <p:cNvPr id="8" name="Speech Bubble: Rectangle with Corners Rounded 7">
                <a:extLst>
                  <a:ext uri="{FF2B5EF4-FFF2-40B4-BE49-F238E27FC236}">
                    <a16:creationId xmlns:a16="http://schemas.microsoft.com/office/drawing/2014/main" id="{8F61E090-EC02-6863-29F0-C351780E4A45}"/>
                  </a:ext>
                </a:extLst>
              </p:cNvPr>
              <p:cNvSpPr>
                <a:spLocks noRot="1" noChangeAspect="1" noMove="1" noResize="1" noEditPoints="1" noAdjustHandles="1" noChangeArrowheads="1" noChangeShapeType="1" noTextEdit="1"/>
              </p:cNvSpPr>
              <p:nvPr/>
            </p:nvSpPr>
            <p:spPr>
              <a:xfrm>
                <a:off x="9339444" y="2561022"/>
                <a:ext cx="2203521" cy="608202"/>
              </a:xfrm>
              <a:prstGeom prst="wedgeRoundRectCallout">
                <a:avLst>
                  <a:gd name="adj1" fmla="val -46829"/>
                  <a:gd name="adj2" fmla="val 117705"/>
                  <a:gd name="adj3" fmla="val 16667"/>
                </a:avLst>
              </a:prstGeom>
              <a:blipFill>
                <a:blip r:embed="rId3"/>
                <a:stretch>
                  <a:fillRect t="-3448"/>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D7BDD7AE-2B81-C7AA-2F15-557897185B7C}"/>
              </a:ext>
            </a:extLst>
          </p:cNvPr>
          <p:cNvGrpSpPr/>
          <p:nvPr/>
        </p:nvGrpSpPr>
        <p:grpSpPr>
          <a:xfrm>
            <a:off x="3959603" y="4800856"/>
            <a:ext cx="3027049" cy="535424"/>
            <a:chOff x="2533297" y="3175234"/>
            <a:chExt cx="1503726" cy="571703"/>
          </a:xfrm>
        </p:grpSpPr>
        <p:sp>
          <p:nvSpPr>
            <p:cNvPr id="14" name="Right Brace 13">
              <a:extLst>
                <a:ext uri="{FF2B5EF4-FFF2-40B4-BE49-F238E27FC236}">
                  <a16:creationId xmlns:a16="http://schemas.microsoft.com/office/drawing/2014/main" id="{2EEA2F8E-4B7A-AA35-F0D2-C52779383E8E}"/>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000" dirty="0"/>
            </a:p>
          </p:txBody>
        </p:sp>
        <p:sp>
          <p:nvSpPr>
            <p:cNvPr id="15" name="TextBox 14">
              <a:extLst>
                <a:ext uri="{FF2B5EF4-FFF2-40B4-BE49-F238E27FC236}">
                  <a16:creationId xmlns:a16="http://schemas.microsoft.com/office/drawing/2014/main" id="{5E74D3A6-E37A-651A-106A-1596BC76E7B9}"/>
                </a:ext>
              </a:extLst>
            </p:cNvPr>
            <p:cNvSpPr txBox="1"/>
            <p:nvPr/>
          </p:nvSpPr>
          <p:spPr>
            <a:xfrm>
              <a:off x="2602325" y="3385444"/>
              <a:ext cx="1365667" cy="361493"/>
            </a:xfrm>
            <a:prstGeom prst="rect">
              <a:avLst/>
            </a:prstGeom>
            <a:noFill/>
          </p:spPr>
          <p:txBody>
            <a:bodyPr wrap="square" rtlCol="0">
              <a:spAutoFit/>
            </a:bodyPr>
            <a:lstStyle/>
            <a:p>
              <a:pPr algn="ctr"/>
              <a:r>
                <a:rPr lang="en-US" sz="1600" dirty="0"/>
                <a:t>Expectation</a:t>
              </a:r>
            </a:p>
          </p:txBody>
        </p:sp>
      </p:grpSp>
      <p:sp>
        <p:nvSpPr>
          <p:cNvPr id="21" name="TextBox 20">
            <a:extLst>
              <a:ext uri="{FF2B5EF4-FFF2-40B4-BE49-F238E27FC236}">
                <a16:creationId xmlns:a16="http://schemas.microsoft.com/office/drawing/2014/main" id="{E4EE9FDF-7C28-1E46-961F-087EFC4251FF}"/>
              </a:ext>
            </a:extLst>
          </p:cNvPr>
          <p:cNvSpPr txBox="1"/>
          <p:nvPr/>
        </p:nvSpPr>
        <p:spPr>
          <a:xfrm>
            <a:off x="6664353" y="5167003"/>
            <a:ext cx="1022948" cy="338554"/>
          </a:xfrm>
          <a:prstGeom prst="rect">
            <a:avLst/>
          </a:prstGeom>
          <a:noFill/>
        </p:spPr>
        <p:txBody>
          <a:bodyPr wrap="square" rtlCol="0">
            <a:spAutoFit/>
          </a:bodyPr>
          <a:lstStyle/>
          <a:p>
            <a:r>
              <a:rPr lang="en-US" sz="1600" dirty="0"/>
              <a:t>Reward</a:t>
            </a:r>
          </a:p>
        </p:txBody>
      </p:sp>
      <p:cxnSp>
        <p:nvCxnSpPr>
          <p:cNvPr id="23" name="Straight Arrow Connector 22">
            <a:extLst>
              <a:ext uri="{FF2B5EF4-FFF2-40B4-BE49-F238E27FC236}">
                <a16:creationId xmlns:a16="http://schemas.microsoft.com/office/drawing/2014/main" id="{C09116B6-9B23-7869-BD04-BBDEADA7F1A9}"/>
              </a:ext>
            </a:extLst>
          </p:cNvPr>
          <p:cNvCxnSpPr>
            <a:cxnSpLocks/>
          </p:cNvCxnSpPr>
          <p:nvPr/>
        </p:nvCxnSpPr>
        <p:spPr>
          <a:xfrm flipV="1">
            <a:off x="7083400" y="4442314"/>
            <a:ext cx="0" cy="7407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5A52E8B-E831-9C1A-0899-C0055BB19178}"/>
                  </a:ext>
                </a:extLst>
              </p:cNvPr>
              <p:cNvSpPr txBox="1"/>
              <p:nvPr/>
            </p:nvSpPr>
            <p:spPr>
              <a:xfrm>
                <a:off x="3114513" y="5741163"/>
                <a:ext cx="6088211" cy="944297"/>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dirty="0"/>
                  <a:t>Alternative formulation with transition and reward function:</a:t>
                </a:r>
              </a:p>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𝑣</m:t>
                          </m:r>
                        </m:e>
                        <m:sub>
                          <m:r>
                            <a:rPr lang="en-US" sz="1600" b="0" i="1" smtClean="0">
                              <a:latin typeface="Cambria Math" panose="02040503050406030204" pitchFamily="18" charset="0"/>
                            </a:rPr>
                            <m:t>𝜋</m:t>
                          </m:r>
                        </m:sub>
                      </m:sSub>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𝑠</m:t>
                          </m:r>
                        </m:e>
                      </m:d>
                      <m:r>
                        <m:rPr>
                          <m:aln/>
                        </m:rPr>
                        <a:rPr lang="en-US" sz="1600" b="0" i="1" smtClean="0">
                          <a:latin typeface="Cambria Math" panose="02040503050406030204" pitchFamily="18" charset="0"/>
                          <a:ea typeface="Cambria Math" panose="02040503050406030204" pitchFamily="18" charset="0"/>
                        </a:rPr>
                        <m:t>=</m:t>
                      </m:r>
                      <m:nary>
                        <m:naryPr>
                          <m:chr m:val="∑"/>
                          <m:supHide m:val="on"/>
                          <m:ctrlPr>
                            <a:rPr lang="en-US" sz="1600" b="0" i="1" smtClean="0">
                              <a:latin typeface="Cambria Math" panose="02040503050406030204" pitchFamily="18" charset="0"/>
                              <a:ea typeface="Cambria Math" panose="02040503050406030204" pitchFamily="18" charset="0"/>
                            </a:rPr>
                          </m:ctrlPr>
                        </m:naryPr>
                        <m:sub>
                          <m:r>
                            <a:rPr lang="en-US" sz="1600" b="0" i="1" smtClean="0">
                              <a:latin typeface="Cambria Math" panose="02040503050406030204" pitchFamily="18" charset="0"/>
                              <a:ea typeface="Cambria Math" panose="02040503050406030204" pitchFamily="18" charset="0"/>
                            </a:rPr>
                            <m:t>𝑎</m:t>
                          </m:r>
                        </m:sub>
                        <m:sup/>
                        <m:e>
                          <m:r>
                            <a:rPr lang="en-US" sz="1600" b="0" i="1" smtClean="0">
                              <a:latin typeface="Cambria Math" panose="02040503050406030204" pitchFamily="18" charset="0"/>
                              <a:ea typeface="Cambria Math" panose="02040503050406030204" pitchFamily="18" charset="0"/>
                            </a:rPr>
                            <m:t>𝜋</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e>
                      </m:nary>
                      <m:nary>
                        <m:naryPr>
                          <m:chr m:val="∑"/>
                          <m:supHide m:val="on"/>
                          <m:ctrlPr>
                            <a:rPr lang="en-US" sz="1600" b="0" i="1" smtClean="0">
                              <a:latin typeface="Cambria Math" panose="02040503050406030204" pitchFamily="18" charset="0"/>
                              <a:ea typeface="Cambria Math" panose="02040503050406030204" pitchFamily="18" charset="0"/>
                            </a:rPr>
                          </m:ctrlPr>
                        </m:naryPr>
                        <m:sub>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𝑠</m:t>
                              </m:r>
                            </m:e>
                            <m:sup>
                              <m:r>
                                <a:rPr lang="en-US" sz="1600" b="0" i="1" smtClean="0">
                                  <a:latin typeface="Cambria Math" panose="02040503050406030204" pitchFamily="18" charset="0"/>
                                  <a:ea typeface="Cambria Math" panose="02040503050406030204" pitchFamily="18" charset="0"/>
                                </a:rPr>
                                <m:t>′</m:t>
                              </m:r>
                            </m:sup>
                          </m:sSup>
                        </m:sub>
                        <m:sup/>
                        <m:e>
                          <m:r>
                            <a:rPr lang="en-US" sz="1600" b="0" i="1" smtClean="0">
                              <a:latin typeface="Cambria Math" panose="02040503050406030204" pitchFamily="18" charset="0"/>
                              <a:ea typeface="Cambria Math" panose="02040503050406030204" pitchFamily="18" charset="0"/>
                            </a:rPr>
                            <m:t>𝑝</m:t>
                          </m:r>
                          <m:d>
                            <m:dPr>
                              <m:endChr m:val="|"/>
                              <m:ctrlPr>
                                <a:rPr lang="en-US" sz="1600" b="0" i="1" smtClean="0">
                                  <a:latin typeface="Cambria Math" panose="02040503050406030204" pitchFamily="18" charset="0"/>
                                  <a:ea typeface="Cambria Math" panose="02040503050406030204" pitchFamily="18" charset="0"/>
                                </a:rPr>
                              </m:ctrlPr>
                            </m:dPr>
                            <m:e>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𝑠</m:t>
                                  </m:r>
                                </m:e>
                                <m:sup>
                                  <m:r>
                                    <a:rPr lang="en-US" sz="1600" b="0" i="1" smtClean="0">
                                      <a:latin typeface="Cambria Math" panose="02040503050406030204" pitchFamily="18" charset="0"/>
                                      <a:ea typeface="Cambria Math" panose="02040503050406030204" pitchFamily="18" charset="0"/>
                                    </a:rPr>
                                    <m:t>′</m:t>
                                  </m:r>
                                </m:sup>
                              </m:sSup>
                            </m:e>
                          </m:d>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𝑟</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𝛾</m:t>
                          </m:r>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𝑣</m:t>
                              </m:r>
                            </m:e>
                            <m:sub>
                              <m:r>
                                <a:rPr lang="en-US" sz="1600" b="0" i="1" smtClean="0">
                                  <a:latin typeface="Cambria Math" panose="02040503050406030204" pitchFamily="18" charset="0"/>
                                  <a:ea typeface="Cambria Math" panose="02040503050406030204" pitchFamily="18" charset="0"/>
                                </a:rPr>
                                <m:t>𝜋</m:t>
                              </m:r>
                            </m:sub>
                          </m:sSub>
                          <m:d>
                            <m:dPr>
                              <m:ctrlPr>
                                <a:rPr lang="en-US" sz="1600" b="0" i="1" smtClean="0">
                                  <a:latin typeface="Cambria Math" panose="02040503050406030204" pitchFamily="18" charset="0"/>
                                  <a:ea typeface="Cambria Math" panose="02040503050406030204" pitchFamily="18" charset="0"/>
                                </a:rPr>
                              </m:ctrlPr>
                            </m:dPr>
                            <m:e>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𝑠</m:t>
                                  </m:r>
                                </m:e>
                                <m:sup>
                                  <m:r>
                                    <a:rPr lang="en-US" sz="1600" b="0" i="1" smtClean="0">
                                      <a:latin typeface="Cambria Math" panose="02040503050406030204" pitchFamily="18" charset="0"/>
                                      <a:ea typeface="Cambria Math" panose="02040503050406030204" pitchFamily="18" charset="0"/>
                                    </a:rPr>
                                    <m:t>′</m:t>
                                  </m:r>
                                </m:sup>
                              </m:sSup>
                            </m:e>
                          </m:d>
                          <m:r>
                            <a:rPr lang="en-US" sz="1600" b="0" i="1" smtClean="0">
                              <a:latin typeface="Cambria Math" panose="02040503050406030204" pitchFamily="18" charset="0"/>
                              <a:ea typeface="Cambria Math" panose="02040503050406030204" pitchFamily="18" charset="0"/>
                            </a:rPr>
                            <m:t>]</m:t>
                          </m:r>
                        </m:e>
                      </m:nary>
                      <m:r>
                        <a:rPr lang="en-US" sz="1600" b="0" i="1"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for</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all</m:t>
                      </m:r>
                      <m:r>
                        <m:rPr>
                          <m:nor/>
                        </m:rPr>
                        <a:rPr lang="en-US" sz="1600" b="0" i="0"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𝑠</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𝒮</m:t>
                      </m:r>
                    </m:oMath>
                  </m:oMathPara>
                </a14:m>
                <a:br>
                  <a:rPr lang="en-US" sz="1600" dirty="0">
                    <a:ea typeface="Cambria Math" panose="02040503050406030204" pitchFamily="18" charset="0"/>
                  </a:rPr>
                </a:br>
                <a:endParaRPr lang="en-US" sz="1600" dirty="0"/>
              </a:p>
            </p:txBody>
          </p:sp>
        </mc:Choice>
        <mc:Fallback xmlns="">
          <p:sp>
            <p:nvSpPr>
              <p:cNvPr id="10" name="TextBox 9">
                <a:extLst>
                  <a:ext uri="{FF2B5EF4-FFF2-40B4-BE49-F238E27FC236}">
                    <a16:creationId xmlns:a16="http://schemas.microsoft.com/office/drawing/2014/main" id="{D5A52E8B-E831-9C1A-0899-C0055BB19178}"/>
                  </a:ext>
                </a:extLst>
              </p:cNvPr>
              <p:cNvSpPr txBox="1">
                <a:spLocks noRot="1" noChangeAspect="1" noMove="1" noResize="1" noEditPoints="1" noAdjustHandles="1" noChangeArrowheads="1" noChangeShapeType="1" noTextEdit="1"/>
              </p:cNvSpPr>
              <p:nvPr/>
            </p:nvSpPr>
            <p:spPr>
              <a:xfrm>
                <a:off x="3114513" y="5741163"/>
                <a:ext cx="6088211" cy="944297"/>
              </a:xfrm>
              <a:prstGeom prst="rect">
                <a:avLst/>
              </a:prstGeom>
              <a:blipFill>
                <a:blip r:embed="rId4"/>
                <a:stretch>
                  <a:fillRect l="-499" t="-1266"/>
                </a:stretch>
              </a:blipFill>
            </p:spPr>
            <p:txBody>
              <a:bodyPr/>
              <a:lstStyle/>
              <a:p>
                <a:r>
                  <a:rPr lang="en-US">
                    <a:noFill/>
                  </a:rPr>
                  <a:t> </a:t>
                </a:r>
              </a:p>
            </p:txBody>
          </p:sp>
        </mc:Fallback>
      </mc:AlternateContent>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97331"/>
            <a:ext cx="10515600" cy="536172"/>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63376"/>
              <a:ext cx="6491573" cy="1437914"/>
              <a:chOff x="2687521" y="2463376"/>
              <a:chExt cx="6491573" cy="143791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6337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12"/>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759515" y="3440004"/>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chemeClr val="accent2"/>
                </a:solidFill>
              </a:rPr>
              <a:t>Bellman 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C8C7ED0-7C71-B9F9-FA77-BA5A37C68E53}"/>
                  </a:ext>
                </a:extLst>
              </p:cNvPr>
              <p:cNvSpPr txBox="1"/>
              <p:nvPr/>
            </p:nvSpPr>
            <p:spPr>
              <a:xfrm>
                <a:off x="2330957" y="6163949"/>
                <a:ext cx="7998455"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If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oMath>
                </a14:m>
                <a:r>
                  <a:rPr lang="en-US" dirty="0"/>
                  <a:t>is estimated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e>
                    </m:d>
                    <m:r>
                      <a:rPr lang="en-US" i="1">
                        <a:latin typeface="Cambria Math" panose="02040503050406030204" pitchFamily="18" charset="0"/>
                      </a:rPr>
                      <m:t> </m:t>
                    </m:r>
                  </m:oMath>
                </a14:m>
                <a:r>
                  <a:rPr lang="en-US" dirty="0"/>
                  <a:t>estimates, then this is called </a:t>
                </a:r>
                <a:r>
                  <a:rPr lang="en-US" b="1" dirty="0"/>
                  <a:t>bootstrapping</a:t>
                </a:r>
                <a:r>
                  <a:rPr lang="en-US" dirty="0"/>
                  <a:t>. </a:t>
                </a:r>
              </a:p>
            </p:txBody>
          </p:sp>
        </mc:Choice>
        <mc:Fallback xmlns="">
          <p:sp>
            <p:nvSpPr>
              <p:cNvPr id="29" name="TextBox 28">
                <a:extLst>
                  <a:ext uri="{FF2B5EF4-FFF2-40B4-BE49-F238E27FC236}">
                    <a16:creationId xmlns:a16="http://schemas.microsoft.com/office/drawing/2014/main" id="{0C8C7ED0-7C71-B9F9-FA77-BA5A37C68E53}"/>
                  </a:ext>
                </a:extLst>
              </p:cNvPr>
              <p:cNvSpPr txBox="1">
                <a:spLocks noRot="1" noChangeAspect="1" noMove="1" noResize="1" noEditPoints="1" noAdjustHandles="1" noChangeArrowheads="1" noChangeShapeType="1" noTextEdit="1"/>
              </p:cNvSpPr>
              <p:nvPr/>
            </p:nvSpPr>
            <p:spPr>
              <a:xfrm>
                <a:off x="2330957" y="6163949"/>
                <a:ext cx="7998455" cy="369332"/>
              </a:xfrm>
              <a:prstGeom prst="rect">
                <a:avLst/>
              </a:prstGeom>
              <a:blipFill>
                <a:blip r:embed="rId5"/>
                <a:stretch>
                  <a:fillRect t="-4688" b="-21875"/>
                </a:stretch>
              </a:blipFill>
            </p:spPr>
            <p:txBody>
              <a:bodyPr/>
              <a:lstStyle/>
              <a:p>
                <a:r>
                  <a:rPr lang="en-US">
                    <a:noFill/>
                  </a:rPr>
                  <a:t> </a:t>
                </a:r>
              </a:p>
            </p:txBody>
          </p:sp>
        </mc:Fallback>
      </mc:AlternateContent>
    </p:spTree>
    <p:extLst>
      <p:ext uri="{BB962C8B-B14F-4D97-AF65-F5344CB8AC3E}">
        <p14:creationId xmlns:p14="http://schemas.microsoft.com/office/powerpoint/2010/main" val="34313439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F3F510C-7D37-B5A0-27AA-6175B16739F7}"/>
              </a:ext>
            </a:extLst>
          </p:cNvPr>
          <p:cNvSpPr>
            <a:spLocks noGrp="1"/>
          </p:cNvSpPr>
          <p:nvPr>
            <p:ph type="title"/>
          </p:nvPr>
        </p:nvSpPr>
        <p:spPr/>
        <p:txBody>
          <a:bodyPr/>
          <a:lstStyle/>
          <a:p>
            <a:r>
              <a:rPr lang="en-US" dirty="0"/>
              <a:t>Optimal Policies and </a:t>
            </a:r>
            <a:br>
              <a:rPr lang="en-US" dirty="0"/>
            </a:br>
            <a:r>
              <a:rPr lang="en-US" dirty="0"/>
              <a:t>Value Functions</a:t>
            </a:r>
          </a:p>
        </p:txBody>
      </p:sp>
      <p:sp>
        <p:nvSpPr>
          <p:cNvPr id="5" name="Text Placeholder 4">
            <a:extLst>
              <a:ext uri="{FF2B5EF4-FFF2-40B4-BE49-F238E27FC236}">
                <a16:creationId xmlns:a16="http://schemas.microsoft.com/office/drawing/2014/main" id="{79EC1A0B-4B88-62C6-F6B6-247D7871F58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8435847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700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This also implies the existence an optimal action-value function:</a:t>
                </a:r>
              </a:p>
              <a:p>
                <a:pPr marL="0" indent="0">
                  <a:buNone/>
                </a:pP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r>
                  <a:rPr lang="en-US" dirty="0"/>
                  <a:t>Since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oMath>
                </a14:m>
                <a:r>
                  <a:rPr lang="en-US" dirty="0"/>
                  <a:t> directly depends on the optimal 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endParaRPr lang="en-US" dirty="0"/>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m:oMathPara>
                </a14:m>
                <a:endParaRPr lang="en-US" dirty="0"/>
              </a:p>
              <a:p>
                <a:endParaRPr lang="en-US" dirty="0"/>
              </a:p>
              <a:p>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It is optimal to always choose this best action. </a:t>
                </a:r>
                <a:r>
                  <a:rPr lang="en-US" b="1" dirty="0"/>
                  <a:t>MDPs always have an optimal deterministic policy!</a:t>
                </a:r>
              </a:p>
            </p:txBody>
          </p:sp>
        </mc:Choice>
        <mc:Fallback>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522" t="-2168" b="-2296"/>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948D8F64-3A8A-2A56-96BF-3AEB319D2A94}"/>
              </a:ext>
            </a:extLst>
          </p:cNvPr>
          <p:cNvSpPr/>
          <p:nvPr/>
        </p:nvSpPr>
        <p:spPr>
          <a:xfrm>
            <a:off x="6017589" y="4644417"/>
            <a:ext cx="998290" cy="436227"/>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2414558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397331"/>
                <a:ext cx="6906139" cy="4151890"/>
              </a:xfrm>
            </p:spPr>
            <p:txBody>
              <a:bodyPr>
                <a:normAutofit fontScale="62500" lnSpcReduction="20000"/>
              </a:bodyPr>
              <a:lstStyle/>
              <a:p>
                <a:r>
                  <a:rPr lang="en-US" b="1" dirty="0"/>
                  <a:t>Idea</a:t>
                </a:r>
                <a:r>
                  <a:rPr lang="en-US" dirty="0"/>
                  <a:t>: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oMath>
                </a14:m>
                <a:r>
                  <a:rPr lang="en-US" dirty="0"/>
                  <a:t> always picks the best action, so the optimal state value needs to be the state-action value of the best action.</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b="1" dirty="0"/>
              </a:p>
              <a:p>
                <a:endParaRPr lang="en-US" dirty="0"/>
              </a:p>
              <a:p>
                <a:r>
                  <a:rPr lang="en-US" dirty="0"/>
                  <a:t>The Bellman optimality equations can be rewritten as:</a:t>
                </a:r>
              </a:p>
              <a:p>
                <a:pPr marL="0" indent="0">
                  <a:lnSpc>
                    <a:spcPct val="10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oMath>
                  </m:oMathPara>
                </a14:m>
                <a:endParaRPr lang="en-US" dirty="0"/>
              </a:p>
              <a:p>
                <a:pPr marL="0" indent="0">
                  <a:lnSpc>
                    <a:spcPct val="100000"/>
                  </a:lnSpc>
                  <a:buNone/>
                </a:pPr>
                <a:endParaRPr lang="en-US" dirty="0"/>
              </a:p>
            </p:txBody>
          </p:sp>
        </mc:Choice>
        <mc:Fallback>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397331"/>
                <a:ext cx="6906139" cy="4151890"/>
              </a:xfrm>
              <a:blipFill>
                <a:blip r:embed="rId2"/>
                <a:stretch>
                  <a:fillRect l="-618" t="-22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67563B02-7737-E44A-76F5-D26AFD105B7C}"/>
                  </a:ext>
                </a:extLst>
              </p:cNvPr>
              <p:cNvSpPr/>
              <p:nvPr/>
            </p:nvSpPr>
            <p:spPr>
              <a:xfrm>
                <a:off x="2701320" y="5650750"/>
                <a:ext cx="4309624" cy="680250"/>
              </a:xfrm>
              <a:prstGeom prst="wedgeRoundRectCallout">
                <a:avLst>
                  <a:gd name="adj1" fmla="val 18777"/>
                  <a:gd name="adj2" fmla="val -1406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Issue with recursive relationship: To calculate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we need to know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oMath>
                </a14:m>
                <a:r>
                  <a:rPr lang="en-US" dirty="0"/>
                  <a:t>  </a:t>
                </a:r>
              </a:p>
            </p:txBody>
          </p:sp>
        </mc:Choice>
        <mc:Fallback xmlns="">
          <p:sp>
            <p:nvSpPr>
              <p:cNvPr id="10" name="Speech Bubble: Rectangle with Corners Rounded 9">
                <a:extLst>
                  <a:ext uri="{FF2B5EF4-FFF2-40B4-BE49-F238E27FC236}">
                    <a16:creationId xmlns:a16="http://schemas.microsoft.com/office/drawing/2014/main" id="{67563B02-7737-E44A-76F5-D26AFD105B7C}"/>
                  </a:ext>
                </a:extLst>
              </p:cNvPr>
              <p:cNvSpPr>
                <a:spLocks noRot="1" noChangeAspect="1" noMove="1" noResize="1" noEditPoints="1" noAdjustHandles="1" noChangeArrowheads="1" noChangeShapeType="1" noTextEdit="1"/>
              </p:cNvSpPr>
              <p:nvPr/>
            </p:nvSpPr>
            <p:spPr>
              <a:xfrm>
                <a:off x="2701320" y="5650750"/>
                <a:ext cx="4309624" cy="680250"/>
              </a:xfrm>
              <a:prstGeom prst="wedgeRoundRectCallout">
                <a:avLst>
                  <a:gd name="adj1" fmla="val 18777"/>
                  <a:gd name="adj2" fmla="val -140660"/>
                  <a:gd name="adj3" fmla="val 16667"/>
                </a:avLst>
              </a:prstGeom>
              <a:blipFill>
                <a:blip r:embed="rId4"/>
                <a:stretch>
                  <a:fillRect b="-5046"/>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Lst>
          </p:cNvPr>
          <p:cNvGrpSpPr/>
          <p:nvPr/>
        </p:nvGrpSpPr>
        <p:grpSpPr>
          <a:xfrm>
            <a:off x="7744339" y="2856272"/>
            <a:ext cx="3971019" cy="3474727"/>
            <a:chOff x="7744339" y="2856272"/>
            <a:chExt cx="3971019" cy="3474727"/>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5"/>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216013"/>
              <a:ext cx="795738" cy="12082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71480" y="5730706"/>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gr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Bellman Optimality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85000" lnSpcReduction="20000"/>
              </a:bodyPr>
              <a:lstStyle/>
              <a:p>
                <a:r>
                  <a:rPr lang="en-US" dirty="0"/>
                  <a:t>The optimality condition is a system of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dirty="0"/>
                  <a:t>The problem can be linearized as a LP using constraints.</a:t>
                </a:r>
              </a:p>
              <a:p>
                <a:pPr marL="0" indent="0">
                  <a:buNone/>
                </a:pPr>
                <a:r>
                  <a:rPr lang="en-US" dirty="0"/>
                  <a:t> </a:t>
                </a:r>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8121989" y="465026"/>
            <a:ext cx="1779939" cy="795738"/>
          </a:xfrm>
          <a:prstGeom prst="wedgeRoundRectCallout">
            <a:avLst>
              <a:gd name="adj1" fmla="val -84754"/>
              <a:gd name="adj2" fmla="val 5986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Max is a non-linear operator.</a:t>
            </a:r>
          </a:p>
        </p:txBody>
      </p:sp>
    </p:spTree>
    <p:extLst>
      <p:ext uri="{BB962C8B-B14F-4D97-AF65-F5344CB8AC3E}">
        <p14:creationId xmlns:p14="http://schemas.microsoft.com/office/powerpoint/2010/main" val="2100807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Summary: Relationships between Value Functions and Policies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p:txBody>
              <a:bodyPr>
                <a:normAutofit fontScale="85000" lnSpcReduction="20000"/>
              </a:bodyPr>
              <a:lstStyle/>
              <a:p>
                <a:pPr marL="0" indent="0">
                  <a:buNone/>
                </a:pPr>
                <a:r>
                  <a:rPr lang="en-US" dirty="0"/>
                  <a:t>Value functions are defined as expected returns following a policy:</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𝑞</m:t>
                      </m:r>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r>
                  <a:rPr lang="en-US" dirty="0"/>
                  <a:t>For the optimal policy and value function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blipFill>
                <a:blip r:embed="rId2"/>
                <a:stretch>
                  <a:fillRect l="-928" t="-280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850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928" t="-280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13063</TotalTime>
  <Words>3364</Words>
  <Application>Microsoft Office PowerPoint</Application>
  <PresentationFormat>Widescreen</PresentationFormat>
  <Paragraphs>557</Paragraphs>
  <Slides>29</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29</vt:i4>
      </vt:variant>
    </vt:vector>
  </HeadingPairs>
  <TitlesOfParts>
    <vt:vector size="37"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Summary of Notation</vt:lpstr>
      <vt:lpstr>The Agent–Environment Interface</vt:lpstr>
      <vt:lpstr>Finite MDP</vt:lpstr>
      <vt:lpstr>Transition and Reward Functions</vt:lpstr>
      <vt:lpstr>Finite Markov Decision Process (MDP)</vt:lpstr>
      <vt:lpstr>Alternative Representations of a Finite MDP</vt:lpstr>
      <vt:lpstr>Example: Mobile Robot MDP</vt:lpstr>
      <vt:lpstr>Exercise: 3x4 Grid World</vt:lpstr>
      <vt:lpstr>Goals, 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Calculating the Value Function</vt:lpstr>
      <vt:lpstr>Backup Diagrams: Notation</vt:lpstr>
      <vt:lpstr>Bellman Equation as a Backup Diagram</vt:lpstr>
      <vt:lpstr>Optimal Policies and  Value Functions</vt:lpstr>
      <vt:lpstr>The Optimal Policy</vt:lpstr>
      <vt:lpstr>Bellman Optimality Equations</vt:lpstr>
      <vt:lpstr>Bellman Optimality</vt:lpstr>
      <vt:lpstr>Summary: Relationships between Value Functions and Policies</vt:lpstr>
      <vt:lpstr>Related Models</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119</cp:revision>
  <dcterms:created xsi:type="dcterms:W3CDTF">2025-09-08T14:44:49Z</dcterms:created>
  <dcterms:modified xsi:type="dcterms:W3CDTF">2026-02-04T00:11:38Z</dcterms:modified>
</cp:coreProperties>
</file>