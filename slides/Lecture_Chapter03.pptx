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8" r:id="rId4"/>
    <p:sldId id="482" r:id="rId5"/>
    <p:sldId id="353" r:id="rId6"/>
    <p:sldId id="486" r:id="rId7"/>
    <p:sldId id="485" r:id="rId8"/>
    <p:sldId id="354" r:id="rId9"/>
    <p:sldId id="355" r:id="rId10"/>
    <p:sldId id="470" r:id="rId11"/>
    <p:sldId id="356" r:id="rId12"/>
    <p:sldId id="387" r:id="rId13"/>
    <p:sldId id="382" r:id="rId14"/>
    <p:sldId id="357" r:id="rId15"/>
    <p:sldId id="358" r:id="rId16"/>
    <p:sldId id="360" r:id="rId17"/>
    <p:sldId id="383" r:id="rId18"/>
    <p:sldId id="359" r:id="rId19"/>
    <p:sldId id="476" r:id="rId20"/>
    <p:sldId id="474" r:id="rId21"/>
    <p:sldId id="475" r:id="rId22"/>
    <p:sldId id="361" r:id="rId23"/>
    <p:sldId id="364" r:id="rId24"/>
    <p:sldId id="479" r:id="rId25"/>
    <p:sldId id="481" r:id="rId26"/>
    <p:sldId id="362" r:id="rId27"/>
    <p:sldId id="385" r:id="rId28"/>
    <p:sldId id="386" r:id="rId29"/>
    <p:sldId id="365" r:id="rId30"/>
    <p:sldId id="366" r:id="rId31"/>
    <p:sldId id="480" r:id="rId32"/>
    <p:sldId id="484" r:id="rId33"/>
    <p:sldId id="483" r:id="rId34"/>
    <p:sldId id="477" r:id="rId35"/>
    <p:sldId id="462" r:id="rId36"/>
    <p:sldId id="36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81" d="100"/>
          <a:sy n="81" d="100"/>
        </p:scale>
        <p:origin x="88" y="272"/>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10</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9/1/2026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333.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19.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0.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41.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41.png"/><Relationship Id="rId4" Type="http://schemas.openxmlformats.org/officeDocument/2006/relationships/image" Target="../media/image43.png"/><Relationship Id="rId9" Type="http://schemas.openxmlformats.org/officeDocument/2006/relationships/image" Target="../media/image46.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2" Type="http://schemas.openxmlformats.org/officeDocument/2006/relationships/image" Target="../media/image51.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 Id="rId14" Type="http://schemas.openxmlformats.org/officeDocument/2006/relationships/image" Target="../media/image53.pn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50.png"/></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6.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925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expected immediate reward depending on the current state and action.</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558" t="-4112" b="-1316"/>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often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Speech Bubble: Rectangle with Corners Rounded 3">
                <a:extLst>
                  <a:ext uri="{FF2B5EF4-FFF2-40B4-BE49-F238E27FC236}">
                    <a16:creationId xmlns:a16="http://schemas.microsoft.com/office/drawing/2014/main" id="{125F9633-5BBF-7862-8531-62801173FB4D}"/>
                  </a:ext>
                </a:extLst>
              </p:cNvPr>
              <p:cNvSpPr/>
              <p:nvPr/>
            </p:nvSpPr>
            <p:spPr>
              <a:xfrm>
                <a:off x="8885733" y="2436073"/>
                <a:ext cx="2861863" cy="1151723"/>
              </a:xfrm>
              <a:prstGeom prst="wedgeRoundRectCallout">
                <a:avLst>
                  <a:gd name="adj1" fmla="val -86080"/>
                  <a:gd name="adj2" fmla="val 761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Expectation is used when the reward is stochastic represented as the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oMath>
                </a14:m>
                <a:r>
                  <a:rPr lang="en-US" dirty="0"/>
                  <a:t>.</a:t>
                </a:r>
              </a:p>
            </p:txBody>
          </p:sp>
        </mc:Choice>
        <mc:Fallback>
          <p:sp>
            <p:nvSpPr>
              <p:cNvPr id="4" name="Speech Bubble: Rectangle with Corners Rounded 3">
                <a:extLst>
                  <a:ext uri="{FF2B5EF4-FFF2-40B4-BE49-F238E27FC236}">
                    <a16:creationId xmlns:a16="http://schemas.microsoft.com/office/drawing/2014/main" id="{125F9633-5BBF-7862-8531-62801173FB4D}"/>
                  </a:ext>
                </a:extLst>
              </p:cNvPr>
              <p:cNvSpPr>
                <a:spLocks noRot="1" noChangeAspect="1" noMove="1" noResize="1" noEditPoints="1" noAdjustHandles="1" noChangeArrowheads="1" noChangeShapeType="1" noTextEdit="1"/>
              </p:cNvSpPr>
              <p:nvPr/>
            </p:nvSpPr>
            <p:spPr>
              <a:xfrm>
                <a:off x="8885733" y="2436073"/>
                <a:ext cx="2861863" cy="1151723"/>
              </a:xfrm>
              <a:prstGeom prst="wedgeRoundRectCallout">
                <a:avLst>
                  <a:gd name="adj1" fmla="val -86080"/>
                  <a:gd name="adj2" fmla="val 76160"/>
                  <a:gd name="adj3" fmla="val 16667"/>
                </a:avLst>
              </a:prstGeom>
              <a:blipFill>
                <a:blip r:embed="rId3"/>
                <a:stretch>
                  <a:fillRect t="-2834"/>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0"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Lst>
          </p:cNvPr>
          <p:cNvGrpSpPr/>
          <p:nvPr/>
        </p:nvGrpSpPr>
        <p:grpSpPr>
          <a:xfrm>
            <a:off x="8965554" y="2304263"/>
            <a:ext cx="3026577" cy="2888685"/>
            <a:chOff x="8965554" y="2304263"/>
            <a:chExt cx="3026577" cy="2888685"/>
          </a:xfrm>
        </p:grpSpPr>
        <p:pic>
          <p:nvPicPr>
            <p:cNvPr id="5" name="Picture 4">
              <a:extLst>
                <a:ext uri="{FF2B5EF4-FFF2-40B4-BE49-F238E27FC236}">
                  <a16:creationId xmlns:a16="http://schemas.microsoft.com/office/drawing/2014/main" id="{0B389E71-8B70-F7FA-E207-CDE2A09665CC}"/>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0C0D41D2-1EA5-07A4-B229-7F4CA508C68E}"/>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grpSp>
        <p:nvGrpSpPr>
          <p:cNvPr id="17" name="Group 16">
            <a:extLst>
              <a:ext uri="{FF2B5EF4-FFF2-40B4-BE49-F238E27FC236}">
                <a16:creationId xmlns:a16="http://schemas.microsoft.com/office/drawing/2014/main" id="{1C9D19F8-38B2-66A9-EA73-B220AB2BF19E}"/>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431343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18797</TotalTime>
  <Words>4492</Words>
  <Application>Microsoft Office PowerPoint</Application>
  <PresentationFormat>Widescreen</PresentationFormat>
  <Paragraphs>706</Paragraphs>
  <Slides>36</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and Reward Functions</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142</cp:revision>
  <dcterms:created xsi:type="dcterms:W3CDTF">2025-09-08T14:44:49Z</dcterms:created>
  <dcterms:modified xsi:type="dcterms:W3CDTF">2026-09-01T20:55:27Z</dcterms:modified>
</cp:coreProperties>
</file>