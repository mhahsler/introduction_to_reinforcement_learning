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13" r:id="rId3"/>
    <p:sldId id="478" r:id="rId4"/>
    <p:sldId id="482" r:id="rId5"/>
    <p:sldId id="353" r:id="rId6"/>
    <p:sldId id="486" r:id="rId7"/>
    <p:sldId id="485" r:id="rId8"/>
    <p:sldId id="354" r:id="rId9"/>
    <p:sldId id="487" r:id="rId10"/>
    <p:sldId id="355" r:id="rId11"/>
    <p:sldId id="470" r:id="rId12"/>
    <p:sldId id="356" r:id="rId13"/>
    <p:sldId id="387" r:id="rId14"/>
    <p:sldId id="382" r:id="rId15"/>
    <p:sldId id="357" r:id="rId16"/>
    <p:sldId id="358" r:id="rId17"/>
    <p:sldId id="360" r:id="rId18"/>
    <p:sldId id="383" r:id="rId19"/>
    <p:sldId id="359" r:id="rId20"/>
    <p:sldId id="476" r:id="rId21"/>
    <p:sldId id="474" r:id="rId22"/>
    <p:sldId id="475" r:id="rId23"/>
    <p:sldId id="361" r:id="rId24"/>
    <p:sldId id="364" r:id="rId25"/>
    <p:sldId id="479" r:id="rId26"/>
    <p:sldId id="481" r:id="rId27"/>
    <p:sldId id="362" r:id="rId28"/>
    <p:sldId id="385" r:id="rId29"/>
    <p:sldId id="386" r:id="rId30"/>
    <p:sldId id="365" r:id="rId31"/>
    <p:sldId id="366" r:id="rId32"/>
    <p:sldId id="480" r:id="rId33"/>
    <p:sldId id="484" r:id="rId34"/>
    <p:sldId id="483" r:id="rId35"/>
    <p:sldId id="477" r:id="rId36"/>
    <p:sldId id="462" r:id="rId37"/>
    <p:sldId id="36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rkov" id="{83286E67-F0F0-421C-8F74-7B93ABA17FBF}">
          <p14:sldIdLst>
            <p14:sldId id="256"/>
            <p14:sldId id="313"/>
            <p14:sldId id="478"/>
          </p14:sldIdLst>
        </p14:section>
        <p14:section name="Finite MDP" id="{99C52200-DC0B-4ED7-BC0A-CEC376E11BA5}">
          <p14:sldIdLst>
            <p14:sldId id="482"/>
            <p14:sldId id="353"/>
            <p14:sldId id="486"/>
            <p14:sldId id="485"/>
            <p14:sldId id="354"/>
            <p14:sldId id="487"/>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88945" autoAdjust="0"/>
  </p:normalViewPr>
  <p:slideViewPr>
    <p:cSldViewPr snapToGrid="0">
      <p:cViewPr varScale="1">
        <p:scale>
          <a:sx n="143" d="100"/>
          <a:sy n="143" d="100"/>
        </p:scale>
        <p:origin x="492" y="96"/>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10/21/2026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11</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10/21/2026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10/21/2026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81.png"/><Relationship Id="rId18" Type="http://schemas.openxmlformats.org/officeDocument/2006/relationships/image" Target="../media/image190.png"/><Relationship Id="rId13" Type="http://schemas.openxmlformats.org/officeDocument/2006/relationships/image" Target="../media/image333.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20" Type="http://schemas.openxmlformats.org/officeDocument/2006/relationships/image" Target="../media/image211.png"/><Relationship Id="rId16" Type="http://schemas.openxmlformats.org/officeDocument/2006/relationships/image" Target="../media/image170.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23" Type="http://schemas.openxmlformats.org/officeDocument/2006/relationships/image" Target="../media/image230.png"/><Relationship Id="rId15" Type="http://schemas.openxmlformats.org/officeDocument/2006/relationships/image" Target="../media/image16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2.xml.rels><?xml version="1.0" encoding="UTF-8" standalone="yes"?>
<Relationships xmlns="http://schemas.openxmlformats.org/package/2006/relationships"><Relationship Id="rId3" Type="http://schemas.openxmlformats.org/officeDocument/2006/relationships/image" Target="../media/image250.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6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72.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20.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2.png"/><Relationship Id="rId1" Type="http://schemas.openxmlformats.org/officeDocument/2006/relationships/slideLayout" Target="../slideLayouts/slideLayout2.xml"/><Relationship Id="rId5" Type="http://schemas.openxmlformats.org/officeDocument/2006/relationships/image" Target="../media/image351.png"/><Relationship Id="rId4" Type="http://schemas.openxmlformats.org/officeDocument/2006/relationships/image" Target="../media/image340.png"/></Relationships>
</file>

<file path=ppt/slides/_rels/slide21.xml.rels><?xml version="1.0" encoding="UTF-8" standalone="yes"?>
<Relationships xmlns="http://schemas.openxmlformats.org/package/2006/relationships"><Relationship Id="rId3" Type="http://schemas.openxmlformats.org/officeDocument/2006/relationships/image" Target="../media/image371.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1.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2" Type="http://schemas.openxmlformats.org/officeDocument/2006/relationships/image" Target="../media/image39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0.png"/><Relationship Id="rId7" Type="http://schemas.openxmlformats.org/officeDocument/2006/relationships/image" Target="../media/image441.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41.png"/><Relationship Id="rId4" Type="http://schemas.openxmlformats.org/officeDocument/2006/relationships/image" Target="../media/image431.png"/><Relationship Id="rId9" Type="http://schemas.openxmlformats.org/officeDocument/2006/relationships/image" Target="../media/image46.png"/></Relationships>
</file>

<file path=ppt/slides/_rels/slide28.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0.png"/><Relationship Id="rId16"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15" Type="http://schemas.openxmlformats.org/officeDocument/2006/relationships/image" Target="../media/image47.png"/><Relationship Id="rId5" Type="http://schemas.openxmlformats.org/officeDocument/2006/relationships/image" Target="../media/image451.png"/><Relationship Id="rId10" Type="http://schemas.openxmlformats.org/officeDocument/2006/relationships/image" Target="../media/image50.png"/><Relationship Id="rId14" Type="http://schemas.openxmlformats.org/officeDocument/2006/relationships/image" Target="../media/image53.png"/><Relationship Id="rId9" Type="http://schemas.openxmlformats.org/officeDocument/2006/relationships/image" Target="../media/image49.png"/></Relationships>
</file>

<file path=ppt/slides/_rels/slide29.xml.rels><?xml version="1.0" encoding="UTF-8" standalone="yes"?>
<Relationships xmlns="http://schemas.openxmlformats.org/package/2006/relationships"><Relationship Id="rId2" Type="http://schemas.openxmlformats.org/officeDocument/2006/relationships/image" Target="../media/image330.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5.png"/><Relationship Id="rId4" Type="http://schemas.openxmlformats.org/officeDocument/2006/relationships/image" Target="../media/image450.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40.png"/><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0.png"/></Relationships>
</file>

<file path=ppt/slides/_rels/slide3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7.xml.rels><?xml version="1.0" encoding="UTF-8" standalone="yes"?>
<Relationships xmlns="http://schemas.openxmlformats.org/package/2006/relationships"><Relationship Id="rId3" Type="http://schemas.openxmlformats.org/officeDocument/2006/relationships/image" Target="../media/image590.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 uri="{C183D7F6-B498-43B3-948B-1728B52AA6E4}">
                <adec:decorative xmlns:adec="http://schemas.microsoft.com/office/drawing/2017/decorative" val="1"/>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pic>
        <p:nvPicPr>
          <p:cNvPr id="6" name="Picture 4">
            <a:extLst>
              <a:ext uri="{FF2B5EF4-FFF2-40B4-BE49-F238E27FC236}">
                <a16:creationId xmlns:a16="http://schemas.microsoft.com/office/drawing/2014/main" id="{A9F9786C-76AC-22A8-2028-BB0A9E3784F6}"/>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pic>
        <p:nvPicPr>
          <p:cNvPr id="5" name="Content Placeholder 4" descr="Sutton and Barto Figure 3.1: the agent–environment interaction in a Markov decision process. The agent sends action A_t to the environment; the environment returns the next reward R_t+1 and next state S_t+1, which become the reward R_t and state S_t the agent sees at the next step.">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p:sp>
        <p:nvSpPr>
          <p:cNvPr id="3" name="TextBox 2">
            <a:extLst>
              <a:ext uri="{FF2B5EF4-FFF2-40B4-BE49-F238E27FC236}">
                <a16:creationId xmlns:a16="http://schemas.microsoft.com/office/drawing/2014/main" id="{F413D19A-9F8A-6171-80BA-6F52FEB9E691}"/>
              </a:ext>
              <a:ext uri="{C183D7F6-B498-43B3-948B-1728B52AA6E4}">
                <adec:decorative xmlns:adec="http://schemas.microsoft.com/office/drawing/2017/decorative" val="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7ACE6498-3C56-AFAA-9075-B2EEB49D2B2B}"/>
              </a:ext>
              <a:ext uri="{C183D7F6-B498-43B3-948B-1728B52AA6E4}">
                <adec:decorative xmlns:adec="http://schemas.microsoft.com/office/drawing/2017/decorative" val="1"/>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descr="Markov model as a graph with four states: arrows go from s0 to s1 and back, from s1 to s2, from s2 to s3, and from s0 to s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 uri="{C183D7F6-B498-43B3-948B-1728B52AA6E4}">
                    <adec:decorative xmlns:adec="http://schemas.microsoft.com/office/drawing/2017/decorative" val="1"/>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 uri="{C183D7F6-B498-43B3-948B-1728B52AA6E4}">
                    <adec:decorative xmlns:adec="http://schemas.microsoft.com/office/drawing/2017/decorative" val="1"/>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 uri="{C183D7F6-B498-43B3-948B-1728B52AA6E4}">
                    <adec:decorative xmlns:adec="http://schemas.microsoft.com/office/drawing/2017/decorative" val="1"/>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 uri="{C183D7F6-B498-43B3-948B-1728B52AA6E4}">
                    <adec:decorative xmlns:adec="http://schemas.microsoft.com/office/drawing/2017/decorative" val="1"/>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 uri="{C183D7F6-B498-43B3-948B-1728B52AA6E4}">
                    <adec:decorative xmlns:adec="http://schemas.microsoft.com/office/drawing/2017/decorative" val="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 uri="{C183D7F6-B498-43B3-948B-1728B52AA6E4}">
                    <adec:decorative xmlns:adec="http://schemas.microsoft.com/office/drawing/2017/decorative" val="1"/>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descr="An episode unrolled over time: a chain of states s0 → s1 → s2 → and so on.">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 uri="{C183D7F6-B498-43B3-948B-1728B52AA6E4}">
                    <adec:decorative xmlns:adec="http://schemas.microsoft.com/office/drawing/2017/decorative" val="1"/>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 uri="{C183D7F6-B498-43B3-948B-1728B52AA6E4}">
                    <adec:decorative xmlns:adec="http://schemas.microsoft.com/office/drawing/2017/decorative" val="1"/>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 uri="{C183D7F6-B498-43B3-948B-1728B52AA6E4}">
                    <adec:decorative xmlns:adec="http://schemas.microsoft.com/office/drawing/2017/decorative" val="1"/>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 uri="{C183D7F6-B498-43B3-948B-1728B52AA6E4}">
                    <adec:decorative xmlns:adec="http://schemas.microsoft.com/office/drawing/2017/decorative" val="1"/>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850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𝑃𝑟</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giving the immediate reward depending on the current state and action. For stochastic reward functions, the expected immediate reward is used. </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299" t="-361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grpSp>
        <p:nvGrpSpPr>
          <p:cNvPr id="49" name="Group 48" descr="Example MDP drawn as a graph with three states. From s0, action a1 leads to s1 with probability 1 and reward 10. From s1, action a1 leads to s2 with probability 1 and reward 100; action a2 returns to s0 with probability .5 and reward −5, or stays in s1 with probability .5 and reward 10. s2 is absorbing: actions a1 and a2 keep it in s2 with reward 0. Green numbers are transition probabilities and orange numbers are reward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 uri="{C183D7F6-B498-43B3-948B-1728B52AA6E4}">
                  <adec:decorative xmlns:adec="http://schemas.microsoft.com/office/drawing/2017/decorative" val="1"/>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 uri="{C183D7F6-B498-43B3-948B-1728B52AA6E4}">
                  <adec:decorative xmlns:adec="http://schemas.microsoft.com/office/drawing/2017/decorative" val="1"/>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 uri="{C183D7F6-B498-43B3-948B-1728B52AA6E4}">
                  <adec:decorative xmlns:adec="http://schemas.microsoft.com/office/drawing/2017/decorative" val="1"/>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 uri="{C183D7F6-B498-43B3-948B-1728B52AA6E4}">
                  <adec:decorative xmlns:adec="http://schemas.microsoft.com/office/drawing/2017/decorative" val="1"/>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 uri="{C183D7F6-B498-43B3-948B-1728B52AA6E4}">
                  <adec:decorative xmlns:adec="http://schemas.microsoft.com/office/drawing/2017/decorative" val="1"/>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 uri="{C183D7F6-B498-43B3-948B-1728B52AA6E4}">
                  <adec:decorative xmlns:adec="http://schemas.microsoft.com/office/drawing/2017/decorative" val="1"/>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3"/>
                            </a:solidFill>
                            <a:latin typeface="Cambria Math" panose="02040503050406030204" pitchFamily="18" charset="0"/>
                          </a:rPr>
                          <m:t>𝑷𝒓</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r="-1478" b="-754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descr="Trajectory of the unrolled MDP: s0, action a0, reward r1, s1, action a1, reward r2, s2, action a2, reward r3, and so on. Each state leads to an action (green diamond), and each action leads to the next state and a reward (orange square).">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 uri="{C183D7F6-B498-43B3-948B-1728B52AA6E4}">
                    <adec:decorative xmlns:adec="http://schemas.microsoft.com/office/drawing/2017/decorative" val="1"/>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 uri="{C183D7F6-B498-43B3-948B-1728B52AA6E4}">
                    <adec:decorative xmlns:adec="http://schemas.microsoft.com/office/drawing/2017/decorative" val="1"/>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 uri="{C183D7F6-B498-43B3-948B-1728B52AA6E4}">
                    <adec:decorative xmlns:adec="http://schemas.microsoft.com/office/drawing/2017/decorative" val="1"/>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 uri="{C183D7F6-B498-43B3-948B-1728B52AA6E4}">
                    <adec:decorative xmlns:adec="http://schemas.microsoft.com/office/drawing/2017/decorative" val="1"/>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 uri="{C183D7F6-B498-43B3-948B-1728B52AA6E4}">
                    <adec:decorative xmlns:adec="http://schemas.microsoft.com/office/drawing/2017/decorative" val="1"/>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 uri="{C183D7F6-B498-43B3-948B-1728B52AA6E4}">
                    <adec:decorative xmlns:adec="http://schemas.microsoft.com/office/drawing/2017/decorative" val="1"/>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 uri="{C183D7F6-B498-43B3-948B-1728B52AA6E4}">
                    <adec:decorative xmlns:adec="http://schemas.microsoft.com/office/drawing/2017/decorative" val="1"/>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 uri="{C183D7F6-B498-43B3-948B-1728B52AA6E4}">
                    <adec:decorative xmlns:adec="http://schemas.microsoft.com/office/drawing/2017/decorative" val="1"/>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 uri="{C183D7F6-B498-43B3-948B-1728B52AA6E4}">
                    <adec:decorative xmlns:adec="http://schemas.microsoft.com/office/drawing/2017/decorative" val="1"/>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 uri="{C183D7F6-B498-43B3-948B-1728B52AA6E4}">
                    <adec:decorative xmlns:adec="http://schemas.microsoft.com/office/drawing/2017/decorative" val="1"/>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 uri="{C183D7F6-B498-43B3-948B-1728B52AA6E4}">
                    <adec:decorative xmlns:adec="http://schemas.microsoft.com/office/drawing/2017/decorative" val="1"/>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 uri="{C183D7F6-B498-43B3-948B-1728B52AA6E4}">
                    <adec:decorative xmlns:adec="http://schemas.microsoft.com/office/drawing/2017/decorative" val="1"/>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 uri="{C183D7F6-B498-43B3-948B-1728B52AA6E4}">
                    <adec:decorative xmlns:adec="http://schemas.microsoft.com/office/drawing/2017/decorative" val="1"/>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 uri="{C183D7F6-B498-43B3-948B-1728B52AA6E4}">
                    <adec:decorative xmlns:adec="http://schemas.microsoft.com/office/drawing/2017/decorative" val="1"/>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 uri="{C183D7F6-B498-43B3-948B-1728B52AA6E4}">
                    <adec:decorative xmlns:adec="http://schemas.microsoft.com/office/drawing/2017/decorative" val="1"/>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 uri="{C183D7F6-B498-43B3-948B-1728B52AA6E4}">
                    <adec:decorative xmlns:adec="http://schemas.microsoft.com/office/drawing/2017/decorative" val="1"/>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𝑝</m:t>
                      </m:r>
                      <m:r>
                        <a:rPr lang="en-US"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dirty="0"/>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descr="Sutton and Barto Figure 3.1: the agent–environment interaction in a Markov decision process. The agent sends action A_t to the environment; the environment returns the next reward R_t+1 and next state S_t+1, which become the reward R_t and state S_t the agent sees at the next step.">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C90CB-35F2-26E1-406D-23DBEECCDA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C0254-9D84-0BC4-BC08-16E1D956EFE2}"/>
              </a:ext>
            </a:extLst>
          </p:cNvPr>
          <p:cNvSpPr>
            <a:spLocks noGrp="1"/>
          </p:cNvSpPr>
          <p:nvPr>
            <p:ph type="title"/>
          </p:nvPr>
        </p:nvSpPr>
        <p:spPr/>
        <p:txBody>
          <a:bodyPr/>
          <a:lstStyle/>
          <a:p>
            <a:r>
              <a:rPr lang="en-US" dirty="0"/>
              <a:t>Transition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58D24E-653C-574F-B66B-334F198D5175}"/>
                  </a:ext>
                </a:extLst>
              </p:cNvPr>
              <p:cNvSpPr>
                <a:spLocks noGrp="1"/>
              </p:cNvSpPr>
              <p:nvPr>
                <p:ph idx="1"/>
              </p:nvPr>
            </p:nvSpPr>
            <p:spPr>
              <a:xfrm>
                <a:off x="838200" y="1397330"/>
                <a:ext cx="10515600" cy="4968569"/>
              </a:xfrm>
            </p:spPr>
            <p:txBody>
              <a:bodyPr>
                <a:normAutofit fontScale="92500" lnSpcReduction="20000"/>
              </a:bodyPr>
              <a:lstStyle/>
              <a:p>
                <a:r>
                  <a:rPr lang="en-US" sz="2400" dirty="0"/>
                  <a:t>The function </a:t>
                </a:r>
                <a:br>
                  <a:rPr lang="en-US" sz="2400" dirty="0"/>
                </a:br>
                <a:br>
                  <a:rPr lang="en-US" sz="2400" i="1" dirty="0">
                    <a:latin typeface="Cambria Math" panose="02040503050406030204" pitchFamily="18" charset="0"/>
                  </a:rPr>
                </a:br>
                <a14:m>
                  <m:oMath xmlns:m="http://schemas.openxmlformats.org/officeDocument/2006/math">
                    <m:r>
                      <a:rPr lang="en-US" sz="2400" i="1">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r>
                      <a:rPr lang="en-US" sz="2400" i="1">
                        <a:latin typeface="Cambria Math" panose="02040503050406030204" pitchFamily="18" charset="0"/>
                      </a:rPr>
                      <m:t>≝</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Pr</m:t>
                        </m:r>
                      </m:fName>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sub>
                            </m:sSub>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e>
                    </m:func>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a14:m>
                <a:br>
                  <a:rPr lang="en-US" sz="2400" dirty="0"/>
                </a:br>
                <a:br>
                  <a:rPr lang="en-US" sz="2400" dirty="0"/>
                </a:br>
                <a:r>
                  <a:rPr lang="en-US" sz="2400" dirty="0"/>
                  <a:t>is often broken down into a separate transition and a reward function.</a:t>
                </a:r>
              </a:p>
              <a:p>
                <a:endParaRPr lang="en-US" sz="2400" dirty="0"/>
              </a:p>
              <a:p>
                <a:r>
                  <a:rPr lang="en-US" sz="2400" dirty="0"/>
                  <a:t>State transition probabilities (via marginalizing out </a:t>
                </a:r>
                <a14:m>
                  <m:oMath xmlns:m="http://schemas.openxmlformats.org/officeDocument/2006/math">
                    <m:r>
                      <a:rPr lang="en-US" sz="2400" b="0" i="1" smtClean="0">
                        <a:latin typeface="Cambria Math" panose="02040503050406030204" pitchFamily="18" charset="0"/>
                      </a:rPr>
                      <m:t>𝑟</m:t>
                    </m:r>
                  </m:oMath>
                </a14:m>
                <a:r>
                  <a:rPr lang="en-US" sz="2400" dirty="0"/>
                  <a:t>):</a:t>
                </a:r>
              </a:p>
              <a:p>
                <a:endParaRPr lang="en-US" sz="2400" dirty="0"/>
              </a:p>
              <a:p>
                <a:pPr marL="0" indent="0">
                  <a:lnSpc>
                    <a:spcPct val="120000"/>
                  </a:lnSpc>
                  <a:buNone/>
                </a:pPr>
                <a14:m>
                  <m:oMathPara xmlns:m="http://schemas.openxmlformats.org/officeDocument/2006/math">
                    <m:oMath>
                      <m:r>
                        <a:rPr lang="en-US" sz="2400" i="1" smtClean="0">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r>
                        <m:rPr>
                          <m:aln/>
                        </m:rPr>
                        <a:rPr lang="en-US" sz="2400" i="1" smtClean="0">
                          <a:latin typeface="Cambria Math" panose="02040503050406030204" pitchFamily="18" charset="0"/>
                        </a:rPr>
                        <m:t>≝</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Pr</m:t>
                          </m:r>
                        </m:fName>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 </m:t>
                              </m:r>
                            </m:e>
                          </m:d>
                        </m:e>
                      </m:func>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m:oMath>
                      <m:r>
                        <m:rPr>
                          <m:aln/>
                        </m:rPr>
                        <a:rPr lang="en-US" sz="2400" b="0" i="0" smtClean="0">
                          <a:latin typeface="Cambria Math" panose="02040503050406030204" pitchFamily="18" charset="0"/>
                        </a:rPr>
                        <m:t>=</m:t>
                      </m:r>
                      <m:nary>
                        <m:naryPr>
                          <m:chr m:val="∑"/>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𝑟</m:t>
                          </m:r>
                          <m:r>
                            <a:rPr lang="en-US" sz="2400" b="0" i="1" smtClean="0">
                              <a:latin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ℛ</m:t>
                          </m:r>
                        </m:sub>
                        <m:sup/>
                        <m:e>
                          <m:r>
                            <a:rPr lang="en-US" sz="2400" i="1">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e>
                      </m:nary>
                    </m:oMath>
                  </m:oMathPara>
                </a14:m>
                <a:endParaRPr lang="en-US" sz="2400" dirty="0"/>
              </a:p>
              <a:p>
                <a:pPr>
                  <a:lnSpc>
                    <a:spcPct val="120000"/>
                  </a:lnSpc>
                </a:pPr>
                <a:endParaRPr lang="en-US" sz="2400" dirty="0"/>
              </a:p>
              <a:p>
                <a:pPr>
                  <a:lnSpc>
                    <a:spcPct val="120000"/>
                  </a:lnSpc>
                </a:pPr>
                <a:r>
                  <a:rPr lang="en-US" sz="2400" dirty="0"/>
                  <a:t>The probability indicates that the transition function is </a:t>
                </a:r>
                <a:r>
                  <a:rPr lang="en-US" sz="2400" b="1" dirty="0"/>
                  <a:t>stochastic</a:t>
                </a:r>
                <a:r>
                  <a:rPr lang="en-US" sz="2400" dirty="0"/>
                  <a:t>.</a:t>
                </a:r>
              </a:p>
            </p:txBody>
          </p:sp>
        </mc:Choice>
        <mc:Fallback xmlns="">
          <p:sp>
            <p:nvSpPr>
              <p:cNvPr id="3" name="Content Placeholder 2">
                <a:extLst>
                  <a:ext uri="{FF2B5EF4-FFF2-40B4-BE49-F238E27FC236}">
                    <a16:creationId xmlns:a16="http://schemas.microsoft.com/office/drawing/2014/main" id="{0258D24E-653C-574F-B66B-334F198D5175}"/>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696" t="-2454"/>
                </a:stretch>
              </a:blipFill>
            </p:spPr>
            <p:txBody>
              <a:bodyPr/>
              <a:lstStyle/>
              <a:p>
                <a:r>
                  <a:rPr lang="en-US">
                    <a:noFill/>
                  </a:rPr>
                  <a:t> </a:t>
                </a:r>
              </a:p>
            </p:txBody>
          </p:sp>
        </mc:Fallback>
      </mc:AlternateContent>
    </p:spTree>
    <p:extLst>
      <p:ext uri="{BB962C8B-B14F-4D97-AF65-F5344CB8AC3E}">
        <p14:creationId xmlns:p14="http://schemas.microsoft.com/office/powerpoint/2010/main" val="14307579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Reward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76810" cy="5153372"/>
              </a:xfrm>
            </p:spPr>
            <p:txBody>
              <a:bodyPr>
                <a:normAutofit fontScale="70000" lnSpcReduction="20000"/>
              </a:bodyPr>
              <a:lstStyle/>
              <a:p>
                <a:r>
                  <a:rPr lang="en-US" dirty="0"/>
                  <a:t>The reward function </a:t>
                </a:r>
                <a:r>
                  <a:rPr lang="en-US" b="1" dirty="0"/>
                  <a:t>may be stochastic </a:t>
                </a:r>
                <a:r>
                  <a:rPr lang="en-US" dirty="0"/>
                  <a:t>so we use the random variable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sub>
                    </m:sSub>
                  </m:oMath>
                </a14:m>
                <a:r>
                  <a:rPr lang="en-US" dirty="0"/>
                  <a:t> and the expected immediate reward.</a:t>
                </a:r>
              </a:p>
              <a:p>
                <a:endParaRPr lang="en-US" dirty="0"/>
              </a:p>
              <a:p>
                <a:r>
                  <a:rPr lang="en-US" dirty="0"/>
                  <a:t>Two popular representations are: </a:t>
                </a:r>
                <a14:m>
                  <m:oMath xmlns:m="http://schemas.openxmlformats.org/officeDocument/2006/math">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and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endParaRPr lang="en-US" dirty="0"/>
              </a:p>
              <a:p>
                <a:endParaRPr lang="en-US" dirty="0"/>
              </a:p>
              <a:p>
                <a:r>
                  <a:rPr lang="en-US" dirty="0"/>
                  <a:t>Expected immediate reward for a state-action pair (after marginalizing out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a:t>
                </a:r>
              </a:p>
              <a:p>
                <a:pPr marL="0" indent="0">
                  <a:lnSpc>
                    <a:spcPct val="120000"/>
                  </a:lnSpc>
                  <a:buNone/>
                </a:pPr>
                <a14:m>
                  <m:oMathPara xmlns:m="http://schemas.openxmlformats.org/officeDocument/2006/math">
                    <m:o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immediate rewards for a state-action-next-state triple (if the next state also affects the reward):</a:t>
                </a:r>
              </a:p>
              <a:p>
                <a:pPr marL="0" indent="0">
                  <a:lnSpc>
                    <a:spcPct val="120000"/>
                  </a:lnSpc>
                  <a:buNone/>
                </a:pPr>
                <a14:m>
                  <m:oMathPara xmlns:m="http://schemas.openxmlformats.org/officeDocument/2006/math">
                    <m:o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a:latin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76810" cy="5153372"/>
              </a:xfrm>
              <a:blipFill>
                <a:blip r:embed="rId2"/>
                <a:stretch>
                  <a:fillRect l="-519" t="-2009"/>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grpSp>
        <p:nvGrpSpPr>
          <p:cNvPr id="49" name="Group 48" descr="Example MDP drawn as a graph with three states. From s0, action a1 leads to s1 with probability 1 and reward 10. From s1, action a1 leads to s2 with probability 1 and reward 100; action a2 returns to s0 with probability .5 and reward −5, or stays in s1 with probability .5 and reward 10. s2 is absorbing: actions a1 and a2 keep it in s2 with reward 0. Green numbers are transition probabilities and orange numbers are reward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 uri="{C183D7F6-B498-43B3-948B-1728B52AA6E4}">
                  <adec:decorative xmlns:adec="http://schemas.microsoft.com/office/drawing/2017/decorative" val="1"/>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 uri="{C183D7F6-B498-43B3-948B-1728B52AA6E4}">
                  <adec:decorative xmlns:adec="http://schemas.microsoft.com/office/drawing/2017/decorative" val="1"/>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 uri="{C183D7F6-B498-43B3-948B-1728B52AA6E4}">
                  <adec:decorative xmlns:adec="http://schemas.microsoft.com/office/drawing/2017/decorative" val="1"/>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 uri="{C183D7F6-B498-43B3-948B-1728B52AA6E4}">
                  <adec:decorative xmlns:adec="http://schemas.microsoft.com/office/drawing/2017/decorative" val="1"/>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 uri="{C183D7F6-B498-43B3-948B-1728B52AA6E4}">
                  <adec:decorative xmlns:adec="http://schemas.microsoft.com/office/drawing/2017/decorative" val="1"/>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 uri="{C183D7F6-B498-43B3-948B-1728B52AA6E4}">
                  <adec:decorative xmlns:adec="http://schemas.microsoft.com/office/drawing/2017/decorative" val="1"/>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p:sp>
        <p:nvSpPr>
          <p:cNvPr id="8" name="Arrow: Up-Down 7">
            <a:extLst>
              <a:ext uri="{FF2B5EF4-FFF2-40B4-BE49-F238E27FC236}">
                <a16:creationId xmlns:a16="http://schemas.microsoft.com/office/drawing/2014/main" id="{62154C0D-4CA6-89E3-6118-1109C9EB5491}"/>
              </a:ext>
              <a:ext uri="{C183D7F6-B498-43B3-948B-1728B52AA6E4}">
                <adec:decorative xmlns:adec="http://schemas.microsoft.com/office/drawing/2017/decorative" val="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4526A42E-4BD0-FAAD-1B1B-CE9A7862CEFF}"/>
              </a:ext>
            </a:extLst>
          </p:cNvPr>
          <p:cNvSpPr txBox="1"/>
          <p:nvPr/>
        </p:nvSpPr>
        <p:spPr>
          <a:xfrm>
            <a:off x="6115836" y="3700843"/>
            <a:ext cx="5557473" cy="369332"/>
          </a:xfrm>
          <a:prstGeom prst="rect">
            <a:avLst/>
          </a:prstGeom>
          <a:noFill/>
        </p:spPr>
        <p:txBody>
          <a:bodyPr wrap="square" rtlCol="0">
            <a:spAutoFit/>
          </a:bodyPr>
          <a:lstStyle/>
          <a:p>
            <a:r>
              <a:rPr lang="en-US" b="1" dirty="0"/>
              <a:t>Reward matrices </a:t>
            </a: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9" name="Arrow: Up-Down 8">
            <a:extLst>
              <a:ext uri="{FF2B5EF4-FFF2-40B4-BE49-F238E27FC236}">
                <a16:creationId xmlns:a16="http://schemas.microsoft.com/office/drawing/2014/main" id="{86CC076E-D761-6A2C-47C4-DB766E6E4265}"/>
              </a:ext>
              <a:ext uri="{C183D7F6-B498-43B3-948B-1728B52AA6E4}">
                <adec:decorative xmlns:adec="http://schemas.microsoft.com/office/drawing/2017/decorative" val="1"/>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p:sp>
        <p:nvSpPr>
          <p:cNvPr id="25" name="Rectangle 24">
            <a:extLst>
              <a:ext uri="{FF2B5EF4-FFF2-40B4-BE49-F238E27FC236}">
                <a16:creationId xmlns:a16="http://schemas.microsoft.com/office/drawing/2014/main" id="{C56D3F75-4204-1CDD-1E40-8C625CC2370F}"/>
              </a:ext>
              <a:ext uri="{C183D7F6-B498-43B3-948B-1728B52AA6E4}">
                <adec:decorative xmlns:adec="http://schemas.microsoft.com/office/drawing/2017/decorative" val="1"/>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dirty="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dirty="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100</m:t>
                                </m:r>
                              </m:oMath>
                            </m:oMathPara>
                          </a14:m>
                          <a:endParaRPr dirty="0"/>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p:sp>
        <p:nvSpPr>
          <p:cNvPr id="3" name="Arrow: Up-Down 2">
            <a:extLst>
              <a:ext uri="{FF2B5EF4-FFF2-40B4-BE49-F238E27FC236}">
                <a16:creationId xmlns:a16="http://schemas.microsoft.com/office/drawing/2014/main" id="{776E9572-05A5-EA5C-0474-006E8FD9D045}"/>
              </a:ext>
              <a:ext uri="{C183D7F6-B498-43B3-948B-1728B52AA6E4}">
                <adec:decorative xmlns:adec="http://schemas.microsoft.com/office/drawing/2017/decorative" val="1"/>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18" grpId="0"/>
      <p:bldP spid="23" grpId="0"/>
      <p:bldP spid="21" grpId="0"/>
      <p:bldP spid="8" grpId="0" animBg="1"/>
      <p:bldP spid="24" grpId="0"/>
      <p:bldP spid="20" grpId="0"/>
      <p:bldP spid="22" grpId="0"/>
      <p:bldP spid="31" grpId="0"/>
      <p:bldP spid="9" grpId="0" animBg="1"/>
      <p:bldP spid="10" grpId="0" animBg="1"/>
      <p:bldP spid="25" grpId="0" animBg="1"/>
      <p:bldP spid="3" grpId="0" animBg="1"/>
      <p:bldP spid="2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 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0"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 wait, 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p:pic>
        <p:nvPicPr>
          <p:cNvPr id="7" name="Picture 6" descr="Recycling robot MDP (Sutton and Barto Example 3.3), as a table and a transition graph. Table rows (s, a, s′, p(s′|s,a), r(s,a,s′)): high, search, high, alpha, r_search; high, search, low, 1 − alpha, r_search; low, search, high, 1 − beta, −3; low, search, low, beta, r_search; high, wait, high, 1, r_wait; high, wait, low, 0, none; low, wait, high, 0, none; low, wait, low, 1, r_wait; low, recharge, high, 1, 0; low, recharge, low, 0, none. The graph shows states high and low: wait loops back to the same state with probability 1 and reward r_wait; search from high stays high with alpha or drops to low with 1 − alpha, both with r_search; search from low stays low with beta and r_search, or runs out of battery with 1 − beta, is rescued and returns to high with reward −3; recharge moves low to high with probability 1 and reward 0.">
            <a:extLst>
              <a:ext uri="{FF2B5EF4-FFF2-40B4-BE49-F238E27FC236}">
                <a16:creationId xmlns:a16="http://schemas.microsoft.com/office/drawing/2014/main" id="{BC0AD28F-E684-471B-3861-2B9DDC870C8C}"/>
              </a:ext>
            </a:extLst>
          </p:cNvPr>
          <p:cNvPicPr>
            <a:picLocks noChangeAspect="1"/>
          </p:cNvPicPr>
          <p:nvPr/>
        </p:nvPicPr>
        <p:blipFill>
          <a:blip r:embed="rId4"/>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 uri="{C183D7F6-B498-43B3-948B-1728B52AA6E4}">
                    <adec:decorative xmlns:adec="http://schemas.microsoft.com/office/drawing/2017/decorative" val="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5"/>
                <a:stretch>
                  <a:fillRect t="-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 uri="{C183D7F6-B498-43B3-948B-1728B52AA6E4}">
                    <adec:decorative xmlns:adec="http://schemas.microsoft.com/office/drawing/2017/decorative" val="1"/>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6"/>
                <a:stretch>
                  <a:fillRect b="-8696"/>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 uri="{C183D7F6-B498-43B3-948B-1728B52AA6E4}">
                <adec:decorative xmlns:adec="http://schemas.microsoft.com/office/drawing/2017/decorative" val="1"/>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pic>
        <p:nvPicPr>
          <p:cNvPr id="1026"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sz="1600" dirty="0"/>
              <a:t>2. Complete the following entries in the model as a table</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Tree>
    <p:extLst>
      <p:ext uri="{BB962C8B-B14F-4D97-AF65-F5344CB8AC3E}">
        <p14:creationId xmlns:p14="http://schemas.microsoft.com/office/powerpoint/2010/main" val="2810276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775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of possible rewards: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marL="457200" lvl="1" indent="0">
                  <a:buNone/>
                </a:pPr>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state.</a:t>
                </a:r>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769990" cy="1240221"/>
              </a:xfrm>
              <a:prstGeom prst="wedgeRoundRectCallout">
                <a:avLst>
                  <a:gd name="adj1" fmla="val -150518"/>
                  <a:gd name="adj2" fmla="val -6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immediate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769990" cy="1240221"/>
              </a:xfrm>
              <a:prstGeom prst="wedgeRoundRectCallout">
                <a:avLst>
                  <a:gd name="adj1" fmla="val -150518"/>
                  <a:gd name="adj2" fmla="val -697"/>
                  <a:gd name="adj3" fmla="val 16667"/>
                </a:avLst>
              </a:prstGeom>
              <a:blipFill>
                <a:blip r:embed="rId3"/>
                <a:stretch>
                  <a:fillRect t="-3382" b="-8213"/>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used when rewards now are more important than rewards received later. Continuing tasks often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p:sp>
        <p:nvSpPr>
          <p:cNvPr id="4" name="Arrow: Up-Down 3">
            <a:extLst>
              <a:ext uri="{FF2B5EF4-FFF2-40B4-BE49-F238E27FC236}">
                <a16:creationId xmlns:a16="http://schemas.microsoft.com/office/drawing/2014/main" id="{DAAFA24E-C804-27B5-6665-EAD8417E3B85}"/>
              </a:ext>
              <a:ext uri="{C183D7F6-B498-43B3-948B-1728B52AA6E4}">
                <adec:decorative xmlns:adec="http://schemas.microsoft.com/office/drawing/2017/decorative" val="1"/>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F150674-B589-14B3-4B4E-68E61A61ACA6}"/>
              </a:ext>
              <a:ext uri="{C183D7F6-B498-43B3-948B-1728B52AA6E4}">
                <adec:decorative xmlns:adec="http://schemas.microsoft.com/office/drawing/2017/decorative" val="1"/>
              </a:ext>
            </a:extLst>
          </p:cNvPr>
          <p:cNvGrpSpPr/>
          <p:nvPr/>
        </p:nvGrpSpPr>
        <p:grpSpPr>
          <a:xfrm>
            <a:off x="1382486" y="3682728"/>
            <a:ext cx="4028964" cy="2874444"/>
            <a:chOff x="1457436" y="3555313"/>
            <a:chExt cx="4028964" cy="2874444"/>
          </a:xfrm>
        </p:grpSpPr>
        <p:pic>
          <p:nvPicPr>
            <p:cNvPr id="4" name="Picture 3"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F18C5C48-3098-9594-2776-5636A54D99D6}"/>
                </a:ext>
              </a:extLst>
            </p:cNvPr>
            <p:cNvPicPr>
              <a:picLocks noChangeAspect="1"/>
            </p:cNvPicPr>
            <p:nvPr/>
          </p:nvPicPr>
          <p:blipFill>
            <a:blip r:embed="rId4"/>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423952"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mc:Choice xmlns:a14="http://schemas.microsoft.com/office/drawing/2010/main"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2143018501"/>
                  </p:ext>
                </p:extLst>
              </p:nvPr>
            </p:nvGraphicFramePr>
            <p:xfrm>
              <a:off x="7254632" y="4452284"/>
              <a:ext cx="2179300" cy="1483360"/>
            </p:xfrm>
            <a:graphic>
              <a:graphicData uri="http://schemas.openxmlformats.org/drawingml/2006/table">
                <a:tbl>
                  <a:tblPr firstRow="1" bandRow="1">
                    <a:tableStyleId>{93296810-A885-4BE3-A3E7-6D5BEEA58F35}</a:tableStyleId>
                  </a:tblPr>
                  <a:tblGrid>
                    <a:gridCol w="600918">
                      <a:extLst>
                        <a:ext uri="{9D8B030D-6E8A-4147-A177-3AD203B41FA5}">
                          <a16:colId xmlns:a16="http://schemas.microsoft.com/office/drawing/2014/main" val="3711460689"/>
                        </a:ext>
                      </a:extLst>
                    </a:gridCol>
                    <a:gridCol w="1578382">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2143018501"/>
                  </p:ext>
                </p:extLst>
              </p:nvPr>
            </p:nvGraphicFramePr>
            <p:xfrm>
              <a:off x="7254632" y="4452284"/>
              <a:ext cx="2179300" cy="1483360"/>
            </p:xfrm>
            <a:graphic>
              <a:graphicData uri="http://schemas.openxmlformats.org/drawingml/2006/table">
                <a:tbl>
                  <a:tblPr firstRow="1" bandRow="1">
                    <a:tableStyleId>{93296810-A885-4BE3-A3E7-6D5BEEA58F35}</a:tableStyleId>
                  </a:tblPr>
                  <a:tblGrid>
                    <a:gridCol w="600918">
                      <a:extLst>
                        <a:ext uri="{9D8B030D-6E8A-4147-A177-3AD203B41FA5}">
                          <a16:colId xmlns:a16="http://schemas.microsoft.com/office/drawing/2014/main" val="3711460689"/>
                        </a:ext>
                      </a:extLst>
                    </a:gridCol>
                    <a:gridCol w="1578382">
                      <a:extLst>
                        <a:ext uri="{9D8B030D-6E8A-4147-A177-3AD203B41FA5}">
                          <a16:colId xmlns:a16="http://schemas.microsoft.com/office/drawing/2014/main" val="2080107700"/>
                        </a:ext>
                      </a:extLst>
                    </a:gridCol>
                  </a:tblGrid>
                  <a:tr h="370840">
                    <a:tc>
                      <a:txBody>
                        <a:bodyPr/>
                        <a:lstStyle/>
                        <a:p>
                          <a:endParaRPr lang="en-US"/>
                        </a:p>
                      </a:txBody>
                      <a:tcPr>
                        <a:blipFill>
                          <a:blip r:embed="rId5"/>
                          <a:stretch>
                            <a:fillRect l="-1010" t="-1639" r="-265657" b="-303279"/>
                          </a:stretch>
                        </a:blipFill>
                      </a:tcPr>
                    </a:tc>
                    <a:tc>
                      <a:txBody>
                        <a:bodyPr/>
                        <a:lstStyle/>
                        <a:p>
                          <a:endParaRPr lang="en-US"/>
                        </a:p>
                      </a:txBody>
                      <a:tcPr>
                        <a:blipFill>
                          <a:blip r:embed="rId5"/>
                          <a:stretch>
                            <a:fillRect l="-38610" t="-1639" r="-1544" b="-303279"/>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p:sp>
        <p:nvSpPr>
          <p:cNvPr id="14" name="TextBox 13">
            <a:extLst>
              <a:ext uri="{FF2B5EF4-FFF2-40B4-BE49-F238E27FC236}">
                <a16:creationId xmlns:a16="http://schemas.microsoft.com/office/drawing/2014/main" id="{CEE2199E-467E-965F-9A0D-FF1A3827EABA}"/>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pic>
        <p:nvPicPr>
          <p:cNvPr id="9" name="Picture 8"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7B7ABEF7-94BD-43E0-F530-D80303296060}"/>
              </a:ext>
            </a:extLst>
          </p:cNvPr>
          <p:cNvPicPr>
            <a:picLocks noChangeAspect="1"/>
          </p:cNvPicPr>
          <p:nvPr/>
        </p:nvPicPr>
        <p:blipFill>
          <a:blip r:embed="rId2"/>
          <a:stretch>
            <a:fillRect/>
          </a:stretch>
        </p:blipFill>
        <p:spPr>
          <a:xfrm>
            <a:off x="8420671" y="1092790"/>
            <a:ext cx="3026577" cy="2183810"/>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m:r>
                        <a:rPr lang="en-US" sz="1800" b="0" i="1" smtClean="0">
                          <a:latin typeface="Cambria Math" panose="02040503050406030204" pitchFamily="18" charset="0"/>
                        </a:rPr>
                        <m:t> </m:t>
                      </m:r>
                    </m:oMath>
                    <m:oMath>
                      <m:r>
                        <m:rPr>
                          <m:aln/>
                        </m:rP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i="0">
                          <a:latin typeface="Cambria Math" panose="02040503050406030204" pitchFamily="18" charset="0"/>
                          <a:ea typeface="Cambria Math" panose="02040503050406030204" pitchFamily="18" charset="0"/>
                        </a:rPr>
                        <m:t>for all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6" name="Picture 5" descr="Transition model: the intended move succeeds with probability 0.8; with probability 0.1 each the agent moves at right angles instead.">
            <a:extLst>
              <a:ext uri="{FF2B5EF4-FFF2-40B4-BE49-F238E27FC236}">
                <a16:creationId xmlns:a16="http://schemas.microsoft.com/office/drawing/2014/main" id="{CCD99BBE-5189-4E89-41B1-8189E7FE9589}"/>
              </a:ext>
            </a:extLst>
          </p:cNvPr>
          <p:cNvPicPr>
            <a:picLocks noChangeAspect="1"/>
          </p:cNvPicPr>
          <p:nvPr/>
        </p:nvPicPr>
        <p:blipFill rotWithShape="1">
          <a:blip r:embed="rId4"/>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3927777015"/>
                  </p:ext>
                </p:extLst>
              </p:nvPr>
            </p:nvGraphicFramePr>
            <p:xfrm>
              <a:off x="8784864" y="4153677"/>
              <a:ext cx="2662384" cy="2194560"/>
            </p:xfrm>
            <a:graphic>
              <a:graphicData uri="http://schemas.openxmlformats.org/drawingml/2006/table">
                <a:tbl>
                  <a:tblPr firstRow="1" bandRow="1">
                    <a:tableStyleId>{2D5ABB26-0587-4C30-8999-92F81FD0307C}</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
                                <m:r>
                                  <a:rPr lang="en-US" sz="1600" b="0"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3927777015"/>
                  </p:ext>
                </p:extLst>
              </p:nvPr>
            </p:nvGraphicFramePr>
            <p:xfrm>
              <a:off x="8784864" y="4153677"/>
              <a:ext cx="2662384" cy="2194560"/>
            </p:xfrm>
            <a:graphic>
              <a:graphicData uri="http://schemas.openxmlformats.org/drawingml/2006/table">
                <a:tbl>
                  <a:tblPr firstRow="1" bandRow="1">
                    <a:tableStyleId>{2D5ABB26-0587-4C30-8999-92F81FD0307C}</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5"/>
                          <a:stretch>
                            <a:fillRect t="-3448" r="-224615" b="-510345"/>
                          </a:stretch>
                        </a:blipFill>
                      </a:tcPr>
                    </a:tc>
                    <a:tc>
                      <a:txBody>
                        <a:bodyPr/>
                        <a:lstStyle/>
                        <a:p>
                          <a:endParaRPr lang="en-US"/>
                        </a:p>
                      </a:txBody>
                      <a:tcPr>
                        <a:blipFill>
                          <a:blip r:embed="rId5"/>
                          <a:stretch>
                            <a:fillRect l="-120370" t="-3448" r="-170370" b="-510345"/>
                          </a:stretch>
                        </a:blipFill>
                      </a:tcPr>
                    </a:tc>
                    <a:tc>
                      <a:txBody>
                        <a:bodyPr/>
                        <a:lstStyle/>
                        <a:p>
                          <a:endParaRPr lang="en-US"/>
                        </a:p>
                      </a:txBody>
                      <a:tcPr>
                        <a:blipFill>
                          <a:blip r:embed="rId5"/>
                          <a:stretch>
                            <a:fillRect l="-129348" t="-3448" b="-510345"/>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a:xfrm>
                <a:off x="838200" y="1397330"/>
                <a:ext cx="10515600" cy="759073"/>
              </a:xfrm>
            </p:spPr>
            <p:txBody>
              <a:bodyPr>
                <a:normAutofit fontScale="92500" lnSpcReduction="1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xfrm>
                <a:off x="838200" y="1397330"/>
                <a:ext cx="10515600" cy="759073"/>
              </a:xfrm>
              <a:blipFill>
                <a:blip r:embed="rId2"/>
                <a:stretch>
                  <a:fillRect l="-928" t="-16000" b="-176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84F6740-43E2-F7E2-9987-EF4EE55794F4}"/>
                  </a:ext>
                </a:extLst>
              </p:cNvPr>
              <p:cNvSpPr txBox="1"/>
              <p:nvPr/>
            </p:nvSpPr>
            <p:spPr>
              <a:xfrm>
                <a:off x="1322665" y="2291212"/>
                <a:ext cx="9546670" cy="24266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2400" dirty="0"/>
                  <a:t>A simple Monte Carlo method: </a:t>
                </a:r>
                <a:r>
                  <a:rPr lang="en-US" sz="2400" b="1" dirty="0"/>
                  <a:t>Sample-average method</a:t>
                </a:r>
              </a:p>
              <a:p>
                <a:endParaRPr lang="en-US" sz="2400" dirty="0"/>
              </a:p>
              <a:p>
                <a:pPr marL="800100" lvl="1" indent="-342900">
                  <a:buFont typeface="Arial" panose="020B0604020202020204" pitchFamily="34" charset="0"/>
                  <a:buChar char="•"/>
                </a:pPr>
                <a:r>
                  <a:rPr lang="en-US" sz="2400" dirty="0"/>
                  <a:t>Follow policy </a:t>
                </a:r>
                <a14:m>
                  <m:oMath xmlns:m="http://schemas.openxmlformats.org/officeDocument/2006/math">
                    <m:r>
                      <a:rPr lang="en-US" sz="2400" i="1" dirty="0">
                        <a:latin typeface="Cambria Math" panose="02040503050406030204" pitchFamily="18" charset="0"/>
                      </a:rPr>
                      <m:t>𝜋</m:t>
                    </m:r>
                  </m:oMath>
                </a14:m>
                <a:r>
                  <a:rPr lang="en-US" sz="2400" dirty="0"/>
                  <a:t> for a long time (e.g., sample many episodes).</a:t>
                </a:r>
              </a:p>
              <a:p>
                <a:pPr marL="800100" lvl="1" indent="-342900">
                  <a:buFont typeface="Arial" panose="020B0604020202020204" pitchFamily="34" charset="0"/>
                  <a:buChar char="•"/>
                </a:pPr>
                <a:r>
                  <a:rPr lang="en-US" sz="2400" dirty="0"/>
                  <a:t>Maintain an average </a:t>
                </a:r>
                <a14:m>
                  <m:oMath xmlns:m="http://schemas.openxmlformats.org/officeDocument/2006/math">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of the actual returns that have followed that state. Update the average at each visit of a state.</a:t>
                </a:r>
              </a:p>
              <a:p>
                <a:pPr marL="800100" lvl="1" indent="-342900">
                  <a:buFont typeface="Arial" panose="020B0604020202020204" pitchFamily="34" charset="0"/>
                  <a:buChar char="•"/>
                </a:pPr>
                <a:r>
                  <a:rPr lang="pt-BR" sz="2400" dirty="0"/>
                  <a:t>Convergence: </a:t>
                </a:r>
                <a14:m>
                  <m:oMath xmlns:m="http://schemas.openxmlformats.org/officeDocument/2006/math">
                    <m:func>
                      <m:funcPr>
                        <m:ctrlPr>
                          <a:rPr lang="pt-BR" sz="2400" i="1">
                            <a:latin typeface="Cambria Math" panose="02040503050406030204" pitchFamily="18" charset="0"/>
                          </a:rPr>
                        </m:ctrlPr>
                      </m:funcPr>
                      <m:fName>
                        <m:limLow>
                          <m:limLowPr>
                            <m:ctrlPr>
                              <a:rPr lang="pt-BR" sz="2400">
                                <a:latin typeface="Cambria Math" panose="02040503050406030204" pitchFamily="18" charset="0"/>
                              </a:rPr>
                            </m:ctrlPr>
                          </m:limLowPr>
                          <m:e>
                            <m:r>
                              <m:rPr>
                                <m:sty m:val="p"/>
                              </m:rPr>
                              <a:rPr lang="pt-BR" sz="2400">
                                <a:latin typeface="Cambria Math" panose="02040503050406030204" pitchFamily="18" charset="0"/>
                              </a:rPr>
                              <m:t>lim</m:t>
                            </m:r>
                          </m:e>
                          <m:lim>
                            <m:r>
                              <a:rPr lang="en-US" sz="2400" i="1">
                                <a:latin typeface="Cambria Math" panose="02040503050406030204" pitchFamily="18" charset="0"/>
                              </a:rPr>
                              <m:t>𝑣𝑖𝑠𝑖𝑡𝑠</m:t>
                            </m:r>
                            <m:r>
                              <a:rPr lang="pt-BR" sz="2400" i="1">
                                <a:latin typeface="Cambria Math" panose="02040503050406030204" pitchFamily="18" charset="0"/>
                              </a:rPr>
                              <m:t>→∞</m:t>
                            </m:r>
                          </m:lim>
                        </m:limLow>
                      </m:fName>
                      <m:e>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e>
                    </m:func>
                  </m:oMath>
                </a14:m>
                <a:r>
                  <a:rPr lang="en-US" sz="2400" dirty="0"/>
                  <a:t> </a:t>
                </a:r>
              </a:p>
            </p:txBody>
          </p:sp>
        </mc:Choice>
        <mc:Fallback xmlns="">
          <p:sp>
            <p:nvSpPr>
              <p:cNvPr id="9" name="TextBox 8">
                <a:extLst>
                  <a:ext uri="{FF2B5EF4-FFF2-40B4-BE49-F238E27FC236}">
                    <a16:creationId xmlns:a16="http://schemas.microsoft.com/office/drawing/2014/main" id="{C84F6740-43E2-F7E2-9987-EF4EE55794F4}"/>
                  </a:ext>
                </a:extLst>
              </p:cNvPr>
              <p:cNvSpPr txBox="1">
                <a:spLocks noRot="1" noChangeAspect="1" noMove="1" noResize="1" noEditPoints="1" noAdjustHandles="1" noChangeArrowheads="1" noChangeShapeType="1" noTextEdit="1"/>
              </p:cNvSpPr>
              <p:nvPr/>
            </p:nvSpPr>
            <p:spPr>
              <a:xfrm>
                <a:off x="1322665" y="2291212"/>
                <a:ext cx="9546670" cy="2426626"/>
              </a:xfrm>
              <a:prstGeom prst="rect">
                <a:avLst/>
              </a:prstGeom>
              <a:blipFill>
                <a:blip r:embed="rId3"/>
                <a:stretch>
                  <a:fillRect l="-956" t="-1746" r="-319" b="-2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F45019AC-14D2-0ECA-3DDE-75F3241ED370}"/>
                  </a:ext>
                </a:extLst>
              </p:cNvPr>
              <p:cNvSpPr txBox="1">
                <a:spLocks/>
              </p:cNvSpPr>
              <p:nvPr/>
            </p:nvSpPr>
            <p:spPr>
              <a:xfrm>
                <a:off x="905107" y="4910997"/>
                <a:ext cx="10515600" cy="167418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smtClean="0">
                        <a:latin typeface="Cambria Math" panose="02040503050406030204" pitchFamily="18" charset="0"/>
                      </a:rPr>
                      <m:t>(</m:t>
                    </m:r>
                    <m:r>
                      <m:rPr>
                        <m:sty m:val="p"/>
                      </m:rPr>
                      <a:rPr lang="en-US" smtClean="0">
                        <a:latin typeface="Cambria Math" panose="02040503050406030204" pitchFamily="18" charset="0"/>
                      </a:rPr>
                      <m:t>s</m:t>
                    </m:r>
                    <m:r>
                      <a:rPr lang="en-US" smtClean="0">
                        <a:latin typeface="Cambria Math" panose="02040503050406030204" pitchFamily="18" charset="0"/>
                      </a:rPr>
                      <m:t>,</m:t>
                    </m:r>
                    <m:r>
                      <m:rPr>
                        <m:sty m:val="p"/>
                      </m:rPr>
                      <a:rPr lang="en-US" smtClean="0">
                        <a:latin typeface="Cambria Math" panose="02040503050406030204" pitchFamily="18" charset="0"/>
                      </a:rPr>
                      <m:t>a</m:t>
                    </m:r>
                    <m:r>
                      <a:rPr lang="en-US"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e>
                        </m:d>
                        <m:r>
                          <a:rPr lang="en-US" i="1">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r>
                  <a:rPr lang="en-US" dirty="0"/>
                  <a:t>Issue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12" name="Content Placeholder 2">
                <a:extLst>
                  <a:ext uri="{FF2B5EF4-FFF2-40B4-BE49-F238E27FC236}">
                    <a16:creationId xmlns:a16="http://schemas.microsoft.com/office/drawing/2014/main" id="{F45019AC-14D2-0ECA-3DDE-75F3241ED370}"/>
                  </a:ext>
                </a:extLst>
              </p:cNvPr>
              <p:cNvSpPr txBox="1">
                <a:spLocks noRot="1" noChangeAspect="1" noMove="1" noResize="1" noEditPoints="1" noAdjustHandles="1" noChangeArrowheads="1" noChangeShapeType="1" noTextEdit="1"/>
              </p:cNvSpPr>
              <p:nvPr/>
            </p:nvSpPr>
            <p:spPr>
              <a:xfrm>
                <a:off x="905107" y="4910997"/>
                <a:ext cx="10515600" cy="1674186"/>
              </a:xfrm>
              <a:prstGeom prst="rect">
                <a:avLst/>
              </a:prstGeom>
              <a:blipFill>
                <a:blip r:embed="rId4"/>
                <a:stretch>
                  <a:fillRect l="-870" t="-4745"/>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vertJc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for  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 all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 uri="{C183D7F6-B498-43B3-948B-1728B52AA6E4}">
                <adec:decorative xmlns:adec="http://schemas.microsoft.com/office/drawing/2017/decorative" val="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8767072" y="1665052"/>
                <a:ext cx="3322552" cy="544888"/>
              </a:xfrm>
              <a:prstGeom prst="wedgeRoundRectCallout">
                <a:avLst>
                  <a:gd name="adj1" fmla="val -71967"/>
                  <a:gd name="adj2" fmla="val -166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𝐺</m:t>
                        </m:r>
                      </m:e>
                      <m:sub>
                        <m:r>
                          <a:rPr lang="en-US" sz="1600" i="1">
                            <a:latin typeface="Cambria Math" panose="02040503050406030204" pitchFamily="18" charset="0"/>
                          </a:rPr>
                          <m:t>𝑡</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+1 </m:t>
                        </m:r>
                      </m:sub>
                    </m:sSub>
                    <m:r>
                      <a:rPr lang="en-US" sz="1600" i="1">
                        <a:latin typeface="Cambria Math" panose="02040503050406030204" pitchFamily="18" charset="0"/>
                      </a:rPr>
                      <m:t>+</m:t>
                    </m:r>
                    <m:r>
                      <a:rPr lang="en-US" sz="1600" i="1">
                        <a:latin typeface="Cambria Math" panose="02040503050406030204" pitchFamily="18" charset="0"/>
                      </a:rPr>
                      <m:t>𝛾</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+2 </m:t>
                        </m:r>
                      </m:sub>
                    </m:sSub>
                    <m:r>
                      <a:rPr lang="en-US" sz="1600" b="0" i="1" smtClean="0">
                        <a:latin typeface="Cambria Math" panose="02040503050406030204" pitchFamily="18" charset="0"/>
                      </a:rPr>
                      <m:t>+…</m:t>
                    </m:r>
                    <m:r>
                      <a:rPr lang="en-US" sz="1600" i="1">
                        <a:latin typeface="Cambria Math" panose="02040503050406030204" pitchFamily="18" charset="0"/>
                      </a:rPr>
                      <m:t> </m:t>
                    </m:r>
                  </m:oMath>
                </a14:m>
                <a:r>
                  <a:rPr lang="en-US" sz="1600" dirty="0"/>
                  <a:t> </a:t>
                </a:r>
                <a:br>
                  <a:rPr lang="en-US" sz="1600" dirty="0"/>
                </a:br>
                <a:r>
                  <a:rPr lang="en-US" sz="1600" dirty="0"/>
                  <a:t>This considers complete episodes.</a:t>
                </a:r>
              </a:p>
            </p:txBody>
          </p:sp>
        </mc:Choice>
        <mc:Fallback xmlns="">
          <p:sp>
            <p:nvSpPr>
              <p:cNvPr id="22" name="Speech Bubble: Rectangle with Corners Rounded 21">
                <a:extLst>
                  <a:ext uri="{FF2B5EF4-FFF2-40B4-BE49-F238E27FC236}">
                    <a16:creationId xmlns:a16="http://schemas.microsoft.com/office/drawing/2014/main" id="{7EEB7279-5D4B-CA8A-D5E9-58A220604DB9}"/>
                  </a:ext>
                </a:extLst>
              </p:cNvPr>
              <p:cNvSpPr>
                <a:spLocks noRot="1" noChangeAspect="1" noMove="1" noResize="1" noEditPoints="1" noAdjustHandles="1" noChangeArrowheads="1" noChangeShapeType="1" noTextEdit="1"/>
              </p:cNvSpPr>
              <p:nvPr/>
            </p:nvSpPr>
            <p:spPr>
              <a:xfrm>
                <a:off x="8767072" y="1665052"/>
                <a:ext cx="3322552" cy="544888"/>
              </a:xfrm>
              <a:prstGeom prst="wedgeRoundRectCallout">
                <a:avLst>
                  <a:gd name="adj1" fmla="val -71967"/>
                  <a:gd name="adj2" fmla="val -16681"/>
                  <a:gd name="adj3" fmla="val 16667"/>
                </a:avLst>
              </a:prstGeom>
              <a:blipFill>
                <a:blip r:embed="rId4"/>
                <a:stretch>
                  <a:fillRect b="-13978"/>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6" name="Group 5">
            <a:extLst>
              <a:ext uri="{FF2B5EF4-FFF2-40B4-BE49-F238E27FC236}">
                <a16:creationId xmlns:a16="http://schemas.microsoft.com/office/drawing/2014/main" id="{48CF35C4-546D-3C1C-D788-0A9F33326540}"/>
              </a:ext>
              <a:ext uri="{C183D7F6-B498-43B3-948B-1728B52AA6E4}">
                <adec:decorative xmlns:adec="http://schemas.microsoft.com/office/drawing/2017/decorative" val="1"/>
              </a:ext>
            </a:extLst>
          </p:cNvPr>
          <p:cNvGrpSpPr/>
          <p:nvPr/>
        </p:nvGrpSpPr>
        <p:grpSpPr>
          <a:xfrm>
            <a:off x="8965554" y="2304263"/>
            <a:ext cx="3026577" cy="2888685"/>
            <a:chOff x="8965554" y="2304263"/>
            <a:chExt cx="3026577" cy="2888685"/>
          </a:xfrm>
        </p:grpSpPr>
        <p:pic>
          <p:nvPicPr>
            <p:cNvPr id="5" name="Picture 4" descr="Transition model: the intended move succeeds with probability 0.8; with probability 0.1 each the agent moves at right angles instead.">
              <a:extLst>
                <a:ext uri="{FF2B5EF4-FFF2-40B4-BE49-F238E27FC236}">
                  <a16:creationId xmlns:a16="http://schemas.microsoft.com/office/drawing/2014/main" id="{0B389E71-8B70-F7FA-E207-CDE2A09665CC}"/>
                </a:ext>
              </a:extLst>
            </p:cNvPr>
            <p:cNvPicPr>
              <a:picLocks noChangeAspect="1"/>
            </p:cNvPicPr>
            <p:nvPr/>
          </p:nvPicPr>
          <p:blipFill rotWithShape="1">
            <a:blip r:embed="rId5"/>
            <a:srcRect l="60759" t="3531" r="13453" b="53102"/>
            <a:stretch/>
          </p:blipFill>
          <p:spPr>
            <a:xfrm>
              <a:off x="10958361" y="2304263"/>
              <a:ext cx="918950" cy="863482"/>
            </a:xfrm>
            <a:prstGeom prst="rect">
              <a:avLst/>
            </a:prstGeom>
          </p:spPr>
        </p:pic>
        <p:grpSp>
          <p:nvGrpSpPr>
            <p:cNvPr id="33" name="Group 32">
              <a:extLst>
                <a:ext uri="{FF2B5EF4-FFF2-40B4-BE49-F238E27FC236}">
                  <a16:creationId xmlns:a16="http://schemas.microsoft.com/office/drawing/2014/main" id="{0056F82B-BE54-C59A-E83A-64BEC3F8FEDE}"/>
                </a:ext>
              </a:extLst>
            </p:cNvPr>
            <p:cNvGrpSpPr/>
            <p:nvPr/>
          </p:nvGrpSpPr>
          <p:grpSpPr>
            <a:xfrm>
              <a:off x="8965554" y="3009138"/>
              <a:ext cx="3026577" cy="2183810"/>
              <a:chOff x="8965554" y="3009138"/>
              <a:chExt cx="3026577" cy="2183810"/>
            </a:xfrm>
          </p:grpSpPr>
          <p:pic>
            <p:nvPicPr>
              <p:cNvPr id="25" name="Picture 24"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4EE65DF9-D9E9-86A8-5DFA-F765C201E2FA}"/>
                  </a:ext>
                </a:extLst>
              </p:cNvPr>
              <p:cNvPicPr>
                <a:picLocks noChangeAspect="1"/>
              </p:cNvPicPr>
              <p:nvPr/>
            </p:nvPicPr>
            <p:blipFill>
              <a:blip r:embed="rId6"/>
              <a:stretch>
                <a:fillRect/>
              </a:stretch>
            </p:blipFill>
            <p:spPr>
              <a:xfrm>
                <a:off x="8965554" y="3009138"/>
                <a:ext cx="3026577" cy="2183810"/>
              </a:xfrm>
              <a:prstGeom prst="rect">
                <a:avLst/>
              </a:prstGeom>
            </p:spPr>
          </p:pic>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089363" y="3634662"/>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r>
                                <a:rPr lang="en-US" sz="1400" b="1" i="1" smtClean="0">
                                  <a:solidFill>
                                    <a:schemeClr val="accent3"/>
                                  </a:solidFill>
                                  <a:latin typeface="Cambria Math" panose="02040503050406030204" pitchFamily="18" charset="0"/>
                                  <a:ea typeface="Cambria Math" panose="02040503050406030204" pitchFamily="18" charset="0"/>
                                </a:rPr>
                                <m:t>+</m:t>
                              </m:r>
                              <m:r>
                                <a:rPr lang="en-US" sz="1400" b="1" i="1" smtClean="0">
                                  <a:solidFill>
                                    <a:schemeClr val="accent3"/>
                                  </a:solidFill>
                                  <a:latin typeface="Cambria Math" panose="02040503050406030204" pitchFamily="18" charset="0"/>
                                  <a:ea typeface="Cambria Math" panose="02040503050406030204" pitchFamily="18" charset="0"/>
                                </a:rPr>
                                <m:t>𝟏</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089363" y="3634662"/>
                    <a:ext cx="1158349"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9777915" y="4256239"/>
                    <a:ext cx="1034033" cy="307777"/>
                  </a:xfrm>
                  <a:prstGeom prst="rect">
                    <a:avLst/>
                  </a:prstGeom>
                  <a:noFill/>
                </p:spPr>
                <p:txBody>
                  <a:bodyPr wrap="square">
                    <a:spAutoFit/>
                  </a:bodyPr>
                  <a:lstStyle/>
                  <a:p>
                    <a:pPr/>
                    <a14:m>
                      <m:oMathPara xmlns:m="http://schemas.openxmlformats.org/officeDocument/2006/math">
                        <m:oMath>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𝒗</m:t>
                              </m:r>
                            </m:e>
                            <m:sub>
                              <m:r>
                                <a:rPr lang="en-US" sz="1400" b="1" i="1">
                                  <a:solidFill>
                                    <a:schemeClr val="accent3"/>
                                  </a:solidFill>
                                  <a:latin typeface="Cambria Math" panose="02040503050406030204" pitchFamily="18" charset="0"/>
                                  <a:ea typeface="Cambria Math" panose="02040503050406030204" pitchFamily="18" charset="0"/>
                                </a:rPr>
                                <m:t>𝝅</m:t>
                              </m:r>
                            </m:sub>
                          </m:sSub>
                          <m:r>
                            <a:rPr lang="en-US" sz="1400" b="1" i="1">
                              <a:solidFill>
                                <a:schemeClr val="accent3"/>
                              </a:solidFill>
                              <a:latin typeface="Cambria Math" panose="02040503050406030204" pitchFamily="18" charset="0"/>
                              <a:ea typeface="Cambria Math" panose="02040503050406030204" pitchFamily="18" charset="0"/>
                            </a:rPr>
                            <m:t>(</m:t>
                          </m:r>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𝒔</m:t>
                              </m:r>
                            </m:e>
                            <m:sub>
                              <m:r>
                                <a:rPr lang="en-US" sz="1400" b="1" i="1">
                                  <a:solidFill>
                                    <a:schemeClr val="accent3"/>
                                  </a:solidFill>
                                  <a:latin typeface="Cambria Math" panose="02040503050406030204" pitchFamily="18" charset="0"/>
                                  <a:ea typeface="Cambria Math" panose="02040503050406030204" pitchFamily="18" charset="0"/>
                                </a:rPr>
                                <m:t>𝒕</m:t>
                              </m:r>
                              <m:r>
                                <a:rPr lang="en-US" sz="1400" b="1" i="1">
                                  <a:solidFill>
                                    <a:schemeClr val="accent3"/>
                                  </a:solidFill>
                                  <a:latin typeface="Cambria Math" panose="02040503050406030204" pitchFamily="18" charset="0"/>
                                  <a:ea typeface="Cambria Math" panose="02040503050406030204" pitchFamily="18" charset="0"/>
                                </a:rPr>
                                <m:t>+</m:t>
                              </m:r>
                              <m:r>
                                <a:rPr lang="en-US" sz="1400" b="1" i="1">
                                  <a:solidFill>
                                    <a:schemeClr val="accent3"/>
                                  </a:solidFill>
                                  <a:latin typeface="Cambria Math" panose="02040503050406030204" pitchFamily="18" charset="0"/>
                                  <a:ea typeface="Cambria Math" panose="02040503050406030204" pitchFamily="18" charset="0"/>
                                </a:rPr>
                                <m:t>𝟏</m:t>
                              </m:r>
                            </m:sub>
                          </m:sSub>
                          <m:r>
                            <a:rPr lang="en-US" sz="1400" b="1" i="1">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9777915" y="4256239"/>
                    <a:ext cx="1034033" cy="307777"/>
                  </a:xfrm>
                  <a:prstGeom prst="rect">
                    <a:avLst/>
                  </a:prstGeom>
                  <a:blipFill>
                    <a:blip r:embed="rId8"/>
                    <a:stretch>
                      <a:fillRect b="-58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3F8B22C-9470-087B-D747-0CE308C86113}"/>
                  </a:ext>
                </a:extLst>
              </p:cNvPr>
              <p:cNvSpPr txBox="1"/>
              <p:nvPr/>
            </p:nvSpPr>
            <p:spPr>
              <a:xfrm>
                <a:off x="9117854" y="4602688"/>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9" name="TextBox 8">
                <a:extLst>
                  <a:ext uri="{FF2B5EF4-FFF2-40B4-BE49-F238E27FC236}">
                    <a16:creationId xmlns:a16="http://schemas.microsoft.com/office/drawing/2014/main" id="{13F8B22C-9470-087B-D747-0CE308C86113}"/>
                  </a:ext>
                </a:extLst>
              </p:cNvPr>
              <p:cNvSpPr txBox="1">
                <a:spLocks noRot="1" noChangeAspect="1" noMove="1" noResize="1" noEditPoints="1" noAdjustHandles="1" noChangeArrowheads="1" noChangeShapeType="1" noTextEdit="1"/>
              </p:cNvSpPr>
              <p:nvPr/>
            </p:nvSpPr>
            <p:spPr>
              <a:xfrm>
                <a:off x="9117854" y="4602688"/>
                <a:ext cx="1158349" cy="307777"/>
              </a:xfrm>
              <a:prstGeom prst="rect">
                <a:avLst/>
              </a:prstGeom>
              <a:blipFill>
                <a:blip r:embed="rId9"/>
                <a:stretch>
                  <a:fillRect b="-5882"/>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grpSp>
        <p:nvGrpSpPr>
          <p:cNvPr id="13" name="Group 12">
            <a:extLst>
              <a:ext uri="{FF2B5EF4-FFF2-40B4-BE49-F238E27FC236}">
                <a16:creationId xmlns:a16="http://schemas.microsoft.com/office/drawing/2014/main" id="{0C0D41D2-1EA5-07A4-B229-7F4CA508C68E}"/>
              </a:ext>
              <a:ext uri="{C183D7F6-B498-43B3-948B-1728B52AA6E4}">
                <adec:decorative xmlns:adec="http://schemas.microsoft.com/office/drawing/2017/decorative" val="1"/>
              </a:ext>
            </a:extLst>
          </p:cNvPr>
          <p:cNvGrpSpPr/>
          <p:nvPr/>
        </p:nvGrpSpPr>
        <p:grpSpPr>
          <a:xfrm>
            <a:off x="10018986" y="588158"/>
            <a:ext cx="1585171" cy="1191444"/>
            <a:chOff x="10452538" y="1502895"/>
            <a:chExt cx="1585171" cy="1191444"/>
          </a:xfrm>
        </p:grpSpPr>
        <p:sp>
          <p:nvSpPr>
            <p:cNvPr id="14" name="Oval 13">
              <a:extLst>
                <a:ext uri="{FF2B5EF4-FFF2-40B4-BE49-F238E27FC236}">
                  <a16:creationId xmlns:a16="http://schemas.microsoft.com/office/drawing/2014/main" id="{0F9C5211-79F0-B1EC-C049-809D873C6902}"/>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14D7A90B-B609-ACD1-4846-0F0C729F1FC2}"/>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24F7317-172E-6741-4462-A466CED056F0}"/>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24" name="TextBox 23">
                  <a:extLst>
                    <a:ext uri="{FF2B5EF4-FFF2-40B4-BE49-F238E27FC236}">
                      <a16:creationId xmlns:a16="http://schemas.microsoft.com/office/drawing/2014/main" id="{324F7317-172E-6741-4462-A466CED056F0}"/>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14"/>
                  <a:stretch>
                    <a:fillRect l="-4301" t="-4717" b="-15094"/>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8C347699-7AE4-70B6-68B3-8DFEE0895BD4}"/>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75589"/>
            <a:ext cx="7604234" cy="557914"/>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 uri="{C183D7F6-B498-43B3-948B-1728B52AA6E4}">
                <adec:decorative xmlns:adec="http://schemas.microsoft.com/office/drawing/2017/decorative" val="1"/>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77336"/>
              <a:ext cx="6491573" cy="1423954"/>
              <a:chOff x="2687521" y="2477336"/>
              <a:chExt cx="6491573" cy="1423954"/>
            </a:xfrm>
          </p:grpSpPr>
          <p:pic>
            <p:nvPicPr>
              <p:cNvPr id="7" name="Picture 6" descr="Backup diagram for choosing an action: from state s (open circle), actions a1, a2 and a3 (filled circles) are taken with probability pi(a|s). Labels mark v pi(s) at the root and q pi(s, a) at the action nodes.">
                <a:extLst>
                  <a:ext uri="{FF2B5EF4-FFF2-40B4-BE49-F238E27FC236}">
                    <a16:creationId xmlns:a16="http://schemas.microsoft.com/office/drawing/2014/main" id="{01FEB35D-DFC7-5C32-50AB-404166DACAC8}"/>
                  </a:ext>
                </a:extLst>
              </p:cNvPr>
              <p:cNvPicPr>
                <a:picLocks noChangeAspect="1"/>
              </p:cNvPicPr>
              <p:nvPr/>
            </p:nvPicPr>
            <p:blipFill>
              <a:blip r:embed="rId15"/>
              <a:stretch>
                <a:fillRect/>
              </a:stretch>
            </p:blipFill>
            <p:spPr>
              <a:xfrm>
                <a:off x="2687521" y="247733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 uri="{C183D7F6-B498-43B3-948B-1728B52AA6E4}">
                <adec:decorative xmlns:adec="http://schemas.microsoft.com/office/drawing/2017/decorative" val="1"/>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descr="Backup diagram for the state-action value: from state-action node s, a (filled circle), the environment gives expected rewards r1, r2, r3 and next states s′1, s′2, s′3 (open circles). Labels mark q pi(s, a) at the root and v pi(s′) at the next states.">
                <a:extLst>
                  <a:ext uri="{FF2B5EF4-FFF2-40B4-BE49-F238E27FC236}">
                    <a16:creationId xmlns:a16="http://schemas.microsoft.com/office/drawing/2014/main" id="{9F465D6B-D4C9-60BA-1DB8-CC3174C04898}"/>
                  </a:ext>
                </a:extLst>
              </p:cNvPr>
              <p:cNvPicPr>
                <a:picLocks noChangeAspect="1"/>
              </p:cNvPicPr>
              <p:nvPr/>
            </p:nvPicPr>
            <p:blipFill>
              <a:blip r:embed="rId16"/>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p:sp>
        <p:nvSpPr>
          <p:cNvPr id="14" name="Right Brace 13">
            <a:extLst>
              <a:ext uri="{FF2B5EF4-FFF2-40B4-BE49-F238E27FC236}">
                <a16:creationId xmlns:a16="http://schemas.microsoft.com/office/drawing/2014/main" id="{6B2AC310-6FB0-0C4D-8935-7E335B966CB2}"/>
              </a:ext>
              <a:ext uri="{C183D7F6-B498-43B3-948B-1728B52AA6E4}">
                <adec:decorative xmlns:adec="http://schemas.microsoft.com/office/drawing/2017/decorative" val="1"/>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1C9D19F8-38B2-66A9-EA73-B220AB2BF19E}"/>
              </a:ext>
              <a:ext uri="{C183D7F6-B498-43B3-948B-1728B52AA6E4}">
                <adec:decorative xmlns:adec="http://schemas.microsoft.com/office/drawing/2017/decorative" val="1"/>
              </a:ext>
            </a:extLst>
          </p:cNvPr>
          <p:cNvGrpSpPr/>
          <p:nvPr/>
        </p:nvGrpSpPr>
        <p:grpSpPr>
          <a:xfrm>
            <a:off x="10034751" y="569985"/>
            <a:ext cx="1585171" cy="1191444"/>
            <a:chOff x="10452538" y="1502895"/>
            <a:chExt cx="1585171" cy="1191444"/>
          </a:xfrm>
        </p:grpSpPr>
        <p:sp>
          <p:nvSpPr>
            <p:cNvPr id="7" name="Oval 6">
              <a:extLst>
                <a:ext uri="{FF2B5EF4-FFF2-40B4-BE49-F238E27FC236}">
                  <a16:creationId xmlns:a16="http://schemas.microsoft.com/office/drawing/2014/main" id="{C1B39F96-BEF8-3623-531E-0FF07248C7CA}"/>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2A996DB-90B4-49A8-0F2C-D34C8791D61C}"/>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02B9472-A42A-DCD6-1EC1-821E743D4E45}"/>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5" name="TextBox 14">
                  <a:extLst>
                    <a:ext uri="{FF2B5EF4-FFF2-40B4-BE49-F238E27FC236}">
                      <a16:creationId xmlns:a16="http://schemas.microsoft.com/office/drawing/2014/main" id="{D02B9472-A42A-DCD6-1EC1-821E743D4E45}"/>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4717" b="-15094"/>
                  </a:stretch>
                </a:blipFill>
              </p:spPr>
              <p:txBody>
                <a:bodyPr/>
                <a:lstStyle/>
                <a:p>
                  <a:r>
                    <a:rPr lang="en-US">
                      <a:noFill/>
                    </a:rPr>
                    <a:t> </a:t>
                  </a:r>
                </a:p>
              </p:txBody>
            </p:sp>
          </mc:Fallback>
        </mc:AlternateContent>
        <p:sp>
          <p:nvSpPr>
            <p:cNvPr id="16" name="Rectangle 15">
              <a:extLst>
                <a:ext uri="{FF2B5EF4-FFF2-40B4-BE49-F238E27FC236}">
                  <a16:creationId xmlns:a16="http://schemas.microsoft.com/office/drawing/2014/main" id="{CA33AF70-253D-0A8A-AE56-ABB06201D6CD}"/>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
        <p:nvSpPr>
          <p:cNvPr id="25" name="Right Brace 24">
            <a:extLst>
              <a:ext uri="{FF2B5EF4-FFF2-40B4-BE49-F238E27FC236}">
                <a16:creationId xmlns:a16="http://schemas.microsoft.com/office/drawing/2014/main" id="{7567AAC4-6EB3-F177-2905-2828125B165B}"/>
              </a:ext>
              <a:ext uri="{C183D7F6-B498-43B3-948B-1728B52AA6E4}">
                <adec:decorative xmlns:adec="http://schemas.microsoft.com/office/drawing/2017/decorative" val="1"/>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0" name="Right Brace 19">
            <a:extLst>
              <a:ext uri="{FF2B5EF4-FFF2-40B4-BE49-F238E27FC236}">
                <a16:creationId xmlns:a16="http://schemas.microsoft.com/office/drawing/2014/main" id="{88456E8A-5D9F-8366-6C4B-700CA6F56247}"/>
              </a:ext>
              <a:ext uri="{C183D7F6-B498-43B3-948B-1728B52AA6E4}">
                <adec:decorative xmlns:adec="http://schemas.microsoft.com/office/drawing/2017/decorative" val="1"/>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cxnSp>
        <p:nvCxnSpPr>
          <p:cNvPr id="23" name="Straight Arrow Connector 22">
            <a:extLst>
              <a:ext uri="{FF2B5EF4-FFF2-40B4-BE49-F238E27FC236}">
                <a16:creationId xmlns:a16="http://schemas.microsoft.com/office/drawing/2014/main" id="{2550B52C-D5F7-6228-5C51-A02A127821FB}"/>
              </a:ext>
              <a:ext uri="{C183D7F6-B498-43B3-948B-1728B52AA6E4}">
                <adec:decorative xmlns:adec="http://schemas.microsoft.com/office/drawing/2017/decorative" val="1"/>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6" name="Group 5">
            <a:extLst>
              <a:ext uri="{FF2B5EF4-FFF2-40B4-BE49-F238E27FC236}">
                <a16:creationId xmlns:a16="http://schemas.microsoft.com/office/drawing/2014/main" id="{DBAA2609-6BD4-C8A1-9753-168F3EB6393E}"/>
              </a:ext>
              <a:ext uri="{C183D7F6-B498-43B3-948B-1728B52AA6E4}">
                <adec:decorative xmlns:adec="http://schemas.microsoft.com/office/drawing/2017/decorative" val="1"/>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 uri="{C183D7F6-B498-43B3-948B-1728B52AA6E4}">
                  <adec:decorative xmlns:adec="http://schemas.microsoft.com/office/drawing/2017/decorative" val="1"/>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grpSp>
        <p:nvGrpSpPr>
          <p:cNvPr id="12" name="Group 11">
            <a:extLst>
              <a:ext uri="{FF2B5EF4-FFF2-40B4-BE49-F238E27FC236}">
                <a16:creationId xmlns:a16="http://schemas.microsoft.com/office/drawing/2014/main" id="{531B477F-74DC-A9A3-EA87-BBA032B4BA84}"/>
              </a:ext>
              <a:ext uri="{C183D7F6-B498-43B3-948B-1728B52AA6E4}">
                <adec:decorative xmlns:adec="http://schemas.microsoft.com/office/drawing/2017/decorative" val="1"/>
              </a:ext>
            </a:extLst>
          </p:cNvPr>
          <p:cNvGrpSpPr/>
          <p:nvPr/>
        </p:nvGrpSpPr>
        <p:grpSpPr>
          <a:xfrm>
            <a:off x="2759515" y="3440004"/>
            <a:ext cx="5769552" cy="2419826"/>
            <a:chOff x="1006168" y="4751299"/>
            <a:chExt cx="5769552" cy="2419826"/>
          </a:xfrm>
        </p:grpSpPr>
        <p:pic>
          <p:nvPicPr>
            <p:cNvPr id="9" name="Picture 8" descr="Backup diagram for v pi: the root state s (open circle) branches into actions a (filled circles) chosen by policy pi; each action branches, with probability p and reward r, into next states s′ (open circles).">
              <a:extLst>
                <a:ext uri="{FF2B5EF4-FFF2-40B4-BE49-F238E27FC236}">
                  <a16:creationId xmlns:a16="http://schemas.microsoft.com/office/drawing/2014/main" id="{1264D7F9-0903-D0FC-3FFE-8AA7E70EEDBC}"/>
                </a:ext>
              </a:extLst>
            </p:cNvPr>
            <p:cNvPicPr>
              <a:picLocks noChangeAspect="1"/>
            </p:cNvPicPr>
            <p:nvPr/>
          </p:nvPicPr>
          <p:blipFill>
            <a:blip r:embed="rId6"/>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 uri="{C183D7F6-B498-43B3-948B-1728B52AA6E4}">
                  <adec:decorative xmlns:adec="http://schemas.microsoft.com/office/drawing/2017/decorative" val="1"/>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26" name="Freeform: Shape 25">
            <a:extLst>
              <a:ext uri="{FF2B5EF4-FFF2-40B4-BE49-F238E27FC236}">
                <a16:creationId xmlns:a16="http://schemas.microsoft.com/office/drawing/2014/main" id="{29E14208-2198-6B25-E96E-1946922985CD}"/>
              </a:ext>
              <a:ext uri="{C183D7F6-B498-43B3-948B-1728B52AA6E4}">
                <adec:decorative xmlns:adec="http://schemas.microsoft.com/office/drawing/2017/decorative" val="1"/>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rgbClr val="C35115"/>
                </a:solidFill>
              </a:rPr>
              <a:t>Bellman Backup</a:t>
            </a:r>
          </a:p>
        </p:txBody>
      </p:sp>
    </p:spTree>
    <p:extLst>
      <p:ext uri="{BB962C8B-B14F-4D97-AF65-F5344CB8AC3E}">
        <p14:creationId xmlns:p14="http://schemas.microsoft.com/office/powerpoint/2010/main" val="3431343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b="0" i="1" smtClean="0">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 uri="{C183D7F6-B498-43B3-948B-1728B52AA6E4}">
                <adec:decorative xmlns:adec="http://schemas.microsoft.com/office/drawing/2017/decorative" val="1"/>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descr="Backup diagram for v star: from state s, a max is taken over the actions a instead of averaging with the policy; each action branches, with reward r, into next states s′.">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 uri="{C183D7F6-B498-43B3-948B-1728B52AA6E4}">
                  <adec:decorative xmlns:adec="http://schemas.microsoft.com/office/drawing/2017/decorative" val="1"/>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 uri="{C183D7F6-B498-43B3-948B-1728B52AA6E4}">
                    <adec:decorative xmlns:adec="http://schemas.microsoft.com/office/drawing/2017/decorative" val="1"/>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rgbClr val="C35115"/>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grpSp>
        <p:nvGrpSpPr>
          <p:cNvPr id="10" name="Group 9">
            <a:extLst>
              <a:ext uri="{FF2B5EF4-FFF2-40B4-BE49-F238E27FC236}">
                <a16:creationId xmlns:a16="http://schemas.microsoft.com/office/drawing/2014/main" id="{2AACAC04-5C41-2B77-9B2B-2C01C12F2C5D}"/>
              </a:ext>
              <a:ext uri="{C183D7F6-B498-43B3-948B-1728B52AA6E4}">
                <adec:decorative xmlns:adec="http://schemas.microsoft.com/office/drawing/2017/decorative" val="1"/>
              </a:ext>
            </a:extLst>
          </p:cNvPr>
          <p:cNvGrpSpPr/>
          <p:nvPr/>
        </p:nvGrpSpPr>
        <p:grpSpPr>
          <a:xfrm>
            <a:off x="9876821" y="649234"/>
            <a:ext cx="1585171" cy="1191444"/>
            <a:chOff x="10452538" y="1502895"/>
            <a:chExt cx="1585171" cy="1191444"/>
          </a:xfrm>
        </p:grpSpPr>
        <p:sp>
          <p:nvSpPr>
            <p:cNvPr id="14" name="Oval 13">
              <a:extLst>
                <a:ext uri="{FF2B5EF4-FFF2-40B4-BE49-F238E27FC236}">
                  <a16:creationId xmlns:a16="http://schemas.microsoft.com/office/drawing/2014/main" id="{18393AB9-BF1A-A733-350D-85272A5A646F}"/>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C908B99-94CB-85D8-BA06-BDF0FCEFA702}"/>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42AF52A-3230-BBB3-C411-046CF6FB664C}"/>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8" name="TextBox 17">
                  <a:extLst>
                    <a:ext uri="{FF2B5EF4-FFF2-40B4-BE49-F238E27FC236}">
                      <a16:creationId xmlns:a16="http://schemas.microsoft.com/office/drawing/2014/main" id="{742AF52A-3230-BBB3-C411-046CF6FB664C}"/>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3774" b="-15094"/>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038784B9-6B13-8ACE-4F08-9A95194E2625}"/>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940649"/>
              </a:xfrm>
            </p:spPr>
            <p:txBody>
              <a:bodyPr>
                <a:normAutofit fontScale="62500" lnSpcReduction="20000"/>
              </a:bodyPr>
              <a:lstStyle/>
              <a:p>
                <a:pPr marL="0" indent="0">
                  <a:buNone/>
                </a:pPr>
                <a:r>
                  <a:rPr lang="en-US" b="1" dirty="0"/>
                  <a:t>For a given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The value functions are defined as expected returns following actions given by the policy:</a:t>
                </a:r>
              </a:p>
              <a:p>
                <a:pPr marL="0" indent="0">
                  <a:buNone/>
                </a:pPr>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b="1" dirty="0"/>
                  <a:t>For the optimal policy</a:t>
                </a:r>
                <a:r>
                  <a:rPr lang="en-US" dirty="0"/>
                  <a:t>:  Always the optimal action is chosen and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940649"/>
              </a:xfrm>
              <a:blipFill>
                <a:blip r:embed="rId2"/>
                <a:stretch>
                  <a:fillRect l="-1044" t="-1850" r="-5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253331" y="133517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253331" y="1335179"/>
                <a:ext cx="5257799" cy="4332725"/>
              </a:xfrm>
              <a:prstGeom prst="rect">
                <a:avLst/>
              </a:prstGeom>
              <a:blipFill>
                <a:blip r:embed="rId3"/>
                <a:stretch>
                  <a:fillRect l="-925" t="-420"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expected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 uri="{C183D7F6-B498-43B3-948B-1728B52AA6E4}">
                <adec:decorative xmlns:adec="http://schemas.microsoft.com/office/drawing/2017/decorative" val="1"/>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pic>
        <p:nvPicPr>
          <p:cNvPr id="10"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1"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i="0">
                          <a:latin typeface="Cambria Math" panose="02040503050406030204" pitchFamily="18" charset="0"/>
                        </a:rPr>
                        <m:t>update</m:t>
                      </m:r>
                      <m:d>
                        <m:dPr>
                          <m:ctrlPr>
                            <a:rPr lang="en-US" sz="1400" i="0">
                              <a:latin typeface="Cambria Math" panose="02040503050406030204" pitchFamily="18" charset="0"/>
                            </a:rPr>
                          </m:ctrlPr>
                        </m:dPr>
                        <m:e>
                          <m:r>
                            <m:rPr>
                              <m:nor/>
                            </m:rPr>
                            <a:rPr lang="en-US" sz="1400" i="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descr="POMDP example graph: the two-state MDP with states s0 and s1, actions a1 and a2, transition probabilities 1, .5 and .5 and rewards 10, 10 and −5, plus observations o1, o2 and o3 emitted from the states according to the sensor model P(o|s).">
            <a:extLst>
              <a:ext uri="{FF2B5EF4-FFF2-40B4-BE49-F238E27FC236}">
                <a16:creationId xmlns:a16="http://schemas.microsoft.com/office/drawing/2014/main" id="{08DE9F32-7B34-4C19-C31B-96905C0FBF82}"/>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 uri="{C183D7F6-B498-43B3-948B-1728B52AA6E4}">
                  <adec:decorative xmlns:adec="http://schemas.microsoft.com/office/drawing/2017/decorative" val="1"/>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 uri="{C183D7F6-B498-43B3-948B-1728B52AA6E4}">
                  <adec:decorative xmlns:adec="http://schemas.microsoft.com/office/drawing/2017/decorative" val="1"/>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 uri="{C183D7F6-B498-43B3-948B-1728B52AA6E4}">
                  <adec:decorative xmlns:adec="http://schemas.microsoft.com/office/drawing/2017/decorative" val="1"/>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 uri="{C183D7F6-B498-43B3-948B-1728B52AA6E4}">
                  <adec:decorative xmlns:adec="http://schemas.microsoft.com/office/drawing/2017/decorative" val="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 uri="{C183D7F6-B498-43B3-948B-1728B52AA6E4}">
                  <adec:decorative xmlns:adec="http://schemas.microsoft.com/office/drawing/2017/decorative" val="1"/>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 uri="{C183D7F6-B498-43B3-948B-1728B52AA6E4}">
                  <adec:decorative xmlns:adec="http://schemas.microsoft.com/office/drawing/2017/decorative" val="1"/>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 uri="{C183D7F6-B498-43B3-948B-1728B52AA6E4}">
                  <adec:decorative xmlns:adec="http://schemas.microsoft.com/office/drawing/2017/decorative" val="1"/>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 uri="{C183D7F6-B498-43B3-948B-1728B52AA6E4}">
                  <adec:decorative xmlns:adec="http://schemas.microsoft.com/office/drawing/2017/decorative" val="1"/>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 uri="{C183D7F6-B498-43B3-948B-1728B52AA6E4}">
                  <adec:decorative xmlns:adec="http://schemas.microsoft.com/office/drawing/2017/decorative" val="1"/>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 uri="{C183D7F6-B498-43B3-948B-1728B52AA6E4}">
                  <adec:decorative xmlns:adec="http://schemas.microsoft.com/office/drawing/2017/decorative" val="1"/>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err="1"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18891</TotalTime>
  <Words>4572</Words>
  <Application>Microsoft Office PowerPoint</Application>
  <PresentationFormat>Widescreen</PresentationFormat>
  <Paragraphs>711</Paragraphs>
  <Slides>37</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Function</vt:lpstr>
      <vt:lpstr>Reward Function</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 </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151</cp:revision>
  <dcterms:created xsi:type="dcterms:W3CDTF">2025-09-08T14:44:49Z</dcterms:created>
  <dcterms:modified xsi:type="dcterms:W3CDTF">2026-10-21T13:50:07Z</dcterms:modified>
</cp:coreProperties>
</file>