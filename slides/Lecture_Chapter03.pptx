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478" r:id="rId3"/>
    <p:sldId id="353" r:id="rId4"/>
    <p:sldId id="354" r:id="rId5"/>
    <p:sldId id="355" r:id="rId6"/>
    <p:sldId id="469" r:id="rId7"/>
    <p:sldId id="470" r:id="rId8"/>
    <p:sldId id="356" r:id="rId9"/>
    <p:sldId id="387" r:id="rId10"/>
    <p:sldId id="382" r:id="rId11"/>
    <p:sldId id="357" r:id="rId12"/>
    <p:sldId id="358" r:id="rId13"/>
    <p:sldId id="360" r:id="rId14"/>
    <p:sldId id="383" r:id="rId15"/>
    <p:sldId id="359" r:id="rId16"/>
    <p:sldId id="476" r:id="rId17"/>
    <p:sldId id="474" r:id="rId18"/>
    <p:sldId id="475" r:id="rId19"/>
    <p:sldId id="362" r:id="rId20"/>
    <p:sldId id="385" r:id="rId21"/>
    <p:sldId id="386" r:id="rId22"/>
    <p:sldId id="361" r:id="rId23"/>
    <p:sldId id="384" r:id="rId24"/>
    <p:sldId id="364" r:id="rId25"/>
    <p:sldId id="365" r:id="rId26"/>
    <p:sldId id="366" r:id="rId27"/>
    <p:sldId id="477" r:id="rId28"/>
    <p:sldId id="36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478"/>
          </p14:sldIdLst>
        </p14:section>
        <p14:section name="Finite MDP" id="{99C52200-DC0B-4ED7-BC0A-CEC376E11BA5}">
          <p14:sldIdLst>
            <p14:sldId id="353"/>
            <p14:sldId id="354"/>
            <p14:sldId id="355"/>
            <p14:sldId id="469"/>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2"/>
            <p14:sldId id="385"/>
            <p14:sldId id="386"/>
            <p14:sldId id="361"/>
          </p14:sldIdLst>
        </p14:section>
        <p14:section name="Optimal Solutions" id="{DE685EBE-7543-4C80-B6DE-E26C725CCD32}">
          <p14:sldIdLst>
            <p14:sldId id="384"/>
            <p14:sldId id="364"/>
            <p14:sldId id="365"/>
            <p14:sldId id="366"/>
          </p14:sldIdLst>
        </p14:section>
        <p14:section name="Summary" id="{8BC0CBAD-81F8-4558-BDE1-1F8C08AC95EA}">
          <p14:sldIdLst>
            <p14:sldId id="477"/>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59" d="100"/>
          <a:sy n="59" d="100"/>
        </p:scale>
        <p:origin x="84" y="112"/>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1/28/2026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1/28/2026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1/28/2026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0.png"/></Relationships>
</file>

<file path=ppt/slides/_rels/slide1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50.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90.png"/></Relationships>
</file>

<file path=ppt/slides/_rels/slide19.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52.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51.png"/><Relationship Id="rId5" Type="http://schemas.openxmlformats.org/officeDocument/2006/relationships/image" Target="../media/image45.png"/><Relationship Id="rId10" Type="http://schemas.openxmlformats.org/officeDocument/2006/relationships/image" Target="../media/image50.png"/><Relationship Id="rId4" Type="http://schemas.openxmlformats.org/officeDocument/2006/relationships/image" Target="../media/image44.png"/><Relationship Id="rId9" Type="http://schemas.openxmlformats.org/officeDocument/2006/relationships/image" Target="../media/image49.png"/></Relationships>
</file>

<file path=ppt/slides/_rels/slide2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450.png"/></Relationships>
</file>

<file path=ppt/slides/_rels/slide22.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380.png"/><Relationship Id="rId1" Type="http://schemas.openxmlformats.org/officeDocument/2006/relationships/slideLayout" Target="../slideLayouts/slideLayout2.xml"/><Relationship Id="rId4" Type="http://schemas.openxmlformats.org/officeDocument/2006/relationships/image" Target="../media/image400.png"/></Relationships>
</file>

<file path=ppt/slides/_rels/slide26.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8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53200" y="-18278"/>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2234522"/>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a:p>
                <a:pPr marL="0" indent="0">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𝑉</m:t>
                            </m:r>
                          </m:e>
                        </m:acc>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𝑠</m:t>
                    </m:r>
                    <m:r>
                      <a:rPr lang="en-US" sz="1200" i="1" dirty="0">
                        <a:solidFill>
                          <a:schemeClr val="tx1"/>
                        </a:solidFill>
                        <a:latin typeface="Cambria Math" panose="02040503050406030204" pitchFamily="18" charset="0"/>
                      </a:rPr>
                      <m:t>) </m:t>
                    </m:r>
                  </m:oMath>
                </a14:m>
                <a:r>
                  <a:rPr lang="en-US" sz="1200" dirty="0">
                    <a:solidFill>
                      <a:schemeClr val="tx1"/>
                    </a:solidFill>
                  </a:rPr>
                  <a:t>	expected approximate action value</a:t>
                </a:r>
              </a:p>
              <a:p>
                <a:pPr marL="0" indent="0">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2234522"/>
              </a:xfrm>
              <a:blipFill>
                <a:blip r:embed="rId2"/>
                <a:stretch>
                  <a:fillRect b="-5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838200" y="3806015"/>
                <a:ext cx="10261697" cy="2585323"/>
              </a:xfrm>
              <a:prstGeom prst="rect">
                <a:avLst/>
              </a:prstGeom>
              <a:noFill/>
            </p:spPr>
            <p:txBody>
              <a:bodyPr wrap="square">
                <a:spAutoFit/>
              </a:bodyPr>
              <a:lstStyle/>
              <a:p>
                <a:pPr algn="l"/>
                <a:r>
                  <a:rPr lang="en-US" dirty="0"/>
                  <a:t>An </a:t>
                </a:r>
                <a:r>
                  <a:rPr lang="en-US" b="1" dirty="0"/>
                  <a:t>interaction</a:t>
                </a:r>
                <a:r>
                  <a:rPr lang="en-US" dirty="0"/>
                  <a:t> is a sequence of discrete time steps,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 = 0, 1, 2, 3, . . .</m:t>
                    </m:r>
                  </m:oMath>
                </a14:m>
                <a:endParaRPr lang="en-US" dirty="0"/>
              </a:p>
              <a:p>
                <a:pPr marL="171450" indent="-171450" algn="l">
                  <a:buFont typeface="Arial" panose="020B0604020202020204" pitchFamily="34" charset="0"/>
                  <a:buChar char="•"/>
                </a:pPr>
                <a:r>
                  <a:rPr lang="en-US" dirty="0"/>
                  <a:t> At each time step </a:t>
                </a:r>
                <a14:m>
                  <m:oMath xmlns:m="http://schemas.openxmlformats.org/officeDocument/2006/math">
                    <m:r>
                      <a:rPr lang="en-US" i="1" dirty="0" smtClean="0">
                        <a:latin typeface="Cambria Math" panose="02040503050406030204" pitchFamily="18" charset="0"/>
                      </a:rPr>
                      <m:t>𝑡</m:t>
                    </m:r>
                  </m:oMath>
                </a14:m>
                <a:r>
                  <a:rPr lang="en-US" dirty="0"/>
                  <a:t>: </a:t>
                </a:r>
              </a:p>
              <a:p>
                <a:pPr marL="800100" lvl="1" indent="-342900">
                  <a:buFont typeface="+mj-lt"/>
                  <a:buAutoNum type="arabicPeriod"/>
                </a:pPr>
                <a:r>
                  <a:rPr lang="en-US" dirty="0"/>
                  <a:t>Agent receives some representation of the environment’s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𝒮</m:t>
                    </m:r>
                    <m:r>
                      <a:rPr lang="en-US" i="1" dirty="0" smtClean="0">
                        <a:latin typeface="Cambria Math" panose="02040503050406030204" pitchFamily="18" charset="0"/>
                      </a:rPr>
                      <m:t> </m:t>
                    </m:r>
                  </m:oMath>
                </a14:m>
                <a:endParaRPr lang="en-US" dirty="0"/>
              </a:p>
              <a:p>
                <a:pPr marL="800100" lvl="1" indent="-342900">
                  <a:buFont typeface="+mj-lt"/>
                  <a:buAutoNum type="arabicPeriod"/>
                </a:pPr>
                <a:r>
                  <a:rPr lang="en-US" dirty="0"/>
                  <a:t>Agent selects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pPr marL="800100" lvl="1" indent="-342900">
                  <a:buFont typeface="+mj-lt"/>
                  <a:buAutoNum type="arabicPeriod"/>
                </a:pPr>
                <a:r>
                  <a:rPr lang="en-US" dirty="0"/>
                  <a:t>One time step later (as a consequence of its action) the agent receives a numerical reward,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rPr>
                      <m:t> </m:t>
                    </m:r>
                  </m:oMath>
                </a14:m>
                <a:r>
                  <a:rPr lang="en-US" dirty="0"/>
                  <a:t>and finds itself in a new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endParaRPr lang="en-US" dirty="0"/>
              </a:p>
              <a:p>
                <a:endParaRPr lang="en-US" dirty="0"/>
              </a:p>
              <a:p>
                <a:r>
                  <a:rPr lang="en-US"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3</m:t>
                          </m:r>
                        </m:sub>
                      </m:sSub>
                      <m:r>
                        <a:rPr lang="en-US" i="1" dirty="0" smtClean="0">
                          <a:latin typeface="Cambria Math" panose="02040503050406030204" pitchFamily="18" charset="0"/>
                        </a:rPr>
                        <m:t>, . . . </m:t>
                      </m:r>
                    </m:oMath>
                  </m:oMathPara>
                </a14:m>
                <a:endParaRPr lang="en-US"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838200" y="3806015"/>
                <a:ext cx="10261697" cy="2585323"/>
              </a:xfrm>
              <a:prstGeom prst="rect">
                <a:avLst/>
              </a:prstGeom>
              <a:blipFill>
                <a:blip r:embed="rId3"/>
                <a:stretch>
                  <a:fillRect l="-535" t="-94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082666"/>
            <a:ext cx="4343400" cy="2585323"/>
          </a:xfrm>
          <a:prstGeom prst="rect">
            <a:avLst/>
          </a:prstGeom>
          <a:noFill/>
        </p:spPr>
        <p:txBody>
          <a:bodyPr wrap="square">
            <a:spAutoFit/>
          </a:bodyPr>
          <a:lstStyle/>
          <a:p>
            <a:pPr marL="285750" indent="-285750" algn="l">
              <a:buFont typeface="Arial" panose="020B0604020202020204" pitchFamily="34" charset="0"/>
              <a:buChar char="•"/>
            </a:pPr>
            <a:r>
              <a:rPr lang="en-US" b="0" i="0" u="none" strike="noStrike" baseline="0" dirty="0">
                <a:latin typeface="CMR10"/>
              </a:rPr>
              <a:t>Markov decision process (MDP) is a mathematical model </a:t>
            </a:r>
            <a:r>
              <a:rPr lang="en-US" b="1" i="0" u="none" strike="noStrike" baseline="0" dirty="0">
                <a:latin typeface="CMR10"/>
              </a:rPr>
              <a:t>for sequential decision making </a:t>
            </a:r>
            <a:r>
              <a:rPr lang="en-US" b="0" i="0" u="none" strike="noStrike" baseline="0" dirty="0">
                <a:latin typeface="CMR10"/>
              </a:rPr>
              <a:t>when outcomes are uncertain.</a:t>
            </a:r>
          </a:p>
          <a:p>
            <a:pPr marL="285750" indent="-285750">
              <a:buFont typeface="Arial" panose="020B0604020202020204" pitchFamily="34" charset="0"/>
              <a:buChar char="•"/>
            </a:pPr>
            <a:r>
              <a:rPr lang="en-US" dirty="0">
                <a:latin typeface="CMR10"/>
              </a:rPr>
              <a:t>The MDP represents a </a:t>
            </a:r>
            <a:r>
              <a:rPr lang="en-US" b="1" dirty="0"/>
              <a:t>fully observable, stochastic, and known environment.</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The goal is specified via rewards.</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Actions influence the future rewards by leading to different states.</a:t>
            </a:r>
            <a:endParaRPr lang="en-US"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515600" cy="5143900"/>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endParaRPr lang="en-US" b="1" dirty="0"/>
              </a:p>
              <a:p>
                <a:endParaRPr lang="en-US" b="1" dirty="0"/>
              </a:p>
              <a:p>
                <a:r>
                  <a:rPr lang="en-US" b="1" dirty="0"/>
                  <a:t>Dynamics</a:t>
                </a:r>
                <a:r>
                  <a:rPr lang="en-US" dirty="0"/>
                  <a:t> of the MDP</a:t>
                </a:r>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a:p>
                <a:r>
                  <a:rPr lang="en-US" dirty="0"/>
                  <a:t>Are represented as a deterministic function </a:t>
                </a:r>
                <a14:m>
                  <m:oMath xmlns:m="http://schemas.openxmlformats.org/officeDocument/2006/math">
                    <m:r>
                      <a:rPr lang="en-US" i="1">
                        <a:latin typeface="Cambria Math" panose="02040503050406030204" pitchFamily="18" charset="0"/>
                      </a:rPr>
                      <m:t>𝑝</m:t>
                    </m:r>
                    <m:r>
                      <a:rPr lang="en-US" b="0" i="0"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0" smtClean="0">
                        <a:latin typeface="Cambria Math" panose="02040503050406030204" pitchFamily="18" charset="0"/>
                      </a:rPr>
                      <m:t>)</m:t>
                    </m:r>
                  </m:oMath>
                </a14:m>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→[0,1] </m:t>
                      </m:r>
                    </m:oMath>
                  </m:oMathPara>
                </a14:m>
                <a:endParaRPr lang="en-US" dirty="0"/>
              </a:p>
              <a:p>
                <a:endParaRPr lang="en-US" dirty="0"/>
              </a:p>
              <a:p>
                <a:r>
                  <a:rPr lang="en-US" dirty="0"/>
                  <a:t>A decision process is a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previous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The state must have sufficient information about the past. If this is true, then it is called an </a:t>
                </a:r>
                <a:r>
                  <a:rPr lang="en-US" b="1" dirty="0"/>
                  <a:t>information state </a:t>
                </a:r>
                <a:r>
                  <a:rPr lang="en-US" dirty="0"/>
                  <a:t>and the system has the </a:t>
                </a:r>
                <a:r>
                  <a:rPr lang="en-US" b="1" dirty="0"/>
                  <a:t>Markov property</a:t>
                </a:r>
                <a:r>
                  <a:rPr lang="en-US" dirty="0"/>
                  <a:t>.</a:t>
                </a:r>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515600" cy="5143900"/>
              </a:xfrm>
              <a:blipFill>
                <a:blip r:embed="rId2"/>
                <a:stretch>
                  <a:fillRect l="-406" t="-1777"/>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247765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323646"/>
              </a:xfrm>
            </p:spPr>
            <p:txBody>
              <a:bodyPr>
                <a:normAutofit lnSpcReduction="10000"/>
              </a:bodyPr>
              <a:lstStyle/>
              <a:p>
                <a:pPr marL="0" indent="0">
                  <a:buNone/>
                </a:pPr>
                <a:r>
                  <a:rPr lang="en-US" dirty="0"/>
                  <a:t>Finite MDPs are discrete-time stochastic control processes defined by:</a:t>
                </a:r>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323646"/>
              </a:xfrm>
              <a:blipFill>
                <a:blip r:embed="rId3"/>
                <a:stretch>
                  <a:fillRect l="-1732" t="-4029"/>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CA95B025-D494-86F0-01C1-165E5E3674EF}"/>
                  </a:ext>
                </a:extLst>
              </p:cNvPr>
              <p:cNvSpPr txBox="1"/>
              <p:nvPr/>
            </p:nvSpPr>
            <p:spPr>
              <a:xfrm>
                <a:off x="6180523" y="6125256"/>
                <a:ext cx="4716077"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 and transitions!</a:t>
                </a:r>
              </a:p>
            </p:txBody>
          </p:sp>
        </mc:Choice>
        <mc:Fallback>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3" y="6125256"/>
                <a:ext cx="4716077" cy="307777"/>
              </a:xfrm>
              <a:prstGeom prst="rect">
                <a:avLst/>
              </a:prstGeom>
              <a:blipFill>
                <a:blip r:embed="rId22"/>
                <a:stretch>
                  <a:fillRect l="-388"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Goals, 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8029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92500"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 We want to learn how to do it!</a:t>
                </a:r>
              </a:p>
              <a:p>
                <a:pPr lvl="1"/>
                <a:r>
                  <a:rPr lang="en-US" dirty="0"/>
                  <a:t>Typically, only provides a reward for the final goal.</a:t>
                </a:r>
              </a:p>
              <a:p>
                <a:pPr lvl="1"/>
                <a:r>
                  <a:rPr lang="en-US" dirty="0"/>
                  <a:t>Reward shaping can be used to improve learning but may lead to issues (reward hacking).</a:t>
                </a:r>
              </a:p>
            </p:txBody>
          </p:sp>
        </mc:Choice>
        <mc:Fallback>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928" t="-2551" r="-174" b="-638"/>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9087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2"/>
          <a:srcRect l="60759" t="3531" r="13453" b="53102"/>
          <a:stretch/>
        </p:blipFill>
        <p:spPr>
          <a:xfrm>
            <a:off x="10969888" y="3005332"/>
            <a:ext cx="1222112" cy="1148345"/>
          </a:xfrm>
          <a:prstGeom prst="rect">
            <a:avLst/>
          </a:prstGeom>
        </p:spPr>
      </p:pic>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lnSpcReduction="10000"/>
              </a:bodyPr>
              <a:lstStyle/>
              <a:p>
                <a:r>
                  <a:rPr lang="en-US" dirty="0"/>
                  <a:t>Expected value of choosing an action in a state and then following </a:t>
                </a:r>
                <a14:m>
                  <m:oMath xmlns:m="http://schemas.openxmlformats.org/officeDocument/2006/math">
                    <m:r>
                      <a:rPr lang="en-US" i="1">
                        <a:latin typeface="Cambria Math" panose="02040503050406030204" pitchFamily="18" charset="0"/>
                      </a:rPr>
                      <m:t>𝜋</m:t>
                    </m:r>
                  </m:oMath>
                </a14:m>
                <a:r>
                  <a:rPr lang="en-US" dirty="0"/>
                  <a:t>. </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𝑞</m:t>
                          </m:r>
                        </m:e>
                        <m:sub>
                          <m:r>
                            <a:rPr lang="en-US" sz="2000" i="1">
                              <a:latin typeface="Cambria Math" panose="02040503050406030204" pitchFamily="18" charset="0"/>
                            </a:rPr>
                            <m:t>𝜋</m:t>
                          </m:r>
                        </m:sub>
                      </m:sSub>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m:rPr>
                          <m:aln/>
                        </m:rP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𝔼</m:t>
                          </m:r>
                        </m:e>
                        <m:sub>
                          <m:r>
                            <a:rPr lang="en-US" sz="2000" i="1">
                              <a:latin typeface="Cambria Math" panose="02040503050406030204" pitchFamily="18" charset="0"/>
                            </a:rPr>
                            <m:t>𝜋</m:t>
                          </m:r>
                        </m:sub>
                      </m:sSub>
                      <m:d>
                        <m:dPr>
                          <m:begChr m:val="["/>
                          <m:endChr m:val="|"/>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𝐺</m:t>
                              </m:r>
                            </m:e>
                            <m:sub>
                              <m:r>
                                <a:rPr lang="en-US" sz="2000" i="1">
                                  <a:latin typeface="Cambria Math" panose="02040503050406030204" pitchFamily="18" charset="0"/>
                                </a:rPr>
                                <m:t>𝑡</m:t>
                              </m:r>
                            </m:sub>
                          </m:sSub>
                          <m:r>
                            <a:rPr lang="en-US" sz="2000" i="1">
                              <a:latin typeface="Cambria Math" panose="02040503050406030204" pitchFamily="18" charset="0"/>
                            </a:rPr>
                            <m:t> </m:t>
                          </m:r>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𝐴</m:t>
                          </m:r>
                        </m:e>
                        <m:sub>
                          <m:r>
                            <a:rPr lang="en-US" sz="2000" i="1">
                              <a:latin typeface="Cambria Math" panose="02040503050406030204" pitchFamily="18" charset="0"/>
                            </a:rPr>
                            <m:t>𝑡</m:t>
                          </m:r>
                        </m:sub>
                      </m:sSub>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oMath>
                    <m:oMath xmlns:m="http://schemas.openxmlformats.org/officeDocument/2006/math">
                      <m:r>
                        <m:rPr>
                          <m:aln/>
                        </m:rPr>
                        <a:rPr lang="en-US" sz="2000">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𝔼</m:t>
                          </m:r>
                        </m:e>
                        <m:sub>
                          <m:r>
                            <a:rPr lang="en-US" sz="2000">
                              <a:latin typeface="Cambria Math" panose="02040503050406030204" pitchFamily="18" charset="0"/>
                              <a:ea typeface="Cambria Math" panose="02040503050406030204" pitchFamily="18" charset="0"/>
                            </a:rPr>
                            <m:t>𝜋</m:t>
                          </m:r>
                        </m:sub>
                      </m:sSub>
                      <m:d>
                        <m:dPr>
                          <m:begChr m:val="["/>
                          <m:endChr m:val="]"/>
                          <m:ctrlPr>
                            <a:rPr lang="en-US" sz="2000" i="1">
                              <a:latin typeface="Cambria Math" panose="02040503050406030204" pitchFamily="18" charset="0"/>
                              <a:ea typeface="Cambria Math" panose="02040503050406030204" pitchFamily="18" charset="0"/>
                            </a:rPr>
                          </m:ctrlPr>
                        </m:dPr>
                        <m:e>
                          <m:d>
                            <m:dPr>
                              <m:begChr m:val=""/>
                              <m:endChr m:val="|"/>
                              <m:ctrlPr>
                                <a:rPr lang="en-US" sz="2000" i="1">
                                  <a:latin typeface="Cambria Math" panose="02040503050406030204" pitchFamily="18" charset="0"/>
                                  <a:ea typeface="Cambria Math" panose="02040503050406030204" pitchFamily="18" charset="0"/>
                                </a:rPr>
                              </m:ctrlPr>
                            </m:dPr>
                            <m:e>
                              <m:nary>
                                <m:naryPr>
                                  <m:chr m:val="∑"/>
                                  <m:ctrlPr>
                                    <a:rPr lang="en-US" sz="2000" i="1">
                                      <a:latin typeface="Cambria Math" panose="02040503050406030204" pitchFamily="18" charset="0"/>
                                      <a:ea typeface="Cambria Math" panose="02040503050406030204" pitchFamily="18" charset="0"/>
                                    </a:rPr>
                                  </m:ctrlPr>
                                </m:naryPr>
                                <m:sub>
                                  <m:r>
                                    <a:rPr lang="en-US" sz="2000">
                                      <a:latin typeface="Cambria Math" panose="02040503050406030204" pitchFamily="18" charset="0"/>
                                      <a:ea typeface="Cambria Math" panose="02040503050406030204" pitchFamily="18" charset="0"/>
                                    </a:rPr>
                                    <m:t>𝑘</m:t>
                                  </m:r>
                                  <m:r>
                                    <a:rPr lang="en-US" sz="2000">
                                      <a:latin typeface="Cambria Math" panose="02040503050406030204" pitchFamily="18" charset="0"/>
                                      <a:ea typeface="Cambria Math" panose="02040503050406030204" pitchFamily="18" charset="0"/>
                                    </a:rPr>
                                    <m:t>=0</m:t>
                                  </m:r>
                                </m:sub>
                                <m:sup>
                                  <m:r>
                                    <a:rPr lang="en-US" sz="2000">
                                      <a:latin typeface="Cambria Math" panose="02040503050406030204" pitchFamily="18" charset="0"/>
                                      <a:ea typeface="Cambria Math" panose="02040503050406030204" pitchFamily="18" charset="0"/>
                                    </a:rPr>
                                    <m:t>∞</m:t>
                                  </m:r>
                                </m:sup>
                                <m:e>
                                  <m:sSup>
                                    <m:sSupPr>
                                      <m:ctrlPr>
                                        <a:rPr lang="en-US" sz="2000" i="1">
                                          <a:latin typeface="Cambria Math" panose="02040503050406030204" pitchFamily="18" charset="0"/>
                                          <a:ea typeface="Cambria Math" panose="02040503050406030204" pitchFamily="18" charset="0"/>
                                        </a:rPr>
                                      </m:ctrlPr>
                                    </m:sSupPr>
                                    <m:e>
                                      <m:r>
                                        <a:rPr lang="en-US" sz="2000">
                                          <a:latin typeface="Cambria Math" panose="02040503050406030204" pitchFamily="18" charset="0"/>
                                          <a:ea typeface="Cambria Math" panose="02040503050406030204" pitchFamily="18" charset="0"/>
                                        </a:rPr>
                                        <m:t>𝛾</m:t>
                                      </m:r>
                                    </m:e>
                                    <m:sup>
                                      <m:r>
                                        <a:rPr lang="en-US" sz="2000">
                                          <a:latin typeface="Cambria Math" panose="02040503050406030204" pitchFamily="18" charset="0"/>
                                          <a:ea typeface="Cambria Math" panose="02040503050406030204" pitchFamily="18" charset="0"/>
                                        </a:rPr>
                                        <m:t>𝑘</m:t>
                                      </m:r>
                                    </m:sup>
                                  </m:sSup>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𝑅</m:t>
                                      </m:r>
                                    </m:e>
                                    <m:sub>
                                      <m:r>
                                        <a:rPr lang="en-US" sz="2000">
                                          <a:latin typeface="Cambria Math" panose="02040503050406030204" pitchFamily="18" charset="0"/>
                                          <a:ea typeface="Cambria Math" panose="02040503050406030204" pitchFamily="18" charset="0"/>
                                        </a:rPr>
                                        <m:t>𝑡</m:t>
                                      </m:r>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𝑘</m:t>
                                      </m:r>
                                      <m:r>
                                        <a:rPr lang="en-US" sz="2000">
                                          <a:latin typeface="Cambria Math" panose="02040503050406030204" pitchFamily="18" charset="0"/>
                                          <a:ea typeface="Cambria Math" panose="02040503050406030204" pitchFamily="18" charset="0"/>
                                        </a:rPr>
                                        <m:t>+1</m:t>
                                      </m:r>
                                    </m:sub>
                                  </m:sSub>
                                </m:e>
                              </m:nary>
                            </m:e>
                          </m:d>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𝑆</m:t>
                              </m:r>
                            </m:e>
                            <m:sub>
                              <m:r>
                                <a:rPr lang="en-US" sz="2000">
                                  <a:latin typeface="Cambria Math" panose="02040503050406030204" pitchFamily="18" charset="0"/>
                                  <a:ea typeface="Cambria Math" panose="02040503050406030204" pitchFamily="18" charset="0"/>
                                </a:rPr>
                                <m:t>𝑡</m:t>
                              </m:r>
                            </m:sub>
                          </m:sSub>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𝑠</m:t>
                          </m:r>
                          <m:r>
                            <a:rPr lang="en-US" sz="2000">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𝐴</m:t>
                              </m:r>
                            </m:e>
                            <m:sub>
                              <m:r>
                                <a:rPr lang="en-US" sz="2000">
                                  <a:latin typeface="Cambria Math" panose="02040503050406030204" pitchFamily="18" charset="0"/>
                                  <a:ea typeface="Cambria Math" panose="02040503050406030204" pitchFamily="18" charset="0"/>
                                </a:rPr>
                                <m:t>𝑡</m:t>
                              </m:r>
                            </m:sub>
                          </m:sSub>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𝑎</m:t>
                          </m:r>
                          <m:r>
                            <a:rPr lang="en-US" sz="2000">
                              <a:latin typeface="Cambria Math" panose="02040503050406030204" pitchFamily="18" charset="0"/>
                              <a:ea typeface="Cambria Math" panose="02040503050406030204" pitchFamily="18" charset="0"/>
                            </a:rPr>
                            <m:t> </m:t>
                          </m:r>
                        </m:e>
                      </m:d>
                      <m:r>
                        <a:rPr lang="en-US" sz="2000">
                          <a:latin typeface="Cambria Math" panose="02040503050406030204" pitchFamily="18" charset="0"/>
                          <a:ea typeface="Cambria Math" panose="02040503050406030204" pitchFamily="18" charset="0"/>
                        </a:rPr>
                        <m:t>  </m:t>
                      </m:r>
                      <m:r>
                        <m:rPr>
                          <m:nor/>
                        </m:rPr>
                        <a:rPr lang="en-US" sz="2000">
                          <a:latin typeface="Cambria Math" panose="02040503050406030204" pitchFamily="18" charset="0"/>
                          <a:ea typeface="Cambria Math" panose="02040503050406030204" pitchFamily="18" charset="0"/>
                        </a:rPr>
                        <m:t>for</m:t>
                      </m:r>
                      <m:r>
                        <m:rPr>
                          <m:nor/>
                        </m:rPr>
                        <a:rPr lang="en-US" sz="2000">
                          <a:latin typeface="Cambria Math" panose="02040503050406030204" pitchFamily="18" charset="0"/>
                          <a:ea typeface="Cambria Math" panose="02040503050406030204" pitchFamily="18" charset="0"/>
                        </a:rPr>
                        <m:t> </m:t>
                      </m:r>
                      <m:r>
                        <m:rPr>
                          <m:nor/>
                        </m:rPr>
                        <a:rPr lang="en-US" sz="2000">
                          <a:latin typeface="Cambria Math" panose="02040503050406030204" pitchFamily="18" charset="0"/>
                          <a:ea typeface="Cambria Math" panose="02040503050406030204" pitchFamily="18" charset="0"/>
                        </a:rPr>
                        <m:t>all</m:t>
                      </m:r>
                      <m:r>
                        <m:rPr>
                          <m:nor/>
                        </m:rPr>
                        <a:rPr lang="en-US" sz="2000">
                          <a:latin typeface="Cambria Math" panose="02040503050406030204" pitchFamily="18" charset="0"/>
                          <a:ea typeface="Cambria Math" panose="02040503050406030204" pitchFamily="18" charset="0"/>
                        </a:rPr>
                        <m:t> </m:t>
                      </m:r>
                      <m:r>
                        <a:rPr lang="en-US" sz="2000">
                          <a:latin typeface="Cambria Math" panose="02040503050406030204" pitchFamily="18" charset="0"/>
                          <a:ea typeface="Cambria Math" panose="02040503050406030204" pitchFamily="18" charset="0"/>
                        </a:rPr>
                        <m:t>𝑠</m:t>
                      </m:r>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𝒮</m:t>
                      </m:r>
                    </m:oMath>
                  </m:oMathPara>
                </a14:m>
                <a:br>
                  <a:rPr lang="en-US" dirty="0"/>
                </a:br>
                <a:endParaRPr lang="en-US" dirty="0"/>
              </a:p>
              <a:p>
                <a:r>
                  <a:rPr lang="en-US" dirty="0"/>
                  <a:t>The Relationship with the state value function:</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e>
                      </m:d>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max</m:t>
                              </m:r>
                            </m:e>
                            <m:lim>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lim>
                          </m:limLow>
                        </m:fName>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𝜋</m:t>
                              </m:r>
                            </m:sub>
                          </m:sSub>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 </m:t>
                              </m:r>
                              <m:r>
                                <a:rPr lang="en-US" i="1" dirty="0">
                                  <a:latin typeface="Cambria Math" panose="02040503050406030204" pitchFamily="18" charset="0"/>
                                </a:rPr>
                                <m:t>𝑎</m:t>
                              </m:r>
                            </m:e>
                          </m:d>
                        </m:e>
                      </m:func>
                    </m:oMath>
                  </m:oMathPara>
                </a14:m>
                <a:endParaRPr lang="en-US" dirty="0"/>
              </a:p>
              <a:p>
                <a:r>
                  <a:rPr lang="en-US" dirty="0"/>
                  <a:t>The Q-function lets us compare the value of taking different action is a given state. It is used in algorithms to determine what action is the best.</a:t>
                </a:r>
              </a:p>
              <a:p>
                <a:endParaRPr lang="en-US" dirty="0"/>
              </a:p>
            </p:txBody>
          </p:sp>
        </mc:Choice>
        <mc:Fallback>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1367" t="-2910" r="-2653"/>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4"/>
                          <a:stretch>
                            <a:fillRect l="-746" t="-1667" r="-229104" b="-513333"/>
                          </a:stretch>
                        </a:blipFill>
                      </a:tcPr>
                    </a:tc>
                    <a:tc>
                      <a:txBody>
                        <a:bodyPr/>
                        <a:lstStyle/>
                        <a:p>
                          <a:endParaRPr lang="en-US"/>
                        </a:p>
                      </a:txBody>
                      <a:tcPr>
                        <a:blipFill>
                          <a:blip r:embed="rId4"/>
                          <a:stretch>
                            <a:fillRect l="-119469" t="-1667" r="-171681" b="-513333"/>
                          </a:stretch>
                        </a:blipFill>
                      </a:tcPr>
                    </a:tc>
                    <a:tc>
                      <a:txBody>
                        <a:bodyPr/>
                        <a:lstStyle/>
                        <a:p>
                          <a:endParaRPr lang="en-US"/>
                        </a:p>
                      </a:txBody>
                      <a:tcPr>
                        <a:blipFill>
                          <a:blip r:embed="rId4"/>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lstStyle/>
          <a:p>
            <a:r>
              <a:rPr lang="en-US" dirty="0"/>
              <a:t>Bellman Equation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1"/>
                <a:ext cx="10515600" cy="3778838"/>
              </a:xfrm>
            </p:spPr>
            <p:txBody>
              <a:bodyPr>
                <a:normAutofit fontScale="92500" lnSpcReduction="10000"/>
              </a:bodyPr>
              <a:lstStyle/>
              <a:p>
                <a:pPr marL="0" indent="0">
                  <a:buNone/>
                </a:pPr>
                <a:r>
                  <a:rPr lang="en-US" dirty="0"/>
                  <a:t>Value functions always have a </a:t>
                </a:r>
                <a:r>
                  <a:rPr lang="en-US" b="1" dirty="0"/>
                  <a:t>recursive relationship:</a:t>
                </a:r>
                <a:r>
                  <a:rPr lang="en-US" dirty="0"/>
                  <a:t> </a:t>
                </a:r>
              </a:p>
              <a:p>
                <a:endParaRPr lang="en-US" dirty="0"/>
              </a:p>
              <a:p>
                <a:endParaRPr lang="en-US" dirty="0"/>
              </a:p>
              <a:p>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1"/>
                <a:ext cx="10515600" cy="3778838"/>
              </a:xfrm>
              <a:blipFill>
                <a:blip r:embed="rId2"/>
                <a:stretch>
                  <a:fillRect l="-1043" t="-3226"/>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115FEED1-5263-6978-1335-D8047A9A9B6D}"/>
              </a:ext>
            </a:extLst>
          </p:cNvPr>
          <p:cNvGrpSpPr/>
          <p:nvPr/>
        </p:nvGrpSpPr>
        <p:grpSpPr>
          <a:xfrm>
            <a:off x="7356193" y="4936845"/>
            <a:ext cx="1749810" cy="906055"/>
            <a:chOff x="2355129" y="3175234"/>
            <a:chExt cx="1860057" cy="906055"/>
          </a:xfrm>
        </p:grpSpPr>
        <p:sp>
          <p:nvSpPr>
            <p:cNvPr id="4" name="Right Brace 3">
              <a:extLst>
                <a:ext uri="{FF2B5EF4-FFF2-40B4-BE49-F238E27FC236}">
                  <a16:creationId xmlns:a16="http://schemas.microsoft.com/office/drawing/2014/main" id="{A6F53F34-DC74-85D4-625B-6EEC1FD7694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800" dirty="0"/>
            </a:p>
          </p:txBody>
        </p:sp>
        <p:sp>
          <p:nvSpPr>
            <p:cNvPr id="5" name="TextBox 4">
              <a:extLst>
                <a:ext uri="{FF2B5EF4-FFF2-40B4-BE49-F238E27FC236}">
                  <a16:creationId xmlns:a16="http://schemas.microsoft.com/office/drawing/2014/main" id="{61D0C74D-FD67-E71A-5208-3A7E1687E3B8}"/>
                </a:ext>
              </a:extLst>
            </p:cNvPr>
            <p:cNvSpPr txBox="1"/>
            <p:nvPr/>
          </p:nvSpPr>
          <p:spPr>
            <a:xfrm>
              <a:off x="2355129" y="3373403"/>
              <a:ext cx="1860057" cy="707886"/>
            </a:xfrm>
            <a:prstGeom prst="rect">
              <a:avLst/>
            </a:prstGeom>
            <a:noFill/>
          </p:spPr>
          <p:txBody>
            <a:bodyPr wrap="square" rtlCol="0">
              <a:spAutoFit/>
            </a:bodyPr>
            <a:lstStyle/>
            <a:p>
              <a:pPr algn="ctr"/>
              <a:r>
                <a:rPr lang="en-US" sz="2000" dirty="0"/>
                <a:t>Value of next state</a:t>
              </a:r>
            </a:p>
          </p:txBody>
        </p:sp>
      </p:grpSp>
      <p:sp>
        <p:nvSpPr>
          <p:cNvPr id="7" name="TextBox 6">
            <a:extLst>
              <a:ext uri="{FF2B5EF4-FFF2-40B4-BE49-F238E27FC236}">
                <a16:creationId xmlns:a16="http://schemas.microsoft.com/office/drawing/2014/main" id="{CD4D12A2-912D-795C-BDD2-413005339C80}"/>
              </a:ext>
            </a:extLst>
          </p:cNvPr>
          <p:cNvSpPr txBox="1"/>
          <p:nvPr/>
        </p:nvSpPr>
        <p:spPr>
          <a:xfrm>
            <a:off x="2002971" y="1824926"/>
            <a:ext cx="844731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Value of a state = immediate reward + discounted value of successor state</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339444" y="2561022"/>
                <a:ext cx="2203521" cy="608202"/>
              </a:xfrm>
              <a:prstGeom prst="wedgeRoundRectCallout">
                <a:avLst>
                  <a:gd name="adj1" fmla="val -46829"/>
                  <a:gd name="adj2" fmla="val 1177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There are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a:t>
                </a:r>
                <a:br>
                  <a:rPr lang="en-US" dirty="0"/>
                </a:br>
                <a:r>
                  <a:rPr lang="en-US" dirty="0"/>
                  <a:t>Bellman equations.</a:t>
                </a:r>
              </a:p>
            </p:txBody>
          </p:sp>
        </mc:Choice>
        <mc:Fallback xmlns="">
          <p:sp>
            <p:nvSpPr>
              <p:cNvPr id="8" name="Speech Bubble: Rectangle with Corners Rounded 7">
                <a:extLst>
                  <a:ext uri="{FF2B5EF4-FFF2-40B4-BE49-F238E27FC236}">
                    <a16:creationId xmlns:a16="http://schemas.microsoft.com/office/drawing/2014/main" id="{8F61E090-EC02-6863-29F0-C351780E4A45}"/>
                  </a:ext>
                </a:extLst>
              </p:cNvPr>
              <p:cNvSpPr>
                <a:spLocks noRot="1" noChangeAspect="1" noMove="1" noResize="1" noEditPoints="1" noAdjustHandles="1" noChangeArrowheads="1" noChangeShapeType="1" noTextEdit="1"/>
              </p:cNvSpPr>
              <p:nvPr/>
            </p:nvSpPr>
            <p:spPr>
              <a:xfrm>
                <a:off x="9339444" y="2561022"/>
                <a:ext cx="2203521" cy="608202"/>
              </a:xfrm>
              <a:prstGeom prst="wedgeRoundRectCallout">
                <a:avLst>
                  <a:gd name="adj1" fmla="val -46829"/>
                  <a:gd name="adj2" fmla="val 117705"/>
                  <a:gd name="adj3" fmla="val 16667"/>
                </a:avLst>
              </a:prstGeom>
              <a:blipFill>
                <a:blip r:embed="rId3"/>
                <a:stretch>
                  <a:fillRect t="-3448"/>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D7BDD7AE-2B81-C7AA-2F15-557897185B7C}"/>
              </a:ext>
            </a:extLst>
          </p:cNvPr>
          <p:cNvGrpSpPr/>
          <p:nvPr/>
        </p:nvGrpSpPr>
        <p:grpSpPr>
          <a:xfrm>
            <a:off x="3403038" y="5115437"/>
            <a:ext cx="3653900" cy="596981"/>
            <a:chOff x="2533297" y="3175234"/>
            <a:chExt cx="1503726" cy="637430"/>
          </a:xfrm>
        </p:grpSpPr>
        <p:sp>
          <p:nvSpPr>
            <p:cNvPr id="14" name="Right Brace 13">
              <a:extLst>
                <a:ext uri="{FF2B5EF4-FFF2-40B4-BE49-F238E27FC236}">
                  <a16:creationId xmlns:a16="http://schemas.microsoft.com/office/drawing/2014/main" id="{2EEA2F8E-4B7A-AA35-F0D2-C52779383E8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800" dirty="0"/>
            </a:p>
          </p:txBody>
        </p:sp>
        <p:sp>
          <p:nvSpPr>
            <p:cNvPr id="15" name="TextBox 14">
              <a:extLst>
                <a:ext uri="{FF2B5EF4-FFF2-40B4-BE49-F238E27FC236}">
                  <a16:creationId xmlns:a16="http://schemas.microsoft.com/office/drawing/2014/main" id="{5E74D3A6-E37A-651A-106A-1596BC76E7B9}"/>
                </a:ext>
              </a:extLst>
            </p:cNvPr>
            <p:cNvSpPr txBox="1"/>
            <p:nvPr/>
          </p:nvSpPr>
          <p:spPr>
            <a:xfrm>
              <a:off x="2602325" y="3385444"/>
              <a:ext cx="1365667" cy="427220"/>
            </a:xfrm>
            <a:prstGeom prst="rect">
              <a:avLst/>
            </a:prstGeom>
            <a:noFill/>
          </p:spPr>
          <p:txBody>
            <a:bodyPr wrap="square" rtlCol="0">
              <a:spAutoFit/>
            </a:bodyPr>
            <a:lstStyle/>
            <a:p>
              <a:pPr algn="ctr"/>
              <a:r>
                <a:rPr lang="en-US" sz="2000" dirty="0"/>
                <a:t>Expectation</a:t>
              </a:r>
            </a:p>
          </p:txBody>
        </p:sp>
      </p:grpSp>
      <p:sp>
        <p:nvSpPr>
          <p:cNvPr id="21" name="TextBox 20">
            <a:extLst>
              <a:ext uri="{FF2B5EF4-FFF2-40B4-BE49-F238E27FC236}">
                <a16:creationId xmlns:a16="http://schemas.microsoft.com/office/drawing/2014/main" id="{E4EE9FDF-7C28-1E46-961F-087EFC4251FF}"/>
              </a:ext>
            </a:extLst>
          </p:cNvPr>
          <p:cNvSpPr txBox="1"/>
          <p:nvPr/>
        </p:nvSpPr>
        <p:spPr>
          <a:xfrm>
            <a:off x="6768957" y="5589928"/>
            <a:ext cx="1022948" cy="400110"/>
          </a:xfrm>
          <a:prstGeom prst="rect">
            <a:avLst/>
          </a:prstGeom>
          <a:noFill/>
        </p:spPr>
        <p:txBody>
          <a:bodyPr wrap="square" rtlCol="0">
            <a:spAutoFit/>
          </a:bodyPr>
          <a:lstStyle/>
          <a:p>
            <a:r>
              <a:rPr lang="en-US" sz="2000" dirty="0"/>
              <a:t>Reward</a:t>
            </a:r>
          </a:p>
        </p:txBody>
      </p:sp>
      <p:cxnSp>
        <p:nvCxnSpPr>
          <p:cNvPr id="23" name="Straight Arrow Connector 22">
            <a:extLst>
              <a:ext uri="{FF2B5EF4-FFF2-40B4-BE49-F238E27FC236}">
                <a16:creationId xmlns:a16="http://schemas.microsoft.com/office/drawing/2014/main" id="{C09116B6-9B23-7869-BD04-BBDEADA7F1A9}"/>
              </a:ext>
            </a:extLst>
          </p:cNvPr>
          <p:cNvCxnSpPr>
            <a:cxnSpLocks/>
          </p:cNvCxnSpPr>
          <p:nvPr/>
        </p:nvCxnSpPr>
        <p:spPr>
          <a:xfrm flipV="1">
            <a:off x="7263766" y="4756891"/>
            <a:ext cx="0" cy="7407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35376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sp>
        <p:nvSpPr>
          <p:cNvPr id="10" name="TextBox 9">
            <a:extLst>
              <a:ext uri="{FF2B5EF4-FFF2-40B4-BE49-F238E27FC236}">
                <a16:creationId xmlns:a16="http://schemas.microsoft.com/office/drawing/2014/main" id="{D58965A1-A3ED-8B2B-C65E-7B51BCECB94C}"/>
              </a:ext>
            </a:extLst>
          </p:cNvPr>
          <p:cNvSpPr txBox="1"/>
          <p:nvPr/>
        </p:nvSpPr>
        <p:spPr>
          <a:xfrm>
            <a:off x="1528652" y="2094044"/>
            <a:ext cx="9269643" cy="369332"/>
          </a:xfrm>
          <a:prstGeom prst="rect">
            <a:avLst/>
          </a:prstGeom>
          <a:noFill/>
        </p:spPr>
        <p:txBody>
          <a:bodyPr wrap="square" rtlCol="0">
            <a:spAutoFit/>
          </a:bodyPr>
          <a:lstStyle/>
          <a:p>
            <a:r>
              <a:rPr lang="en-US" dirty="0"/>
              <a:t>Choosing an action in a state (= calculate the expectation over actions)</a:t>
            </a:r>
          </a:p>
        </p:txBody>
      </p:sp>
      <p:sp>
        <p:nvSpPr>
          <p:cNvPr id="11" name="TextBox 10">
            <a:extLst>
              <a:ext uri="{FF2B5EF4-FFF2-40B4-BE49-F238E27FC236}">
                <a16:creationId xmlns:a16="http://schemas.microsoft.com/office/drawing/2014/main" id="{8A21BF7C-1E7B-78BD-68C7-96F0DDE78F8A}"/>
              </a:ext>
            </a:extLst>
          </p:cNvPr>
          <p:cNvSpPr txBox="1"/>
          <p:nvPr/>
        </p:nvSpPr>
        <p:spPr>
          <a:xfrm>
            <a:off x="1577677" y="4371167"/>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2"/>
            <a:stretch>
              <a:fillRect/>
            </a:stretch>
          </p:blipFill>
          <p:spPr>
            <a:xfrm>
              <a:off x="3293739" y="4870910"/>
              <a:ext cx="5675756" cy="1478301"/>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4"/>
            <a:stretch>
              <a:fillRect/>
            </a:stretch>
          </p:blipFill>
          <p:spPr>
            <a:xfrm>
              <a:off x="2687521" y="2463376"/>
              <a:ext cx="6491573" cy="1298315"/>
            </a:xfrm>
            <a:prstGeom prst="rect">
              <a:avLst/>
            </a:prstGeom>
          </p:spPr>
        </p:pic>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BD9CA9A-101C-CAAC-4985-706DF27243E2}"/>
                  </a:ext>
                </a:extLst>
              </p:cNvPr>
              <p:cNvSpPr txBox="1"/>
              <p:nvPr/>
            </p:nvSpPr>
            <p:spPr>
              <a:xfrm>
                <a:off x="8024116"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8024116" y="5063188"/>
                <a:ext cx="4167884" cy="794961"/>
              </a:xfrm>
              <a:prstGeom prst="rect">
                <a:avLst/>
              </a:prstGeom>
              <a:blipFill>
                <a:blip r:embed="rId1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233104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696598" y="3332781"/>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73834" y="4365683"/>
            <a:ext cx="400110" cy="679801"/>
          </a:xfrm>
          <a:prstGeom prst="rect">
            <a:avLst/>
          </a:prstGeom>
          <a:noFill/>
        </p:spPr>
        <p:txBody>
          <a:bodyPr vert="vert270" wrap="none" rtlCol="0">
            <a:spAutoFit/>
          </a:bodyPr>
          <a:lstStyle/>
          <a:p>
            <a:r>
              <a:rPr lang="en-US" sz="1400" dirty="0">
                <a:solidFill>
                  <a:schemeClr val="accent2"/>
                </a:solidFill>
              </a:rPr>
              <a:t>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30185" y="2625474"/>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p:nvPr/>
        </p:nvCxnSpPr>
        <p:spPr>
          <a:xfrm flipV="1">
            <a:off x="6691076" y="2321367"/>
            <a:ext cx="0" cy="2661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7054044" y="3868581"/>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5086313" y="2593247"/>
            <a:ext cx="1437575" cy="523220"/>
          </a:xfrm>
          <a:prstGeom prst="rect">
            <a:avLst/>
          </a:prstGeom>
          <a:noFill/>
        </p:spPr>
        <p:txBody>
          <a:bodyPr wrap="square" rtlCol="0">
            <a:spAutoFit/>
          </a:bodyPr>
          <a:lstStyle/>
          <a:p>
            <a:pPr algn="ctr"/>
            <a:r>
              <a:rPr lang="en-US" sz="1400" dirty="0"/>
              <a:t>Expectation for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C8C7ED0-7C71-B9F9-FA77-BA5A37C68E53}"/>
                  </a:ext>
                </a:extLst>
              </p:cNvPr>
              <p:cNvSpPr txBox="1"/>
              <p:nvPr/>
            </p:nvSpPr>
            <p:spPr>
              <a:xfrm>
                <a:off x="2330957" y="6163949"/>
                <a:ext cx="799845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oMath>
                </a14:m>
                <a:r>
                  <a:rPr lang="en-US" dirty="0"/>
                  <a:t>is estimated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e>
                    </m:d>
                    <m:r>
                      <a:rPr lang="en-US" i="1">
                        <a:latin typeface="Cambria Math" panose="02040503050406030204" pitchFamily="18" charset="0"/>
                      </a:rPr>
                      <m:t> </m:t>
                    </m:r>
                  </m:oMath>
                </a14:m>
                <a:r>
                  <a:rPr lang="en-US" dirty="0"/>
                  <a:t>estimates, then this is called </a:t>
                </a:r>
                <a:r>
                  <a:rPr lang="en-US" b="1" dirty="0"/>
                  <a:t>bootstrapping</a:t>
                </a:r>
                <a:r>
                  <a:rPr lang="en-US" dirty="0"/>
                  <a:t>. </a:t>
                </a:r>
              </a:p>
            </p:txBody>
          </p:sp>
        </mc:Choice>
        <mc:Fallback xmlns="">
          <p:sp>
            <p:nvSpPr>
              <p:cNvPr id="29" name="TextBox 28">
                <a:extLst>
                  <a:ext uri="{FF2B5EF4-FFF2-40B4-BE49-F238E27FC236}">
                    <a16:creationId xmlns:a16="http://schemas.microsoft.com/office/drawing/2014/main" id="{0C8C7ED0-7C71-B9F9-FA77-BA5A37C68E53}"/>
                  </a:ext>
                </a:extLst>
              </p:cNvPr>
              <p:cNvSpPr txBox="1">
                <a:spLocks noRot="1" noChangeAspect="1" noMove="1" noResize="1" noEditPoints="1" noAdjustHandles="1" noChangeArrowheads="1" noChangeShapeType="1" noTextEdit="1"/>
              </p:cNvSpPr>
              <p:nvPr/>
            </p:nvSpPr>
            <p:spPr>
              <a:xfrm>
                <a:off x="2330957" y="6163949"/>
                <a:ext cx="7998455" cy="369332"/>
              </a:xfrm>
              <a:prstGeom prst="rect">
                <a:avLst/>
              </a:prstGeom>
              <a:blipFill>
                <a:blip r:embed="rId5"/>
                <a:stretch>
                  <a:fillRect t="-4688" b="-21875"/>
                </a:stretch>
              </a:blipFill>
            </p:spPr>
            <p:txBody>
              <a:bodyPr/>
              <a:lstStyle/>
              <a:p>
                <a:r>
                  <a:rPr lang="en-US">
                    <a:noFill/>
                  </a:rPr>
                  <a:t> </a:t>
                </a:r>
              </a:p>
            </p:txBody>
          </p:sp>
        </mc:Fallback>
      </mc:AlternateContent>
    </p:spTree>
    <p:extLst>
      <p:ext uri="{BB962C8B-B14F-4D97-AF65-F5344CB8AC3E}">
        <p14:creationId xmlns:p14="http://schemas.microsoft.com/office/powerpoint/2010/main" val="3431343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and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925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b="1" dirty="0"/>
                  <a:t>Sample-average method </a:t>
                </a:r>
                <a:r>
                  <a:rPr lang="en-US" dirty="0"/>
                  <a:t>(a simple Monte Carlo method):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a:t>
                </a:r>
              </a:p>
              <a:p>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F510C-7D37-B5A0-27AA-6175B16739F7}"/>
              </a:ext>
            </a:extLst>
          </p:cNvPr>
          <p:cNvSpPr>
            <a:spLocks noGrp="1"/>
          </p:cNvSpPr>
          <p:nvPr>
            <p:ph type="title"/>
          </p:nvPr>
        </p:nvSpPr>
        <p:spPr/>
        <p:txBody>
          <a:bodyPr/>
          <a:lstStyle/>
          <a:p>
            <a:r>
              <a:rPr lang="en-US" dirty="0"/>
              <a:t>Optimal Policies and </a:t>
            </a:r>
            <a:br>
              <a:rPr lang="en-US" dirty="0"/>
            </a:br>
            <a:r>
              <a:rPr lang="en-US" dirty="0"/>
              <a:t>Value Functions</a:t>
            </a:r>
          </a:p>
        </p:txBody>
      </p:sp>
      <p:sp>
        <p:nvSpPr>
          <p:cNvPr id="5" name="Text Placeholder 4">
            <a:extLst>
              <a:ext uri="{FF2B5EF4-FFF2-40B4-BE49-F238E27FC236}">
                <a16:creationId xmlns:a16="http://schemas.microsoft.com/office/drawing/2014/main" id="{79EC1A0B-4B88-62C6-F6B6-247D7871F58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35847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Optimal Policies and Value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p>
              <a:p>
                <a:r>
                  <a:rPr lang="en-US" dirty="0"/>
                  <a:t>A policy is better if it has larger state values.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This also implies an optimal action-value function:</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endParaRPr lang="en-US" dirty="0"/>
              </a:p>
              <a:p>
                <a:r>
                  <a:rPr lang="en-US" dirty="0"/>
                  <a:t>Since it directly depends on the optimal value function</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r>
                  <a:rPr lang="en-US" dirty="0"/>
                  <a:t>If we know for each state what the best action is (has the highest Q-value), then we will always choose that action. </a:t>
                </a: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48D8F64-3A8A-2A56-96BF-3AEB319D2A94}"/>
              </a:ext>
            </a:extLst>
          </p:cNvPr>
          <p:cNvSpPr/>
          <p:nvPr/>
        </p:nvSpPr>
        <p:spPr>
          <a:xfrm>
            <a:off x="5858155" y="4766337"/>
            <a:ext cx="998290" cy="43622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4145584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397331"/>
                <a:ext cx="6906139" cy="4151890"/>
              </a:xfrm>
            </p:spPr>
            <p:txBody>
              <a:bodyPr>
                <a:normAutofit fontScale="62500" lnSpcReduction="20000"/>
              </a:bodyPr>
              <a:lstStyle/>
              <a:p>
                <a:r>
                  <a:rPr lang="en-US" b="1" dirty="0"/>
                  <a:t>Idea</a:t>
                </a:r>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always picks the best action, so the optimal state value needs to be the state-action value of the best action.</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b="1" dirty="0"/>
              </a:p>
              <a:p>
                <a:endParaRPr lang="en-US" dirty="0"/>
              </a:p>
              <a:p>
                <a:r>
                  <a:rPr lang="en-US" dirty="0"/>
                  <a:t>The Bellman optimality equations can be rewritten as: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oMath>
                  </m:oMathPara>
                </a14:m>
                <a:endParaRPr lang="en-US" dirty="0"/>
              </a:p>
              <a:p>
                <a:pPr marL="0" indent="0">
                  <a:lnSpc>
                    <a:spcPct val="100000"/>
                  </a:lnSpc>
                  <a:buNone/>
                </a:pPr>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397331"/>
                <a:ext cx="6906139" cy="4151890"/>
              </a:xfrm>
              <a:blipFill>
                <a:blip r:embed="rId2"/>
                <a:stretch>
                  <a:fillRect l="-618" t="-2203"/>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216013"/>
            <a:ext cx="795738" cy="12082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71480" y="5730706"/>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67563B02-7737-E44A-76F5-D26AFD105B7C}"/>
                  </a:ext>
                </a:extLst>
              </p:cNvPr>
              <p:cNvSpPr/>
              <p:nvPr/>
            </p:nvSpPr>
            <p:spPr>
              <a:xfrm>
                <a:off x="2701320" y="5650750"/>
                <a:ext cx="4309624" cy="680250"/>
              </a:xfrm>
              <a:prstGeom prst="wedgeRoundRectCallout">
                <a:avLst>
                  <a:gd name="adj1" fmla="val 18777"/>
                  <a:gd name="adj2" fmla="val -1406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Issue with recursive relationship: To calculate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we need to know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r>
                  <a:rPr lang="en-US" dirty="0"/>
                  <a:t>  </a:t>
                </a:r>
              </a:p>
            </p:txBody>
          </p:sp>
        </mc:Choice>
        <mc:Fallback xmlns="">
          <p:sp>
            <p:nvSpPr>
              <p:cNvPr id="10" name="Speech Bubble: Rectangle with Corners Rounded 9">
                <a:extLst>
                  <a:ext uri="{FF2B5EF4-FFF2-40B4-BE49-F238E27FC236}">
                    <a16:creationId xmlns:a16="http://schemas.microsoft.com/office/drawing/2014/main" id="{67563B02-7737-E44A-76F5-D26AFD105B7C}"/>
                  </a:ext>
                </a:extLst>
              </p:cNvPr>
              <p:cNvSpPr>
                <a:spLocks noRot="1" noChangeAspect="1" noMove="1" noResize="1" noEditPoints="1" noAdjustHandles="1" noChangeArrowheads="1" noChangeShapeType="1" noTextEdit="1"/>
              </p:cNvSpPr>
              <p:nvPr/>
            </p:nvSpPr>
            <p:spPr>
              <a:xfrm>
                <a:off x="2701320" y="5650750"/>
                <a:ext cx="4309624" cy="680250"/>
              </a:xfrm>
              <a:prstGeom prst="wedgeRoundRectCallout">
                <a:avLst>
                  <a:gd name="adj1" fmla="val 18777"/>
                  <a:gd name="adj2" fmla="val -140660"/>
                  <a:gd name="adj3" fmla="val 16667"/>
                </a:avLst>
              </a:prstGeom>
              <a:blipFill>
                <a:blip r:embed="rId4"/>
                <a:stretch>
                  <a:fillRect b="-5046"/>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spTree>
    <p:extLst>
      <p:ext uri="{BB962C8B-B14F-4D97-AF65-F5344CB8AC3E}">
        <p14:creationId xmlns:p14="http://schemas.microsoft.com/office/powerpoint/2010/main" val="39905257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Bellman Optimality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85000" lnSpcReduction="20000"/>
              </a:bodyPr>
              <a:lstStyle/>
              <a:p>
                <a:r>
                  <a:rPr lang="en-US" dirty="0"/>
                  <a:t>The optimality condition is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Guarantee</a:t>
                </a:r>
                <a:r>
                  <a:rPr lang="en-US" dirty="0"/>
                  <a:t>: Finite MDPs have a unique solution.</a:t>
                </a:r>
              </a:p>
              <a:p>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m:rPr>
                        <m:sty m:val="p"/>
                      </m:rPr>
                      <a:rPr lang="en-US" b="0" i="1" dirty="0" smtClean="0">
                        <a:latin typeface="Cambria Math" panose="02040503050406030204" pitchFamily="18" charset="0"/>
                      </a:rPr>
                      <m:t>p</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85000" lnSpcReduction="20000"/>
              </a:bodyPr>
              <a:lstStyle/>
              <a:p>
                <a:pPr marL="0" indent="0">
                  <a:buNone/>
                </a:pPr>
                <a:r>
                  <a:rPr lang="en-US" b="1" dirty="0"/>
                  <a:t>MDP simplifications:</a:t>
                </a:r>
              </a:p>
              <a:p>
                <a:pPr lvl="1"/>
                <a:r>
                  <a:rPr lang="en-US" b="1" dirty="0"/>
                  <a:t>Multi-armed bandits</a:t>
                </a:r>
              </a:p>
              <a:p>
                <a:pPr lvl="2"/>
                <a:r>
                  <a:rPr lang="en-US" dirty="0"/>
                  <a:t>You repeatedly choose an arm (action).</a:t>
                </a:r>
              </a:p>
              <a:p>
                <a:pPr lvl="2"/>
                <a:r>
                  <a:rPr lang="en-US" dirty="0"/>
                  <a:t>You immediately get a reward and start over.</a:t>
                </a:r>
              </a:p>
              <a:p>
                <a:pPr lvl="2"/>
                <a:r>
                  <a:rPr lang="en-US" dirty="0"/>
                  <a:t>There is no state evolution.</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lnSpcReduction="1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dirty="0"/>
                  <a:t>Recursive relationship 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665" t="-1115" b="-1338"/>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11363</TotalTime>
  <Words>3239</Words>
  <Application>Microsoft Office PowerPoint</Application>
  <PresentationFormat>Widescreen</PresentationFormat>
  <Paragraphs>542</Paragraphs>
  <Slides>28</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Summary of Notation</vt:lpstr>
      <vt:lpstr>The Agent–Environment Interface</vt:lpstr>
      <vt:lpstr>Finite MDP</vt:lpstr>
      <vt:lpstr>Transition and Reward Functions</vt:lpstr>
      <vt:lpstr>Finite Markov Decision Process (MDP)</vt:lpstr>
      <vt:lpstr>Alternative Representations of a Finite MDP</vt:lpstr>
      <vt:lpstr>Example: Mobile Robot MDP</vt:lpstr>
      <vt:lpstr>Exercise: 3x4 Grid World</vt:lpstr>
      <vt:lpstr>Goals, 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Bellman Equation</vt:lpstr>
      <vt:lpstr>Backup Diagrams: Notation</vt:lpstr>
      <vt:lpstr>Bellman Equation as a Backup Diagram</vt:lpstr>
      <vt:lpstr>Value Function Estimation and Monte Carlo Methods</vt:lpstr>
      <vt:lpstr>Optimal Policies and  Value Functions</vt:lpstr>
      <vt:lpstr>Optimal Policies and Value Functions</vt:lpstr>
      <vt:lpstr>Bellman Optimality Equations</vt:lpstr>
      <vt:lpstr>Bellman Optimality</vt:lpstr>
      <vt:lpstr>Related Models</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110</cp:revision>
  <dcterms:created xsi:type="dcterms:W3CDTF">2025-09-08T14:44:49Z</dcterms:created>
  <dcterms:modified xsi:type="dcterms:W3CDTF">2026-01-28T16:41:40Z</dcterms:modified>
</cp:coreProperties>
</file>