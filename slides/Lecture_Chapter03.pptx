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313" r:id="rId3"/>
    <p:sldId id="478" r:id="rId4"/>
    <p:sldId id="482" r:id="rId5"/>
    <p:sldId id="353" r:id="rId6"/>
    <p:sldId id="486" r:id="rId7"/>
    <p:sldId id="485" r:id="rId8"/>
    <p:sldId id="354" r:id="rId9"/>
    <p:sldId id="355" r:id="rId10"/>
    <p:sldId id="470" r:id="rId11"/>
    <p:sldId id="356" r:id="rId12"/>
    <p:sldId id="387" r:id="rId13"/>
    <p:sldId id="382" r:id="rId14"/>
    <p:sldId id="357" r:id="rId15"/>
    <p:sldId id="358" r:id="rId16"/>
    <p:sldId id="360" r:id="rId17"/>
    <p:sldId id="383" r:id="rId18"/>
    <p:sldId id="359" r:id="rId19"/>
    <p:sldId id="476" r:id="rId20"/>
    <p:sldId id="474" r:id="rId21"/>
    <p:sldId id="475" r:id="rId22"/>
    <p:sldId id="361" r:id="rId23"/>
    <p:sldId id="364" r:id="rId24"/>
    <p:sldId id="479" r:id="rId25"/>
    <p:sldId id="481" r:id="rId26"/>
    <p:sldId id="362" r:id="rId27"/>
    <p:sldId id="385" r:id="rId28"/>
    <p:sldId id="386" r:id="rId29"/>
    <p:sldId id="365" r:id="rId30"/>
    <p:sldId id="366" r:id="rId31"/>
    <p:sldId id="480" r:id="rId32"/>
    <p:sldId id="484" r:id="rId33"/>
    <p:sldId id="483" r:id="rId34"/>
    <p:sldId id="477" r:id="rId35"/>
    <p:sldId id="462" r:id="rId36"/>
    <p:sldId id="367"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13"/>
            <p14:sldId id="478"/>
          </p14:sldIdLst>
        </p14:section>
        <p14:section name="Finite MDP" id="{99C52200-DC0B-4ED7-BC0A-CEC376E11BA5}">
          <p14:sldIdLst>
            <p14:sldId id="482"/>
            <p14:sldId id="353"/>
            <p14:sldId id="486"/>
            <p14:sldId id="485"/>
            <p14:sldId id="354"/>
            <p14:sldId id="355"/>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1"/>
            <p14:sldId id="364"/>
            <p14:sldId id="479"/>
          </p14:sldIdLst>
        </p14:section>
        <p14:section name="The Bellman Equations" id="{B19D000B-7E84-4CC1-9F4D-436975F77C2D}">
          <p14:sldIdLst>
            <p14:sldId id="481"/>
            <p14:sldId id="362"/>
            <p14:sldId id="385"/>
            <p14:sldId id="386"/>
            <p14:sldId id="365"/>
            <p14:sldId id="366"/>
            <p14:sldId id="480"/>
          </p14:sldIdLst>
        </p14:section>
        <p14:section name="Summary" id="{8BC0CBAD-81F8-4558-BDE1-1F8C08AC95EA}">
          <p14:sldIdLst>
            <p14:sldId id="484"/>
            <p14:sldId id="483"/>
            <p14:sldId id="477"/>
            <p14:sldId id="462"/>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923" autoAdjust="0"/>
    <p:restoredTop sz="89001" autoAdjust="0"/>
  </p:normalViewPr>
  <p:slideViewPr>
    <p:cSldViewPr snapToGrid="0">
      <p:cViewPr varScale="1">
        <p:scale>
          <a:sx n="143" d="100"/>
          <a:sy n="143" d="100"/>
        </p:scale>
        <p:origin x="492" y="96"/>
      </p:cViewPr>
      <p:guideLst/>
    </p:cSldViewPr>
  </p:slideViewPr>
  <p:notesTextViewPr>
    <p:cViewPr>
      <p:scale>
        <a:sx n="1" d="1"/>
        <a:sy n="1" d="1"/>
      </p:scale>
      <p:origin x="0" y="0"/>
    </p:cViewPr>
  </p:notesTextViewPr>
  <p:sorterViewPr>
    <p:cViewPr>
      <p:scale>
        <a:sx n="100" d="100"/>
        <a:sy n="100" d="100"/>
      </p:scale>
      <p:origin x="0" y="-637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9/4/2026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10</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9/4/2026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9/4/2026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9/4/2026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9/4/2026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9/4/2026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9/4/2026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9/4/2026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9/4/2026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9/4/2026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9/4/2026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9/4/2026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9/4/2026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8.png"/><Relationship Id="rId7" Type="http://schemas.openxmlformats.org/officeDocument/2006/relationships/image" Target="../media/image13.png"/><Relationship Id="rId12"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11" Type="http://schemas.openxmlformats.org/officeDocument/2006/relationships/image" Target="../media/image17.png"/><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6.png"/><Relationship Id="rId9" Type="http://schemas.openxmlformats.org/officeDocument/2006/relationships/image" Target="../media/image1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92.png"/><Relationship Id="rId18" Type="http://schemas.openxmlformats.org/officeDocument/2006/relationships/image" Target="../media/image24.png"/><Relationship Id="rId3" Type="http://schemas.openxmlformats.org/officeDocument/2006/relationships/image" Target="../media/image18.png"/><Relationship Id="rId21" Type="http://schemas.openxmlformats.org/officeDocument/2006/relationships/image" Target="../media/image27.png"/><Relationship Id="rId7" Type="http://schemas.openxmlformats.org/officeDocument/2006/relationships/image" Target="../media/image171.png"/><Relationship Id="rId12" Type="http://schemas.openxmlformats.org/officeDocument/2006/relationships/image" Target="../media/image19.png"/><Relationship Id="rId17" Type="http://schemas.openxmlformats.org/officeDocument/2006/relationships/image" Target="../media/image23.png"/><Relationship Id="rId2" Type="http://schemas.openxmlformats.org/officeDocument/2006/relationships/notesSlide" Target="../notesSlides/notesSlide2.xml"/><Relationship Id="rId16" Type="http://schemas.openxmlformats.org/officeDocument/2006/relationships/image" Target="../media/image22.png"/><Relationship Id="rId20"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21.png"/><Relationship Id="rId23" Type="http://schemas.openxmlformats.org/officeDocument/2006/relationships/image" Target="../media/image29.png"/><Relationship Id="rId10" Type="http://schemas.openxmlformats.org/officeDocument/2006/relationships/image" Target="../media/image200.png"/><Relationship Id="rId19" Type="http://schemas.openxmlformats.org/officeDocument/2006/relationships/image" Target="../media/image25.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20.png"/><Relationship Id="rId22"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333.png"/><Relationship Id="rId18" Type="http://schemas.openxmlformats.org/officeDocument/2006/relationships/image" Target="../media/image190.png"/><Relationship Id="rId21" Type="http://schemas.openxmlformats.org/officeDocument/2006/relationships/image" Target="../media/image220.png"/><Relationship Id="rId7" Type="http://schemas.openxmlformats.org/officeDocument/2006/relationships/image" Target="../media/image171.png"/><Relationship Id="rId12" Type="http://schemas.openxmlformats.org/officeDocument/2006/relationships/image" Target="../media/image130.png"/><Relationship Id="rId17" Type="http://schemas.openxmlformats.org/officeDocument/2006/relationships/image" Target="../media/image180.png"/><Relationship Id="rId2" Type="http://schemas.openxmlformats.org/officeDocument/2006/relationships/notesSlide" Target="../notesSlides/notesSlide3.xml"/><Relationship Id="rId16" Type="http://schemas.openxmlformats.org/officeDocument/2006/relationships/image" Target="../media/image170.png"/><Relationship Id="rId20" Type="http://schemas.openxmlformats.org/officeDocument/2006/relationships/image" Target="../media/image211.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160.png"/><Relationship Id="rId23" Type="http://schemas.openxmlformats.org/officeDocument/2006/relationships/image" Target="../media/image230.png"/><Relationship Id="rId10" Type="http://schemas.openxmlformats.org/officeDocument/2006/relationships/image" Target="../media/image200.png"/><Relationship Id="rId19" Type="http://schemas.openxmlformats.org/officeDocument/2006/relationships/image" Target="../media/image201.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0.png"/><Relationship Id="rId22" Type="http://schemas.openxmlformats.org/officeDocument/2006/relationships/image" Target="../media/image90.png"/></Relationships>
</file>

<file path=ppt/slides/_rels/slide11.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image" Target="../media/image34.png"/><Relationship Id="rId1" Type="http://schemas.openxmlformats.org/officeDocument/2006/relationships/slideLayout" Target="../slideLayouts/slideLayout2.xml"/><Relationship Id="rId5" Type="http://schemas.openxmlformats.org/officeDocument/2006/relationships/image" Target="../media/image241.png"/><Relationship Id="rId4" Type="http://schemas.openxmlformats.org/officeDocument/2006/relationships/image" Target="../media/image150.png"/></Relationships>
</file>

<file path=ppt/slides/_rels/slide12.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0.png"/><Relationship Id="rId4" Type="http://schemas.openxmlformats.org/officeDocument/2006/relationships/image" Target="../media/image310.png"/></Relationships>
</file>

<file path=ppt/slides/_rels/slide19.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32.png"/><Relationship Id="rId1" Type="http://schemas.openxmlformats.org/officeDocument/2006/relationships/slideLayout" Target="../slideLayouts/slideLayout2.xml"/><Relationship Id="rId5" Type="http://schemas.openxmlformats.org/officeDocument/2006/relationships/image" Target="../media/image351.png"/><Relationship Id="rId4" Type="http://schemas.openxmlformats.org/officeDocument/2006/relationships/image" Target="../media/image340.png"/></Relationships>
</file>

<file path=ppt/slides/_rels/slide20.xml.rels><?xml version="1.0" encoding="UTF-8" standalone="yes"?>
<Relationships xmlns="http://schemas.openxmlformats.org/package/2006/relationships"><Relationship Id="rId3" Type="http://schemas.openxmlformats.org/officeDocument/2006/relationships/image" Target="../media/image371.png"/><Relationship Id="rId2" Type="http://schemas.openxmlformats.org/officeDocument/2006/relationships/image" Target="../media/image360.png"/><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50.png"/></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390.png"/><Relationship Id="rId5" Type="http://schemas.openxmlformats.org/officeDocument/2006/relationships/image" Target="../media/image41.png"/><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3.xml.rels><?xml version="1.0" encoding="UTF-8" standalone="yes"?>
<Relationships xmlns="http://schemas.openxmlformats.org/package/2006/relationships"><Relationship Id="rId2" Type="http://schemas.openxmlformats.org/officeDocument/2006/relationships/image" Target="../media/image39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20.png"/><Relationship Id="rId7" Type="http://schemas.openxmlformats.org/officeDocument/2006/relationships/image" Target="../media/image441.png"/><Relationship Id="rId2" Type="http://schemas.openxmlformats.org/officeDocument/2006/relationships/image" Target="../media/image411.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41.png"/><Relationship Id="rId4" Type="http://schemas.openxmlformats.org/officeDocument/2006/relationships/image" Target="../media/image431.png"/><Relationship Id="rId9" Type="http://schemas.openxmlformats.org/officeDocument/2006/relationships/image" Target="../media/image46.png"/></Relationships>
</file>

<file path=ppt/slides/_rels/slide27.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430.png"/><Relationship Id="rId7" Type="http://schemas.openxmlformats.org/officeDocument/2006/relationships/image" Target="../media/image470.png"/><Relationship Id="rId12" Type="http://schemas.openxmlformats.org/officeDocument/2006/relationships/image" Target="../media/image51.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460.png"/><Relationship Id="rId11" Type="http://schemas.openxmlformats.org/officeDocument/2006/relationships/image" Target="../media/image440.png"/><Relationship Id="rId5" Type="http://schemas.openxmlformats.org/officeDocument/2006/relationships/image" Target="../media/image451.png"/><Relationship Id="rId10" Type="http://schemas.openxmlformats.org/officeDocument/2006/relationships/image" Target="../media/image50.png"/><Relationship Id="rId9" Type="http://schemas.openxmlformats.org/officeDocument/2006/relationships/image" Target="../media/image49.png"/><Relationship Id="rId14" Type="http://schemas.openxmlformats.org/officeDocument/2006/relationships/image" Target="../media/image53.png"/></Relationships>
</file>

<file path=ppt/slides/_rels/slide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330.png"/><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450.png"/></Relationships>
</file>

<file path=ppt/slides/_rels/slide2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40.png"/><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0.png"/></Relationships>
</file>

<file path=ppt/slides/_rels/slide3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7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8" Type="http://schemas.openxmlformats.org/officeDocument/2006/relationships/image" Target="../media/image640.png"/><Relationship Id="rId3" Type="http://schemas.openxmlformats.org/officeDocument/2006/relationships/image" Target="../media/image64.png"/><Relationship Id="rId7" Type="http://schemas.openxmlformats.org/officeDocument/2006/relationships/image" Target="../media/image3900.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380.png"/><Relationship Id="rId11" Type="http://schemas.openxmlformats.org/officeDocument/2006/relationships/image" Target="../media/image67.png"/><Relationship Id="rId5" Type="http://schemas.openxmlformats.org/officeDocument/2006/relationships/image" Target="../media/image370.png"/><Relationship Id="rId10" Type="http://schemas.openxmlformats.org/officeDocument/2006/relationships/image" Target="../media/image66.png"/><Relationship Id="rId4" Type="http://schemas.openxmlformats.org/officeDocument/2006/relationships/image" Target="../media/image65.png"/><Relationship Id="rId9" Type="http://schemas.openxmlformats.org/officeDocument/2006/relationships/image" Target="../media/image650.png"/></Relationships>
</file>

<file path=ppt/slides/_rels/slide36.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49006"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A9F9786C-76AC-22A8-2028-BB0A9E3784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DA1C6744-BD97-2C10-F393-A0B726F71E7A}"/>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Lst>
            </p:cNvPr>
            <p:cNvPicPr>
              <a:picLocks noChangeAspect="1"/>
            </p:cNvPicPr>
            <p:nvPr/>
          </p:nvPicPr>
          <p:blipFill>
            <a:blip r:embed="rId6"/>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26CB3135-CE78-1137-FBA3-29AA8592D8FA}"/>
                </a:ext>
              </a:extLst>
            </p:cNvPr>
            <p:cNvPicPr>
              <a:picLocks noChangeAspect="1"/>
            </p:cNvPicPr>
            <p:nvPr/>
          </p:nvPicPr>
          <p:blipFill>
            <a:blip r:embed="rId7"/>
            <a:stretch>
              <a:fillRect/>
            </a:stretch>
          </p:blipFill>
          <p:spPr>
            <a:xfrm>
              <a:off x="5315643" y="2435129"/>
              <a:ext cx="1560711" cy="1560711"/>
            </a:xfrm>
            <a:prstGeom prst="rect">
              <a:avLst/>
            </a:prstGeom>
          </p:spPr>
        </p:pic>
      </p:grpSp>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b="1"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b="0" i="1" dirty="0" smtClean="0">
                        <a:solidFill>
                          <a:schemeClr val="tx1"/>
                        </a:solidFill>
                        <a:latin typeface="Cambria Math" panose="02040503050406030204" pitchFamily="18" charset="0"/>
                      </a:rPr>
                      <m:t>,</m:t>
                    </m:r>
                    <m:r>
                      <a:rPr lang="en-US" sz="1200" b="0" i="1" dirty="0" smtClean="0">
                        <a:solidFill>
                          <a:schemeClr val="tx1"/>
                        </a:solidFill>
                        <a:latin typeface="Cambria Math" panose="02040503050406030204" pitchFamily="18" charset="0"/>
                      </a:rPr>
                      <m:t>𝑈</m:t>
                    </m:r>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0D45F-A5EC-D877-24F6-1CDF06A0D7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016FAC-FF7F-DAF5-EA55-47913C7B91B7}"/>
              </a:ext>
            </a:extLst>
          </p:cNvPr>
          <p:cNvSpPr>
            <a:spLocks noGrp="1"/>
          </p:cNvSpPr>
          <p:nvPr>
            <p:ph type="title"/>
          </p:nvPr>
        </p:nvSpPr>
        <p:spPr/>
        <p:txBody>
          <a:bodyPr/>
          <a:lstStyle/>
          <a:p>
            <a:r>
              <a:rPr lang="en-US" dirty="0"/>
              <a:t>Finite Markov Decision Processes</a:t>
            </a:r>
          </a:p>
        </p:txBody>
      </p:sp>
      <p:sp>
        <p:nvSpPr>
          <p:cNvPr id="5" name="Text Placeholder 4">
            <a:extLst>
              <a:ext uri="{FF2B5EF4-FFF2-40B4-BE49-F238E27FC236}">
                <a16:creationId xmlns:a16="http://schemas.microsoft.com/office/drawing/2014/main" id="{C2A80DD8-FC4C-BA18-445E-E8AF88079517}"/>
              </a:ext>
            </a:extLst>
          </p:cNvPr>
          <p:cNvSpPr>
            <a:spLocks noGrp="1"/>
          </p:cNvSpPr>
          <p:nvPr>
            <p:ph type="body" idx="1"/>
          </p:nvPr>
        </p:nvSpPr>
        <p:spPr/>
        <p:txBody>
          <a:bodyPr/>
          <a:lstStyle/>
          <a:p>
            <a:r>
              <a:rPr lang="en-US" dirty="0"/>
              <a:t>The foundation of RL</a:t>
            </a:r>
          </a:p>
        </p:txBody>
      </p:sp>
    </p:spTree>
    <p:extLst>
      <p:ext uri="{BB962C8B-B14F-4D97-AF65-F5344CB8AC3E}">
        <p14:creationId xmlns:p14="http://schemas.microsoft.com/office/powerpoint/2010/main" val="3994199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pic>
        <p:nvPicPr>
          <p:cNvPr id="5" name="Content Placeholder 4">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965151" y="3970906"/>
                <a:ext cx="10261697" cy="2308324"/>
              </a:xfrm>
              <a:prstGeom prst="rect">
                <a:avLst/>
              </a:prstGeom>
              <a:noFill/>
            </p:spPr>
            <p:txBody>
              <a:bodyPr wrap="square">
                <a:spAutoFit/>
              </a:bodyPr>
              <a:lstStyle/>
              <a:p>
                <a:pPr algn="l"/>
                <a:r>
                  <a:rPr lang="en-US" sz="1600" dirty="0"/>
                  <a:t>We consider </a:t>
                </a:r>
                <a:r>
                  <a:rPr lang="en-US" sz="1600" b="1" dirty="0"/>
                  <a:t>discrete-time MDPs </a:t>
                </a:r>
                <a:r>
                  <a:rPr lang="en-US" sz="1600" dirty="0"/>
                  <a:t>where the  </a:t>
                </a:r>
                <a:r>
                  <a:rPr lang="en-US" sz="1600" b="1" dirty="0"/>
                  <a:t>interaction</a:t>
                </a:r>
                <a:r>
                  <a:rPr lang="en-US" sz="1600" dirty="0"/>
                  <a:t> is a sequence of discrete time steps, </a:t>
                </a:r>
                <a14:m>
                  <m:oMath xmlns:m="http://schemas.openxmlformats.org/officeDocument/2006/math">
                    <m:r>
                      <a:rPr lang="en-US" sz="1600" i="1" dirty="0" smtClean="0">
                        <a:latin typeface="Cambria Math" panose="02040503050406030204" pitchFamily="18" charset="0"/>
                      </a:rPr>
                      <m:t>𝑡</m:t>
                    </m:r>
                    <m:r>
                      <a:rPr lang="en-US" sz="1600" i="1" dirty="0" smtClean="0">
                        <a:latin typeface="Cambria Math" panose="02040503050406030204" pitchFamily="18" charset="0"/>
                      </a:rPr>
                      <m:t> = 0, 1, 2, 3, . . .</m:t>
                    </m:r>
                  </m:oMath>
                </a14:m>
                <a:endParaRPr lang="en-US" sz="1600" dirty="0"/>
              </a:p>
              <a:p>
                <a:pPr marL="171450" indent="-171450" algn="l">
                  <a:buFont typeface="Arial" panose="020B0604020202020204" pitchFamily="34" charset="0"/>
                  <a:buChar char="•"/>
                </a:pPr>
                <a:r>
                  <a:rPr lang="en-US" sz="1600" dirty="0"/>
                  <a:t> At each time step </a:t>
                </a:r>
                <a14:m>
                  <m:oMath xmlns:m="http://schemas.openxmlformats.org/officeDocument/2006/math">
                    <m:r>
                      <a:rPr lang="en-US" sz="1600" i="1" dirty="0" smtClean="0">
                        <a:latin typeface="Cambria Math" panose="02040503050406030204" pitchFamily="18" charset="0"/>
                      </a:rPr>
                      <m:t>𝑡</m:t>
                    </m:r>
                  </m:oMath>
                </a14:m>
                <a:r>
                  <a:rPr lang="en-US" sz="1600" dirty="0"/>
                  <a:t>: </a:t>
                </a:r>
              </a:p>
              <a:p>
                <a:pPr marL="800100" lvl="1" indent="-342900">
                  <a:buFont typeface="+mj-lt"/>
                  <a:buAutoNum type="arabicPeriod"/>
                </a:pPr>
                <a:r>
                  <a:rPr lang="en-US" sz="1600" dirty="0"/>
                  <a:t>Agent receives some representation of the environment’s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𝒮</m:t>
                    </m:r>
                    <m:r>
                      <a:rPr lang="en-US" sz="1600" i="1" dirty="0" smtClean="0">
                        <a:latin typeface="Cambria Math" panose="02040503050406030204" pitchFamily="18" charset="0"/>
                      </a:rPr>
                      <m:t> </m:t>
                    </m:r>
                  </m:oMath>
                </a14:m>
                <a:endParaRPr lang="en-US" sz="1600" dirty="0"/>
              </a:p>
              <a:p>
                <a:pPr marL="800100" lvl="1" indent="-342900">
                  <a:buFont typeface="+mj-lt"/>
                  <a:buAutoNum type="arabicPeriod"/>
                </a:pPr>
                <a:r>
                  <a:rPr lang="en-US" sz="1600" dirty="0"/>
                  <a:t>Agent selects an action,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𝒜</m:t>
                    </m:r>
                    <m:r>
                      <a:rPr lang="en-US" sz="1600" b="0" i="1" dirty="0" smtClean="0">
                        <a:latin typeface="Cambria Math" panose="02040503050406030204" pitchFamily="18" charset="0"/>
                        <a:ea typeface="Cambria Math" panose="02040503050406030204" pitchFamily="18" charset="0"/>
                      </a:rPr>
                      <m:t>(</m:t>
                    </m:r>
                    <m:sSub>
                      <m:sSubPr>
                        <m:ctrlPr>
                          <a:rPr lang="en-US" sz="1600" b="0" i="1" dirty="0" smtClean="0">
                            <a:latin typeface="Cambria Math" panose="02040503050406030204" pitchFamily="18" charset="0"/>
                            <a:ea typeface="Cambria Math" panose="02040503050406030204" pitchFamily="18" charset="0"/>
                          </a:rPr>
                        </m:ctrlPr>
                      </m:sSubPr>
                      <m:e>
                        <m:r>
                          <a:rPr lang="en-US" sz="1600" b="0" i="1" dirty="0" smtClean="0">
                            <a:latin typeface="Cambria Math" panose="02040503050406030204" pitchFamily="18" charset="0"/>
                            <a:ea typeface="Cambria Math" panose="02040503050406030204" pitchFamily="18" charset="0"/>
                          </a:rPr>
                          <m:t>𝑠</m:t>
                        </m:r>
                      </m:e>
                      <m:sub>
                        <m:r>
                          <a:rPr lang="en-US" sz="1600" b="0" i="1" dirty="0" smtClean="0">
                            <a:latin typeface="Cambria Math" panose="02040503050406030204" pitchFamily="18" charset="0"/>
                            <a:ea typeface="Cambria Math" panose="02040503050406030204" pitchFamily="18" charset="0"/>
                          </a:rPr>
                          <m:t>𝑡</m:t>
                        </m:r>
                      </m:sub>
                    </m:sSub>
                    <m:r>
                      <a:rPr lang="en-US" sz="1600" b="0" i="1" dirty="0" smtClean="0">
                        <a:latin typeface="Cambria Math" panose="02040503050406030204" pitchFamily="18" charset="0"/>
                        <a:ea typeface="Cambria Math" panose="02040503050406030204" pitchFamily="18" charset="0"/>
                      </a:rPr>
                      <m:t>)</m:t>
                    </m:r>
                  </m:oMath>
                </a14:m>
                <a:endParaRPr lang="en-US" sz="1600" dirty="0"/>
              </a:p>
              <a:p>
                <a:pPr marL="800100" lvl="1" indent="-342900">
                  <a:buFont typeface="+mj-lt"/>
                  <a:buAutoNum type="arabicPeriod"/>
                </a:pPr>
                <a:r>
                  <a:rPr lang="en-US" sz="1600" dirty="0"/>
                  <a:t>One time step later (as a consequence of its action) the agent receives a numerical reward,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ℛ</m:t>
                    </m:r>
                    <m:r>
                      <a:rPr lang="en-US" sz="1600" b="0" i="1" dirty="0" smtClean="0">
                        <a:latin typeface="Cambria Math" panose="02040503050406030204" pitchFamily="18" charset="0"/>
                      </a:rPr>
                      <m:t> </m:t>
                    </m:r>
                  </m:oMath>
                </a14:m>
                <a:r>
                  <a:rPr lang="en-US" sz="1600" dirty="0"/>
                  <a:t>and finds itself in a new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oMath>
                </a14:m>
                <a:endParaRPr lang="en-US" sz="1600" dirty="0"/>
              </a:p>
              <a:p>
                <a:endParaRPr lang="en-US" sz="1600" dirty="0"/>
              </a:p>
              <a:p>
                <a:r>
                  <a:rPr lang="en-US" sz="1600" dirty="0"/>
                  <a:t>Leads to sequence or trajectory that begins like this:</a:t>
                </a:r>
              </a:p>
              <a:p>
                <a:pPr/>
                <a14:m>
                  <m:oMathPara xmlns:m="http://schemas.openxmlformats.org/officeDocument/2006/math">
                    <m:o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3</m:t>
                          </m:r>
                        </m:sub>
                      </m:sSub>
                      <m:r>
                        <a:rPr lang="en-US" sz="1600" i="1" dirty="0" smtClean="0">
                          <a:latin typeface="Cambria Math" panose="02040503050406030204" pitchFamily="18" charset="0"/>
                        </a:rPr>
                        <m:t>, . . . </m:t>
                      </m:r>
                    </m:oMath>
                  </m:oMathPara>
                </a14:m>
                <a:endParaRPr lang="en-US" sz="1600"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965151" y="3970906"/>
                <a:ext cx="10261697" cy="2308324"/>
              </a:xfrm>
              <a:prstGeom prst="rect">
                <a:avLst/>
              </a:prstGeom>
              <a:blipFill>
                <a:blip r:embed="rId3"/>
                <a:stretch>
                  <a:fillRect l="-297" t="-792"/>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35FA07E-AB2F-CDB5-6011-310964B51CC6}"/>
              </a:ext>
            </a:extLst>
          </p:cNvPr>
          <p:cNvSpPr txBox="1"/>
          <p:nvPr/>
        </p:nvSpPr>
        <p:spPr>
          <a:xfrm>
            <a:off x="838200" y="1286231"/>
            <a:ext cx="4343400" cy="2123658"/>
          </a:xfrm>
          <a:prstGeom prst="rect">
            <a:avLst/>
          </a:prstGeom>
          <a:noFill/>
        </p:spPr>
        <p:txBody>
          <a:bodyPr wrap="square">
            <a:spAutoFit/>
          </a:bodyPr>
          <a:lstStyle/>
          <a:p>
            <a:pPr marL="285750" indent="-285750" algn="l">
              <a:buFont typeface="Arial" panose="020B0604020202020204" pitchFamily="34" charset="0"/>
              <a:buChar char="•"/>
            </a:pPr>
            <a:r>
              <a:rPr lang="en-US" sz="1600" b="0" i="0" u="none" strike="noStrike" baseline="0" dirty="0">
                <a:latin typeface="CMR10"/>
              </a:rPr>
              <a:t>Markov decision process (MDP) is a mathematical model </a:t>
            </a:r>
            <a:r>
              <a:rPr lang="en-US" sz="1600" b="1" i="0" u="none" strike="noStrike" baseline="0" dirty="0">
                <a:latin typeface="CMR10"/>
              </a:rPr>
              <a:t>for sequential decision making </a:t>
            </a:r>
            <a:r>
              <a:rPr lang="en-US" sz="1600" b="0" i="0" u="none" strike="noStrike" baseline="0" dirty="0">
                <a:latin typeface="CMR10"/>
              </a:rPr>
              <a:t>when outcomes are uncertain.</a:t>
            </a:r>
          </a:p>
          <a:p>
            <a:pPr marL="285750" indent="-285750">
              <a:buFont typeface="Arial" panose="020B0604020202020204" pitchFamily="34" charset="0"/>
              <a:buChar char="•"/>
            </a:pPr>
            <a:r>
              <a:rPr lang="en-US" sz="1600" dirty="0">
                <a:latin typeface="CMR10"/>
              </a:rPr>
              <a:t>The MDP represents a </a:t>
            </a:r>
            <a:r>
              <a:rPr lang="en-US" sz="1600" b="1" dirty="0"/>
              <a:t>fully observable, stochastic, and known environment.</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The goal is specified via rewards.</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Actions influence the future rewards by leading to different states.</a:t>
            </a:r>
            <a:endParaRPr lang="en-US" sz="1600" dirty="0"/>
          </a:p>
        </p:txBody>
      </p:sp>
      <p:sp>
        <p:nvSpPr>
          <p:cNvPr id="3" name="TextBox 2">
            <a:extLst>
              <a:ext uri="{FF2B5EF4-FFF2-40B4-BE49-F238E27FC236}">
                <a16:creationId xmlns:a16="http://schemas.microsoft.com/office/drawing/2014/main" id="{F413D19A-9F8A-6171-80BA-6F52FEB9E69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4" name="Speech Bubble: Rectangle with Corners Rounded 3">
            <a:extLst>
              <a:ext uri="{FF2B5EF4-FFF2-40B4-BE49-F238E27FC236}">
                <a16:creationId xmlns:a16="http://schemas.microsoft.com/office/drawing/2014/main" id="{7ACE6498-3C56-AFAA-9075-B2EEB49D2B2B}"/>
              </a:ext>
            </a:extLst>
          </p:cNvPr>
          <p:cNvSpPr/>
          <p:nvPr/>
        </p:nvSpPr>
        <p:spPr>
          <a:xfrm>
            <a:off x="9847123" y="636084"/>
            <a:ext cx="2172749" cy="650147"/>
          </a:xfrm>
          <a:prstGeom prst="wedgeRoundRectCallout">
            <a:avLst>
              <a:gd name="adj1" fmla="val -65646"/>
              <a:gd name="adj2" fmla="val 18204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Fully observable means the interpreter is part of the environment</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State Sequences: The Markov Process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9"/>
                <a:ext cx="7505835" cy="2883814"/>
              </a:xfrm>
            </p:spPr>
            <p:txBody>
              <a:bodyPr>
                <a:normAutofit fontScale="77500" lnSpcReduction="20000"/>
              </a:bodyPr>
              <a:lstStyle/>
              <a:p>
                <a:pPr marL="0" indent="0">
                  <a:buNone/>
                </a:pPr>
                <a:r>
                  <a:rPr lang="en-US" b="1" dirty="0"/>
                  <a:t>A Markov chain or Markov process </a:t>
                </a:r>
                <a:r>
                  <a:rPr lang="en-US" dirty="0"/>
                  <a:t>is a stochastic process describing a sequence of possible events (states) defined by:</a:t>
                </a:r>
              </a:p>
              <a:p>
                <a:pPr lvl="1">
                  <a:lnSpc>
                    <a:spcPct val="120000"/>
                  </a:lnSpc>
                </a:pPr>
                <a:r>
                  <a:rPr lang="en-US" dirty="0"/>
                  <a:t>A set of states: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𝑛</m:t>
                        </m:r>
                      </m:sub>
                    </m:sSub>
                    <m:r>
                      <a:rPr lang="en-US" b="0" i="1" dirty="0" smtClean="0">
                        <a:latin typeface="Cambria Math" panose="02040503050406030204" pitchFamily="18" charset="0"/>
                      </a:rPr>
                      <m:t>}</m:t>
                    </m:r>
                  </m:oMath>
                </a14:m>
                <a:endParaRPr lang="en-US" dirty="0"/>
              </a:p>
              <a:p>
                <a:pPr lvl="1">
                  <a:lnSpc>
                    <a:spcPct val="120000"/>
                  </a:lnSpc>
                </a:pPr>
                <a:r>
                  <a:rPr lang="en-US" dirty="0"/>
                  <a:t>A stochastic transition model: </a:t>
                </a:r>
                <a:r>
                  <a:rPr lang="en-US" i="1" dirty="0">
                    <a:latin typeface="Cambria Math" panose="02040503050406030204" pitchFamily="18" charset="0"/>
                  </a:rPr>
                  <a:t> </a:t>
                </a:r>
                <a:r>
                  <a:rPr lang="en-US" dirty="0">
                    <a:latin typeface="Cambria Math" panose="02040503050406030204" pitchFamily="18" charset="0"/>
                  </a:rPr>
                  <a:t>Pr</a:t>
                </a:r>
                <a14:m>
                  <m:oMath xmlns:m="http://schemas.openxmlformats.org/officeDocument/2006/math">
                    <m:d>
                      <m:dPr>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e>
                    </m:d>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i="1" dirty="0" smtClean="0">
                        <a:latin typeface="Cambria Math" panose="02040503050406030204" pitchFamily="18" charset="0"/>
                      </a:rPr>
                      <m:t>)</m:t>
                    </m:r>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𝒮</m:t>
                    </m:r>
                  </m:oMath>
                </a14:m>
                <a:endParaRPr lang="en-US" dirty="0"/>
              </a:p>
              <a:p>
                <a:pPr lvl="1">
                  <a:lnSpc>
                    <a:spcPct val="120000"/>
                  </a:lnSpc>
                </a:pPr>
                <a:r>
                  <a:rPr lang="en-US" dirty="0"/>
                  <a:t>The transition model is:</a:t>
                </a:r>
              </a:p>
              <a:p>
                <a:pPr lvl="2">
                  <a:lnSpc>
                    <a:spcPct val="120000"/>
                  </a:lnSpc>
                </a:pPr>
                <a:r>
                  <a:rPr lang="en-US" b="1" dirty="0"/>
                  <a:t>Markovian</a:t>
                </a:r>
                <a:r>
                  <a:rPr lang="en-US" dirty="0"/>
                  <a:t>: The current state only depends on the previous state:</a:t>
                </a:r>
                <a:br>
                  <a:rPr lang="en-US" dirty="0"/>
                </a:br>
                <a14:m>
                  <m:oMath xmlns:m="http://schemas.openxmlformats.org/officeDocument/2006/math">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−2</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i="1" dirty="0">
                        <a:latin typeface="Cambria Math" panose="02040503050406030204" pitchFamily="18" charset="0"/>
                      </a:rPr>
                      <m:t>)</m:t>
                    </m:r>
                    <m:r>
                      <a:rPr lang="en-US" b="0" i="1" dirty="0" smtClean="0">
                        <a:latin typeface="Cambria Math" panose="02040503050406030204" pitchFamily="18" charset="0"/>
                      </a:rPr>
                      <m:t>=</m:t>
                    </m:r>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i="1" dirty="0">
                        <a:latin typeface="Cambria Math" panose="02040503050406030204" pitchFamily="18" charset="0"/>
                      </a:rPr>
                      <m:t>)</m:t>
                    </m:r>
                  </m:oMath>
                </a14:m>
                <a:br>
                  <a:rPr lang="en-US" dirty="0"/>
                </a:br>
                <a:endParaRPr lang="en-US" dirty="0"/>
              </a:p>
              <a:p>
                <a:pPr lvl="2">
                  <a:lnSpc>
                    <a:spcPct val="120000"/>
                  </a:lnSpc>
                </a:pPr>
                <a:r>
                  <a:rPr lang="en-US" b="1" dirty="0"/>
                  <a:t>Stationary</a:t>
                </a:r>
                <a:r>
                  <a:rPr lang="en-US" dirty="0"/>
                  <a:t>: Transition probabilities do not change over time: </a:t>
                </a:r>
                <a:br>
                  <a:rPr lang="en-US" dirty="0"/>
                </a:br>
                <a14:m>
                  <m:oMath xmlns:m="http://schemas.openxmlformats.org/officeDocument/2006/math">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r>
                      <a:rPr lang="en-US" b="0" i="1" smtClean="0">
                        <a:latin typeface="Cambria Math" panose="02040503050406030204" pitchFamily="18" charset="0"/>
                      </a:rPr>
                      <m:t>=</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e>
                        </m:d>
                      </m:e>
                    </m:func>
                    <m:r>
                      <a:rPr lang="en-US" b="0" i="1" smtClean="0">
                        <a:latin typeface="Cambria Math" panose="02040503050406030204" pitchFamily="18" charset="0"/>
                      </a:rPr>
                      <m:t>  ∀</m:t>
                    </m:r>
                    <m:r>
                      <a:rPr lang="en-US" b="0" i="1" smtClean="0">
                        <a:latin typeface="Cambria Math" panose="02040503050406030204" pitchFamily="18" charset="0"/>
                      </a:rPr>
                      <m:t>𝑡</m:t>
                    </m:r>
                  </m:oMath>
                </a14:m>
                <a:endParaRPr lang="en-US" dirty="0"/>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9"/>
                <a:ext cx="7505835" cy="2883814"/>
              </a:xfrm>
              <a:blipFill>
                <a:blip r:embed="rId3"/>
                <a:stretch>
                  <a:fillRect l="-1055" t="-4017" r="-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910942" y="4390796"/>
                <a:ext cx="7813333" cy="646331"/>
              </a:xfrm>
              <a:prstGeom prst="rect">
                <a:avLst/>
              </a:prstGeom>
              <a:noFill/>
            </p:spPr>
            <p:txBody>
              <a:bodyPr wrap="square">
                <a:spAutoFit/>
              </a:bodyPr>
              <a:lstStyle/>
              <a:p>
                <a:r>
                  <a:rPr lang="en-US" sz="1800" b="1" dirty="0"/>
                  <a:t>Episode is a trajectory: Markov  process “unrolled” over time: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m:t>
                    </m:r>
                  </m:oMath>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910942" y="4390796"/>
                <a:ext cx="7813333" cy="646331"/>
              </a:xfrm>
              <a:prstGeom prst="rect">
                <a:avLst/>
              </a:prstGeom>
              <a:blipFill>
                <a:blip r:embed="rId7"/>
                <a:stretch>
                  <a:fillRect l="-624" t="-3774"/>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1F49781A-F81D-1C4B-BCA7-C73AC2EFC3CC}"/>
              </a:ext>
            </a:extLst>
          </p:cNvPr>
          <p:cNvGrpSpPr/>
          <p:nvPr/>
        </p:nvGrpSpPr>
        <p:grpSpPr>
          <a:xfrm>
            <a:off x="8630084" y="1939995"/>
            <a:ext cx="3147961" cy="3370945"/>
            <a:chOff x="8630084" y="1939995"/>
            <a:chExt cx="3147961" cy="3370945"/>
          </a:xfrm>
        </p:grpSpPr>
        <p:grpSp>
          <p:nvGrpSpPr>
            <p:cNvPr id="118" name="Group 117">
              <a:extLst>
                <a:ext uri="{FF2B5EF4-FFF2-40B4-BE49-F238E27FC236}">
                  <a16:creationId xmlns:a16="http://schemas.microsoft.com/office/drawing/2014/main" id="{12D202A3-D97B-2F19-4E69-1C9AB59249E5}"/>
                </a:ext>
              </a:extLst>
            </p:cNvPr>
            <p:cNvGrpSpPr/>
            <p:nvPr/>
          </p:nvGrpSpPr>
          <p:grpSpPr>
            <a:xfrm>
              <a:off x="8967696" y="2402783"/>
              <a:ext cx="2243190" cy="1629572"/>
              <a:chOff x="1626433" y="3150198"/>
              <a:chExt cx="2243190" cy="1629572"/>
            </a:xfrm>
          </p:grpSpPr>
          <mc:AlternateContent xmlns:mc="http://schemas.openxmlformats.org/markup-compatibility/2006" xmlns:a14="http://schemas.microsoft.com/office/drawing/2010/main">
            <mc:Choice Requires="a14">
              <p:sp>
                <p:nvSpPr>
                  <p:cNvPr id="96" name="Oval 95">
                    <a:extLst>
                      <a:ext uri="{FF2B5EF4-FFF2-40B4-BE49-F238E27FC236}">
                        <a16:creationId xmlns:a16="http://schemas.microsoft.com/office/drawing/2014/main" id="{BF93A4CD-383B-A628-8BC3-1B56F06F5CF3}"/>
                      </a:ext>
                    </a:extLst>
                  </p:cNvPr>
                  <p:cNvSpPr/>
                  <p:nvPr/>
                </p:nvSpPr>
                <p:spPr>
                  <a:xfrm>
                    <a:off x="1742013" y="377448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96" name="Oval 95">
                    <a:extLst>
                      <a:ext uri="{FF2B5EF4-FFF2-40B4-BE49-F238E27FC236}">
                        <a16:creationId xmlns:a16="http://schemas.microsoft.com/office/drawing/2014/main" id="{BF93A4CD-383B-A628-8BC3-1B56F06F5CF3}"/>
                      </a:ext>
                    </a:extLst>
                  </p:cNvPr>
                  <p:cNvSpPr>
                    <a:spLocks noRot="1" noChangeAspect="1" noMove="1" noResize="1" noEditPoints="1" noAdjustHandles="1" noChangeArrowheads="1" noChangeShapeType="1" noTextEdit="1"/>
                  </p:cNvSpPr>
                  <p:nvPr/>
                </p:nvSpPr>
                <p:spPr>
                  <a:xfrm>
                    <a:off x="1742013" y="3774484"/>
                    <a:ext cx="381000" cy="381000"/>
                  </a:xfrm>
                  <a:prstGeom prst="ellipse">
                    <a:avLst/>
                  </a:prstGeom>
                  <a:blipFill>
                    <a:blip r:embed="rId8"/>
                    <a:stretch>
                      <a:fillRect/>
                    </a:stretch>
                  </a:blipFill>
                </p:spPr>
                <p:txBody>
                  <a:bodyPr/>
                  <a:lstStyle/>
                  <a:p>
                    <a:r>
                      <a:rPr lang="en-US">
                        <a:noFill/>
                      </a:rPr>
                      <a:t> </a:t>
                    </a:r>
                  </a:p>
                </p:txBody>
              </p:sp>
            </mc:Fallback>
          </mc:AlternateContent>
          <p:cxnSp>
            <p:nvCxnSpPr>
              <p:cNvPr id="97" name="Straight Arrow Connector 96">
                <a:extLst>
                  <a:ext uri="{FF2B5EF4-FFF2-40B4-BE49-F238E27FC236}">
                    <a16:creationId xmlns:a16="http://schemas.microsoft.com/office/drawing/2014/main" id="{4B8E657D-EF3B-3D39-5F8C-F85A733E8295}"/>
                  </a:ext>
                </a:extLst>
              </p:cNvPr>
              <p:cNvCxnSpPr>
                <a:cxnSpLocks/>
                <a:stCxn id="96" idx="6"/>
                <a:endCxn id="98" idx="3"/>
              </p:cNvCxnSpPr>
              <p:nvPr/>
            </p:nvCxnSpPr>
            <p:spPr>
              <a:xfrm flipV="1">
                <a:off x="2123013" y="3545129"/>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8" name="Oval 97">
                    <a:extLst>
                      <a:ext uri="{FF2B5EF4-FFF2-40B4-BE49-F238E27FC236}">
                        <a16:creationId xmlns:a16="http://schemas.microsoft.com/office/drawing/2014/main" id="{C850D916-C1FA-EBD2-8DA6-3B6082C30C46}"/>
                      </a:ext>
                    </a:extLst>
                  </p:cNvPr>
                  <p:cNvSpPr/>
                  <p:nvPr/>
                </p:nvSpPr>
                <p:spPr>
                  <a:xfrm>
                    <a:off x="2649817" y="3219925"/>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98" name="Oval 97">
                    <a:extLst>
                      <a:ext uri="{FF2B5EF4-FFF2-40B4-BE49-F238E27FC236}">
                        <a16:creationId xmlns:a16="http://schemas.microsoft.com/office/drawing/2014/main" id="{C850D916-C1FA-EBD2-8DA6-3B6082C30C46}"/>
                      </a:ext>
                    </a:extLst>
                  </p:cNvPr>
                  <p:cNvSpPr>
                    <a:spLocks noRot="1" noChangeAspect="1" noMove="1" noResize="1" noEditPoints="1" noAdjustHandles="1" noChangeArrowheads="1" noChangeShapeType="1" noTextEdit="1"/>
                  </p:cNvSpPr>
                  <p:nvPr/>
                </p:nvSpPr>
                <p:spPr>
                  <a:xfrm>
                    <a:off x="2649817" y="3219925"/>
                    <a:ext cx="381000" cy="381000"/>
                  </a:xfrm>
                  <a:prstGeom prst="ellipse">
                    <a:avLst/>
                  </a:prstGeom>
                  <a:blipFill>
                    <a:blip r:embed="rId9"/>
                    <a:stretch>
                      <a:fillRect/>
                    </a:stretch>
                  </a:blipFill>
                </p:spPr>
                <p:txBody>
                  <a:bodyPr/>
                  <a:lstStyle/>
                  <a:p>
                    <a:r>
                      <a:rPr lang="en-US">
                        <a:noFill/>
                      </a:rPr>
                      <a:t> </a:t>
                    </a:r>
                  </a:p>
                </p:txBody>
              </p:sp>
            </mc:Fallback>
          </mc:AlternateContent>
          <p:cxnSp>
            <p:nvCxnSpPr>
              <p:cNvPr id="99" name="Straight Arrow Connector 98">
                <a:extLst>
                  <a:ext uri="{FF2B5EF4-FFF2-40B4-BE49-F238E27FC236}">
                    <a16:creationId xmlns:a16="http://schemas.microsoft.com/office/drawing/2014/main" id="{FC0FD8EC-2419-8BA0-8028-3706A89C1D1E}"/>
                  </a:ext>
                </a:extLst>
              </p:cNvPr>
              <p:cNvCxnSpPr>
                <a:cxnSpLocks/>
                <a:stCxn id="100" idx="3"/>
                <a:endCxn id="104" idx="6"/>
              </p:cNvCxnSpPr>
              <p:nvPr/>
            </p:nvCxnSpPr>
            <p:spPr>
              <a:xfrm flipH="1">
                <a:off x="3030817" y="4288702"/>
                <a:ext cx="261369" cy="1619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0" name="Oval 99">
                    <a:extLst>
                      <a:ext uri="{FF2B5EF4-FFF2-40B4-BE49-F238E27FC236}">
                        <a16:creationId xmlns:a16="http://schemas.microsoft.com/office/drawing/2014/main" id="{EFA32AE8-9023-FE2A-C280-5922FB2EEAE6}"/>
                      </a:ext>
                    </a:extLst>
                  </p:cNvPr>
                  <p:cNvSpPr/>
                  <p:nvPr/>
                </p:nvSpPr>
                <p:spPr>
                  <a:xfrm>
                    <a:off x="3236390" y="396349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100" name="Oval 99">
                    <a:extLst>
                      <a:ext uri="{FF2B5EF4-FFF2-40B4-BE49-F238E27FC236}">
                        <a16:creationId xmlns:a16="http://schemas.microsoft.com/office/drawing/2014/main" id="{EFA32AE8-9023-FE2A-C280-5922FB2EEAE6}"/>
                      </a:ext>
                    </a:extLst>
                  </p:cNvPr>
                  <p:cNvSpPr>
                    <a:spLocks noRot="1" noChangeAspect="1" noMove="1" noResize="1" noEditPoints="1" noAdjustHandles="1" noChangeArrowheads="1" noChangeShapeType="1" noTextEdit="1"/>
                  </p:cNvSpPr>
                  <p:nvPr/>
                </p:nvSpPr>
                <p:spPr>
                  <a:xfrm>
                    <a:off x="3236390" y="3963498"/>
                    <a:ext cx="381000" cy="381000"/>
                  </a:xfrm>
                  <a:prstGeom prst="ellipse">
                    <a:avLst/>
                  </a:prstGeom>
                  <a:blipFill>
                    <a:blip r:embed="rId10"/>
                    <a:stretch>
                      <a:fillRect/>
                    </a:stretch>
                  </a:blipFill>
                </p:spPr>
                <p:txBody>
                  <a:bodyPr/>
                  <a:lstStyle/>
                  <a:p>
                    <a:r>
                      <a:rPr lang="en-US">
                        <a:noFill/>
                      </a:rPr>
                      <a:t> </a:t>
                    </a:r>
                  </a:p>
                </p:txBody>
              </p:sp>
            </mc:Fallback>
          </mc:AlternateContent>
          <p:sp>
            <p:nvSpPr>
              <p:cNvPr id="103" name="Rectangle 102">
                <a:extLst>
                  <a:ext uri="{FF2B5EF4-FFF2-40B4-BE49-F238E27FC236}">
                    <a16:creationId xmlns:a16="http://schemas.microsoft.com/office/drawing/2014/main" id="{9F4F8E7C-00C0-44C7-A788-2A2A43068A13}"/>
                  </a:ext>
                </a:extLst>
              </p:cNvPr>
              <p:cNvSpPr/>
              <p:nvPr/>
            </p:nvSpPr>
            <p:spPr>
              <a:xfrm>
                <a:off x="1626433" y="3150198"/>
                <a:ext cx="2243190"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4" name="Oval 103">
                    <a:extLst>
                      <a:ext uri="{FF2B5EF4-FFF2-40B4-BE49-F238E27FC236}">
                        <a16:creationId xmlns:a16="http://schemas.microsoft.com/office/drawing/2014/main" id="{1FF22AFD-E1D8-06D2-F7E2-F98A079F38B8}"/>
                      </a:ext>
                    </a:extLst>
                  </p:cNvPr>
                  <p:cNvSpPr/>
                  <p:nvPr/>
                </p:nvSpPr>
                <p:spPr>
                  <a:xfrm>
                    <a:off x="2649817" y="426014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3</m:t>
                              </m:r>
                            </m:sub>
                          </m:sSub>
                        </m:oMath>
                      </m:oMathPara>
                    </a14:m>
                    <a:endParaRPr lang="en-US" dirty="0"/>
                  </a:p>
                </p:txBody>
              </p:sp>
            </mc:Choice>
            <mc:Fallback xmlns="">
              <p:sp>
                <p:nvSpPr>
                  <p:cNvPr id="104" name="Oval 103">
                    <a:extLst>
                      <a:ext uri="{FF2B5EF4-FFF2-40B4-BE49-F238E27FC236}">
                        <a16:creationId xmlns:a16="http://schemas.microsoft.com/office/drawing/2014/main" id="{1FF22AFD-E1D8-06D2-F7E2-F98A079F38B8}"/>
                      </a:ext>
                    </a:extLst>
                  </p:cNvPr>
                  <p:cNvSpPr>
                    <a:spLocks noRot="1" noChangeAspect="1" noMove="1" noResize="1" noEditPoints="1" noAdjustHandles="1" noChangeArrowheads="1" noChangeShapeType="1" noTextEdit="1"/>
                  </p:cNvSpPr>
                  <p:nvPr/>
                </p:nvSpPr>
                <p:spPr>
                  <a:xfrm>
                    <a:off x="2649817" y="4260144"/>
                    <a:ext cx="381000" cy="381000"/>
                  </a:xfrm>
                  <a:prstGeom prst="ellipse">
                    <a:avLst/>
                  </a:prstGeom>
                  <a:blipFill>
                    <a:blip r:embed="rId11"/>
                    <a:stretch>
                      <a:fillRect/>
                    </a:stretch>
                  </a:blipFill>
                </p:spPr>
                <p:txBody>
                  <a:bodyPr/>
                  <a:lstStyle/>
                  <a:p>
                    <a:r>
                      <a:rPr lang="en-US">
                        <a:noFill/>
                      </a:rPr>
                      <a:t> </a:t>
                    </a:r>
                  </a:p>
                </p:txBody>
              </p:sp>
            </mc:Fallback>
          </mc:AlternateContent>
          <p:cxnSp>
            <p:nvCxnSpPr>
              <p:cNvPr id="107" name="Straight Arrow Connector 106">
                <a:extLst>
                  <a:ext uri="{FF2B5EF4-FFF2-40B4-BE49-F238E27FC236}">
                    <a16:creationId xmlns:a16="http://schemas.microsoft.com/office/drawing/2014/main" id="{B4B64990-DEFE-FC7F-EC9C-D647800ED0F7}"/>
                  </a:ext>
                </a:extLst>
              </p:cNvPr>
              <p:cNvCxnSpPr>
                <a:cxnSpLocks/>
                <a:stCxn id="96" idx="6"/>
                <a:endCxn id="104" idx="1"/>
              </p:cNvCxnSpPr>
              <p:nvPr/>
            </p:nvCxnSpPr>
            <p:spPr>
              <a:xfrm>
                <a:off x="2123013" y="3964984"/>
                <a:ext cx="582600" cy="3509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0" name="Straight Arrow Connector 109">
                <a:extLst>
                  <a:ext uri="{FF2B5EF4-FFF2-40B4-BE49-F238E27FC236}">
                    <a16:creationId xmlns:a16="http://schemas.microsoft.com/office/drawing/2014/main" id="{ED0EDB06-A7EF-B3BC-0351-B2A7BE3D48A1}"/>
                  </a:ext>
                </a:extLst>
              </p:cNvPr>
              <p:cNvCxnSpPr>
                <a:cxnSpLocks/>
                <a:stCxn id="98" idx="2"/>
                <a:endCxn id="96" idx="7"/>
              </p:cNvCxnSpPr>
              <p:nvPr/>
            </p:nvCxnSpPr>
            <p:spPr>
              <a:xfrm flipH="1">
                <a:off x="2067217" y="3410425"/>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3" name="Straight Arrow Connector 112">
                <a:extLst>
                  <a:ext uri="{FF2B5EF4-FFF2-40B4-BE49-F238E27FC236}">
                    <a16:creationId xmlns:a16="http://schemas.microsoft.com/office/drawing/2014/main" id="{FEB7D7A7-609E-1AD6-C255-CC0610FF8CFB}"/>
                  </a:ext>
                </a:extLst>
              </p:cNvPr>
              <p:cNvCxnSpPr>
                <a:cxnSpLocks/>
                <a:stCxn id="98" idx="5"/>
                <a:endCxn id="100" idx="1"/>
              </p:cNvCxnSpPr>
              <p:nvPr/>
            </p:nvCxnSpPr>
            <p:spPr>
              <a:xfrm>
                <a:off x="2975021" y="3545129"/>
                <a:ext cx="317165" cy="4741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20" name="TextBox 119">
              <a:extLst>
                <a:ext uri="{FF2B5EF4-FFF2-40B4-BE49-F238E27FC236}">
                  <a16:creationId xmlns:a16="http://schemas.microsoft.com/office/drawing/2014/main" id="{D3F58CDA-6BBE-80C8-C3CF-881F9E752F10}"/>
                </a:ext>
              </a:extLst>
            </p:cNvPr>
            <p:cNvSpPr txBox="1"/>
            <p:nvPr/>
          </p:nvSpPr>
          <p:spPr>
            <a:xfrm>
              <a:off x="8630084" y="1939995"/>
              <a:ext cx="3147961" cy="369332"/>
            </a:xfrm>
            <a:prstGeom prst="rect">
              <a:avLst/>
            </a:prstGeom>
            <a:noFill/>
          </p:spPr>
          <p:txBody>
            <a:bodyPr wrap="square">
              <a:spAutoFit/>
            </a:bodyPr>
            <a:lstStyle/>
            <a:p>
              <a:r>
                <a:rPr lang="en-US" sz="1800" b="1" dirty="0"/>
                <a:t>Markov model as a graph</a:t>
              </a:r>
              <a:endParaRPr lang="en-US" dirty="0"/>
            </a:p>
          </p:txBody>
        </p:sp>
        <p:sp>
          <p:nvSpPr>
            <p:cNvPr id="122" name="Speech Bubble: Rectangle with Corners Rounded 121">
              <a:extLst>
                <a:ext uri="{FF2B5EF4-FFF2-40B4-BE49-F238E27FC236}">
                  <a16:creationId xmlns:a16="http://schemas.microsoft.com/office/drawing/2014/main" id="{41D246F9-7BDE-9942-A22F-15402A63E010}"/>
                </a:ext>
              </a:extLst>
            </p:cNvPr>
            <p:cNvSpPr/>
            <p:nvPr/>
          </p:nvSpPr>
          <p:spPr>
            <a:xfrm>
              <a:off x="9803567" y="4489554"/>
              <a:ext cx="1641423" cy="821386"/>
            </a:xfrm>
            <a:prstGeom prst="wedgeRoundRectCallout">
              <a:avLst>
                <a:gd name="adj1" fmla="val -26312"/>
                <a:gd name="adj2" fmla="val -12091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the state ID</a:t>
              </a:r>
            </a:p>
          </p:txBody>
        </p:sp>
      </p:grpSp>
      <p:grpSp>
        <p:nvGrpSpPr>
          <p:cNvPr id="5" name="Group 4">
            <a:extLst>
              <a:ext uri="{FF2B5EF4-FFF2-40B4-BE49-F238E27FC236}">
                <a16:creationId xmlns:a16="http://schemas.microsoft.com/office/drawing/2014/main" id="{DB54F151-471E-82B8-4319-3FCA63CDC4FE}"/>
              </a:ext>
            </a:extLst>
          </p:cNvPr>
          <p:cNvGrpSpPr/>
          <p:nvPr/>
        </p:nvGrpSpPr>
        <p:grpSpPr>
          <a:xfrm>
            <a:off x="2193327" y="4915566"/>
            <a:ext cx="6963981" cy="1114383"/>
            <a:chOff x="2193327" y="4915566"/>
            <a:chExt cx="6963981" cy="1114383"/>
          </a:xfrm>
        </p:grpSpPr>
        <p:grpSp>
          <p:nvGrpSpPr>
            <p:cNvPr id="121" name="Group 120">
              <a:extLst>
                <a:ext uri="{FF2B5EF4-FFF2-40B4-BE49-F238E27FC236}">
                  <a16:creationId xmlns:a16="http://schemas.microsoft.com/office/drawing/2014/main" id="{E23B0AB7-59CE-A66F-BE09-92725397B0C0}"/>
                </a:ext>
              </a:extLst>
            </p:cNvPr>
            <p:cNvGrpSpPr/>
            <p:nvPr/>
          </p:nvGrpSpPr>
          <p:grpSpPr>
            <a:xfrm>
              <a:off x="2193327" y="4915566"/>
              <a:ext cx="4759686" cy="720737"/>
              <a:chOff x="3077744" y="5522666"/>
              <a:chExt cx="4759686" cy="720737"/>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329977"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329977" y="5702260"/>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57" name="Straight Arrow Connector 56">
                <a:extLst>
                  <a:ext uri="{FF2B5EF4-FFF2-40B4-BE49-F238E27FC236}">
                    <a16:creationId xmlns:a16="http://schemas.microsoft.com/office/drawing/2014/main" id="{ACAB2C98-7A3E-3670-75A7-AD1721C32637}"/>
                  </a:ext>
                </a:extLst>
              </p:cNvPr>
              <p:cNvCxnSpPr>
                <a:cxnSpLocks/>
                <a:stCxn id="7" idx="6"/>
              </p:cNvCxnSpPr>
              <p:nvPr/>
            </p:nvCxnSpPr>
            <p:spPr>
              <a:xfrm>
                <a:off x="3710977"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618781"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618781" y="5702260"/>
                    <a:ext cx="381000" cy="381000"/>
                  </a:xfrm>
                  <a:prstGeom prst="ellipse">
                    <a:avLst/>
                  </a:prstGeom>
                  <a:blipFill>
                    <a:blip r:embed="rId5"/>
                    <a:stretch>
                      <a:fillRect/>
                    </a:stretch>
                  </a:blipFill>
                </p:spPr>
                <p:txBody>
                  <a:bodyPr/>
                  <a:lstStyle/>
                  <a:p>
                    <a:r>
                      <a:rPr lang="en-US">
                        <a:noFill/>
                      </a:rPr>
                      <a:t> </a:t>
                    </a:r>
                  </a:p>
                </p:txBody>
              </p:sp>
            </mc:Fallback>
          </mc:AlternateContent>
          <p:cxnSp>
            <p:nvCxnSpPr>
              <p:cNvPr id="71" name="Straight Arrow Connector 70">
                <a:extLst>
                  <a:ext uri="{FF2B5EF4-FFF2-40B4-BE49-F238E27FC236}">
                    <a16:creationId xmlns:a16="http://schemas.microsoft.com/office/drawing/2014/main" id="{5D3A19B9-3B2D-38D7-8D83-B145B9542A8B}"/>
                  </a:ext>
                </a:extLst>
              </p:cNvPr>
              <p:cNvCxnSpPr>
                <a:cxnSpLocks/>
                <a:stCxn id="65" idx="6"/>
              </p:cNvCxnSpPr>
              <p:nvPr/>
            </p:nvCxnSpPr>
            <p:spPr>
              <a:xfrm>
                <a:off x="4999781"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07625"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07625" y="5702260"/>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79" name="Straight Arrow Connector 78">
                <a:extLst>
                  <a:ext uri="{FF2B5EF4-FFF2-40B4-BE49-F238E27FC236}">
                    <a16:creationId xmlns:a16="http://schemas.microsoft.com/office/drawing/2014/main" id="{3A3D5740-0B86-72BD-C715-7F831EB7F742}"/>
                  </a:ext>
                </a:extLst>
              </p:cNvPr>
              <p:cNvCxnSpPr>
                <a:cxnSpLocks/>
                <a:stCxn id="73" idx="6"/>
              </p:cNvCxnSpPr>
              <p:nvPr/>
            </p:nvCxnSpPr>
            <p:spPr>
              <a:xfrm>
                <a:off x="6288625"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04076" y="5686053"/>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Lst>
              </p:cNvPr>
              <p:cNvSpPr/>
              <p:nvPr/>
            </p:nvSpPr>
            <p:spPr>
              <a:xfrm>
                <a:off x="3077744" y="5522666"/>
                <a:ext cx="4759686" cy="720737"/>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23" name="Speech Bubble: Rectangle with Corners Rounded 122">
                  <a:extLst>
                    <a:ext uri="{FF2B5EF4-FFF2-40B4-BE49-F238E27FC236}">
                      <a16:creationId xmlns:a16="http://schemas.microsoft.com/office/drawing/2014/main" id="{2FEA0EFC-D3F4-D91B-15F9-10DB23356914}"/>
                    </a:ext>
                  </a:extLst>
                </p:cNvPr>
                <p:cNvSpPr/>
                <p:nvPr/>
              </p:nvSpPr>
              <p:spPr>
                <a:xfrm>
                  <a:off x="7515885" y="5208563"/>
                  <a:ext cx="1641423" cy="821386"/>
                </a:xfrm>
                <a:prstGeom prst="wedgeRoundRectCallout">
                  <a:avLst>
                    <a:gd name="adj1" fmla="val -126312"/>
                    <a:gd name="adj2" fmla="val -15062"/>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endParaRPr lang="en-US" dirty="0"/>
                </a:p>
              </p:txBody>
            </p:sp>
          </mc:Choice>
          <mc:Fallback xmlns="">
            <p:sp>
              <p:nvSpPr>
                <p:cNvPr id="123" name="Speech Bubble: Rectangle with Corners Rounded 122">
                  <a:extLst>
                    <a:ext uri="{FF2B5EF4-FFF2-40B4-BE49-F238E27FC236}">
                      <a16:creationId xmlns:a16="http://schemas.microsoft.com/office/drawing/2014/main" id="{2FEA0EFC-D3F4-D91B-15F9-10DB23356914}"/>
                    </a:ext>
                  </a:extLst>
                </p:cNvPr>
                <p:cNvSpPr>
                  <a:spLocks noRot="1" noChangeAspect="1" noMove="1" noResize="1" noEditPoints="1" noAdjustHandles="1" noChangeArrowheads="1" noChangeShapeType="1" noTextEdit="1"/>
                </p:cNvSpPr>
                <p:nvPr/>
              </p:nvSpPr>
              <p:spPr>
                <a:xfrm>
                  <a:off x="7515885" y="5208563"/>
                  <a:ext cx="1641423" cy="821386"/>
                </a:xfrm>
                <a:prstGeom prst="wedgeRoundRectCallout">
                  <a:avLst>
                    <a:gd name="adj1" fmla="val -126312"/>
                    <a:gd name="adj2" fmla="val -15062"/>
                    <a:gd name="adj3" fmla="val 16667"/>
                  </a:avLst>
                </a:prstGeom>
                <a:blipFill>
                  <a:blip r:embed="rId12"/>
                  <a:stretch>
                    <a:fillRect/>
                  </a:stretch>
                </a:blipFill>
              </p:spPr>
              <p:txBody>
                <a:bodyPr/>
                <a:lstStyle/>
                <a:p>
                  <a:r>
                    <a:rPr lang="en-US">
                      <a:noFill/>
                    </a:rPr>
                    <a:t> </a:t>
                  </a:r>
                </a:p>
              </p:txBody>
            </p:sp>
          </mc:Fallback>
        </mc:AlternateContent>
      </p:grpSp>
      <p:sp>
        <p:nvSpPr>
          <p:cNvPr id="126" name="TextBox 125">
            <a:extLst>
              <a:ext uri="{FF2B5EF4-FFF2-40B4-BE49-F238E27FC236}">
                <a16:creationId xmlns:a16="http://schemas.microsoft.com/office/drawing/2014/main" id="{5FE7BA26-0A51-15B1-7D0F-5DACB67DA83D}"/>
              </a:ext>
            </a:extLst>
          </p:cNvPr>
          <p:cNvSpPr txBox="1"/>
          <p:nvPr/>
        </p:nvSpPr>
        <p:spPr>
          <a:xfrm>
            <a:off x="1136972" y="6253374"/>
            <a:ext cx="9631181"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Note: This is called a discrete-time, stationary, 1</a:t>
            </a:r>
            <a:r>
              <a:rPr lang="en-US" baseline="30000" dirty="0"/>
              <a:t>st</a:t>
            </a:r>
            <a:r>
              <a:rPr lang="en-US" dirty="0"/>
              <a:t> –order Markov process with finite state space.</a:t>
            </a:r>
          </a:p>
        </p:txBody>
      </p:sp>
    </p:spTree>
    <p:extLst>
      <p:ext uri="{BB962C8B-B14F-4D97-AF65-F5344CB8AC3E}">
        <p14:creationId xmlns:p14="http://schemas.microsoft.com/office/powerpoint/2010/main" val="3755837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1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Markov Decision Process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8"/>
                <a:ext cx="7040943" cy="3704439"/>
              </a:xfrm>
            </p:spPr>
            <p:txBody>
              <a:bodyPr>
                <a:normAutofit fontScale="92500" lnSpcReduction="20000"/>
              </a:bodyPr>
              <a:lstStyle/>
              <a:p>
                <a:pPr marL="0" indent="0">
                  <a:buNone/>
                </a:pPr>
                <a:r>
                  <a:rPr lang="en-US" dirty="0"/>
                  <a:t>MDPs are discrete-time stochastic control processes defined by:</a:t>
                </a:r>
              </a:p>
              <a:p>
                <a:pPr marL="0" indent="0">
                  <a:buNone/>
                </a:pPr>
                <a:endParaRPr lang="en-US" dirty="0"/>
              </a:p>
              <a:p>
                <a:pPr lvl="1"/>
                <a:r>
                  <a:rPr lang="en-US" dirty="0"/>
                  <a:t>A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endParaRPr lang="en-US" dirty="0"/>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𝑃𝑟</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giving the expected immediate reward depending on the current state and action.</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8"/>
                <a:ext cx="7040943" cy="3704439"/>
              </a:xfrm>
              <a:blipFill>
                <a:blip r:embed="rId3"/>
                <a:stretch>
                  <a:fillRect l="-1558" t="-4112" b="-1316"/>
                </a:stretch>
              </a:blipFill>
            </p:spPr>
            <p:txBody>
              <a:bodyPr/>
              <a:lstStyle/>
              <a:p>
                <a:r>
                  <a:rPr lang="en-US">
                    <a:noFill/>
                  </a:rPr>
                  <a:t> </a:t>
                </a:r>
              </a:p>
            </p:txBody>
          </p:sp>
        </mc:Fallback>
      </mc:AlternateContent>
      <p:grpSp>
        <p:nvGrpSpPr>
          <p:cNvPr id="49" name="Group 48" descr="A MDP shown as a graph with states connected by action arrows.">
            <a:extLst>
              <a:ext uri="{FF2B5EF4-FFF2-40B4-BE49-F238E27FC236}">
                <a16:creationId xmlns:a16="http://schemas.microsoft.com/office/drawing/2014/main" id="{5A3FA491-A811-AEDF-0076-0132C635D324}"/>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8CB0DE5E-DA8E-CF88-8B9E-0C1C008358E4}"/>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F2EE62FD-68B4-F1AA-F46E-CC6B22CDB349}"/>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2FCDA299-5238-F632-1F8E-343CF123357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100D0B63-1C9B-C6B0-86CD-0E3C4C8BDA4E}"/>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10F09B84-CD1E-62A1-0409-B3B3AF428ED3}"/>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52A1DC42-7B30-1FE6-EA30-AA00E2B8C905}"/>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257CEE4-D2CB-8854-6BCF-F7FD6E36CFEF}"/>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55AD8533-9B47-5A97-6627-8213E088C0F1}"/>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E0C59754-47E0-604D-BF6F-7B99697933BF}"/>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3"/>
                  </a:solidFill>
                </a:rPr>
                <a:t>1</a:t>
              </a:r>
            </a:p>
          </p:txBody>
        </p:sp>
        <p:sp>
          <p:nvSpPr>
            <p:cNvPr id="32" name="TextBox 31">
              <a:extLst>
                <a:ext uri="{FF2B5EF4-FFF2-40B4-BE49-F238E27FC236}">
                  <a16:creationId xmlns:a16="http://schemas.microsoft.com/office/drawing/2014/main" id="{2BD6D622-49E4-E78B-36DA-FA83942CED6A}"/>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17D6403-759B-588C-747E-36236B081BEF}"/>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2B22008-D6AD-CBB0-8610-E7FA31EDC336}"/>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47A2B4F1-7E6E-859F-59EE-858610C70214}"/>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054C091D-66A9-225A-BB19-46221B8DD1E2}"/>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3"/>
                  </a:solidFill>
                </a:rPr>
                <a:t>.5</a:t>
              </a:r>
            </a:p>
          </p:txBody>
        </p:sp>
        <p:sp>
          <p:nvSpPr>
            <p:cNvPr id="37" name="TextBox 36">
              <a:extLst>
                <a:ext uri="{FF2B5EF4-FFF2-40B4-BE49-F238E27FC236}">
                  <a16:creationId xmlns:a16="http://schemas.microsoft.com/office/drawing/2014/main" id="{CA867E5E-75A6-2BAF-8528-74B4E4A566FF}"/>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3"/>
                  </a:solidFill>
                </a:rPr>
                <a:t>.5</a:t>
              </a:r>
            </a:p>
          </p:txBody>
        </p:sp>
        <p:sp>
          <p:nvSpPr>
            <p:cNvPr id="38" name="TextBox 37">
              <a:extLst>
                <a:ext uri="{FF2B5EF4-FFF2-40B4-BE49-F238E27FC236}">
                  <a16:creationId xmlns:a16="http://schemas.microsoft.com/office/drawing/2014/main" id="{E459B21E-CD77-7A2A-E898-DABD81D85E2B}"/>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3"/>
                  </a:solidFill>
                </a:rPr>
                <a:t>1</a:t>
              </a:r>
            </a:p>
          </p:txBody>
        </p:sp>
        <p:sp>
          <p:nvSpPr>
            <p:cNvPr id="39" name="TextBox 38">
              <a:extLst>
                <a:ext uri="{FF2B5EF4-FFF2-40B4-BE49-F238E27FC236}">
                  <a16:creationId xmlns:a16="http://schemas.microsoft.com/office/drawing/2014/main" id="{F86BD162-95C0-124E-171C-4B2F3BAFACB5}"/>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E5AD4A6E-312D-CCAD-67C4-AB5F917E8090}"/>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7099655-F6F2-DA8A-41A1-4B8A67C67A75}"/>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AD14DBDD-EB9C-A1BE-875A-163831275950}"/>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D1111A-B496-57F5-1DE7-69F6A37F39A0}"/>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CE8DA279-B1DC-9FA4-9D0B-B0BD46B333C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57984FD6-AC17-F88F-CCD7-5F74B0902F48}"/>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7495566-E583-A955-8015-515D36B91894}"/>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
                        <m:r>
                          <a:rPr lang="en-US" b="1" i="1" dirty="0" smtClean="0">
                            <a:solidFill>
                              <a:schemeClr val="accent3"/>
                            </a:solidFill>
                            <a:latin typeface="Cambria Math" panose="02040503050406030204" pitchFamily="18" charset="0"/>
                          </a:rPr>
                          <m:t>𝑷𝒓</m:t>
                        </m:r>
                        <m:d>
                          <m:dPr>
                            <m:endChr m:val="|"/>
                            <m:ctrlPr>
                              <a:rPr lang="en-US" b="1" i="1" dirty="0" smtClean="0">
                                <a:solidFill>
                                  <a:schemeClr val="accent3"/>
                                </a:solidFill>
                                <a:latin typeface="Cambria Math" panose="02040503050406030204" pitchFamily="18" charset="0"/>
                              </a:rPr>
                            </m:ctrlPr>
                          </m:dPr>
                          <m:e>
                            <m:r>
                              <a:rPr lang="en-US" b="1" i="1" dirty="0" smtClean="0">
                                <a:solidFill>
                                  <a:schemeClr val="accent3"/>
                                </a:solidFill>
                                <a:latin typeface="Cambria Math" panose="02040503050406030204" pitchFamily="18" charset="0"/>
                              </a:rPr>
                              <m:t>𝒔</m:t>
                            </m:r>
                            <m:r>
                              <a:rPr lang="en-US" b="1" i="1" dirty="0" smtClean="0">
                                <a:solidFill>
                                  <a:schemeClr val="accent3"/>
                                </a:solidFill>
                                <a:latin typeface="Cambria Math" panose="02040503050406030204" pitchFamily="18" charset="0"/>
                              </a:rPr>
                              <m:t>’</m:t>
                            </m:r>
                          </m:e>
                        </m:d>
                        <m:r>
                          <a:rPr lang="en-US" b="1" i="1" dirty="0" err="1" smtClean="0">
                            <a:solidFill>
                              <a:schemeClr val="accent3"/>
                            </a:solidFill>
                            <a:latin typeface="Cambria Math" panose="02040503050406030204" pitchFamily="18" charset="0"/>
                          </a:rPr>
                          <m:t>𝒔</m:t>
                        </m:r>
                        <m:r>
                          <a:rPr lang="en-US" b="1" i="1" dirty="0" err="1" smtClean="0">
                            <a:solidFill>
                              <a:schemeClr val="accent3"/>
                            </a:solidFill>
                            <a:latin typeface="Cambria Math" panose="02040503050406030204" pitchFamily="18" charset="0"/>
                          </a:rPr>
                          <m:t>,</m:t>
                        </m:r>
                        <m:r>
                          <a:rPr lang="en-US" b="1" i="1" dirty="0" err="1" smtClean="0">
                            <a:solidFill>
                              <a:schemeClr val="accent3"/>
                            </a:solidFill>
                            <a:latin typeface="Cambria Math" panose="02040503050406030204" pitchFamily="18" charset="0"/>
                          </a:rPr>
                          <m:t>𝒂</m:t>
                        </m:r>
                        <m:r>
                          <a:rPr lang="en-US" b="1" i="1" dirty="0" smtClean="0">
                            <a:solidFill>
                              <a:schemeClr val="accent3"/>
                            </a:solidFill>
                            <a:latin typeface="Cambria Math" panose="02040503050406030204" pitchFamily="18" charset="0"/>
                          </a:rPr>
                          <m:t>)</m:t>
                        </m:r>
                      </m:oMath>
                    </m:oMathPara>
                  </a14:m>
                  <a:endParaRPr lang="en-US" b="1" dirty="0">
                    <a:solidFill>
                      <a:schemeClr val="accent3"/>
                    </a:solidFill>
                  </a:endParaRPr>
                </a:p>
                <a:p>
                  <a:pPr/>
                  <a14:m>
                    <m:oMathPara xmlns:m="http://schemas.openxmlformats.org/officeDocument/2006/math">
                      <m:o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D7495566-E583-A955-8015-515D36B91894}"/>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r="-1478" b="-7547"/>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53E47AF3-6430-2730-A61F-174C68FC832F}"/>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1500845" y="4995007"/>
                <a:ext cx="6097162" cy="923330"/>
              </a:xfrm>
              <a:prstGeom prst="rect">
                <a:avLst/>
              </a:prstGeom>
              <a:noFill/>
            </p:spPr>
            <p:txBody>
              <a:bodyPr wrap="square">
                <a:spAutoFit/>
              </a:bodyPr>
              <a:lstStyle/>
              <a:p>
                <a:r>
                  <a:rPr lang="en-US" sz="1800" b="1" dirty="0"/>
                  <a:t>Trajectory as an “unrolled” Markov decision process:</a:t>
                </a:r>
              </a:p>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1</m:t>
                          </m:r>
                        </m:sub>
                      </m:sSub>
                      <m:r>
                        <a:rPr lang="en-US" i="1" dirty="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2</m:t>
                          </m:r>
                        </m:sub>
                      </m:sSub>
                      <m:r>
                        <a:rPr lang="en-US" i="1" dirty="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3</m:t>
                          </m:r>
                        </m:sub>
                      </m:sSub>
                      <m:r>
                        <a:rPr lang="en-US" i="1" dirty="0">
                          <a:latin typeface="Cambria Math" panose="02040503050406030204" pitchFamily="18" charset="0"/>
                        </a:rPr>
                        <m:t>, . . .</m:t>
                      </m:r>
                    </m:oMath>
                  </m:oMathPara>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1500845" y="4995007"/>
                <a:ext cx="6097162" cy="923330"/>
              </a:xfrm>
              <a:prstGeom prst="rect">
                <a:avLst/>
              </a:prstGeom>
              <a:blipFill>
                <a:blip r:embed="rId13"/>
                <a:stretch>
                  <a:fillRect l="-800" t="-2632"/>
                </a:stretch>
              </a:blipFill>
            </p:spPr>
            <p:txBody>
              <a:bodyPr/>
              <a:lstStyle/>
              <a:p>
                <a:r>
                  <a:rPr lang="en-US">
                    <a:noFill/>
                  </a:rPr>
                  <a:t> </a:t>
                </a:r>
              </a:p>
            </p:txBody>
          </p:sp>
        </mc:Fallback>
      </mc:AlternateContent>
      <p:grpSp>
        <p:nvGrpSpPr>
          <p:cNvPr id="11" name="Group 10">
            <a:extLst>
              <a:ext uri="{FF2B5EF4-FFF2-40B4-BE49-F238E27FC236}">
                <a16:creationId xmlns:a16="http://schemas.microsoft.com/office/drawing/2014/main" id="{F42E36AD-438A-B882-72D5-A48183FEDBB5}"/>
              </a:ext>
            </a:extLst>
          </p:cNvPr>
          <p:cNvGrpSpPr/>
          <p:nvPr/>
        </p:nvGrpSpPr>
        <p:grpSpPr>
          <a:xfrm>
            <a:off x="5380122" y="5025956"/>
            <a:ext cx="6583623" cy="1671670"/>
            <a:chOff x="5380122" y="5025956"/>
            <a:chExt cx="6583623" cy="1671670"/>
          </a:xfrm>
        </p:grpSpPr>
        <p:grpSp>
          <p:nvGrpSpPr>
            <p:cNvPr id="83" name="Group 82">
              <a:extLst>
                <a:ext uri="{FF2B5EF4-FFF2-40B4-BE49-F238E27FC236}">
                  <a16:creationId xmlns:a16="http://schemas.microsoft.com/office/drawing/2014/main" id="{D33D7149-3A11-B618-CD3C-22FADFB27492}"/>
                </a:ext>
              </a:extLst>
            </p:cNvPr>
            <p:cNvGrpSpPr/>
            <p:nvPr/>
          </p:nvGrpSpPr>
          <p:grpSpPr>
            <a:xfrm>
              <a:off x="7204059" y="5025956"/>
              <a:ext cx="4759686" cy="1629572"/>
              <a:chOff x="3160518" y="4817835"/>
              <a:chExt cx="4759686" cy="1629572"/>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412751"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412751" y="5442121"/>
                    <a:ext cx="381000" cy="381000"/>
                  </a:xfrm>
                  <a:prstGeom prst="ellipse">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Flowchart: Decision 8">
                    <a:extLst>
                      <a:ext uri="{FF2B5EF4-FFF2-40B4-BE49-F238E27FC236}">
                        <a16:creationId xmlns:a16="http://schemas.microsoft.com/office/drawing/2014/main" id="{66DB73C9-F42F-C07A-5220-30BE8FBF06BA}"/>
                      </a:ext>
                    </a:extLst>
                  </p:cNvPr>
                  <p:cNvSpPr/>
                  <p:nvPr/>
                </p:nvSpPr>
                <p:spPr>
                  <a:xfrm>
                    <a:off x="3879710"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𝑜</m:t>
                              </m:r>
                            </m:sub>
                          </m:sSub>
                        </m:oMath>
                      </m:oMathPara>
                    </a14:m>
                    <a:endParaRPr lang="en-US" dirty="0"/>
                  </a:p>
                </p:txBody>
              </p:sp>
            </mc:Choice>
            <mc:Fallback xmlns="">
              <p:sp>
                <p:nvSpPr>
                  <p:cNvPr id="9" name="Flowchart: Decision 8">
                    <a:extLst>
                      <a:ext uri="{FF2B5EF4-FFF2-40B4-BE49-F238E27FC236}">
                        <a16:creationId xmlns:a16="http://schemas.microsoft.com/office/drawing/2014/main" id="{66DB73C9-F42F-C07A-5220-30BE8FBF06BA}"/>
                      </a:ext>
                    </a:extLst>
                  </p:cNvPr>
                  <p:cNvSpPr>
                    <a:spLocks noRot="1" noChangeAspect="1" noMove="1" noResize="1" noEditPoints="1" noAdjustHandles="1" noChangeArrowheads="1" noChangeShapeType="1" noTextEdit="1"/>
                  </p:cNvSpPr>
                  <p:nvPr/>
                </p:nvSpPr>
                <p:spPr>
                  <a:xfrm>
                    <a:off x="3879710" y="4920378"/>
                    <a:ext cx="635194" cy="414210"/>
                  </a:xfrm>
                  <a:prstGeom prst="flowChartDecision">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3244678E-5FD5-6FA9-CE10-C516DC58E351}"/>
                      </a:ext>
                    </a:extLst>
                  </p:cNvPr>
                  <p:cNvSpPr/>
                  <p:nvPr/>
                </p:nvSpPr>
                <p:spPr>
                  <a:xfrm>
                    <a:off x="4695871"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sub>
                          </m:sSub>
                        </m:oMath>
                      </m:oMathPara>
                    </a14:m>
                    <a:endParaRPr lang="en-US" dirty="0"/>
                  </a:p>
                </p:txBody>
              </p:sp>
            </mc:Choice>
            <mc:Fallback xmlns="">
              <p:sp>
                <p:nvSpPr>
                  <p:cNvPr id="12" name="Rectangle 11">
                    <a:extLst>
                      <a:ext uri="{FF2B5EF4-FFF2-40B4-BE49-F238E27FC236}">
                        <a16:creationId xmlns:a16="http://schemas.microsoft.com/office/drawing/2014/main" id="{3244678E-5FD5-6FA9-CE10-C516DC58E351}"/>
                      </a:ext>
                    </a:extLst>
                  </p:cNvPr>
                  <p:cNvSpPr>
                    <a:spLocks noRot="1" noChangeAspect="1" noMove="1" noResize="1" noEditPoints="1" noAdjustHandles="1" noChangeArrowheads="1" noChangeShapeType="1" noTextEdit="1"/>
                  </p:cNvSpPr>
                  <p:nvPr/>
                </p:nvSpPr>
                <p:spPr>
                  <a:xfrm>
                    <a:off x="4695871" y="6013621"/>
                    <a:ext cx="404849" cy="294652"/>
                  </a:xfrm>
                  <a:prstGeom prst="rect">
                    <a:avLst/>
                  </a:prstGeom>
                  <a:blipFill>
                    <a:blip r:embed="rId16"/>
                    <a:stretch>
                      <a:fillRect b="-576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5DA7A9A6-35C0-3C36-7DA5-9DF08FC4FBED}"/>
                  </a:ext>
                </a:extLst>
              </p:cNvPr>
              <p:cNvCxnSpPr>
                <a:cxnSpLocks/>
                <a:stCxn id="7" idx="0"/>
                <a:endCxn id="9" idx="1"/>
              </p:cNvCxnSpPr>
              <p:nvPr/>
            </p:nvCxnSpPr>
            <p:spPr>
              <a:xfrm flipV="1">
                <a:off x="3603251"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EFABC5A-F1DB-5D04-51A5-59C05B47DFFE}"/>
                  </a:ext>
                </a:extLst>
              </p:cNvPr>
              <p:cNvCxnSpPr>
                <a:cxnSpLocks/>
                <a:stCxn id="7" idx="5"/>
                <a:endCxn id="12" idx="1"/>
              </p:cNvCxnSpPr>
              <p:nvPr/>
            </p:nvCxnSpPr>
            <p:spPr>
              <a:xfrm>
                <a:off x="3737955" y="5767325"/>
                <a:ext cx="957916"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FF2CF71-1CE5-2980-74B4-BD390E07E120}"/>
                  </a:ext>
                </a:extLst>
              </p:cNvPr>
              <p:cNvCxnSpPr>
                <a:cxnSpLocks/>
                <a:stCxn id="9" idx="2"/>
                <a:endCxn id="12" idx="0"/>
              </p:cNvCxnSpPr>
              <p:nvPr/>
            </p:nvCxnSpPr>
            <p:spPr>
              <a:xfrm>
                <a:off x="4197307" y="5334588"/>
                <a:ext cx="700989"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ACAB2C98-7A3E-3670-75A7-AD1721C32637}"/>
                  </a:ext>
                </a:extLst>
              </p:cNvPr>
              <p:cNvCxnSpPr>
                <a:cxnSpLocks/>
                <a:stCxn id="7" idx="6"/>
              </p:cNvCxnSpPr>
              <p:nvPr/>
            </p:nvCxnSpPr>
            <p:spPr>
              <a:xfrm>
                <a:off x="3793751"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64B99EBA-C41D-13D7-AD9C-76017B19F525}"/>
                  </a:ext>
                </a:extLst>
              </p:cNvPr>
              <p:cNvCxnSpPr>
                <a:cxnSpLocks/>
                <a:stCxn id="9" idx="3"/>
              </p:cNvCxnSpPr>
              <p:nvPr/>
            </p:nvCxnSpPr>
            <p:spPr>
              <a:xfrm>
                <a:off x="4514904"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701555"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701555" y="5442121"/>
                    <a:ext cx="381000" cy="381000"/>
                  </a:xfrm>
                  <a:prstGeom prst="ellipse">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Flowchart: Decision 65">
                    <a:extLst>
                      <a:ext uri="{FF2B5EF4-FFF2-40B4-BE49-F238E27FC236}">
                        <a16:creationId xmlns:a16="http://schemas.microsoft.com/office/drawing/2014/main" id="{B1F58610-6C4D-D0DC-B8E1-DF5CCD02E313}"/>
                      </a:ext>
                    </a:extLst>
                  </p:cNvPr>
                  <p:cNvSpPr/>
                  <p:nvPr/>
                </p:nvSpPr>
                <p:spPr>
                  <a:xfrm>
                    <a:off x="5168514"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6" name="Flowchart: Decision 65">
                    <a:extLst>
                      <a:ext uri="{FF2B5EF4-FFF2-40B4-BE49-F238E27FC236}">
                        <a16:creationId xmlns:a16="http://schemas.microsoft.com/office/drawing/2014/main" id="{B1F58610-6C4D-D0DC-B8E1-DF5CCD02E313}"/>
                      </a:ext>
                    </a:extLst>
                  </p:cNvPr>
                  <p:cNvSpPr>
                    <a:spLocks noRot="1" noChangeAspect="1" noMove="1" noResize="1" noEditPoints="1" noAdjustHandles="1" noChangeArrowheads="1" noChangeShapeType="1" noTextEdit="1"/>
                  </p:cNvSpPr>
                  <p:nvPr/>
                </p:nvSpPr>
                <p:spPr>
                  <a:xfrm>
                    <a:off x="5168514" y="4920378"/>
                    <a:ext cx="635194" cy="414210"/>
                  </a:xfrm>
                  <a:prstGeom prst="flowChartDecision">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0D1B6E75-F3A0-5863-CB79-82334EF52B1F}"/>
                      </a:ext>
                    </a:extLst>
                  </p:cNvPr>
                  <p:cNvSpPr/>
                  <p:nvPr/>
                </p:nvSpPr>
                <p:spPr>
                  <a:xfrm>
                    <a:off x="6005079"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sub>
                          </m:sSub>
                        </m:oMath>
                      </m:oMathPara>
                    </a14:m>
                    <a:endParaRPr lang="en-US" dirty="0"/>
                  </a:p>
                </p:txBody>
              </p:sp>
            </mc:Choice>
            <mc:Fallback xmlns="">
              <p:sp>
                <p:nvSpPr>
                  <p:cNvPr id="67" name="Rectangle 66">
                    <a:extLst>
                      <a:ext uri="{FF2B5EF4-FFF2-40B4-BE49-F238E27FC236}">
                        <a16:creationId xmlns:a16="http://schemas.microsoft.com/office/drawing/2014/main" id="{0D1B6E75-F3A0-5863-CB79-82334EF52B1F}"/>
                      </a:ext>
                    </a:extLst>
                  </p:cNvPr>
                  <p:cNvSpPr>
                    <a:spLocks noRot="1" noChangeAspect="1" noMove="1" noResize="1" noEditPoints="1" noAdjustHandles="1" noChangeArrowheads="1" noChangeShapeType="1" noTextEdit="1"/>
                  </p:cNvSpPr>
                  <p:nvPr/>
                </p:nvSpPr>
                <p:spPr>
                  <a:xfrm>
                    <a:off x="6005079" y="6013621"/>
                    <a:ext cx="404849" cy="294652"/>
                  </a:xfrm>
                  <a:prstGeom prst="rect">
                    <a:avLst/>
                  </a:prstGeom>
                  <a:blipFill>
                    <a:blip r:embed="rId19"/>
                    <a:stretch>
                      <a:fillRect b="-5769"/>
                    </a:stretch>
                  </a:blipFill>
                </p:spPr>
                <p:txBody>
                  <a:bodyPr/>
                  <a:lstStyle/>
                  <a:p>
                    <a:r>
                      <a:rPr lang="en-US">
                        <a:noFill/>
                      </a:rPr>
                      <a:t> </a:t>
                    </a:r>
                  </a:p>
                </p:txBody>
              </p:sp>
            </mc:Fallback>
          </mc:AlternateContent>
          <p:cxnSp>
            <p:nvCxnSpPr>
              <p:cNvPr id="68" name="Straight Arrow Connector 67">
                <a:extLst>
                  <a:ext uri="{FF2B5EF4-FFF2-40B4-BE49-F238E27FC236}">
                    <a16:creationId xmlns:a16="http://schemas.microsoft.com/office/drawing/2014/main" id="{0C146450-D7E1-5C57-35F2-0F9C5041A613}"/>
                  </a:ext>
                </a:extLst>
              </p:cNvPr>
              <p:cNvCxnSpPr>
                <a:cxnSpLocks/>
                <a:stCxn id="65" idx="0"/>
                <a:endCxn id="66" idx="1"/>
              </p:cNvCxnSpPr>
              <p:nvPr/>
            </p:nvCxnSpPr>
            <p:spPr>
              <a:xfrm flipV="1">
                <a:off x="4892055"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69" name="Straight Arrow Connector 68">
                <a:extLst>
                  <a:ext uri="{FF2B5EF4-FFF2-40B4-BE49-F238E27FC236}">
                    <a16:creationId xmlns:a16="http://schemas.microsoft.com/office/drawing/2014/main" id="{F4BB20BE-24E0-8453-70CD-ED6614A44CD2}"/>
                  </a:ext>
                </a:extLst>
              </p:cNvPr>
              <p:cNvCxnSpPr>
                <a:cxnSpLocks/>
                <a:stCxn id="65" idx="5"/>
                <a:endCxn id="67" idx="1"/>
              </p:cNvCxnSpPr>
              <p:nvPr/>
            </p:nvCxnSpPr>
            <p:spPr>
              <a:xfrm>
                <a:off x="5026759" y="5767325"/>
                <a:ext cx="978320"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F2F8443-A125-DC04-7BCC-892C0F4C6D86}"/>
                  </a:ext>
                </a:extLst>
              </p:cNvPr>
              <p:cNvCxnSpPr>
                <a:cxnSpLocks/>
                <a:stCxn id="66" idx="2"/>
                <a:endCxn id="67" idx="0"/>
              </p:cNvCxnSpPr>
              <p:nvPr/>
            </p:nvCxnSpPr>
            <p:spPr>
              <a:xfrm>
                <a:off x="5486111" y="5334588"/>
                <a:ext cx="721393"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5D3A19B9-3B2D-38D7-8D83-B145B9542A8B}"/>
                  </a:ext>
                </a:extLst>
              </p:cNvPr>
              <p:cNvCxnSpPr>
                <a:cxnSpLocks/>
                <a:stCxn id="65" idx="6"/>
              </p:cNvCxnSpPr>
              <p:nvPr/>
            </p:nvCxnSpPr>
            <p:spPr>
              <a:xfrm>
                <a:off x="5082555"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A79993CA-644D-ACD0-0DA6-6715E2AB2CB9}"/>
                  </a:ext>
                </a:extLst>
              </p:cNvPr>
              <p:cNvCxnSpPr>
                <a:cxnSpLocks/>
                <a:stCxn id="66" idx="3"/>
              </p:cNvCxnSpPr>
              <p:nvPr/>
            </p:nvCxnSpPr>
            <p:spPr>
              <a:xfrm>
                <a:off x="5803708"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90399"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90399" y="5442121"/>
                    <a:ext cx="381000" cy="381000"/>
                  </a:xfrm>
                  <a:prstGeom prst="ellipse">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Flowchart: Decision 73">
                    <a:extLst>
                      <a:ext uri="{FF2B5EF4-FFF2-40B4-BE49-F238E27FC236}">
                        <a16:creationId xmlns:a16="http://schemas.microsoft.com/office/drawing/2014/main" id="{FB2FE1C2-C80C-966D-C610-D5B8736CEF29}"/>
                      </a:ext>
                    </a:extLst>
                  </p:cNvPr>
                  <p:cNvSpPr/>
                  <p:nvPr/>
                </p:nvSpPr>
                <p:spPr>
                  <a:xfrm>
                    <a:off x="6457358"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74" name="Flowchart: Decision 73">
                    <a:extLst>
                      <a:ext uri="{FF2B5EF4-FFF2-40B4-BE49-F238E27FC236}">
                        <a16:creationId xmlns:a16="http://schemas.microsoft.com/office/drawing/2014/main" id="{FB2FE1C2-C80C-966D-C610-D5B8736CEF29}"/>
                      </a:ext>
                    </a:extLst>
                  </p:cNvPr>
                  <p:cNvSpPr>
                    <a:spLocks noRot="1" noChangeAspect="1" noMove="1" noResize="1" noEditPoints="1" noAdjustHandles="1" noChangeArrowheads="1" noChangeShapeType="1" noTextEdit="1"/>
                  </p:cNvSpPr>
                  <p:nvPr/>
                </p:nvSpPr>
                <p:spPr>
                  <a:xfrm>
                    <a:off x="6457358" y="4920378"/>
                    <a:ext cx="635194" cy="414210"/>
                  </a:xfrm>
                  <a:prstGeom prst="flowChartDecision">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Rectangle 74">
                    <a:extLst>
                      <a:ext uri="{FF2B5EF4-FFF2-40B4-BE49-F238E27FC236}">
                        <a16:creationId xmlns:a16="http://schemas.microsoft.com/office/drawing/2014/main" id="{6F0B5FF4-2D15-73F2-12C8-6929911DFFCE}"/>
                      </a:ext>
                    </a:extLst>
                  </p:cNvPr>
                  <p:cNvSpPr/>
                  <p:nvPr/>
                </p:nvSpPr>
                <p:spPr>
                  <a:xfrm>
                    <a:off x="7213775" y="603088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3</m:t>
                              </m:r>
                            </m:sub>
                          </m:sSub>
                        </m:oMath>
                      </m:oMathPara>
                    </a14:m>
                    <a:endParaRPr lang="en-US" dirty="0"/>
                  </a:p>
                </p:txBody>
              </p:sp>
            </mc:Choice>
            <mc:Fallback xmlns="">
              <p:sp>
                <p:nvSpPr>
                  <p:cNvPr id="75" name="Rectangle 74">
                    <a:extLst>
                      <a:ext uri="{FF2B5EF4-FFF2-40B4-BE49-F238E27FC236}">
                        <a16:creationId xmlns:a16="http://schemas.microsoft.com/office/drawing/2014/main" id="{6F0B5FF4-2D15-73F2-12C8-6929911DFFCE}"/>
                      </a:ext>
                    </a:extLst>
                  </p:cNvPr>
                  <p:cNvSpPr>
                    <a:spLocks noRot="1" noChangeAspect="1" noMove="1" noResize="1" noEditPoints="1" noAdjustHandles="1" noChangeArrowheads="1" noChangeShapeType="1" noTextEdit="1"/>
                  </p:cNvSpPr>
                  <p:nvPr/>
                </p:nvSpPr>
                <p:spPr>
                  <a:xfrm>
                    <a:off x="7213775" y="6030881"/>
                    <a:ext cx="404849" cy="294652"/>
                  </a:xfrm>
                  <a:prstGeom prst="rect">
                    <a:avLst/>
                  </a:prstGeom>
                  <a:blipFill>
                    <a:blip r:embed="rId22"/>
                    <a:stretch>
                      <a:fillRect b="-5660"/>
                    </a:stretch>
                  </a:blipFill>
                </p:spPr>
                <p:txBody>
                  <a:bodyPr/>
                  <a:lstStyle/>
                  <a:p>
                    <a:r>
                      <a:rPr lang="en-US">
                        <a:noFill/>
                      </a:rPr>
                      <a:t> </a:t>
                    </a:r>
                  </a:p>
                </p:txBody>
              </p:sp>
            </mc:Fallback>
          </mc:AlternateContent>
          <p:cxnSp>
            <p:nvCxnSpPr>
              <p:cNvPr id="76" name="Straight Arrow Connector 75">
                <a:extLst>
                  <a:ext uri="{FF2B5EF4-FFF2-40B4-BE49-F238E27FC236}">
                    <a16:creationId xmlns:a16="http://schemas.microsoft.com/office/drawing/2014/main" id="{EAFE4998-ACE3-28DA-654B-7B38070BC2D5}"/>
                  </a:ext>
                </a:extLst>
              </p:cNvPr>
              <p:cNvCxnSpPr>
                <a:cxnSpLocks/>
                <a:stCxn id="73" idx="0"/>
                <a:endCxn id="74" idx="1"/>
              </p:cNvCxnSpPr>
              <p:nvPr/>
            </p:nvCxnSpPr>
            <p:spPr>
              <a:xfrm flipV="1">
                <a:off x="6180899"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27FEC7FF-7FA4-6589-B7B3-3F1248319D22}"/>
                  </a:ext>
                </a:extLst>
              </p:cNvPr>
              <p:cNvCxnSpPr>
                <a:cxnSpLocks/>
                <a:stCxn id="73" idx="5"/>
                <a:endCxn id="75" idx="1"/>
              </p:cNvCxnSpPr>
              <p:nvPr/>
            </p:nvCxnSpPr>
            <p:spPr>
              <a:xfrm>
                <a:off x="6315603" y="5767325"/>
                <a:ext cx="898172" cy="41088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E92E4504-8CFE-D7FC-E466-1726B0E0718F}"/>
                  </a:ext>
                </a:extLst>
              </p:cNvPr>
              <p:cNvCxnSpPr>
                <a:cxnSpLocks/>
                <a:stCxn id="74" idx="2"/>
                <a:endCxn id="75" idx="0"/>
              </p:cNvCxnSpPr>
              <p:nvPr/>
            </p:nvCxnSpPr>
            <p:spPr>
              <a:xfrm>
                <a:off x="6774955" y="5334588"/>
                <a:ext cx="641245" cy="69629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3A3D5740-0B86-72BD-C715-7F831EB7F742}"/>
                  </a:ext>
                </a:extLst>
              </p:cNvPr>
              <p:cNvCxnSpPr>
                <a:cxnSpLocks/>
                <a:stCxn id="73" idx="6"/>
              </p:cNvCxnSpPr>
              <p:nvPr/>
            </p:nvCxnSpPr>
            <p:spPr>
              <a:xfrm>
                <a:off x="6371399"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1FAEF3C-B593-9622-0AE1-ED28EDFC7BC9}"/>
                  </a:ext>
                </a:extLst>
              </p:cNvPr>
              <p:cNvCxnSpPr>
                <a:cxnSpLocks/>
                <a:stCxn id="74" idx="3"/>
              </p:cNvCxnSpPr>
              <p:nvPr/>
            </p:nvCxnSpPr>
            <p:spPr>
              <a:xfrm>
                <a:off x="7092552"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86850" y="5425914"/>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Lst>
              </p:cNvPr>
              <p:cNvSpPr/>
              <p:nvPr/>
            </p:nvSpPr>
            <p:spPr>
              <a:xfrm>
                <a:off x="3160518" y="4817835"/>
                <a:ext cx="4759686"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50C3099F-FD60-C0F8-5301-C61175DC1853}"/>
                    </a:ext>
                  </a:extLst>
                </p:cNvPr>
                <p:cNvSpPr/>
                <p:nvPr/>
              </p:nvSpPr>
              <p:spPr>
                <a:xfrm>
                  <a:off x="5380122" y="5876240"/>
                  <a:ext cx="1641423" cy="821386"/>
                </a:xfrm>
                <a:prstGeom prst="wedgeRoundRectCallout">
                  <a:avLst>
                    <a:gd name="adj1" fmla="val 73688"/>
                    <a:gd name="adj2" fmla="val -38787"/>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r>
                    <a:rPr lang="en-US" dirty="0"/>
                    <a:t>!</a:t>
                  </a:r>
                </a:p>
              </p:txBody>
            </p:sp>
          </mc:Choice>
          <mc:Fallback xmlns="">
            <p:sp>
              <p:nvSpPr>
                <p:cNvPr id="10" name="Speech Bubble: Rectangle with Corners Rounded 9">
                  <a:extLst>
                    <a:ext uri="{FF2B5EF4-FFF2-40B4-BE49-F238E27FC236}">
                      <a16:creationId xmlns:a16="http://schemas.microsoft.com/office/drawing/2014/main" id="{50C3099F-FD60-C0F8-5301-C61175DC1853}"/>
                    </a:ext>
                  </a:extLst>
                </p:cNvPr>
                <p:cNvSpPr>
                  <a:spLocks noRot="1" noChangeAspect="1" noMove="1" noResize="1" noEditPoints="1" noAdjustHandles="1" noChangeArrowheads="1" noChangeShapeType="1" noTextEdit="1"/>
                </p:cNvSpPr>
                <p:nvPr/>
              </p:nvSpPr>
              <p:spPr>
                <a:xfrm>
                  <a:off x="5380122" y="5876240"/>
                  <a:ext cx="1641423" cy="821386"/>
                </a:xfrm>
                <a:prstGeom prst="wedgeRoundRectCallout">
                  <a:avLst>
                    <a:gd name="adj1" fmla="val 73688"/>
                    <a:gd name="adj2" fmla="val -38787"/>
                    <a:gd name="adj3" fmla="val 16667"/>
                  </a:avLst>
                </a:prstGeom>
                <a:blipFill>
                  <a:blip r:embed="rId2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470643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125222" cy="5123896"/>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p>
              <a:p>
                <a:pPr lvl="1"/>
                <a:r>
                  <a:rPr lang="en-US" dirty="0"/>
                  <a:t>It always has discrete time steps.</a:t>
                </a:r>
              </a:p>
              <a:p>
                <a:endParaRPr lang="en-US" b="1" dirty="0"/>
              </a:p>
              <a:p>
                <a:r>
                  <a:rPr lang="en-US" dirty="0"/>
                  <a:t>The </a:t>
                </a:r>
                <a:r>
                  <a:rPr lang="en-US" b="1" dirty="0"/>
                  <a:t>dynamics</a:t>
                </a:r>
                <a:r>
                  <a:rPr lang="en-US" dirty="0"/>
                  <a:t> of the finite discrete-time MDP are stationary and described by the </a:t>
                </a:r>
                <a:br>
                  <a:rPr lang="en-US" dirty="0"/>
                </a:br>
                <a:r>
                  <a:rPr lang="en-US" dirty="0"/>
                  <a:t>function </a:t>
                </a:r>
                <a14:m>
                  <m:oMath xmlns:m="http://schemas.openxmlformats.org/officeDocument/2006/math">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ℛ</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→[0,1]  </m:t>
                    </m:r>
                  </m:oMath>
                </a14:m>
                <a:r>
                  <a:rPr lang="en-US" dirty="0"/>
                  <a:t>defined as</a:t>
                </a:r>
              </a:p>
              <a:p>
                <a:endParaRPr lang="en-US" b="0" i="1" dirty="0">
                  <a:latin typeface="Cambria Math" panose="02040503050406030204" pitchFamily="18" charset="0"/>
                </a:endParaRPr>
              </a:p>
              <a:p>
                <a:pPr marL="0" indent="0">
                  <a:buNone/>
                </a:pPr>
                <a14:m>
                  <m:oMathPara xmlns:m="http://schemas.openxmlformats.org/officeDocument/2006/math">
                    <m:oMath>
                      <m:r>
                        <a:rPr lang="en-US" i="1">
                          <a:latin typeface="Cambria Math" panose="02040503050406030204" pitchFamily="18" charset="0"/>
                        </a:rPr>
                        <m:t>𝑝</m:t>
                      </m:r>
                      <m:r>
                        <a:rPr lang="en-US"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br>
                  <a:rPr lang="en-US" dirty="0"/>
                </a:br>
                <a:endParaRPr lang="en-US" b="0" i="1" dirty="0">
                  <a:latin typeface="Cambria Math" panose="02040503050406030204" pitchFamily="18" charset="0"/>
                </a:endParaRPr>
              </a:p>
              <a:p>
                <a:endParaRPr lang="en-US" dirty="0"/>
              </a:p>
              <a:p>
                <a:r>
                  <a:rPr lang="en-US" dirty="0"/>
                  <a:t>A decision process is an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current observed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This means: the state must have sufficient information about the past. </a:t>
                </a:r>
              </a:p>
              <a:p>
                <a:pPr lvl="1"/>
                <a:r>
                  <a:rPr lang="en-US" dirty="0"/>
                  <a:t>If this is true, then it is called an </a:t>
                </a:r>
                <a:r>
                  <a:rPr lang="en-US" b="1" dirty="0"/>
                  <a:t>information state </a:t>
                </a:r>
                <a:r>
                  <a:rPr lang="en-US" dirty="0"/>
                  <a:t>and the system has the necessary </a:t>
                </a:r>
                <a:r>
                  <a:rPr lang="en-US" b="1" dirty="0"/>
                  <a:t>Markov property</a:t>
                </a:r>
                <a:r>
                  <a:rPr lang="en-US" dirty="0"/>
                  <a:t>:</a:t>
                </a:r>
              </a:p>
              <a:p>
                <a:pPr marL="457200" lvl="1" indent="0">
                  <a:buNone/>
                </a:pPr>
                <a14:m>
                  <m:oMathPara xmlns:m="http://schemas.openxmlformats.org/officeDocument/2006/math">
                    <m:oMath>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i="1">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r>
                        <a:rPr lang="en-US" b="0" i="1" smtClean="0">
                          <a:latin typeface="Cambria Math" panose="02040503050406030204" pitchFamily="18" charset="0"/>
                        </a:rPr>
                        <m:t>= </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i="1">
                                      <a:latin typeface="Cambria Math" panose="02040503050406030204" pitchFamily="18" charset="0"/>
                                    </a:rPr>
                                    <m:t>+1</m:t>
                                  </m:r>
                                </m:sub>
                              </m:sSub>
                            </m:e>
                          </m:d>
                        </m:e>
                      </m:func>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0</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125222" cy="5123896"/>
              </a:xfrm>
              <a:blipFill>
                <a:blip r:embed="rId2"/>
                <a:stretch>
                  <a:fillRect l="-422" t="-1784"/>
                </a:stretch>
              </a:blipFill>
            </p:spPr>
            <p:txBody>
              <a:bodyPr/>
              <a:lstStyle/>
              <a:p>
                <a:r>
                  <a:rPr lang="en-US">
                    <a:noFill/>
                  </a:rPr>
                  <a:t> </a:t>
                </a:r>
              </a:p>
            </p:txBody>
          </p:sp>
        </mc:Fallback>
      </mc:AlternateContent>
      <p:pic>
        <p:nvPicPr>
          <p:cNvPr id="4" name="Content Placeholder 4">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6" name="TextBox 5">
            <a:extLst>
              <a:ext uri="{FF2B5EF4-FFF2-40B4-BE49-F238E27FC236}">
                <a16:creationId xmlns:a16="http://schemas.microsoft.com/office/drawing/2014/main" id="{49518156-925A-4480-A009-D56054E51A13}"/>
              </a:ext>
            </a:extLst>
          </p:cNvPr>
          <p:cNvSpPr txBox="1"/>
          <p:nvPr/>
        </p:nvSpPr>
        <p:spPr>
          <a:xfrm>
            <a:off x="1767590" y="6214078"/>
            <a:ext cx="8656820"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b="1" dirty="0"/>
              <a:t>Note</a:t>
            </a:r>
            <a:r>
              <a:rPr lang="en-US" dirty="0"/>
              <a:t>: When we say MDP in this class, we will always mean a finite discrete-time MDP.</a:t>
            </a:r>
          </a:p>
        </p:txBody>
      </p:sp>
    </p:spTree>
    <p:extLst>
      <p:ext uri="{BB962C8B-B14F-4D97-AF65-F5344CB8AC3E}">
        <p14:creationId xmlns:p14="http://schemas.microsoft.com/office/powerpoint/2010/main" val="2477650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Transition and Reward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15600" cy="4968569"/>
              </a:xfrm>
            </p:spPr>
            <p:txBody>
              <a:bodyPr>
                <a:normAutofit fontScale="62500" lnSpcReduction="20000"/>
              </a:bodyPr>
              <a:lstStyle/>
              <a:p>
                <a:r>
                  <a:rPr lang="en-US" dirty="0"/>
                  <a:t>The function </a:t>
                </a:r>
                <a14:m>
                  <m:oMath xmlns:m="http://schemas.openxmlformats.org/officeDocument/2006/math">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is often broken down into a transition and a reward model.</a:t>
                </a:r>
              </a:p>
              <a:p>
                <a:endParaRPr lang="en-US" dirty="0"/>
              </a:p>
              <a:p>
                <a:r>
                  <a:rPr lang="en-US" dirty="0"/>
                  <a:t>State transition probabilities:</a:t>
                </a:r>
              </a:p>
              <a:p>
                <a:pPr marL="0" indent="0">
                  <a:lnSpc>
                    <a:spcPct val="120000"/>
                  </a:lnSpc>
                  <a:buNone/>
                </a:pPr>
                <a14:m>
                  <m:oMathPara xmlns:m="http://schemas.openxmlformats.org/officeDocument/2006/math">
                    <m:oMath>
                      <m:r>
                        <a:rPr lang="en-US" i="1" smtClean="0">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smtClean="0">
                          <a:latin typeface="Cambria Math" panose="02040503050406030204" pitchFamily="18" charset="0"/>
                        </a:rPr>
                        <m:t>≝</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 </m:t>
                              </m:r>
                            </m:e>
                          </m:d>
                        </m:e>
                      </m:func>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m:oMath>
                      <m:r>
                        <m:rPr>
                          <m:aln/>
                        </m:rPr>
                        <a:rPr lang="en-US" b="0" i="0"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oMath>
                  </m:oMathPara>
                </a14:m>
                <a:endParaRPr lang="en-US" dirty="0"/>
              </a:p>
              <a:p>
                <a:r>
                  <a:rPr lang="en-US" dirty="0"/>
                  <a:t>Expected reward for state-action pairs:</a:t>
                </a:r>
              </a:p>
              <a:p>
                <a:pPr marL="0" indent="0">
                  <a:lnSpc>
                    <a:spcPct val="120000"/>
                  </a:lnSpc>
                  <a:buNone/>
                </a:pPr>
                <a14:m>
                  <m:oMathPara xmlns:m="http://schemas.openxmlformats.org/officeDocument/2006/math">
                    <m:o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rewards for state-action-next-state triples (if the next state also affects the reward):</a:t>
                </a:r>
              </a:p>
              <a:p>
                <a:pPr marL="0" indent="0">
                  <a:lnSpc>
                    <a:spcPct val="120000"/>
                  </a:lnSpc>
                  <a:buNone/>
                </a:pPr>
                <a14:m>
                  <m:oMathPara xmlns:m="http://schemas.openxmlformats.org/officeDocument/2006/math">
                    <m:o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a:latin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xmlns="">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406" t="-184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125F9633-5BBF-7862-8531-62801173FB4D}"/>
                  </a:ext>
                </a:extLst>
              </p:cNvPr>
              <p:cNvSpPr/>
              <p:nvPr/>
            </p:nvSpPr>
            <p:spPr>
              <a:xfrm>
                <a:off x="8885733" y="2436073"/>
                <a:ext cx="2861863" cy="1151723"/>
              </a:xfrm>
              <a:prstGeom prst="wedgeRoundRectCallout">
                <a:avLst>
                  <a:gd name="adj1" fmla="val -86080"/>
                  <a:gd name="adj2" fmla="val 7616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Expectation is used when the reward is stochastic represented as the random variable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oMath>
                </a14:m>
                <a:r>
                  <a:rPr lang="en-US" dirty="0"/>
                  <a:t>.</a:t>
                </a:r>
              </a:p>
            </p:txBody>
          </p:sp>
        </mc:Choice>
        <mc:Fallback xmlns="">
          <p:sp>
            <p:nvSpPr>
              <p:cNvPr id="4" name="Speech Bubble: Rectangle with Corners Rounded 3">
                <a:extLst>
                  <a:ext uri="{FF2B5EF4-FFF2-40B4-BE49-F238E27FC236}">
                    <a16:creationId xmlns:a16="http://schemas.microsoft.com/office/drawing/2014/main" id="{125F9633-5BBF-7862-8531-62801173FB4D}"/>
                  </a:ext>
                </a:extLst>
              </p:cNvPr>
              <p:cNvSpPr>
                <a:spLocks noRot="1" noChangeAspect="1" noMove="1" noResize="1" noEditPoints="1" noAdjustHandles="1" noChangeArrowheads="1" noChangeShapeType="1" noTextEdit="1"/>
              </p:cNvSpPr>
              <p:nvPr/>
            </p:nvSpPr>
            <p:spPr>
              <a:xfrm>
                <a:off x="8885733" y="2436073"/>
                <a:ext cx="2861863" cy="1151723"/>
              </a:xfrm>
              <a:prstGeom prst="wedgeRoundRectCallout">
                <a:avLst>
                  <a:gd name="adj1" fmla="val -86080"/>
                  <a:gd name="adj2" fmla="val 76160"/>
                  <a:gd name="adj3" fmla="val 16667"/>
                </a:avLst>
              </a:prstGeom>
              <a:blipFill>
                <a:blip r:embed="rId3"/>
                <a:stretch>
                  <a:fillRect t="-2834"/>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grpSp>
        <p:nvGrpSpPr>
          <p:cNvPr id="49" name="Group 48" descr="A MDP shown as a graph with states connected by action arrow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159252629"/>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159252629"/>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p:sp>
        <p:nvSpPr>
          <p:cNvPr id="24" name="TextBox 23">
            <a:extLst>
              <a:ext uri="{FF2B5EF4-FFF2-40B4-BE49-F238E27FC236}">
                <a16:creationId xmlns:a16="http://schemas.microsoft.com/office/drawing/2014/main" id="{4526A42E-4BD0-FAAD-1B1B-CE9A7862CEFF}"/>
              </a:ext>
            </a:extLst>
          </p:cNvPr>
          <p:cNvSpPr txBox="1"/>
          <p:nvPr/>
        </p:nvSpPr>
        <p:spPr>
          <a:xfrm>
            <a:off x="6165790" y="3697753"/>
            <a:ext cx="2543064" cy="369332"/>
          </a:xfrm>
          <a:prstGeom prst="rect">
            <a:avLst/>
          </a:prstGeom>
          <a:noFill/>
        </p:spPr>
        <p:txBody>
          <a:bodyPr wrap="square" rtlCol="0">
            <a:spAutoFit/>
          </a:bodyPr>
          <a:lstStyle/>
          <a:p>
            <a:r>
              <a:rPr lang="en-US" b="1" dirty="0"/>
              <a:t>Reward matrices</a:t>
            </a:r>
          </a:p>
        </p:txBody>
      </p:sp>
      <p:sp>
        <p:nvSpPr>
          <p:cNvPr id="25" name="Rectangle 24">
            <a:extLst>
              <a:ext uri="{FF2B5EF4-FFF2-40B4-BE49-F238E27FC236}">
                <a16:creationId xmlns:a16="http://schemas.microsoft.com/office/drawing/2014/main" id="{C56D3F75-4204-1CDD-1E40-8C625CC2370F}"/>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229863" y="5974623"/>
                <a:ext cx="5608955" cy="461665"/>
              </a:xfrm>
              <a:prstGeom prst="rect">
                <a:avLst/>
              </a:prstGeom>
              <a:noFill/>
            </p:spPr>
            <p:txBody>
              <a:bodyPr wrap="square" rtlCol="0">
                <a:spAutoFit/>
              </a:bodyPr>
              <a:lstStyle/>
              <a:p>
                <a:r>
                  <a:rPr lang="en-US" sz="1200" dirty="0"/>
                  <a:t>* illegal actions, but the rows in the transition matrices need to add up to 1!</a:t>
                </a:r>
                <a:endParaRPr lang="en-US" sz="1200" b="0" i="1" dirty="0">
                  <a:latin typeface="Cambria Math" panose="02040503050406030204" pitchFamily="18" charset="0"/>
                </a:endParaRPr>
              </a:p>
              <a:p>
                <a14:m>
                  <m:oMath xmlns:m="http://schemas.openxmlformats.org/officeDocument/2006/math">
                    <m:r>
                      <a:rPr lang="en-US" sz="1200" b="0" i="1" smtClean="0">
                        <a:latin typeface="Cambria Math" panose="02040503050406030204" pitchFamily="18" charset="0"/>
                      </a:rPr>
                      <m:t>−∞</m:t>
                    </m:r>
                  </m:oMath>
                </a14:m>
                <a:r>
                  <a:rPr lang="en-US" sz="1200" dirty="0"/>
                  <a:t> represents illegal actions and transitions in the reward matrices!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229863" y="5974623"/>
                <a:ext cx="5608955" cy="461665"/>
              </a:xfrm>
              <a:prstGeom prst="rect">
                <a:avLst/>
              </a:prstGeom>
              <a:blipFill>
                <a:blip r:embed="rId22"/>
                <a:stretch>
                  <a:fillRect l="-109" b="-9211"/>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sp>
        <p:nvSpPr>
          <p:cNvPr id="3" name="Arrow: Up-Down 2">
            <a:extLst>
              <a:ext uri="{FF2B5EF4-FFF2-40B4-BE49-F238E27FC236}">
                <a16:creationId xmlns:a16="http://schemas.microsoft.com/office/drawing/2014/main" id="{776E9572-05A5-EA5C-0474-006E8FD9D045}"/>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Arrow: Up-Down 7">
            <a:extLst>
              <a:ext uri="{FF2B5EF4-FFF2-40B4-BE49-F238E27FC236}">
                <a16:creationId xmlns:a16="http://schemas.microsoft.com/office/drawing/2014/main" id="{62154C0D-4CA6-89E3-6118-1109C9EB549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Arrow: Up-Down 8">
            <a:extLst>
              <a:ext uri="{FF2B5EF4-FFF2-40B4-BE49-F238E27FC236}">
                <a16:creationId xmlns:a16="http://schemas.microsoft.com/office/drawing/2014/main" id="{86CC076E-D761-6A2C-47C4-DB766E6E4265}"/>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1" grpId="0"/>
      <p:bldP spid="22" grpId="0"/>
      <p:bldP spid="23" grpId="0"/>
      <p:bldP spid="24" grpId="0"/>
      <p:bldP spid="25" grpId="0" animBg="1"/>
      <p:bldP spid="26" grpId="0"/>
      <p:bldP spid="31" grpId="0"/>
      <p:bldP spid="43" grpId="0"/>
      <p:bldP spid="3" grpId="0" animBg="1"/>
      <p:bldP spid="8" grpId="0" animBg="1"/>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p:pic>
        <p:nvPicPr>
          <p:cNvPr id="7" name="Picture 6">
            <a:extLst>
              <a:ext uri="{FF2B5EF4-FFF2-40B4-BE49-F238E27FC236}">
                <a16:creationId xmlns:a16="http://schemas.microsoft.com/office/drawing/2014/main" id="{BC0AD28F-E684-471B-3861-2B9DDC870C8C}"/>
              </a:ext>
            </a:extLst>
          </p:cNvPr>
          <p:cNvPicPr>
            <a:picLocks noChangeAspect="1"/>
          </p:cNvPicPr>
          <p:nvPr/>
        </p:nvPicPr>
        <p:blipFill>
          <a:blip r:embed="rId2"/>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 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0"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 wait, 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3777AAF-061D-26DE-93BB-BDF32A1C7E7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xmlns="">
          <p:sp>
            <p:nvSpPr>
              <p:cNvPr id="6" name="Speech Bubble: Rectangle with Corners Rounded 5">
                <a:extLst>
                  <a:ext uri="{FF2B5EF4-FFF2-40B4-BE49-F238E27FC236}">
                    <a16:creationId xmlns:a16="http://schemas.microsoft.com/office/drawing/2014/main" id="{93777AAF-061D-26DE-93BB-BDF32A1C7E7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4"/>
                <a:stretch>
                  <a:fillRect t="-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A5CD9D9-5688-BCF8-3FDC-46D444F97AD7}"/>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xmlns="">
          <p:sp>
            <p:nvSpPr>
              <p:cNvPr id="8" name="Speech Bubble: Rectangle with Corners Rounded 7">
                <a:extLst>
                  <a:ext uri="{FF2B5EF4-FFF2-40B4-BE49-F238E27FC236}">
                    <a16:creationId xmlns:a16="http://schemas.microsoft.com/office/drawing/2014/main" id="{1A5CD9D9-5688-BCF8-3FDC-46D444F97AD7}"/>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5"/>
                <a:stretch>
                  <a:fillRect b="-11348"/>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p:pic>
        <p:nvPicPr>
          <p:cNvPr id="1026" name="Picture 2">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dirty="0"/>
              <a:t>2. Complete the following entries in the model as a table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p:spTree>
    <p:extLst>
      <p:ext uri="{BB962C8B-B14F-4D97-AF65-F5344CB8AC3E}">
        <p14:creationId xmlns:p14="http://schemas.microsoft.com/office/powerpoint/2010/main" val="28102768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r>
              <a:rPr lang="en-US" dirty="0"/>
              <a:t>What is the agent’s goal?</a:t>
            </a:r>
          </a:p>
        </p:txBody>
      </p:sp>
    </p:spTree>
    <p:extLst>
      <p:ext uri="{BB962C8B-B14F-4D97-AF65-F5344CB8AC3E}">
        <p14:creationId xmlns:p14="http://schemas.microsoft.com/office/powerpoint/2010/main" val="27802980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77500" lnSpcReduction="20000"/>
              </a:bodyPr>
              <a:lstStyle/>
              <a:p>
                <a:r>
                  <a:rPr lang="en-US" dirty="0"/>
                  <a:t>The reward signal gives the agent feedback on how well it is doing. </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from a finite set of possible rewards: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Rewards communicate </a:t>
                </a:r>
              </a:p>
              <a:p>
                <a:pPr lvl="1"/>
                <a:r>
                  <a:rPr lang="en-US" b="1" dirty="0"/>
                  <a:t>What</a:t>
                </a:r>
                <a:r>
                  <a:rPr lang="en-US" dirty="0"/>
                  <a:t> the agent needs to achieve, and</a:t>
                </a:r>
              </a:p>
              <a:p>
                <a:pPr lvl="1"/>
                <a:r>
                  <a:rPr lang="en-US" b="1" dirty="0"/>
                  <a:t>not how </a:t>
                </a:r>
                <a:r>
                  <a:rPr lang="en-US" dirty="0"/>
                  <a:t>to do it. That is what the agent should learn!</a:t>
                </a:r>
              </a:p>
              <a:p>
                <a:pPr lvl="1"/>
                <a:endParaRPr lang="en-US" dirty="0"/>
              </a:p>
              <a:p>
                <a:r>
                  <a:rPr lang="en-US" dirty="0"/>
                  <a:t>Options</a:t>
                </a:r>
              </a:p>
              <a:p>
                <a:pPr lvl="1"/>
                <a:r>
                  <a:rPr lang="en-US" dirty="0"/>
                  <a:t>Only provide a reward when the agent finishes the task. This is very clear, but delayed rewards may make learning more difficult. </a:t>
                </a:r>
              </a:p>
              <a:p>
                <a:pPr lvl="1"/>
                <a:r>
                  <a:rPr lang="en-US" b="1" dirty="0"/>
                  <a:t>Reward shaping</a:t>
                </a:r>
                <a:r>
                  <a:rPr lang="en-US" dirty="0"/>
                  <a:t>: Providing intermediate rewards for partial task completion can improve learning, but may lead to issues like reward hacking.</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77500" lnSpcReduction="20000"/>
              </a:bodyPr>
              <a:lstStyle/>
              <a:p>
                <a:r>
                  <a:rPr lang="en-US" dirty="0"/>
                  <a:t>The agent’s objective is to maximize the return of an episode.</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 in the episode.</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endParaRPr lang="en-US" dirty="0"/>
              </a:p>
              <a:p>
                <a:r>
                  <a:rPr lang="en-US" b="1" dirty="0"/>
                  <a:t>Note</a:t>
                </a:r>
                <a:r>
                  <a:rPr lang="en-US" dirty="0"/>
                  <a:t>: An episodic task can be modeled as a continuing task with all rewards after </a:t>
                </a:r>
                <a14:m>
                  <m:oMath xmlns:m="http://schemas.openxmlformats.org/officeDocument/2006/math">
                    <m:r>
                      <a:rPr lang="en-US" b="0" i="1" smtClean="0">
                        <a:latin typeface="Cambria Math" panose="02040503050406030204" pitchFamily="18" charset="0"/>
                      </a:rPr>
                      <m:t>𝑇</m:t>
                    </m:r>
                  </m:oMath>
                </a14:m>
                <a:r>
                  <a:rPr lang="en-US" dirty="0"/>
                  <a:t> set to 0. Typically, the state reached a time </a:t>
                </a:r>
                <a14:m>
                  <m:oMath xmlns:m="http://schemas.openxmlformats.org/officeDocument/2006/math">
                    <m:r>
                      <a:rPr lang="en-US" b="0" i="1" smtClean="0">
                        <a:latin typeface="Cambria Math" panose="02040503050406030204" pitchFamily="18" charset="0"/>
                      </a:rPr>
                      <m:t>𝑇</m:t>
                    </m:r>
                  </m:oMath>
                </a14:m>
                <a:r>
                  <a:rPr lang="en-US" dirty="0"/>
                  <a:t> is modeled as an absorbing state.</a:t>
                </a:r>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696" t="-2551" b="-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769990" cy="1240221"/>
              </a:xfrm>
              <a:prstGeom prst="wedgeRoundRectCallout">
                <a:avLst>
                  <a:gd name="adj1" fmla="val -150518"/>
                  <a:gd name="adj2" fmla="val -6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immediate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769990" cy="1240221"/>
              </a:xfrm>
              <a:prstGeom prst="wedgeRoundRectCallout">
                <a:avLst>
                  <a:gd name="adj1" fmla="val -150518"/>
                  <a:gd name="adj2" fmla="val -697"/>
                  <a:gd name="adj3" fmla="val 16667"/>
                </a:avLst>
              </a:prstGeom>
              <a:blipFill>
                <a:blip r:embed="rId3"/>
                <a:stretch>
                  <a:fillRect t="-3382" b="-8213"/>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used when rewards now are more important than rewards received later. Continuing tasks often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r>
              <a:rPr lang="en-US" dirty="0"/>
              <a:t>How should an agent act?</a:t>
            </a:r>
          </a:p>
        </p:txBody>
      </p:sp>
    </p:spTree>
    <p:extLst>
      <p:ext uri="{BB962C8B-B14F-4D97-AF65-F5344CB8AC3E}">
        <p14:creationId xmlns:p14="http://schemas.microsoft.com/office/powerpoint/2010/main" val="39490872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5"/>
                <a:ext cx="6904220" cy="4779633"/>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endParaRPr lang="en-US" sz="2000" dirty="0"/>
              </a:p>
              <a:p>
                <a:r>
                  <a:rPr lang="en-US" sz="2000" b="1" dirty="0"/>
                  <a:t>Important guarantee</a:t>
                </a:r>
                <a:r>
                  <a:rPr lang="en-US" sz="2000" dirty="0"/>
                  <a:t>: Finite MDPs always have an optimal deterministic policy. </a:t>
                </a:r>
              </a:p>
              <a:p>
                <a:r>
                  <a:rPr lang="en-US" sz="2000" b="1" dirty="0"/>
                  <a:t>Intuitive reason</a:t>
                </a:r>
                <a:r>
                  <a:rPr lang="en-US" sz="2000" dirty="0"/>
                  <a:t>: If there is a best action given all we know (i.e., we know the current state), then there is no point in choosing a suboptimal action.</a:t>
                </a:r>
              </a:p>
            </p:txBody>
          </p:sp>
        </mc:Choice>
        <mc:Fallback xmlns="">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t="-1276" r="-26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4" name="Arrow: Up-Down 3">
            <a:extLst>
              <a:ext uri="{FF2B5EF4-FFF2-40B4-BE49-F238E27FC236}">
                <a16:creationId xmlns:a16="http://schemas.microsoft.com/office/drawing/2014/main" id="{DAAFA24E-C804-27B5-6665-EAD8417E3B85}"/>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151600"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518160">
                    <a:tc>
                      <a:txBody>
                        <a:bodyPr/>
                        <a:lstStyle/>
                        <a:p>
                          <a:endParaRPr lang="en-US"/>
                        </a:p>
                      </a:txBody>
                      <a:tcPr>
                        <a:blipFill>
                          <a:blip r:embed="rId4"/>
                          <a:stretch>
                            <a:fillRect l="-1136" t="-1176" r="-265909" b="-217647"/>
                          </a:stretch>
                        </a:blipFill>
                      </a:tcPr>
                    </a:tc>
                    <a:tc>
                      <a:txBody>
                        <a:bodyPr/>
                        <a:lstStyle/>
                        <a:p>
                          <a:endParaRPr lang="en-US"/>
                        </a:p>
                      </a:txBody>
                      <a:tcPr>
                        <a:blipFill>
                          <a:blip r:embed="rId4"/>
                          <a:stretch>
                            <a:fillRect l="-38696" t="-1176" r="-1739" b="-217647"/>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grpSp>
        <p:nvGrpSpPr>
          <p:cNvPr id="8" name="Group 7">
            <a:extLst>
              <a:ext uri="{FF2B5EF4-FFF2-40B4-BE49-F238E27FC236}">
                <a16:creationId xmlns:a16="http://schemas.microsoft.com/office/drawing/2014/main" id="{CF150674-B589-14B3-4B4E-68E61A61ACA6}"/>
              </a:ext>
            </a:extLst>
          </p:cNvPr>
          <p:cNvGrpSpPr/>
          <p:nvPr/>
        </p:nvGrpSpPr>
        <p:grpSpPr>
          <a:xfrm>
            <a:off x="1382486" y="3682728"/>
            <a:ext cx="4028964" cy="2874444"/>
            <a:chOff x="1457436" y="3555313"/>
            <a:chExt cx="4028964" cy="2874444"/>
          </a:xfrm>
        </p:grpSpPr>
        <p:pic>
          <p:nvPicPr>
            <p:cNvPr id="4" name="Picture 3">
              <a:extLst>
                <a:ext uri="{FF2B5EF4-FFF2-40B4-BE49-F238E27FC236}">
                  <a16:creationId xmlns:a16="http://schemas.microsoft.com/office/drawing/2014/main" id="{F18C5C48-3098-9594-2776-5636A54D99D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 uri="{C183D7F6-B498-43B3-948B-1728B52AA6E4}">
                  <adec:decorative xmlns:adec="http://schemas.microsoft.com/office/drawing/2017/decorative" val="1"/>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a:bodyPr>
              <a:lstStyle/>
              <a:p>
                <a:r>
                  <a:rPr lang="en-US" sz="2000" dirty="0"/>
                  <a:t>Expected value of choosing an action in a state and then following </a:t>
                </a:r>
                <a14:m>
                  <m:oMath xmlns:m="http://schemas.openxmlformats.org/officeDocument/2006/math">
                    <m:r>
                      <a:rPr lang="en-US" sz="2000" i="1">
                        <a:latin typeface="Cambria Math" panose="02040503050406030204" pitchFamily="18" charset="0"/>
                      </a:rPr>
                      <m:t>𝜋</m:t>
                    </m:r>
                  </m:oMath>
                </a14:m>
                <a:r>
                  <a:rPr lang="en-US" sz="2000" dirty="0"/>
                  <a:t>. </a:t>
                </a:r>
              </a:p>
              <a:p>
                <a:endParaRPr lang="en-US" sz="2000" dirty="0"/>
              </a:p>
              <a:p>
                <a:pPr marL="0" indent="0">
                  <a:buNone/>
                </a:pPr>
                <a14:m>
                  <m:oMathPara xmlns:m="http://schemas.openxmlformats.org/officeDocument/2006/math">
                    <m:oMath>
                      <m:sSub>
                        <m:sSubPr>
                          <m:ctrlPr>
                            <a:rPr lang="en-US" sz="1800" i="1">
                              <a:latin typeface="Cambria Math" panose="02040503050406030204" pitchFamily="18" charset="0"/>
                            </a:rPr>
                          </m:ctrlPr>
                        </m:sSubPr>
                        <m:e>
                          <m:r>
                            <a:rPr lang="en-US" sz="1800" i="1">
                              <a:latin typeface="Cambria Math" panose="02040503050406030204" pitchFamily="18" charset="0"/>
                            </a:rPr>
                            <m:t>𝑞</m:t>
                          </m:r>
                        </m:e>
                        <m:sub>
                          <m:r>
                            <a:rPr lang="en-US" sz="1800" i="1">
                              <a:latin typeface="Cambria Math" panose="02040503050406030204" pitchFamily="18" charset="0"/>
                            </a:rPr>
                            <m:t>𝜋</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𝔼</m:t>
                          </m:r>
                        </m:e>
                        <m:sub>
                          <m:r>
                            <a:rPr lang="en-US" sz="1800" i="1">
                              <a:latin typeface="Cambria Math" panose="02040503050406030204" pitchFamily="18" charset="0"/>
                            </a:rPr>
                            <m:t>𝜋</m:t>
                          </m:r>
                        </m:sub>
                      </m:sSub>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𝐺</m:t>
                              </m:r>
                            </m:e>
                            <m:sub>
                              <m:r>
                                <a:rPr lang="en-US" sz="1800" i="1">
                                  <a:latin typeface="Cambria Math" panose="02040503050406030204" pitchFamily="18" charset="0"/>
                                </a:rPr>
                                <m:t>𝑡</m:t>
                              </m:r>
                            </m:sub>
                          </m:sSub>
                          <m:r>
                            <a:rPr lang="en-US" sz="1800" i="1">
                              <a:latin typeface="Cambria Math" panose="02040503050406030204" pitchFamily="18" charset="0"/>
                            </a:rPr>
                            <m:t> </m:t>
                          </m:r>
                        </m:e>
                      </m:d>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𝐴</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oMath>
                    <m:oMath>
                      <m:r>
                        <a:rPr lang="en-US" sz="1800" b="0" i="1" smtClean="0">
                          <a:latin typeface="Cambria Math" panose="02040503050406030204" pitchFamily="18" charset="0"/>
                        </a:rPr>
                        <m:t> </m:t>
                      </m:r>
                    </m:oMath>
                    <m:oMath>
                      <m:r>
                        <m:rPr>
                          <m:aln/>
                        </m:rPr>
                        <a:rPr lang="en-US" sz="1800">
                          <a:latin typeface="Cambria Math" panose="02040503050406030204" pitchFamily="18" charset="0"/>
                          <a:ea typeface="Cambria Math" panose="02040503050406030204" pitchFamily="18" charset="0"/>
                        </a:rPr>
                        <m:t>=</m:t>
                      </m:r>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𝔼</m:t>
                          </m:r>
                        </m:e>
                        <m:sub>
                          <m:r>
                            <a:rPr lang="en-US" sz="1800">
                              <a:latin typeface="Cambria Math" panose="02040503050406030204" pitchFamily="18" charset="0"/>
                              <a:ea typeface="Cambria Math" panose="02040503050406030204" pitchFamily="18" charset="0"/>
                            </a:rPr>
                            <m:t>𝜋</m:t>
                          </m:r>
                        </m:sub>
                      </m:sSub>
                      <m:d>
                        <m:dPr>
                          <m:begChr m:val="["/>
                          <m:endChr m:val="]"/>
                          <m:ctrlPr>
                            <a:rPr lang="en-US" sz="1800" i="1">
                              <a:latin typeface="Cambria Math" panose="02040503050406030204" pitchFamily="18" charset="0"/>
                              <a:ea typeface="Cambria Math" panose="02040503050406030204" pitchFamily="18" charset="0"/>
                            </a:rPr>
                          </m:ctrlPr>
                        </m:dPr>
                        <m:e>
                          <m:d>
                            <m:dPr>
                              <m:begChr m:val=""/>
                              <m:endChr m:val="|"/>
                              <m:ctrlPr>
                                <a:rPr lang="en-US" sz="1800" i="1">
                                  <a:latin typeface="Cambria Math" panose="02040503050406030204" pitchFamily="18" charset="0"/>
                                  <a:ea typeface="Cambria Math" panose="02040503050406030204" pitchFamily="18" charset="0"/>
                                </a:rPr>
                              </m:ctrlPr>
                            </m:dPr>
                            <m:e>
                              <m:nary>
                                <m:naryPr>
                                  <m:chr m:val="∑"/>
                                  <m:ctrlPr>
                                    <a:rPr lang="en-US" sz="1800">
                                      <a:latin typeface="Cambria Math" panose="02040503050406030204" pitchFamily="18" charset="0"/>
                                      <a:ea typeface="Cambria Math" panose="02040503050406030204" pitchFamily="18" charset="0"/>
                                    </a:rPr>
                                  </m:ctrlPr>
                                </m:naryPr>
                                <m:sub>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=0</m:t>
                                  </m:r>
                                </m:sub>
                                <m:sup>
                                  <m:r>
                                    <a:rPr lang="en-US" sz="1800">
                                      <a:latin typeface="Cambria Math" panose="02040503050406030204" pitchFamily="18" charset="0"/>
                                      <a:ea typeface="Cambria Math" panose="02040503050406030204" pitchFamily="18" charset="0"/>
                                    </a:rPr>
                                    <m:t>∞</m:t>
                                  </m:r>
                                </m:sup>
                                <m:e>
                                  <m:sSup>
                                    <m:sSupPr>
                                      <m:ctrlPr>
                                        <a:rPr lang="en-US" sz="1800">
                                          <a:latin typeface="Cambria Math" panose="02040503050406030204" pitchFamily="18" charset="0"/>
                                          <a:ea typeface="Cambria Math" panose="02040503050406030204" pitchFamily="18" charset="0"/>
                                        </a:rPr>
                                      </m:ctrlPr>
                                    </m:sSupPr>
                                    <m:e>
                                      <m:r>
                                        <a:rPr lang="en-US" sz="1800">
                                          <a:latin typeface="Cambria Math" panose="02040503050406030204" pitchFamily="18" charset="0"/>
                                          <a:ea typeface="Cambria Math" panose="02040503050406030204" pitchFamily="18" charset="0"/>
                                        </a:rPr>
                                        <m:t>𝛾</m:t>
                                      </m:r>
                                    </m:e>
                                    <m:sup>
                                      <m:r>
                                        <a:rPr lang="en-US" sz="1800">
                                          <a:latin typeface="Cambria Math" panose="02040503050406030204" pitchFamily="18" charset="0"/>
                                          <a:ea typeface="Cambria Math" panose="02040503050406030204" pitchFamily="18" charset="0"/>
                                        </a:rPr>
                                        <m:t>𝑘</m:t>
                                      </m:r>
                                    </m:sup>
                                  </m:sSup>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𝑅</m:t>
                                      </m:r>
                                    </m:e>
                                    <m:sub>
                                      <m:r>
                                        <a:rPr lang="en-US" sz="1800">
                                          <a:latin typeface="Cambria Math" panose="02040503050406030204" pitchFamily="18" charset="0"/>
                                          <a:ea typeface="Cambria Math" panose="02040503050406030204" pitchFamily="18" charset="0"/>
                                        </a:rPr>
                                        <m:t>𝑡</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+1</m:t>
                                      </m:r>
                                    </m:sub>
                                  </m:sSub>
                                </m:e>
                              </m:nary>
                            </m:e>
                          </m:d>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𝑆</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𝐴</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𝑎</m:t>
                          </m:r>
                          <m:r>
                            <a:rPr lang="en-US" sz="1800">
                              <a:latin typeface="Cambria Math" panose="02040503050406030204" pitchFamily="18" charset="0"/>
                              <a:ea typeface="Cambria Math" panose="02040503050406030204" pitchFamily="18" charset="0"/>
                            </a:rPr>
                            <m:t> </m:t>
                          </m:r>
                        </m:e>
                      </m:d>
                      <m:r>
                        <a:rPr lang="en-US" sz="1800">
                          <a:latin typeface="Cambria Math" panose="02040503050406030204" pitchFamily="18" charset="0"/>
                          <a:ea typeface="Cambria Math" panose="02040503050406030204" pitchFamily="18" charset="0"/>
                        </a:rPr>
                        <m:t>  </m:t>
                      </m:r>
                      <m:r>
                        <m:rPr>
                          <m:nor/>
                        </m:rPr>
                        <a:rPr lang="en-US" sz="1800" i="0">
                          <a:latin typeface="Cambria Math" panose="02040503050406030204" pitchFamily="18" charset="0"/>
                          <a:ea typeface="Cambria Math" panose="02040503050406030204" pitchFamily="18" charset="0"/>
                        </a:rPr>
                        <m:t>for all </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𝒮</m:t>
                      </m:r>
                    </m:oMath>
                  </m:oMathPara>
                </a14:m>
                <a:br>
                  <a:rPr lang="en-US" sz="2000" dirty="0"/>
                </a:br>
                <a:endParaRPr lang="en-US" sz="2000" dirty="0"/>
              </a:p>
              <a:p>
                <a:pPr marL="0" indent="0">
                  <a:buNone/>
                </a:pPr>
                <a:endParaRPr lang="en-US" sz="2000" dirty="0"/>
              </a:p>
              <a:p>
                <a:endParaRPr lang="en-US" sz="2000" dirty="0"/>
              </a:p>
              <a:p>
                <a:r>
                  <a:rPr lang="en-US" sz="2000" dirty="0"/>
                  <a:t>The Q-function lets us compare the value of taking different action is a given state. It is used in algorithms to determine what action is the best (the action with the highest Q-value for the state).</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643" t="-1190" r="-1447"/>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p:pic>
        <p:nvPicPr>
          <p:cNvPr id="9" name="Picture 8">
            <a:extLst>
              <a:ext uri="{FF2B5EF4-FFF2-40B4-BE49-F238E27FC236}">
                <a16:creationId xmlns:a16="http://schemas.microsoft.com/office/drawing/2014/main" id="{7B7ABEF7-94BD-43E0-F530-D80303296060}"/>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420671" y="1092790"/>
            <a:ext cx="3026577" cy="2183810"/>
          </a:xfrm>
          <a:prstGeom prst="rect">
            <a:avLst/>
          </a:prstGeom>
        </p:spPr>
      </p:pic>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EE2199E-467E-965F-9A0D-FF1A3827EABA}"/>
              </a:ext>
              <a:ext uri="{C183D7F6-B498-43B3-948B-1728B52AA6E4}">
                <adec:decorative xmlns:adec="http://schemas.microsoft.com/office/drawing/2017/decorative" val="1"/>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CCD99BBE-5189-4E89-41B1-8189E7FE9589}"/>
              </a:ext>
              <a:ext uri="{C183D7F6-B498-43B3-948B-1728B52AA6E4}">
                <adec:decorative xmlns:adec="http://schemas.microsoft.com/office/drawing/2017/decorative" val="1"/>
              </a:ext>
            </a:extLst>
          </p:cNvPr>
          <p:cNvPicPr>
            <a:picLocks noChangeAspect="1"/>
          </p:cNvPicPr>
          <p:nvPr/>
        </p:nvPicPr>
        <p:blipFill rotWithShape="1">
          <a:blip r:embed="rId5"/>
          <a:srcRect l="60759" t="3531" r="13453" b="53102"/>
          <a:stretch/>
        </p:blipFill>
        <p:spPr>
          <a:xfrm>
            <a:off x="10434850" y="3098247"/>
            <a:ext cx="1222112" cy="1148345"/>
          </a:xfrm>
          <a:prstGeom prst="rect">
            <a:avLst/>
          </a:prstGeom>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
                                <m:r>
                                  <a:rPr lang="en-US" sz="1600" b="0" i="1"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6"/>
                          <a:stretch>
                            <a:fillRect l="-746" t="-1667" r="-229104" b="-513333"/>
                          </a:stretch>
                        </a:blipFill>
                      </a:tcPr>
                    </a:tc>
                    <a:tc>
                      <a:txBody>
                        <a:bodyPr/>
                        <a:lstStyle/>
                        <a:p>
                          <a:endParaRPr lang="en-US"/>
                        </a:p>
                      </a:txBody>
                      <a:tcPr>
                        <a:blipFill>
                          <a:blip r:embed="rId6"/>
                          <a:stretch>
                            <a:fillRect l="-119469" t="-1667" r="-171681" b="-513333"/>
                          </a:stretch>
                        </a:blipFill>
                      </a:tcPr>
                    </a:tc>
                    <a:tc>
                      <a:txBody>
                        <a:bodyPr/>
                        <a:lstStyle/>
                        <a:p>
                          <a:endParaRPr lang="en-US"/>
                        </a:p>
                      </a:txBody>
                      <a:tcPr>
                        <a:blipFill>
                          <a:blip r:embed="rId6"/>
                          <a:stretch>
                            <a:fillRect l="-130526" t="-1667" r="-2105" b="-513333"/>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using Monte Carlo Methods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a:xfrm>
                <a:off x="838200" y="1397330"/>
                <a:ext cx="10515600" cy="759073"/>
              </a:xfrm>
            </p:spPr>
            <p:txBody>
              <a:bodyPr>
                <a:normAutofit fontScale="92500" lnSpcReduction="1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a:t>
                </a:r>
              </a:p>
            </p:txBody>
          </p:sp>
        </mc:Choice>
        <mc:Fallback>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xfrm>
                <a:off x="838200" y="1397330"/>
                <a:ext cx="10515600" cy="759073"/>
              </a:xfrm>
              <a:blipFill>
                <a:blip r:embed="rId2"/>
                <a:stretch>
                  <a:fillRect l="-928" t="-16000" b="-176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C84F6740-43E2-F7E2-9987-EF4EE55794F4}"/>
                  </a:ext>
                </a:extLst>
              </p:cNvPr>
              <p:cNvSpPr txBox="1"/>
              <p:nvPr/>
            </p:nvSpPr>
            <p:spPr>
              <a:xfrm>
                <a:off x="1322665" y="2291212"/>
                <a:ext cx="9546670" cy="24266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2400" dirty="0"/>
                  <a:t>A simple Monte Carlo method: </a:t>
                </a:r>
                <a:r>
                  <a:rPr lang="en-US" sz="2400" b="1" dirty="0"/>
                  <a:t>Sample-average method</a:t>
                </a:r>
              </a:p>
              <a:p>
                <a:endParaRPr lang="en-US" sz="2400" dirty="0"/>
              </a:p>
              <a:p>
                <a:pPr marL="800100" lvl="1" indent="-342900">
                  <a:buFont typeface="Arial" panose="020B0604020202020204" pitchFamily="34" charset="0"/>
                  <a:buChar char="•"/>
                </a:pPr>
                <a:r>
                  <a:rPr lang="en-US" sz="2400" dirty="0"/>
                  <a:t>Follow policy </a:t>
                </a:r>
                <a14:m>
                  <m:oMath xmlns:m="http://schemas.openxmlformats.org/officeDocument/2006/math">
                    <m:r>
                      <a:rPr lang="en-US" sz="2400" i="1" dirty="0">
                        <a:latin typeface="Cambria Math" panose="02040503050406030204" pitchFamily="18" charset="0"/>
                      </a:rPr>
                      <m:t>𝜋</m:t>
                    </m:r>
                  </m:oMath>
                </a14:m>
                <a:r>
                  <a:rPr lang="en-US" sz="2400" dirty="0"/>
                  <a:t> for a long time (e.g., sample many episodes).</a:t>
                </a:r>
              </a:p>
              <a:p>
                <a:pPr marL="800100" lvl="1" indent="-342900">
                  <a:buFont typeface="Arial" panose="020B0604020202020204" pitchFamily="34" charset="0"/>
                  <a:buChar char="•"/>
                </a:pPr>
                <a:r>
                  <a:rPr lang="en-US" sz="2400" dirty="0"/>
                  <a:t>Maintain an average </a:t>
                </a:r>
                <a14:m>
                  <m:oMath xmlns:m="http://schemas.openxmlformats.org/officeDocument/2006/math">
                    <m:acc>
                      <m:accPr>
                        <m:chr m:val="̅"/>
                        <m:ctrlPr>
                          <a:rPr lang="en-US" sz="2400" i="1">
                            <a:latin typeface="Cambria Math" panose="02040503050406030204" pitchFamily="18" charset="0"/>
                          </a:rPr>
                        </m:ctrlPr>
                      </m:accPr>
                      <m:e>
                        <m:r>
                          <a:rPr lang="en-US" sz="2400" i="1">
                            <a:latin typeface="Cambria Math" panose="02040503050406030204" pitchFamily="18" charset="0"/>
                          </a:rPr>
                          <m:t>𝑉</m:t>
                        </m:r>
                      </m:e>
                    </m:acc>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of the actual returns that have followed that state. Update the average at each visit of a state.</a:t>
                </a:r>
              </a:p>
              <a:p>
                <a:pPr marL="800100" lvl="1" indent="-342900">
                  <a:buFont typeface="Arial" panose="020B0604020202020204" pitchFamily="34" charset="0"/>
                  <a:buChar char="•"/>
                </a:pPr>
                <a:r>
                  <a:rPr lang="pt-BR" sz="2400" dirty="0"/>
                  <a:t>Convergence: </a:t>
                </a:r>
                <a14:m>
                  <m:oMath xmlns:m="http://schemas.openxmlformats.org/officeDocument/2006/math">
                    <m:func>
                      <m:funcPr>
                        <m:ctrlPr>
                          <a:rPr lang="pt-BR" sz="2400" i="1">
                            <a:latin typeface="Cambria Math" panose="02040503050406030204" pitchFamily="18" charset="0"/>
                          </a:rPr>
                        </m:ctrlPr>
                      </m:funcPr>
                      <m:fName>
                        <m:limLow>
                          <m:limLowPr>
                            <m:ctrlPr>
                              <a:rPr lang="pt-BR" sz="2400">
                                <a:latin typeface="Cambria Math" panose="02040503050406030204" pitchFamily="18" charset="0"/>
                              </a:rPr>
                            </m:ctrlPr>
                          </m:limLowPr>
                          <m:e>
                            <m:r>
                              <m:rPr>
                                <m:sty m:val="p"/>
                              </m:rPr>
                              <a:rPr lang="pt-BR" sz="2400">
                                <a:latin typeface="Cambria Math" panose="02040503050406030204" pitchFamily="18" charset="0"/>
                              </a:rPr>
                              <m:t>lim</m:t>
                            </m:r>
                          </m:e>
                          <m:lim>
                            <m:r>
                              <a:rPr lang="en-US" sz="2400" i="1">
                                <a:latin typeface="Cambria Math" panose="02040503050406030204" pitchFamily="18" charset="0"/>
                              </a:rPr>
                              <m:t>𝑣𝑖𝑠𝑖𝑡𝑠</m:t>
                            </m:r>
                            <m:r>
                              <a:rPr lang="pt-BR" sz="2400" i="1">
                                <a:latin typeface="Cambria Math" panose="02040503050406030204" pitchFamily="18" charset="0"/>
                              </a:rPr>
                              <m:t>→∞</m:t>
                            </m:r>
                          </m:lim>
                        </m:limLow>
                      </m:fName>
                      <m:e>
                        <m:acc>
                          <m:accPr>
                            <m:chr m:val="̅"/>
                            <m:ctrlPr>
                              <a:rPr lang="en-US" sz="2400" i="1">
                                <a:latin typeface="Cambria Math" panose="02040503050406030204" pitchFamily="18" charset="0"/>
                              </a:rPr>
                            </m:ctrlPr>
                          </m:accPr>
                          <m:e>
                            <m:r>
                              <a:rPr lang="en-US" sz="2400" i="1">
                                <a:latin typeface="Cambria Math" panose="02040503050406030204" pitchFamily="18" charset="0"/>
                              </a:rPr>
                              <m:t>𝑉</m:t>
                            </m:r>
                          </m:e>
                        </m:acc>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𝜋</m:t>
                            </m:r>
                          </m:sub>
                        </m:sSub>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e>
                    </m:func>
                  </m:oMath>
                </a14:m>
                <a:r>
                  <a:rPr lang="en-US" sz="2400" dirty="0"/>
                  <a:t> </a:t>
                </a:r>
              </a:p>
            </p:txBody>
          </p:sp>
        </mc:Choice>
        <mc:Fallback>
          <p:sp>
            <p:nvSpPr>
              <p:cNvPr id="9" name="TextBox 8">
                <a:extLst>
                  <a:ext uri="{FF2B5EF4-FFF2-40B4-BE49-F238E27FC236}">
                    <a16:creationId xmlns:a16="http://schemas.microsoft.com/office/drawing/2014/main" id="{C84F6740-43E2-F7E2-9987-EF4EE55794F4}"/>
                  </a:ext>
                </a:extLst>
              </p:cNvPr>
              <p:cNvSpPr txBox="1">
                <a:spLocks noRot="1" noChangeAspect="1" noMove="1" noResize="1" noEditPoints="1" noAdjustHandles="1" noChangeArrowheads="1" noChangeShapeType="1" noTextEdit="1"/>
              </p:cNvSpPr>
              <p:nvPr/>
            </p:nvSpPr>
            <p:spPr>
              <a:xfrm>
                <a:off x="1322665" y="2291212"/>
                <a:ext cx="9546670" cy="2426626"/>
              </a:xfrm>
              <a:prstGeom prst="rect">
                <a:avLst/>
              </a:prstGeom>
              <a:blipFill>
                <a:blip r:embed="rId3"/>
                <a:stretch>
                  <a:fillRect l="-956" t="-1746" r="-319" b="-24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Content Placeholder 2">
                <a:extLst>
                  <a:ext uri="{FF2B5EF4-FFF2-40B4-BE49-F238E27FC236}">
                    <a16:creationId xmlns:a16="http://schemas.microsoft.com/office/drawing/2014/main" id="{F45019AC-14D2-0ECA-3DDE-75F3241ED370}"/>
                  </a:ext>
                </a:extLst>
              </p:cNvPr>
              <p:cNvSpPr txBox="1">
                <a:spLocks/>
              </p:cNvSpPr>
              <p:nvPr/>
            </p:nvSpPr>
            <p:spPr>
              <a:xfrm>
                <a:off x="905107" y="4910997"/>
                <a:ext cx="10515600" cy="167418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smtClean="0">
                        <a:latin typeface="Cambria Math" panose="02040503050406030204" pitchFamily="18" charset="0"/>
                      </a:rPr>
                      <m:t>(</m:t>
                    </m:r>
                    <m:r>
                      <m:rPr>
                        <m:sty m:val="p"/>
                      </m:rPr>
                      <a:rPr lang="en-US" smtClean="0">
                        <a:latin typeface="Cambria Math" panose="02040503050406030204" pitchFamily="18" charset="0"/>
                      </a:rPr>
                      <m:t>s</m:t>
                    </m:r>
                    <m:r>
                      <a:rPr lang="en-US" smtClean="0">
                        <a:latin typeface="Cambria Math" panose="02040503050406030204" pitchFamily="18" charset="0"/>
                      </a:rPr>
                      <m:t>,</m:t>
                    </m:r>
                    <m:r>
                      <m:rPr>
                        <m:sty m:val="p"/>
                      </m:rPr>
                      <a:rPr lang="en-US" smtClean="0">
                        <a:latin typeface="Cambria Math" panose="02040503050406030204" pitchFamily="18" charset="0"/>
                      </a:rPr>
                      <m:t>a</m:t>
                    </m:r>
                    <m:r>
                      <a:rPr lang="en-US" smtClean="0">
                        <a:latin typeface="Cambria Math" panose="02040503050406030204" pitchFamily="18" charset="0"/>
                      </a:rPr>
                      <m:t>)</m:t>
                    </m:r>
                  </m:oMath>
                </a14:m>
                <a:r>
                  <a:rPr lang="en-US" dirty="0"/>
                  <a:t> with </a:t>
                </a:r>
                <a14:m>
                  <m:oMath xmlns:m="http://schemas.openxmlformats.org/officeDocument/2006/math">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lim</m:t>
                            </m:r>
                          </m:e>
                          <m:lim>
                            <m:r>
                              <a:rPr lang="en-US" i="1">
                                <a:latin typeface="Cambria Math" panose="02040503050406030204" pitchFamily="18" charset="0"/>
                              </a:rPr>
                              <m:t>𝑣𝑖𝑠𝑖𝑡𝑠</m:t>
                            </m:r>
                            <m:r>
                              <a:rPr lang="pt-BR" i="1">
                                <a:latin typeface="Cambria Math" panose="02040503050406030204" pitchFamily="18" charset="0"/>
                              </a:rPr>
                              <m:t>→∞</m:t>
                            </m:r>
                          </m:lim>
                        </m:limLow>
                      </m:fName>
                      <m:e>
                        <m:acc>
                          <m:accPr>
                            <m:chr m:val="̅"/>
                            <m:ctrlPr>
                              <a:rPr lang="en-US" i="1" smtClean="0">
                                <a:latin typeface="Cambria Math" panose="02040503050406030204" pitchFamily="18" charset="0"/>
                              </a:rPr>
                            </m:ctrlPr>
                          </m:accPr>
                          <m:e>
                            <m:r>
                              <a:rPr lang="en-US" i="1" smtClean="0">
                                <a:latin typeface="Cambria Math" panose="02040503050406030204" pitchFamily="18" charset="0"/>
                              </a:rPr>
                              <m:t>𝑄</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e>
                        </m:d>
                        <m:r>
                          <a:rPr lang="en-US" i="1">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r>
                          <a:rPr lang="en-US" i="1">
                            <a:latin typeface="Cambria Math" panose="02040503050406030204" pitchFamily="18" charset="0"/>
                          </a:rPr>
                          <m:t>)</m:t>
                        </m:r>
                      </m:e>
                    </m:func>
                  </m:oMath>
                </a14:m>
                <a:r>
                  <a:rPr lang="en-US" dirty="0"/>
                  <a:t> </a:t>
                </a:r>
              </a:p>
              <a:p>
                <a:r>
                  <a:rPr lang="en-US" dirty="0"/>
                  <a:t>Issue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a:t>
                </a:r>
                <a14:m>
                  <m:oMath xmlns:m="http://schemas.openxmlformats.org/officeDocument/2006/math">
                    <m:acc>
                      <m:accPr>
                        <m:chr m:val="̅"/>
                        <m:ctrlPr>
                          <a:rPr lang="en-US" i="1" smtClean="0">
                            <a:latin typeface="Cambria Math" panose="02040503050406030204" pitchFamily="18" charset="0"/>
                          </a:rPr>
                        </m:ctrlPr>
                      </m:accPr>
                      <m:e>
                        <m:r>
                          <a:rPr lang="en-US" i="1" smtClean="0">
                            <a:latin typeface="Cambria Math" panose="02040503050406030204" pitchFamily="18" charset="0"/>
                          </a:rPr>
                          <m:t>𝑄</m:t>
                        </m:r>
                      </m:e>
                    </m:acc>
                    <m:r>
                      <a:rPr lang="en-US" i="1">
                        <a:latin typeface="Cambria Math" panose="02040503050406030204" pitchFamily="18" charset="0"/>
                      </a:rPr>
                      <m:t>(</m:t>
                    </m:r>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p:sp>
            <p:nvSpPr>
              <p:cNvPr id="12" name="Content Placeholder 2">
                <a:extLst>
                  <a:ext uri="{FF2B5EF4-FFF2-40B4-BE49-F238E27FC236}">
                    <a16:creationId xmlns:a16="http://schemas.microsoft.com/office/drawing/2014/main" id="{F45019AC-14D2-0ECA-3DDE-75F3241ED370}"/>
                  </a:ext>
                </a:extLst>
              </p:cNvPr>
              <p:cNvSpPr txBox="1">
                <a:spLocks noRot="1" noChangeAspect="1" noMove="1" noResize="1" noEditPoints="1" noAdjustHandles="1" noChangeArrowheads="1" noChangeShapeType="1" noTextEdit="1"/>
              </p:cNvSpPr>
              <p:nvPr/>
            </p:nvSpPr>
            <p:spPr>
              <a:xfrm>
                <a:off x="905107" y="4910997"/>
                <a:ext cx="10515600" cy="1674186"/>
              </a:xfrm>
              <a:prstGeom prst="rect">
                <a:avLst/>
              </a:prstGeom>
              <a:blipFill>
                <a:blip r:embed="rId4"/>
                <a:stretch>
                  <a:fillRect l="-870" t="-4745"/>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The Optimal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62500" lnSpcReduction="20000"/>
              </a:bodyPr>
              <a:lstStyle/>
              <a:p>
                <a:r>
                  <a:rPr lang="en-US" dirty="0"/>
                  <a:t>Value functions define a partial ordering over policies.</a:t>
                </a:r>
                <a:br>
                  <a:rPr lang="en-US" dirty="0"/>
                </a:br>
                <a:r>
                  <a:rPr lang="en-US" dirty="0"/>
                  <a:t>A policy is better if it has at least one larger state value.</a:t>
                </a:r>
              </a:p>
              <a:p>
                <a:pPr marL="0" indent="0">
                  <a:buNone/>
                </a:pPr>
                <a14:m>
                  <m:oMathPara xmlns:m="http://schemas.openxmlformats.org/officeDocument/2006/math">
                    <m:oMath>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rPr>
                        <m:t>𝜋</m:t>
                      </m:r>
                      <m:groupChr>
                        <m:groupChrPr>
                          <m:chr m:val="⇔"/>
                          <m:pos m:val="top"/>
                          <m:vertJc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for  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 all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also exists an optimal action-value function associated with the optimal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a:t>
                </a:r>
              </a:p>
              <a:p>
                <a:pPr marL="0" indent="0">
                  <a:buNone/>
                </a:pPr>
                <a14:m>
                  <m:oMathPara xmlns:m="http://schemas.openxmlformats.org/officeDocument/2006/math">
                    <m:oMathParaPr>
                      <m:jc m:val="center"/>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pPr marL="457200" lvl="1" indent="0">
                  <a:buNone/>
                </a:pPr>
                <a:br>
                  <a:rPr lang="en-US" dirty="0"/>
                </a:br>
                <a:endParaRPr lang="en-US" dirty="0"/>
              </a:p>
              <a:p>
                <a:r>
                  <a:rPr lang="en-US" dirty="0"/>
                  <a:t>Determining the optimal policy:</a:t>
                </a:r>
              </a:p>
              <a:p>
                <a:pPr lvl="1"/>
                <a:r>
                  <a:rPr lang="en-US" dirty="0"/>
                  <a:t>It is optimal to always choose this best action.</a:t>
                </a:r>
              </a:p>
              <a:p>
                <a:pPr lvl="1"/>
                <a:r>
                  <a:rPr lang="en-US" dirty="0"/>
                  <a:t>If we know all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values, then we can determine the best action for each state by the highest Q-value: </a:t>
                </a:r>
                <a:endParaRPr lang="en-US" b="0" i="1" dirty="0">
                  <a:latin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oMath>
                  </m:oMathPara>
                </a14:m>
                <a:endParaRPr lang="en-US" b="0" dirty="0"/>
              </a:p>
              <a:p>
                <a:pPr lvl="1"/>
                <a:r>
                  <a:rPr lang="en-US" dirty="0"/>
                  <a:t>This is called a greedy policy (with respect to </a:t>
                </a:r>
                <a14:m>
                  <m:oMath xmlns:m="http://schemas.openxmlformats.org/officeDocument/2006/math">
                    <m:r>
                      <a:rPr lang="en-US" i="1" dirty="0" smtClean="0">
                        <a:latin typeface="Cambria Math" panose="02040503050406030204" pitchFamily="18" charset="0"/>
                      </a:rPr>
                      <m:t>𝑞</m:t>
                    </m:r>
                  </m:oMath>
                </a14:m>
                <a:r>
                  <a:rPr lang="en-US" dirty="0"/>
                  <a:t>) and it is deterministic. </a:t>
                </a:r>
                <a:br>
                  <a:rPr lang="en-US" dirty="0"/>
                </a:br>
                <a:r>
                  <a:rPr lang="en-US" b="1" dirty="0"/>
                  <a:t>MDPs always have an optimal deterministic policy!</a:t>
                </a:r>
              </a:p>
            </p:txBody>
          </p:sp>
        </mc:Choice>
        <mc:Fallback xmlns="">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406" t="-1913"/>
                </a:stretch>
              </a:blipFill>
            </p:spPr>
            <p:txBody>
              <a:bodyPr/>
              <a:lstStyle/>
              <a:p>
                <a:r>
                  <a:rPr lang="en-US">
                    <a:noFill/>
                  </a:rPr>
                  <a:t> </a:t>
                </a:r>
              </a:p>
            </p:txBody>
          </p:sp>
        </mc:Fallback>
      </mc:AlternateContent>
    </p:spTree>
    <p:extLst>
      <p:ext uri="{BB962C8B-B14F-4D97-AF65-F5344CB8AC3E}">
        <p14:creationId xmlns:p14="http://schemas.microsoft.com/office/powerpoint/2010/main" val="24145584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30CFB0-D2B7-437F-8981-207DBA2A813F}"/>
              </a:ext>
            </a:extLst>
          </p:cNvPr>
          <p:cNvSpPr>
            <a:spLocks noGrp="1"/>
          </p:cNvSpPr>
          <p:nvPr>
            <p:ph type="title"/>
          </p:nvPr>
        </p:nvSpPr>
        <p:spPr/>
        <p:txBody>
          <a:bodyPr/>
          <a:lstStyle/>
          <a:p>
            <a:r>
              <a:rPr lang="en-US" dirty="0"/>
              <a:t>Code…</a:t>
            </a:r>
          </a:p>
        </p:txBody>
      </p:sp>
      <p:sp>
        <p:nvSpPr>
          <p:cNvPr id="5" name="Text Placeholder 4">
            <a:extLst>
              <a:ext uri="{FF2B5EF4-FFF2-40B4-BE49-F238E27FC236}">
                <a16:creationId xmlns:a16="http://schemas.microsoft.com/office/drawing/2014/main" id="{6BF9353D-E2F6-5C2D-E559-4D7DA584DF5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1645094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481EF-925E-E1A0-78A7-BC2DF9B3D7C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EE8F-8A8E-06C5-7ADC-3DA89FE9E8FF}"/>
              </a:ext>
            </a:extLst>
          </p:cNvPr>
          <p:cNvSpPr>
            <a:spLocks noGrp="1"/>
          </p:cNvSpPr>
          <p:nvPr>
            <p:ph type="title"/>
          </p:nvPr>
        </p:nvSpPr>
        <p:spPr/>
        <p:txBody>
          <a:bodyPr/>
          <a:lstStyle/>
          <a:p>
            <a:r>
              <a:rPr lang="en-US" dirty="0"/>
              <a:t>The Bellman Equations</a:t>
            </a:r>
          </a:p>
        </p:txBody>
      </p:sp>
      <p:sp>
        <p:nvSpPr>
          <p:cNvPr id="5" name="Text Placeholder 4">
            <a:extLst>
              <a:ext uri="{FF2B5EF4-FFF2-40B4-BE49-F238E27FC236}">
                <a16:creationId xmlns:a16="http://schemas.microsoft.com/office/drawing/2014/main" id="{55E92BC1-6CAE-BE63-6560-28C08F83CF50}"/>
              </a:ext>
            </a:extLst>
          </p:cNvPr>
          <p:cNvSpPr>
            <a:spLocks noGrp="1"/>
          </p:cNvSpPr>
          <p:nvPr>
            <p:ph type="body" idx="1"/>
          </p:nvPr>
        </p:nvSpPr>
        <p:spPr/>
        <p:txBody>
          <a:bodyPr/>
          <a:lstStyle/>
          <a:p>
            <a:r>
              <a:rPr lang="en-US" dirty="0"/>
              <a:t>Bellman’s recursive formulation of value functions.</a:t>
            </a:r>
          </a:p>
        </p:txBody>
      </p:sp>
    </p:spTree>
    <p:extLst>
      <p:ext uri="{BB962C8B-B14F-4D97-AF65-F5344CB8AC3E}">
        <p14:creationId xmlns:p14="http://schemas.microsoft.com/office/powerpoint/2010/main" val="36932081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normAutofit/>
          </a:bodyPr>
          <a:lstStyle/>
          <a:p>
            <a:r>
              <a:rPr lang="en-US" dirty="0"/>
              <a:t>Bellman Expectation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2"/>
                <a:ext cx="10515600" cy="2295170"/>
              </a:xfrm>
            </p:spPr>
            <p:txBody>
              <a:bodyPr>
                <a:normAutofit fontScale="62500" lnSpcReduction="20000"/>
              </a:bodyPr>
              <a:lstStyle/>
              <a:p>
                <a:pPr marL="0" indent="0">
                  <a:buNone/>
                </a:pPr>
                <a:r>
                  <a:rPr lang="en-US" dirty="0"/>
                  <a:t>The state values </a:t>
                </a:r>
                <a:r>
                  <a:rPr lang="en-US" b="1" dirty="0"/>
                  <a:t>given a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are defined by the expected return of following the policy:</a:t>
                </a:r>
              </a:p>
              <a:p>
                <a:pPr marL="0" indent="0" algn="ctr">
                  <a:buNone/>
                </a:pP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dirty="0"/>
              </a:p>
              <a:p>
                <a:pPr marL="0" indent="0">
                  <a:buNone/>
                </a:pPr>
                <a:endParaRPr lang="en-US" dirty="0"/>
              </a:p>
              <a:p>
                <a:pPr marL="0" indent="0">
                  <a:buNone/>
                </a:pPr>
                <a:r>
                  <a:rPr lang="en-US" dirty="0"/>
                  <a:t>Bellman showed that the value function has a </a:t>
                </a:r>
                <a:r>
                  <a:rPr lang="en-US" b="1" dirty="0"/>
                  <a:t>recursive relationship:</a:t>
                </a:r>
                <a:r>
                  <a:rPr lang="en-US" dirty="0"/>
                  <a:t> </a:t>
                </a:r>
              </a:p>
              <a:p>
                <a:pPr marL="0" indent="0">
                  <a:lnSpc>
                    <a:spcPct val="11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smtClean="0">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2"/>
                <a:ext cx="10515600" cy="2295170"/>
              </a:xfrm>
              <a:blipFill>
                <a:blip r:embed="rId2"/>
                <a:stretch>
                  <a:fillRect l="-522" t="-39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468954C-DCFB-DEE0-2DA2-D5B3EE87F86E}"/>
                  </a:ext>
                </a:extLst>
              </p:cNvPr>
              <p:cNvSpPr txBox="1"/>
              <p:nvPr/>
            </p:nvSpPr>
            <p:spPr>
              <a:xfrm>
                <a:off x="936705" y="3930736"/>
                <a:ext cx="7369676" cy="24054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0" indent="0" algn="ctr">
                  <a:lnSpc>
                    <a:spcPct val="110000"/>
                  </a:lnSpc>
                  <a:buNone/>
                </a:pPr>
                <a:r>
                  <a:rPr lang="en-US" b="1" dirty="0"/>
                  <a:t>Bellman Expectation Equations</a:t>
                </a:r>
              </a:p>
              <a:p>
                <a:pPr marL="0" indent="0">
                  <a:lnSpc>
                    <a:spcPct val="11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 all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ea typeface="Cambria Math" panose="02040503050406030204" pitchFamily="18" charset="0"/>
                </a:endParaRPr>
              </a:p>
              <a:p>
                <a:endParaRPr lang="en-US" dirty="0"/>
              </a:p>
              <a:p>
                <a:r>
                  <a:rPr lang="en-US" dirty="0"/>
                  <a:t>Alternative formulation with transition and reward function:</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e>
                      </m:nary>
                      <m:nary>
                        <m:naryPr>
                          <m:chr m:val="∑"/>
                          <m:supHide m:val="on"/>
                          <m:ctrlPr>
                            <a:rPr lang="en-US" i="1">
                              <a:latin typeface="Cambria Math" panose="02040503050406030204" pitchFamily="18" charset="0"/>
                              <a:ea typeface="Cambria Math" panose="02040503050406030204" pitchFamily="18" charset="0"/>
                            </a:rPr>
                          </m:ctrlPr>
                        </m:naryPr>
                        <m:sub>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sub>
                        <m:sup/>
                        <m:e>
                          <m:r>
                            <a:rPr lang="en-US" i="1">
                              <a:latin typeface="Cambria Math" panose="02040503050406030204" pitchFamily="18" charset="0"/>
                              <a:ea typeface="Cambria Math" panose="02040503050406030204" pitchFamily="18" charset="0"/>
                            </a:rPr>
                            <m:t>𝑝</m:t>
                          </m:r>
                          <m:d>
                            <m:dPr>
                              <m:endChr m:val="|"/>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𝑟</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m:t>
                          </m:r>
                        </m:e>
                      </m:nary>
                      <m:r>
                        <a:rPr lang="en-US" i="1">
                          <a:latin typeface="Cambria Math" panose="02040503050406030204" pitchFamily="18" charset="0"/>
                          <a:ea typeface="Cambria Math" panose="02040503050406030204" pitchFamily="18" charset="0"/>
                        </a:rPr>
                        <m:t> </m:t>
                      </m:r>
                      <m:r>
                        <m:rPr>
                          <m:nor/>
                        </m:rPr>
                        <a:rPr lang="en-US" i="0">
                          <a:latin typeface="Cambria Math" panose="02040503050406030204" pitchFamily="18" charset="0"/>
                          <a:ea typeface="Cambria Math" panose="02040503050406030204" pitchFamily="18" charset="0"/>
                        </a:rPr>
                        <m:t>for all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12" name="TextBox 11">
                <a:extLst>
                  <a:ext uri="{FF2B5EF4-FFF2-40B4-BE49-F238E27FC236}">
                    <a16:creationId xmlns:a16="http://schemas.microsoft.com/office/drawing/2014/main" id="{A468954C-DCFB-DEE0-2DA2-D5B3EE87F86E}"/>
                  </a:ext>
                </a:extLst>
              </p:cNvPr>
              <p:cNvSpPr txBox="1">
                <a:spLocks noRot="1" noChangeAspect="1" noMove="1" noResize="1" noEditPoints="1" noAdjustHandles="1" noChangeArrowheads="1" noChangeShapeType="1" noTextEdit="1"/>
              </p:cNvSpPr>
              <p:nvPr/>
            </p:nvSpPr>
            <p:spPr>
              <a:xfrm>
                <a:off x="936705" y="3930736"/>
                <a:ext cx="7369676" cy="2405402"/>
              </a:xfrm>
              <a:prstGeom prst="rect">
                <a:avLst/>
              </a:prstGeom>
              <a:blipFill>
                <a:blip r:embed="rId3"/>
                <a:stretch>
                  <a:fillRect l="-660" t="-5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Speech Bubble: Rectangle with Corners Rounded 21">
                <a:extLst>
                  <a:ext uri="{FF2B5EF4-FFF2-40B4-BE49-F238E27FC236}">
                    <a16:creationId xmlns:a16="http://schemas.microsoft.com/office/drawing/2014/main" id="{7EEB7279-5D4B-CA8A-D5E9-58A220604DB9}"/>
                  </a:ext>
                </a:extLst>
              </p:cNvPr>
              <p:cNvSpPr/>
              <p:nvPr/>
            </p:nvSpPr>
            <p:spPr>
              <a:xfrm>
                <a:off x="8767072" y="1665052"/>
                <a:ext cx="3322552" cy="544888"/>
              </a:xfrm>
              <a:prstGeom prst="wedgeRoundRectCallout">
                <a:avLst>
                  <a:gd name="adj1" fmla="val -71967"/>
                  <a:gd name="adj2" fmla="val -1668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𝐺</m:t>
                        </m:r>
                      </m:e>
                      <m:sub>
                        <m:r>
                          <a:rPr lang="en-US" sz="1600" i="1">
                            <a:latin typeface="Cambria Math" panose="02040503050406030204" pitchFamily="18" charset="0"/>
                          </a:rPr>
                          <m:t>𝑡</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+1 </m:t>
                        </m:r>
                      </m:sub>
                    </m:sSub>
                    <m:r>
                      <a:rPr lang="en-US" sz="1600" i="1">
                        <a:latin typeface="Cambria Math" panose="02040503050406030204" pitchFamily="18" charset="0"/>
                      </a:rPr>
                      <m:t>+</m:t>
                    </m:r>
                    <m:r>
                      <a:rPr lang="en-US" sz="1600" i="1">
                        <a:latin typeface="Cambria Math" panose="02040503050406030204" pitchFamily="18" charset="0"/>
                      </a:rPr>
                      <m:t>𝛾</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+2 </m:t>
                        </m:r>
                      </m:sub>
                    </m:sSub>
                    <m:r>
                      <a:rPr lang="en-US" sz="1600" b="0" i="1" smtClean="0">
                        <a:latin typeface="Cambria Math" panose="02040503050406030204" pitchFamily="18" charset="0"/>
                      </a:rPr>
                      <m:t>+…</m:t>
                    </m:r>
                    <m:r>
                      <a:rPr lang="en-US" sz="1600" i="1">
                        <a:latin typeface="Cambria Math" panose="02040503050406030204" pitchFamily="18" charset="0"/>
                      </a:rPr>
                      <m:t> </m:t>
                    </m:r>
                  </m:oMath>
                </a14:m>
                <a:r>
                  <a:rPr lang="en-US" sz="1600" dirty="0"/>
                  <a:t> </a:t>
                </a:r>
                <a:br>
                  <a:rPr lang="en-US" sz="1600" dirty="0"/>
                </a:br>
                <a:r>
                  <a:rPr lang="en-US" sz="1600" dirty="0"/>
                  <a:t>This considers complete episodes.</a:t>
                </a:r>
              </a:p>
            </p:txBody>
          </p:sp>
        </mc:Choice>
        <mc:Fallback xmlns="">
          <p:sp>
            <p:nvSpPr>
              <p:cNvPr id="22" name="Speech Bubble: Rectangle with Corners Rounded 21">
                <a:extLst>
                  <a:ext uri="{FF2B5EF4-FFF2-40B4-BE49-F238E27FC236}">
                    <a16:creationId xmlns:a16="http://schemas.microsoft.com/office/drawing/2014/main" id="{7EEB7279-5D4B-CA8A-D5E9-58A220604DB9}"/>
                  </a:ext>
                </a:extLst>
              </p:cNvPr>
              <p:cNvSpPr>
                <a:spLocks noRot="1" noChangeAspect="1" noMove="1" noResize="1" noEditPoints="1" noAdjustHandles="1" noChangeArrowheads="1" noChangeShapeType="1" noTextEdit="1"/>
              </p:cNvSpPr>
              <p:nvPr/>
            </p:nvSpPr>
            <p:spPr>
              <a:xfrm>
                <a:off x="8767072" y="1665052"/>
                <a:ext cx="3322552" cy="544888"/>
              </a:xfrm>
              <a:prstGeom prst="wedgeRoundRectCallout">
                <a:avLst>
                  <a:gd name="adj1" fmla="val -71967"/>
                  <a:gd name="adj2" fmla="val -16681"/>
                  <a:gd name="adj3" fmla="val 16667"/>
                </a:avLst>
              </a:prstGeom>
              <a:blipFill>
                <a:blip r:embed="rId4"/>
                <a:stretch>
                  <a:fillRect b="-13978"/>
                </a:stretch>
              </a:blipFill>
            </p:spPr>
            <p:txBody>
              <a:bodyPr/>
              <a:lstStyle/>
              <a:p>
                <a:r>
                  <a:rPr lang="en-US">
                    <a:noFill/>
                  </a:rPr>
                  <a:t> </a:t>
                </a:r>
              </a:p>
            </p:txBody>
          </p:sp>
        </mc:Fallback>
      </mc:AlternateContent>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269904" y="5337422"/>
            <a:ext cx="2722227" cy="1314763"/>
          </a:xfrm>
          <a:prstGeom prst="wedgeRoundRectCallout">
            <a:avLst>
              <a:gd name="adj1" fmla="val -97096"/>
              <a:gd name="adj2" fmla="val -5223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Transforms the problem of finding returns into a problem of finding </a:t>
            </a:r>
            <a:r>
              <a:rPr lang="en-US" sz="1600" b="1" dirty="0"/>
              <a:t>local consistency</a:t>
            </a:r>
            <a:r>
              <a:rPr lang="en-US" sz="1600" dirty="0"/>
              <a:t> between state values.</a:t>
            </a:r>
          </a:p>
        </p:txBody>
      </p:sp>
      <p:grpSp>
        <p:nvGrpSpPr>
          <p:cNvPr id="6" name="Group 5">
            <a:extLst>
              <a:ext uri="{FF2B5EF4-FFF2-40B4-BE49-F238E27FC236}">
                <a16:creationId xmlns:a16="http://schemas.microsoft.com/office/drawing/2014/main" id="{48CF35C4-546D-3C1C-D788-0A9F33326540}"/>
              </a:ext>
            </a:extLst>
          </p:cNvPr>
          <p:cNvGrpSpPr/>
          <p:nvPr/>
        </p:nvGrpSpPr>
        <p:grpSpPr>
          <a:xfrm>
            <a:off x="8965554" y="2304263"/>
            <a:ext cx="3026577" cy="2888685"/>
            <a:chOff x="8965554" y="2304263"/>
            <a:chExt cx="3026577" cy="2888685"/>
          </a:xfrm>
        </p:grpSpPr>
        <p:pic>
          <p:nvPicPr>
            <p:cNvPr id="5" name="Picture 4">
              <a:extLst>
                <a:ext uri="{FF2B5EF4-FFF2-40B4-BE49-F238E27FC236}">
                  <a16:creationId xmlns:a16="http://schemas.microsoft.com/office/drawing/2014/main" id="{0B389E71-8B70-F7FA-E207-CDE2A09665CC}"/>
                </a:ext>
                <a:ext uri="{C183D7F6-B498-43B3-948B-1728B52AA6E4}">
                  <adec:decorative xmlns:adec="http://schemas.microsoft.com/office/drawing/2017/decorative" val="1"/>
                </a:ext>
              </a:extLst>
            </p:cNvPr>
            <p:cNvPicPr>
              <a:picLocks noChangeAspect="1"/>
            </p:cNvPicPr>
            <p:nvPr/>
          </p:nvPicPr>
          <p:blipFill rotWithShape="1">
            <a:blip r:embed="rId5"/>
            <a:srcRect l="60759" t="3531" r="13453" b="53102"/>
            <a:stretch/>
          </p:blipFill>
          <p:spPr>
            <a:xfrm>
              <a:off x="10958361" y="2304263"/>
              <a:ext cx="918950" cy="863482"/>
            </a:xfrm>
            <a:prstGeom prst="rect">
              <a:avLst/>
            </a:prstGeom>
          </p:spPr>
        </p:pic>
        <p:grpSp>
          <p:nvGrpSpPr>
            <p:cNvPr id="33" name="Group 32">
              <a:extLst>
                <a:ext uri="{FF2B5EF4-FFF2-40B4-BE49-F238E27FC236}">
                  <a16:creationId xmlns:a16="http://schemas.microsoft.com/office/drawing/2014/main" id="{0056F82B-BE54-C59A-E83A-64BEC3F8FEDE}"/>
                </a:ext>
              </a:extLst>
            </p:cNvPr>
            <p:cNvGrpSpPr/>
            <p:nvPr/>
          </p:nvGrpSpPr>
          <p:grpSpPr>
            <a:xfrm>
              <a:off x="8965554" y="3009138"/>
              <a:ext cx="3026577" cy="2183810"/>
              <a:chOff x="8965554" y="3009138"/>
              <a:chExt cx="3026577" cy="2183810"/>
            </a:xfrm>
          </p:grpSpPr>
          <p:pic>
            <p:nvPicPr>
              <p:cNvPr id="25" name="Picture 24">
                <a:extLst>
                  <a:ext uri="{FF2B5EF4-FFF2-40B4-BE49-F238E27FC236}">
                    <a16:creationId xmlns:a16="http://schemas.microsoft.com/office/drawing/2014/main" id="{4EE65DF9-D9E9-86A8-5DFA-F765C201E2FA}"/>
                  </a:ex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965554" y="3009138"/>
                <a:ext cx="3026577" cy="2183810"/>
              </a:xfrm>
              <a:prstGeom prst="rect">
                <a:avLst/>
              </a:prstGeom>
            </p:spPr>
          </p:pic>
          <p:sp>
            <p:nvSpPr>
              <p:cNvPr id="29" name="Arrow: Right 28">
                <a:extLst>
                  <a:ext uri="{FF2B5EF4-FFF2-40B4-BE49-F238E27FC236}">
                    <a16:creationId xmlns:a16="http://schemas.microsoft.com/office/drawing/2014/main" id="{EDC9952A-E4A8-E955-7ACD-4F0639531218}"/>
                  </a:ext>
                  <a:ext uri="{C183D7F6-B498-43B3-948B-1728B52AA6E4}">
                    <adec:decorative xmlns:adec="http://schemas.microsoft.com/office/drawing/2017/decorative" val="1"/>
                  </a:ext>
                </a:extLst>
              </p:cNvPr>
              <p:cNvSpPr/>
              <p:nvPr/>
            </p:nvSpPr>
            <p:spPr>
              <a:xfrm rot="16200000" flipH="1">
                <a:off x="9525507" y="4238606"/>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A3318C8E-51B3-07C5-A2B0-488A2A15B28F}"/>
                  </a:ext>
                  <a:ext uri="{C183D7F6-B498-43B3-948B-1728B52AA6E4}">
                    <adec:decorative xmlns:adec="http://schemas.microsoft.com/office/drawing/2017/decorative" val="1"/>
                  </a:ext>
                </a:extLst>
              </p:cNvPr>
              <p:cNvSpPr/>
              <p:nvPr/>
            </p:nvSpPr>
            <p:spPr>
              <a:xfrm flipH="1">
                <a:off x="9835304" y="4564504"/>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61FF1066-A799-F5CC-8827-6CDA457587F4}"/>
                      </a:ext>
                    </a:extLst>
                  </p:cNvPr>
                  <p:cNvSpPr txBox="1"/>
                  <p:nvPr/>
                </p:nvSpPr>
                <p:spPr>
                  <a:xfrm>
                    <a:off x="9089363" y="3634662"/>
                    <a:ext cx="1158349" cy="307777"/>
                  </a:xfrm>
                  <a:prstGeom prst="rect">
                    <a:avLst/>
                  </a:prstGeom>
                  <a:noFill/>
                </p:spPr>
                <p:txBody>
                  <a:bodyPr wrap="square">
                    <a:spAutoFit/>
                  </a:bodyPr>
                  <a:lstStyle/>
                  <a:p>
                    <a:pPr/>
                    <a14:m>
                      <m:oMathPara xmlns:m="http://schemas.openxmlformats.org/officeDocument/2006/math">
                        <m:oMath>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𝒗</m:t>
                              </m:r>
                            </m:e>
                            <m:sub>
                              <m:r>
                                <a:rPr lang="en-US" sz="1400" b="1" i="1" smtClean="0">
                                  <a:solidFill>
                                    <a:schemeClr val="accent3"/>
                                  </a:solidFill>
                                  <a:latin typeface="Cambria Math" panose="02040503050406030204" pitchFamily="18" charset="0"/>
                                  <a:ea typeface="Cambria Math" panose="02040503050406030204" pitchFamily="18" charset="0"/>
                                </a:rPr>
                                <m:t>𝝅</m:t>
                              </m:r>
                            </m:sub>
                          </m:sSub>
                          <m:r>
                            <a:rPr lang="en-US" sz="1400" b="1" i="1" smtClean="0">
                              <a:solidFill>
                                <a:schemeClr val="accent3"/>
                              </a:solidFill>
                              <a:latin typeface="Cambria Math" panose="02040503050406030204" pitchFamily="18" charset="0"/>
                              <a:ea typeface="Cambria Math" panose="02040503050406030204" pitchFamily="18" charset="0"/>
                            </a:rPr>
                            <m:t>(</m:t>
                          </m:r>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𝒔</m:t>
                              </m:r>
                            </m:e>
                            <m:sub>
                              <m:r>
                                <a:rPr lang="en-US" sz="1400" b="1" i="1" smtClean="0">
                                  <a:solidFill>
                                    <a:schemeClr val="accent3"/>
                                  </a:solidFill>
                                  <a:latin typeface="Cambria Math" panose="02040503050406030204" pitchFamily="18" charset="0"/>
                                  <a:ea typeface="Cambria Math" panose="02040503050406030204" pitchFamily="18" charset="0"/>
                                </a:rPr>
                                <m:t>𝒕</m:t>
                              </m:r>
                              <m:r>
                                <a:rPr lang="en-US" sz="1400" b="1" i="1" smtClean="0">
                                  <a:solidFill>
                                    <a:schemeClr val="accent3"/>
                                  </a:solidFill>
                                  <a:latin typeface="Cambria Math" panose="02040503050406030204" pitchFamily="18" charset="0"/>
                                  <a:ea typeface="Cambria Math" panose="02040503050406030204" pitchFamily="18" charset="0"/>
                                </a:rPr>
                                <m:t>+</m:t>
                              </m:r>
                              <m:r>
                                <a:rPr lang="en-US" sz="1400" b="1" i="1" smtClean="0">
                                  <a:solidFill>
                                    <a:schemeClr val="accent3"/>
                                  </a:solidFill>
                                  <a:latin typeface="Cambria Math" panose="02040503050406030204" pitchFamily="18" charset="0"/>
                                  <a:ea typeface="Cambria Math" panose="02040503050406030204" pitchFamily="18" charset="0"/>
                                </a:rPr>
                                <m:t>𝟏</m:t>
                              </m:r>
                            </m:sub>
                          </m:sSub>
                          <m:r>
                            <a:rPr lang="en-US" sz="1400" b="1" i="1" smtClean="0">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31" name="TextBox 30">
                    <a:extLst>
                      <a:ext uri="{FF2B5EF4-FFF2-40B4-BE49-F238E27FC236}">
                        <a16:creationId xmlns:a16="http://schemas.microsoft.com/office/drawing/2014/main" id="{61FF1066-A799-F5CC-8827-6CDA457587F4}"/>
                      </a:ext>
                    </a:extLst>
                  </p:cNvPr>
                  <p:cNvSpPr txBox="1">
                    <a:spLocks noRot="1" noChangeAspect="1" noMove="1" noResize="1" noEditPoints="1" noAdjustHandles="1" noChangeArrowheads="1" noChangeShapeType="1" noTextEdit="1"/>
                  </p:cNvSpPr>
                  <p:nvPr/>
                </p:nvSpPr>
                <p:spPr>
                  <a:xfrm>
                    <a:off x="9089363" y="3634662"/>
                    <a:ext cx="1158349" cy="307777"/>
                  </a:xfrm>
                  <a:prstGeom prst="rect">
                    <a:avLst/>
                  </a:prstGeom>
                  <a:blipFill>
                    <a:blip r:embed="rId7"/>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0E9729E-EBE7-228B-3095-1D7499A3B600}"/>
                      </a:ext>
                    </a:extLst>
                  </p:cNvPr>
                  <p:cNvSpPr txBox="1"/>
                  <p:nvPr/>
                </p:nvSpPr>
                <p:spPr>
                  <a:xfrm>
                    <a:off x="9777915" y="4256239"/>
                    <a:ext cx="1034033" cy="307777"/>
                  </a:xfrm>
                  <a:prstGeom prst="rect">
                    <a:avLst/>
                  </a:prstGeom>
                  <a:noFill/>
                </p:spPr>
                <p:txBody>
                  <a:bodyPr wrap="square">
                    <a:spAutoFit/>
                  </a:bodyPr>
                  <a:lstStyle/>
                  <a:p>
                    <a:pPr/>
                    <a14:m>
                      <m:oMathPara xmlns:m="http://schemas.openxmlformats.org/officeDocument/2006/math">
                        <m:oMath>
                          <m:sSub>
                            <m:sSubPr>
                              <m:ctrlPr>
                                <a:rPr lang="en-US" sz="1400" b="1" i="1">
                                  <a:solidFill>
                                    <a:schemeClr val="accent3"/>
                                  </a:solidFill>
                                  <a:latin typeface="Cambria Math" panose="02040503050406030204" pitchFamily="18" charset="0"/>
                                  <a:ea typeface="Cambria Math" panose="02040503050406030204" pitchFamily="18" charset="0"/>
                                </a:rPr>
                              </m:ctrlPr>
                            </m:sSubPr>
                            <m:e>
                              <m:r>
                                <a:rPr lang="en-US" sz="1400" b="1" i="1">
                                  <a:solidFill>
                                    <a:schemeClr val="accent3"/>
                                  </a:solidFill>
                                  <a:latin typeface="Cambria Math" panose="02040503050406030204" pitchFamily="18" charset="0"/>
                                  <a:ea typeface="Cambria Math" panose="02040503050406030204" pitchFamily="18" charset="0"/>
                                </a:rPr>
                                <m:t>𝒗</m:t>
                              </m:r>
                            </m:e>
                            <m:sub>
                              <m:r>
                                <a:rPr lang="en-US" sz="1400" b="1" i="1">
                                  <a:solidFill>
                                    <a:schemeClr val="accent3"/>
                                  </a:solidFill>
                                  <a:latin typeface="Cambria Math" panose="02040503050406030204" pitchFamily="18" charset="0"/>
                                  <a:ea typeface="Cambria Math" panose="02040503050406030204" pitchFamily="18" charset="0"/>
                                </a:rPr>
                                <m:t>𝝅</m:t>
                              </m:r>
                            </m:sub>
                          </m:sSub>
                          <m:r>
                            <a:rPr lang="en-US" sz="1400" b="1" i="1">
                              <a:solidFill>
                                <a:schemeClr val="accent3"/>
                              </a:solidFill>
                              <a:latin typeface="Cambria Math" panose="02040503050406030204" pitchFamily="18" charset="0"/>
                              <a:ea typeface="Cambria Math" panose="02040503050406030204" pitchFamily="18" charset="0"/>
                            </a:rPr>
                            <m:t>(</m:t>
                          </m:r>
                          <m:sSub>
                            <m:sSubPr>
                              <m:ctrlPr>
                                <a:rPr lang="en-US" sz="1400" b="1" i="1">
                                  <a:solidFill>
                                    <a:schemeClr val="accent3"/>
                                  </a:solidFill>
                                  <a:latin typeface="Cambria Math" panose="02040503050406030204" pitchFamily="18" charset="0"/>
                                  <a:ea typeface="Cambria Math" panose="02040503050406030204" pitchFamily="18" charset="0"/>
                                </a:rPr>
                              </m:ctrlPr>
                            </m:sSubPr>
                            <m:e>
                              <m:r>
                                <a:rPr lang="en-US" sz="1400" b="1" i="1">
                                  <a:solidFill>
                                    <a:schemeClr val="accent3"/>
                                  </a:solidFill>
                                  <a:latin typeface="Cambria Math" panose="02040503050406030204" pitchFamily="18" charset="0"/>
                                  <a:ea typeface="Cambria Math" panose="02040503050406030204" pitchFamily="18" charset="0"/>
                                </a:rPr>
                                <m:t>𝒔</m:t>
                              </m:r>
                            </m:e>
                            <m:sub>
                              <m:r>
                                <a:rPr lang="en-US" sz="1400" b="1" i="1">
                                  <a:solidFill>
                                    <a:schemeClr val="accent3"/>
                                  </a:solidFill>
                                  <a:latin typeface="Cambria Math" panose="02040503050406030204" pitchFamily="18" charset="0"/>
                                  <a:ea typeface="Cambria Math" panose="02040503050406030204" pitchFamily="18" charset="0"/>
                                </a:rPr>
                                <m:t>𝒕</m:t>
                              </m:r>
                              <m:r>
                                <a:rPr lang="en-US" sz="1400" b="1" i="1">
                                  <a:solidFill>
                                    <a:schemeClr val="accent3"/>
                                  </a:solidFill>
                                  <a:latin typeface="Cambria Math" panose="02040503050406030204" pitchFamily="18" charset="0"/>
                                  <a:ea typeface="Cambria Math" panose="02040503050406030204" pitchFamily="18" charset="0"/>
                                </a:rPr>
                                <m:t>+</m:t>
                              </m:r>
                              <m:r>
                                <a:rPr lang="en-US" sz="1400" b="1" i="1">
                                  <a:solidFill>
                                    <a:schemeClr val="accent3"/>
                                  </a:solidFill>
                                  <a:latin typeface="Cambria Math" panose="02040503050406030204" pitchFamily="18" charset="0"/>
                                  <a:ea typeface="Cambria Math" panose="02040503050406030204" pitchFamily="18" charset="0"/>
                                </a:rPr>
                                <m:t>𝟏</m:t>
                              </m:r>
                            </m:sub>
                          </m:sSub>
                          <m:r>
                            <a:rPr lang="en-US" sz="1400" b="1" i="1">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32" name="TextBox 31">
                    <a:extLst>
                      <a:ext uri="{FF2B5EF4-FFF2-40B4-BE49-F238E27FC236}">
                        <a16:creationId xmlns:a16="http://schemas.microsoft.com/office/drawing/2014/main" id="{B0E9729E-EBE7-228B-3095-1D7499A3B600}"/>
                      </a:ext>
                    </a:extLst>
                  </p:cNvPr>
                  <p:cNvSpPr txBox="1">
                    <a:spLocks noRot="1" noChangeAspect="1" noMove="1" noResize="1" noEditPoints="1" noAdjustHandles="1" noChangeArrowheads="1" noChangeShapeType="1" noTextEdit="1"/>
                  </p:cNvSpPr>
                  <p:nvPr/>
                </p:nvSpPr>
                <p:spPr>
                  <a:xfrm>
                    <a:off x="9777915" y="4256239"/>
                    <a:ext cx="1034033" cy="307777"/>
                  </a:xfrm>
                  <a:prstGeom prst="rect">
                    <a:avLst/>
                  </a:prstGeom>
                  <a:blipFill>
                    <a:blip r:embed="rId8"/>
                    <a:stretch>
                      <a:fillRect b="-5882"/>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3F8B22C-9470-087B-D747-0CE308C86113}"/>
                  </a:ext>
                </a:extLst>
              </p:cNvPr>
              <p:cNvSpPr txBox="1"/>
              <p:nvPr/>
            </p:nvSpPr>
            <p:spPr>
              <a:xfrm>
                <a:off x="9117854" y="4602688"/>
                <a:ext cx="1158349" cy="307777"/>
              </a:xfrm>
              <a:prstGeom prst="rect">
                <a:avLst/>
              </a:prstGeom>
              <a:noFill/>
            </p:spPr>
            <p:txBody>
              <a:bodyPr wrap="square">
                <a:spAutoFit/>
              </a:bodyPr>
              <a:lstStyle/>
              <a:p>
                <a:pPr/>
                <a14:m>
                  <m:oMathPara xmlns:m="http://schemas.openxmlformats.org/officeDocument/2006/math">
                    <m:oMath>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𝒗</m:t>
                          </m:r>
                        </m:e>
                        <m:sub>
                          <m:r>
                            <a:rPr lang="en-US" sz="1400" b="1" i="1" smtClean="0">
                              <a:solidFill>
                                <a:schemeClr val="accent3"/>
                              </a:solidFill>
                              <a:latin typeface="Cambria Math" panose="02040503050406030204" pitchFamily="18" charset="0"/>
                              <a:ea typeface="Cambria Math" panose="02040503050406030204" pitchFamily="18" charset="0"/>
                            </a:rPr>
                            <m:t>𝝅</m:t>
                          </m:r>
                        </m:sub>
                      </m:sSub>
                      <m:r>
                        <a:rPr lang="en-US" sz="1400" b="1" i="1" smtClean="0">
                          <a:solidFill>
                            <a:schemeClr val="accent3"/>
                          </a:solidFill>
                          <a:latin typeface="Cambria Math" panose="02040503050406030204" pitchFamily="18" charset="0"/>
                          <a:ea typeface="Cambria Math" panose="02040503050406030204" pitchFamily="18" charset="0"/>
                        </a:rPr>
                        <m:t>(</m:t>
                      </m:r>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𝒔</m:t>
                          </m:r>
                        </m:e>
                        <m:sub>
                          <m:r>
                            <a:rPr lang="en-US" sz="1400" b="1" i="1" smtClean="0">
                              <a:solidFill>
                                <a:schemeClr val="accent3"/>
                              </a:solidFill>
                              <a:latin typeface="Cambria Math" panose="02040503050406030204" pitchFamily="18" charset="0"/>
                              <a:ea typeface="Cambria Math" panose="02040503050406030204" pitchFamily="18" charset="0"/>
                            </a:rPr>
                            <m:t>𝒕</m:t>
                          </m:r>
                        </m:sub>
                      </m:sSub>
                      <m:r>
                        <a:rPr lang="en-US" sz="1400" b="1" i="1" smtClean="0">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9" name="TextBox 8">
                <a:extLst>
                  <a:ext uri="{FF2B5EF4-FFF2-40B4-BE49-F238E27FC236}">
                    <a16:creationId xmlns:a16="http://schemas.microsoft.com/office/drawing/2014/main" id="{13F8B22C-9470-087B-D747-0CE308C86113}"/>
                  </a:ext>
                </a:extLst>
              </p:cNvPr>
              <p:cNvSpPr txBox="1">
                <a:spLocks noRot="1" noChangeAspect="1" noMove="1" noResize="1" noEditPoints="1" noAdjustHandles="1" noChangeArrowheads="1" noChangeShapeType="1" noTextEdit="1"/>
              </p:cNvSpPr>
              <p:nvPr/>
            </p:nvSpPr>
            <p:spPr>
              <a:xfrm>
                <a:off x="9117854" y="4602688"/>
                <a:ext cx="1158349" cy="307777"/>
              </a:xfrm>
              <a:prstGeom prst="rect">
                <a:avLst/>
              </a:prstGeom>
              <a:blipFill>
                <a:blip r:embed="rId9"/>
                <a:stretch>
                  <a:fillRect b="-5882"/>
                </a:stretch>
              </a:blipFill>
            </p:spPr>
            <p:txBody>
              <a:bodyPr/>
              <a:lstStyle/>
              <a:p>
                <a:r>
                  <a:rPr lang="en-US">
                    <a:noFill/>
                  </a:rPr>
                  <a:t> </a:t>
                </a:r>
              </a:p>
            </p:txBody>
          </p:sp>
        </mc:Fallback>
      </mc:AlternateContent>
    </p:spTree>
    <p:extLst>
      <p:ext uri="{BB962C8B-B14F-4D97-AF65-F5344CB8AC3E}">
        <p14:creationId xmlns:p14="http://schemas.microsoft.com/office/powerpoint/2010/main" val="2135376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75589"/>
            <a:ext cx="7604234" cy="557914"/>
          </a:xfrm>
        </p:spPr>
        <p:txBody>
          <a:bodyPr>
            <a:normAutofit fontScale="70000" lnSpcReduction="20000"/>
          </a:bodyPr>
          <a:lstStyle/>
          <a:p>
            <a:r>
              <a:rPr lang="en-US" dirty="0"/>
              <a:t>The relationship between state values, action probabilities, state-action values and expected rewards can be visualized as a tree. </a:t>
            </a:r>
          </a:p>
        </p:txBody>
      </p:sp>
      <p:grpSp>
        <p:nvGrpSpPr>
          <p:cNvPr id="5" name="Group 4">
            <a:extLst>
              <a:ext uri="{FF2B5EF4-FFF2-40B4-BE49-F238E27FC236}">
                <a16:creationId xmlns:a16="http://schemas.microsoft.com/office/drawing/2014/main" id="{49DACBE9-5E97-F329-4F51-08CA1D81CB8B}"/>
              </a:ext>
            </a:extLst>
          </p:cNvPr>
          <p:cNvGrpSpPr/>
          <p:nvPr/>
        </p:nvGrpSpPr>
        <p:grpSpPr>
          <a:xfrm>
            <a:off x="1075647" y="2173253"/>
            <a:ext cx="10272562" cy="1728037"/>
            <a:chOff x="1075647" y="2173253"/>
            <a:chExt cx="10272562" cy="1728037"/>
          </a:xfrm>
        </p:grpSpPr>
        <p:sp>
          <p:nvSpPr>
            <p:cNvPr id="10" name="TextBox 9">
              <a:extLst>
                <a:ext uri="{FF2B5EF4-FFF2-40B4-BE49-F238E27FC236}">
                  <a16:creationId xmlns:a16="http://schemas.microsoft.com/office/drawing/2014/main" id="{D58965A1-A3ED-8B2B-C65E-7B51BCECB94C}"/>
                </a:ext>
              </a:extLst>
            </p:cNvPr>
            <p:cNvSpPr txBox="1"/>
            <p:nvPr/>
          </p:nvSpPr>
          <p:spPr>
            <a:xfrm>
              <a:off x="1075647" y="2173253"/>
              <a:ext cx="9269643" cy="369332"/>
            </a:xfrm>
            <a:prstGeom prst="rect">
              <a:avLst/>
            </a:prstGeom>
            <a:noFill/>
          </p:spPr>
          <p:txBody>
            <a:bodyPr wrap="square" rtlCol="0">
              <a:spAutoFit/>
            </a:bodyPr>
            <a:lstStyle/>
            <a:p>
              <a:r>
                <a:rPr lang="en-US" dirty="0"/>
                <a:t>Choosing an action in a state (= calculate the expectation over actions)</a:t>
              </a:r>
            </a:p>
          </p:txBody>
        </p:sp>
        <p:grpSp>
          <p:nvGrpSpPr>
            <p:cNvPr id="3" name="Group 2">
              <a:extLst>
                <a:ext uri="{FF2B5EF4-FFF2-40B4-BE49-F238E27FC236}">
                  <a16:creationId xmlns:a16="http://schemas.microsoft.com/office/drawing/2014/main" id="{FEFDAC53-6140-22CB-457F-D46BAB325824}"/>
                </a:ext>
              </a:extLst>
            </p:cNvPr>
            <p:cNvGrpSpPr/>
            <p:nvPr/>
          </p:nvGrpSpPr>
          <p:grpSpPr>
            <a:xfrm>
              <a:off x="1393705" y="2477336"/>
              <a:ext cx="6491573" cy="1423954"/>
              <a:chOff x="2687521" y="2477336"/>
              <a:chExt cx="6491573" cy="1423954"/>
            </a:xfrm>
          </p:grpSpPr>
          <p:pic>
            <p:nvPicPr>
              <p:cNvPr id="7" name="Picture 6">
                <a:extLst>
                  <a:ext uri="{FF2B5EF4-FFF2-40B4-BE49-F238E27FC236}">
                    <a16:creationId xmlns:a16="http://schemas.microsoft.com/office/drawing/2014/main" id="{01FEB35D-DFC7-5C32-50AB-404166DACAC8}"/>
                  </a:ext>
                </a:extLst>
              </p:cNvPr>
              <p:cNvPicPr>
                <a:picLocks noChangeAspect="1"/>
              </p:cNvPicPr>
              <p:nvPr/>
            </p:nvPicPr>
            <p:blipFill>
              <a:blip r:embed="rId2"/>
              <a:stretch>
                <a:fillRect/>
              </a:stretch>
            </p:blipFill>
            <p:spPr>
              <a:xfrm>
                <a:off x="2687521" y="2477336"/>
                <a:ext cx="6491573" cy="129831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79AC8F34-BFC7-C868-0C0B-E68815A5637D}"/>
              </a:ext>
            </a:extLst>
          </p:cNvPr>
          <p:cNvGrpSpPr/>
          <p:nvPr/>
        </p:nvGrpSpPr>
        <p:grpSpPr>
          <a:xfrm>
            <a:off x="1173749" y="4362205"/>
            <a:ext cx="10804332" cy="1943546"/>
            <a:chOff x="1173749" y="4362205"/>
            <a:chExt cx="10804332" cy="1943546"/>
          </a:xfrm>
        </p:grpSpPr>
        <p:sp>
          <p:nvSpPr>
            <p:cNvPr id="11" name="TextBox 10">
              <a:extLst>
                <a:ext uri="{FF2B5EF4-FFF2-40B4-BE49-F238E27FC236}">
                  <a16:creationId xmlns:a16="http://schemas.microsoft.com/office/drawing/2014/main" id="{8A21BF7C-1E7B-78BD-68C7-96F0DDE78F8A}"/>
                </a:ext>
              </a:extLst>
            </p:cNvPr>
            <p:cNvSpPr txBox="1"/>
            <p:nvPr/>
          </p:nvSpPr>
          <p:spPr>
            <a:xfrm>
              <a:off x="1173749" y="4362205"/>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a:extLst>
                  <a:ext uri="{FF2B5EF4-FFF2-40B4-BE49-F238E27FC236}">
                    <a16:creationId xmlns:a16="http://schemas.microsoft.com/office/drawing/2014/main" id="{9F465D6B-D4C9-60BA-1DB8-CC3174C04898}"/>
                  </a:ext>
                </a:extLst>
              </p:cNvPr>
              <p:cNvPicPr>
                <a:picLocks noChangeAspect="1"/>
              </p:cNvPicPr>
              <p:nvPr/>
            </p:nvPicPr>
            <p:blipFill>
              <a:blip r:embed="rId12"/>
              <a:stretch>
                <a:fillRect/>
              </a:stretch>
            </p:blipFill>
            <p:spPr>
              <a:xfrm>
                <a:off x="3293739" y="4870910"/>
                <a:ext cx="5675756" cy="147830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D9CA9A-101C-CAAC-4985-706DF27243E2}"/>
                    </a:ext>
                  </a:extLst>
                </p:cNvPr>
                <p:cNvSpPr txBox="1"/>
                <p:nvPr/>
              </p:nvSpPr>
              <p:spPr>
                <a:xfrm>
                  <a:off x="7810197" y="5063188"/>
                  <a:ext cx="4167884" cy="794961"/>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7810197" y="5063188"/>
                  <a:ext cx="4167884" cy="794961"/>
                </a:xfrm>
                <a:prstGeom prst="rect">
                  <a:avLst/>
                </a:prstGeom>
                <a:blipFill>
                  <a:blip r:embed="rId13"/>
                  <a:stretch>
                    <a:fillRect/>
                  </a:stretch>
                </a:blipFill>
              </p:spPr>
              <p:txBody>
                <a:bodyPr/>
                <a:lstStyle/>
                <a:p>
                  <a:r>
                    <a:rPr lang="en-US">
                      <a:noFill/>
                    </a:rPr>
                    <a:t> </a:t>
                  </a:r>
                </a:p>
              </p:txBody>
            </p:sp>
          </mc:Fallback>
        </mc:AlternateContent>
      </p:grpSp>
      <p:grpSp>
        <p:nvGrpSpPr>
          <p:cNvPr id="13" name="Group 12">
            <a:extLst>
              <a:ext uri="{FF2B5EF4-FFF2-40B4-BE49-F238E27FC236}">
                <a16:creationId xmlns:a16="http://schemas.microsoft.com/office/drawing/2014/main" id="{0C0D41D2-1EA5-07A4-B229-7F4CA508C68E}"/>
              </a:ext>
            </a:extLst>
          </p:cNvPr>
          <p:cNvGrpSpPr/>
          <p:nvPr/>
        </p:nvGrpSpPr>
        <p:grpSpPr>
          <a:xfrm>
            <a:off x="10018986" y="588158"/>
            <a:ext cx="1585171" cy="1191444"/>
            <a:chOff x="10452538" y="1502895"/>
            <a:chExt cx="1585171" cy="1191444"/>
          </a:xfrm>
        </p:grpSpPr>
        <p:sp>
          <p:nvSpPr>
            <p:cNvPr id="14" name="Oval 13">
              <a:extLst>
                <a:ext uri="{FF2B5EF4-FFF2-40B4-BE49-F238E27FC236}">
                  <a16:creationId xmlns:a16="http://schemas.microsoft.com/office/drawing/2014/main" id="{0F9C5211-79F0-B1EC-C049-809D873C6902}"/>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14D7A90B-B609-ACD1-4846-0F0C729F1FC2}"/>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24F7317-172E-6741-4462-A466CED056F0}"/>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24" name="TextBox 23">
                  <a:extLst>
                    <a:ext uri="{FF2B5EF4-FFF2-40B4-BE49-F238E27FC236}">
                      <a16:creationId xmlns:a16="http://schemas.microsoft.com/office/drawing/2014/main" id="{324F7317-172E-6741-4462-A466CED056F0}"/>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14"/>
                  <a:stretch>
                    <a:fillRect l="-4301" t="-4717" b="-15094"/>
                  </a:stretch>
                </a:blipFill>
              </p:spPr>
              <p:txBody>
                <a:bodyPr/>
                <a:lstStyle/>
                <a:p>
                  <a:r>
                    <a:rPr lang="en-US">
                      <a:noFill/>
                    </a:rPr>
                    <a:t> </a:t>
                  </a:r>
                </a:p>
              </p:txBody>
            </p:sp>
          </mc:Fallback>
        </mc:AlternateContent>
        <p:sp>
          <p:nvSpPr>
            <p:cNvPr id="25" name="Rectangle 24">
              <a:extLst>
                <a:ext uri="{FF2B5EF4-FFF2-40B4-BE49-F238E27FC236}">
                  <a16:creationId xmlns:a16="http://schemas.microsoft.com/office/drawing/2014/main" id="{8C347699-7AE4-70B6-68B3-8DFEE0895BD4}"/>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Tree>
    <p:extLst>
      <p:ext uri="{BB962C8B-B14F-4D97-AF65-F5344CB8AC3E}">
        <p14:creationId xmlns:p14="http://schemas.microsoft.com/office/powerpoint/2010/main" val="26233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 all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BAA2609-6BD4-C8A1-9753-168F3EB6393E}"/>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grpSp>
        <p:nvGrpSpPr>
          <p:cNvPr id="12" name="Group 11">
            <a:extLst>
              <a:ext uri="{FF2B5EF4-FFF2-40B4-BE49-F238E27FC236}">
                <a16:creationId xmlns:a16="http://schemas.microsoft.com/office/drawing/2014/main" id="{531B477F-74DC-A9A3-EA87-BBA032B4BA84}"/>
              </a:ext>
            </a:extLst>
          </p:cNvPr>
          <p:cNvGrpSpPr/>
          <p:nvPr/>
        </p:nvGrpSpPr>
        <p:grpSpPr>
          <a:xfrm>
            <a:off x="2759515" y="3440004"/>
            <a:ext cx="5769552" cy="2419826"/>
            <a:chOff x="1006168" y="4751299"/>
            <a:chExt cx="5769552" cy="2419826"/>
          </a:xfrm>
        </p:grpSpPr>
        <p:pic>
          <p:nvPicPr>
            <p:cNvPr id="9" name="Picture 8">
              <a:extLst>
                <a:ext uri="{FF2B5EF4-FFF2-40B4-BE49-F238E27FC236}">
                  <a16:creationId xmlns:a16="http://schemas.microsoft.com/office/drawing/2014/main" id="{1264D7F9-0903-D0FC-3FFE-8AA7E70EEDBC}"/>
                </a:ext>
              </a:extLst>
            </p:cNvPr>
            <p:cNvPicPr>
              <a:picLocks noChangeAspect="1"/>
            </p:cNvPicPr>
            <p:nvPr/>
          </p:nvPicPr>
          <p:blipFill>
            <a:blip r:embed="rId3"/>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CB0727C8-6858-79BC-1373-8653757B7588}"/>
              </a:ext>
            </a:extLst>
          </p:cNvPr>
          <p:cNvSpPr txBox="1"/>
          <p:nvPr/>
        </p:nvSpPr>
        <p:spPr>
          <a:xfrm>
            <a:off x="8606726" y="4097987"/>
            <a:ext cx="400110" cy="1362681"/>
          </a:xfrm>
          <a:prstGeom prst="rect">
            <a:avLst/>
          </a:prstGeom>
          <a:noFill/>
        </p:spPr>
        <p:txBody>
          <a:bodyPr vert="vert270" wrap="none" rtlCol="0">
            <a:spAutoFit/>
          </a:bodyPr>
          <a:lstStyle/>
          <a:p>
            <a:r>
              <a:rPr lang="en-US" sz="1400" dirty="0">
                <a:solidFill>
                  <a:schemeClr val="accent2"/>
                </a:solidFill>
              </a:rPr>
              <a:t>Bellman Backup</a:t>
            </a:r>
          </a:p>
        </p:txBody>
      </p:sp>
      <p:sp>
        <p:nvSpPr>
          <p:cNvPr id="14" name="Right Brace 13">
            <a:extLst>
              <a:ext uri="{FF2B5EF4-FFF2-40B4-BE49-F238E27FC236}">
                <a16:creationId xmlns:a16="http://schemas.microsoft.com/office/drawing/2014/main" id="{6B2AC310-6FB0-0C4D-8935-7E335B966CB2}"/>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TextBox 20">
            <a:extLst>
              <a:ext uri="{FF2B5EF4-FFF2-40B4-BE49-F238E27FC236}">
                <a16:creationId xmlns:a16="http://schemas.microsoft.com/office/drawing/2014/main" id="{1FD24B06-21AF-4D83-CE0F-BCF644F6EF1F}"/>
              </a:ext>
            </a:extLst>
          </p:cNvPr>
          <p:cNvSpPr txBox="1"/>
          <p:nvPr/>
        </p:nvSpPr>
        <p:spPr>
          <a:xfrm>
            <a:off x="6311583" y="2935787"/>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2550B52C-D5F7-6228-5C51-A02A127821FB}"/>
              </a:ext>
            </a:extLst>
          </p:cNvPr>
          <p:cNvCxnSpPr>
            <a:cxnSpLocks/>
            <a:stCxn id="21" idx="0"/>
          </p:cNvCxnSpPr>
          <p:nvPr/>
        </p:nvCxnSpPr>
        <p:spPr>
          <a:xfrm flipV="1">
            <a:off x="6723412" y="2242663"/>
            <a:ext cx="0" cy="6931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Freeform: Shape 25">
            <a:extLst>
              <a:ext uri="{FF2B5EF4-FFF2-40B4-BE49-F238E27FC236}">
                <a16:creationId xmlns:a16="http://schemas.microsoft.com/office/drawing/2014/main" id="{29E14208-2198-6B25-E96E-1946922985CD}"/>
              </a:ext>
            </a:extLst>
          </p:cNvPr>
          <p:cNvSpPr/>
          <p:nvPr/>
        </p:nvSpPr>
        <p:spPr>
          <a:xfrm>
            <a:off x="6986936" y="4023775"/>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88456E8A-5D9F-8366-6C4B-700CA6F56247}"/>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5" name="Right Brace 24">
            <a:extLst>
              <a:ext uri="{FF2B5EF4-FFF2-40B4-BE49-F238E27FC236}">
                <a16:creationId xmlns:a16="http://schemas.microsoft.com/office/drawing/2014/main" id="{7567AAC4-6EB3-F177-2905-2828125B165B}"/>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53307D5F-A5E9-F069-3AD3-998E57BD8C86}"/>
              </a:ext>
            </a:extLst>
          </p:cNvPr>
          <p:cNvSpPr txBox="1"/>
          <p:nvPr/>
        </p:nvSpPr>
        <p:spPr>
          <a:xfrm>
            <a:off x="4989717" y="2637438"/>
            <a:ext cx="1437575" cy="738664"/>
          </a:xfrm>
          <a:prstGeom prst="rect">
            <a:avLst/>
          </a:prstGeom>
          <a:noFill/>
        </p:spPr>
        <p:txBody>
          <a:bodyPr wrap="square" rtlCol="0">
            <a:spAutoFit/>
          </a:bodyPr>
          <a:lstStyle/>
          <a:p>
            <a:pPr algn="ctr"/>
            <a:r>
              <a:rPr lang="en-US" sz="1400" dirty="0"/>
              <a:t>Expectation for transition and reward</a:t>
            </a:r>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p:grpSp>
        <p:nvGrpSpPr>
          <p:cNvPr id="17" name="Group 16">
            <a:extLst>
              <a:ext uri="{FF2B5EF4-FFF2-40B4-BE49-F238E27FC236}">
                <a16:creationId xmlns:a16="http://schemas.microsoft.com/office/drawing/2014/main" id="{1C9D19F8-38B2-66A9-EA73-B220AB2BF19E}"/>
              </a:ext>
            </a:extLst>
          </p:cNvPr>
          <p:cNvGrpSpPr/>
          <p:nvPr/>
        </p:nvGrpSpPr>
        <p:grpSpPr>
          <a:xfrm>
            <a:off x="10034751" y="569985"/>
            <a:ext cx="1585171" cy="1191444"/>
            <a:chOff x="10452538" y="1502895"/>
            <a:chExt cx="1585171" cy="1191444"/>
          </a:xfrm>
        </p:grpSpPr>
        <p:sp>
          <p:nvSpPr>
            <p:cNvPr id="7" name="Oval 6">
              <a:extLst>
                <a:ext uri="{FF2B5EF4-FFF2-40B4-BE49-F238E27FC236}">
                  <a16:creationId xmlns:a16="http://schemas.microsoft.com/office/drawing/2014/main" id="{C1B39F96-BEF8-3623-531E-0FF07248C7CA}"/>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52A996DB-90B4-49A8-0F2C-D34C8791D61C}"/>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02B9472-A42A-DCD6-1EC1-821E743D4E45}"/>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15" name="TextBox 14">
                  <a:extLst>
                    <a:ext uri="{FF2B5EF4-FFF2-40B4-BE49-F238E27FC236}">
                      <a16:creationId xmlns:a16="http://schemas.microsoft.com/office/drawing/2014/main" id="{D02B9472-A42A-DCD6-1EC1-821E743D4E45}"/>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5"/>
                  <a:stretch>
                    <a:fillRect l="-4865" t="-4717" b="-15094"/>
                  </a:stretch>
                </a:blipFill>
              </p:spPr>
              <p:txBody>
                <a:bodyPr/>
                <a:lstStyle/>
                <a:p>
                  <a:r>
                    <a:rPr lang="en-US">
                      <a:noFill/>
                    </a:rPr>
                    <a:t> </a:t>
                  </a:r>
                </a:p>
              </p:txBody>
            </p:sp>
          </mc:Fallback>
        </mc:AlternateContent>
        <p:sp>
          <p:nvSpPr>
            <p:cNvPr id="16" name="Rectangle 15">
              <a:extLst>
                <a:ext uri="{FF2B5EF4-FFF2-40B4-BE49-F238E27FC236}">
                  <a16:creationId xmlns:a16="http://schemas.microsoft.com/office/drawing/2014/main" id="{CA33AF70-253D-0A8A-AE56-ABB06201D6CD}"/>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Tree>
    <p:extLst>
      <p:ext uri="{BB962C8B-B14F-4D97-AF65-F5344CB8AC3E}">
        <p14:creationId xmlns:p14="http://schemas.microsoft.com/office/powerpoint/2010/main" val="34313439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049310"/>
                <a:ext cx="6906139" cy="2600795"/>
              </a:xfrm>
            </p:spPr>
            <p:txBody>
              <a:bodyPr>
                <a:normAutofit fontScale="55000" lnSpcReduction="20000"/>
              </a:bodyPr>
              <a:lstStyle/>
              <a:p>
                <a:r>
                  <a:rPr lang="en-US" dirty="0"/>
                  <a:t>The </a:t>
                </a:r>
                <a:r>
                  <a:rPr lang="en-US" b="1" dirty="0"/>
                  <a:t>optimal value function </a:t>
                </a:r>
                <a:r>
                  <a:rPr lang="en-US" dirty="0"/>
                  <a:t>is defined the value function of the optimal policy:</a:t>
                </a: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e>
                      </m:func>
                      <m:r>
                        <a:rPr lang="en-US" b="0" i="1" smtClean="0">
                          <a:latin typeface="Cambria Math" panose="02040503050406030204" pitchFamily="18" charset="0"/>
                        </a:rPr>
                        <m:t>       </m:t>
                      </m:r>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pPr marL="0" indent="0">
                  <a:buNone/>
                </a:pPr>
                <a:endParaRPr lang="en-US" dirty="0"/>
              </a:p>
              <a:p>
                <a:r>
                  <a:rPr lang="en-US" dirty="0"/>
                  <a:t>We can express the optimal policy by the greedy actions that it chooses and then apply Bellman’s recursive relation between state values:</a:t>
                </a:r>
              </a:p>
              <a:p>
                <a:pPr marL="0" indent="0">
                  <a:lnSpc>
                    <a:spcPct val="10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m:sSub>
                        <m:sSubPr>
                          <m:ctrlPr>
                            <a:rPr lang="en-US" b="0" i="1" smtClean="0">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049310"/>
                <a:ext cx="6906139" cy="2600795"/>
              </a:xfrm>
              <a:blipFill>
                <a:blip r:embed="rId2"/>
                <a:stretch>
                  <a:fillRect l="-265" t="-2342"/>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9A2645D-8E07-10FC-A8C8-36E486A482C6}"/>
              </a:ext>
            </a:extLst>
          </p:cNvPr>
          <p:cNvGrpSpPr/>
          <p:nvPr/>
        </p:nvGrpSpPr>
        <p:grpSpPr>
          <a:xfrm>
            <a:off x="7744339" y="3129830"/>
            <a:ext cx="3971019" cy="3363044"/>
            <a:chOff x="7744339" y="2856272"/>
            <a:chExt cx="3971019" cy="3363044"/>
          </a:xfrm>
        </p:grpSpPr>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a:extLst>
                  <a:ext uri="{FF2B5EF4-FFF2-40B4-BE49-F238E27FC236}">
                    <a16:creationId xmlns:a16="http://schemas.microsoft.com/office/drawing/2014/main" id="{34E3A9CF-CE41-CE7D-32DB-4BC6BC7625B4}"/>
                  </a:ext>
                </a:extLst>
              </p:cNvPr>
              <p:cNvPicPr>
                <a:picLocks noChangeAspect="1"/>
              </p:cNvPicPr>
              <p:nvPr/>
            </p:nvPicPr>
            <p:blipFill>
              <a:blip r:embed="rId3"/>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Lst>
            </p:cNvPr>
            <p:cNvSpPr/>
            <p:nvPr/>
          </p:nvSpPr>
          <p:spPr>
            <a:xfrm>
              <a:off x="9255682" y="4863065"/>
              <a:ext cx="795738" cy="476421"/>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64500" y="5619023"/>
              <a:ext cx="2226669" cy="600293"/>
            </a:xfrm>
            <a:prstGeom prst="wedgeRoundRectCallout">
              <a:avLst>
                <a:gd name="adj1" fmla="val 15436"/>
                <a:gd name="adj2" fmla="val -10147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chemeClr val="accent2"/>
                    </a:solidFill>
                  </a:rPr>
                  <a:t>Backup</a:t>
                </a:r>
              </a:p>
            </p:txBody>
          </p:sp>
        </p:gr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8F80D8D-5A4C-1A8A-5387-6D5CF7606597}"/>
                  </a:ext>
                </a:extLst>
              </p:cNvPr>
              <p:cNvSpPr txBox="1"/>
              <p:nvPr/>
            </p:nvSpPr>
            <p:spPr>
              <a:xfrm>
                <a:off x="1109349" y="3739306"/>
                <a:ext cx="6121301" cy="107196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b="1" dirty="0"/>
                  <a:t>Bellman Optimality Equations</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r>
                        <m:rPr>
                          <m:nor/>
                        </m:rPr>
                        <a:rPr lang="en-US" b="0" i="0" smtClean="0">
                          <a:latin typeface="Cambria Math" panose="02040503050406030204" pitchFamily="18" charset="0"/>
                        </a:rPr>
                        <m:t>        </m:t>
                      </m:r>
                      <m:r>
                        <m:rPr>
                          <m:nor/>
                        </m:rPr>
                        <a:rPr lang="en-US" i="0">
                          <a:latin typeface="Cambria Math" panose="02040503050406030204" pitchFamily="18" charset="0"/>
                          <a:ea typeface="Cambria Math" panose="02040503050406030204" pitchFamily="18" charset="0"/>
                        </a:rPr>
                        <m:t>for all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p:txBody>
          </p:sp>
        </mc:Choice>
        <mc:Fallback xmlns="">
          <p:sp>
            <p:nvSpPr>
              <p:cNvPr id="16" name="TextBox 15">
                <a:extLst>
                  <a:ext uri="{FF2B5EF4-FFF2-40B4-BE49-F238E27FC236}">
                    <a16:creationId xmlns:a16="http://schemas.microsoft.com/office/drawing/2014/main" id="{D8F80D8D-5A4C-1A8A-5387-6D5CF7606597}"/>
                  </a:ext>
                </a:extLst>
              </p:cNvPr>
              <p:cNvSpPr txBox="1">
                <a:spLocks noRot="1" noChangeAspect="1" noMove="1" noResize="1" noEditPoints="1" noAdjustHandles="1" noChangeArrowheads="1" noChangeShapeType="1" noTextEdit="1"/>
              </p:cNvSpPr>
              <p:nvPr/>
            </p:nvSpPr>
            <p:spPr>
              <a:xfrm>
                <a:off x="1109349" y="3739306"/>
                <a:ext cx="6121301" cy="1071960"/>
              </a:xfrm>
              <a:prstGeom prst="rect">
                <a:avLst/>
              </a:prstGeom>
              <a:blipFill>
                <a:blip r:embed="rId4"/>
                <a:stretch>
                  <a:fillRect t="-1676"/>
                </a:stretch>
              </a:blipFill>
            </p:spPr>
            <p:txBody>
              <a:bodyPr/>
              <a:lstStyle/>
              <a:p>
                <a:r>
                  <a:rPr lang="en-US">
                    <a:noFill/>
                  </a:rPr>
                  <a:t> </a:t>
                </a:r>
              </a:p>
            </p:txBody>
          </p:sp>
        </mc:Fallback>
      </mc:AlternateContent>
      <p:sp>
        <p:nvSpPr>
          <p:cNvPr id="17" name="Speech Bubble: Rectangle with Corners Rounded 16">
            <a:extLst>
              <a:ext uri="{FF2B5EF4-FFF2-40B4-BE49-F238E27FC236}">
                <a16:creationId xmlns:a16="http://schemas.microsoft.com/office/drawing/2014/main" id="{6F2ECF01-FB57-9909-45D5-AE20C72ADD8B}"/>
              </a:ext>
            </a:extLst>
          </p:cNvPr>
          <p:cNvSpPr/>
          <p:nvPr/>
        </p:nvSpPr>
        <p:spPr>
          <a:xfrm>
            <a:off x="1642663" y="5232271"/>
            <a:ext cx="4453337" cy="1256427"/>
          </a:xfrm>
          <a:prstGeom prst="wedgeRoundRectCallout">
            <a:avLst>
              <a:gd name="adj1" fmla="val 7935"/>
              <a:gd name="adj2" fmla="val -9313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t>Advantage</a:t>
            </a:r>
            <a:r>
              <a:rPr lang="en-US" sz="1600" dirty="0"/>
              <a:t>: Expresses optimality as local consistency between state values without:</a:t>
            </a:r>
          </a:p>
          <a:p>
            <a:pPr marL="285750" indent="-285750">
              <a:buFont typeface="Arial" panose="020B0604020202020204" pitchFamily="34" charset="0"/>
              <a:buChar char="•"/>
            </a:pPr>
            <a:r>
              <a:rPr lang="en-US" sz="1600" dirty="0"/>
              <a:t>A need for complete episodes</a:t>
            </a:r>
          </a:p>
          <a:p>
            <a:pPr marL="285750" indent="-285750">
              <a:buFont typeface="Arial" panose="020B0604020202020204" pitchFamily="34" charset="0"/>
              <a:buChar char="•"/>
            </a:pPr>
            <a:r>
              <a:rPr lang="en-US" sz="1600" dirty="0"/>
              <a:t>An explicit policy in the equation</a:t>
            </a:r>
          </a:p>
        </p:txBody>
      </p:sp>
      <p:grpSp>
        <p:nvGrpSpPr>
          <p:cNvPr id="10" name="Group 9">
            <a:extLst>
              <a:ext uri="{FF2B5EF4-FFF2-40B4-BE49-F238E27FC236}">
                <a16:creationId xmlns:a16="http://schemas.microsoft.com/office/drawing/2014/main" id="{2AACAC04-5C41-2B77-9B2B-2C01C12F2C5D}"/>
              </a:ext>
            </a:extLst>
          </p:cNvPr>
          <p:cNvGrpSpPr/>
          <p:nvPr/>
        </p:nvGrpSpPr>
        <p:grpSpPr>
          <a:xfrm>
            <a:off x="9876821" y="649234"/>
            <a:ext cx="1585171" cy="1191444"/>
            <a:chOff x="10452538" y="1502895"/>
            <a:chExt cx="1585171" cy="1191444"/>
          </a:xfrm>
        </p:grpSpPr>
        <p:sp>
          <p:nvSpPr>
            <p:cNvPr id="14" name="Oval 13">
              <a:extLst>
                <a:ext uri="{FF2B5EF4-FFF2-40B4-BE49-F238E27FC236}">
                  <a16:creationId xmlns:a16="http://schemas.microsoft.com/office/drawing/2014/main" id="{18393AB9-BF1A-A733-350D-85272A5A646F}"/>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6C908B99-94CB-85D8-BA06-BDF0FCEFA702}"/>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742AF52A-3230-BBB3-C411-046CF6FB664C}"/>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18" name="TextBox 17">
                  <a:extLst>
                    <a:ext uri="{FF2B5EF4-FFF2-40B4-BE49-F238E27FC236}">
                      <a16:creationId xmlns:a16="http://schemas.microsoft.com/office/drawing/2014/main" id="{742AF52A-3230-BBB3-C411-046CF6FB664C}"/>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5"/>
                  <a:stretch>
                    <a:fillRect l="-4865" t="-3774" b="-15094"/>
                  </a:stretch>
                </a:blipFill>
              </p:spPr>
              <p:txBody>
                <a:bodyPr/>
                <a:lstStyle/>
                <a:p>
                  <a:r>
                    <a:rPr lang="en-US">
                      <a:noFill/>
                    </a:rPr>
                    <a:t> </a:t>
                  </a:r>
                </a:p>
              </p:txBody>
            </p:sp>
          </mc:Fallback>
        </mc:AlternateContent>
        <p:sp>
          <p:nvSpPr>
            <p:cNvPr id="19" name="Rectangle 18">
              <a:extLst>
                <a:ext uri="{FF2B5EF4-FFF2-40B4-BE49-F238E27FC236}">
                  <a16:creationId xmlns:a16="http://schemas.microsoft.com/office/drawing/2014/main" id="{038784B9-6B13-8ACE-4F08-9A95194E2625}"/>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Tree>
    <p:extLst>
      <p:ext uri="{BB962C8B-B14F-4D97-AF65-F5344CB8AC3E}">
        <p14:creationId xmlns:p14="http://schemas.microsoft.com/office/powerpoint/2010/main" val="399052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Solving the 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92500" lnSpcReduction="10000"/>
              </a:bodyPr>
              <a:lstStyle/>
              <a:p>
                <a:r>
                  <a:rPr lang="en-US" dirty="0"/>
                  <a:t>The Bellman optimality equations form a system of </a:t>
                </a:r>
                <a14:m>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a:rPr lang="en-US" b="0" i="1" dirty="0" smtClean="0">
                        <a:latin typeface="Cambria Math" panose="02040503050406030204" pitchFamily="18" charset="0"/>
                      </a:rPr>
                      <m:t>𝑝</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928" t="-2551" b="-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D196383D-37C9-4DC9-6261-E209D2647006}"/>
                  </a:ext>
                </a:extLst>
              </p:cNvPr>
              <p:cNvSpPr/>
              <p:nvPr/>
            </p:nvSpPr>
            <p:spPr>
              <a:xfrm>
                <a:off x="10026290" y="2063129"/>
                <a:ext cx="1779939" cy="795738"/>
              </a:xfrm>
              <a:prstGeom prst="wedgeRoundRectCallout">
                <a:avLst>
                  <a:gd name="adj1" fmla="val -108791"/>
                  <a:gd name="adj2" fmla="val -929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m:rPr>
                        <m:sty m:val="p"/>
                      </m:rPr>
                      <a:rPr lang="en-US" i="1" dirty="0" smtClean="0">
                        <a:latin typeface="Cambria Math" panose="02040503050406030204" pitchFamily="18" charset="0"/>
                      </a:rPr>
                      <m:t>max</m:t>
                    </m:r>
                    <m:r>
                      <a:rPr lang="en-US" i="1" dirty="0" smtClean="0">
                        <a:latin typeface="Cambria Math" panose="02040503050406030204" pitchFamily="18" charset="0"/>
                      </a:rPr>
                      <m:t>⁡() </m:t>
                    </m:r>
                  </m:oMath>
                </a14:m>
                <a:r>
                  <a:rPr lang="en-US" dirty="0"/>
                  <a:t>is a non-linear operator.</a:t>
                </a:r>
              </a:p>
            </p:txBody>
          </p:sp>
        </mc:Choice>
        <mc:Fallback xmlns="">
          <p:sp>
            <p:nvSpPr>
              <p:cNvPr id="4" name="Speech Bubble: Rectangle with Corners Rounded 3">
                <a:extLst>
                  <a:ext uri="{FF2B5EF4-FFF2-40B4-BE49-F238E27FC236}">
                    <a16:creationId xmlns:a16="http://schemas.microsoft.com/office/drawing/2014/main" id="{D196383D-37C9-4DC9-6261-E209D2647006}"/>
                  </a:ext>
                </a:extLst>
              </p:cNvPr>
              <p:cNvSpPr>
                <a:spLocks noRot="1" noChangeAspect="1" noMove="1" noResize="1" noEditPoints="1" noAdjustHandles="1" noChangeArrowheads="1" noChangeShapeType="1" noTextEdit="1"/>
              </p:cNvSpPr>
              <p:nvPr/>
            </p:nvSpPr>
            <p:spPr>
              <a:xfrm>
                <a:off x="10026290" y="2063129"/>
                <a:ext cx="1779939" cy="795738"/>
              </a:xfrm>
              <a:prstGeom prst="wedgeRoundRectCallout">
                <a:avLst>
                  <a:gd name="adj1" fmla="val -108791"/>
                  <a:gd name="adj2" fmla="val -92997"/>
                  <a:gd name="adj3" fmla="val 16667"/>
                </a:avLst>
              </a:prstGeom>
              <a:blipFill>
                <a:blip r:embed="rId3"/>
                <a:stretch>
                  <a:fillRect b="-1020"/>
                </a:stretch>
              </a:blipFill>
            </p:spPr>
            <p:txBody>
              <a:bodyPr/>
              <a:lstStyle/>
              <a:p>
                <a:r>
                  <a:rPr lang="en-US">
                    <a:noFill/>
                  </a:rPr>
                  <a:t> </a:t>
                </a:r>
              </a:p>
            </p:txBody>
          </p:sp>
        </mc:Fallback>
      </mc:AlternateContent>
    </p:spTree>
    <p:extLst>
      <p:ext uri="{BB962C8B-B14F-4D97-AF65-F5344CB8AC3E}">
        <p14:creationId xmlns:p14="http://schemas.microsoft.com/office/powerpoint/2010/main" val="21008074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F8419-04F9-6C87-A8C2-79226AB3F2D1}"/>
              </a:ext>
            </a:extLst>
          </p:cNvPr>
          <p:cNvSpPr>
            <a:spLocks noGrp="1"/>
          </p:cNvSpPr>
          <p:nvPr>
            <p:ph type="title"/>
          </p:nvPr>
        </p:nvSpPr>
        <p:spPr/>
        <p:txBody>
          <a:bodyPr>
            <a:noAutofit/>
          </a:bodyPr>
          <a:lstStyle/>
          <a:p>
            <a:r>
              <a:rPr lang="en-US" sz="3200" dirty="0"/>
              <a:t>Relationship between Value Functions and Policies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251823-ABE8-586D-49F5-73B8139AA3D0}"/>
                  </a:ext>
                </a:extLst>
              </p:cNvPr>
              <p:cNvSpPr>
                <a:spLocks noGrp="1"/>
              </p:cNvSpPr>
              <p:nvPr>
                <p:ph idx="1"/>
              </p:nvPr>
            </p:nvSpPr>
            <p:spPr>
              <a:xfrm>
                <a:off x="838200" y="1397330"/>
                <a:ext cx="5257800" cy="4940649"/>
              </a:xfrm>
            </p:spPr>
            <p:txBody>
              <a:bodyPr>
                <a:normAutofit fontScale="62500" lnSpcReduction="20000"/>
              </a:bodyPr>
              <a:lstStyle/>
              <a:p>
                <a:pPr marL="0" indent="0">
                  <a:buNone/>
                </a:pPr>
                <a:r>
                  <a:rPr lang="en-US" b="1" dirty="0"/>
                  <a:t>For a given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The value functions are defined as expected returns following actions given by the policy:</a:t>
                </a:r>
              </a:p>
              <a:p>
                <a:pPr marL="0" indent="0">
                  <a:buNone/>
                </a:pPr>
                <a:endParaRPr lang="en-US"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endParaRPr lang="en-US" dirty="0"/>
              </a:p>
              <a:p>
                <a:pPr marL="0" indent="0">
                  <a:buNone/>
                </a:pPr>
                <a:r>
                  <a:rPr lang="en-US" b="1" dirty="0"/>
                  <a:t>For the optimal policy</a:t>
                </a:r>
                <a:r>
                  <a:rPr lang="en-US" dirty="0"/>
                  <a:t>:  Always the optimal action is chosen and we have:</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𝜋</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6251823-ABE8-586D-49F5-73B8139AA3D0}"/>
                  </a:ext>
                </a:extLst>
              </p:cNvPr>
              <p:cNvSpPr>
                <a:spLocks noGrp="1" noRot="1" noChangeAspect="1" noMove="1" noResize="1" noEditPoints="1" noAdjustHandles="1" noChangeArrowheads="1" noChangeShapeType="1" noTextEdit="1"/>
              </p:cNvSpPr>
              <p:nvPr>
                <p:ph idx="1"/>
              </p:nvPr>
            </p:nvSpPr>
            <p:spPr>
              <a:xfrm>
                <a:off x="838200" y="1397330"/>
                <a:ext cx="5257800" cy="4940649"/>
              </a:xfrm>
              <a:blipFill>
                <a:blip r:embed="rId2"/>
                <a:stretch>
                  <a:fillRect l="-1044" t="-1850" r="-5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5C06124-14F0-CDA9-550F-0E3A3188C477}"/>
                  </a:ext>
                </a:extLst>
              </p:cNvPr>
              <p:cNvSpPr txBox="1"/>
              <p:nvPr/>
            </p:nvSpPr>
            <p:spPr>
              <a:xfrm>
                <a:off x="6253331" y="1335179"/>
                <a:ext cx="5257799" cy="4332725"/>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Recursively defining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dirty="0"/>
                  <a:t>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𝑣</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 leads to:</a:t>
                </a:r>
              </a:p>
              <a:p>
                <a:endParaRPr lang="en-US" dirty="0"/>
              </a:p>
              <a:p>
                <a:r>
                  <a:rPr lang="en-US" b="1" dirty="0"/>
                  <a:t>Bellman Expectation Equations</a:t>
                </a:r>
              </a:p>
              <a:p>
                <a:endParaRPr lang="en-US"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a:p>
                <a:endParaRPr lang="en-US" dirty="0"/>
              </a:p>
              <a:p>
                <a:endParaRPr lang="en-US" dirty="0"/>
              </a:p>
              <a:p>
                <a:endParaRPr lang="en-US" dirty="0"/>
              </a:p>
              <a:p>
                <a:endParaRPr lang="en-US" dirty="0"/>
              </a:p>
              <a:p>
                <a:endParaRPr lang="en-US" dirty="0"/>
              </a:p>
              <a:p>
                <a:r>
                  <a:rPr lang="en-US" b="1" dirty="0"/>
                  <a:t>Bellman Optimality Equations</a:t>
                </a:r>
              </a:p>
              <a:p>
                <a:endParaRPr lang="en-US"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endParaRPr lang="en-US" dirty="0"/>
              </a:p>
              <a:p>
                <a:endParaRPr lang="en-US" dirty="0"/>
              </a:p>
            </p:txBody>
          </p:sp>
        </mc:Choice>
        <mc:Fallback xmlns="">
          <p:sp>
            <p:nvSpPr>
              <p:cNvPr id="4" name="TextBox 3">
                <a:extLst>
                  <a:ext uri="{FF2B5EF4-FFF2-40B4-BE49-F238E27FC236}">
                    <a16:creationId xmlns:a16="http://schemas.microsoft.com/office/drawing/2014/main" id="{B5C06124-14F0-CDA9-550F-0E3A3188C477}"/>
                  </a:ext>
                </a:extLst>
              </p:cNvPr>
              <p:cNvSpPr txBox="1">
                <a:spLocks noRot="1" noChangeAspect="1" noMove="1" noResize="1" noEditPoints="1" noAdjustHandles="1" noChangeArrowheads="1" noChangeShapeType="1" noTextEdit="1"/>
              </p:cNvSpPr>
              <p:nvPr/>
            </p:nvSpPr>
            <p:spPr>
              <a:xfrm>
                <a:off x="6253331" y="1335179"/>
                <a:ext cx="5257799" cy="4332725"/>
              </a:xfrm>
              <a:prstGeom prst="rect">
                <a:avLst/>
              </a:prstGeom>
              <a:blipFill>
                <a:blip r:embed="rId3"/>
                <a:stretch>
                  <a:fillRect l="-925" t="-420" r="-116"/>
                </a:stretch>
              </a:blipFill>
            </p:spPr>
            <p:txBody>
              <a:bodyPr/>
              <a:lstStyle/>
              <a:p>
                <a:r>
                  <a:rPr lang="en-US">
                    <a:noFill/>
                  </a:rPr>
                  <a:t> </a:t>
                </a:r>
              </a:p>
            </p:txBody>
          </p:sp>
        </mc:Fallback>
      </mc:AlternateContent>
    </p:spTree>
    <p:extLst>
      <p:ext uri="{BB962C8B-B14F-4D97-AF65-F5344CB8AC3E}">
        <p14:creationId xmlns:p14="http://schemas.microsoft.com/office/powerpoint/2010/main" val="34772838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059AB-4A6A-F949-136C-0216A71D21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D5CED70-1C4B-B162-6447-77A1D3065D5A}"/>
              </a:ext>
            </a:extLst>
          </p:cNvPr>
          <p:cNvSpPr>
            <a:spLocks noGrp="1"/>
          </p:cNvSpPr>
          <p:nvPr>
            <p:ph type="title"/>
          </p:nvPr>
        </p:nvSpPr>
        <p:spPr/>
        <p:txBody>
          <a:bodyPr/>
          <a:lstStyle/>
          <a:p>
            <a:r>
              <a:rPr lang="en-US" dirty="0"/>
              <a:t>Related Models</a:t>
            </a:r>
          </a:p>
        </p:txBody>
      </p:sp>
      <p:sp>
        <p:nvSpPr>
          <p:cNvPr id="5" name="Text Placeholder 4">
            <a:extLst>
              <a:ext uri="{FF2B5EF4-FFF2-40B4-BE49-F238E27FC236}">
                <a16:creationId xmlns:a16="http://schemas.microsoft.com/office/drawing/2014/main" id="{8130BF9B-DF5B-9F4C-7041-E657367E2C43}"/>
              </a:ext>
            </a:extLst>
          </p:cNvPr>
          <p:cNvSpPr>
            <a:spLocks noGrp="1"/>
          </p:cNvSpPr>
          <p:nvPr>
            <p:ph type="body" idx="1"/>
          </p:nvPr>
        </p:nvSpPr>
        <p:spPr/>
        <p:txBody>
          <a:bodyPr/>
          <a:lstStyle/>
          <a:p>
            <a:r>
              <a:rPr lang="en-US" dirty="0"/>
              <a:t>Goal-based Agents, Simplifications, and Extensions</a:t>
            </a:r>
          </a:p>
        </p:txBody>
      </p:sp>
    </p:spTree>
    <p:extLst>
      <p:ext uri="{BB962C8B-B14F-4D97-AF65-F5344CB8AC3E}">
        <p14:creationId xmlns:p14="http://schemas.microsoft.com/office/powerpoint/2010/main" val="3532948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2">
            <a:extLst>
              <a:ext uri="{FF2B5EF4-FFF2-40B4-BE49-F238E27FC236}">
                <a16:creationId xmlns:a16="http://schemas.microsoft.com/office/drawing/2014/main" id="{5DA0915B-FDB4-406E-19E1-B1B995621E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53680" y="4661851"/>
            <a:ext cx="3635506" cy="18410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E2E2BB5C-6C8B-06EE-4069-6F6879307480}"/>
              </a:ext>
            </a:extLst>
          </p:cNvPr>
          <p:cNvSpPr>
            <a:spLocks noGrp="1"/>
          </p:cNvSpPr>
          <p:nvPr>
            <p:ph type="title"/>
          </p:nvPr>
        </p:nvSpPr>
        <p:spPr/>
        <p:txBody>
          <a:bodyPr/>
          <a:lstStyle/>
          <a:p>
            <a:r>
              <a:rPr lang="en-US" dirty="0"/>
              <a:t>Learning With an MDP vs. Goal-based Agent </a:t>
            </a:r>
          </a:p>
        </p:txBody>
      </p:sp>
      <p:sp>
        <p:nvSpPr>
          <p:cNvPr id="4" name="Text Placeholder 3">
            <a:extLst>
              <a:ext uri="{FF2B5EF4-FFF2-40B4-BE49-F238E27FC236}">
                <a16:creationId xmlns:a16="http://schemas.microsoft.com/office/drawing/2014/main" id="{CB0E7CAD-05C0-F361-2BD3-5A1B63F61611}"/>
              </a:ext>
            </a:extLst>
          </p:cNvPr>
          <p:cNvSpPr>
            <a:spLocks noGrp="1"/>
          </p:cNvSpPr>
          <p:nvPr>
            <p:ph type="body" idx="1"/>
          </p:nvPr>
        </p:nvSpPr>
        <p:spPr>
          <a:xfrm>
            <a:off x="836612" y="1690688"/>
            <a:ext cx="5157787" cy="823912"/>
          </a:xfrm>
        </p:spPr>
        <p:style>
          <a:lnRef idx="1">
            <a:schemeClr val="accent2"/>
          </a:lnRef>
          <a:fillRef idx="3">
            <a:schemeClr val="accent2"/>
          </a:fillRef>
          <a:effectRef idx="2">
            <a:schemeClr val="accent2"/>
          </a:effectRef>
          <a:fontRef idx="minor">
            <a:schemeClr val="lt1"/>
          </a:fontRef>
        </p:style>
        <p:txBody>
          <a:bodyPr/>
          <a:lstStyle/>
          <a:p>
            <a:r>
              <a:rPr lang="en-US" dirty="0"/>
              <a:t>MDP</a:t>
            </a:r>
          </a:p>
        </p:txBody>
      </p:sp>
      <p:sp>
        <p:nvSpPr>
          <p:cNvPr id="5" name="Content Placeholder 4">
            <a:extLst>
              <a:ext uri="{FF2B5EF4-FFF2-40B4-BE49-F238E27FC236}">
                <a16:creationId xmlns:a16="http://schemas.microsoft.com/office/drawing/2014/main" id="{A73E38D5-0270-1E3F-80B2-73B2A3199A6A}"/>
              </a:ext>
            </a:extLst>
          </p:cNvPr>
          <p:cNvSpPr>
            <a:spLocks noGrp="1"/>
          </p:cNvSpPr>
          <p:nvPr>
            <p:ph sz="half" idx="2"/>
          </p:nvPr>
        </p:nvSpPr>
        <p:spPr>
          <a:xfrm>
            <a:off x="839788" y="2505075"/>
            <a:ext cx="5157787" cy="1838326"/>
          </a:xfrm>
        </p:spPr>
        <p:style>
          <a:lnRef idx="2">
            <a:schemeClr val="accent2"/>
          </a:lnRef>
          <a:fillRef idx="1">
            <a:schemeClr val="lt1"/>
          </a:fillRef>
          <a:effectRef idx="0">
            <a:schemeClr val="accent2"/>
          </a:effectRef>
          <a:fontRef idx="minor">
            <a:schemeClr val="dk1"/>
          </a:fontRef>
        </p:style>
        <p:txBody>
          <a:bodyPr>
            <a:normAutofit fontScale="62500" lnSpcReduction="20000"/>
          </a:bodyPr>
          <a:lstStyle/>
          <a:p>
            <a:r>
              <a:rPr lang="en-US" b="1" dirty="0"/>
              <a:t>Objective</a:t>
            </a:r>
            <a:r>
              <a:rPr lang="en-US" dirty="0"/>
              <a:t>: Maximize the expected episode return. </a:t>
            </a:r>
          </a:p>
          <a:p>
            <a:pPr lvl="1"/>
            <a:r>
              <a:rPr lang="en-US" dirty="0"/>
              <a:t>Goal states do not exist.</a:t>
            </a:r>
          </a:p>
          <a:p>
            <a:pPr lvl="1"/>
            <a:r>
              <a:rPr lang="en-US" dirty="0"/>
              <a:t>The “goal” is defined by the reward structure.</a:t>
            </a:r>
          </a:p>
          <a:p>
            <a:pPr lvl="1"/>
            <a:r>
              <a:rPr lang="en-US" dirty="0"/>
              <a:t>Absorbing (terminal) states mean that no more reward can be accumulated. </a:t>
            </a:r>
          </a:p>
          <a:p>
            <a:r>
              <a:rPr lang="en-US" b="1" dirty="0"/>
              <a:t>Solution method</a:t>
            </a:r>
            <a:r>
              <a:rPr lang="en-US" dirty="0"/>
              <a:t>: learn a policy that maximizes the expected return. </a:t>
            </a:r>
          </a:p>
          <a:p>
            <a:pPr marL="0" indent="0">
              <a:buNone/>
            </a:pPr>
            <a:endParaRPr lang="en-US" dirty="0"/>
          </a:p>
        </p:txBody>
      </p:sp>
      <p:sp>
        <p:nvSpPr>
          <p:cNvPr id="6" name="Text Placeholder 5">
            <a:extLst>
              <a:ext uri="{FF2B5EF4-FFF2-40B4-BE49-F238E27FC236}">
                <a16:creationId xmlns:a16="http://schemas.microsoft.com/office/drawing/2014/main" id="{925EC02F-5F99-A388-7E5F-9F43A30547DC}"/>
              </a:ext>
            </a:extLst>
          </p:cNvPr>
          <p:cNvSpPr>
            <a:spLocks noGrp="1"/>
          </p:cNvSpPr>
          <p:nvPr>
            <p:ph type="body" sz="quarter" idx="3"/>
          </p:nvPr>
        </p:nvSpPr>
        <p:spPr/>
        <p:style>
          <a:lnRef idx="0">
            <a:schemeClr val="accent3"/>
          </a:lnRef>
          <a:fillRef idx="3">
            <a:schemeClr val="accent3"/>
          </a:fillRef>
          <a:effectRef idx="3">
            <a:schemeClr val="accent3"/>
          </a:effectRef>
          <a:fontRef idx="minor">
            <a:schemeClr val="lt1"/>
          </a:fontRef>
        </p:style>
        <p:txBody>
          <a:bodyPr/>
          <a:lstStyle/>
          <a:p>
            <a:r>
              <a:rPr lang="en-US" dirty="0"/>
              <a:t>Goal-based Agent</a:t>
            </a:r>
          </a:p>
        </p:txBody>
      </p:sp>
      <p:sp>
        <p:nvSpPr>
          <p:cNvPr id="7" name="Content Placeholder 6">
            <a:extLst>
              <a:ext uri="{FF2B5EF4-FFF2-40B4-BE49-F238E27FC236}">
                <a16:creationId xmlns:a16="http://schemas.microsoft.com/office/drawing/2014/main" id="{577811C4-F14E-671A-1571-0CAF7E1D1229}"/>
              </a:ext>
            </a:extLst>
          </p:cNvPr>
          <p:cNvSpPr>
            <a:spLocks noGrp="1"/>
          </p:cNvSpPr>
          <p:nvPr>
            <p:ph sz="quarter" idx="4"/>
          </p:nvPr>
        </p:nvSpPr>
        <p:spPr>
          <a:xfrm>
            <a:off x="6172200" y="2505074"/>
            <a:ext cx="5183188" cy="1841015"/>
          </a:xfrm>
        </p:spPr>
        <p:style>
          <a:lnRef idx="2">
            <a:schemeClr val="accent3"/>
          </a:lnRef>
          <a:fillRef idx="1">
            <a:schemeClr val="lt1"/>
          </a:fillRef>
          <a:effectRef idx="0">
            <a:schemeClr val="accent3"/>
          </a:effectRef>
          <a:fontRef idx="minor">
            <a:schemeClr val="dk1"/>
          </a:fontRef>
        </p:style>
        <p:txBody>
          <a:bodyPr>
            <a:normAutofit fontScale="62500" lnSpcReduction="20000"/>
          </a:bodyPr>
          <a:lstStyle/>
          <a:p>
            <a:r>
              <a:rPr lang="en-US" b="1" dirty="0"/>
              <a:t>Objective</a:t>
            </a:r>
            <a:r>
              <a:rPr lang="en-US" dirty="0"/>
              <a:t>: reach a goal state.</a:t>
            </a:r>
          </a:p>
          <a:p>
            <a:endParaRPr lang="en-US" dirty="0"/>
          </a:p>
          <a:p>
            <a:pPr marL="0" indent="0">
              <a:buNone/>
            </a:pPr>
            <a:endParaRPr lang="en-US" dirty="0"/>
          </a:p>
          <a:p>
            <a:pPr marL="0" indent="0">
              <a:buNone/>
            </a:pPr>
            <a:endParaRPr lang="en-US" dirty="0"/>
          </a:p>
          <a:p>
            <a:r>
              <a:rPr lang="en-US" b="1" dirty="0"/>
              <a:t>Solution method</a:t>
            </a:r>
            <a:r>
              <a:rPr lang="en-US" dirty="0"/>
              <a:t>: searches for the shortest path.</a:t>
            </a:r>
          </a:p>
        </p:txBody>
      </p:sp>
      <p:sp>
        <p:nvSpPr>
          <p:cNvPr id="8" name="Right Brace 7">
            <a:extLst>
              <a:ext uri="{FF2B5EF4-FFF2-40B4-BE49-F238E27FC236}">
                <a16:creationId xmlns:a16="http://schemas.microsoft.com/office/drawing/2014/main" id="{61305D94-61F2-4B55-0CFF-B9663C49A12C}"/>
              </a:ext>
            </a:extLst>
          </p:cNvPr>
          <p:cNvSpPr/>
          <p:nvPr/>
        </p:nvSpPr>
        <p:spPr>
          <a:xfrm rot="5400000">
            <a:off x="6036656" y="-753829"/>
            <a:ext cx="257120" cy="10515599"/>
          </a:xfrm>
          <a:prstGeom prst="rightBrace">
            <a:avLst>
              <a:gd name="adj1" fmla="val 8333"/>
              <a:gd name="adj2" fmla="val 66927"/>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E970283D-3185-DF71-24BE-3B95F235292B}"/>
              </a:ext>
            </a:extLst>
          </p:cNvPr>
          <p:cNvSpPr txBox="1"/>
          <p:nvPr/>
        </p:nvSpPr>
        <p:spPr>
          <a:xfrm>
            <a:off x="836612" y="4748540"/>
            <a:ext cx="7317068" cy="17543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Create goal-based behavior using an MDP:</a:t>
            </a:r>
          </a:p>
          <a:p>
            <a:pPr marL="742950" lvl="1" indent="-285750">
              <a:buFont typeface="Arial" panose="020B0604020202020204" pitchFamily="34" charset="0"/>
              <a:buChar char="•"/>
            </a:pPr>
            <a:r>
              <a:rPr lang="en-US" dirty="0"/>
              <a:t>Making the “goal state” a terminal state.</a:t>
            </a:r>
          </a:p>
          <a:p>
            <a:pPr marL="742950" lvl="1" indent="-285750">
              <a:buFont typeface="Arial" panose="020B0604020202020204" pitchFamily="34" charset="0"/>
              <a:buChar char="•"/>
            </a:pPr>
            <a:r>
              <a:rPr lang="en-US" dirty="0"/>
              <a:t>Only awarding a reward when the agent enters that state.</a:t>
            </a:r>
          </a:p>
          <a:p>
            <a:endParaRPr lang="en-US" dirty="0"/>
          </a:p>
          <a:p>
            <a:r>
              <a:rPr lang="en-US" dirty="0"/>
              <a:t>MDPs are much more general and can easily incorporate “goal states” with different values and stochastic environments (transition models). </a:t>
            </a:r>
          </a:p>
        </p:txBody>
      </p:sp>
    </p:spTree>
    <p:extLst>
      <p:ext uri="{BB962C8B-B14F-4D97-AF65-F5344CB8AC3E}">
        <p14:creationId xmlns:p14="http://schemas.microsoft.com/office/powerpoint/2010/main" val="3728489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77500" lnSpcReduction="20000"/>
              </a:bodyPr>
              <a:lstStyle/>
              <a:p>
                <a:pPr marL="0" indent="0">
                  <a:buNone/>
                </a:pPr>
                <a:r>
                  <a:rPr lang="en-US" b="1" dirty="0"/>
                  <a:t>MDP simplifications:</a:t>
                </a:r>
              </a:p>
              <a:p>
                <a:pPr lvl="1"/>
                <a:r>
                  <a:rPr lang="en-US" b="1" dirty="0"/>
                  <a:t>Multi-armed bandits (Chapter 2 in Sutton/Barto)</a:t>
                </a:r>
              </a:p>
              <a:p>
                <a:pPr lvl="2"/>
                <a:r>
                  <a:rPr lang="en-US" dirty="0"/>
                  <a:t>You repeatedly choose an arm (action).</a:t>
                </a:r>
              </a:p>
              <a:p>
                <a:pPr lvl="2"/>
                <a:r>
                  <a:rPr lang="en-US" dirty="0"/>
                  <a:t>You immediately get a reward and start over.</a:t>
                </a:r>
              </a:p>
              <a:p>
                <a:pPr lvl="2"/>
                <a:r>
                  <a:rPr lang="en-US" dirty="0"/>
                  <a:t>There is no state evolution.</a:t>
                </a:r>
              </a:p>
              <a:p>
                <a:pPr lvl="2"/>
                <a:r>
                  <a:rPr lang="en-US" dirty="0"/>
                  <a:t>Examples: flipping a coin repeatedly, playing multiple slot machines</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xmlns="">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754" t="-2551" r="-11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1C0A40-7725-1505-8930-DC82CB78057C}"/>
              </a:ext>
            </a:extLst>
          </p:cNvPr>
          <p:cNvSpPr>
            <a:spLocks noGrp="1"/>
          </p:cNvSpPr>
          <p:nvPr>
            <p:ph type="title"/>
          </p:nvPr>
        </p:nvSpPr>
        <p:spPr/>
        <p:txBody>
          <a:bodyPr>
            <a:normAutofit/>
          </a:bodyPr>
          <a:lstStyle/>
          <a:p>
            <a:r>
              <a:rPr lang="en-US" sz="3600" dirty="0"/>
              <a:t>Partially Observable Markov Decision Process (POMDP)</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00B6C47-EA5C-F94C-DD50-5B2B163423B0}"/>
                  </a:ext>
                </a:extLst>
              </p:cNvPr>
              <p:cNvSpPr>
                <a:spLocks noGrp="1"/>
              </p:cNvSpPr>
              <p:nvPr>
                <p:ph idx="1"/>
              </p:nvPr>
            </p:nvSpPr>
            <p:spPr>
              <a:xfrm>
                <a:off x="838200" y="1124198"/>
                <a:ext cx="6965044" cy="5269622"/>
              </a:xfrm>
            </p:spPr>
            <p:txBody>
              <a:bodyPr>
                <a:normAutofit fontScale="92500" lnSpcReduction="20000"/>
              </a:bodyPr>
              <a:lstStyle/>
              <a:p>
                <a:r>
                  <a:rPr lang="en-US" sz="1400" dirty="0"/>
                  <a:t>MDPs assume full observability, which is a very unrealistic assumption!</a:t>
                </a:r>
                <a:br>
                  <a:rPr lang="en-US" sz="1400" dirty="0"/>
                </a:br>
                <a:r>
                  <a:rPr lang="en-US" sz="1400" dirty="0"/>
                  <a:t>MDPs can be extended for partially observable environments. The agent observes part of the environment state as an observation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b="0" i="1" smtClean="0">
                            <a:latin typeface="Cambria Math" panose="02040503050406030204" pitchFamily="18" charset="0"/>
                          </a:rPr>
                          <m:t>𝑡</m:t>
                        </m:r>
                      </m:sub>
                    </m:sSub>
                  </m:oMath>
                </a14:m>
                <a:r>
                  <a:rPr lang="en-US" sz="1400" dirty="0"/>
                  <a:t> (</a:t>
                </a:r>
                <a14:m>
                  <m:oMath xmlns:m="http://schemas.openxmlformats.org/officeDocument/2006/math">
                    <m:sSub>
                      <m:sSubPr>
                        <m:ctrlPr>
                          <a:rPr lang="en-US" sz="1400" b="1" i="1" smtClean="0">
                            <a:latin typeface="Cambria Math" panose="02040503050406030204" pitchFamily="18" charset="0"/>
                          </a:rPr>
                        </m:ctrlPr>
                      </m:sSubPr>
                      <m:e>
                        <m:r>
                          <a:rPr lang="en-US" sz="1400" b="1" i="1" smtClean="0">
                            <a:latin typeface="Cambria Math" panose="02040503050406030204" pitchFamily="18" charset="0"/>
                          </a:rPr>
                          <m:t>𝒙</m:t>
                        </m:r>
                      </m:e>
                      <m:sub>
                        <m:r>
                          <a:rPr lang="en-US" sz="1400" b="0" i="1" smtClean="0">
                            <a:latin typeface="Cambria Math" panose="02040503050406030204" pitchFamily="18" charset="0"/>
                          </a:rPr>
                          <m:t>𝑡</m:t>
                        </m:r>
                      </m:sub>
                    </m:sSub>
                  </m:oMath>
                </a14:m>
                <a:r>
                  <a:rPr lang="en-US" sz="1400" dirty="0"/>
                  <a:t> is also commonly used).</a:t>
                </a:r>
              </a:p>
              <a:p>
                <a:r>
                  <a:rPr lang="en-US" sz="1400" b="1" dirty="0"/>
                  <a:t>State Estimation</a:t>
                </a:r>
                <a:r>
                  <a:rPr lang="en-US" sz="1400" dirty="0"/>
                  <a:t>: The agent tries to reconstruct the complete state information using all available information (actions and observations):</a:t>
                </a:r>
                <a:endParaRPr lang="en-US" sz="1400" i="1" dirty="0">
                  <a:latin typeface="Cambria Math" panose="02040503050406030204" pitchFamily="18" charset="0"/>
                </a:endParaRPr>
              </a:p>
              <a:p>
                <a:pPr marL="0" indent="0">
                  <a:buNone/>
                </a:pPr>
                <a14:m>
                  <m:oMathPara xmlns:m="http://schemas.openxmlformats.org/officeDocument/2006/math">
                    <m:oMath>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sub>
                            <m:sup>
                              <m:r>
                                <a:rPr lang="en-US" sz="1400" i="1">
                                  <a:latin typeface="Cambria Math" panose="02040503050406030204" pitchFamily="18" charset="0"/>
                                </a:rPr>
                                <m:t>𝑒</m:t>
                              </m:r>
                            </m:sup>
                          </m:sSubSup>
                        </m:e>
                      </m:acc>
                      <m:r>
                        <a:rPr lang="en-US" sz="1400" i="1">
                          <a:latin typeface="Cambria Math" panose="02040503050406030204" pitchFamily="18" charset="0"/>
                        </a:rPr>
                        <m:t>=</m:t>
                      </m:r>
                      <m:r>
                        <m:rPr>
                          <m:nor/>
                        </m:rPr>
                        <a:rPr lang="en-US" sz="1400" i="0">
                          <a:latin typeface="Cambria Math" panose="02040503050406030204" pitchFamily="18" charset="0"/>
                        </a:rPr>
                        <m:t>update</m:t>
                      </m:r>
                      <m:d>
                        <m:dPr>
                          <m:ctrlPr>
                            <a:rPr lang="en-US" sz="1400" i="0">
                              <a:latin typeface="Cambria Math" panose="02040503050406030204" pitchFamily="18" charset="0"/>
                            </a:rPr>
                          </m:ctrlPr>
                        </m:dPr>
                        <m:e>
                          <m:r>
                            <m:rPr>
                              <m:nor/>
                            </m:rPr>
                            <a:rPr lang="en-US" sz="1400" i="0">
                              <a:latin typeface="Cambria Math" panose="02040503050406030204" pitchFamily="18" charset="0"/>
                            </a:rPr>
                            <m:t>predict</m:t>
                          </m:r>
                          <m:d>
                            <m:dPr>
                              <m:ctrlPr>
                                <a:rPr lang="en-US" sz="1400" i="1">
                                  <a:latin typeface="Cambria Math" panose="02040503050406030204" pitchFamily="18" charset="0"/>
                                </a:rPr>
                              </m:ctrlPr>
                            </m:dPr>
                            <m:e>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r>
                                        <a:rPr lang="en-US" sz="1400" i="1">
                                          <a:latin typeface="Cambria Math" panose="02040503050406030204" pitchFamily="18" charset="0"/>
                                        </a:rPr>
                                        <m:t>−1</m:t>
                                      </m:r>
                                    </m:sub>
                                    <m:sup>
                                      <m:r>
                                        <a:rPr lang="en-US" sz="1400" i="1">
                                          <a:latin typeface="Cambria Math" panose="02040503050406030204" pitchFamily="18" charset="0"/>
                                        </a:rPr>
                                        <m:t>𝑒</m:t>
                                      </m:r>
                                    </m:sup>
                                  </m:sSubSup>
                                </m:e>
                              </m:acc>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𝑎</m:t>
                                  </m:r>
                                </m:e>
                                <m:sub>
                                  <m:r>
                                    <a:rPr lang="en-US" sz="1400" i="1">
                                      <a:latin typeface="Cambria Math" panose="02040503050406030204" pitchFamily="18" charset="0"/>
                                    </a:rPr>
                                    <m:t>𝑡</m:t>
                                  </m:r>
                                </m:sub>
                              </m:sSub>
                            </m:e>
                          </m:d>
                          <m:r>
                            <a:rPr lang="en-US" sz="1400" i="1">
                              <a:latin typeface="Cambria Math" panose="02040503050406030204" pitchFamily="18" charset="0"/>
                            </a:rPr>
                            <m:t>, </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i="1">
                                  <a:latin typeface="Cambria Math" panose="02040503050406030204" pitchFamily="18" charset="0"/>
                                </a:rPr>
                                <m:t>𝑡</m:t>
                              </m:r>
                            </m:sub>
                          </m:sSub>
                        </m:e>
                      </m:d>
                    </m:oMath>
                  </m:oMathPara>
                </a14:m>
                <a:br>
                  <a:rPr lang="en-US" sz="1400" dirty="0"/>
                </a:br>
                <a:endParaRPr lang="en-US" sz="1400" dirty="0"/>
              </a:p>
              <a:p>
                <a:r>
                  <a:rPr lang="en-US" sz="1400" dirty="0"/>
                  <a:t>Prediction is done using the MPD’s transition model, the update (filtering) is performed using an additionally known </a:t>
                </a:r>
                <a:r>
                  <a:rPr lang="en-US" sz="1400" b="1" dirty="0"/>
                  <a:t>sensor model </a:t>
                </a:r>
                <a:r>
                  <a:rPr lang="en-US" sz="1400" dirty="0"/>
                  <a:t>specifying </a:t>
                </a:r>
                <a14:m>
                  <m:oMath xmlns:m="http://schemas.openxmlformats.org/officeDocument/2006/math">
                    <m:r>
                      <a:rPr lang="en-US" sz="1400" i="1" dirty="0">
                        <a:latin typeface="Cambria Math" panose="02040503050406030204" pitchFamily="18" charset="0"/>
                      </a:rPr>
                      <m:t>𝑃</m:t>
                    </m:r>
                    <m:d>
                      <m:dPr>
                        <m:ctrlPr>
                          <a:rPr lang="en-US" sz="1400" i="1" dirty="0">
                            <a:latin typeface="Cambria Math" panose="02040503050406030204" pitchFamily="18" charset="0"/>
                          </a:rPr>
                        </m:ctrlPr>
                      </m:dPr>
                      <m:e>
                        <m:r>
                          <a:rPr lang="en-US" sz="1400" i="1" dirty="0">
                            <a:latin typeface="Cambria Math" panose="02040503050406030204" pitchFamily="18" charset="0"/>
                          </a:rPr>
                          <m:t>𝑜</m:t>
                        </m:r>
                      </m:e>
                      <m:e>
                        <m:r>
                          <a:rPr lang="en-US" sz="1400" i="1" dirty="0">
                            <a:latin typeface="Cambria Math" panose="02040503050406030204" pitchFamily="18" charset="0"/>
                          </a:rPr>
                          <m:t>𝑠</m:t>
                        </m:r>
                      </m:e>
                    </m:d>
                  </m:oMath>
                </a14:m>
                <a:r>
                  <a:rPr lang="en-US" sz="1400" dirty="0"/>
                  <a:t>, the probability for receiving observation </a:t>
                </a:r>
                <a14:m>
                  <m:oMath xmlns:m="http://schemas.openxmlformats.org/officeDocument/2006/math">
                    <m:r>
                      <a:rPr lang="en-US" sz="1400" i="1" dirty="0">
                        <a:latin typeface="Cambria Math" panose="02040503050406030204" pitchFamily="18" charset="0"/>
                      </a:rPr>
                      <m:t>𝑜</m:t>
                    </m:r>
                  </m:oMath>
                </a14:m>
                <a:r>
                  <a:rPr lang="en-US" sz="1400" dirty="0"/>
                  <a:t> given being in state </a:t>
                </a:r>
                <a14:m>
                  <m:oMath xmlns:m="http://schemas.openxmlformats.org/officeDocument/2006/math">
                    <m:r>
                      <a:rPr lang="en-US" sz="1400" i="1" dirty="0">
                        <a:latin typeface="Cambria Math" panose="02040503050406030204" pitchFamily="18" charset="0"/>
                      </a:rPr>
                      <m:t>𝑠</m:t>
                    </m:r>
                  </m:oMath>
                </a14:m>
                <a:r>
                  <a:rPr lang="en-US" sz="1400" dirty="0"/>
                  <a:t>. </a:t>
                </a:r>
              </a:p>
              <a:p>
                <a:endParaRPr lang="en-US" sz="1400" b="1" dirty="0"/>
              </a:p>
              <a:p>
                <a:r>
                  <a:rPr lang="en-US" sz="1400" b="1" dirty="0"/>
                  <a:t>Belief states</a:t>
                </a:r>
                <a:r>
                  <a:rPr lang="en-US" sz="1400" dirty="0"/>
                  <a:t>: The estimate is a belief state expressed as a distribution over all states. It updated using the Bayesian rule when new observations become available. </a:t>
                </a:r>
                <a:br>
                  <a:rPr lang="en-US" sz="1400" dirty="0"/>
                </a:br>
                <a:br>
                  <a:rPr lang="en-US" sz="1400" dirty="0"/>
                </a:br>
                <a:r>
                  <a:rPr lang="en-US" sz="1400" dirty="0"/>
                  <a:t>Example: For a problem with three states, the belief state </a:t>
                </a:r>
                <a14:m>
                  <m:oMath xmlns:m="http://schemas.openxmlformats.org/officeDocument/2006/math">
                    <m:r>
                      <a:rPr lang="en-US" sz="1400" i="1" dirty="0" smtClean="0">
                        <a:latin typeface="Cambria Math" panose="02040503050406030204" pitchFamily="18" charset="0"/>
                      </a:rPr>
                      <m:t>𝑏</m:t>
                    </m:r>
                    <m:r>
                      <a:rPr lang="en-US" sz="1400" i="1" dirty="0" smtClean="0">
                        <a:latin typeface="Cambria Math" panose="02040503050406030204" pitchFamily="18" charset="0"/>
                      </a:rPr>
                      <m:t> =</m:t>
                    </m:r>
                    <m:d>
                      <m:dPr>
                        <m:ctrlPr>
                          <a:rPr lang="en-US" sz="1400" i="1" dirty="0" smtClean="0">
                            <a:latin typeface="Cambria Math" panose="02040503050406030204" pitchFamily="18" charset="0"/>
                          </a:rPr>
                        </m:ctrlPr>
                      </m:dPr>
                      <m:e>
                        <m:r>
                          <a:rPr lang="en-US" sz="1400" i="1" dirty="0" smtClean="0">
                            <a:latin typeface="Cambria Math" panose="02040503050406030204" pitchFamily="18" charset="0"/>
                          </a:rPr>
                          <m:t>.2, .8, 0</m:t>
                        </m:r>
                      </m:e>
                    </m:d>
                  </m:oMath>
                </a14:m>
                <a:r>
                  <a:rPr lang="en-US" sz="1400" dirty="0"/>
                  <a:t>  means the agent believes that it is with 20% in state 1 and 80% in state 2, but not in state 3. If it observes something that indicates that it is more likely in state 1 then it may update the believe state to </a:t>
                </a:r>
                <a14:m>
                  <m:oMath xmlns:m="http://schemas.openxmlformats.org/officeDocument/2006/math">
                    <m:r>
                      <a:rPr lang="en-US" sz="1400" i="1" dirty="0">
                        <a:latin typeface="Cambria Math" panose="02040503050406030204" pitchFamily="18" charset="0"/>
                      </a:rPr>
                      <m:t>𝑏</m:t>
                    </m:r>
                    <m:r>
                      <a:rPr lang="en-US" sz="1400" i="1" dirty="0">
                        <a:latin typeface="Cambria Math" panose="02040503050406030204" pitchFamily="18" charset="0"/>
                      </a:rPr>
                      <m:t> =</m:t>
                    </m:r>
                    <m:d>
                      <m:dPr>
                        <m:ctrlPr>
                          <a:rPr lang="en-US" sz="1400" i="1" dirty="0">
                            <a:latin typeface="Cambria Math" panose="02040503050406030204" pitchFamily="18" charset="0"/>
                          </a:rPr>
                        </m:ctrlPr>
                      </m:dPr>
                      <m:e>
                        <m:r>
                          <a:rPr lang="en-US" sz="1400" i="1" dirty="0">
                            <a:latin typeface="Cambria Math" panose="02040503050406030204" pitchFamily="18" charset="0"/>
                          </a:rPr>
                          <m:t>.</m:t>
                        </m:r>
                        <m:r>
                          <a:rPr lang="en-US" sz="1400" b="0" i="1" dirty="0" smtClean="0">
                            <a:latin typeface="Cambria Math" panose="02040503050406030204" pitchFamily="18" charset="0"/>
                          </a:rPr>
                          <m:t>3</m:t>
                        </m:r>
                        <m:r>
                          <a:rPr lang="en-US" sz="1400" i="1" dirty="0">
                            <a:latin typeface="Cambria Math" panose="02040503050406030204" pitchFamily="18" charset="0"/>
                          </a:rPr>
                          <m:t>, .</m:t>
                        </m:r>
                        <m:r>
                          <a:rPr lang="en-US" sz="1400" b="0" i="1" dirty="0" smtClean="0">
                            <a:latin typeface="Cambria Math" panose="02040503050406030204" pitchFamily="18" charset="0"/>
                          </a:rPr>
                          <m:t>7</m:t>
                        </m:r>
                        <m:r>
                          <a:rPr lang="en-US" sz="1400" i="1" dirty="0">
                            <a:latin typeface="Cambria Math" panose="02040503050406030204" pitchFamily="18" charset="0"/>
                          </a:rPr>
                          <m:t>, 0</m:t>
                        </m:r>
                      </m:e>
                    </m:d>
                  </m:oMath>
                </a14:m>
                <a:r>
                  <a:rPr lang="en-US" sz="1400" dirty="0"/>
                  <a:t>. </a:t>
                </a:r>
                <a:endParaRPr lang="en-US" sz="1400" b="1" dirty="0"/>
              </a:p>
              <a:p>
                <a:r>
                  <a:rPr lang="en-US" sz="1400" b="1" dirty="0"/>
                  <a:t>Belief MDP: </a:t>
                </a:r>
                <a:r>
                  <a:rPr lang="en-US" sz="1400" dirty="0"/>
                  <a:t>A POMDP can be converted into a MDP that uses belief states instead of system states.</a:t>
                </a:r>
                <a:br>
                  <a:rPr lang="en-US" sz="1400" dirty="0"/>
                </a:br>
                <a:br>
                  <a:rPr lang="en-US" sz="1400" dirty="0"/>
                </a:br>
                <a:r>
                  <a:rPr lang="en-US" sz="1400" dirty="0"/>
                  <a:t>Issue: The probabilities in belief states are continuous, leading to a continuous (infinite) state space. The belief MDP is not a finite MDP!</a:t>
                </a:r>
              </a:p>
              <a:p>
                <a:endParaRPr lang="en-US" sz="1400" b="1" dirty="0"/>
              </a:p>
              <a:p>
                <a:r>
                  <a:rPr lang="en-US" sz="1400" b="1" dirty="0"/>
                  <a:t>Policy</a:t>
                </a:r>
                <a:r>
                  <a:rPr lang="en-US" sz="1400" dirty="0"/>
                  <a:t>: The solution of a belief MDP/POMDP is a policy with the optimal actions for sets of belief states (i.e., ranges of belief). </a:t>
                </a:r>
              </a:p>
              <a:p>
                <a:endParaRPr lang="en-US" sz="1400" dirty="0"/>
              </a:p>
              <a:p>
                <a:r>
                  <a:rPr lang="en-US" sz="1400" b="1" dirty="0"/>
                  <a:t>Complexity</a:t>
                </a:r>
                <a:r>
                  <a:rPr lang="en-US" sz="1400" dirty="0"/>
                  <a:t>: For all but tiny problems, POMDPs can only be solved </a:t>
                </a:r>
                <a:r>
                  <a:rPr lang="en-US" sz="1400" b="1" dirty="0"/>
                  <a:t>approximately </a:t>
                </a:r>
                <a:r>
                  <a:rPr lang="en-US" sz="1400" dirty="0"/>
                  <a:t>(e.g., by grid-based methods).</a:t>
                </a:r>
              </a:p>
            </p:txBody>
          </p:sp>
        </mc:Choice>
        <mc:Fallback xmlns="">
          <p:sp>
            <p:nvSpPr>
              <p:cNvPr id="4" name="Content Placeholder 3">
                <a:extLst>
                  <a:ext uri="{FF2B5EF4-FFF2-40B4-BE49-F238E27FC236}">
                    <a16:creationId xmlns:a16="http://schemas.microsoft.com/office/drawing/2014/main" id="{C00B6C47-EA5C-F94C-DD50-5B2B163423B0}"/>
                  </a:ext>
                </a:extLst>
              </p:cNvPr>
              <p:cNvSpPr>
                <a:spLocks noGrp="1" noRot="1" noChangeAspect="1" noMove="1" noResize="1" noEditPoints="1" noAdjustHandles="1" noChangeArrowheads="1" noChangeShapeType="1" noTextEdit="1"/>
              </p:cNvSpPr>
              <p:nvPr>
                <p:ph idx="1"/>
              </p:nvPr>
            </p:nvSpPr>
            <p:spPr>
              <a:xfrm>
                <a:off x="838200" y="1124198"/>
                <a:ext cx="6965044" cy="5269622"/>
              </a:xfrm>
              <a:blipFill>
                <a:blip r:embed="rId2"/>
                <a:stretch>
                  <a:fillRect l="-88" t="-925" r="-263"/>
                </a:stretch>
              </a:blipFill>
            </p:spPr>
            <p:txBody>
              <a:bodyPr/>
              <a:lstStyle/>
              <a:p>
                <a:r>
                  <a:rPr lang="en-US">
                    <a:noFill/>
                  </a:rPr>
                  <a:t> </a:t>
                </a:r>
              </a:p>
            </p:txBody>
          </p:sp>
        </mc:Fallback>
      </mc:AlternateContent>
      <p:grpSp>
        <p:nvGrpSpPr>
          <p:cNvPr id="58" name="Group 57">
            <a:extLst>
              <a:ext uri="{FF2B5EF4-FFF2-40B4-BE49-F238E27FC236}">
                <a16:creationId xmlns:a16="http://schemas.microsoft.com/office/drawing/2014/main" id="{08DE9F32-7B34-4C19-C31B-96905C0FBF82}"/>
              </a:ext>
              <a:ext uri="{C183D7F6-B498-43B3-948B-1728B52AA6E4}">
                <adec:decorative xmlns:adec="http://schemas.microsoft.com/office/drawing/2017/decorative" val="1"/>
              </a:ext>
            </a:extLst>
          </p:cNvPr>
          <p:cNvGrpSpPr/>
          <p:nvPr/>
        </p:nvGrpSpPr>
        <p:grpSpPr>
          <a:xfrm>
            <a:off x="8305800" y="1825625"/>
            <a:ext cx="3597655" cy="3352800"/>
            <a:chOff x="8077200" y="1981200"/>
            <a:chExt cx="3597655" cy="3352800"/>
          </a:xfrm>
        </p:grpSpPr>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DC84589E-DF62-36F9-871C-E83DFA3D5F24}"/>
                    </a:ext>
                  </a:extLst>
                </p:cNvPr>
                <p:cNvSpPr/>
                <p:nvPr/>
              </p:nvSpPr>
              <p:spPr>
                <a:xfrm>
                  <a:off x="8394728" y="414243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5" name="Oval 4">
                  <a:extLst>
                    <a:ext uri="{FF2B5EF4-FFF2-40B4-BE49-F238E27FC236}">
                      <a16:creationId xmlns:a16="http://schemas.microsoft.com/office/drawing/2014/main" id="{DC84589E-DF62-36F9-871C-E83DFA3D5F24}"/>
                    </a:ext>
                  </a:extLst>
                </p:cNvPr>
                <p:cNvSpPr>
                  <a:spLocks noRot="1" noChangeAspect="1" noMove="1" noResize="1" noEditPoints="1" noAdjustHandles="1" noChangeArrowheads="1" noChangeShapeType="1" noTextEdit="1"/>
                </p:cNvSpPr>
                <p:nvPr/>
              </p:nvSpPr>
              <p:spPr>
                <a:xfrm>
                  <a:off x="8394728" y="4142436"/>
                  <a:ext cx="381000" cy="381000"/>
                </a:xfrm>
                <a:prstGeom prst="ellipse">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8ACAD632-8DE2-973F-4F95-1D07F5DED586}"/>
                    </a:ext>
                  </a:extLst>
                </p:cNvPr>
                <p:cNvSpPr/>
                <p:nvPr/>
              </p:nvSpPr>
              <p:spPr>
                <a:xfrm>
                  <a:off x="10299728" y="413182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 name="Oval 5">
                  <a:extLst>
                    <a:ext uri="{FF2B5EF4-FFF2-40B4-BE49-F238E27FC236}">
                      <a16:creationId xmlns:a16="http://schemas.microsoft.com/office/drawing/2014/main" id="{8ACAD632-8DE2-973F-4F95-1D07F5DED586}"/>
                    </a:ext>
                  </a:extLst>
                </p:cNvPr>
                <p:cNvSpPr>
                  <a:spLocks noRot="1" noChangeAspect="1" noMove="1" noResize="1" noEditPoints="1" noAdjustHandles="1" noChangeArrowheads="1" noChangeShapeType="1" noTextEdit="1"/>
                </p:cNvSpPr>
                <p:nvPr/>
              </p:nvSpPr>
              <p:spPr>
                <a:xfrm>
                  <a:off x="10299728" y="4131826"/>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8" name="Connector: Curved 7">
              <a:extLst>
                <a:ext uri="{FF2B5EF4-FFF2-40B4-BE49-F238E27FC236}">
                  <a16:creationId xmlns:a16="http://schemas.microsoft.com/office/drawing/2014/main" id="{8ADA8D27-B516-2230-74C5-5B3D388F4DBC}"/>
                </a:ext>
              </a:extLst>
            </p:cNvPr>
            <p:cNvCxnSpPr>
              <a:cxnSpLocks/>
              <a:stCxn id="5" idx="7"/>
              <a:endCxn id="6" idx="1"/>
            </p:cNvCxnSpPr>
            <p:nvPr/>
          </p:nvCxnSpPr>
          <p:spPr>
            <a:xfrm rot="5400000" flipH="1" flipV="1">
              <a:off x="9532423" y="3375131"/>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Connector: Curved 8">
              <a:extLst>
                <a:ext uri="{FF2B5EF4-FFF2-40B4-BE49-F238E27FC236}">
                  <a16:creationId xmlns:a16="http://schemas.microsoft.com/office/drawing/2014/main" id="{C572436C-367B-E8C4-7703-0B0639630002}"/>
                </a:ext>
              </a:extLst>
            </p:cNvPr>
            <p:cNvCxnSpPr>
              <a:cxnSpLocks/>
              <a:stCxn id="6" idx="3"/>
              <a:endCxn id="5" idx="5"/>
            </p:cNvCxnSpPr>
            <p:nvPr/>
          </p:nvCxnSpPr>
          <p:spPr>
            <a:xfrm rot="5400000">
              <a:off x="9532423" y="3644539"/>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onnector: Curved 9">
              <a:extLst>
                <a:ext uri="{FF2B5EF4-FFF2-40B4-BE49-F238E27FC236}">
                  <a16:creationId xmlns:a16="http://schemas.microsoft.com/office/drawing/2014/main" id="{F7863CD2-2324-B829-5CA8-D076A341673D}"/>
                </a:ext>
              </a:extLst>
            </p:cNvPr>
            <p:cNvCxnSpPr>
              <a:cxnSpLocks/>
              <a:stCxn id="6" idx="7"/>
              <a:endCxn id="6" idx="5"/>
            </p:cNvCxnSpPr>
            <p:nvPr/>
          </p:nvCxnSpPr>
          <p:spPr>
            <a:xfrm rot="16200000" flipH="1">
              <a:off x="10490228" y="4322326"/>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9F6F0BD-1AFD-5852-D941-4C6A12276A68}"/>
                    </a:ext>
                  </a:extLst>
                </p:cNvPr>
                <p:cNvSpPr txBox="1"/>
                <p:nvPr/>
              </p:nvSpPr>
              <p:spPr>
                <a:xfrm>
                  <a:off x="9359995" y="3534780"/>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2" name="TextBox 11">
                  <a:extLst>
                    <a:ext uri="{FF2B5EF4-FFF2-40B4-BE49-F238E27FC236}">
                      <a16:creationId xmlns:a16="http://schemas.microsoft.com/office/drawing/2014/main" id="{59F6F0BD-1AFD-5852-D941-4C6A12276A68}"/>
                    </a:ext>
                  </a:extLst>
                </p:cNvPr>
                <p:cNvSpPr txBox="1">
                  <a:spLocks noRot="1" noChangeAspect="1" noMove="1" noResize="1" noEditPoints="1" noAdjustHandles="1" noChangeArrowheads="1" noChangeShapeType="1" noTextEdit="1"/>
                </p:cNvSpPr>
                <p:nvPr/>
              </p:nvSpPr>
              <p:spPr>
                <a:xfrm>
                  <a:off x="9359995" y="3534780"/>
                  <a:ext cx="467820" cy="369332"/>
                </a:xfrm>
                <a:prstGeom prst="rect">
                  <a:avLst/>
                </a:prstGeom>
                <a:blipFill>
                  <a:blip r:embed="rId5"/>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4598BAB7-7B8F-4491-710B-17685840C930}"/>
                </a:ext>
              </a:extLst>
            </p:cNvPr>
            <p:cNvSpPr txBox="1"/>
            <p:nvPr/>
          </p:nvSpPr>
          <p:spPr>
            <a:xfrm>
              <a:off x="8883012" y="3919791"/>
              <a:ext cx="337590" cy="369332"/>
            </a:xfrm>
            <a:prstGeom prst="rect">
              <a:avLst/>
            </a:prstGeom>
            <a:noFill/>
          </p:spPr>
          <p:txBody>
            <a:bodyPr wrap="square" rtlCol="0">
              <a:spAutoFit/>
            </a:bodyPr>
            <a:lstStyle/>
            <a:p>
              <a:r>
                <a:rPr lang="en-US" b="1" dirty="0">
                  <a:solidFill>
                    <a:schemeClr val="accent6"/>
                  </a:solidFill>
                </a:rPr>
                <a:t>1</a:t>
              </a:r>
            </a:p>
          </p:txBody>
        </p:sp>
        <p:sp>
          <p:nvSpPr>
            <p:cNvPr id="14" name="TextBox 13">
              <a:extLst>
                <a:ext uri="{FF2B5EF4-FFF2-40B4-BE49-F238E27FC236}">
                  <a16:creationId xmlns:a16="http://schemas.microsoft.com/office/drawing/2014/main" id="{2F79FBE0-05F9-D363-EC24-56B77587AC6C}"/>
                </a:ext>
              </a:extLst>
            </p:cNvPr>
            <p:cNvSpPr txBox="1"/>
            <p:nvPr/>
          </p:nvSpPr>
          <p:spPr>
            <a:xfrm>
              <a:off x="9328690" y="3915376"/>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12D88DA-5995-1B76-B984-EE906D3E99A1}"/>
                    </a:ext>
                  </a:extLst>
                </p:cNvPr>
                <p:cNvSpPr txBox="1"/>
                <p:nvPr/>
              </p:nvSpPr>
              <p:spPr>
                <a:xfrm>
                  <a:off x="9385979" y="4740540"/>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5" name="TextBox 14">
                  <a:extLst>
                    <a:ext uri="{FF2B5EF4-FFF2-40B4-BE49-F238E27FC236}">
                      <a16:creationId xmlns:a16="http://schemas.microsoft.com/office/drawing/2014/main" id="{012D88DA-5995-1B76-B984-EE906D3E99A1}"/>
                    </a:ext>
                  </a:extLst>
                </p:cNvPr>
                <p:cNvSpPr txBox="1">
                  <a:spLocks noRot="1" noChangeAspect="1" noMove="1" noResize="1" noEditPoints="1" noAdjustHandles="1" noChangeArrowheads="1" noChangeShapeType="1" noTextEdit="1"/>
                </p:cNvSpPr>
                <p:nvPr/>
              </p:nvSpPr>
              <p:spPr>
                <a:xfrm>
                  <a:off x="9385979" y="4740540"/>
                  <a:ext cx="473142"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728E7AB-58CA-B48D-374C-E56848F110BF}"/>
                    </a:ext>
                  </a:extLst>
                </p:cNvPr>
                <p:cNvSpPr txBox="1"/>
                <p:nvPr/>
              </p:nvSpPr>
              <p:spPr>
                <a:xfrm>
                  <a:off x="11129957" y="4129394"/>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E728E7AB-58CA-B48D-374C-E56848F110BF}"/>
                    </a:ext>
                  </a:extLst>
                </p:cNvPr>
                <p:cNvSpPr txBox="1">
                  <a:spLocks noRot="1" noChangeAspect="1" noMove="1" noResize="1" noEditPoints="1" noAdjustHandles="1" noChangeArrowheads="1" noChangeShapeType="1" noTextEdit="1"/>
                </p:cNvSpPr>
                <p:nvPr/>
              </p:nvSpPr>
              <p:spPr>
                <a:xfrm>
                  <a:off x="11129957" y="4129394"/>
                  <a:ext cx="473142" cy="369332"/>
                </a:xfrm>
                <a:prstGeom prst="rect">
                  <a:avLst/>
                </a:prstGeom>
                <a:blipFill>
                  <a:blip r:embed="rId7"/>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CDC78E7F-2889-BBBB-6594-F5F76AAED494}"/>
                </a:ext>
              </a:extLst>
            </p:cNvPr>
            <p:cNvSpPr txBox="1"/>
            <p:nvPr/>
          </p:nvSpPr>
          <p:spPr>
            <a:xfrm>
              <a:off x="9926030" y="4639962"/>
              <a:ext cx="467820" cy="369332"/>
            </a:xfrm>
            <a:prstGeom prst="rect">
              <a:avLst/>
            </a:prstGeom>
            <a:noFill/>
          </p:spPr>
          <p:txBody>
            <a:bodyPr wrap="square" rtlCol="0">
              <a:spAutoFit/>
            </a:bodyPr>
            <a:lstStyle/>
            <a:p>
              <a:r>
                <a:rPr lang="en-US" b="1" dirty="0">
                  <a:solidFill>
                    <a:schemeClr val="accent6"/>
                  </a:solidFill>
                </a:rPr>
                <a:t>.5</a:t>
              </a:r>
            </a:p>
          </p:txBody>
        </p:sp>
        <p:sp>
          <p:nvSpPr>
            <p:cNvPr id="19" name="TextBox 18">
              <a:extLst>
                <a:ext uri="{FF2B5EF4-FFF2-40B4-BE49-F238E27FC236}">
                  <a16:creationId xmlns:a16="http://schemas.microsoft.com/office/drawing/2014/main" id="{909FE6A3-F9D3-8826-20CC-1D085636F0C8}"/>
                </a:ext>
              </a:extLst>
            </p:cNvPr>
            <p:cNvSpPr txBox="1"/>
            <p:nvPr/>
          </p:nvSpPr>
          <p:spPr>
            <a:xfrm>
              <a:off x="10592557" y="3967290"/>
              <a:ext cx="467819" cy="369332"/>
            </a:xfrm>
            <a:prstGeom prst="rect">
              <a:avLst/>
            </a:prstGeom>
            <a:noFill/>
          </p:spPr>
          <p:txBody>
            <a:bodyPr wrap="square" rtlCol="0">
              <a:spAutoFit/>
            </a:bodyPr>
            <a:lstStyle/>
            <a:p>
              <a:r>
                <a:rPr lang="en-US" b="1" dirty="0">
                  <a:solidFill>
                    <a:schemeClr val="accent6"/>
                  </a:solidFill>
                </a:rPr>
                <a:t>.5</a:t>
              </a:r>
            </a:p>
          </p:txBody>
        </p:sp>
        <p:sp>
          <p:nvSpPr>
            <p:cNvPr id="21" name="TextBox 20">
              <a:extLst>
                <a:ext uri="{FF2B5EF4-FFF2-40B4-BE49-F238E27FC236}">
                  <a16:creationId xmlns:a16="http://schemas.microsoft.com/office/drawing/2014/main" id="{D859986F-56F6-E7AA-6121-DC6CA479BD2B}"/>
                </a:ext>
              </a:extLst>
            </p:cNvPr>
            <p:cNvSpPr txBox="1"/>
            <p:nvPr/>
          </p:nvSpPr>
          <p:spPr>
            <a:xfrm>
              <a:off x="11064140" y="3882962"/>
              <a:ext cx="530431" cy="369332"/>
            </a:xfrm>
            <a:prstGeom prst="rect">
              <a:avLst/>
            </a:prstGeom>
            <a:noFill/>
          </p:spPr>
          <p:txBody>
            <a:bodyPr wrap="square" rtlCol="0">
              <a:spAutoFit/>
            </a:bodyPr>
            <a:lstStyle/>
            <a:p>
              <a:r>
                <a:rPr lang="en-US" b="1" dirty="0">
                  <a:solidFill>
                    <a:schemeClr val="accent2"/>
                  </a:solidFill>
                </a:rPr>
                <a:t>10</a:t>
              </a:r>
            </a:p>
          </p:txBody>
        </p:sp>
        <p:sp>
          <p:nvSpPr>
            <p:cNvPr id="22" name="TextBox 21">
              <a:extLst>
                <a:ext uri="{FF2B5EF4-FFF2-40B4-BE49-F238E27FC236}">
                  <a16:creationId xmlns:a16="http://schemas.microsoft.com/office/drawing/2014/main" id="{6823E923-B199-DF64-97DF-082F2057A1BD}"/>
                </a:ext>
              </a:extLst>
            </p:cNvPr>
            <p:cNvSpPr txBox="1"/>
            <p:nvPr/>
          </p:nvSpPr>
          <p:spPr>
            <a:xfrm>
              <a:off x="9412654" y="4432827"/>
              <a:ext cx="530431" cy="369332"/>
            </a:xfrm>
            <a:prstGeom prst="rect">
              <a:avLst/>
            </a:prstGeom>
            <a:noFill/>
          </p:spPr>
          <p:txBody>
            <a:bodyPr wrap="square" rtlCol="0">
              <a:spAutoFit/>
            </a:bodyPr>
            <a:lstStyle/>
            <a:p>
              <a:r>
                <a:rPr lang="en-US" b="1" dirty="0">
                  <a:solidFill>
                    <a:schemeClr val="accent2"/>
                  </a:solidFill>
                </a:rPr>
                <a:t>-5</a:t>
              </a:r>
            </a:p>
          </p:txBody>
        </p:sp>
        <p:sp>
          <p:nvSpPr>
            <p:cNvPr id="27" name="Rectangle 26">
              <a:extLst>
                <a:ext uri="{FF2B5EF4-FFF2-40B4-BE49-F238E27FC236}">
                  <a16:creationId xmlns:a16="http://schemas.microsoft.com/office/drawing/2014/main" id="{74AD7A46-8B47-78C5-7ECE-F861E2C51351}"/>
                </a:ext>
              </a:extLst>
            </p:cNvPr>
            <p:cNvSpPr/>
            <p:nvPr/>
          </p:nvSpPr>
          <p:spPr>
            <a:xfrm>
              <a:off x="8077200" y="1981200"/>
              <a:ext cx="3567272" cy="3352800"/>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Rectangle 28">
                  <a:extLst>
                    <a:ext uri="{FF2B5EF4-FFF2-40B4-BE49-F238E27FC236}">
                      <a16:creationId xmlns:a16="http://schemas.microsoft.com/office/drawing/2014/main" id="{C9E20AE2-EFFA-EC59-3D4F-453682841FAE}"/>
                    </a:ext>
                  </a:extLst>
                </p:cNvPr>
                <p:cNvSpPr/>
                <p:nvPr/>
              </p:nvSpPr>
              <p:spPr>
                <a:xfrm>
                  <a:off x="8372961" y="217615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1</m:t>
                            </m:r>
                          </m:sub>
                        </m:sSub>
                      </m:oMath>
                    </m:oMathPara>
                  </a14:m>
                  <a:endParaRPr lang="en-US" dirty="0"/>
                </a:p>
              </p:txBody>
            </p:sp>
          </mc:Choice>
          <mc:Fallback xmlns="">
            <p:sp>
              <p:nvSpPr>
                <p:cNvPr id="29" name="Rectangle 28">
                  <a:extLst>
                    <a:ext uri="{FF2B5EF4-FFF2-40B4-BE49-F238E27FC236}">
                      <a16:creationId xmlns:a16="http://schemas.microsoft.com/office/drawing/2014/main" id="{C9E20AE2-EFFA-EC59-3D4F-453682841FAE}"/>
                    </a:ext>
                  </a:extLst>
                </p:cNvPr>
                <p:cNvSpPr>
                  <a:spLocks noRot="1" noChangeAspect="1" noMove="1" noResize="1" noEditPoints="1" noAdjustHandles="1" noChangeArrowheads="1" noChangeShapeType="1" noTextEdit="1"/>
                </p:cNvSpPr>
                <p:nvPr/>
              </p:nvSpPr>
              <p:spPr>
                <a:xfrm>
                  <a:off x="8372961" y="2176159"/>
                  <a:ext cx="381000" cy="40716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B227280B-7A14-34FC-DE19-46AE3E0DB01D}"/>
                    </a:ext>
                  </a:extLst>
                </p:cNvPr>
                <p:cNvSpPr/>
                <p:nvPr/>
              </p:nvSpPr>
              <p:spPr>
                <a:xfrm>
                  <a:off x="9459323" y="2189535"/>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2</m:t>
                            </m:r>
                          </m:sub>
                        </m:sSub>
                      </m:oMath>
                    </m:oMathPara>
                  </a14:m>
                  <a:endParaRPr lang="en-US" dirty="0"/>
                </a:p>
              </p:txBody>
            </p:sp>
          </mc:Choice>
          <mc:Fallback xmlns="">
            <p:sp>
              <p:nvSpPr>
                <p:cNvPr id="30" name="Rectangle 29">
                  <a:extLst>
                    <a:ext uri="{FF2B5EF4-FFF2-40B4-BE49-F238E27FC236}">
                      <a16:creationId xmlns:a16="http://schemas.microsoft.com/office/drawing/2014/main" id="{B227280B-7A14-34FC-DE19-46AE3E0DB01D}"/>
                    </a:ext>
                  </a:extLst>
                </p:cNvPr>
                <p:cNvSpPr>
                  <a:spLocks noRot="1" noChangeAspect="1" noMove="1" noResize="1" noEditPoints="1" noAdjustHandles="1" noChangeArrowheads="1" noChangeShapeType="1" noTextEdit="1"/>
                </p:cNvSpPr>
                <p:nvPr/>
              </p:nvSpPr>
              <p:spPr>
                <a:xfrm>
                  <a:off x="9459323" y="2189535"/>
                  <a:ext cx="381000" cy="40716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Rectangle 31">
                  <a:extLst>
                    <a:ext uri="{FF2B5EF4-FFF2-40B4-BE49-F238E27FC236}">
                      <a16:creationId xmlns:a16="http://schemas.microsoft.com/office/drawing/2014/main" id="{BB6A868F-B491-23FB-7213-3624FBEB57BD}"/>
                    </a:ext>
                  </a:extLst>
                </p:cNvPr>
                <p:cNvSpPr/>
                <p:nvPr/>
              </p:nvSpPr>
              <p:spPr>
                <a:xfrm>
                  <a:off x="10564223" y="217914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3</m:t>
                            </m:r>
                          </m:sub>
                        </m:sSub>
                      </m:oMath>
                    </m:oMathPara>
                  </a14:m>
                  <a:endParaRPr lang="en-US" dirty="0"/>
                </a:p>
              </p:txBody>
            </p:sp>
          </mc:Choice>
          <mc:Fallback xmlns="">
            <p:sp>
              <p:nvSpPr>
                <p:cNvPr id="32" name="Rectangle 31">
                  <a:extLst>
                    <a:ext uri="{FF2B5EF4-FFF2-40B4-BE49-F238E27FC236}">
                      <a16:creationId xmlns:a16="http://schemas.microsoft.com/office/drawing/2014/main" id="{BB6A868F-B491-23FB-7213-3624FBEB57BD}"/>
                    </a:ext>
                  </a:extLst>
                </p:cNvPr>
                <p:cNvSpPr>
                  <a:spLocks noRot="1" noChangeAspect="1" noMove="1" noResize="1" noEditPoints="1" noAdjustHandles="1" noChangeArrowheads="1" noChangeShapeType="1" noTextEdit="1"/>
                </p:cNvSpPr>
                <p:nvPr/>
              </p:nvSpPr>
              <p:spPr>
                <a:xfrm>
                  <a:off x="10564223" y="2179149"/>
                  <a:ext cx="381000" cy="407160"/>
                </a:xfrm>
                <a:prstGeom prst="rect">
                  <a:avLst/>
                </a:prstGeom>
                <a:blipFill>
                  <a:blip r:embed="rId10"/>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A0987E71-283E-B26A-FB0A-73ACCEBF4E2C}"/>
                </a:ext>
              </a:extLst>
            </p:cNvPr>
            <p:cNvCxnSpPr>
              <a:stCxn id="5" idx="0"/>
              <a:endCxn id="29" idx="2"/>
            </p:cNvCxnSpPr>
            <p:nvPr/>
          </p:nvCxnSpPr>
          <p:spPr>
            <a:xfrm flipH="1" flipV="1">
              <a:off x="8563461" y="2583319"/>
              <a:ext cx="21767" cy="15591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5" name="Straight Arrow Connector 34">
              <a:extLst>
                <a:ext uri="{FF2B5EF4-FFF2-40B4-BE49-F238E27FC236}">
                  <a16:creationId xmlns:a16="http://schemas.microsoft.com/office/drawing/2014/main" id="{E9D073A8-9796-6097-1EAA-132BE7A115E5}"/>
                </a:ext>
              </a:extLst>
            </p:cNvPr>
            <p:cNvCxnSpPr>
              <a:cxnSpLocks/>
              <a:stCxn id="5" idx="0"/>
              <a:endCxn id="30" idx="2"/>
            </p:cNvCxnSpPr>
            <p:nvPr/>
          </p:nvCxnSpPr>
          <p:spPr>
            <a:xfrm flipV="1">
              <a:off x="8585228" y="2596695"/>
              <a:ext cx="1064595" cy="154574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8" name="Straight Arrow Connector 37">
              <a:extLst>
                <a:ext uri="{FF2B5EF4-FFF2-40B4-BE49-F238E27FC236}">
                  <a16:creationId xmlns:a16="http://schemas.microsoft.com/office/drawing/2014/main" id="{2FC6168A-8D68-EE87-F04E-32E9FC05F984}"/>
                </a:ext>
              </a:extLst>
            </p:cNvPr>
            <p:cNvCxnSpPr>
              <a:cxnSpLocks/>
              <a:stCxn id="5" idx="0"/>
              <a:endCxn id="32" idx="2"/>
            </p:cNvCxnSpPr>
            <p:nvPr/>
          </p:nvCxnSpPr>
          <p:spPr>
            <a:xfrm flipV="1">
              <a:off x="8585228" y="2586309"/>
              <a:ext cx="2169495" cy="155612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1" name="Straight Arrow Connector 40">
              <a:extLst>
                <a:ext uri="{FF2B5EF4-FFF2-40B4-BE49-F238E27FC236}">
                  <a16:creationId xmlns:a16="http://schemas.microsoft.com/office/drawing/2014/main" id="{62F1F702-3797-15F5-AD76-200AF553C90C}"/>
                </a:ext>
              </a:extLst>
            </p:cNvPr>
            <p:cNvCxnSpPr>
              <a:cxnSpLocks/>
              <a:stCxn id="6" idx="0"/>
              <a:endCxn id="29" idx="2"/>
            </p:cNvCxnSpPr>
            <p:nvPr/>
          </p:nvCxnSpPr>
          <p:spPr>
            <a:xfrm flipH="1" flipV="1">
              <a:off x="8563461" y="2583319"/>
              <a:ext cx="1926767" cy="154850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3" name="Straight Arrow Connector 42">
              <a:extLst>
                <a:ext uri="{FF2B5EF4-FFF2-40B4-BE49-F238E27FC236}">
                  <a16:creationId xmlns:a16="http://schemas.microsoft.com/office/drawing/2014/main" id="{FE91B075-2E51-1932-32F7-8C5290E80E9A}"/>
                </a:ext>
              </a:extLst>
            </p:cNvPr>
            <p:cNvCxnSpPr>
              <a:cxnSpLocks/>
              <a:stCxn id="6" idx="0"/>
              <a:endCxn id="32" idx="2"/>
            </p:cNvCxnSpPr>
            <p:nvPr/>
          </p:nvCxnSpPr>
          <p:spPr>
            <a:xfrm flipV="1">
              <a:off x="10490228" y="2586309"/>
              <a:ext cx="264495" cy="15455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5" name="Straight Arrow Connector 44">
              <a:extLst>
                <a:ext uri="{FF2B5EF4-FFF2-40B4-BE49-F238E27FC236}">
                  <a16:creationId xmlns:a16="http://schemas.microsoft.com/office/drawing/2014/main" id="{B79B15C1-7939-FA8C-5783-24E157CDAEE8}"/>
                </a:ext>
              </a:extLst>
            </p:cNvPr>
            <p:cNvCxnSpPr>
              <a:cxnSpLocks/>
              <a:stCxn id="6" idx="0"/>
              <a:endCxn id="30" idx="2"/>
            </p:cNvCxnSpPr>
            <p:nvPr/>
          </p:nvCxnSpPr>
          <p:spPr>
            <a:xfrm flipH="1" flipV="1">
              <a:off x="9649823" y="2596695"/>
              <a:ext cx="840405" cy="153513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DEF8DC2-D3F5-A6E5-4D02-E2399332B216}"/>
                    </a:ext>
                  </a:extLst>
                </p:cNvPr>
                <p:cNvSpPr txBox="1"/>
                <p:nvPr/>
              </p:nvSpPr>
              <p:spPr>
                <a:xfrm>
                  <a:off x="10560955" y="2780495"/>
                  <a:ext cx="1113900" cy="738664"/>
                </a:xfrm>
                <a:prstGeom prst="rect">
                  <a:avLst/>
                </a:prstGeom>
                <a:noFill/>
              </p:spPr>
              <p:txBody>
                <a:bodyPr wrap="square" rtlCol="0">
                  <a:spAutoFit/>
                </a:bodyPr>
                <a:lstStyle/>
                <a:p>
                  <a:pPr algn="ctr"/>
                  <a:r>
                    <a:rPr lang="en-US" sz="1400" dirty="0">
                      <a:solidFill>
                        <a:schemeClr val="accent5"/>
                      </a:solidFill>
                    </a:rPr>
                    <a:t>+ Sensor model: </a:t>
                  </a:r>
                  <a14:m>
                    <m:oMath xmlns:m="http://schemas.openxmlformats.org/officeDocument/2006/math">
                      <m:r>
                        <a:rPr lang="en-US" sz="1400" i="1" dirty="0" smtClean="0">
                          <a:solidFill>
                            <a:schemeClr val="accent5"/>
                          </a:solidFill>
                          <a:latin typeface="Cambria Math" panose="02040503050406030204" pitchFamily="18" charset="0"/>
                        </a:rPr>
                        <m:t>𝑃</m:t>
                      </m:r>
                      <m:d>
                        <m:dPr>
                          <m:endChr m:val="|"/>
                          <m:ctrlPr>
                            <a:rPr lang="en-US" sz="1400" i="1" dirty="0" err="1" smtClean="0">
                              <a:solidFill>
                                <a:schemeClr val="accent5"/>
                              </a:solidFill>
                              <a:latin typeface="Cambria Math" panose="02040503050406030204" pitchFamily="18" charset="0"/>
                            </a:rPr>
                          </m:ctrlPr>
                        </m:dPr>
                        <m:e>
                          <m:r>
                            <a:rPr lang="en-US" sz="1400" i="1" dirty="0" err="1" smtClean="0">
                              <a:solidFill>
                                <a:schemeClr val="accent5"/>
                              </a:solidFill>
                              <a:latin typeface="Cambria Math" panose="02040503050406030204" pitchFamily="18" charset="0"/>
                            </a:rPr>
                            <m:t>𝑜</m:t>
                          </m:r>
                        </m:e>
                      </m:d>
                      <m:r>
                        <a:rPr lang="en-US" sz="1400" i="1" dirty="0" err="1" smtClean="0">
                          <a:solidFill>
                            <a:schemeClr val="accent5"/>
                          </a:solidFill>
                          <a:latin typeface="Cambria Math" panose="02040503050406030204" pitchFamily="18" charset="0"/>
                        </a:rPr>
                        <m:t>𝑠</m:t>
                      </m:r>
                      <m:r>
                        <a:rPr lang="en-US" sz="1400" i="1" dirty="0" smtClean="0">
                          <a:solidFill>
                            <a:schemeClr val="accent5"/>
                          </a:solidFill>
                          <a:latin typeface="Cambria Math" panose="02040503050406030204" pitchFamily="18" charset="0"/>
                        </a:rPr>
                        <m:t>)</m:t>
                      </m:r>
                    </m:oMath>
                  </a14:m>
                  <a:endParaRPr lang="en-US" sz="1400" dirty="0">
                    <a:solidFill>
                      <a:schemeClr val="accent5"/>
                    </a:solidFill>
                  </a:endParaRPr>
                </a:p>
              </p:txBody>
            </p:sp>
          </mc:Choice>
          <mc:Fallback xmlns="">
            <p:sp>
              <p:nvSpPr>
                <p:cNvPr id="57" name="TextBox 56">
                  <a:extLst>
                    <a:ext uri="{FF2B5EF4-FFF2-40B4-BE49-F238E27FC236}">
                      <a16:creationId xmlns:a16="http://schemas.microsoft.com/office/drawing/2014/main" id="{7DEF8DC2-D3F5-A6E5-4D02-E2399332B216}"/>
                    </a:ext>
                  </a:extLst>
                </p:cNvPr>
                <p:cNvSpPr txBox="1">
                  <a:spLocks noRot="1" noChangeAspect="1" noMove="1" noResize="1" noEditPoints="1" noAdjustHandles="1" noChangeArrowheads="1" noChangeShapeType="1" noTextEdit="1"/>
                </p:cNvSpPr>
                <p:nvPr/>
              </p:nvSpPr>
              <p:spPr>
                <a:xfrm>
                  <a:off x="10560955" y="2780495"/>
                  <a:ext cx="1113900" cy="738664"/>
                </a:xfrm>
                <a:prstGeom prst="rect">
                  <a:avLst/>
                </a:prstGeom>
                <a:blipFill>
                  <a:blip r:embed="rId11"/>
                  <a:stretch>
                    <a:fillRect t="-1653" b="-2479"/>
                  </a:stretch>
                </a:blipFill>
              </p:spPr>
              <p:txBody>
                <a:bodyPr/>
                <a:lstStyle/>
                <a:p>
                  <a:r>
                    <a:rPr lang="en-US">
                      <a:noFill/>
                    </a:rPr>
                    <a:t> </a:t>
                  </a:r>
                </a:p>
              </p:txBody>
            </p:sp>
          </mc:Fallback>
        </mc:AlternateContent>
      </p:grpSp>
      <p:sp>
        <p:nvSpPr>
          <p:cNvPr id="2" name="Speech Bubble: Rectangle with Corners Rounded 1">
            <a:extLst>
              <a:ext uri="{FF2B5EF4-FFF2-40B4-BE49-F238E27FC236}">
                <a16:creationId xmlns:a16="http://schemas.microsoft.com/office/drawing/2014/main" id="{DEC9BFB8-A0C9-D841-78ED-4A8EAD8716FF}"/>
              </a:ext>
            </a:extLst>
          </p:cNvPr>
          <p:cNvSpPr/>
          <p:nvPr/>
        </p:nvSpPr>
        <p:spPr>
          <a:xfrm>
            <a:off x="8194699" y="5413021"/>
            <a:ext cx="3628472" cy="759072"/>
          </a:xfrm>
          <a:prstGeom prst="wedgeRoundRectCallout">
            <a:avLst>
              <a:gd name="adj1" fmla="val -32377"/>
              <a:gd name="adj2" fmla="val -176928"/>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The agent knows the transition model and the sensor model, but is cannot observe what stat it the environment is in.</a:t>
            </a:r>
          </a:p>
        </p:txBody>
      </p:sp>
    </p:spTree>
    <p:extLst>
      <p:ext uri="{BB962C8B-B14F-4D97-AF65-F5344CB8AC3E}">
        <p14:creationId xmlns:p14="http://schemas.microsoft.com/office/powerpoint/2010/main" val="24893277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fontScale="92500" lnSpcReduction="2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lvl="1"/>
                <a:r>
                  <a:rPr lang="en-US" sz="1600" b="1" dirty="0"/>
                  <a:t>Information state </a:t>
                </a:r>
                <a:r>
                  <a:rPr lang="en-US" sz="1600" dirty="0"/>
                  <a:t>= </a:t>
                </a:r>
                <a:r>
                  <a:rPr lang="en-US" sz="1600" b="1" dirty="0"/>
                  <a:t>Markov property </a:t>
                </a:r>
                <a:r>
                  <a:rPr lang="en-US" sz="1600" dirty="0"/>
                  <a:t>for states</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b="1" dirty="0"/>
                  <a:t>Recursive relationship </a:t>
                </a:r>
                <a:r>
                  <a:rPr lang="en-US" sz="1600" dirty="0"/>
                  <a:t>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532" r="-1463"/>
                </a:stretch>
              </a:blipFill>
            </p:spPr>
            <p:txBody>
              <a:bodyPr/>
              <a:lstStyle/>
              <a:p>
                <a:r>
                  <a:rPr lang="en-US">
                    <a:noFill/>
                  </a:rPr>
                  <a:t> </a:t>
                </a:r>
              </a:p>
            </p:txBody>
          </p:sp>
        </mc:Fallback>
      </mc:AlternateContent>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18830</TotalTime>
  <Words>4506</Words>
  <Application>Microsoft Office PowerPoint</Application>
  <PresentationFormat>Widescreen</PresentationFormat>
  <Paragraphs>704</Paragraphs>
  <Slides>36</Slides>
  <Notes>3</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vt:i4>
      </vt:variant>
    </vt:vector>
  </HeadingPairs>
  <TitlesOfParts>
    <vt:vector size="44"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Topics of this Course</vt:lpstr>
      <vt:lpstr>Summary of Notation</vt:lpstr>
      <vt:lpstr>Finite Markov Decision Processes</vt:lpstr>
      <vt:lpstr>The Agent–Environment Interface</vt:lpstr>
      <vt:lpstr>State Sequences: The Markov Process</vt:lpstr>
      <vt:lpstr>Markov Decision Process (MDP)</vt:lpstr>
      <vt:lpstr>Finite MDP</vt:lpstr>
      <vt:lpstr>Transition and Reward Functions</vt:lpstr>
      <vt:lpstr>Alternative Representations of a Finite MDP</vt:lpstr>
      <vt:lpstr>Example: Mobile Robot MDP</vt:lpstr>
      <vt:lpstr>Exercise: 3x4 Grid World</vt:lpstr>
      <vt:lpstr>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Value Function Estimation using Monte Carlo Methods</vt:lpstr>
      <vt:lpstr>The Optimal Policy</vt:lpstr>
      <vt:lpstr>Code…</vt:lpstr>
      <vt:lpstr>The Bellman Equations</vt:lpstr>
      <vt:lpstr>Bellman Expectation Equations</vt:lpstr>
      <vt:lpstr>Backup Diagrams: Notation</vt:lpstr>
      <vt:lpstr>Bellman Equation as a Backup Diagram</vt:lpstr>
      <vt:lpstr>Bellman Optimality Equations</vt:lpstr>
      <vt:lpstr>Solving the Bellman Optimality Equations</vt:lpstr>
      <vt:lpstr>Relationship between Value Functions and Policies</vt:lpstr>
      <vt:lpstr>Related Models</vt:lpstr>
      <vt:lpstr>Learning With an MDP vs. Goal-based Agent </vt:lpstr>
      <vt:lpstr>Related Models</vt:lpstr>
      <vt:lpstr>Partially Observable Markov Decision Process (POMDP)</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146</cp:revision>
  <dcterms:created xsi:type="dcterms:W3CDTF">2025-09-08T14:44:49Z</dcterms:created>
  <dcterms:modified xsi:type="dcterms:W3CDTF">2026-09-04T13:53:18Z</dcterms:modified>
</cp:coreProperties>
</file>