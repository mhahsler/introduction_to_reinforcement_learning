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1" r:id="rId20"/>
    <p:sldId id="362" r:id="rId21"/>
    <p:sldId id="385" r:id="rId22"/>
    <p:sldId id="386" r:id="rId23"/>
    <p:sldId id="384" r:id="rId24"/>
    <p:sldId id="364" r:id="rId25"/>
    <p:sldId id="365" r:id="rId26"/>
    <p:sldId id="366" r:id="rId27"/>
    <p:sldId id="477" r:id="rId28"/>
    <p:sldId id="36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2"/>
            <p14:sldId id="385"/>
            <p14:sldId id="386"/>
          </p14:sldIdLst>
        </p14:section>
        <p14:section name="Optimal Solutions" id="{DE685EBE-7543-4C80-B6DE-E26C725CCD32}">
          <p14:sldIdLst>
            <p14:sldId id="384"/>
            <p14:sldId id="364"/>
            <p14:sldId id="365"/>
            <p14:sldId id="366"/>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2/1/2026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90.png"/></Relationships>
</file>

<file path=ppt/slides/_rels/slide19.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43.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44.png"/><Relationship Id="rId5" Type="http://schemas.openxmlformats.org/officeDocument/2006/relationships/image" Target="../media/image45.png"/><Relationship Id="rId10" Type="http://schemas.openxmlformats.org/officeDocument/2006/relationships/image" Target="../media/image50.png"/><Relationship Id="rId9"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082666"/>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2"/>
          <a:srcRect l="60759" t="3531" r="13453" b="53102"/>
          <a:stretch/>
        </p:blipFill>
        <p:spPr>
          <a:xfrm>
            <a:off x="10969888" y="3005332"/>
            <a:ext cx="1222112" cy="1148345"/>
          </a:xfrm>
          <a:prstGeom prst="rect">
            <a:avLst/>
          </a:prstGeom>
        </p:spPr>
      </p:pic>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4"/>
                          <a:stretch>
                            <a:fillRect l="-746" t="-1667" r="-229104" b="-513333"/>
                          </a:stretch>
                        </a:blipFill>
                      </a:tcPr>
                    </a:tc>
                    <a:tc>
                      <a:txBody>
                        <a:bodyPr/>
                        <a:lstStyle/>
                        <a:p>
                          <a:endParaRPr lang="en-US"/>
                        </a:p>
                      </a:txBody>
                      <a:tcPr>
                        <a:blipFill>
                          <a:blip r:embed="rId4"/>
                          <a:stretch>
                            <a:fillRect l="-119469" t="-1667" r="-171681" b="-513333"/>
                          </a:stretch>
                        </a:blipFill>
                      </a:tcPr>
                    </a:tc>
                    <a:tc>
                      <a:txBody>
                        <a:bodyPr/>
                        <a:lstStyle/>
                        <a:p>
                          <a:endParaRPr lang="en-US"/>
                        </a:p>
                      </a:txBody>
                      <a:tcPr>
                        <a:blipFill>
                          <a:blip r:embed="rId4"/>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fontScale="90000"/>
          </a:bodyPr>
          <a:lstStyle/>
          <a:p>
            <a:r>
              <a:rPr lang="en-US" dirty="0"/>
              <a:t>Calculating the Value Function: </a:t>
            </a:r>
            <a:br>
              <a:rPr lang="en-US" dirty="0"/>
            </a:br>
            <a:r>
              <a:rPr lang="en-US" dirty="0"/>
              <a:t>The 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3412989"/>
              </a:xfrm>
            </p:spPr>
            <p:txBody>
              <a:bodyPr>
                <a:normAutofit fontScale="850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3412989"/>
              </a:xfrm>
              <a:blipFill>
                <a:blip r:embed="rId2"/>
                <a:stretch>
                  <a:fillRect l="-928" t="-3929"/>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339417" y="4462879"/>
            <a:ext cx="1607442" cy="906055"/>
            <a:chOff x="2355129" y="3175234"/>
            <a:chExt cx="1984328" cy="906055"/>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984328" cy="707886"/>
            </a:xfrm>
            <a:prstGeom prst="rect">
              <a:avLst/>
            </a:prstGeom>
            <a:noFill/>
          </p:spPr>
          <p:txBody>
            <a:bodyPr wrap="square" rtlCol="0">
              <a:spAutoFit/>
            </a:bodyPr>
            <a:lstStyle/>
            <a:p>
              <a:pPr algn="ctr"/>
              <a:r>
                <a:rPr lang="en-US" sz="20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2002971" y="1824926"/>
            <a:ext cx="844731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immediate reward + discounted value of successor state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3386262" y="4641471"/>
            <a:ext cx="3653900" cy="596981"/>
            <a:chOff x="2533297" y="3175234"/>
            <a:chExt cx="1503726" cy="637430"/>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800"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427220"/>
            </a:xfrm>
            <a:prstGeom prst="rect">
              <a:avLst/>
            </a:prstGeom>
            <a:noFill/>
          </p:spPr>
          <p:txBody>
            <a:bodyPr wrap="square" rtlCol="0">
              <a:spAutoFit/>
            </a:bodyPr>
            <a:lstStyle/>
            <a:p>
              <a:pPr algn="ctr"/>
              <a:r>
                <a:rPr lang="en-US" sz="20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752181" y="5115962"/>
            <a:ext cx="1022948" cy="400110"/>
          </a:xfrm>
          <a:prstGeom prst="rect">
            <a:avLst/>
          </a:prstGeom>
          <a:noFill/>
        </p:spPr>
        <p:txBody>
          <a:bodyPr wrap="square" rtlCol="0">
            <a:spAutoFit/>
          </a:bodyPr>
          <a:lstStyle/>
          <a:p>
            <a:r>
              <a:rPr lang="en-US" sz="20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a:cxnSpLocks/>
          </p:cNvCxnSpPr>
          <p:nvPr/>
        </p:nvCxnSpPr>
        <p:spPr>
          <a:xfrm flipV="1">
            <a:off x="7246990" y="4282925"/>
            <a:ext cx="0" cy="7407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5A52E8B-E831-9C1A-0899-C0055BB19178}"/>
                  </a:ext>
                </a:extLst>
              </p:cNvPr>
              <p:cNvSpPr txBox="1"/>
              <p:nvPr/>
            </p:nvSpPr>
            <p:spPr>
              <a:xfrm>
                <a:off x="3114513" y="5741163"/>
                <a:ext cx="6088211" cy="9442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𝜋</m:t>
                          </m:r>
                        </m:sub>
                      </m:sSub>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e>
                      </m:d>
                      <m:r>
                        <m:rPr>
                          <m:aln/>
                        </m:rPr>
                        <a:rPr lang="en-US" sz="1600" b="0" i="1" smtClean="0">
                          <a:latin typeface="Cambria Math" panose="02040503050406030204" pitchFamily="18" charset="0"/>
                          <a:ea typeface="Cambria Math" panose="02040503050406030204" pitchFamily="18" charset="0"/>
                        </a:rPr>
                        <m:t>=</m:t>
                      </m:r>
                      <m:nary>
                        <m:naryPr>
                          <m:chr m:val="∑"/>
                          <m:supHide m:val="on"/>
                          <m:ctrlPr>
                            <a:rPr lang="en-US" sz="1600" b="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𝑎</m:t>
                          </m:r>
                        </m:sub>
                        <m:sup/>
                        <m:e>
                          <m:r>
                            <a:rPr lang="en-US" sz="1600" b="0" i="1" smtClean="0">
                              <a:latin typeface="Cambria Math" panose="02040503050406030204" pitchFamily="18" charset="0"/>
                              <a:ea typeface="Cambria Math" panose="02040503050406030204" pitchFamily="18" charset="0"/>
                            </a:rPr>
                            <m:t>𝜋</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e>
                      </m:nary>
                      <m:nary>
                        <m:naryPr>
                          <m:chr m:val="∑"/>
                          <m:supHide m:val="on"/>
                          <m:ctrlPr>
                            <a:rPr lang="en-US" sz="1600" b="0" i="1" smtClean="0">
                              <a:latin typeface="Cambria Math" panose="02040503050406030204" pitchFamily="18" charset="0"/>
                              <a:ea typeface="Cambria Math" panose="02040503050406030204" pitchFamily="18" charset="0"/>
                            </a:rPr>
                          </m:ctrlPr>
                        </m:naryPr>
                        <m:sub>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sub>
                        <m:sup/>
                        <m:e>
                          <m:r>
                            <a:rPr lang="en-US" sz="1600" b="0" i="1" smtClean="0">
                              <a:latin typeface="Cambria Math" panose="02040503050406030204" pitchFamily="18" charset="0"/>
                              <a:ea typeface="Cambria Math" panose="02040503050406030204" pitchFamily="18" charset="0"/>
                            </a:rPr>
                            <m:t>𝑝</m:t>
                          </m:r>
                          <m:d>
                            <m:dPr>
                              <m:endChr m:val="|"/>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𝑟</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𝛾</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m:t>
                          </m:r>
                        </m:e>
                      </m:nary>
                      <m:r>
                        <a:rPr lang="en-US" sz="1600" b="0" i="1"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for</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all</m:t>
                      </m:r>
                      <m:r>
                        <m:rPr>
                          <m:nor/>
                        </m:rPr>
                        <a:rPr lang="en-US" sz="1600" b="0" i="0"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𝒮</m:t>
                      </m:r>
                    </m:oMath>
                  </m:oMathPara>
                </a14:m>
                <a:br>
                  <a:rPr lang="en-US" sz="1600" dirty="0">
                    <a:ea typeface="Cambria Math" panose="02040503050406030204" pitchFamily="18" charset="0"/>
                  </a:rPr>
                </a:br>
                <a:endParaRPr lang="en-US" sz="1600" dirty="0"/>
              </a:p>
            </p:txBody>
          </p:sp>
        </mc:Choice>
        <mc:Fallback xmlns="">
          <p:sp>
            <p:nvSpPr>
              <p:cNvPr id="10" name="TextBox 9">
                <a:extLst>
                  <a:ext uri="{FF2B5EF4-FFF2-40B4-BE49-F238E27FC236}">
                    <a16:creationId xmlns:a16="http://schemas.microsoft.com/office/drawing/2014/main" id="{D5A52E8B-E831-9C1A-0899-C0055BB19178}"/>
                  </a:ext>
                </a:extLst>
              </p:cNvPr>
              <p:cNvSpPr txBox="1">
                <a:spLocks noRot="1" noChangeAspect="1" noMove="1" noResize="1" noEditPoints="1" noAdjustHandles="1" noChangeArrowheads="1" noChangeShapeType="1" noTextEdit="1"/>
              </p:cNvSpPr>
              <p:nvPr/>
            </p:nvSpPr>
            <p:spPr>
              <a:xfrm>
                <a:off x="3114513" y="5741163"/>
                <a:ext cx="6088211" cy="944297"/>
              </a:xfrm>
              <a:prstGeom prst="rect">
                <a:avLst/>
              </a:prstGeom>
              <a:blipFill>
                <a:blip r:embed="rId4"/>
                <a:stretch>
                  <a:fillRect l="-499" t="-1266"/>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Optimal Policies and Value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70000" lnSpcReduction="20000"/>
              </a:bodyPr>
              <a:lstStyle/>
              <a:p>
                <a:r>
                  <a:rPr lang="en-US" dirty="0"/>
                  <a:t>Value functions define a partial ordering over policies.</a:t>
                </a:r>
                <a:br>
                  <a:rPr lang="en-US" dirty="0"/>
                </a:br>
                <a:r>
                  <a:rPr lang="en-US" dirty="0"/>
                  <a:t>A policy is better if it has larger state values.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the existence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r>
                  <a:rPr lang="en-US" dirty="0"/>
                  <a:t>Since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directly depends on the optimal 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endParaRPr lang="en-US" dirty="0"/>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It is optimal to always choose this best action. </a:t>
                </a: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522" t="-2168" b="-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6017589" y="464441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2856272"/>
            <a:ext cx="3971019" cy="3474727"/>
            <a:chOff x="7744339" y="2856272"/>
            <a:chExt cx="3971019" cy="3474727"/>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5"/>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dirty="0"/>
                  <a:t>The problem can be linearized as a LP using constraints.</a:t>
                </a:r>
              </a:p>
              <a:p>
                <a:pPr marL="0" indent="0">
                  <a:buNone/>
                </a:pPr>
                <a:r>
                  <a:rPr lang="en-US" dirty="0"/>
                  <a:t> </a:t>
                </a:r>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8121989" y="465026"/>
            <a:ext cx="1779939" cy="795738"/>
          </a:xfrm>
          <a:prstGeom prst="wedgeRoundRectCallout">
            <a:avLst>
              <a:gd name="adj1" fmla="val -84754"/>
              <a:gd name="adj2" fmla="val 598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Max is a non-linear operator.</a:t>
            </a:r>
          </a:p>
        </p:txBody>
      </p:sp>
    </p:spTree>
    <p:extLst>
      <p:ext uri="{BB962C8B-B14F-4D97-AF65-F5344CB8AC3E}">
        <p14:creationId xmlns:p14="http://schemas.microsoft.com/office/powerpoint/2010/main" val="2100807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12278</TotalTime>
  <Words>3291</Words>
  <Application>Microsoft Office PowerPoint</Application>
  <PresentationFormat>Widescreen</PresentationFormat>
  <Paragraphs>543</Paragraphs>
  <Slides>28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Calculating the Value Function:  The Bellman (Expectation) Equations</vt:lpstr>
      <vt:lpstr>Backup Diagrams: Notation</vt:lpstr>
      <vt:lpstr>Bellman Equation as a Backup Diagram</vt:lpstr>
      <vt:lpstr>Optimal Policies and  Value Functions</vt:lpstr>
      <vt:lpstr>Optimal Policies and Value Functions</vt:lpstr>
      <vt:lpstr>Bellman Optimality Equations</vt:lpstr>
      <vt:lpstr>Bellman Optimality</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116</cp:revision>
  <dcterms:created xsi:type="dcterms:W3CDTF">2025-09-08T14:44:49Z</dcterms:created>
  <dcterms:modified xsi:type="dcterms:W3CDTF">2026-02-02T15:54:40Z</dcterms:modified>
</cp:coreProperties>
</file>