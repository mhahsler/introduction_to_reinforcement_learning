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3" r:id="rId3"/>
    <p:sldId id="491" r:id="rId4"/>
    <p:sldId id="487" r:id="rId5"/>
    <p:sldId id="479" r:id="rId6"/>
    <p:sldId id="488" r:id="rId7"/>
    <p:sldId id="492" r:id="rId8"/>
    <p:sldId id="483" r:id="rId9"/>
    <p:sldId id="484" r:id="rId10"/>
    <p:sldId id="486" r:id="rId11"/>
    <p:sldId id="494" r:id="rId12"/>
    <p:sldId id="493" r:id="rId13"/>
    <p:sldId id="489" r:id="rId14"/>
    <p:sldId id="485" r:id="rId15"/>
    <p:sldId id="490" r:id="rId16"/>
    <p:sldId id="4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ward Engineering" id="{83286E67-F0F0-421C-8F74-7B93ABA17FBF}">
          <p14:sldIdLst>
            <p14:sldId id="256"/>
            <p14:sldId id="313"/>
          </p14:sldIdLst>
        </p14:section>
        <p14:section name="Problem Types and Reward" id="{F66E34ED-7167-4712-8E0C-29F22A3B0AF6}">
          <p14:sldIdLst>
            <p14:sldId id="491"/>
            <p14:sldId id="487"/>
            <p14:sldId id="479"/>
            <p14:sldId id="488"/>
          </p14:sldIdLst>
        </p14:section>
        <p14:section name="Reward Shaping Techniques" id="{9E4794F5-D0CA-47B0-A389-6AABE29B4971}">
          <p14:sldIdLst>
            <p14:sldId id="492"/>
            <p14:sldId id="483"/>
            <p14:sldId id="484"/>
            <p14:sldId id="486"/>
            <p14:sldId id="494"/>
          </p14:sldIdLst>
        </p14:section>
        <p14:section name="Related Techniques" id="{DD4220DD-3082-42D2-BCED-46D36CEB56B2}">
          <p14:sldIdLst>
            <p14:sldId id="493"/>
            <p14:sldId id="489"/>
            <p14:sldId id="485"/>
            <p14:sldId id="490"/>
            <p14:sldId id="4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94653"/>
  </p:normalViewPr>
  <p:slideViewPr>
    <p:cSldViewPr snapToGrid="0">
      <p:cViewPr varScale="1">
        <p:scale>
          <a:sx n="152" d="100"/>
          <a:sy n="152" d="100"/>
        </p:scale>
        <p:origin x="144" y="104"/>
      </p:cViewPr>
      <p:guideLst/>
    </p:cSldViewPr>
  </p:slideViewPr>
  <p:notesTextViewPr>
    <p:cViewPr>
      <p:scale>
        <a:sx n="1" d="1"/>
        <a:sy n="1" d="1"/>
      </p:scale>
      <p:origin x="0" y="0"/>
    </p:cViewPr>
  </p:notesTextViewPr>
  <p:sorterViewPr>
    <p:cViewPr>
      <p:scale>
        <a:sx n="100" d="100"/>
        <a:sy n="100" d="100"/>
      </p:scale>
      <p:origin x="0" y="-244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DF4AD9-7C31-49A4-B2A0-141140D6B1D8}" type="doc">
      <dgm:prSet loTypeId="urn:microsoft.com/office/officeart/2005/8/layout/pyramid2" loCatId="pyramid" qsTypeId="urn:microsoft.com/office/officeart/2005/8/quickstyle/simple1#1" qsCatId="simple" csTypeId="urn:microsoft.com/office/officeart/2005/8/colors/colorful1#1" csCatId="colorful" phldr="1"/>
      <dgm:spPr/>
      <dgm:t>
        <a:bodyPr/>
        <a:lstStyle/>
        <a:p>
          <a:endParaRPr lang="en-US"/>
        </a:p>
      </dgm:t>
    </dgm:pt>
    <dgm:pt modelId="{3083E58A-BB3D-4ADC-AC75-6076A27DBE7E}">
      <dgm:prSet phldrT="[Text]" phldr="0"/>
      <dgm:spPr/>
      <dgm:t>
        <a:bodyPr/>
        <a:lstStyle/>
        <a:p>
          <a:r>
            <a:rPr lang="en-US" dirty="0"/>
            <a:t>3. Original environment</a:t>
          </a:r>
        </a:p>
      </dgm:t>
    </dgm:pt>
    <dgm:pt modelId="{D02642CC-FCAC-4F38-80E5-B29541E055C2}" type="parTrans" cxnId="{370BDD4A-8B25-4E0E-81A4-84A384634530}">
      <dgm:prSet/>
      <dgm:spPr/>
      <dgm:t>
        <a:bodyPr/>
        <a:lstStyle/>
        <a:p>
          <a:endParaRPr lang="en-US"/>
        </a:p>
      </dgm:t>
    </dgm:pt>
    <dgm:pt modelId="{BD4B3692-20CF-44C7-8019-43569B8B61E1}" type="sibTrans" cxnId="{370BDD4A-8B25-4E0E-81A4-84A384634530}">
      <dgm:prSet/>
      <dgm:spPr/>
      <dgm:t>
        <a:bodyPr/>
        <a:lstStyle/>
        <a:p>
          <a:endParaRPr lang="en-US"/>
        </a:p>
      </dgm:t>
    </dgm:pt>
    <dgm:pt modelId="{2ACF3864-A2CB-4B84-AEF0-0FDA8932ED0E}">
      <dgm:prSet phldrT="[Text]" phldr="0"/>
      <dgm:spPr/>
      <dgm:t>
        <a:bodyPr/>
        <a:lstStyle/>
        <a:p>
          <a:r>
            <a:rPr lang="en-US" dirty="0"/>
            <a:t>2. More complex environment</a:t>
          </a:r>
        </a:p>
      </dgm:t>
    </dgm:pt>
    <dgm:pt modelId="{71B39526-B102-467D-B17C-9F2235649F6D}" type="parTrans" cxnId="{34DEC4E1-89FB-442C-9815-1AB4CE287FD3}">
      <dgm:prSet/>
      <dgm:spPr/>
      <dgm:t>
        <a:bodyPr/>
        <a:lstStyle/>
        <a:p>
          <a:endParaRPr lang="en-US"/>
        </a:p>
      </dgm:t>
    </dgm:pt>
    <dgm:pt modelId="{6B620041-827C-44E0-9558-B1321C85B99D}" type="sibTrans" cxnId="{34DEC4E1-89FB-442C-9815-1AB4CE287FD3}">
      <dgm:prSet/>
      <dgm:spPr/>
      <dgm:t>
        <a:bodyPr/>
        <a:lstStyle/>
        <a:p>
          <a:endParaRPr lang="en-US"/>
        </a:p>
      </dgm:t>
    </dgm:pt>
    <dgm:pt modelId="{470C0445-6EE0-4579-B620-8C41860B8A59}">
      <dgm:prSet phldrT="[Text]" phldr="0"/>
      <dgm:spPr/>
      <dgm:t>
        <a:bodyPr/>
        <a:lstStyle/>
        <a:p>
          <a:r>
            <a:rPr lang="en-US" dirty="0"/>
            <a:t>1. Simplified environment</a:t>
          </a:r>
        </a:p>
      </dgm:t>
    </dgm:pt>
    <dgm:pt modelId="{38695383-E9E7-404B-8D06-23D44C810FAD}" type="parTrans" cxnId="{A80604F4-009E-44A9-949C-73D009041F8B}">
      <dgm:prSet/>
      <dgm:spPr/>
      <dgm:t>
        <a:bodyPr/>
        <a:lstStyle/>
        <a:p>
          <a:endParaRPr lang="en-US"/>
        </a:p>
      </dgm:t>
    </dgm:pt>
    <dgm:pt modelId="{178DC91A-12E8-4DF7-A2C0-7E1A80073FB1}" type="sibTrans" cxnId="{A80604F4-009E-44A9-949C-73D009041F8B}">
      <dgm:prSet/>
      <dgm:spPr/>
      <dgm:t>
        <a:bodyPr/>
        <a:lstStyle/>
        <a:p>
          <a:endParaRPr lang="en-US"/>
        </a:p>
      </dgm:t>
    </dgm:pt>
    <dgm:pt modelId="{395DFFF6-52CD-4AE7-A1F5-D540CB610444}" type="pres">
      <dgm:prSet presAssocID="{A3DF4AD9-7C31-49A4-B2A0-141140D6B1D8}" presName="compositeShape" presStyleCnt="0">
        <dgm:presLayoutVars>
          <dgm:dir/>
          <dgm:resizeHandles/>
        </dgm:presLayoutVars>
      </dgm:prSet>
      <dgm:spPr/>
    </dgm:pt>
    <dgm:pt modelId="{0919E77B-156C-4CD9-B26F-DAE56EFDFE25}" type="pres">
      <dgm:prSet presAssocID="{A3DF4AD9-7C31-49A4-B2A0-141140D6B1D8}" presName="pyramid" presStyleLbl="node1" presStyleIdx="0" presStyleCnt="1"/>
      <dgm:spPr/>
    </dgm:pt>
    <dgm:pt modelId="{808F1B0C-FBA5-4C37-9A83-1FDEE7995E23}" type="pres">
      <dgm:prSet presAssocID="{A3DF4AD9-7C31-49A4-B2A0-141140D6B1D8}" presName="theList" presStyleCnt="0"/>
      <dgm:spPr/>
    </dgm:pt>
    <dgm:pt modelId="{32DCB81C-1914-4F61-97A1-6401CF31CBE8}" type="pres">
      <dgm:prSet presAssocID="{3083E58A-BB3D-4ADC-AC75-6076A27DBE7E}" presName="aNode" presStyleLbl="fgAcc1" presStyleIdx="0" presStyleCnt="3">
        <dgm:presLayoutVars>
          <dgm:bulletEnabled val="1"/>
        </dgm:presLayoutVars>
      </dgm:prSet>
      <dgm:spPr/>
    </dgm:pt>
    <dgm:pt modelId="{4045B858-AB29-4747-A690-32DB1AB2F449}" type="pres">
      <dgm:prSet presAssocID="{3083E58A-BB3D-4ADC-AC75-6076A27DBE7E}" presName="aSpace" presStyleCnt="0"/>
      <dgm:spPr/>
    </dgm:pt>
    <dgm:pt modelId="{04FB584B-B9D8-4838-B269-0EFF2EBA941A}" type="pres">
      <dgm:prSet presAssocID="{2ACF3864-A2CB-4B84-AEF0-0FDA8932ED0E}" presName="aNode" presStyleLbl="fgAcc1" presStyleIdx="1" presStyleCnt="3">
        <dgm:presLayoutVars>
          <dgm:bulletEnabled val="1"/>
        </dgm:presLayoutVars>
      </dgm:prSet>
      <dgm:spPr/>
    </dgm:pt>
    <dgm:pt modelId="{BAFF4F30-D3D0-416E-8F25-BFA5435898F4}" type="pres">
      <dgm:prSet presAssocID="{2ACF3864-A2CB-4B84-AEF0-0FDA8932ED0E}" presName="aSpace" presStyleCnt="0"/>
      <dgm:spPr/>
    </dgm:pt>
    <dgm:pt modelId="{66BD2E2A-9E72-4D10-ABD6-084E59984468}" type="pres">
      <dgm:prSet presAssocID="{470C0445-6EE0-4579-B620-8C41860B8A59}" presName="aNode" presStyleLbl="fgAcc1" presStyleIdx="2" presStyleCnt="3">
        <dgm:presLayoutVars>
          <dgm:bulletEnabled val="1"/>
        </dgm:presLayoutVars>
      </dgm:prSet>
      <dgm:spPr/>
    </dgm:pt>
    <dgm:pt modelId="{A4EC199A-7D4A-4C07-8AAC-0EEC82B4FBEE}" type="pres">
      <dgm:prSet presAssocID="{470C0445-6EE0-4579-B620-8C41860B8A59}" presName="aSpace" presStyleCnt="0"/>
      <dgm:spPr/>
    </dgm:pt>
  </dgm:ptLst>
  <dgm:cxnLst>
    <dgm:cxn modelId="{38E60520-6EF4-494B-ADC1-5B6CBFDFFF8F}" type="presOf" srcId="{3083E58A-BB3D-4ADC-AC75-6076A27DBE7E}" destId="{32DCB81C-1914-4F61-97A1-6401CF31CBE8}" srcOrd="0" destOrd="0" presId="urn:microsoft.com/office/officeart/2005/8/layout/pyramid2"/>
    <dgm:cxn modelId="{370BDD4A-8B25-4E0E-81A4-84A384634530}" srcId="{A3DF4AD9-7C31-49A4-B2A0-141140D6B1D8}" destId="{3083E58A-BB3D-4ADC-AC75-6076A27DBE7E}" srcOrd="0" destOrd="0" parTransId="{D02642CC-FCAC-4F38-80E5-B29541E055C2}" sibTransId="{BD4B3692-20CF-44C7-8019-43569B8B61E1}"/>
    <dgm:cxn modelId="{63748E6B-A949-4B0A-B257-1C02F794F22B}" type="presOf" srcId="{470C0445-6EE0-4579-B620-8C41860B8A59}" destId="{66BD2E2A-9E72-4D10-ABD6-084E59984468}" srcOrd="0" destOrd="0" presId="urn:microsoft.com/office/officeart/2005/8/layout/pyramid2"/>
    <dgm:cxn modelId="{D6A9CB8D-5B97-43CD-B788-10A922FB0348}" type="presOf" srcId="{A3DF4AD9-7C31-49A4-B2A0-141140D6B1D8}" destId="{395DFFF6-52CD-4AE7-A1F5-D540CB610444}" srcOrd="0" destOrd="0" presId="urn:microsoft.com/office/officeart/2005/8/layout/pyramid2"/>
    <dgm:cxn modelId="{EF927FD1-0465-4645-85B6-7612A8CFA473}" type="presOf" srcId="{2ACF3864-A2CB-4B84-AEF0-0FDA8932ED0E}" destId="{04FB584B-B9D8-4838-B269-0EFF2EBA941A}" srcOrd="0" destOrd="0" presId="urn:microsoft.com/office/officeart/2005/8/layout/pyramid2"/>
    <dgm:cxn modelId="{34DEC4E1-89FB-442C-9815-1AB4CE287FD3}" srcId="{A3DF4AD9-7C31-49A4-B2A0-141140D6B1D8}" destId="{2ACF3864-A2CB-4B84-AEF0-0FDA8932ED0E}" srcOrd="1" destOrd="0" parTransId="{71B39526-B102-467D-B17C-9F2235649F6D}" sibTransId="{6B620041-827C-44E0-9558-B1321C85B99D}"/>
    <dgm:cxn modelId="{A80604F4-009E-44A9-949C-73D009041F8B}" srcId="{A3DF4AD9-7C31-49A4-B2A0-141140D6B1D8}" destId="{470C0445-6EE0-4579-B620-8C41860B8A59}" srcOrd="2" destOrd="0" parTransId="{38695383-E9E7-404B-8D06-23D44C810FAD}" sibTransId="{178DC91A-12E8-4DF7-A2C0-7E1A80073FB1}"/>
    <dgm:cxn modelId="{4358B0FF-5D57-4CC6-B1D1-AB4D5CB08A00}" type="presParOf" srcId="{395DFFF6-52CD-4AE7-A1F5-D540CB610444}" destId="{0919E77B-156C-4CD9-B26F-DAE56EFDFE25}" srcOrd="0" destOrd="0" presId="urn:microsoft.com/office/officeart/2005/8/layout/pyramid2"/>
    <dgm:cxn modelId="{A4CB536D-E9B6-4FC3-8D0F-9AB7F8F92EB2}" type="presParOf" srcId="{395DFFF6-52CD-4AE7-A1F5-D540CB610444}" destId="{808F1B0C-FBA5-4C37-9A83-1FDEE7995E23}" srcOrd="1" destOrd="0" presId="urn:microsoft.com/office/officeart/2005/8/layout/pyramid2"/>
    <dgm:cxn modelId="{D6160015-B7A4-474C-8111-8160BAB89329}" type="presParOf" srcId="{808F1B0C-FBA5-4C37-9A83-1FDEE7995E23}" destId="{32DCB81C-1914-4F61-97A1-6401CF31CBE8}" srcOrd="0" destOrd="0" presId="urn:microsoft.com/office/officeart/2005/8/layout/pyramid2"/>
    <dgm:cxn modelId="{85AEBE99-CFEE-438F-9513-06D1A4B586DE}" type="presParOf" srcId="{808F1B0C-FBA5-4C37-9A83-1FDEE7995E23}" destId="{4045B858-AB29-4747-A690-32DB1AB2F449}" srcOrd="1" destOrd="0" presId="urn:microsoft.com/office/officeart/2005/8/layout/pyramid2"/>
    <dgm:cxn modelId="{09FED6D5-DC00-4B95-895D-8581306BB029}" type="presParOf" srcId="{808F1B0C-FBA5-4C37-9A83-1FDEE7995E23}" destId="{04FB584B-B9D8-4838-B269-0EFF2EBA941A}" srcOrd="2" destOrd="0" presId="urn:microsoft.com/office/officeart/2005/8/layout/pyramid2"/>
    <dgm:cxn modelId="{09C02E32-AD57-4407-9A17-B9DBA6AE63C9}" type="presParOf" srcId="{808F1B0C-FBA5-4C37-9A83-1FDEE7995E23}" destId="{BAFF4F30-D3D0-416E-8F25-BFA5435898F4}" srcOrd="3" destOrd="0" presId="urn:microsoft.com/office/officeart/2005/8/layout/pyramid2"/>
    <dgm:cxn modelId="{137ECD9F-A0F0-4EA5-A29B-07B4BB82B47E}" type="presParOf" srcId="{808F1B0C-FBA5-4C37-9A83-1FDEE7995E23}" destId="{66BD2E2A-9E72-4D10-ABD6-084E59984468}" srcOrd="4" destOrd="0" presId="urn:microsoft.com/office/officeart/2005/8/layout/pyramid2"/>
    <dgm:cxn modelId="{15CA9E87-30B1-421F-AC7F-98C9ECC85C6C}" type="presParOf" srcId="{808F1B0C-FBA5-4C37-9A83-1FDEE7995E23}" destId="{A4EC199A-7D4A-4C07-8AAC-0EEC82B4FBEE}"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19E77B-156C-4CD9-B26F-DAE56EFDFE25}">
      <dsp:nvSpPr>
        <dsp:cNvPr id="0" name=""/>
        <dsp:cNvSpPr/>
      </dsp:nvSpPr>
      <dsp:spPr>
        <a:xfrm>
          <a:off x="0" y="0"/>
          <a:ext cx="2254392" cy="4136112"/>
        </a:xfrm>
        <a:prstGeom prst="triangl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DCB81C-1914-4F61-97A1-6401CF31CBE8}">
      <dsp:nvSpPr>
        <dsp:cNvPr id="0" name=""/>
        <dsp:cNvSpPr/>
      </dsp:nvSpPr>
      <dsp:spPr>
        <a:xfrm>
          <a:off x="1127196" y="415832"/>
          <a:ext cx="1465354" cy="979095"/>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3. Original environment</a:t>
          </a:r>
        </a:p>
      </dsp:txBody>
      <dsp:txXfrm>
        <a:off x="1174991" y="463627"/>
        <a:ext cx="1369764" cy="883505"/>
      </dsp:txXfrm>
    </dsp:sp>
    <dsp:sp modelId="{04FB584B-B9D8-4838-B269-0EFF2EBA941A}">
      <dsp:nvSpPr>
        <dsp:cNvPr id="0" name=""/>
        <dsp:cNvSpPr/>
      </dsp:nvSpPr>
      <dsp:spPr>
        <a:xfrm>
          <a:off x="1127196" y="1517314"/>
          <a:ext cx="1465354" cy="979095"/>
        </a:xfrm>
        <a:prstGeom prst="round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 More complex environment</a:t>
          </a:r>
        </a:p>
      </dsp:txBody>
      <dsp:txXfrm>
        <a:off x="1174991" y="1565109"/>
        <a:ext cx="1369764" cy="883505"/>
      </dsp:txXfrm>
    </dsp:sp>
    <dsp:sp modelId="{66BD2E2A-9E72-4D10-ABD6-084E59984468}">
      <dsp:nvSpPr>
        <dsp:cNvPr id="0" name=""/>
        <dsp:cNvSpPr/>
      </dsp:nvSpPr>
      <dsp:spPr>
        <a:xfrm>
          <a:off x="1127196" y="2618797"/>
          <a:ext cx="1465354" cy="979095"/>
        </a:xfrm>
        <a:prstGeom prst="round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 Simplified environment</a:t>
          </a:r>
        </a:p>
      </dsp:txBody>
      <dsp:txXfrm>
        <a:off x="1174991" y="2666592"/>
        <a:ext cx="1369764" cy="883505"/>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2B22A-BE2A-43CB-B312-FF3A0A14567B}"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C5DAAA-78E2-4201-AA65-174BB50391A6}" type="slidenum">
              <a:rPr lang="en-US" smtClean="0"/>
              <a:t>‹#›</a:t>
            </a:fld>
            <a:endParaRPr lang="en-US"/>
          </a:p>
        </p:txBody>
      </p:sp>
    </p:spTree>
    <p:extLst>
      <p:ext uri="{BB962C8B-B14F-4D97-AF65-F5344CB8AC3E}">
        <p14:creationId xmlns:p14="http://schemas.microsoft.com/office/powerpoint/2010/main" val="3324056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3.png"/><Relationship Id="rId7" Type="http://schemas.openxmlformats.org/officeDocument/2006/relationships/image" Target="../media/image42.png"/><Relationship Id="rId12"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5.png"/><Relationship Id="rId5" Type="http://schemas.openxmlformats.org/officeDocument/2006/relationships/image" Target="../media/image40.png"/><Relationship Id="rId10" Type="http://schemas.openxmlformats.org/officeDocument/2006/relationships/image" Target="../media/image120.png"/><Relationship Id="rId9" Type="http://schemas.openxmlformats.org/officeDocument/2006/relationships/image" Target="../media/image44.pn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hyperlink" Target="https://people.eecs.berkeley.edu/~pabbeel/cs287-fa09/readings/NgHaradaRussell-shaping-ICML1999.pdf"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hyperlink" Target="https://arxiv.org/pdf/1705.05363"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michael.hahsler.net/Introduction_to_Reinforcement_Learning/"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s://ai.stanford.edu/~ang/papers/icml00-irl.pdf" TargetMode="Externa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lilianweng.github.io/posts/2020-01-29-curriculum-rl/"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hyperlink" Target="https://ieeexplore.ieee.org/document/9238129"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 uri="{C183D7F6-B498-43B3-948B-1728B52AA6E4}">
                <adec:decorative xmlns:adec="http://schemas.microsoft.com/office/drawing/2017/decorative" val="1"/>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Reward Engineering</a:t>
            </a:r>
            <a:br>
              <a:rPr lang="en-US" sz="4000" dirty="0">
                <a:solidFill>
                  <a:schemeClr val="bg1"/>
                </a:solidFill>
              </a:rPr>
            </a:br>
            <a:r>
              <a:rPr lang="en-US" sz="2800" dirty="0">
                <a:solidFill>
                  <a:schemeClr val="bg1"/>
                </a:solidFill>
              </a:rPr>
              <a:t>Sutton/Barto*</a:t>
            </a:r>
            <a:r>
              <a:rPr lang="en-US" sz="2700" dirty="0">
                <a:solidFill>
                  <a:schemeClr val="bg1"/>
                </a:solidFill>
              </a:rPr>
              <a:t> Chapter 17.4</a:t>
            </a:r>
            <a:br>
              <a:rPr lang="en-US" sz="2700" dirty="0">
                <a:solidFill>
                  <a:schemeClr val="bg1"/>
                </a:solidFill>
              </a:rPr>
            </a:br>
            <a:r>
              <a:rPr lang="en-US" sz="2700" dirty="0">
                <a:solidFill>
                  <a:schemeClr val="bg1"/>
                </a:solidFill>
              </a:rPr>
              <a:t>and other sources</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741" y="198362"/>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546920"/>
            <a:ext cx="5266684" cy="1968214"/>
          </a:xfrm>
        </p:spPr>
        <p:txBody>
          <a:bodyPr>
            <a:normAutofit/>
          </a:bodyPr>
          <a:lstStyle/>
          <a:p>
            <a:pPr algn="l"/>
            <a:r>
              <a:rPr lang="en-US" sz="1700" dirty="0">
                <a:solidFill>
                  <a:schemeClr val="bg1"/>
                </a:solidFill>
              </a:rPr>
              <a:t>Michael Hahsler, SMU</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70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Looking Deeper</a:t>
            </a:r>
          </a:p>
          <a:p>
            <a:pPr lvl="1"/>
            <a:r>
              <a:rPr lang="en-US" dirty="0"/>
              <a:t>Deep Reinforcement Learning</a:t>
            </a:r>
          </a:p>
          <a:p>
            <a:pPr lvl="1"/>
            <a:r>
              <a:rPr lang="en-US" dirty="0"/>
              <a:t>Partial Observability</a:t>
            </a:r>
          </a:p>
          <a:p>
            <a:pPr lvl="1"/>
            <a:r>
              <a:rPr lang="en-US" b="1" dirty="0"/>
              <a:t>Reward Engineering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hoto of a hand holding up a gold medal with the number 1 on a red ribbon.">
            <a:extLst>
              <a:ext uri="{FF2B5EF4-FFF2-40B4-BE49-F238E27FC236}">
                <a16:creationId xmlns:a16="http://schemas.microsoft.com/office/drawing/2014/main" id="{7ED461B9-F4C9-C361-056C-82E59F2C8FE4}"/>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4" name="Title 3">
            <a:extLst>
              <a:ext uri="{FF2B5EF4-FFF2-40B4-BE49-F238E27FC236}">
                <a16:creationId xmlns:a16="http://schemas.microsoft.com/office/drawing/2014/main" id="{67CBAC4B-B71B-1103-A3A0-6A1C55EFA714}"/>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Reward Engineering</a:t>
            </a:r>
          </a:p>
        </p:txBody>
      </p:sp>
      <p:sp>
        <p:nvSpPr>
          <p:cNvPr id="5" name="Text Placeholder 4">
            <a:extLst>
              <a:ext uri="{FF2B5EF4-FFF2-40B4-BE49-F238E27FC236}">
                <a16:creationId xmlns:a16="http://schemas.microsoft.com/office/drawing/2014/main" id="{C2045FC9-860C-296C-9B42-795BCF49DA09}"/>
              </a:ext>
            </a:extLst>
          </p:cNvPr>
          <p:cNvSpPr>
            <a:spLocks noGrp="1"/>
          </p:cNvSpPr>
          <p:nvPr>
            <p:ph type="body" idx="1"/>
          </p:nvPr>
        </p:nvSpPr>
        <p:spPr>
          <a:xfrm>
            <a:off x="6630572" y="4398555"/>
            <a:ext cx="4037428" cy="1098395"/>
          </a:xfrm>
        </p:spPr>
        <p:txBody>
          <a:bodyPr vert="horz" lIns="91440" tIns="45720" rIns="91440" bIns="45720" rtlCol="0">
            <a:normAutofit/>
          </a:bodyPr>
          <a:lstStyle/>
          <a:p>
            <a:pPr algn="ctr"/>
            <a:r>
              <a:rPr lang="en-US" dirty="0">
                <a:solidFill>
                  <a:srgbClr val="FFFFFF"/>
                </a:solidFill>
              </a:rPr>
              <a:t>Defining rewards is the single most important task in RL!</a:t>
            </a:r>
          </a:p>
        </p:txBody>
      </p:sp>
    </p:spTree>
    <p:extLst>
      <p:ext uri="{BB962C8B-B14F-4D97-AF65-F5344CB8AC3E}">
        <p14:creationId xmlns:p14="http://schemas.microsoft.com/office/powerpoint/2010/main" val="298894432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4DCC7-5FCB-199C-8357-4C227D50F426}"/>
              </a:ext>
            </a:extLst>
          </p:cNvPr>
          <p:cNvSpPr>
            <a:spLocks noGrp="1"/>
          </p:cNvSpPr>
          <p:nvPr>
            <p:ph type="title"/>
          </p:nvPr>
        </p:nvSpPr>
        <p:spPr/>
        <p:txBody>
          <a:bodyPr/>
          <a:lstStyle/>
          <a:p>
            <a:r>
              <a:rPr lang="en-US" dirty="0"/>
              <a:t>Types of RL Problems</a:t>
            </a:r>
          </a:p>
        </p:txBody>
      </p:sp>
      <p:sp>
        <p:nvSpPr>
          <p:cNvPr id="33" name="Speech Bubble: Rectangle with Corners Rounded 32">
            <a:extLst>
              <a:ext uri="{FF2B5EF4-FFF2-40B4-BE49-F238E27FC236}">
                <a16:creationId xmlns:a16="http://schemas.microsoft.com/office/drawing/2014/main" id="{F3B39C9D-2F2A-F334-E267-AB662E42B34B}"/>
              </a:ext>
            </a:extLst>
          </p:cNvPr>
          <p:cNvSpPr/>
          <p:nvPr/>
        </p:nvSpPr>
        <p:spPr>
          <a:xfrm>
            <a:off x="7903027" y="766716"/>
            <a:ext cx="2967327" cy="870221"/>
          </a:xfrm>
          <a:prstGeom prst="wedgeRoundRectCallout">
            <a:avLst>
              <a:gd name="adj1" fmla="val -2942"/>
              <a:gd name="adj2" fmla="val 7809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AI</a:t>
            </a:r>
            <a:br>
              <a:rPr lang="en-US" b="1" dirty="0"/>
            </a:br>
            <a:r>
              <a:rPr lang="en-US" sz="1400" dirty="0"/>
              <a:t>High-level decision making. </a:t>
            </a:r>
            <a:br>
              <a:rPr lang="en-US" sz="1400" dirty="0"/>
            </a:br>
            <a:r>
              <a:rPr lang="en-US" sz="1400" dirty="0"/>
              <a:t>Control is done by smart actuators.</a:t>
            </a:r>
            <a:endParaRPr lang="en-US" dirty="0"/>
          </a:p>
        </p:txBody>
      </p:sp>
      <p:grpSp>
        <p:nvGrpSpPr>
          <p:cNvPr id="3" name="Group 2">
            <a:extLst>
              <a:ext uri="{FF2B5EF4-FFF2-40B4-BE49-F238E27FC236}">
                <a16:creationId xmlns:a16="http://schemas.microsoft.com/office/drawing/2014/main" id="{C53F5769-1B04-FEF9-71DD-634930B20F51}"/>
              </a:ext>
              <a:ext uri="{C183D7F6-B498-43B3-948B-1728B52AA6E4}">
                <adec:decorative xmlns:adec="http://schemas.microsoft.com/office/drawing/2017/decorative" val="1"/>
              </a:ext>
            </a:extLst>
          </p:cNvPr>
          <p:cNvGrpSpPr/>
          <p:nvPr/>
        </p:nvGrpSpPr>
        <p:grpSpPr>
          <a:xfrm>
            <a:off x="711976" y="1164960"/>
            <a:ext cx="10749435" cy="5605186"/>
            <a:chOff x="711976" y="1164960"/>
            <a:chExt cx="10749435" cy="5605186"/>
          </a:xfrm>
        </p:grpSpPr>
        <p:sp>
          <p:nvSpPr>
            <p:cNvPr id="28" name="Arrow: Left-Right 27">
              <a:extLst>
                <a:ext uri="{FF2B5EF4-FFF2-40B4-BE49-F238E27FC236}">
                  <a16:creationId xmlns:a16="http://schemas.microsoft.com/office/drawing/2014/main" id="{19416EC9-5162-F682-1DB8-1CC781FC4DC2}"/>
                </a:ext>
                <a:ext uri="{C183D7F6-B498-43B3-948B-1728B52AA6E4}">
                  <adec:decorative xmlns:adec="http://schemas.microsoft.com/office/drawing/2017/decorative" val="1"/>
                </a:ext>
              </a:extLst>
            </p:cNvPr>
            <p:cNvSpPr/>
            <p:nvPr/>
          </p:nvSpPr>
          <p:spPr>
            <a:xfrm>
              <a:off x="711976" y="1618462"/>
              <a:ext cx="10700574" cy="906904"/>
            </a:xfrm>
            <a:prstGeom prst="leftRightArrow">
              <a:avLst/>
            </a:prstGeom>
            <a:solidFill>
              <a:schemeClr val="accent2">
                <a:lumMod val="20000"/>
                <a:lumOff val="80000"/>
              </a:schemeClr>
            </a:solid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5" name="TextBox 4">
              <a:extLst>
                <a:ext uri="{FF2B5EF4-FFF2-40B4-BE49-F238E27FC236}">
                  <a16:creationId xmlns:a16="http://schemas.microsoft.com/office/drawing/2014/main" id="{3C2ED09A-0CB4-EFE4-F1AF-5BBEB5F3251A}"/>
                </a:ext>
              </a:extLst>
            </p:cNvPr>
            <p:cNvSpPr txBox="1"/>
            <p:nvPr/>
          </p:nvSpPr>
          <p:spPr>
            <a:xfrm>
              <a:off x="1463603" y="1884069"/>
              <a:ext cx="2329779" cy="369332"/>
            </a:xfrm>
            <a:prstGeom prst="rect">
              <a:avLst/>
            </a:prstGeom>
            <a:noFill/>
          </p:spPr>
          <p:txBody>
            <a:bodyPr wrap="square" rtlCol="0">
              <a:spAutoFit/>
            </a:bodyPr>
            <a:lstStyle/>
            <a:p>
              <a:pPr algn="ctr"/>
              <a:r>
                <a:rPr lang="en-US" b="1" dirty="0"/>
                <a:t>Control</a:t>
              </a:r>
            </a:p>
          </p:txBody>
        </p:sp>
        <p:sp>
          <p:nvSpPr>
            <p:cNvPr id="6" name="TextBox 5">
              <a:extLst>
                <a:ext uri="{FF2B5EF4-FFF2-40B4-BE49-F238E27FC236}">
                  <a16:creationId xmlns:a16="http://schemas.microsoft.com/office/drawing/2014/main" id="{4794A495-9126-FBFC-6D9E-53D5DCB9FDFE}"/>
                </a:ext>
              </a:extLst>
            </p:cNvPr>
            <p:cNvSpPr txBox="1"/>
            <p:nvPr/>
          </p:nvSpPr>
          <p:spPr>
            <a:xfrm>
              <a:off x="4716469" y="1875059"/>
              <a:ext cx="2329779" cy="369332"/>
            </a:xfrm>
            <a:prstGeom prst="rect">
              <a:avLst/>
            </a:prstGeom>
            <a:noFill/>
          </p:spPr>
          <p:txBody>
            <a:bodyPr wrap="square" rtlCol="0">
              <a:spAutoFit/>
            </a:bodyPr>
            <a:lstStyle/>
            <a:p>
              <a:pPr algn="ctr"/>
              <a:r>
                <a:rPr lang="en-US" b="1" dirty="0"/>
                <a:t>Control + Planning</a:t>
              </a:r>
            </a:p>
          </p:txBody>
        </p:sp>
        <p:sp>
          <p:nvSpPr>
            <p:cNvPr id="7" name="TextBox 6">
              <a:extLst>
                <a:ext uri="{FF2B5EF4-FFF2-40B4-BE49-F238E27FC236}">
                  <a16:creationId xmlns:a16="http://schemas.microsoft.com/office/drawing/2014/main" id="{C0E9F7F1-62EF-DF33-C475-EB012E576005}"/>
                </a:ext>
              </a:extLst>
            </p:cNvPr>
            <p:cNvSpPr txBox="1"/>
            <p:nvPr/>
          </p:nvSpPr>
          <p:spPr>
            <a:xfrm>
              <a:off x="8158728" y="1884069"/>
              <a:ext cx="2329779" cy="369332"/>
            </a:xfrm>
            <a:prstGeom prst="rect">
              <a:avLst/>
            </a:prstGeom>
            <a:noFill/>
          </p:spPr>
          <p:txBody>
            <a:bodyPr wrap="square" rtlCol="0">
              <a:spAutoFit/>
            </a:bodyPr>
            <a:lstStyle/>
            <a:p>
              <a:pPr algn="ctr"/>
              <a:r>
                <a:rPr lang="en-US" b="1" dirty="0"/>
                <a:t>Planning</a:t>
              </a:r>
            </a:p>
          </p:txBody>
        </p:sp>
        <p:pic>
          <p:nvPicPr>
            <p:cNvPr id="12" name="Picture 11" descr="Screenshot of the Gym Lunar Lander environment: a purple lander descending toward a flat landing pad marked by two yellow flags on a white moon surface.">
              <a:extLst>
                <a:ext uri="{FF2B5EF4-FFF2-40B4-BE49-F238E27FC236}">
                  <a16:creationId xmlns:a16="http://schemas.microsoft.com/office/drawing/2014/main" id="{00F1FECB-2FAB-F809-176E-B86BAF12892C}"/>
                </a:ext>
              </a:extLst>
            </p:cNvPr>
            <p:cNvPicPr>
              <a:picLocks noChangeAspect="1"/>
            </p:cNvPicPr>
            <p:nvPr/>
          </p:nvPicPr>
          <p:blipFill>
            <a:blip r:embed="rId2"/>
            <a:stretch>
              <a:fillRect/>
            </a:stretch>
          </p:blipFill>
          <p:spPr>
            <a:xfrm>
              <a:off x="4723305" y="2492879"/>
              <a:ext cx="2316106" cy="1540323"/>
            </a:xfrm>
            <a:prstGeom prst="rect">
              <a:avLst/>
            </a:prstGeom>
          </p:spPr>
        </p:pic>
        <p:grpSp>
          <p:nvGrpSpPr>
            <p:cNvPr id="38" name="Group 37" descr="Screenshot of the Gym Frozen Lake environment: a 4 by 4 grid of ice with an elf at the start in the top-left corner, holes in the ice, and a present (the goal) in the bottom-right corner. Labels: Frozen Lake Maze.">
              <a:extLst>
                <a:ext uri="{FF2B5EF4-FFF2-40B4-BE49-F238E27FC236}">
                  <a16:creationId xmlns:a16="http://schemas.microsoft.com/office/drawing/2014/main" id="{D2F96F56-1397-9956-6C80-6F8AB63824D6}"/>
                </a:ext>
              </a:extLst>
            </p:cNvPr>
            <p:cNvGrpSpPr/>
            <p:nvPr/>
          </p:nvGrpSpPr>
          <p:grpSpPr>
            <a:xfrm>
              <a:off x="8153834" y="2519711"/>
              <a:ext cx="2414551" cy="2118636"/>
              <a:chOff x="9483832" y="4654102"/>
              <a:chExt cx="2414551" cy="2118636"/>
            </a:xfrm>
          </p:grpSpPr>
          <p:pic>
            <p:nvPicPr>
              <p:cNvPr id="19" name="Picture 18" descr="Screenshot of the Gym Frozen Lake environment: a 4 by 4 grid of ice with an elf at the start in the top-left corner, holes in the ice, and a present (the goal) in the bottom-right corner.">
                <a:extLst>
                  <a:ext uri="{FF2B5EF4-FFF2-40B4-BE49-F238E27FC236}">
                    <a16:creationId xmlns:a16="http://schemas.microsoft.com/office/drawing/2014/main" id="{15BA4F59-FDA8-6B5D-76BC-0032B8625C57}"/>
                  </a:ext>
                </a:extLst>
              </p:cNvPr>
              <p:cNvPicPr>
                <a:picLocks noChangeAspect="1"/>
              </p:cNvPicPr>
              <p:nvPr/>
            </p:nvPicPr>
            <p:blipFill>
              <a:blip r:embed="rId3"/>
              <a:stretch>
                <a:fillRect/>
              </a:stretch>
            </p:blipFill>
            <p:spPr>
              <a:xfrm>
                <a:off x="9787438" y="4654102"/>
                <a:ext cx="1807340" cy="1838772"/>
              </a:xfrm>
              <a:prstGeom prst="rect">
                <a:avLst/>
              </a:prstGeom>
            </p:spPr>
          </p:pic>
          <p:sp>
            <p:nvSpPr>
              <p:cNvPr id="24" name="TextBox 23">
                <a:extLst>
                  <a:ext uri="{FF2B5EF4-FFF2-40B4-BE49-F238E27FC236}">
                    <a16:creationId xmlns:a16="http://schemas.microsoft.com/office/drawing/2014/main" id="{65186131-0788-EA75-7488-23E25363597E}"/>
                  </a:ext>
                </a:extLst>
              </p:cNvPr>
              <p:cNvSpPr txBox="1"/>
              <p:nvPr/>
            </p:nvSpPr>
            <p:spPr>
              <a:xfrm>
                <a:off x="9483832" y="6464961"/>
                <a:ext cx="2414551" cy="307777"/>
              </a:xfrm>
              <a:prstGeom prst="rect">
                <a:avLst/>
              </a:prstGeom>
              <a:noFill/>
            </p:spPr>
            <p:txBody>
              <a:bodyPr wrap="square" rtlCol="0">
                <a:spAutoFit/>
              </a:bodyPr>
              <a:lstStyle/>
              <a:p>
                <a:pPr algn="ctr"/>
                <a:r>
                  <a:rPr lang="en-US" sz="1400" dirty="0"/>
                  <a:t>Frozen Lake Maze</a:t>
                </a:r>
              </a:p>
            </p:txBody>
          </p:sp>
        </p:grpSp>
        <p:sp>
          <p:nvSpPr>
            <p:cNvPr id="13" name="TextBox 12">
              <a:extLst>
                <a:ext uri="{FF2B5EF4-FFF2-40B4-BE49-F238E27FC236}">
                  <a16:creationId xmlns:a16="http://schemas.microsoft.com/office/drawing/2014/main" id="{1C65F84C-0F44-4EAB-843C-9A29B6152D58}"/>
                </a:ext>
              </a:extLst>
            </p:cNvPr>
            <p:cNvSpPr txBox="1"/>
            <p:nvPr/>
          </p:nvSpPr>
          <p:spPr>
            <a:xfrm>
              <a:off x="4670649" y="3833343"/>
              <a:ext cx="2414551" cy="307777"/>
            </a:xfrm>
            <a:prstGeom prst="rect">
              <a:avLst/>
            </a:prstGeom>
            <a:noFill/>
          </p:spPr>
          <p:txBody>
            <a:bodyPr wrap="square" rtlCol="0">
              <a:spAutoFit/>
            </a:bodyPr>
            <a:lstStyle/>
            <a:p>
              <a:pPr algn="ctr"/>
              <a:r>
                <a:rPr lang="en-US" sz="1400" dirty="0"/>
                <a:t>Lunar Lander</a:t>
              </a:r>
            </a:p>
          </p:txBody>
        </p:sp>
        <p:pic>
          <p:nvPicPr>
            <p:cNvPr id="15" name="Picture 14" descr="Screenshot of the Gym Car Racing environment: a red race car on a gray track seen from above, with green grass on both sides and a score of 0004.">
              <a:extLst>
                <a:ext uri="{FF2B5EF4-FFF2-40B4-BE49-F238E27FC236}">
                  <a16:creationId xmlns:a16="http://schemas.microsoft.com/office/drawing/2014/main" id="{F5264335-9A9D-DF1C-25EA-E98311EE2E8A}"/>
                </a:ext>
              </a:extLst>
            </p:cNvPr>
            <p:cNvPicPr>
              <a:picLocks noChangeAspect="1"/>
            </p:cNvPicPr>
            <p:nvPr/>
          </p:nvPicPr>
          <p:blipFill>
            <a:blip r:embed="rId4"/>
            <a:stretch>
              <a:fillRect/>
            </a:stretch>
          </p:blipFill>
          <p:spPr>
            <a:xfrm>
              <a:off x="1405414" y="4468623"/>
              <a:ext cx="2414551" cy="1583570"/>
            </a:xfrm>
            <a:prstGeom prst="rect">
              <a:avLst/>
            </a:prstGeom>
          </p:spPr>
        </p:pic>
        <p:sp>
          <p:nvSpPr>
            <p:cNvPr id="23" name="TextBox 22">
              <a:extLst>
                <a:ext uri="{FF2B5EF4-FFF2-40B4-BE49-F238E27FC236}">
                  <a16:creationId xmlns:a16="http://schemas.microsoft.com/office/drawing/2014/main" id="{E6A946ED-7AAB-8AED-FF70-6D1DC396797B}"/>
                </a:ext>
              </a:extLst>
            </p:cNvPr>
            <p:cNvSpPr txBox="1"/>
            <p:nvPr/>
          </p:nvSpPr>
          <p:spPr>
            <a:xfrm>
              <a:off x="1405414" y="6038240"/>
              <a:ext cx="2414551" cy="307777"/>
            </a:xfrm>
            <a:prstGeom prst="rect">
              <a:avLst/>
            </a:prstGeom>
            <a:noFill/>
          </p:spPr>
          <p:txBody>
            <a:bodyPr wrap="square" rtlCol="0">
              <a:spAutoFit/>
            </a:bodyPr>
            <a:lstStyle/>
            <a:p>
              <a:pPr algn="ctr"/>
              <a:r>
                <a:rPr lang="en-US" sz="1400" dirty="0"/>
                <a:t>Car Racing</a:t>
              </a:r>
            </a:p>
          </p:txBody>
        </p:sp>
        <p:sp>
          <p:nvSpPr>
            <p:cNvPr id="32" name="Speech Bubble: Rectangle with Corners Rounded 31">
              <a:extLst>
                <a:ext uri="{FF2B5EF4-FFF2-40B4-BE49-F238E27FC236}">
                  <a16:creationId xmlns:a16="http://schemas.microsoft.com/office/drawing/2014/main" id="{68ED3D05-F8A2-9EB3-EF50-C53238E68C1F}"/>
                </a:ext>
              </a:extLst>
            </p:cNvPr>
            <p:cNvSpPr/>
            <p:nvPr/>
          </p:nvSpPr>
          <p:spPr>
            <a:xfrm>
              <a:off x="2322462" y="1164960"/>
              <a:ext cx="1394125" cy="372274"/>
            </a:xfrm>
            <a:prstGeom prst="wedgeRoundRectCallout">
              <a:avLst>
                <a:gd name="adj1" fmla="val -30089"/>
                <a:gd name="adj2" fmla="val 15815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Robotics</a:t>
              </a:r>
              <a:endParaRPr lang="en-US" b="1" dirty="0"/>
            </a:p>
          </p:txBody>
        </p:sp>
        <p:grpSp>
          <p:nvGrpSpPr>
            <p:cNvPr id="52" name="Group 51" descr="Screenshot of the Gym Cart Pole environment: a black cart on a track balancing an upright brown pole. Labels: Inverted Pendulum/Cartpole.">
              <a:extLst>
                <a:ext uri="{FF2B5EF4-FFF2-40B4-BE49-F238E27FC236}">
                  <a16:creationId xmlns:a16="http://schemas.microsoft.com/office/drawing/2014/main" id="{ED13958F-DFB4-96C1-9C25-7E1BCF1F67A3}"/>
                </a:ext>
              </a:extLst>
            </p:cNvPr>
            <p:cNvGrpSpPr/>
            <p:nvPr/>
          </p:nvGrpSpPr>
          <p:grpSpPr>
            <a:xfrm>
              <a:off x="1405415" y="2472094"/>
              <a:ext cx="2414551" cy="1738057"/>
              <a:chOff x="1405415" y="2472094"/>
              <a:chExt cx="2414551" cy="1738057"/>
            </a:xfrm>
          </p:grpSpPr>
          <p:sp>
            <p:nvSpPr>
              <p:cNvPr id="4" name="TextBox 3">
                <a:extLst>
                  <a:ext uri="{FF2B5EF4-FFF2-40B4-BE49-F238E27FC236}">
                    <a16:creationId xmlns:a16="http://schemas.microsoft.com/office/drawing/2014/main" id="{1A1038AB-92F4-5C61-836A-2373B3CD203E}"/>
                  </a:ext>
                </a:extLst>
              </p:cNvPr>
              <p:cNvSpPr txBox="1"/>
              <p:nvPr/>
            </p:nvSpPr>
            <p:spPr>
              <a:xfrm>
                <a:off x="1405415" y="3902374"/>
                <a:ext cx="2414551" cy="307777"/>
              </a:xfrm>
              <a:prstGeom prst="rect">
                <a:avLst/>
              </a:prstGeom>
              <a:noFill/>
            </p:spPr>
            <p:txBody>
              <a:bodyPr wrap="square" rtlCol="0">
                <a:spAutoFit/>
              </a:bodyPr>
              <a:lstStyle/>
              <a:p>
                <a:pPr algn="ctr"/>
                <a:r>
                  <a:rPr lang="en-US" sz="1400" dirty="0"/>
                  <a:t>Inverted Pendulum/Cartpole</a:t>
                </a:r>
              </a:p>
            </p:txBody>
          </p:sp>
          <p:pic>
            <p:nvPicPr>
              <p:cNvPr id="17" name="Picture 16" descr="Screenshot of the Gym Cart Pole environment: a black cart on a track balancing an upright brown pole.">
                <a:extLst>
                  <a:ext uri="{FF2B5EF4-FFF2-40B4-BE49-F238E27FC236}">
                    <a16:creationId xmlns:a16="http://schemas.microsoft.com/office/drawing/2014/main" id="{3580BBFE-D17C-51E2-0C57-C0D7D0400EEB}"/>
                  </a:ext>
                </a:extLst>
              </p:cNvPr>
              <p:cNvPicPr>
                <a:picLocks noChangeAspect="1"/>
              </p:cNvPicPr>
              <p:nvPr/>
            </p:nvPicPr>
            <p:blipFill>
              <a:blip r:embed="rId5"/>
              <a:stretch>
                <a:fillRect/>
              </a:stretch>
            </p:blipFill>
            <p:spPr>
              <a:xfrm>
                <a:off x="1540398" y="2472094"/>
                <a:ext cx="2176189" cy="1460153"/>
              </a:xfrm>
              <a:prstGeom prst="rect">
                <a:avLst/>
              </a:prstGeom>
            </p:spPr>
          </p:pic>
          <p:cxnSp>
            <p:nvCxnSpPr>
              <p:cNvPr id="46" name="Straight Arrow Connector 45">
                <a:extLst>
                  <a:ext uri="{FF2B5EF4-FFF2-40B4-BE49-F238E27FC236}">
                    <a16:creationId xmlns:a16="http://schemas.microsoft.com/office/drawing/2014/main" id="{24B54B62-C9AD-8B35-1583-51CC89F68029}"/>
                  </a:ext>
                  <a:ext uri="{C183D7F6-B498-43B3-948B-1728B52AA6E4}">
                    <adec:decorative xmlns:adec="http://schemas.microsoft.com/office/drawing/2017/decorative" val="1"/>
                  </a:ext>
                </a:extLst>
              </p:cNvPr>
              <p:cNvCxnSpPr/>
              <p:nvPr/>
            </p:nvCxnSpPr>
            <p:spPr>
              <a:xfrm>
                <a:off x="2785081" y="3552898"/>
                <a:ext cx="2582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1E353D54-0A7B-17A9-11E3-C6A1240E7B89}"/>
                  </a:ext>
                  <a:ext uri="{C183D7F6-B498-43B3-948B-1728B52AA6E4}">
                    <adec:decorative xmlns:adec="http://schemas.microsoft.com/office/drawing/2017/decorative" val="1"/>
                  </a:ext>
                </a:extLst>
              </p:cNvPr>
              <p:cNvCxnSpPr>
                <a:cxnSpLocks/>
              </p:cNvCxnSpPr>
              <p:nvPr/>
            </p:nvCxnSpPr>
            <p:spPr>
              <a:xfrm flipH="1">
                <a:off x="2240627" y="3552898"/>
                <a:ext cx="2640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F5DAF2D-837A-A69B-34DC-4D0F03279287}"/>
                  </a:ext>
                  <a:ext uri="{C183D7F6-B498-43B3-948B-1728B52AA6E4}">
                    <adec:decorative xmlns:adec="http://schemas.microsoft.com/office/drawing/2017/decorative" val="1"/>
                  </a:ext>
                </a:extLst>
              </p:cNvPr>
              <p:cNvCxnSpPr/>
              <p:nvPr/>
            </p:nvCxnSpPr>
            <p:spPr>
              <a:xfrm flipV="1">
                <a:off x="2645478" y="3029383"/>
                <a:ext cx="0" cy="732916"/>
              </a:xfrm>
              <a:prstGeom prst="line">
                <a:avLst/>
              </a:prstGeom>
              <a:ln w="63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7" name="TextBox 36">
              <a:extLst>
                <a:ext uri="{FF2B5EF4-FFF2-40B4-BE49-F238E27FC236}">
                  <a16:creationId xmlns:a16="http://schemas.microsoft.com/office/drawing/2014/main" id="{F8F631AD-44EE-94F3-0526-6C44BCB6B4F0}"/>
                </a:ext>
              </a:extLst>
            </p:cNvPr>
            <p:cNvSpPr txBox="1"/>
            <p:nvPr/>
          </p:nvSpPr>
          <p:spPr>
            <a:xfrm>
              <a:off x="10356314" y="3202170"/>
              <a:ext cx="1011880" cy="523220"/>
            </a:xfrm>
            <a:prstGeom prst="rect">
              <a:avLst/>
            </a:prstGeom>
            <a:noFill/>
          </p:spPr>
          <p:txBody>
            <a:bodyPr wrap="none" rtlCol="0">
              <a:spAutoFit/>
            </a:bodyPr>
            <a:lstStyle/>
            <a:p>
              <a:r>
                <a:rPr lang="en-US" sz="1400" dirty="0"/>
                <a:t>Navigation</a:t>
              </a:r>
            </a:p>
            <a:p>
              <a:r>
                <a:rPr lang="en-US" sz="1400" dirty="0"/>
                <a:t>Problem</a:t>
              </a:r>
            </a:p>
          </p:txBody>
        </p:sp>
        <p:grpSp>
          <p:nvGrpSpPr>
            <p:cNvPr id="44" name="Group 43" descr="Chess board in the starting position, with white pieces on ranks 1 and 2 and black pieces on ranks 7 and 8 (© Encyclopaedia Britannica). Labels: Chess.">
              <a:extLst>
                <a:ext uri="{FF2B5EF4-FFF2-40B4-BE49-F238E27FC236}">
                  <a16:creationId xmlns:a16="http://schemas.microsoft.com/office/drawing/2014/main" id="{AE8CB1F4-8B58-4FA6-CE15-956DE2EABC2F}"/>
                </a:ext>
              </a:extLst>
            </p:cNvPr>
            <p:cNvGrpSpPr/>
            <p:nvPr/>
          </p:nvGrpSpPr>
          <p:grpSpPr>
            <a:xfrm>
              <a:off x="8237051" y="4624793"/>
              <a:ext cx="2414551" cy="2145353"/>
              <a:chOff x="7069281" y="4526579"/>
              <a:chExt cx="2414551" cy="2145353"/>
            </a:xfrm>
          </p:grpSpPr>
          <p:pic>
            <p:nvPicPr>
              <p:cNvPr id="1032" name="Picture 8" descr="Chess board in the starting position, with white pieces on ranks 1 and 2 and black pieces on ranks 7 and 8 (© Encyclopaedia Britannica).">
                <a:extLst>
                  <a:ext uri="{FF2B5EF4-FFF2-40B4-BE49-F238E27FC236}">
                    <a16:creationId xmlns:a16="http://schemas.microsoft.com/office/drawing/2014/main" id="{6D2816B3-A3E6-0C0D-E563-A25D7847A0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4900" y="4526579"/>
                <a:ext cx="1973486" cy="1991465"/>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BA29134E-9033-C38A-92B6-FCA69BF345BE}"/>
                  </a:ext>
                </a:extLst>
              </p:cNvPr>
              <p:cNvSpPr txBox="1"/>
              <p:nvPr/>
            </p:nvSpPr>
            <p:spPr>
              <a:xfrm>
                <a:off x="7069281" y="6364155"/>
                <a:ext cx="2414551" cy="307777"/>
              </a:xfrm>
              <a:prstGeom prst="rect">
                <a:avLst/>
              </a:prstGeom>
              <a:noFill/>
            </p:spPr>
            <p:txBody>
              <a:bodyPr wrap="square" rtlCol="0">
                <a:spAutoFit/>
              </a:bodyPr>
              <a:lstStyle/>
              <a:p>
                <a:pPr algn="ctr"/>
                <a:r>
                  <a:rPr lang="en-US" sz="1400" dirty="0"/>
                  <a:t>Chess</a:t>
                </a:r>
              </a:p>
            </p:txBody>
          </p:sp>
        </p:grpSp>
        <p:grpSp>
          <p:nvGrpSpPr>
            <p:cNvPr id="55" name="Group 54" descr="Box around the planning examples (Lunar Lander, Frozen Lake maze navigation problem, and chess), labelled Delayed (Sparse) Rewards.">
              <a:extLst>
                <a:ext uri="{FF2B5EF4-FFF2-40B4-BE49-F238E27FC236}">
                  <a16:creationId xmlns:a16="http://schemas.microsoft.com/office/drawing/2014/main" id="{B01FC211-82C8-333A-5373-AA26C80A2F5C}"/>
                </a:ext>
              </a:extLst>
            </p:cNvPr>
            <p:cNvGrpSpPr/>
            <p:nvPr/>
          </p:nvGrpSpPr>
          <p:grpSpPr>
            <a:xfrm>
              <a:off x="4416816" y="2408153"/>
              <a:ext cx="7044595" cy="4361993"/>
              <a:chOff x="4416816" y="2408153"/>
              <a:chExt cx="7044595" cy="4361993"/>
            </a:xfrm>
          </p:grpSpPr>
          <p:sp>
            <p:nvSpPr>
              <p:cNvPr id="53" name="Rectangle 52">
                <a:extLst>
                  <a:ext uri="{FF2B5EF4-FFF2-40B4-BE49-F238E27FC236}">
                    <a16:creationId xmlns:a16="http://schemas.microsoft.com/office/drawing/2014/main" id="{90A2101D-EF2C-346E-BE27-4A215834799E}"/>
                  </a:ext>
                  <a:ext uri="{C183D7F6-B498-43B3-948B-1728B52AA6E4}">
                    <adec:decorative xmlns:adec="http://schemas.microsoft.com/office/drawing/2017/decorative" val="1"/>
                  </a:ext>
                </a:extLst>
              </p:cNvPr>
              <p:cNvSpPr/>
              <p:nvPr/>
            </p:nvSpPr>
            <p:spPr>
              <a:xfrm>
                <a:off x="4416816" y="2408153"/>
                <a:ext cx="7044595" cy="4361993"/>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4" name="TextBox 53">
                <a:extLst>
                  <a:ext uri="{FF2B5EF4-FFF2-40B4-BE49-F238E27FC236}">
                    <a16:creationId xmlns:a16="http://schemas.microsoft.com/office/drawing/2014/main" id="{9A7A8A7B-7A1A-251D-EE5C-EF8403A4EF6D}"/>
                  </a:ext>
                </a:extLst>
              </p:cNvPr>
              <p:cNvSpPr txBox="1"/>
              <p:nvPr/>
            </p:nvSpPr>
            <p:spPr>
              <a:xfrm>
                <a:off x="4416816" y="6354055"/>
                <a:ext cx="2787045" cy="369332"/>
              </a:xfrm>
              <a:prstGeom prst="rect">
                <a:avLst/>
              </a:prstGeom>
              <a:noFill/>
            </p:spPr>
            <p:txBody>
              <a:bodyPr wrap="none" rtlCol="0">
                <a:spAutoFit/>
              </a:bodyPr>
              <a:lstStyle/>
              <a:p>
                <a:r>
                  <a:rPr lang="en-US" dirty="0"/>
                  <a:t>Delayed (Sparse) Rewards</a:t>
                </a:r>
              </a:p>
            </p:txBody>
          </p:sp>
        </p:grpSp>
      </p:grpSp>
    </p:spTree>
    <p:extLst>
      <p:ext uri="{BB962C8B-B14F-4D97-AF65-F5344CB8AC3E}">
        <p14:creationId xmlns:p14="http://schemas.microsoft.com/office/powerpoint/2010/main" val="210365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86E1-2878-5D51-74A4-E591343813F7}"/>
              </a:ext>
            </a:extLst>
          </p:cNvPr>
          <p:cNvSpPr>
            <a:spLocks noGrp="1"/>
          </p:cNvSpPr>
          <p:nvPr>
            <p:ph type="title"/>
          </p:nvPr>
        </p:nvSpPr>
        <p:spPr/>
        <p:txBody>
          <a:bodyPr/>
          <a:lstStyle/>
          <a:p>
            <a:r>
              <a:rPr lang="en-US" dirty="0"/>
              <a:t>Designing Reward Signals</a:t>
            </a:r>
          </a:p>
        </p:txBody>
      </p:sp>
      <p:sp>
        <p:nvSpPr>
          <p:cNvPr id="3" name="Content Placeholder 2">
            <a:extLst>
              <a:ext uri="{FF2B5EF4-FFF2-40B4-BE49-F238E27FC236}">
                <a16:creationId xmlns:a16="http://schemas.microsoft.com/office/drawing/2014/main" id="{BB369BF3-3AC2-46A2-9B09-16E72E480332}"/>
              </a:ext>
            </a:extLst>
          </p:cNvPr>
          <p:cNvSpPr>
            <a:spLocks noGrp="1"/>
          </p:cNvSpPr>
          <p:nvPr>
            <p:ph idx="1"/>
          </p:nvPr>
        </p:nvSpPr>
        <p:spPr/>
        <p:txBody>
          <a:bodyPr>
            <a:normAutofit fontScale="70000" lnSpcReduction="20000"/>
          </a:bodyPr>
          <a:lstStyle/>
          <a:p>
            <a:r>
              <a:rPr lang="en-US" b="1" dirty="0"/>
              <a:t>RL’s advantage over supervised ML</a:t>
            </a:r>
            <a:r>
              <a:rPr lang="en-US" dirty="0"/>
              <a:t>: </a:t>
            </a:r>
            <a:br>
              <a:rPr lang="en-US" dirty="0"/>
            </a:br>
            <a:r>
              <a:rPr lang="en-US" dirty="0"/>
              <a:t>RL does not need the correct action to learn. It uses rewards instead.</a:t>
            </a:r>
          </a:p>
          <a:p>
            <a:endParaRPr lang="en-US" dirty="0"/>
          </a:p>
          <a:p>
            <a:r>
              <a:rPr lang="en-US" dirty="0"/>
              <a:t>Remember the </a:t>
            </a:r>
            <a:r>
              <a:rPr lang="en-US" b="1" dirty="0"/>
              <a:t>Reward Hypothesis</a:t>
            </a:r>
            <a:r>
              <a:rPr lang="en-US" dirty="0"/>
              <a:t>: “All goals and purposes can be modeled as maximizing the expected cumulative sum of a received scalar signal (reward).”</a:t>
            </a:r>
          </a:p>
          <a:p>
            <a:endParaRPr lang="en-US" dirty="0"/>
          </a:p>
          <a:p>
            <a:r>
              <a:rPr lang="en-US" b="1" dirty="0"/>
              <a:t>Questions</a:t>
            </a:r>
            <a:r>
              <a:rPr lang="en-US" dirty="0"/>
              <a:t>:</a:t>
            </a:r>
          </a:p>
          <a:p>
            <a:pPr lvl="1"/>
            <a:r>
              <a:rPr lang="en-US" dirty="0"/>
              <a:t>How well does the reward signal frame the goal?</a:t>
            </a:r>
          </a:p>
          <a:p>
            <a:pPr lvl="1"/>
            <a:r>
              <a:rPr lang="en-US" dirty="0"/>
              <a:t>How well does the reward signal assess the progress of reaching the goal?</a:t>
            </a:r>
          </a:p>
          <a:p>
            <a:pPr marL="0" indent="0">
              <a:buNone/>
            </a:pPr>
            <a:endParaRPr lang="en-US" dirty="0"/>
          </a:p>
          <a:p>
            <a:r>
              <a:rPr lang="en-US" b="1" dirty="0"/>
              <a:t>Control problems</a:t>
            </a:r>
            <a:r>
              <a:rPr lang="en-US" dirty="0"/>
              <a:t>: Typically have direct and near-immediate feedback that can be used as reward.</a:t>
            </a:r>
          </a:p>
          <a:p>
            <a:r>
              <a:rPr lang="en-US" b="1" dirty="0"/>
              <a:t>Planning problems</a:t>
            </a:r>
            <a:r>
              <a:rPr lang="en-US" dirty="0"/>
              <a:t>:</a:t>
            </a:r>
          </a:p>
          <a:p>
            <a:pPr lvl="1"/>
            <a:r>
              <a:rPr lang="en-US" b="1" dirty="0"/>
              <a:t>Sparse rewards: </a:t>
            </a:r>
            <a:r>
              <a:rPr lang="en-US" dirty="0"/>
              <a:t>E.g., only when a game is won. Leads to slow learning, excessive exploration, and the credit assignment problem.</a:t>
            </a:r>
          </a:p>
          <a:p>
            <a:pPr lvl="1"/>
            <a:r>
              <a:rPr lang="en-US" dirty="0"/>
              <a:t>Complex, </a:t>
            </a:r>
            <a:r>
              <a:rPr lang="en-US" b="1" dirty="0"/>
              <a:t>multi-step tasks</a:t>
            </a:r>
            <a:r>
              <a:rPr lang="en-US" dirty="0"/>
              <a:t>.</a:t>
            </a:r>
          </a:p>
          <a:p>
            <a:pPr lvl="1"/>
            <a:r>
              <a:rPr lang="en-US" b="1" dirty="0"/>
              <a:t>“Supplemental” rewards </a:t>
            </a:r>
            <a:r>
              <a:rPr lang="en-US" dirty="0"/>
              <a:t>may hurt performance or lead to reward hacking.</a:t>
            </a:r>
          </a:p>
        </p:txBody>
      </p:sp>
      <p:sp>
        <p:nvSpPr>
          <p:cNvPr id="4" name="Speech Bubble: Rectangle with Corners Rounded 3">
            <a:extLst>
              <a:ext uri="{FF2B5EF4-FFF2-40B4-BE49-F238E27FC236}">
                <a16:creationId xmlns:a16="http://schemas.microsoft.com/office/drawing/2014/main" id="{29F38818-FB9D-D5E5-D559-1788E6C5952A}"/>
              </a:ext>
            </a:extLst>
          </p:cNvPr>
          <p:cNvSpPr/>
          <p:nvPr/>
        </p:nvSpPr>
        <p:spPr>
          <a:xfrm>
            <a:off x="8339957" y="2845676"/>
            <a:ext cx="2892973" cy="788276"/>
          </a:xfrm>
          <a:prstGeom prst="wedgeRoundRectCallout">
            <a:avLst>
              <a:gd name="adj1" fmla="val -121860"/>
              <a:gd name="adj2" fmla="val 4207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Often difficult to translate the goal to rewards.</a:t>
            </a:r>
          </a:p>
        </p:txBody>
      </p:sp>
    </p:spTree>
    <p:extLst>
      <p:ext uri="{BB962C8B-B14F-4D97-AF65-F5344CB8AC3E}">
        <p14:creationId xmlns:p14="http://schemas.microsoft.com/office/powerpoint/2010/main" val="236624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C0570-A7E0-AA1E-A42A-A3129901C768}"/>
              </a:ext>
            </a:extLst>
          </p:cNvPr>
          <p:cNvSpPr>
            <a:spLocks noGrp="1"/>
          </p:cNvSpPr>
          <p:nvPr>
            <p:ph type="title"/>
          </p:nvPr>
        </p:nvSpPr>
        <p:spPr/>
        <p:txBody>
          <a:bodyPr/>
          <a:lstStyle/>
          <a:p>
            <a:r>
              <a:rPr lang="en-US" dirty="0"/>
              <a:t>Reward Engineering </a:t>
            </a:r>
          </a:p>
        </p:txBody>
      </p:sp>
      <p:grpSp>
        <p:nvGrpSpPr>
          <p:cNvPr id="17" name="Group 16" descr="Reinforcement learning loop with an interpreter (after Sutton and Barto): the environment (a maze) produces an observation x_t and an external reward r_t ext. An interpreter turns them into the state s_t and the reward r_t for the agent (a cartoon robot), which can also add its own internal reward r_t int. The agent sends an action a_t back to the environment, whose internal state is s_t e.">
            <a:extLst>
              <a:ext uri="{FF2B5EF4-FFF2-40B4-BE49-F238E27FC236}">
                <a16:creationId xmlns:a16="http://schemas.microsoft.com/office/drawing/2014/main" id="{38A4B7B9-372E-5A74-5CE4-E9B718248F23}"/>
              </a:ext>
            </a:extLst>
          </p:cNvPr>
          <p:cNvGrpSpPr/>
          <p:nvPr/>
        </p:nvGrpSpPr>
        <p:grpSpPr>
          <a:xfrm>
            <a:off x="8423925" y="1124198"/>
            <a:ext cx="3103421" cy="3127867"/>
            <a:chOff x="8828660" y="1124198"/>
            <a:chExt cx="3103421" cy="3127867"/>
          </a:xfrm>
        </p:grpSpPr>
        <p:grpSp>
          <p:nvGrpSpPr>
            <p:cNvPr id="18" name="Group 17" descr="Diagram with labels: a sub t; r sub t; s sub t; Observation.">
              <a:extLst>
                <a:ext uri="{FF2B5EF4-FFF2-40B4-BE49-F238E27FC236}">
                  <a16:creationId xmlns:a16="http://schemas.microsoft.com/office/drawing/2014/main" id="{7216F6EE-935E-3812-C12A-314BA5EC8E6E}"/>
                </a:ext>
              </a:extLst>
            </p:cNvPr>
            <p:cNvGrpSpPr/>
            <p:nvPr/>
          </p:nvGrpSpPr>
          <p:grpSpPr>
            <a:xfrm>
              <a:off x="8828660" y="1493530"/>
              <a:ext cx="3103421" cy="2758535"/>
              <a:chOff x="1789245" y="1426327"/>
              <a:chExt cx="4207277" cy="4067913"/>
            </a:xfrm>
          </p:grpSpPr>
          <p:grpSp>
            <p:nvGrpSpPr>
              <p:cNvPr id="21" name="Group 20" descr="Diagram with labels: a sub t; r sub t; s sub t.">
                <a:extLst>
                  <a:ext uri="{FF2B5EF4-FFF2-40B4-BE49-F238E27FC236}">
                    <a16:creationId xmlns:a16="http://schemas.microsoft.com/office/drawing/2014/main" id="{47D9A8FE-BCAC-D877-39F8-C25844019FF1}"/>
                  </a:ext>
                </a:extLst>
              </p:cNvPr>
              <p:cNvGrpSpPr/>
              <p:nvPr/>
            </p:nvGrpSpPr>
            <p:grpSpPr>
              <a:xfrm>
                <a:off x="1789245" y="1426327"/>
                <a:ext cx="4207277" cy="4067913"/>
                <a:chOff x="1586821" y="1395043"/>
                <a:chExt cx="4207277" cy="4067913"/>
              </a:xfrm>
            </p:grpSpPr>
            <p:pic>
              <p:nvPicPr>
                <p:cNvPr id="23" name="Picture 2">
                  <a:extLst>
                    <a:ext uri="{FF2B5EF4-FFF2-40B4-BE49-F238E27FC236}">
                      <a16:creationId xmlns:a16="http://schemas.microsoft.com/office/drawing/2014/main" id="{80AFD642-B690-0592-DA2E-4246017FF11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4" name="TextBox 23" descr="Equation: a sub t">
                      <a:extLst>
                        <a:ext uri="{FF2B5EF4-FFF2-40B4-BE49-F238E27FC236}">
                          <a16:creationId xmlns:a16="http://schemas.microsoft.com/office/drawing/2014/main" id="{1393D424-53A7-2B26-B6FC-F134CB003219}"/>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𝑎</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11" name="TextBox 10">
                      <a:extLst>
                        <a:ext uri="{FF2B5EF4-FFF2-40B4-BE49-F238E27FC236}">
                          <a16:creationId xmlns:a16="http://schemas.microsoft.com/office/drawing/2014/main" id="{4D8B07A5-09FA-90B0-01EE-5437B5583C23}"/>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r sub t">
                      <a:extLst>
                        <a:ext uri="{FF2B5EF4-FFF2-40B4-BE49-F238E27FC236}">
                          <a16:creationId xmlns:a16="http://schemas.microsoft.com/office/drawing/2014/main" id="{F460FEFA-1DBC-7F71-7C4E-A0E7D4C8877B}"/>
                        </a:ext>
                      </a:extLst>
                    </p:cNvPr>
                    <p:cNvSpPr txBox="1"/>
                    <p:nvPr/>
                  </p:nvSpPr>
                  <p:spPr>
                    <a:xfrm>
                      <a:off x="3348651" y="3588202"/>
                      <a:ext cx="567432" cy="544641"/>
                    </a:xfrm>
                    <a:prstGeom prst="rect">
                      <a:avLst/>
                    </a:prstGeom>
                    <a:noFill/>
                  </p:spPr>
                  <p:txBody>
                    <a:bodyPr wrap="square">
                      <a:spAutoFit/>
                    </a:bodyPr>
                    <a:lstStyle/>
                    <a:p>
                      <a:pPr/>
                      <a14:m>
                        <m:oMathPara xmlns:m="http://schemas.openxmlformats.org/officeDocument/2006/math">
                          <m:oMath>
                            <m:sSub>
                              <m:sSubPr>
                                <m:ctrlPr>
                                  <a:rPr lang="en-US" i="1" dirty="0" smtClean="0">
                                    <a:solidFill>
                                      <a:srgbClr val="FF0000"/>
                                    </a:solidFill>
                                    <a:latin typeface="Cambria Math" panose="02040503050406030204" pitchFamily="18" charset="0"/>
                                  </a:rPr>
                                </m:ctrlPr>
                              </m:sSubPr>
                              <m:e>
                                <m:r>
                                  <a:rPr lang="en-US" i="1" dirty="0" smtClean="0">
                                    <a:solidFill>
                                      <a:srgbClr val="FF0000"/>
                                    </a:solidFill>
                                    <a:latin typeface="Cambria Math" panose="02040503050406030204" pitchFamily="18" charset="0"/>
                                  </a:rPr>
                                  <m:t>𝑟</m:t>
                                </m:r>
                              </m:e>
                              <m:sub>
                                <m:r>
                                  <a:rPr lang="en-US" b="0" i="1" dirty="0" smtClean="0">
                                    <a:solidFill>
                                      <a:srgbClr val="FF0000"/>
                                    </a:solidFill>
                                    <a:latin typeface="Cambria Math" panose="02040503050406030204" pitchFamily="18" charset="0"/>
                                  </a:rPr>
                                  <m:t>𝑡</m:t>
                                </m:r>
                              </m:sub>
                            </m:sSub>
                          </m:oMath>
                        </m:oMathPara>
                      </a14:m>
                      <a:endParaRPr lang="en-US" dirty="0"/>
                    </a:p>
                  </p:txBody>
                </p:sp>
              </mc:Choice>
              <mc:Fallback xmlns="">
                <p:sp>
                  <p:nvSpPr>
                    <p:cNvPr id="25" name="TextBox 24" descr="Equation: r sub t">
                      <a:extLst>
                        <a:ext uri="{FF2B5EF4-FFF2-40B4-BE49-F238E27FC236}">
                          <a16:creationId xmlns:a16="http://schemas.microsoft.com/office/drawing/2014/main" id="{F460FEFA-1DBC-7F71-7C4E-A0E7D4C8877B}"/>
                        </a:ext>
                      </a:extLst>
                    </p:cNvPr>
                    <p:cNvSpPr txBox="1">
                      <a:spLocks noRot="1" noChangeAspect="1" noMove="1" noResize="1" noEditPoints="1" noAdjustHandles="1" noChangeArrowheads="1" noChangeShapeType="1" noTextEdit="1"/>
                    </p:cNvSpPr>
                    <p:nvPr/>
                  </p:nvSpPr>
                  <p:spPr>
                    <a:xfrm>
                      <a:off x="3348651" y="3588202"/>
                      <a:ext cx="567432" cy="5446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descr="Equation: s sub t">
                      <a:extLst>
                        <a:ext uri="{FF2B5EF4-FFF2-40B4-BE49-F238E27FC236}">
                          <a16:creationId xmlns:a16="http://schemas.microsoft.com/office/drawing/2014/main" id="{79D89506-FDD1-67AB-A36E-2648AB88F371}"/>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𝑠</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13" name="TextBox 12">
                      <a:extLst>
                        <a:ext uri="{FF2B5EF4-FFF2-40B4-BE49-F238E27FC236}">
                          <a16:creationId xmlns:a16="http://schemas.microsoft.com/office/drawing/2014/main" id="{05A35657-B40A-A991-2B74-3771C1A7D324}"/>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7"/>
                      <a:stretch>
                        <a:fillRect/>
                      </a:stretch>
                    </a:blipFill>
                  </p:spPr>
                  <p:txBody>
                    <a:bodyPr/>
                    <a:lstStyle/>
                    <a:p>
                      <a:r>
                        <a:rPr lang="en-US">
                          <a:noFill/>
                        </a:rPr>
                        <a:t> </a:t>
                      </a:r>
                    </a:p>
                  </p:txBody>
                </p:sp>
              </mc:Fallback>
            </mc:AlternateContent>
          </p:grpSp>
          <p:sp>
            <p:nvSpPr>
              <p:cNvPr id="22" name="TextBox 21">
                <a:extLst>
                  <a:ext uri="{FF2B5EF4-FFF2-40B4-BE49-F238E27FC236}">
                    <a16:creationId xmlns:a16="http://schemas.microsoft.com/office/drawing/2014/main" id="{83449089-1D62-8E4B-1961-AE891580A42E}"/>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19" name="TextBox 18" descr="Equation: s sub t, to the power e">
                  <a:extLst>
                    <a:ext uri="{FF2B5EF4-FFF2-40B4-BE49-F238E27FC236}">
                      <a16:creationId xmlns:a16="http://schemas.microsoft.com/office/drawing/2014/main" id="{D22C3799-B67B-3541-C2C0-1677ACF59793}"/>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chemeClr val="tx1"/>
                              </a:solidFill>
                              <a:latin typeface="Cambria Math" panose="02040503050406030204" pitchFamily="18" charset="0"/>
                            </a:rPr>
                          </m:ctrlPr>
                        </m:sSubSupPr>
                        <m:e>
                          <m:r>
                            <a:rPr lang="en-US" b="0" i="1" dirty="0" smtClean="0">
                              <a:solidFill>
                                <a:schemeClr val="tx1"/>
                              </a:solidFill>
                              <a:latin typeface="Cambria Math" panose="02040503050406030204" pitchFamily="18" charset="0"/>
                            </a:rPr>
                            <m:t>𝑠</m:t>
                          </m:r>
                        </m:e>
                        <m:sub>
                          <m:r>
                            <a:rPr lang="en-US" i="1" dirty="0">
                              <a:solidFill>
                                <a:schemeClr val="tx1"/>
                              </a:solidFill>
                              <a:latin typeface="Cambria Math" panose="02040503050406030204" pitchFamily="18" charset="0"/>
                            </a:rPr>
                            <m:t>𝑡</m:t>
                          </m:r>
                        </m:sub>
                        <m:sup>
                          <m:r>
                            <a:rPr lang="en-US" b="0" i="1" dirty="0" smtClean="0">
                              <a:solidFill>
                                <a:schemeClr val="tx1"/>
                              </a:solidFill>
                              <a:latin typeface="Cambria Math" panose="02040503050406030204" pitchFamily="18" charset="0"/>
                            </a:rPr>
                            <m:t>𝑒</m:t>
                          </m:r>
                        </m:sup>
                      </m:sSubSup>
                    </m:oMath>
                  </a14:m>
                  <a:r>
                    <a:rPr lang="en-US" dirty="0">
                      <a:solidFill>
                        <a:schemeClr val="tx1"/>
                      </a:solidFill>
                    </a:rPr>
                    <a:t> </a:t>
                  </a:r>
                </a:p>
              </p:txBody>
            </p:sp>
          </mc:Choice>
          <mc:Fallback xmlns="">
            <p:sp>
              <p:nvSpPr>
                <p:cNvPr id="6" name="TextBox 5">
                  <a:extLst>
                    <a:ext uri="{FF2B5EF4-FFF2-40B4-BE49-F238E27FC236}">
                      <a16:creationId xmlns:a16="http://schemas.microsoft.com/office/drawing/2014/main" id="{FD761007-719A-F8F6-AAEA-FDD9C5CAA18C}"/>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descr="Equation: x sub t">
                  <a:extLst>
                    <a:ext uri="{FF2B5EF4-FFF2-40B4-BE49-F238E27FC236}">
                      <a16:creationId xmlns:a16="http://schemas.microsoft.com/office/drawing/2014/main" id="{8334190D-B1BC-2DA3-D75A-1839416F13D1}"/>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𝑥</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86D101BB-2275-F525-4BA8-FC2D31EC3C1C}"/>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descr="Sometimes we separate:. External reward r to the power ext coming from the environment. Internal reward r to the power int created by the agent. Both may be “engineered” by the creator of the task (environment) or the agent. The reward used for learning is r sub t equals r sub t, to the power ext, plus beta r sub t, to the power int. Issues:. Shortcut problem: Exploit superficial or spurious patterns (in the reward or transition model) rather than learning the actual task. Reward hacking: Exploit a loophole in the reward structure. Overwriting: Engineered reward overwriting the true objective. Bias problem: Add (potentially wrong) assumptions of what optimal behavior should be">
                <a:extLst>
                  <a:ext uri="{FF2B5EF4-FFF2-40B4-BE49-F238E27FC236}">
                    <a16:creationId xmlns:a16="http://schemas.microsoft.com/office/drawing/2014/main" id="{57EDF8BE-2F75-8146-1CB8-42ECC2F500AC}"/>
                  </a:ext>
                </a:extLst>
              </p:cNvPr>
              <p:cNvSpPr>
                <a:spLocks noGrp="1"/>
              </p:cNvSpPr>
              <p:nvPr>
                <p:ph idx="1"/>
              </p:nvPr>
            </p:nvSpPr>
            <p:spPr>
              <a:xfrm>
                <a:off x="838200" y="1397330"/>
                <a:ext cx="7415132" cy="4779633"/>
              </a:xfrm>
            </p:spPr>
            <p:txBody>
              <a:bodyPr>
                <a:normAutofit fontScale="70000" lnSpcReduction="20000"/>
              </a:bodyPr>
              <a:lstStyle/>
              <a:p>
                <a:r>
                  <a:rPr lang="en-US" dirty="0"/>
                  <a:t>Sometimes we separate:</a:t>
                </a:r>
              </a:p>
              <a:p>
                <a:pPr lvl="1"/>
                <a:r>
                  <a:rPr lang="en-US" dirty="0"/>
                  <a:t>External reward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𝑒𝑥𝑡</m:t>
                        </m:r>
                      </m:sup>
                    </m:sSup>
                  </m:oMath>
                </a14:m>
                <a:r>
                  <a:rPr lang="en-US" dirty="0"/>
                  <a:t> coming from the environment.</a:t>
                </a:r>
              </a:p>
              <a:p>
                <a:pPr lvl="1"/>
                <a:r>
                  <a:rPr lang="en-US" dirty="0"/>
                  <a:t>Internal reward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𝑖𝑛𝑡</m:t>
                        </m:r>
                      </m:sup>
                    </m:sSup>
                  </m:oMath>
                </a14:m>
                <a:r>
                  <a:rPr lang="en-US" dirty="0"/>
                  <a:t> created by the agent.</a:t>
                </a:r>
              </a:p>
              <a:p>
                <a:r>
                  <a:rPr lang="en-US" dirty="0"/>
                  <a:t>Both may be “engineered” by the creator of the task (environment) or the agent.</a:t>
                </a:r>
              </a:p>
              <a:p>
                <a:endParaRPr lang="en-US" dirty="0"/>
              </a:p>
              <a:p>
                <a:r>
                  <a:rPr lang="en-US" dirty="0"/>
                  <a:t>The reward used for learning is</a:t>
                </a:r>
                <a:br>
                  <a:rPr lang="en-US" dirty="0"/>
                </a:b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𝑡</m:t>
                        </m:r>
                      </m:sub>
                      <m:sup>
                        <m:r>
                          <a:rPr lang="en-US" b="0" i="1" smtClean="0">
                            <a:latin typeface="Cambria Math" panose="02040503050406030204" pitchFamily="18" charset="0"/>
                          </a:rPr>
                          <m:t>𝑒𝑥𝑡</m:t>
                        </m:r>
                      </m:sup>
                    </m:sSubSup>
                    <m:r>
                      <a:rPr lang="en-US" b="0" i="1" smtClean="0">
                        <a:latin typeface="Cambria Math" panose="02040503050406030204" pitchFamily="18" charset="0"/>
                      </a:rPr>
                      <m:t>+</m:t>
                    </m:r>
                    <m:r>
                      <a:rPr lang="en-US" b="0" i="1" smtClean="0">
                        <a:latin typeface="Cambria Math" panose="02040503050406030204" pitchFamily="18" charset="0"/>
                      </a:rPr>
                      <m:t>𝛽</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𝑡</m:t>
                        </m:r>
                      </m:sub>
                      <m:sup>
                        <m:r>
                          <a:rPr lang="en-US" b="0" i="1" smtClean="0">
                            <a:latin typeface="Cambria Math" panose="02040503050406030204" pitchFamily="18" charset="0"/>
                          </a:rPr>
                          <m:t>𝑖𝑛𝑡</m:t>
                        </m:r>
                      </m:sup>
                    </m:sSubSup>
                  </m:oMath>
                </a14:m>
                <a:endParaRPr lang="en-US" dirty="0"/>
              </a:p>
              <a:p>
                <a:endParaRPr lang="en-US" dirty="0"/>
              </a:p>
              <a:p>
                <a:r>
                  <a:rPr lang="en-US" b="1" dirty="0"/>
                  <a:t>Issues</a:t>
                </a:r>
                <a:r>
                  <a:rPr lang="en-US" dirty="0"/>
                  <a:t>: </a:t>
                </a:r>
              </a:p>
              <a:p>
                <a:pPr lvl="1"/>
                <a:r>
                  <a:rPr lang="en-US" b="1" dirty="0"/>
                  <a:t>Shortcut problem</a:t>
                </a:r>
                <a:r>
                  <a:rPr lang="en-US" dirty="0"/>
                  <a:t>: Exploit superficial or spurious patterns (in the reward or transition model) rather than learning the actual task.</a:t>
                </a:r>
              </a:p>
              <a:p>
                <a:pPr lvl="1"/>
                <a:r>
                  <a:rPr lang="en-US" b="1" dirty="0"/>
                  <a:t>Reward hacking</a:t>
                </a:r>
                <a:r>
                  <a:rPr lang="en-US" dirty="0"/>
                  <a:t>: Exploit a loophole in the reward structure.</a:t>
                </a:r>
              </a:p>
              <a:p>
                <a:pPr lvl="1"/>
                <a:r>
                  <a:rPr lang="en-US" b="1" dirty="0"/>
                  <a:t>Overwriting</a:t>
                </a:r>
                <a:r>
                  <a:rPr lang="en-US" dirty="0"/>
                  <a:t>: Engineered reward overwriting the true objective.</a:t>
                </a:r>
              </a:p>
              <a:p>
                <a:pPr lvl="1"/>
                <a:r>
                  <a:rPr lang="en-US" b="1" dirty="0"/>
                  <a:t>Bias problem</a:t>
                </a:r>
                <a:r>
                  <a:rPr lang="en-US" dirty="0"/>
                  <a:t>: Add (potentially wrong) assumptions of what optimal behavior should be.</a:t>
                </a:r>
              </a:p>
            </p:txBody>
          </p:sp>
        </mc:Choice>
        <mc:Fallback xmlns="">
          <p:sp>
            <p:nvSpPr>
              <p:cNvPr id="3" name="Content Placeholder 2" descr="Sometimes we separate:. External reward r to the power ext coming from the environment. Internal reward r to the power int created by the agent. Both may be “engineered” by the creator of the task (environment) or the agent. The reward used for learning is r sub t equals r sub t, to the power ext, plus beta r sub t, to the power int. Issues:. Shortcut problem: Exploit superficial or spurious patterns (in the reward or transition model) rather than learning the actual task. Reward hacking: Exploit a loophole in the reward structure. Overwriting: Engineered reward overwriting the true objective. Bias problem: Add (potentially wrong) assumptions of what optimal behavior should be">
                <a:extLst>
                  <a:ext uri="{FF2B5EF4-FFF2-40B4-BE49-F238E27FC236}">
                    <a16:creationId xmlns:a16="http://schemas.microsoft.com/office/drawing/2014/main" id="{57EDF8BE-2F75-8146-1CB8-42ECC2F500AC}"/>
                  </a:ext>
                </a:extLst>
              </p:cNvPr>
              <p:cNvSpPr>
                <a:spLocks noGrp="1" noRot="1" noChangeAspect="1" noMove="1" noResize="1" noEditPoints="1" noAdjustHandles="1" noChangeArrowheads="1" noChangeShapeType="1" noTextEdit="1"/>
              </p:cNvSpPr>
              <p:nvPr>
                <p:ph idx="1"/>
              </p:nvPr>
            </p:nvSpPr>
            <p:spPr>
              <a:xfrm>
                <a:off x="838200" y="1397330"/>
                <a:ext cx="7415132" cy="4779633"/>
              </a:xfrm>
              <a:blipFill>
                <a:blip r:embed="rId10"/>
                <a:stretch>
                  <a:fillRect l="-740" t="-2168"/>
                </a:stretch>
              </a:blipFill>
            </p:spPr>
            <p:txBody>
              <a:bodyPr/>
              <a:lstStyle/>
              <a:p>
                <a:r>
                  <a:rPr lang="en-US">
                    <a:noFill/>
                  </a:rPr>
                  <a:t> </a:t>
                </a:r>
              </a:p>
            </p:txBody>
          </p:sp>
        </mc:Fallback>
      </mc:AlternateContent>
      <p:grpSp>
        <p:nvGrpSpPr>
          <p:cNvPr id="27" name="Group 26" descr="Orange outline around the agent, with a callout: The agent design often includes designing the reward structure.">
            <a:extLst>
              <a:ext uri="{FF2B5EF4-FFF2-40B4-BE49-F238E27FC236}">
                <a16:creationId xmlns:a16="http://schemas.microsoft.com/office/drawing/2014/main" id="{15D85CC6-3694-3A14-C329-B1B264CDC7B2}"/>
              </a:ext>
            </a:extLst>
          </p:cNvPr>
          <p:cNvGrpSpPr/>
          <p:nvPr/>
        </p:nvGrpSpPr>
        <p:grpSpPr>
          <a:xfrm>
            <a:off x="8353249" y="2411000"/>
            <a:ext cx="3459000" cy="3287868"/>
            <a:chOff x="8353249" y="2411000"/>
            <a:chExt cx="3459000" cy="3287868"/>
          </a:xfrm>
        </p:grpSpPr>
        <p:sp>
          <p:nvSpPr>
            <p:cNvPr id="28" name="Oval 27">
              <a:extLst>
                <a:ext uri="{FF2B5EF4-FFF2-40B4-BE49-F238E27FC236}">
                  <a16:creationId xmlns:a16="http://schemas.microsoft.com/office/drawing/2014/main" id="{E11F06F5-3138-198A-75DD-EA1BA368D98C}"/>
                </a:ext>
                <a:ext uri="{C183D7F6-B498-43B3-948B-1728B52AA6E4}">
                  <adec:decorative xmlns:adec="http://schemas.microsoft.com/office/drawing/2017/decorative" val="1"/>
                </a:ext>
              </a:extLst>
            </p:cNvPr>
            <p:cNvSpPr/>
            <p:nvPr/>
          </p:nvSpPr>
          <p:spPr>
            <a:xfrm rot="1723684">
              <a:off x="8353249" y="2411000"/>
              <a:ext cx="2695393" cy="195052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peech Bubble: Rectangle with Corners Rounded 28">
              <a:extLst>
                <a:ext uri="{FF2B5EF4-FFF2-40B4-BE49-F238E27FC236}">
                  <a16:creationId xmlns:a16="http://schemas.microsoft.com/office/drawing/2014/main" id="{3EE5DC4D-8AAD-B193-028D-5F64AA2B5954}"/>
                </a:ext>
              </a:extLst>
            </p:cNvPr>
            <p:cNvSpPr/>
            <p:nvPr/>
          </p:nvSpPr>
          <p:spPr>
            <a:xfrm>
              <a:off x="9060238" y="4654446"/>
              <a:ext cx="2752011" cy="1044422"/>
            </a:xfrm>
            <a:prstGeom prst="wedgeRoundRectCallout">
              <a:avLst>
                <a:gd name="adj1" fmla="val -20316"/>
                <a:gd name="adj2" fmla="val -67680"/>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The agent design often includes designing the </a:t>
              </a:r>
              <a:r>
                <a:rPr lang="en-US" b="1" dirty="0"/>
                <a:t>reward structure</a:t>
              </a:r>
            </a:p>
          </p:txBody>
        </p:sp>
      </p:grpSp>
      <mc:AlternateContent xmlns:mc="http://schemas.openxmlformats.org/markup-compatibility/2006" xmlns:a14="http://schemas.microsoft.com/office/drawing/2010/main">
        <mc:Choice Requires="a14">
          <p:sp>
            <p:nvSpPr>
              <p:cNvPr id="31" name="TextBox 30" descr="Equation: r sub t, to the power ext">
                <a:extLst>
                  <a:ext uri="{FF2B5EF4-FFF2-40B4-BE49-F238E27FC236}">
                    <a16:creationId xmlns:a16="http://schemas.microsoft.com/office/drawing/2014/main" id="{1962CD39-A181-D4CA-2D24-618C04EFD9AD}"/>
                  </a:ext>
                </a:extLst>
              </p:cNvPr>
              <p:cNvSpPr txBox="1"/>
              <p:nvPr/>
            </p:nvSpPr>
            <p:spPr>
              <a:xfrm>
                <a:off x="9159723" y="1794803"/>
                <a:ext cx="845426" cy="369332"/>
              </a:xfrm>
              <a:prstGeom prst="rect">
                <a:avLst/>
              </a:prstGeom>
              <a:noFill/>
            </p:spPr>
            <p:txBody>
              <a:bodyPr wrap="square">
                <a:spAutoFit/>
              </a:bodyPr>
              <a:lstStyle/>
              <a:p>
                <a:pPr/>
                <a14:m>
                  <m:oMathPara xmlns:m="http://schemas.openxmlformats.org/officeDocument/2006/math">
                    <m:oMath>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𝑟</m:t>
                          </m:r>
                        </m:e>
                        <m:sub>
                          <m:r>
                            <a:rPr lang="en-US" b="0" i="1" smtClean="0">
                              <a:solidFill>
                                <a:srgbClr val="FF0000"/>
                              </a:solidFill>
                              <a:latin typeface="Cambria Math" panose="02040503050406030204" pitchFamily="18" charset="0"/>
                            </a:rPr>
                            <m:t>𝑡</m:t>
                          </m:r>
                        </m:sub>
                        <m:sup>
                          <m:r>
                            <a:rPr lang="en-US" b="0" i="1" smtClean="0">
                              <a:solidFill>
                                <a:srgbClr val="FF0000"/>
                              </a:solidFill>
                              <a:latin typeface="Cambria Math" panose="02040503050406030204" pitchFamily="18" charset="0"/>
                            </a:rPr>
                            <m:t>𝑒𝑥𝑡</m:t>
                          </m:r>
                        </m:sup>
                      </m:sSubSup>
                    </m:oMath>
                  </m:oMathPara>
                </a14:m>
                <a:endParaRPr lang="en-US" dirty="0"/>
              </a:p>
            </p:txBody>
          </p:sp>
        </mc:Choice>
        <mc:Fallback xmlns="">
          <p:sp>
            <p:nvSpPr>
              <p:cNvPr id="31" name="TextBox 30" descr="Equation: r sub t, to the power ext">
                <a:extLst>
                  <a:ext uri="{FF2B5EF4-FFF2-40B4-BE49-F238E27FC236}">
                    <a16:creationId xmlns:a16="http://schemas.microsoft.com/office/drawing/2014/main" id="{1962CD39-A181-D4CA-2D24-618C04EFD9AD}"/>
                  </a:ext>
                </a:extLst>
              </p:cNvPr>
              <p:cNvSpPr txBox="1">
                <a:spLocks noRot="1" noChangeAspect="1" noMove="1" noResize="1" noEditPoints="1" noAdjustHandles="1" noChangeArrowheads="1" noChangeShapeType="1" noTextEdit="1"/>
              </p:cNvSpPr>
              <p:nvPr/>
            </p:nvSpPr>
            <p:spPr>
              <a:xfrm>
                <a:off x="9159723" y="1794803"/>
                <a:ext cx="84542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hought Bubble: Cloud 33" descr="Equation: r sub t, to the power int">
                <a:extLst>
                  <a:ext uri="{FF2B5EF4-FFF2-40B4-BE49-F238E27FC236}">
                    <a16:creationId xmlns:a16="http://schemas.microsoft.com/office/drawing/2014/main" id="{214509B9-54F9-3A46-7391-DCEC8BDDADC0}"/>
                  </a:ext>
                </a:extLst>
              </p:cNvPr>
              <p:cNvSpPr/>
              <p:nvPr/>
            </p:nvSpPr>
            <p:spPr>
              <a:xfrm>
                <a:off x="10323805" y="2649838"/>
                <a:ext cx="706374" cy="515584"/>
              </a:xfrm>
              <a:prstGeom prst="cloudCallout">
                <a:avLst>
                  <a:gd name="adj1" fmla="val -40920"/>
                  <a:gd name="adj2" fmla="val 86962"/>
                </a:avLst>
              </a:prstGeom>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𝑟</m:t>
                          </m:r>
                        </m:e>
                        <m:sub>
                          <m:r>
                            <a:rPr lang="en-US" i="1">
                              <a:solidFill>
                                <a:srgbClr val="FF0000"/>
                              </a:solidFill>
                              <a:latin typeface="Cambria Math" panose="02040503050406030204" pitchFamily="18" charset="0"/>
                            </a:rPr>
                            <m:t>𝑡</m:t>
                          </m:r>
                        </m:sub>
                        <m:sup>
                          <m:r>
                            <a:rPr lang="en-US" i="1">
                              <a:solidFill>
                                <a:srgbClr val="FF0000"/>
                              </a:solidFill>
                              <a:latin typeface="Cambria Math" panose="02040503050406030204" pitchFamily="18" charset="0"/>
                            </a:rPr>
                            <m:t>𝑖𝑛𝑡</m:t>
                          </m:r>
                        </m:sup>
                      </m:sSubSup>
                    </m:oMath>
                  </m:oMathPara>
                </a14:m>
                <a:endParaRPr lang="en-US" dirty="0"/>
              </a:p>
            </p:txBody>
          </p:sp>
        </mc:Choice>
        <mc:Fallback xmlns="">
          <p:sp>
            <p:nvSpPr>
              <p:cNvPr id="34" name="Thought Bubble: Cloud 33" descr="Equation: r sub t, to the power int">
                <a:extLst>
                  <a:ext uri="{FF2B5EF4-FFF2-40B4-BE49-F238E27FC236}">
                    <a16:creationId xmlns:a16="http://schemas.microsoft.com/office/drawing/2014/main" id="{214509B9-54F9-3A46-7391-DCEC8BDDADC0}"/>
                  </a:ext>
                </a:extLst>
              </p:cNvPr>
              <p:cNvSpPr>
                <a:spLocks noRot="1" noChangeAspect="1" noMove="1" noResize="1" noEditPoints="1" noAdjustHandles="1" noChangeArrowheads="1" noChangeShapeType="1" noTextEdit="1"/>
              </p:cNvSpPr>
              <p:nvPr/>
            </p:nvSpPr>
            <p:spPr>
              <a:xfrm>
                <a:off x="10323805" y="2649838"/>
                <a:ext cx="706374" cy="515584"/>
              </a:xfrm>
              <a:prstGeom prst="cloudCallout">
                <a:avLst>
                  <a:gd name="adj1" fmla="val -40920"/>
                  <a:gd name="adj2" fmla="val 86962"/>
                </a:avLst>
              </a:prstGeom>
              <a:blipFill>
                <a:blip r:embed="rId12"/>
                <a:stretch>
                  <a:fillRect/>
                </a:stretch>
              </a:blipFill>
              <a:ln/>
            </p:spPr>
            <p:txBody>
              <a:bodyPr/>
              <a:lstStyle/>
              <a:p>
                <a:r>
                  <a:rPr lang="en-US">
                    <a:noFill/>
                  </a:rPr>
                  <a:t> </a:t>
                </a:r>
              </a:p>
            </p:txBody>
          </p:sp>
        </mc:Fallback>
      </mc:AlternateContent>
    </p:spTree>
    <p:extLst>
      <p:ext uri="{BB962C8B-B14F-4D97-AF65-F5344CB8AC3E}">
        <p14:creationId xmlns:p14="http://schemas.microsoft.com/office/powerpoint/2010/main" val="44581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95DE33A-52D4-BAA5-C864-5A177019A31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hoto of a hand holding up a gold medal with the number 1 on a red ribbon.">
            <a:extLst>
              <a:ext uri="{FF2B5EF4-FFF2-40B4-BE49-F238E27FC236}">
                <a16:creationId xmlns:a16="http://schemas.microsoft.com/office/drawing/2014/main" id="{2D67C3B7-EE2B-93BC-3DE4-F9050FAC34E4}"/>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4" name="Title 3">
            <a:extLst>
              <a:ext uri="{FF2B5EF4-FFF2-40B4-BE49-F238E27FC236}">
                <a16:creationId xmlns:a16="http://schemas.microsoft.com/office/drawing/2014/main" id="{8E56971F-C9B3-B78A-23F5-067C3D33EA2A}"/>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Reward Shaping Techniques</a:t>
            </a:r>
          </a:p>
        </p:txBody>
      </p:sp>
      <p:sp>
        <p:nvSpPr>
          <p:cNvPr id="5" name="Text Placeholder 4">
            <a:extLst>
              <a:ext uri="{FF2B5EF4-FFF2-40B4-BE49-F238E27FC236}">
                <a16:creationId xmlns:a16="http://schemas.microsoft.com/office/drawing/2014/main" id="{7BDDA64F-CE29-4117-F1C4-D013CEAEF8B0}"/>
              </a:ext>
            </a:extLst>
          </p:cNvPr>
          <p:cNvSpPr>
            <a:spLocks noGrp="1"/>
          </p:cNvSpPr>
          <p:nvPr>
            <p:ph type="body" idx="1"/>
          </p:nvPr>
        </p:nvSpPr>
        <p:spPr>
          <a:xfrm>
            <a:off x="6644639" y="4239121"/>
            <a:ext cx="5008099" cy="1098395"/>
          </a:xfrm>
        </p:spPr>
        <p:txBody>
          <a:bodyPr vert="horz" lIns="91440" tIns="45720" rIns="91440" bIns="45720" rtlCol="0">
            <a:normAutofit fontScale="92500" lnSpcReduction="20000"/>
          </a:bodyPr>
          <a:lstStyle/>
          <a:p>
            <a:pPr marL="342900" indent="-342900">
              <a:buFont typeface="Arial" panose="020B0604020202020204" pitchFamily="34" charset="0"/>
              <a:buChar char="•"/>
            </a:pPr>
            <a:r>
              <a:rPr lang="en-US" dirty="0">
                <a:solidFill>
                  <a:srgbClr val="FFFFFF"/>
                </a:solidFill>
              </a:rPr>
              <a:t>Potential-based Reward Shaping</a:t>
            </a:r>
          </a:p>
          <a:p>
            <a:pPr marL="342900" indent="-342900">
              <a:buFont typeface="Arial" panose="020B0604020202020204" pitchFamily="34" charset="0"/>
              <a:buChar char="•"/>
            </a:pPr>
            <a:r>
              <a:rPr lang="en-US" dirty="0">
                <a:solidFill>
                  <a:srgbClr val="FFFFFF"/>
                </a:solidFill>
              </a:rPr>
              <a:t>Immediate Milestone Rewards</a:t>
            </a:r>
          </a:p>
          <a:p>
            <a:pPr marL="342900" indent="-342900">
              <a:buFont typeface="Arial" panose="020B0604020202020204" pitchFamily="34" charset="0"/>
              <a:buChar char="•"/>
            </a:pPr>
            <a:r>
              <a:rPr lang="en-US" dirty="0">
                <a:solidFill>
                  <a:srgbClr val="FFFFFF"/>
                </a:solidFill>
              </a:rPr>
              <a:t>Intrinsic Motivation</a:t>
            </a:r>
          </a:p>
          <a:p>
            <a:pPr marL="342900" indent="-342900">
              <a:buFont typeface="Arial" panose="020B0604020202020204" pitchFamily="34" charset="0"/>
              <a:buChar char="•"/>
            </a:pPr>
            <a:endParaRPr lang="en-US" dirty="0">
              <a:solidFill>
                <a:srgbClr val="FFFFFF"/>
              </a:solidFill>
            </a:endParaRPr>
          </a:p>
        </p:txBody>
      </p:sp>
    </p:spTree>
    <p:extLst>
      <p:ext uri="{BB962C8B-B14F-4D97-AF65-F5344CB8AC3E}">
        <p14:creationId xmlns:p14="http://schemas.microsoft.com/office/powerpoint/2010/main" val="159850560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5444-F82D-DA3C-A718-F0610E4BAE4E}"/>
              </a:ext>
            </a:extLst>
          </p:cNvPr>
          <p:cNvSpPr>
            <a:spLocks noGrp="1"/>
          </p:cNvSpPr>
          <p:nvPr>
            <p:ph type="title"/>
          </p:nvPr>
        </p:nvSpPr>
        <p:spPr/>
        <p:txBody>
          <a:bodyPr/>
          <a:lstStyle/>
          <a:p>
            <a:r>
              <a:rPr lang="en-US" dirty="0"/>
              <a:t>Potential-based Reward Shaping (PBRS)</a:t>
            </a:r>
          </a:p>
        </p:txBody>
      </p:sp>
      <mc:AlternateContent xmlns:mc="http://schemas.openxmlformats.org/markup-compatibility/2006" xmlns:a14="http://schemas.microsoft.com/office/drawing/2010/main">
        <mc:Choice Requires="a14">
          <p:sp>
            <p:nvSpPr>
              <p:cNvPr id="3" name="Content Placeholder 2" descr="Idea:. States have a potential phi (s) representing how promising the state is to solve the task. The agent can assess phi (s) and use the change in potential to modify the reward. The reward for a state transition s to s prime is modified as:. r prime (s,a,s prime) equals r (s,a,s prime) plus beta (gamma phi (s prime) minus phi (s)). Result:. Densifies rewards with difference in potential. Encourages the agent to learn to move to more promising state. Does not change the optimal policy. Requirement: The agent needs a good heuristic for phi (s)">
                <a:extLst>
                  <a:ext uri="{FF2B5EF4-FFF2-40B4-BE49-F238E27FC236}">
                    <a16:creationId xmlns:a16="http://schemas.microsoft.com/office/drawing/2014/main" id="{26544DCA-3D60-9EF4-6AB9-F671E9E02BF3}"/>
                  </a:ext>
                </a:extLst>
              </p:cNvPr>
              <p:cNvSpPr>
                <a:spLocks noGrp="1"/>
              </p:cNvSpPr>
              <p:nvPr>
                <p:ph idx="1"/>
              </p:nvPr>
            </p:nvSpPr>
            <p:spPr>
              <a:xfrm>
                <a:off x="838201" y="1397330"/>
                <a:ext cx="7413594" cy="4508904"/>
              </a:xfrm>
            </p:spPr>
            <p:txBody>
              <a:bodyPr>
                <a:normAutofit fontScale="70000" lnSpcReduction="20000"/>
              </a:bodyPr>
              <a:lstStyle/>
              <a:p>
                <a:r>
                  <a:rPr lang="en-US" b="1" dirty="0"/>
                  <a:t>Idea</a:t>
                </a:r>
                <a:r>
                  <a:rPr lang="en-US" dirty="0"/>
                  <a:t>:</a:t>
                </a:r>
              </a:p>
              <a:p>
                <a:pPr lvl="1"/>
                <a:r>
                  <a:rPr lang="en-US" dirty="0"/>
                  <a:t>States have a potential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representing how promising the state is to solve the task.</a:t>
                </a:r>
              </a:p>
              <a:p>
                <a:pPr lvl="1"/>
                <a:r>
                  <a:rPr lang="en-US" dirty="0"/>
                  <a:t>The agent can assess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and use the change in potential to modify the reward.</a:t>
                </a:r>
              </a:p>
              <a:p>
                <a:pPr lvl="1"/>
                <a:endParaRPr lang="en-US" dirty="0"/>
              </a:p>
              <a:p>
                <a:r>
                  <a:rPr lang="en-US" dirty="0"/>
                  <a:t>The reward for a state transition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is modified as:</a:t>
                </a:r>
              </a:p>
              <a:p>
                <a:pPr marL="0" indent="0">
                  <a:buNone/>
                </a:pPr>
                <a:br>
                  <a:rPr lang="en-US" b="0" i="1" dirty="0">
                    <a:latin typeface="Cambria Math" panose="02040503050406030204" pitchFamily="18" charset="0"/>
                  </a:rPr>
                </a:b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𝛽</m:t>
                      </m:r>
                      <m:d>
                        <m:dPr>
                          <m:ctrlPr>
                            <a:rPr lang="en-US" i="1">
                              <a:latin typeface="Cambria Math" panose="02040503050406030204" pitchFamily="18" charset="0"/>
                            </a:rPr>
                          </m:ctrlPr>
                        </m:dPr>
                        <m:e>
                          <m:r>
                            <a:rPr lang="en-US" i="1">
                              <a:latin typeface="Cambria Math" panose="02040503050406030204" pitchFamily="18" charset="0"/>
                            </a:rPr>
                            <m:t>𝛾𝜙</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r>
                            <a:rPr lang="en-US" i="1">
                              <a:latin typeface="Cambria Math" panose="02040503050406030204" pitchFamily="18" charset="0"/>
                            </a:rPr>
                            <m:t>−</m:t>
                          </m:r>
                          <m:r>
                            <a:rPr lang="en-US" i="1">
                              <a:latin typeface="Cambria Math" panose="02040503050406030204" pitchFamily="18" charset="0"/>
                            </a:rPr>
                            <m:t>𝜙</m:t>
                          </m:r>
                          <m:d>
                            <m:dPr>
                              <m:ctrlPr>
                                <a:rPr lang="en-US" i="1">
                                  <a:latin typeface="Cambria Math" panose="02040503050406030204" pitchFamily="18" charset="0"/>
                                </a:rPr>
                              </m:ctrlPr>
                            </m:dPr>
                            <m:e>
                              <m:r>
                                <a:rPr lang="en-US" i="1">
                                  <a:latin typeface="Cambria Math" panose="02040503050406030204" pitchFamily="18" charset="0"/>
                                </a:rPr>
                                <m:t>𝑠</m:t>
                              </m:r>
                            </m:e>
                          </m:d>
                        </m:e>
                      </m:d>
                    </m:oMath>
                  </m:oMathPara>
                </a14:m>
                <a:endParaRPr lang="en-US" dirty="0"/>
              </a:p>
              <a:p>
                <a:pPr marL="0" indent="0">
                  <a:buNone/>
                </a:pPr>
                <a:endParaRPr lang="en-US" dirty="0"/>
              </a:p>
              <a:p>
                <a:r>
                  <a:rPr lang="en-US" b="1" dirty="0"/>
                  <a:t>Result</a:t>
                </a:r>
                <a:r>
                  <a:rPr lang="en-US" dirty="0"/>
                  <a:t>:</a:t>
                </a:r>
              </a:p>
              <a:p>
                <a:pPr lvl="1"/>
                <a:r>
                  <a:rPr lang="en-US" dirty="0"/>
                  <a:t>Densifies rewards with difference in potential.</a:t>
                </a:r>
              </a:p>
              <a:p>
                <a:pPr lvl="1"/>
                <a:r>
                  <a:rPr lang="en-US" dirty="0"/>
                  <a:t>Encourages the agent to learn to move to more promising state.</a:t>
                </a:r>
              </a:p>
              <a:p>
                <a:pPr lvl="1"/>
                <a:r>
                  <a:rPr lang="en-US" b="1" dirty="0"/>
                  <a:t>Does not change the optimal policy.</a:t>
                </a:r>
              </a:p>
              <a:p>
                <a:endParaRPr lang="en-US" dirty="0"/>
              </a:p>
              <a:p>
                <a:r>
                  <a:rPr lang="en-US" b="1" dirty="0"/>
                  <a:t>Requirement</a:t>
                </a:r>
                <a:r>
                  <a:rPr lang="en-US" dirty="0"/>
                  <a:t>: The agent needs a good heuristic for </a:t>
                </a:r>
                <a14:m>
                  <m:oMath xmlns:m="http://schemas.openxmlformats.org/officeDocument/2006/math">
                    <m:r>
                      <a:rPr lang="en-US" b="0" i="1">
                        <a:latin typeface="Cambria Math" panose="02040503050406030204" pitchFamily="18" charset="0"/>
                      </a:rPr>
                      <m:t>𝜙</m:t>
                    </m:r>
                    <m:d>
                      <m:dPr>
                        <m:ctrlPr>
                          <a:rPr lang="en-US" b="0" i="1">
                            <a:latin typeface="Cambria Math" panose="02040503050406030204" pitchFamily="18" charset="0"/>
                          </a:rPr>
                        </m:ctrlPr>
                      </m:dPr>
                      <m:e>
                        <m:r>
                          <a:rPr lang="en-US" b="0" i="1">
                            <a:latin typeface="Cambria Math" panose="02040503050406030204" pitchFamily="18" charset="0"/>
                          </a:rPr>
                          <m:t>𝑠</m:t>
                        </m:r>
                      </m:e>
                    </m:d>
                    <m:r>
                      <a:rPr lang="en-US" b="0" i="0" smtClean="0">
                        <a:latin typeface="Cambria Math" panose="02040503050406030204" pitchFamily="18" charset="0"/>
                      </a:rPr>
                      <m:t>.</m:t>
                    </m:r>
                  </m:oMath>
                </a14:m>
                <a:r>
                  <a:rPr lang="en-US" dirty="0"/>
                  <a:t> </a:t>
                </a:r>
              </a:p>
              <a:p>
                <a:endParaRPr lang="en-US" dirty="0"/>
              </a:p>
            </p:txBody>
          </p:sp>
        </mc:Choice>
        <mc:Fallback xmlns="">
          <p:sp>
            <p:nvSpPr>
              <p:cNvPr id="3" name="Content Placeholder 2" descr="Idea:. States have a potential phi (s) representing how promising the state is to solve the task. The agent can assess phi (s) and use the change in potential to modify the reward. The reward for a state transition s to s prime is modified as:. r prime (s,a,s prime) equals r (s,a,s prime) plus beta (gamma phi (s prime) minus phi (s)). Result:. Densifies rewards with difference in potential. Encourages the agent to learn to move to more promising state. Does not change the optimal policy. Requirement: The agent needs a good heuristic for phi (s)">
                <a:extLst>
                  <a:ext uri="{FF2B5EF4-FFF2-40B4-BE49-F238E27FC236}">
                    <a16:creationId xmlns:a16="http://schemas.microsoft.com/office/drawing/2014/main" id="{26544DCA-3D60-9EF4-6AB9-F671E9E02BF3}"/>
                  </a:ext>
                </a:extLst>
              </p:cNvPr>
              <p:cNvSpPr>
                <a:spLocks noGrp="1" noRot="1" noChangeAspect="1" noMove="1" noResize="1" noEditPoints="1" noAdjustHandles="1" noChangeArrowheads="1" noChangeShapeType="1" noTextEdit="1"/>
              </p:cNvSpPr>
              <p:nvPr>
                <p:ph idx="1"/>
              </p:nvPr>
            </p:nvSpPr>
            <p:spPr>
              <a:xfrm>
                <a:off x="838201" y="1397330"/>
                <a:ext cx="7413594" cy="4508904"/>
              </a:xfrm>
              <a:blipFill>
                <a:blip r:embed="rId2"/>
                <a:stretch>
                  <a:fillRect l="-740" t="-2297" r="-576" b="-811"/>
                </a:stretch>
              </a:blipFill>
            </p:spPr>
            <p:txBody>
              <a:bodyPr/>
              <a:lstStyle/>
              <a:p>
                <a:r>
                  <a:rPr lang="en-US">
                    <a:noFill/>
                  </a:rPr>
                  <a:t> </a:t>
                </a:r>
              </a:p>
            </p:txBody>
          </p:sp>
        </mc:Fallback>
      </mc:AlternateContent>
      <p:sp>
        <p:nvSpPr>
          <p:cNvPr id="15" name="Speech Bubble: Rectangle with Corners Rounded 14">
            <a:extLst>
              <a:ext uri="{FF2B5EF4-FFF2-40B4-BE49-F238E27FC236}">
                <a16:creationId xmlns:a16="http://schemas.microsoft.com/office/drawing/2014/main" id="{BB40C32F-DF87-6460-8881-EAFCD488C7B3}"/>
              </a:ext>
            </a:extLst>
          </p:cNvPr>
          <p:cNvSpPr/>
          <p:nvPr/>
        </p:nvSpPr>
        <p:spPr>
          <a:xfrm>
            <a:off x="5519612" y="3783868"/>
            <a:ext cx="2279492" cy="555006"/>
          </a:xfrm>
          <a:prstGeom prst="wedgeRoundRectCallout">
            <a:avLst>
              <a:gd name="adj1" fmla="val -61411"/>
              <a:gd name="adj2" fmla="val -5888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Scale so it does not overwrite the reward</a:t>
            </a:r>
          </a:p>
        </p:txBody>
      </p:sp>
      <p:grpSp>
        <p:nvGrpSpPr>
          <p:cNvPr id="21" name="Group 20" descr="Screenshot of the Gym Frozen Lake environment: a 4 by 4 grid of ice with an elf at the start in the top-left corner, holes in the ice, and a present (the goal) in the bottom-right corner. Labels: Use the negative distance to the goal as the potential function. Compare to A* search; Frozen Lake Maze; s sub t; minus phi (s sub t); Example.">
            <a:extLst>
              <a:ext uri="{FF2B5EF4-FFF2-40B4-BE49-F238E27FC236}">
                <a16:creationId xmlns:a16="http://schemas.microsoft.com/office/drawing/2014/main" id="{F0277244-06EA-CCA2-DE2F-00DE1621DC6D}"/>
              </a:ext>
            </a:extLst>
          </p:cNvPr>
          <p:cNvGrpSpPr/>
          <p:nvPr/>
        </p:nvGrpSpPr>
        <p:grpSpPr>
          <a:xfrm>
            <a:off x="8529747" y="1361520"/>
            <a:ext cx="3078247" cy="4312343"/>
            <a:chOff x="8529747" y="1117153"/>
            <a:chExt cx="3078247" cy="4312343"/>
          </a:xfrm>
        </p:grpSpPr>
        <p:sp>
          <p:nvSpPr>
            <p:cNvPr id="8" name="TextBox 7">
              <a:extLst>
                <a:ext uri="{FF2B5EF4-FFF2-40B4-BE49-F238E27FC236}">
                  <a16:creationId xmlns:a16="http://schemas.microsoft.com/office/drawing/2014/main" id="{B1944C05-3844-5C20-219C-F5146A5B2E5E}"/>
                </a:ext>
              </a:extLst>
            </p:cNvPr>
            <p:cNvSpPr txBox="1"/>
            <p:nvPr/>
          </p:nvSpPr>
          <p:spPr>
            <a:xfrm>
              <a:off x="8867879" y="4352278"/>
              <a:ext cx="2617556" cy="1077218"/>
            </a:xfrm>
            <a:prstGeom prst="rect">
              <a:avLst/>
            </a:prstGeom>
            <a:noFill/>
          </p:spPr>
          <p:txBody>
            <a:bodyPr wrap="square">
              <a:spAutoFit/>
            </a:bodyPr>
            <a:lstStyle/>
            <a:p>
              <a:r>
                <a:rPr lang="en-US" sz="1600" dirty="0"/>
                <a:t>Use the negative distance to the goal as the potential function. Compare to A* search. </a:t>
              </a:r>
            </a:p>
          </p:txBody>
        </p:sp>
        <p:grpSp>
          <p:nvGrpSpPr>
            <p:cNvPr id="14" name="Group 13" descr="Screenshot of the Gym Frozen Lake environment: a 4 by 4 grid of ice with an elf at the start in the top-left corner, holes in the ice, and a present (the goal) in the bottom-right corner. Labels: Frozen Lake Maze; s sub t; minus phi (s sub t).">
              <a:extLst>
                <a:ext uri="{FF2B5EF4-FFF2-40B4-BE49-F238E27FC236}">
                  <a16:creationId xmlns:a16="http://schemas.microsoft.com/office/drawing/2014/main" id="{7DDCD16F-A0C1-20C0-F386-35BCC60495DF}"/>
                </a:ext>
              </a:extLst>
            </p:cNvPr>
            <p:cNvGrpSpPr/>
            <p:nvPr/>
          </p:nvGrpSpPr>
          <p:grpSpPr>
            <a:xfrm>
              <a:off x="8529747" y="1531898"/>
              <a:ext cx="3078247" cy="2837845"/>
              <a:chOff x="8529747" y="1516134"/>
              <a:chExt cx="3078247" cy="2837845"/>
            </a:xfrm>
          </p:grpSpPr>
          <p:grpSp>
            <p:nvGrpSpPr>
              <p:cNvPr id="4" name="Group 3" descr="Screenshot of the Gym Frozen Lake environment: a 4 by 4 grid of ice with an elf at the start in the top-left corner, holes in the ice, and a present (the goal) in the bottom-right corner. Labels: Frozen Lake Maze.">
                <a:extLst>
                  <a:ext uri="{FF2B5EF4-FFF2-40B4-BE49-F238E27FC236}">
                    <a16:creationId xmlns:a16="http://schemas.microsoft.com/office/drawing/2014/main" id="{80176677-784C-DE6E-B3D4-010151EF2BC3}"/>
                  </a:ext>
                </a:extLst>
              </p:cNvPr>
              <p:cNvGrpSpPr/>
              <p:nvPr/>
            </p:nvGrpSpPr>
            <p:grpSpPr>
              <a:xfrm>
                <a:off x="8529747" y="1516134"/>
                <a:ext cx="3078247" cy="2837845"/>
                <a:chOff x="9483832" y="4654102"/>
                <a:chExt cx="2414551" cy="2118636"/>
              </a:xfrm>
            </p:grpSpPr>
            <p:pic>
              <p:nvPicPr>
                <p:cNvPr id="5" name="Picture 4" descr="Screenshot of the Gym Frozen Lake environment: a 4 by 4 grid of ice with an elf at the start in the top-left corner, holes in the ice, and a present (the goal) in the bottom-right corner.">
                  <a:extLst>
                    <a:ext uri="{FF2B5EF4-FFF2-40B4-BE49-F238E27FC236}">
                      <a16:creationId xmlns:a16="http://schemas.microsoft.com/office/drawing/2014/main" id="{2422BECA-FA5F-DD84-52DA-3B088A18303B}"/>
                    </a:ext>
                  </a:extLst>
                </p:cNvPr>
                <p:cNvPicPr>
                  <a:picLocks noChangeAspect="1"/>
                </p:cNvPicPr>
                <p:nvPr/>
              </p:nvPicPr>
              <p:blipFill>
                <a:blip r:embed="rId3"/>
                <a:stretch>
                  <a:fillRect/>
                </a:stretch>
              </p:blipFill>
              <p:spPr>
                <a:xfrm>
                  <a:off x="9787438" y="4654102"/>
                  <a:ext cx="1807340" cy="1838772"/>
                </a:xfrm>
                <a:prstGeom prst="rect">
                  <a:avLst/>
                </a:prstGeom>
              </p:spPr>
            </p:pic>
            <p:sp>
              <p:nvSpPr>
                <p:cNvPr id="6" name="TextBox 5">
                  <a:extLst>
                    <a:ext uri="{FF2B5EF4-FFF2-40B4-BE49-F238E27FC236}">
                      <a16:creationId xmlns:a16="http://schemas.microsoft.com/office/drawing/2014/main" id="{3723ED35-7ECA-C3B1-FB37-0105D547D3F7}"/>
                    </a:ext>
                  </a:extLst>
                </p:cNvPr>
                <p:cNvSpPr txBox="1"/>
                <p:nvPr/>
              </p:nvSpPr>
              <p:spPr>
                <a:xfrm>
                  <a:off x="9483832" y="6464961"/>
                  <a:ext cx="2414551" cy="307777"/>
                </a:xfrm>
                <a:prstGeom prst="rect">
                  <a:avLst/>
                </a:prstGeom>
                <a:noFill/>
              </p:spPr>
              <p:txBody>
                <a:bodyPr wrap="square" rtlCol="0">
                  <a:spAutoFit/>
                </a:bodyPr>
                <a:lstStyle/>
                <a:p>
                  <a:pPr algn="ctr"/>
                  <a:r>
                    <a:rPr lang="en-US" sz="1400" dirty="0"/>
                    <a:t>Frozen Lake Maze</a:t>
                  </a:r>
                </a:p>
              </p:txBody>
            </p:sp>
          </p:grpSp>
          <p:cxnSp>
            <p:nvCxnSpPr>
              <p:cNvPr id="10" name="Straight Arrow Connector 9">
                <a:extLst>
                  <a:ext uri="{FF2B5EF4-FFF2-40B4-BE49-F238E27FC236}">
                    <a16:creationId xmlns:a16="http://schemas.microsoft.com/office/drawing/2014/main" id="{B4A008CE-F191-8D2D-A31F-7CD951082FB4}"/>
                  </a:ext>
                  <a:ext uri="{C183D7F6-B498-43B3-948B-1728B52AA6E4}">
                    <adec:decorative xmlns:adec="http://schemas.microsoft.com/office/drawing/2017/decorative" val="1"/>
                  </a:ext>
                </a:extLst>
              </p:cNvPr>
              <p:cNvCxnSpPr>
                <a:cxnSpLocks/>
              </p:cNvCxnSpPr>
              <p:nvPr/>
            </p:nvCxnSpPr>
            <p:spPr>
              <a:xfrm>
                <a:off x="9855976" y="2994482"/>
                <a:ext cx="817518" cy="623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descr="Equation: s sub t">
                    <a:extLst>
                      <a:ext uri="{FF2B5EF4-FFF2-40B4-BE49-F238E27FC236}">
                        <a16:creationId xmlns:a16="http://schemas.microsoft.com/office/drawing/2014/main" id="{6F1582BE-FC1D-8519-D0F6-0A504C18634A}"/>
                      </a:ext>
                    </a:extLst>
                  </p:cNvPr>
                  <p:cNvSpPr txBox="1"/>
                  <p:nvPr/>
                </p:nvSpPr>
                <p:spPr>
                  <a:xfrm>
                    <a:off x="9587790" y="2768146"/>
                    <a:ext cx="420692" cy="369332"/>
                  </a:xfrm>
                  <a:prstGeom prst="rect">
                    <a:avLst/>
                  </a:prstGeom>
                  <a:noFill/>
                </p:spPr>
                <p:txBody>
                  <a:bodyPr wrap="non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m:oMathPara>
                    </a14:m>
                    <a:endParaRPr lang="en-US" dirty="0"/>
                  </a:p>
                </p:txBody>
              </p:sp>
            </mc:Choice>
            <mc:Fallback xmlns="">
              <p:sp>
                <p:nvSpPr>
                  <p:cNvPr id="11" name="TextBox 10" descr="Equation: s sub t">
                    <a:extLst>
                      <a:ext uri="{FF2B5EF4-FFF2-40B4-BE49-F238E27FC236}">
                        <a16:creationId xmlns:a16="http://schemas.microsoft.com/office/drawing/2014/main" id="{6F1582BE-FC1D-8519-D0F6-0A504C18634A}"/>
                      </a:ext>
                    </a:extLst>
                  </p:cNvPr>
                  <p:cNvSpPr txBox="1">
                    <a:spLocks noRot="1" noChangeAspect="1" noMove="1" noResize="1" noEditPoints="1" noAdjustHandles="1" noChangeArrowheads="1" noChangeShapeType="1" noTextEdit="1"/>
                  </p:cNvSpPr>
                  <p:nvPr/>
                </p:nvSpPr>
                <p:spPr>
                  <a:xfrm>
                    <a:off x="9587790" y="2768146"/>
                    <a:ext cx="420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minus phi (s sub t)">
                    <a:extLst>
                      <a:ext uri="{FF2B5EF4-FFF2-40B4-BE49-F238E27FC236}">
                        <a16:creationId xmlns:a16="http://schemas.microsoft.com/office/drawing/2014/main" id="{24258222-1224-AF39-EFA8-9570CDC44DFC}"/>
                      </a:ext>
                    </a:extLst>
                  </p:cNvPr>
                  <p:cNvSpPr txBox="1"/>
                  <p:nvPr/>
                </p:nvSpPr>
                <p:spPr>
                  <a:xfrm>
                    <a:off x="9564851" y="3313240"/>
                    <a:ext cx="947439"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oMath>
                      </m:oMathPara>
                    </a14:m>
                    <a:endParaRPr lang="en-US" dirty="0"/>
                  </a:p>
                </p:txBody>
              </p:sp>
            </mc:Choice>
            <mc:Fallback xmlns="">
              <p:sp>
                <p:nvSpPr>
                  <p:cNvPr id="12" name="TextBox 11" descr="Equation: minus phi (s sub t)">
                    <a:extLst>
                      <a:ext uri="{FF2B5EF4-FFF2-40B4-BE49-F238E27FC236}">
                        <a16:creationId xmlns:a16="http://schemas.microsoft.com/office/drawing/2014/main" id="{24258222-1224-AF39-EFA8-9570CDC44DFC}"/>
                      </a:ext>
                    </a:extLst>
                  </p:cNvPr>
                  <p:cNvSpPr txBox="1">
                    <a:spLocks noRot="1" noChangeAspect="1" noMove="1" noResize="1" noEditPoints="1" noAdjustHandles="1" noChangeArrowheads="1" noChangeShapeType="1" noTextEdit="1"/>
                  </p:cNvSpPr>
                  <p:nvPr/>
                </p:nvSpPr>
                <p:spPr>
                  <a:xfrm>
                    <a:off x="9564851" y="3313240"/>
                    <a:ext cx="947439" cy="369332"/>
                  </a:xfrm>
                  <a:prstGeom prst="rect">
                    <a:avLst/>
                  </a:prstGeom>
                  <a:blipFill>
                    <a:blip r:embed="rId5"/>
                    <a:stretch>
                      <a:fillRect b="-11475"/>
                    </a:stretch>
                  </a:blipFill>
                </p:spPr>
                <p:txBody>
                  <a:bodyPr/>
                  <a:lstStyle/>
                  <a:p>
                    <a:r>
                      <a:rPr lang="en-US">
                        <a:noFill/>
                      </a:rPr>
                      <a:t> </a:t>
                    </a:r>
                  </a:p>
                </p:txBody>
              </p:sp>
            </mc:Fallback>
          </mc:AlternateContent>
        </p:grpSp>
        <p:sp>
          <p:nvSpPr>
            <p:cNvPr id="17" name="TextBox 16">
              <a:extLst>
                <a:ext uri="{FF2B5EF4-FFF2-40B4-BE49-F238E27FC236}">
                  <a16:creationId xmlns:a16="http://schemas.microsoft.com/office/drawing/2014/main" id="{4EE8BCDF-91ED-2943-737C-3C8BE0D45371}"/>
                </a:ext>
              </a:extLst>
            </p:cNvPr>
            <p:cNvSpPr txBox="1"/>
            <p:nvPr/>
          </p:nvSpPr>
          <p:spPr>
            <a:xfrm>
              <a:off x="8857815" y="1117153"/>
              <a:ext cx="1146629" cy="369332"/>
            </a:xfrm>
            <a:prstGeom prst="rect">
              <a:avLst/>
            </a:prstGeom>
            <a:noFill/>
          </p:spPr>
          <p:txBody>
            <a:bodyPr wrap="square">
              <a:spAutoFit/>
            </a:bodyPr>
            <a:lstStyle/>
            <a:p>
              <a:r>
                <a:rPr lang="en-US" b="1" dirty="0"/>
                <a:t>Example</a:t>
              </a:r>
            </a:p>
          </p:txBody>
        </p:sp>
      </p:grpSp>
      <p:sp>
        <p:nvSpPr>
          <p:cNvPr id="20" name="TextBox 19">
            <a:extLst>
              <a:ext uri="{FF2B5EF4-FFF2-40B4-BE49-F238E27FC236}">
                <a16:creationId xmlns:a16="http://schemas.microsoft.com/office/drawing/2014/main" id="{1762C18D-B08D-A252-9423-66AE87D75945}"/>
              </a:ext>
            </a:extLst>
          </p:cNvPr>
          <p:cNvSpPr txBox="1"/>
          <p:nvPr/>
        </p:nvSpPr>
        <p:spPr>
          <a:xfrm>
            <a:off x="622738" y="6061504"/>
            <a:ext cx="1098525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a:t>Andrew Y. Ng, Daishi Harada, and Stuart J. Russell. 1999. </a:t>
            </a:r>
            <a:r>
              <a:rPr lang="en-US" sz="1600" dirty="0">
                <a:hlinkClick r:id="rId6"/>
              </a:rPr>
              <a:t>Policy Invariance Under Reward Transformations: Theory and Application to Reward Shaping</a:t>
            </a:r>
            <a:r>
              <a:rPr lang="en-US" sz="1600" dirty="0"/>
              <a:t>. In Proceedings of the Sixteenth International Conference on Machine Learning (ICML '99).</a:t>
            </a:r>
          </a:p>
        </p:txBody>
      </p:sp>
    </p:spTree>
    <p:extLst>
      <p:ext uri="{BB962C8B-B14F-4D97-AF65-F5344CB8AC3E}">
        <p14:creationId xmlns:p14="http://schemas.microsoft.com/office/powerpoint/2010/main" val="185998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B733-4492-01F0-2D27-7662F7C86B89}"/>
              </a:ext>
            </a:extLst>
          </p:cNvPr>
          <p:cNvSpPr>
            <a:spLocks noGrp="1"/>
          </p:cNvSpPr>
          <p:nvPr>
            <p:ph type="title"/>
          </p:nvPr>
        </p:nvSpPr>
        <p:spPr/>
        <p:txBody>
          <a:bodyPr/>
          <a:lstStyle/>
          <a:p>
            <a:r>
              <a:rPr lang="en-US" dirty="0"/>
              <a:t>Intermediate Milestone Rewards</a:t>
            </a:r>
          </a:p>
        </p:txBody>
      </p:sp>
      <mc:AlternateContent xmlns:mc="http://schemas.openxmlformats.org/markup-compatibility/2006" xmlns:a14="http://schemas.microsoft.com/office/drawing/2010/main">
        <mc:Choice Requires="a14">
          <p:sp>
            <p:nvSpPr>
              <p:cNvPr id="3" name="Content Placeholder 2" descr="Idea: Add small one-time rewards for solving an important subtask: r prime (s,a,s prime) equals r (s,a,s prime) plus m sub t where m sub t equals r sub m when a milestone m is reached for the first time and 0 otherwise. Subtask completion can be represented as reaching a state for the first time. This can help with complex, multi-step problems. Note: This can be seen as a simplified version of PBRS. Issues:. Reward Hacking. Misleading Paths: If the intermediate reward is poorly designed">
                <a:extLst>
                  <a:ext uri="{FF2B5EF4-FFF2-40B4-BE49-F238E27FC236}">
                    <a16:creationId xmlns:a16="http://schemas.microsoft.com/office/drawing/2014/main" id="{618B468E-DFDF-7E93-B66D-0578F006CF90}"/>
                  </a:ext>
                </a:extLst>
              </p:cNvPr>
              <p:cNvSpPr>
                <a:spLocks noGrp="1"/>
              </p:cNvSpPr>
              <p:nvPr>
                <p:ph idx="1"/>
              </p:nvPr>
            </p:nvSpPr>
            <p:spPr>
              <a:xfrm>
                <a:off x="838200" y="1397330"/>
                <a:ext cx="7635705" cy="5164014"/>
              </a:xfrm>
            </p:spPr>
            <p:txBody>
              <a:bodyPr>
                <a:normAutofit fontScale="77500" lnSpcReduction="20000"/>
              </a:bodyPr>
              <a:lstStyle/>
              <a:p>
                <a:r>
                  <a:rPr lang="en-US" b="1" dirty="0"/>
                  <a:t>Idea</a:t>
                </a:r>
                <a:r>
                  <a:rPr lang="en-US" dirty="0"/>
                  <a:t>: Add small one-time rewards for solving an important subtask:</a:t>
                </a:r>
                <a:br>
                  <a:rPr lang="en-US" dirty="0"/>
                </a:br>
                <a:br>
                  <a:rPr lang="en-US"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r>
                      <a:rPr lang="en-US" i="1">
                        <a:latin typeface="Cambria Math" panose="02040503050406030204" pitchFamily="18" charset="0"/>
                      </a:rPr>
                      <m:t>=</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𝑡</m:t>
                        </m:r>
                      </m:sub>
                    </m:sSub>
                  </m:oMath>
                </a14:m>
                <a:br>
                  <a:rPr lang="en-US" b="0" dirty="0"/>
                </a:br>
                <a:br>
                  <a:rPr lang="en-US" b="0" dirty="0"/>
                </a:br>
                <a:r>
                  <a:rPr lang="en-US" b="0"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m:t>
                        </m:r>
                      </m:sub>
                    </m:sSub>
                  </m:oMath>
                </a14:m>
                <a:r>
                  <a:rPr lang="en-US" dirty="0"/>
                  <a:t> when a milestone </a:t>
                </a:r>
                <a14:m>
                  <m:oMath xmlns:m="http://schemas.openxmlformats.org/officeDocument/2006/math">
                    <m:r>
                      <a:rPr lang="en-US" b="0" i="1" smtClean="0">
                        <a:latin typeface="Cambria Math" panose="02040503050406030204" pitchFamily="18" charset="0"/>
                      </a:rPr>
                      <m:t>𝑚</m:t>
                    </m:r>
                  </m:oMath>
                </a14:m>
                <a:r>
                  <a:rPr lang="en-US" dirty="0"/>
                  <a:t> is reached for the first time and</a:t>
                </a:r>
                <a14:m>
                  <m:oMath xmlns:m="http://schemas.openxmlformats.org/officeDocument/2006/math">
                    <m:r>
                      <a:rPr lang="en-US" i="1" dirty="0" smtClean="0">
                        <a:latin typeface="Cambria Math" panose="02040503050406030204" pitchFamily="18" charset="0"/>
                      </a:rPr>
                      <m:t> 0 </m:t>
                    </m:r>
                  </m:oMath>
                </a14:m>
                <a:r>
                  <a:rPr lang="en-US" dirty="0"/>
                  <a:t>otherwise.</a:t>
                </a:r>
              </a:p>
              <a:p>
                <a:r>
                  <a:rPr lang="en-US" dirty="0"/>
                  <a:t>Subtask completion can be represented as reaching a state for the first time.</a:t>
                </a:r>
              </a:p>
              <a:p>
                <a:endParaRPr lang="en-US" dirty="0"/>
              </a:p>
              <a:p>
                <a:r>
                  <a:rPr lang="en-US" dirty="0"/>
                  <a:t>This can help with complex, multi-step problems.</a:t>
                </a:r>
              </a:p>
              <a:p>
                <a:r>
                  <a:rPr lang="en-US" b="1" dirty="0"/>
                  <a:t>Note</a:t>
                </a:r>
                <a:r>
                  <a:rPr lang="en-US" dirty="0"/>
                  <a:t>: This can be seen as a simplified version of PBRS.</a:t>
                </a:r>
              </a:p>
              <a:p>
                <a:endParaRPr lang="en-US" dirty="0"/>
              </a:p>
              <a:p>
                <a:r>
                  <a:rPr lang="en-US" b="1" dirty="0"/>
                  <a:t>Issues</a:t>
                </a:r>
                <a:r>
                  <a:rPr lang="en-US" dirty="0"/>
                  <a:t>:</a:t>
                </a:r>
              </a:p>
              <a:p>
                <a:pPr lvl="1"/>
                <a:r>
                  <a:rPr lang="en-US" dirty="0"/>
                  <a:t>Reward Hacking</a:t>
                </a:r>
              </a:p>
              <a:p>
                <a:pPr lvl="1"/>
                <a:r>
                  <a:rPr lang="en-US" dirty="0"/>
                  <a:t>Misleading Paths: If the intermediate reward is poorly designed</a:t>
                </a:r>
              </a:p>
            </p:txBody>
          </p:sp>
        </mc:Choice>
        <mc:Fallback xmlns="">
          <p:sp>
            <p:nvSpPr>
              <p:cNvPr id="3" name="Content Placeholder 2" descr="Idea: Add small one-time rewards for solving an important subtask: r prime (s,a,s prime) equals r (s,a,s prime) plus m sub t where m sub t equals r sub m when a milestone m is reached for the first time and 0 otherwise. Subtask completion can be represented as reaching a state for the first time. This can help with complex, multi-step problems. Note: This can be seen as a simplified version of PBRS. Issues:. Reward Hacking. Misleading Paths: If the intermediate reward is poorly designed">
                <a:extLst>
                  <a:ext uri="{FF2B5EF4-FFF2-40B4-BE49-F238E27FC236}">
                    <a16:creationId xmlns:a16="http://schemas.microsoft.com/office/drawing/2014/main" id="{618B468E-DFDF-7E93-B66D-0578F006CF90}"/>
                  </a:ext>
                </a:extLst>
              </p:cNvPr>
              <p:cNvSpPr>
                <a:spLocks noGrp="1" noRot="1" noChangeAspect="1" noMove="1" noResize="1" noEditPoints="1" noAdjustHandles="1" noChangeArrowheads="1" noChangeShapeType="1" noTextEdit="1"/>
              </p:cNvSpPr>
              <p:nvPr>
                <p:ph idx="1"/>
              </p:nvPr>
            </p:nvSpPr>
            <p:spPr>
              <a:xfrm>
                <a:off x="838200" y="1397330"/>
                <a:ext cx="7635705" cy="5164014"/>
              </a:xfrm>
              <a:blipFill>
                <a:blip r:embed="rId2"/>
                <a:stretch>
                  <a:fillRect l="-958" t="-2361" r="-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r sub m sub 1">
                <a:extLst>
                  <a:ext uri="{FF2B5EF4-FFF2-40B4-BE49-F238E27FC236}">
                    <a16:creationId xmlns:a16="http://schemas.microsoft.com/office/drawing/2014/main" id="{CB468F2C-575A-F542-AD60-D78B19B89DBF}"/>
                  </a:ext>
                </a:extLst>
              </p:cNvPr>
              <p:cNvSpPr txBox="1"/>
              <p:nvPr/>
            </p:nvSpPr>
            <p:spPr>
              <a:xfrm>
                <a:off x="3048657" y="3331044"/>
                <a:ext cx="474936" cy="393121"/>
              </a:xfrm>
              <a:prstGeom prst="rect">
                <a:avLst/>
              </a:prstGeom>
              <a:noFill/>
            </p:spPr>
            <p:txBody>
              <a:bodyPr wrap="square">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ub>
                    </m:sSub>
                  </m:oMath>
                </a14:m>
                <a:r>
                  <a:rPr lang="en-US" dirty="0"/>
                  <a:t> </a:t>
                </a:r>
              </a:p>
            </p:txBody>
          </p:sp>
        </mc:Choice>
        <mc:Fallback xmlns="">
          <p:sp>
            <p:nvSpPr>
              <p:cNvPr id="25" name="TextBox 24" descr="Equation: r sub m sub 1">
                <a:extLst>
                  <a:ext uri="{FF2B5EF4-FFF2-40B4-BE49-F238E27FC236}">
                    <a16:creationId xmlns:a16="http://schemas.microsoft.com/office/drawing/2014/main" id="{CB468F2C-575A-F542-AD60-D78B19B89DBF}"/>
                  </a:ext>
                </a:extLst>
              </p:cNvPr>
              <p:cNvSpPr txBox="1">
                <a:spLocks noRot="1" noChangeAspect="1" noMove="1" noResize="1" noEditPoints="1" noAdjustHandles="1" noChangeArrowheads="1" noChangeShapeType="1" noTextEdit="1"/>
              </p:cNvSpPr>
              <p:nvPr/>
            </p:nvSpPr>
            <p:spPr>
              <a:xfrm>
                <a:off x="3048657" y="3331044"/>
                <a:ext cx="474936" cy="393121"/>
              </a:xfrm>
              <a:prstGeom prst="rect">
                <a:avLst/>
              </a:prstGeom>
              <a:blipFill>
                <a:blip r:embed="rId4"/>
                <a:stretch>
                  <a:fillRect/>
                </a:stretch>
              </a:blipFill>
            </p:spPr>
            <p:txBody>
              <a:bodyPr/>
              <a:lstStyle/>
              <a:p>
                <a:r>
                  <a:rPr lang="en-US">
                    <a:noFill/>
                  </a:rPr>
                  <a:t> </a:t>
                </a:r>
              </a:p>
            </p:txBody>
          </p:sp>
        </mc:Fallback>
      </mc:AlternateContent>
      <p:grpSp>
        <p:nvGrpSpPr>
          <p:cNvPr id="30" name="Group 29" descr="Gridworld of 11 by 11 cells, each numbered with its state index (0 to 102), with black wall cells dividing it into rooms; the start S is at the bottom left and the goal G is on the left side near the middle. Labels: S; G; Milestone is going to the next room; Examples; milestones.">
            <a:extLst>
              <a:ext uri="{FF2B5EF4-FFF2-40B4-BE49-F238E27FC236}">
                <a16:creationId xmlns:a16="http://schemas.microsoft.com/office/drawing/2014/main" id="{A045BF9A-8EB9-76B3-DAAF-FAA96CB2B70C}"/>
              </a:ext>
            </a:extLst>
          </p:cNvPr>
          <p:cNvGrpSpPr/>
          <p:nvPr/>
        </p:nvGrpSpPr>
        <p:grpSpPr>
          <a:xfrm>
            <a:off x="8473905" y="922210"/>
            <a:ext cx="3318766" cy="3474780"/>
            <a:chOff x="8473905" y="922210"/>
            <a:chExt cx="3318766" cy="3474780"/>
          </a:xfrm>
        </p:grpSpPr>
        <p:grpSp>
          <p:nvGrpSpPr>
            <p:cNvPr id="20" name="Group 19" descr="Gridworld of 11 by 11 cells, each numbered with its state index (0 to 102), with black wall cells dividing it into rooms; the start S is at the bottom left and the goal G is on the left side near the middle. Labels: S; G.">
              <a:extLst>
                <a:ext uri="{FF2B5EF4-FFF2-40B4-BE49-F238E27FC236}">
                  <a16:creationId xmlns:a16="http://schemas.microsoft.com/office/drawing/2014/main" id="{E9F69A08-A188-1F8E-9AED-3A5BEEEF06DC}"/>
                </a:ext>
              </a:extLst>
            </p:cNvPr>
            <p:cNvGrpSpPr/>
            <p:nvPr/>
          </p:nvGrpSpPr>
          <p:grpSpPr>
            <a:xfrm>
              <a:off x="8530224" y="1341489"/>
              <a:ext cx="2837432" cy="2816970"/>
              <a:chOff x="8630958" y="1397330"/>
              <a:chExt cx="2837432" cy="2816970"/>
            </a:xfrm>
          </p:grpSpPr>
          <p:pic>
            <p:nvPicPr>
              <p:cNvPr id="5" name="Picture 4" descr="Gridworld of 11 by 11 cells, each numbered with its state index (0 to 102), with black wall cells dividing it into rooms; the start S is at the bottom left and the goal G is on the left side near the middle.">
                <a:extLst>
                  <a:ext uri="{FF2B5EF4-FFF2-40B4-BE49-F238E27FC236}">
                    <a16:creationId xmlns:a16="http://schemas.microsoft.com/office/drawing/2014/main" id="{1072791A-71C7-E9FB-73DE-B3A9C287B549}"/>
                  </a:ext>
                </a:extLst>
              </p:cNvPr>
              <p:cNvPicPr>
                <a:picLocks noChangeAspect="1"/>
              </p:cNvPicPr>
              <p:nvPr/>
            </p:nvPicPr>
            <p:blipFill>
              <a:blip r:embed="rId5"/>
              <a:stretch>
                <a:fillRect/>
              </a:stretch>
            </p:blipFill>
            <p:spPr>
              <a:xfrm>
                <a:off x="8630958" y="1397330"/>
                <a:ext cx="2837432" cy="2816970"/>
              </a:xfrm>
              <a:prstGeom prst="rect">
                <a:avLst/>
              </a:prstGeom>
            </p:spPr>
          </p:pic>
          <p:sp>
            <p:nvSpPr>
              <p:cNvPr id="6" name="TextBox 5">
                <a:extLst>
                  <a:ext uri="{FF2B5EF4-FFF2-40B4-BE49-F238E27FC236}">
                    <a16:creationId xmlns:a16="http://schemas.microsoft.com/office/drawing/2014/main" id="{C8D902B2-0098-3E94-5984-CFEEAADB6CAB}"/>
                  </a:ext>
                </a:extLst>
              </p:cNvPr>
              <p:cNvSpPr txBox="1"/>
              <p:nvPr/>
            </p:nvSpPr>
            <p:spPr>
              <a:xfrm>
                <a:off x="8829894" y="3706461"/>
                <a:ext cx="286186" cy="369332"/>
              </a:xfrm>
              <a:prstGeom prst="rect">
                <a:avLst/>
              </a:prstGeom>
              <a:noFill/>
            </p:spPr>
            <p:txBody>
              <a:bodyPr wrap="square" rtlCol="0">
                <a:spAutoFit/>
              </a:bodyPr>
              <a:lstStyle/>
              <a:p>
                <a:r>
                  <a:rPr lang="en-US" b="1" dirty="0">
                    <a:solidFill>
                      <a:schemeClr val="accent2"/>
                    </a:solidFill>
                  </a:rPr>
                  <a:t>S</a:t>
                </a:r>
              </a:p>
            </p:txBody>
          </p:sp>
          <p:sp>
            <p:nvSpPr>
              <p:cNvPr id="7" name="TextBox 6">
                <a:extLst>
                  <a:ext uri="{FF2B5EF4-FFF2-40B4-BE49-F238E27FC236}">
                    <a16:creationId xmlns:a16="http://schemas.microsoft.com/office/drawing/2014/main" id="{8E1A6823-6225-E029-B579-A760C1FAD6AA}"/>
                  </a:ext>
                </a:extLst>
              </p:cNvPr>
              <p:cNvSpPr txBox="1"/>
              <p:nvPr/>
            </p:nvSpPr>
            <p:spPr>
              <a:xfrm>
                <a:off x="8822914" y="2316604"/>
                <a:ext cx="286186" cy="369332"/>
              </a:xfrm>
              <a:prstGeom prst="rect">
                <a:avLst/>
              </a:prstGeom>
              <a:noFill/>
            </p:spPr>
            <p:txBody>
              <a:bodyPr wrap="square" rtlCol="0">
                <a:spAutoFit/>
              </a:bodyPr>
              <a:lstStyle/>
              <a:p>
                <a:r>
                  <a:rPr lang="en-US" b="1" dirty="0">
                    <a:solidFill>
                      <a:schemeClr val="accent3"/>
                    </a:solidFill>
                  </a:rPr>
                  <a:t>G</a:t>
                </a:r>
              </a:p>
            </p:txBody>
          </p:sp>
          <p:cxnSp>
            <p:nvCxnSpPr>
              <p:cNvPr id="12" name="Straight Arrow Connector 11">
                <a:extLst>
                  <a:ext uri="{FF2B5EF4-FFF2-40B4-BE49-F238E27FC236}">
                    <a16:creationId xmlns:a16="http://schemas.microsoft.com/office/drawing/2014/main" id="{713EDFE4-878A-CED1-BB4A-C0A617B8AFED}"/>
                  </a:ext>
                  <a:ext uri="{C183D7F6-B498-43B3-948B-1728B52AA6E4}">
                    <adec:decorative xmlns:adec="http://schemas.microsoft.com/office/drawing/2017/decorative" val="1"/>
                  </a:ext>
                </a:extLst>
              </p:cNvPr>
              <p:cNvCxnSpPr>
                <a:cxnSpLocks/>
              </p:cNvCxnSpPr>
              <p:nvPr/>
            </p:nvCxnSpPr>
            <p:spPr>
              <a:xfrm flipV="1">
                <a:off x="11055400" y="2685936"/>
                <a:ext cx="0" cy="26666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117AFCD-8EA3-9F7B-9D9A-DB5468C4180B}"/>
                  </a:ext>
                  <a:ext uri="{C183D7F6-B498-43B3-948B-1728B52AA6E4}">
                    <adec:decorative xmlns:adec="http://schemas.microsoft.com/office/drawing/2017/decorative" val="1"/>
                  </a:ext>
                </a:extLst>
              </p:cNvPr>
              <p:cNvCxnSpPr>
                <a:cxnSpLocks/>
              </p:cNvCxnSpPr>
              <p:nvPr/>
            </p:nvCxnSpPr>
            <p:spPr>
              <a:xfrm flipH="1">
                <a:off x="9911817" y="1806697"/>
                <a:ext cx="23732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BC1C8894-1D64-6ABE-A8A6-D78ADE7DA155}"/>
                </a:ext>
              </a:extLst>
            </p:cNvPr>
            <p:cNvSpPr txBox="1"/>
            <p:nvPr/>
          </p:nvSpPr>
          <p:spPr>
            <a:xfrm>
              <a:off x="8473905" y="4058436"/>
              <a:ext cx="3237361" cy="338554"/>
            </a:xfrm>
            <a:prstGeom prst="rect">
              <a:avLst/>
            </a:prstGeom>
            <a:noFill/>
          </p:spPr>
          <p:txBody>
            <a:bodyPr wrap="none" rtlCol="0">
              <a:spAutoFit/>
            </a:bodyPr>
            <a:lstStyle/>
            <a:p>
              <a:r>
                <a:rPr lang="en-US" sz="1600" dirty="0"/>
                <a:t>Milestone is going to the next room</a:t>
              </a:r>
            </a:p>
          </p:txBody>
        </p:sp>
        <p:sp>
          <p:nvSpPr>
            <p:cNvPr id="23" name="TextBox 22">
              <a:extLst>
                <a:ext uri="{FF2B5EF4-FFF2-40B4-BE49-F238E27FC236}">
                  <a16:creationId xmlns:a16="http://schemas.microsoft.com/office/drawing/2014/main" id="{03E09C7B-AC02-4BE1-7834-921CCADFA68A}"/>
                </a:ext>
              </a:extLst>
            </p:cNvPr>
            <p:cNvSpPr txBox="1"/>
            <p:nvPr/>
          </p:nvSpPr>
          <p:spPr>
            <a:xfrm>
              <a:off x="8712834" y="922210"/>
              <a:ext cx="1211870" cy="369332"/>
            </a:xfrm>
            <a:prstGeom prst="rect">
              <a:avLst/>
            </a:prstGeom>
            <a:noFill/>
          </p:spPr>
          <p:txBody>
            <a:bodyPr wrap="none" rtlCol="0">
              <a:spAutoFit/>
            </a:bodyPr>
            <a:lstStyle/>
            <a:p>
              <a:r>
                <a:rPr lang="en-US" b="1" dirty="0"/>
                <a:t>Examples</a:t>
              </a:r>
            </a:p>
          </p:txBody>
        </p:sp>
        <p:cxnSp>
          <p:nvCxnSpPr>
            <p:cNvPr id="26" name="Straight Arrow Connector 25">
              <a:extLst>
                <a:ext uri="{FF2B5EF4-FFF2-40B4-BE49-F238E27FC236}">
                  <a16:creationId xmlns:a16="http://schemas.microsoft.com/office/drawing/2014/main" id="{B2F15B02-F890-B53D-BB31-28E200F24BA6}"/>
                </a:ext>
                <a:ext uri="{C183D7F6-B498-43B3-948B-1728B52AA6E4}">
                  <adec:decorative xmlns:adec="http://schemas.microsoft.com/office/drawing/2017/decorative" val="1"/>
                </a:ext>
              </a:extLst>
            </p:cNvPr>
            <p:cNvCxnSpPr>
              <a:cxnSpLocks/>
            </p:cNvCxnSpPr>
            <p:nvPr/>
          </p:nvCxnSpPr>
          <p:spPr>
            <a:xfrm>
              <a:off x="10048408" y="3587800"/>
              <a:ext cx="23034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nvGrpSpPr>
            <p:cNvPr id="29" name="Group 28" descr="Legend: a blue arrow marks the milestones.">
              <a:extLst>
                <a:ext uri="{FF2B5EF4-FFF2-40B4-BE49-F238E27FC236}">
                  <a16:creationId xmlns:a16="http://schemas.microsoft.com/office/drawing/2014/main" id="{83DD06DC-83A5-BE27-F526-3AADE71D0746}"/>
                </a:ext>
              </a:extLst>
            </p:cNvPr>
            <p:cNvGrpSpPr/>
            <p:nvPr/>
          </p:nvGrpSpPr>
          <p:grpSpPr>
            <a:xfrm>
              <a:off x="10278751" y="1020961"/>
              <a:ext cx="1513920" cy="338554"/>
              <a:chOff x="10381371" y="952988"/>
              <a:chExt cx="1524233" cy="276999"/>
            </a:xfrm>
          </p:grpSpPr>
          <p:cxnSp>
            <p:nvCxnSpPr>
              <p:cNvPr id="27" name="Straight Arrow Connector 26">
                <a:extLst>
                  <a:ext uri="{FF2B5EF4-FFF2-40B4-BE49-F238E27FC236}">
                    <a16:creationId xmlns:a16="http://schemas.microsoft.com/office/drawing/2014/main" id="{1C44AF51-C2B0-D401-8190-096136BA9382}"/>
                  </a:ext>
                  <a:ext uri="{C183D7F6-B498-43B3-948B-1728B52AA6E4}">
                    <adec:decorative xmlns:adec="http://schemas.microsoft.com/office/drawing/2017/decorative" val="1"/>
                  </a:ext>
                </a:extLst>
              </p:cNvPr>
              <p:cNvCxnSpPr>
                <a:cxnSpLocks/>
              </p:cNvCxnSpPr>
              <p:nvPr/>
            </p:nvCxnSpPr>
            <p:spPr>
              <a:xfrm>
                <a:off x="10381371" y="1087479"/>
                <a:ext cx="23034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09EFC8D4-1204-5D4E-004C-711A7F4E9978}"/>
                  </a:ext>
                </a:extLst>
              </p:cNvPr>
              <p:cNvSpPr txBox="1"/>
              <p:nvPr/>
            </p:nvSpPr>
            <p:spPr>
              <a:xfrm>
                <a:off x="10580926" y="952988"/>
                <a:ext cx="1324678" cy="276999"/>
              </a:xfrm>
              <a:prstGeom prst="rect">
                <a:avLst/>
              </a:prstGeom>
              <a:noFill/>
            </p:spPr>
            <p:txBody>
              <a:bodyPr wrap="square" rtlCol="0">
                <a:spAutoFit/>
              </a:bodyPr>
              <a:lstStyle/>
              <a:p>
                <a:r>
                  <a:rPr lang="en-US" sz="1200" dirty="0"/>
                  <a:t>milestones</a:t>
                </a:r>
              </a:p>
            </p:txBody>
          </p:sp>
        </p:grpSp>
      </p:grpSp>
      <p:grpSp>
        <p:nvGrpSpPr>
          <p:cNvPr id="31" name="Group 30" descr="Screenshot of a MiniGrid environment: a dark grid world with the agent (a red triangle), a green key, a ball, a door in the wall and a yellow goal box. Labels: Milestones:. Picking up the key, opening the door.">
            <a:extLst>
              <a:ext uri="{FF2B5EF4-FFF2-40B4-BE49-F238E27FC236}">
                <a16:creationId xmlns:a16="http://schemas.microsoft.com/office/drawing/2014/main" id="{F38F2D1E-5ACC-9E69-D3C6-AA7CAB0B7A9F}"/>
              </a:ext>
            </a:extLst>
          </p:cNvPr>
          <p:cNvGrpSpPr/>
          <p:nvPr/>
        </p:nvGrpSpPr>
        <p:grpSpPr>
          <a:xfrm>
            <a:off x="8522058" y="4567826"/>
            <a:ext cx="3452227" cy="2460192"/>
            <a:chOff x="8522058" y="4567826"/>
            <a:chExt cx="3452227" cy="2460192"/>
          </a:xfrm>
        </p:grpSpPr>
        <p:pic>
          <p:nvPicPr>
            <p:cNvPr id="19" name="Picture 18" descr="Screenshot of a MiniGrid environment: a dark grid world with the agent (a red triangle), a green key, a ball, a door in the wall and a yellow goal box.">
              <a:extLst>
                <a:ext uri="{FF2B5EF4-FFF2-40B4-BE49-F238E27FC236}">
                  <a16:creationId xmlns:a16="http://schemas.microsoft.com/office/drawing/2014/main" id="{3DFD1FF3-C329-F0CF-1174-2F80AA5EF81F}"/>
                </a:ext>
              </a:extLst>
            </p:cNvPr>
            <p:cNvPicPr>
              <a:picLocks noChangeAspect="1"/>
            </p:cNvPicPr>
            <p:nvPr/>
          </p:nvPicPr>
          <p:blipFill>
            <a:blip r:embed="rId6"/>
            <a:stretch>
              <a:fillRect/>
            </a:stretch>
          </p:blipFill>
          <p:spPr>
            <a:xfrm>
              <a:off x="8628426" y="4567826"/>
              <a:ext cx="2839963" cy="1629195"/>
            </a:xfrm>
            <a:prstGeom prst="rect">
              <a:avLst/>
            </a:prstGeom>
          </p:spPr>
        </p:pic>
        <p:sp>
          <p:nvSpPr>
            <p:cNvPr id="22" name="TextBox 21">
              <a:extLst>
                <a:ext uri="{FF2B5EF4-FFF2-40B4-BE49-F238E27FC236}">
                  <a16:creationId xmlns:a16="http://schemas.microsoft.com/office/drawing/2014/main" id="{DB391B1B-9FC2-9F77-44C3-CE049FE794EE}"/>
                </a:ext>
              </a:extLst>
            </p:cNvPr>
            <p:cNvSpPr txBox="1"/>
            <p:nvPr/>
          </p:nvSpPr>
          <p:spPr>
            <a:xfrm>
              <a:off x="8522058" y="6197021"/>
              <a:ext cx="3452227" cy="830997"/>
            </a:xfrm>
            <a:prstGeom prst="rect">
              <a:avLst/>
            </a:prstGeom>
            <a:noFill/>
          </p:spPr>
          <p:txBody>
            <a:bodyPr wrap="square" rtlCol="0">
              <a:spAutoFit/>
            </a:bodyPr>
            <a:lstStyle/>
            <a:p>
              <a:r>
                <a:rPr lang="en-US" sz="1600" dirty="0"/>
                <a:t>Milestones: </a:t>
              </a:r>
            </a:p>
            <a:p>
              <a:r>
                <a:rPr lang="en-US" sz="1600" dirty="0"/>
                <a:t>Picking up the key, opening the door.</a:t>
              </a:r>
            </a:p>
            <a:p>
              <a:endParaRPr lang="en-US" sz="1600" dirty="0"/>
            </a:p>
          </p:txBody>
        </p:sp>
      </p:grpSp>
    </p:spTree>
    <p:extLst>
      <p:ext uri="{BB962C8B-B14F-4D97-AF65-F5344CB8AC3E}">
        <p14:creationId xmlns:p14="http://schemas.microsoft.com/office/powerpoint/2010/main" val="267057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B9CD-F9C2-79A4-1E08-EC01401386A6}"/>
              </a:ext>
            </a:extLst>
          </p:cNvPr>
          <p:cNvSpPr>
            <a:spLocks noGrp="1"/>
          </p:cNvSpPr>
          <p:nvPr>
            <p:ph type="title"/>
          </p:nvPr>
        </p:nvSpPr>
        <p:spPr/>
        <p:txBody>
          <a:bodyPr/>
          <a:lstStyle/>
          <a:p>
            <a:r>
              <a:rPr lang="en-US" dirty="0"/>
              <a:t> Intrinsic Motivation: Curiosity</a:t>
            </a:r>
          </a:p>
        </p:txBody>
      </p:sp>
      <mc:AlternateContent xmlns:mc="http://schemas.openxmlformats.org/markup-compatibility/2006" xmlns:a14="http://schemas.microsoft.com/office/drawing/2010/main">
        <mc:Choice Requires="a14">
          <p:sp>
            <p:nvSpPr>
              <p:cNvPr id="3" name="Content Placeholder 2" descr="Providing the agent with an internal reward bonus to encourage exploration. Modify reward by adding internal reward r sub t equals r sub t, to the power ext, plus beta r sub t, to the power int. r sub t, to the power int depends on level of novelty of the reached state. How to measure novelty:. Visit a new state/set of states for the first time. Visit a state that has not been visited very often (the agent is uncertain about its value). Visit a state that surprises the agent. I.e. the agent’s current model produces a large prediction error (temporal difference error). Issue: “Noisy TV problem” : the agent gets trapped by the reward for staring at a static-filled, always-changing, unlearnable TV screen! Caused by state descriptions which contain highly stochastic elements">
                <a:extLst>
                  <a:ext uri="{FF2B5EF4-FFF2-40B4-BE49-F238E27FC236}">
                    <a16:creationId xmlns:a16="http://schemas.microsoft.com/office/drawing/2014/main" id="{7E56D306-E35D-B7B4-8146-6D8514294A92}"/>
                  </a:ext>
                </a:extLst>
              </p:cNvPr>
              <p:cNvSpPr>
                <a:spLocks noGrp="1"/>
              </p:cNvSpPr>
              <p:nvPr>
                <p:ph idx="1"/>
              </p:nvPr>
            </p:nvSpPr>
            <p:spPr>
              <a:xfrm>
                <a:off x="838201" y="1195754"/>
                <a:ext cx="7405360" cy="4747847"/>
              </a:xfrm>
            </p:spPr>
            <p:txBody>
              <a:bodyPr>
                <a:normAutofit fontScale="62500" lnSpcReduction="20000"/>
              </a:bodyPr>
              <a:lstStyle/>
              <a:p>
                <a:r>
                  <a:rPr lang="en-US" dirty="0"/>
                  <a:t>Providing the agent with an internal reward bonus to encourage exploration. </a:t>
                </a:r>
              </a:p>
              <a:p>
                <a:r>
                  <a:rPr lang="en-US" dirty="0"/>
                  <a:t>Modify reward by adding internal reward</a:t>
                </a:r>
                <a:br>
                  <a:rPr lang="en-US" dirty="0"/>
                </a:b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𝑟</m:t>
                        </m:r>
                      </m:e>
                      <m:sub>
                        <m:r>
                          <a:rPr lang="en-US" i="1">
                            <a:latin typeface="Cambria Math" panose="02040503050406030204" pitchFamily="18" charset="0"/>
                          </a:rPr>
                          <m:t>𝑡</m:t>
                        </m:r>
                      </m:sub>
                      <m:sup>
                        <m:r>
                          <a:rPr lang="en-US" i="1">
                            <a:latin typeface="Cambria Math" panose="02040503050406030204" pitchFamily="18" charset="0"/>
                          </a:rPr>
                          <m:t>𝑒𝑥𝑡</m:t>
                        </m:r>
                      </m:sup>
                    </m:sSubSup>
                    <m:r>
                      <a:rPr lang="en-US" i="1">
                        <a:latin typeface="Cambria Math" panose="02040503050406030204" pitchFamily="18" charset="0"/>
                      </a:rPr>
                      <m:t>+</m:t>
                    </m:r>
                    <m:r>
                      <a:rPr lang="en-US" i="1">
                        <a:latin typeface="Cambria Math" panose="02040503050406030204" pitchFamily="18" charset="0"/>
                      </a:rPr>
                      <m:t>𝛽</m:t>
                    </m:r>
                    <m:sSubSup>
                      <m:sSubSupPr>
                        <m:ctrlPr>
                          <a:rPr lang="en-US" i="1">
                            <a:latin typeface="Cambria Math" panose="02040503050406030204" pitchFamily="18" charset="0"/>
                          </a:rPr>
                        </m:ctrlPr>
                      </m:sSubSupPr>
                      <m:e>
                        <m:r>
                          <a:rPr lang="en-US" i="1">
                            <a:latin typeface="Cambria Math" panose="02040503050406030204" pitchFamily="18" charset="0"/>
                          </a:rPr>
                          <m:t>𝑟</m:t>
                        </m:r>
                      </m:e>
                      <m:sub>
                        <m:r>
                          <a:rPr lang="en-US" i="1">
                            <a:latin typeface="Cambria Math" panose="02040503050406030204" pitchFamily="18" charset="0"/>
                          </a:rPr>
                          <m:t>𝑡</m:t>
                        </m:r>
                      </m:sub>
                      <m:sup>
                        <m:r>
                          <a:rPr lang="en-US" i="1">
                            <a:latin typeface="Cambria Math" panose="02040503050406030204" pitchFamily="18" charset="0"/>
                          </a:rPr>
                          <m:t>𝑖𝑛𝑡</m:t>
                        </m:r>
                      </m:sup>
                    </m:sSubSup>
                  </m:oMath>
                </a14:m>
                <a:endParaRPr lang="en-US" dirty="0"/>
              </a:p>
              <a:p>
                <a:endParaRPr lang="en-US" dirty="0"/>
              </a:p>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𝑡</m:t>
                        </m:r>
                      </m:sub>
                      <m:sup>
                        <m:r>
                          <a:rPr lang="en-US" b="0" i="1" smtClean="0">
                            <a:latin typeface="Cambria Math" panose="02040503050406030204" pitchFamily="18" charset="0"/>
                          </a:rPr>
                          <m:t>𝑖𝑛𝑡</m:t>
                        </m:r>
                      </m:sup>
                    </m:sSubSup>
                  </m:oMath>
                </a14:m>
                <a:r>
                  <a:rPr lang="en-US" dirty="0"/>
                  <a:t> depends on level of novelty of the reached state.</a:t>
                </a:r>
              </a:p>
              <a:p>
                <a:endParaRPr lang="en-US" dirty="0"/>
              </a:p>
              <a:p>
                <a:r>
                  <a:rPr lang="en-US" b="1" dirty="0"/>
                  <a:t>How to measure novelty: </a:t>
                </a:r>
              </a:p>
              <a:p>
                <a:pPr lvl="1"/>
                <a:r>
                  <a:rPr lang="en-US" dirty="0"/>
                  <a:t>Visit a new state/set of states for the first time.</a:t>
                </a:r>
              </a:p>
              <a:p>
                <a:pPr lvl="1"/>
                <a:r>
                  <a:rPr lang="en-US" dirty="0"/>
                  <a:t>Visit a state that has not been visited very often (the agent is uncertain about its value).</a:t>
                </a:r>
              </a:p>
              <a:p>
                <a:pPr lvl="1"/>
                <a:r>
                  <a:rPr lang="en-US" dirty="0"/>
                  <a:t>Visit a state that surprises the agent. I.e. the agent’s current model produces a large prediction error (temporal difference error).</a:t>
                </a:r>
              </a:p>
              <a:p>
                <a:endParaRPr lang="en-US" dirty="0"/>
              </a:p>
              <a:p>
                <a:r>
                  <a:rPr lang="en-US" b="1" dirty="0"/>
                  <a:t>Issue</a:t>
                </a:r>
                <a:r>
                  <a:rPr lang="en-US" dirty="0"/>
                  <a:t>: “Noisy TV problem” : the agent gets trapped by the reward for staring at a static-filled, always-changing, unlearnable TV screen! Caused by state descriptions which contain highly stochastic elements.</a:t>
                </a:r>
              </a:p>
            </p:txBody>
          </p:sp>
        </mc:Choice>
        <mc:Fallback xmlns="">
          <p:sp>
            <p:nvSpPr>
              <p:cNvPr id="3" name="Content Placeholder 2" descr="Providing the agent with an internal reward bonus to encourage exploration. Modify reward by adding internal reward r sub t equals r sub t, to the power ext, plus beta r sub t, to the power int. r sub t, to the power int depends on level of novelty of the reached state. How to measure novelty:. Visit a new state/set of states for the first time. Visit a state that has not been visited very often (the agent is uncertain about its value). Visit a state that surprises the agent. I.e. the agent’s current model produces a large prediction error (temporal difference error). Issue: “Noisy TV problem” : the agent gets trapped by the reward for staring at a static-filled, always-changing, unlearnable TV screen! Caused by state descriptions which contain highly stochastic elements">
                <a:extLst>
                  <a:ext uri="{FF2B5EF4-FFF2-40B4-BE49-F238E27FC236}">
                    <a16:creationId xmlns:a16="http://schemas.microsoft.com/office/drawing/2014/main" id="{7E56D306-E35D-B7B4-8146-6D8514294A92}"/>
                  </a:ext>
                </a:extLst>
              </p:cNvPr>
              <p:cNvSpPr>
                <a:spLocks noGrp="1" noRot="1" noChangeAspect="1" noMove="1" noResize="1" noEditPoints="1" noAdjustHandles="1" noChangeArrowheads="1" noChangeShapeType="1" noTextEdit="1"/>
              </p:cNvSpPr>
              <p:nvPr>
                <p:ph idx="1"/>
              </p:nvPr>
            </p:nvSpPr>
            <p:spPr>
              <a:xfrm>
                <a:off x="838201" y="1195754"/>
                <a:ext cx="7405360" cy="4747847"/>
              </a:xfrm>
              <a:blipFill>
                <a:blip r:embed="rId2"/>
                <a:stretch>
                  <a:fillRect l="-577" t="-1926" b="-89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2ACED117-8C69-6288-3EA6-4A911D745FE3}"/>
              </a:ext>
            </a:extLst>
          </p:cNvPr>
          <p:cNvSpPr txBox="1"/>
          <p:nvPr/>
        </p:nvSpPr>
        <p:spPr>
          <a:xfrm>
            <a:off x="8857815" y="1400938"/>
            <a:ext cx="1146629" cy="369332"/>
          </a:xfrm>
          <a:prstGeom prst="rect">
            <a:avLst/>
          </a:prstGeom>
          <a:noFill/>
        </p:spPr>
        <p:txBody>
          <a:bodyPr wrap="square">
            <a:spAutoFit/>
          </a:bodyPr>
          <a:lstStyle/>
          <a:p>
            <a:r>
              <a:rPr lang="en-US" b="1" dirty="0"/>
              <a:t>Example</a:t>
            </a:r>
          </a:p>
        </p:txBody>
      </p:sp>
      <p:grpSp>
        <p:nvGrpSpPr>
          <p:cNvPr id="4" name="Group 3" descr="Gridworld of 11 by 11 cells, each numbered with its state index (0 to 102), with black wall cells dividing it into rooms; the start S is at the bottom left and the goal G is on the left side near the middle. Labels: S; G.">
            <a:extLst>
              <a:ext uri="{FF2B5EF4-FFF2-40B4-BE49-F238E27FC236}">
                <a16:creationId xmlns:a16="http://schemas.microsoft.com/office/drawing/2014/main" id="{377109AC-6186-2DAE-4907-0FE45D571434}"/>
              </a:ext>
            </a:extLst>
          </p:cNvPr>
          <p:cNvGrpSpPr/>
          <p:nvPr/>
        </p:nvGrpSpPr>
        <p:grpSpPr>
          <a:xfrm>
            <a:off x="8585728" y="1899749"/>
            <a:ext cx="3009810" cy="2976045"/>
            <a:chOff x="8630958" y="1397330"/>
            <a:chExt cx="2837432" cy="2816970"/>
          </a:xfrm>
        </p:grpSpPr>
        <p:pic>
          <p:nvPicPr>
            <p:cNvPr id="5" name="Picture 4" descr="Gridworld of 11 by 11 cells, each numbered with its state index (0 to 102), with black wall cells dividing it into rooms; the start S is at the bottom left and the goal G is on the left side near the middle.">
              <a:extLst>
                <a:ext uri="{FF2B5EF4-FFF2-40B4-BE49-F238E27FC236}">
                  <a16:creationId xmlns:a16="http://schemas.microsoft.com/office/drawing/2014/main" id="{8A434F1B-1939-6F3E-A170-6B86BCBDB995}"/>
                </a:ext>
              </a:extLst>
            </p:cNvPr>
            <p:cNvPicPr>
              <a:picLocks noChangeAspect="1"/>
            </p:cNvPicPr>
            <p:nvPr/>
          </p:nvPicPr>
          <p:blipFill>
            <a:blip r:embed="rId3"/>
            <a:stretch>
              <a:fillRect/>
            </a:stretch>
          </p:blipFill>
          <p:spPr>
            <a:xfrm>
              <a:off x="8630958" y="1397330"/>
              <a:ext cx="2837432" cy="2816970"/>
            </a:xfrm>
            <a:prstGeom prst="rect">
              <a:avLst/>
            </a:prstGeom>
          </p:spPr>
        </p:pic>
        <p:sp>
          <p:nvSpPr>
            <p:cNvPr id="6" name="TextBox 5">
              <a:extLst>
                <a:ext uri="{FF2B5EF4-FFF2-40B4-BE49-F238E27FC236}">
                  <a16:creationId xmlns:a16="http://schemas.microsoft.com/office/drawing/2014/main" id="{C57946CB-DB47-4EFD-9BCD-B8FA34252FB2}"/>
                </a:ext>
              </a:extLst>
            </p:cNvPr>
            <p:cNvSpPr txBox="1"/>
            <p:nvPr/>
          </p:nvSpPr>
          <p:spPr>
            <a:xfrm>
              <a:off x="8829894" y="3706461"/>
              <a:ext cx="286186" cy="369332"/>
            </a:xfrm>
            <a:prstGeom prst="rect">
              <a:avLst/>
            </a:prstGeom>
            <a:noFill/>
          </p:spPr>
          <p:txBody>
            <a:bodyPr wrap="square" rtlCol="0">
              <a:spAutoFit/>
            </a:bodyPr>
            <a:lstStyle/>
            <a:p>
              <a:r>
                <a:rPr lang="en-US" b="1" dirty="0">
                  <a:solidFill>
                    <a:schemeClr val="accent2"/>
                  </a:solidFill>
                </a:rPr>
                <a:t>S</a:t>
              </a:r>
            </a:p>
          </p:txBody>
        </p:sp>
        <p:sp>
          <p:nvSpPr>
            <p:cNvPr id="7" name="TextBox 6">
              <a:extLst>
                <a:ext uri="{FF2B5EF4-FFF2-40B4-BE49-F238E27FC236}">
                  <a16:creationId xmlns:a16="http://schemas.microsoft.com/office/drawing/2014/main" id="{62B9789F-DD31-98BB-C3A1-0AE8275B0B4F}"/>
                </a:ext>
              </a:extLst>
            </p:cNvPr>
            <p:cNvSpPr txBox="1"/>
            <p:nvPr/>
          </p:nvSpPr>
          <p:spPr>
            <a:xfrm>
              <a:off x="8822914" y="2316604"/>
              <a:ext cx="286186" cy="369332"/>
            </a:xfrm>
            <a:prstGeom prst="rect">
              <a:avLst/>
            </a:prstGeom>
            <a:noFill/>
          </p:spPr>
          <p:txBody>
            <a:bodyPr wrap="square" rtlCol="0">
              <a:spAutoFit/>
            </a:bodyPr>
            <a:lstStyle/>
            <a:p>
              <a:r>
                <a:rPr lang="en-US" b="1" dirty="0">
                  <a:solidFill>
                    <a:schemeClr val="accent3"/>
                  </a:solidFill>
                </a:rPr>
                <a:t>G</a:t>
              </a:r>
            </a:p>
          </p:txBody>
        </p:sp>
      </p:grpSp>
      <p:sp>
        <p:nvSpPr>
          <p:cNvPr id="13" name="TextBox 12">
            <a:extLst>
              <a:ext uri="{FF2B5EF4-FFF2-40B4-BE49-F238E27FC236}">
                <a16:creationId xmlns:a16="http://schemas.microsoft.com/office/drawing/2014/main" id="{69B144EA-4CD8-F87E-7171-A99E48DA7B30}"/>
              </a:ext>
            </a:extLst>
          </p:cNvPr>
          <p:cNvSpPr txBox="1"/>
          <p:nvPr/>
        </p:nvSpPr>
        <p:spPr>
          <a:xfrm>
            <a:off x="8873582" y="2002243"/>
            <a:ext cx="1188512" cy="114711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algn="ctr"/>
            <a:r>
              <a:rPr lang="en-US" b="1" dirty="0">
                <a:solidFill>
                  <a:srgbClr val="000000"/>
                </a:solidFill>
              </a:rPr>
              <a:t>Room 4</a:t>
            </a:r>
          </a:p>
        </p:txBody>
      </p:sp>
      <p:sp>
        <p:nvSpPr>
          <p:cNvPr id="12" name="TextBox 11">
            <a:extLst>
              <a:ext uri="{FF2B5EF4-FFF2-40B4-BE49-F238E27FC236}">
                <a16:creationId xmlns:a16="http://schemas.microsoft.com/office/drawing/2014/main" id="{B878E07F-7678-8178-E353-AA3B96F37F28}"/>
              </a:ext>
            </a:extLst>
          </p:cNvPr>
          <p:cNvSpPr txBox="1"/>
          <p:nvPr/>
        </p:nvSpPr>
        <p:spPr>
          <a:xfrm>
            <a:off x="10334182" y="1986477"/>
            <a:ext cx="1176737" cy="141476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algn="ctr"/>
            <a:r>
              <a:rPr lang="en-US" b="1" dirty="0">
                <a:solidFill>
                  <a:srgbClr val="000000"/>
                </a:solidFill>
              </a:rPr>
              <a:t>Room 3</a:t>
            </a:r>
          </a:p>
        </p:txBody>
      </p:sp>
      <p:cxnSp>
        <p:nvCxnSpPr>
          <p:cNvPr id="18" name="Straight Arrow Connector 17">
            <a:extLst>
              <a:ext uri="{FF2B5EF4-FFF2-40B4-BE49-F238E27FC236}">
                <a16:creationId xmlns:a16="http://schemas.microsoft.com/office/drawing/2014/main" id="{EA6E4EB7-42DD-34A1-D48E-95F36672CF90}"/>
              </a:ext>
              <a:ext uri="{C183D7F6-B498-43B3-948B-1728B52AA6E4}">
                <adec:decorative xmlns:adec="http://schemas.microsoft.com/office/drawing/2017/decorative" val="1"/>
              </a:ext>
            </a:extLst>
          </p:cNvPr>
          <p:cNvCxnSpPr>
            <a:cxnSpLocks/>
          </p:cNvCxnSpPr>
          <p:nvPr/>
        </p:nvCxnSpPr>
        <p:spPr>
          <a:xfrm>
            <a:off x="10048408" y="3587800"/>
            <a:ext cx="23034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142B1B1-C107-7CE7-249B-45F252135EE6}"/>
              </a:ext>
            </a:extLst>
          </p:cNvPr>
          <p:cNvSpPr txBox="1"/>
          <p:nvPr/>
        </p:nvSpPr>
        <p:spPr>
          <a:xfrm>
            <a:off x="10334181" y="3670695"/>
            <a:ext cx="1176737" cy="97225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algn="ctr"/>
            <a:r>
              <a:rPr lang="en-US" b="1" dirty="0">
                <a:solidFill>
                  <a:srgbClr val="000000"/>
                </a:solidFill>
              </a:rPr>
              <a:t>Room 2</a:t>
            </a:r>
          </a:p>
        </p:txBody>
      </p:sp>
      <p:sp>
        <p:nvSpPr>
          <p:cNvPr id="15" name="TextBox 14">
            <a:extLst>
              <a:ext uri="{FF2B5EF4-FFF2-40B4-BE49-F238E27FC236}">
                <a16:creationId xmlns:a16="http://schemas.microsoft.com/office/drawing/2014/main" id="{BA95B163-12D3-D00C-4AF0-B6C223FD0834}"/>
              </a:ext>
            </a:extLst>
          </p:cNvPr>
          <p:cNvSpPr txBox="1"/>
          <p:nvPr/>
        </p:nvSpPr>
        <p:spPr>
          <a:xfrm>
            <a:off x="8796750" y="4928170"/>
            <a:ext cx="2885498" cy="584775"/>
          </a:xfrm>
          <a:prstGeom prst="rect">
            <a:avLst/>
          </a:prstGeom>
          <a:noFill/>
        </p:spPr>
        <p:txBody>
          <a:bodyPr wrap="square">
            <a:spAutoFit/>
          </a:bodyPr>
          <a:lstStyle/>
          <a:p>
            <a:r>
              <a:rPr lang="en-US" sz="1600" dirty="0"/>
              <a:t>Use a reward bonus when new rooms are discovered.</a:t>
            </a:r>
          </a:p>
        </p:txBody>
      </p:sp>
      <p:sp>
        <p:nvSpPr>
          <p:cNvPr id="17" name="TextBox 16">
            <a:extLst>
              <a:ext uri="{FF2B5EF4-FFF2-40B4-BE49-F238E27FC236}">
                <a16:creationId xmlns:a16="http://schemas.microsoft.com/office/drawing/2014/main" id="{9A33A6E2-8543-B04A-D758-C0D5AA4F0278}"/>
              </a:ext>
            </a:extLst>
          </p:cNvPr>
          <p:cNvSpPr txBox="1"/>
          <p:nvPr/>
        </p:nvSpPr>
        <p:spPr>
          <a:xfrm>
            <a:off x="748863" y="6022061"/>
            <a:ext cx="1076205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b="0" i="0" dirty="0">
                <a:solidFill>
                  <a:srgbClr val="000000"/>
                </a:solidFill>
                <a:effectLst/>
                <a:latin typeface="Titillium Web" panose="020F0502020204030204" pitchFamily="2" charset="0"/>
              </a:rPr>
              <a:t>Deepak Pathak, Pulkit Agrawal, Alexei A. Efros and Trevor Darrell. </a:t>
            </a:r>
            <a:r>
              <a:rPr lang="en-US" sz="1600" b="1" i="0" dirty="0">
                <a:solidFill>
                  <a:srgbClr val="000000"/>
                </a:solidFill>
                <a:effectLst/>
                <a:latin typeface="Titillium Web" panose="020F0502020204030204" pitchFamily="2" charset="0"/>
                <a:hlinkClick r:id="rId4"/>
              </a:rPr>
              <a:t>Curiosity-driven Exploration by Self-supervised Prediction</a:t>
            </a:r>
            <a:r>
              <a:rPr lang="en-US" sz="1600" b="1" i="0" dirty="0">
                <a:solidFill>
                  <a:srgbClr val="000000"/>
                </a:solidFill>
                <a:effectLst/>
                <a:latin typeface="Titillium Web" panose="020F0502020204030204" pitchFamily="2" charset="0"/>
              </a:rPr>
              <a:t>. </a:t>
            </a:r>
            <a:r>
              <a:rPr lang="en-US" sz="1600" b="0" i="0" dirty="0">
                <a:solidFill>
                  <a:srgbClr val="000000"/>
                </a:solidFill>
                <a:effectLst/>
                <a:latin typeface="Titillium Web" panose="020F0502020204030204" pitchFamily="2" charset="0"/>
              </a:rPr>
              <a:t>In </a:t>
            </a:r>
            <a:r>
              <a:rPr lang="en-US" sz="1600" b="0" i="1" dirty="0">
                <a:solidFill>
                  <a:srgbClr val="000000"/>
                </a:solidFill>
                <a:effectLst/>
                <a:latin typeface="Titillium Web" panose="020F0502020204030204" pitchFamily="2" charset="0"/>
              </a:rPr>
              <a:t>ICML 2017</a:t>
            </a:r>
            <a:r>
              <a:rPr lang="en-US" sz="1600" b="0" i="0" dirty="0">
                <a:solidFill>
                  <a:srgbClr val="000000"/>
                </a:solidFill>
                <a:effectLst/>
                <a:latin typeface="Titillium Web" panose="020F0502020204030204" pitchFamily="2" charset="0"/>
              </a:rPr>
              <a:t>.</a:t>
            </a:r>
            <a:endParaRPr lang="en-US" sz="1600" dirty="0"/>
          </a:p>
        </p:txBody>
      </p:sp>
    </p:spTree>
    <p:extLst>
      <p:ext uri="{BB962C8B-B14F-4D97-AF65-F5344CB8AC3E}">
        <p14:creationId xmlns:p14="http://schemas.microsoft.com/office/powerpoint/2010/main" val="374547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1105486" y="2766218"/>
            <a:ext cx="10515600" cy="1168047"/>
          </a:xfrm>
        </p:spPr>
        <p:txBody>
          <a:bodyPr>
            <a:normAutofit fontScale="90000"/>
          </a:bodyPr>
          <a:lstStyle/>
          <a:p>
            <a:r>
              <a:rPr lang="en-US" b="1" dirty="0"/>
              <a:t>Code </a:t>
            </a:r>
            <a:r>
              <a:rPr lang="en-US" b="1"/>
              <a:t>example</a:t>
            </a:r>
            <a:r>
              <a:rPr lang="en-US"/>
              <a:t>: </a:t>
            </a:r>
            <a:br>
              <a:rPr lang="en-US"/>
            </a:br>
            <a:r>
              <a:rPr lang="en-US"/>
              <a:t>Comparing Reward Engineering Methods</a:t>
            </a:r>
            <a:endParaRPr lang="en-US" dirty="0"/>
          </a:p>
        </p:txBody>
      </p:sp>
      <p:sp>
        <p:nvSpPr>
          <p:cNvPr id="5" name="TextBox 4">
            <a:extLst>
              <a:ext uri="{FF2B5EF4-FFF2-40B4-BE49-F238E27FC236}">
                <a16:creationId xmlns:a16="http://schemas.microsoft.com/office/drawing/2014/main" id="{5AA484FF-058C-4694-424C-0B3B26DF9F45}"/>
              </a:ext>
            </a:extLst>
          </p:cNvPr>
          <p:cNvSpPr txBox="1"/>
          <p:nvPr/>
        </p:nvSpPr>
        <p:spPr>
          <a:xfrm>
            <a:off x="1191065" y="6011594"/>
            <a:ext cx="8811064" cy="307777"/>
          </a:xfrm>
          <a:prstGeom prst="rect">
            <a:avLst/>
          </a:prstGeom>
          <a:noFill/>
        </p:spPr>
        <p:txBody>
          <a:bodyPr wrap="square" rtlCol="0">
            <a:spAutoFit/>
          </a:bodyPr>
          <a:lstStyle/>
          <a:p>
            <a:r>
              <a:rPr lang="en-US" sz="1400" dirty="0"/>
              <a:t>See Code on </a:t>
            </a:r>
            <a:r>
              <a:rPr lang="en-US" sz="1400" dirty="0">
                <a:hlinkClick r:id="rId2"/>
              </a:rPr>
              <a:t>https://michael.hahsler.net/Introduction_to_Reinforcement_Learning/</a:t>
            </a:r>
            <a:r>
              <a:rPr lang="en-US" sz="1400" dirty="0"/>
              <a:t> </a:t>
            </a:r>
          </a:p>
        </p:txBody>
      </p:sp>
    </p:spTree>
    <p:extLst>
      <p:ext uri="{BB962C8B-B14F-4D97-AF65-F5344CB8AC3E}">
        <p14:creationId xmlns:p14="http://schemas.microsoft.com/office/powerpoint/2010/main" val="19019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5A0B838-82F4-AD35-0201-723F3CC26FFF}"/>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hoto of a hand holding up a gold medal with the number 1 on a red ribbon.">
            <a:extLst>
              <a:ext uri="{FF2B5EF4-FFF2-40B4-BE49-F238E27FC236}">
                <a16:creationId xmlns:a16="http://schemas.microsoft.com/office/drawing/2014/main" id="{1B8DA306-1697-AFFB-9D44-7921CC19F108}"/>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4" name="Title 3">
            <a:extLst>
              <a:ext uri="{FF2B5EF4-FFF2-40B4-BE49-F238E27FC236}">
                <a16:creationId xmlns:a16="http://schemas.microsoft.com/office/drawing/2014/main" id="{A4A6CBBE-E9CD-835B-0CAD-7FC4571B229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Related Training Techniques</a:t>
            </a:r>
            <a:endParaRPr lang="en-US" dirty="0">
              <a:solidFill>
                <a:srgbClr val="FFFFFF"/>
              </a:solidFill>
            </a:endParaRPr>
          </a:p>
        </p:txBody>
      </p:sp>
      <p:sp>
        <p:nvSpPr>
          <p:cNvPr id="5" name="Text Placeholder 4">
            <a:extLst>
              <a:ext uri="{FF2B5EF4-FFF2-40B4-BE49-F238E27FC236}">
                <a16:creationId xmlns:a16="http://schemas.microsoft.com/office/drawing/2014/main" id="{B7BFAEF4-793E-F68F-C79B-B4B3889F08FB}"/>
              </a:ext>
            </a:extLst>
          </p:cNvPr>
          <p:cNvSpPr>
            <a:spLocks noGrp="1"/>
          </p:cNvSpPr>
          <p:nvPr>
            <p:ph type="body" idx="1"/>
          </p:nvPr>
        </p:nvSpPr>
        <p:spPr>
          <a:xfrm>
            <a:off x="7066672" y="4342044"/>
            <a:ext cx="3601328" cy="1098395"/>
          </a:xfrm>
        </p:spPr>
        <p:txBody>
          <a:bodyPr vert="horz" lIns="91440" tIns="45720" rIns="91440" bIns="45720" rtlCol="0">
            <a:normAutofit fontScale="92500" lnSpcReduction="20000"/>
          </a:bodyPr>
          <a:lstStyle/>
          <a:p>
            <a:pPr marL="342900" indent="-342900">
              <a:buFont typeface="Arial" panose="020B0604020202020204" pitchFamily="34" charset="0"/>
              <a:buChar char="•"/>
            </a:pPr>
            <a:r>
              <a:rPr lang="en-US" dirty="0">
                <a:solidFill>
                  <a:srgbClr val="FFFFFF"/>
                </a:solidFill>
              </a:rPr>
              <a:t>Inverse RL</a:t>
            </a:r>
          </a:p>
          <a:p>
            <a:pPr marL="342900" indent="-342900">
              <a:buFont typeface="Arial" panose="020B0604020202020204" pitchFamily="34" charset="0"/>
              <a:buChar char="•"/>
            </a:pPr>
            <a:r>
              <a:rPr lang="en-US" dirty="0">
                <a:solidFill>
                  <a:srgbClr val="FFFFFF"/>
                </a:solidFill>
              </a:rPr>
              <a:t>Curriculum Learning</a:t>
            </a:r>
          </a:p>
          <a:p>
            <a:pPr marL="342900" indent="-342900">
              <a:buFont typeface="Arial" panose="020B0604020202020204" pitchFamily="34" charset="0"/>
              <a:buChar char="•"/>
            </a:pPr>
            <a:r>
              <a:rPr lang="en-US" dirty="0">
                <a:solidFill>
                  <a:srgbClr val="FFFFFF"/>
                </a:solidFill>
              </a:rPr>
              <a:t>Robust RL</a:t>
            </a:r>
          </a:p>
        </p:txBody>
      </p:sp>
    </p:spTree>
    <p:extLst>
      <p:ext uri="{BB962C8B-B14F-4D97-AF65-F5344CB8AC3E}">
        <p14:creationId xmlns:p14="http://schemas.microsoft.com/office/powerpoint/2010/main" val="387962571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AFD04-A33A-32F1-60AA-A654A582D85A}"/>
              </a:ext>
            </a:extLst>
          </p:cNvPr>
          <p:cNvSpPr>
            <a:spLocks noGrp="1"/>
          </p:cNvSpPr>
          <p:nvPr>
            <p:ph type="title"/>
          </p:nvPr>
        </p:nvSpPr>
        <p:spPr/>
        <p:txBody>
          <a:bodyPr/>
          <a:lstStyle/>
          <a:p>
            <a:r>
              <a:rPr lang="en-US" dirty="0"/>
              <a:t>Inverse RL</a:t>
            </a:r>
          </a:p>
        </p:txBody>
      </p:sp>
      <mc:AlternateContent xmlns:mc="http://schemas.openxmlformats.org/markup-compatibility/2006" xmlns:a14="http://schemas.microsoft.com/office/drawing/2010/main">
        <mc:Choice Requires="a14">
          <p:sp>
            <p:nvSpPr>
              <p:cNvPr id="3" name="Content Placeholder 2" descr="Idea: Learn a hard to define reward function from demonstrations by an expert. Input: Expert behavior as sequences of (s,a,r,s prime) tuples . Goal: Finding a parameterized reward function r star (s,a,s prime) that explains the expert’s behavior. I.e., that assigns the highest value to the expert's behavior. E [the sum over t, of gamma to the power t r star (s sub t,a,s sub t plus 1, given w) | pi star] is greater than or equal to E [the sum over t, of gamma to the power t r star (s sub t,a,s sub t plus 1, given w) | pi] for all pi. Challenge: The problem is “underspecified.” For any given action, there are potentially infinite reward functions that could explain it. Therefore, IRL algorithms usually find the &quot;most likely&quot; or simplest reward function (using regularization) that fits the data. Examples:. Autonomous Driving: Observing how human drivers yield, navigate. Robotics: Teaching robots complex physical tasks (like folding laundry or stacking objects) by showing them how to do it once, allowing the system to deduce the objective. Large Language Models (LLMs): Used in AI alignment, where human feedback creates a reward model (via RLHF or similar structures) to align model behavior with human intent">
                <a:extLst>
                  <a:ext uri="{FF2B5EF4-FFF2-40B4-BE49-F238E27FC236}">
                    <a16:creationId xmlns:a16="http://schemas.microsoft.com/office/drawing/2014/main" id="{A0314C2D-CF94-DAB6-E05C-68E6B7C55F29}"/>
                  </a:ext>
                </a:extLst>
              </p:cNvPr>
              <p:cNvSpPr>
                <a:spLocks noGrp="1"/>
              </p:cNvSpPr>
              <p:nvPr>
                <p:ph idx="1"/>
              </p:nvPr>
            </p:nvSpPr>
            <p:spPr>
              <a:xfrm>
                <a:off x="838199" y="1124197"/>
                <a:ext cx="10515599" cy="4803637"/>
              </a:xfrm>
            </p:spPr>
            <p:txBody>
              <a:bodyPr>
                <a:normAutofit fontScale="62500" lnSpcReduction="20000"/>
              </a:bodyPr>
              <a:lstStyle/>
              <a:p>
                <a:r>
                  <a:rPr lang="en-US" b="1" dirty="0"/>
                  <a:t>Idea</a:t>
                </a:r>
                <a:r>
                  <a:rPr lang="en-US" dirty="0"/>
                  <a:t>: Learn a hard to define reward function from demonstrations by an expert.</a:t>
                </a:r>
              </a:p>
              <a:p>
                <a:r>
                  <a:rPr lang="en-US" b="1" dirty="0"/>
                  <a:t>Input</a:t>
                </a:r>
                <a:r>
                  <a:rPr lang="en-US" dirty="0"/>
                  <a:t>: Expert behavior as sequences of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d>
                  </m:oMath>
                </a14:m>
                <a:r>
                  <a:rPr lang="en-US" dirty="0"/>
                  <a:t> tuples .</a:t>
                </a:r>
              </a:p>
              <a:p>
                <a:r>
                  <a:rPr lang="en-US" b="1" dirty="0"/>
                  <a:t>Goal</a:t>
                </a:r>
                <a:r>
                  <a:rPr lang="en-US" dirty="0"/>
                  <a:t>: Finding a parameterized reward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oMath>
                </a14:m>
                <a:r>
                  <a:rPr lang="en-US" dirty="0"/>
                  <a:t> that explains the expert’s behavior. I.e.,  that assigns the highest value to the expert's behavior.</a:t>
                </a:r>
                <a:br>
                  <a:rPr lang="en-US" dirty="0"/>
                </a:b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𝑡</m:t>
                            </m:r>
                          </m:sub>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𝛾</m:t>
                                </m:r>
                              </m:e>
                              <m:sup>
                                <m:r>
                                  <a:rPr lang="en-US" b="0" i="1" smtClean="0">
                                    <a:latin typeface="Cambria Math" panose="02040503050406030204" pitchFamily="18" charset="0"/>
                                    <a:ea typeface="Cambria Math" panose="02040503050406030204" pitchFamily="18" charset="0"/>
                                  </a:rPr>
                                  <m:t>𝑡</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m:t>
                                    </m:r>
                                  </m:sup>
                                </m:sSup>
                              </m:e>
                            </m:d>
                          </m:e>
                        </m:nary>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𝑡</m:t>
                            </m:r>
                          </m:sub>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𝛾</m:t>
                                </m:r>
                              </m:e>
                              <m:sup>
                                <m:r>
                                  <a:rPr lang="en-US" i="1">
                                    <a:latin typeface="Cambria Math" panose="02040503050406030204" pitchFamily="18" charset="0"/>
                                    <a:ea typeface="Cambria Math" panose="02040503050406030204" pitchFamily="18" charset="0"/>
                                  </a:rPr>
                                  <m:t>𝑡</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𝑟</m:t>
                                </m:r>
                              </m:e>
                              <m:sup>
                                <m:r>
                                  <a:rPr lang="en-US" i="1">
                                    <a:latin typeface="Cambria Math" panose="02040503050406030204" pitchFamily="18" charset="0"/>
                                    <a:ea typeface="Cambria Math" panose="02040503050406030204" pitchFamily="18" charset="0"/>
                                  </a:rPr>
                                  <m:t>∗</m:t>
                                </m:r>
                              </m:sup>
                            </m:sSup>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𝜋</m:t>
                                </m:r>
                              </m:e>
                            </m:d>
                          </m:e>
                        </m:nary>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𝜋</m:t>
                    </m:r>
                  </m:oMath>
                </a14:m>
                <a:endParaRPr lang="en-US" dirty="0"/>
              </a:p>
              <a:p>
                <a:endParaRPr lang="en-US" dirty="0"/>
              </a:p>
              <a:p>
                <a:r>
                  <a:rPr lang="en-US" b="1" dirty="0"/>
                  <a:t>Challenge</a:t>
                </a:r>
                <a:r>
                  <a:rPr lang="en-US" dirty="0"/>
                  <a:t>: The problem is “underspecified.” For any given action, there are potentially infinite reward functions that could explain it. Therefore, IRL algorithms usually find the "most likely" or simplest reward function (using regularization) that fits the data.</a:t>
                </a:r>
                <a:endParaRPr lang="en-US" b="1" dirty="0"/>
              </a:p>
              <a:p>
                <a:r>
                  <a:rPr lang="en-US" b="1" dirty="0"/>
                  <a:t>Examples: </a:t>
                </a:r>
              </a:p>
              <a:p>
                <a:pPr lvl="1"/>
                <a:r>
                  <a:rPr lang="en-US" b="1" dirty="0"/>
                  <a:t>Autonomous Driving:</a:t>
                </a:r>
                <a:r>
                  <a:rPr lang="en-US" dirty="0"/>
                  <a:t> Observing how human drivers yield, </a:t>
                </a:r>
                <a:br>
                  <a:rPr lang="en-US" dirty="0"/>
                </a:br>
                <a:r>
                  <a:rPr lang="en-US" dirty="0"/>
                  <a:t>navigate.</a:t>
                </a:r>
              </a:p>
              <a:p>
                <a:pPr lvl="1"/>
                <a:r>
                  <a:rPr lang="en-US" b="1" dirty="0"/>
                  <a:t>Robotics:</a:t>
                </a:r>
                <a:r>
                  <a:rPr lang="en-US" dirty="0"/>
                  <a:t> Teaching robots complex physical tasks (like </a:t>
                </a:r>
                <a:br>
                  <a:rPr lang="en-US" dirty="0"/>
                </a:br>
                <a:r>
                  <a:rPr lang="en-US" dirty="0"/>
                  <a:t>folding laundry or stacking objects) by showing them how to </a:t>
                </a:r>
                <a:br>
                  <a:rPr lang="en-US" dirty="0"/>
                </a:br>
                <a:r>
                  <a:rPr lang="en-US" dirty="0"/>
                  <a:t>do it once, allowing the system to deduce the objective.</a:t>
                </a:r>
              </a:p>
              <a:p>
                <a:pPr lvl="1"/>
                <a:r>
                  <a:rPr lang="en-US" b="1" dirty="0"/>
                  <a:t>Large Language Models (LLMs):</a:t>
                </a:r>
                <a:r>
                  <a:rPr lang="en-US" dirty="0"/>
                  <a:t> Used in AI alignment, </a:t>
                </a:r>
                <a:br>
                  <a:rPr lang="en-US" dirty="0"/>
                </a:br>
                <a:r>
                  <a:rPr lang="en-US" dirty="0"/>
                  <a:t>where human feedback creates a reward model (via RLHF </a:t>
                </a:r>
                <a:br>
                  <a:rPr lang="en-US" dirty="0"/>
                </a:br>
                <a:r>
                  <a:rPr lang="en-US" dirty="0"/>
                  <a:t>or similar structures) to align model behavior with human </a:t>
                </a:r>
                <a:br>
                  <a:rPr lang="en-US" dirty="0"/>
                </a:br>
                <a:r>
                  <a:rPr lang="en-US" dirty="0"/>
                  <a:t>intent.</a:t>
                </a:r>
              </a:p>
            </p:txBody>
          </p:sp>
        </mc:Choice>
        <mc:Fallback xmlns="">
          <p:sp>
            <p:nvSpPr>
              <p:cNvPr id="3" name="Content Placeholder 2" descr="Idea: Learn a hard to define reward function from demonstrations by an expert. Input: Expert behavior as sequences of (s,a,r,s prime) tuples . Goal: Finding a parameterized reward function r star (s,a,s prime) that explains the expert’s behavior. I.e., that assigns the highest value to the expert's behavior. E [the sum over t, of gamma to the power t r star (s sub t,a,s sub t plus 1, given w) | pi star] is greater than or equal to E [the sum over t, of gamma to the power t r star (s sub t,a,s sub t plus 1, given w) | pi] for all pi. Challenge: The problem is “underspecified.” For any given action, there are potentially infinite reward functions that could explain it. Therefore, IRL algorithms usually find the &quot;most likely&quot; or simplest reward function (using regularization) that fits the data. Examples:. Autonomous Driving: Observing how human drivers yield, navigate. Robotics: Teaching robots complex physical tasks (like folding laundry or stacking objects) by showing them how to do it once, allowing the system to deduce the objective. Large Language Models (LLMs): Used in AI alignment, where human feedback creates a reward model (via RLHF or similar structures) to align model behavior with human intent">
                <a:extLst>
                  <a:ext uri="{FF2B5EF4-FFF2-40B4-BE49-F238E27FC236}">
                    <a16:creationId xmlns:a16="http://schemas.microsoft.com/office/drawing/2014/main" id="{A0314C2D-CF94-DAB6-E05C-68E6B7C55F29}"/>
                  </a:ext>
                </a:extLst>
              </p:cNvPr>
              <p:cNvSpPr>
                <a:spLocks noGrp="1" noRot="1" noChangeAspect="1" noMove="1" noResize="1" noEditPoints="1" noAdjustHandles="1" noChangeArrowheads="1" noChangeShapeType="1" noTextEdit="1"/>
              </p:cNvSpPr>
              <p:nvPr>
                <p:ph idx="1"/>
              </p:nvPr>
            </p:nvSpPr>
            <p:spPr>
              <a:xfrm>
                <a:off x="838199" y="1124197"/>
                <a:ext cx="10515599" cy="4803637"/>
              </a:xfrm>
              <a:blipFill>
                <a:blip r:embed="rId2"/>
                <a:stretch>
                  <a:fillRect l="-348" t="-1904" b="-152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ECFFE3E-2648-699C-8E6A-ADADE57871F0}"/>
              </a:ext>
            </a:extLst>
          </p:cNvPr>
          <p:cNvSpPr txBox="1"/>
          <p:nvPr/>
        </p:nvSpPr>
        <p:spPr>
          <a:xfrm>
            <a:off x="9264019" y="2330159"/>
            <a:ext cx="203820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dirty="0"/>
              <a:t>We assume the expert behaves optimally</a:t>
            </a:r>
          </a:p>
        </p:txBody>
      </p:sp>
      <p:sp>
        <p:nvSpPr>
          <p:cNvPr id="7" name="AutoShape 3" descr="Inverse reinforcement learning explained visually">
            <a:extLst>
              <a:ext uri="{FF2B5EF4-FFF2-40B4-BE49-F238E27FC236}">
                <a16:creationId xmlns:a16="http://schemas.microsoft.com/office/drawing/2014/main" id="{DC03F50D-5AEA-4823-F58A-49D5635558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Diagram titled &quot;2. Inverse RL: Infer Reward&quot;, three panels linked by arrows. Observed Trajectory: a woman shows a humanoid robot how to pick up a mug from a table, with a target icon marking the goal. Learned Reward Function: a 3D surface with a single peak at the target. Optimal Policy: the robot reaches for the mug on its own, following a dashed path toward the target.">
            <a:extLst>
              <a:ext uri="{FF2B5EF4-FFF2-40B4-BE49-F238E27FC236}">
                <a16:creationId xmlns:a16="http://schemas.microsoft.com/office/drawing/2014/main" id="{A4DB6290-7876-2F14-C1E5-FBFF18EB7640}"/>
              </a:ext>
            </a:extLst>
          </p:cNvPr>
          <p:cNvPicPr>
            <a:picLocks noChangeAspect="1"/>
          </p:cNvPicPr>
          <p:nvPr/>
        </p:nvPicPr>
        <p:blipFill>
          <a:blip r:embed="rId3"/>
          <a:srcRect l="5098" t="19477" r="4328" b="19297"/>
          <a:stretch>
            <a:fillRect/>
          </a:stretch>
        </p:blipFill>
        <p:spPr>
          <a:xfrm>
            <a:off x="6649328" y="3738339"/>
            <a:ext cx="4998413" cy="2252560"/>
          </a:xfrm>
          <a:prstGeom prst="rect">
            <a:avLst/>
          </a:prstGeom>
        </p:spPr>
      </p:pic>
      <p:sp>
        <p:nvSpPr>
          <p:cNvPr id="6" name="TextBox 5">
            <a:extLst>
              <a:ext uri="{FF2B5EF4-FFF2-40B4-BE49-F238E27FC236}">
                <a16:creationId xmlns:a16="http://schemas.microsoft.com/office/drawing/2014/main" id="{86F71661-E14B-6207-383B-61E5921E7D61}"/>
              </a:ext>
            </a:extLst>
          </p:cNvPr>
          <p:cNvSpPr txBox="1"/>
          <p:nvPr/>
        </p:nvSpPr>
        <p:spPr>
          <a:xfrm>
            <a:off x="838199" y="6078335"/>
            <a:ext cx="10744197"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Andrew Y. Ng and Stuart J. Russell. 2000. </a:t>
            </a:r>
            <a:r>
              <a:rPr lang="en-US" sz="1400" dirty="0">
                <a:hlinkClick r:id="rId4"/>
              </a:rPr>
              <a:t>Algorithms for Inverse Reinforcement Learning</a:t>
            </a:r>
            <a:r>
              <a:rPr lang="en-US" sz="1400" dirty="0"/>
              <a:t>. In Proceedings of the Seventeenth International Conference on Machine Learning (ICML '00). </a:t>
            </a:r>
          </a:p>
        </p:txBody>
      </p:sp>
    </p:spTree>
    <p:extLst>
      <p:ext uri="{BB962C8B-B14F-4D97-AF65-F5344CB8AC3E}">
        <p14:creationId xmlns:p14="http://schemas.microsoft.com/office/powerpoint/2010/main" val="35443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DC76-58B9-FFDA-9EDD-597A7FB11904}"/>
              </a:ext>
            </a:extLst>
          </p:cNvPr>
          <p:cNvSpPr>
            <a:spLocks noGrp="1"/>
          </p:cNvSpPr>
          <p:nvPr>
            <p:ph type="title"/>
          </p:nvPr>
        </p:nvSpPr>
        <p:spPr/>
        <p:txBody>
          <a:bodyPr/>
          <a:lstStyle/>
          <a:p>
            <a:r>
              <a:rPr lang="en-US" dirty="0"/>
              <a:t>Curriculum Learning</a:t>
            </a:r>
          </a:p>
        </p:txBody>
      </p:sp>
      <p:sp>
        <p:nvSpPr>
          <p:cNvPr id="3" name="Content Placeholder 2">
            <a:extLst>
              <a:ext uri="{FF2B5EF4-FFF2-40B4-BE49-F238E27FC236}">
                <a16:creationId xmlns:a16="http://schemas.microsoft.com/office/drawing/2014/main" id="{C62AC830-C841-8D0A-FA71-6810C2D5A1B0}"/>
              </a:ext>
            </a:extLst>
          </p:cNvPr>
          <p:cNvSpPr>
            <a:spLocks noGrp="1"/>
          </p:cNvSpPr>
          <p:nvPr>
            <p:ph idx="1"/>
          </p:nvPr>
        </p:nvSpPr>
        <p:spPr>
          <a:xfrm>
            <a:off x="838200" y="1397330"/>
            <a:ext cx="7241628" cy="4617215"/>
          </a:xfrm>
        </p:spPr>
        <p:txBody>
          <a:bodyPr>
            <a:normAutofit fontScale="92500" lnSpcReduction="20000"/>
          </a:bodyPr>
          <a:lstStyle/>
          <a:p>
            <a:r>
              <a:rPr lang="en-US" b="1" dirty="0"/>
              <a:t>Goal</a:t>
            </a:r>
            <a:r>
              <a:rPr lang="en-US" dirty="0"/>
              <a:t>: Ensuring the agent masters </a:t>
            </a:r>
            <a:r>
              <a:rPr lang="en-US" b="1" dirty="0"/>
              <a:t>foundational skills </a:t>
            </a:r>
            <a:r>
              <a:rPr lang="en-US" dirty="0"/>
              <a:t>before moving on to more advanced challenges.</a:t>
            </a:r>
          </a:p>
          <a:p>
            <a:endParaRPr lang="en-US" dirty="0"/>
          </a:p>
          <a:p>
            <a:r>
              <a:rPr lang="en-US" b="1" dirty="0"/>
              <a:t>Steps</a:t>
            </a:r>
            <a:r>
              <a:rPr lang="en-US" dirty="0"/>
              <a:t>: </a:t>
            </a:r>
          </a:p>
          <a:p>
            <a:pPr marL="971550" lvl="1" indent="-514350">
              <a:buFont typeface="+mj-lt"/>
              <a:buAutoNum type="arabicPeriod"/>
            </a:pPr>
            <a:r>
              <a:rPr lang="en-US" dirty="0"/>
              <a:t>Train on an artificially simplified environment. </a:t>
            </a:r>
          </a:p>
          <a:p>
            <a:pPr marL="971550" lvl="1" indent="-514350">
              <a:buFont typeface="+mj-lt"/>
              <a:buAutoNum type="arabicPeriod"/>
            </a:pPr>
            <a:r>
              <a:rPr lang="en-US" dirty="0"/>
              <a:t>As the agent's performance improve, increase the difficult stepwise by adding back more difficult challenges.</a:t>
            </a:r>
          </a:p>
          <a:p>
            <a:pPr marL="971550" lvl="1" indent="-514350">
              <a:buFont typeface="+mj-lt"/>
              <a:buAutoNum type="arabicPeriod"/>
            </a:pPr>
            <a:r>
              <a:rPr lang="en-US" dirty="0"/>
              <a:t>End with an agent that has graduated from learning on the original, complex environment.</a:t>
            </a:r>
          </a:p>
          <a:p>
            <a:endParaRPr lang="en-US" dirty="0"/>
          </a:p>
          <a:p>
            <a:r>
              <a:rPr lang="en-US" b="1" dirty="0"/>
              <a:t>The Advantage</a:t>
            </a:r>
            <a:r>
              <a:rPr lang="en-US" dirty="0"/>
              <a:t>: The agent ultimately trains on the original problem. No reward hacking.</a:t>
            </a:r>
          </a:p>
        </p:txBody>
      </p:sp>
      <p:graphicFrame>
        <p:nvGraphicFramePr>
          <p:cNvPr id="5" name="Diagram 4" descr="SmartArt diagram with items: 3. Original environment; 2. More complex environment; 1. Simplified environment.">
            <a:extLst>
              <a:ext uri="{FF2B5EF4-FFF2-40B4-BE49-F238E27FC236}">
                <a16:creationId xmlns:a16="http://schemas.microsoft.com/office/drawing/2014/main" id="{F868335A-46B3-847C-CCEE-396EC8DE4BC8}"/>
              </a:ext>
            </a:extLst>
          </p:cNvPr>
          <p:cNvGraphicFramePr/>
          <p:nvPr>
            <p:extLst>
              <p:ext uri="{D42A27DB-BD31-4B8C-83A1-F6EECF244321}">
                <p14:modId xmlns:p14="http://schemas.microsoft.com/office/powerpoint/2010/main" val="3146201057"/>
              </p:ext>
            </p:extLst>
          </p:nvPr>
        </p:nvGraphicFramePr>
        <p:xfrm>
          <a:off x="8844455" y="1397330"/>
          <a:ext cx="2592551" cy="4136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5961187-2DFF-413F-5977-04E78A41BB4F}"/>
              </a:ext>
            </a:extLst>
          </p:cNvPr>
          <p:cNvSpPr txBox="1"/>
          <p:nvPr/>
        </p:nvSpPr>
        <p:spPr>
          <a:xfrm>
            <a:off x="3199086" y="6185097"/>
            <a:ext cx="5793828"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Weng, Lilian. (Jan 2020). </a:t>
            </a:r>
            <a:r>
              <a:rPr lang="en-US" sz="1400" dirty="0">
                <a:hlinkClick r:id="rId7"/>
              </a:rPr>
              <a:t>Curriculum for reinforcement learning</a:t>
            </a:r>
            <a:r>
              <a:rPr lang="en-US" sz="1400" dirty="0"/>
              <a:t>. </a:t>
            </a:r>
            <a:r>
              <a:rPr lang="en-US" sz="1400" dirty="0" err="1"/>
              <a:t>Lil’Log</a:t>
            </a:r>
            <a:r>
              <a:rPr lang="en-US" sz="1400" dirty="0"/>
              <a:t>. </a:t>
            </a:r>
          </a:p>
        </p:txBody>
      </p:sp>
    </p:spTree>
    <p:extLst>
      <p:ext uri="{BB962C8B-B14F-4D97-AF65-F5344CB8AC3E}">
        <p14:creationId xmlns:p14="http://schemas.microsoft.com/office/powerpoint/2010/main" val="172411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1320A-F35F-3BCD-AA5F-C48CBA2EC9AF}"/>
              </a:ext>
            </a:extLst>
          </p:cNvPr>
          <p:cNvSpPr>
            <a:spLocks noGrp="1"/>
          </p:cNvSpPr>
          <p:nvPr>
            <p:ph type="title"/>
          </p:nvPr>
        </p:nvSpPr>
        <p:spPr/>
        <p:txBody>
          <a:bodyPr/>
          <a:lstStyle/>
          <a:p>
            <a:r>
              <a:rPr lang="en-US" dirty="0"/>
              <a:t>Robust RL</a:t>
            </a:r>
          </a:p>
        </p:txBody>
      </p:sp>
      <p:sp>
        <p:nvSpPr>
          <p:cNvPr id="3" name="Content Placeholder 2">
            <a:extLst>
              <a:ext uri="{FF2B5EF4-FFF2-40B4-BE49-F238E27FC236}">
                <a16:creationId xmlns:a16="http://schemas.microsoft.com/office/drawing/2014/main" id="{20899FE2-D30C-0B46-906C-72B05F1349D0}"/>
              </a:ext>
            </a:extLst>
          </p:cNvPr>
          <p:cNvSpPr>
            <a:spLocks noGrp="1"/>
          </p:cNvSpPr>
          <p:nvPr>
            <p:ph idx="1"/>
          </p:nvPr>
        </p:nvSpPr>
        <p:spPr>
          <a:xfrm>
            <a:off x="838200" y="1397331"/>
            <a:ext cx="10515600" cy="4215194"/>
          </a:xfrm>
        </p:spPr>
        <p:txBody>
          <a:bodyPr>
            <a:normAutofit fontScale="85000" lnSpcReduction="20000"/>
          </a:bodyPr>
          <a:lstStyle/>
          <a:p>
            <a:r>
              <a:rPr lang="en-US" b="1" dirty="0"/>
              <a:t>Issue</a:t>
            </a:r>
            <a:r>
              <a:rPr lang="en-US" dirty="0"/>
              <a:t>: Standard RL often assumes the environment is fixed and perfectly known. This often fails:</a:t>
            </a:r>
          </a:p>
          <a:p>
            <a:pPr lvl="1"/>
            <a:r>
              <a:rPr lang="en-US" b="1" dirty="0"/>
              <a:t>Sim-to-Real Gap</a:t>
            </a:r>
            <a:r>
              <a:rPr lang="en-US" dirty="0"/>
              <a:t>: Slight differences in friction, sensor noise, or wind result in performance drops when transitioning from a training simulator to a physical robot.</a:t>
            </a:r>
          </a:p>
          <a:p>
            <a:pPr lvl="1"/>
            <a:r>
              <a:rPr lang="en-US" b="1" dirty="0"/>
              <a:t>Overfitting</a:t>
            </a:r>
            <a:r>
              <a:rPr lang="en-US" dirty="0"/>
              <a:t>: Standard agents often over-optimize for the exact distribution of training scenarios, performing poorly during unexpected changes.</a:t>
            </a:r>
          </a:p>
          <a:p>
            <a:r>
              <a:rPr lang="en-US" b="1" dirty="0"/>
              <a:t>Methods</a:t>
            </a:r>
            <a:r>
              <a:rPr lang="en-US" dirty="0"/>
              <a:t>: </a:t>
            </a:r>
          </a:p>
          <a:p>
            <a:pPr lvl="1"/>
            <a:r>
              <a:rPr lang="en-US" b="1" dirty="0"/>
              <a:t>Robust Markov Decision Processes </a:t>
            </a:r>
            <a:r>
              <a:rPr lang="en-US" dirty="0"/>
              <a:t>(RMDPs): Instead of optimizing for a single environment, the agent is trained on an uncertainty set. Identify a policy that performs well under the worst environments in the set.</a:t>
            </a:r>
          </a:p>
          <a:p>
            <a:pPr lvl="1"/>
            <a:r>
              <a:rPr lang="en-US" b="1" dirty="0"/>
              <a:t>Adversarial Training</a:t>
            </a:r>
            <a:r>
              <a:rPr lang="en-US" dirty="0"/>
              <a:t>: Modeled as a two-player zero-sum game. The agent aims to maximize rewards, while an adversarial environment simultaneously attempts to tweak dynamics or observations to minimize the agent's reward.</a:t>
            </a:r>
          </a:p>
          <a:p>
            <a:pPr lvl="1"/>
            <a:r>
              <a:rPr lang="en-US" b="1" dirty="0"/>
              <a:t>Conservative Smoothing &amp; Regularization</a:t>
            </a:r>
            <a:r>
              <a:rPr lang="en-US" dirty="0"/>
              <a:t>: Mechanisms like Maximum Entropy RL introduce penalties for over-confident predictions, naturally forcing the agent to learn smoother, more adaptable policies.</a:t>
            </a:r>
          </a:p>
        </p:txBody>
      </p:sp>
      <p:sp>
        <p:nvSpPr>
          <p:cNvPr id="5" name="TextBox 4">
            <a:extLst>
              <a:ext uri="{FF2B5EF4-FFF2-40B4-BE49-F238E27FC236}">
                <a16:creationId xmlns:a16="http://schemas.microsoft.com/office/drawing/2014/main" id="{F9851673-1E86-B5A8-F3C0-CDFE8E14AAEB}"/>
              </a:ext>
            </a:extLst>
          </p:cNvPr>
          <p:cNvSpPr txBox="1"/>
          <p:nvPr/>
        </p:nvSpPr>
        <p:spPr>
          <a:xfrm>
            <a:off x="838200" y="5908099"/>
            <a:ext cx="1038159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b="0" i="0" dirty="0">
                <a:solidFill>
                  <a:srgbClr val="333333"/>
                </a:solidFill>
                <a:effectLst/>
                <a:latin typeface="HelveticaNeue Regular"/>
              </a:rPr>
              <a:t>S. Chen and Y. Li, "</a:t>
            </a:r>
            <a:r>
              <a:rPr lang="en-US" sz="1600" b="0" i="0" dirty="0">
                <a:solidFill>
                  <a:srgbClr val="333333"/>
                </a:solidFill>
                <a:effectLst/>
                <a:latin typeface="HelveticaNeue Regular"/>
                <a:hlinkClick r:id="rId2"/>
              </a:rPr>
              <a:t>An Overview of Robust Reinforcement Learning</a:t>
            </a:r>
            <a:r>
              <a:rPr lang="en-US" sz="1600" b="0" i="0" dirty="0">
                <a:solidFill>
                  <a:srgbClr val="333333"/>
                </a:solidFill>
                <a:effectLst/>
                <a:latin typeface="HelveticaNeue Regular"/>
              </a:rPr>
              <a:t>," </a:t>
            </a:r>
            <a:r>
              <a:rPr lang="en-US" sz="1600" b="0" i="1" dirty="0">
                <a:solidFill>
                  <a:srgbClr val="333333"/>
                </a:solidFill>
                <a:effectLst/>
                <a:latin typeface="HelveticaNeue Regular"/>
              </a:rPr>
              <a:t>2020 IEEE International Conference on Networking, Sensing and Control (ICNSC)</a:t>
            </a:r>
            <a:r>
              <a:rPr lang="en-US" sz="1600" b="0" i="0" dirty="0">
                <a:solidFill>
                  <a:srgbClr val="333333"/>
                </a:solidFill>
                <a:effectLst/>
                <a:latin typeface="HelveticaNeue Regular"/>
              </a:rPr>
              <a:t>, Nanjing, China, 2020, pp. 1-6</a:t>
            </a:r>
            <a:endParaRPr lang="en-US" sz="1600" dirty="0"/>
          </a:p>
        </p:txBody>
      </p:sp>
    </p:spTree>
    <p:extLst>
      <p:ext uri="{BB962C8B-B14F-4D97-AF65-F5344CB8AC3E}">
        <p14:creationId xmlns:p14="http://schemas.microsoft.com/office/powerpoint/2010/main" val="5293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18276" y="729523"/>
            <a:ext cx="6858000" cy="5398953"/>
          </a:xfrm>
          <a:prstGeom prst="rect">
            <a:avLst/>
          </a:prstGeom>
          <a:ln>
            <a:noFill/>
          </a:ln>
          <a:effectLst>
            <a:outerShdw blurRad="419100" dist="1524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15B90-DA12-5311-A694-71F1513664CE}"/>
              </a:ext>
            </a:extLst>
          </p:cNvPr>
          <p:cNvSpPr>
            <a:spLocks noGrp="1"/>
          </p:cNvSpPr>
          <p:nvPr>
            <p:ph type="title"/>
          </p:nvPr>
        </p:nvSpPr>
        <p:spPr>
          <a:xfrm>
            <a:off x="758952" y="785366"/>
            <a:ext cx="4069055" cy="2072853"/>
          </a:xfrm>
        </p:spPr>
        <p:txBody>
          <a:bodyPr anchor="t">
            <a:normAutofit/>
          </a:bodyPr>
          <a:lstStyle/>
          <a:p>
            <a:r>
              <a:rPr lang="en-US" sz="4000" dirty="0"/>
              <a:t>What You Should Know</a:t>
            </a:r>
          </a:p>
        </p:txBody>
      </p:sp>
      <p:sp>
        <p:nvSpPr>
          <p:cNvPr id="3" name="Content Placeholder 2">
            <a:extLst>
              <a:ext uri="{FF2B5EF4-FFF2-40B4-BE49-F238E27FC236}">
                <a16:creationId xmlns:a16="http://schemas.microsoft.com/office/drawing/2014/main" id="{76BBA507-BEF2-070A-4241-AF2BA1803534}"/>
              </a:ext>
            </a:extLst>
          </p:cNvPr>
          <p:cNvSpPr>
            <a:spLocks noGrp="1"/>
          </p:cNvSpPr>
          <p:nvPr>
            <p:ph idx="1"/>
          </p:nvPr>
        </p:nvSpPr>
        <p:spPr>
          <a:xfrm>
            <a:off x="5575712" y="1064173"/>
            <a:ext cx="6408924" cy="4971174"/>
          </a:xfrm>
        </p:spPr>
        <p:txBody>
          <a:bodyPr anchor="ctr">
            <a:normAutofit fontScale="92500" lnSpcReduction="20000"/>
          </a:bodyPr>
          <a:lstStyle/>
          <a:p>
            <a:r>
              <a:rPr lang="en-US" sz="2400" dirty="0"/>
              <a:t>Explain how changing the reward structure affects learning in RL:</a:t>
            </a:r>
          </a:p>
          <a:p>
            <a:pPr lvl="1"/>
            <a:r>
              <a:rPr lang="en-US" sz="1800" dirty="0"/>
              <a:t>How rewards express the goal.</a:t>
            </a:r>
          </a:p>
          <a:p>
            <a:pPr lvl="1"/>
            <a:r>
              <a:rPr lang="en-US" sz="1800" dirty="0"/>
              <a:t>Sparse rewards in planning problems.</a:t>
            </a:r>
          </a:p>
          <a:p>
            <a:pPr lvl="1"/>
            <a:endParaRPr lang="en-US" sz="1800" dirty="0"/>
          </a:p>
          <a:p>
            <a:r>
              <a:rPr lang="en-US" sz="2400" dirty="0"/>
              <a:t>Understand the basic concepts</a:t>
            </a:r>
          </a:p>
          <a:p>
            <a:pPr lvl="1"/>
            <a:r>
              <a:rPr lang="en-US" sz="1800" dirty="0"/>
              <a:t>Extrinsic vs. intrinsic reward</a:t>
            </a:r>
          </a:p>
          <a:p>
            <a:pPr lvl="1"/>
            <a:r>
              <a:rPr lang="en-US" sz="1800" dirty="0"/>
              <a:t>Potential-based Reward Shaping (PBRS)</a:t>
            </a:r>
          </a:p>
          <a:p>
            <a:pPr lvl="1"/>
            <a:r>
              <a:rPr lang="en-US" sz="1800" dirty="0"/>
              <a:t>Intermediate Milestone Rewards</a:t>
            </a:r>
          </a:p>
          <a:p>
            <a:pPr lvl="1"/>
            <a:r>
              <a:rPr lang="en-US" sz="1800" dirty="0"/>
              <a:t>Intrinsic Motivation: Curiosity</a:t>
            </a:r>
          </a:p>
          <a:p>
            <a:pPr lvl="1"/>
            <a:r>
              <a:rPr lang="en-US" sz="1800" dirty="0"/>
              <a:t>Inverse RL, curriculum learning, and robust RL</a:t>
            </a:r>
          </a:p>
          <a:p>
            <a:pPr marL="457200" lvl="1" indent="0">
              <a:buNone/>
            </a:pPr>
            <a:endParaRPr lang="en-US" sz="1800" dirty="0"/>
          </a:p>
          <a:p>
            <a:r>
              <a:rPr lang="en-US" sz="2400" dirty="0"/>
              <a:t>Recognize issues</a:t>
            </a:r>
          </a:p>
          <a:p>
            <a:pPr lvl="1"/>
            <a:r>
              <a:rPr lang="en-US" sz="1800" dirty="0"/>
              <a:t>When the learned policy is the result of a shortcut or reward hacking.</a:t>
            </a:r>
          </a:p>
          <a:p>
            <a:pPr lvl="1"/>
            <a:r>
              <a:rPr lang="en-US" sz="1800" dirty="0"/>
              <a:t>When the engineered reward overwrites the true objective.</a:t>
            </a:r>
          </a:p>
          <a:p>
            <a:pPr lvl="1"/>
            <a:r>
              <a:rPr lang="en-US" sz="1800" dirty="0"/>
              <a:t>When the engineered reward has the potential to bias the solution.</a:t>
            </a:r>
          </a:p>
        </p:txBody>
      </p:sp>
      <p:pic>
        <p:nvPicPr>
          <p:cNvPr id="4" name="Picture 3">
            <a:extLst>
              <a:ext uri="{FF2B5EF4-FFF2-40B4-BE49-F238E27FC236}">
                <a16:creationId xmlns:a16="http://schemas.microsoft.com/office/drawing/2014/main" id="{C0016F98-4E8E-CBB1-A610-58AFEB8B6E7F}"/>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10" b="-1"/>
          <a:stretch>
            <a:fillRect/>
          </a:stretch>
        </p:blipFill>
        <p:spPr bwMode="auto">
          <a:xfrm>
            <a:off x="724708" y="3429000"/>
            <a:ext cx="3951110" cy="266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80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11318</TotalTime>
  <Words>1622</Words>
  <Application>Microsoft Office PowerPoint</Application>
  <PresentationFormat>Widescreen</PresentationFormat>
  <Paragraphs>194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Calibri</vt:lpstr>
      <vt:lpstr>Cambria Math</vt:lpstr>
      <vt:lpstr>HelveticaNeue Regular</vt:lpstr>
      <vt:lpstr>Titillium Web</vt:lpstr>
      <vt:lpstr>Office Theme</vt:lpstr>
      <vt:lpstr>Reinforcement Learning  Reward Engineering Sutton/Barto* Chapter 17.4 and other sources</vt:lpstr>
      <vt:lpstr>Topics of this Course</vt:lpstr>
      <vt:lpstr>Reward Engineering</vt:lpstr>
      <vt:lpstr>Types of RL Problems</vt:lpstr>
      <vt:lpstr>Designing Reward Signals</vt:lpstr>
      <vt:lpstr>Reward Engineering </vt:lpstr>
      <vt:lpstr>Reward Shaping Techniques</vt:lpstr>
      <vt:lpstr>Potential-based Reward Shaping (PBRS)</vt:lpstr>
      <vt:lpstr>Intermediate Milestone Rewards</vt:lpstr>
      <vt:lpstr> Intrinsic Motivation: Curiosity</vt:lpstr>
      <vt:lpstr>Code example:  Comparing Reward Engineering Methods</vt:lpstr>
      <vt:lpstr>Related Training Techniques</vt:lpstr>
      <vt:lpstr>Inverse RL</vt:lpstr>
      <vt:lpstr>Curriculum Learning</vt:lpstr>
      <vt:lpstr>Robust RL</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189</cp:revision>
  <dcterms:created xsi:type="dcterms:W3CDTF">2025-09-08T14:44:49Z</dcterms:created>
  <dcterms:modified xsi:type="dcterms:W3CDTF">2026-10-23T15:48:50Z</dcterms:modified>
</cp:coreProperties>
</file>