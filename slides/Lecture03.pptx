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8" r:id="rId3"/>
    <p:sldId id="381" r:id="rId4"/>
    <p:sldId id="380" r:id="rId5"/>
    <p:sldId id="372" r:id="rId6"/>
    <p:sldId id="369" r:id="rId7"/>
    <p:sldId id="370" r:id="rId8"/>
    <p:sldId id="371" r:id="rId9"/>
    <p:sldId id="374" r:id="rId10"/>
    <p:sldId id="373" r:id="rId11"/>
    <p:sldId id="375" r:id="rId12"/>
    <p:sldId id="376" r:id="rId13"/>
    <p:sldId id="377" r:id="rId14"/>
    <p:sldId id="378" r:id="rId15"/>
    <p:sldId id="379" r:id="rId16"/>
    <p:sldId id="382" r:id="rId17"/>
    <p:sldId id="383" r:id="rId18"/>
    <p:sldId id="384" r:id="rId19"/>
    <p:sldId id="385" r:id="rId20"/>
    <p:sldId id="3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286E67-F0F0-421C-8F74-7B93ABA17FBF}">
          <p14:sldIdLst>
            <p14:sldId id="256"/>
            <p14:sldId id="368"/>
            <p14:sldId id="381"/>
            <p14:sldId id="380"/>
            <p14:sldId id="372"/>
            <p14:sldId id="369"/>
            <p14:sldId id="370"/>
            <p14:sldId id="371"/>
            <p14:sldId id="374"/>
            <p14:sldId id="373"/>
            <p14:sldId id="375"/>
            <p14:sldId id="376"/>
            <p14:sldId id="377"/>
            <p14:sldId id="378"/>
            <p14:sldId id="379"/>
            <p14:sldId id="382"/>
            <p14:sldId id="383"/>
            <p14:sldId id="384"/>
            <p14:sldId id="385"/>
            <p14:sldId id="3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23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7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5558-2701-D852-1A01-0BF39B58D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150F4-19D6-3927-AF4C-79938CACB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C3DC3-6BE4-4AD5-BF83-83DBE674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D0FF9-FEE5-7DEA-F2A0-04CD3C8E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CCB2C-BF64-0CEB-C138-EC1E0FF1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8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A809-C199-A2CA-4B62-C11FD836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0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BD398-BC57-413F-4426-6AE62DCF0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330"/>
            <a:ext cx="10515600" cy="477963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09A95-DE70-5583-0BB6-25CA049A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F8C87-113F-3949-D291-E8101A07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8CBE1-6776-590E-6A36-B274F6F6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6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B990-0C44-FE72-89C1-7BAFB2C8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F51AA-25F1-19ED-49F4-909710D8F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F3394-E947-7BBC-4B4E-FC222CF9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90F51-989A-F265-1B59-526B06EC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6400B-F255-95CF-8BD8-3D8AE595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3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C8DE-D8D3-04F9-7952-B3C9B444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6199-C068-6A1D-B9C6-37C04A922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26636-1E6C-5A66-DCE9-40F0239C9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5DEA3-FC5C-77B6-8AEC-BF4A26C7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2BAE8-516B-EE07-0EF8-4E37D353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D7F8D-0B8A-CA54-C5D1-DAFB9A21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762D-C67C-6FB4-D8AF-A2AEADD0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F3E59-5CAF-AE52-066A-662EAF232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94A81-151A-F8B5-9A7D-43577F3F6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DED1E-7743-9D82-5A8F-215AF2DB8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3FED4-7E43-512F-BDC2-AB5A6F6A9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E71D6A-F625-133A-E751-2B967B94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56629-E601-1BA5-526C-36960EEB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5DDDF-B6D4-29FB-6B7F-C7017B4E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1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B25A-3F20-51F4-D136-F73B1768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F8609-CAA0-6678-FCA9-C0252974D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1A081-E4EB-7E96-A0AA-2E4D4909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0AC27-1467-337C-D636-190385E3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1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8C3DB-E47E-C122-D7BD-AAAC105B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194795-A7C6-B915-9849-6DDF9E55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BD6E5-D6AC-7828-B9FA-162561BD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8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DA5E-FB2F-65E3-9AC6-77E9E333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88CA7-EDCF-7BC9-0D50-5F550487A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96387-78E1-111C-2860-362080259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170FC-BF4D-52B4-3D96-975E35B6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B24C2-CDEC-1D6D-42DB-F885EAF6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CA044-7F46-1F0F-A966-A66706F2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92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2354-EE3F-C81F-2C98-42CA24F0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7B54A-0E38-1C0F-EA90-8D9A628CC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F9108-1890-E2BF-7EA2-A2F28DEA6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68F02-6193-91DC-69E0-6CC09A24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4B642-5606-ACB8-4ADF-6DDE8BE4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9560E-8858-1CED-6B2E-1EF0F58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5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A8BF-0F66-F00E-4527-03CBDE1E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8F7C1-32BC-0F71-0130-0DFB9C183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9C7E0-3252-37DB-73A7-7F070748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6C5EE-EAD9-8D18-3741-930600D3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647D8-342D-AED5-3763-DD02F7C2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4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0B639-7A1F-68FA-45DD-3196E2CB5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4F1BB-B40D-E6E4-111B-122348C26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AFD-560D-9508-6F31-281EC974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C6320-E161-CE4A-CBDD-27072D2A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3E81-2AD2-5FBE-B6F5-1512F3AF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46CF1-7E31-D1FD-63E0-29688510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99997-F7F8-3FB5-F294-092654769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EC26E-B485-AE94-5C91-D0E504CEB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2BF2E-04DA-469E-97C5-BB68A036881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ECD47-D4F5-A47B-6CA1-E8E47C1C4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C2B9-7B85-792D-492E-EE9D50875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02EEF-8413-288E-566D-063A066A6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7" r="23298" b="3714"/>
          <a:stretch>
            <a:fillRect/>
          </a:stretch>
        </p:blipFill>
        <p:spPr bwMode="auto">
          <a:xfrm>
            <a:off x="3653200" y="-18278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EE42B-57B4-EB74-A37C-6675858E7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463968" cy="320413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Reinforcement Learning</a:t>
            </a:r>
            <a:br>
              <a:rPr lang="en-US" sz="4800" dirty="0">
                <a:solidFill>
                  <a:schemeClr val="bg1"/>
                </a:solidFill>
              </a:rPr>
            </a:b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Dynamic Programming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Sutton/Barto*</a:t>
            </a:r>
            <a:r>
              <a:rPr lang="en-US" sz="2700" dirty="0">
                <a:solidFill>
                  <a:schemeClr val="bg1"/>
                </a:solidFill>
              </a:rPr>
              <a:t> Chapter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F10C2-8C10-0E89-D285-D614C36EE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868822"/>
            <a:ext cx="4169519" cy="1443894"/>
          </a:xfrm>
        </p:spPr>
        <p:txBody>
          <a:bodyPr>
            <a:normAutofit fontScale="92500"/>
          </a:bodyPr>
          <a:lstStyle/>
          <a:p>
            <a:pPr algn="l"/>
            <a:r>
              <a:rPr lang="en-US" sz="1700" dirty="0">
                <a:solidFill>
                  <a:schemeClr val="bg1"/>
                </a:solidFill>
              </a:rPr>
              <a:t>Michael Hahsler, SMU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With figures from Sutton/Barto*</a:t>
            </a:r>
          </a:p>
          <a:p>
            <a:pPr algn="l"/>
            <a:endParaRPr lang="en-US" sz="1300" dirty="0">
              <a:solidFill>
                <a:schemeClr val="bg1"/>
              </a:solidFill>
            </a:endParaRP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*Sutton and Barto, Reinforcement Learning: An Introduction, 2</a:t>
            </a:r>
            <a:r>
              <a:rPr lang="en-US" sz="1300" baseline="30000" dirty="0">
                <a:solidFill>
                  <a:schemeClr val="bg1"/>
                </a:solidFill>
              </a:rPr>
              <a:t>nd</a:t>
            </a:r>
            <a:r>
              <a:rPr lang="en-US" sz="1300" dirty="0">
                <a:solidFill>
                  <a:schemeClr val="bg1"/>
                </a:solidFill>
              </a:rPr>
              <a:t> edition, MIT Press, Cambridge, MA, 2018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object 23">
            <a:hlinkClick r:id="rId3"/>
            <a:extLst>
              <a:ext uri="{FF2B5EF4-FFF2-40B4-BE49-F238E27FC236}">
                <a16:creationId xmlns:a16="http://schemas.microsoft.com/office/drawing/2014/main" id="{3CBD6548-3D4E-9A40-CA35-355261D4E92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61016" y="6265038"/>
            <a:ext cx="1037459" cy="3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5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E431-EDDE-8F36-4640-902EF247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0BC304-9F53-1D52-E987-0090E5073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000" dirty="0"/>
                  <a:t>Compute the 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2000" dirty="0"/>
                  <a:t> given a perfect finite MDP model.</a:t>
                </a:r>
              </a:p>
              <a:p>
                <a:r>
                  <a:rPr lang="en-US" sz="2000" dirty="0"/>
                  <a:t>Bellman optimality equations: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aln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/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aln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b="1" dirty="0"/>
                  <a:t>Idea</a:t>
                </a:r>
                <a:r>
                  <a:rPr lang="en-US" sz="2000" dirty="0"/>
                  <a:t>: turn the Bellman optimality equations into update rules.</a:t>
                </a:r>
              </a:p>
              <a:p>
                <a:r>
                  <a:rPr lang="en-US" sz="2000" b="1" dirty="0"/>
                  <a:t>Issues</a:t>
                </a:r>
                <a:r>
                  <a:rPr lang="en-US" sz="2000" dirty="0"/>
                  <a:t>: </a:t>
                </a:r>
                <a:r>
                  <a:rPr lang="en-US" sz="1800" dirty="0"/>
                  <a:t>The estimate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 depends on the current estimates of the successor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 dirty="0"/>
                  <a:t>. This is a recursion!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0BC304-9F53-1D52-E987-0090E5073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F685B52-5D31-046C-FA57-23AD9A7FCCFF}"/>
              </a:ext>
            </a:extLst>
          </p:cNvPr>
          <p:cNvGrpSpPr/>
          <p:nvPr/>
        </p:nvGrpSpPr>
        <p:grpSpPr>
          <a:xfrm>
            <a:off x="5936874" y="3738285"/>
            <a:ext cx="1622631" cy="579543"/>
            <a:chOff x="2533296" y="3175233"/>
            <a:chExt cx="1503726" cy="579543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898E18C9-0941-AC3C-3E0A-203470D94889}"/>
                </a:ext>
              </a:extLst>
            </p:cNvPr>
            <p:cNvSpPr/>
            <p:nvPr/>
          </p:nvSpPr>
          <p:spPr>
            <a:xfrm rot="5400000">
              <a:off x="3194734" y="2513795"/>
              <a:ext cx="180849" cy="1503726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3F2E145-B5BC-7419-FB96-26B18193DDA7}"/>
                    </a:ext>
                  </a:extLst>
                </p:cNvPr>
                <p:cNvSpPr txBox="1"/>
                <p:nvPr/>
              </p:nvSpPr>
              <p:spPr>
                <a:xfrm>
                  <a:off x="2602325" y="3385444"/>
                  <a:ext cx="136566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3F2E145-B5BC-7419-FB96-26B18193DD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2325" y="3385444"/>
                  <a:ext cx="1365667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33940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E1A2-75E3-3C9C-6C10-EE078C5A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69C9C-42B6-9B0F-9AE0-20D17703E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11475" y="1124346"/>
                <a:ext cx="5273179" cy="1505259"/>
              </a:xfr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return (cumulative reward) following time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′ 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probability of transition to state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, 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taking action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200" dirty="0"/>
                  <a:t>	expected immediate reward 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after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200" dirty="0"/>
                  <a:t> (expected return)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state s under the optimal policy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the optimal policy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69C9C-42B6-9B0F-9AE0-20D17703E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11475" y="1124346"/>
                <a:ext cx="5273179" cy="150525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08B36CA-535B-718D-F6EB-D4F59B9D26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821" y="2150317"/>
                <a:ext cx="5273179" cy="958576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200" dirty="0"/>
                  <a:t>	probability that a random variable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 takes on the value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	random variable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 selected from distribution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200" dirty="0"/>
                  <a:t>	expectation of a random variable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, i.e.,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sz="1200" b="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a value of action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at which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takes its maximal value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200" dirty="0"/>
                  <a:t> 	discount-rate parameter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08B36CA-535B-718D-F6EB-D4F59B9D2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21" y="2150317"/>
                <a:ext cx="5273179" cy="958576"/>
              </a:xfrm>
              <a:prstGeom prst="rect">
                <a:avLst/>
              </a:prstGeom>
              <a:blipFill>
                <a:blip r:embed="rId3"/>
                <a:stretch>
                  <a:fillRect t="-1875" b="-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CD475E5-BE3B-5594-57DC-46A17411F2F9}"/>
              </a:ext>
            </a:extLst>
          </p:cNvPr>
          <p:cNvSpPr txBox="1"/>
          <p:nvPr/>
        </p:nvSpPr>
        <p:spPr>
          <a:xfrm>
            <a:off x="822820" y="1124198"/>
            <a:ext cx="5273179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Capital letters          random variables</a:t>
            </a:r>
            <a:br>
              <a:rPr lang="en-US" sz="1200" dirty="0"/>
            </a:br>
            <a:r>
              <a:rPr lang="en-US" sz="1200" dirty="0"/>
              <a:t>Lower case letters realizations of random variables and for scalar functions</a:t>
            </a:r>
          </a:p>
          <a:p>
            <a:r>
              <a:rPr lang="en-US" sz="1200" dirty="0"/>
              <a:t>Bold lower case letters real-valued vectors (even if random variables)</a:t>
            </a:r>
          </a:p>
          <a:p>
            <a:r>
              <a:rPr lang="en-US" sz="1200" dirty="0"/>
              <a:t>Bold capitals           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F45EA4F-65F9-5141-0B09-C395CF9CA7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819" y="3291317"/>
                <a:ext cx="5273179" cy="230920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 	states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	an action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200" dirty="0"/>
                  <a:t> 	a reward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200" dirty="0"/>
                  <a:t> 	set of all (nonterminal) states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set of all actions available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/>
                  <a:t> 	discrete time step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/>
                  <a:t> 	final time step of an episode (a.k.a. horizon)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random variable for the action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	random variable for the state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random variable for the reward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200" dirty="0"/>
                  <a:t> 	policy (decision-making rule)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action taken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deterministic policy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probability of taking action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stochastic policy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F45EA4F-65F9-5141-0B09-C395CF9CA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19" y="3291317"/>
                <a:ext cx="5273179" cy="2309203"/>
              </a:xfrm>
              <a:prstGeom prst="rect">
                <a:avLst/>
              </a:prstGeom>
              <a:blipFill>
                <a:blip r:embed="rId4"/>
                <a:stretch>
                  <a:fillRect t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E78B3C3-4711-1AB7-B84A-8ADA6DA6F4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1474" y="2777480"/>
                <a:ext cx="5273179" cy="75907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array estimates of 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array estimates of 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expected approximate action value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target for estimate at time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E78B3C3-4711-1AB7-B84A-8ADA6DA6F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474" y="2777480"/>
                <a:ext cx="5273179" cy="759072"/>
              </a:xfrm>
              <a:prstGeom prst="rect">
                <a:avLst/>
              </a:prstGeom>
              <a:blipFill>
                <a:blip r:embed="rId5"/>
                <a:stretch>
                  <a:fillRect t="-2362" b="-3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5471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C6BA7-ADBF-A187-1481-819E42FC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Tabular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9710D-F26D-E73F-A3F8-50BB8250FE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Dynamic programming is a tabular method.</a:t>
                </a:r>
              </a:p>
              <a:p>
                <a:r>
                  <a:rPr lang="en-US" dirty="0"/>
                  <a:t>The value functions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are stored in arrays (tables).</a:t>
                </a:r>
              </a:p>
              <a:p>
                <a:r>
                  <a:rPr lang="en-US" dirty="0"/>
                  <a:t>Tabular methods can often find the exact solution (i.e., optimal value function and policy).</a:t>
                </a:r>
              </a:p>
              <a:p>
                <a:endParaRPr lang="en-US" dirty="0"/>
              </a:p>
              <a:p>
                <a:r>
                  <a:rPr lang="en-US" b="1" dirty="0"/>
                  <a:t>Issue</a:t>
                </a:r>
                <a:r>
                  <a:rPr lang="en-US" dirty="0"/>
                  <a:t>: Since the table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has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r>
                  <a:rPr lang="en-US" dirty="0"/>
                  <a:t> and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has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many entries, this is only feasible for problems with a small state space!</a:t>
                </a:r>
              </a:p>
              <a:p>
                <a:endParaRPr lang="en-US" dirty="0"/>
              </a:p>
              <a:p>
                <a:r>
                  <a:rPr lang="en-US" dirty="0"/>
                  <a:t>We will later talk about approximate methods that can work with large state spaces.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9710D-F26D-E73F-A3F8-50BB8250FE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68" r="-406"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858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43C56-7419-CE0C-1D18-6CC80DC10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250192-9C75-1175-C27F-B882D7E51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50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F1C3-5C0A-145A-FD0E-11A8D3F8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 (Prediction)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D1FCBE-98A8-ED20-FB57-A0D8E46193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First step: Compute the 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for a given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dynamic programming (DP) this is called policy evaluation.</a:t>
                </a:r>
              </a:p>
              <a:p>
                <a:pPr>
                  <a:lnSpc>
                    <a:spcPct val="100000"/>
                  </a:lnSpc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Recursive relationship: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≝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aln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aln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r>
                  <a:rPr lang="en-US" dirty="0"/>
                  <a:t> equations, one for each state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b="1" dirty="0"/>
              </a:p>
              <a:p>
                <a:r>
                  <a:rPr lang="en-US" b="1" dirty="0"/>
                  <a:t>Guarantee</a:t>
                </a:r>
                <a:r>
                  <a:rPr lang="en-US" dirty="0"/>
                  <a:t>: A unique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 </m:t>
                    </m:r>
                  </m:oMath>
                </a14:m>
                <a:r>
                  <a:rPr lang="en-US" dirty="0"/>
                  <a:t>or termination is guaranteed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D1FCBE-98A8-ED20-FB57-A0D8E46193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806" b="-2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30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5D3C2-BFBE-479C-C276-D13BC409F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Options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FDADB-CB9E-5700-5CD5-2A4F4B7D2B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Solve the system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r>
                  <a:rPr lang="en-US" sz="2400" dirty="0"/>
                  <a:t> linear equations. </a:t>
                </a:r>
                <a:br>
                  <a:rPr lang="en-US" sz="2400" dirty="0"/>
                </a:br>
                <a:r>
                  <a:rPr lang="en-US" sz="2400" dirty="0"/>
                  <a:t>This is hard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r>
                  <a:rPr lang="en-US" sz="2400" dirty="0"/>
                  <a:t> is very large.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Iterative Policy Evaluation</a:t>
                </a:r>
              </a:p>
              <a:p>
                <a:pPr lvl="1"/>
                <a:r>
                  <a:rPr lang="en-US" sz="2000" dirty="0"/>
                  <a:t>Start with arbitrary values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Update all values at iteration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using </a:t>
                </a:r>
              </a:p>
              <a:p>
                <a:pPr lvl="1"/>
                <a:endParaRPr lang="en-US" sz="2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sz="2000" i="1">
                          <a:latin typeface="Cambria Math" panose="02040503050406030204" pitchFamily="18" charset="0"/>
                        </a:rPr>
                        <m:t>≝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lvl="1"/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sz="2000" dirty="0"/>
                  <a:t> is a fixed point. Updates converge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FDADB-CB9E-5700-5CD5-2A4F4B7D2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786" b="-7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D69E0E1-150E-502B-230D-20020733C03F}"/>
              </a:ext>
            </a:extLst>
          </p:cNvPr>
          <p:cNvGrpSpPr/>
          <p:nvPr/>
        </p:nvGrpSpPr>
        <p:grpSpPr>
          <a:xfrm>
            <a:off x="4839829" y="4965969"/>
            <a:ext cx="5375181" cy="730954"/>
            <a:chOff x="2458533" y="3098314"/>
            <a:chExt cx="1699913" cy="730954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67214591-2070-0693-973A-E1B8CCC315CF}"/>
                </a:ext>
              </a:extLst>
            </p:cNvPr>
            <p:cNvSpPr/>
            <p:nvPr/>
          </p:nvSpPr>
          <p:spPr>
            <a:xfrm rot="5400000">
              <a:off x="3099931" y="2531679"/>
              <a:ext cx="257767" cy="1391038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FF88B54-F488-2CE8-6F14-974D1CC4F817}"/>
                </a:ext>
              </a:extLst>
            </p:cNvPr>
            <p:cNvSpPr txBox="1"/>
            <p:nvPr/>
          </p:nvSpPr>
          <p:spPr>
            <a:xfrm>
              <a:off x="2458533" y="3306048"/>
              <a:ext cx="16999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In DP called “expected update.”</a:t>
              </a:r>
              <a:br>
                <a:rPr lang="en-US" sz="1400" dirty="0"/>
              </a:br>
              <a:r>
                <a:rPr lang="en-US" sz="1400" dirty="0"/>
                <a:t>Uses the expectation over all possible next states.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4265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978EC-0ABA-0841-5F8F-F9F724EE9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Alg. Iterative Policy Evaluation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571EE0-04FA-AFEF-D4C0-742C0CA1C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41" y="1614234"/>
            <a:ext cx="8545118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45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8E72-A858-886F-FFC6-1EAF054B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09B95-047C-85A1-59FC-0A9A298CF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nonterminal states are S = {1, 2, . . . , 14}. There are four actions possible in each</a:t>
            </a:r>
          </a:p>
          <a:p>
            <a:r>
              <a:rPr lang="en-US" dirty="0"/>
              <a:t>state, A = {up, down, right, left}, which deterministically cause the corresponding</a:t>
            </a:r>
          </a:p>
          <a:p>
            <a:r>
              <a:rPr lang="en-US" dirty="0"/>
              <a:t>state transitions, except that actions that would take the agent o↵ the grid in fact leave</a:t>
            </a:r>
          </a:p>
          <a:p>
            <a:r>
              <a:rPr lang="en-US" dirty="0"/>
              <a:t>the state unchanged. Thus, for instance, p(6,−1|5, right) = 1, p(7,−1|7, right) = 1,</a:t>
            </a:r>
          </a:p>
          <a:p>
            <a:r>
              <a:rPr lang="en-US" dirty="0"/>
              <a:t>and p(10, r|5, right) = 0 for all r 2 R. This is an undiscounted, episodic task. The</a:t>
            </a:r>
          </a:p>
          <a:p>
            <a:r>
              <a:rPr lang="en-US" dirty="0"/>
              <a:t>reward is −1 on all transitions until the terminal state is reached. The terminal state is</a:t>
            </a:r>
          </a:p>
          <a:p>
            <a:r>
              <a:rPr lang="en-US" dirty="0"/>
              <a:t>shaded in the figure (although it is shown in two places, it is formally one state). The</a:t>
            </a:r>
          </a:p>
          <a:p>
            <a:r>
              <a:rPr lang="en-US" dirty="0"/>
              <a:t>expected reward function is thus r(s, a, s0) = −1 for all states s, s0 and actions a. Suppose</a:t>
            </a:r>
          </a:p>
          <a:p>
            <a:r>
              <a:rPr lang="en-US" dirty="0"/>
              <a:t>the agent follows the equiprobable random policy (all actions equally likely). The left side</a:t>
            </a:r>
          </a:p>
          <a:p>
            <a:r>
              <a:rPr lang="en-US" dirty="0"/>
              <a:t>of Figure 4.1 shows the sequence of value functions {</a:t>
            </a:r>
            <a:r>
              <a:rPr lang="en-US" dirty="0" err="1"/>
              <a:t>vk</a:t>
            </a:r>
            <a:r>
              <a:rPr lang="en-US" dirty="0"/>
              <a:t>} computed by iterative policy</a:t>
            </a:r>
          </a:p>
          <a:p>
            <a:r>
              <a:rPr lang="en-US" dirty="0"/>
              <a:t>evaluation. The final estimate is in fact v⇡, which in this case gives for each state the</a:t>
            </a:r>
          </a:p>
          <a:p>
            <a:r>
              <a:rPr lang="en-US" dirty="0"/>
              <a:t>negation of the expected number of steps from that state until termination.</a:t>
            </a:r>
          </a:p>
          <a:p>
            <a:r>
              <a:rPr lang="en-US" dirty="0"/>
              <a:t>Exercise 4.1 In Example 4.1, if ⇡ is the equiprobable random policy, what is q⇡(11, down)?</a:t>
            </a:r>
          </a:p>
          <a:p>
            <a:r>
              <a:rPr lang="en-US" dirty="0"/>
              <a:t>What is q⇡(7, down)?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0DC1D-1A9A-5821-679A-6B4DC5B4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997" y="0"/>
            <a:ext cx="8917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0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CF1CC-10CD-B582-2B11-0A66BEC5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054114-96CE-D97E-B075-31C454DDA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Iteration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62B658-5985-EDF0-1906-5FE3656E5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48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FCE80A-5561-7918-7BB7-41058FE7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Improvement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A53698B-84CA-6CEC-1390-2BE83DC551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Goal</a:t>
                </a:r>
                <a:r>
                  <a:rPr lang="en-US" dirty="0"/>
                  <a:t>: Find a better policy.</a:t>
                </a:r>
              </a:p>
              <a:p>
                <a:r>
                  <a:rPr lang="en-US" b="1" dirty="0"/>
                  <a:t>Policy improvement theorem</a:t>
                </a:r>
                <a:r>
                  <a:rPr lang="en-US" dirty="0"/>
                  <a:t>: If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	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is a least as good or better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 i.e.,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b="1" dirty="0"/>
                  <a:t>Policy improvement</a:t>
                </a:r>
                <a:r>
                  <a:rPr lang="en-US" dirty="0"/>
                  <a:t>: create a new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by choosing in each state the best (aka greedy) action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Guarantee</a:t>
                </a:r>
                <a:r>
                  <a:rPr lang="en-US" dirty="0"/>
                  <a:t>: This gives a strictly better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unless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is already optimal.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A53698B-84CA-6CEC-1390-2BE83DC55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51" b="-2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63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5F9D9-4282-B818-FCEC-0D021362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Iteration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8641C-75BB-03D4-C701-9095E6E26D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331"/>
                <a:ext cx="8771389" cy="90789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Sequence of monotonically improving policies: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groupCh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8641C-75BB-03D4-C701-9095E6E26D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331"/>
                <a:ext cx="8771389" cy="907896"/>
              </a:xfrm>
              <a:blipFill>
                <a:blip r:embed="rId2"/>
                <a:stretch>
                  <a:fillRect l="-1113" t="-16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EB2B97-5320-C668-434C-A64C12BB5DD6}"/>
                  </a:ext>
                </a:extLst>
              </p:cNvPr>
              <p:cNvSpPr txBox="1"/>
              <p:nvPr/>
            </p:nvSpPr>
            <p:spPr>
              <a:xfrm>
                <a:off x="9313355" y="1489113"/>
                <a:ext cx="2599595" cy="753924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groupChr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sz="1600" dirty="0"/>
                  <a:t>policy eval. step</a:t>
                </a:r>
                <a:r>
                  <a:rPr lang="en-US" sz="1600" b="0" i="1" dirty="0">
                    <a:latin typeface="Cambria Math" panose="02040503050406030204" pitchFamily="18" charset="0"/>
                  </a:rPr>
                  <a:t>  </a:t>
                </a:r>
                <a:endParaRPr lang="en-US" sz="16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groupChr>
                  </m:oMath>
                </a14:m>
                <a:r>
                  <a:rPr lang="en-US" sz="1600" dirty="0"/>
                  <a:t> policy improvement step</a:t>
                </a:r>
                <a:r>
                  <a:rPr lang="en-US" sz="1600" i="1" dirty="0">
                    <a:latin typeface="Cambria Math" panose="02040503050406030204" pitchFamily="18" charset="0"/>
                  </a:rPr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EB2B97-5320-C668-434C-A64C12BB5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355" y="1489113"/>
                <a:ext cx="2599595" cy="753924"/>
              </a:xfrm>
              <a:prstGeom prst="rect">
                <a:avLst/>
              </a:prstGeom>
              <a:blipFill>
                <a:blip r:embed="rId3"/>
                <a:stretch>
                  <a:fillRect l="-3030" b="-22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 descr="Policy iteration as a sequence of policy evaluation and policy improvements.">
            <a:extLst>
              <a:ext uri="{FF2B5EF4-FFF2-40B4-BE49-F238E27FC236}">
                <a16:creationId xmlns:a16="http://schemas.microsoft.com/office/drawing/2014/main" id="{5330DBED-05CE-C5CD-1726-3FFBB3C2F0B3}"/>
              </a:ext>
            </a:extLst>
          </p:cNvPr>
          <p:cNvGrpSpPr/>
          <p:nvPr/>
        </p:nvGrpSpPr>
        <p:grpSpPr>
          <a:xfrm>
            <a:off x="9161388" y="2382237"/>
            <a:ext cx="3198391" cy="2284485"/>
            <a:chOff x="9723059" y="2019762"/>
            <a:chExt cx="2494019" cy="2284485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47A44AD-8292-96EC-1994-4950D408F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767243" y="2133600"/>
              <a:ext cx="1963017" cy="9905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3">
                  <a:extLst>
                    <a:ext uri="{FF2B5EF4-FFF2-40B4-BE49-F238E27FC236}">
                      <a16:creationId xmlns:a16="http://schemas.microsoft.com/office/drawing/2014/main" id="{19BECD92-8EB4-3F3A-747C-2F7B09A3A7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11450082" y="2744954"/>
                  <a:ext cx="76699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3">
                  <a:extLst>
                    <a:ext uri="{FF2B5EF4-FFF2-40B4-BE49-F238E27FC236}">
                      <a16:creationId xmlns:a16="http://schemas.microsoft.com/office/drawing/2014/main" id="{19BECD92-8EB4-3F3A-747C-2F7B09A3A7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50082" y="2744954"/>
                  <a:ext cx="76699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13">
                  <a:extLst>
                    <a:ext uri="{FF2B5EF4-FFF2-40B4-BE49-F238E27FC236}">
                      <a16:creationId xmlns:a16="http://schemas.microsoft.com/office/drawing/2014/main" id="{FB9EE7AE-F5DB-6FED-EB86-DEBFF10FC2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10182391" y="2019762"/>
                  <a:ext cx="395810" cy="3946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lit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13">
                  <a:extLst>
                    <a:ext uri="{FF2B5EF4-FFF2-40B4-BE49-F238E27FC236}">
                      <a16:creationId xmlns:a16="http://schemas.microsoft.com/office/drawing/2014/main" id="{FB9EE7AE-F5DB-6FED-EB86-DEBFF10FC2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2391" y="2019762"/>
                  <a:ext cx="395810" cy="3946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957BD3F-E8AA-B5A0-FC84-59F338DCD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4409" y="3091219"/>
              <a:ext cx="96282" cy="117892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20">
                  <a:extLst>
                    <a:ext uri="{FF2B5EF4-FFF2-40B4-BE49-F238E27FC236}">
                      <a16:creationId xmlns:a16="http://schemas.microsoft.com/office/drawing/2014/main" id="{0F8E891D-D5E8-ACFF-2493-1B2D9A8425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11509673" y="3150165"/>
                  <a:ext cx="67088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20">
                  <a:extLst>
                    <a:ext uri="{FF2B5EF4-FFF2-40B4-BE49-F238E27FC236}">
                      <a16:creationId xmlns:a16="http://schemas.microsoft.com/office/drawing/2014/main" id="{0F8E891D-D5E8-ACFF-2493-1B2D9A8425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09673" y="3150165"/>
                  <a:ext cx="67088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22">
                  <a:extLst>
                    <a:ext uri="{FF2B5EF4-FFF2-40B4-BE49-F238E27FC236}">
                      <a16:creationId xmlns:a16="http://schemas.microsoft.com/office/drawing/2014/main" id="{855B6615-2A40-D9F1-B014-C079BEA818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9723059" y="3934915"/>
                  <a:ext cx="45351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22">
                  <a:extLst>
                    <a:ext uri="{FF2B5EF4-FFF2-40B4-BE49-F238E27FC236}">
                      <a16:creationId xmlns:a16="http://schemas.microsoft.com/office/drawing/2014/main" id="{855B6615-2A40-D9F1-B014-C079BEA818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3059" y="3934915"/>
                  <a:ext cx="4535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3B50D4-BD22-4970-434D-879A140DE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0767" y="3202752"/>
              <a:ext cx="1984379" cy="9210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6948348-E14F-E78C-7925-6D07B342D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V="1">
              <a:off x="9982200" y="2438400"/>
              <a:ext cx="360675" cy="151540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1A484C5-4702-A9B7-9D77-FC3973E8A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0342875" y="2438400"/>
              <a:ext cx="325125" cy="12192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EB4DCB4-48A5-6E51-B9FE-EF0E9B4BA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68000" y="2819400"/>
              <a:ext cx="457200" cy="8382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CB15DB5-D53A-F51F-8727-21F569598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1125200" y="2819400"/>
              <a:ext cx="228600" cy="5334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79E848C-DEE2-2B22-D382-CB1D0AFA6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3800" y="3066584"/>
              <a:ext cx="228600" cy="2862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F360256-AFD1-C0BB-ABF4-6ED717BE2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1582400" y="3086337"/>
              <a:ext cx="98107" cy="11406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0" name="TextBox 56">
              <a:extLst>
                <a:ext uri="{FF2B5EF4-FFF2-40B4-BE49-F238E27FC236}">
                  <a16:creationId xmlns:a16="http://schemas.microsoft.com/office/drawing/2014/main" id="{AFD80097-9184-52DD-89E7-0E2ED869B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 rot="17199066">
              <a:off x="9460902" y="3071193"/>
              <a:ext cx="12367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Policy evaluation</a:t>
              </a:r>
            </a:p>
          </p:txBody>
        </p:sp>
        <p:sp>
          <p:nvSpPr>
            <p:cNvPr id="21" name="TextBox 57">
              <a:extLst>
                <a:ext uri="{FF2B5EF4-FFF2-40B4-BE49-F238E27FC236}">
                  <a16:creationId xmlns:a16="http://schemas.microsoft.com/office/drawing/2014/main" id="{17FBEAB6-A067-564C-70A8-D8E9A5A2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 rot="4406454">
              <a:off x="10019882" y="2910998"/>
              <a:ext cx="11031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/>
                <a:t>P. improvement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20B55EFD-EEBE-AE5F-7566-305C5EAE57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6042" y="4181912"/>
                <a:ext cx="7897536" cy="21939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Guarantees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Policy improvement is guaranteed to improve the policy + finite MDPs have a finite number of policies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Policy Iteration must </a:t>
                </a:r>
                <a:r>
                  <a:rPr lang="en-US" b="1" dirty="0"/>
                  <a:t>converge</a:t>
                </a:r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r>
                  <a:rPr lang="en-US" b="1" dirty="0"/>
                  <a:t>Notes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Policy becomes stable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is reached.</a:t>
                </a:r>
              </a:p>
              <a:p>
                <a:pPr lvl="1"/>
                <a:r>
                  <a:rPr lang="en-US" dirty="0"/>
                  <a:t>Policy iteration typically converges very fast (a few iterations)</a:t>
                </a:r>
              </a:p>
              <a:p>
                <a:pPr lvl="1"/>
                <a:r>
                  <a:rPr lang="en-US" dirty="0"/>
                  <a:t>Issue: Policy estimation is </a:t>
                </a:r>
                <a:r>
                  <a:rPr lang="en-US" dirty="0" err="1"/>
                  <a:t>computationaly</a:t>
                </a:r>
                <a:r>
                  <a:rPr lang="en-US" dirty="0"/>
                  <a:t> expensive!</a:t>
                </a:r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20B55EFD-EEBE-AE5F-7566-305C5EAE5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42" y="4181912"/>
                <a:ext cx="7897536" cy="2193918"/>
              </a:xfrm>
              <a:prstGeom prst="rect">
                <a:avLst/>
              </a:prstGeom>
              <a:blipFill>
                <a:blip r:embed="rId8"/>
                <a:stretch>
                  <a:fillRect l="-1003" t="-5556" b="-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009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7162-18FD-7F93-177F-3D55B41A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Alg. Policy Iteration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B67C0D-A372-0D64-BB80-32D4D2FCE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1181" y="1397000"/>
            <a:ext cx="6849637" cy="477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113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9A4790-D161-0E92-E9A9-5BEEA5CF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Iteration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806331-75C8-8E65-5F2F-5059452CA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92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6D9EF-5990-B359-32C3-C72B2C6A0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3D67A5-12C4-DAB0-8869-5122697A55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331"/>
                <a:ext cx="7990869" cy="4235652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Combines the policy improvement and truncated policy evaluation steps: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sz="2400" i="1">
                          <a:latin typeface="Cambria Math" panose="02040503050406030204" pitchFamily="18" charset="0"/>
                        </a:rPr>
                        <m:t>≝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  <m:r>
                            <m:rPr>
                              <m:nor/>
                            </m:r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)[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b="1" dirty="0"/>
                  <a:t>Guarantee</a:t>
                </a:r>
                <a:r>
                  <a:rPr lang="en-US" sz="2400" dirty="0"/>
                  <a:t>: Sequence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converges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Practical termination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3D67A5-12C4-DAB0-8869-5122697A55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331"/>
                <a:ext cx="7990869" cy="4235652"/>
              </a:xfrm>
              <a:blipFill>
                <a:blip r:embed="rId2"/>
                <a:stretch>
                  <a:fillRect l="-1069" t="-1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DDD6752-393B-5DE4-89C9-FB6C1BD42C20}"/>
              </a:ext>
            </a:extLst>
          </p:cNvPr>
          <p:cNvGrpSpPr/>
          <p:nvPr/>
        </p:nvGrpSpPr>
        <p:grpSpPr>
          <a:xfrm>
            <a:off x="8975345" y="3682639"/>
            <a:ext cx="2854818" cy="2270823"/>
            <a:chOff x="9337182" y="2229868"/>
            <a:chExt cx="2854818" cy="2270823"/>
          </a:xfrm>
        </p:grpSpPr>
        <p:grpSp>
          <p:nvGrpSpPr>
            <p:cNvPr id="5" name="Group 4" descr="Updating the value function using iterative Bellman updates.">
              <a:extLst>
                <a:ext uri="{FF2B5EF4-FFF2-40B4-BE49-F238E27FC236}">
                  <a16:creationId xmlns:a16="http://schemas.microsoft.com/office/drawing/2014/main" id="{63FD7C4D-64E2-3FEF-F62C-382BE07E89C8}"/>
                </a:ext>
              </a:extLst>
            </p:cNvPr>
            <p:cNvGrpSpPr/>
            <p:nvPr/>
          </p:nvGrpSpPr>
          <p:grpSpPr>
            <a:xfrm>
              <a:off x="9337182" y="2229868"/>
              <a:ext cx="2854818" cy="1428805"/>
              <a:chOff x="9337182" y="2229868"/>
              <a:chExt cx="2854818" cy="1428805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3024366-3B9C-8541-0D28-708BBC7AE6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37182" y="3124199"/>
                <a:ext cx="23930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15AA05C-2180-0AF6-A384-9D75BED15ED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/>
                  <p:nvPr/>
                </p:nvSpPr>
                <p:spPr>
                  <a:xfrm>
                    <a:off x="11425004" y="3125590"/>
                    <a:ext cx="76699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15AA05C-2180-0AF6-A384-9D75BED15ED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25004" y="3125590"/>
                    <a:ext cx="76699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830A3C56-435D-BEBE-B83F-3BA9F9E01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760371" y="2649297"/>
                <a:ext cx="574339" cy="1009376"/>
              </a:xfrm>
              <a:prstGeom prst="arc">
                <a:avLst>
                  <a:gd name="adj1" fmla="val 10871568"/>
                  <a:gd name="adj2" fmla="val 0"/>
                </a:avLst>
              </a:prstGeom>
              <a:ln w="1905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3FB9398F-7C22-1F4D-9C1A-D846D19FEE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334710" y="2614308"/>
                <a:ext cx="765785" cy="1019782"/>
              </a:xfrm>
              <a:prstGeom prst="arc">
                <a:avLst>
                  <a:gd name="adj1" fmla="val 10871568"/>
                  <a:gd name="adj2" fmla="val 0"/>
                </a:avLst>
              </a:prstGeom>
              <a:ln w="1905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72229F87-12B2-362D-80BC-031A6CAAE4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100495" y="2627412"/>
                <a:ext cx="220048" cy="1019782"/>
              </a:xfrm>
              <a:prstGeom prst="arc">
                <a:avLst>
                  <a:gd name="adj1" fmla="val 10871568"/>
                  <a:gd name="adj2" fmla="val 0"/>
                </a:avLst>
              </a:prstGeom>
              <a:ln w="1905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936EFA66-6C09-679B-C4C9-F361F262C3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308888" y="2648522"/>
                <a:ext cx="417487" cy="951353"/>
              </a:xfrm>
              <a:prstGeom prst="arc">
                <a:avLst>
                  <a:gd name="adj1" fmla="val 10871568"/>
                  <a:gd name="adj2" fmla="val 0"/>
                </a:avLst>
              </a:prstGeom>
              <a:ln w="1905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29">
                    <a:extLst>
                      <a:ext uri="{FF2B5EF4-FFF2-40B4-BE49-F238E27FC236}">
                        <a16:creationId xmlns:a16="http://schemas.microsoft.com/office/drawing/2014/main" id="{6DB673C8-2425-685A-8CBE-35EDDCA1EB9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/>
                  <p:nvPr/>
                </p:nvSpPr>
                <p:spPr>
                  <a:xfrm>
                    <a:off x="9564903" y="3086337"/>
                    <a:ext cx="39581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TextBox 29">
                    <a:extLst>
                      <a:ext uri="{FF2B5EF4-FFF2-40B4-BE49-F238E27FC236}">
                        <a16:creationId xmlns:a16="http://schemas.microsoft.com/office/drawing/2014/main" id="{6DB673C8-2425-685A-8CBE-35EDDCA1EB9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64903" y="3086337"/>
                    <a:ext cx="39581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30">
                    <a:extLst>
                      <a:ext uri="{FF2B5EF4-FFF2-40B4-BE49-F238E27FC236}">
                        <a16:creationId xmlns:a16="http://schemas.microsoft.com/office/drawing/2014/main" id="{56DA2FE2-AC26-7B66-B5BD-7064ECD50CE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/>
                  <p:nvPr/>
                </p:nvSpPr>
                <p:spPr>
                  <a:xfrm>
                    <a:off x="10066895" y="3115740"/>
                    <a:ext cx="39581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30">
                    <a:extLst>
                      <a:ext uri="{FF2B5EF4-FFF2-40B4-BE49-F238E27FC236}">
                        <a16:creationId xmlns:a16="http://schemas.microsoft.com/office/drawing/2014/main" id="{56DA2FE2-AC26-7B66-B5BD-7064ECD50CE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66895" y="3115740"/>
                    <a:ext cx="39581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AF4F629-36FB-BF7C-2361-1AFA669F5F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680507" y="3066584"/>
                <a:ext cx="127995" cy="117892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7" name="TextBox 35">
                <a:extLst>
                  <a:ext uri="{FF2B5EF4-FFF2-40B4-BE49-F238E27FC236}">
                    <a16:creationId xmlns:a16="http://schemas.microsoft.com/office/drawing/2014/main" id="{0C0182D5-6E45-5881-FEB0-C4755A155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9337182" y="2229868"/>
                <a:ext cx="179633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dirty="0"/>
                  <a:t>Bellman updates</a:t>
                </a:r>
              </a:p>
            </p:txBody>
          </p:sp>
        </p:grpSp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489C2DDD-1EBF-335C-9781-0FE90D3CF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82400" y="3481251"/>
              <a:ext cx="248436" cy="388563"/>
            </a:xfrm>
            <a:prstGeom prst="down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37">
                  <a:extLst>
                    <a:ext uri="{FF2B5EF4-FFF2-40B4-BE49-F238E27FC236}">
                      <a16:creationId xmlns:a16="http://schemas.microsoft.com/office/drawing/2014/main" id="{1B940FEA-C9FB-9A35-6062-2E30E7F883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11028594" y="3915916"/>
                  <a:ext cx="110761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1600" dirty="0"/>
                    <a:t>Extract</a:t>
                  </a:r>
                  <a:br>
                    <a:rPr lang="en-US" sz="1600" dirty="0"/>
                  </a:br>
                  <a:r>
                    <a:rPr lang="en-US" sz="1600" dirty="0"/>
                    <a:t> greedy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" name="TextBox 37">
                  <a:extLst>
                    <a:ext uri="{FF2B5EF4-FFF2-40B4-BE49-F238E27FC236}">
                      <a16:creationId xmlns:a16="http://schemas.microsoft.com/office/drawing/2014/main" id="{1B940FEA-C9FB-9A35-6062-2E30E7F883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28594" y="3915916"/>
                  <a:ext cx="1107611" cy="584775"/>
                </a:xfrm>
                <a:prstGeom prst="rect">
                  <a:avLst/>
                </a:prstGeom>
                <a:blipFill>
                  <a:blip r:embed="rId6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3954ED2-5491-8A3F-7138-9F0DEDA17235}"/>
                  </a:ext>
                </a:extLst>
              </p:cNvPr>
              <p:cNvSpPr txBox="1"/>
              <p:nvPr/>
            </p:nvSpPr>
            <p:spPr>
              <a:xfrm>
                <a:off x="8849408" y="2272967"/>
                <a:ext cx="2565174" cy="660694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160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lim>
                    </m:limLow>
                  </m:oMath>
                </a14:m>
                <a:r>
                  <a:rPr lang="en-US" sz="1600" dirty="0"/>
                  <a:t> … policy improvement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n-US" sz="1600" dirty="0"/>
                  <a:t>       … policy evaluation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3954ED2-5491-8A3F-7138-9F0DEDA17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408" y="2272967"/>
                <a:ext cx="2565174" cy="660694"/>
              </a:xfrm>
              <a:prstGeom prst="rect">
                <a:avLst/>
              </a:prstGeom>
              <a:blipFill>
                <a:blip r:embed="rId7"/>
                <a:stretch>
                  <a:fillRect t="-901" b="-9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812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93B2-B8AE-DF85-EA1B-8078C497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Alg. Value Iteration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7CD4F4-7550-2FF0-26AF-786588E65B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204" y="1767399"/>
            <a:ext cx="8535591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94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4B189-2BE7-EF8E-90AD-B8D2A5B4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DP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64E2E2-C328-F2E5-08B7-7436CBE7F5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Space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Tabular method: stores the complete value function as table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Time</a:t>
                </a:r>
              </a:p>
              <a:p>
                <a:r>
                  <a:rPr lang="en-US" dirty="0"/>
                  <a:t>Updates repeatedly sweep over the whole state space.</a:t>
                </a:r>
              </a:p>
              <a:p>
                <a:r>
                  <a:rPr lang="en-US" dirty="0"/>
                  <a:t>Wastes computation by updating states that are not relevant for the optimal behavior.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64E2E2-C328-F2E5-08B7-7436CBE7F5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968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2819D-6D6F-85AF-5816-7FFAE79AF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GPI: Generalized Policy Iteration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3D3AB-3DD4-67C8-8B22-66483B0E4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2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3CDC-59B1-7366-BF66-6498BF0BD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E42A-9F26-864D-705B-AD1A7F35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GPI: Generalized Policy 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9A61E8-38E7-2C6A-1812-C00D57947F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397330"/>
                <a:ext cx="7223876" cy="4779633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Steps</a:t>
                </a:r>
              </a:p>
              <a:p>
                <a:r>
                  <a:rPr lang="en-US" b="1" dirty="0"/>
                  <a:t>Policy evaluation</a:t>
                </a:r>
                <a:r>
                  <a:rPr lang="en-US" dirty="0"/>
                  <a:t>: make the value function consistent with the current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Policy improvement</a:t>
                </a:r>
                <a:r>
                  <a:rPr lang="en-US" dirty="0"/>
                  <a:t>: make policy greedy with respect to the current value function 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Most DP methods can be described as a special case of GPI:</a:t>
                </a:r>
              </a:p>
              <a:p>
                <a:r>
                  <a:rPr lang="en-US" b="1" dirty="0"/>
                  <a:t>Policy iteration</a:t>
                </a:r>
                <a:r>
                  <a:rPr lang="en-US" dirty="0"/>
                  <a:t>: each eval and improvement step is completed (by a sweep over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dirty="0"/>
                  <a:t>) before moving on.</a:t>
                </a:r>
              </a:p>
              <a:p>
                <a:r>
                  <a:rPr lang="en-US" b="1" dirty="0"/>
                  <a:t>Value iteration</a:t>
                </a:r>
                <a:r>
                  <a:rPr lang="en-US" dirty="0"/>
                  <a:t>: uses a single iteration for the policy iteration.</a:t>
                </a:r>
              </a:p>
              <a:p>
                <a:r>
                  <a:rPr lang="en-US" b="1" dirty="0"/>
                  <a:t>Asynchronous DP</a:t>
                </a:r>
                <a:r>
                  <a:rPr lang="en-US" dirty="0"/>
                  <a:t>: Instead of sweeps over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dirty="0"/>
                  <a:t>, updates states in some other order. This interleaves pol. eval. and pol. Improvement.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All three approaches typically converge to the optimal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9A61E8-38E7-2C6A-1812-C00D57947F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397330"/>
                <a:ext cx="7223876" cy="4779633"/>
              </a:xfrm>
              <a:blipFill>
                <a:blip r:embed="rId2"/>
                <a:stretch>
                  <a:fillRect l="-759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7D4EB40-D8C7-544A-60A9-FB0F86C14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513" y="1184939"/>
            <a:ext cx="2682923" cy="42926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9C9802-DC7A-3741-A414-F95D8B5FE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219" y="3787146"/>
            <a:ext cx="3511083" cy="238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98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FA30-1294-3E3D-F7B7-AE5ECD84C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65C76A-B55E-DE87-E461-B000ACB291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Direct Search</a:t>
                </a:r>
                <a:r>
                  <a:rPr lang="en-US" dirty="0"/>
                  <a:t>: Search space is </a:t>
                </a:r>
                <a:r>
                  <a:rPr lang="en-US" u="sng" dirty="0"/>
                  <a:t>exponential</a:t>
                </a:r>
                <a:r>
                  <a:rPr lang="en-US" dirty="0"/>
                  <a:t> in the number of states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r>
                  <a:rPr lang="en-US" dirty="0"/>
                  <a:t>  and actions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b="1" dirty="0"/>
                  <a:t>LP (linear program): </a:t>
                </a:r>
                <a:r>
                  <a:rPr lang="en-US" dirty="0"/>
                  <a:t>solve a system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r>
                  <a:rPr lang="en-US" dirty="0"/>
                  <a:t> equations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r>
                  <a:rPr lang="en-US" dirty="0"/>
                  <a:t> state variables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constraints.</a:t>
                </a:r>
              </a:p>
              <a:p>
                <a:endParaRPr lang="en-US" dirty="0"/>
              </a:p>
              <a:p>
                <a:r>
                  <a:rPr lang="en-US" b="1" dirty="0"/>
                  <a:t>DP</a:t>
                </a:r>
                <a:r>
                  <a:rPr lang="en-US" dirty="0"/>
                  <a:t>: </a:t>
                </a:r>
                <a:r>
                  <a:rPr lang="en-US" u="sng" dirty="0"/>
                  <a:t>polynomial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Search and LP are impractical. </a:t>
                </a:r>
                <a:r>
                  <a:rPr lang="en-US" b="1" dirty="0"/>
                  <a:t>DP can be used today with millions of states.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65C76A-B55E-DE87-E461-B000ACB291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68" r="-1391"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1067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3773</TotalTime>
  <Words>1564</Words>
  <Application>Microsoft Office PowerPoint</Application>
  <PresentationFormat>Widescreen</PresentationFormat>
  <Paragraphs>170</Paragraphs>
  <Slides>20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 Math</vt:lpstr>
      <vt:lpstr>Office Theme</vt:lpstr>
      <vt:lpstr>Reinforcement Learning  Dynamic Programming Sutton/Barto* Chapter 4</vt:lpstr>
      <vt:lpstr>Goal</vt:lpstr>
      <vt:lpstr>Notation</vt:lpstr>
      <vt:lpstr>Tabular Methods</vt:lpstr>
      <vt:lpstr>Policy Evaluation</vt:lpstr>
      <vt:lpstr>Policy Evaluation (Prediction)</vt:lpstr>
      <vt:lpstr>Solution Options</vt:lpstr>
      <vt:lpstr>Alg. Iterative Policy Evaluation</vt:lpstr>
      <vt:lpstr>Example</vt:lpstr>
      <vt:lpstr>Policy Iteration</vt:lpstr>
      <vt:lpstr>Policy Improvement</vt:lpstr>
      <vt:lpstr>Policy Iteration</vt:lpstr>
      <vt:lpstr>Alg. Policy Iteration</vt:lpstr>
      <vt:lpstr>Value Iteration</vt:lpstr>
      <vt:lpstr>Value Iteration</vt:lpstr>
      <vt:lpstr>Alg. Value Iteration</vt:lpstr>
      <vt:lpstr>Issues with DP Methods</vt:lpstr>
      <vt:lpstr>GPI: Generalized Policy Iteration</vt:lpstr>
      <vt:lpstr>GPI: Generalized Policy Iteration</vt:lpstr>
      <vt:lpstr>Efficiency</vt:lpstr>
    </vt:vector>
  </TitlesOfParts>
  <Company>Southern Methodist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Hahsler, Michael</dc:creator>
  <cp:lastModifiedBy>Hahsler, Michael</cp:lastModifiedBy>
  <cp:revision>90</cp:revision>
  <dcterms:created xsi:type="dcterms:W3CDTF">2025-09-08T14:44:49Z</dcterms:created>
  <dcterms:modified xsi:type="dcterms:W3CDTF">2025-09-17T14:49:20Z</dcterms:modified>
</cp:coreProperties>
</file>