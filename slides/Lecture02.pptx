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3" r:id="rId3"/>
    <p:sldId id="347" r:id="rId4"/>
    <p:sldId id="354" r:id="rId5"/>
    <p:sldId id="355" r:id="rId6"/>
    <p:sldId id="356" r:id="rId7"/>
    <p:sldId id="357" r:id="rId8"/>
    <p:sldId id="358" r:id="rId9"/>
    <p:sldId id="360" r:id="rId10"/>
    <p:sldId id="359" r:id="rId11"/>
    <p:sldId id="363" r:id="rId12"/>
    <p:sldId id="361" r:id="rId13"/>
    <p:sldId id="362" r:id="rId14"/>
    <p:sldId id="364" r:id="rId15"/>
    <p:sldId id="365" r:id="rId16"/>
    <p:sldId id="366" r:id="rId17"/>
    <p:sldId id="3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286E67-F0F0-421C-8F74-7B93ABA17FBF}">
          <p14:sldIdLst>
            <p14:sldId id="256"/>
            <p14:sldId id="353"/>
            <p14:sldId id="347"/>
            <p14:sldId id="354"/>
            <p14:sldId id="355"/>
            <p14:sldId id="356"/>
            <p14:sldId id="357"/>
            <p14:sldId id="358"/>
            <p14:sldId id="360"/>
            <p14:sldId id="359"/>
            <p14:sldId id="363"/>
            <p14:sldId id="361"/>
            <p14:sldId id="362"/>
            <p14:sldId id="364"/>
            <p14:sldId id="365"/>
            <p14:sldId id="366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23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5558-2701-D852-1A01-0BF39B58D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50F4-19D6-3927-AF4C-79938CACB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3DC3-6BE4-4AD5-BF83-83DBE674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D0FF9-FEE5-7DEA-F2A0-04CD3C8E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CB2C-BF64-0CEB-C138-EC1E0FF1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8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A809-C199-A2CA-4B62-C11FD836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BD398-BC57-413F-4426-6AE62DCF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10515600" cy="47796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9A95-DE70-5583-0BB6-25CA049A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8C87-113F-3949-D291-E8101A07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8CBE1-6776-590E-6A36-B274F6F6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B990-0C44-FE72-89C1-7BAFB2C8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F51AA-25F1-19ED-49F4-909710D8F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F3394-E947-7BBC-4B4E-FC222CF9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0F51-989A-F265-1B59-526B06EC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400B-F255-95CF-8BD8-3D8AE595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3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C8DE-D8D3-04F9-7952-B3C9B444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6199-C068-6A1D-B9C6-37C04A922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26636-1E6C-5A66-DCE9-40F0239C9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5DEA3-FC5C-77B6-8AEC-BF4A26C7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2BAE8-516B-EE07-0EF8-4E37D353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D7F8D-0B8A-CA54-C5D1-DAFB9A21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762D-C67C-6FB4-D8AF-A2AEADD0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F3E59-5CAF-AE52-066A-662EAF232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4A81-151A-F8B5-9A7D-43577F3F6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DED1E-7743-9D82-5A8F-215AF2DB8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3FED4-7E43-512F-BDC2-AB5A6F6A9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71D6A-F625-133A-E751-2B967B94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56629-E601-1BA5-526C-36960EEB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5DDDF-B6D4-29FB-6B7F-C7017B4E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B25A-3F20-51F4-D136-F73B1768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F8609-CAA0-6678-FCA9-C0252974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1A081-E4EB-7E96-A0AA-2E4D4909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0AC27-1467-337C-D636-190385E3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1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8C3DB-E47E-C122-D7BD-AAAC105B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194795-A7C6-B915-9849-6DDF9E55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BD6E5-D6AC-7828-B9FA-162561BD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8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DA5E-FB2F-65E3-9AC6-77E9E333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8CA7-EDCF-7BC9-0D50-5F550487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96387-78E1-111C-2860-362080259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170FC-BF4D-52B4-3D96-975E35B6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B24C2-CDEC-1D6D-42DB-F885EAF6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CA044-7F46-1F0F-A966-A66706F2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9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2354-EE3F-C81F-2C98-42CA24F0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7B54A-0E38-1C0F-EA90-8D9A628CC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F9108-1890-E2BF-7EA2-A2F28DEA6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8F02-6193-91DC-69E0-6CC09A24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4B642-5606-ACB8-4ADF-6DDE8BE4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9560E-8858-1CED-6B2E-1EF0F58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5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A8BF-0F66-F00E-4527-03CBDE1E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8F7C1-32BC-0F71-0130-0DFB9C183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C7E0-3252-37DB-73A7-7F070748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6C5EE-EAD9-8D18-3741-930600D3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47D8-342D-AED5-3763-DD02F7C2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4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0B639-7A1F-68FA-45DD-3196E2CB5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4F1BB-B40D-E6E4-111B-122348C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AFD-560D-9508-6F31-281EC974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C6320-E161-CE4A-CBDD-27072D2A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3E81-2AD2-5FBE-B6F5-1512F3AF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46CF1-7E31-D1FD-63E0-29688510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99997-F7F8-3FB5-F294-092654769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C26E-B485-AE94-5C91-D0E504CEB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ECD47-D4F5-A47B-6CA1-E8E47C1C4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C2B9-7B85-792D-492E-EE9D50875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02EEF-8413-288E-566D-063A066A6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7" r="23298" b="3714"/>
          <a:stretch>
            <a:fillRect/>
          </a:stretch>
        </p:blipFill>
        <p:spPr bwMode="auto">
          <a:xfrm>
            <a:off x="3653200" y="-18278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EE42B-57B4-EB74-A37C-6675858E7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463968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Reinforcement Learning</a:t>
            </a: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Markov Decision Processes (MDP)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Sutton/Barto*</a:t>
            </a:r>
            <a:r>
              <a:rPr lang="en-US" sz="2700" dirty="0">
                <a:solidFill>
                  <a:schemeClr val="bg1"/>
                </a:solidFill>
              </a:rPr>
              <a:t> Chapter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F10C2-8C10-0E89-D285-D614C36EE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868822"/>
            <a:ext cx="4169519" cy="1443894"/>
          </a:xfrm>
        </p:spPr>
        <p:txBody>
          <a:bodyPr>
            <a:normAutofit fontScale="92500"/>
          </a:bodyPr>
          <a:lstStyle/>
          <a:p>
            <a:pPr algn="l"/>
            <a:r>
              <a:rPr lang="en-US" sz="1700" dirty="0">
                <a:solidFill>
                  <a:schemeClr val="bg1"/>
                </a:solidFill>
              </a:rPr>
              <a:t>Michael Hahsler, SMU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With figures from Sutton/Barto*</a:t>
            </a:r>
          </a:p>
          <a:p>
            <a:pPr algn="l"/>
            <a:endParaRPr lang="en-US" sz="1300" dirty="0">
              <a:solidFill>
                <a:schemeClr val="bg1"/>
              </a:solidFill>
            </a:endParaRP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*Sutton and Barto, Reinforcement Learning: An Introduction, 2</a:t>
            </a:r>
            <a:r>
              <a:rPr lang="en-US" sz="1300" baseline="30000" dirty="0">
                <a:solidFill>
                  <a:schemeClr val="bg1"/>
                </a:solidFill>
              </a:rPr>
              <a:t>nd</a:t>
            </a:r>
            <a:r>
              <a:rPr lang="en-US" sz="1300" dirty="0">
                <a:solidFill>
                  <a:schemeClr val="bg1"/>
                </a:solidFill>
              </a:rPr>
              <a:t> edition, MIT Press, Cambridge, MA, 2018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object 23">
            <a:hlinkClick r:id="rId3"/>
            <a:extLst>
              <a:ext uri="{FF2B5EF4-FFF2-40B4-BE49-F238E27FC236}">
                <a16:creationId xmlns:a16="http://schemas.microsoft.com/office/drawing/2014/main" id="{3CBD6548-3D4E-9A40-CA35-355261D4E92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61016" y="6265038"/>
            <a:ext cx="1037459" cy="3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5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E117-B0FF-607A-0862-C421EADD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Agent–Environment Interface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8F0FB8-B5FA-9473-2D66-BFE57DC88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1703" y="942628"/>
            <a:ext cx="7478169" cy="2486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1D76A-A954-6D50-D235-D0B41CFF50CB}"/>
                  </a:ext>
                </a:extLst>
              </p:cNvPr>
              <p:cNvSpPr txBox="1"/>
              <p:nvPr/>
            </p:nvSpPr>
            <p:spPr>
              <a:xfrm>
                <a:off x="838200" y="3806015"/>
                <a:ext cx="10261697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dirty="0"/>
                  <a:t>Interaction is a sequence of discrete time steps,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0, 1, 2, 3, . . .</m:t>
                    </m:r>
                  </m:oMath>
                </a14:m>
                <a:endParaRPr lang="en-US" dirty="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 At each time step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Agent receives some representation of the environment’s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Agent selects an action,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One time step later (as a consequence of its action) the agent receives a numerical reward,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finds itself in a new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Leads to sequence or trajectory that begins like this: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. . . 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1D76A-A954-6D50-D235-D0B41CFF5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06015"/>
                <a:ext cx="10261697" cy="2585323"/>
              </a:xfrm>
              <a:prstGeom prst="rect">
                <a:avLst/>
              </a:prstGeom>
              <a:blipFill>
                <a:blip r:embed="rId3"/>
                <a:stretch>
                  <a:fillRect l="-535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35FA07E-AB2F-CDB5-6011-310964B51CC6}"/>
              </a:ext>
            </a:extLst>
          </p:cNvPr>
          <p:cNvSpPr txBox="1"/>
          <p:nvPr/>
        </p:nvSpPr>
        <p:spPr>
          <a:xfrm>
            <a:off x="940576" y="1124198"/>
            <a:ext cx="40223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CMR10"/>
              </a:rPr>
              <a:t>MDPs are meant to be a straightforward framing of the problem of learning from interaction to achieve a goal.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MR10"/>
              </a:rPr>
              <a:t>Actions influence the future rewards by leading to different states.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1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E1A2-75E3-3C9C-6C10-EE078C5A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1475" y="1124346"/>
                <a:ext cx="5273179" cy="1505259"/>
              </a:xfr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return (cumulative reward) following time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′ 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transition to state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,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taking action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dirty="0"/>
                  <a:t>	expected immediate reward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after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200" dirty="0"/>
                  <a:t> (expected return)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s under the optimal policy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the optimal policy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1475" y="1124346"/>
                <a:ext cx="5273179" cy="15052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8B36CA-535B-718D-F6EB-D4F59B9D26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821" y="2150317"/>
                <a:ext cx="5273179" cy="95857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dirty="0"/>
                  <a:t>	probability that a random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takes on the value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	random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selected from distribution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/>
                  <a:t>	expectation of a random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, i.e.,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sz="1200" b="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a value of action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at which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takes its maximal value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200" dirty="0"/>
                  <a:t> 	discount-rate parameter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8B36CA-535B-718D-F6EB-D4F59B9D2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21" y="2150317"/>
                <a:ext cx="5273179" cy="958576"/>
              </a:xfrm>
              <a:prstGeom prst="rect">
                <a:avLst/>
              </a:prstGeom>
              <a:blipFill>
                <a:blip r:embed="rId3"/>
                <a:stretch>
                  <a:fillRect t="-1875" b="-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CD475E5-BE3B-5594-57DC-46A17411F2F9}"/>
              </a:ext>
            </a:extLst>
          </p:cNvPr>
          <p:cNvSpPr txBox="1"/>
          <p:nvPr/>
        </p:nvSpPr>
        <p:spPr>
          <a:xfrm>
            <a:off x="822820" y="1124198"/>
            <a:ext cx="5273179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Capital letters          random variables</a:t>
            </a:r>
            <a:br>
              <a:rPr lang="en-US" sz="1200" dirty="0"/>
            </a:br>
            <a:r>
              <a:rPr lang="en-US" sz="1200" dirty="0"/>
              <a:t>Lower case letters realizations of random variables and for scalar functions</a:t>
            </a:r>
          </a:p>
          <a:p>
            <a:r>
              <a:rPr lang="en-US" sz="1200" dirty="0"/>
              <a:t>Bold lower case letters real-valued vectors (even if random variables)</a:t>
            </a:r>
          </a:p>
          <a:p>
            <a:r>
              <a:rPr lang="en-US" sz="1200" dirty="0"/>
              <a:t>Bold capitals           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819" y="3291317"/>
                <a:ext cx="5273179" cy="230920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	states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	an action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200" dirty="0"/>
                  <a:t> 	a reward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200" dirty="0"/>
                  <a:t> 	set of all (nonterminal) states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set of all actions available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	discrete time step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/>
                  <a:t> 	final time step of an episode (a.k.a. horizon)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action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	random variable for the state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reward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200" dirty="0"/>
                  <a:t> 	policy (decision-making rule)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action taken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deterministic policy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taking action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stochastic policy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19" y="3291317"/>
                <a:ext cx="5273179" cy="2309203"/>
              </a:xfrm>
              <a:prstGeom prst="rect">
                <a:avLst/>
              </a:prstGeom>
              <a:blipFill>
                <a:blip r:embed="rId4"/>
                <a:stretch>
                  <a:fillRect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E78B3C3-4711-1AB7-B84A-8ADA6DA6F4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1474" y="2777480"/>
                <a:ext cx="5273179" cy="75907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expected approximate action value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target for estimate at time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E78B3C3-4711-1AB7-B84A-8ADA6DA6F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474" y="2777480"/>
                <a:ext cx="5273179" cy="759072"/>
              </a:xfrm>
              <a:prstGeom prst="rect">
                <a:avLst/>
              </a:prstGeom>
              <a:blipFill>
                <a:blip r:embed="rId5"/>
                <a:stretch>
                  <a:fillRect t="-2362" b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278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9816-6815-95B8-F6A5-9881CF91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MDP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63287-32CF-0AD4-FA4E-98A5F1925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An MDP is </a:t>
                </a:r>
                <a:r>
                  <a:rPr lang="en-US" b="1" dirty="0"/>
                  <a:t>finite</a:t>
                </a:r>
                <a:r>
                  <a:rPr lang="en-US" dirty="0"/>
                  <a:t> if the </a:t>
                </a:r>
              </a:p>
              <a:p>
                <a:pPr lvl="1"/>
                <a:r>
                  <a:rPr lang="en-US" dirty="0"/>
                  <a:t>sets of states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dirty="0"/>
                  <a:t>), </a:t>
                </a:r>
              </a:p>
              <a:p>
                <a:pPr lvl="1"/>
                <a:r>
                  <a:rPr lang="en-US" dirty="0"/>
                  <a:t>actions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), and </a:t>
                </a:r>
              </a:p>
              <a:p>
                <a:pPr lvl="1"/>
                <a:r>
                  <a:rPr lang="en-US" dirty="0"/>
                  <a:t>rewards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dirty="0"/>
                  <a:t>) all have a finite number of elements.</a:t>
                </a:r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Dynamics</a:t>
                </a:r>
                <a:r>
                  <a:rPr lang="en-US" dirty="0"/>
                  <a:t> of the MDP: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≝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{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 a deterministic functions: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→[0,1]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decision process is a MDP 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completely characterizes the environment’s dynamics.</a:t>
                </a:r>
              </a:p>
              <a:p>
                <a:r>
                  <a:rPr lang="en-US" dirty="0"/>
                  <a:t>Dynamics only depends on the previous state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so it must have sufficient information about the past. If this is true then it is called an </a:t>
                </a:r>
                <a:r>
                  <a:rPr lang="en-US" b="1" dirty="0"/>
                  <a:t>information state </a:t>
                </a:r>
                <a:r>
                  <a:rPr lang="en-US" dirty="0"/>
                  <a:t>and the system has the </a:t>
                </a:r>
                <a:r>
                  <a:rPr lang="en-US" b="1" dirty="0"/>
                  <a:t>Markov property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63287-32CF-0AD4-FA4E-98A5F1925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806" b="-2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F1D7063-84BD-4E42-A446-949BC7D128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70" r="11643" b="13005"/>
          <a:stretch>
            <a:fillRect/>
          </a:stretch>
        </p:blipFill>
        <p:spPr>
          <a:xfrm>
            <a:off x="6977243" y="643922"/>
            <a:ext cx="4516160" cy="171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50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FB98-AF61-C4B8-3560-EC12AEE9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and Reward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46943C-D2C2-C1A3-11D5-D702A0B1B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State transition probabilities: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m:rPr>
                          <m:aln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≝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Expected reward for state-action pairs: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≝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𝒮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Expected rewards for state-action-next state triples: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′]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46943C-D2C2-C1A3-11D5-D702A0B1B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781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F66F-25D5-D1E5-93BB-CB583DE9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an Example!!!!!!!!!!!!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BDABF-BEAE-4EDA-2F1C-4D52EFE2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0AD28F-E684-471B-3861-2B9DDC870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2195340"/>
            <a:ext cx="7935432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24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4433-C8B5-8AE9-127E-A4B30383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and Rewards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49A3AA-6707-1111-4463-410B353C9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Goal: maximize the expected value of the cumulative sum of the received reward signal.</a:t>
                </a:r>
              </a:p>
              <a:p>
                <a:endParaRPr lang="en-US" dirty="0"/>
              </a:p>
              <a:p>
                <a:r>
                  <a:rPr lang="en-US" dirty="0"/>
                  <a:t>The reward signal at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a single number: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Note:</a:t>
                </a:r>
              </a:p>
              <a:p>
                <a:pPr lvl="1"/>
                <a:r>
                  <a:rPr lang="en-US" dirty="0"/>
                  <a:t>Reward signals should communicate what the agent wants to achieve and not how to do it!</a:t>
                </a:r>
              </a:p>
              <a:p>
                <a:pPr lvl="1"/>
                <a:r>
                  <a:rPr lang="en-US" dirty="0"/>
                  <a:t>Typically, only provide reward for the final goal.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49A3AA-6707-1111-4463-410B353C9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406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70B3-AB17-A9A5-0AE1-997588EC9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Episodes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51E1F-61E6-FD16-0A38-58F680A561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Goal is to maximize the expected return</a:t>
                </a:r>
                <a:br>
                  <a:rPr lang="en-US" dirty="0"/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≝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+3 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is the final step.</a:t>
                </a:r>
              </a:p>
              <a:p>
                <a:endParaRPr lang="en-US" dirty="0"/>
              </a:p>
              <a:p>
                <a:r>
                  <a:rPr lang="en-US" dirty="0"/>
                  <a:t>Episodic task: </a:t>
                </a:r>
              </a:p>
              <a:p>
                <a:pPr lvl="1"/>
                <a:r>
                  <a:rPr lang="en-US" dirty="0"/>
                  <a:t>Episodes end with a terminal state at time T.</a:t>
                </a:r>
              </a:p>
              <a:p>
                <a:pPr lvl="1"/>
                <a:r>
                  <a:rPr lang="en-US" dirty="0"/>
                  <a:t>Typically followed by a reset for the next episode.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Continuing task:</a:t>
                </a:r>
              </a:p>
              <a:p>
                <a:pPr lvl="1"/>
                <a:r>
                  <a:rPr lang="en-US" dirty="0"/>
                  <a:t>Has no episodes!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51E1F-61E6-FD16-0A38-58F680A561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627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0AA0-AA1B-ACC4-4FCF-58DB5280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 Discounting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1F70E3-F602-7A9E-773C-3408AFD1FB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Discounting is often used when rewards now are more important then rewards later. Continuing tasks always use discounting.</a:t>
                </a:r>
                <a:br>
                  <a:rPr lang="en-US" dirty="0"/>
                </a:b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≝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+3 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nary>
                  </m:oMath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is the discount factor.</a:t>
                </a:r>
              </a:p>
              <a:p>
                <a:endParaRPr lang="en-US" dirty="0"/>
              </a:p>
              <a:p>
                <a:r>
                  <a:rPr lang="en-US" dirty="0"/>
                  <a:t>Properties:</a:t>
                </a:r>
              </a:p>
              <a:p>
                <a:pPr lvl="1"/>
                <a:r>
                  <a:rPr lang="en-US" dirty="0"/>
                  <a:t>Discounting guarantees a finite sum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bounded for continuing tasks</a:t>
                </a:r>
              </a:p>
              <a:p>
                <a:pPr lvl="1"/>
                <a:r>
                  <a:rPr lang="en-US" dirty="0"/>
                  <a:t>“myopic” agents use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only maximizes immediate rewards. </a:t>
                </a:r>
              </a:p>
              <a:p>
                <a:pPr lvl="1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make the agent more farsighted.</a:t>
                </a:r>
              </a:p>
              <a:p>
                <a:endParaRPr lang="en-US" dirty="0"/>
              </a:p>
              <a:p>
                <a:r>
                  <a:rPr lang="en-US" dirty="0"/>
                  <a:t>Return is recursive: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≝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1F70E3-F602-7A9E-773C-3408AFD1FB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9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42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290B-A6B0-71A9-D7E0-C0CAFC7EF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2C4500-9370-2F16-784C-433251C540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(Stochastic) </a:t>
                </a:r>
                <a:r>
                  <a:rPr lang="en-US" sz="2000" b="1" dirty="0"/>
                  <a:t>Policy</a:t>
                </a:r>
                <a:r>
                  <a:rPr lang="en-US" sz="2000" dirty="0"/>
                  <a:t>: a mapping from states to probabilities of selecting each possible action.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Following policy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/>
                  <a:t> at time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means to chose action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in state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with probability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Deterministic policy</a:t>
                </a:r>
                <a:r>
                  <a:rPr lang="en-US" sz="2000" dirty="0"/>
                  <a:t>: For each state prescribes a single action.</a:t>
                </a:r>
              </a:p>
              <a:p>
                <a:pPr marL="0" indent="0">
                  <a:buNone/>
                </a:pP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This just means we have a stochastic policy that has a probability of 1 for exactly one action.</a:t>
                </a:r>
              </a:p>
              <a:p>
                <a:r>
                  <a:rPr lang="en-US" sz="2000" dirty="0"/>
                  <a:t>Finite MDP have an optimal deterministic policy.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2C4500-9370-2F16-784C-433251C54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363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1B89-AAB4-1699-9672-29DA1AA2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136F5-87F9-5EA5-C2E1-E827CC4CF2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0"/>
                <a:ext cx="6211824" cy="477963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Most RL algorithms estimate a value function for a policy.</a:t>
                </a:r>
              </a:p>
              <a:p>
                <a:r>
                  <a:rPr lang="en-US" sz="2000" dirty="0"/>
                  <a:t>State value function: Expected value of being in a state.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sz="1600" i="1">
                          <a:latin typeface="Cambria Math" panose="02040503050406030204" pitchFamily="18" charset="0"/>
                        </a:rPr>
                        <m:t>≝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all</m:t>
                      </m:r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br>
                  <a:rPr lang="en-US" sz="1600" dirty="0"/>
                </a:br>
                <a:endParaRPr lang="en-US" sz="1600" dirty="0"/>
              </a:p>
              <a:p>
                <a:endParaRPr lang="en-US" sz="2000" dirty="0"/>
              </a:p>
              <a:p>
                <a:r>
                  <a:rPr lang="en-US" sz="2000" dirty="0"/>
                  <a:t>Action value function: Expected value of choosing an action in a state.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sz="1600" i="1">
                          <a:latin typeface="Cambria Math" panose="02040503050406030204" pitchFamily="18" charset="0"/>
                        </a:rPr>
                        <m:t>≝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all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br>
                  <a:rPr lang="en-US" sz="200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136F5-87F9-5EA5-C2E1-E827CC4CF2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0"/>
                <a:ext cx="6211824" cy="4779633"/>
              </a:xfrm>
              <a:blipFill>
                <a:blip r:embed="rId2"/>
                <a:stretch>
                  <a:fillRect l="-883" t="-1148" r="-1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DBEE3AD-4EC9-4D65-160C-CAEE7253B2DB}"/>
              </a:ext>
            </a:extLst>
          </p:cNvPr>
          <p:cNvGrpSpPr/>
          <p:nvPr/>
        </p:nvGrpSpPr>
        <p:grpSpPr>
          <a:xfrm>
            <a:off x="7100416" y="1200054"/>
            <a:ext cx="4879063" cy="4890516"/>
            <a:chOff x="7100416" y="1200054"/>
            <a:chExt cx="4879063" cy="48905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76AD783-8D3A-75D6-9E98-C16ACBC94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53938" y="1200054"/>
              <a:ext cx="4274331" cy="445789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C90BF1-1EA4-4E0B-9CA9-F594000A2A04}"/>
                </a:ext>
              </a:extLst>
            </p:cNvPr>
            <p:cNvSpPr txBox="1"/>
            <p:nvPr/>
          </p:nvSpPr>
          <p:spPr>
            <a:xfrm>
              <a:off x="7271385" y="5813571"/>
              <a:ext cx="47080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Optimal action-value function for using the driver.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6354DC3-F5DF-DDC5-9493-7C6E7DE5FF85}"/>
                    </a:ext>
                  </a:extLst>
                </p:cNvPr>
                <p:cNvSpPr txBox="1"/>
                <p:nvPr/>
              </p:nvSpPr>
              <p:spPr>
                <a:xfrm>
                  <a:off x="9831010" y="1200054"/>
                  <a:ext cx="182180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50" dirty="0"/>
                    <a:t>Each stroke: </a:t>
                  </a:r>
                  <a14:m>
                    <m:oMath xmlns:m="http://schemas.openxmlformats.org/officeDocument/2006/math">
                      <m:r>
                        <a:rPr lang="en-US" sz="105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50" i="1" dirty="0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6354DC3-F5DF-DDC5-9493-7C6E7DE5F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1010" y="1200054"/>
                  <a:ext cx="1821809" cy="261610"/>
                </a:xfrm>
                <a:prstGeom prst="rect">
                  <a:avLst/>
                </a:prstGeom>
                <a:blipFill>
                  <a:blip r:embed="rId4"/>
                  <a:stretch>
                    <a:fillRect b="-930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150A622-8878-D5FD-6A81-5B08989D2D48}"/>
                    </a:ext>
                  </a:extLst>
                </p:cNvPr>
                <p:cNvSpPr txBox="1"/>
                <p:nvPr/>
              </p:nvSpPr>
              <p:spPr>
                <a:xfrm>
                  <a:off x="7100416" y="1410629"/>
                  <a:ext cx="7424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150A622-8878-D5FD-6A81-5B08989D2D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416" y="1410629"/>
                  <a:ext cx="742426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69D7074-F69D-CE7C-6FD9-F3670571E748}"/>
                    </a:ext>
                  </a:extLst>
                </p:cNvPr>
                <p:cNvSpPr txBox="1"/>
                <p:nvPr/>
              </p:nvSpPr>
              <p:spPr>
                <a:xfrm>
                  <a:off x="7373493" y="3395787"/>
                  <a:ext cx="450387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dirty="0"/>
                    <a:t>State-value function for policy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en-US" sz="1200" dirty="0"/>
                    <a:t> that always uses the putter.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69D7074-F69D-CE7C-6FD9-F3670571E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3493" y="3395787"/>
                  <a:ext cx="4503877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0EFF5B-9FF1-30C6-5BC4-6E75BDBB92CA}"/>
                  </a:ext>
                </a:extLst>
              </p:cNvPr>
              <p:cNvSpPr txBox="1"/>
              <p:nvPr/>
            </p:nvSpPr>
            <p:spPr>
              <a:xfrm>
                <a:off x="838200" y="6291743"/>
                <a:ext cx="4660783" cy="338554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sz="1600" dirty="0"/>
                  <a:t> … Expectation under policy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600" dirty="0"/>
                  <a:t> = follow the policy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0EFF5B-9FF1-30C6-5BC4-6E75BDBB9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291743"/>
                <a:ext cx="4660783" cy="338554"/>
              </a:xfrm>
              <a:prstGeom prst="rect">
                <a:avLst/>
              </a:prstGeom>
              <a:blipFill>
                <a:blip r:embed="rId7"/>
                <a:stretch>
                  <a:fillRect t="-3390" b="-16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168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57A3-0814-F4B3-FBE8-7C0EEC85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Value Function Estimation and </a:t>
            </a:r>
            <a:br>
              <a:rPr lang="en-US" dirty="0"/>
            </a:br>
            <a:r>
              <a:rPr lang="en-US" dirty="0"/>
              <a:t>Monte Carlo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0DBB8-21E8-23B1-1F45-1AFF64F5D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value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can be estimated from experience. </a:t>
                </a:r>
              </a:p>
              <a:p>
                <a:endParaRPr lang="en-US" dirty="0"/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agent follows policy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lvl="1"/>
                <a:r>
                  <a:rPr lang="en-US" dirty="0"/>
                  <a:t>maintains an average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the actual returns that have followed that state. The average is updated at each visit.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𝑣𝑖𝑠𝑖𝑡𝑠</m:t>
                            </m:r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This sample-average method is a simple Monte Carlo method.</a:t>
                </a:r>
              </a:p>
              <a:p>
                <a:endParaRPr lang="en-US" dirty="0"/>
              </a:p>
              <a:p>
                <a:r>
                  <a:rPr lang="en-US" dirty="0"/>
                  <a:t>This also works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For problems with many states: learn a function with a smaller number of parameters.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0DBB8-21E8-23B1-1F45-1AFF64F5D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189" r="-638" b="-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512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5375-FD3B-7776-4067-3155F545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3C09A-2598-95B5-6123-7C75AF2611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1"/>
                <a:ext cx="10515600" cy="293558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Value functions always have a </a:t>
                </a:r>
                <a:r>
                  <a:rPr lang="en-US" b="1" dirty="0"/>
                  <a:t>recursive relationship </a:t>
                </a:r>
                <a:r>
                  <a:rPr lang="en-US" dirty="0"/>
                  <a:t>between the </a:t>
                </a:r>
              </a:p>
              <a:p>
                <a:pPr lvl="1"/>
                <a:r>
                  <a:rPr lang="en-US" dirty="0"/>
                  <a:t>value of a state, and the </a:t>
                </a:r>
              </a:p>
              <a:p>
                <a:pPr lvl="1"/>
                <a:r>
                  <a:rPr lang="en-US" dirty="0"/>
                  <a:t>value of its successor.</a:t>
                </a:r>
              </a:p>
              <a:p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all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br>
                  <a:rPr lang="en-US" dirty="0">
                    <a:ea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3C09A-2598-95B5-6123-7C75AF2611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1"/>
                <a:ext cx="10515600" cy="2935584"/>
              </a:xfrm>
              <a:blipFill>
                <a:blip r:embed="rId2"/>
                <a:stretch>
                  <a:fillRect l="-754" t="-4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15FEED1-5263-6978-1335-D8047A9A9B6D}"/>
              </a:ext>
            </a:extLst>
          </p:cNvPr>
          <p:cNvGrpSpPr/>
          <p:nvPr/>
        </p:nvGrpSpPr>
        <p:grpSpPr>
          <a:xfrm>
            <a:off x="3803151" y="4203950"/>
            <a:ext cx="1306585" cy="517988"/>
            <a:chOff x="2533296" y="3175233"/>
            <a:chExt cx="1503726" cy="517988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A6F53F34-DC74-85D4-625B-6EEC1FD7694E}"/>
                </a:ext>
              </a:extLst>
            </p:cNvPr>
            <p:cNvSpPr/>
            <p:nvPr/>
          </p:nvSpPr>
          <p:spPr>
            <a:xfrm rot="5400000">
              <a:off x="3194734" y="2513795"/>
              <a:ext cx="180849" cy="150372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D0C74D-FD67-E71A-5208-3A7E1687E3B8}"/>
                </a:ext>
              </a:extLst>
            </p:cNvPr>
            <p:cNvSpPr txBox="1"/>
            <p:nvPr/>
          </p:nvSpPr>
          <p:spPr>
            <a:xfrm>
              <a:off x="2602325" y="3385444"/>
              <a:ext cx="13656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Expectation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D4D12A2-912D-795C-BDD2-413005339C80}"/>
              </a:ext>
            </a:extLst>
          </p:cNvPr>
          <p:cNvSpPr txBox="1"/>
          <p:nvPr/>
        </p:nvSpPr>
        <p:spPr>
          <a:xfrm>
            <a:off x="6096000" y="2034330"/>
            <a:ext cx="4785919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Value of a state = reward + value of successor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CCDEC7-38F6-D2B2-28CB-9C74204E9F8E}"/>
              </a:ext>
            </a:extLst>
          </p:cNvPr>
          <p:cNvGrpSpPr/>
          <p:nvPr/>
        </p:nvGrpSpPr>
        <p:grpSpPr>
          <a:xfrm>
            <a:off x="1006169" y="4751299"/>
            <a:ext cx="5089831" cy="1849772"/>
            <a:chOff x="1006169" y="4751299"/>
            <a:chExt cx="5089831" cy="184977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2003229-FD22-0510-A340-BF002F9F2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5184"/>
            <a:stretch>
              <a:fillRect/>
            </a:stretch>
          </p:blipFill>
          <p:spPr>
            <a:xfrm>
              <a:off x="3511122" y="4751299"/>
              <a:ext cx="2495536" cy="184977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1D70A9-69B7-7BC9-0D2C-D1C5CC35F3D8}"/>
                </a:ext>
              </a:extLst>
            </p:cNvPr>
            <p:cNvSpPr txBox="1"/>
            <p:nvPr/>
          </p:nvSpPr>
          <p:spPr>
            <a:xfrm>
              <a:off x="1154235" y="6215875"/>
              <a:ext cx="4941765" cy="276999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dirty="0"/>
                <a:t>Bellman equation averages over all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18FA37D-6647-443B-DC39-23DB7BC3C562}"/>
                    </a:ext>
                  </a:extLst>
                </p:cNvPr>
                <p:cNvSpPr txBox="1"/>
                <p:nvPr/>
              </p:nvSpPr>
              <p:spPr>
                <a:xfrm>
                  <a:off x="1006169" y="4919645"/>
                  <a:ext cx="268498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Backup diagram </a:t>
                  </a:r>
                  <a:r>
                    <a:rPr lang="en-US" dirty="0"/>
                    <a:t>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  <a:br>
                    <a:rPr lang="en-US" dirty="0"/>
                  </a:br>
                  <a:r>
                    <a:rPr lang="en-US" dirty="0"/>
                    <a:t>shows all possible paths.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18FA37D-6647-443B-DC39-23DB7BC3C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169" y="4919645"/>
                  <a:ext cx="268498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1814" t="-3774" r="-907" b="-150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AD5340-268C-D618-A2AC-98F85D54A9AA}"/>
              </a:ext>
            </a:extLst>
          </p:cNvPr>
          <p:cNvCxnSpPr>
            <a:cxnSpLocks/>
          </p:cNvCxnSpPr>
          <p:nvPr/>
        </p:nvCxnSpPr>
        <p:spPr>
          <a:xfrm flipV="1">
            <a:off x="6179334" y="5230536"/>
            <a:ext cx="0" cy="1123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003C9B0-E3BC-76E4-498F-6E69ECD581A5}"/>
              </a:ext>
            </a:extLst>
          </p:cNvPr>
          <p:cNvSpPr txBox="1"/>
          <p:nvPr/>
        </p:nvSpPr>
        <p:spPr>
          <a:xfrm>
            <a:off x="6096000" y="5519809"/>
            <a:ext cx="400110" cy="67980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Backup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peech Bubble: Rectangle with Corners Rounded 7">
                <a:extLst>
                  <a:ext uri="{FF2B5EF4-FFF2-40B4-BE49-F238E27FC236}">
                    <a16:creationId xmlns:a16="http://schemas.microsoft.com/office/drawing/2014/main" id="{8F61E090-EC02-6863-29F0-C351780E4A45}"/>
                  </a:ext>
                </a:extLst>
              </p:cNvPr>
              <p:cNvSpPr/>
              <p:nvPr/>
            </p:nvSpPr>
            <p:spPr>
              <a:xfrm>
                <a:off x="8792642" y="4622334"/>
                <a:ext cx="2687503" cy="608202"/>
              </a:xfrm>
              <a:prstGeom prst="wedgeRoundRectCallout">
                <a:avLst>
                  <a:gd name="adj1" fmla="val -17052"/>
                  <a:gd name="adj2" fmla="val -162327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dirty="0"/>
                  <a:t> Bellman equations.</a:t>
                </a:r>
              </a:p>
            </p:txBody>
          </p:sp>
        </mc:Choice>
        <mc:Fallback xmlns="">
          <p:sp>
            <p:nvSpPr>
              <p:cNvPr id="8" name="Speech Bubble: Rectangle with Corners Rounded 7">
                <a:extLst>
                  <a:ext uri="{FF2B5EF4-FFF2-40B4-BE49-F238E27FC236}">
                    <a16:creationId xmlns:a16="http://schemas.microsoft.com/office/drawing/2014/main" id="{8F61E090-EC02-6863-29F0-C351780E4A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642" y="4622334"/>
                <a:ext cx="2687503" cy="608202"/>
              </a:xfrm>
              <a:prstGeom prst="wedgeRoundRectCallout">
                <a:avLst>
                  <a:gd name="adj1" fmla="val -17052"/>
                  <a:gd name="adj2" fmla="val -162327"/>
                  <a:gd name="adj3" fmla="val 16667"/>
                </a:avLst>
              </a:prstGeom>
              <a:blipFill>
                <a:blip r:embed="rId5"/>
                <a:stretch>
                  <a:fillRect b="-8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376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C9F0-2A9D-4C49-7BFF-52EEEDE8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Policies and Value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983AE-A053-CC21-7A2E-F439E9BC0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Value functions define a partial ordering over policies.</a:t>
                </a:r>
              </a:p>
              <a:p>
                <a:r>
                  <a:rPr lang="en-US" dirty="0"/>
                  <a:t>A policy is better if it has larger state values.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groupChr>
                        <m:groupChrPr>
                          <m:chr m:val="⇔"/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There is always an </a:t>
                </a:r>
                <a:r>
                  <a:rPr lang="en-US" b="1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with the optimal 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≝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Implies an optimal action-value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≝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all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Since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983AE-A053-CC21-7A2E-F439E9BC0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55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48D8F64-3A8A-2A56-96BF-3AEB319D2A94}"/>
              </a:ext>
            </a:extLst>
          </p:cNvPr>
          <p:cNvSpPr/>
          <p:nvPr/>
        </p:nvSpPr>
        <p:spPr>
          <a:xfrm>
            <a:off x="6027488" y="5557708"/>
            <a:ext cx="998290" cy="43622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58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0569-06AA-DAA0-567D-E141959D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 Optimality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2EFF56-277B-32F2-63F8-9027DC2E43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1"/>
                <a:ext cx="10515600" cy="343053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Idea: the value of a state under an optimal policy must equal the expected return for the best action from that state.</a:t>
                </a:r>
              </a:p>
              <a:p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aln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aln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2EFF56-277B-32F2-63F8-9027DC2E43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1"/>
                <a:ext cx="10515600" cy="3430534"/>
              </a:xfrm>
              <a:blipFill>
                <a:blip r:embed="rId2"/>
                <a:stretch>
                  <a:fillRect l="-522" t="-3020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4E3A9CF-CE41-CE7D-32DB-4BC6BC762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85" y="4258550"/>
            <a:ext cx="3277802" cy="205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25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E3F30-4A33-7C79-E9CB-BFD3E6751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 Optimality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F5F62D-8D4F-8F2D-0ED2-14D5E264CD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optimality condition is a system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dirty="0"/>
                  <a:t> non-linear equations of the from: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Guarantee: Finite MDPs have a unique solution.</a:t>
                </a:r>
              </a:p>
              <a:p>
                <a:endParaRPr lang="en-US" dirty="0"/>
              </a:p>
              <a:p>
                <a:r>
                  <a:rPr lang="en-US" dirty="0"/>
                  <a:t>Issues of solving the system:</a:t>
                </a:r>
              </a:p>
              <a:p>
                <a:pPr lvl="1"/>
                <a:r>
                  <a:rPr lang="en-US" dirty="0"/>
                  <a:t>The Markov property for states has to be satisfied.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needs to be completely known.</a:t>
                </a:r>
              </a:p>
              <a:p>
                <a:pPr lvl="1"/>
                <a:r>
                  <a:rPr lang="en-US" dirty="0"/>
                  <a:t>Computational resources for solving the system with many states.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This is rarely possible in real applications and we need approximations.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F5F62D-8D4F-8F2D-0ED2-14D5E264CD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51" r="-406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0807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0997" y="381001"/>
            <a:ext cx="6858001" cy="6095995"/>
          </a:xfrm>
          <a:prstGeom prst="rect">
            <a:avLst/>
          </a:prstGeom>
          <a:ln>
            <a:noFill/>
          </a:ln>
          <a:effectLst>
            <a:outerShdw blurRad="381000" dist="101600" sx="99000" sy="99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192FE-AE28-3A6E-6E84-226227C7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752" y="146639"/>
            <a:ext cx="4792635" cy="1811645"/>
          </a:xfrm>
        </p:spPr>
        <p:txBody>
          <a:bodyPr anchor="ctr">
            <a:normAutofit/>
          </a:bodyPr>
          <a:lstStyle/>
          <a:p>
            <a:r>
              <a:rPr lang="en-US" sz="4000" dirty="0"/>
              <a:t>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130E4-1333-F05C-2927-81A0A888C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0" b="-1"/>
          <a:stretch>
            <a:fillRect/>
          </a:stretch>
        </p:blipFill>
        <p:spPr bwMode="auto">
          <a:xfrm>
            <a:off x="2" y="2350746"/>
            <a:ext cx="6096001" cy="411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A06D0-C7A7-094A-4B07-AC0436F7C2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03410" y="691912"/>
                <a:ext cx="4585646" cy="5474173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Terms</a:t>
                </a:r>
              </a:p>
              <a:p>
                <a:pPr lvl="1"/>
                <a:r>
                  <a:rPr lang="en-US" sz="1600" b="1" dirty="0"/>
                  <a:t>Actions</a:t>
                </a:r>
                <a:r>
                  <a:rPr lang="en-US" sz="1600" dirty="0"/>
                  <a:t> are the agent’s choices</a:t>
                </a:r>
              </a:p>
              <a:p>
                <a:pPr lvl="1"/>
                <a:r>
                  <a:rPr lang="en-US" sz="1600" b="1" dirty="0"/>
                  <a:t>States</a:t>
                </a:r>
                <a:r>
                  <a:rPr lang="en-US" sz="1600" dirty="0"/>
                  <a:t> are the basis for the choices</a:t>
                </a:r>
              </a:p>
              <a:p>
                <a:pPr lvl="1"/>
                <a:r>
                  <a:rPr lang="en-US" sz="1600" b="1" dirty="0"/>
                  <a:t>Reward</a:t>
                </a:r>
                <a:r>
                  <a:rPr lang="en-US" sz="1600" dirty="0"/>
                  <a:t> is used to evaluate choices</a:t>
                </a:r>
              </a:p>
              <a:p>
                <a:pPr lvl="1"/>
                <a:r>
                  <a:rPr lang="en-US" sz="1600" b="1" dirty="0"/>
                  <a:t>Objective</a:t>
                </a:r>
                <a:r>
                  <a:rPr lang="en-US" sz="1600" dirty="0"/>
                  <a:t>: maximize reward over time</a:t>
                </a:r>
              </a:p>
              <a:p>
                <a:pPr lvl="1"/>
                <a:r>
                  <a:rPr lang="en-US" sz="1600" b="1" dirty="0"/>
                  <a:t>Policy</a:t>
                </a:r>
                <a:r>
                  <a:rPr lang="en-US" sz="1600" dirty="0"/>
                  <a:t>: a stochastic rule to select actions as a function of the state</a:t>
                </a:r>
              </a:p>
              <a:p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/>
                  <a:t>Finite MDP</a:t>
                </a:r>
              </a:p>
              <a:p>
                <a:pPr lvl="1"/>
                <a:r>
                  <a:rPr lang="en-US" sz="1600" b="1" dirty="0"/>
                  <a:t>Complete knowledge</a:t>
                </a:r>
                <a:r>
                  <a:rPr lang="en-US" sz="1600" dirty="0"/>
                  <a:t>: solve the MDP directly to optimality. Only feasible for small problems</a:t>
                </a:r>
              </a:p>
              <a:p>
                <a:pPr lvl="1"/>
                <a:r>
                  <a:rPr lang="en-US" sz="1600" b="1" dirty="0"/>
                  <a:t>Incomplete knowledge</a:t>
                </a:r>
                <a:r>
                  <a:rPr lang="en-US" sz="1600" dirty="0"/>
                  <a:t>: RL focuses on this case by using approximation.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/>
                  <a:t>Tasks</a:t>
                </a:r>
              </a:p>
              <a:p>
                <a:pPr lvl="1"/>
                <a:r>
                  <a:rPr lang="en-US" sz="1600" b="1" dirty="0"/>
                  <a:t>Policy evaluation </a:t>
                </a:r>
                <a:r>
                  <a:rPr lang="en-US" sz="1600" dirty="0"/>
                  <a:t>(prediction):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sz="16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sz="1600" dirty="0"/>
                  <a:t> for a given fixed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/>
                <a:r>
                  <a:rPr lang="en-US" sz="1600" b="1" dirty="0"/>
                  <a:t>Control</a:t>
                </a:r>
                <a:r>
                  <a:rPr lang="en-US" sz="1600" dirty="0"/>
                  <a:t>/policy improvement: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A06D0-C7A7-094A-4B07-AC0436F7C2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3410" y="691912"/>
                <a:ext cx="4585646" cy="5474173"/>
              </a:xfrm>
              <a:blipFill>
                <a:blip r:embed="rId3"/>
                <a:stretch>
                  <a:fillRect l="-665" b="-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077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3700</TotalTime>
  <Words>1746</Words>
  <Application>Microsoft Office PowerPoint</Application>
  <PresentationFormat>Widescreen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 Math</vt:lpstr>
      <vt:lpstr>CMR10</vt:lpstr>
      <vt:lpstr>Office Theme</vt:lpstr>
      <vt:lpstr>Reinforcement Learning  Markov Decision Processes (MDP) Sutton/Barto* Chapter 3</vt:lpstr>
      <vt:lpstr>The Agent–Environment Interface</vt:lpstr>
      <vt:lpstr>Notation</vt:lpstr>
      <vt:lpstr>Finite MDP</vt:lpstr>
      <vt:lpstr>Transition and Reward Functions</vt:lpstr>
      <vt:lpstr>Add an Example!!!!!!!!!!!!</vt:lpstr>
      <vt:lpstr>Goals and Rewards</vt:lpstr>
      <vt:lpstr>Return and Episodes</vt:lpstr>
      <vt:lpstr>Reward Discounting</vt:lpstr>
      <vt:lpstr>Policy</vt:lpstr>
      <vt:lpstr>Value Functions</vt:lpstr>
      <vt:lpstr>Value Function Estimation and  Monte Carlo Methods</vt:lpstr>
      <vt:lpstr>Bellman Equation</vt:lpstr>
      <vt:lpstr>Optimal Policies and Value Functions</vt:lpstr>
      <vt:lpstr>Bellman Optimality Equation</vt:lpstr>
      <vt:lpstr>Bellman Optimality</vt:lpstr>
      <vt:lpstr>Summary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76</cp:revision>
  <dcterms:created xsi:type="dcterms:W3CDTF">2025-09-08T14:44:49Z</dcterms:created>
  <dcterms:modified xsi:type="dcterms:W3CDTF">2025-09-17T14:49:12Z</dcterms:modified>
</cp:coreProperties>
</file>