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313" r:id="rId3"/>
    <p:sldId id="478" r:id="rId4"/>
    <p:sldId id="495" r:id="rId5"/>
    <p:sldId id="354" r:id="rId6"/>
    <p:sldId id="485" r:id="rId7"/>
    <p:sldId id="489" r:id="rId8"/>
    <p:sldId id="486" r:id="rId9"/>
    <p:sldId id="490" r:id="rId10"/>
    <p:sldId id="496" r:id="rId11"/>
    <p:sldId id="493" r:id="rId12"/>
    <p:sldId id="497" r:id="rId13"/>
    <p:sldId id="491" r:id="rId14"/>
    <p:sldId id="494" r:id="rId15"/>
    <p:sldId id="503" r:id="rId16"/>
    <p:sldId id="492" r:id="rId17"/>
    <p:sldId id="501" r:id="rId18"/>
    <p:sldId id="498" r:id="rId19"/>
    <p:sldId id="499" r:id="rId20"/>
    <p:sldId id="500" r:id="rId21"/>
    <p:sldId id="502" r:id="rId22"/>
    <p:sldId id="400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8"/>
          </p14:sldIdLst>
        </p14:section>
        <p14:section name="Foundation" id="{99C52200-DC0B-4ED7-BC0A-CEC376E11BA5}">
          <p14:sldIdLst>
            <p14:sldId id="495"/>
            <p14:sldId id="354"/>
            <p14:sldId id="485"/>
            <p14:sldId id="489"/>
            <p14:sldId id="486"/>
            <p14:sldId id="490"/>
          </p14:sldIdLst>
        </p14:section>
        <p14:section name="Partial Observable RL" id="{0750367A-DCB3-4AB8-B173-5DD0470EAB59}">
          <p14:sldIdLst>
            <p14:sldId id="496"/>
            <p14:sldId id="493"/>
            <p14:sldId id="497"/>
            <p14:sldId id="491"/>
            <p14:sldId id="494"/>
            <p14:sldId id="503"/>
            <p14:sldId id="492"/>
          </p14:sldIdLst>
        </p14:section>
        <p14:section name="Case Study: Pong" id="{A454428F-C618-42E5-B9EA-C0A276D4B388}">
          <p14:sldIdLst>
            <p14:sldId id="501"/>
            <p14:sldId id="498"/>
            <p14:sldId id="499"/>
            <p14:sldId id="500"/>
            <p14:sldId id="502"/>
          </p14:sldIdLst>
        </p14:section>
        <p14:section name="Summary" id="{D66D00AC-13B5-412C-B489-69246E486834}">
          <p14:sldIdLst>
            <p14:sldId id="4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4747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067" autoAdjust="0"/>
    <p:restoredTop sz="94660"/>
  </p:normalViewPr>
  <p:slideViewPr>
    <p:cSldViewPr snapToGrid="0">
      <p:cViewPr varScale="1">
        <p:scale>
          <a:sx n="91" d="100"/>
          <a:sy n="91" d="100"/>
        </p:scale>
        <p:origin x="38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637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2397CE-1729-4F80-8FF6-27D57F1BB015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A1A6F8-2A75-4751-AC09-6AEE99711E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199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DCDF8-ABD1-D598-1B48-A3DBE2372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4C7BFF-31E6-8DBA-0986-D45E300FF2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8113" y="768350"/>
            <a:ext cx="6823075" cy="3838575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299358-A7BD-22ED-0AB5-01D72C18E1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E96E55-B01F-CA54-2F44-381397B86D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DF81BA-2724-47AE-8C5A-18C6541FAE5A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9479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2A352-A33F-CE5B-6E67-6448C6585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A674F3-0CF9-E342-0A49-34A56C9457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8113" y="768350"/>
            <a:ext cx="6823075" cy="3838575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E1D001-2D5C-1426-42DB-29B8D041D2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54B699-451A-17B1-2812-F62B5F8856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DF81BA-2724-47AE-8C5A-18C6541FAE5A}" type="slidenum">
              <a:rPr lang="en-US" smtClean="0"/>
              <a:pPr>
                <a:defRPr/>
              </a:pPr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98720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17.png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9" Type="http://schemas.openxmlformats.org/officeDocument/2006/relationships/image" Target="../media/image15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4.png"/><Relationship Id="rId18" Type="http://schemas.openxmlformats.org/officeDocument/2006/relationships/image" Target="../media/image39.png"/><Relationship Id="rId3" Type="http://schemas.openxmlformats.org/officeDocument/2006/relationships/image" Target="../media/image26.png"/><Relationship Id="rId21" Type="http://schemas.openxmlformats.org/officeDocument/2006/relationships/image" Target="../media/image42.png"/><Relationship Id="rId7" Type="http://schemas.openxmlformats.org/officeDocument/2006/relationships/image" Target="../media/image27.png"/><Relationship Id="rId12" Type="http://schemas.openxmlformats.org/officeDocument/2006/relationships/image" Target="../media/image33.png"/><Relationship Id="rId17" Type="http://schemas.openxmlformats.org/officeDocument/2006/relationships/image" Target="../media/image38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37.png"/><Relationship Id="rId20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1.png"/><Relationship Id="rId11" Type="http://schemas.openxmlformats.org/officeDocument/2006/relationships/image" Target="../media/image32.png"/><Relationship Id="rId5" Type="http://schemas.openxmlformats.org/officeDocument/2006/relationships/image" Target="../media/image152.png"/><Relationship Id="rId15" Type="http://schemas.openxmlformats.org/officeDocument/2006/relationships/image" Target="../media/image36.png"/><Relationship Id="rId10" Type="http://schemas.openxmlformats.org/officeDocument/2006/relationships/image" Target="../media/image31.png"/><Relationship Id="rId19" Type="http://schemas.openxmlformats.org/officeDocument/2006/relationships/image" Target="../media/image40.png"/><Relationship Id="rId4" Type="http://schemas.openxmlformats.org/officeDocument/2006/relationships/image" Target="../media/image141.png"/><Relationship Id="rId9" Type="http://schemas.openxmlformats.org/officeDocument/2006/relationships/image" Target="../media/image29.png"/><Relationship Id="rId22" Type="http://schemas.openxmlformats.org/officeDocument/2006/relationships/image" Target="../media/image43.png"/><Relationship Id="rId14" Type="http://schemas.openxmlformats.org/officeDocument/2006/relationships/image" Target="../media/image3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55.png"/><Relationship Id="rId18" Type="http://schemas.openxmlformats.org/officeDocument/2006/relationships/image" Target="../media/image60.png"/><Relationship Id="rId26" Type="http://schemas.openxmlformats.org/officeDocument/2006/relationships/image" Target="../media/image68.png"/><Relationship Id="rId3" Type="http://schemas.openxmlformats.org/officeDocument/2006/relationships/image" Target="../media/image45.png"/><Relationship Id="rId21" Type="http://schemas.openxmlformats.org/officeDocument/2006/relationships/image" Target="../media/image63.png"/><Relationship Id="rId7" Type="http://schemas.openxmlformats.org/officeDocument/2006/relationships/image" Target="../media/image49.png"/><Relationship Id="rId12" Type="http://schemas.openxmlformats.org/officeDocument/2006/relationships/image" Target="../media/image54.png"/><Relationship Id="rId17" Type="http://schemas.openxmlformats.org/officeDocument/2006/relationships/image" Target="../media/image59.png"/><Relationship Id="rId25" Type="http://schemas.openxmlformats.org/officeDocument/2006/relationships/image" Target="../media/image67.png"/><Relationship Id="rId2" Type="http://schemas.openxmlformats.org/officeDocument/2006/relationships/image" Target="../media/image44.png"/><Relationship Id="rId16" Type="http://schemas.openxmlformats.org/officeDocument/2006/relationships/image" Target="../media/image58.png"/><Relationship Id="rId20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11" Type="http://schemas.openxmlformats.org/officeDocument/2006/relationships/image" Target="../media/image53.png"/><Relationship Id="rId24" Type="http://schemas.openxmlformats.org/officeDocument/2006/relationships/image" Target="../media/image66.png"/><Relationship Id="rId5" Type="http://schemas.openxmlformats.org/officeDocument/2006/relationships/image" Target="../media/image47.png"/><Relationship Id="rId15" Type="http://schemas.openxmlformats.org/officeDocument/2006/relationships/image" Target="../media/image57.png"/><Relationship Id="rId23" Type="http://schemas.openxmlformats.org/officeDocument/2006/relationships/image" Target="../media/image65.png"/><Relationship Id="rId28" Type="http://schemas.openxmlformats.org/officeDocument/2006/relationships/image" Target="../media/image70.png"/><Relationship Id="rId10" Type="http://schemas.openxmlformats.org/officeDocument/2006/relationships/image" Target="../media/image52.png"/><Relationship Id="rId19" Type="http://schemas.openxmlformats.org/officeDocument/2006/relationships/image" Target="../media/image61.png"/><Relationship Id="rId4" Type="http://schemas.openxmlformats.org/officeDocument/2006/relationships/image" Target="../media/image46.png"/><Relationship Id="rId9" Type="http://schemas.openxmlformats.org/officeDocument/2006/relationships/image" Target="../media/image51.png"/><Relationship Id="rId14" Type="http://schemas.openxmlformats.org/officeDocument/2006/relationships/image" Target="../media/image56.png"/><Relationship Id="rId22" Type="http://schemas.openxmlformats.org/officeDocument/2006/relationships/image" Target="../media/image64.png"/><Relationship Id="rId27" Type="http://schemas.openxmlformats.org/officeDocument/2006/relationships/image" Target="../media/image6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stockphoto.com/portfolio/RomoloTavani?mediatype=photography" TargetMode="External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png"/><Relationship Id="rId3" Type="http://schemas.openxmlformats.org/officeDocument/2006/relationships/image" Target="../media/image8.png"/><Relationship Id="rId7" Type="http://schemas.openxmlformats.org/officeDocument/2006/relationships/image" Target="../media/image78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png"/><Relationship Id="rId5" Type="http://schemas.openxmlformats.org/officeDocument/2006/relationships/image" Target="../media/image76.png"/><Relationship Id="rId4" Type="http://schemas.openxmlformats.org/officeDocument/2006/relationships/image" Target="../media/image75.png"/><Relationship Id="rId9" Type="http://schemas.openxmlformats.org/officeDocument/2006/relationships/image" Target="../media/image8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13" Type="http://schemas.openxmlformats.org/officeDocument/2006/relationships/image" Target="../media/image92.png"/><Relationship Id="rId3" Type="http://schemas.openxmlformats.org/officeDocument/2006/relationships/image" Target="../media/image82.png"/><Relationship Id="rId7" Type="http://schemas.openxmlformats.org/officeDocument/2006/relationships/image" Target="../media/image86.png"/><Relationship Id="rId12" Type="http://schemas.openxmlformats.org/officeDocument/2006/relationships/image" Target="../media/image91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.png"/><Relationship Id="rId11" Type="http://schemas.openxmlformats.org/officeDocument/2006/relationships/image" Target="../media/image90.png"/><Relationship Id="rId5" Type="http://schemas.openxmlformats.org/officeDocument/2006/relationships/image" Target="../media/image84.png"/><Relationship Id="rId10" Type="http://schemas.openxmlformats.org/officeDocument/2006/relationships/image" Target="../media/image89.png"/><Relationship Id="rId4" Type="http://schemas.openxmlformats.org/officeDocument/2006/relationships/image" Target="../media/image83.png"/><Relationship Id="rId9" Type="http://schemas.openxmlformats.org/officeDocument/2006/relationships/image" Target="../media/image88.png"/><Relationship Id="rId14" Type="http://schemas.openxmlformats.org/officeDocument/2006/relationships/image" Target="../media/image93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95.png"/><Relationship Id="rId7" Type="http://schemas.openxmlformats.org/officeDocument/2006/relationships/image" Target="../media/image99.png"/><Relationship Id="rId12" Type="http://schemas.openxmlformats.org/officeDocument/2006/relationships/image" Target="../media/image104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8.png"/><Relationship Id="rId11" Type="http://schemas.openxmlformats.org/officeDocument/2006/relationships/image" Target="../media/image103.png"/><Relationship Id="rId5" Type="http://schemas.openxmlformats.org/officeDocument/2006/relationships/image" Target="../media/image97.png"/><Relationship Id="rId10" Type="http://schemas.openxmlformats.org/officeDocument/2006/relationships/image" Target="../media/image102.png"/><Relationship Id="rId4" Type="http://schemas.openxmlformats.org/officeDocument/2006/relationships/image" Target="../media/image96.png"/><Relationship Id="rId9" Type="http://schemas.openxmlformats.org/officeDocument/2006/relationships/image" Target="../media/image10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13" Type="http://schemas.openxmlformats.org/officeDocument/2006/relationships/image" Target="../media/image115.png"/><Relationship Id="rId3" Type="http://schemas.openxmlformats.org/officeDocument/2006/relationships/image" Target="../media/image105.png"/><Relationship Id="rId7" Type="http://schemas.openxmlformats.org/officeDocument/2006/relationships/image" Target="../media/image109.png"/><Relationship Id="rId12" Type="http://schemas.openxmlformats.org/officeDocument/2006/relationships/image" Target="../media/image114.png"/><Relationship Id="rId17" Type="http://schemas.openxmlformats.org/officeDocument/2006/relationships/image" Target="../media/image119.png"/><Relationship Id="rId2" Type="http://schemas.openxmlformats.org/officeDocument/2006/relationships/image" Target="../media/image81.png"/><Relationship Id="rId16" Type="http://schemas.openxmlformats.org/officeDocument/2006/relationships/image" Target="../media/image1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8.png"/><Relationship Id="rId11" Type="http://schemas.openxmlformats.org/officeDocument/2006/relationships/image" Target="../media/image113.png"/><Relationship Id="rId5" Type="http://schemas.openxmlformats.org/officeDocument/2006/relationships/image" Target="../media/image107.png"/><Relationship Id="rId15" Type="http://schemas.openxmlformats.org/officeDocument/2006/relationships/image" Target="../media/image117.png"/><Relationship Id="rId10" Type="http://schemas.openxmlformats.org/officeDocument/2006/relationships/image" Target="../media/image112.png"/><Relationship Id="rId4" Type="http://schemas.openxmlformats.org/officeDocument/2006/relationships/image" Target="../media/image106.png"/><Relationship Id="rId9" Type="http://schemas.openxmlformats.org/officeDocument/2006/relationships/image" Target="../media/image111.png"/><Relationship Id="rId14" Type="http://schemas.openxmlformats.org/officeDocument/2006/relationships/image" Target="../media/image1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3.png"/><Relationship Id="rId4" Type="http://schemas.openxmlformats.org/officeDocument/2006/relationships/image" Target="../media/image1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24.jpe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10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3.png"/><Relationship Id="rId3" Type="http://schemas.openxmlformats.org/officeDocument/2006/relationships/image" Target="../media/image129.png"/><Relationship Id="rId7" Type="http://schemas.openxmlformats.org/officeDocument/2006/relationships/image" Target="../media/image132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1.png"/><Relationship Id="rId5" Type="http://schemas.openxmlformats.org/officeDocument/2006/relationships/image" Target="../media/image125.png"/><Relationship Id="rId4" Type="http://schemas.openxmlformats.org/officeDocument/2006/relationships/image" Target="../media/image130.png"/><Relationship Id="rId9" Type="http://schemas.openxmlformats.org/officeDocument/2006/relationships/image" Target="../media/image134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649006" y="-1502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Partial Observability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3100" dirty="0">
                <a:solidFill>
                  <a:schemeClr val="bg1"/>
                </a:solidFill>
              </a:rPr>
              <a:t>Sutton/Barto* Chapter 17.3</a:t>
            </a:r>
            <a:br>
              <a:rPr lang="en-US" sz="3100" dirty="0">
                <a:solidFill>
                  <a:schemeClr val="bg1"/>
                </a:solidFill>
              </a:rPr>
            </a:br>
            <a:r>
              <a:rPr lang="en-US" sz="3100" dirty="0">
                <a:solidFill>
                  <a:schemeClr val="bg1"/>
                </a:solidFill>
              </a:rPr>
              <a:t>AIMA** Chapters 14 and 15</a:t>
            </a:r>
            <a:br>
              <a:rPr lang="en-US" sz="4000" dirty="0">
                <a:solidFill>
                  <a:schemeClr val="bg1"/>
                </a:solidFill>
              </a:rPr>
            </a:br>
            <a:endParaRPr lang="en-US" sz="2700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1" y="4868822"/>
            <a:ext cx="5945303" cy="1443894"/>
          </a:xfrm>
        </p:spPr>
        <p:txBody>
          <a:bodyPr>
            <a:normAutofit fontScale="85000" lnSpcReduction="200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endParaRPr lang="en-US" sz="1700" dirty="0">
              <a:solidFill>
                <a:schemeClr val="bg1"/>
              </a:solidFill>
            </a:endParaRPr>
          </a:p>
          <a:p>
            <a:pPr algn="l"/>
            <a:r>
              <a:rPr lang="en-US" sz="16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600" baseline="30000" dirty="0">
                <a:solidFill>
                  <a:schemeClr val="bg1"/>
                </a:solidFill>
              </a:rPr>
              <a:t>nd</a:t>
            </a:r>
            <a:r>
              <a:rPr lang="en-US" sz="1600" dirty="0">
                <a:solidFill>
                  <a:schemeClr val="bg1"/>
                </a:solidFill>
              </a:rPr>
              <a:t> edition, MIT Press, Cambridge, MA, 2018</a:t>
            </a:r>
          </a:p>
          <a:p>
            <a:pPr algn="l"/>
            <a:r>
              <a:rPr lang="en-US" sz="1600" dirty="0">
                <a:solidFill>
                  <a:schemeClr val="bg1"/>
                </a:solidFill>
              </a:rPr>
              <a:t>**Russell and Norvig, Artificial Intelligence: A Modern Approach, 4</a:t>
            </a:r>
            <a:r>
              <a:rPr lang="en-US" sz="1600" baseline="30000" dirty="0">
                <a:solidFill>
                  <a:schemeClr val="bg1"/>
                </a:solidFill>
              </a:rPr>
              <a:t>th</a:t>
            </a:r>
            <a:r>
              <a:rPr lang="en-US" sz="1600" dirty="0">
                <a:solidFill>
                  <a:schemeClr val="bg1"/>
                </a:solidFill>
              </a:rPr>
              <a:t> edition, Pearson, 2021</a:t>
            </a:r>
          </a:p>
          <a:p>
            <a:pPr algn="l"/>
            <a:endParaRPr lang="en-US" sz="1700" dirty="0">
              <a:solidFill>
                <a:schemeClr val="bg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A9F9786C-76AC-22A8-2028-BB0A9E3784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7456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A1C6744-BD97-2C10-F393-A0B726F71E7A}"/>
              </a:ext>
            </a:extLst>
          </p:cNvPr>
          <p:cNvGrpSpPr/>
          <p:nvPr/>
        </p:nvGrpSpPr>
        <p:grpSpPr>
          <a:xfrm>
            <a:off x="10961016" y="4868822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F5FC233-1ACF-0EE9-5B1F-F0A29270EE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6CB3135-CE78-1137-FBA3-29AA8592D8F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Looking Deeper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b="1" dirty="0"/>
              <a:t>Partial Observability</a:t>
            </a:r>
          </a:p>
          <a:p>
            <a:pPr lvl="1"/>
            <a:r>
              <a:rPr lang="en-US" dirty="0"/>
              <a:t>Reward Engineering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0" name="Rectangle 205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4" name="Picture 6" descr="Hourglass flow Flowing  white hourglass on wooden table; Twilight blue time stock pictures, royalty-free photos &amp; images">
            <a:extLst>
              <a:ext uri="{FF2B5EF4-FFF2-40B4-BE49-F238E27FC236}">
                <a16:creationId xmlns:a16="http://schemas.microsoft.com/office/drawing/2014/main" id="{FA246755-6276-F2EB-2D60-68CBD783D0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499" b="5231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9E4AB1D-A5F9-214C-EE43-8A4462ED2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Foundation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94B882-D05D-F69F-A064-6A001AE9C7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Probabilistic reasoning over time</a:t>
            </a:r>
          </a:p>
          <a:p>
            <a:pPr algn="ctr"/>
            <a:r>
              <a:rPr lang="en-US" dirty="0">
                <a:solidFill>
                  <a:srgbClr val="FFFFFF"/>
                </a:solidFill>
              </a:rPr>
              <a:t>AIMA Chapter 15</a:t>
            </a:r>
          </a:p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BD9833-5029-F907-55ED-D01341A14AC5}"/>
              </a:ext>
            </a:extLst>
          </p:cNvPr>
          <p:cNvSpPr txBox="1"/>
          <p:nvPr/>
        </p:nvSpPr>
        <p:spPr>
          <a:xfrm>
            <a:off x="9563723" y="6219164"/>
            <a:ext cx="25455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iStock</a:t>
            </a:r>
            <a:br>
              <a:rPr lang="en-US" sz="1600" dirty="0">
                <a:solidFill>
                  <a:schemeClr val="bg1">
                    <a:lumMod val="65000"/>
                    <a:lumOff val="35000"/>
                  </a:schemeClr>
                </a:solidFill>
              </a:rPr>
            </a:br>
            <a:r>
              <a:rPr lang="en-US" sz="16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Credit: </a:t>
            </a:r>
            <a:r>
              <a:rPr lang="en-US" sz="1600" dirty="0" err="1">
                <a:solidFill>
                  <a:schemeClr val="bg1">
                    <a:lumMod val="65000"/>
                    <a:lumOff val="35000"/>
                  </a:schemeClr>
                </a:solidFill>
              </a:rPr>
              <a:t>bernie_photo</a:t>
            </a:r>
            <a:endParaRPr lang="en-US" sz="1600" dirty="0">
              <a:solidFill>
                <a:schemeClr val="bg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08052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A9816-6815-95B8-F6A5-9881CF91C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Fully Observable RL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663287-32CF-0AD4-FA4E-98A5F19259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033064"/>
                <a:ext cx="10125222" cy="5123896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General MDPs can have continuous state </a:t>
                </a:r>
                <a:br>
                  <a:rPr lang="en-US" dirty="0"/>
                </a:br>
                <a:r>
                  <a:rPr lang="en-US" dirty="0"/>
                  <a:t>and action spaces.</a:t>
                </a:r>
              </a:p>
              <a:p>
                <a:r>
                  <a:rPr lang="en-US" dirty="0"/>
                  <a:t>We consider finite MDPs. An MDP is </a:t>
                </a:r>
                <a:r>
                  <a:rPr lang="en-US" b="1" dirty="0"/>
                  <a:t>finite</a:t>
                </a:r>
                <a:r>
                  <a:rPr lang="en-US" dirty="0"/>
                  <a:t> if the </a:t>
                </a:r>
              </a:p>
              <a:p>
                <a:pPr lvl="1"/>
                <a:r>
                  <a:rPr lang="en-US" dirty="0"/>
                  <a:t>sets of states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, </a:t>
                </a:r>
              </a:p>
              <a:p>
                <a:pPr lvl="1"/>
                <a:r>
                  <a:rPr lang="en-US" dirty="0"/>
                  <a:t>set of action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/>
                  <a:t>, and </a:t>
                </a:r>
              </a:p>
              <a:p>
                <a:pPr lvl="1"/>
                <a:r>
                  <a:rPr lang="en-US" dirty="0"/>
                  <a:t>set of rewards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ℛ</m:t>
                    </m:r>
                  </m:oMath>
                </a14:m>
                <a:r>
                  <a:rPr lang="en-US" dirty="0"/>
                  <a:t> all have a finite number of elements.</a:t>
                </a:r>
              </a:p>
              <a:p>
                <a:pPr lvl="1"/>
                <a:r>
                  <a:rPr lang="en-US" dirty="0"/>
                  <a:t>It always has discrete time steps.</a:t>
                </a:r>
              </a:p>
              <a:p>
                <a:endParaRPr lang="en-US" b="1" dirty="0"/>
              </a:p>
              <a:p>
                <a:r>
                  <a:rPr lang="en-US" dirty="0"/>
                  <a:t>The </a:t>
                </a:r>
                <a:r>
                  <a:rPr lang="en-US" b="1" dirty="0"/>
                  <a:t>dynamics</a:t>
                </a:r>
                <a:r>
                  <a:rPr lang="en-US" dirty="0"/>
                  <a:t> of the finite discrete-time MDP are described by the </a:t>
                </a:r>
                <a:br>
                  <a:rPr lang="en-US" dirty="0"/>
                </a:br>
                <a:r>
                  <a:rPr lang="en-US" dirty="0"/>
                  <a:t>function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: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ℛ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→[0,1] 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defined as</a:t>
                </a:r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≝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{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br>
                  <a:rPr lang="en-US" dirty="0"/>
                </a:br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r>
                  <a:rPr lang="en-US" dirty="0"/>
                  <a:t>A decision process is an MDP if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completely characterizes the environment’s dynamics. This implies: </a:t>
                </a:r>
              </a:p>
              <a:p>
                <a:pPr lvl="1"/>
                <a:r>
                  <a:rPr lang="en-US" dirty="0"/>
                  <a:t>Dynamics only depend on the current observed state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This means: the state must have sufficient information about the past. </a:t>
                </a:r>
              </a:p>
              <a:p>
                <a:pPr lvl="1"/>
                <a:r>
                  <a:rPr lang="en-US" dirty="0"/>
                  <a:t>If this is true, then it is called an </a:t>
                </a:r>
                <a:r>
                  <a:rPr lang="en-US" b="1" dirty="0"/>
                  <a:t>information state </a:t>
                </a:r>
                <a:r>
                  <a:rPr lang="en-US" dirty="0"/>
                  <a:t>and the system has the necessary </a:t>
                </a:r>
                <a:r>
                  <a:rPr lang="en-US" b="1" dirty="0"/>
                  <a:t>Markov property</a:t>
                </a:r>
                <a:r>
                  <a:rPr lang="en-US" dirty="0"/>
                  <a:t>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{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{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…,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663287-32CF-0AD4-FA4E-98A5F19259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033064"/>
                <a:ext cx="10125222" cy="5123896"/>
              </a:xfrm>
              <a:blipFill>
                <a:blip r:embed="rId2"/>
                <a:stretch>
                  <a:fillRect l="-422" t="-1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FF1D7063-84BD-4E42-A446-949BC7D128D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270" r="11643" b="13005"/>
          <a:stretch>
            <a:fillRect/>
          </a:stretch>
        </p:blipFill>
        <p:spPr>
          <a:xfrm>
            <a:off x="6977243" y="643922"/>
            <a:ext cx="4516160" cy="171681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A910759-4C6A-2C0B-F06C-B3EEC4397B82}"/>
              </a:ext>
            </a:extLst>
          </p:cNvPr>
          <p:cNvSpPr txBox="1"/>
          <p:nvPr/>
        </p:nvSpPr>
        <p:spPr>
          <a:xfrm>
            <a:off x="9575024" y="1513340"/>
            <a:ext cx="677075" cy="3693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MDP</a:t>
            </a:r>
          </a:p>
        </p:txBody>
      </p:sp>
    </p:spTree>
    <p:extLst>
      <p:ext uri="{BB962C8B-B14F-4D97-AF65-F5344CB8AC3E}">
        <p14:creationId xmlns:p14="http://schemas.microsoft.com/office/powerpoint/2010/main" val="2477650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FDF50-80B4-DE16-98B3-4AFF043EB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52A4E-357F-0DB0-1F15-1AAEA233A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Markov Process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007F3B-D068-6737-2299-B40014C497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79260" y="1373999"/>
                <a:ext cx="7505835" cy="2883814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In RL, we see a sequence of states. </a:t>
                </a:r>
                <a:r>
                  <a:rPr lang="en-US" b="1" dirty="0"/>
                  <a:t>A Markov chain or Markov process </a:t>
                </a:r>
                <a:r>
                  <a:rPr lang="en-US" dirty="0"/>
                  <a:t>is a stochastic process describing a sequence of possible events (states) defined by: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A set of states: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…,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/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A stochastic transition model: </a:t>
                </a:r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latin typeface="Cambria Math" panose="02040503050406030204" pitchFamily="18" charset="0"/>
                  </a:rPr>
                  <a:t>Pr</a:t>
                </a:r>
                <a14:m>
                  <m:oMath xmlns:m="http://schemas.openxmlformats.org/officeDocument/2006/math">
                    <m:d>
                      <m:dPr>
                        <m:endChr m:val="|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     ∀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endParaRPr lang="en-US" dirty="0"/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The transition model is:</a:t>
                </a:r>
              </a:p>
              <a:p>
                <a:pPr lvl="2">
                  <a:lnSpc>
                    <a:spcPct val="120000"/>
                  </a:lnSpc>
                </a:pPr>
                <a:r>
                  <a:rPr lang="en-US" b="1" dirty="0"/>
                  <a:t>Markovian</a:t>
                </a:r>
                <a:r>
                  <a:rPr lang="en-US" dirty="0"/>
                  <a:t>: The current state only depends on the previous state: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Pr</m:t>
                    </m:r>
                    <m:d>
                      <m:dPr>
                        <m:endChr m:val="|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Pr</m:t>
                    </m:r>
                    <m:d>
                      <m:dPr>
                        <m:endChr m:val="|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br>
                  <a:rPr lang="en-US" dirty="0"/>
                </a:br>
                <a:endParaRPr lang="en-US" dirty="0"/>
              </a:p>
              <a:p>
                <a:pPr lvl="2">
                  <a:lnSpc>
                    <a:spcPct val="120000"/>
                  </a:lnSpc>
                </a:pPr>
                <a:r>
                  <a:rPr lang="en-US" b="1" dirty="0"/>
                  <a:t>Stationary</a:t>
                </a:r>
                <a:r>
                  <a:rPr lang="en-US" dirty="0"/>
                  <a:t>: Probabilities do not change over time: </a:t>
                </a:r>
                <a:br>
                  <a:rPr lang="en-US" dirty="0"/>
                </a:b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  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007F3B-D068-6737-2299-B40014C497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79260" y="1373999"/>
                <a:ext cx="7505835" cy="2883814"/>
              </a:xfrm>
              <a:blipFill>
                <a:blip r:embed="rId3"/>
                <a:stretch>
                  <a:fillRect l="-812" t="-3594" r="-7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212DE726-6758-E650-6EE8-75ED16DF1F74}"/>
                  </a:ext>
                </a:extLst>
              </p:cNvPr>
              <p:cNvSpPr txBox="1"/>
              <p:nvPr/>
            </p:nvSpPr>
            <p:spPr>
              <a:xfrm>
                <a:off x="910942" y="4390796"/>
                <a:ext cx="7813333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b="1" dirty="0"/>
                  <a:t>Episode is a trajectory: Markov  process “unrolled” over time: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endParaRPr lang="en-US" b="1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212DE726-6758-E650-6EE8-75ED16DF1F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942" y="4390796"/>
                <a:ext cx="7813333" cy="646331"/>
              </a:xfrm>
              <a:prstGeom prst="rect">
                <a:avLst/>
              </a:prstGeom>
              <a:blipFill>
                <a:blip r:embed="rId7"/>
                <a:stretch>
                  <a:fillRect l="-624" t="-37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1EA64A6E-E19B-6016-AAC7-7E9E8BFFC4A6}"/>
              </a:ext>
            </a:extLst>
          </p:cNvPr>
          <p:cNvGrpSpPr/>
          <p:nvPr/>
        </p:nvGrpSpPr>
        <p:grpSpPr>
          <a:xfrm>
            <a:off x="8630084" y="1939995"/>
            <a:ext cx="3147961" cy="3370945"/>
            <a:chOff x="8630084" y="1939995"/>
            <a:chExt cx="3147961" cy="3370945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12D202A3-D97B-2F19-4E69-1C9AB59249E5}"/>
                </a:ext>
              </a:extLst>
            </p:cNvPr>
            <p:cNvGrpSpPr/>
            <p:nvPr/>
          </p:nvGrpSpPr>
          <p:grpSpPr>
            <a:xfrm>
              <a:off x="8967696" y="2402783"/>
              <a:ext cx="2243190" cy="1629572"/>
              <a:chOff x="1626433" y="3150198"/>
              <a:chExt cx="2243190" cy="162957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6" name="Oval 95">
                    <a:extLst>
                      <a:ext uri="{FF2B5EF4-FFF2-40B4-BE49-F238E27FC236}">
                        <a16:creationId xmlns:a16="http://schemas.microsoft.com/office/drawing/2014/main" id="{BF93A4CD-383B-A628-8BC3-1B56F06F5CF3}"/>
                      </a:ext>
                    </a:extLst>
                  </p:cNvPr>
                  <p:cNvSpPr/>
                  <p:nvPr/>
                </p:nvSpPr>
                <p:spPr>
                  <a:xfrm>
                    <a:off x="1742013" y="3774484"/>
                    <a:ext cx="381000" cy="381000"/>
                  </a:xfrm>
                  <a:prstGeom prst="ellipse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6" name="Oval 95">
                    <a:extLst>
                      <a:ext uri="{FF2B5EF4-FFF2-40B4-BE49-F238E27FC236}">
                        <a16:creationId xmlns:a16="http://schemas.microsoft.com/office/drawing/2014/main" id="{BF93A4CD-383B-A628-8BC3-1B56F06F5CF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42013" y="3774484"/>
                    <a:ext cx="381000" cy="381000"/>
                  </a:xfrm>
                  <a:prstGeom prst="ellipse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97" name="Straight Arrow Connector 96">
                <a:extLst>
                  <a:ext uri="{FF2B5EF4-FFF2-40B4-BE49-F238E27FC236}">
                    <a16:creationId xmlns:a16="http://schemas.microsoft.com/office/drawing/2014/main" id="{4B8E657D-EF3B-3D39-5F8C-F85A733E8295}"/>
                  </a:ext>
                </a:extLst>
              </p:cNvPr>
              <p:cNvCxnSpPr>
                <a:cxnSpLocks/>
                <a:stCxn id="96" idx="6"/>
                <a:endCxn id="98" idx="3"/>
              </p:cNvCxnSpPr>
              <p:nvPr/>
            </p:nvCxnSpPr>
            <p:spPr>
              <a:xfrm flipV="1">
                <a:off x="2123013" y="3545129"/>
                <a:ext cx="582600" cy="41985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8" name="Oval 97">
                    <a:extLst>
                      <a:ext uri="{FF2B5EF4-FFF2-40B4-BE49-F238E27FC236}">
                        <a16:creationId xmlns:a16="http://schemas.microsoft.com/office/drawing/2014/main" id="{C850D916-C1FA-EBD2-8DA6-3B6082C30C46}"/>
                      </a:ext>
                    </a:extLst>
                  </p:cNvPr>
                  <p:cNvSpPr/>
                  <p:nvPr/>
                </p:nvSpPr>
                <p:spPr>
                  <a:xfrm>
                    <a:off x="2649817" y="3219925"/>
                    <a:ext cx="381000" cy="381000"/>
                  </a:xfrm>
                  <a:prstGeom prst="ellipse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8" name="Oval 97">
                    <a:extLst>
                      <a:ext uri="{FF2B5EF4-FFF2-40B4-BE49-F238E27FC236}">
                        <a16:creationId xmlns:a16="http://schemas.microsoft.com/office/drawing/2014/main" id="{C850D916-C1FA-EBD2-8DA6-3B6082C30C4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9817" y="3219925"/>
                    <a:ext cx="381000" cy="381000"/>
                  </a:xfrm>
                  <a:prstGeom prst="ellipse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99" name="Straight Arrow Connector 98">
                <a:extLst>
                  <a:ext uri="{FF2B5EF4-FFF2-40B4-BE49-F238E27FC236}">
                    <a16:creationId xmlns:a16="http://schemas.microsoft.com/office/drawing/2014/main" id="{FC0FD8EC-2419-8BA0-8028-3706A89C1D1E}"/>
                  </a:ext>
                </a:extLst>
              </p:cNvPr>
              <p:cNvCxnSpPr>
                <a:cxnSpLocks/>
                <a:stCxn id="100" idx="3"/>
                <a:endCxn id="104" idx="6"/>
              </p:cNvCxnSpPr>
              <p:nvPr/>
            </p:nvCxnSpPr>
            <p:spPr>
              <a:xfrm flipH="1">
                <a:off x="3030817" y="4288702"/>
                <a:ext cx="261369" cy="16194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Oval 99">
                    <a:extLst>
                      <a:ext uri="{FF2B5EF4-FFF2-40B4-BE49-F238E27FC236}">
                        <a16:creationId xmlns:a16="http://schemas.microsoft.com/office/drawing/2014/main" id="{EFA32AE8-9023-FE2A-C280-5922FB2EEAE6}"/>
                      </a:ext>
                    </a:extLst>
                  </p:cNvPr>
                  <p:cNvSpPr/>
                  <p:nvPr/>
                </p:nvSpPr>
                <p:spPr>
                  <a:xfrm>
                    <a:off x="3236390" y="3963498"/>
                    <a:ext cx="381000" cy="381000"/>
                  </a:xfrm>
                  <a:prstGeom prst="ellipse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00" name="Oval 99">
                    <a:extLst>
                      <a:ext uri="{FF2B5EF4-FFF2-40B4-BE49-F238E27FC236}">
                        <a16:creationId xmlns:a16="http://schemas.microsoft.com/office/drawing/2014/main" id="{EFA32AE8-9023-FE2A-C280-5922FB2EEAE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36390" y="3963498"/>
                    <a:ext cx="381000" cy="381000"/>
                  </a:xfrm>
                  <a:prstGeom prst="ellipse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9F4F8E7C-00C0-44C7-A788-2A2A43068A13}"/>
                  </a:ext>
                </a:extLst>
              </p:cNvPr>
              <p:cNvSpPr/>
              <p:nvPr/>
            </p:nvSpPr>
            <p:spPr>
              <a:xfrm>
                <a:off x="1626433" y="3150198"/>
                <a:ext cx="2243190" cy="1629572"/>
              </a:xfrm>
              <a:prstGeom prst="rect">
                <a:avLst/>
              </a:prstGeom>
              <a:noFill/>
              <a:ln w="19050" cap="flat" cmpd="sng" algn="ctr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4" name="Oval 103">
                    <a:extLst>
                      <a:ext uri="{FF2B5EF4-FFF2-40B4-BE49-F238E27FC236}">
                        <a16:creationId xmlns:a16="http://schemas.microsoft.com/office/drawing/2014/main" id="{1FF22AFD-E1D8-06D2-F7E2-F98A079F38B8}"/>
                      </a:ext>
                    </a:extLst>
                  </p:cNvPr>
                  <p:cNvSpPr/>
                  <p:nvPr/>
                </p:nvSpPr>
                <p:spPr>
                  <a:xfrm>
                    <a:off x="2649817" y="4260144"/>
                    <a:ext cx="381000" cy="381000"/>
                  </a:xfrm>
                  <a:prstGeom prst="ellipse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04" name="Oval 103">
                    <a:extLst>
                      <a:ext uri="{FF2B5EF4-FFF2-40B4-BE49-F238E27FC236}">
                        <a16:creationId xmlns:a16="http://schemas.microsoft.com/office/drawing/2014/main" id="{1FF22AFD-E1D8-06D2-F7E2-F98A079F38B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9817" y="4260144"/>
                    <a:ext cx="381000" cy="381000"/>
                  </a:xfrm>
                  <a:prstGeom prst="ellipse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07" name="Straight Arrow Connector 106">
                <a:extLst>
                  <a:ext uri="{FF2B5EF4-FFF2-40B4-BE49-F238E27FC236}">
                    <a16:creationId xmlns:a16="http://schemas.microsoft.com/office/drawing/2014/main" id="{B4B64990-DEFE-FC7F-EC9C-D647800ED0F7}"/>
                  </a:ext>
                </a:extLst>
              </p:cNvPr>
              <p:cNvCxnSpPr>
                <a:cxnSpLocks/>
                <a:stCxn id="96" idx="6"/>
                <a:endCxn id="104" idx="1"/>
              </p:cNvCxnSpPr>
              <p:nvPr/>
            </p:nvCxnSpPr>
            <p:spPr>
              <a:xfrm>
                <a:off x="2123013" y="3964984"/>
                <a:ext cx="582600" cy="35095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Straight Arrow Connector 109">
                <a:extLst>
                  <a:ext uri="{FF2B5EF4-FFF2-40B4-BE49-F238E27FC236}">
                    <a16:creationId xmlns:a16="http://schemas.microsoft.com/office/drawing/2014/main" id="{ED0EDB06-A7EF-B3BC-0351-B2A7BE3D48A1}"/>
                  </a:ext>
                </a:extLst>
              </p:cNvPr>
              <p:cNvCxnSpPr>
                <a:cxnSpLocks/>
                <a:stCxn id="98" idx="2"/>
                <a:endCxn id="96" idx="7"/>
              </p:cNvCxnSpPr>
              <p:nvPr/>
            </p:nvCxnSpPr>
            <p:spPr>
              <a:xfrm flipH="1">
                <a:off x="2067217" y="3410425"/>
                <a:ext cx="582600" cy="41985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Straight Arrow Connector 112">
                <a:extLst>
                  <a:ext uri="{FF2B5EF4-FFF2-40B4-BE49-F238E27FC236}">
                    <a16:creationId xmlns:a16="http://schemas.microsoft.com/office/drawing/2014/main" id="{FEB7D7A7-609E-1AD6-C255-CC0610FF8CFB}"/>
                  </a:ext>
                </a:extLst>
              </p:cNvPr>
              <p:cNvCxnSpPr>
                <a:cxnSpLocks/>
                <a:stCxn id="98" idx="5"/>
                <a:endCxn id="100" idx="1"/>
              </p:cNvCxnSpPr>
              <p:nvPr/>
            </p:nvCxnSpPr>
            <p:spPr>
              <a:xfrm>
                <a:off x="2975021" y="3545129"/>
                <a:ext cx="317165" cy="47416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D3F58CDA-6BBE-80C8-C3CF-881F9E752F10}"/>
                </a:ext>
              </a:extLst>
            </p:cNvPr>
            <p:cNvSpPr txBox="1"/>
            <p:nvPr/>
          </p:nvSpPr>
          <p:spPr>
            <a:xfrm>
              <a:off x="8630084" y="1939995"/>
              <a:ext cx="314796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b="1" dirty="0"/>
                <a:t>Markov model as a graph</a:t>
              </a:r>
              <a:endParaRPr lang="en-US" dirty="0"/>
            </a:p>
          </p:txBody>
        </p:sp>
        <p:sp>
          <p:nvSpPr>
            <p:cNvPr id="122" name="Speech Bubble: Rectangle with Corners Rounded 121">
              <a:extLst>
                <a:ext uri="{FF2B5EF4-FFF2-40B4-BE49-F238E27FC236}">
                  <a16:creationId xmlns:a16="http://schemas.microsoft.com/office/drawing/2014/main" id="{41D246F9-7BDE-9942-A22F-15402A63E010}"/>
                </a:ext>
              </a:extLst>
            </p:cNvPr>
            <p:cNvSpPr/>
            <p:nvPr/>
          </p:nvSpPr>
          <p:spPr>
            <a:xfrm>
              <a:off x="9803567" y="4489554"/>
              <a:ext cx="1641423" cy="821386"/>
            </a:xfrm>
            <a:prstGeom prst="wedgeRoundRectCallout">
              <a:avLst>
                <a:gd name="adj1" fmla="val -26312"/>
                <a:gd name="adj2" fmla="val -120911"/>
                <a:gd name="adj3" fmla="val 16667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Subscript is the state ID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8E1D08BA-D702-72B0-67F9-5EBA98D9A1BB}"/>
              </a:ext>
            </a:extLst>
          </p:cNvPr>
          <p:cNvGrpSpPr/>
          <p:nvPr/>
        </p:nvGrpSpPr>
        <p:grpSpPr>
          <a:xfrm>
            <a:off x="2193327" y="4915566"/>
            <a:ext cx="6963981" cy="1114383"/>
            <a:chOff x="2193327" y="4915566"/>
            <a:chExt cx="6963981" cy="1114383"/>
          </a:xfrm>
        </p:grpSpPr>
        <p:grpSp>
          <p:nvGrpSpPr>
            <p:cNvPr id="121" name="Group 120">
              <a:extLst>
                <a:ext uri="{FF2B5EF4-FFF2-40B4-BE49-F238E27FC236}">
                  <a16:creationId xmlns:a16="http://schemas.microsoft.com/office/drawing/2014/main" id="{E23B0AB7-59CE-A66F-BE09-92725397B0C0}"/>
                </a:ext>
              </a:extLst>
            </p:cNvPr>
            <p:cNvGrpSpPr/>
            <p:nvPr/>
          </p:nvGrpSpPr>
          <p:grpSpPr>
            <a:xfrm>
              <a:off x="2193327" y="4915566"/>
              <a:ext cx="4759686" cy="720737"/>
              <a:chOff x="3077744" y="5522666"/>
              <a:chExt cx="4759686" cy="72073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Oval 6">
                    <a:extLst>
                      <a:ext uri="{FF2B5EF4-FFF2-40B4-BE49-F238E27FC236}">
                        <a16:creationId xmlns:a16="http://schemas.microsoft.com/office/drawing/2014/main" id="{152B55D3-E0F6-B71A-42B9-1C4F70181034}"/>
                      </a:ext>
                    </a:extLst>
                  </p:cNvPr>
                  <p:cNvSpPr/>
                  <p:nvPr/>
                </p:nvSpPr>
                <p:spPr>
                  <a:xfrm>
                    <a:off x="3329977" y="5702260"/>
                    <a:ext cx="381000" cy="381000"/>
                  </a:xfrm>
                  <a:prstGeom prst="ellipse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" name="Oval 6">
                    <a:extLst>
                      <a:ext uri="{FF2B5EF4-FFF2-40B4-BE49-F238E27FC236}">
                        <a16:creationId xmlns:a16="http://schemas.microsoft.com/office/drawing/2014/main" id="{152B55D3-E0F6-B71A-42B9-1C4F7018103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29977" y="5702260"/>
                    <a:ext cx="381000" cy="381000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7" name="Straight Arrow Connector 56">
                <a:extLst>
                  <a:ext uri="{FF2B5EF4-FFF2-40B4-BE49-F238E27FC236}">
                    <a16:creationId xmlns:a16="http://schemas.microsoft.com/office/drawing/2014/main" id="{ACAB2C98-7A3E-3670-75A7-AD1721C32637}"/>
                  </a:ext>
                </a:extLst>
              </p:cNvPr>
              <p:cNvCxnSpPr>
                <a:cxnSpLocks/>
                <a:stCxn id="7" idx="6"/>
              </p:cNvCxnSpPr>
              <p:nvPr/>
            </p:nvCxnSpPr>
            <p:spPr>
              <a:xfrm>
                <a:off x="3710977" y="5892760"/>
                <a:ext cx="90780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5" name="Oval 64">
                    <a:extLst>
                      <a:ext uri="{FF2B5EF4-FFF2-40B4-BE49-F238E27FC236}">
                        <a16:creationId xmlns:a16="http://schemas.microsoft.com/office/drawing/2014/main" id="{A108B6E2-B643-CF02-5474-3A81F48CCD8C}"/>
                      </a:ext>
                    </a:extLst>
                  </p:cNvPr>
                  <p:cNvSpPr/>
                  <p:nvPr/>
                </p:nvSpPr>
                <p:spPr>
                  <a:xfrm>
                    <a:off x="4618781" y="5702260"/>
                    <a:ext cx="381000" cy="381000"/>
                  </a:xfrm>
                  <a:prstGeom prst="ellipse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65" name="Oval 64">
                    <a:extLst>
                      <a:ext uri="{FF2B5EF4-FFF2-40B4-BE49-F238E27FC236}">
                        <a16:creationId xmlns:a16="http://schemas.microsoft.com/office/drawing/2014/main" id="{A108B6E2-B643-CF02-5474-3A81F48CCD8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18781" y="5702260"/>
                    <a:ext cx="381000" cy="381000"/>
                  </a:xfrm>
                  <a:prstGeom prst="ellipse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1" name="Straight Arrow Connector 70">
                <a:extLst>
                  <a:ext uri="{FF2B5EF4-FFF2-40B4-BE49-F238E27FC236}">
                    <a16:creationId xmlns:a16="http://schemas.microsoft.com/office/drawing/2014/main" id="{5D3A19B9-3B2D-38D7-8D83-B145B9542A8B}"/>
                  </a:ext>
                </a:extLst>
              </p:cNvPr>
              <p:cNvCxnSpPr>
                <a:cxnSpLocks/>
                <a:stCxn id="65" idx="6"/>
              </p:cNvCxnSpPr>
              <p:nvPr/>
            </p:nvCxnSpPr>
            <p:spPr>
              <a:xfrm>
                <a:off x="4999781" y="5892760"/>
                <a:ext cx="90780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3" name="Oval 72">
                    <a:extLst>
                      <a:ext uri="{FF2B5EF4-FFF2-40B4-BE49-F238E27FC236}">
                        <a16:creationId xmlns:a16="http://schemas.microsoft.com/office/drawing/2014/main" id="{2E77B033-B4CA-26D9-0F3C-A72C955E1AA2}"/>
                      </a:ext>
                    </a:extLst>
                  </p:cNvPr>
                  <p:cNvSpPr/>
                  <p:nvPr/>
                </p:nvSpPr>
                <p:spPr>
                  <a:xfrm>
                    <a:off x="5907625" y="5702260"/>
                    <a:ext cx="381000" cy="381000"/>
                  </a:xfrm>
                  <a:prstGeom prst="ellipse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3" name="Oval 72">
                    <a:extLst>
                      <a:ext uri="{FF2B5EF4-FFF2-40B4-BE49-F238E27FC236}">
                        <a16:creationId xmlns:a16="http://schemas.microsoft.com/office/drawing/2014/main" id="{2E77B033-B4CA-26D9-0F3C-A72C955E1AA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07625" y="5702260"/>
                    <a:ext cx="381000" cy="381000"/>
                  </a:xfrm>
                  <a:prstGeom prst="ellipse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9" name="Straight Arrow Connector 78">
                <a:extLst>
                  <a:ext uri="{FF2B5EF4-FFF2-40B4-BE49-F238E27FC236}">
                    <a16:creationId xmlns:a16="http://schemas.microsoft.com/office/drawing/2014/main" id="{3A3D5740-0B86-72BD-C715-7F831EB7F742}"/>
                  </a:ext>
                </a:extLst>
              </p:cNvPr>
              <p:cNvCxnSpPr>
                <a:cxnSpLocks/>
                <a:stCxn id="73" idx="6"/>
              </p:cNvCxnSpPr>
              <p:nvPr/>
            </p:nvCxnSpPr>
            <p:spPr>
              <a:xfrm>
                <a:off x="6288625" y="5892760"/>
                <a:ext cx="90780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63FC2EB1-BD9C-500D-D11C-8EFE2C782A95}"/>
                  </a:ext>
                </a:extLst>
              </p:cNvPr>
              <p:cNvSpPr txBox="1"/>
              <p:nvPr/>
            </p:nvSpPr>
            <p:spPr>
              <a:xfrm>
                <a:off x="7204076" y="5686053"/>
                <a:ext cx="3959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…</a:t>
                </a: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33CF2DCD-1A4F-80EF-7EC5-D9D7734BCBB3}"/>
                  </a:ext>
                </a:extLst>
              </p:cNvPr>
              <p:cNvSpPr/>
              <p:nvPr/>
            </p:nvSpPr>
            <p:spPr>
              <a:xfrm>
                <a:off x="3077744" y="5522666"/>
                <a:ext cx="4759686" cy="720737"/>
              </a:xfrm>
              <a:prstGeom prst="rect">
                <a:avLst/>
              </a:prstGeom>
              <a:noFill/>
              <a:ln w="19050" cap="flat" cmpd="sng" algn="ctr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3" name="Speech Bubble: Rectangle with Corners Rounded 122">
                  <a:extLst>
                    <a:ext uri="{FF2B5EF4-FFF2-40B4-BE49-F238E27FC236}">
                      <a16:creationId xmlns:a16="http://schemas.microsoft.com/office/drawing/2014/main" id="{2FEA0EFC-D3F4-D91B-15F9-10DB23356914}"/>
                    </a:ext>
                  </a:extLst>
                </p:cNvPr>
                <p:cNvSpPr/>
                <p:nvPr/>
              </p:nvSpPr>
              <p:spPr>
                <a:xfrm>
                  <a:off x="7515885" y="5208563"/>
                  <a:ext cx="1641423" cy="821386"/>
                </a:xfrm>
                <a:prstGeom prst="wedgeRoundRectCallout">
                  <a:avLst>
                    <a:gd name="adj1" fmla="val -126312"/>
                    <a:gd name="adj2" fmla="val -15062"/>
                    <a:gd name="adj3" fmla="val 16667"/>
                  </a:avLst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Subscript is time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3" name="Speech Bubble: Rectangle with Corners Rounded 122">
                  <a:extLst>
                    <a:ext uri="{FF2B5EF4-FFF2-40B4-BE49-F238E27FC236}">
                      <a16:creationId xmlns:a16="http://schemas.microsoft.com/office/drawing/2014/main" id="{2FEA0EFC-D3F4-D91B-15F9-10DB233569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15885" y="5208563"/>
                  <a:ext cx="1641423" cy="821386"/>
                </a:xfrm>
                <a:prstGeom prst="wedgeRoundRectCallout">
                  <a:avLst>
                    <a:gd name="adj1" fmla="val -126312"/>
                    <a:gd name="adj2" fmla="val -15062"/>
                    <a:gd name="adj3" fmla="val 16667"/>
                  </a:avLst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26" name="TextBox 125">
            <a:extLst>
              <a:ext uri="{FF2B5EF4-FFF2-40B4-BE49-F238E27FC236}">
                <a16:creationId xmlns:a16="http://schemas.microsoft.com/office/drawing/2014/main" id="{5FE7BA26-0A51-15B1-7D0F-5DACB67DA83D}"/>
              </a:ext>
            </a:extLst>
          </p:cNvPr>
          <p:cNvSpPr txBox="1"/>
          <p:nvPr/>
        </p:nvSpPr>
        <p:spPr>
          <a:xfrm>
            <a:off x="1136972" y="6253374"/>
            <a:ext cx="9631181" cy="36933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Note: This is called a discrete-time, stationary, 1</a:t>
            </a:r>
            <a:r>
              <a:rPr lang="en-US" baseline="30000" dirty="0"/>
              <a:t>st</a:t>
            </a:r>
            <a:r>
              <a:rPr lang="en-US" dirty="0"/>
              <a:t> –order Markov process with finite state space.</a:t>
            </a:r>
          </a:p>
        </p:txBody>
      </p:sp>
    </p:spTree>
    <p:extLst>
      <p:ext uri="{BB962C8B-B14F-4D97-AF65-F5344CB8AC3E}">
        <p14:creationId xmlns:p14="http://schemas.microsoft.com/office/powerpoint/2010/main" val="14706436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" grpId="0"/>
      <p:bldP spid="12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4A927-95BA-7D8A-1B61-379C0D091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Hidden Markov Model (HMM)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5686AE2-B932-D772-B21D-29BFAA8373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2994788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A statistical model used to predict a sequence of hidden events (states) by observing a sequence of visible outcomes defined by: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A set of hidden states: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, …,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/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A stochastic transition model: </a:t>
                </a:r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latin typeface="Cambria Math" panose="02040503050406030204" pitchFamily="18" charset="0"/>
                  </a:rPr>
                  <a:t>Pr</a:t>
                </a:r>
                <a14:m>
                  <m:oMath xmlns:m="http://schemas.openxmlformats.org/officeDocument/2006/math">
                    <m:d>
                      <m:dPr>
                        <m:endChr m:val="|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)      ∀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endParaRPr lang="en-US" dirty="0"/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A stochastic observation model: </a:t>
                </a:r>
                <a:r>
                  <a:rPr lang="en-US" dirty="0">
                    <a:latin typeface="Cambria Math" panose="02040503050406030204" pitchFamily="18" charset="0"/>
                  </a:rPr>
                  <a:t>Pr</a:t>
                </a:r>
                <a14:m>
                  <m:oMath xmlns:m="http://schemas.openxmlformats.org/officeDocument/2006/math">
                    <m:d>
                      <m:dPr>
                        <m:endChr m:val="|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>
                  <a:lnSpc>
                    <a:spcPct val="120000"/>
                  </a:lnSpc>
                </a:pPr>
                <a:r>
                  <a:rPr lang="en-US" dirty="0"/>
                  <a:t>Use: State estimation (Filtering): Find most likely state given a sequence of observations.</a:t>
                </a:r>
              </a:p>
              <a:p>
                <a:pPr lvl="1">
                  <a:lnSpc>
                    <a:spcPct val="120000"/>
                  </a:lnSpc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5686AE2-B932-D772-B21D-29BFAA8373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2994788"/>
              </a:xfrm>
              <a:blipFill>
                <a:blip r:embed="rId2"/>
                <a:stretch>
                  <a:fillRect l="-928" t="-50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7" name="Group 36">
            <a:extLst>
              <a:ext uri="{FF2B5EF4-FFF2-40B4-BE49-F238E27FC236}">
                <a16:creationId xmlns:a16="http://schemas.microsoft.com/office/drawing/2014/main" id="{77CD9D90-62B0-A388-B7E6-A1BC42CA9720}"/>
              </a:ext>
            </a:extLst>
          </p:cNvPr>
          <p:cNvGrpSpPr/>
          <p:nvPr/>
        </p:nvGrpSpPr>
        <p:grpSpPr>
          <a:xfrm>
            <a:off x="3919753" y="4447647"/>
            <a:ext cx="4810824" cy="1454047"/>
            <a:chOff x="3919753" y="4447647"/>
            <a:chExt cx="4810824" cy="1454047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D94637A-F96B-275C-13A7-CCAC288021AD}"/>
                </a:ext>
              </a:extLst>
            </p:cNvPr>
            <p:cNvGrpSpPr/>
            <p:nvPr/>
          </p:nvGrpSpPr>
          <p:grpSpPr>
            <a:xfrm>
              <a:off x="3919753" y="4447647"/>
              <a:ext cx="4759686" cy="1454047"/>
              <a:chOff x="2188389" y="4192815"/>
              <a:chExt cx="4759686" cy="1454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Oval 4">
                    <a:extLst>
                      <a:ext uri="{FF2B5EF4-FFF2-40B4-BE49-F238E27FC236}">
                        <a16:creationId xmlns:a16="http://schemas.microsoft.com/office/drawing/2014/main" id="{7670CFED-1BB8-EB3A-F3E9-EF16C9B42359}"/>
                      </a:ext>
                    </a:extLst>
                  </p:cNvPr>
                  <p:cNvSpPr/>
                  <p:nvPr/>
                </p:nvSpPr>
                <p:spPr>
                  <a:xfrm>
                    <a:off x="2445560" y="5095160"/>
                    <a:ext cx="381000" cy="381000"/>
                  </a:xfrm>
                  <a:prstGeom prst="ellipse">
                    <a:avLst/>
                  </a:prstGeom>
                  <a:ln/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5" name="Oval 4">
                    <a:extLst>
                      <a:ext uri="{FF2B5EF4-FFF2-40B4-BE49-F238E27FC236}">
                        <a16:creationId xmlns:a16="http://schemas.microsoft.com/office/drawing/2014/main" id="{7670CFED-1BB8-EB3A-F3E9-EF16C9B4235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45560" y="5095160"/>
                    <a:ext cx="381000" cy="381000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BFF7E92F-BCB4-56D2-9A25-3D49339A776D}"/>
                  </a:ext>
                </a:extLst>
              </p:cNvPr>
              <p:cNvCxnSpPr>
                <a:cxnSpLocks/>
                <a:stCxn id="5" idx="6"/>
              </p:cNvCxnSpPr>
              <p:nvPr/>
            </p:nvCxnSpPr>
            <p:spPr>
              <a:xfrm>
                <a:off x="2826560" y="5285660"/>
                <a:ext cx="90780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Oval 6">
                    <a:extLst>
                      <a:ext uri="{FF2B5EF4-FFF2-40B4-BE49-F238E27FC236}">
                        <a16:creationId xmlns:a16="http://schemas.microsoft.com/office/drawing/2014/main" id="{02067943-3223-E5FC-3082-3F91D9DA7350}"/>
                      </a:ext>
                    </a:extLst>
                  </p:cNvPr>
                  <p:cNvSpPr/>
                  <p:nvPr/>
                </p:nvSpPr>
                <p:spPr>
                  <a:xfrm>
                    <a:off x="3734364" y="5095160"/>
                    <a:ext cx="381000" cy="381000"/>
                  </a:xfrm>
                  <a:prstGeom prst="ellipse">
                    <a:avLst/>
                  </a:prstGeom>
                  <a:ln/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" name="Oval 6">
                    <a:extLst>
                      <a:ext uri="{FF2B5EF4-FFF2-40B4-BE49-F238E27FC236}">
                        <a16:creationId xmlns:a16="http://schemas.microsoft.com/office/drawing/2014/main" id="{02067943-3223-E5FC-3082-3F91D9DA735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34364" y="5095160"/>
                    <a:ext cx="381000" cy="381000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A7FEDC04-060B-B37D-46AD-2A4380696E04}"/>
                  </a:ext>
                </a:extLst>
              </p:cNvPr>
              <p:cNvCxnSpPr>
                <a:cxnSpLocks/>
                <a:stCxn id="7" idx="6"/>
              </p:cNvCxnSpPr>
              <p:nvPr/>
            </p:nvCxnSpPr>
            <p:spPr>
              <a:xfrm>
                <a:off x="4115364" y="5285660"/>
                <a:ext cx="90780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Oval 8">
                    <a:extLst>
                      <a:ext uri="{FF2B5EF4-FFF2-40B4-BE49-F238E27FC236}">
                        <a16:creationId xmlns:a16="http://schemas.microsoft.com/office/drawing/2014/main" id="{FA131044-9C02-0670-DCCE-4A2798B39C91}"/>
                      </a:ext>
                    </a:extLst>
                  </p:cNvPr>
                  <p:cNvSpPr/>
                  <p:nvPr/>
                </p:nvSpPr>
                <p:spPr>
                  <a:xfrm>
                    <a:off x="5023208" y="5095160"/>
                    <a:ext cx="381000" cy="381000"/>
                  </a:xfrm>
                  <a:prstGeom prst="ellipse">
                    <a:avLst/>
                  </a:prstGeom>
                  <a:ln/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Oval 8">
                    <a:extLst>
                      <a:ext uri="{FF2B5EF4-FFF2-40B4-BE49-F238E27FC236}">
                        <a16:creationId xmlns:a16="http://schemas.microsoft.com/office/drawing/2014/main" id="{FA131044-9C02-0670-DCCE-4A2798B39C9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23208" y="5095160"/>
                    <a:ext cx="381000" cy="381000"/>
                  </a:xfrm>
                  <a:prstGeom prst="ellipse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EA8E4E24-24AD-0E40-B9B8-E5DA66BCBF4E}"/>
                  </a:ext>
                </a:extLst>
              </p:cNvPr>
              <p:cNvCxnSpPr>
                <a:cxnSpLocks/>
                <a:stCxn id="9" idx="6"/>
              </p:cNvCxnSpPr>
              <p:nvPr/>
            </p:nvCxnSpPr>
            <p:spPr>
              <a:xfrm>
                <a:off x="5404208" y="5285660"/>
                <a:ext cx="90780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35A34F5-0490-497A-EF19-DFF85D2E977F}"/>
                  </a:ext>
                </a:extLst>
              </p:cNvPr>
              <p:cNvSpPr txBox="1"/>
              <p:nvPr/>
            </p:nvSpPr>
            <p:spPr>
              <a:xfrm>
                <a:off x="6319659" y="5078953"/>
                <a:ext cx="3959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…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FB1B7700-2D13-60AA-E00D-F5AB683CC227}"/>
                  </a:ext>
                </a:extLst>
              </p:cNvPr>
              <p:cNvSpPr/>
              <p:nvPr/>
            </p:nvSpPr>
            <p:spPr>
              <a:xfrm>
                <a:off x="2188389" y="4192815"/>
                <a:ext cx="4759686" cy="1454047"/>
              </a:xfrm>
              <a:prstGeom prst="rect">
                <a:avLst/>
              </a:prstGeom>
              <a:noFill/>
              <a:ln w="19050" cap="flat" cmpd="sng" algn="ctr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C2945A3C-74B0-2DBB-79FF-743E83BA9C00}"/>
                      </a:ext>
                    </a:extLst>
                  </p:cNvPr>
                  <p:cNvSpPr/>
                  <p:nvPr/>
                </p:nvSpPr>
                <p:spPr>
                  <a:xfrm>
                    <a:off x="2445560" y="4363518"/>
                    <a:ext cx="381000" cy="381000"/>
                  </a:xfrm>
                  <a:prstGeom prst="ellipse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5"/>
                  </a:fillRef>
                  <a:effectRef idx="1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C2945A3C-74B0-2DBB-79FF-743E83BA9C0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45560" y="4363518"/>
                    <a:ext cx="381000" cy="381000"/>
                  </a:xfrm>
                  <a:prstGeom prst="ellipse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172E9BBB-A61E-98EB-0469-815BEFE8FDA6}"/>
                  </a:ext>
                </a:extLst>
              </p:cNvPr>
              <p:cNvCxnSpPr>
                <a:stCxn id="5" idx="0"/>
                <a:endCxn id="22" idx="4"/>
              </p:cNvCxnSpPr>
              <p:nvPr/>
            </p:nvCxnSpPr>
            <p:spPr>
              <a:xfrm flipV="1">
                <a:off x="2636060" y="4744518"/>
                <a:ext cx="0" cy="35064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Oval 24">
                    <a:extLst>
                      <a:ext uri="{FF2B5EF4-FFF2-40B4-BE49-F238E27FC236}">
                        <a16:creationId xmlns:a16="http://schemas.microsoft.com/office/drawing/2014/main" id="{DEE84496-6463-B1B0-DF07-347AC5918CB2}"/>
                      </a:ext>
                    </a:extLst>
                  </p:cNvPr>
                  <p:cNvSpPr/>
                  <p:nvPr/>
                </p:nvSpPr>
                <p:spPr>
                  <a:xfrm>
                    <a:off x="5023168" y="4363518"/>
                    <a:ext cx="381000" cy="381000"/>
                  </a:xfrm>
                  <a:prstGeom prst="ellipse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5"/>
                  </a:fillRef>
                  <a:effectRef idx="1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5" name="Oval 24">
                    <a:extLst>
                      <a:ext uri="{FF2B5EF4-FFF2-40B4-BE49-F238E27FC236}">
                        <a16:creationId xmlns:a16="http://schemas.microsoft.com/office/drawing/2014/main" id="{DEE84496-6463-B1B0-DF07-347AC5918CB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23168" y="4363518"/>
                    <a:ext cx="381000" cy="381000"/>
                  </a:xfrm>
                  <a:prstGeom prst="ellipse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Oval 25">
                    <a:extLst>
                      <a:ext uri="{FF2B5EF4-FFF2-40B4-BE49-F238E27FC236}">
                        <a16:creationId xmlns:a16="http://schemas.microsoft.com/office/drawing/2014/main" id="{383E718D-49C0-8801-E1B3-6EF5B7C9E749}"/>
                      </a:ext>
                    </a:extLst>
                  </p:cNvPr>
                  <p:cNvSpPr/>
                  <p:nvPr/>
                </p:nvSpPr>
                <p:spPr>
                  <a:xfrm>
                    <a:off x="3734364" y="4363518"/>
                    <a:ext cx="381000" cy="381000"/>
                  </a:xfrm>
                  <a:prstGeom prst="ellipse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5"/>
                  </a:fillRef>
                  <a:effectRef idx="1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6" name="Oval 25">
                    <a:extLst>
                      <a:ext uri="{FF2B5EF4-FFF2-40B4-BE49-F238E27FC236}">
                        <a16:creationId xmlns:a16="http://schemas.microsoft.com/office/drawing/2014/main" id="{383E718D-49C0-8801-E1B3-6EF5B7C9E74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34364" y="4363518"/>
                    <a:ext cx="381000" cy="381000"/>
                  </a:xfrm>
                  <a:prstGeom prst="ellipse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4710BFC6-C1B6-DBEF-1DB4-493D356BF706}"/>
                  </a:ext>
                </a:extLst>
              </p:cNvPr>
              <p:cNvCxnSpPr>
                <a:cxnSpLocks/>
                <a:stCxn id="7" idx="0"/>
                <a:endCxn id="26" idx="4"/>
              </p:cNvCxnSpPr>
              <p:nvPr/>
            </p:nvCxnSpPr>
            <p:spPr>
              <a:xfrm flipV="1">
                <a:off x="3924864" y="4744518"/>
                <a:ext cx="0" cy="35064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AFC3ED8D-BFF7-1392-553A-C408C6D8B6E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221163" y="4744518"/>
                <a:ext cx="40" cy="35064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10B2624F-D32F-B006-F675-51AFABC9D89B}"/>
                  </a:ext>
                </a:extLst>
              </p:cNvPr>
              <p:cNvSpPr/>
              <p:nvPr/>
            </p:nvSpPr>
            <p:spPr>
              <a:xfrm>
                <a:off x="2286000" y="5006715"/>
                <a:ext cx="4564465" cy="554636"/>
              </a:xfrm>
              <a:prstGeom prst="rect">
                <a:avLst/>
              </a:prstGeom>
              <a:solidFill>
                <a:srgbClr val="747474">
                  <a:alpha val="50196"/>
                </a:srgbClr>
              </a:solidFill>
              <a:ln>
                <a:noFill/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36894D6-C62C-18ED-B8B4-49E558319135}"/>
                </a:ext>
              </a:extLst>
            </p:cNvPr>
            <p:cNvSpPr txBox="1"/>
            <p:nvPr/>
          </p:nvSpPr>
          <p:spPr>
            <a:xfrm>
              <a:off x="7925049" y="4469650"/>
              <a:ext cx="80552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HMM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522139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CC91D-5DF9-1FC2-2816-989A13B06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0B64B-329D-5981-5D6B-A06BDF5736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Markov Decision Process (MDP)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8A2157-F99A-01D6-0534-94E00339C91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79260" y="1373999"/>
                <a:ext cx="7040943" cy="3018119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Finite MDPs are discrete-time stochastic control processes defined by: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A finite set of </a:t>
                </a:r>
                <a:r>
                  <a:rPr lang="en-US" b="1" dirty="0"/>
                  <a:t>states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…,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/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A set of available </a:t>
                </a:r>
                <a:r>
                  <a:rPr lang="en-US" b="1" dirty="0"/>
                  <a:t>actions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 ∀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A </a:t>
                </a:r>
                <a:r>
                  <a:rPr lang="en-US" b="1" dirty="0"/>
                  <a:t>transition model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A </a:t>
                </a:r>
                <a:r>
                  <a:rPr lang="en-US" b="1" dirty="0"/>
                  <a:t>reward function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/>
                  <a:t> where the immediate reward depends on the current state and action (often modeled as 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dirty="0"/>
                  <a:t>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8A2157-F99A-01D6-0534-94E00339C9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79260" y="1373999"/>
                <a:ext cx="7040943" cy="3018119"/>
              </a:xfrm>
              <a:blipFill>
                <a:blip r:embed="rId3"/>
                <a:stretch>
                  <a:fillRect l="-1558" t="-5051" r="-2165" b="-8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9" name="Group 48" descr="A MDP shown as a graph with states connected by action arrows.">
            <a:extLst>
              <a:ext uri="{FF2B5EF4-FFF2-40B4-BE49-F238E27FC236}">
                <a16:creationId xmlns:a16="http://schemas.microsoft.com/office/drawing/2014/main" id="{865370CB-16C0-CB6B-FAF4-7A6A4707480C}"/>
              </a:ext>
            </a:extLst>
          </p:cNvPr>
          <p:cNvGrpSpPr/>
          <p:nvPr/>
        </p:nvGrpSpPr>
        <p:grpSpPr>
          <a:xfrm>
            <a:off x="8022597" y="1796469"/>
            <a:ext cx="3290143" cy="2621615"/>
            <a:chOff x="7946052" y="2800566"/>
            <a:chExt cx="3941148" cy="309751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773695EE-CFA5-D347-0E54-9A063511322D}"/>
                    </a:ext>
                  </a:extLst>
                </p:cNvPr>
                <p:cNvSpPr/>
                <p:nvPr/>
              </p:nvSpPr>
              <p:spPr>
                <a:xfrm>
                  <a:off x="8249162" y="3419487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CF79983A-CC8B-1C9B-61BD-A8B95DEE9F1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9162" y="3419487"/>
                  <a:ext cx="381000" cy="381000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B21D2145-5189-CEFE-6311-FC118AA8F372}"/>
                    </a:ext>
                  </a:extLst>
                </p:cNvPr>
                <p:cNvSpPr/>
                <p:nvPr/>
              </p:nvSpPr>
              <p:spPr>
                <a:xfrm>
                  <a:off x="10154162" y="3408877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7A0FEBA4-CCFB-34EB-F0E6-8EE13E477B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54162" y="3408877"/>
                  <a:ext cx="381000" cy="381000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490AA374-2A90-E46C-AA43-55893B444CFF}"/>
                    </a:ext>
                  </a:extLst>
                </p:cNvPr>
                <p:cNvSpPr/>
                <p:nvPr/>
              </p:nvSpPr>
              <p:spPr>
                <a:xfrm>
                  <a:off x="9773162" y="5034768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0930646F-4C58-99C9-9F42-1645EDB3E21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73162" y="5034768"/>
                  <a:ext cx="381000" cy="381000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Connector: Curved 12">
              <a:extLst>
                <a:ext uri="{FF2B5EF4-FFF2-40B4-BE49-F238E27FC236}">
                  <a16:creationId xmlns:a16="http://schemas.microsoft.com/office/drawing/2014/main" id="{13546944-8B96-C5D8-574F-7E30B68E7064}"/>
                </a:ext>
              </a:extLst>
            </p:cNvPr>
            <p:cNvCxnSpPr>
              <a:cxnSpLocks/>
              <a:stCxn id="4" idx="7"/>
              <a:endCxn id="5" idx="1"/>
            </p:cNvCxnSpPr>
            <p:nvPr/>
          </p:nvCxnSpPr>
          <p:spPr>
            <a:xfrm rot="5400000" flipH="1" flipV="1">
              <a:off x="9386857" y="2652182"/>
              <a:ext cx="10610" cy="1635592"/>
            </a:xfrm>
            <a:prstGeom prst="curvedConnector3">
              <a:avLst>
                <a:gd name="adj1" fmla="val 2780452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: Curved 14">
              <a:extLst>
                <a:ext uri="{FF2B5EF4-FFF2-40B4-BE49-F238E27FC236}">
                  <a16:creationId xmlns:a16="http://schemas.microsoft.com/office/drawing/2014/main" id="{BB6AAFB3-E14A-34FD-12AC-D7ECBAFCD84C}"/>
                </a:ext>
              </a:extLst>
            </p:cNvPr>
            <p:cNvCxnSpPr>
              <a:cxnSpLocks/>
              <a:stCxn id="5" idx="3"/>
              <a:endCxn id="4" idx="5"/>
            </p:cNvCxnSpPr>
            <p:nvPr/>
          </p:nvCxnSpPr>
          <p:spPr>
            <a:xfrm rot="5400000">
              <a:off x="9386857" y="2921590"/>
              <a:ext cx="10610" cy="1635592"/>
            </a:xfrm>
            <a:prstGeom prst="curvedConnector3">
              <a:avLst>
                <a:gd name="adj1" fmla="val 2780452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: Curved 18">
              <a:extLst>
                <a:ext uri="{FF2B5EF4-FFF2-40B4-BE49-F238E27FC236}">
                  <a16:creationId xmlns:a16="http://schemas.microsoft.com/office/drawing/2014/main" id="{19F334B9-DE31-76B4-47D1-A266095293CA}"/>
                </a:ext>
              </a:extLst>
            </p:cNvPr>
            <p:cNvCxnSpPr>
              <a:cxnSpLocks/>
              <a:stCxn id="5" idx="7"/>
              <a:endCxn id="5" idx="5"/>
            </p:cNvCxnSpPr>
            <p:nvPr/>
          </p:nvCxnSpPr>
          <p:spPr>
            <a:xfrm rot="16200000" flipH="1">
              <a:off x="10344662" y="3599377"/>
              <a:ext cx="269408" cy="12700"/>
            </a:xfrm>
            <a:prstGeom prst="curvedConnector5">
              <a:avLst>
                <a:gd name="adj1" fmla="val -84853"/>
                <a:gd name="adj2" fmla="val 4360661"/>
                <a:gd name="adj3" fmla="val 1848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5CE87BEC-AF6B-2B13-ADE1-BF0ADDF80F5D}"/>
                </a:ext>
              </a:extLst>
            </p:cNvPr>
            <p:cNvCxnSpPr>
              <a:stCxn id="5" idx="4"/>
              <a:endCxn id="6" idx="0"/>
            </p:cNvCxnSpPr>
            <p:nvPr/>
          </p:nvCxnSpPr>
          <p:spPr>
            <a:xfrm flipH="1">
              <a:off x="9963662" y="3789877"/>
              <a:ext cx="381000" cy="124489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70AA8CC-4760-79B0-1E00-3EFC7848D71D}"/>
                    </a:ext>
                  </a:extLst>
                </p:cNvPr>
                <p:cNvSpPr txBox="1"/>
                <p:nvPr/>
              </p:nvSpPr>
              <p:spPr>
                <a:xfrm>
                  <a:off x="9214430" y="2811831"/>
                  <a:ext cx="515683" cy="40001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70AA8CC-4760-79B0-1E00-3EFC7848D7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14430" y="2811831"/>
                  <a:ext cx="515683" cy="400011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F95DA36C-6B11-262D-0481-3E3DBC0EF454}"/>
                </a:ext>
              </a:extLst>
            </p:cNvPr>
            <p:cNvSpPr txBox="1"/>
            <p:nvPr/>
          </p:nvSpPr>
          <p:spPr>
            <a:xfrm>
              <a:off x="8594716" y="2943280"/>
              <a:ext cx="337590" cy="4000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accent3"/>
                  </a:solidFill>
                </a:rPr>
                <a:t>1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1AF9680-C855-05AB-BF11-2898B64E2213}"/>
                </a:ext>
              </a:extLst>
            </p:cNvPr>
            <p:cNvSpPr txBox="1"/>
            <p:nvPr/>
          </p:nvSpPr>
          <p:spPr>
            <a:xfrm>
              <a:off x="9183125" y="3192427"/>
              <a:ext cx="530432" cy="4000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accent2"/>
                  </a:solidFill>
                </a:rPr>
                <a:t>10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CB5DCBBB-0BBE-6433-13A6-801055DB1613}"/>
                    </a:ext>
                  </a:extLst>
                </p:cNvPr>
                <p:cNvSpPr txBox="1"/>
                <p:nvPr/>
              </p:nvSpPr>
              <p:spPr>
                <a:xfrm>
                  <a:off x="9240412" y="4017591"/>
                  <a:ext cx="521367" cy="40001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CB5DCBBB-0BBE-6433-13A6-801055DB16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40412" y="4017591"/>
                  <a:ext cx="521367" cy="400011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1563EEF2-DE47-D896-2E50-1A9247238540}"/>
                    </a:ext>
                  </a:extLst>
                </p:cNvPr>
                <p:cNvSpPr txBox="1"/>
                <p:nvPr/>
              </p:nvSpPr>
              <p:spPr>
                <a:xfrm>
                  <a:off x="10110751" y="4263294"/>
                  <a:ext cx="515683" cy="40001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1563EEF2-DE47-D896-2E50-1A92472385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10751" y="4263294"/>
                  <a:ext cx="515683" cy="400011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BA9E7475-B11F-57C7-A012-6267B85DDAE0}"/>
                    </a:ext>
                  </a:extLst>
                </p:cNvPr>
                <p:cNvSpPr txBox="1"/>
                <p:nvPr/>
              </p:nvSpPr>
              <p:spPr>
                <a:xfrm>
                  <a:off x="10984391" y="3406445"/>
                  <a:ext cx="521367" cy="40001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BA9E7475-B11F-57C7-A012-6267B85DDA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84391" y="3406445"/>
                  <a:ext cx="521367" cy="40001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CFB60E5-2B1D-A2C4-A39A-7685E10076E7}"/>
                </a:ext>
              </a:extLst>
            </p:cNvPr>
            <p:cNvSpPr txBox="1"/>
            <p:nvPr/>
          </p:nvSpPr>
          <p:spPr>
            <a:xfrm>
              <a:off x="9590284" y="3942924"/>
              <a:ext cx="467820" cy="4000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accent3"/>
                  </a:solidFill>
                </a:rPr>
                <a:t>.5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C589BEE-80A6-3C4E-2967-5B08A5D24D05}"/>
                </a:ext>
              </a:extLst>
            </p:cNvPr>
            <p:cNvSpPr txBox="1"/>
            <p:nvPr/>
          </p:nvSpPr>
          <p:spPr>
            <a:xfrm>
              <a:off x="10578572" y="2927671"/>
              <a:ext cx="467819" cy="4000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accent3"/>
                  </a:solidFill>
                </a:rPr>
                <a:t>.5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E5B659CF-7FBA-AFF0-ACE5-0A44570E3809}"/>
                </a:ext>
              </a:extLst>
            </p:cNvPr>
            <p:cNvSpPr txBox="1"/>
            <p:nvPr/>
          </p:nvSpPr>
          <p:spPr>
            <a:xfrm>
              <a:off x="10197572" y="3913114"/>
              <a:ext cx="467819" cy="4000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accent3"/>
                  </a:solidFill>
                </a:rPr>
                <a:t>1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67D9260-6EC3-D37E-0337-D794A61F52ED}"/>
                </a:ext>
              </a:extLst>
            </p:cNvPr>
            <p:cNvSpPr txBox="1"/>
            <p:nvPr/>
          </p:nvSpPr>
          <p:spPr>
            <a:xfrm>
              <a:off x="10975769" y="3745663"/>
              <a:ext cx="530432" cy="4000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accent2"/>
                  </a:solidFill>
                </a:rPr>
                <a:t>10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D3A53EF5-CE45-CF3E-9B5E-335C411B7E2B}"/>
                </a:ext>
              </a:extLst>
            </p:cNvPr>
            <p:cNvSpPr txBox="1"/>
            <p:nvPr/>
          </p:nvSpPr>
          <p:spPr>
            <a:xfrm>
              <a:off x="9267088" y="3709878"/>
              <a:ext cx="530432" cy="4000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accent2"/>
                  </a:solidFill>
                </a:rPr>
                <a:t>-5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E65FAA4-D92B-C1B9-916E-69BDC1416C9B}"/>
                </a:ext>
              </a:extLst>
            </p:cNvPr>
            <p:cNvSpPr txBox="1"/>
            <p:nvPr/>
          </p:nvSpPr>
          <p:spPr>
            <a:xfrm>
              <a:off x="9517581" y="4482628"/>
              <a:ext cx="769510" cy="4000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accent2"/>
                  </a:solidFill>
                </a:rPr>
                <a:t>100</a:t>
              </a:r>
            </a:p>
          </p:txBody>
        </p:sp>
        <p:cxnSp>
          <p:nvCxnSpPr>
            <p:cNvPr id="42" name="Connector: Curved 41">
              <a:extLst>
                <a:ext uri="{FF2B5EF4-FFF2-40B4-BE49-F238E27FC236}">
                  <a16:creationId xmlns:a16="http://schemas.microsoft.com/office/drawing/2014/main" id="{B1F6F2C0-2BAF-2B06-77CD-751CF81F2BFB}"/>
                </a:ext>
              </a:extLst>
            </p:cNvPr>
            <p:cNvCxnSpPr>
              <a:cxnSpLocks/>
              <a:stCxn id="6" idx="7"/>
              <a:endCxn id="6" idx="5"/>
            </p:cNvCxnSpPr>
            <p:nvPr/>
          </p:nvCxnSpPr>
          <p:spPr>
            <a:xfrm rot="16200000" flipH="1">
              <a:off x="9963662" y="5225268"/>
              <a:ext cx="269408" cy="12700"/>
            </a:xfrm>
            <a:prstGeom prst="curvedConnector5">
              <a:avLst>
                <a:gd name="adj1" fmla="val -84853"/>
                <a:gd name="adj2" fmla="val 4360661"/>
                <a:gd name="adj3" fmla="val 1848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E3541C6D-B478-DE81-D7C2-A84F7B3A269C}"/>
                    </a:ext>
                  </a:extLst>
                </p:cNvPr>
                <p:cNvSpPr txBox="1"/>
                <p:nvPr/>
              </p:nvSpPr>
              <p:spPr>
                <a:xfrm>
                  <a:off x="10589411" y="4995359"/>
                  <a:ext cx="856785" cy="40001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E3541C6D-B478-DE81-D7C2-A84F7B3A26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89411" y="4995359"/>
                  <a:ext cx="856785" cy="400011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C7ADA4D-5E31-CCAB-BB07-8C29F0F4CDE6}"/>
                </a:ext>
              </a:extLst>
            </p:cNvPr>
            <p:cNvSpPr txBox="1"/>
            <p:nvPr/>
          </p:nvSpPr>
          <p:spPr>
            <a:xfrm>
              <a:off x="10471394" y="5498068"/>
              <a:ext cx="530432" cy="4000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accent2"/>
                  </a:solidFill>
                </a:rPr>
                <a:t>0</a:t>
              </a: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11732642-F447-B526-75DA-05E010BAD70B}"/>
                </a:ext>
              </a:extLst>
            </p:cNvPr>
            <p:cNvSpPr/>
            <p:nvPr/>
          </p:nvSpPr>
          <p:spPr>
            <a:xfrm>
              <a:off x="7946052" y="2800566"/>
              <a:ext cx="3941148" cy="3066833"/>
            </a:xfrm>
            <a:prstGeom prst="rect">
              <a:avLst/>
            </a:prstGeom>
            <a:noFill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A97F0D86-83DF-9BB0-4617-1FDEAFDBA88A}"/>
                    </a:ext>
                  </a:extLst>
                </p:cNvPr>
                <p:cNvSpPr txBox="1"/>
                <p:nvPr/>
              </p:nvSpPr>
              <p:spPr>
                <a:xfrm>
                  <a:off x="8115261" y="4906930"/>
                  <a:ext cx="1236254" cy="6909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1" i="1" dirty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  <m:d>
                          <m:dPr>
                            <m:endChr m:val="|"/>
                            <m:ctrlPr>
                              <a:rPr lang="en-US" sz="1600" b="1" i="1" dirty="0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1" i="1" dirty="0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𝒔</m:t>
                            </m:r>
                            <m:r>
                              <a:rPr lang="en-US" sz="1600" b="1" i="1" dirty="0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’</m:t>
                            </m:r>
                          </m:e>
                        </m:d>
                        <m:r>
                          <a:rPr lang="en-US" sz="1600" b="1" i="1" dirty="0" err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  <m:r>
                          <a:rPr lang="en-US" sz="1600" b="1" i="1" dirty="0" err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b="1" i="1" dirty="0" err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sz="1600" b="1" i="1" dirty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b="1" dirty="0">
                    <a:solidFill>
                      <a:schemeClr val="accent3"/>
                    </a:solidFill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1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  <m:r>
                          <a:rPr lang="en-US" sz="1600" b="1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b="1" i="1" dirty="0" err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  <m:r>
                          <a:rPr lang="en-US" sz="1600" b="1" i="1" dirty="0" err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b="1" i="1" dirty="0" err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sz="1600" b="1" i="1" dirty="0" err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b="1" i="1" dirty="0" err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  <m:r>
                          <a:rPr lang="en-US" sz="1600" b="1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’)</m:t>
                        </m:r>
                      </m:oMath>
                    </m:oMathPara>
                  </a14:m>
                  <a:endParaRPr lang="en-US" sz="1600" b="1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A97F0D86-83DF-9BB0-4617-1FDEAFDBA8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15261" y="4906930"/>
                  <a:ext cx="1236254" cy="690928"/>
                </a:xfrm>
                <a:prstGeom prst="rect">
                  <a:avLst/>
                </a:prstGeom>
                <a:blipFill>
                  <a:blip r:embed="rId12"/>
                  <a:stretch>
                    <a:fillRect b="-520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55149508-616A-F2FC-2415-0DEBE5CC3D50}"/>
              </a:ext>
            </a:extLst>
          </p:cNvPr>
          <p:cNvSpPr txBox="1"/>
          <p:nvPr/>
        </p:nvSpPr>
        <p:spPr>
          <a:xfrm>
            <a:off x="8305239" y="1391299"/>
            <a:ext cx="3017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Example MDP as a Graph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A11C1FAA-D9D4-C960-8D26-D4079588ECAC}"/>
                  </a:ext>
                </a:extLst>
              </p:cNvPr>
              <p:cNvSpPr txBox="1"/>
              <p:nvPr/>
            </p:nvSpPr>
            <p:spPr>
              <a:xfrm>
                <a:off x="1026399" y="4338172"/>
                <a:ext cx="6861454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b="1" dirty="0"/>
                  <a:t>Trajectory as a</a:t>
                </a:r>
                <a:r>
                  <a:rPr lang="en-US" b="1" dirty="0"/>
                  <a:t> Markov decision process “unrolled”  over time:</a:t>
                </a:r>
                <a:endParaRPr lang="en-US" sz="1800" b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,…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A11C1FAA-D9D4-C960-8D26-D4079588EC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6399" y="4338172"/>
                <a:ext cx="6861454" cy="646331"/>
              </a:xfrm>
              <a:prstGeom prst="rect">
                <a:avLst/>
              </a:prstGeom>
              <a:blipFill>
                <a:blip r:embed="rId22"/>
                <a:stretch>
                  <a:fillRect l="-710" t="-47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C817F66B-E598-96D3-D734-23EED1D1C639}"/>
              </a:ext>
            </a:extLst>
          </p:cNvPr>
          <p:cNvGrpSpPr/>
          <p:nvPr/>
        </p:nvGrpSpPr>
        <p:grpSpPr>
          <a:xfrm>
            <a:off x="3859412" y="4883130"/>
            <a:ext cx="7579944" cy="1629572"/>
            <a:chOff x="3859412" y="4883130"/>
            <a:chExt cx="7579944" cy="1629572"/>
          </a:xfrm>
        </p:grpSpPr>
        <p:sp>
          <p:nvSpPr>
            <p:cNvPr id="10" name="Speech Bubble: Rectangle with Corners Rounded 9">
              <a:extLst>
                <a:ext uri="{FF2B5EF4-FFF2-40B4-BE49-F238E27FC236}">
                  <a16:creationId xmlns:a16="http://schemas.microsoft.com/office/drawing/2014/main" id="{0CA47357-AF7F-7B71-432F-6BE65DA78431}"/>
                </a:ext>
              </a:extLst>
            </p:cNvPr>
            <p:cNvSpPr/>
            <p:nvPr/>
          </p:nvSpPr>
          <p:spPr>
            <a:xfrm>
              <a:off x="3859412" y="5888416"/>
              <a:ext cx="1858883" cy="604458"/>
            </a:xfrm>
            <a:prstGeom prst="wedgeRoundRectCallout">
              <a:avLst>
                <a:gd name="adj1" fmla="val 133904"/>
                <a:gd name="adj2" fmla="val 23031"/>
                <a:gd name="adj3" fmla="val 16667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Arrow show dependencies</a:t>
              </a:r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4B34CECD-4CB3-1EBA-7363-F817D365CC9D}"/>
                </a:ext>
              </a:extLst>
            </p:cNvPr>
            <p:cNvGrpSpPr/>
            <p:nvPr/>
          </p:nvGrpSpPr>
          <p:grpSpPr>
            <a:xfrm>
              <a:off x="6563249" y="4883130"/>
              <a:ext cx="4876107" cy="1629572"/>
              <a:chOff x="6563249" y="4883130"/>
              <a:chExt cx="4876107" cy="1629572"/>
            </a:xfrm>
          </p:grpSpPr>
          <p:grpSp>
            <p:nvGrpSpPr>
              <p:cNvPr id="83" name="Group 82">
                <a:extLst>
                  <a:ext uri="{FF2B5EF4-FFF2-40B4-BE49-F238E27FC236}">
                    <a16:creationId xmlns:a16="http://schemas.microsoft.com/office/drawing/2014/main" id="{5B6F3DF1-74EE-5ECB-8133-112CF87DFA50}"/>
                  </a:ext>
                </a:extLst>
              </p:cNvPr>
              <p:cNvGrpSpPr/>
              <p:nvPr/>
            </p:nvGrpSpPr>
            <p:grpSpPr>
              <a:xfrm>
                <a:off x="6563249" y="4883130"/>
                <a:ext cx="4759686" cy="1629572"/>
                <a:chOff x="3160518" y="4817835"/>
                <a:chExt cx="4759686" cy="1629572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" name="Oval 6">
                      <a:extLst>
                        <a:ext uri="{FF2B5EF4-FFF2-40B4-BE49-F238E27FC236}">
                          <a16:creationId xmlns:a16="http://schemas.microsoft.com/office/drawing/2014/main" id="{3A1E1E07-E971-6A0D-ECFA-93F1E9E3059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412751" y="5442121"/>
                      <a:ext cx="381000" cy="381000"/>
                    </a:xfrm>
                    <a:prstGeom prst="ellipse">
                      <a:avLst/>
                    </a:prstGeom>
                  </p:spPr>
                  <p:style>
                    <a:lnRef idx="3">
                      <a:schemeClr val="lt1"/>
                    </a:lnRef>
                    <a:fillRef idx="1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7" name="Oval 6">
                      <a:extLst>
                        <a:ext uri="{FF2B5EF4-FFF2-40B4-BE49-F238E27FC236}">
                          <a16:creationId xmlns:a16="http://schemas.microsoft.com/office/drawing/2014/main" id="{3A1E1E07-E971-6A0D-ECFA-93F1E9E3059B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12751" y="5442121"/>
                      <a:ext cx="381000" cy="381000"/>
                    </a:xfrm>
                    <a:prstGeom prst="ellipse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" name="Flowchart: Decision 8">
                      <a:extLst>
                        <a:ext uri="{FF2B5EF4-FFF2-40B4-BE49-F238E27FC236}">
                          <a16:creationId xmlns:a16="http://schemas.microsoft.com/office/drawing/2014/main" id="{F5E2D65E-63C1-B021-34F0-4BE3D92DB58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79710" y="4920378"/>
                      <a:ext cx="635194" cy="414210"/>
                    </a:xfrm>
                    <a:prstGeom prst="flowChartDecision">
                      <a:avLst/>
                    </a:prstGeom>
                  </p:spPr>
                  <p:style>
                    <a:lnRef idx="3">
                      <a:schemeClr val="lt1"/>
                    </a:lnRef>
                    <a:fillRef idx="1">
                      <a:schemeClr val="accent3"/>
                    </a:fillRef>
                    <a:effectRef idx="1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𝑜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9" name="Flowchart: Decision 8">
                      <a:extLst>
                        <a:ext uri="{FF2B5EF4-FFF2-40B4-BE49-F238E27FC236}">
                          <a16:creationId xmlns:a16="http://schemas.microsoft.com/office/drawing/2014/main" id="{F5E2D65E-63C1-B021-34F0-4BE3D92DB58B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79710" y="4920378"/>
                      <a:ext cx="635194" cy="414210"/>
                    </a:xfrm>
                    <a:prstGeom prst="flowChartDecision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Rectangle 11">
                      <a:extLst>
                        <a:ext uri="{FF2B5EF4-FFF2-40B4-BE49-F238E27FC236}">
                          <a16:creationId xmlns:a16="http://schemas.microsoft.com/office/drawing/2014/main" id="{EA30D281-AE29-40AA-EFE2-094FCA41388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695871" y="6013621"/>
                      <a:ext cx="404849" cy="294652"/>
                    </a:xfrm>
                    <a:prstGeom prst="rect">
                      <a:avLst/>
                    </a:prstGeom>
                  </p:spPr>
                  <p:style>
                    <a:lnRef idx="3">
                      <a:schemeClr val="lt1"/>
                    </a:lnRef>
                    <a:fillRef idx="1">
                      <a:schemeClr val="accent2"/>
                    </a:fillRef>
                    <a:effectRef idx="1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2" name="Rectangle 11">
                      <a:extLst>
                        <a:ext uri="{FF2B5EF4-FFF2-40B4-BE49-F238E27FC236}">
                          <a16:creationId xmlns:a16="http://schemas.microsoft.com/office/drawing/2014/main" id="{EA30D281-AE29-40AA-EFE2-094FCA41388E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95871" y="6013621"/>
                      <a:ext cx="404849" cy="294652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b="-566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6" name="Straight Arrow Connector 15">
                  <a:extLst>
                    <a:ext uri="{FF2B5EF4-FFF2-40B4-BE49-F238E27FC236}">
                      <a16:creationId xmlns:a16="http://schemas.microsoft.com/office/drawing/2014/main" id="{FA42ECFB-A2F4-52C1-EC43-6110DAA21922}"/>
                    </a:ext>
                  </a:extLst>
                </p:cNvPr>
                <p:cNvCxnSpPr>
                  <a:cxnSpLocks/>
                  <a:stCxn id="7" idx="0"/>
                  <a:endCxn id="9" idx="1"/>
                </p:cNvCxnSpPr>
                <p:nvPr/>
              </p:nvCxnSpPr>
              <p:spPr>
                <a:xfrm flipV="1">
                  <a:off x="3603251" y="5127483"/>
                  <a:ext cx="276459" cy="314638"/>
                </a:xfrm>
                <a:prstGeom prst="straightConnector1">
                  <a:avLst/>
                </a:prstGeom>
                <a:ln>
                  <a:solidFill>
                    <a:schemeClr val="accent3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Arrow Connector 16">
                  <a:extLst>
                    <a:ext uri="{FF2B5EF4-FFF2-40B4-BE49-F238E27FC236}">
                      <a16:creationId xmlns:a16="http://schemas.microsoft.com/office/drawing/2014/main" id="{1DFB087F-7637-9C56-CA14-2ECCE220323E}"/>
                    </a:ext>
                  </a:extLst>
                </p:cNvPr>
                <p:cNvCxnSpPr>
                  <a:cxnSpLocks/>
                  <a:stCxn id="7" idx="5"/>
                  <a:endCxn id="12" idx="1"/>
                </p:cNvCxnSpPr>
                <p:nvPr/>
              </p:nvCxnSpPr>
              <p:spPr>
                <a:xfrm>
                  <a:off x="3737955" y="5767325"/>
                  <a:ext cx="957916" cy="393622"/>
                </a:xfrm>
                <a:prstGeom prst="straightConnector1">
                  <a:avLst/>
                </a:prstGeom>
                <a:ln>
                  <a:solidFill>
                    <a:schemeClr val="accent2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Arrow Connector 20">
                  <a:extLst>
                    <a:ext uri="{FF2B5EF4-FFF2-40B4-BE49-F238E27FC236}">
                      <a16:creationId xmlns:a16="http://schemas.microsoft.com/office/drawing/2014/main" id="{D3E32970-1B82-B141-4C56-50D48316EC9C}"/>
                    </a:ext>
                  </a:extLst>
                </p:cNvPr>
                <p:cNvCxnSpPr>
                  <a:cxnSpLocks/>
                  <a:stCxn id="9" idx="2"/>
                  <a:endCxn id="12" idx="0"/>
                </p:cNvCxnSpPr>
                <p:nvPr/>
              </p:nvCxnSpPr>
              <p:spPr>
                <a:xfrm>
                  <a:off x="4197307" y="5334588"/>
                  <a:ext cx="700989" cy="679033"/>
                </a:xfrm>
                <a:prstGeom prst="straightConnector1">
                  <a:avLst/>
                </a:prstGeom>
                <a:ln>
                  <a:solidFill>
                    <a:schemeClr val="accent2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C8886D5D-F559-F39A-0B87-96EC30F30234}"/>
                    </a:ext>
                  </a:extLst>
                </p:cNvPr>
                <p:cNvCxnSpPr>
                  <a:cxnSpLocks/>
                  <a:stCxn id="7" idx="6"/>
                </p:cNvCxnSpPr>
                <p:nvPr/>
              </p:nvCxnSpPr>
              <p:spPr>
                <a:xfrm>
                  <a:off x="3793751" y="5632621"/>
                  <a:ext cx="907804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AA9567DD-4FF4-B1C5-433F-12CE4D58A7B4}"/>
                    </a:ext>
                  </a:extLst>
                </p:cNvPr>
                <p:cNvCxnSpPr>
                  <a:cxnSpLocks/>
                  <a:stCxn id="9" idx="3"/>
                </p:cNvCxnSpPr>
                <p:nvPr/>
              </p:nvCxnSpPr>
              <p:spPr>
                <a:xfrm>
                  <a:off x="4514904" y="5127483"/>
                  <a:ext cx="242447" cy="37043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5" name="Oval 64">
                      <a:extLst>
                        <a:ext uri="{FF2B5EF4-FFF2-40B4-BE49-F238E27FC236}">
                          <a16:creationId xmlns:a16="http://schemas.microsoft.com/office/drawing/2014/main" id="{53F1F228-3027-AA8B-5A7F-2391C71ED3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701555" y="5442121"/>
                      <a:ext cx="381000" cy="381000"/>
                    </a:xfrm>
                    <a:prstGeom prst="ellipse">
                      <a:avLst/>
                    </a:prstGeom>
                  </p:spPr>
                  <p:style>
                    <a:lnRef idx="3">
                      <a:schemeClr val="lt1"/>
                    </a:lnRef>
                    <a:fillRef idx="1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65" name="Oval 64">
                      <a:extLst>
                        <a:ext uri="{FF2B5EF4-FFF2-40B4-BE49-F238E27FC236}">
                          <a16:creationId xmlns:a16="http://schemas.microsoft.com/office/drawing/2014/main" id="{53F1F228-3027-AA8B-5A7F-2391C71ED3C6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701555" y="5442121"/>
                      <a:ext cx="381000" cy="381000"/>
                    </a:xfrm>
                    <a:prstGeom prst="ellipse">
                      <a:avLst/>
                    </a:prstGeom>
                    <a:blipFill>
                      <a:blip r:embed="rId1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6" name="Flowchart: Decision 65">
                      <a:extLst>
                        <a:ext uri="{FF2B5EF4-FFF2-40B4-BE49-F238E27FC236}">
                          <a16:creationId xmlns:a16="http://schemas.microsoft.com/office/drawing/2014/main" id="{905E9155-1C58-F969-693B-0005EFA07CC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168514" y="4920378"/>
                      <a:ext cx="635194" cy="414210"/>
                    </a:xfrm>
                    <a:prstGeom prst="flowChartDecision">
                      <a:avLst/>
                    </a:prstGeom>
                  </p:spPr>
                  <p:style>
                    <a:lnRef idx="3">
                      <a:schemeClr val="lt1"/>
                    </a:lnRef>
                    <a:fillRef idx="1">
                      <a:schemeClr val="accent3"/>
                    </a:fillRef>
                    <a:effectRef idx="1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66" name="Flowchart: Decision 65">
                      <a:extLst>
                        <a:ext uri="{FF2B5EF4-FFF2-40B4-BE49-F238E27FC236}">
                          <a16:creationId xmlns:a16="http://schemas.microsoft.com/office/drawing/2014/main" id="{905E9155-1C58-F969-693B-0005EFA07CCB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168514" y="4920378"/>
                      <a:ext cx="635194" cy="414210"/>
                    </a:xfrm>
                    <a:prstGeom prst="flowChartDecision">
                      <a:avLst/>
                    </a:prstGeom>
                    <a:blipFill>
                      <a:blip r:embed="rId1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7" name="Rectangle 66">
                      <a:extLst>
                        <a:ext uri="{FF2B5EF4-FFF2-40B4-BE49-F238E27FC236}">
                          <a16:creationId xmlns:a16="http://schemas.microsoft.com/office/drawing/2014/main" id="{2FB5DC9A-FC55-3666-89A8-B0DF1C0B33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005079" y="6013621"/>
                      <a:ext cx="404849" cy="294652"/>
                    </a:xfrm>
                    <a:prstGeom prst="rect">
                      <a:avLst/>
                    </a:prstGeom>
                  </p:spPr>
                  <p:style>
                    <a:lnRef idx="3">
                      <a:schemeClr val="lt1"/>
                    </a:lnRef>
                    <a:fillRef idx="1">
                      <a:schemeClr val="accent2"/>
                    </a:fillRef>
                    <a:effectRef idx="1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67" name="Rectangle 66">
                      <a:extLst>
                        <a:ext uri="{FF2B5EF4-FFF2-40B4-BE49-F238E27FC236}">
                          <a16:creationId xmlns:a16="http://schemas.microsoft.com/office/drawing/2014/main" id="{2FB5DC9A-FC55-3666-89A8-B0DF1C0B33DA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005079" y="6013621"/>
                      <a:ext cx="404849" cy="294652"/>
                    </a:xfrm>
                    <a:prstGeom prst="rect">
                      <a:avLst/>
                    </a:prstGeom>
                    <a:blipFill>
                      <a:blip r:embed="rId18"/>
                      <a:stretch>
                        <a:fillRect b="-566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68" name="Straight Arrow Connector 67">
                  <a:extLst>
                    <a:ext uri="{FF2B5EF4-FFF2-40B4-BE49-F238E27FC236}">
                      <a16:creationId xmlns:a16="http://schemas.microsoft.com/office/drawing/2014/main" id="{80BB0CA2-CDC5-D7AA-992E-24B6CC80328E}"/>
                    </a:ext>
                  </a:extLst>
                </p:cNvPr>
                <p:cNvCxnSpPr>
                  <a:cxnSpLocks/>
                  <a:stCxn id="65" idx="0"/>
                  <a:endCxn id="66" idx="1"/>
                </p:cNvCxnSpPr>
                <p:nvPr/>
              </p:nvCxnSpPr>
              <p:spPr>
                <a:xfrm flipV="1">
                  <a:off x="4892055" y="5127483"/>
                  <a:ext cx="276459" cy="314638"/>
                </a:xfrm>
                <a:prstGeom prst="straightConnector1">
                  <a:avLst/>
                </a:prstGeom>
                <a:ln>
                  <a:solidFill>
                    <a:schemeClr val="accent3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Straight Arrow Connector 68">
                  <a:extLst>
                    <a:ext uri="{FF2B5EF4-FFF2-40B4-BE49-F238E27FC236}">
                      <a16:creationId xmlns:a16="http://schemas.microsoft.com/office/drawing/2014/main" id="{7E9B84AF-17CB-D78A-27A2-D220997BA87B}"/>
                    </a:ext>
                  </a:extLst>
                </p:cNvPr>
                <p:cNvCxnSpPr>
                  <a:cxnSpLocks/>
                  <a:stCxn id="65" idx="5"/>
                  <a:endCxn id="67" idx="1"/>
                </p:cNvCxnSpPr>
                <p:nvPr/>
              </p:nvCxnSpPr>
              <p:spPr>
                <a:xfrm>
                  <a:off x="5026759" y="5767325"/>
                  <a:ext cx="978320" cy="393622"/>
                </a:xfrm>
                <a:prstGeom prst="straightConnector1">
                  <a:avLst/>
                </a:prstGeom>
                <a:ln>
                  <a:solidFill>
                    <a:schemeClr val="accent2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Straight Arrow Connector 69">
                  <a:extLst>
                    <a:ext uri="{FF2B5EF4-FFF2-40B4-BE49-F238E27FC236}">
                      <a16:creationId xmlns:a16="http://schemas.microsoft.com/office/drawing/2014/main" id="{DF926C25-09AF-C59D-9661-828F6A1FDDBE}"/>
                    </a:ext>
                  </a:extLst>
                </p:cNvPr>
                <p:cNvCxnSpPr>
                  <a:cxnSpLocks/>
                  <a:stCxn id="66" idx="2"/>
                  <a:endCxn id="67" idx="0"/>
                </p:cNvCxnSpPr>
                <p:nvPr/>
              </p:nvCxnSpPr>
              <p:spPr>
                <a:xfrm>
                  <a:off x="5486111" y="5334588"/>
                  <a:ext cx="721393" cy="679033"/>
                </a:xfrm>
                <a:prstGeom prst="straightConnector1">
                  <a:avLst/>
                </a:prstGeom>
                <a:ln>
                  <a:solidFill>
                    <a:schemeClr val="accent2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1" name="Straight Arrow Connector 70">
                  <a:extLst>
                    <a:ext uri="{FF2B5EF4-FFF2-40B4-BE49-F238E27FC236}">
                      <a16:creationId xmlns:a16="http://schemas.microsoft.com/office/drawing/2014/main" id="{3E4EA84B-4E34-CE85-46A5-750170E457BB}"/>
                    </a:ext>
                  </a:extLst>
                </p:cNvPr>
                <p:cNvCxnSpPr>
                  <a:cxnSpLocks/>
                  <a:stCxn id="65" idx="6"/>
                </p:cNvCxnSpPr>
                <p:nvPr/>
              </p:nvCxnSpPr>
              <p:spPr>
                <a:xfrm>
                  <a:off x="5082555" y="5632621"/>
                  <a:ext cx="907804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Straight Arrow Connector 71">
                  <a:extLst>
                    <a:ext uri="{FF2B5EF4-FFF2-40B4-BE49-F238E27FC236}">
                      <a16:creationId xmlns:a16="http://schemas.microsoft.com/office/drawing/2014/main" id="{A9501B64-D862-DBC0-7E6E-BDD2E771FCFB}"/>
                    </a:ext>
                  </a:extLst>
                </p:cNvPr>
                <p:cNvCxnSpPr>
                  <a:cxnSpLocks/>
                  <a:stCxn id="66" idx="3"/>
                </p:cNvCxnSpPr>
                <p:nvPr/>
              </p:nvCxnSpPr>
              <p:spPr>
                <a:xfrm>
                  <a:off x="5803708" y="5127483"/>
                  <a:ext cx="242447" cy="37043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3" name="Oval 72">
                      <a:extLst>
                        <a:ext uri="{FF2B5EF4-FFF2-40B4-BE49-F238E27FC236}">
                          <a16:creationId xmlns:a16="http://schemas.microsoft.com/office/drawing/2014/main" id="{43B3821B-6F01-1BEB-6315-7FB562234D4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90399" y="5442121"/>
                      <a:ext cx="381000" cy="381000"/>
                    </a:xfrm>
                    <a:prstGeom prst="ellipse">
                      <a:avLst/>
                    </a:prstGeom>
                  </p:spPr>
                  <p:style>
                    <a:lnRef idx="3">
                      <a:schemeClr val="lt1"/>
                    </a:lnRef>
                    <a:fillRef idx="1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73" name="Oval 72">
                      <a:extLst>
                        <a:ext uri="{FF2B5EF4-FFF2-40B4-BE49-F238E27FC236}">
                          <a16:creationId xmlns:a16="http://schemas.microsoft.com/office/drawing/2014/main" id="{43B3821B-6F01-1BEB-6315-7FB562234D4E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990399" y="5442121"/>
                      <a:ext cx="381000" cy="381000"/>
                    </a:xfrm>
                    <a:prstGeom prst="ellipse">
                      <a:avLst/>
                    </a:prstGeom>
                    <a:blipFill>
                      <a:blip r:embed="rId1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4" name="Flowchart: Decision 73">
                      <a:extLst>
                        <a:ext uri="{FF2B5EF4-FFF2-40B4-BE49-F238E27FC236}">
                          <a16:creationId xmlns:a16="http://schemas.microsoft.com/office/drawing/2014/main" id="{8B64C264-E05D-A7CD-E4B9-19276CAC37E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57358" y="4920378"/>
                      <a:ext cx="635194" cy="414210"/>
                    </a:xfrm>
                    <a:prstGeom prst="flowChartDecision">
                      <a:avLst/>
                    </a:prstGeom>
                  </p:spPr>
                  <p:style>
                    <a:lnRef idx="3">
                      <a:schemeClr val="lt1"/>
                    </a:lnRef>
                    <a:fillRef idx="1">
                      <a:schemeClr val="accent3"/>
                    </a:fillRef>
                    <a:effectRef idx="1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74" name="Flowchart: Decision 73">
                      <a:extLst>
                        <a:ext uri="{FF2B5EF4-FFF2-40B4-BE49-F238E27FC236}">
                          <a16:creationId xmlns:a16="http://schemas.microsoft.com/office/drawing/2014/main" id="{8B64C264-E05D-A7CD-E4B9-19276CAC37E7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457358" y="4920378"/>
                      <a:ext cx="635194" cy="414210"/>
                    </a:xfrm>
                    <a:prstGeom prst="flowChartDecision">
                      <a:avLst/>
                    </a:prstGeom>
                    <a:blipFill>
                      <a:blip r:embed="rId2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5" name="Rectangle 74">
                      <a:extLst>
                        <a:ext uri="{FF2B5EF4-FFF2-40B4-BE49-F238E27FC236}">
                          <a16:creationId xmlns:a16="http://schemas.microsoft.com/office/drawing/2014/main" id="{A03A83B2-C0D9-3CA5-9D53-ABCF93FEF2B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213775" y="6030881"/>
                      <a:ext cx="404849" cy="294652"/>
                    </a:xfrm>
                    <a:prstGeom prst="rect">
                      <a:avLst/>
                    </a:prstGeom>
                  </p:spPr>
                  <p:style>
                    <a:lnRef idx="3">
                      <a:schemeClr val="lt1"/>
                    </a:lnRef>
                    <a:fillRef idx="1">
                      <a:schemeClr val="accent2"/>
                    </a:fillRef>
                    <a:effectRef idx="1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75" name="Rectangle 74">
                      <a:extLst>
                        <a:ext uri="{FF2B5EF4-FFF2-40B4-BE49-F238E27FC236}">
                          <a16:creationId xmlns:a16="http://schemas.microsoft.com/office/drawing/2014/main" id="{A03A83B2-C0D9-3CA5-9D53-ABCF93FEF2BE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213775" y="6030881"/>
                      <a:ext cx="404849" cy="294652"/>
                    </a:xfrm>
                    <a:prstGeom prst="rect">
                      <a:avLst/>
                    </a:prstGeom>
                    <a:blipFill>
                      <a:blip r:embed="rId21"/>
                      <a:stretch>
                        <a:fillRect b="-769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76" name="Straight Arrow Connector 75">
                  <a:extLst>
                    <a:ext uri="{FF2B5EF4-FFF2-40B4-BE49-F238E27FC236}">
                      <a16:creationId xmlns:a16="http://schemas.microsoft.com/office/drawing/2014/main" id="{F8A6C990-B9E6-3389-0EE9-E126B9DBCFD1}"/>
                    </a:ext>
                  </a:extLst>
                </p:cNvPr>
                <p:cNvCxnSpPr>
                  <a:cxnSpLocks/>
                  <a:stCxn id="73" idx="0"/>
                  <a:endCxn id="74" idx="1"/>
                </p:cNvCxnSpPr>
                <p:nvPr/>
              </p:nvCxnSpPr>
              <p:spPr>
                <a:xfrm flipV="1">
                  <a:off x="6180899" y="5127483"/>
                  <a:ext cx="276459" cy="314638"/>
                </a:xfrm>
                <a:prstGeom prst="straightConnector1">
                  <a:avLst/>
                </a:prstGeom>
                <a:ln>
                  <a:solidFill>
                    <a:schemeClr val="accent3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Straight Arrow Connector 76">
                  <a:extLst>
                    <a:ext uri="{FF2B5EF4-FFF2-40B4-BE49-F238E27FC236}">
                      <a16:creationId xmlns:a16="http://schemas.microsoft.com/office/drawing/2014/main" id="{A48675D0-FCBE-35D2-68B8-121B1B8249C6}"/>
                    </a:ext>
                  </a:extLst>
                </p:cNvPr>
                <p:cNvCxnSpPr>
                  <a:cxnSpLocks/>
                  <a:stCxn id="73" idx="5"/>
                  <a:endCxn id="75" idx="1"/>
                </p:cNvCxnSpPr>
                <p:nvPr/>
              </p:nvCxnSpPr>
              <p:spPr>
                <a:xfrm>
                  <a:off x="6315603" y="5767325"/>
                  <a:ext cx="898172" cy="410882"/>
                </a:xfrm>
                <a:prstGeom prst="straightConnector1">
                  <a:avLst/>
                </a:prstGeom>
                <a:ln>
                  <a:solidFill>
                    <a:schemeClr val="accent2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Straight Arrow Connector 77">
                  <a:extLst>
                    <a:ext uri="{FF2B5EF4-FFF2-40B4-BE49-F238E27FC236}">
                      <a16:creationId xmlns:a16="http://schemas.microsoft.com/office/drawing/2014/main" id="{27D73AF0-259D-9107-E128-05BF0F9510D1}"/>
                    </a:ext>
                  </a:extLst>
                </p:cNvPr>
                <p:cNvCxnSpPr>
                  <a:cxnSpLocks/>
                  <a:stCxn id="74" idx="2"/>
                  <a:endCxn id="75" idx="0"/>
                </p:cNvCxnSpPr>
                <p:nvPr/>
              </p:nvCxnSpPr>
              <p:spPr>
                <a:xfrm>
                  <a:off x="6774955" y="5334588"/>
                  <a:ext cx="641245" cy="696293"/>
                </a:xfrm>
                <a:prstGeom prst="straightConnector1">
                  <a:avLst/>
                </a:prstGeom>
                <a:ln>
                  <a:solidFill>
                    <a:schemeClr val="accent2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Straight Arrow Connector 78">
                  <a:extLst>
                    <a:ext uri="{FF2B5EF4-FFF2-40B4-BE49-F238E27FC236}">
                      <a16:creationId xmlns:a16="http://schemas.microsoft.com/office/drawing/2014/main" id="{47731D88-2686-AD33-9854-06C41CF52EF8}"/>
                    </a:ext>
                  </a:extLst>
                </p:cNvPr>
                <p:cNvCxnSpPr>
                  <a:cxnSpLocks/>
                  <a:stCxn id="73" idx="6"/>
                </p:cNvCxnSpPr>
                <p:nvPr/>
              </p:nvCxnSpPr>
              <p:spPr>
                <a:xfrm>
                  <a:off x="6371399" y="5632621"/>
                  <a:ext cx="907804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Straight Arrow Connector 79">
                  <a:extLst>
                    <a:ext uri="{FF2B5EF4-FFF2-40B4-BE49-F238E27FC236}">
                      <a16:creationId xmlns:a16="http://schemas.microsoft.com/office/drawing/2014/main" id="{5D99DB2C-6F51-8928-8BB8-DC51F252FE9F}"/>
                    </a:ext>
                  </a:extLst>
                </p:cNvPr>
                <p:cNvCxnSpPr>
                  <a:cxnSpLocks/>
                  <a:stCxn id="74" idx="3"/>
                </p:cNvCxnSpPr>
                <p:nvPr/>
              </p:nvCxnSpPr>
              <p:spPr>
                <a:xfrm>
                  <a:off x="7092552" y="5127483"/>
                  <a:ext cx="242447" cy="37043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E94D57AC-0B39-48DB-7CE5-FF7627773B74}"/>
                    </a:ext>
                  </a:extLst>
                </p:cNvPr>
                <p:cNvSpPr txBox="1"/>
                <p:nvPr/>
              </p:nvSpPr>
              <p:spPr>
                <a:xfrm>
                  <a:off x="7286850" y="5425914"/>
                  <a:ext cx="39591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…</a:t>
                  </a:r>
                </a:p>
              </p:txBody>
            </p:sp>
            <p:sp>
              <p:nvSpPr>
                <p:cNvPr id="82" name="Rectangle 81">
                  <a:extLst>
                    <a:ext uri="{FF2B5EF4-FFF2-40B4-BE49-F238E27FC236}">
                      <a16:creationId xmlns:a16="http://schemas.microsoft.com/office/drawing/2014/main" id="{91E24E00-BB52-2DA7-11B1-828CD1B1034A}"/>
                    </a:ext>
                  </a:extLst>
                </p:cNvPr>
                <p:cNvSpPr/>
                <p:nvPr/>
              </p:nvSpPr>
              <p:spPr>
                <a:xfrm>
                  <a:off x="3160518" y="4817835"/>
                  <a:ext cx="4759686" cy="1629572"/>
                </a:xfrm>
                <a:prstGeom prst="rect">
                  <a:avLst/>
                </a:prstGeom>
                <a:noFill/>
                <a:ln w="19050" cap="flat" cmpd="sng" algn="ctr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accen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DE9D100-6446-C74E-C4D9-D87B9D02698A}"/>
                  </a:ext>
                </a:extLst>
              </p:cNvPr>
              <p:cNvSpPr txBox="1"/>
              <p:nvPr/>
            </p:nvSpPr>
            <p:spPr>
              <a:xfrm>
                <a:off x="10671297" y="4892320"/>
                <a:ext cx="768059" cy="3820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MDP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20813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9B3CF-0EBB-B802-54F0-3999C2646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Partially Observable MDP (POMDP)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2A8E9-FBBC-E224-7311-2CEDD95263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hidden states and observations to an MDP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3FC32C3-7E1F-4BC5-AF05-8A0D3E6BB816}"/>
              </a:ext>
            </a:extLst>
          </p:cNvPr>
          <p:cNvSpPr txBox="1"/>
          <p:nvPr/>
        </p:nvSpPr>
        <p:spPr>
          <a:xfrm>
            <a:off x="5631985" y="2094624"/>
            <a:ext cx="10527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b="1" dirty="0"/>
              <a:t>+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F8563D63-8EB0-CF16-17E2-F20491389E1E}"/>
              </a:ext>
            </a:extLst>
          </p:cNvPr>
          <p:cNvSpPr txBox="1"/>
          <p:nvPr/>
        </p:nvSpPr>
        <p:spPr>
          <a:xfrm>
            <a:off x="2590313" y="4492090"/>
            <a:ext cx="10527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b="1" dirty="0"/>
              <a:t>=</a:t>
            </a:r>
          </a:p>
        </p:txBody>
      </p: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D2A719F9-1F3D-A190-AD98-B0276915613B}"/>
              </a:ext>
            </a:extLst>
          </p:cNvPr>
          <p:cNvGrpSpPr/>
          <p:nvPr/>
        </p:nvGrpSpPr>
        <p:grpSpPr>
          <a:xfrm>
            <a:off x="899410" y="2093589"/>
            <a:ext cx="4764674" cy="1629572"/>
            <a:chOff x="899410" y="2093589"/>
            <a:chExt cx="4764674" cy="1629572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CEE55189-4F19-D2CE-E85E-01C147F02D0F}"/>
                </a:ext>
              </a:extLst>
            </p:cNvPr>
            <p:cNvGrpSpPr/>
            <p:nvPr/>
          </p:nvGrpSpPr>
          <p:grpSpPr>
            <a:xfrm>
              <a:off x="904398" y="2093589"/>
              <a:ext cx="4759686" cy="1629572"/>
              <a:chOff x="3160518" y="4817835"/>
              <a:chExt cx="4759686" cy="162957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3" name="Oval 92">
                    <a:extLst>
                      <a:ext uri="{FF2B5EF4-FFF2-40B4-BE49-F238E27FC236}">
                        <a16:creationId xmlns:a16="http://schemas.microsoft.com/office/drawing/2014/main" id="{0C504263-5F1A-9AB6-40C4-ADB2A0E44AB1}"/>
                      </a:ext>
                    </a:extLst>
                  </p:cNvPr>
                  <p:cNvSpPr/>
                  <p:nvPr/>
                </p:nvSpPr>
                <p:spPr>
                  <a:xfrm>
                    <a:off x="3412751" y="5442121"/>
                    <a:ext cx="381000" cy="381000"/>
                  </a:xfrm>
                  <a:prstGeom prst="ellipse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3" name="Oval 92">
                    <a:extLst>
                      <a:ext uri="{FF2B5EF4-FFF2-40B4-BE49-F238E27FC236}">
                        <a16:creationId xmlns:a16="http://schemas.microsoft.com/office/drawing/2014/main" id="{0C504263-5F1A-9AB6-40C4-ADB2A0E44AB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2751" y="5442121"/>
                    <a:ext cx="381000" cy="381000"/>
                  </a:xfrm>
                  <a:prstGeom prst="ellipse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4" name="Flowchart: Decision 93">
                    <a:extLst>
                      <a:ext uri="{FF2B5EF4-FFF2-40B4-BE49-F238E27FC236}">
                        <a16:creationId xmlns:a16="http://schemas.microsoft.com/office/drawing/2014/main" id="{E01C7420-CEF0-53AF-96A1-D661AFAEFA60}"/>
                      </a:ext>
                    </a:extLst>
                  </p:cNvPr>
                  <p:cNvSpPr/>
                  <p:nvPr/>
                </p:nvSpPr>
                <p:spPr>
                  <a:xfrm>
                    <a:off x="3879710" y="4920378"/>
                    <a:ext cx="635194" cy="414210"/>
                  </a:xfrm>
                  <a:prstGeom prst="flowChartDecision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3"/>
                  </a:fillRef>
                  <a:effectRef idx="1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4" name="Flowchart: Decision 93">
                    <a:extLst>
                      <a:ext uri="{FF2B5EF4-FFF2-40B4-BE49-F238E27FC236}">
                        <a16:creationId xmlns:a16="http://schemas.microsoft.com/office/drawing/2014/main" id="{E01C7420-CEF0-53AF-96A1-D661AFAEFA6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79710" y="4920378"/>
                    <a:ext cx="635194" cy="414210"/>
                  </a:xfrm>
                  <a:prstGeom prst="flowChartDecision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5" name="Rectangle 94">
                    <a:extLst>
                      <a:ext uri="{FF2B5EF4-FFF2-40B4-BE49-F238E27FC236}">
                        <a16:creationId xmlns:a16="http://schemas.microsoft.com/office/drawing/2014/main" id="{D0B8D235-15EB-9170-30F2-286A1E5333EE}"/>
                      </a:ext>
                    </a:extLst>
                  </p:cNvPr>
                  <p:cNvSpPr/>
                  <p:nvPr/>
                </p:nvSpPr>
                <p:spPr>
                  <a:xfrm>
                    <a:off x="4695871" y="6013621"/>
                    <a:ext cx="404849" cy="294652"/>
                  </a:xfrm>
                  <a:prstGeom prst="rect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5" name="Rectangle 94">
                    <a:extLst>
                      <a:ext uri="{FF2B5EF4-FFF2-40B4-BE49-F238E27FC236}">
                        <a16:creationId xmlns:a16="http://schemas.microsoft.com/office/drawing/2014/main" id="{D0B8D235-15EB-9170-30F2-286A1E5333E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95871" y="6013621"/>
                    <a:ext cx="404849" cy="29465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576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96" name="Straight Arrow Connector 95">
                <a:extLst>
                  <a:ext uri="{FF2B5EF4-FFF2-40B4-BE49-F238E27FC236}">
                    <a16:creationId xmlns:a16="http://schemas.microsoft.com/office/drawing/2014/main" id="{C1D43666-2AF9-E07B-ACC1-11A4D1FE08AF}"/>
                  </a:ext>
                </a:extLst>
              </p:cNvPr>
              <p:cNvCxnSpPr>
                <a:cxnSpLocks/>
                <a:stCxn id="93" idx="0"/>
                <a:endCxn id="94" idx="1"/>
              </p:cNvCxnSpPr>
              <p:nvPr/>
            </p:nvCxnSpPr>
            <p:spPr>
              <a:xfrm flipV="1">
                <a:off x="3603251" y="5127483"/>
                <a:ext cx="276459" cy="314638"/>
              </a:xfrm>
              <a:prstGeom prst="straightConnector1">
                <a:avLst/>
              </a:prstGeom>
              <a:ln>
                <a:solidFill>
                  <a:schemeClr val="accent3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Straight Arrow Connector 96">
                <a:extLst>
                  <a:ext uri="{FF2B5EF4-FFF2-40B4-BE49-F238E27FC236}">
                    <a16:creationId xmlns:a16="http://schemas.microsoft.com/office/drawing/2014/main" id="{11F1A51F-9736-FBE6-7E60-154E9CD6FA26}"/>
                  </a:ext>
                </a:extLst>
              </p:cNvPr>
              <p:cNvCxnSpPr>
                <a:cxnSpLocks/>
                <a:stCxn id="93" idx="5"/>
                <a:endCxn id="95" idx="1"/>
              </p:cNvCxnSpPr>
              <p:nvPr/>
            </p:nvCxnSpPr>
            <p:spPr>
              <a:xfrm>
                <a:off x="3737955" y="5767325"/>
                <a:ext cx="957916" cy="393622"/>
              </a:xfrm>
              <a:prstGeom prst="straightConnector1">
                <a:avLst/>
              </a:prstGeom>
              <a:ln>
                <a:solidFill>
                  <a:schemeClr val="accent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Straight Arrow Connector 97">
                <a:extLst>
                  <a:ext uri="{FF2B5EF4-FFF2-40B4-BE49-F238E27FC236}">
                    <a16:creationId xmlns:a16="http://schemas.microsoft.com/office/drawing/2014/main" id="{ABA2B0E2-088E-5E82-7782-96CC7BFD2613}"/>
                  </a:ext>
                </a:extLst>
              </p:cNvPr>
              <p:cNvCxnSpPr>
                <a:cxnSpLocks/>
                <a:stCxn id="94" idx="2"/>
                <a:endCxn id="95" idx="0"/>
              </p:cNvCxnSpPr>
              <p:nvPr/>
            </p:nvCxnSpPr>
            <p:spPr>
              <a:xfrm>
                <a:off x="4197307" y="5334588"/>
                <a:ext cx="700989" cy="679033"/>
              </a:xfrm>
              <a:prstGeom prst="straightConnector1">
                <a:avLst/>
              </a:prstGeom>
              <a:ln>
                <a:solidFill>
                  <a:schemeClr val="accent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Straight Arrow Connector 98">
                <a:extLst>
                  <a:ext uri="{FF2B5EF4-FFF2-40B4-BE49-F238E27FC236}">
                    <a16:creationId xmlns:a16="http://schemas.microsoft.com/office/drawing/2014/main" id="{33D79A1E-C539-A1E3-8AB1-47CBD3D06F7F}"/>
                  </a:ext>
                </a:extLst>
              </p:cNvPr>
              <p:cNvCxnSpPr>
                <a:cxnSpLocks/>
                <a:stCxn id="93" idx="6"/>
              </p:cNvCxnSpPr>
              <p:nvPr/>
            </p:nvCxnSpPr>
            <p:spPr>
              <a:xfrm>
                <a:off x="3793751" y="5632621"/>
                <a:ext cx="90780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Straight Arrow Connector 99">
                <a:extLst>
                  <a:ext uri="{FF2B5EF4-FFF2-40B4-BE49-F238E27FC236}">
                    <a16:creationId xmlns:a16="http://schemas.microsoft.com/office/drawing/2014/main" id="{915874D9-7DDA-6A96-23B2-B2358D9614E8}"/>
                  </a:ext>
                </a:extLst>
              </p:cNvPr>
              <p:cNvCxnSpPr>
                <a:cxnSpLocks/>
                <a:stCxn id="94" idx="3"/>
              </p:cNvCxnSpPr>
              <p:nvPr/>
            </p:nvCxnSpPr>
            <p:spPr>
              <a:xfrm>
                <a:off x="4514904" y="5127483"/>
                <a:ext cx="242447" cy="3704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1" name="Oval 100">
                    <a:extLst>
                      <a:ext uri="{FF2B5EF4-FFF2-40B4-BE49-F238E27FC236}">
                        <a16:creationId xmlns:a16="http://schemas.microsoft.com/office/drawing/2014/main" id="{A8ED421D-6D0E-2BFB-C267-E7A1D1753AD7}"/>
                      </a:ext>
                    </a:extLst>
                  </p:cNvPr>
                  <p:cNvSpPr/>
                  <p:nvPr/>
                </p:nvSpPr>
                <p:spPr>
                  <a:xfrm>
                    <a:off x="4701555" y="5442121"/>
                    <a:ext cx="381000" cy="381000"/>
                  </a:xfrm>
                  <a:prstGeom prst="ellipse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01" name="Oval 100">
                    <a:extLst>
                      <a:ext uri="{FF2B5EF4-FFF2-40B4-BE49-F238E27FC236}">
                        <a16:creationId xmlns:a16="http://schemas.microsoft.com/office/drawing/2014/main" id="{A8ED421D-6D0E-2BFB-C267-E7A1D1753AD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01555" y="5442121"/>
                    <a:ext cx="381000" cy="381000"/>
                  </a:xfrm>
                  <a:prstGeom prst="ellipse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2" name="Flowchart: Decision 101">
                    <a:extLst>
                      <a:ext uri="{FF2B5EF4-FFF2-40B4-BE49-F238E27FC236}">
                        <a16:creationId xmlns:a16="http://schemas.microsoft.com/office/drawing/2014/main" id="{A6FEA34E-0824-6896-E9E9-0B7BD38266EE}"/>
                      </a:ext>
                    </a:extLst>
                  </p:cNvPr>
                  <p:cNvSpPr/>
                  <p:nvPr/>
                </p:nvSpPr>
                <p:spPr>
                  <a:xfrm>
                    <a:off x="5168514" y="4920378"/>
                    <a:ext cx="635194" cy="414210"/>
                  </a:xfrm>
                  <a:prstGeom prst="flowChartDecision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3"/>
                  </a:fillRef>
                  <a:effectRef idx="1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02" name="Flowchart: Decision 101">
                    <a:extLst>
                      <a:ext uri="{FF2B5EF4-FFF2-40B4-BE49-F238E27FC236}">
                        <a16:creationId xmlns:a16="http://schemas.microsoft.com/office/drawing/2014/main" id="{A6FEA34E-0824-6896-E9E9-0B7BD38266E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68514" y="4920378"/>
                    <a:ext cx="635194" cy="414210"/>
                  </a:xfrm>
                  <a:prstGeom prst="flowChartDecision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Rectangle 102">
                    <a:extLst>
                      <a:ext uri="{FF2B5EF4-FFF2-40B4-BE49-F238E27FC236}">
                        <a16:creationId xmlns:a16="http://schemas.microsoft.com/office/drawing/2014/main" id="{B17D75EA-F17E-76E8-221D-4C2E1A197450}"/>
                      </a:ext>
                    </a:extLst>
                  </p:cNvPr>
                  <p:cNvSpPr/>
                  <p:nvPr/>
                </p:nvSpPr>
                <p:spPr>
                  <a:xfrm>
                    <a:off x="6005079" y="6013621"/>
                    <a:ext cx="404849" cy="294652"/>
                  </a:xfrm>
                  <a:prstGeom prst="rect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03" name="Rectangle 102">
                    <a:extLst>
                      <a:ext uri="{FF2B5EF4-FFF2-40B4-BE49-F238E27FC236}">
                        <a16:creationId xmlns:a16="http://schemas.microsoft.com/office/drawing/2014/main" id="{B17D75EA-F17E-76E8-221D-4C2E1A19745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05079" y="6013621"/>
                    <a:ext cx="404849" cy="29465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576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04" name="Straight Arrow Connector 103">
                <a:extLst>
                  <a:ext uri="{FF2B5EF4-FFF2-40B4-BE49-F238E27FC236}">
                    <a16:creationId xmlns:a16="http://schemas.microsoft.com/office/drawing/2014/main" id="{FFBB9128-34C7-5999-4D45-2C7E88A68864}"/>
                  </a:ext>
                </a:extLst>
              </p:cNvPr>
              <p:cNvCxnSpPr>
                <a:cxnSpLocks/>
                <a:stCxn id="101" idx="0"/>
                <a:endCxn id="102" idx="1"/>
              </p:cNvCxnSpPr>
              <p:nvPr/>
            </p:nvCxnSpPr>
            <p:spPr>
              <a:xfrm flipV="1">
                <a:off x="4892055" y="5127483"/>
                <a:ext cx="276459" cy="314638"/>
              </a:xfrm>
              <a:prstGeom prst="straightConnector1">
                <a:avLst/>
              </a:prstGeom>
              <a:ln>
                <a:solidFill>
                  <a:schemeClr val="accent3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Straight Arrow Connector 104">
                <a:extLst>
                  <a:ext uri="{FF2B5EF4-FFF2-40B4-BE49-F238E27FC236}">
                    <a16:creationId xmlns:a16="http://schemas.microsoft.com/office/drawing/2014/main" id="{0697CC82-5590-4738-0A6B-4551971FEB6E}"/>
                  </a:ext>
                </a:extLst>
              </p:cNvPr>
              <p:cNvCxnSpPr>
                <a:cxnSpLocks/>
                <a:stCxn id="101" idx="5"/>
                <a:endCxn id="103" idx="1"/>
              </p:cNvCxnSpPr>
              <p:nvPr/>
            </p:nvCxnSpPr>
            <p:spPr>
              <a:xfrm>
                <a:off x="5026759" y="5767325"/>
                <a:ext cx="978320" cy="393622"/>
              </a:xfrm>
              <a:prstGeom prst="straightConnector1">
                <a:avLst/>
              </a:prstGeom>
              <a:ln>
                <a:solidFill>
                  <a:schemeClr val="accent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" name="Straight Arrow Connector 105">
                <a:extLst>
                  <a:ext uri="{FF2B5EF4-FFF2-40B4-BE49-F238E27FC236}">
                    <a16:creationId xmlns:a16="http://schemas.microsoft.com/office/drawing/2014/main" id="{EFA2C3F5-AD77-389D-7454-93A3C342D050}"/>
                  </a:ext>
                </a:extLst>
              </p:cNvPr>
              <p:cNvCxnSpPr>
                <a:cxnSpLocks/>
                <a:stCxn id="102" idx="2"/>
                <a:endCxn id="103" idx="0"/>
              </p:cNvCxnSpPr>
              <p:nvPr/>
            </p:nvCxnSpPr>
            <p:spPr>
              <a:xfrm>
                <a:off x="5486111" y="5334588"/>
                <a:ext cx="721393" cy="679033"/>
              </a:xfrm>
              <a:prstGeom prst="straightConnector1">
                <a:avLst/>
              </a:prstGeom>
              <a:ln>
                <a:solidFill>
                  <a:schemeClr val="accent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Straight Arrow Connector 106">
                <a:extLst>
                  <a:ext uri="{FF2B5EF4-FFF2-40B4-BE49-F238E27FC236}">
                    <a16:creationId xmlns:a16="http://schemas.microsoft.com/office/drawing/2014/main" id="{D319FA24-1D2C-5534-E12A-E451664F9060}"/>
                  </a:ext>
                </a:extLst>
              </p:cNvPr>
              <p:cNvCxnSpPr>
                <a:cxnSpLocks/>
                <a:stCxn id="101" idx="6"/>
              </p:cNvCxnSpPr>
              <p:nvPr/>
            </p:nvCxnSpPr>
            <p:spPr>
              <a:xfrm>
                <a:off x="5082555" y="5632621"/>
                <a:ext cx="90780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Straight Arrow Connector 107">
                <a:extLst>
                  <a:ext uri="{FF2B5EF4-FFF2-40B4-BE49-F238E27FC236}">
                    <a16:creationId xmlns:a16="http://schemas.microsoft.com/office/drawing/2014/main" id="{D1C7A50D-46CE-268A-3C53-C2D8C7CFAF07}"/>
                  </a:ext>
                </a:extLst>
              </p:cNvPr>
              <p:cNvCxnSpPr>
                <a:cxnSpLocks/>
                <a:stCxn id="102" idx="3"/>
              </p:cNvCxnSpPr>
              <p:nvPr/>
            </p:nvCxnSpPr>
            <p:spPr>
              <a:xfrm>
                <a:off x="5803708" y="5127483"/>
                <a:ext cx="242447" cy="3704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Oval 108">
                    <a:extLst>
                      <a:ext uri="{FF2B5EF4-FFF2-40B4-BE49-F238E27FC236}">
                        <a16:creationId xmlns:a16="http://schemas.microsoft.com/office/drawing/2014/main" id="{AB0AF40A-2777-5015-C7F3-C7982BFF2B25}"/>
                      </a:ext>
                    </a:extLst>
                  </p:cNvPr>
                  <p:cNvSpPr/>
                  <p:nvPr/>
                </p:nvSpPr>
                <p:spPr>
                  <a:xfrm>
                    <a:off x="5990399" y="5442121"/>
                    <a:ext cx="381000" cy="381000"/>
                  </a:xfrm>
                  <a:prstGeom prst="ellipse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09" name="Oval 108">
                    <a:extLst>
                      <a:ext uri="{FF2B5EF4-FFF2-40B4-BE49-F238E27FC236}">
                        <a16:creationId xmlns:a16="http://schemas.microsoft.com/office/drawing/2014/main" id="{AB0AF40A-2777-5015-C7F3-C7982BFF2B2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90399" y="5442121"/>
                    <a:ext cx="381000" cy="381000"/>
                  </a:xfrm>
                  <a:prstGeom prst="ellipse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Flowchart: Decision 109">
                    <a:extLst>
                      <a:ext uri="{FF2B5EF4-FFF2-40B4-BE49-F238E27FC236}">
                        <a16:creationId xmlns:a16="http://schemas.microsoft.com/office/drawing/2014/main" id="{A3D6763E-0A94-6799-5FC1-D2F3E56E7086}"/>
                      </a:ext>
                    </a:extLst>
                  </p:cNvPr>
                  <p:cNvSpPr/>
                  <p:nvPr/>
                </p:nvSpPr>
                <p:spPr>
                  <a:xfrm>
                    <a:off x="6457358" y="4920378"/>
                    <a:ext cx="635194" cy="414210"/>
                  </a:xfrm>
                  <a:prstGeom prst="flowChartDecision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3"/>
                  </a:fillRef>
                  <a:effectRef idx="1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10" name="Flowchart: Decision 109">
                    <a:extLst>
                      <a:ext uri="{FF2B5EF4-FFF2-40B4-BE49-F238E27FC236}">
                        <a16:creationId xmlns:a16="http://schemas.microsoft.com/office/drawing/2014/main" id="{A3D6763E-0A94-6799-5FC1-D2F3E56E708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457358" y="4920378"/>
                    <a:ext cx="635194" cy="414210"/>
                  </a:xfrm>
                  <a:prstGeom prst="flowChartDecision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1" name="Rectangle 110">
                    <a:extLst>
                      <a:ext uri="{FF2B5EF4-FFF2-40B4-BE49-F238E27FC236}">
                        <a16:creationId xmlns:a16="http://schemas.microsoft.com/office/drawing/2014/main" id="{8C95D511-7644-452D-3497-47CADC2FB8D2}"/>
                      </a:ext>
                    </a:extLst>
                  </p:cNvPr>
                  <p:cNvSpPr/>
                  <p:nvPr/>
                </p:nvSpPr>
                <p:spPr>
                  <a:xfrm>
                    <a:off x="7213775" y="6030881"/>
                    <a:ext cx="404849" cy="294652"/>
                  </a:xfrm>
                  <a:prstGeom prst="rect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11" name="Rectangle 110">
                    <a:extLst>
                      <a:ext uri="{FF2B5EF4-FFF2-40B4-BE49-F238E27FC236}">
                        <a16:creationId xmlns:a16="http://schemas.microsoft.com/office/drawing/2014/main" id="{8C95D511-7644-452D-3497-47CADC2FB8D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13775" y="6030881"/>
                    <a:ext cx="404849" cy="29465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566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2" name="Straight Arrow Connector 111">
                <a:extLst>
                  <a:ext uri="{FF2B5EF4-FFF2-40B4-BE49-F238E27FC236}">
                    <a16:creationId xmlns:a16="http://schemas.microsoft.com/office/drawing/2014/main" id="{C70E0BD3-80B7-7EC3-B084-F0347F714FC2}"/>
                  </a:ext>
                </a:extLst>
              </p:cNvPr>
              <p:cNvCxnSpPr>
                <a:cxnSpLocks/>
                <a:stCxn id="109" idx="0"/>
                <a:endCxn id="110" idx="1"/>
              </p:cNvCxnSpPr>
              <p:nvPr/>
            </p:nvCxnSpPr>
            <p:spPr>
              <a:xfrm flipV="1">
                <a:off x="6180899" y="5127483"/>
                <a:ext cx="276459" cy="314638"/>
              </a:xfrm>
              <a:prstGeom prst="straightConnector1">
                <a:avLst/>
              </a:prstGeom>
              <a:ln>
                <a:solidFill>
                  <a:schemeClr val="accent3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Straight Arrow Connector 112">
                <a:extLst>
                  <a:ext uri="{FF2B5EF4-FFF2-40B4-BE49-F238E27FC236}">
                    <a16:creationId xmlns:a16="http://schemas.microsoft.com/office/drawing/2014/main" id="{9FA72981-7A6F-95EE-BFC1-8D3B976D050F}"/>
                  </a:ext>
                </a:extLst>
              </p:cNvPr>
              <p:cNvCxnSpPr>
                <a:cxnSpLocks/>
                <a:stCxn id="109" idx="5"/>
                <a:endCxn id="111" idx="1"/>
              </p:cNvCxnSpPr>
              <p:nvPr/>
            </p:nvCxnSpPr>
            <p:spPr>
              <a:xfrm>
                <a:off x="6315603" y="5767325"/>
                <a:ext cx="898172" cy="410882"/>
              </a:xfrm>
              <a:prstGeom prst="straightConnector1">
                <a:avLst/>
              </a:prstGeom>
              <a:ln>
                <a:solidFill>
                  <a:schemeClr val="accent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Straight Arrow Connector 113">
                <a:extLst>
                  <a:ext uri="{FF2B5EF4-FFF2-40B4-BE49-F238E27FC236}">
                    <a16:creationId xmlns:a16="http://schemas.microsoft.com/office/drawing/2014/main" id="{8BFC464E-0D89-DF0D-4CDB-9D3CFB3A1BE6}"/>
                  </a:ext>
                </a:extLst>
              </p:cNvPr>
              <p:cNvCxnSpPr>
                <a:cxnSpLocks/>
                <a:stCxn id="110" idx="2"/>
                <a:endCxn id="111" idx="0"/>
              </p:cNvCxnSpPr>
              <p:nvPr/>
            </p:nvCxnSpPr>
            <p:spPr>
              <a:xfrm>
                <a:off x="6774955" y="5334588"/>
                <a:ext cx="641245" cy="696293"/>
              </a:xfrm>
              <a:prstGeom prst="straightConnector1">
                <a:avLst/>
              </a:prstGeom>
              <a:ln>
                <a:solidFill>
                  <a:schemeClr val="accent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Straight Arrow Connector 114">
                <a:extLst>
                  <a:ext uri="{FF2B5EF4-FFF2-40B4-BE49-F238E27FC236}">
                    <a16:creationId xmlns:a16="http://schemas.microsoft.com/office/drawing/2014/main" id="{87E3B5EC-EAB9-45A2-CC03-F85AE3052B10}"/>
                  </a:ext>
                </a:extLst>
              </p:cNvPr>
              <p:cNvCxnSpPr>
                <a:cxnSpLocks/>
                <a:stCxn id="109" idx="6"/>
              </p:cNvCxnSpPr>
              <p:nvPr/>
            </p:nvCxnSpPr>
            <p:spPr>
              <a:xfrm>
                <a:off x="6371399" y="5632621"/>
                <a:ext cx="90780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Straight Arrow Connector 115">
                <a:extLst>
                  <a:ext uri="{FF2B5EF4-FFF2-40B4-BE49-F238E27FC236}">
                    <a16:creationId xmlns:a16="http://schemas.microsoft.com/office/drawing/2014/main" id="{4048A642-3EAB-341D-1649-CAA9534EB17E}"/>
                  </a:ext>
                </a:extLst>
              </p:cNvPr>
              <p:cNvCxnSpPr>
                <a:cxnSpLocks/>
                <a:stCxn id="110" idx="3"/>
              </p:cNvCxnSpPr>
              <p:nvPr/>
            </p:nvCxnSpPr>
            <p:spPr>
              <a:xfrm>
                <a:off x="7092552" y="5127483"/>
                <a:ext cx="242447" cy="3704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12290958-9661-7D84-20D7-6212173CB71A}"/>
                  </a:ext>
                </a:extLst>
              </p:cNvPr>
              <p:cNvSpPr txBox="1"/>
              <p:nvPr/>
            </p:nvSpPr>
            <p:spPr>
              <a:xfrm>
                <a:off x="7286850" y="5425914"/>
                <a:ext cx="3959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…</a:t>
                </a:r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9689DA45-3502-C3C2-D894-5BC37DC115F4}"/>
                  </a:ext>
                </a:extLst>
              </p:cNvPr>
              <p:cNvSpPr/>
              <p:nvPr/>
            </p:nvSpPr>
            <p:spPr>
              <a:xfrm>
                <a:off x="3160518" y="4817835"/>
                <a:ext cx="4759686" cy="1629572"/>
              </a:xfrm>
              <a:prstGeom prst="rect">
                <a:avLst/>
              </a:prstGeom>
              <a:noFill/>
              <a:ln w="19050" cap="flat" cmpd="sng" algn="ctr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E396C2C3-2034-CDD3-0690-FFA5167DE13C}"/>
                </a:ext>
              </a:extLst>
            </p:cNvPr>
            <p:cNvSpPr txBox="1"/>
            <p:nvPr/>
          </p:nvSpPr>
          <p:spPr>
            <a:xfrm>
              <a:off x="899410" y="3336175"/>
              <a:ext cx="80552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MDP</a:t>
              </a:r>
            </a:p>
          </p:txBody>
        </p:sp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8A755258-A1B3-4D42-4F68-EC7C293972EC}"/>
              </a:ext>
            </a:extLst>
          </p:cNvPr>
          <p:cNvGrpSpPr/>
          <p:nvPr/>
        </p:nvGrpSpPr>
        <p:grpSpPr>
          <a:xfrm>
            <a:off x="6394522" y="2203678"/>
            <a:ext cx="4876639" cy="1454047"/>
            <a:chOff x="6394522" y="2203678"/>
            <a:chExt cx="4876639" cy="1454047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0E6F2945-DF34-2D73-CB39-ABC2B3D1ECE1}"/>
                </a:ext>
              </a:extLst>
            </p:cNvPr>
            <p:cNvGrpSpPr/>
            <p:nvPr/>
          </p:nvGrpSpPr>
          <p:grpSpPr>
            <a:xfrm>
              <a:off x="6394522" y="2203678"/>
              <a:ext cx="4759686" cy="1454047"/>
              <a:chOff x="2188389" y="4192815"/>
              <a:chExt cx="4759686" cy="1454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7" name="Oval 76">
                    <a:extLst>
                      <a:ext uri="{FF2B5EF4-FFF2-40B4-BE49-F238E27FC236}">
                        <a16:creationId xmlns:a16="http://schemas.microsoft.com/office/drawing/2014/main" id="{3B108309-53B0-07E3-CA2B-221AE9103D06}"/>
                      </a:ext>
                    </a:extLst>
                  </p:cNvPr>
                  <p:cNvSpPr/>
                  <p:nvPr/>
                </p:nvSpPr>
                <p:spPr>
                  <a:xfrm>
                    <a:off x="2445560" y="5095160"/>
                    <a:ext cx="381000" cy="381000"/>
                  </a:xfrm>
                  <a:prstGeom prst="ellipse">
                    <a:avLst/>
                  </a:prstGeom>
                  <a:ln/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7" name="Oval 76">
                    <a:extLst>
                      <a:ext uri="{FF2B5EF4-FFF2-40B4-BE49-F238E27FC236}">
                        <a16:creationId xmlns:a16="http://schemas.microsoft.com/office/drawing/2014/main" id="{3B108309-53B0-07E3-CA2B-221AE9103D0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45560" y="5095160"/>
                    <a:ext cx="381000" cy="381000"/>
                  </a:xfrm>
                  <a:prstGeom prst="ellipse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8" name="Straight Arrow Connector 77">
                <a:extLst>
                  <a:ext uri="{FF2B5EF4-FFF2-40B4-BE49-F238E27FC236}">
                    <a16:creationId xmlns:a16="http://schemas.microsoft.com/office/drawing/2014/main" id="{3F08B14D-7661-B416-D41D-7419F6BAFA4A}"/>
                  </a:ext>
                </a:extLst>
              </p:cNvPr>
              <p:cNvCxnSpPr>
                <a:cxnSpLocks/>
                <a:stCxn id="77" idx="6"/>
              </p:cNvCxnSpPr>
              <p:nvPr/>
            </p:nvCxnSpPr>
            <p:spPr>
              <a:xfrm>
                <a:off x="2826560" y="5285660"/>
                <a:ext cx="90780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9" name="Oval 78">
                    <a:extLst>
                      <a:ext uri="{FF2B5EF4-FFF2-40B4-BE49-F238E27FC236}">
                        <a16:creationId xmlns:a16="http://schemas.microsoft.com/office/drawing/2014/main" id="{9AFD15F6-76C3-CABA-8E92-794DC833DAB9}"/>
                      </a:ext>
                    </a:extLst>
                  </p:cNvPr>
                  <p:cNvSpPr/>
                  <p:nvPr/>
                </p:nvSpPr>
                <p:spPr>
                  <a:xfrm>
                    <a:off x="3734364" y="5095160"/>
                    <a:ext cx="381000" cy="381000"/>
                  </a:xfrm>
                  <a:prstGeom prst="ellipse">
                    <a:avLst/>
                  </a:prstGeom>
                  <a:ln/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9" name="Oval 78">
                    <a:extLst>
                      <a:ext uri="{FF2B5EF4-FFF2-40B4-BE49-F238E27FC236}">
                        <a16:creationId xmlns:a16="http://schemas.microsoft.com/office/drawing/2014/main" id="{9AFD15F6-76C3-CABA-8E92-794DC833DAB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34364" y="5095160"/>
                    <a:ext cx="381000" cy="381000"/>
                  </a:xfrm>
                  <a:prstGeom prst="ellipse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  <a:ln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0" name="Straight Arrow Connector 79">
                <a:extLst>
                  <a:ext uri="{FF2B5EF4-FFF2-40B4-BE49-F238E27FC236}">
                    <a16:creationId xmlns:a16="http://schemas.microsoft.com/office/drawing/2014/main" id="{849BFCDB-B25C-D7C1-1DB7-6B9D6BED6EBA}"/>
                  </a:ext>
                </a:extLst>
              </p:cNvPr>
              <p:cNvCxnSpPr>
                <a:cxnSpLocks/>
                <a:stCxn id="79" idx="6"/>
              </p:cNvCxnSpPr>
              <p:nvPr/>
            </p:nvCxnSpPr>
            <p:spPr>
              <a:xfrm>
                <a:off x="4115364" y="5285660"/>
                <a:ext cx="90780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1" name="Oval 80">
                    <a:extLst>
                      <a:ext uri="{FF2B5EF4-FFF2-40B4-BE49-F238E27FC236}">
                        <a16:creationId xmlns:a16="http://schemas.microsoft.com/office/drawing/2014/main" id="{A143DB74-1FF9-0637-69D0-0B44995CAAEC}"/>
                      </a:ext>
                    </a:extLst>
                  </p:cNvPr>
                  <p:cNvSpPr/>
                  <p:nvPr/>
                </p:nvSpPr>
                <p:spPr>
                  <a:xfrm>
                    <a:off x="5023208" y="5095160"/>
                    <a:ext cx="381000" cy="381000"/>
                  </a:xfrm>
                  <a:prstGeom prst="ellipse">
                    <a:avLst/>
                  </a:prstGeom>
                  <a:ln/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81" name="Oval 80">
                    <a:extLst>
                      <a:ext uri="{FF2B5EF4-FFF2-40B4-BE49-F238E27FC236}">
                        <a16:creationId xmlns:a16="http://schemas.microsoft.com/office/drawing/2014/main" id="{A143DB74-1FF9-0637-69D0-0B44995CAAE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23208" y="5095160"/>
                    <a:ext cx="381000" cy="381000"/>
                  </a:xfrm>
                  <a:prstGeom prst="ellipse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  <a:ln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2" name="Straight Arrow Connector 81">
                <a:extLst>
                  <a:ext uri="{FF2B5EF4-FFF2-40B4-BE49-F238E27FC236}">
                    <a16:creationId xmlns:a16="http://schemas.microsoft.com/office/drawing/2014/main" id="{C2411C18-9724-733A-239B-76599E0ADF74}"/>
                  </a:ext>
                </a:extLst>
              </p:cNvPr>
              <p:cNvCxnSpPr>
                <a:cxnSpLocks/>
                <a:stCxn id="81" idx="6"/>
              </p:cNvCxnSpPr>
              <p:nvPr/>
            </p:nvCxnSpPr>
            <p:spPr>
              <a:xfrm>
                <a:off x="5404208" y="5285660"/>
                <a:ext cx="90780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4FCAF23D-DA48-5797-7173-46F984595DFC}"/>
                  </a:ext>
                </a:extLst>
              </p:cNvPr>
              <p:cNvSpPr txBox="1"/>
              <p:nvPr/>
            </p:nvSpPr>
            <p:spPr>
              <a:xfrm>
                <a:off x="6319659" y="5078953"/>
                <a:ext cx="3959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…</a:t>
                </a: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838B4FA5-A203-912A-2E15-061A0F04704D}"/>
                  </a:ext>
                </a:extLst>
              </p:cNvPr>
              <p:cNvSpPr/>
              <p:nvPr/>
            </p:nvSpPr>
            <p:spPr>
              <a:xfrm>
                <a:off x="2188389" y="4192815"/>
                <a:ext cx="4759686" cy="1454047"/>
              </a:xfrm>
              <a:prstGeom prst="rect">
                <a:avLst/>
              </a:prstGeom>
              <a:noFill/>
              <a:ln w="19050" cap="flat" cmpd="sng" algn="ctr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5" name="Oval 84">
                    <a:extLst>
                      <a:ext uri="{FF2B5EF4-FFF2-40B4-BE49-F238E27FC236}">
                        <a16:creationId xmlns:a16="http://schemas.microsoft.com/office/drawing/2014/main" id="{107935B7-F8DB-68FD-7654-0A0038E9B625}"/>
                      </a:ext>
                    </a:extLst>
                  </p:cNvPr>
                  <p:cNvSpPr/>
                  <p:nvPr/>
                </p:nvSpPr>
                <p:spPr>
                  <a:xfrm>
                    <a:off x="2445560" y="4363518"/>
                    <a:ext cx="381000" cy="381000"/>
                  </a:xfrm>
                  <a:prstGeom prst="ellipse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5"/>
                  </a:fillRef>
                  <a:effectRef idx="1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85" name="Oval 84">
                    <a:extLst>
                      <a:ext uri="{FF2B5EF4-FFF2-40B4-BE49-F238E27FC236}">
                        <a16:creationId xmlns:a16="http://schemas.microsoft.com/office/drawing/2014/main" id="{107935B7-F8DB-68FD-7654-0A0038E9B62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45560" y="4363518"/>
                    <a:ext cx="381000" cy="381000"/>
                  </a:xfrm>
                  <a:prstGeom prst="ellipse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6" name="Straight Arrow Connector 85">
                <a:extLst>
                  <a:ext uri="{FF2B5EF4-FFF2-40B4-BE49-F238E27FC236}">
                    <a16:creationId xmlns:a16="http://schemas.microsoft.com/office/drawing/2014/main" id="{21B6EAD3-B391-445F-55AE-3B08DB07167A}"/>
                  </a:ext>
                </a:extLst>
              </p:cNvPr>
              <p:cNvCxnSpPr>
                <a:stCxn id="77" idx="0"/>
                <a:endCxn id="85" idx="4"/>
              </p:cNvCxnSpPr>
              <p:nvPr/>
            </p:nvCxnSpPr>
            <p:spPr>
              <a:xfrm flipV="1">
                <a:off x="2636060" y="4744518"/>
                <a:ext cx="0" cy="35064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7" name="Oval 86">
                    <a:extLst>
                      <a:ext uri="{FF2B5EF4-FFF2-40B4-BE49-F238E27FC236}">
                        <a16:creationId xmlns:a16="http://schemas.microsoft.com/office/drawing/2014/main" id="{21BA74BD-ACFB-1673-7041-2656DFDAAD16}"/>
                      </a:ext>
                    </a:extLst>
                  </p:cNvPr>
                  <p:cNvSpPr/>
                  <p:nvPr/>
                </p:nvSpPr>
                <p:spPr>
                  <a:xfrm>
                    <a:off x="5023168" y="4363518"/>
                    <a:ext cx="381000" cy="381000"/>
                  </a:xfrm>
                  <a:prstGeom prst="ellipse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5"/>
                  </a:fillRef>
                  <a:effectRef idx="1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87" name="Oval 86">
                    <a:extLst>
                      <a:ext uri="{FF2B5EF4-FFF2-40B4-BE49-F238E27FC236}">
                        <a16:creationId xmlns:a16="http://schemas.microsoft.com/office/drawing/2014/main" id="{21BA74BD-ACFB-1673-7041-2656DFDAAD1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23168" y="4363518"/>
                    <a:ext cx="381000" cy="381000"/>
                  </a:xfrm>
                  <a:prstGeom prst="ellipse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8" name="Oval 87">
                    <a:extLst>
                      <a:ext uri="{FF2B5EF4-FFF2-40B4-BE49-F238E27FC236}">
                        <a16:creationId xmlns:a16="http://schemas.microsoft.com/office/drawing/2014/main" id="{1F8AB673-20CA-FF3A-95FA-A5D8801DC1D9}"/>
                      </a:ext>
                    </a:extLst>
                  </p:cNvPr>
                  <p:cNvSpPr/>
                  <p:nvPr/>
                </p:nvSpPr>
                <p:spPr>
                  <a:xfrm>
                    <a:off x="3734364" y="4363518"/>
                    <a:ext cx="381000" cy="381000"/>
                  </a:xfrm>
                  <a:prstGeom prst="ellipse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5"/>
                  </a:fillRef>
                  <a:effectRef idx="1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88" name="Oval 87">
                    <a:extLst>
                      <a:ext uri="{FF2B5EF4-FFF2-40B4-BE49-F238E27FC236}">
                        <a16:creationId xmlns:a16="http://schemas.microsoft.com/office/drawing/2014/main" id="{1F8AB673-20CA-FF3A-95FA-A5D8801DC1D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34364" y="4363518"/>
                    <a:ext cx="381000" cy="381000"/>
                  </a:xfrm>
                  <a:prstGeom prst="ellipse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9" name="Straight Arrow Connector 88">
                <a:extLst>
                  <a:ext uri="{FF2B5EF4-FFF2-40B4-BE49-F238E27FC236}">
                    <a16:creationId xmlns:a16="http://schemas.microsoft.com/office/drawing/2014/main" id="{B6469518-5154-F73B-15BB-2739DBD79887}"/>
                  </a:ext>
                </a:extLst>
              </p:cNvPr>
              <p:cNvCxnSpPr>
                <a:cxnSpLocks/>
                <a:stCxn id="79" idx="0"/>
                <a:endCxn id="88" idx="4"/>
              </p:cNvCxnSpPr>
              <p:nvPr/>
            </p:nvCxnSpPr>
            <p:spPr>
              <a:xfrm flipV="1">
                <a:off x="3924864" y="4744518"/>
                <a:ext cx="0" cy="35064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90" name="Straight Arrow Connector 89">
                <a:extLst>
                  <a:ext uri="{FF2B5EF4-FFF2-40B4-BE49-F238E27FC236}">
                    <a16:creationId xmlns:a16="http://schemas.microsoft.com/office/drawing/2014/main" id="{2139AC4D-2F11-4E74-3497-0C70BD23E8D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221163" y="4744518"/>
                <a:ext cx="40" cy="35064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9B8CD154-3C04-1DF8-BB95-1063BFC2BDB4}"/>
                  </a:ext>
                </a:extLst>
              </p:cNvPr>
              <p:cNvSpPr/>
              <p:nvPr/>
            </p:nvSpPr>
            <p:spPr>
              <a:xfrm>
                <a:off x="2286000" y="5006715"/>
                <a:ext cx="4564465" cy="554636"/>
              </a:xfrm>
              <a:prstGeom prst="rect">
                <a:avLst/>
              </a:prstGeom>
              <a:solidFill>
                <a:srgbClr val="747474">
                  <a:alpha val="50196"/>
                </a:srgbClr>
              </a:solidFill>
              <a:ln>
                <a:noFill/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042011B3-56B5-C56A-C96E-1309B2EB18ED}"/>
                </a:ext>
              </a:extLst>
            </p:cNvPr>
            <p:cNvSpPr txBox="1"/>
            <p:nvPr/>
          </p:nvSpPr>
          <p:spPr>
            <a:xfrm>
              <a:off x="10465633" y="2221907"/>
              <a:ext cx="80552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HMM</a:t>
              </a:r>
            </a:p>
          </p:txBody>
        </p: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2B6178BD-FB23-588D-AE2D-AA6B7C0E78F2}"/>
              </a:ext>
            </a:extLst>
          </p:cNvPr>
          <p:cNvGrpSpPr/>
          <p:nvPr/>
        </p:nvGrpSpPr>
        <p:grpSpPr>
          <a:xfrm>
            <a:off x="3716157" y="4137286"/>
            <a:ext cx="4759686" cy="2046338"/>
            <a:chOff x="3716157" y="4137286"/>
            <a:chExt cx="4759686" cy="204633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38B52609-46FB-6610-B951-65F3B08845E3}"/>
                    </a:ext>
                  </a:extLst>
                </p:cNvPr>
                <p:cNvSpPr/>
                <p:nvPr/>
              </p:nvSpPr>
              <p:spPr>
                <a:xfrm>
                  <a:off x="3968390" y="5178338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38B52609-46FB-6610-B951-65F3B08845E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68390" y="5178338"/>
                  <a:ext cx="381000" cy="381000"/>
                </a:xfrm>
                <a:prstGeom prst="ellipse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Flowchart: Decision 5">
                  <a:extLst>
                    <a:ext uri="{FF2B5EF4-FFF2-40B4-BE49-F238E27FC236}">
                      <a16:creationId xmlns:a16="http://schemas.microsoft.com/office/drawing/2014/main" id="{4D078D20-D69A-073E-AD30-5DA7F47A858A}"/>
                    </a:ext>
                  </a:extLst>
                </p:cNvPr>
                <p:cNvSpPr/>
                <p:nvPr/>
              </p:nvSpPr>
              <p:spPr>
                <a:xfrm>
                  <a:off x="4511791" y="4603823"/>
                  <a:ext cx="635194" cy="414210"/>
                </a:xfrm>
                <a:prstGeom prst="flowChartDecision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3"/>
                </a:fillRef>
                <a:effectRef idx="1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Flowchart: Decision 5">
                  <a:extLst>
                    <a:ext uri="{FF2B5EF4-FFF2-40B4-BE49-F238E27FC236}">
                      <a16:creationId xmlns:a16="http://schemas.microsoft.com/office/drawing/2014/main" id="{4D078D20-D69A-073E-AD30-5DA7F47A858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11791" y="4603823"/>
                  <a:ext cx="635194" cy="414210"/>
                </a:xfrm>
                <a:prstGeom prst="flowChartDecision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317D26BA-7CEB-6B14-7C7F-97AFB5DD9BCB}"/>
                    </a:ext>
                  </a:extLst>
                </p:cNvPr>
                <p:cNvSpPr/>
                <p:nvPr/>
              </p:nvSpPr>
              <p:spPr>
                <a:xfrm>
                  <a:off x="5251510" y="5749838"/>
                  <a:ext cx="404849" cy="294652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317D26BA-7CEB-6B14-7C7F-97AFB5DD9B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1510" y="5749838"/>
                  <a:ext cx="404849" cy="294652"/>
                </a:xfrm>
                <a:prstGeom prst="rect">
                  <a:avLst/>
                </a:prstGeom>
                <a:blipFill>
                  <a:blip r:embed="rId19"/>
                  <a:stretch>
                    <a:fillRect b="-566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E091C890-C881-501F-69D1-0F21282D20F4}"/>
                </a:ext>
              </a:extLst>
            </p:cNvPr>
            <p:cNvCxnSpPr>
              <a:cxnSpLocks/>
              <a:stCxn id="33" idx="6"/>
              <a:endCxn id="6" idx="1"/>
            </p:cNvCxnSpPr>
            <p:nvPr/>
          </p:nvCxnSpPr>
          <p:spPr>
            <a:xfrm flipV="1">
              <a:off x="4349390" y="4810928"/>
              <a:ext cx="162401" cy="2682"/>
            </a:xfrm>
            <a:prstGeom prst="straightConnector1">
              <a:avLst/>
            </a:prstGeom>
            <a:ln>
              <a:solidFill>
                <a:schemeClr val="accent3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35A6F6B4-70C1-1824-DF32-4F0655095E28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4293594" y="5503542"/>
              <a:ext cx="957916" cy="393622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15CD8546-8656-59FC-172E-608B84783442}"/>
                </a:ext>
              </a:extLst>
            </p:cNvPr>
            <p:cNvCxnSpPr>
              <a:cxnSpLocks/>
              <a:stCxn id="6" idx="2"/>
              <a:endCxn id="7" idx="0"/>
            </p:cNvCxnSpPr>
            <p:nvPr/>
          </p:nvCxnSpPr>
          <p:spPr>
            <a:xfrm>
              <a:off x="4829388" y="5018033"/>
              <a:ext cx="624547" cy="731805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75AF2C63-6680-4464-2AEB-E3E767685DB0}"/>
                </a:ext>
              </a:extLst>
            </p:cNvPr>
            <p:cNvCxnSpPr>
              <a:cxnSpLocks/>
              <a:stCxn id="5" idx="6"/>
            </p:cNvCxnSpPr>
            <p:nvPr/>
          </p:nvCxnSpPr>
          <p:spPr>
            <a:xfrm>
              <a:off x="4349390" y="5368838"/>
              <a:ext cx="90780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14B0E5A-9182-6620-C4A4-696854885ACC}"/>
                </a:ext>
              </a:extLst>
            </p:cNvPr>
            <p:cNvCxnSpPr>
              <a:cxnSpLocks/>
              <a:stCxn id="6" idx="3"/>
              <a:endCxn id="13" idx="1"/>
            </p:cNvCxnSpPr>
            <p:nvPr/>
          </p:nvCxnSpPr>
          <p:spPr>
            <a:xfrm>
              <a:off x="5146985" y="4810928"/>
              <a:ext cx="166005" cy="42320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A0A79D65-2AFB-77A4-3E9B-86A7701010A8}"/>
                    </a:ext>
                  </a:extLst>
                </p:cNvPr>
                <p:cNvSpPr/>
                <p:nvPr/>
              </p:nvSpPr>
              <p:spPr>
                <a:xfrm>
                  <a:off x="5257194" y="5178338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A0A79D65-2AFB-77A4-3E9B-86A7701010A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7194" y="5178338"/>
                  <a:ext cx="381000" cy="381000"/>
                </a:xfrm>
                <a:prstGeom prst="ellipse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Flowchart: Decision 13">
                  <a:extLst>
                    <a:ext uri="{FF2B5EF4-FFF2-40B4-BE49-F238E27FC236}">
                      <a16:creationId xmlns:a16="http://schemas.microsoft.com/office/drawing/2014/main" id="{BEE4A6E7-9C3D-7CA5-E32A-F2C99A416ED9}"/>
                    </a:ext>
                  </a:extLst>
                </p:cNvPr>
                <p:cNvSpPr/>
                <p:nvPr/>
              </p:nvSpPr>
              <p:spPr>
                <a:xfrm>
                  <a:off x="5829643" y="4588855"/>
                  <a:ext cx="635194" cy="414210"/>
                </a:xfrm>
                <a:prstGeom prst="flowChartDecision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3"/>
                </a:fillRef>
                <a:effectRef idx="1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Flowchart: Decision 13">
                  <a:extLst>
                    <a:ext uri="{FF2B5EF4-FFF2-40B4-BE49-F238E27FC236}">
                      <a16:creationId xmlns:a16="http://schemas.microsoft.com/office/drawing/2014/main" id="{BEE4A6E7-9C3D-7CA5-E32A-F2C99A416E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29643" y="4588855"/>
                  <a:ext cx="635194" cy="414210"/>
                </a:xfrm>
                <a:prstGeom prst="flowChartDecision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3EDB8AA9-5AAB-6526-7257-83185E260308}"/>
                    </a:ext>
                  </a:extLst>
                </p:cNvPr>
                <p:cNvSpPr/>
                <p:nvPr/>
              </p:nvSpPr>
              <p:spPr>
                <a:xfrm>
                  <a:off x="6560718" y="5749838"/>
                  <a:ext cx="404849" cy="294652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3EDB8AA9-5AAB-6526-7257-83185E26030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718" y="5749838"/>
                  <a:ext cx="404849" cy="294652"/>
                </a:xfrm>
                <a:prstGeom prst="rect">
                  <a:avLst/>
                </a:prstGeom>
                <a:blipFill>
                  <a:blip r:embed="rId22"/>
                  <a:stretch>
                    <a:fillRect b="-566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3D443ED-6916-B9D9-57B3-3AE051BB1147}"/>
                </a:ext>
              </a:extLst>
            </p:cNvPr>
            <p:cNvCxnSpPr>
              <a:cxnSpLocks/>
              <a:stCxn id="32" idx="6"/>
              <a:endCxn id="14" idx="1"/>
            </p:cNvCxnSpPr>
            <p:nvPr/>
          </p:nvCxnSpPr>
          <p:spPr>
            <a:xfrm flipV="1">
              <a:off x="5638194" y="4795960"/>
              <a:ext cx="191449" cy="6964"/>
            </a:xfrm>
            <a:prstGeom prst="straightConnector1">
              <a:avLst/>
            </a:prstGeom>
            <a:ln>
              <a:solidFill>
                <a:schemeClr val="accent3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059BAAB-6BB8-FCF0-6F11-9C54180D7470}"/>
                </a:ext>
              </a:extLst>
            </p:cNvPr>
            <p:cNvCxnSpPr>
              <a:cxnSpLocks/>
              <a:stCxn id="13" idx="5"/>
              <a:endCxn id="15" idx="1"/>
            </p:cNvCxnSpPr>
            <p:nvPr/>
          </p:nvCxnSpPr>
          <p:spPr>
            <a:xfrm>
              <a:off x="5582398" y="5503542"/>
              <a:ext cx="978320" cy="393622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73396A7-40C1-55A0-C949-D1474006B76E}"/>
                </a:ext>
              </a:extLst>
            </p:cNvPr>
            <p:cNvCxnSpPr>
              <a:cxnSpLocks/>
              <a:stCxn id="14" idx="2"/>
              <a:endCxn id="15" idx="0"/>
            </p:cNvCxnSpPr>
            <p:nvPr/>
          </p:nvCxnSpPr>
          <p:spPr>
            <a:xfrm>
              <a:off x="6147240" y="5003065"/>
              <a:ext cx="615903" cy="746773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D321E174-25DC-4738-DC3F-D29BB77BB67C}"/>
                </a:ext>
              </a:extLst>
            </p:cNvPr>
            <p:cNvCxnSpPr>
              <a:cxnSpLocks/>
              <a:stCxn id="13" idx="6"/>
            </p:cNvCxnSpPr>
            <p:nvPr/>
          </p:nvCxnSpPr>
          <p:spPr>
            <a:xfrm>
              <a:off x="5638194" y="5368838"/>
              <a:ext cx="90780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AEE32C7-9615-1D37-3CC2-00726946B2C4}"/>
                </a:ext>
              </a:extLst>
            </p:cNvPr>
            <p:cNvCxnSpPr>
              <a:cxnSpLocks/>
              <a:stCxn id="14" idx="3"/>
            </p:cNvCxnSpPr>
            <p:nvPr/>
          </p:nvCxnSpPr>
          <p:spPr>
            <a:xfrm>
              <a:off x="6464837" y="4795960"/>
              <a:ext cx="188155" cy="38097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777CB221-299C-B0EA-873A-67CF31628F30}"/>
                    </a:ext>
                  </a:extLst>
                </p:cNvPr>
                <p:cNvSpPr/>
                <p:nvPr/>
              </p:nvSpPr>
              <p:spPr>
                <a:xfrm>
                  <a:off x="6546038" y="5178338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777CB221-299C-B0EA-873A-67CF31628F3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6038" y="5178338"/>
                  <a:ext cx="381000" cy="381000"/>
                </a:xfrm>
                <a:prstGeom prst="ellipse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Flowchart: Decision 21">
                  <a:extLst>
                    <a:ext uri="{FF2B5EF4-FFF2-40B4-BE49-F238E27FC236}">
                      <a16:creationId xmlns:a16="http://schemas.microsoft.com/office/drawing/2014/main" id="{5B3F60C3-A52C-3BFC-EF58-082E604E12F3}"/>
                    </a:ext>
                  </a:extLst>
                </p:cNvPr>
                <p:cNvSpPr/>
                <p:nvPr/>
              </p:nvSpPr>
              <p:spPr>
                <a:xfrm>
                  <a:off x="7064303" y="4595819"/>
                  <a:ext cx="635194" cy="414210"/>
                </a:xfrm>
                <a:prstGeom prst="flowChartDecision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3"/>
                </a:fillRef>
                <a:effectRef idx="1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Flowchart: Decision 21">
                  <a:extLst>
                    <a:ext uri="{FF2B5EF4-FFF2-40B4-BE49-F238E27FC236}">
                      <a16:creationId xmlns:a16="http://schemas.microsoft.com/office/drawing/2014/main" id="{5B3F60C3-A52C-3BFC-EF58-082E604E12F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64303" y="4595819"/>
                  <a:ext cx="635194" cy="414210"/>
                </a:xfrm>
                <a:prstGeom prst="flowChartDecision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560E874E-7D23-2186-1B9C-8D18C6895CB2}"/>
                    </a:ext>
                  </a:extLst>
                </p:cNvPr>
                <p:cNvSpPr/>
                <p:nvPr/>
              </p:nvSpPr>
              <p:spPr>
                <a:xfrm>
                  <a:off x="7769414" y="5767098"/>
                  <a:ext cx="404849" cy="294652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560E874E-7D23-2186-1B9C-8D18C6895CB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9414" y="5767098"/>
                  <a:ext cx="404849" cy="294652"/>
                </a:xfrm>
                <a:prstGeom prst="rect">
                  <a:avLst/>
                </a:prstGeom>
                <a:blipFill>
                  <a:blip r:embed="rId25"/>
                  <a:stretch>
                    <a:fillRect b="-769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567FECB7-57BD-C6C1-81C5-E9D438906A3D}"/>
                </a:ext>
              </a:extLst>
            </p:cNvPr>
            <p:cNvCxnSpPr>
              <a:cxnSpLocks/>
              <a:stCxn id="31" idx="6"/>
              <a:endCxn id="22" idx="1"/>
            </p:cNvCxnSpPr>
            <p:nvPr/>
          </p:nvCxnSpPr>
          <p:spPr>
            <a:xfrm>
              <a:off x="6933857" y="4802513"/>
              <a:ext cx="130446" cy="411"/>
            </a:xfrm>
            <a:prstGeom prst="straightConnector1">
              <a:avLst/>
            </a:prstGeom>
            <a:ln>
              <a:solidFill>
                <a:schemeClr val="accent3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1A9E872E-DFD7-A21E-27A4-6F9A84CBDD73}"/>
                </a:ext>
              </a:extLst>
            </p:cNvPr>
            <p:cNvCxnSpPr>
              <a:cxnSpLocks/>
              <a:stCxn id="21" idx="5"/>
              <a:endCxn id="23" idx="1"/>
            </p:cNvCxnSpPr>
            <p:nvPr/>
          </p:nvCxnSpPr>
          <p:spPr>
            <a:xfrm>
              <a:off x="6871242" y="5503542"/>
              <a:ext cx="898172" cy="410882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BB7B57F0-56B2-CD3B-71EA-37969B33E9C7}"/>
                </a:ext>
              </a:extLst>
            </p:cNvPr>
            <p:cNvCxnSpPr>
              <a:cxnSpLocks/>
              <a:stCxn id="22" idx="2"/>
              <a:endCxn id="23" idx="0"/>
            </p:cNvCxnSpPr>
            <p:nvPr/>
          </p:nvCxnSpPr>
          <p:spPr>
            <a:xfrm>
              <a:off x="7381900" y="5010029"/>
              <a:ext cx="589939" cy="757069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F588C65-EBE7-3760-821D-5784F1162BA8}"/>
                </a:ext>
              </a:extLst>
            </p:cNvPr>
            <p:cNvCxnSpPr>
              <a:cxnSpLocks/>
              <a:stCxn id="21" idx="6"/>
            </p:cNvCxnSpPr>
            <p:nvPr/>
          </p:nvCxnSpPr>
          <p:spPr>
            <a:xfrm>
              <a:off x="6927038" y="5368838"/>
              <a:ext cx="90780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1305087F-0C64-279F-5ED6-BFD51E49547F}"/>
                </a:ext>
              </a:extLst>
            </p:cNvPr>
            <p:cNvCxnSpPr>
              <a:cxnSpLocks/>
              <a:stCxn id="22" idx="3"/>
            </p:cNvCxnSpPr>
            <p:nvPr/>
          </p:nvCxnSpPr>
          <p:spPr>
            <a:xfrm>
              <a:off x="7699497" y="4802924"/>
              <a:ext cx="242447" cy="37043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A2C0D2A-C16D-E5F7-2092-B030DE1EBC9B}"/>
                </a:ext>
              </a:extLst>
            </p:cNvPr>
            <p:cNvSpPr txBox="1"/>
            <p:nvPr/>
          </p:nvSpPr>
          <p:spPr>
            <a:xfrm>
              <a:off x="7842489" y="5162131"/>
              <a:ext cx="3959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…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B7EAE37F-88FE-B82C-EE5D-EA4CD9BE34B9}"/>
                </a:ext>
              </a:extLst>
            </p:cNvPr>
            <p:cNvSpPr/>
            <p:nvPr/>
          </p:nvSpPr>
          <p:spPr>
            <a:xfrm>
              <a:off x="3716157" y="4137286"/>
              <a:ext cx="4759686" cy="2046338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B063C8C2-2916-70E8-CCB0-F198916A5364}"/>
                    </a:ext>
                  </a:extLst>
                </p:cNvPr>
                <p:cNvSpPr/>
                <p:nvPr/>
              </p:nvSpPr>
              <p:spPr>
                <a:xfrm>
                  <a:off x="6552857" y="4612013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5"/>
                </a:fillRef>
                <a:effectRef idx="1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B063C8C2-2916-70E8-CCB0-F198916A536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52857" y="4612013"/>
                  <a:ext cx="381000" cy="381000"/>
                </a:xfrm>
                <a:prstGeom prst="ellipse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B5D6B462-3501-9E63-5775-F1F561EA5BA3}"/>
                    </a:ext>
                  </a:extLst>
                </p:cNvPr>
                <p:cNvSpPr/>
                <p:nvPr/>
              </p:nvSpPr>
              <p:spPr>
                <a:xfrm>
                  <a:off x="5257194" y="4612424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5"/>
                </a:fillRef>
                <a:effectRef idx="1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B5D6B462-3501-9E63-5775-F1F561EA5BA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7194" y="4612424"/>
                  <a:ext cx="381000" cy="381000"/>
                </a:xfrm>
                <a:prstGeom prst="ellipse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965F2D06-6778-725C-72F4-19EC1B02AD53}"/>
                    </a:ext>
                  </a:extLst>
                </p:cNvPr>
                <p:cNvSpPr/>
                <p:nvPr/>
              </p:nvSpPr>
              <p:spPr>
                <a:xfrm>
                  <a:off x="3968390" y="4623110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5"/>
                </a:fillRef>
                <a:effectRef idx="1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965F2D06-6778-725C-72F4-19EC1B02AD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68390" y="4623110"/>
                  <a:ext cx="381000" cy="381000"/>
                </a:xfrm>
                <a:prstGeom prst="ellipse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825060A6-68D8-BA45-DF30-F80CF46FC922}"/>
                </a:ext>
              </a:extLst>
            </p:cNvPr>
            <p:cNvCxnSpPr>
              <a:stCxn id="5" idx="0"/>
              <a:endCxn id="33" idx="4"/>
            </p:cNvCxnSpPr>
            <p:nvPr/>
          </p:nvCxnSpPr>
          <p:spPr>
            <a:xfrm flipV="1">
              <a:off x="4158890" y="5004110"/>
              <a:ext cx="0" cy="1742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19291E5-5551-467B-30A5-23818EB81650}"/>
                </a:ext>
              </a:extLst>
            </p:cNvPr>
            <p:cNvSpPr/>
            <p:nvPr/>
          </p:nvSpPr>
          <p:spPr>
            <a:xfrm>
              <a:off x="3759574" y="5127899"/>
              <a:ext cx="4564465" cy="554636"/>
            </a:xfrm>
            <a:prstGeom prst="rect">
              <a:avLst/>
            </a:prstGeom>
            <a:solidFill>
              <a:srgbClr val="747474">
                <a:alpha val="50196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A16D99D1-7911-36A0-F248-55DB45284D08}"/>
                </a:ext>
              </a:extLst>
            </p:cNvPr>
            <p:cNvCxnSpPr>
              <a:cxnSpLocks/>
              <a:stCxn id="21" idx="0"/>
              <a:endCxn id="31" idx="4"/>
            </p:cNvCxnSpPr>
            <p:nvPr/>
          </p:nvCxnSpPr>
          <p:spPr>
            <a:xfrm flipV="1">
              <a:off x="6736538" y="4993013"/>
              <a:ext cx="6819" cy="18532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E8EBB2AD-EE20-6F53-34B5-96832A2BB790}"/>
                </a:ext>
              </a:extLst>
            </p:cNvPr>
            <p:cNvCxnSpPr>
              <a:cxnSpLocks/>
              <a:stCxn id="13" idx="0"/>
              <a:endCxn id="32" idx="4"/>
            </p:cNvCxnSpPr>
            <p:nvPr/>
          </p:nvCxnSpPr>
          <p:spPr>
            <a:xfrm flipV="1">
              <a:off x="5447694" y="4993424"/>
              <a:ext cx="0" cy="18491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sp>
          <p:nvSpPr>
            <p:cNvPr id="123" name="Arc 122">
              <a:extLst>
                <a:ext uri="{FF2B5EF4-FFF2-40B4-BE49-F238E27FC236}">
                  <a16:creationId xmlns:a16="http://schemas.microsoft.com/office/drawing/2014/main" id="{1E8F2E65-2C7D-55B9-C0B3-280017C4FC20}"/>
                </a:ext>
              </a:extLst>
            </p:cNvPr>
            <p:cNvSpPr/>
            <p:nvPr/>
          </p:nvSpPr>
          <p:spPr>
            <a:xfrm>
              <a:off x="4226242" y="4522004"/>
              <a:ext cx="1154100" cy="207590"/>
            </a:xfrm>
            <a:prstGeom prst="arc">
              <a:avLst>
                <a:gd name="adj1" fmla="val 10842268"/>
                <a:gd name="adj2" fmla="val 0"/>
              </a:avLst>
            </a:prstGeom>
            <a:ln>
              <a:headEnd type="none" w="med" len="med"/>
              <a:tailEnd type="triangle" w="med" len="med"/>
            </a:ln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Arc 123">
              <a:extLst>
                <a:ext uri="{FF2B5EF4-FFF2-40B4-BE49-F238E27FC236}">
                  <a16:creationId xmlns:a16="http://schemas.microsoft.com/office/drawing/2014/main" id="{71608648-B743-696A-F0AF-30D718B0A845}"/>
                </a:ext>
              </a:extLst>
            </p:cNvPr>
            <p:cNvSpPr/>
            <p:nvPr/>
          </p:nvSpPr>
          <p:spPr>
            <a:xfrm>
              <a:off x="5515046" y="4524755"/>
              <a:ext cx="1154100" cy="207590"/>
            </a:xfrm>
            <a:prstGeom prst="arc">
              <a:avLst>
                <a:gd name="adj1" fmla="val 10842268"/>
                <a:gd name="adj2" fmla="val 0"/>
              </a:avLst>
            </a:prstGeom>
            <a:ln>
              <a:headEnd type="none" w="med" len="med"/>
              <a:tailEnd type="triangle" w="med" len="med"/>
            </a:ln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Arc 124">
              <a:extLst>
                <a:ext uri="{FF2B5EF4-FFF2-40B4-BE49-F238E27FC236}">
                  <a16:creationId xmlns:a16="http://schemas.microsoft.com/office/drawing/2014/main" id="{4D4B2C89-D961-0F55-1FB5-1E79680C2DF1}"/>
                </a:ext>
              </a:extLst>
            </p:cNvPr>
            <p:cNvSpPr/>
            <p:nvPr/>
          </p:nvSpPr>
          <p:spPr>
            <a:xfrm>
              <a:off x="6781589" y="4503426"/>
              <a:ext cx="1154100" cy="207590"/>
            </a:xfrm>
            <a:prstGeom prst="arc">
              <a:avLst>
                <a:gd name="adj1" fmla="val 10842268"/>
                <a:gd name="adj2" fmla="val 0"/>
              </a:avLst>
            </a:prstGeom>
            <a:ln>
              <a:headEnd type="none" w="med" len="med"/>
              <a:tailEnd type="triangle" w="med" len="med"/>
            </a:ln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Arc 125">
              <a:extLst>
                <a:ext uri="{FF2B5EF4-FFF2-40B4-BE49-F238E27FC236}">
                  <a16:creationId xmlns:a16="http://schemas.microsoft.com/office/drawing/2014/main" id="{C0AA3B6B-1224-FED8-1B65-8B4D819F1AC0}"/>
                </a:ext>
              </a:extLst>
            </p:cNvPr>
            <p:cNvSpPr/>
            <p:nvPr/>
          </p:nvSpPr>
          <p:spPr>
            <a:xfrm>
              <a:off x="4234126" y="4377116"/>
              <a:ext cx="2474374" cy="463462"/>
            </a:xfrm>
            <a:prstGeom prst="arc">
              <a:avLst>
                <a:gd name="adj1" fmla="val 10842268"/>
                <a:gd name="adj2" fmla="val 0"/>
              </a:avLst>
            </a:prstGeom>
            <a:ln>
              <a:headEnd type="none" w="med" len="med"/>
              <a:tailEnd type="triangle" w="med" len="med"/>
            </a:ln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" name="Arc 126">
              <a:extLst>
                <a:ext uri="{FF2B5EF4-FFF2-40B4-BE49-F238E27FC236}">
                  <a16:creationId xmlns:a16="http://schemas.microsoft.com/office/drawing/2014/main" id="{72D008EA-EA52-462A-DD8B-B0CFB5657FFA}"/>
                </a:ext>
              </a:extLst>
            </p:cNvPr>
            <p:cNvSpPr/>
            <p:nvPr/>
          </p:nvSpPr>
          <p:spPr>
            <a:xfrm>
              <a:off x="5490551" y="4387310"/>
              <a:ext cx="2474374" cy="463462"/>
            </a:xfrm>
            <a:prstGeom prst="arc">
              <a:avLst>
                <a:gd name="adj1" fmla="val 10842268"/>
                <a:gd name="adj2" fmla="val 0"/>
              </a:avLst>
            </a:prstGeom>
            <a:ln>
              <a:headEnd type="none" w="med" len="med"/>
              <a:tailEnd type="triangle" w="med" len="med"/>
            </a:ln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Arc 127">
              <a:extLst>
                <a:ext uri="{FF2B5EF4-FFF2-40B4-BE49-F238E27FC236}">
                  <a16:creationId xmlns:a16="http://schemas.microsoft.com/office/drawing/2014/main" id="{EFB0C6D4-0A80-1F66-6D09-2E89E2A4908D}"/>
                </a:ext>
              </a:extLst>
            </p:cNvPr>
            <p:cNvSpPr/>
            <p:nvPr/>
          </p:nvSpPr>
          <p:spPr>
            <a:xfrm>
              <a:off x="4158890" y="4282123"/>
              <a:ext cx="3958435" cy="668607"/>
            </a:xfrm>
            <a:prstGeom prst="arc">
              <a:avLst>
                <a:gd name="adj1" fmla="val 10842268"/>
                <a:gd name="adj2" fmla="val 0"/>
              </a:avLst>
            </a:prstGeom>
            <a:ln>
              <a:headEnd type="none" w="med" len="med"/>
              <a:tailEnd type="triangle" w="med" len="med"/>
            </a:ln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0" name="Speech Bubble: Rectangle with Corners Rounded 129">
            <a:extLst>
              <a:ext uri="{FF2B5EF4-FFF2-40B4-BE49-F238E27FC236}">
                <a16:creationId xmlns:a16="http://schemas.microsoft.com/office/drawing/2014/main" id="{C949C14C-43B7-9B31-45D3-2DE65218DC1D}"/>
              </a:ext>
            </a:extLst>
          </p:cNvPr>
          <p:cNvSpPr/>
          <p:nvPr/>
        </p:nvSpPr>
        <p:spPr>
          <a:xfrm>
            <a:off x="9488773" y="4129789"/>
            <a:ext cx="2355907" cy="2053835"/>
          </a:xfrm>
          <a:prstGeom prst="wedgeRoundRectCallout">
            <a:avLst>
              <a:gd name="adj1" fmla="val -109999"/>
              <a:gd name="adj2" fmla="val -34221"/>
              <a:gd name="adj3" fmla="val 1666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Note</a:t>
            </a:r>
            <a:r>
              <a:rPr lang="en-US" dirty="0"/>
              <a:t>: Actions depend on all observations seen so far! POMDPs can be solved model-based using belief states.</a:t>
            </a:r>
          </a:p>
        </p:txBody>
      </p:sp>
    </p:spTree>
    <p:extLst>
      <p:ext uri="{BB962C8B-B14F-4D97-AF65-F5344CB8AC3E}">
        <p14:creationId xmlns:p14="http://schemas.microsoft.com/office/powerpoint/2010/main" val="29041831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9" name="Rectangle 3078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4" name="Picture 2" descr="Iceberg Floating In Arctic Sea Iceberg - Hidden Danger And Global Warming Concept - 3d Illustration iceberg stock pictures, royalty-free photos &amp; images">
            <a:extLst>
              <a:ext uri="{FF2B5EF4-FFF2-40B4-BE49-F238E27FC236}">
                <a16:creationId xmlns:a16="http://schemas.microsoft.com/office/drawing/2014/main" id="{DE6F77F8-63C3-CAEB-769C-023FEECCAF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16" b="11549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E21EFBA-99E4-973F-2414-0FB468B69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Partially Observable RL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48A53D-3F1E-C391-CB6C-F865213CF1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643D41-7E3C-6148-B0A5-673220FE4387}"/>
              </a:ext>
            </a:extLst>
          </p:cNvPr>
          <p:cNvSpPr txBox="1"/>
          <p:nvPr/>
        </p:nvSpPr>
        <p:spPr>
          <a:xfrm>
            <a:off x="9571220" y="6219164"/>
            <a:ext cx="25455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iStock</a:t>
            </a:r>
            <a:br>
              <a:rPr lang="en-US" sz="1600" dirty="0">
                <a:solidFill>
                  <a:schemeClr val="bg1">
                    <a:lumMod val="65000"/>
                    <a:lumOff val="35000"/>
                  </a:schemeClr>
                </a:solidFill>
              </a:rPr>
            </a:br>
            <a:r>
              <a:rPr lang="en-US" sz="16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Credit: </a:t>
            </a:r>
            <a:r>
              <a:rPr lang="en-US" sz="1600" u="sng" dirty="0" err="1">
                <a:solidFill>
                  <a:schemeClr val="bg1">
                    <a:lumMod val="65000"/>
                    <a:lumOff val="3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RomoloTavani</a:t>
            </a:r>
            <a:r>
              <a:rPr lang="en-US" sz="16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2956548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DB56E-C176-70EE-0CF8-41F694057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RL with Partial Observability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564D88-9540-F782-EE2E-B28003BEBF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Definition:</a:t>
                </a:r>
              </a:p>
              <a:p>
                <a:pPr lvl="1"/>
                <a:r>
                  <a:rPr lang="en-US" dirty="0">
                    <a:solidFill>
                      <a:schemeClr val="bg2">
                        <a:lumMod val="75000"/>
                      </a:schemeClr>
                    </a:solidFill>
                  </a:rPr>
                  <a:t>States: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dirty="0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endParaRPr lang="en-US" b="0" dirty="0">
                  <a:solidFill>
                    <a:schemeClr val="bg2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  <a:p>
                <a:pPr lvl="1"/>
                <a:r>
                  <a:rPr lang="en-US" dirty="0"/>
                  <a:t>Observations: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𝑜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𝒪</m:t>
                    </m:r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en-US" dirty="0"/>
                  <a:t>Actions: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en-US" dirty="0"/>
                  <a:t>Rewards: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en-US" dirty="0">
                    <a:solidFill>
                      <a:schemeClr val="bg2">
                        <a:lumMod val="75000"/>
                      </a:schemeClr>
                    </a:solidFill>
                  </a:rPr>
                  <a:t>Transition model: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dirty="0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 dirty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⁡(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 dirty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dirty="0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i="1" dirty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dirty="0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i="1" dirty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  <a:p>
                <a:pPr lvl="1"/>
                <a:r>
                  <a:rPr lang="en-US" dirty="0">
                    <a:solidFill>
                      <a:schemeClr val="bg2">
                        <a:lumMod val="75000"/>
                      </a:schemeClr>
                    </a:solidFill>
                  </a:rPr>
                  <a:t>Observation model: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dirty="0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 dirty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⁡(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 dirty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dirty="0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i="1" dirty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  <a:p>
                <a:pPr lvl="1"/>
                <a:r>
                  <a:rPr lang="en-US" dirty="0">
                    <a:solidFill>
                      <a:schemeClr val="bg2">
                        <a:lumMod val="75000"/>
                      </a:schemeClr>
                    </a:solidFill>
                  </a:rPr>
                  <a:t>Reward model: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dirty="0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 dirty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⁡(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 dirty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 dirty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 dirty="0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  <a:p>
                <a:pPr lvl="1"/>
                <a:r>
                  <a:rPr lang="en-US" dirty="0"/>
                  <a:t>Discount factor: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≤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≤1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Horizon: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ℕ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endParaRPr lang="en-US" dirty="0"/>
              </a:p>
              <a:p>
                <a:r>
                  <a:rPr lang="en-US" dirty="0"/>
                  <a:t>Goal: find optimal policy </a:t>
                </a:r>
                <a:br>
                  <a:rPr lang="en-US" dirty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lim>
                        </m:limLow>
                      </m:fName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𝔼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[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]</m:t>
                            </m:r>
                          </m:e>
                        </m:nary>
                      </m:e>
                    </m:func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564D88-9540-F782-EE2E-B28003BEBF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BA5B0DF8-B9C1-B70B-7027-EA0E2DE51EAA}"/>
              </a:ext>
            </a:extLst>
          </p:cNvPr>
          <p:cNvSpPr/>
          <p:nvPr/>
        </p:nvSpPr>
        <p:spPr>
          <a:xfrm>
            <a:off x="4332157" y="1289153"/>
            <a:ext cx="1903751" cy="449705"/>
          </a:xfrm>
          <a:prstGeom prst="wedgeRoundRectCallout">
            <a:avLst>
              <a:gd name="adj1" fmla="val -111529"/>
              <a:gd name="adj2" fmla="val 8659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Unobservable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D786EF85-09C2-4E0E-BB90-F316F98DA6B8}"/>
              </a:ext>
            </a:extLst>
          </p:cNvPr>
          <p:cNvSpPr/>
          <p:nvPr/>
        </p:nvSpPr>
        <p:spPr>
          <a:xfrm>
            <a:off x="5838670" y="3140439"/>
            <a:ext cx="155448" cy="91440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545186-2F22-C83E-3C97-321C14468F7C}"/>
              </a:ext>
            </a:extLst>
          </p:cNvPr>
          <p:cNvSpPr txBox="1"/>
          <p:nvPr/>
        </p:nvSpPr>
        <p:spPr>
          <a:xfrm>
            <a:off x="6575680" y="3403912"/>
            <a:ext cx="1873770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Unknown model</a:t>
            </a:r>
          </a:p>
        </p:txBody>
      </p:sp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C74EE969-6D75-C18D-9DE2-67D978D651A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270" r="11643" b="13005"/>
          <a:stretch>
            <a:fillRect/>
          </a:stretch>
        </p:blipFill>
        <p:spPr>
          <a:xfrm>
            <a:off x="7317320" y="1232375"/>
            <a:ext cx="4516160" cy="171681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9F96A4B-EC68-4B4B-6B2E-1A05A4216C75}"/>
              </a:ext>
            </a:extLst>
          </p:cNvPr>
          <p:cNvSpPr txBox="1"/>
          <p:nvPr/>
        </p:nvSpPr>
        <p:spPr>
          <a:xfrm>
            <a:off x="7317320" y="1578925"/>
            <a:ext cx="5675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</a:rPr>
              <a:t>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77F2337-7187-82EF-F82F-CF777882C555}"/>
                  </a:ext>
                </a:extLst>
              </p:cNvPr>
              <p:cNvSpPr txBox="1"/>
              <p:nvPr/>
            </p:nvSpPr>
            <p:spPr>
              <a:xfrm>
                <a:off x="6645581" y="2159834"/>
                <a:ext cx="110363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:r>
                  <a:rPr lang="en-US" sz="1400" dirty="0"/>
                  <a:t>observation</a:t>
                </a:r>
                <a:br>
                  <a:rPr lang="en-US" sz="14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77F2337-7187-82EF-F82F-CF777882C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581" y="2159834"/>
                <a:ext cx="1103635" cy="523220"/>
              </a:xfrm>
              <a:prstGeom prst="rect">
                <a:avLst/>
              </a:prstGeom>
              <a:blipFill>
                <a:blip r:embed="rId4"/>
                <a:stretch>
                  <a:fillRect l="-1657" t="-11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E8622735-5225-A77E-2ECF-6A59217E94FA}"/>
              </a:ext>
            </a:extLst>
          </p:cNvPr>
          <p:cNvSpPr txBox="1"/>
          <p:nvPr/>
        </p:nvSpPr>
        <p:spPr>
          <a:xfrm>
            <a:off x="9867332" y="2122359"/>
            <a:ext cx="677075" cy="3693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MDP</a:t>
            </a:r>
          </a:p>
        </p:txBody>
      </p:sp>
    </p:spTree>
    <p:extLst>
      <p:ext uri="{BB962C8B-B14F-4D97-AF65-F5344CB8AC3E}">
        <p14:creationId xmlns:p14="http://schemas.microsoft.com/office/powerpoint/2010/main" val="37990606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6F7C9-9EE1-57C5-4782-6CE09F8BC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States and Observations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15523D-58B4-18CD-389E-B1D4C9D9DD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47930" y="4045625"/>
                <a:ext cx="8405932" cy="2160304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b="1" dirty="0"/>
                  <a:t>Environment state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𝒔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𝒆</m:t>
                        </m:r>
                      </m:sup>
                    </m:sSubSup>
                  </m:oMath>
                </a14:m>
                <a:r>
                  <a:rPr lang="en-US" dirty="0"/>
                  <a:t>: Contains all information to determine the next state and needed to make the optimal decision for the next action.</a:t>
                </a:r>
              </a:p>
              <a:p>
                <a:r>
                  <a:rPr lang="en-US" b="1" dirty="0"/>
                  <a:t>Observation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en-US" dirty="0"/>
                  <a:t>: Information the agent receives. Depends on the environment state via </a:t>
                </a:r>
                <a:r>
                  <a:rPr lang="en-US" dirty="0">
                    <a:latin typeface="Cambria Math" panose="02040503050406030204" pitchFamily="18" charset="0"/>
                  </a:rPr>
                  <a:t>Pr</a:t>
                </a:r>
                <a14:m>
                  <m:oMath xmlns:m="http://schemas.openxmlformats.org/officeDocument/2006/math">
                    <m:d>
                      <m:dPr>
                        <m:endChr m:val="|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</a:p>
              <a:p>
                <a:r>
                  <a:rPr lang="en-US" b="1" dirty="0"/>
                  <a:t>Agent state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𝒔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𝒂</m:t>
                        </m:r>
                      </m:sup>
                    </m:sSubSup>
                  </m:oMath>
                </a14:m>
                <a:r>
                  <a:rPr lang="en-US" dirty="0"/>
                  <a:t>: Internal representation that the agent uses to choose actions. Typically,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15523D-58B4-18CD-389E-B1D4C9D9DD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47930" y="4045625"/>
                <a:ext cx="8405932" cy="2160304"/>
              </a:xfrm>
              <a:blipFill>
                <a:blip r:embed="rId2"/>
                <a:stretch>
                  <a:fillRect l="-1016" t="-6215" r="-1669" b="-64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E4B6A646-9DBE-7319-AA3C-EAAEC0FEFC7D}"/>
              </a:ext>
            </a:extLst>
          </p:cNvPr>
          <p:cNvGrpSpPr/>
          <p:nvPr/>
        </p:nvGrpSpPr>
        <p:grpSpPr>
          <a:xfrm>
            <a:off x="3640055" y="1221634"/>
            <a:ext cx="5255355" cy="2379164"/>
            <a:chOff x="2868062" y="3044791"/>
            <a:chExt cx="5255355" cy="2379164"/>
          </a:xfrm>
        </p:grpSpPr>
        <p:pic>
          <p:nvPicPr>
            <p:cNvPr id="5" name="Content Placeholder 4">
              <a:extLst>
                <a:ext uri="{FF2B5EF4-FFF2-40B4-BE49-F238E27FC236}">
                  <a16:creationId xmlns:a16="http://schemas.microsoft.com/office/drawing/2014/main" id="{D7367CD8-474D-8C9F-2596-C92C2DC352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2270" r="11643" b="13005"/>
            <a:stretch>
              <a:fillRect/>
            </a:stretch>
          </p:blipFill>
          <p:spPr>
            <a:xfrm>
              <a:off x="3607257" y="3375968"/>
              <a:ext cx="4516160" cy="171681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6EDFE9F-5D5E-2AE8-5022-47341B4EF07C}"/>
                </a:ext>
              </a:extLst>
            </p:cNvPr>
            <p:cNvSpPr txBox="1"/>
            <p:nvPr/>
          </p:nvSpPr>
          <p:spPr>
            <a:xfrm>
              <a:off x="3607257" y="3722518"/>
              <a:ext cx="56750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800" dirty="0">
                  <a:solidFill>
                    <a:srgbClr val="FF0000"/>
                  </a:solidFill>
                </a:rPr>
                <a:t>x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0FA2E0-98BD-5FA8-ADB3-539907773F66}"/>
                    </a:ext>
                  </a:extLst>
                </p:cNvPr>
                <p:cNvSpPr txBox="1"/>
                <p:nvPr/>
              </p:nvSpPr>
              <p:spPr>
                <a:xfrm>
                  <a:off x="2868062" y="4457494"/>
                  <a:ext cx="1135696" cy="523220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:r>
                    <a:rPr lang="en-US" sz="1400" dirty="0"/>
                    <a:t>Observation</a:t>
                  </a:r>
                  <a:br>
                    <a:rPr lang="en-US" sz="1400" dirty="0"/>
                  </a:b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0FA2E0-98BD-5FA8-ADB3-539907773F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68062" y="4457494"/>
                  <a:ext cx="1135696" cy="523220"/>
                </a:xfrm>
                <a:prstGeom prst="rect">
                  <a:avLst/>
                </a:prstGeom>
                <a:blipFill>
                  <a:blip r:embed="rId4"/>
                  <a:stretch>
                    <a:fillRect l="-1058" t="-11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415C92C-2E9F-009D-741A-46F471E0FB66}"/>
                </a:ext>
              </a:extLst>
            </p:cNvPr>
            <p:cNvSpPr txBox="1"/>
            <p:nvPr/>
          </p:nvSpPr>
          <p:spPr>
            <a:xfrm>
              <a:off x="6157269" y="4265952"/>
              <a:ext cx="677075" cy="369332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MDP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D56C4E86-E105-3A25-E51F-778ACA473DB1}"/>
                    </a:ext>
                  </a:extLst>
                </p:cNvPr>
                <p:cNvSpPr txBox="1"/>
                <p:nvPr/>
              </p:nvSpPr>
              <p:spPr>
                <a:xfrm>
                  <a:off x="5731042" y="4900735"/>
                  <a:ext cx="1171931" cy="523220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>
                  <a:spAutoFit/>
                </a:bodyPr>
                <a:lstStyle/>
                <a:p>
                  <a:r>
                    <a:rPr lang="en-US" sz="1400" dirty="0"/>
                    <a:t>Environment state 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D56C4E86-E105-3A25-E51F-778ACA473D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1042" y="4900735"/>
                  <a:ext cx="1171931" cy="523220"/>
                </a:xfrm>
                <a:prstGeom prst="rect">
                  <a:avLst/>
                </a:prstGeom>
                <a:blipFill>
                  <a:blip r:embed="rId5"/>
                  <a:stretch>
                    <a:fillRect l="-1026" t="-1124" r="-2564" b="-786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F97BFEA-B75C-B97B-0610-CF24E60B2333}"/>
                    </a:ext>
                  </a:extLst>
                </p:cNvPr>
                <p:cNvSpPr txBox="1"/>
                <p:nvPr/>
              </p:nvSpPr>
              <p:spPr>
                <a:xfrm>
                  <a:off x="5988373" y="3044791"/>
                  <a:ext cx="845971" cy="523220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wrap="square" rtlCol="0">
                  <a:spAutoFit/>
                </a:bodyPr>
                <a:lstStyle/>
                <a:p>
                  <a:r>
                    <a:rPr lang="en-US" sz="1400" dirty="0"/>
                    <a:t>Agent state 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p>
                      </m:sSubSup>
                    </m:oMath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F97BFEA-B75C-B97B-0610-CF24E60B23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8373" y="3044791"/>
                  <a:ext cx="845971" cy="523220"/>
                </a:xfrm>
                <a:prstGeom prst="rect">
                  <a:avLst/>
                </a:prstGeom>
                <a:blipFill>
                  <a:blip r:embed="rId6"/>
                  <a:stretch>
                    <a:fillRect l="-1408" b="-89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B26DB133-8A09-94B9-5FC0-CBD8D7EFE256}"/>
                  </a:ext>
                </a:extLst>
              </p:cNvPr>
              <p:cNvSpPr/>
              <p:nvPr/>
            </p:nvSpPr>
            <p:spPr>
              <a:xfrm>
                <a:off x="9616190" y="3600798"/>
                <a:ext cx="2151088" cy="1086787"/>
              </a:xfrm>
              <a:prstGeom prst="wedgeRoundRectCallout">
                <a:avLst>
                  <a:gd name="adj1" fmla="val -68219"/>
                  <a:gd name="adj2" fmla="val 2481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We do not have access to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</m:oMath>
                </a14:m>
                <a:r>
                  <a:rPr lang="en-US" dirty="0"/>
                  <a:t> in real applications!</a:t>
                </a:r>
              </a:p>
            </p:txBody>
          </p:sp>
        </mc:Choice>
        <mc:Fallback xmlns="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B26DB133-8A09-94B9-5FC0-CBD8D7EFE2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6190" y="3600798"/>
                <a:ext cx="2151088" cy="1086787"/>
              </a:xfrm>
              <a:prstGeom prst="wedgeRoundRectCallout">
                <a:avLst>
                  <a:gd name="adj1" fmla="val -68219"/>
                  <a:gd name="adj2" fmla="val 24819"/>
                  <a:gd name="adj3" fmla="val 16667"/>
                </a:avLst>
              </a:prstGeom>
              <a:blipFill>
                <a:blip r:embed="rId7"/>
                <a:stretch>
                  <a:fillRect b="-5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5E3A13D3-BB0B-4B66-75AE-530AE67C32A5}"/>
                  </a:ext>
                </a:extLst>
              </p:cNvPr>
              <p:cNvSpPr/>
              <p:nvPr/>
            </p:nvSpPr>
            <p:spPr>
              <a:xfrm>
                <a:off x="9616190" y="5301554"/>
                <a:ext cx="2151088" cy="1086787"/>
              </a:xfrm>
              <a:prstGeom prst="wedgeRoundRectCallout">
                <a:avLst>
                  <a:gd name="adj1" fmla="val -64387"/>
                  <a:gd name="adj2" fmla="val 8266"/>
                  <a:gd name="adj3" fmla="val 16667"/>
                </a:avLst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How should we build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bSup>
                  </m:oMath>
                </a14:m>
                <a:r>
                  <a:rPr lang="en-US" dirty="0"/>
                  <a:t>so it helps with choosing the next action?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5E3A13D3-BB0B-4B66-75AE-530AE67C32A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6190" y="5301554"/>
                <a:ext cx="2151088" cy="1086787"/>
              </a:xfrm>
              <a:prstGeom prst="wedgeRoundRectCallout">
                <a:avLst>
                  <a:gd name="adj1" fmla="val -64387"/>
                  <a:gd name="adj2" fmla="val 8266"/>
                  <a:gd name="adj3" fmla="val 16667"/>
                </a:avLst>
              </a:prstGeom>
              <a:blipFill>
                <a:blip r:embed="rId8"/>
                <a:stretch>
                  <a:fillRect t="-6630" b="-127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E7AC2CA-A8FE-9103-1FD2-65A5CC228B8D}"/>
                  </a:ext>
                </a:extLst>
              </p:cNvPr>
              <p:cNvSpPr txBox="1"/>
              <p:nvPr/>
            </p:nvSpPr>
            <p:spPr>
              <a:xfrm>
                <a:off x="8500981" y="1723698"/>
                <a:ext cx="788858" cy="523220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400" dirty="0"/>
                  <a:t>Policy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|</m:t>
                    </m:r>
                    <m:sSup>
                      <m:sSupPr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p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E7AC2CA-A8FE-9103-1FD2-65A5CC228B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0981" y="1723698"/>
                <a:ext cx="788858" cy="523220"/>
              </a:xfrm>
              <a:prstGeom prst="rect">
                <a:avLst/>
              </a:prstGeom>
              <a:blipFill>
                <a:blip r:embed="rId9"/>
                <a:stretch>
                  <a:fillRect l="-1515" t="-1124" b="-11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625316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37B25-840D-E9A3-65EC-223C9A072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Heuristic: Observation as State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F002B90F-CB86-11BA-325D-BD4404A98C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3758" y="3619501"/>
                <a:ext cx="10515600" cy="2773866"/>
              </a:xfrm>
            </p:spPr>
            <p:txBody>
              <a:bodyPr>
                <a:normAutofit fontScale="70000" lnSpcReduction="20000"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b="1" dirty="0"/>
                  <a:t>Idea</a:t>
                </a:r>
                <a:r>
                  <a:rPr lang="en-US" dirty="0"/>
                  <a:t>: Use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with any RL algorithm.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b="1" dirty="0"/>
                  <a:t>For (DRL) approximation</a:t>
                </a:r>
                <a:r>
                  <a:rPr lang="en-US" dirty="0"/>
                  <a:t>: Learn a state-action value function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>
                  <a:lnSpc>
                    <a:spcPct val="120000"/>
                  </a:lnSpc>
                </a:pPr>
                <a:endParaRPr lang="en-US" b="1" dirty="0"/>
              </a:p>
              <a:p>
                <a:pPr>
                  <a:lnSpc>
                    <a:spcPct val="120000"/>
                  </a:lnSpc>
                </a:pPr>
                <a:r>
                  <a:rPr lang="en-US" b="1" dirty="0"/>
                  <a:t>Assumption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contains enough information to decide on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 This is in general not very likely; we may get a very bad approximation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>
                  <a:lnSpc>
                    <a:spcPct val="120000"/>
                  </a:lnSpc>
                </a:pPr>
                <a:r>
                  <a:rPr lang="en-US" b="1" dirty="0"/>
                  <a:t>Improvement</a:t>
                </a:r>
                <a:r>
                  <a:rPr lang="en-US" dirty="0"/>
                  <a:t>: Using a sliding window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called frame stacking often works better.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F002B90F-CB86-11BA-325D-BD4404A98C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3758" y="3619501"/>
                <a:ext cx="10515600" cy="2773866"/>
              </a:xfrm>
              <a:blipFill>
                <a:blip r:embed="rId2"/>
                <a:stretch>
                  <a:fillRect l="-522" t="-1099" b="-26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9F5947E6-4E47-6F68-0C0A-0ED3A08B950B}"/>
              </a:ext>
            </a:extLst>
          </p:cNvPr>
          <p:cNvGrpSpPr/>
          <p:nvPr/>
        </p:nvGrpSpPr>
        <p:grpSpPr>
          <a:xfrm>
            <a:off x="3204945" y="1382662"/>
            <a:ext cx="4759686" cy="2046338"/>
            <a:chOff x="3716157" y="4137286"/>
            <a:chExt cx="4759686" cy="204633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Oval 45">
                  <a:extLst>
                    <a:ext uri="{FF2B5EF4-FFF2-40B4-BE49-F238E27FC236}">
                      <a16:creationId xmlns:a16="http://schemas.microsoft.com/office/drawing/2014/main" id="{A73BC257-2136-AAD7-5BBC-40FA9B9C961F}"/>
                    </a:ext>
                  </a:extLst>
                </p:cNvPr>
                <p:cNvSpPr/>
                <p:nvPr/>
              </p:nvSpPr>
              <p:spPr>
                <a:xfrm>
                  <a:off x="3968390" y="5178338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Oval 45">
                  <a:extLst>
                    <a:ext uri="{FF2B5EF4-FFF2-40B4-BE49-F238E27FC236}">
                      <a16:creationId xmlns:a16="http://schemas.microsoft.com/office/drawing/2014/main" id="{A73BC257-2136-AAD7-5BBC-40FA9B9C961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68390" y="5178338"/>
                  <a:ext cx="381000" cy="381000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Flowchart: Decision 46">
                  <a:extLst>
                    <a:ext uri="{FF2B5EF4-FFF2-40B4-BE49-F238E27FC236}">
                      <a16:creationId xmlns:a16="http://schemas.microsoft.com/office/drawing/2014/main" id="{E24C5A00-5F90-F376-5AD8-8002A84343E3}"/>
                    </a:ext>
                  </a:extLst>
                </p:cNvPr>
                <p:cNvSpPr/>
                <p:nvPr/>
              </p:nvSpPr>
              <p:spPr>
                <a:xfrm>
                  <a:off x="4511791" y="4603823"/>
                  <a:ext cx="635194" cy="414210"/>
                </a:xfrm>
                <a:prstGeom prst="flowChartDecision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3"/>
                </a:fillRef>
                <a:effectRef idx="1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7" name="Flowchart: Decision 46">
                  <a:extLst>
                    <a:ext uri="{FF2B5EF4-FFF2-40B4-BE49-F238E27FC236}">
                      <a16:creationId xmlns:a16="http://schemas.microsoft.com/office/drawing/2014/main" id="{E24C5A00-5F90-F376-5AD8-8002A84343E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11791" y="4603823"/>
                  <a:ext cx="635194" cy="414210"/>
                </a:xfrm>
                <a:prstGeom prst="flowChartDecision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Rectangle 47">
                  <a:extLst>
                    <a:ext uri="{FF2B5EF4-FFF2-40B4-BE49-F238E27FC236}">
                      <a16:creationId xmlns:a16="http://schemas.microsoft.com/office/drawing/2014/main" id="{939AE17B-3371-802D-C15B-BACABEF01A55}"/>
                    </a:ext>
                  </a:extLst>
                </p:cNvPr>
                <p:cNvSpPr/>
                <p:nvPr/>
              </p:nvSpPr>
              <p:spPr>
                <a:xfrm>
                  <a:off x="5251510" y="5749838"/>
                  <a:ext cx="404849" cy="294652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8" name="Rectangle 47">
                  <a:extLst>
                    <a:ext uri="{FF2B5EF4-FFF2-40B4-BE49-F238E27FC236}">
                      <a16:creationId xmlns:a16="http://schemas.microsoft.com/office/drawing/2014/main" id="{939AE17B-3371-802D-C15B-BACABEF01A5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1510" y="5749838"/>
                  <a:ext cx="404849" cy="294652"/>
                </a:xfrm>
                <a:prstGeom prst="rect">
                  <a:avLst/>
                </a:prstGeom>
                <a:blipFill>
                  <a:blip r:embed="rId5"/>
                  <a:stretch>
                    <a:fillRect b="-566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71DC45FC-C89E-FAAE-3EEE-0D5EDBF4F566}"/>
                </a:ext>
              </a:extLst>
            </p:cNvPr>
            <p:cNvCxnSpPr>
              <a:cxnSpLocks/>
              <a:stCxn id="74" idx="6"/>
              <a:endCxn id="47" idx="1"/>
            </p:cNvCxnSpPr>
            <p:nvPr/>
          </p:nvCxnSpPr>
          <p:spPr>
            <a:xfrm flipV="1">
              <a:off x="4349390" y="4810928"/>
              <a:ext cx="162401" cy="2682"/>
            </a:xfrm>
            <a:prstGeom prst="straightConnector1">
              <a:avLst/>
            </a:prstGeom>
            <a:ln>
              <a:solidFill>
                <a:schemeClr val="accent3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37506D42-E779-18CD-1C87-ECDC5A4DCFAD}"/>
                </a:ext>
              </a:extLst>
            </p:cNvPr>
            <p:cNvCxnSpPr>
              <a:cxnSpLocks/>
              <a:stCxn id="46" idx="5"/>
              <a:endCxn id="48" idx="1"/>
            </p:cNvCxnSpPr>
            <p:nvPr/>
          </p:nvCxnSpPr>
          <p:spPr>
            <a:xfrm>
              <a:off x="4293594" y="5503542"/>
              <a:ext cx="957916" cy="393622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F74C447C-4B8A-9140-3648-D031A68A6F49}"/>
                </a:ext>
              </a:extLst>
            </p:cNvPr>
            <p:cNvCxnSpPr>
              <a:cxnSpLocks/>
              <a:stCxn id="47" idx="2"/>
              <a:endCxn id="48" idx="0"/>
            </p:cNvCxnSpPr>
            <p:nvPr/>
          </p:nvCxnSpPr>
          <p:spPr>
            <a:xfrm>
              <a:off x="4829388" y="5018033"/>
              <a:ext cx="624547" cy="731805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741E4F0D-8889-B70D-5A78-39D99E8278C3}"/>
                </a:ext>
              </a:extLst>
            </p:cNvPr>
            <p:cNvCxnSpPr>
              <a:cxnSpLocks/>
              <a:stCxn id="46" idx="6"/>
            </p:cNvCxnSpPr>
            <p:nvPr/>
          </p:nvCxnSpPr>
          <p:spPr>
            <a:xfrm>
              <a:off x="4349390" y="5368838"/>
              <a:ext cx="90780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F1F118E8-67CF-B1F5-A33D-6029CBF5590F}"/>
                </a:ext>
              </a:extLst>
            </p:cNvPr>
            <p:cNvCxnSpPr>
              <a:cxnSpLocks/>
              <a:stCxn id="47" idx="3"/>
              <a:endCxn id="54" idx="1"/>
            </p:cNvCxnSpPr>
            <p:nvPr/>
          </p:nvCxnSpPr>
          <p:spPr>
            <a:xfrm>
              <a:off x="5146985" y="4810928"/>
              <a:ext cx="166005" cy="42320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Oval 53">
                  <a:extLst>
                    <a:ext uri="{FF2B5EF4-FFF2-40B4-BE49-F238E27FC236}">
                      <a16:creationId xmlns:a16="http://schemas.microsoft.com/office/drawing/2014/main" id="{E1968FBE-6C95-13E4-D7C2-F647ED88B019}"/>
                    </a:ext>
                  </a:extLst>
                </p:cNvPr>
                <p:cNvSpPr/>
                <p:nvPr/>
              </p:nvSpPr>
              <p:spPr>
                <a:xfrm>
                  <a:off x="5257194" y="5178338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4" name="Oval 53">
                  <a:extLst>
                    <a:ext uri="{FF2B5EF4-FFF2-40B4-BE49-F238E27FC236}">
                      <a16:creationId xmlns:a16="http://schemas.microsoft.com/office/drawing/2014/main" id="{E1968FBE-6C95-13E4-D7C2-F647ED88B01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7194" y="5178338"/>
                  <a:ext cx="381000" cy="381000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Flowchart: Decision 54">
                  <a:extLst>
                    <a:ext uri="{FF2B5EF4-FFF2-40B4-BE49-F238E27FC236}">
                      <a16:creationId xmlns:a16="http://schemas.microsoft.com/office/drawing/2014/main" id="{1774F489-8D29-9EEE-B21C-5E4B6F2EEA0E}"/>
                    </a:ext>
                  </a:extLst>
                </p:cNvPr>
                <p:cNvSpPr/>
                <p:nvPr/>
              </p:nvSpPr>
              <p:spPr>
                <a:xfrm>
                  <a:off x="5829643" y="4588855"/>
                  <a:ext cx="635194" cy="414210"/>
                </a:xfrm>
                <a:prstGeom prst="flowChartDecision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3"/>
                </a:fillRef>
                <a:effectRef idx="1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Flowchart: Decision 54">
                  <a:extLst>
                    <a:ext uri="{FF2B5EF4-FFF2-40B4-BE49-F238E27FC236}">
                      <a16:creationId xmlns:a16="http://schemas.microsoft.com/office/drawing/2014/main" id="{1774F489-8D29-9EEE-B21C-5E4B6F2EEA0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29643" y="4588855"/>
                  <a:ext cx="635194" cy="414210"/>
                </a:xfrm>
                <a:prstGeom prst="flowChartDecision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34B8D508-8317-9AC0-5FBC-E923FE084075}"/>
                    </a:ext>
                  </a:extLst>
                </p:cNvPr>
                <p:cNvSpPr/>
                <p:nvPr/>
              </p:nvSpPr>
              <p:spPr>
                <a:xfrm>
                  <a:off x="6560718" y="5749838"/>
                  <a:ext cx="404849" cy="294652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34B8D508-8317-9AC0-5FBC-E923FE08407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718" y="5749838"/>
                  <a:ext cx="404849" cy="294652"/>
                </a:xfrm>
                <a:prstGeom prst="rect">
                  <a:avLst/>
                </a:prstGeom>
                <a:blipFill>
                  <a:blip r:embed="rId8"/>
                  <a:stretch>
                    <a:fillRect b="-566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F2261EC5-0153-1AA9-91A0-1877FBA1B49F}"/>
                </a:ext>
              </a:extLst>
            </p:cNvPr>
            <p:cNvCxnSpPr>
              <a:cxnSpLocks/>
              <a:stCxn id="73" idx="6"/>
              <a:endCxn id="55" idx="1"/>
            </p:cNvCxnSpPr>
            <p:nvPr/>
          </p:nvCxnSpPr>
          <p:spPr>
            <a:xfrm flipV="1">
              <a:off x="5638194" y="4795960"/>
              <a:ext cx="191449" cy="6964"/>
            </a:xfrm>
            <a:prstGeom prst="straightConnector1">
              <a:avLst/>
            </a:prstGeom>
            <a:ln>
              <a:solidFill>
                <a:schemeClr val="accent3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3C17D0EA-0DBE-620E-9E05-2919253BE99B}"/>
                </a:ext>
              </a:extLst>
            </p:cNvPr>
            <p:cNvCxnSpPr>
              <a:cxnSpLocks/>
              <a:stCxn id="54" idx="5"/>
              <a:endCxn id="56" idx="1"/>
            </p:cNvCxnSpPr>
            <p:nvPr/>
          </p:nvCxnSpPr>
          <p:spPr>
            <a:xfrm>
              <a:off x="5582398" y="5503542"/>
              <a:ext cx="978320" cy="393622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A942D8D9-2A5B-955E-63EF-57E0897BFE8A}"/>
                </a:ext>
              </a:extLst>
            </p:cNvPr>
            <p:cNvCxnSpPr>
              <a:cxnSpLocks/>
              <a:stCxn id="55" idx="2"/>
              <a:endCxn id="56" idx="0"/>
            </p:cNvCxnSpPr>
            <p:nvPr/>
          </p:nvCxnSpPr>
          <p:spPr>
            <a:xfrm>
              <a:off x="6147240" y="5003065"/>
              <a:ext cx="615903" cy="746773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F3BF23F7-E920-0941-E6C1-E961001B2D3F}"/>
                </a:ext>
              </a:extLst>
            </p:cNvPr>
            <p:cNvCxnSpPr>
              <a:cxnSpLocks/>
              <a:stCxn id="54" idx="6"/>
            </p:cNvCxnSpPr>
            <p:nvPr/>
          </p:nvCxnSpPr>
          <p:spPr>
            <a:xfrm>
              <a:off x="5638194" y="5368838"/>
              <a:ext cx="90780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F8C10549-49DF-F750-092B-CC835DA38E21}"/>
                </a:ext>
              </a:extLst>
            </p:cNvPr>
            <p:cNvCxnSpPr>
              <a:cxnSpLocks/>
              <a:stCxn id="55" idx="3"/>
            </p:cNvCxnSpPr>
            <p:nvPr/>
          </p:nvCxnSpPr>
          <p:spPr>
            <a:xfrm>
              <a:off x="6464837" y="4795960"/>
              <a:ext cx="188155" cy="38097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Oval 61">
                  <a:extLst>
                    <a:ext uri="{FF2B5EF4-FFF2-40B4-BE49-F238E27FC236}">
                      <a16:creationId xmlns:a16="http://schemas.microsoft.com/office/drawing/2014/main" id="{88BCA95D-BF2A-B030-3075-5ED5C7FCB1A8}"/>
                    </a:ext>
                  </a:extLst>
                </p:cNvPr>
                <p:cNvSpPr/>
                <p:nvPr/>
              </p:nvSpPr>
              <p:spPr>
                <a:xfrm>
                  <a:off x="6546038" y="5178338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2" name="Oval 61">
                  <a:extLst>
                    <a:ext uri="{FF2B5EF4-FFF2-40B4-BE49-F238E27FC236}">
                      <a16:creationId xmlns:a16="http://schemas.microsoft.com/office/drawing/2014/main" id="{88BCA95D-BF2A-B030-3075-5ED5C7FCB1A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6038" y="5178338"/>
                  <a:ext cx="381000" cy="381000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Flowchart: Decision 62">
                  <a:extLst>
                    <a:ext uri="{FF2B5EF4-FFF2-40B4-BE49-F238E27FC236}">
                      <a16:creationId xmlns:a16="http://schemas.microsoft.com/office/drawing/2014/main" id="{E2F4EC81-986B-4D43-1DC3-F6FFCE112011}"/>
                    </a:ext>
                  </a:extLst>
                </p:cNvPr>
                <p:cNvSpPr/>
                <p:nvPr/>
              </p:nvSpPr>
              <p:spPr>
                <a:xfrm>
                  <a:off x="7064303" y="4595819"/>
                  <a:ext cx="635194" cy="414210"/>
                </a:xfrm>
                <a:prstGeom prst="flowChartDecision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3"/>
                </a:fillRef>
                <a:effectRef idx="1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3" name="Flowchart: Decision 62">
                  <a:extLst>
                    <a:ext uri="{FF2B5EF4-FFF2-40B4-BE49-F238E27FC236}">
                      <a16:creationId xmlns:a16="http://schemas.microsoft.com/office/drawing/2014/main" id="{E2F4EC81-986B-4D43-1DC3-F6FFCE11201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64303" y="4595819"/>
                  <a:ext cx="635194" cy="414210"/>
                </a:xfrm>
                <a:prstGeom prst="flowChartDecision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A509479C-E500-0744-C6CC-A3F3E22C88FE}"/>
                    </a:ext>
                  </a:extLst>
                </p:cNvPr>
                <p:cNvSpPr/>
                <p:nvPr/>
              </p:nvSpPr>
              <p:spPr>
                <a:xfrm>
                  <a:off x="7769414" y="5767098"/>
                  <a:ext cx="404849" cy="294652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A509479C-E500-0744-C6CC-A3F3E22C88F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9414" y="5767098"/>
                  <a:ext cx="404849" cy="294652"/>
                </a:xfrm>
                <a:prstGeom prst="rect">
                  <a:avLst/>
                </a:prstGeom>
                <a:blipFill>
                  <a:blip r:embed="rId11"/>
                  <a:stretch>
                    <a:fillRect b="-566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6582419E-ADFC-087B-D9FB-DCF44CD0581D}"/>
                </a:ext>
              </a:extLst>
            </p:cNvPr>
            <p:cNvCxnSpPr>
              <a:cxnSpLocks/>
              <a:stCxn id="72" idx="6"/>
              <a:endCxn id="63" idx="1"/>
            </p:cNvCxnSpPr>
            <p:nvPr/>
          </p:nvCxnSpPr>
          <p:spPr>
            <a:xfrm>
              <a:off x="6933857" y="4802513"/>
              <a:ext cx="130446" cy="411"/>
            </a:xfrm>
            <a:prstGeom prst="straightConnector1">
              <a:avLst/>
            </a:prstGeom>
            <a:ln>
              <a:solidFill>
                <a:schemeClr val="accent3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5FD1C733-BA7F-2477-5EB8-BD01159824DA}"/>
                </a:ext>
              </a:extLst>
            </p:cNvPr>
            <p:cNvCxnSpPr>
              <a:cxnSpLocks/>
              <a:stCxn id="62" idx="5"/>
              <a:endCxn id="64" idx="1"/>
            </p:cNvCxnSpPr>
            <p:nvPr/>
          </p:nvCxnSpPr>
          <p:spPr>
            <a:xfrm>
              <a:off x="6871242" y="5503542"/>
              <a:ext cx="898172" cy="410882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47383D10-426B-4AB9-2C5C-A8226A23C1B1}"/>
                </a:ext>
              </a:extLst>
            </p:cNvPr>
            <p:cNvCxnSpPr>
              <a:cxnSpLocks/>
              <a:stCxn id="63" idx="2"/>
              <a:endCxn id="64" idx="0"/>
            </p:cNvCxnSpPr>
            <p:nvPr/>
          </p:nvCxnSpPr>
          <p:spPr>
            <a:xfrm>
              <a:off x="7381900" y="5010029"/>
              <a:ext cx="589939" cy="757069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78E5A3CA-BCA0-C5ED-C331-6C3A5706C029}"/>
                </a:ext>
              </a:extLst>
            </p:cNvPr>
            <p:cNvCxnSpPr>
              <a:cxnSpLocks/>
              <a:stCxn id="62" idx="6"/>
            </p:cNvCxnSpPr>
            <p:nvPr/>
          </p:nvCxnSpPr>
          <p:spPr>
            <a:xfrm>
              <a:off x="6927038" y="5368838"/>
              <a:ext cx="90780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B9E78E3D-DFCF-6822-5F6C-53D63DB8F6EF}"/>
                </a:ext>
              </a:extLst>
            </p:cNvPr>
            <p:cNvCxnSpPr>
              <a:cxnSpLocks/>
              <a:stCxn id="63" idx="3"/>
            </p:cNvCxnSpPr>
            <p:nvPr/>
          </p:nvCxnSpPr>
          <p:spPr>
            <a:xfrm>
              <a:off x="7699497" y="4802924"/>
              <a:ext cx="242447" cy="37043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C9C5C85C-F074-D1FF-EC13-B12A3A53BFE6}"/>
                </a:ext>
              </a:extLst>
            </p:cNvPr>
            <p:cNvSpPr txBox="1"/>
            <p:nvPr/>
          </p:nvSpPr>
          <p:spPr>
            <a:xfrm>
              <a:off x="7842489" y="5162131"/>
              <a:ext cx="3959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…</a:t>
              </a: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8F96A9BB-799D-E20D-8E51-7D180A0CA849}"/>
                </a:ext>
              </a:extLst>
            </p:cNvPr>
            <p:cNvSpPr/>
            <p:nvPr/>
          </p:nvSpPr>
          <p:spPr>
            <a:xfrm>
              <a:off x="3716157" y="4137286"/>
              <a:ext cx="4759686" cy="2046338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Oval 71">
                  <a:extLst>
                    <a:ext uri="{FF2B5EF4-FFF2-40B4-BE49-F238E27FC236}">
                      <a16:creationId xmlns:a16="http://schemas.microsoft.com/office/drawing/2014/main" id="{A3AAFEA4-AC61-F54D-4A4F-34DD694E7ADD}"/>
                    </a:ext>
                  </a:extLst>
                </p:cNvPr>
                <p:cNvSpPr/>
                <p:nvPr/>
              </p:nvSpPr>
              <p:spPr>
                <a:xfrm>
                  <a:off x="6552857" y="4612013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5"/>
                </a:fillRef>
                <a:effectRef idx="1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2" name="Oval 71">
                  <a:extLst>
                    <a:ext uri="{FF2B5EF4-FFF2-40B4-BE49-F238E27FC236}">
                      <a16:creationId xmlns:a16="http://schemas.microsoft.com/office/drawing/2014/main" id="{A3AAFEA4-AC61-F54D-4A4F-34DD694E7A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52857" y="4612013"/>
                  <a:ext cx="381000" cy="381000"/>
                </a:xfrm>
                <a:prstGeom prst="ellipse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Oval 72">
                  <a:extLst>
                    <a:ext uri="{FF2B5EF4-FFF2-40B4-BE49-F238E27FC236}">
                      <a16:creationId xmlns:a16="http://schemas.microsoft.com/office/drawing/2014/main" id="{AF0BE2C9-D433-764E-7A87-01445DE446C9}"/>
                    </a:ext>
                  </a:extLst>
                </p:cNvPr>
                <p:cNvSpPr/>
                <p:nvPr/>
              </p:nvSpPr>
              <p:spPr>
                <a:xfrm>
                  <a:off x="5257194" y="4612424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5"/>
                </a:fillRef>
                <a:effectRef idx="1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3" name="Oval 72">
                  <a:extLst>
                    <a:ext uri="{FF2B5EF4-FFF2-40B4-BE49-F238E27FC236}">
                      <a16:creationId xmlns:a16="http://schemas.microsoft.com/office/drawing/2014/main" id="{AF0BE2C9-D433-764E-7A87-01445DE446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7194" y="4612424"/>
                  <a:ext cx="381000" cy="381000"/>
                </a:xfrm>
                <a:prstGeom prst="ellipse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1111FBCE-E1DE-00DA-D963-A2869257ACF4}"/>
                    </a:ext>
                  </a:extLst>
                </p:cNvPr>
                <p:cNvSpPr/>
                <p:nvPr/>
              </p:nvSpPr>
              <p:spPr>
                <a:xfrm>
                  <a:off x="3968390" y="4623110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5"/>
                </a:fillRef>
                <a:effectRef idx="1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1111FBCE-E1DE-00DA-D963-A2869257AC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68390" y="4623110"/>
                  <a:ext cx="381000" cy="381000"/>
                </a:xfrm>
                <a:prstGeom prst="ellipse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4940D2E9-6CD7-5AF5-F493-1A669EE86DB8}"/>
                </a:ext>
              </a:extLst>
            </p:cNvPr>
            <p:cNvCxnSpPr>
              <a:stCxn id="46" idx="0"/>
              <a:endCxn id="74" idx="4"/>
            </p:cNvCxnSpPr>
            <p:nvPr/>
          </p:nvCxnSpPr>
          <p:spPr>
            <a:xfrm flipV="1">
              <a:off x="4158890" y="5004110"/>
              <a:ext cx="0" cy="1742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3BAC6253-5523-343D-FC5A-69384DD8370E}"/>
                </a:ext>
              </a:extLst>
            </p:cNvPr>
            <p:cNvSpPr/>
            <p:nvPr/>
          </p:nvSpPr>
          <p:spPr>
            <a:xfrm>
              <a:off x="3849146" y="5127899"/>
              <a:ext cx="4474893" cy="554636"/>
            </a:xfrm>
            <a:prstGeom prst="rect">
              <a:avLst/>
            </a:prstGeom>
            <a:solidFill>
              <a:srgbClr val="747474">
                <a:alpha val="50196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970653F9-FEC3-8878-16F5-5AFB8389B066}"/>
                </a:ext>
              </a:extLst>
            </p:cNvPr>
            <p:cNvCxnSpPr>
              <a:cxnSpLocks/>
              <a:stCxn id="62" idx="0"/>
              <a:endCxn id="72" idx="4"/>
            </p:cNvCxnSpPr>
            <p:nvPr/>
          </p:nvCxnSpPr>
          <p:spPr>
            <a:xfrm flipV="1">
              <a:off x="6736538" y="4993013"/>
              <a:ext cx="6819" cy="18532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1F91E47B-B81B-75AC-AC6B-446AA0F4130D}"/>
                </a:ext>
              </a:extLst>
            </p:cNvPr>
            <p:cNvCxnSpPr>
              <a:cxnSpLocks/>
              <a:stCxn id="54" idx="0"/>
              <a:endCxn id="73" idx="4"/>
            </p:cNvCxnSpPr>
            <p:nvPr/>
          </p:nvCxnSpPr>
          <p:spPr>
            <a:xfrm flipV="1">
              <a:off x="5447694" y="4993424"/>
              <a:ext cx="0" cy="18491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sp>
          <p:nvSpPr>
            <p:cNvPr id="79" name="Arc 78">
              <a:extLst>
                <a:ext uri="{FF2B5EF4-FFF2-40B4-BE49-F238E27FC236}">
                  <a16:creationId xmlns:a16="http://schemas.microsoft.com/office/drawing/2014/main" id="{29875B2C-1200-ABB5-AC06-EB315E01FD07}"/>
                </a:ext>
              </a:extLst>
            </p:cNvPr>
            <p:cNvSpPr/>
            <p:nvPr/>
          </p:nvSpPr>
          <p:spPr>
            <a:xfrm>
              <a:off x="4226242" y="4522004"/>
              <a:ext cx="1154100" cy="207590"/>
            </a:xfrm>
            <a:prstGeom prst="arc">
              <a:avLst>
                <a:gd name="adj1" fmla="val 10842268"/>
                <a:gd name="adj2" fmla="val 0"/>
              </a:avLst>
            </a:prstGeom>
            <a:ln>
              <a:solidFill>
                <a:schemeClr val="bg2">
                  <a:lumMod val="90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Arc 79">
              <a:extLst>
                <a:ext uri="{FF2B5EF4-FFF2-40B4-BE49-F238E27FC236}">
                  <a16:creationId xmlns:a16="http://schemas.microsoft.com/office/drawing/2014/main" id="{91E87553-076A-222C-C7A4-5F6E37070E52}"/>
                </a:ext>
              </a:extLst>
            </p:cNvPr>
            <p:cNvSpPr/>
            <p:nvPr/>
          </p:nvSpPr>
          <p:spPr>
            <a:xfrm>
              <a:off x="5515046" y="4524755"/>
              <a:ext cx="1154100" cy="207590"/>
            </a:xfrm>
            <a:prstGeom prst="arc">
              <a:avLst>
                <a:gd name="adj1" fmla="val 10842268"/>
                <a:gd name="adj2" fmla="val 0"/>
              </a:avLst>
            </a:prstGeom>
            <a:ln>
              <a:solidFill>
                <a:schemeClr val="bg2">
                  <a:lumMod val="90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Arc 80">
              <a:extLst>
                <a:ext uri="{FF2B5EF4-FFF2-40B4-BE49-F238E27FC236}">
                  <a16:creationId xmlns:a16="http://schemas.microsoft.com/office/drawing/2014/main" id="{7C927F2D-20F7-D39E-ABC5-1ED544BCABA3}"/>
                </a:ext>
              </a:extLst>
            </p:cNvPr>
            <p:cNvSpPr/>
            <p:nvPr/>
          </p:nvSpPr>
          <p:spPr>
            <a:xfrm>
              <a:off x="6781589" y="4503426"/>
              <a:ext cx="1154100" cy="207590"/>
            </a:xfrm>
            <a:prstGeom prst="arc">
              <a:avLst>
                <a:gd name="adj1" fmla="val 10842268"/>
                <a:gd name="adj2" fmla="val 0"/>
              </a:avLst>
            </a:prstGeom>
            <a:ln>
              <a:solidFill>
                <a:schemeClr val="bg2">
                  <a:lumMod val="90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Arc 81">
              <a:extLst>
                <a:ext uri="{FF2B5EF4-FFF2-40B4-BE49-F238E27FC236}">
                  <a16:creationId xmlns:a16="http://schemas.microsoft.com/office/drawing/2014/main" id="{5BFE3E5F-5E7F-87C8-A951-97714D06DEC9}"/>
                </a:ext>
              </a:extLst>
            </p:cNvPr>
            <p:cNvSpPr/>
            <p:nvPr/>
          </p:nvSpPr>
          <p:spPr>
            <a:xfrm>
              <a:off x="4234126" y="4377116"/>
              <a:ext cx="2474374" cy="463462"/>
            </a:xfrm>
            <a:prstGeom prst="arc">
              <a:avLst>
                <a:gd name="adj1" fmla="val 10842268"/>
                <a:gd name="adj2" fmla="val 0"/>
              </a:avLst>
            </a:prstGeom>
            <a:ln>
              <a:solidFill>
                <a:schemeClr val="bg2">
                  <a:lumMod val="90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Arc 82">
              <a:extLst>
                <a:ext uri="{FF2B5EF4-FFF2-40B4-BE49-F238E27FC236}">
                  <a16:creationId xmlns:a16="http://schemas.microsoft.com/office/drawing/2014/main" id="{C630DA46-9178-9121-2A28-0C9B6E125A2E}"/>
                </a:ext>
              </a:extLst>
            </p:cNvPr>
            <p:cNvSpPr/>
            <p:nvPr/>
          </p:nvSpPr>
          <p:spPr>
            <a:xfrm>
              <a:off x="5490551" y="4387310"/>
              <a:ext cx="2474374" cy="463462"/>
            </a:xfrm>
            <a:prstGeom prst="arc">
              <a:avLst>
                <a:gd name="adj1" fmla="val 10842268"/>
                <a:gd name="adj2" fmla="val 0"/>
              </a:avLst>
            </a:prstGeom>
            <a:ln>
              <a:solidFill>
                <a:schemeClr val="bg2">
                  <a:lumMod val="90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Arc 83">
              <a:extLst>
                <a:ext uri="{FF2B5EF4-FFF2-40B4-BE49-F238E27FC236}">
                  <a16:creationId xmlns:a16="http://schemas.microsoft.com/office/drawing/2014/main" id="{C6B1B7D7-CB8E-2B3E-0DAE-EBB53F33E998}"/>
                </a:ext>
              </a:extLst>
            </p:cNvPr>
            <p:cNvSpPr/>
            <p:nvPr/>
          </p:nvSpPr>
          <p:spPr>
            <a:xfrm>
              <a:off x="4158890" y="4282123"/>
              <a:ext cx="3958435" cy="668607"/>
            </a:xfrm>
            <a:prstGeom prst="arc">
              <a:avLst>
                <a:gd name="adj1" fmla="val 10842268"/>
                <a:gd name="adj2" fmla="val 0"/>
              </a:avLst>
            </a:prstGeom>
            <a:ln>
              <a:solidFill>
                <a:schemeClr val="bg2">
                  <a:lumMod val="90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2">
                    <a:lumMod val="9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888947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68BD1-2353-B85B-33CC-274FFFBEE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956609" cy="1384954"/>
          </a:xfrm>
        </p:spPr>
        <p:txBody>
          <a:bodyPr>
            <a:normAutofit/>
          </a:bodyPr>
          <a:lstStyle/>
          <a:p>
            <a:r>
              <a:rPr lang="en-US" dirty="0"/>
              <a:t>Optimal Belief </a:t>
            </a:r>
            <a:br>
              <a:rPr lang="en-US" dirty="0"/>
            </a:br>
            <a:r>
              <a:rPr lang="en-US" dirty="0"/>
              <a:t>Monitoring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72083D-3162-C7DB-26F0-0F5F7B396D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47052" y="2842924"/>
                <a:ext cx="10515600" cy="3777051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A sufficient statistic to make a decision is a belief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en-US" dirty="0"/>
                  <a:t>, a probability distribution over all states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 with elements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We need: 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Initial state distribution: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Transition probabilities: </a:t>
                </a:r>
                <a:r>
                  <a:rPr lang="en-US" i="1" dirty="0">
                    <a:latin typeface="Cambria Math" panose="02040503050406030204" pitchFamily="18" charset="0"/>
                  </a:rPr>
                  <a:t> 	</a:t>
                </a:r>
                <a:r>
                  <a:rPr lang="en-US" dirty="0" err="1">
                    <a:latin typeface="Cambria Math" panose="02040503050406030204" pitchFamily="18" charset="0"/>
                  </a:rPr>
                  <a:t>Pr</a:t>
                </a:r>
                <a14:m>
                  <m:oMath xmlns:m="http://schemas.openxmlformats.org/officeDocument/2006/math">
                    <m:d>
                      <m:dPr>
                        <m:endChr m:val="|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endParaRPr lang="en-US" dirty="0">
                  <a:latin typeface="Cambria Math" panose="02040503050406030204" pitchFamily="18" charset="0"/>
                </a:endParaRPr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Observation probabilities: 	</a:t>
                </a:r>
                <a:r>
                  <a:rPr lang="en-US" dirty="0" err="1">
                    <a:latin typeface="Cambria Math" panose="02040503050406030204" pitchFamily="18" charset="0"/>
                  </a:rPr>
                  <a:t>Pr</a:t>
                </a:r>
                <a14:m>
                  <m:oMath xmlns:m="http://schemas.openxmlformats.org/officeDocument/2006/math">
                    <m:d>
                      <m:dPr>
                        <m:endChr m:val="|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>
                  <a:lnSpc>
                    <a:spcPct val="120000"/>
                  </a:lnSpc>
                </a:pPr>
                <a:r>
                  <a:rPr lang="en-US" dirty="0"/>
                  <a:t>A HMM is a special type of a </a:t>
                </a:r>
                <a:r>
                  <a:rPr lang="en-US" b="1" dirty="0"/>
                  <a:t>Dynamic Bayesian Network (DBN) </a:t>
                </a:r>
                <a:r>
                  <a:rPr lang="en-US" dirty="0"/>
                  <a:t>and belief states can be updated with observations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using Bayesian updates (prediction and filtering):</a:t>
                </a:r>
              </a:p>
              <a:p>
                <a:pPr marL="457200" lvl="1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Pr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⁡(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</m:sub>
                        <m:sup/>
                        <m:e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Pr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  <a:p>
                <a:pPr>
                  <a:lnSpc>
                    <a:spcPct val="120000"/>
                  </a:lnSpc>
                </a:pPr>
                <a:r>
                  <a:rPr lang="en-US" b="1" dirty="0"/>
                  <a:t>Issue for RL</a:t>
                </a:r>
                <a:r>
                  <a:rPr lang="en-US" dirty="0"/>
                  <a:t>: Bayesian belief monitoring requires access to the transition and observation probabilities.</a:t>
                </a:r>
              </a:p>
              <a:p>
                <a:pPr lvl="1">
                  <a:lnSpc>
                    <a:spcPct val="120000"/>
                  </a:lnSpc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72083D-3162-C7DB-26F0-0F5F7B396D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47052" y="2842924"/>
                <a:ext cx="10515600" cy="3777051"/>
              </a:xfrm>
              <a:blipFill>
                <a:blip r:embed="rId2"/>
                <a:stretch>
                  <a:fillRect l="-522" t="-2742" b="-22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3" name="Group 52">
            <a:extLst>
              <a:ext uri="{FF2B5EF4-FFF2-40B4-BE49-F238E27FC236}">
                <a16:creationId xmlns:a16="http://schemas.microsoft.com/office/drawing/2014/main" id="{F6781065-3214-7BC3-8908-FED3E1E8F8A1}"/>
              </a:ext>
            </a:extLst>
          </p:cNvPr>
          <p:cNvGrpSpPr/>
          <p:nvPr/>
        </p:nvGrpSpPr>
        <p:grpSpPr>
          <a:xfrm>
            <a:off x="5794809" y="459337"/>
            <a:ext cx="5548800" cy="2104643"/>
            <a:chOff x="5794809" y="238024"/>
            <a:chExt cx="5548800" cy="21046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F01218CF-C22F-F5DD-8585-B820CC92DCA0}"/>
                    </a:ext>
                  </a:extLst>
                </p:cNvPr>
                <p:cNvSpPr/>
                <p:nvPr/>
              </p:nvSpPr>
              <p:spPr>
                <a:xfrm>
                  <a:off x="6739996" y="1790965"/>
                  <a:ext cx="381000" cy="381000"/>
                </a:xfrm>
                <a:prstGeom prst="ellipse">
                  <a:avLst/>
                </a:prstGeom>
                <a:ln/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F01218CF-C22F-F5DD-8585-B820CC92DCA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9996" y="1790965"/>
                  <a:ext cx="381000" cy="381000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85D1B552-82F6-1B40-4E00-8C9DD86E351F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7120996" y="1981465"/>
              <a:ext cx="90780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2AB59C2E-E877-01BD-3CDA-17DC1A8002D5}"/>
                    </a:ext>
                  </a:extLst>
                </p:cNvPr>
                <p:cNvSpPr/>
                <p:nvPr/>
              </p:nvSpPr>
              <p:spPr>
                <a:xfrm>
                  <a:off x="8028800" y="1790965"/>
                  <a:ext cx="381000" cy="381000"/>
                </a:xfrm>
                <a:prstGeom prst="ellipse">
                  <a:avLst/>
                </a:prstGeom>
                <a:ln/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2AB59C2E-E877-01BD-3CDA-17DC1A8002D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28800" y="1790965"/>
                  <a:ext cx="381000" cy="381000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C09A9CC-A972-E40D-2456-5D1B5D033AA4}"/>
                </a:ext>
              </a:extLst>
            </p:cNvPr>
            <p:cNvCxnSpPr>
              <a:cxnSpLocks/>
              <a:stCxn id="11" idx="6"/>
            </p:cNvCxnSpPr>
            <p:nvPr/>
          </p:nvCxnSpPr>
          <p:spPr>
            <a:xfrm>
              <a:off x="8409800" y="1981465"/>
              <a:ext cx="90780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663977A8-F14A-6AB6-2208-4A2FBE8A6D3A}"/>
                    </a:ext>
                  </a:extLst>
                </p:cNvPr>
                <p:cNvSpPr/>
                <p:nvPr/>
              </p:nvSpPr>
              <p:spPr>
                <a:xfrm>
                  <a:off x="9317644" y="1790965"/>
                  <a:ext cx="381000" cy="381000"/>
                </a:xfrm>
                <a:prstGeom prst="ellipse">
                  <a:avLst/>
                </a:prstGeom>
                <a:ln/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663977A8-F14A-6AB6-2208-4A2FBE8A6D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7644" y="1790965"/>
                  <a:ext cx="381000" cy="381000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40BE953-11C8-D04C-43EA-AC189C3D7124}"/>
                </a:ext>
              </a:extLst>
            </p:cNvPr>
            <p:cNvCxnSpPr>
              <a:cxnSpLocks/>
              <a:stCxn id="13" idx="6"/>
            </p:cNvCxnSpPr>
            <p:nvPr/>
          </p:nvCxnSpPr>
          <p:spPr>
            <a:xfrm>
              <a:off x="9698644" y="1981465"/>
              <a:ext cx="90780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822B06C-EE04-9013-0965-8DB29F58907D}"/>
                </a:ext>
              </a:extLst>
            </p:cNvPr>
            <p:cNvSpPr txBox="1"/>
            <p:nvPr/>
          </p:nvSpPr>
          <p:spPr>
            <a:xfrm>
              <a:off x="10614095" y="1774758"/>
              <a:ext cx="3959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…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072CBF5-F676-099B-5970-C33815F644A6}"/>
                </a:ext>
              </a:extLst>
            </p:cNvPr>
            <p:cNvSpPr/>
            <p:nvPr/>
          </p:nvSpPr>
          <p:spPr>
            <a:xfrm>
              <a:off x="5794809" y="238024"/>
              <a:ext cx="5447702" cy="2104643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131F4321-405B-F15F-6E9F-47A35D82659A}"/>
                    </a:ext>
                  </a:extLst>
                </p:cNvPr>
                <p:cNvSpPr/>
                <p:nvPr/>
              </p:nvSpPr>
              <p:spPr>
                <a:xfrm>
                  <a:off x="6739996" y="1059323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5"/>
                </a:fillRef>
                <a:effectRef idx="1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131F4321-405B-F15F-6E9F-47A35D82659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9996" y="1059323"/>
                  <a:ext cx="381000" cy="381000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A6195814-6EE2-AA77-6102-3CC51A651E72}"/>
                </a:ext>
              </a:extLst>
            </p:cNvPr>
            <p:cNvCxnSpPr>
              <a:stCxn id="9" idx="0"/>
              <a:endCxn id="17" idx="4"/>
            </p:cNvCxnSpPr>
            <p:nvPr/>
          </p:nvCxnSpPr>
          <p:spPr>
            <a:xfrm flipV="1">
              <a:off x="6930496" y="1440323"/>
              <a:ext cx="0" cy="35064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826B57E-D162-4FF0-DFF1-7E1DEA7B335F}"/>
                    </a:ext>
                  </a:extLst>
                </p:cNvPr>
                <p:cNvSpPr/>
                <p:nvPr/>
              </p:nvSpPr>
              <p:spPr>
                <a:xfrm>
                  <a:off x="9317604" y="1059323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5"/>
                </a:fillRef>
                <a:effectRef idx="1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826B57E-D162-4FF0-DFF1-7E1DEA7B335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7604" y="1059323"/>
                  <a:ext cx="381000" cy="381000"/>
                </a:xfrm>
                <a:prstGeom prst="ellipse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AE402888-0859-315E-112D-FC491BA064D5}"/>
                    </a:ext>
                  </a:extLst>
                </p:cNvPr>
                <p:cNvSpPr/>
                <p:nvPr/>
              </p:nvSpPr>
              <p:spPr>
                <a:xfrm>
                  <a:off x="8028800" y="1059323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5"/>
                </a:fillRef>
                <a:effectRef idx="1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AE402888-0859-315E-112D-FC491BA064D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28800" y="1059323"/>
                  <a:ext cx="381000" cy="381000"/>
                </a:xfrm>
                <a:prstGeom prst="ellipse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5F9F500-7031-75DE-11AF-317990435A70}"/>
                </a:ext>
              </a:extLst>
            </p:cNvPr>
            <p:cNvCxnSpPr>
              <a:cxnSpLocks/>
              <a:stCxn id="11" idx="0"/>
              <a:endCxn id="20" idx="4"/>
            </p:cNvCxnSpPr>
            <p:nvPr/>
          </p:nvCxnSpPr>
          <p:spPr>
            <a:xfrm flipV="1">
              <a:off x="8219300" y="1440323"/>
              <a:ext cx="0" cy="35064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D260589D-CD41-589D-890C-B5F44245297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515599" y="1440323"/>
              <a:ext cx="40" cy="35064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4B5075B7-46AC-9535-1429-94BA12910DD4}"/>
                </a:ext>
              </a:extLst>
            </p:cNvPr>
            <p:cNvSpPr/>
            <p:nvPr/>
          </p:nvSpPr>
          <p:spPr>
            <a:xfrm>
              <a:off x="5997122" y="1702520"/>
              <a:ext cx="5147779" cy="554636"/>
            </a:xfrm>
            <a:prstGeom prst="rect">
              <a:avLst/>
            </a:prstGeom>
            <a:solidFill>
              <a:srgbClr val="747474">
                <a:alpha val="50196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370FF5A-3D9A-B331-FE04-F8A18BCF85FE}"/>
                </a:ext>
              </a:extLst>
            </p:cNvPr>
            <p:cNvSpPr txBox="1"/>
            <p:nvPr/>
          </p:nvSpPr>
          <p:spPr>
            <a:xfrm>
              <a:off x="10538081" y="238024"/>
              <a:ext cx="80552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HMM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7335BA6A-B10F-38BE-219F-2C458D9BDECA}"/>
                    </a:ext>
                  </a:extLst>
                </p:cNvPr>
                <p:cNvSpPr/>
                <p:nvPr/>
              </p:nvSpPr>
              <p:spPr>
                <a:xfrm>
                  <a:off x="6739996" y="432800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7335BA6A-B10F-38BE-219F-2C458D9BDEC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9996" y="432800"/>
                  <a:ext cx="381000" cy="381000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B2E39AF5-7044-EA10-D71C-C9C467CA9F06}"/>
                    </a:ext>
                  </a:extLst>
                </p:cNvPr>
                <p:cNvSpPr/>
                <p:nvPr/>
              </p:nvSpPr>
              <p:spPr>
                <a:xfrm>
                  <a:off x="5997122" y="432800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B2E39AF5-7044-EA10-D71C-C9C467CA9F0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7122" y="432800"/>
                  <a:ext cx="381000" cy="381000"/>
                </a:xfrm>
                <a:prstGeom prst="ellipse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98542C78-D913-C8E2-AC62-0A2ABDF27CBA}"/>
                    </a:ext>
                  </a:extLst>
                </p:cNvPr>
                <p:cNvSpPr/>
                <p:nvPr/>
              </p:nvSpPr>
              <p:spPr>
                <a:xfrm>
                  <a:off x="8028800" y="429996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98542C78-D913-C8E2-AC62-0A2ABDF27C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28800" y="429996"/>
                  <a:ext cx="381000" cy="381000"/>
                </a:xfrm>
                <a:prstGeom prst="ellipse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D1A5130E-874E-0FB6-F746-CD3EF4FB03BE}"/>
                    </a:ext>
                  </a:extLst>
                </p:cNvPr>
                <p:cNvSpPr/>
                <p:nvPr/>
              </p:nvSpPr>
              <p:spPr>
                <a:xfrm>
                  <a:off x="9317604" y="429996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D1A5130E-874E-0FB6-F746-CD3EF4FB03B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7604" y="429996"/>
                  <a:ext cx="381000" cy="381000"/>
                </a:xfrm>
                <a:prstGeom prst="ellipse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344B6C8D-1805-80A7-1C28-C9168EF171D3}"/>
                </a:ext>
              </a:extLst>
            </p:cNvPr>
            <p:cNvCxnSpPr>
              <a:stCxn id="17" idx="0"/>
              <a:endCxn id="26" idx="4"/>
            </p:cNvCxnSpPr>
            <p:nvPr/>
          </p:nvCxnSpPr>
          <p:spPr>
            <a:xfrm flipV="1">
              <a:off x="6930496" y="813800"/>
              <a:ext cx="0" cy="24552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25EF212-6BB2-3EB5-7922-823F3ED3BD54}"/>
                </a:ext>
              </a:extLst>
            </p:cNvPr>
            <p:cNvCxnSpPr>
              <a:cxnSpLocks/>
              <a:stCxn id="19" idx="0"/>
              <a:endCxn id="29" idx="4"/>
            </p:cNvCxnSpPr>
            <p:nvPr/>
          </p:nvCxnSpPr>
          <p:spPr>
            <a:xfrm flipV="1">
              <a:off x="9508104" y="810996"/>
              <a:ext cx="0" cy="24832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40100BFC-8785-AF63-3F22-4AA107AB380C}"/>
                </a:ext>
              </a:extLst>
            </p:cNvPr>
            <p:cNvCxnSpPr>
              <a:cxnSpLocks/>
              <a:stCxn id="20" idx="0"/>
              <a:endCxn id="28" idx="4"/>
            </p:cNvCxnSpPr>
            <p:nvPr/>
          </p:nvCxnSpPr>
          <p:spPr>
            <a:xfrm flipV="1">
              <a:off x="8219300" y="810996"/>
              <a:ext cx="0" cy="24832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0C05BFCA-8253-2611-66C3-BDA48136E09E}"/>
                </a:ext>
              </a:extLst>
            </p:cNvPr>
            <p:cNvCxnSpPr>
              <a:cxnSpLocks/>
              <a:stCxn id="27" idx="6"/>
              <a:endCxn id="26" idx="2"/>
            </p:cNvCxnSpPr>
            <p:nvPr/>
          </p:nvCxnSpPr>
          <p:spPr>
            <a:xfrm>
              <a:off x="6378122" y="623300"/>
              <a:ext cx="36187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00D68FB3-4B8A-7720-2B0A-A40F83B4494B}"/>
                </a:ext>
              </a:extLst>
            </p:cNvPr>
            <p:cNvCxnSpPr>
              <a:cxnSpLocks/>
              <a:stCxn id="26" idx="6"/>
              <a:endCxn id="28" idx="2"/>
            </p:cNvCxnSpPr>
            <p:nvPr/>
          </p:nvCxnSpPr>
          <p:spPr>
            <a:xfrm flipV="1">
              <a:off x="7120996" y="620496"/>
              <a:ext cx="907804" cy="280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D4E0E40-ED11-1D82-0B93-3DA17CD32E9D}"/>
                </a:ext>
              </a:extLst>
            </p:cNvPr>
            <p:cNvCxnSpPr>
              <a:cxnSpLocks/>
              <a:stCxn id="28" idx="6"/>
              <a:endCxn id="29" idx="2"/>
            </p:cNvCxnSpPr>
            <p:nvPr/>
          </p:nvCxnSpPr>
          <p:spPr>
            <a:xfrm>
              <a:off x="8409800" y="620496"/>
              <a:ext cx="90780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FE59BDBF-6070-541A-CD4C-4EE9245BD5FF}"/>
                </a:ext>
              </a:extLst>
            </p:cNvPr>
            <p:cNvCxnSpPr>
              <a:cxnSpLocks/>
              <a:stCxn id="29" idx="6"/>
            </p:cNvCxnSpPr>
            <p:nvPr/>
          </p:nvCxnSpPr>
          <p:spPr>
            <a:xfrm flipV="1">
              <a:off x="9698604" y="610633"/>
              <a:ext cx="789517" cy="986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735960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B8A97-96AA-2C0C-0DF0-65972F4C9E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Deep Belief Monitoring with RNNs</a:t>
            </a:r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10B10DBC-8693-9616-0B27-C3EF1BCB7C46}"/>
              </a:ext>
            </a:extLst>
          </p:cNvPr>
          <p:cNvGrpSpPr/>
          <p:nvPr/>
        </p:nvGrpSpPr>
        <p:grpSpPr>
          <a:xfrm>
            <a:off x="1747445" y="1781267"/>
            <a:ext cx="381000" cy="1828488"/>
            <a:chOff x="2432560" y="1531239"/>
            <a:chExt cx="381000" cy="182848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457F713-49D3-5F7A-0EAB-D23FDB3021BE}"/>
                    </a:ext>
                  </a:extLst>
                </p:cNvPr>
                <p:cNvSpPr/>
                <p:nvPr/>
              </p:nvSpPr>
              <p:spPr>
                <a:xfrm>
                  <a:off x="2432560" y="2978727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5"/>
                </a:fillRef>
                <a:effectRef idx="1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457F713-49D3-5F7A-0EAB-D23FDB3021B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32560" y="2978727"/>
                  <a:ext cx="381000" cy="381000"/>
                </a:xfrm>
                <a:prstGeom prst="ellipse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Oval 51">
                  <a:extLst>
                    <a:ext uri="{FF2B5EF4-FFF2-40B4-BE49-F238E27FC236}">
                      <a16:creationId xmlns:a16="http://schemas.microsoft.com/office/drawing/2014/main" id="{0E5964E8-E138-9657-0548-FCD86F5ED5B1}"/>
                    </a:ext>
                  </a:extLst>
                </p:cNvPr>
                <p:cNvSpPr/>
                <p:nvPr/>
              </p:nvSpPr>
              <p:spPr>
                <a:xfrm>
                  <a:off x="2432560" y="2183745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2" name="Oval 51">
                  <a:extLst>
                    <a:ext uri="{FF2B5EF4-FFF2-40B4-BE49-F238E27FC236}">
                      <a16:creationId xmlns:a16="http://schemas.microsoft.com/office/drawing/2014/main" id="{0E5964E8-E138-9657-0548-FCD86F5ED5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32560" y="2183745"/>
                  <a:ext cx="381000" cy="381000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95EF5960-5B80-4D00-DC8D-56455240F7EE}"/>
                </a:ext>
              </a:extLst>
            </p:cNvPr>
            <p:cNvCxnSpPr>
              <a:stCxn id="51" idx="0"/>
              <a:endCxn id="52" idx="4"/>
            </p:cNvCxnSpPr>
            <p:nvPr/>
          </p:nvCxnSpPr>
          <p:spPr>
            <a:xfrm flipV="1">
              <a:off x="2623060" y="2564745"/>
              <a:ext cx="0" cy="41398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Oval 53">
                  <a:extLst>
                    <a:ext uri="{FF2B5EF4-FFF2-40B4-BE49-F238E27FC236}">
                      <a16:creationId xmlns:a16="http://schemas.microsoft.com/office/drawing/2014/main" id="{2F049BF1-4A53-B9B9-A1A6-0AA1764B3851}"/>
                    </a:ext>
                  </a:extLst>
                </p:cNvPr>
                <p:cNvSpPr/>
                <p:nvPr/>
              </p:nvSpPr>
              <p:spPr>
                <a:xfrm>
                  <a:off x="2432560" y="1531239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3"/>
                </a:fillRef>
                <a:effectRef idx="1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4" name="Oval 53">
                  <a:extLst>
                    <a:ext uri="{FF2B5EF4-FFF2-40B4-BE49-F238E27FC236}">
                      <a16:creationId xmlns:a16="http://schemas.microsoft.com/office/drawing/2014/main" id="{2F049BF1-4A53-B9B9-A1A6-0AA1764B385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32560" y="1531239"/>
                  <a:ext cx="381000" cy="381000"/>
                </a:xfrm>
                <a:prstGeom prst="ellipse">
                  <a:avLst/>
                </a:prstGeom>
                <a:blipFill>
                  <a:blip r:embed="rId4"/>
                  <a:stretch>
                    <a:fillRect b="-149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015845B8-26BD-2D2E-6DD0-88234589188D}"/>
                </a:ext>
              </a:extLst>
            </p:cNvPr>
            <p:cNvCxnSpPr>
              <a:cxnSpLocks/>
              <a:stCxn id="52" idx="0"/>
              <a:endCxn id="54" idx="4"/>
            </p:cNvCxnSpPr>
            <p:nvPr/>
          </p:nvCxnSpPr>
          <p:spPr>
            <a:xfrm flipV="1">
              <a:off x="2623060" y="1912239"/>
              <a:ext cx="0" cy="27150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57" name="Connector: Curved 56">
              <a:extLst>
                <a:ext uri="{FF2B5EF4-FFF2-40B4-BE49-F238E27FC236}">
                  <a16:creationId xmlns:a16="http://schemas.microsoft.com/office/drawing/2014/main" id="{21A1E7B9-6C6A-585D-EB4A-9588DB65B1C1}"/>
                </a:ext>
              </a:extLst>
            </p:cNvPr>
            <p:cNvCxnSpPr>
              <a:cxnSpLocks/>
              <a:stCxn id="52" idx="6"/>
              <a:endCxn id="52" idx="2"/>
            </p:cNvCxnSpPr>
            <p:nvPr/>
          </p:nvCxnSpPr>
          <p:spPr>
            <a:xfrm flipH="1">
              <a:off x="2432560" y="2374245"/>
              <a:ext cx="381000" cy="12700"/>
            </a:xfrm>
            <a:prstGeom prst="curvedConnector5">
              <a:avLst>
                <a:gd name="adj1" fmla="val -60000"/>
                <a:gd name="adj2" fmla="val 3007315"/>
                <a:gd name="adj3" fmla="val 160000"/>
              </a:avLst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62" name="Arrow: Right 61">
            <a:extLst>
              <a:ext uri="{FF2B5EF4-FFF2-40B4-BE49-F238E27FC236}">
                <a16:creationId xmlns:a16="http://schemas.microsoft.com/office/drawing/2014/main" id="{DA522A41-9B79-D806-BC61-014F1F28A23B}"/>
              </a:ext>
            </a:extLst>
          </p:cNvPr>
          <p:cNvSpPr/>
          <p:nvPr/>
        </p:nvSpPr>
        <p:spPr>
          <a:xfrm>
            <a:off x="3976007" y="2193505"/>
            <a:ext cx="1144859" cy="7463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Unroll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B1A5901-014C-E2D9-E9C0-C1AE4ED6F64C}"/>
                  </a:ext>
                </a:extLst>
              </p:cNvPr>
              <p:cNvSpPr txBox="1"/>
              <p:nvPr/>
            </p:nvSpPr>
            <p:spPr>
              <a:xfrm>
                <a:off x="2035008" y="2900195"/>
                <a:ext cx="2473241" cy="3629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  <m:sSub>
                            <m:sSub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  <m:sSub>
                            <m:sSub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𝒐</m:t>
                              </m:r>
                            </m:e>
                            <m:sub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aseline="-250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B1A5901-014C-E2D9-E9C0-C1AE4ED6F6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5008" y="2900195"/>
                <a:ext cx="2473241" cy="362984"/>
              </a:xfrm>
              <a:prstGeom prst="rect">
                <a:avLst/>
              </a:prstGeom>
              <a:blipFill>
                <a:blip r:embed="rId5"/>
                <a:stretch>
                  <a:fillRect b="-101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TextBox 63">
            <a:extLst>
              <a:ext uri="{FF2B5EF4-FFF2-40B4-BE49-F238E27FC236}">
                <a16:creationId xmlns:a16="http://schemas.microsoft.com/office/drawing/2014/main" id="{3928535D-8D64-2019-9544-B32CE6FC8DB5}"/>
              </a:ext>
            </a:extLst>
          </p:cNvPr>
          <p:cNvSpPr txBox="1"/>
          <p:nvPr/>
        </p:nvSpPr>
        <p:spPr>
          <a:xfrm>
            <a:off x="3944053" y="2035248"/>
            <a:ext cx="805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8DA9517-4AF4-AEC7-81C6-17DE80209F23}"/>
                  </a:ext>
                </a:extLst>
              </p:cNvPr>
              <p:cNvSpPr txBox="1"/>
              <p:nvPr/>
            </p:nvSpPr>
            <p:spPr>
              <a:xfrm>
                <a:off x="575901" y="3877983"/>
                <a:ext cx="10430107" cy="2031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The hidden state keeps track of the agent state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and is used to predict Q-values used for action selection. The network can be trained using 1-step TD methods like DQN.</a:t>
                </a:r>
              </a:p>
              <a:p>
                <a:endParaRPr lang="en-US" dirty="0"/>
              </a:p>
              <a:p>
                <a:r>
                  <a:rPr lang="en-US" dirty="0"/>
                  <a:t>Issues: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Vanishing or exploding gradients during training (backpropagation through time).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Poor long-range memory: The hidden state forgets older observations.</a:t>
                </a:r>
              </a:p>
              <a:p>
                <a:r>
                  <a:rPr lang="en-US" dirty="0"/>
                  <a:t>LSTMs can help with these issues.</a:t>
                </a:r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8DA9517-4AF4-AEC7-81C6-17DE80209F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901" y="3877983"/>
                <a:ext cx="10430107" cy="2031325"/>
              </a:xfrm>
              <a:prstGeom prst="rect">
                <a:avLst/>
              </a:prstGeom>
              <a:blipFill>
                <a:blip r:embed="rId6"/>
                <a:stretch>
                  <a:fillRect l="-468" t="-1201" b="-42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4" name="Group 73">
            <a:extLst>
              <a:ext uri="{FF2B5EF4-FFF2-40B4-BE49-F238E27FC236}">
                <a16:creationId xmlns:a16="http://schemas.microsoft.com/office/drawing/2014/main" id="{932F9DDA-AAE3-2E11-9B0E-EE6F04167E99}"/>
              </a:ext>
            </a:extLst>
          </p:cNvPr>
          <p:cNvGrpSpPr/>
          <p:nvPr/>
        </p:nvGrpSpPr>
        <p:grpSpPr>
          <a:xfrm>
            <a:off x="5609101" y="1617404"/>
            <a:ext cx="5311414" cy="1992351"/>
            <a:chOff x="5604461" y="1488955"/>
            <a:chExt cx="5311414" cy="1992351"/>
          </a:xfrm>
        </p:grpSpPr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DECF11D4-8D27-1E41-A2A2-7628CFD8633D}"/>
                </a:ext>
              </a:extLst>
            </p:cNvPr>
            <p:cNvGrpSpPr/>
            <p:nvPr/>
          </p:nvGrpSpPr>
          <p:grpSpPr>
            <a:xfrm>
              <a:off x="5797052" y="1644929"/>
              <a:ext cx="4966939" cy="1660029"/>
              <a:chOff x="3179580" y="2008826"/>
              <a:chExt cx="4966939" cy="1660029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556C6CD-DEF6-7D04-DE71-2076D1DE74B6}"/>
                  </a:ext>
                </a:extLst>
              </p:cNvPr>
              <p:cNvSpPr txBox="1"/>
              <p:nvPr/>
            </p:nvSpPr>
            <p:spPr>
              <a:xfrm>
                <a:off x="7750609" y="2642642"/>
                <a:ext cx="3959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…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Oval 13">
                    <a:extLst>
                      <a:ext uri="{FF2B5EF4-FFF2-40B4-BE49-F238E27FC236}">
                        <a16:creationId xmlns:a16="http://schemas.microsoft.com/office/drawing/2014/main" id="{B52D11A1-77E6-327B-BA63-33E784685093}"/>
                      </a:ext>
                    </a:extLst>
                  </p:cNvPr>
                  <p:cNvSpPr/>
                  <p:nvPr/>
                </p:nvSpPr>
                <p:spPr>
                  <a:xfrm>
                    <a:off x="3922454" y="3287855"/>
                    <a:ext cx="381000" cy="381000"/>
                  </a:xfrm>
                  <a:prstGeom prst="ellipse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5"/>
                  </a:fillRef>
                  <a:effectRef idx="1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4" name="Oval 13">
                    <a:extLst>
                      <a:ext uri="{FF2B5EF4-FFF2-40B4-BE49-F238E27FC236}">
                        <a16:creationId xmlns:a16="http://schemas.microsoft.com/office/drawing/2014/main" id="{B52D11A1-77E6-327B-BA63-33E78468509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22454" y="3287855"/>
                    <a:ext cx="381000" cy="381000"/>
                  </a:xfrm>
                  <a:prstGeom prst="ellipse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Oval 15">
                    <a:extLst>
                      <a:ext uri="{FF2B5EF4-FFF2-40B4-BE49-F238E27FC236}">
                        <a16:creationId xmlns:a16="http://schemas.microsoft.com/office/drawing/2014/main" id="{1563E23E-41F5-F55A-0781-9E67DD368C3D}"/>
                      </a:ext>
                    </a:extLst>
                  </p:cNvPr>
                  <p:cNvSpPr/>
                  <p:nvPr/>
                </p:nvSpPr>
                <p:spPr>
                  <a:xfrm>
                    <a:off x="6500062" y="3287855"/>
                    <a:ext cx="381000" cy="381000"/>
                  </a:xfrm>
                  <a:prstGeom prst="ellipse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5"/>
                  </a:fillRef>
                  <a:effectRef idx="1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6" name="Oval 15">
                    <a:extLst>
                      <a:ext uri="{FF2B5EF4-FFF2-40B4-BE49-F238E27FC236}">
                        <a16:creationId xmlns:a16="http://schemas.microsoft.com/office/drawing/2014/main" id="{1563E23E-41F5-F55A-0781-9E67DD368C3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00062" y="3287855"/>
                    <a:ext cx="381000" cy="381000"/>
                  </a:xfrm>
                  <a:prstGeom prst="ellipse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Oval 16">
                    <a:extLst>
                      <a:ext uri="{FF2B5EF4-FFF2-40B4-BE49-F238E27FC236}">
                        <a16:creationId xmlns:a16="http://schemas.microsoft.com/office/drawing/2014/main" id="{80C29897-2EF2-4E08-884E-195DEA177661}"/>
                      </a:ext>
                    </a:extLst>
                  </p:cNvPr>
                  <p:cNvSpPr/>
                  <p:nvPr/>
                </p:nvSpPr>
                <p:spPr>
                  <a:xfrm>
                    <a:off x="5211258" y="3287855"/>
                    <a:ext cx="381000" cy="381000"/>
                  </a:xfrm>
                  <a:prstGeom prst="ellipse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5"/>
                  </a:fillRef>
                  <a:effectRef idx="1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" name="Oval 16">
                    <a:extLst>
                      <a:ext uri="{FF2B5EF4-FFF2-40B4-BE49-F238E27FC236}">
                        <a16:creationId xmlns:a16="http://schemas.microsoft.com/office/drawing/2014/main" id="{80C29897-2EF2-4E08-884E-195DEA17766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211258" y="3287855"/>
                    <a:ext cx="381000" cy="381000"/>
                  </a:xfrm>
                  <a:prstGeom prst="ellipse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6716C483-D9E2-1BEE-F441-79E3A28DBA58}"/>
                      </a:ext>
                    </a:extLst>
                  </p:cNvPr>
                  <p:cNvSpPr/>
                  <p:nvPr/>
                </p:nvSpPr>
                <p:spPr>
                  <a:xfrm>
                    <a:off x="3922454" y="2661332"/>
                    <a:ext cx="381000" cy="381000"/>
                  </a:xfrm>
                  <a:prstGeom prst="ellipse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6716C483-D9E2-1BEE-F441-79E3A28DBA5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22454" y="2661332"/>
                    <a:ext cx="381000" cy="381000"/>
                  </a:xfrm>
                  <a:prstGeom prst="ellipse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Oval 22">
                    <a:extLst>
                      <a:ext uri="{FF2B5EF4-FFF2-40B4-BE49-F238E27FC236}">
                        <a16:creationId xmlns:a16="http://schemas.microsoft.com/office/drawing/2014/main" id="{F05839A9-C521-41BE-3506-C87138A5479A}"/>
                      </a:ext>
                    </a:extLst>
                  </p:cNvPr>
                  <p:cNvSpPr/>
                  <p:nvPr/>
                </p:nvSpPr>
                <p:spPr>
                  <a:xfrm>
                    <a:off x="3179580" y="2661332"/>
                    <a:ext cx="381000" cy="381000"/>
                  </a:xfrm>
                  <a:prstGeom prst="ellipse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3" name="Oval 22">
                    <a:extLst>
                      <a:ext uri="{FF2B5EF4-FFF2-40B4-BE49-F238E27FC236}">
                        <a16:creationId xmlns:a16="http://schemas.microsoft.com/office/drawing/2014/main" id="{F05839A9-C521-41BE-3506-C87138A5479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79580" y="2661332"/>
                    <a:ext cx="381000" cy="381000"/>
                  </a:xfrm>
                  <a:prstGeom prst="ellipse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Oval 23">
                    <a:extLst>
                      <a:ext uri="{FF2B5EF4-FFF2-40B4-BE49-F238E27FC236}">
                        <a16:creationId xmlns:a16="http://schemas.microsoft.com/office/drawing/2014/main" id="{D0F3F5C4-DAFF-2044-BB99-91707E9294E1}"/>
                      </a:ext>
                    </a:extLst>
                  </p:cNvPr>
                  <p:cNvSpPr/>
                  <p:nvPr/>
                </p:nvSpPr>
                <p:spPr>
                  <a:xfrm>
                    <a:off x="5211258" y="2658528"/>
                    <a:ext cx="381000" cy="381000"/>
                  </a:xfrm>
                  <a:prstGeom prst="ellipse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4" name="Oval 23">
                    <a:extLst>
                      <a:ext uri="{FF2B5EF4-FFF2-40B4-BE49-F238E27FC236}">
                        <a16:creationId xmlns:a16="http://schemas.microsoft.com/office/drawing/2014/main" id="{D0F3F5C4-DAFF-2044-BB99-91707E9294E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211258" y="2658528"/>
                    <a:ext cx="381000" cy="381000"/>
                  </a:xfrm>
                  <a:prstGeom prst="ellipse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Oval 24">
                    <a:extLst>
                      <a:ext uri="{FF2B5EF4-FFF2-40B4-BE49-F238E27FC236}">
                        <a16:creationId xmlns:a16="http://schemas.microsoft.com/office/drawing/2014/main" id="{492F86EF-7436-D9E0-271F-DE5D817196F4}"/>
                      </a:ext>
                    </a:extLst>
                  </p:cNvPr>
                  <p:cNvSpPr/>
                  <p:nvPr/>
                </p:nvSpPr>
                <p:spPr>
                  <a:xfrm>
                    <a:off x="6500062" y="2658528"/>
                    <a:ext cx="381000" cy="381000"/>
                  </a:xfrm>
                  <a:prstGeom prst="ellipse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5" name="Oval 24">
                    <a:extLst>
                      <a:ext uri="{FF2B5EF4-FFF2-40B4-BE49-F238E27FC236}">
                        <a16:creationId xmlns:a16="http://schemas.microsoft.com/office/drawing/2014/main" id="{492F86EF-7436-D9E0-271F-DE5D817196F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00062" y="2658528"/>
                    <a:ext cx="381000" cy="381000"/>
                  </a:xfrm>
                  <a:prstGeom prst="ellipse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B04A6F45-9AE6-3802-8F91-B497D2EFF2CD}"/>
                  </a:ext>
                </a:extLst>
              </p:cNvPr>
              <p:cNvCxnSpPr>
                <a:stCxn id="14" idx="0"/>
                <a:endCxn id="22" idx="4"/>
              </p:cNvCxnSpPr>
              <p:nvPr/>
            </p:nvCxnSpPr>
            <p:spPr>
              <a:xfrm flipV="1">
                <a:off x="4112954" y="3042332"/>
                <a:ext cx="0" cy="24552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76ED617D-B37A-5CCE-9580-61E0A1A9695C}"/>
                  </a:ext>
                </a:extLst>
              </p:cNvPr>
              <p:cNvCxnSpPr>
                <a:cxnSpLocks/>
                <a:stCxn id="16" idx="0"/>
                <a:endCxn id="25" idx="4"/>
              </p:cNvCxnSpPr>
              <p:nvPr/>
            </p:nvCxnSpPr>
            <p:spPr>
              <a:xfrm flipV="1">
                <a:off x="6690562" y="3039528"/>
                <a:ext cx="0" cy="24832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6E205B5F-7795-5E11-EA48-A713EA74C832}"/>
                  </a:ext>
                </a:extLst>
              </p:cNvPr>
              <p:cNvCxnSpPr>
                <a:cxnSpLocks/>
                <a:stCxn id="17" idx="0"/>
                <a:endCxn id="24" idx="4"/>
              </p:cNvCxnSpPr>
              <p:nvPr/>
            </p:nvCxnSpPr>
            <p:spPr>
              <a:xfrm flipV="1">
                <a:off x="5401758" y="3039528"/>
                <a:ext cx="0" cy="24832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830B8E11-7976-7C03-3DDB-CF8D7F94302F}"/>
                  </a:ext>
                </a:extLst>
              </p:cNvPr>
              <p:cNvCxnSpPr>
                <a:cxnSpLocks/>
                <a:stCxn id="23" idx="6"/>
                <a:endCxn id="22" idx="2"/>
              </p:cNvCxnSpPr>
              <p:nvPr/>
            </p:nvCxnSpPr>
            <p:spPr>
              <a:xfrm>
                <a:off x="3560580" y="2851832"/>
                <a:ext cx="36187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089D2A47-A901-C37B-073B-59E59A683EA1}"/>
                  </a:ext>
                </a:extLst>
              </p:cNvPr>
              <p:cNvCxnSpPr>
                <a:cxnSpLocks/>
                <a:stCxn id="22" idx="6"/>
                <a:endCxn id="24" idx="2"/>
              </p:cNvCxnSpPr>
              <p:nvPr/>
            </p:nvCxnSpPr>
            <p:spPr>
              <a:xfrm flipV="1">
                <a:off x="4303454" y="2849028"/>
                <a:ext cx="907804" cy="280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31" name="Straight Arrow Connector 30">
                <a:extLst>
                  <a:ext uri="{FF2B5EF4-FFF2-40B4-BE49-F238E27FC236}">
                    <a16:creationId xmlns:a16="http://schemas.microsoft.com/office/drawing/2014/main" id="{AB222127-A204-D09C-8F3A-B20A4AC3B340}"/>
                  </a:ext>
                </a:extLst>
              </p:cNvPr>
              <p:cNvCxnSpPr>
                <a:cxnSpLocks/>
                <a:stCxn id="24" idx="6"/>
                <a:endCxn id="25" idx="2"/>
              </p:cNvCxnSpPr>
              <p:nvPr/>
            </p:nvCxnSpPr>
            <p:spPr>
              <a:xfrm>
                <a:off x="5592258" y="2849028"/>
                <a:ext cx="90780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F8ADDFCC-29B2-CA98-44A6-4E629772276A}"/>
                  </a:ext>
                </a:extLst>
              </p:cNvPr>
              <p:cNvCxnSpPr>
                <a:cxnSpLocks/>
                <a:stCxn id="25" idx="6"/>
              </p:cNvCxnSpPr>
              <p:nvPr/>
            </p:nvCxnSpPr>
            <p:spPr>
              <a:xfrm flipV="1">
                <a:off x="6881062" y="2839165"/>
                <a:ext cx="789517" cy="986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Oval 32">
                    <a:extLst>
                      <a:ext uri="{FF2B5EF4-FFF2-40B4-BE49-F238E27FC236}">
                        <a16:creationId xmlns:a16="http://schemas.microsoft.com/office/drawing/2014/main" id="{97840DF9-2C63-03BC-70C9-9A462DEFA0B4}"/>
                      </a:ext>
                    </a:extLst>
                  </p:cNvPr>
                  <p:cNvSpPr/>
                  <p:nvPr/>
                </p:nvSpPr>
                <p:spPr>
                  <a:xfrm>
                    <a:off x="6500062" y="2037077"/>
                    <a:ext cx="381000" cy="381000"/>
                  </a:xfrm>
                  <a:prstGeom prst="ellipse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3"/>
                  </a:fillRef>
                  <a:effectRef idx="1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3" name="Oval 32">
                    <a:extLst>
                      <a:ext uri="{FF2B5EF4-FFF2-40B4-BE49-F238E27FC236}">
                        <a16:creationId xmlns:a16="http://schemas.microsoft.com/office/drawing/2014/main" id="{97840DF9-2C63-03BC-70C9-9A462DEFA0B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00062" y="2037077"/>
                    <a:ext cx="381000" cy="381000"/>
                  </a:xfrm>
                  <a:prstGeom prst="ellipse">
                    <a:avLst/>
                  </a:prstGeom>
                  <a:blipFill>
                    <a:blip r:embed="rId14"/>
                    <a:stretch>
                      <a:fillRect b="-151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D1DFFEFA-2D4D-9208-49D4-5457F9821846}"/>
                  </a:ext>
                </a:extLst>
              </p:cNvPr>
              <p:cNvCxnSpPr>
                <a:cxnSpLocks/>
                <a:stCxn id="25" idx="0"/>
                <a:endCxn id="33" idx="4"/>
              </p:cNvCxnSpPr>
              <p:nvPr/>
            </p:nvCxnSpPr>
            <p:spPr>
              <a:xfrm flipV="1">
                <a:off x="6690562" y="2418077"/>
                <a:ext cx="0" cy="24045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3"/>
              </a:lnRef>
              <a:fillRef idx="0">
                <a:schemeClr val="accent3"/>
              </a:fillRef>
              <a:effectRef idx="2">
                <a:schemeClr val="accent3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Oval 39">
                    <a:extLst>
                      <a:ext uri="{FF2B5EF4-FFF2-40B4-BE49-F238E27FC236}">
                        <a16:creationId xmlns:a16="http://schemas.microsoft.com/office/drawing/2014/main" id="{315B87AF-B666-6463-8905-D7A0B785A933}"/>
                      </a:ext>
                    </a:extLst>
                  </p:cNvPr>
                  <p:cNvSpPr/>
                  <p:nvPr/>
                </p:nvSpPr>
                <p:spPr>
                  <a:xfrm>
                    <a:off x="5211257" y="2047927"/>
                    <a:ext cx="381000" cy="381000"/>
                  </a:xfrm>
                  <a:prstGeom prst="ellipse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3"/>
                  </a:fillRef>
                  <a:effectRef idx="1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0" name="Oval 39">
                    <a:extLst>
                      <a:ext uri="{FF2B5EF4-FFF2-40B4-BE49-F238E27FC236}">
                        <a16:creationId xmlns:a16="http://schemas.microsoft.com/office/drawing/2014/main" id="{315B87AF-B666-6463-8905-D7A0B785A93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211257" y="2047927"/>
                    <a:ext cx="381000" cy="381000"/>
                  </a:xfrm>
                  <a:prstGeom prst="ellipse">
                    <a:avLst/>
                  </a:prstGeom>
                  <a:blipFill>
                    <a:blip r:embed="rId15"/>
                    <a:stretch>
                      <a:fillRect b="-149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FC811E4E-9FF1-658E-ABCE-D64D7C61C21A}"/>
                  </a:ext>
                </a:extLst>
              </p:cNvPr>
              <p:cNvCxnSpPr>
                <a:cxnSpLocks/>
                <a:stCxn id="24" idx="0"/>
                <a:endCxn id="40" idx="4"/>
              </p:cNvCxnSpPr>
              <p:nvPr/>
            </p:nvCxnSpPr>
            <p:spPr>
              <a:xfrm flipH="1" flipV="1">
                <a:off x="5401757" y="2428927"/>
                <a:ext cx="1" cy="22960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3"/>
              </a:lnRef>
              <a:fillRef idx="0">
                <a:schemeClr val="accent3"/>
              </a:fillRef>
              <a:effectRef idx="2">
                <a:schemeClr val="accent3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Oval 42">
                    <a:extLst>
                      <a:ext uri="{FF2B5EF4-FFF2-40B4-BE49-F238E27FC236}">
                        <a16:creationId xmlns:a16="http://schemas.microsoft.com/office/drawing/2014/main" id="{DF15993C-20FA-41DE-9956-C92A22B60D5C}"/>
                      </a:ext>
                    </a:extLst>
                  </p:cNvPr>
                  <p:cNvSpPr/>
                  <p:nvPr/>
                </p:nvSpPr>
                <p:spPr>
                  <a:xfrm>
                    <a:off x="3922454" y="2008826"/>
                    <a:ext cx="381000" cy="381000"/>
                  </a:xfrm>
                  <a:prstGeom prst="ellipse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3"/>
                  </a:fillRef>
                  <a:effectRef idx="1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3" name="Oval 42">
                    <a:extLst>
                      <a:ext uri="{FF2B5EF4-FFF2-40B4-BE49-F238E27FC236}">
                        <a16:creationId xmlns:a16="http://schemas.microsoft.com/office/drawing/2014/main" id="{DF15993C-20FA-41DE-9956-C92A22B60D5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22454" y="2008826"/>
                    <a:ext cx="381000" cy="381000"/>
                  </a:xfrm>
                  <a:prstGeom prst="ellipse">
                    <a:avLst/>
                  </a:prstGeom>
                  <a:blipFill>
                    <a:blip r:embed="rId16"/>
                    <a:stretch>
                      <a:fillRect b="-303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8E78E86F-BDC0-A048-4AF9-AEBFDAF1245A}"/>
                  </a:ext>
                </a:extLst>
              </p:cNvPr>
              <p:cNvCxnSpPr>
                <a:cxnSpLocks/>
                <a:stCxn id="22" idx="0"/>
                <a:endCxn id="43" idx="4"/>
              </p:cNvCxnSpPr>
              <p:nvPr/>
            </p:nvCxnSpPr>
            <p:spPr>
              <a:xfrm flipV="1">
                <a:off x="4112954" y="2389826"/>
                <a:ext cx="0" cy="2715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3"/>
              </a:lnRef>
              <a:fillRef idx="0">
                <a:schemeClr val="accent3"/>
              </a:fillRef>
              <a:effectRef idx="2">
                <a:schemeClr val="accent3"/>
              </a:effectRef>
              <a:fontRef idx="minor">
                <a:schemeClr val="tx1"/>
              </a:fontRef>
            </p:style>
          </p:cxnSp>
        </p:grp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5D895D09-3942-9733-0AAE-A74A0C7407DF}"/>
                </a:ext>
              </a:extLst>
            </p:cNvPr>
            <p:cNvGrpSpPr/>
            <p:nvPr/>
          </p:nvGrpSpPr>
          <p:grpSpPr>
            <a:xfrm>
              <a:off x="5604461" y="1488955"/>
              <a:ext cx="5311414" cy="1992351"/>
              <a:chOff x="5657386" y="1516566"/>
              <a:chExt cx="5311414" cy="1992351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F5F90EC7-9BE4-F02B-0D0F-2780A27B8337}"/>
                  </a:ext>
                </a:extLst>
              </p:cNvPr>
              <p:cNvSpPr/>
              <p:nvPr/>
            </p:nvSpPr>
            <p:spPr>
              <a:xfrm>
                <a:off x="5657386" y="1516566"/>
                <a:ext cx="5106598" cy="1992351"/>
              </a:xfrm>
              <a:prstGeom prst="rect">
                <a:avLst/>
              </a:prstGeom>
              <a:noFill/>
              <a:ln w="19050" cap="flat" cmpd="sng" algn="ctr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A8118814-4EEB-F464-8D66-11AA615D2E91}"/>
                  </a:ext>
                </a:extLst>
              </p:cNvPr>
              <p:cNvSpPr txBox="1"/>
              <p:nvPr/>
            </p:nvSpPr>
            <p:spPr>
              <a:xfrm>
                <a:off x="10163272" y="1516566"/>
                <a:ext cx="80552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RNN</a:t>
                </a: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B8865539-1EED-6DB0-267F-8CF365606B22}"/>
                  </a:ext>
                </a:extLst>
              </p:cNvPr>
              <p:cNvSpPr txBox="1"/>
              <p:nvPr/>
            </p:nvSpPr>
            <p:spPr>
              <a:xfrm>
                <a:off x="2193316" y="1727342"/>
                <a:ext cx="154592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𝑽</m:t>
                      </m:r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B8865539-1EED-6DB0-267F-8CF365606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3316" y="1727342"/>
                <a:ext cx="1545921" cy="369332"/>
              </a:xfrm>
              <a:prstGeom prst="rect">
                <a:avLst/>
              </a:prstGeom>
              <a:blipFill>
                <a:blip r:embed="rId1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" name="TextBox 76">
            <a:extLst>
              <a:ext uri="{FF2B5EF4-FFF2-40B4-BE49-F238E27FC236}">
                <a16:creationId xmlns:a16="http://schemas.microsoft.com/office/drawing/2014/main" id="{97B1EAD5-9A4B-99A1-2C57-9C771BB92C86}"/>
              </a:ext>
            </a:extLst>
          </p:cNvPr>
          <p:cNvSpPr txBox="1"/>
          <p:nvPr/>
        </p:nvSpPr>
        <p:spPr>
          <a:xfrm>
            <a:off x="896053" y="119870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Recurrent Neural Networks (RNNs)</a:t>
            </a:r>
          </a:p>
        </p:txBody>
      </p:sp>
    </p:spTree>
    <p:extLst>
      <p:ext uri="{BB962C8B-B14F-4D97-AF65-F5344CB8AC3E}">
        <p14:creationId xmlns:p14="http://schemas.microsoft.com/office/powerpoint/2010/main" val="39470613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97475-C341-3413-A113-CEAB0D750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B4A14C-06AB-755C-A3C6-18813CF68E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651131" cy="1481655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b="1" dirty="0"/>
                  <a:t>Idea</a:t>
                </a:r>
                <a:r>
                  <a:rPr lang="en-US" dirty="0"/>
                  <a:t>: Use a deep artificial neural network to create a hidden state that has sufficient information to make decisions. This is also called embed the observation into a latent space.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sub>
                        </m:sSub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r>
                  <a:rPr lang="en-US" b="1" dirty="0"/>
                  <a:t>Training</a:t>
                </a:r>
                <a:r>
                  <a:rPr lang="en-US" dirty="0"/>
                  <a:t>: Train the network to predict Q-values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by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minimizing the 1-step temporal difference error (Q-learning). This tries to learn a good agent state representation based on observations.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B4A14C-06AB-755C-A3C6-18813CF68E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651131" cy="1481655"/>
              </a:xfrm>
              <a:blipFill>
                <a:blip r:embed="rId2"/>
                <a:stretch>
                  <a:fillRect l="-401" t="-6173" r="-801" b="-32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8" name="Picture 4">
            <a:extLst>
              <a:ext uri="{FF2B5EF4-FFF2-40B4-BE49-F238E27FC236}">
                <a16:creationId xmlns:a16="http://schemas.microsoft.com/office/drawing/2014/main" id="{3B66EC64-73FA-EC0D-F663-E60EF66E27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7797" y="2827450"/>
            <a:ext cx="1477202" cy="18992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9" name="Group 28">
            <a:extLst>
              <a:ext uri="{FF2B5EF4-FFF2-40B4-BE49-F238E27FC236}">
                <a16:creationId xmlns:a16="http://schemas.microsoft.com/office/drawing/2014/main" id="{ECE9BBC3-86A1-408E-873E-F10CA39CC1D1}"/>
              </a:ext>
            </a:extLst>
          </p:cNvPr>
          <p:cNvGrpSpPr/>
          <p:nvPr/>
        </p:nvGrpSpPr>
        <p:grpSpPr>
          <a:xfrm>
            <a:off x="1723773" y="3444684"/>
            <a:ext cx="9610013" cy="2244777"/>
            <a:chOff x="2085507" y="2649517"/>
            <a:chExt cx="9610013" cy="224477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B90E7ED-4FD3-FE19-CD90-303AD260A98D}"/>
                </a:ext>
              </a:extLst>
            </p:cNvPr>
            <p:cNvGrpSpPr/>
            <p:nvPr/>
          </p:nvGrpSpPr>
          <p:grpSpPr>
            <a:xfrm>
              <a:off x="2085507" y="2649517"/>
              <a:ext cx="8020985" cy="2244777"/>
              <a:chOff x="1094282" y="3310952"/>
              <a:chExt cx="8020985" cy="2244777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092E33EA-E973-4928-790E-CAC9521E1D24}"/>
                  </a:ext>
                </a:extLst>
              </p:cNvPr>
              <p:cNvSpPr/>
              <p:nvPr/>
            </p:nvSpPr>
            <p:spPr>
              <a:xfrm>
                <a:off x="1094282" y="3979888"/>
                <a:ext cx="914400" cy="906905"/>
              </a:xfrm>
              <a:prstGeom prst="ellipse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observation</a:t>
                </a: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68C82C46-14E0-A523-A388-479666CEEA4D}"/>
                  </a:ext>
                </a:extLst>
              </p:cNvPr>
              <p:cNvSpPr/>
              <p:nvPr/>
            </p:nvSpPr>
            <p:spPr>
              <a:xfrm>
                <a:off x="2496174" y="3485212"/>
                <a:ext cx="1948721" cy="1896256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Deep Network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sz="1600" dirty="0"/>
                  <a:t>Convolution,</a:t>
                </a:r>
              </a:p>
              <a:p>
                <a:pPr algn="ctr"/>
                <a:r>
                  <a:rPr lang="en-US" sz="1600" dirty="0"/>
                  <a:t>RNN, etc.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Rectangle 5">
                    <a:extLst>
                      <a:ext uri="{FF2B5EF4-FFF2-40B4-BE49-F238E27FC236}">
                        <a16:creationId xmlns:a16="http://schemas.microsoft.com/office/drawing/2014/main" id="{AB3CCC84-749D-DFF2-9978-AC4D44C56EEF}"/>
                      </a:ext>
                    </a:extLst>
                  </p:cNvPr>
                  <p:cNvSpPr/>
                  <p:nvPr/>
                </p:nvSpPr>
                <p:spPr>
                  <a:xfrm>
                    <a:off x="4932387" y="3310952"/>
                    <a:ext cx="397239" cy="2244777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vert="vert270" rtlCol="0" anchor="ctr"/>
                  <a:lstStyle/>
                  <a:p>
                    <a:pPr algn="ctr"/>
                    <a:r>
                      <a:rPr lang="en-US" dirty="0"/>
                      <a:t>Hidden State </a:t>
                    </a:r>
                    <a14:m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6" name="Rectangle 5">
                    <a:extLst>
                      <a:ext uri="{FF2B5EF4-FFF2-40B4-BE49-F238E27FC236}">
                        <a16:creationId xmlns:a16="http://schemas.microsoft.com/office/drawing/2014/main" id="{AB3CCC84-749D-DFF2-9978-AC4D44C56EE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32387" y="3310952"/>
                    <a:ext cx="397239" cy="224477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449" r="-173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15BD782-7EE6-D394-5131-15BDA154990D}"/>
                  </a:ext>
                </a:extLst>
              </p:cNvPr>
              <p:cNvSpPr/>
              <p:nvPr/>
            </p:nvSpPr>
            <p:spPr>
              <a:xfrm>
                <a:off x="5817118" y="3485212"/>
                <a:ext cx="1948721" cy="1896256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Fully connected layer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A256BA5F-AD26-C47A-6D4F-D6B0DC35B5B7}"/>
                  </a:ext>
                </a:extLst>
              </p:cNvPr>
              <p:cNvSpPr/>
              <p:nvPr/>
            </p:nvSpPr>
            <p:spPr>
              <a:xfrm>
                <a:off x="8253333" y="4002373"/>
                <a:ext cx="861934" cy="861935"/>
              </a:xfrm>
              <a:prstGeom prst="ellipse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Q-values</a:t>
                </a:r>
              </a:p>
            </p:txBody>
          </p:sp>
          <p:sp>
            <p:nvSpPr>
              <p:cNvPr id="11" name="Arrow: Right 10">
                <a:extLst>
                  <a:ext uri="{FF2B5EF4-FFF2-40B4-BE49-F238E27FC236}">
                    <a16:creationId xmlns:a16="http://schemas.microsoft.com/office/drawing/2014/main" id="{7AE1EAD2-69A7-5F2D-6C29-819A7C09FA84}"/>
                  </a:ext>
                </a:extLst>
              </p:cNvPr>
              <p:cNvSpPr/>
              <p:nvPr/>
            </p:nvSpPr>
            <p:spPr>
              <a:xfrm>
                <a:off x="2095031" y="4230973"/>
                <a:ext cx="314794" cy="404734"/>
              </a:xfrm>
              <a:prstGeom prst="rightArrow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Arrow: Right 11">
                <a:extLst>
                  <a:ext uri="{FF2B5EF4-FFF2-40B4-BE49-F238E27FC236}">
                    <a16:creationId xmlns:a16="http://schemas.microsoft.com/office/drawing/2014/main" id="{B7989DFC-2F24-0A15-BBD7-E295E2247D23}"/>
                  </a:ext>
                </a:extLst>
              </p:cNvPr>
              <p:cNvSpPr/>
              <p:nvPr/>
            </p:nvSpPr>
            <p:spPr>
              <a:xfrm>
                <a:off x="4531244" y="4230973"/>
                <a:ext cx="314794" cy="404734"/>
              </a:xfrm>
              <a:prstGeom prst="rightArrow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Arrow: Right 12">
                <a:extLst>
                  <a:ext uri="{FF2B5EF4-FFF2-40B4-BE49-F238E27FC236}">
                    <a16:creationId xmlns:a16="http://schemas.microsoft.com/office/drawing/2014/main" id="{C12C7CB0-5F53-A7F8-5F37-A0901DD95C33}"/>
                  </a:ext>
                </a:extLst>
              </p:cNvPr>
              <p:cNvSpPr/>
              <p:nvPr/>
            </p:nvSpPr>
            <p:spPr>
              <a:xfrm>
                <a:off x="5415975" y="4230973"/>
                <a:ext cx="314794" cy="404734"/>
              </a:xfrm>
              <a:prstGeom prst="rightArrow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Arrow: Right 13">
                <a:extLst>
                  <a:ext uri="{FF2B5EF4-FFF2-40B4-BE49-F238E27FC236}">
                    <a16:creationId xmlns:a16="http://schemas.microsoft.com/office/drawing/2014/main" id="{28978B6D-23E0-13AE-F2F6-14339581E18A}"/>
                  </a:ext>
                </a:extLst>
              </p:cNvPr>
              <p:cNvSpPr/>
              <p:nvPr/>
            </p:nvSpPr>
            <p:spPr>
              <a:xfrm>
                <a:off x="7852188" y="4230973"/>
                <a:ext cx="314794" cy="404734"/>
              </a:xfrm>
              <a:prstGeom prst="rightArrow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30F2CF3C-9B0A-898F-F18A-11ED9E031BB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658006" y="3100360"/>
              <a:ext cx="1025719" cy="1025719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1250F75-18B6-5E3A-853A-A4363E65EDD1}"/>
                </a:ext>
              </a:extLst>
            </p:cNvPr>
            <p:cNvSpPr txBox="1"/>
            <p:nvPr/>
          </p:nvSpPr>
          <p:spPr>
            <a:xfrm>
              <a:off x="10646209" y="4069228"/>
              <a:ext cx="104931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action</a:t>
              </a:r>
            </a:p>
          </p:txBody>
        </p:sp>
        <p:sp>
          <p:nvSpPr>
            <p:cNvPr id="27" name="Arrow: Right 26">
              <a:extLst>
                <a:ext uri="{FF2B5EF4-FFF2-40B4-BE49-F238E27FC236}">
                  <a16:creationId xmlns:a16="http://schemas.microsoft.com/office/drawing/2014/main" id="{71B2DAAB-F2A3-06CC-6BE8-2BD97057556C}"/>
                </a:ext>
              </a:extLst>
            </p:cNvPr>
            <p:cNvSpPr/>
            <p:nvPr/>
          </p:nvSpPr>
          <p:spPr>
            <a:xfrm>
              <a:off x="10192843" y="3613220"/>
              <a:ext cx="314794" cy="404734"/>
            </a:xfrm>
            <a:prstGeom prst="rightArrow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DD6341E2-E977-B892-BAD0-BE38C6CD0860}"/>
              </a:ext>
            </a:extLst>
          </p:cNvPr>
          <p:cNvGrpSpPr/>
          <p:nvPr/>
        </p:nvGrpSpPr>
        <p:grpSpPr>
          <a:xfrm>
            <a:off x="3841232" y="5050261"/>
            <a:ext cx="5654612" cy="1186407"/>
            <a:chOff x="4255105" y="4827071"/>
            <a:chExt cx="5654612" cy="1186407"/>
          </a:xfrm>
        </p:grpSpPr>
        <p:sp>
          <p:nvSpPr>
            <p:cNvPr id="31" name="Arrow: Up 30">
              <a:extLst>
                <a:ext uri="{FF2B5EF4-FFF2-40B4-BE49-F238E27FC236}">
                  <a16:creationId xmlns:a16="http://schemas.microsoft.com/office/drawing/2014/main" id="{4173A664-3656-A562-DC36-324516C9B2BC}"/>
                </a:ext>
              </a:extLst>
            </p:cNvPr>
            <p:cNvSpPr/>
            <p:nvPr/>
          </p:nvSpPr>
          <p:spPr>
            <a:xfrm>
              <a:off x="7597698" y="5110087"/>
              <a:ext cx="527824" cy="569601"/>
            </a:xfrm>
            <a:prstGeom prst="up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Arrow: Up 31">
              <a:extLst>
                <a:ext uri="{FF2B5EF4-FFF2-40B4-BE49-F238E27FC236}">
                  <a16:creationId xmlns:a16="http://schemas.microsoft.com/office/drawing/2014/main" id="{B265B3A6-D6B8-4D1F-FDC2-C2068B85CA3E}"/>
                </a:ext>
              </a:extLst>
            </p:cNvPr>
            <p:cNvSpPr/>
            <p:nvPr/>
          </p:nvSpPr>
          <p:spPr>
            <a:xfrm>
              <a:off x="4255105" y="5074545"/>
              <a:ext cx="527824" cy="569601"/>
            </a:xfrm>
            <a:prstGeom prst="up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65F25576-11B0-04B5-8EF3-C1B53CE70694}"/>
                </a:ext>
              </a:extLst>
            </p:cNvPr>
            <p:cNvSpPr txBox="1"/>
            <p:nvPr/>
          </p:nvSpPr>
          <p:spPr>
            <a:xfrm>
              <a:off x="4386145" y="5644146"/>
              <a:ext cx="5523572" cy="369332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Train using TD-error as loss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415DE21-15E1-FE91-6D7F-48D4430BE190}"/>
                </a:ext>
              </a:extLst>
            </p:cNvPr>
            <p:cNvSpPr/>
            <p:nvPr/>
          </p:nvSpPr>
          <p:spPr>
            <a:xfrm>
              <a:off x="9575179" y="4827071"/>
              <a:ext cx="334537" cy="846811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7" name="Speech Bubble: Rectangle with Corners Rounded 36">
            <a:extLst>
              <a:ext uri="{FF2B5EF4-FFF2-40B4-BE49-F238E27FC236}">
                <a16:creationId xmlns:a16="http://schemas.microsoft.com/office/drawing/2014/main" id="{FBEB04A1-8BA2-4DEB-530D-6F4C8A99DBA8}"/>
              </a:ext>
            </a:extLst>
          </p:cNvPr>
          <p:cNvSpPr/>
          <p:nvPr/>
        </p:nvSpPr>
        <p:spPr>
          <a:xfrm>
            <a:off x="1195441" y="5335138"/>
            <a:ext cx="1723191" cy="724785"/>
          </a:xfrm>
          <a:prstGeom prst="wedgeRoundRectCallout">
            <a:avLst>
              <a:gd name="adj1" fmla="val -31618"/>
              <a:gd name="adj2" fmla="val -153924"/>
              <a:gd name="adj3" fmla="val 16667"/>
            </a:avLst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The direction of the moving ghosts is not observable!</a:t>
            </a:r>
          </a:p>
        </p:txBody>
      </p:sp>
    </p:spTree>
    <p:extLst>
      <p:ext uri="{BB962C8B-B14F-4D97-AF65-F5344CB8AC3E}">
        <p14:creationId xmlns:p14="http://schemas.microsoft.com/office/powerpoint/2010/main" val="1355451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FA69AAE0-49D5-4C8B-8BA2-55898C00E0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A vertical wooden structure with a visual display unit embedded in the front side.">
            <a:extLst>
              <a:ext uri="{FF2B5EF4-FFF2-40B4-BE49-F238E27FC236}">
                <a16:creationId xmlns:a16="http://schemas.microsoft.com/office/drawing/2014/main" id="{53BCD748-17F6-7FC1-B1FE-3906C43DAA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" b="44479"/>
          <a:stretch>
            <a:fillRect/>
          </a:stretch>
        </p:blipFill>
        <p:spPr bwMode="auto">
          <a:xfrm>
            <a:off x="-4" y="-4"/>
            <a:ext cx="7534640" cy="6857984"/>
          </a:xfrm>
          <a:custGeom>
            <a:avLst/>
            <a:gdLst/>
            <a:ahLst/>
            <a:cxnLst/>
            <a:rect l="l" t="t" r="r" b="b"/>
            <a:pathLst>
              <a:path w="7534640" h="6857984">
                <a:moveTo>
                  <a:pt x="0" y="0"/>
                </a:moveTo>
                <a:lnTo>
                  <a:pt x="7534640" y="0"/>
                </a:lnTo>
                <a:lnTo>
                  <a:pt x="7534640" y="3832811"/>
                </a:lnTo>
                <a:lnTo>
                  <a:pt x="7344853" y="3826712"/>
                </a:lnTo>
                <a:cubicBezTo>
                  <a:pt x="7344853" y="3826712"/>
                  <a:pt x="7341511" y="3826712"/>
                  <a:pt x="7341511" y="3826712"/>
                </a:cubicBezTo>
                <a:cubicBezTo>
                  <a:pt x="7274667" y="3823370"/>
                  <a:pt x="7211169" y="3823370"/>
                  <a:pt x="7144324" y="3820027"/>
                </a:cubicBezTo>
                <a:cubicBezTo>
                  <a:pt x="6913719" y="3820027"/>
                  <a:pt x="6683113" y="3820027"/>
                  <a:pt x="6455848" y="3820027"/>
                </a:cubicBezTo>
                <a:cubicBezTo>
                  <a:pt x="6231926" y="3910265"/>
                  <a:pt x="5987951" y="3833396"/>
                  <a:pt x="5767372" y="3903581"/>
                </a:cubicBezTo>
                <a:cubicBezTo>
                  <a:pt x="5533423" y="3900239"/>
                  <a:pt x="5312845" y="3970423"/>
                  <a:pt x="5082238" y="4000503"/>
                </a:cubicBezTo>
                <a:cubicBezTo>
                  <a:pt x="4908446" y="4013871"/>
                  <a:pt x="4731314" y="3997160"/>
                  <a:pt x="4570892" y="4067345"/>
                </a:cubicBezTo>
                <a:cubicBezTo>
                  <a:pt x="4447233" y="4124161"/>
                  <a:pt x="4350312" y="4197688"/>
                  <a:pt x="4483996" y="4348083"/>
                </a:cubicBezTo>
                <a:cubicBezTo>
                  <a:pt x="4644419" y="4344742"/>
                  <a:pt x="4627708" y="4598742"/>
                  <a:pt x="4788129" y="4561979"/>
                </a:cubicBezTo>
                <a:cubicBezTo>
                  <a:pt x="4754709" y="4678954"/>
                  <a:pt x="4641076" y="4618795"/>
                  <a:pt x="4600971" y="4705690"/>
                </a:cubicBezTo>
                <a:cubicBezTo>
                  <a:pt x="4684524" y="4779217"/>
                  <a:pt x="4844945" y="4725744"/>
                  <a:pt x="4871683" y="4879480"/>
                </a:cubicBezTo>
                <a:cubicBezTo>
                  <a:pt x="4838262" y="5039902"/>
                  <a:pt x="4945210" y="5019849"/>
                  <a:pt x="5032105" y="5029876"/>
                </a:cubicBezTo>
                <a:cubicBezTo>
                  <a:pt x="5239317" y="5049930"/>
                  <a:pt x="5439843" y="5063297"/>
                  <a:pt x="5643713" y="5096719"/>
                </a:cubicBezTo>
                <a:cubicBezTo>
                  <a:pt x="5693844" y="5106745"/>
                  <a:pt x="5810819" y="5083350"/>
                  <a:pt x="5800794" y="5186956"/>
                </a:cubicBezTo>
                <a:cubicBezTo>
                  <a:pt x="5790767" y="5270508"/>
                  <a:pt x="5700529" y="5240431"/>
                  <a:pt x="5643713" y="5243772"/>
                </a:cubicBezTo>
                <a:cubicBezTo>
                  <a:pt x="5329553" y="5283879"/>
                  <a:pt x="5012052" y="5220378"/>
                  <a:pt x="4701235" y="5223719"/>
                </a:cubicBezTo>
                <a:cubicBezTo>
                  <a:pt x="4664472" y="5223719"/>
                  <a:pt x="4657787" y="5334009"/>
                  <a:pt x="4577576" y="5297246"/>
                </a:cubicBezTo>
                <a:cubicBezTo>
                  <a:pt x="4788129" y="5397510"/>
                  <a:pt x="5767372" y="5424248"/>
                  <a:pt x="6094900" y="5477721"/>
                </a:cubicBezTo>
                <a:cubicBezTo>
                  <a:pt x="5754004" y="5858724"/>
                  <a:pt x="5429817" y="5628117"/>
                  <a:pt x="5159105" y="5842012"/>
                </a:cubicBezTo>
                <a:cubicBezTo>
                  <a:pt x="5159105" y="5842012"/>
                  <a:pt x="5212580" y="5842012"/>
                  <a:pt x="5443187" y="5912197"/>
                </a:cubicBezTo>
                <a:cubicBezTo>
                  <a:pt x="5627002" y="5969012"/>
                  <a:pt x="5536765" y="6049223"/>
                  <a:pt x="6001321" y="6202962"/>
                </a:cubicBezTo>
                <a:cubicBezTo>
                  <a:pt x="5824188" y="6253093"/>
                  <a:pt x="5593581" y="6156172"/>
                  <a:pt x="5506685" y="6416857"/>
                </a:cubicBezTo>
                <a:cubicBezTo>
                  <a:pt x="5643713" y="6463648"/>
                  <a:pt x="5807477" y="6420200"/>
                  <a:pt x="5904398" y="6543858"/>
                </a:cubicBezTo>
                <a:cubicBezTo>
                  <a:pt x="5934478" y="6580622"/>
                  <a:pt x="5964557" y="6604017"/>
                  <a:pt x="6001321" y="6624068"/>
                </a:cubicBezTo>
                <a:cubicBezTo>
                  <a:pt x="5984612" y="6630754"/>
                  <a:pt x="5964557" y="6637437"/>
                  <a:pt x="5951188" y="6644121"/>
                </a:cubicBezTo>
                <a:cubicBezTo>
                  <a:pt x="5977925" y="6667518"/>
                  <a:pt x="6663060" y="6794517"/>
                  <a:pt x="6836850" y="6797860"/>
                </a:cubicBezTo>
                <a:cubicBezTo>
                  <a:pt x="6761652" y="6822926"/>
                  <a:pt x="6636845" y="6844075"/>
                  <a:pt x="6553814" y="6856412"/>
                </a:cubicBezTo>
                <a:lnTo>
                  <a:pt x="6542822" y="6857984"/>
                </a:lnTo>
                <a:lnTo>
                  <a:pt x="0" y="6857984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DBF2214-D94B-083C-0CBA-19D7814CC9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3650" y="3962400"/>
            <a:ext cx="5505814" cy="169040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Case Study: </a:t>
            </a:r>
            <a:br>
              <a:rPr lang="en-US" sz="4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4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Atari Pong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6954E9A-98C6-3951-22D3-983F563998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43650" y="5709565"/>
            <a:ext cx="5395975" cy="646785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1300" i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Pong</a:t>
            </a:r>
            <a:r>
              <a:rPr lang="en-US" sz="13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 simulates table tennis. The players use paddles to hit a ball back and forth. Points are earned when the opponent fails to return the ball. The goal is for each player to reach eleven points before the opponent.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B9D809-2EC1-59CB-DD30-F0D3DDB88D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-1" b="35072"/>
          <a:stretch>
            <a:fillRect/>
          </a:stretch>
        </p:blipFill>
        <p:spPr>
          <a:xfrm>
            <a:off x="7653541" y="6"/>
            <a:ext cx="4538463" cy="3877247"/>
          </a:xfrm>
          <a:custGeom>
            <a:avLst/>
            <a:gdLst/>
            <a:ahLst/>
            <a:cxnLst/>
            <a:rect l="l" t="t" r="r" b="b"/>
            <a:pathLst>
              <a:path w="4538463" h="3877247">
                <a:moveTo>
                  <a:pt x="0" y="0"/>
                </a:moveTo>
                <a:lnTo>
                  <a:pt x="4538463" y="0"/>
                </a:lnTo>
                <a:lnTo>
                  <a:pt x="4538463" y="3437173"/>
                </a:lnTo>
                <a:lnTo>
                  <a:pt x="4530710" y="3429000"/>
                </a:lnTo>
                <a:cubicBezTo>
                  <a:pt x="4370289" y="3495842"/>
                  <a:pt x="4239946" y="3686344"/>
                  <a:pt x="4056129" y="3636211"/>
                </a:cubicBezTo>
                <a:cubicBezTo>
                  <a:pt x="3872313" y="3589422"/>
                  <a:pt x="3788760" y="3830055"/>
                  <a:pt x="3618310" y="3756528"/>
                </a:cubicBezTo>
                <a:cubicBezTo>
                  <a:pt x="3394389" y="3823371"/>
                  <a:pt x="3163783" y="3823371"/>
                  <a:pt x="2933176" y="3810002"/>
                </a:cubicBezTo>
                <a:cubicBezTo>
                  <a:pt x="2702570" y="3840081"/>
                  <a:pt x="2471962" y="3873503"/>
                  <a:pt x="2238015" y="3850107"/>
                </a:cubicBezTo>
                <a:cubicBezTo>
                  <a:pt x="2007408" y="3870161"/>
                  <a:pt x="1783486" y="3883529"/>
                  <a:pt x="1552880" y="3863476"/>
                </a:cubicBezTo>
                <a:cubicBezTo>
                  <a:pt x="1322274" y="3886870"/>
                  <a:pt x="1091667" y="3876844"/>
                  <a:pt x="864402" y="3860134"/>
                </a:cubicBezTo>
                <a:cubicBezTo>
                  <a:pt x="757455" y="3860134"/>
                  <a:pt x="653849" y="3856792"/>
                  <a:pt x="546902" y="3856792"/>
                </a:cubicBezTo>
                <a:cubicBezTo>
                  <a:pt x="404861" y="3850108"/>
                  <a:pt x="262821" y="3845095"/>
                  <a:pt x="120363" y="3840499"/>
                </a:cubicBezTo>
                <a:lnTo>
                  <a:pt x="0" y="3836632"/>
                </a:lnTo>
                <a:close/>
              </a:path>
            </a:pathLst>
          </a:cu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386658C-63FF-B01D-7BCA-498AC542D8E8}"/>
              </a:ext>
            </a:extLst>
          </p:cNvPr>
          <p:cNvSpPr txBox="1"/>
          <p:nvPr/>
        </p:nvSpPr>
        <p:spPr>
          <a:xfrm>
            <a:off x="-3056" y="-24"/>
            <a:ext cx="1689197" cy="369332"/>
          </a:xfrm>
          <a:prstGeom prst="rect">
            <a:avLst/>
          </a:prstGeom>
          <a:solidFill>
            <a:srgbClr val="747474">
              <a:alpha val="41961"/>
            </a:srgbClr>
          </a:solidFill>
        </p:spPr>
        <p:txBody>
          <a:bodyPr wrap="square">
            <a:spAutoFit/>
          </a:bodyPr>
          <a:lstStyle/>
          <a:p>
            <a:r>
              <a:rPr lang="en-US" dirty="0"/>
              <a:t>Atari Inc., 1972</a:t>
            </a:r>
          </a:p>
        </p:txBody>
      </p:sp>
    </p:spTree>
    <p:extLst>
      <p:ext uri="{BB962C8B-B14F-4D97-AF65-F5344CB8AC3E}">
        <p14:creationId xmlns:p14="http://schemas.microsoft.com/office/powerpoint/2010/main" val="775888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67B9F-8BF6-1B42-EB84-F83142A4B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States and Observations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D142EA-76BC-93EF-598D-26AF3B1793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67199" y="1397330"/>
                <a:ext cx="7086599" cy="477963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Define the components of:</a:t>
                </a:r>
              </a:p>
              <a:p>
                <a:r>
                  <a:rPr lang="en-US" b="0" dirty="0"/>
                  <a:t>Environment state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</m:oMath>
                </a14:m>
                <a:r>
                  <a:rPr lang="en-US" dirty="0"/>
                  <a:t>: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Observation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: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Why is this partially observable?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D142EA-76BC-93EF-598D-26AF3B1793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67199" y="1397330"/>
                <a:ext cx="7086599" cy="4779633"/>
              </a:xfrm>
              <a:blipFill>
                <a:blip r:embed="rId2"/>
                <a:stretch>
                  <a:fillRect l="-1721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Picture 17">
            <a:extLst>
              <a:ext uri="{FF2B5EF4-FFF2-40B4-BE49-F238E27FC236}">
                <a16:creationId xmlns:a16="http://schemas.microsoft.com/office/drawing/2014/main" id="{F4994B2C-8655-E1E0-0767-730AC54AC6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941" y="1529837"/>
            <a:ext cx="2524216" cy="332567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843E6E9-9614-0825-4E13-D51DBE9A71A3}"/>
              </a:ext>
            </a:extLst>
          </p:cNvPr>
          <p:cNvSpPr txBox="1"/>
          <p:nvPr/>
        </p:nvSpPr>
        <p:spPr>
          <a:xfrm>
            <a:off x="734266" y="5070317"/>
            <a:ext cx="323956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Actions</a:t>
            </a:r>
            <a:r>
              <a:rPr lang="en-US" sz="1600" dirty="0"/>
              <a:t>: move paddle up or down.</a:t>
            </a:r>
          </a:p>
          <a:p>
            <a:r>
              <a:rPr lang="en-US" sz="1600" b="1" dirty="0"/>
              <a:t>Reward</a:t>
            </a:r>
            <a:r>
              <a:rPr lang="en-US" sz="1600" dirty="0"/>
              <a:t>: +1 when the opponent cannot return the ball.</a:t>
            </a:r>
          </a:p>
        </p:txBody>
      </p:sp>
    </p:spTree>
    <p:extLst>
      <p:ext uri="{BB962C8B-B14F-4D97-AF65-F5344CB8AC3E}">
        <p14:creationId xmlns:p14="http://schemas.microsoft.com/office/powerpoint/2010/main" val="23951968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5624A-BD71-19D1-F0C4-0D727E981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89C9D4-CC66-9D69-6AA7-23ED36650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Observation as State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941E2FD-65FE-60BD-0962-587E282A283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83435" y="1397330"/>
                <a:ext cx="7570364" cy="4779633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Learn an approximate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using a TD method.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How well do you think this will work?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941E2FD-65FE-60BD-0962-587E282A283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83435" y="1397330"/>
                <a:ext cx="7570364" cy="4779633"/>
              </a:xfrm>
              <a:blipFill>
                <a:blip r:embed="rId2"/>
                <a:stretch>
                  <a:fillRect l="-1692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Picture 17">
            <a:extLst>
              <a:ext uri="{FF2B5EF4-FFF2-40B4-BE49-F238E27FC236}">
                <a16:creationId xmlns:a16="http://schemas.microsoft.com/office/drawing/2014/main" id="{DB168319-5831-B0D1-C75B-769E9C32CC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518" y="1464014"/>
            <a:ext cx="2524216" cy="332567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DC87CE-D872-C124-0D89-2B687CCF670F}"/>
              </a:ext>
            </a:extLst>
          </p:cNvPr>
          <p:cNvSpPr txBox="1"/>
          <p:nvPr/>
        </p:nvSpPr>
        <p:spPr>
          <a:xfrm>
            <a:off x="760323" y="4944837"/>
            <a:ext cx="2868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Feature from current frame</a:t>
            </a:r>
          </a:p>
        </p:txBody>
      </p:sp>
    </p:spTree>
    <p:extLst>
      <p:ext uri="{BB962C8B-B14F-4D97-AF65-F5344CB8AC3E}">
        <p14:creationId xmlns:p14="http://schemas.microsoft.com/office/powerpoint/2010/main" val="11991291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6D083-D482-712D-B3B5-1F2612BA3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FFDF33-0DA4-9579-F977-75240424F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Frame Stacking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B248EC-3AB6-8D63-9FEB-882537CAD7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83435" y="1397330"/>
                <a:ext cx="7570364" cy="4779633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Learn an approximation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−3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using a TD method.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How well does this work? Why?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B248EC-3AB6-8D63-9FEB-882537CAD7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83435" y="1397330"/>
                <a:ext cx="7570364" cy="4779633"/>
              </a:xfrm>
              <a:blipFill>
                <a:blip r:embed="rId2"/>
                <a:stretch>
                  <a:fillRect l="-1692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Picture 17">
            <a:extLst>
              <a:ext uri="{FF2B5EF4-FFF2-40B4-BE49-F238E27FC236}">
                <a16:creationId xmlns:a16="http://schemas.microsoft.com/office/drawing/2014/main" id="{1B1E35AE-1778-403F-6625-2712E6B51A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518" y="1464015"/>
            <a:ext cx="1891268" cy="2491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B2829DA-8D17-4D04-8E9F-13FE9856CD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918" y="1616415"/>
            <a:ext cx="1891268" cy="2491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25991C5-1F17-7FCF-CC77-BDF41E69B3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4318" y="1768815"/>
            <a:ext cx="1891268" cy="2491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D61787-91BA-4A5E-942B-C3954553CC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6718" y="1921215"/>
            <a:ext cx="1891268" cy="2491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985D15B-ADE7-87B3-CF93-2F3BA401B523}"/>
              </a:ext>
            </a:extLst>
          </p:cNvPr>
          <p:cNvSpPr txBox="1"/>
          <p:nvPr/>
        </p:nvSpPr>
        <p:spPr>
          <a:xfrm>
            <a:off x="838200" y="4688260"/>
            <a:ext cx="2760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Feature from four frames</a:t>
            </a:r>
          </a:p>
        </p:txBody>
      </p:sp>
    </p:spTree>
    <p:extLst>
      <p:ext uri="{BB962C8B-B14F-4D97-AF65-F5344CB8AC3E}">
        <p14:creationId xmlns:p14="http://schemas.microsoft.com/office/powerpoint/2010/main" val="41470998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D3508-EDAB-C314-F22B-76145B634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B8E3F-351A-6D4D-5053-4F6731354E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Deep Recurrent Q-Learning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03062B2-5E1E-60F6-A549-DDA59BC3C369}"/>
                  </a:ext>
                </a:extLst>
              </p:cNvPr>
              <p:cNvSpPr txBox="1"/>
              <p:nvPr/>
            </p:nvSpPr>
            <p:spPr>
              <a:xfrm>
                <a:off x="6961580" y="458363"/>
                <a:ext cx="4638361" cy="6993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000" b="1" dirty="0"/>
                  <a:t>Architecture</a:t>
                </a:r>
                <a:r>
                  <a:rPr lang="en-US" dirty="0"/>
                  <a:t> </a:t>
                </a: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,…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),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lang="en-US" i="0" dirty="0"/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03062B2-5E1E-60F6-A549-DDA59BC3C3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1580" y="458363"/>
                <a:ext cx="4638361" cy="699359"/>
              </a:xfrm>
              <a:prstGeom prst="rect">
                <a:avLst/>
              </a:prstGeom>
              <a:blipFill>
                <a:blip r:embed="rId2"/>
                <a:stretch>
                  <a:fillRect t="-4348"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" name="Picture 22">
            <a:extLst>
              <a:ext uri="{FF2B5EF4-FFF2-40B4-BE49-F238E27FC236}">
                <a16:creationId xmlns:a16="http://schemas.microsoft.com/office/drawing/2014/main" id="{D71F821A-9FD0-8318-0638-2EEC34FAC6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0387" y="4021796"/>
            <a:ext cx="3517316" cy="2723247"/>
          </a:xfrm>
          <a:prstGeom prst="rect">
            <a:avLst/>
          </a:prstGeom>
        </p:spPr>
      </p:pic>
      <p:grpSp>
        <p:nvGrpSpPr>
          <p:cNvPr id="29" name="Group 28">
            <a:extLst>
              <a:ext uri="{FF2B5EF4-FFF2-40B4-BE49-F238E27FC236}">
                <a16:creationId xmlns:a16="http://schemas.microsoft.com/office/drawing/2014/main" id="{A3392F50-3ECD-FDE9-A3D4-F4DF54BE25F5}"/>
              </a:ext>
            </a:extLst>
          </p:cNvPr>
          <p:cNvGrpSpPr/>
          <p:nvPr/>
        </p:nvGrpSpPr>
        <p:grpSpPr>
          <a:xfrm>
            <a:off x="6051179" y="1294288"/>
            <a:ext cx="5518402" cy="5414194"/>
            <a:chOff x="6051179" y="1294288"/>
            <a:chExt cx="5518402" cy="5414194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F065F021-3A7B-A59D-1F6B-B43FC0FC77B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60779" y="1294288"/>
              <a:ext cx="4908802" cy="5092962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1B1D0E02-A7A8-6DB5-FE19-5DB569ECD58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35381" y="5442597"/>
              <a:ext cx="705937" cy="9300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931A8198-BF14-42BA-3862-7A9778C74E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927791" y="5468659"/>
              <a:ext cx="705937" cy="9300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BBA46CA-13FE-9019-AE78-BAB8B17D335E}"/>
                    </a:ext>
                  </a:extLst>
                </p:cNvPr>
                <p:cNvSpPr txBox="1"/>
                <p:nvPr/>
              </p:nvSpPr>
              <p:spPr>
                <a:xfrm>
                  <a:off x="6790970" y="6308208"/>
                  <a:ext cx="59475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BBA46CA-13FE-9019-AE78-BAB8B17D33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90970" y="6308208"/>
                  <a:ext cx="594757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898610EB-B236-8216-E148-926D9792B283}"/>
                    </a:ext>
                  </a:extLst>
                </p:cNvPr>
                <p:cNvSpPr txBox="1"/>
                <p:nvPr/>
              </p:nvSpPr>
              <p:spPr>
                <a:xfrm>
                  <a:off x="9115180" y="6339150"/>
                  <a:ext cx="34197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898610EB-B236-8216-E148-926D9792B2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15180" y="6339150"/>
                  <a:ext cx="34197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1FC8ED1-CEE1-12E0-8DED-E8C9DEDD5D31}"/>
                </a:ext>
              </a:extLst>
            </p:cNvPr>
            <p:cNvSpPr txBox="1"/>
            <p:nvPr/>
          </p:nvSpPr>
          <p:spPr>
            <a:xfrm>
              <a:off x="6051179" y="5515831"/>
              <a:ext cx="6096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…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AD06DA8E-D781-AA66-4CB0-998458CCFB92}"/>
                    </a:ext>
                  </a:extLst>
                </p:cNvPr>
                <p:cNvSpPr txBox="1"/>
                <p:nvPr/>
              </p:nvSpPr>
              <p:spPr>
                <a:xfrm>
                  <a:off x="9819581" y="1706988"/>
                  <a:ext cx="34197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AD06DA8E-D781-AA66-4CB0-998458CCFB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19581" y="1706988"/>
                  <a:ext cx="34197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49857BE2-1048-8295-C1F7-68E737437E6D}"/>
                    </a:ext>
                  </a:extLst>
                </p:cNvPr>
                <p:cNvSpPr txBox="1"/>
                <p:nvPr/>
              </p:nvSpPr>
              <p:spPr>
                <a:xfrm>
                  <a:off x="7680962" y="1640916"/>
                  <a:ext cx="34197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49857BE2-1048-8295-C1F7-68E737437E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80962" y="1640916"/>
                  <a:ext cx="341970" cy="369332"/>
                </a:xfrm>
                <a:prstGeom prst="rect">
                  <a:avLst/>
                </a:prstGeom>
                <a:blipFill>
                  <a:blip r:embed="rId9"/>
                  <a:stretch>
                    <a:fillRect r="-67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01173A-A43D-C835-28FA-2C0943A839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24198"/>
            <a:ext cx="6462133" cy="2931122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b="1" dirty="0"/>
              <a:t>Paper</a:t>
            </a:r>
            <a:r>
              <a:rPr lang="en-US" dirty="0"/>
              <a:t>: Matthew Hausknecht and Peter Stone, Deep Recurrent Q-Learning for Partially Observable MDPs, 2015 AAAI Fall Symposium.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Approach</a:t>
            </a:r>
            <a:r>
              <a:rPr lang="en-US" dirty="0"/>
              <a:t>: Deep belief monitoring using </a:t>
            </a:r>
          </a:p>
          <a:p>
            <a:pPr lvl="1"/>
            <a:r>
              <a:rPr lang="en-US" dirty="0"/>
              <a:t>convolution to process the screen image (observation model)</a:t>
            </a:r>
          </a:p>
          <a:p>
            <a:pPr lvl="1"/>
            <a:r>
              <a:rPr lang="en-US" dirty="0"/>
              <a:t>RNN (LSTM) to update the agent state (transition model)</a:t>
            </a:r>
          </a:p>
          <a:p>
            <a:pPr lvl="1"/>
            <a:r>
              <a:rPr lang="en-US" dirty="0"/>
              <a:t>A fully connected layer to predict Q-values</a:t>
            </a:r>
          </a:p>
          <a:p>
            <a:pPr lvl="1"/>
            <a:endParaRPr lang="en-US" dirty="0"/>
          </a:p>
          <a:p>
            <a:r>
              <a:rPr lang="en-US" b="1" dirty="0"/>
              <a:t>Results</a:t>
            </a:r>
            <a:r>
              <a:rPr lang="en-US" dirty="0"/>
              <a:t>: Works better than frame stacking on some Atari games.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19281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15B90-DA12-5311-A694-71F151366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85366"/>
            <a:ext cx="4069055" cy="2072853"/>
          </a:xfrm>
        </p:spPr>
        <p:txBody>
          <a:bodyPr anchor="t">
            <a:normAutofit/>
          </a:bodyPr>
          <a:lstStyle/>
          <a:p>
            <a:r>
              <a:rPr lang="en-US" sz="4000" dirty="0"/>
              <a:t>What You Should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0016F98-4E8E-CBB1-A610-58AFEB8B6E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724708" y="3429000"/>
            <a:ext cx="3951110" cy="2666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BBA507-BEF2-070A-4241-AF2BA18035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5712" y="1064173"/>
            <a:ext cx="5389654" cy="4971174"/>
          </a:xfrm>
        </p:spPr>
        <p:txBody>
          <a:bodyPr anchor="ctr">
            <a:normAutofit/>
          </a:bodyPr>
          <a:lstStyle/>
          <a:p>
            <a:r>
              <a:rPr lang="en-US" sz="1800" dirty="0"/>
              <a:t>How observations are related to the environment state and the agent state.</a:t>
            </a:r>
          </a:p>
          <a:p>
            <a:endParaRPr lang="en-US" sz="1800" dirty="0"/>
          </a:p>
          <a:p>
            <a:r>
              <a:rPr lang="en-US" sz="1800" dirty="0"/>
              <a:t>The relationship between Markov Chains, MDPs, HMMs, and POMDPs.</a:t>
            </a:r>
          </a:p>
          <a:p>
            <a:endParaRPr lang="en-US" sz="1800" dirty="0"/>
          </a:p>
          <a:p>
            <a:r>
              <a:rPr lang="en-US" sz="1800" dirty="0"/>
              <a:t>Why using (stacked) observations instead of states sometimes works.</a:t>
            </a:r>
          </a:p>
          <a:p>
            <a:endParaRPr lang="en-US" sz="1800" dirty="0"/>
          </a:p>
          <a:p>
            <a:r>
              <a:rPr lang="en-US" sz="1800" dirty="0"/>
              <a:t>Belief states and belief monitoring. How deep neural networks can be used to learn belief states.</a:t>
            </a:r>
          </a:p>
        </p:txBody>
      </p:sp>
    </p:spTree>
    <p:extLst>
      <p:ext uri="{BB962C8B-B14F-4D97-AF65-F5344CB8AC3E}">
        <p14:creationId xmlns:p14="http://schemas.microsoft.com/office/powerpoint/2010/main" val="9548802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18721</TotalTime>
  <Words>2388</Words>
  <Application>Microsoft Office PowerPoint</Application>
  <PresentationFormat>Widescreen</PresentationFormat>
  <Paragraphs>360</Paragraphs>
  <Slides>22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Partial Observability Sutton/Barto* Chapter 17.3 AIMA** Chapters 14 and 15 </vt:lpstr>
      <vt:lpstr>Topics of this Course</vt:lpstr>
      <vt:lpstr>Summary of Notation</vt:lpstr>
      <vt:lpstr>Foundation</vt:lpstr>
      <vt:lpstr>Fully Observable RL</vt:lpstr>
      <vt:lpstr>Markov Process</vt:lpstr>
      <vt:lpstr>Hidden Markov Model (HMM)</vt:lpstr>
      <vt:lpstr>Markov Decision Process (MDP)</vt:lpstr>
      <vt:lpstr>Partially Observable MDP (POMDP)</vt:lpstr>
      <vt:lpstr>Partially Observable RL</vt:lpstr>
      <vt:lpstr>RL with Partial Observability</vt:lpstr>
      <vt:lpstr>States and Observations</vt:lpstr>
      <vt:lpstr>Simple Heuristic: Observation as State</vt:lpstr>
      <vt:lpstr>Optimal Belief  Monitoring</vt:lpstr>
      <vt:lpstr>Deep Belief Monitoring with RNNs</vt:lpstr>
      <vt:lpstr>Example</vt:lpstr>
      <vt:lpstr>Case Study:  Atari Pong</vt:lpstr>
      <vt:lpstr>States and Observations</vt:lpstr>
      <vt:lpstr>Single Observation as State</vt:lpstr>
      <vt:lpstr>Frame Stacking</vt:lpstr>
      <vt:lpstr>Deep Recurrent Q-Learning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171</cp:revision>
  <dcterms:created xsi:type="dcterms:W3CDTF">2025-09-08T14:44:49Z</dcterms:created>
  <dcterms:modified xsi:type="dcterms:W3CDTF">2026-07-06T14:36:28Z</dcterms:modified>
</cp:coreProperties>
</file>