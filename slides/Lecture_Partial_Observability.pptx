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313" r:id="rId3"/>
    <p:sldId id="478" r:id="rId4"/>
    <p:sldId id="495" r:id="rId5"/>
    <p:sldId id="354" r:id="rId6"/>
    <p:sldId id="485" r:id="rId7"/>
    <p:sldId id="489" r:id="rId8"/>
    <p:sldId id="486" r:id="rId9"/>
    <p:sldId id="490" r:id="rId10"/>
    <p:sldId id="496" r:id="rId11"/>
    <p:sldId id="493" r:id="rId12"/>
    <p:sldId id="497" r:id="rId13"/>
    <p:sldId id="491" r:id="rId14"/>
    <p:sldId id="494" r:id="rId15"/>
    <p:sldId id="503" r:id="rId16"/>
    <p:sldId id="492" r:id="rId17"/>
    <p:sldId id="501" r:id="rId18"/>
    <p:sldId id="498" r:id="rId19"/>
    <p:sldId id="499" r:id="rId20"/>
    <p:sldId id="500" r:id="rId21"/>
    <p:sldId id="502" r:id="rId22"/>
    <p:sldId id="40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ial Observability" id="{83286E67-F0F0-421C-8F74-7B93ABA17FBF}">
          <p14:sldIdLst>
            <p14:sldId id="256"/>
            <p14:sldId id="313"/>
            <p14:sldId id="478"/>
          </p14:sldIdLst>
        </p14:section>
        <p14:section name="Foundation" id="{99C52200-DC0B-4ED7-BC0A-CEC376E11BA5}">
          <p14:sldIdLst>
            <p14:sldId id="495"/>
            <p14:sldId id="354"/>
            <p14:sldId id="485"/>
            <p14:sldId id="489"/>
            <p14:sldId id="486"/>
            <p14:sldId id="490"/>
          </p14:sldIdLst>
        </p14:section>
        <p14:section name="Partial Observable RL" id="{0750367A-DCB3-4AB8-B173-5DD0470EAB59}">
          <p14:sldIdLst>
            <p14:sldId id="496"/>
            <p14:sldId id="493"/>
            <p14:sldId id="497"/>
            <p14:sldId id="491"/>
            <p14:sldId id="494"/>
            <p14:sldId id="503"/>
            <p14:sldId id="492"/>
          </p14:sldIdLst>
        </p14:section>
        <p14:section name="Case Study: Pong" id="{A454428F-C618-42E5-B9EA-C0A276D4B388}">
          <p14:sldIdLst>
            <p14:sldId id="501"/>
            <p14:sldId id="498"/>
            <p14:sldId id="499"/>
            <p14:sldId id="500"/>
            <p14:sldId id="502"/>
          </p14:sldIdLst>
        </p14:section>
        <p14:section name="Summary" id="{D66D00AC-13B5-412C-B489-69246E486834}">
          <p14:sldIdLst>
            <p14:sldId id="4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4747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137" autoAdjust="0"/>
    <p:restoredTop sz="94653"/>
  </p:normalViewPr>
  <p:slideViewPr>
    <p:cSldViewPr snapToGrid="0">
      <p:cViewPr varScale="1">
        <p:scale>
          <a:sx n="76" d="100"/>
          <a:sy n="76" d="100"/>
        </p:scale>
        <p:origin x="208" y="904"/>
      </p:cViewPr>
      <p:guideLst/>
    </p:cSldViewPr>
  </p:slideViewPr>
  <p:notesTextViewPr>
    <p:cViewPr>
      <p:scale>
        <a:sx n="1" d="1"/>
        <a:sy n="1" d="1"/>
      </p:scale>
      <p:origin x="0" y="0"/>
    </p:cViewPr>
  </p:notesTextViewPr>
  <p:sorterViewPr>
    <p:cViewPr>
      <p:scale>
        <a:sx n="100" d="100"/>
        <a:sy n="100" d="100"/>
      </p:scale>
      <p:origin x="0" y="-637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2397CE-1729-4F80-8FF6-27D57F1BB015}" type="datetimeFigureOut">
              <a:rPr lang="en-US" smtClean="0"/>
              <a:t>10/15/26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A1A6F8-2A75-4751-AC09-6AEE99711EBB}" type="slidenum">
              <a:rPr lang="en-US" smtClean="0"/>
              <a:t>‹#›</a:t>
            </a:fld>
            <a:endParaRPr lang="en-US"/>
          </a:p>
        </p:txBody>
      </p:sp>
    </p:spTree>
    <p:extLst>
      <p:ext uri="{BB962C8B-B14F-4D97-AF65-F5344CB8AC3E}">
        <p14:creationId xmlns:p14="http://schemas.microsoft.com/office/powerpoint/2010/main" val="1832199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DCDF8-ABD1-D598-1B48-A3DBE23727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C7BFF-31E6-8DBA-0986-D45E300FF248}"/>
              </a:ext>
            </a:extLst>
          </p:cNvPr>
          <p:cNvSpPr>
            <a:spLocks noGrp="1" noRot="1" noChangeAspect="1"/>
          </p:cNvSpPr>
          <p:nvPr>
            <p:ph type="sldImg"/>
          </p:nvPr>
        </p:nvSpPr>
        <p:spPr>
          <a:xfrm>
            <a:off x="138113" y="768350"/>
            <a:ext cx="6823075" cy="3838575"/>
          </a:xfrm>
        </p:spPr>
      </p:sp>
      <p:sp>
        <p:nvSpPr>
          <p:cNvPr id="3" name="Notes Placeholder 2">
            <a:extLst>
              <a:ext uri="{FF2B5EF4-FFF2-40B4-BE49-F238E27FC236}">
                <a16:creationId xmlns:a16="http://schemas.microsoft.com/office/drawing/2014/main" id="{45299358-A7BD-22ED-0AB5-01D72C18E138}"/>
              </a:ext>
            </a:extLst>
          </p:cNvPr>
          <p:cNvSpPr>
            <a:spLocks noGrp="1"/>
          </p:cNvSpPr>
          <p:nvPr>
            <p:ph type="body" idx="1"/>
          </p:nvPr>
        </p:nvSpPr>
        <p:spPr/>
        <p:txBody>
          <a:bodyPr/>
          <a:lstStyle/>
          <a:p>
            <a:r>
              <a:rPr lang="en-US" dirty="0"/>
              <a:t> </a:t>
            </a:r>
          </a:p>
        </p:txBody>
      </p:sp>
      <p:sp>
        <p:nvSpPr>
          <p:cNvPr id="4" name="Slide Number Placeholder 3">
            <a:extLst>
              <a:ext uri="{FF2B5EF4-FFF2-40B4-BE49-F238E27FC236}">
                <a16:creationId xmlns:a16="http://schemas.microsoft.com/office/drawing/2014/main" id="{D3E96E55-B01F-CA54-2F44-381397B86D3F}"/>
              </a:ext>
            </a:extLst>
          </p:cNvPr>
          <p:cNvSpPr>
            <a:spLocks noGrp="1"/>
          </p:cNvSpPr>
          <p:nvPr>
            <p:ph type="sldNum" sz="quarter" idx="5"/>
          </p:nvPr>
        </p:nvSpPr>
        <p:spPr/>
        <p:txBody>
          <a:bodyPr/>
          <a:lstStyle/>
          <a:p>
            <a:pPr>
              <a:defRPr/>
            </a:pPr>
            <a:fld id="{7BDF81BA-2724-47AE-8C5A-18C6541FAE5A}" type="slidenum">
              <a:rPr lang="en-US" smtClean="0"/>
              <a:pPr>
                <a:defRPr/>
              </a:pPr>
              <a:t>6</a:t>
            </a:fld>
            <a:endParaRPr lang="en-US" dirty="0"/>
          </a:p>
        </p:txBody>
      </p:sp>
    </p:spTree>
    <p:extLst>
      <p:ext uri="{BB962C8B-B14F-4D97-AF65-F5344CB8AC3E}">
        <p14:creationId xmlns:p14="http://schemas.microsoft.com/office/powerpoint/2010/main" val="2569479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2A352-A33F-CE5B-6E67-6448C65855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A674F3-0CF9-E342-0A49-34A56C945729}"/>
              </a:ext>
            </a:extLst>
          </p:cNvPr>
          <p:cNvSpPr>
            <a:spLocks noGrp="1" noRot="1" noChangeAspect="1"/>
          </p:cNvSpPr>
          <p:nvPr>
            <p:ph type="sldImg"/>
          </p:nvPr>
        </p:nvSpPr>
        <p:spPr>
          <a:xfrm>
            <a:off x="138113" y="768350"/>
            <a:ext cx="6823075" cy="3838575"/>
          </a:xfrm>
        </p:spPr>
      </p:sp>
      <p:sp>
        <p:nvSpPr>
          <p:cNvPr id="3" name="Notes Placeholder 2">
            <a:extLst>
              <a:ext uri="{FF2B5EF4-FFF2-40B4-BE49-F238E27FC236}">
                <a16:creationId xmlns:a16="http://schemas.microsoft.com/office/drawing/2014/main" id="{51E1D001-2D5C-1426-42DB-29B8D041D27C}"/>
              </a:ext>
            </a:extLst>
          </p:cNvPr>
          <p:cNvSpPr>
            <a:spLocks noGrp="1"/>
          </p:cNvSpPr>
          <p:nvPr>
            <p:ph type="body" idx="1"/>
          </p:nvPr>
        </p:nvSpPr>
        <p:spPr/>
        <p:txBody>
          <a:bodyPr/>
          <a:lstStyle/>
          <a:p>
            <a:r>
              <a:rPr lang="en-US" dirty="0"/>
              <a:t> </a:t>
            </a:r>
          </a:p>
        </p:txBody>
      </p:sp>
      <p:sp>
        <p:nvSpPr>
          <p:cNvPr id="4" name="Slide Number Placeholder 3">
            <a:extLst>
              <a:ext uri="{FF2B5EF4-FFF2-40B4-BE49-F238E27FC236}">
                <a16:creationId xmlns:a16="http://schemas.microsoft.com/office/drawing/2014/main" id="{D354B699-451A-17B1-2812-F62B5F88560A}"/>
              </a:ext>
            </a:extLst>
          </p:cNvPr>
          <p:cNvSpPr>
            <a:spLocks noGrp="1"/>
          </p:cNvSpPr>
          <p:nvPr>
            <p:ph type="sldNum" sz="quarter" idx="5"/>
          </p:nvPr>
        </p:nvSpPr>
        <p:spPr/>
        <p:txBody>
          <a:bodyPr/>
          <a:lstStyle/>
          <a:p>
            <a:pPr>
              <a:defRPr/>
            </a:pPr>
            <a:fld id="{7BDF81BA-2724-47AE-8C5A-18C6541FAE5A}" type="slidenum">
              <a:rPr lang="en-US" smtClean="0"/>
              <a:pPr>
                <a:defRPr/>
              </a:pPr>
              <a:t>8</a:t>
            </a:fld>
            <a:endParaRPr lang="en-US" dirty="0"/>
          </a:p>
        </p:txBody>
      </p:sp>
    </p:spTree>
    <p:extLst>
      <p:ext uri="{BB962C8B-B14F-4D97-AF65-F5344CB8AC3E}">
        <p14:creationId xmlns:p14="http://schemas.microsoft.com/office/powerpoint/2010/main" val="1969872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D5558-2701-D852-1A01-0BF39B58DE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E150F4-19D6-3927-AF4C-79938CACB9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1C3DC3-6BE4-4AD5-BF83-83DBE6741D39}"/>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4BCD0FF9-FEE5-7DEA-F2A0-04CD3C8E9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CCB2C-BF64-0CEB-C138-EC1E0FF17963}"/>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077380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A809-C199-A2CA-4B62-C11FD83604C0}"/>
              </a:ext>
            </a:extLst>
          </p:cNvPr>
          <p:cNvSpPr>
            <a:spLocks noGrp="1"/>
          </p:cNvSpPr>
          <p:nvPr>
            <p:ph type="title"/>
          </p:nvPr>
        </p:nvSpPr>
        <p:spPr>
          <a:xfrm>
            <a:off x="838200" y="365126"/>
            <a:ext cx="10515600" cy="75907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9ABD398-BC57-413F-4426-6AE62DCF0FF4}"/>
              </a:ext>
            </a:extLst>
          </p:cNvPr>
          <p:cNvSpPr>
            <a:spLocks noGrp="1"/>
          </p:cNvSpPr>
          <p:nvPr>
            <p:ph idx="1"/>
          </p:nvPr>
        </p:nvSpPr>
        <p:spPr>
          <a:xfrm>
            <a:off x="838200" y="1397330"/>
            <a:ext cx="10515600" cy="47796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009A95-DE70-5583-0BB6-25CA049AFAD6}"/>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722F8C87-113F-3949-D291-E8101A072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8CBE1-6776-590E-6A36-B274F6F6168A}"/>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427165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B990-0C44-FE72-89C1-7BAFB2C89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BF51AA-25F1-19ED-49F4-909710D8F4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6F3394-E947-7BBC-4B4E-FC222CF9E355}"/>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D0090F51-989A-F265-1B59-526B06EC07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6400B-F255-95CF-8BD8-3D8AE595A27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558337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DC8DE-D8D3-04F9-7952-B3C9B444DE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5C6199-C068-6A1D-B9C6-37C04A922F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B26636-1E6C-5A66-DCE9-40F0239C9A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85DEA3-FC5C-77B6-8AEC-BF4A26C7605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50A2BAE8-516B-EE07-0EF8-4E37D353B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D7F8D-0B8A-CA54-C5D1-DAFB9A21726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1809535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7762D-C67C-6FB4-D8AF-A2AEADD0B2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6F3E59-5CAF-AE52-066A-662EAF232F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94A81-151A-F8B5-9A7D-43577F3F69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BDED1E-7743-9D82-5A8F-215AF2DB8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3FED4-7E43-512F-BDC2-AB5A6F6A96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E71D6A-F625-133A-E751-2B967B94A668}"/>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8" name="Footer Placeholder 7">
            <a:extLst>
              <a:ext uri="{FF2B5EF4-FFF2-40B4-BE49-F238E27FC236}">
                <a16:creationId xmlns:a16="http://schemas.microsoft.com/office/drawing/2014/main" id="{33256629-E601-1BA5-526C-36960EEBE0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65DDDF-B6D4-29FB-6B7F-C7017B4EABAD}"/>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49571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2B25A-3F20-51F4-D136-F73B176833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FF8609-CAA0-6678-FCA9-C0252974D715}"/>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4" name="Footer Placeholder 3">
            <a:extLst>
              <a:ext uri="{FF2B5EF4-FFF2-40B4-BE49-F238E27FC236}">
                <a16:creationId xmlns:a16="http://schemas.microsoft.com/office/drawing/2014/main" id="{E911A081-E4EB-7E96-A0AA-2E4D490998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D0AC27-1467-337C-D636-190385E3976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957317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C8C3DB-E47E-C122-D7BD-AAAC105B291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3" name="Footer Placeholder 2">
            <a:extLst>
              <a:ext uri="{FF2B5EF4-FFF2-40B4-BE49-F238E27FC236}">
                <a16:creationId xmlns:a16="http://schemas.microsoft.com/office/drawing/2014/main" id="{12194795-A7C6-B915-9849-6DDF9E5561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BBD6E5-D6AC-7828-B9FA-162561BDB702}"/>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87587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DDA5E-FB2F-65E3-9AC6-77E9E333A2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F88CA7-EDCF-7BC9-0D50-5F550487A7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F96387-78E1-111C-2860-362080259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A170FC-BF4D-52B4-3D96-975E35B67EE0}"/>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13EB24C2-CDEC-1D6D-42DB-F885EAF6C2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CA044-7F46-1F0F-A966-A66706F2D13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74319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354-EE3F-C81F-2C98-42CA24F042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37B54A-0E38-1C0F-EA90-8D9A628CC2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DF9108-1890-E2BF-7EA2-A2F28DEA6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668F02-6193-91DC-69E0-6CC09A2476EE}"/>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2534B642-5606-ACB8-4ADF-6DDE8BE4B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89560E-8858-1CED-6B2E-1EF0F58F2FA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94757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A8BF-0F66-F00E-4527-03CBDE1E6F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48F7C1-32BC-0F71-0130-0DFB9C183A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C7E0-3252-37DB-73A7-7F070748FFEC}"/>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A676C5EE-EAD9-8D18-3741-930600D3B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647D8-342D-AED5-3763-DD02F7C2A43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650844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D0B639-7A1F-68FA-45DD-3196E2CB57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F4F1BB-B40D-E6E4-111B-122348C261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2DAFD-560D-9508-6F31-281EC974361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F90C6320-E161-CE4A-CBDD-27072D2A1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C3E81-2AD2-5FBE-B6F5-1512F3AF971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70580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946CF1-7E31-D1FD-63E0-29688510ED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499997-F7F8-3FB5-F294-092654769C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EC26E-B485-AE94-5C91-D0E504CEB5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4A3ECD47-D4F5-A47B-6CA1-E8E47C1C43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C8C2B9-7B85-792D-492E-EE9D50875A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362146-1680-4254-AA84-26EEDD41027B}" type="slidenum">
              <a:rPr lang="en-US" smtClean="0"/>
              <a:t>‹#›</a:t>
            </a:fld>
            <a:endParaRPr lang="en-US"/>
          </a:p>
        </p:txBody>
      </p:sp>
    </p:spTree>
    <p:extLst>
      <p:ext uri="{BB962C8B-B14F-4D97-AF65-F5344CB8AC3E}">
        <p14:creationId xmlns:p14="http://schemas.microsoft.com/office/powerpoint/2010/main" val="958739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s://creativecommons.org/licenses/by-nc-sa/4.0/"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410.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 Id="rId11" Type="http://schemas.openxmlformats.org/officeDocument/2006/relationships/image" Target="../media/image17.png"/><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9" Type="http://schemas.openxmlformats.org/officeDocument/2006/relationships/image" Target="../media/image15.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4.png"/><Relationship Id="rId18" Type="http://schemas.openxmlformats.org/officeDocument/2006/relationships/image" Target="../media/image39.png"/><Relationship Id="rId3" Type="http://schemas.openxmlformats.org/officeDocument/2006/relationships/image" Target="../media/image26.png"/><Relationship Id="rId21" Type="http://schemas.openxmlformats.org/officeDocument/2006/relationships/image" Target="../media/image42.png"/><Relationship Id="rId7" Type="http://schemas.openxmlformats.org/officeDocument/2006/relationships/image" Target="../media/image27.png"/><Relationship Id="rId12" Type="http://schemas.openxmlformats.org/officeDocument/2006/relationships/image" Target="../media/image33.png"/><Relationship Id="rId17" Type="http://schemas.openxmlformats.org/officeDocument/2006/relationships/image" Target="../media/image38.png"/><Relationship Id="rId2" Type="http://schemas.openxmlformats.org/officeDocument/2006/relationships/notesSlide" Target="../notesSlides/notesSlide2.xml"/><Relationship Id="rId16" Type="http://schemas.openxmlformats.org/officeDocument/2006/relationships/image" Target="../media/image37.png"/><Relationship Id="rId20"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161.png"/><Relationship Id="rId11" Type="http://schemas.openxmlformats.org/officeDocument/2006/relationships/image" Target="../media/image32.png"/><Relationship Id="rId5" Type="http://schemas.openxmlformats.org/officeDocument/2006/relationships/image" Target="../media/image152.png"/><Relationship Id="rId15" Type="http://schemas.openxmlformats.org/officeDocument/2006/relationships/image" Target="../media/image36.png"/><Relationship Id="rId10" Type="http://schemas.openxmlformats.org/officeDocument/2006/relationships/image" Target="../media/image31.png"/><Relationship Id="rId19" Type="http://schemas.openxmlformats.org/officeDocument/2006/relationships/image" Target="../media/image40.png"/><Relationship Id="rId4" Type="http://schemas.openxmlformats.org/officeDocument/2006/relationships/image" Target="../media/image141.png"/><Relationship Id="rId9" Type="http://schemas.openxmlformats.org/officeDocument/2006/relationships/image" Target="../media/image29.png"/><Relationship Id="rId22" Type="http://schemas.openxmlformats.org/officeDocument/2006/relationships/image" Target="../media/image43.png"/><Relationship Id="rId14"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5.png"/><Relationship Id="rId18" Type="http://schemas.openxmlformats.org/officeDocument/2006/relationships/image" Target="../media/image60.png"/><Relationship Id="rId26" Type="http://schemas.openxmlformats.org/officeDocument/2006/relationships/image" Target="../media/image68.png"/><Relationship Id="rId3" Type="http://schemas.openxmlformats.org/officeDocument/2006/relationships/image" Target="../media/image45.png"/><Relationship Id="rId21" Type="http://schemas.openxmlformats.org/officeDocument/2006/relationships/image" Target="../media/image63.png"/><Relationship Id="rId7" Type="http://schemas.openxmlformats.org/officeDocument/2006/relationships/image" Target="../media/image49.png"/><Relationship Id="rId12" Type="http://schemas.openxmlformats.org/officeDocument/2006/relationships/image" Target="../media/image54.png"/><Relationship Id="rId17" Type="http://schemas.openxmlformats.org/officeDocument/2006/relationships/image" Target="../media/image59.png"/><Relationship Id="rId25" Type="http://schemas.openxmlformats.org/officeDocument/2006/relationships/image" Target="../media/image67.png"/><Relationship Id="rId2" Type="http://schemas.openxmlformats.org/officeDocument/2006/relationships/image" Target="../media/image44.png"/><Relationship Id="rId16" Type="http://schemas.openxmlformats.org/officeDocument/2006/relationships/image" Target="../media/image58.png"/><Relationship Id="rId20"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image" Target="../media/image53.png"/><Relationship Id="rId24" Type="http://schemas.openxmlformats.org/officeDocument/2006/relationships/image" Target="../media/image66.png"/><Relationship Id="rId5" Type="http://schemas.openxmlformats.org/officeDocument/2006/relationships/image" Target="../media/image47.png"/><Relationship Id="rId15" Type="http://schemas.openxmlformats.org/officeDocument/2006/relationships/image" Target="../media/image57.png"/><Relationship Id="rId23" Type="http://schemas.openxmlformats.org/officeDocument/2006/relationships/image" Target="../media/image65.png"/><Relationship Id="rId28" Type="http://schemas.openxmlformats.org/officeDocument/2006/relationships/image" Target="../media/image70.png"/><Relationship Id="rId10" Type="http://schemas.openxmlformats.org/officeDocument/2006/relationships/image" Target="../media/image52.png"/><Relationship Id="rId19" Type="http://schemas.openxmlformats.org/officeDocument/2006/relationships/image" Target="../media/image61.png"/><Relationship Id="rId4" Type="http://schemas.openxmlformats.org/officeDocument/2006/relationships/image" Target="../media/image46.png"/><Relationship Id="rId9" Type="http://schemas.openxmlformats.org/officeDocument/2006/relationships/image" Target="../media/image51.png"/><Relationship Id="rId14" Type="http://schemas.openxmlformats.org/officeDocument/2006/relationships/image" Target="../media/image56.png"/><Relationship Id="rId22" Type="http://schemas.openxmlformats.org/officeDocument/2006/relationships/image" Target="../media/image64.png"/><Relationship Id="rId27" Type="http://schemas.openxmlformats.org/officeDocument/2006/relationships/image" Target="../media/image69.png"/></Relationships>
</file>

<file path=ppt/slides/_rels/slide10.xml.rels><?xml version="1.0" encoding="UTF-8" standalone="yes"?>
<Relationships xmlns="http://schemas.openxmlformats.org/package/2006/relationships"><Relationship Id="rId3" Type="http://schemas.openxmlformats.org/officeDocument/2006/relationships/hyperlink" Target="https://www.istockphoto.com/portfolio/RomoloTavani?mediatype=photography" TargetMode="External"/><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12.xml.rels><?xml version="1.0" encoding="UTF-8" standalone="yes"?>
<Relationships xmlns="http://schemas.openxmlformats.org/package/2006/relationships"><Relationship Id="rId8" Type="http://schemas.openxmlformats.org/officeDocument/2006/relationships/image" Target="../media/image78.png"/><Relationship Id="rId7" Type="http://schemas.openxmlformats.org/officeDocument/2006/relationships/image" Target="../media/image71.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10" Type="http://schemas.openxmlformats.org/officeDocument/2006/relationships/image" Target="../media/image79.png"/><Relationship Id="rId4" Type="http://schemas.openxmlformats.org/officeDocument/2006/relationships/image" Target="../media/image75.png"/><Relationship Id="rId9" Type="http://schemas.openxmlformats.org/officeDocument/2006/relationships/image" Target="../media/image74.png"/></Relationships>
</file>

<file path=ppt/slides/_rels/slide13.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3" Type="http://schemas.openxmlformats.org/officeDocument/2006/relationships/image" Target="../media/image82.png"/><Relationship Id="rId7" Type="http://schemas.openxmlformats.org/officeDocument/2006/relationships/image" Target="../media/image86.png"/><Relationship Id="rId12" Type="http://schemas.openxmlformats.org/officeDocument/2006/relationships/image" Target="../media/image91.png"/><Relationship Id="rId2" Type="http://schemas.openxmlformats.org/officeDocument/2006/relationships/image" Target="../media/image740.png"/><Relationship Id="rId1" Type="http://schemas.openxmlformats.org/officeDocument/2006/relationships/slideLayout" Target="../slideLayouts/slideLayout2.xml"/><Relationship Id="rId6" Type="http://schemas.openxmlformats.org/officeDocument/2006/relationships/image" Target="../media/image85.png"/><Relationship Id="rId11" Type="http://schemas.openxmlformats.org/officeDocument/2006/relationships/image" Target="../media/image90.png"/><Relationship Id="rId5" Type="http://schemas.openxmlformats.org/officeDocument/2006/relationships/image" Target="../media/image84.png"/><Relationship Id="rId10" Type="http://schemas.openxmlformats.org/officeDocument/2006/relationships/image" Target="../media/image89.png"/><Relationship Id="rId4" Type="http://schemas.openxmlformats.org/officeDocument/2006/relationships/image" Target="../media/image83.png"/><Relationship Id="rId9" Type="http://schemas.openxmlformats.org/officeDocument/2006/relationships/image" Target="../media/image88.png"/><Relationship Id="rId14" Type="http://schemas.openxmlformats.org/officeDocument/2006/relationships/image" Target="../media/image93.png"/></Relationships>
</file>

<file path=ppt/slides/_rels/slide14.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95.png"/><Relationship Id="rId7" Type="http://schemas.openxmlformats.org/officeDocument/2006/relationships/image" Target="../media/image99.png"/><Relationship Id="rId12" Type="http://schemas.openxmlformats.org/officeDocument/2006/relationships/image" Target="../media/image104.png"/><Relationship Id="rId2"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image" Target="../media/image98.png"/><Relationship Id="rId11" Type="http://schemas.openxmlformats.org/officeDocument/2006/relationships/image" Target="../media/image103.png"/><Relationship Id="rId5" Type="http://schemas.openxmlformats.org/officeDocument/2006/relationships/image" Target="../media/image97.png"/><Relationship Id="rId10" Type="http://schemas.openxmlformats.org/officeDocument/2006/relationships/image" Target="../media/image102.png"/><Relationship Id="rId4" Type="http://schemas.openxmlformats.org/officeDocument/2006/relationships/image" Target="../media/image96.png"/><Relationship Id="rId9" Type="http://schemas.openxmlformats.org/officeDocument/2006/relationships/image" Target="../media/image101.png"/></Relationships>
</file>

<file path=ppt/slides/_rels/slide15.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15.png"/><Relationship Id="rId3" Type="http://schemas.openxmlformats.org/officeDocument/2006/relationships/image" Target="../media/image105.png"/><Relationship Id="rId17" Type="http://schemas.openxmlformats.org/officeDocument/2006/relationships/image" Target="../media/image119.png"/><Relationship Id="rId7" Type="http://schemas.openxmlformats.org/officeDocument/2006/relationships/image" Target="../media/image109.png"/><Relationship Id="rId12" Type="http://schemas.openxmlformats.org/officeDocument/2006/relationships/image" Target="../media/image114.png"/><Relationship Id="rId2" Type="http://schemas.openxmlformats.org/officeDocument/2006/relationships/image" Target="../media/image81.png"/><Relationship Id="rId16" Type="http://schemas.openxmlformats.org/officeDocument/2006/relationships/image" Target="../media/image118.png"/><Relationship Id="rId1" Type="http://schemas.openxmlformats.org/officeDocument/2006/relationships/slideLayout" Target="../slideLayouts/slideLayout2.xml"/><Relationship Id="rId11" Type="http://schemas.openxmlformats.org/officeDocument/2006/relationships/image" Target="../media/image113.png"/><Relationship Id="rId6" Type="http://schemas.openxmlformats.org/officeDocument/2006/relationships/image" Target="../media/image108.png"/><Relationship Id="rId5" Type="http://schemas.openxmlformats.org/officeDocument/2006/relationships/image" Target="../media/image107.png"/><Relationship Id="rId15" Type="http://schemas.openxmlformats.org/officeDocument/2006/relationships/image" Target="../media/image117.png"/><Relationship Id="rId10" Type="http://schemas.openxmlformats.org/officeDocument/2006/relationships/image" Target="../media/image112.png"/><Relationship Id="rId4" Type="http://schemas.openxmlformats.org/officeDocument/2006/relationships/image" Target="../media/image106.png"/><Relationship Id="rId9" Type="http://schemas.openxmlformats.org/officeDocument/2006/relationships/image" Target="../media/image111.png"/><Relationship Id="rId14" Type="http://schemas.openxmlformats.org/officeDocument/2006/relationships/image" Target="../media/image116.png"/></Relationships>
</file>

<file path=ppt/slides/_rels/slide1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20.png"/><Relationship Id="rId1" Type="http://schemas.openxmlformats.org/officeDocument/2006/relationships/slideLayout" Target="../slideLayouts/slideLayout2.xml"/><Relationship Id="rId5" Type="http://schemas.openxmlformats.org/officeDocument/2006/relationships/image" Target="../media/image121.png"/><Relationship Id="rId4" Type="http://schemas.openxmlformats.org/officeDocument/2006/relationships/image" Target="../media/image122.png"/></Relationships>
</file>

<file path=ppt/slides/_rels/slide17.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image" Target="../media/image128.png"/><Relationship Id="rId7" Type="http://schemas.openxmlformats.org/officeDocument/2006/relationships/image" Target="../media/image132.png"/><Relationship Id="rId2" Type="http://schemas.openxmlformats.org/officeDocument/2006/relationships/image" Target="../media/image124.png"/><Relationship Id="rId1" Type="http://schemas.openxmlformats.org/officeDocument/2006/relationships/slideLayout" Target="../slideLayouts/slideLayout2.xml"/><Relationship Id="rId6" Type="http://schemas.openxmlformats.org/officeDocument/2006/relationships/image" Target="../media/image131.png"/><Relationship Id="rId5" Type="http://schemas.openxmlformats.org/officeDocument/2006/relationships/image" Target="../media/image123.png"/><Relationship Id="rId4" Type="http://schemas.openxmlformats.org/officeDocument/2006/relationships/image" Target="../media/image125.png"/><Relationship Id="rId9" Type="http://schemas.openxmlformats.org/officeDocument/2006/relationships/image" Target="../media/image134.png"/></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B02EEF-8413-288E-566D-063A066A6CBC}"/>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77" r="23298" b="3714"/>
          <a:stretch>
            <a:fillRect/>
          </a:stretch>
        </p:blipFill>
        <p:spPr bwMode="auto">
          <a:xfrm>
            <a:off x="3649006" y="-1502"/>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1EE42B-57B4-EB74-A37C-6675858E7D29}"/>
              </a:ext>
            </a:extLst>
          </p:cNvPr>
          <p:cNvSpPr>
            <a:spLocks noGrp="1"/>
          </p:cNvSpPr>
          <p:nvPr>
            <p:ph type="ctrTitle"/>
          </p:nvPr>
        </p:nvSpPr>
        <p:spPr>
          <a:xfrm>
            <a:off x="477981" y="1122363"/>
            <a:ext cx="4463968" cy="3204134"/>
          </a:xfrm>
        </p:spPr>
        <p:txBody>
          <a:bodyPr anchor="b">
            <a:normAutofit fontScale="90000"/>
          </a:bodyPr>
          <a:lstStyle/>
          <a:p>
            <a:pPr algn="l"/>
            <a:r>
              <a:rPr lang="en-US" sz="4800" dirty="0">
                <a:solidFill>
                  <a:schemeClr val="bg1"/>
                </a:solidFill>
              </a:rPr>
              <a:t>Reinforcement Learning</a:t>
            </a:r>
            <a:br>
              <a:rPr lang="en-US" sz="4800" dirty="0">
                <a:solidFill>
                  <a:schemeClr val="bg1"/>
                </a:solidFill>
              </a:rPr>
            </a:br>
            <a:br>
              <a:rPr lang="en-US" sz="4800" dirty="0">
                <a:solidFill>
                  <a:schemeClr val="bg1"/>
                </a:solidFill>
              </a:rPr>
            </a:br>
            <a:r>
              <a:rPr lang="en-US" sz="4000" dirty="0">
                <a:solidFill>
                  <a:schemeClr val="bg1"/>
                </a:solidFill>
              </a:rPr>
              <a:t>Partial Observability</a:t>
            </a:r>
            <a:br>
              <a:rPr lang="en-US" sz="4000" dirty="0">
                <a:solidFill>
                  <a:schemeClr val="bg1"/>
                </a:solidFill>
              </a:rPr>
            </a:br>
            <a:r>
              <a:rPr lang="en-US" sz="3100" dirty="0">
                <a:solidFill>
                  <a:schemeClr val="bg1"/>
                </a:solidFill>
              </a:rPr>
              <a:t>Sutton/Barto* Chapter 17.3</a:t>
            </a:r>
            <a:br>
              <a:rPr lang="en-US" sz="3100" dirty="0">
                <a:solidFill>
                  <a:schemeClr val="bg1"/>
                </a:solidFill>
              </a:rPr>
            </a:br>
            <a:r>
              <a:rPr lang="en-US" sz="3100" dirty="0">
                <a:solidFill>
                  <a:schemeClr val="bg1"/>
                </a:solidFill>
              </a:rPr>
              <a:t>AIMA** Chapters 14 and 15</a:t>
            </a:r>
            <a:br>
              <a:rPr lang="en-US" sz="4000" dirty="0">
                <a:solidFill>
                  <a:schemeClr val="bg1"/>
                </a:solidFill>
              </a:rPr>
            </a:br>
            <a:endParaRPr lang="en-US" sz="2700" dirty="0">
              <a:solidFill>
                <a:schemeClr val="bg1"/>
              </a:solidFill>
            </a:endParaRPr>
          </a:p>
        </p:txBody>
      </p:sp>
      <p:pic>
        <p:nvPicPr>
          <p:cNvPr id="6" name="Picture 4">
            <a:extLst>
              <a:ext uri="{FF2B5EF4-FFF2-40B4-BE49-F238E27FC236}">
                <a16:creationId xmlns:a16="http://schemas.microsoft.com/office/drawing/2014/main" id="{A9F9786C-76AC-22A8-2028-BB0A9E3784F6}"/>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7456" y="125210"/>
            <a:ext cx="4182403" cy="1000945"/>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7FFF10C2-8C10-0E89-D285-D614C36EEE69}"/>
              </a:ext>
              <a:ext uri="{C183D7F6-B498-43B3-948B-1728B52AA6E4}">
                <adec:decorative xmlns:adec="http://schemas.microsoft.com/office/drawing/2017/decorative" val="1"/>
              </a:ext>
            </a:extLst>
          </p:cNvPr>
          <p:cNvSpPr>
            <a:spLocks noGrp="1"/>
          </p:cNvSpPr>
          <p:nvPr>
            <p:ph type="subTitle" idx="1"/>
          </p:nvPr>
        </p:nvSpPr>
        <p:spPr>
          <a:xfrm>
            <a:off x="477981" y="4868822"/>
            <a:ext cx="5945303" cy="1443894"/>
          </a:xfrm>
        </p:spPr>
        <p:txBody>
          <a:bodyPr>
            <a:normAutofit fontScale="85000" lnSpcReduction="20000"/>
          </a:bodyPr>
          <a:lstStyle/>
          <a:p>
            <a:pPr algn="l"/>
            <a:r>
              <a:rPr lang="en-US" sz="1700" dirty="0">
                <a:solidFill>
                  <a:schemeClr val="bg1"/>
                </a:solidFill>
              </a:rPr>
              <a:t>Michael Hahsler, SMU</a:t>
            </a:r>
          </a:p>
          <a:p>
            <a:pPr algn="l"/>
            <a:endParaRPr lang="en-US" sz="1700" dirty="0">
              <a:solidFill>
                <a:schemeClr val="bg1"/>
              </a:solidFill>
            </a:endParaRPr>
          </a:p>
          <a:p>
            <a:pPr algn="l"/>
            <a:r>
              <a:rPr lang="en-US" sz="1600" dirty="0">
                <a:solidFill>
                  <a:schemeClr val="bg1"/>
                </a:solidFill>
              </a:rPr>
              <a:t>*Sutton and Barto, Reinforcement Learning: An Introduction, 2</a:t>
            </a:r>
            <a:r>
              <a:rPr lang="en-US" sz="1600" baseline="30000" dirty="0">
                <a:solidFill>
                  <a:schemeClr val="bg1"/>
                </a:solidFill>
              </a:rPr>
              <a:t>nd</a:t>
            </a:r>
            <a:r>
              <a:rPr lang="en-US" sz="1600" dirty="0">
                <a:solidFill>
                  <a:schemeClr val="bg1"/>
                </a:solidFill>
              </a:rPr>
              <a:t> edition, MIT Press, Cambridge, MA, 2018</a:t>
            </a:r>
          </a:p>
          <a:p>
            <a:pPr algn="l"/>
            <a:r>
              <a:rPr lang="en-US" sz="1600" dirty="0">
                <a:solidFill>
                  <a:schemeClr val="bg1"/>
                </a:solidFill>
              </a:rPr>
              <a:t>**Russell and Norvig, Artificial Intelligence: A Modern Approach, 4</a:t>
            </a:r>
            <a:r>
              <a:rPr lang="en-US" sz="1600" baseline="30000" dirty="0">
                <a:solidFill>
                  <a:schemeClr val="bg1"/>
                </a:solidFill>
              </a:rPr>
              <a:t>th</a:t>
            </a:r>
            <a:r>
              <a:rPr lang="en-US" sz="1600" dirty="0">
                <a:solidFill>
                  <a:schemeClr val="bg1"/>
                </a:solidFill>
              </a:rPr>
              <a:t> edition, Pearson, 2021</a:t>
            </a:r>
          </a:p>
          <a:p>
            <a:pPr algn="l"/>
            <a:endParaRPr lang="en-US" sz="1700" dirty="0">
              <a:solidFill>
                <a:schemeClr val="bg1"/>
              </a:solidFill>
            </a:endParaRPr>
          </a:p>
        </p:txBody>
      </p:sp>
      <p:grpSp>
        <p:nvGrpSpPr>
          <p:cNvPr id="7" name="Group 6">
            <a:extLst>
              <a:ext uri="{FF2B5EF4-FFF2-40B4-BE49-F238E27FC236}">
                <a16:creationId xmlns:a16="http://schemas.microsoft.com/office/drawing/2014/main" id="{DA1C6744-BD97-2C10-F393-A0B726F71E7A}"/>
              </a:ext>
              <a:ext uri="{C183D7F6-B498-43B3-948B-1728B52AA6E4}">
                <adec:decorative xmlns:adec="http://schemas.microsoft.com/office/drawing/2017/decorative" val="1"/>
              </a:ext>
            </a:extLst>
          </p:cNvPr>
          <p:cNvGrpSpPr/>
          <p:nvPr/>
        </p:nvGrpSpPr>
        <p:grpSpPr>
          <a:xfrm>
            <a:off x="10961016" y="4868822"/>
            <a:ext cx="1037459" cy="1303078"/>
            <a:chOff x="5248582" y="2401735"/>
            <a:chExt cx="1694835" cy="2054530"/>
          </a:xfrm>
        </p:grpSpPr>
        <p:pic>
          <p:nvPicPr>
            <p:cNvPr id="8" name="Picture 7">
              <a:extLst>
                <a:ext uri="{FF2B5EF4-FFF2-40B4-BE49-F238E27FC236}">
                  <a16:creationId xmlns:a16="http://schemas.microsoft.com/office/drawing/2014/main" id="{2F5FC233-1ACF-0EE9-5B1F-F0A29270EEC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248582" y="2401735"/>
              <a:ext cx="1694835" cy="2054530"/>
            </a:xfrm>
            <a:prstGeom prst="rect">
              <a:avLst/>
            </a:prstGeom>
          </p:spPr>
        </p:pic>
        <p:pic>
          <p:nvPicPr>
            <p:cNvPr id="9" name="Picture 8" descr="QR code linking to the online course material.">
              <a:extLst>
                <a:ext uri="{FF2B5EF4-FFF2-40B4-BE49-F238E27FC236}">
                  <a16:creationId xmlns:a16="http://schemas.microsoft.com/office/drawing/2014/main" id="{26CB3135-CE78-1137-FBA3-29AA8592D8FA}"/>
                </a:ext>
              </a:extLst>
            </p:cNvPr>
            <p:cNvPicPr>
              <a:picLocks noChangeAspect="1"/>
            </p:cNvPicPr>
            <p:nvPr/>
          </p:nvPicPr>
          <p:blipFill>
            <a:blip r:embed="rId5"/>
            <a:stretch>
              <a:fillRect/>
            </a:stretch>
          </p:blipFill>
          <p:spPr>
            <a:xfrm>
              <a:off x="5315643" y="2435129"/>
              <a:ext cx="1560711" cy="1560711"/>
            </a:xfrm>
            <a:prstGeom prst="rect">
              <a:avLst/>
            </a:prstGeom>
          </p:spPr>
        </p:pic>
      </p:grpSp>
      <p:pic>
        <p:nvPicPr>
          <p:cNvPr id="4" name="object 23">
            <a:hlinkClick r:id="rId6"/>
            <a:extLst>
              <a:ext uri="{FF2B5EF4-FFF2-40B4-BE49-F238E27FC236}">
                <a16:creationId xmlns:a16="http://schemas.microsoft.com/office/drawing/2014/main" id="{3CBD6548-3D4E-9A40-CA35-355261D4E92C}"/>
              </a:ext>
              <a:ext uri="{C183D7F6-B498-43B3-948B-1728B52AA6E4}">
                <adec:decorative xmlns:adec="http://schemas.microsoft.com/office/drawing/2017/decorative" val="1"/>
              </a:ext>
            </a:extLst>
          </p:cNvPr>
          <p:cNvPicPr/>
          <p:nvPr/>
        </p:nvPicPr>
        <p:blipFill>
          <a:blip r:embed="rId7" cstate="print"/>
          <a:stretch>
            <a:fillRect/>
          </a:stretch>
        </p:blipFill>
        <p:spPr>
          <a:xfrm>
            <a:off x="10961016" y="6265038"/>
            <a:ext cx="1037459" cy="383579"/>
          </a:xfrm>
          <a:prstGeom prst="rect">
            <a:avLst/>
          </a:prstGeom>
        </p:spPr>
      </p:pic>
    </p:spTree>
    <p:extLst>
      <p:ext uri="{BB962C8B-B14F-4D97-AF65-F5344CB8AC3E}">
        <p14:creationId xmlns:p14="http://schemas.microsoft.com/office/powerpoint/2010/main" val="3852752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A3493-2ED6-DF09-F569-7F3DCA81AB18}"/>
              </a:ext>
            </a:extLst>
          </p:cNvPr>
          <p:cNvSpPr>
            <a:spLocks noGrp="1"/>
          </p:cNvSpPr>
          <p:nvPr>
            <p:ph type="title"/>
          </p:nvPr>
        </p:nvSpPr>
        <p:spPr/>
        <p:txBody>
          <a:bodyPr/>
          <a:lstStyle/>
          <a:p>
            <a:r>
              <a:rPr lang="en-US" dirty="0"/>
              <a:t>Topics of this Course</a:t>
            </a:r>
          </a:p>
        </p:txBody>
      </p:sp>
      <p:sp>
        <p:nvSpPr>
          <p:cNvPr id="3" name="Content Placeholder 2">
            <a:extLst>
              <a:ext uri="{FF2B5EF4-FFF2-40B4-BE49-F238E27FC236}">
                <a16:creationId xmlns:a16="http://schemas.microsoft.com/office/drawing/2014/main" id="{8F95E019-92A5-79AC-D777-59B4926F61AA}"/>
              </a:ext>
            </a:extLst>
          </p:cNvPr>
          <p:cNvSpPr>
            <a:spLocks noGrp="1"/>
          </p:cNvSpPr>
          <p:nvPr>
            <p:ph idx="1"/>
          </p:nvPr>
        </p:nvSpPr>
        <p:spPr/>
        <p:txBody>
          <a:bodyPr>
            <a:normAutofit fontScale="70000" lnSpcReduction="20000"/>
          </a:bodyPr>
          <a:lstStyle/>
          <a:p>
            <a:r>
              <a:rPr lang="en-US" dirty="0"/>
              <a:t>Introduction to reinforcement learning</a:t>
            </a:r>
          </a:p>
          <a:p>
            <a:r>
              <a:rPr lang="en-US" dirty="0"/>
              <a:t>Markov decision processes</a:t>
            </a:r>
          </a:p>
          <a:p>
            <a:r>
              <a:rPr lang="en-US" dirty="0"/>
              <a:t>Part I: Tabular Methods</a:t>
            </a:r>
          </a:p>
          <a:p>
            <a:pPr lvl="1"/>
            <a:r>
              <a:rPr lang="en-US" dirty="0"/>
              <a:t>Dynamic programming</a:t>
            </a:r>
          </a:p>
          <a:p>
            <a:pPr lvl="1"/>
            <a:r>
              <a:rPr lang="en-US" dirty="0"/>
              <a:t>Monte Carlo methods</a:t>
            </a:r>
          </a:p>
          <a:p>
            <a:pPr lvl="1"/>
            <a:r>
              <a:rPr lang="en-US" dirty="0"/>
              <a:t>Temporal-difference learning</a:t>
            </a:r>
          </a:p>
          <a:p>
            <a:pPr lvl="1"/>
            <a:r>
              <a:rPr lang="en-US" dirty="0"/>
              <a:t>Multi-step bootstrapping</a:t>
            </a:r>
          </a:p>
          <a:p>
            <a:pPr lvl="1"/>
            <a:r>
              <a:rPr lang="en-US" dirty="0"/>
              <a:t>Planning and learning with tabular methods</a:t>
            </a:r>
          </a:p>
          <a:p>
            <a:r>
              <a:rPr lang="en-US" dirty="0"/>
              <a:t>Part II: Approximate Solution Methods</a:t>
            </a:r>
          </a:p>
          <a:p>
            <a:pPr lvl="1"/>
            <a:r>
              <a:rPr lang="en-US" dirty="0"/>
              <a:t>Prediction and Control using Approximation</a:t>
            </a:r>
          </a:p>
          <a:p>
            <a:pPr lvl="1"/>
            <a:r>
              <a:rPr lang="en-US" dirty="0"/>
              <a:t>Eligibility Traces</a:t>
            </a:r>
          </a:p>
          <a:p>
            <a:pPr lvl="1"/>
            <a:r>
              <a:rPr lang="en-US" dirty="0"/>
              <a:t>Policy Gradient Methods</a:t>
            </a:r>
          </a:p>
          <a:p>
            <a:r>
              <a:rPr lang="en-US" dirty="0"/>
              <a:t>Part III: Looking Deeper</a:t>
            </a:r>
          </a:p>
          <a:p>
            <a:pPr lvl="1"/>
            <a:r>
              <a:rPr lang="en-US" dirty="0"/>
              <a:t>Deep Reinforcement Learning</a:t>
            </a:r>
          </a:p>
          <a:p>
            <a:pPr lvl="1"/>
            <a:r>
              <a:rPr lang="en-US" b="1" dirty="0"/>
              <a:t>Partial Observability</a:t>
            </a:r>
          </a:p>
          <a:p>
            <a:pPr lvl="1"/>
            <a:r>
              <a:rPr lang="en-US" dirty="0"/>
              <a:t>Reward Engineering</a:t>
            </a:r>
          </a:p>
          <a:p>
            <a:pPr lvl="1"/>
            <a:r>
              <a:rPr lang="en-US" dirty="0"/>
              <a:t>Current Applications</a:t>
            </a:r>
          </a:p>
        </p:txBody>
      </p:sp>
    </p:spTree>
    <p:extLst>
      <p:ext uri="{BB962C8B-B14F-4D97-AF65-F5344CB8AC3E}">
        <p14:creationId xmlns:p14="http://schemas.microsoft.com/office/powerpoint/2010/main" val="3653367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4E1A2-75E3-3C9C-6C10-EE078C5AD54A}"/>
              </a:ext>
            </a:extLst>
          </p:cNvPr>
          <p:cNvSpPr>
            <a:spLocks noGrp="1"/>
          </p:cNvSpPr>
          <p:nvPr>
            <p:ph type="title"/>
          </p:nvPr>
        </p:nvSpPr>
        <p:spPr/>
        <p:txBody>
          <a:bodyPr/>
          <a:lstStyle/>
          <a:p>
            <a:r>
              <a:rPr lang="en-US" dirty="0"/>
              <a:t>Summary of Notation</a:t>
            </a:r>
          </a:p>
        </p:txBody>
      </p:sp>
      <mc:AlternateContent xmlns:mc="http://schemas.openxmlformats.org/markup-compatibility/2006" xmlns:a14="http://schemas.microsoft.com/office/drawing/2010/main">
        <mc:Choice Requires="a14">
          <p:sp>
            <p:nvSpPr>
              <p:cNvPr id="10" name="TextBox 9" descr="General. X capital letters: random variables x, p lower-case letters: realizations of random variables or scalar functions. w Bold lower-case letters: real-valued vectors (even if random variables). W bold capitals: matrices. alpha Greek letters: parameters (vectors if in bolt). Pr{X equals x} probability that a random variable X takes on the value x. X~p random variable X selected from distribution p (x) equals Pr{X equals x}. E[X] expectation of a random variable X, i.e., E [X] equals the sum over x, of p (x) x. argmax sub a f(a) a value of action a at which f(a) takes its maximal value">
                <a:extLst>
                  <a:ext uri="{FF2B5EF4-FFF2-40B4-BE49-F238E27FC236}">
                    <a16:creationId xmlns:a16="http://schemas.microsoft.com/office/drawing/2014/main" id="{5CD475E5-BE3B-5594-57DC-46A17411F2F9}"/>
                  </a:ext>
                </a:extLst>
              </p:cNvPr>
              <p:cNvSpPr txBox="1"/>
              <p:nvPr/>
            </p:nvSpPr>
            <p:spPr>
              <a:xfrm>
                <a:off x="822820" y="1124198"/>
                <a:ext cx="5273179"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b="1" dirty="0"/>
                  <a:t>General</a:t>
                </a:r>
                <a:endParaRPr lang="en-US" sz="1200" dirty="0"/>
              </a:p>
              <a:p>
                <a14:m>
                  <m:oMath xmlns:m="http://schemas.openxmlformats.org/officeDocument/2006/math">
                    <m:r>
                      <a:rPr lang="en-US" sz="1200" i="1" dirty="0" smtClean="0">
                        <a:latin typeface="Cambria Math" panose="02040503050406030204" pitchFamily="18" charset="0"/>
                      </a:rPr>
                      <m:t>𝑋</m:t>
                    </m:r>
                  </m:oMath>
                </a14:m>
                <a:r>
                  <a:rPr lang="en-US" sz="1200" dirty="0"/>
                  <a:t>	capital letters: random variables</a:t>
                </a:r>
                <a:br>
                  <a:rPr lang="en-US" sz="1200" dirty="0"/>
                </a:br>
                <a14:m>
                  <m:oMath xmlns:m="http://schemas.openxmlformats.org/officeDocument/2006/math">
                    <m:r>
                      <a:rPr lang="en-US" sz="1200" b="0" i="1" smtClean="0">
                        <a:latin typeface="Cambria Math" panose="02040503050406030204" pitchFamily="18" charset="0"/>
                      </a:rPr>
                      <m:t>𝑥</m:t>
                    </m:r>
                    <m:r>
                      <a:rPr lang="en-US" sz="1200" b="0" i="0" smtClean="0">
                        <a:latin typeface="Cambria Math" panose="02040503050406030204" pitchFamily="18" charset="0"/>
                      </a:rPr>
                      <m:t>, </m:t>
                    </m:r>
                    <m:r>
                      <a:rPr lang="en-US" sz="1200" b="0" i="1" smtClean="0">
                        <a:latin typeface="Cambria Math" panose="02040503050406030204" pitchFamily="18" charset="0"/>
                      </a:rPr>
                      <m:t>𝑝</m:t>
                    </m:r>
                  </m:oMath>
                </a14:m>
                <a:r>
                  <a:rPr lang="en-US" sz="1200" dirty="0"/>
                  <a:t>	lower-case letters: realizations of random variables </a:t>
                </a:r>
                <a:br>
                  <a:rPr lang="en-US" sz="1200" dirty="0"/>
                </a:br>
                <a:r>
                  <a:rPr lang="en-US" sz="1200" dirty="0"/>
                  <a:t>	or scalar functions</a:t>
                </a:r>
              </a:p>
              <a:p>
                <a14:m>
                  <m:oMath xmlns:m="http://schemas.openxmlformats.org/officeDocument/2006/math">
                    <m:r>
                      <a:rPr lang="en-US" sz="1200" b="1" i="1" smtClean="0">
                        <a:latin typeface="Cambria Math" panose="02040503050406030204" pitchFamily="18" charset="0"/>
                      </a:rPr>
                      <m:t>𝒘</m:t>
                    </m:r>
                  </m:oMath>
                </a14:m>
                <a:r>
                  <a:rPr lang="en-US" sz="1200" dirty="0"/>
                  <a:t> 	Bold lower-case letters: real-valued vectors </a:t>
                </a:r>
                <a:br>
                  <a:rPr lang="en-US" sz="1200" dirty="0"/>
                </a:br>
                <a:r>
                  <a:rPr lang="en-US" sz="1200" dirty="0"/>
                  <a:t>	(even if random variables)</a:t>
                </a:r>
              </a:p>
              <a:p>
                <a14:m>
                  <m:oMath xmlns:m="http://schemas.openxmlformats.org/officeDocument/2006/math">
                    <m:r>
                      <a:rPr lang="en-US" sz="1200" b="1" i="1" smtClean="0">
                        <a:latin typeface="Cambria Math" panose="02040503050406030204" pitchFamily="18" charset="0"/>
                      </a:rPr>
                      <m:t>𝑾</m:t>
                    </m:r>
                  </m:oMath>
                </a14:m>
                <a:r>
                  <a:rPr lang="en-US" sz="1200" dirty="0"/>
                  <a:t>	bold capitals: matrices</a:t>
                </a:r>
              </a:p>
              <a:p>
                <a14:m>
                  <m:oMath xmlns:m="http://schemas.openxmlformats.org/officeDocument/2006/math">
                    <m:r>
                      <a:rPr lang="en-US" sz="1200" b="0" i="1" smtClean="0">
                        <a:latin typeface="Cambria Math" panose="02040503050406030204" pitchFamily="18" charset="0"/>
                      </a:rPr>
                      <m:t>𝛼</m:t>
                    </m:r>
                  </m:oMath>
                </a14:m>
                <a:r>
                  <a:rPr lang="en-US" sz="1200" dirty="0"/>
                  <a:t>	Greek letters: parameters (vectors if in bolt)</a:t>
                </a:r>
              </a:p>
              <a:p>
                <a14:m>
                  <m:oMath xmlns:m="http://schemas.openxmlformats.org/officeDocument/2006/math">
                    <m:r>
                      <m:rPr>
                        <m:sty m:val="p"/>
                      </m:rPr>
                      <a:rPr lang="en-US" sz="1200" i="1" dirty="0">
                        <a:latin typeface="Cambria Math" panose="02040503050406030204" pitchFamily="18" charset="0"/>
                      </a:rPr>
                      <m:t>Pr</m:t>
                    </m:r>
                    <m:r>
                      <a:rPr lang="en-US" sz="1200" i="1" dirty="0">
                        <a:latin typeface="Cambria Math" panose="02040503050406030204" pitchFamily="18" charset="0"/>
                      </a:rPr>
                      <m:t>⁡{</m:t>
                    </m:r>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𝑥</m:t>
                    </m:r>
                    <m:r>
                      <a:rPr lang="en-US" sz="1200" i="1" dirty="0">
                        <a:latin typeface="Cambria Math" panose="02040503050406030204" pitchFamily="18" charset="0"/>
                      </a:rPr>
                      <m:t>}</m:t>
                    </m:r>
                  </m:oMath>
                </a14:m>
                <a:r>
                  <a:rPr lang="en-US" sz="1200" dirty="0"/>
                  <a:t>	probability that a random variable </a:t>
                </a:r>
                <a14:m>
                  <m:oMath xmlns:m="http://schemas.openxmlformats.org/officeDocument/2006/math">
                    <m:r>
                      <a:rPr lang="en-US" sz="1200" i="1" dirty="0">
                        <a:latin typeface="Cambria Math" panose="02040503050406030204" pitchFamily="18" charset="0"/>
                      </a:rPr>
                      <m:t>𝑋</m:t>
                    </m:r>
                  </m:oMath>
                </a14:m>
                <a:r>
                  <a:rPr lang="en-US" sz="1200" dirty="0"/>
                  <a:t> takes on the value </a:t>
                </a:r>
                <a14:m>
                  <m:oMath xmlns:m="http://schemas.openxmlformats.org/officeDocument/2006/math">
                    <m:r>
                      <a:rPr lang="en-US" sz="1200" i="1" dirty="0">
                        <a:latin typeface="Cambria Math" panose="02040503050406030204" pitchFamily="18" charset="0"/>
                      </a:rPr>
                      <m:t>𝑥</m:t>
                    </m:r>
                  </m:oMath>
                </a14:m>
                <a:endParaRPr lang="en-US" sz="1200" dirty="0"/>
              </a:p>
              <a:p>
                <a14:m>
                  <m:oMath xmlns:m="http://schemas.openxmlformats.org/officeDocument/2006/math">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𝑝</m:t>
                    </m:r>
                  </m:oMath>
                </a14:m>
                <a:r>
                  <a:rPr lang="en-US" sz="1200" dirty="0"/>
                  <a:t>	random variable </a:t>
                </a:r>
                <a14:m>
                  <m:oMath xmlns:m="http://schemas.openxmlformats.org/officeDocument/2006/math">
                    <m:r>
                      <a:rPr lang="en-US" sz="1200" i="1" dirty="0">
                        <a:latin typeface="Cambria Math" panose="02040503050406030204" pitchFamily="18" charset="0"/>
                      </a:rPr>
                      <m:t>𝑋</m:t>
                    </m:r>
                  </m:oMath>
                </a14:m>
                <a:r>
                  <a:rPr lang="en-US" sz="1200" dirty="0"/>
                  <a:t> selected from distribution </a:t>
                </a:r>
                <a14:m>
                  <m:oMath xmlns:m="http://schemas.openxmlformats.org/officeDocument/2006/math">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r>
                      <m:rPr>
                        <m:sty m:val="p"/>
                      </m:rPr>
                      <a:rPr lang="en-US" sz="1200">
                        <a:latin typeface="Cambria Math" panose="02040503050406030204" pitchFamily="18" charset="0"/>
                      </a:rPr>
                      <m:t>Pr</m:t>
                    </m:r>
                    <m:r>
                      <a:rPr lang="en-US" sz="1200" i="1">
                        <a:latin typeface="Cambria Math" panose="02040503050406030204" pitchFamily="18" charset="0"/>
                      </a:rPr>
                      <m:t>⁡{</m:t>
                    </m:r>
                    <m:r>
                      <a:rPr lang="en-US" sz="1200" i="1">
                        <a:latin typeface="Cambria Math" panose="02040503050406030204" pitchFamily="18" charset="0"/>
                      </a:rPr>
                      <m:t>𝑋</m:t>
                    </m:r>
                    <m:r>
                      <a:rPr lang="en-US" sz="1200" i="1">
                        <a:latin typeface="Cambria Math" panose="02040503050406030204" pitchFamily="18" charset="0"/>
                      </a:rPr>
                      <m:t>=</m:t>
                    </m:r>
                    <m:r>
                      <a:rPr lang="en-US" sz="1200" i="1">
                        <a:latin typeface="Cambria Math" panose="02040503050406030204" pitchFamily="18" charset="0"/>
                      </a:rPr>
                      <m:t>𝑥</m:t>
                    </m:r>
                    <m:r>
                      <a:rPr lang="en-US" sz="1200" i="1">
                        <a:latin typeface="Cambria Math" panose="02040503050406030204" pitchFamily="18" charset="0"/>
                      </a:rPr>
                      <m:t>}</m:t>
                    </m:r>
                  </m:oMath>
                </a14:m>
                <a:endParaRPr lang="en-US" sz="1200" dirty="0"/>
              </a:p>
              <a:p>
                <a14:m>
                  <m:oMath xmlns:m="http://schemas.openxmlformats.org/officeDocument/2006/math">
                    <m:r>
                      <a:rPr lang="en-US" sz="1200" i="1">
                        <a:latin typeface="Cambria Math" panose="02040503050406030204" pitchFamily="18" charset="0"/>
                        <a:ea typeface="Cambria Math" panose="02040503050406030204" pitchFamily="18" charset="0"/>
                      </a:rPr>
                      <m:t>𝔼</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𝑋</m:t>
                    </m:r>
                    <m:r>
                      <a:rPr lang="en-US" sz="1200" i="1">
                        <a:latin typeface="Cambria Math" panose="02040503050406030204" pitchFamily="18" charset="0"/>
                        <a:ea typeface="Cambria Math" panose="02040503050406030204" pitchFamily="18" charset="0"/>
                      </a:rPr>
                      <m:t>]</m:t>
                    </m:r>
                  </m:oMath>
                </a14:m>
                <a:r>
                  <a:rPr lang="en-US" sz="1200" dirty="0"/>
                  <a:t>	expectation of a random variable </a:t>
                </a:r>
                <a14:m>
                  <m:oMath xmlns:m="http://schemas.openxmlformats.org/officeDocument/2006/math">
                    <m:r>
                      <a:rPr lang="en-US" sz="1200" i="1" dirty="0">
                        <a:latin typeface="Cambria Math" panose="02040503050406030204" pitchFamily="18" charset="0"/>
                      </a:rPr>
                      <m:t>𝑋</m:t>
                    </m:r>
                  </m:oMath>
                </a14:m>
                <a:r>
                  <a:rPr lang="en-US" sz="1200" dirty="0"/>
                  <a:t>, i.e., </a:t>
                </a:r>
                <a14:m>
                  <m:oMath xmlns:m="http://schemas.openxmlformats.org/officeDocument/2006/math">
                    <m:r>
                      <a:rPr lang="en-US" sz="1200" i="1">
                        <a:latin typeface="Cambria Math" panose="02040503050406030204" pitchFamily="18" charset="0"/>
                        <a:ea typeface="Cambria Math" panose="02040503050406030204" pitchFamily="18" charset="0"/>
                      </a:rPr>
                      <m:t>𝔼</m:t>
                    </m:r>
                    <m:d>
                      <m:dPr>
                        <m:begChr m:val="["/>
                        <m:endChr m:val="]"/>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𝑋</m:t>
                        </m:r>
                      </m:e>
                    </m:d>
                    <m:r>
                      <a:rPr lang="en-US" sz="1200" i="1">
                        <a:latin typeface="Cambria Math" panose="02040503050406030204" pitchFamily="18" charset="0"/>
                        <a:ea typeface="Cambria Math" panose="02040503050406030204" pitchFamily="18" charset="0"/>
                      </a:rPr>
                      <m:t>=</m:t>
                    </m:r>
                    <m:nary>
                      <m:naryPr>
                        <m:chr m:val="∑"/>
                        <m:supHide m:val="on"/>
                        <m:ctrlPr>
                          <a:rPr lang="en-US" sz="1200" i="1">
                            <a:latin typeface="Cambria Math" panose="02040503050406030204" pitchFamily="18" charset="0"/>
                            <a:ea typeface="Cambria Math" panose="02040503050406030204" pitchFamily="18" charset="0"/>
                          </a:rPr>
                        </m:ctrlPr>
                      </m:naryPr>
                      <m:sub>
                        <m:r>
                          <a:rPr lang="en-US" sz="1200" i="1">
                            <a:latin typeface="Cambria Math" panose="02040503050406030204" pitchFamily="18" charset="0"/>
                            <a:ea typeface="Cambria Math" panose="02040503050406030204" pitchFamily="18" charset="0"/>
                          </a:rPr>
                          <m:t>𝑥</m:t>
                        </m:r>
                      </m:sub>
                      <m:sup/>
                      <m:e>
                        <m:r>
                          <a:rPr lang="en-US" sz="1200" i="1">
                            <a:latin typeface="Cambria Math" panose="02040503050406030204" pitchFamily="18" charset="0"/>
                            <a:ea typeface="Cambria Math" panose="02040503050406030204" pitchFamily="18" charset="0"/>
                          </a:rPr>
                          <m:t>𝑝</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e>
                        </m:d>
                        <m:r>
                          <a:rPr lang="en-US" sz="1200" i="1">
                            <a:latin typeface="Cambria Math" panose="02040503050406030204" pitchFamily="18" charset="0"/>
                            <a:ea typeface="Cambria Math" panose="02040503050406030204" pitchFamily="18" charset="0"/>
                          </a:rPr>
                          <m:t>𝑥</m:t>
                        </m:r>
                      </m:e>
                    </m:nary>
                  </m:oMath>
                </a14:m>
                <a:endParaRPr lang="en-US" sz="1200" dirty="0">
                  <a:ea typeface="Cambria Math" panose="02040503050406030204" pitchFamily="18" charset="0"/>
                </a:endParaRPr>
              </a:p>
              <a:p>
                <a14:m>
                  <m:oMath xmlns:m="http://schemas.openxmlformats.org/officeDocument/2006/math">
                    <m:sSub>
                      <m:sSubPr>
                        <m:ctrlPr>
                          <a:rPr lang="en-US" sz="1200" dirty="0">
                            <a:latin typeface="Cambria Math" panose="02040503050406030204" pitchFamily="18" charset="0"/>
                          </a:rPr>
                        </m:ctrlPr>
                      </m:sSubPr>
                      <m:e>
                        <m:r>
                          <m:rPr>
                            <m:sty m:val="p"/>
                          </m:rPr>
                          <a:rPr lang="en-US" sz="1200" dirty="0">
                            <a:latin typeface="Cambria Math" panose="02040503050406030204" pitchFamily="18" charset="0"/>
                          </a:rPr>
                          <m:t>argmax</m:t>
                        </m:r>
                      </m:e>
                      <m:sub>
                        <m:r>
                          <m:rPr>
                            <m:sty m:val="p"/>
                          </m:rPr>
                          <a:rPr lang="en-US" sz="1200" dirty="0">
                            <a:latin typeface="Cambria Math" panose="02040503050406030204" pitchFamily="18" charset="0"/>
                          </a:rPr>
                          <m:t>a</m:t>
                        </m:r>
                      </m:sub>
                    </m:sSub>
                    <m:r>
                      <a:rPr lang="en-US" sz="1200" dirty="0">
                        <a:latin typeface="Cambria Math" panose="02040503050406030204" pitchFamily="18" charset="0"/>
                      </a:rPr>
                      <m:t> </m:t>
                    </m:r>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a value of action </a:t>
                </a:r>
                <a14:m>
                  <m:oMath xmlns:m="http://schemas.openxmlformats.org/officeDocument/2006/math">
                    <m:r>
                      <a:rPr lang="en-US" sz="1200" i="1" dirty="0">
                        <a:latin typeface="Cambria Math" panose="02040503050406030204" pitchFamily="18" charset="0"/>
                      </a:rPr>
                      <m:t>𝑎</m:t>
                    </m:r>
                  </m:oMath>
                </a14:m>
                <a:r>
                  <a:rPr lang="en-US" sz="1200" dirty="0"/>
                  <a:t> at which </a:t>
                </a:r>
                <a14:m>
                  <m:oMath xmlns:m="http://schemas.openxmlformats.org/officeDocument/2006/math">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takes its maximal value</a:t>
                </a:r>
              </a:p>
            </p:txBody>
          </p:sp>
        </mc:Choice>
        <mc:Fallback xmlns="">
          <p:sp>
            <p:nvSpPr>
              <p:cNvPr id="10" name="TextBox 9" descr="General. X capital letters: random variables x, p lower-case letters: realizations of random variables or scalar functions. w Bold lower-case letters: real-valued vectors (even if random variables). W bold capitals: matrices. alpha Greek letters: parameters (vectors if in bolt). Pr{X equals x} probability that a random variable X takes on the value x. X~p random variable X selected from distribution p (x) equals Pr{X equals x}. E[X] expectation of a random variable X, i.e., E [X] equals the sum over x, of p (x) x. argmax sub a f(a) a value of action a at which f(a) takes its maximal value">
                <a:extLst>
                  <a:ext uri="{FF2B5EF4-FFF2-40B4-BE49-F238E27FC236}">
                    <a16:creationId xmlns:a16="http://schemas.microsoft.com/office/drawing/2014/main" id="{5CD475E5-BE3B-5594-57DC-46A17411F2F9}"/>
                  </a:ext>
                </a:extLst>
              </p:cNvPr>
              <p:cNvSpPr txBox="1">
                <a:spLocks noRot="1" noChangeAspect="1" noMove="1" noResize="1" noEditPoints="1" noAdjustHandles="1" noChangeArrowheads="1" noChangeShapeType="1" noTextEdit="1"/>
              </p:cNvSpPr>
              <p:nvPr/>
            </p:nvSpPr>
            <p:spPr>
              <a:xfrm>
                <a:off x="822820" y="1124198"/>
                <a:ext cx="5273179" cy="2308324"/>
              </a:xfrm>
              <a:prstGeom prst="rect">
                <a:avLst/>
              </a:prstGeom>
              <a:blipFill>
                <a:blip r:embed="rId3"/>
                <a:stretch>
                  <a:fillRect b="-94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Value Function. G sub t return (cumulative reward) following time t. G sub t:h return from t to h (discounted and corrected). v sub pi (s) value of state s under policy pi (expected return). v sub star (s) value of state s under the optimal policy. q sub pi (s,a) value of taking action a in state s under policy pi. q sub star (s,a) value of taking action a in state s under the optimal policy. V, V sub t array estimates of state-value function v sub pi or v sub star. Q,Q sub t array estimates of action-value function q sub pi or v sub star">
                <a:extLst>
                  <a:ext uri="{FF2B5EF4-FFF2-40B4-BE49-F238E27FC236}">
                    <a16:creationId xmlns:a16="http://schemas.microsoft.com/office/drawing/2014/main" id="{47E69C9C-42B6-9B0F-9AE0-20D17703E490}"/>
                  </a:ext>
                </a:extLst>
              </p:cNvPr>
              <p:cNvSpPr>
                <a:spLocks noGrp="1"/>
              </p:cNvSpPr>
              <p:nvPr>
                <p:ph idx="1"/>
              </p:nvPr>
            </p:nvSpPr>
            <p:spPr>
              <a:xfrm>
                <a:off x="822819" y="3658891"/>
                <a:ext cx="5273179" cy="1902124"/>
              </a:xfrm>
            </p:spPr>
            <p:style>
              <a:lnRef idx="2">
                <a:schemeClr val="accent2"/>
              </a:lnRef>
              <a:fillRef idx="1">
                <a:schemeClr val="lt1"/>
              </a:fillRef>
              <a:effectRef idx="0">
                <a:schemeClr val="accent2"/>
              </a:effectRef>
              <a:fontRef idx="minor">
                <a:schemeClr val="dk1"/>
              </a:fontRef>
            </p:style>
            <p:txBody>
              <a:bodyPr>
                <a:spAutoFit/>
              </a:bodyPr>
              <a:lstStyle/>
              <a:p>
                <a:pPr marL="0" indent="0">
                  <a:lnSpc>
                    <a:spcPct val="100000"/>
                  </a:lnSpc>
                  <a:spcBef>
                    <a:spcPts val="0"/>
                  </a:spcBef>
                  <a:buNone/>
                </a:pPr>
                <a:r>
                  <a:rPr lang="en-US" sz="1200" b="1" dirty="0"/>
                  <a:t>Value Function</a:t>
                </a: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𝐺</m:t>
                        </m:r>
                      </m:e>
                      <m:sub>
                        <m:r>
                          <a:rPr lang="en-US" sz="1200" i="1" dirty="0">
                            <a:latin typeface="Cambria Math" panose="02040503050406030204" pitchFamily="18" charset="0"/>
                          </a:rPr>
                          <m:t>𝑡</m:t>
                        </m:r>
                      </m:sub>
                    </m:sSub>
                  </m:oMath>
                </a14:m>
                <a:r>
                  <a:rPr lang="en-US" sz="1200" dirty="0"/>
                  <a:t> 	return (cumulative reward) following time </a:t>
                </a:r>
                <a14:m>
                  <m:oMath xmlns:m="http://schemas.openxmlformats.org/officeDocument/2006/math">
                    <m:r>
                      <a:rPr lang="en-US" sz="1200" i="1" dirty="0">
                        <a:latin typeface="Cambria Math" panose="02040503050406030204" pitchFamily="18" charset="0"/>
                      </a:rPr>
                      <m:t>𝑡</m:t>
                    </m:r>
                  </m:oMath>
                </a14:m>
                <a:endParaRPr lang="en-US" sz="1200" dirty="0"/>
              </a:p>
              <a:p>
                <a:pPr marL="0" indent="0">
                  <a:lnSpc>
                    <a:spcPct val="100000"/>
                  </a:lnSpc>
                  <a:spcBef>
                    <a:spcPts val="0"/>
                  </a:spcBef>
                  <a:buNone/>
                </a:pP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𝐺</m:t>
                        </m:r>
                      </m:e>
                      <m:sub>
                        <m:r>
                          <a:rPr lang="en-US" sz="1200" i="1" dirty="0">
                            <a:solidFill>
                              <a:schemeClr val="tx1"/>
                            </a:solidFill>
                            <a:latin typeface="Cambria Math" panose="02040503050406030204" pitchFamily="18" charset="0"/>
                          </a:rPr>
                          <m:t>𝑡</m:t>
                        </m:r>
                        <m:r>
                          <a:rPr lang="en-US" sz="1200" i="1" dirty="0">
                            <a:solidFill>
                              <a:schemeClr val="tx1"/>
                            </a:solidFill>
                            <a:latin typeface="Cambria Math" panose="02040503050406030204" pitchFamily="18" charset="0"/>
                          </a:rPr>
                          <m:t>:</m:t>
                        </m:r>
                        <m:r>
                          <a:rPr lang="en-US" sz="1200" i="1" dirty="0">
                            <a:solidFill>
                              <a:schemeClr val="tx1"/>
                            </a:solidFill>
                            <a:latin typeface="Cambria Math" panose="02040503050406030204" pitchFamily="18" charset="0"/>
                          </a:rPr>
                          <m:t>ℎ</m:t>
                        </m:r>
                      </m:sub>
                    </m:sSub>
                  </m:oMath>
                </a14:m>
                <a:r>
                  <a:rPr lang="en-US" sz="1200" dirty="0">
                    <a:solidFill>
                      <a:schemeClr val="tx1"/>
                    </a:solidFill>
                  </a:rPr>
                  <a:t>	return from </a:t>
                </a:r>
                <a14:m>
                  <m:oMath xmlns:m="http://schemas.openxmlformats.org/officeDocument/2006/math">
                    <m:r>
                      <a:rPr lang="en-US" sz="1200" i="1" dirty="0">
                        <a:solidFill>
                          <a:schemeClr val="tx1"/>
                        </a:solidFill>
                        <a:latin typeface="Cambria Math" panose="02040503050406030204" pitchFamily="18" charset="0"/>
                      </a:rPr>
                      <m:t>𝑡</m:t>
                    </m:r>
                  </m:oMath>
                </a14:m>
                <a:r>
                  <a:rPr lang="en-US" sz="1200" dirty="0">
                    <a:solidFill>
                      <a:schemeClr val="tx1"/>
                    </a:solidFill>
                  </a:rPr>
                  <a:t> to </a:t>
                </a:r>
                <a14:m>
                  <m:oMath xmlns:m="http://schemas.openxmlformats.org/officeDocument/2006/math">
                    <m:r>
                      <a:rPr lang="en-US" sz="1200" i="1" dirty="0">
                        <a:solidFill>
                          <a:schemeClr val="tx1"/>
                        </a:solidFill>
                        <a:latin typeface="Cambria Math" panose="02040503050406030204" pitchFamily="18" charset="0"/>
                      </a:rPr>
                      <m:t>ℎ</m:t>
                    </m:r>
                  </m:oMath>
                </a14:m>
                <a:r>
                  <a:rPr lang="en-US" sz="1200" dirty="0">
                    <a:solidFill>
                      <a:schemeClr val="tx1"/>
                    </a:solidFill>
                  </a:rPr>
                  <a:t> (discounted and corrected)</a:t>
                </a:r>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a:t>
                </a:r>
                <a14:m>
                  <m:oMath xmlns:m="http://schemas.openxmlformats.org/officeDocument/2006/math">
                    <m:r>
                      <a:rPr lang="en-US" sz="1200" i="1" dirty="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r>
                  <a:rPr lang="en-US" sz="1200" dirty="0"/>
                  <a:t> (expected return)</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s under the optimal policy</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endParaRPr lang="en-US" sz="1200" dirty="0"/>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the optimal policy</a:t>
                </a: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𝑉</m:t>
                    </m:r>
                    <m:r>
                      <a:rPr lang="en-US" sz="1200" i="1" dirty="0">
                        <a:solidFill>
                          <a:schemeClr val="tx1"/>
                        </a:solidFill>
                        <a:latin typeface="Cambria Math" panose="02040503050406030204" pitchFamily="18" charset="0"/>
                      </a:rPr>
                      <m:t>, </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𝑉</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state-value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r>
                      <a:rPr lang="en-US" sz="1200" i="1" dirty="0">
                        <a:solidFill>
                          <a:schemeClr val="tx1"/>
                        </a:solidFill>
                        <a:latin typeface="Cambria Math" panose="02040503050406030204" pitchFamily="18" charset="0"/>
                      </a:rPr>
                      <m:t> </m:t>
                    </m:r>
                  </m:oMath>
                </a14:m>
                <a:endParaRPr lang="en-US" sz="1200" dirty="0">
                  <a:solidFill>
                    <a:schemeClr val="tx1"/>
                  </a:solidFill>
                </a:endParaRP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𝑄</m:t>
                    </m:r>
                    <m:r>
                      <a:rPr lang="en-US" sz="1200" i="1" dirty="0">
                        <a:solidFill>
                          <a:schemeClr val="tx1"/>
                        </a:solidFill>
                        <a:latin typeface="Cambria Math" panose="02040503050406030204" pitchFamily="18" charset="0"/>
                      </a:rPr>
                      <m:t>,</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𝑄</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action-value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𝑞</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oMath>
                </a14:m>
                <a:endParaRPr lang="en-US" sz="1200" dirty="0">
                  <a:solidFill>
                    <a:schemeClr val="tx1"/>
                  </a:solidFill>
                </a:endParaRPr>
              </a:p>
            </p:txBody>
          </p:sp>
        </mc:Choice>
        <mc:Fallback xmlns="">
          <p:sp>
            <p:nvSpPr>
              <p:cNvPr id="3" name="Content Placeholder 2" descr="Value Function. G sub t return (cumulative reward) following time t. G sub t:h return from t to h (discounted and corrected). v sub pi (s) value of state s under policy pi (expected return). v sub star (s) value of state s under the optimal policy. q sub pi (s,a) value of taking action a in state s under policy pi. q sub star (s,a) value of taking action a in state s under the optimal policy. V, V sub t array estimates of state-value function v sub pi or v sub star. Q,Q sub t array estimates of action-value function q sub pi or v sub star">
                <a:extLst>
                  <a:ext uri="{FF2B5EF4-FFF2-40B4-BE49-F238E27FC236}">
                    <a16:creationId xmlns:a16="http://schemas.microsoft.com/office/drawing/2014/main" id="{47E69C9C-42B6-9B0F-9AE0-20D17703E490}"/>
                  </a:ext>
                </a:extLst>
              </p:cNvPr>
              <p:cNvSpPr>
                <a:spLocks noGrp="1" noRot="1" noChangeAspect="1" noMove="1" noResize="1" noEditPoints="1" noAdjustHandles="1" noChangeArrowheads="1" noChangeShapeType="1" noTextEdit="1"/>
              </p:cNvSpPr>
              <p:nvPr>
                <p:ph idx="1"/>
              </p:nvPr>
            </p:nvSpPr>
            <p:spPr>
              <a:xfrm>
                <a:off x="822819" y="3658891"/>
                <a:ext cx="5273179" cy="1902124"/>
              </a:xfrm>
              <a:blipFill>
                <a:blip r:embed="rId2"/>
                <a:stretch>
                  <a:fillRect b="-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descr="MDP. s, s prime states. a an action. r a reward. S set of all (nonterminal) states, S to the power plus are all states. A(s) set of all actions available in state s. gamma discount-rate parameter. t discrete time step. T final time step of an episode (a.k.a. horizon). A sub t random variable for the action at time t. S sub t random variable for the state at time t. R sub t random variable for the reward at time t. p (s prime,r | s, a) probability of transition to state s prime and receiving reward r, from state s taking action a . p (s prime | s, a) probability of transition to state s prime fom state s taking action a . r(s,a) expected immediate reward from state s after action a. r(s,a,s prime) expected immediate reward from state s to s prime with action a. pi (a given s) probability of taking action a in state s under stochastic policy pi. pi (s) action taken in state s under deterministic policy pi">
                <a:extLst>
                  <a:ext uri="{FF2B5EF4-FFF2-40B4-BE49-F238E27FC236}">
                    <a16:creationId xmlns:a16="http://schemas.microsoft.com/office/drawing/2014/main" id="{6F45EA4F-65F9-5141-0B09-C395CF9CA7A0}"/>
                  </a:ext>
                </a:extLst>
              </p:cNvPr>
              <p:cNvSpPr txBox="1">
                <a:spLocks/>
              </p:cNvSpPr>
              <p:nvPr/>
            </p:nvSpPr>
            <p:spPr>
              <a:xfrm>
                <a:off x="6267338" y="1124198"/>
                <a:ext cx="5273179" cy="3693383"/>
              </a:xfrm>
              <a:prstGeom prst="rect">
                <a:avLst/>
              </a:prstGeom>
            </p:spPr>
            <p:style>
              <a:lnRef idx="2">
                <a:schemeClr val="accent2"/>
              </a:lnRef>
              <a:fillRef idx="1">
                <a:schemeClr val="lt1"/>
              </a:fillRef>
              <a:effectRef idx="0">
                <a:schemeClr val="accent2"/>
              </a:effectRef>
              <a:fontRef idx="minor">
                <a:schemeClr val="dk1"/>
              </a:fontRef>
            </p:style>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t>MDP</a:t>
                </a:r>
              </a:p>
              <a:p>
                <a:pPr marL="0" indent="0">
                  <a:spcBef>
                    <a:spcPts val="0"/>
                  </a:spcBef>
                  <a:buNone/>
                </a:pPr>
                <a14:m>
                  <m:oMath xmlns:m="http://schemas.openxmlformats.org/officeDocument/2006/math">
                    <m:r>
                      <a:rPr lang="en-US" sz="1200" i="1" dirty="0" smtClean="0">
                        <a:latin typeface="Cambria Math" panose="02040503050406030204" pitchFamily="18" charset="0"/>
                      </a:rPr>
                      <m:t>𝑠</m:t>
                    </m:r>
                    <m:r>
                      <a:rPr lang="en-US" sz="1200" i="1" dirty="0" smtClean="0">
                        <a:latin typeface="Cambria Math" panose="02040503050406030204" pitchFamily="18" charset="0"/>
                      </a:rPr>
                      <m:t>, </m:t>
                    </m:r>
                    <m:r>
                      <a:rPr lang="en-US" sz="1200" i="1" dirty="0" smtClean="0">
                        <a:latin typeface="Cambria Math" panose="02040503050406030204" pitchFamily="18" charset="0"/>
                      </a:rPr>
                      <m:t>𝑠</m:t>
                    </m:r>
                    <m:r>
                      <a:rPr lang="en-US" sz="1200" b="0" i="1" dirty="0" smtClean="0">
                        <a:latin typeface="Cambria Math" panose="02040503050406030204" pitchFamily="18" charset="0"/>
                      </a:rPr>
                      <m:t>′</m:t>
                    </m:r>
                  </m:oMath>
                </a14:m>
                <a:r>
                  <a:rPr lang="en-US" sz="1200" dirty="0"/>
                  <a:t> 	states</a:t>
                </a:r>
              </a:p>
              <a:p>
                <a:pPr marL="0" indent="0">
                  <a:spcBef>
                    <a:spcPts val="0"/>
                  </a:spcBef>
                  <a:buNone/>
                </a:pPr>
                <a14:m>
                  <m:oMath xmlns:m="http://schemas.openxmlformats.org/officeDocument/2006/math">
                    <m:r>
                      <a:rPr lang="en-US" sz="1200" i="1" dirty="0" smtClean="0">
                        <a:latin typeface="Cambria Math" panose="02040503050406030204" pitchFamily="18" charset="0"/>
                      </a:rPr>
                      <m:t>𝑎</m:t>
                    </m:r>
                  </m:oMath>
                </a14:m>
                <a:r>
                  <a:rPr lang="en-US" sz="1200" dirty="0"/>
                  <a:t> 	an action</a:t>
                </a:r>
              </a:p>
              <a:p>
                <a:pPr marL="0" indent="0">
                  <a:spcBef>
                    <a:spcPts val="0"/>
                  </a:spcBef>
                  <a:buNone/>
                </a:pPr>
                <a14:m>
                  <m:oMath xmlns:m="http://schemas.openxmlformats.org/officeDocument/2006/math">
                    <m:r>
                      <a:rPr lang="en-US" sz="1200" i="1" dirty="0" smtClean="0">
                        <a:latin typeface="Cambria Math" panose="02040503050406030204" pitchFamily="18" charset="0"/>
                      </a:rPr>
                      <m:t>𝑟</m:t>
                    </m:r>
                  </m:oMath>
                </a14:m>
                <a:r>
                  <a:rPr lang="en-US" sz="1200" dirty="0"/>
                  <a:t> 	a reward</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𝒮</m:t>
                    </m:r>
                  </m:oMath>
                </a14:m>
                <a:r>
                  <a:rPr lang="en-US" sz="1200" dirty="0"/>
                  <a:t> 	set of all (nonterminal) states, </a:t>
                </a:r>
                <a14:m>
                  <m:oMath xmlns:m="http://schemas.openxmlformats.org/officeDocument/2006/math">
                    <m:sSup>
                      <m:sSupPr>
                        <m:ctrlPr>
                          <a:rPr lang="en-US" sz="1200" i="1" dirty="0">
                            <a:latin typeface="Cambria Math" panose="02040503050406030204" pitchFamily="18" charset="0"/>
                            <a:ea typeface="Cambria Math" panose="02040503050406030204" pitchFamily="18" charset="0"/>
                          </a:rPr>
                        </m:ctrlPr>
                      </m:sSupPr>
                      <m:e>
                        <m:r>
                          <a:rPr lang="en-US" sz="1200" i="1" dirty="0">
                            <a:latin typeface="Cambria Math" panose="02040503050406030204" pitchFamily="18" charset="0"/>
                            <a:ea typeface="Cambria Math" panose="02040503050406030204" pitchFamily="18" charset="0"/>
                          </a:rPr>
                          <m:t>𝒮</m:t>
                        </m:r>
                      </m:e>
                      <m:sup>
                        <m:r>
                          <a:rPr lang="en-US" sz="1200" b="0" i="1" dirty="0" smtClean="0">
                            <a:latin typeface="Cambria Math" panose="02040503050406030204" pitchFamily="18" charset="0"/>
                            <a:ea typeface="Cambria Math" panose="02040503050406030204" pitchFamily="18" charset="0"/>
                          </a:rPr>
                          <m:t>+</m:t>
                        </m:r>
                      </m:sup>
                    </m:sSup>
                  </m:oMath>
                </a14:m>
                <a:r>
                  <a:rPr lang="en-US" sz="1200" dirty="0"/>
                  <a:t> are all states </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𝒜</m:t>
                    </m:r>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set of all actions available in state </a:t>
                </a:r>
                <a14:m>
                  <m:oMath xmlns:m="http://schemas.openxmlformats.org/officeDocument/2006/math">
                    <m:r>
                      <a:rPr lang="en-US" sz="1200" i="1" dirty="0" smtClean="0">
                        <a:latin typeface="Cambria Math" panose="02040503050406030204" pitchFamily="18" charset="0"/>
                      </a:rPr>
                      <m:t>𝑠</m:t>
                    </m:r>
                  </m:oMath>
                </a14:m>
                <a:endParaRPr lang="en-US" sz="1200" dirty="0"/>
              </a:p>
              <a:p>
                <a:pPr marL="0" indent="0">
                  <a:spcBef>
                    <a:spcPts val="0"/>
                  </a:spcBef>
                  <a:buNone/>
                </a:pPr>
                <a14:m>
                  <m:oMath xmlns:m="http://schemas.openxmlformats.org/officeDocument/2006/math">
                    <m:r>
                      <a:rPr lang="en-US" sz="1200" i="1">
                        <a:latin typeface="Cambria Math" panose="02040503050406030204" pitchFamily="18" charset="0"/>
                      </a:rPr>
                      <m:t>𝛾</m:t>
                    </m:r>
                  </m:oMath>
                </a14:m>
                <a:r>
                  <a:rPr lang="en-US" sz="1200" dirty="0"/>
                  <a:t> 	discount-rate parameter</a:t>
                </a: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𝑡</m:t>
                    </m:r>
                  </m:oMath>
                </a14:m>
                <a:r>
                  <a:rPr lang="en-US" sz="1200" dirty="0"/>
                  <a:t> 	discrete time step</a:t>
                </a:r>
              </a:p>
              <a:p>
                <a:pPr marL="0" indent="0">
                  <a:spcBef>
                    <a:spcPts val="0"/>
                  </a:spcBef>
                  <a:buNone/>
                </a:pPr>
                <a14:m>
                  <m:oMath xmlns:m="http://schemas.openxmlformats.org/officeDocument/2006/math">
                    <m:r>
                      <a:rPr lang="en-US" sz="1200" i="1" dirty="0" smtClean="0">
                        <a:latin typeface="Cambria Math" panose="02040503050406030204" pitchFamily="18" charset="0"/>
                      </a:rPr>
                      <m:t>𝑇</m:t>
                    </m:r>
                  </m:oMath>
                </a14:m>
                <a:r>
                  <a:rPr lang="en-US" sz="1200" dirty="0"/>
                  <a:t> 	final time step of an episode (a.k.a. horizon)</a:t>
                </a:r>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𝐴</m:t>
                        </m:r>
                      </m:e>
                      <m:sub>
                        <m:r>
                          <a:rPr lang="en-US" sz="1200" b="0" i="1" dirty="0" smtClean="0">
                            <a:latin typeface="Cambria Math" panose="02040503050406030204" pitchFamily="18" charset="0"/>
                          </a:rPr>
                          <m:t>𝑡</m:t>
                        </m:r>
                      </m:sub>
                    </m:sSub>
                  </m:oMath>
                </a14:m>
                <a:r>
                  <a:rPr lang="en-US" sz="1200" dirty="0"/>
                  <a:t> 	random variable for the action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𝑆</m:t>
                        </m:r>
                      </m:e>
                      <m:sub>
                        <m:r>
                          <a:rPr lang="en-US" sz="1200" b="0" i="1" dirty="0" smtClean="0">
                            <a:latin typeface="Cambria Math" panose="02040503050406030204" pitchFamily="18" charset="0"/>
                          </a:rPr>
                          <m:t>𝑡</m:t>
                        </m:r>
                      </m:sub>
                    </m:sSub>
                  </m:oMath>
                </a14:m>
                <a:r>
                  <a:rPr lang="en-US" sz="1200" dirty="0"/>
                  <a:t>	random variable for the state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𝑅</m:t>
                        </m:r>
                      </m:e>
                      <m:sub>
                        <m:r>
                          <a:rPr lang="en-US" sz="1200" b="0" i="1" dirty="0" smtClean="0">
                            <a:latin typeface="Cambria Math" panose="02040503050406030204" pitchFamily="18" charset="0"/>
                          </a:rPr>
                          <m:t>𝑡</m:t>
                        </m:r>
                      </m:sub>
                    </m:sSub>
                  </m:oMath>
                </a14:m>
                <a:r>
                  <a:rPr lang="en-US" sz="1200" dirty="0"/>
                  <a:t> 	random variable for the reward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r>
                          <a:rPr lang="en-US" sz="1200" b="0" i="1" dirty="0" smtClean="0">
                            <a:latin typeface="Cambria Math" panose="02040503050406030204" pitchFamily="18" charset="0"/>
                          </a:rPr>
                          <m:t>,</m:t>
                        </m:r>
                        <m:r>
                          <a:rPr lang="en-US" sz="1200" b="0" i="1" dirty="0" smtClean="0">
                            <a:latin typeface="Cambria Math" panose="02040503050406030204" pitchFamily="18" charset="0"/>
                          </a:rPr>
                          <m:t>𝑟</m:t>
                        </m:r>
                        <m:r>
                          <a:rPr lang="en-US" sz="1200" i="1" dirty="0">
                            <a:latin typeface="Cambria Math" panose="02040503050406030204" pitchFamily="18" charset="0"/>
                          </a:rPr>
                          <m:t> </m:t>
                        </m:r>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and receiving reward </a:t>
                </a:r>
                <a14:m>
                  <m:oMath xmlns:m="http://schemas.openxmlformats.org/officeDocument/2006/math">
                    <m:r>
                      <a:rPr lang="en-US" sz="1200" b="0" i="1" smtClean="0">
                        <a:latin typeface="Cambria Math" panose="02040503050406030204" pitchFamily="18" charset="0"/>
                      </a:rPr>
                      <m:t>𝑟</m:t>
                    </m:r>
                  </m:oMath>
                </a14:m>
                <a:r>
                  <a:rPr lang="en-US" sz="1200" dirty="0"/>
                  <a:t>, </a:t>
                </a:r>
                <a:br>
                  <a:rPr lang="en-US" sz="1200" dirty="0"/>
                </a:br>
                <a:r>
                  <a:rPr lang="en-US" sz="1200" dirty="0"/>
                  <a:t>	from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fom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b="0" i="1" smtClean="0">
                        <a:latin typeface="Cambria Math" panose="02040503050406030204" pitchFamily="18" charset="0"/>
                      </a:rPr>
                      <m:t>𝑟</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r>
                      <a:rPr lang="en-US" sz="1200" b="0" i="1" smtClean="0">
                        <a:latin typeface="Cambria Math" panose="02040503050406030204" pitchFamily="18" charset="0"/>
                      </a:rPr>
                      <m:t>𝑎</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after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b="0" dirty="0"/>
              </a:p>
              <a:p>
                <a:pPr marL="0" indent="0">
                  <a:lnSpc>
                    <a:spcPct val="100000"/>
                  </a:lnSpc>
                  <a:spcBef>
                    <a:spcPts val="0"/>
                  </a:spcBef>
                  <a:buNone/>
                </a:pPr>
                <a14:m>
                  <m:oMath xmlns:m="http://schemas.openxmlformats.org/officeDocument/2006/math">
                    <m:r>
                      <a:rPr lang="en-US" sz="1200" i="1">
                        <a:latin typeface="Cambria Math" panose="02040503050406030204" pitchFamily="18" charset="0"/>
                      </a:rPr>
                      <m:t>𝑟</m:t>
                    </m:r>
                    <m:r>
                      <a:rPr lang="en-US" sz="1200" i="1">
                        <a:latin typeface="Cambria Math" panose="02040503050406030204" pitchFamily="18" charset="0"/>
                      </a:rPr>
                      <m:t>(</m:t>
                    </m:r>
                    <m:r>
                      <a:rPr lang="en-US" sz="1200" i="1">
                        <a:latin typeface="Cambria Math" panose="02040503050406030204" pitchFamily="18" charset="0"/>
                      </a:rPr>
                      <m:t>𝑠</m:t>
                    </m:r>
                    <m:r>
                      <a:rPr lang="en-US" sz="1200" i="1">
                        <a:latin typeface="Cambria Math" panose="02040503050406030204" pitchFamily="18" charset="0"/>
                      </a:rPr>
                      <m:t>,</m:t>
                    </m:r>
                    <m:r>
                      <a:rPr lang="en-US" sz="1200" i="1">
                        <a:latin typeface="Cambria Math" panose="02040503050406030204" pitchFamily="18" charset="0"/>
                      </a:rPr>
                      <m:t>𝑎</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to </a:t>
                </a:r>
                <a14:m>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𝑠</m:t>
                        </m:r>
                      </m:e>
                      <m:sup>
                        <m:r>
                          <a:rPr lang="en-US" sz="1200" b="0" i="1" smtClean="0">
                            <a:latin typeface="Cambria Math" panose="02040503050406030204" pitchFamily="18" charset="0"/>
                          </a:rPr>
                          <m:t>′</m:t>
                        </m:r>
                      </m:sup>
                    </m:sSup>
                  </m:oMath>
                </a14:m>
                <a:r>
                  <a:rPr lang="en-US" sz="1200" dirty="0"/>
                  <a:t> with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i="1" dirty="0">
                  <a:latin typeface="Cambria Math" panose="02040503050406030204" pitchFamily="18" charset="0"/>
                </a:endParaRPr>
              </a:p>
              <a:p>
                <a:pPr marL="0" indent="0">
                  <a:spcBef>
                    <a:spcPts val="0"/>
                  </a:spcBef>
                  <a:buNone/>
                </a:pP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a:latin typeface="Cambria Math" panose="02040503050406030204" pitchFamily="18" charset="0"/>
                      </a:rPr>
                      <m:t>𝜋</m:t>
                    </m:r>
                    <m:r>
                      <a:rPr lang="en-US" sz="1200" i="1" dirty="0">
                        <a:latin typeface="Cambria Math" panose="02040503050406030204" pitchFamily="18" charset="0"/>
                      </a:rPr>
                      <m:t>(</m:t>
                    </m:r>
                    <m:r>
                      <a:rPr lang="en-US" sz="1200" i="1" dirty="0" err="1">
                        <a:latin typeface="Cambria Math" panose="02040503050406030204" pitchFamily="18" charset="0"/>
                      </a:rPr>
                      <m:t>𝑎</m:t>
                    </m:r>
                    <m:r>
                      <a:rPr lang="en-US" sz="1200" i="1" dirty="0" err="1">
                        <a:latin typeface="Cambria Math" panose="02040503050406030204" pitchFamily="18" charset="0"/>
                      </a:rPr>
                      <m:t>|</m:t>
                    </m:r>
                    <m:r>
                      <a:rPr lang="en-US" sz="1200" i="1" dirty="0" err="1">
                        <a:latin typeface="Cambria Math" panose="02040503050406030204" pitchFamily="18" charset="0"/>
                      </a:rPr>
                      <m:t>𝑠</m:t>
                    </m:r>
                    <m:r>
                      <a:rPr lang="en-US" sz="1200" i="1" dirty="0">
                        <a:latin typeface="Cambria Math" panose="02040503050406030204" pitchFamily="18" charset="0"/>
                      </a:rPr>
                      <m:t>)</m:t>
                    </m:r>
                  </m:oMath>
                </a14:m>
                <a:r>
                  <a:rPr lang="en-US" sz="1200" dirty="0"/>
                  <a:t>	probability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a:latin typeface="Cambria Math" panose="02040503050406030204" pitchFamily="18" charset="0"/>
                      </a:rPr>
                      <m:t>𝑠</m:t>
                    </m:r>
                  </m:oMath>
                </a14:m>
                <a:r>
                  <a:rPr lang="en-US" sz="1200" dirty="0"/>
                  <a:t> under stochastic policy </a:t>
                </a:r>
                <a14:m>
                  <m:oMath xmlns:m="http://schemas.openxmlformats.org/officeDocument/2006/math">
                    <m:r>
                      <a:rPr lang="en-US" sz="1200" i="1" dirty="0">
                        <a:latin typeface="Cambria Math" panose="02040503050406030204" pitchFamily="18" charset="0"/>
                      </a:rPr>
                      <m:t>𝜋</m:t>
                    </m:r>
                  </m:oMath>
                </a14:m>
                <a:endParaRPr lang="en-US" sz="1200" dirty="0">
                  <a:ea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𝜋</m:t>
                    </m:r>
                    <m:r>
                      <a:rPr lang="en-US" sz="1200" i="1" dirty="0" smtClean="0">
                        <a:latin typeface="Cambria Math" panose="02040503050406030204" pitchFamily="18" charset="0"/>
                      </a:rPr>
                      <m:t>(</m:t>
                    </m:r>
                    <m:r>
                      <a:rPr lang="en-US" sz="1200" i="1" dirty="0" smtClean="0">
                        <a:latin typeface="Cambria Math" panose="02040503050406030204" pitchFamily="18" charset="0"/>
                      </a:rPr>
                      <m:t>𝑠</m:t>
                    </m:r>
                    <m:r>
                      <a:rPr lang="en-US" sz="1200" i="1" dirty="0" smtClean="0">
                        <a:latin typeface="Cambria Math" panose="02040503050406030204" pitchFamily="18" charset="0"/>
                      </a:rPr>
                      <m:t>)</m:t>
                    </m:r>
                  </m:oMath>
                </a14:m>
                <a:r>
                  <a:rPr lang="en-US" sz="1200" dirty="0"/>
                  <a:t>	action taken in state </a:t>
                </a:r>
                <a14:m>
                  <m:oMath xmlns:m="http://schemas.openxmlformats.org/officeDocument/2006/math">
                    <m:r>
                      <a:rPr lang="en-US" sz="1200" i="1" dirty="0" smtClean="0">
                        <a:latin typeface="Cambria Math" panose="02040503050406030204" pitchFamily="18" charset="0"/>
                      </a:rPr>
                      <m:t>𝑠</m:t>
                    </m:r>
                  </m:oMath>
                </a14:m>
                <a:r>
                  <a:rPr lang="en-US" sz="1200" dirty="0"/>
                  <a:t> under deterministic policy </a:t>
                </a:r>
                <a14:m>
                  <m:oMath xmlns:m="http://schemas.openxmlformats.org/officeDocument/2006/math">
                    <m:r>
                      <a:rPr lang="en-US" sz="1200" b="0" i="1" dirty="0" smtClean="0">
                        <a:latin typeface="Cambria Math" panose="02040503050406030204" pitchFamily="18" charset="0"/>
                      </a:rPr>
                      <m:t>𝜋</m:t>
                    </m:r>
                  </m:oMath>
                </a14:m>
                <a:endParaRPr lang="en-US" sz="1200" dirty="0"/>
              </a:p>
            </p:txBody>
          </p:sp>
        </mc:Choice>
        <mc:Fallback xmlns="">
          <p:sp>
            <p:nvSpPr>
              <p:cNvPr id="11" name="Content Placeholder 2" descr="MDP. s, s prime states. a an action. r a reward. S set of all (nonterminal) states, S to the power plus are all states. A(s) set of all actions available in state s. gamma discount-rate parameter. t discrete time step. T final time step of an episode (a.k.a. horizon). A sub t random variable for the action at time t. S sub t random variable for the state at time t. R sub t random variable for the reward at time t. p (s prime,r | s, a) probability of transition to state s prime and receiving reward r, from state s taking action a . p (s prime | s, a) probability of transition to state s prime fom state s taking action a . r(s,a) expected immediate reward from state s after action a. r(s,a,s prime) expected immediate reward from state s to s prime with action a. pi (a given s) probability of taking action a in state s under stochastic policy pi. pi (s) action taken in state s under deterministic policy pi">
                <a:extLst>
                  <a:ext uri="{FF2B5EF4-FFF2-40B4-BE49-F238E27FC236}">
                    <a16:creationId xmlns:a16="http://schemas.microsoft.com/office/drawing/2014/main" id="{6F45EA4F-65F9-5141-0B09-C395CF9CA7A0}"/>
                  </a:ext>
                </a:extLst>
              </p:cNvPr>
              <p:cNvSpPr txBox="1">
                <a:spLocks noRot="1" noChangeAspect="1" noMove="1" noResize="1" noEditPoints="1" noAdjustHandles="1" noChangeArrowheads="1" noChangeShapeType="1" noTextEdit="1"/>
              </p:cNvSpPr>
              <p:nvPr/>
            </p:nvSpPr>
            <p:spPr>
              <a:xfrm>
                <a:off x="6267338" y="1124198"/>
                <a:ext cx="5273179" cy="3693383"/>
              </a:xfrm>
              <a:prstGeom prst="rect">
                <a:avLst/>
              </a:prstGeom>
              <a:blipFill>
                <a:blip r:embed="rId4"/>
                <a:stretch>
                  <a:fillRect t="-328"/>
                </a:stretch>
              </a:blipFill>
            </p:spPr>
            <p:txBody>
              <a:bodyPr/>
              <a:lstStyle/>
              <a:p>
                <a:r>
                  <a:rPr lang="en-US">
                    <a:noFill/>
                  </a:rPr>
                  <a:t> </a:t>
                </a:r>
              </a:p>
            </p:txBody>
          </p:sp>
        </mc:Fallback>
      </mc:AlternateContent>
    </p:spTree>
    <p:extLst>
      <p:ext uri="{BB962C8B-B14F-4D97-AF65-F5344CB8AC3E}">
        <p14:creationId xmlns:p14="http://schemas.microsoft.com/office/powerpoint/2010/main" val="920694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060" name="Rectangle 205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4" name="Picture 6" descr="Photo of an hourglass on a wooden table with sand running from the top to the bottom.">
            <a:extLst>
              <a:ext uri="{FF2B5EF4-FFF2-40B4-BE49-F238E27FC236}">
                <a16:creationId xmlns:a16="http://schemas.microsoft.com/office/drawing/2014/main" id="{FA246755-6276-F2EB-2D60-68CBD783D026}"/>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t="10499" b="5231"/>
          <a:stretch>
            <a:fillRect/>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F9E4AB1D-A5F9-214C-EE43-8A4462ED263E}"/>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dirty="0">
                <a:solidFill>
                  <a:srgbClr val="FFFFFF"/>
                </a:solidFill>
              </a:rPr>
              <a:t>Foundation</a:t>
            </a:r>
          </a:p>
        </p:txBody>
      </p:sp>
      <p:sp>
        <p:nvSpPr>
          <p:cNvPr id="5" name="Text Placeholder 4">
            <a:extLst>
              <a:ext uri="{FF2B5EF4-FFF2-40B4-BE49-F238E27FC236}">
                <a16:creationId xmlns:a16="http://schemas.microsoft.com/office/drawing/2014/main" id="{5594B882-D05D-F69F-A064-6A001AE9C75D}"/>
              </a:ext>
            </a:extLst>
          </p:cNvPr>
          <p:cNvSpPr>
            <a:spLocks noGrp="1"/>
          </p:cNvSpPr>
          <p:nvPr>
            <p:ph type="body" idx="1"/>
          </p:nvPr>
        </p:nvSpPr>
        <p:spPr>
          <a:xfrm>
            <a:off x="1524000" y="4159404"/>
            <a:ext cx="9144000" cy="1098395"/>
          </a:xfrm>
        </p:spPr>
        <p:txBody>
          <a:bodyPr vert="horz" lIns="91440" tIns="45720" rIns="91440" bIns="45720" rtlCol="0">
            <a:normAutofit/>
          </a:bodyPr>
          <a:lstStyle/>
          <a:p>
            <a:pPr algn="ctr"/>
            <a:r>
              <a:rPr lang="en-US" dirty="0">
                <a:solidFill>
                  <a:srgbClr val="FFFFFF"/>
                </a:solidFill>
              </a:rPr>
              <a:t>Probabilistic reasoning over time</a:t>
            </a:r>
          </a:p>
          <a:p>
            <a:pPr algn="ctr"/>
            <a:r>
              <a:rPr lang="en-US" dirty="0">
                <a:solidFill>
                  <a:srgbClr val="FFFFFF"/>
                </a:solidFill>
              </a:rPr>
              <a:t>AIMA Chapter 15</a:t>
            </a:r>
          </a:p>
          <a:p>
            <a:pPr algn="ctr"/>
            <a:endParaRPr lang="en-US" dirty="0">
              <a:solidFill>
                <a:srgbClr val="FFFFFF"/>
              </a:solidFill>
            </a:endParaRPr>
          </a:p>
        </p:txBody>
      </p:sp>
      <p:sp>
        <p:nvSpPr>
          <p:cNvPr id="8" name="TextBox 7">
            <a:extLst>
              <a:ext uri="{FF2B5EF4-FFF2-40B4-BE49-F238E27FC236}">
                <a16:creationId xmlns:a16="http://schemas.microsoft.com/office/drawing/2014/main" id="{11BD9833-5029-F907-55ED-D01341A14AC5}"/>
              </a:ext>
            </a:extLst>
          </p:cNvPr>
          <p:cNvSpPr txBox="1"/>
          <p:nvPr/>
        </p:nvSpPr>
        <p:spPr>
          <a:xfrm>
            <a:off x="9563723" y="6219164"/>
            <a:ext cx="2545577" cy="584775"/>
          </a:xfrm>
          <a:prstGeom prst="rect">
            <a:avLst/>
          </a:prstGeom>
          <a:noFill/>
        </p:spPr>
        <p:txBody>
          <a:bodyPr wrap="square" rtlCol="0">
            <a:spAutoFit/>
          </a:bodyPr>
          <a:lstStyle/>
          <a:p>
            <a:pPr algn="r"/>
            <a:r>
              <a:rPr lang="en-US" sz="1600" dirty="0">
                <a:solidFill>
                  <a:schemeClr val="bg1">
                    <a:lumMod val="65000"/>
                    <a:lumOff val="35000"/>
                  </a:schemeClr>
                </a:solidFill>
              </a:rPr>
              <a:t>iStock</a:t>
            </a:r>
            <a:br>
              <a:rPr lang="en-US" sz="1600" dirty="0">
                <a:solidFill>
                  <a:schemeClr val="bg1">
                    <a:lumMod val="65000"/>
                    <a:lumOff val="35000"/>
                  </a:schemeClr>
                </a:solidFill>
              </a:rPr>
            </a:br>
            <a:r>
              <a:rPr lang="en-US" sz="1600" dirty="0">
                <a:solidFill>
                  <a:schemeClr val="bg1">
                    <a:lumMod val="65000"/>
                    <a:lumOff val="35000"/>
                  </a:schemeClr>
                </a:solidFill>
              </a:rPr>
              <a:t>Credit: </a:t>
            </a:r>
            <a:r>
              <a:rPr lang="en-US" sz="1600" dirty="0" err="1">
                <a:solidFill>
                  <a:schemeClr val="bg1">
                    <a:lumMod val="65000"/>
                    <a:lumOff val="35000"/>
                  </a:schemeClr>
                </a:solidFill>
              </a:rPr>
              <a:t>bernie_photo</a:t>
            </a:r>
            <a:endParaRPr lang="en-US" sz="1600" dirty="0">
              <a:solidFill>
                <a:schemeClr val="bg1">
                  <a:lumMod val="65000"/>
                  <a:lumOff val="35000"/>
                </a:schemeClr>
              </a:solidFill>
            </a:endParaRPr>
          </a:p>
        </p:txBody>
      </p:sp>
    </p:spTree>
    <p:extLst>
      <p:ext uri="{BB962C8B-B14F-4D97-AF65-F5344CB8AC3E}">
        <p14:creationId xmlns:p14="http://schemas.microsoft.com/office/powerpoint/2010/main" val="2080805215"/>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A9816-6815-95B8-F6A5-9881CF91C334}"/>
              </a:ext>
            </a:extLst>
          </p:cNvPr>
          <p:cNvSpPr>
            <a:spLocks noGrp="1"/>
          </p:cNvSpPr>
          <p:nvPr>
            <p:ph type="title"/>
          </p:nvPr>
        </p:nvSpPr>
        <p:spPr/>
        <p:txBody>
          <a:bodyPr/>
          <a:lstStyle/>
          <a:p>
            <a:r>
              <a:rPr lang="en-US" dirty="0"/>
              <a:t>Fully Observable RL</a:t>
            </a:r>
          </a:p>
        </p:txBody>
      </p:sp>
      <mc:AlternateContent xmlns:mc="http://schemas.openxmlformats.org/markup-compatibility/2006" xmlns:a14="http://schemas.microsoft.com/office/drawing/2010/main">
        <mc:Choice Requires="a14">
          <p:sp>
            <p:nvSpPr>
              <p:cNvPr id="3" name="Content Placeholder 2" descr="General MDPs can have continuous state and action spaces. We consider finite MDPs. An MDP is finite if the. sets of states S. set of action A, and. set of rewards R all have a finite number of elements. It always has discrete time steps. The dynamics of the finite discrete-time MDP are described by the function p : S times A times R times S to [0,1] defined as. p (s prime,r given s,a) is defined as Pr of {S sub t equals s prime, R sub t equals r | S sub t minus 1, equals s, A sub t minus 1, equals a}. A decision process is an MDP if p completely characterizes the environment’s dynamics. This implies:. Dynamics only depend on the current observed state s . This means: the state must have sufficient information about the past. If this is true, then it is called an information state and the system has the necessary Markov property:. Pr of {s sub t plus 1, | s sub t, a sub t} equals Pr of {s sub t plus 1, | s sub 0, a sub 0,s sub 1, a sub 1, dot dot dot,s sub t, a sub t}">
                <a:extLst>
                  <a:ext uri="{FF2B5EF4-FFF2-40B4-BE49-F238E27FC236}">
                    <a16:creationId xmlns:a16="http://schemas.microsoft.com/office/drawing/2014/main" id="{4B663287-32CF-0AD4-FA4E-98A5F192595F}"/>
                  </a:ext>
                </a:extLst>
              </p:cNvPr>
              <p:cNvSpPr>
                <a:spLocks noGrp="1"/>
              </p:cNvSpPr>
              <p:nvPr>
                <p:ph idx="1"/>
              </p:nvPr>
            </p:nvSpPr>
            <p:spPr>
              <a:xfrm>
                <a:off x="838200" y="1033064"/>
                <a:ext cx="10125222" cy="5123896"/>
              </a:xfrm>
            </p:spPr>
            <p:txBody>
              <a:bodyPr>
                <a:normAutofit fontScale="62500" lnSpcReduction="20000"/>
              </a:bodyPr>
              <a:lstStyle/>
              <a:p>
                <a:r>
                  <a:rPr lang="en-US" dirty="0"/>
                  <a:t>General MDPs can have continuous state </a:t>
                </a:r>
                <a:br>
                  <a:rPr lang="en-US" dirty="0"/>
                </a:br>
                <a:r>
                  <a:rPr lang="en-US" dirty="0"/>
                  <a:t>and action spaces.</a:t>
                </a:r>
              </a:p>
              <a:p>
                <a:r>
                  <a:rPr lang="en-US" dirty="0"/>
                  <a:t>We consider finite MDPs. An MDP is </a:t>
                </a:r>
                <a:r>
                  <a:rPr lang="en-US" b="1" dirty="0"/>
                  <a:t>finite</a:t>
                </a:r>
                <a:r>
                  <a:rPr lang="en-US" dirty="0"/>
                  <a:t> if the </a:t>
                </a:r>
              </a:p>
              <a:p>
                <a:pPr lvl="1"/>
                <a:r>
                  <a:rPr lang="en-US" dirty="0"/>
                  <a:t>sets of states </a:t>
                </a:r>
                <a14:m>
                  <m:oMath xmlns:m="http://schemas.openxmlformats.org/officeDocument/2006/math">
                    <m:r>
                      <a:rPr lang="en-US" i="1" smtClean="0">
                        <a:latin typeface="Cambria Math" panose="02040503050406030204" pitchFamily="18" charset="0"/>
                        <a:ea typeface="Cambria Math" panose="02040503050406030204" pitchFamily="18" charset="0"/>
                      </a:rPr>
                      <m:t>𝒮</m:t>
                    </m:r>
                  </m:oMath>
                </a14:m>
                <a:r>
                  <a:rPr lang="en-US" dirty="0"/>
                  <a:t>, </a:t>
                </a:r>
              </a:p>
              <a:p>
                <a:pPr lvl="1"/>
                <a:r>
                  <a:rPr lang="en-US" dirty="0"/>
                  <a:t>set of action </a:t>
                </a:r>
                <a14:m>
                  <m:oMath xmlns:m="http://schemas.openxmlformats.org/officeDocument/2006/math">
                    <m:r>
                      <a:rPr lang="en-US" i="1" smtClean="0">
                        <a:latin typeface="Cambria Math" panose="02040503050406030204" pitchFamily="18" charset="0"/>
                        <a:ea typeface="Cambria Math" panose="02040503050406030204" pitchFamily="18" charset="0"/>
                      </a:rPr>
                      <m:t>𝒜</m:t>
                    </m:r>
                  </m:oMath>
                </a14:m>
                <a:r>
                  <a:rPr lang="en-US" dirty="0"/>
                  <a:t>, and </a:t>
                </a:r>
              </a:p>
              <a:p>
                <a:pPr lvl="1"/>
                <a:r>
                  <a:rPr lang="en-US" dirty="0"/>
                  <a:t>set of rewards </a:t>
                </a:r>
                <a14:m>
                  <m:oMath xmlns:m="http://schemas.openxmlformats.org/officeDocument/2006/math">
                    <m:r>
                      <a:rPr lang="en-US" i="1" smtClean="0">
                        <a:latin typeface="Cambria Math" panose="02040503050406030204" pitchFamily="18" charset="0"/>
                        <a:ea typeface="Cambria Math" panose="02040503050406030204" pitchFamily="18" charset="0"/>
                      </a:rPr>
                      <m:t>ℛ</m:t>
                    </m:r>
                  </m:oMath>
                </a14:m>
                <a:r>
                  <a:rPr lang="en-US" dirty="0"/>
                  <a:t> all have a finite number of elements.</a:t>
                </a:r>
              </a:p>
              <a:p>
                <a:pPr lvl="1"/>
                <a:r>
                  <a:rPr lang="en-US" dirty="0"/>
                  <a:t>It always has discrete time steps.</a:t>
                </a:r>
              </a:p>
              <a:p>
                <a:endParaRPr lang="en-US" b="1" dirty="0"/>
              </a:p>
              <a:p>
                <a:r>
                  <a:rPr lang="en-US" dirty="0"/>
                  <a:t>The </a:t>
                </a:r>
                <a:r>
                  <a:rPr lang="en-US" b="1" dirty="0"/>
                  <a:t>dynamics</a:t>
                </a:r>
                <a:r>
                  <a:rPr lang="en-US" dirty="0"/>
                  <a:t> of the finite discrete-time MDP are described by the </a:t>
                </a:r>
                <a:br>
                  <a:rPr lang="en-US" dirty="0"/>
                </a:br>
                <a:r>
                  <a:rPr lang="en-US" dirty="0"/>
                  <a:t>function </a:t>
                </a:r>
                <a14:m>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 : </m:t>
                    </m:r>
                    <m:r>
                      <a:rPr lang="en-US" i="1">
                        <a:latin typeface="Cambria Math" panose="02040503050406030204" pitchFamily="18" charset="0"/>
                        <a:ea typeface="Cambria Math" panose="02040503050406030204" pitchFamily="18" charset="0"/>
                      </a:rPr>
                      <m:t>𝒮</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𝒜</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ℛ</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𝒮</m:t>
                    </m:r>
                    <m:r>
                      <a:rPr lang="en-US" i="1">
                        <a:latin typeface="Cambria Math" panose="02040503050406030204" pitchFamily="18" charset="0"/>
                        <a:ea typeface="Cambria Math" panose="02040503050406030204" pitchFamily="18" charset="0"/>
                      </a:rPr>
                      <m:t> →[0,1]  </m:t>
                    </m:r>
                  </m:oMath>
                </a14:m>
                <a:r>
                  <a:rPr lang="en-US" dirty="0"/>
                  <a:t>defined as</a:t>
                </a:r>
              </a:p>
              <a:p>
                <a:endParaRPr lang="en-US" b="0" i="1" dirty="0">
                  <a:latin typeface="Cambria Math" panose="02040503050406030204" pitchFamily="18" charset="0"/>
                </a:endParaRPr>
              </a:p>
              <a:p>
                <a:pPr marL="0" indent="0">
                  <a:buNone/>
                </a:pPr>
                <a14:m>
                  <m:oMathPara xmlns:m="http://schemas.openxmlformats.org/officeDocument/2006/math">
                    <m:o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𝑟</m:t>
                          </m:r>
                        </m:e>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 </m:t>
                              </m:r>
                            </m:e>
                          </m:d>
                        </m:e>
                      </m:func>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m:oMathPara>
                </a14:m>
                <a:br>
                  <a:rPr lang="en-US" dirty="0"/>
                </a:br>
                <a:endParaRPr lang="en-US" b="0" i="1" dirty="0">
                  <a:latin typeface="Cambria Math" panose="02040503050406030204" pitchFamily="18" charset="0"/>
                </a:endParaRPr>
              </a:p>
              <a:p>
                <a:endParaRPr lang="en-US" dirty="0"/>
              </a:p>
              <a:p>
                <a:r>
                  <a:rPr lang="en-US" dirty="0"/>
                  <a:t>A decision process is an MDP if </a:t>
                </a:r>
                <a14:m>
                  <m:oMath xmlns:m="http://schemas.openxmlformats.org/officeDocument/2006/math">
                    <m:r>
                      <a:rPr lang="en-US" b="0" i="1" dirty="0" smtClean="0">
                        <a:latin typeface="Cambria Math" panose="02040503050406030204" pitchFamily="18" charset="0"/>
                      </a:rPr>
                      <m:t>𝑝</m:t>
                    </m:r>
                  </m:oMath>
                </a14:m>
                <a:r>
                  <a:rPr lang="en-US" dirty="0"/>
                  <a:t> completely characterizes the environment’s dynamics. This implies: </a:t>
                </a:r>
              </a:p>
              <a:p>
                <a:pPr lvl="1"/>
                <a:r>
                  <a:rPr lang="en-US" dirty="0"/>
                  <a:t>Dynamics only depend on the current observed state </a:t>
                </a:r>
                <a14:m>
                  <m:oMath xmlns:m="http://schemas.openxmlformats.org/officeDocument/2006/math">
                    <m:r>
                      <a:rPr lang="en-US" b="0" i="1" dirty="0" smtClean="0">
                        <a:latin typeface="Cambria Math" panose="02040503050406030204" pitchFamily="18" charset="0"/>
                      </a:rPr>
                      <m:t>𝑠</m:t>
                    </m:r>
                  </m:oMath>
                </a14:m>
                <a:r>
                  <a:rPr lang="en-US" dirty="0"/>
                  <a:t>.</a:t>
                </a:r>
              </a:p>
              <a:p>
                <a:pPr lvl="1"/>
                <a:r>
                  <a:rPr lang="en-US" dirty="0"/>
                  <a:t>This means: the state must have sufficient information about the past. </a:t>
                </a:r>
              </a:p>
              <a:p>
                <a:pPr lvl="1"/>
                <a:r>
                  <a:rPr lang="en-US" dirty="0"/>
                  <a:t>If this is true, then it is called an </a:t>
                </a:r>
                <a:r>
                  <a:rPr lang="en-US" b="1" dirty="0"/>
                  <a:t>information state </a:t>
                </a:r>
                <a:r>
                  <a:rPr lang="en-US" dirty="0"/>
                  <a:t>and the system has the necessary </a:t>
                </a:r>
                <a:r>
                  <a:rPr lang="en-US" b="1" dirty="0"/>
                  <a:t>Markov property</a:t>
                </a:r>
                <a:r>
                  <a:rPr lang="en-US" dirty="0"/>
                  <a:t>:</a:t>
                </a:r>
              </a:p>
              <a:p>
                <a:pPr marL="457200" lvl="1" indent="0">
                  <a:buNone/>
                </a:pPr>
                <a14:m>
                  <m:oMathPara xmlns:m="http://schemas.openxmlformats.org/officeDocument/2006/math">
                    <m:oMath>
                      <m:func>
                        <m:funcPr>
                          <m:ctrlPr>
                            <a:rPr lang="en-US">
                              <a:latin typeface="Cambria Math" panose="02040503050406030204" pitchFamily="18" charset="0"/>
                            </a:rPr>
                          </m:ctrlPr>
                        </m:funcPr>
                        <m:fName>
                          <m:r>
                            <m:rPr>
                              <m:sty m:val="p"/>
                            </m:rPr>
                            <a:rPr lang="en-US">
                              <a:latin typeface="Cambria Math" panose="02040503050406030204" pitchFamily="18" charset="0"/>
                            </a:rPr>
                            <m:t>Pr</m:t>
                          </m:r>
                        </m:fName>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r>
                                    <a:rPr lang="en-US" b="0" i="1" smtClean="0">
                                      <a:latin typeface="Cambria Math" panose="02040503050406030204" pitchFamily="18" charset="0"/>
                                    </a:rPr>
                                    <m:t>+1</m:t>
                                  </m:r>
                                </m:sub>
                              </m:sSub>
                            </m:e>
                          </m:d>
                        </m:e>
                      </m:func>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i="1">
                              <a:latin typeface="Cambria Math" panose="02040503050406030204" pitchFamily="18" charset="0"/>
                            </a:rPr>
                            <m:t>𝑡</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𝑡</m:t>
                          </m:r>
                        </m:sub>
                      </m:sSub>
                      <m:r>
                        <a:rPr lang="en-US" i="1">
                          <a:latin typeface="Cambria Math" panose="02040503050406030204" pitchFamily="18" charset="0"/>
                        </a:rPr>
                        <m:t>}</m:t>
                      </m:r>
                      <m:r>
                        <a:rPr lang="en-US" b="0" i="1" smtClean="0">
                          <a:latin typeface="Cambria Math" panose="02040503050406030204" pitchFamily="18" charset="0"/>
                        </a:rPr>
                        <m:t>= </m:t>
                      </m:r>
                      <m:func>
                        <m:funcPr>
                          <m:ctrlPr>
                            <a:rPr lang="en-US">
                              <a:latin typeface="Cambria Math" panose="02040503050406030204" pitchFamily="18" charset="0"/>
                            </a:rPr>
                          </m:ctrlPr>
                        </m:funcPr>
                        <m:fName>
                          <m:r>
                            <m:rPr>
                              <m:sty m:val="p"/>
                            </m:rPr>
                            <a:rPr lang="en-US">
                              <a:latin typeface="Cambria Math" panose="02040503050406030204" pitchFamily="18" charset="0"/>
                            </a:rPr>
                            <m:t>Pr</m:t>
                          </m:r>
                        </m:fName>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r>
                                    <a:rPr lang="en-US" i="1">
                                      <a:latin typeface="Cambria Math" panose="02040503050406030204" pitchFamily="18" charset="0"/>
                                    </a:rPr>
                                    <m:t>+1</m:t>
                                  </m:r>
                                </m:sub>
                              </m:sSub>
                            </m:e>
                          </m:d>
                        </m:e>
                      </m:func>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0</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𝑡</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𝑡</m:t>
                          </m:r>
                        </m:sub>
                      </m:sSub>
                      <m:r>
                        <a:rPr lang="en-US" i="1">
                          <a:latin typeface="Cambria Math" panose="02040503050406030204" pitchFamily="18" charset="0"/>
                        </a:rPr>
                        <m:t>}</m:t>
                      </m:r>
                    </m:oMath>
                  </m:oMathPara>
                </a14:m>
                <a:endParaRPr lang="en-US" dirty="0"/>
              </a:p>
            </p:txBody>
          </p:sp>
        </mc:Choice>
        <mc:Fallback xmlns="">
          <p:sp>
            <p:nvSpPr>
              <p:cNvPr id="3" name="Content Placeholder 2" descr="General MDPs can have continuous state and action spaces. We consider finite MDPs. An MDP is finite if the. sets of states S. set of action A, and. set of rewards R all have a finite number of elements. It always has discrete time steps. The dynamics of the finite discrete-time MDP are described by the function p : S times A times R times S to [0,1] defined as. p (s prime,r given s,a) is defined as Pr of {S sub t equals s prime, R sub t equals r | S sub t minus 1, equals s, A sub t minus 1, equals a}. A decision process is an MDP if p completely characterizes the environment’s dynamics. This implies:. Dynamics only depend on the current observed state s . This means: the state must have sufficient information about the past. If this is true, then it is called an information state and the system has the necessary Markov property:. Pr of {s sub t plus 1, | s sub t, a sub t} equals Pr of {s sub t plus 1, | s sub 0, a sub 0,s sub 1, a sub 1, dot dot dot,s sub t, a sub t}">
                <a:extLst>
                  <a:ext uri="{FF2B5EF4-FFF2-40B4-BE49-F238E27FC236}">
                    <a16:creationId xmlns:a16="http://schemas.microsoft.com/office/drawing/2014/main" id="{4B663287-32CF-0AD4-FA4E-98A5F192595F}"/>
                  </a:ext>
                </a:extLst>
              </p:cNvPr>
              <p:cNvSpPr>
                <a:spLocks noGrp="1" noRot="1" noChangeAspect="1" noMove="1" noResize="1" noEditPoints="1" noAdjustHandles="1" noChangeArrowheads="1" noChangeShapeType="1" noTextEdit="1"/>
              </p:cNvSpPr>
              <p:nvPr>
                <p:ph idx="1"/>
              </p:nvPr>
            </p:nvSpPr>
            <p:spPr>
              <a:xfrm>
                <a:off x="838200" y="1033064"/>
                <a:ext cx="10125222" cy="5123896"/>
              </a:xfrm>
              <a:blipFill>
                <a:blip r:embed="rId2"/>
                <a:stretch>
                  <a:fillRect l="-422" t="-1784"/>
                </a:stretch>
              </a:blipFill>
            </p:spPr>
            <p:txBody>
              <a:bodyPr/>
              <a:lstStyle/>
              <a:p>
                <a:r>
                  <a:rPr lang="en-US">
                    <a:noFill/>
                  </a:rPr>
                  <a:t> </a:t>
                </a:r>
              </a:p>
            </p:txBody>
          </p:sp>
        </mc:Fallback>
      </mc:AlternateContent>
      <p:pic>
        <p:nvPicPr>
          <p:cNvPr id="4" name="Content Placeholder 4" descr="Sutton and Barto Figure 3.1: the agent–environment interaction in a Markov decision process. The agent sends action A_t to the environment; the environment returns the next reward R_t+1 and next state S_t+1, which become the reward R_t and state S_t the agent sees at the next step.">
            <a:extLst>
              <a:ext uri="{FF2B5EF4-FFF2-40B4-BE49-F238E27FC236}">
                <a16:creationId xmlns:a16="http://schemas.microsoft.com/office/drawing/2014/main" id="{FF1D7063-84BD-4E42-A446-949BC7D128D8}"/>
              </a:ext>
            </a:extLst>
          </p:cNvPr>
          <p:cNvPicPr>
            <a:picLocks noChangeAspect="1"/>
          </p:cNvPicPr>
          <p:nvPr/>
        </p:nvPicPr>
        <p:blipFill>
          <a:blip r:embed="rId3"/>
          <a:srcRect l="12270" r="11643" b="13005"/>
          <a:stretch>
            <a:fillRect/>
          </a:stretch>
        </p:blipFill>
        <p:spPr>
          <a:xfrm>
            <a:off x="6977243" y="643922"/>
            <a:ext cx="4516160" cy="1716810"/>
          </a:xfrm>
          <a:prstGeom prst="rect">
            <a:avLst/>
          </a:prstGeom>
        </p:spPr>
      </p:pic>
      <p:sp>
        <p:nvSpPr>
          <p:cNvPr id="5" name="TextBox 4">
            <a:extLst>
              <a:ext uri="{FF2B5EF4-FFF2-40B4-BE49-F238E27FC236}">
                <a16:creationId xmlns:a16="http://schemas.microsoft.com/office/drawing/2014/main" id="{0A910759-4C6A-2C0B-F06C-B3EEC4397B82}"/>
              </a:ext>
            </a:extLst>
          </p:cNvPr>
          <p:cNvSpPr txBox="1"/>
          <p:nvPr/>
        </p:nvSpPr>
        <p:spPr>
          <a:xfrm>
            <a:off x="9575024" y="1513340"/>
            <a:ext cx="677075" cy="369332"/>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MDP</a:t>
            </a:r>
          </a:p>
        </p:txBody>
      </p:sp>
    </p:spTree>
    <p:extLst>
      <p:ext uri="{BB962C8B-B14F-4D97-AF65-F5344CB8AC3E}">
        <p14:creationId xmlns:p14="http://schemas.microsoft.com/office/powerpoint/2010/main" val="2477650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3" end="1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4" end="1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FDF50-80B4-DE16-98B3-4AFF043EB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452A4E-357F-0DB0-1F15-1AAEA233A48D}"/>
              </a:ext>
            </a:extLst>
          </p:cNvPr>
          <p:cNvSpPr>
            <a:spLocks noGrp="1"/>
          </p:cNvSpPr>
          <p:nvPr>
            <p:ph type="title"/>
          </p:nvPr>
        </p:nvSpPr>
        <p:spPr/>
        <p:txBody>
          <a:bodyPr>
            <a:normAutofit/>
          </a:bodyPr>
          <a:lstStyle/>
          <a:p>
            <a:r>
              <a:rPr lang="en-US" dirty="0"/>
              <a:t>Markov Process</a:t>
            </a:r>
          </a:p>
        </p:txBody>
      </p:sp>
      <mc:AlternateContent xmlns:mc="http://schemas.openxmlformats.org/markup-compatibility/2006" xmlns:a14="http://schemas.microsoft.com/office/drawing/2010/main">
        <mc:Choice Requires="a14">
          <p:sp>
            <p:nvSpPr>
              <p:cNvPr id="3" name="Content Placeholder 2" descr="In RL, we see a sequence of states. A Markov chain or Markov process is a stochastic process describing a sequence of possible events (states) defined by:. A set of states: S equals {s sub 0, s sub 1,s sub 2, dot dot dot,s sub n}. A stochastic transition model: Pr (s sub t | s sub t minus 1) for all s sub t,s sub t minus 1, in S. The transition model is:. Markovian: The current state only depends on the previous state: Pr (s sub t | s sub t minus 1, s sub t minus 2, dot dot dot,s sub 0) equals Pr (s sub t | s sub t minus 1). Stationary: Probabilities do not change over time: Pr of (s sub t given s sub t minus 1) equals Pr of (s sub t plus 1, given s sub t) for all t">
                <a:extLst>
                  <a:ext uri="{FF2B5EF4-FFF2-40B4-BE49-F238E27FC236}">
                    <a16:creationId xmlns:a16="http://schemas.microsoft.com/office/drawing/2014/main" id="{50007F3B-D068-6737-2299-B40014C49760}"/>
                  </a:ext>
                </a:extLst>
              </p:cNvPr>
              <p:cNvSpPr>
                <a:spLocks noGrp="1"/>
              </p:cNvSpPr>
              <p:nvPr>
                <p:ph idx="1"/>
              </p:nvPr>
            </p:nvSpPr>
            <p:spPr>
              <a:xfrm>
                <a:off x="879260" y="1373999"/>
                <a:ext cx="7505835" cy="2883814"/>
              </a:xfrm>
            </p:spPr>
            <p:txBody>
              <a:bodyPr>
                <a:normAutofit fontScale="70000" lnSpcReduction="20000"/>
              </a:bodyPr>
              <a:lstStyle/>
              <a:p>
                <a:pPr marL="0" indent="0">
                  <a:buNone/>
                </a:pPr>
                <a:r>
                  <a:rPr lang="en-US" dirty="0"/>
                  <a:t>In RL, we see a sequence of states. </a:t>
                </a:r>
                <a:r>
                  <a:rPr lang="en-US" b="1" dirty="0"/>
                  <a:t>A Markov chain or Markov process </a:t>
                </a:r>
                <a:r>
                  <a:rPr lang="en-US" dirty="0"/>
                  <a:t>is a stochastic process describing a sequence of possible events (states) defined by:</a:t>
                </a:r>
              </a:p>
              <a:p>
                <a:pPr lvl="1">
                  <a:lnSpc>
                    <a:spcPct val="120000"/>
                  </a:lnSpc>
                </a:pPr>
                <a:r>
                  <a:rPr lang="en-US" dirty="0"/>
                  <a:t>A set of states: </a:t>
                </a:r>
                <a14:m>
                  <m:oMath xmlns:m="http://schemas.openxmlformats.org/officeDocument/2006/math">
                    <m:r>
                      <a:rPr lang="en-US" i="1" dirty="0" smtClean="0">
                        <a:latin typeface="Cambria Math" panose="02040503050406030204" pitchFamily="18" charset="0"/>
                        <a:ea typeface="Cambria Math" panose="02040503050406030204" pitchFamily="18" charset="0"/>
                      </a:rPr>
                      <m:t>𝒮</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0</m:t>
                        </m:r>
                      </m:sub>
                    </m:sSub>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𝑛</m:t>
                        </m:r>
                      </m:sub>
                    </m:sSub>
                    <m:r>
                      <a:rPr lang="en-US" b="0" i="1" dirty="0" smtClean="0">
                        <a:latin typeface="Cambria Math" panose="02040503050406030204" pitchFamily="18" charset="0"/>
                      </a:rPr>
                      <m:t>}</m:t>
                    </m:r>
                  </m:oMath>
                </a14:m>
                <a:endParaRPr lang="en-US" dirty="0"/>
              </a:p>
              <a:p>
                <a:pPr lvl="1">
                  <a:lnSpc>
                    <a:spcPct val="120000"/>
                  </a:lnSpc>
                </a:pPr>
                <a:r>
                  <a:rPr lang="en-US" dirty="0"/>
                  <a:t>A stochastic transition model: </a:t>
                </a:r>
                <a:r>
                  <a:rPr lang="en-US" i="1" dirty="0">
                    <a:latin typeface="Cambria Math" panose="02040503050406030204" pitchFamily="18" charset="0"/>
                  </a:rPr>
                  <a:t> </a:t>
                </a:r>
                <a:r>
                  <a:rPr lang="en-US" dirty="0">
                    <a:latin typeface="Cambria Math" panose="02040503050406030204" pitchFamily="18" charset="0"/>
                  </a:rPr>
                  <a:t>Pr</a:t>
                </a:r>
                <a14:m>
                  <m:oMath xmlns:m="http://schemas.openxmlformats.org/officeDocument/2006/math">
                    <m:d>
                      <m:dPr>
                        <m:endChr m:val="|"/>
                        <m:ctrlPr>
                          <a:rPr lang="en-US" b="0"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b="0" i="1" dirty="0" smtClean="0">
                                <a:latin typeface="Cambria Math" panose="02040503050406030204" pitchFamily="18" charset="0"/>
                              </a:rPr>
                              <m:t>𝑡</m:t>
                            </m:r>
                          </m:sub>
                        </m:sSub>
                      </m:e>
                    </m:d>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r>
                      <a:rPr lang="en-US" i="1" dirty="0" smtClean="0">
                        <a:latin typeface="Cambria Math" panose="02040503050406030204" pitchFamily="18" charset="0"/>
                      </a:rPr>
                      <m:t>)</m:t>
                    </m:r>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r>
                      <a:rPr lang="en-US" b="0" i="1" dirty="0" smtClean="0">
                        <a:latin typeface="Cambria Math" panose="02040503050406030204" pitchFamily="18" charset="0"/>
                      </a:rPr>
                      <m:t>∈</m:t>
                    </m:r>
                    <m:r>
                      <a:rPr lang="en-US" i="1" dirty="0">
                        <a:latin typeface="Cambria Math" panose="02040503050406030204" pitchFamily="18" charset="0"/>
                        <a:ea typeface="Cambria Math" panose="02040503050406030204" pitchFamily="18" charset="0"/>
                      </a:rPr>
                      <m:t>𝒮</m:t>
                    </m:r>
                  </m:oMath>
                </a14:m>
                <a:endParaRPr lang="en-US" dirty="0"/>
              </a:p>
              <a:p>
                <a:pPr lvl="1">
                  <a:lnSpc>
                    <a:spcPct val="120000"/>
                  </a:lnSpc>
                </a:pPr>
                <a:r>
                  <a:rPr lang="en-US" dirty="0"/>
                  <a:t>The transition model is:</a:t>
                </a:r>
              </a:p>
              <a:p>
                <a:pPr lvl="2">
                  <a:lnSpc>
                    <a:spcPct val="120000"/>
                  </a:lnSpc>
                </a:pPr>
                <a:r>
                  <a:rPr lang="en-US" b="1" dirty="0"/>
                  <a:t>Markovian</a:t>
                </a:r>
                <a:r>
                  <a:rPr lang="en-US" dirty="0"/>
                  <a:t>: The current state only depends on the previous state:</a:t>
                </a:r>
                <a:br>
                  <a:rPr lang="en-US" dirty="0"/>
                </a:br>
                <a14:m>
                  <m:oMath xmlns:m="http://schemas.openxmlformats.org/officeDocument/2006/math">
                    <m:r>
                      <m:rPr>
                        <m:sty m:val="p"/>
                      </m:rPr>
                      <a:rPr lang="en-US" b="0" i="0" dirty="0" smtClean="0">
                        <a:latin typeface="Cambria Math" panose="02040503050406030204" pitchFamily="18" charset="0"/>
                      </a:rPr>
                      <m:t>Pr</m:t>
                    </m:r>
                    <m:d>
                      <m:dPr>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𝑡</m:t>
                            </m:r>
                          </m:sub>
                        </m:sSub>
                      </m:e>
                    </m:d>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𝑡</m:t>
                        </m:r>
                        <m:r>
                          <a:rPr lang="en-US" i="1" dirty="0">
                            <a:latin typeface="Cambria Math" panose="02040503050406030204" pitchFamily="18" charset="0"/>
                          </a:rPr>
                          <m:t>−1</m:t>
                        </m:r>
                      </m:sub>
                    </m:sSub>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r>
                          <a:rPr lang="en-US" b="0" i="1" dirty="0" smtClean="0">
                            <a:latin typeface="Cambria Math" panose="02040503050406030204" pitchFamily="18" charset="0"/>
                          </a:rPr>
                          <m:t>−2</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0</m:t>
                        </m:r>
                      </m:sub>
                    </m:sSub>
                    <m:r>
                      <a:rPr lang="en-US" i="1" dirty="0">
                        <a:latin typeface="Cambria Math" panose="02040503050406030204" pitchFamily="18" charset="0"/>
                      </a:rPr>
                      <m:t>)</m:t>
                    </m:r>
                    <m:r>
                      <a:rPr lang="en-US" b="0" i="1" dirty="0" smtClean="0">
                        <a:latin typeface="Cambria Math" panose="02040503050406030204" pitchFamily="18" charset="0"/>
                      </a:rPr>
                      <m:t>=</m:t>
                    </m:r>
                    <m:r>
                      <m:rPr>
                        <m:sty m:val="p"/>
                      </m:rPr>
                      <a:rPr lang="en-US" b="0" i="0" dirty="0" smtClean="0">
                        <a:latin typeface="Cambria Math" panose="02040503050406030204" pitchFamily="18" charset="0"/>
                      </a:rPr>
                      <m:t>Pr</m:t>
                    </m:r>
                    <m:d>
                      <m:dPr>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𝑡</m:t>
                            </m:r>
                          </m:sub>
                        </m:sSub>
                      </m:e>
                    </m:d>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𝑡</m:t>
                        </m:r>
                        <m:r>
                          <a:rPr lang="en-US" i="1" dirty="0">
                            <a:latin typeface="Cambria Math" panose="02040503050406030204" pitchFamily="18" charset="0"/>
                          </a:rPr>
                          <m:t>−1</m:t>
                        </m:r>
                      </m:sub>
                    </m:sSub>
                    <m:r>
                      <a:rPr lang="en-US" i="1" dirty="0">
                        <a:latin typeface="Cambria Math" panose="02040503050406030204" pitchFamily="18" charset="0"/>
                      </a:rPr>
                      <m:t>)</m:t>
                    </m:r>
                  </m:oMath>
                </a14:m>
                <a:br>
                  <a:rPr lang="en-US" dirty="0"/>
                </a:br>
                <a:endParaRPr lang="en-US" dirty="0"/>
              </a:p>
              <a:p>
                <a:pPr lvl="2">
                  <a:lnSpc>
                    <a:spcPct val="120000"/>
                  </a:lnSpc>
                </a:pPr>
                <a:r>
                  <a:rPr lang="en-US" b="1" dirty="0"/>
                  <a:t>Stationary</a:t>
                </a:r>
                <a:r>
                  <a:rPr lang="en-US" dirty="0"/>
                  <a:t>: Probabilities do not change over time: </a:t>
                </a:r>
                <a:br>
                  <a:rPr lang="en-US" dirty="0"/>
                </a:br>
                <a14:m>
                  <m:oMath xmlns:m="http://schemas.openxmlformats.org/officeDocument/2006/math">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r>
                                  <a:rPr lang="en-US" b="0" i="1" smtClean="0">
                                    <a:latin typeface="Cambria Math" panose="02040503050406030204" pitchFamily="18" charset="0"/>
                                  </a:rPr>
                                  <m:t>−1</m:t>
                                </m:r>
                              </m:sub>
                            </m:sSub>
                          </m:e>
                        </m:d>
                      </m:e>
                    </m:func>
                    <m:r>
                      <a:rPr lang="en-US" b="0" i="1" smtClean="0">
                        <a:latin typeface="Cambria Math" panose="02040503050406030204" pitchFamily="18" charset="0"/>
                      </a:rPr>
                      <m:t>=</m:t>
                    </m:r>
                    <m:func>
                      <m:funcPr>
                        <m:ctrlPr>
                          <a:rPr lang="en-US">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r>
                                  <a:rPr lang="en-US" b="0" i="1" smtClean="0">
                                    <a:latin typeface="Cambria Math" panose="02040503050406030204" pitchFamily="18" charset="0"/>
                                  </a:rPr>
                                  <m:t>+1</m:t>
                                </m:r>
                              </m:sub>
                            </m:sSub>
                          </m:e>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e>
                        </m:d>
                      </m:e>
                    </m:func>
                    <m:r>
                      <a:rPr lang="en-US" b="0" i="1" smtClean="0">
                        <a:latin typeface="Cambria Math" panose="02040503050406030204" pitchFamily="18" charset="0"/>
                      </a:rPr>
                      <m:t>  ∀</m:t>
                    </m:r>
                    <m:r>
                      <a:rPr lang="en-US" b="0" i="1" smtClean="0">
                        <a:latin typeface="Cambria Math" panose="02040503050406030204" pitchFamily="18" charset="0"/>
                      </a:rPr>
                      <m:t>𝑡</m:t>
                    </m:r>
                  </m:oMath>
                </a14:m>
                <a:endParaRPr lang="en-US" dirty="0"/>
              </a:p>
              <a:p>
                <a:pPr marL="0" indent="0">
                  <a:buNone/>
                </a:pPr>
                <a:endParaRPr lang="en-US" dirty="0"/>
              </a:p>
              <a:p>
                <a:pPr marL="0" indent="0">
                  <a:buNone/>
                </a:pPr>
                <a:endParaRPr lang="en-US" dirty="0"/>
              </a:p>
            </p:txBody>
          </p:sp>
        </mc:Choice>
        <mc:Fallback xmlns="">
          <p:sp>
            <p:nvSpPr>
              <p:cNvPr id="3" name="Content Placeholder 2" descr="In RL, we see a sequence of states. A Markov chain or Markov process is a stochastic process describing a sequence of possible events (states) defined by:. A set of states: S equals {s sub 0, s sub 1,s sub 2, dot dot dot,s sub n}. A stochastic transition model: Pr (s sub t | s sub t minus 1) for all s sub t,s sub t minus 1, in S. The transition model is:. Markovian: The current state only depends on the previous state: Pr (s sub t | s sub t minus 1, s sub t minus 2, dot dot dot,s sub 0) equals Pr (s sub t | s sub t minus 1). Stationary: Probabilities do not change over time: Pr of (s sub t given s sub t minus 1) equals Pr of (s sub t plus 1, given s sub t) for all t">
                <a:extLst>
                  <a:ext uri="{FF2B5EF4-FFF2-40B4-BE49-F238E27FC236}">
                    <a16:creationId xmlns:a16="http://schemas.microsoft.com/office/drawing/2014/main" id="{50007F3B-D068-6737-2299-B40014C49760}"/>
                  </a:ext>
                </a:extLst>
              </p:cNvPr>
              <p:cNvSpPr>
                <a:spLocks noGrp="1" noRot="1" noChangeAspect="1" noMove="1" noResize="1" noEditPoints="1" noAdjustHandles="1" noChangeArrowheads="1" noChangeShapeType="1" noTextEdit="1"/>
              </p:cNvSpPr>
              <p:nvPr>
                <p:ph idx="1"/>
              </p:nvPr>
            </p:nvSpPr>
            <p:spPr>
              <a:xfrm>
                <a:off x="879260" y="1373999"/>
                <a:ext cx="7505835" cy="2883814"/>
              </a:xfrm>
              <a:blipFill>
                <a:blip r:embed="rId3"/>
                <a:stretch>
                  <a:fillRect l="-812" t="-3594" r="-7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descr="Episode is a trajectory: Markov process “unrolled” over time: s sub 0,s sub 1,s sub 2, dot dot dot">
                <a:extLst>
                  <a:ext uri="{FF2B5EF4-FFF2-40B4-BE49-F238E27FC236}">
                    <a16:creationId xmlns:a16="http://schemas.microsoft.com/office/drawing/2014/main" id="{212DE726-6758-E650-6EE8-75ED16DF1F74}"/>
                  </a:ext>
                </a:extLst>
              </p:cNvPr>
              <p:cNvSpPr txBox="1"/>
              <p:nvPr/>
            </p:nvSpPr>
            <p:spPr>
              <a:xfrm>
                <a:off x="910942" y="4390796"/>
                <a:ext cx="7813333" cy="646331"/>
              </a:xfrm>
              <a:prstGeom prst="rect">
                <a:avLst/>
              </a:prstGeom>
              <a:noFill/>
            </p:spPr>
            <p:txBody>
              <a:bodyPr wrap="square">
                <a:spAutoFit/>
              </a:bodyPr>
              <a:lstStyle/>
              <a:p>
                <a:r>
                  <a:rPr lang="en-US" sz="1800" b="1" dirty="0"/>
                  <a:t>Episode is a trajectory: Markov  process “unrolled” over time: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0</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oMath>
                </a14:m>
                <a:endParaRPr lang="en-US" b="1" dirty="0"/>
              </a:p>
              <a:p>
                <a:endParaRPr lang="en-US" b="1" dirty="0"/>
              </a:p>
            </p:txBody>
          </p:sp>
        </mc:Choice>
        <mc:Fallback xmlns="">
          <p:sp>
            <p:nvSpPr>
              <p:cNvPr id="88" name="TextBox 87" descr="Episode is a trajectory: Markov process “unrolled” over time: s sub 0,s sub 1,s sub 2, dot dot dot">
                <a:extLst>
                  <a:ext uri="{FF2B5EF4-FFF2-40B4-BE49-F238E27FC236}">
                    <a16:creationId xmlns:a16="http://schemas.microsoft.com/office/drawing/2014/main" id="{212DE726-6758-E650-6EE8-75ED16DF1F74}"/>
                  </a:ext>
                </a:extLst>
              </p:cNvPr>
              <p:cNvSpPr txBox="1">
                <a:spLocks noRot="1" noChangeAspect="1" noMove="1" noResize="1" noEditPoints="1" noAdjustHandles="1" noChangeArrowheads="1" noChangeShapeType="1" noTextEdit="1"/>
              </p:cNvSpPr>
              <p:nvPr/>
            </p:nvSpPr>
            <p:spPr>
              <a:xfrm>
                <a:off x="910942" y="4390796"/>
                <a:ext cx="7813333" cy="646331"/>
              </a:xfrm>
              <a:prstGeom prst="rect">
                <a:avLst/>
              </a:prstGeom>
              <a:blipFill>
                <a:blip r:embed="rId7"/>
                <a:stretch>
                  <a:fillRect l="-624" t="-3774"/>
                </a:stretch>
              </a:blipFill>
            </p:spPr>
            <p:txBody>
              <a:bodyPr/>
              <a:lstStyle/>
              <a:p>
                <a:r>
                  <a:rPr lang="en-US">
                    <a:noFill/>
                  </a:rPr>
                  <a:t> </a:t>
                </a:r>
              </a:p>
            </p:txBody>
          </p:sp>
        </mc:Fallback>
      </mc:AlternateContent>
      <p:grpSp>
        <p:nvGrpSpPr>
          <p:cNvPr id="4" name="Group 3" descr="Markov model as a graph with four states: arrows go from s0 to s1 and back, from s1 to s2, from s2 to s3, and from s0 to s3.">
            <a:extLst>
              <a:ext uri="{FF2B5EF4-FFF2-40B4-BE49-F238E27FC236}">
                <a16:creationId xmlns:a16="http://schemas.microsoft.com/office/drawing/2014/main" id="{1EA64A6E-E19B-6016-AAC7-7E9E8BFFC4A6}"/>
              </a:ext>
            </a:extLst>
          </p:cNvPr>
          <p:cNvGrpSpPr/>
          <p:nvPr/>
        </p:nvGrpSpPr>
        <p:grpSpPr>
          <a:xfrm>
            <a:off x="8630084" y="1939995"/>
            <a:ext cx="3147961" cy="3370945"/>
            <a:chOff x="8630084" y="1939995"/>
            <a:chExt cx="3147961" cy="3370945"/>
          </a:xfrm>
        </p:grpSpPr>
        <p:grpSp>
          <p:nvGrpSpPr>
            <p:cNvPr id="118" name="Group 117" descr="Diagram with labels: s sub 0; s sub 1; s sub 2; s sub 3.">
              <a:extLst>
                <a:ext uri="{FF2B5EF4-FFF2-40B4-BE49-F238E27FC236}">
                  <a16:creationId xmlns:a16="http://schemas.microsoft.com/office/drawing/2014/main" id="{12D202A3-D97B-2F19-4E69-1C9AB59249E5}"/>
                </a:ext>
              </a:extLst>
            </p:cNvPr>
            <p:cNvGrpSpPr/>
            <p:nvPr/>
          </p:nvGrpSpPr>
          <p:grpSpPr>
            <a:xfrm>
              <a:off x="8967696" y="2402783"/>
              <a:ext cx="2243190" cy="1629572"/>
              <a:chOff x="1626433" y="3150198"/>
              <a:chExt cx="2243190" cy="1629572"/>
            </a:xfrm>
          </p:grpSpPr>
          <mc:AlternateContent xmlns:mc="http://schemas.openxmlformats.org/markup-compatibility/2006" xmlns:a14="http://schemas.microsoft.com/office/drawing/2010/main">
            <mc:Choice Requires="a14">
              <p:sp>
                <p:nvSpPr>
                  <p:cNvPr id="96" name="Oval 95" descr="Equation: s sub 0">
                    <a:extLst>
                      <a:ext uri="{FF2B5EF4-FFF2-40B4-BE49-F238E27FC236}">
                        <a16:creationId xmlns:a16="http://schemas.microsoft.com/office/drawing/2014/main" id="{BF93A4CD-383B-A628-8BC3-1B56F06F5CF3}"/>
                      </a:ext>
                    </a:extLst>
                  </p:cNvPr>
                  <p:cNvSpPr/>
                  <p:nvPr/>
                </p:nvSpPr>
                <p:spPr>
                  <a:xfrm>
                    <a:off x="1742013" y="3774484"/>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m:oMathPara>
                    </a14:m>
                    <a:endParaRPr lang="en-US" dirty="0"/>
                  </a:p>
                </p:txBody>
              </p:sp>
            </mc:Choice>
            <mc:Fallback xmlns="">
              <p:sp>
                <p:nvSpPr>
                  <p:cNvPr id="96" name="Oval 95" descr="Equation: s sub 0">
                    <a:extLst>
                      <a:ext uri="{FF2B5EF4-FFF2-40B4-BE49-F238E27FC236}">
                        <a16:creationId xmlns:a16="http://schemas.microsoft.com/office/drawing/2014/main" id="{BF93A4CD-383B-A628-8BC3-1B56F06F5CF3}"/>
                      </a:ext>
                    </a:extLst>
                  </p:cNvPr>
                  <p:cNvSpPr>
                    <a:spLocks noRot="1" noChangeAspect="1" noMove="1" noResize="1" noEditPoints="1" noAdjustHandles="1" noChangeArrowheads="1" noChangeShapeType="1" noTextEdit="1"/>
                  </p:cNvSpPr>
                  <p:nvPr/>
                </p:nvSpPr>
                <p:spPr>
                  <a:xfrm>
                    <a:off x="1742013" y="3774484"/>
                    <a:ext cx="381000" cy="381000"/>
                  </a:xfrm>
                  <a:prstGeom prst="ellipse">
                    <a:avLst/>
                  </a:prstGeom>
                  <a:blipFill>
                    <a:blip r:embed="rId8"/>
                    <a:stretch>
                      <a:fillRect/>
                    </a:stretch>
                  </a:blipFill>
                </p:spPr>
                <p:txBody>
                  <a:bodyPr/>
                  <a:lstStyle/>
                  <a:p>
                    <a:r>
                      <a:rPr lang="en-US">
                        <a:noFill/>
                      </a:rPr>
                      <a:t> </a:t>
                    </a:r>
                  </a:p>
                </p:txBody>
              </p:sp>
            </mc:Fallback>
          </mc:AlternateContent>
          <p:cxnSp>
            <p:nvCxnSpPr>
              <p:cNvPr id="97" name="Straight Arrow Connector 96">
                <a:extLst>
                  <a:ext uri="{FF2B5EF4-FFF2-40B4-BE49-F238E27FC236}">
                    <a16:creationId xmlns:a16="http://schemas.microsoft.com/office/drawing/2014/main" id="{4B8E657D-EF3B-3D39-5F8C-F85A733E8295}"/>
                  </a:ext>
                  <a:ext uri="{C183D7F6-B498-43B3-948B-1728B52AA6E4}">
                    <adec:decorative xmlns:adec="http://schemas.microsoft.com/office/drawing/2017/decorative" val="1"/>
                  </a:ext>
                </a:extLst>
              </p:cNvPr>
              <p:cNvCxnSpPr>
                <a:cxnSpLocks/>
                <a:stCxn id="96" idx="6"/>
                <a:endCxn id="98" idx="3"/>
              </p:cNvCxnSpPr>
              <p:nvPr/>
            </p:nvCxnSpPr>
            <p:spPr>
              <a:xfrm flipV="1">
                <a:off x="2123013" y="3545129"/>
                <a:ext cx="582600" cy="4198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8" name="Oval 97" descr="Equation: s sub 1">
                    <a:extLst>
                      <a:ext uri="{FF2B5EF4-FFF2-40B4-BE49-F238E27FC236}">
                        <a16:creationId xmlns:a16="http://schemas.microsoft.com/office/drawing/2014/main" id="{C850D916-C1FA-EBD2-8DA6-3B6082C30C46}"/>
                      </a:ext>
                    </a:extLst>
                  </p:cNvPr>
                  <p:cNvSpPr/>
                  <p:nvPr/>
                </p:nvSpPr>
                <p:spPr>
                  <a:xfrm>
                    <a:off x="2649817" y="3219925"/>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oMath>
                      </m:oMathPara>
                    </a14:m>
                    <a:endParaRPr lang="en-US" dirty="0"/>
                  </a:p>
                </p:txBody>
              </p:sp>
            </mc:Choice>
            <mc:Fallback xmlns="">
              <p:sp>
                <p:nvSpPr>
                  <p:cNvPr id="98" name="Oval 97" descr="Equation: s sub 1">
                    <a:extLst>
                      <a:ext uri="{FF2B5EF4-FFF2-40B4-BE49-F238E27FC236}">
                        <a16:creationId xmlns:a16="http://schemas.microsoft.com/office/drawing/2014/main" id="{C850D916-C1FA-EBD2-8DA6-3B6082C30C46}"/>
                      </a:ext>
                    </a:extLst>
                  </p:cNvPr>
                  <p:cNvSpPr>
                    <a:spLocks noRot="1" noChangeAspect="1" noMove="1" noResize="1" noEditPoints="1" noAdjustHandles="1" noChangeArrowheads="1" noChangeShapeType="1" noTextEdit="1"/>
                  </p:cNvSpPr>
                  <p:nvPr/>
                </p:nvSpPr>
                <p:spPr>
                  <a:xfrm>
                    <a:off x="2649817" y="3219925"/>
                    <a:ext cx="381000" cy="381000"/>
                  </a:xfrm>
                  <a:prstGeom prst="ellipse">
                    <a:avLst/>
                  </a:prstGeom>
                  <a:blipFill>
                    <a:blip r:embed="rId9"/>
                    <a:stretch>
                      <a:fillRect/>
                    </a:stretch>
                  </a:blipFill>
                </p:spPr>
                <p:txBody>
                  <a:bodyPr/>
                  <a:lstStyle/>
                  <a:p>
                    <a:r>
                      <a:rPr lang="en-US">
                        <a:noFill/>
                      </a:rPr>
                      <a:t> </a:t>
                    </a:r>
                  </a:p>
                </p:txBody>
              </p:sp>
            </mc:Fallback>
          </mc:AlternateContent>
          <p:cxnSp>
            <p:nvCxnSpPr>
              <p:cNvPr id="99" name="Straight Arrow Connector 98">
                <a:extLst>
                  <a:ext uri="{FF2B5EF4-FFF2-40B4-BE49-F238E27FC236}">
                    <a16:creationId xmlns:a16="http://schemas.microsoft.com/office/drawing/2014/main" id="{FC0FD8EC-2419-8BA0-8028-3706A89C1D1E}"/>
                  </a:ext>
                  <a:ext uri="{C183D7F6-B498-43B3-948B-1728B52AA6E4}">
                    <adec:decorative xmlns:adec="http://schemas.microsoft.com/office/drawing/2017/decorative" val="1"/>
                  </a:ext>
                </a:extLst>
              </p:cNvPr>
              <p:cNvCxnSpPr>
                <a:cxnSpLocks/>
                <a:stCxn id="100" idx="3"/>
                <a:endCxn id="104" idx="6"/>
              </p:cNvCxnSpPr>
              <p:nvPr/>
            </p:nvCxnSpPr>
            <p:spPr>
              <a:xfrm flipH="1">
                <a:off x="3030817" y="4288702"/>
                <a:ext cx="261369" cy="1619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0" name="Oval 99" descr="Equation: s sub 2">
                    <a:extLst>
                      <a:ext uri="{FF2B5EF4-FFF2-40B4-BE49-F238E27FC236}">
                        <a16:creationId xmlns:a16="http://schemas.microsoft.com/office/drawing/2014/main" id="{EFA32AE8-9023-FE2A-C280-5922FB2EEAE6}"/>
                      </a:ext>
                    </a:extLst>
                  </p:cNvPr>
                  <p:cNvSpPr/>
                  <p:nvPr/>
                </p:nvSpPr>
                <p:spPr>
                  <a:xfrm>
                    <a:off x="3236390" y="3963498"/>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oMath>
                      </m:oMathPara>
                    </a14:m>
                    <a:endParaRPr lang="en-US" dirty="0"/>
                  </a:p>
                </p:txBody>
              </p:sp>
            </mc:Choice>
            <mc:Fallback xmlns="">
              <p:sp>
                <p:nvSpPr>
                  <p:cNvPr id="100" name="Oval 99" descr="Equation: s sub 2">
                    <a:extLst>
                      <a:ext uri="{FF2B5EF4-FFF2-40B4-BE49-F238E27FC236}">
                        <a16:creationId xmlns:a16="http://schemas.microsoft.com/office/drawing/2014/main" id="{EFA32AE8-9023-FE2A-C280-5922FB2EEAE6}"/>
                      </a:ext>
                    </a:extLst>
                  </p:cNvPr>
                  <p:cNvSpPr>
                    <a:spLocks noRot="1" noChangeAspect="1" noMove="1" noResize="1" noEditPoints="1" noAdjustHandles="1" noChangeArrowheads="1" noChangeShapeType="1" noTextEdit="1"/>
                  </p:cNvSpPr>
                  <p:nvPr/>
                </p:nvSpPr>
                <p:spPr>
                  <a:xfrm>
                    <a:off x="3236390" y="3963498"/>
                    <a:ext cx="381000" cy="381000"/>
                  </a:xfrm>
                  <a:prstGeom prst="ellipse">
                    <a:avLst/>
                  </a:prstGeom>
                  <a:blipFill>
                    <a:blip r:embed="rId10"/>
                    <a:stretch>
                      <a:fillRect/>
                    </a:stretch>
                  </a:blipFill>
                </p:spPr>
                <p:txBody>
                  <a:bodyPr/>
                  <a:lstStyle/>
                  <a:p>
                    <a:r>
                      <a:rPr lang="en-US">
                        <a:noFill/>
                      </a:rPr>
                      <a:t> </a:t>
                    </a:r>
                  </a:p>
                </p:txBody>
              </p:sp>
            </mc:Fallback>
          </mc:AlternateContent>
          <p:sp>
            <p:nvSpPr>
              <p:cNvPr id="103" name="Rectangle 102">
                <a:extLst>
                  <a:ext uri="{FF2B5EF4-FFF2-40B4-BE49-F238E27FC236}">
                    <a16:creationId xmlns:a16="http://schemas.microsoft.com/office/drawing/2014/main" id="{9F4F8E7C-00C0-44C7-A788-2A2A43068A13}"/>
                  </a:ext>
                  <a:ext uri="{C183D7F6-B498-43B3-948B-1728B52AA6E4}">
                    <adec:decorative xmlns:adec="http://schemas.microsoft.com/office/drawing/2017/decorative" val="1"/>
                  </a:ext>
                </a:extLst>
              </p:cNvPr>
              <p:cNvSpPr/>
              <p:nvPr/>
            </p:nvSpPr>
            <p:spPr>
              <a:xfrm>
                <a:off x="1626433" y="3150198"/>
                <a:ext cx="2243190" cy="1629572"/>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4" name="Oval 103" descr="Equation: s sub 3">
                    <a:extLst>
                      <a:ext uri="{FF2B5EF4-FFF2-40B4-BE49-F238E27FC236}">
                        <a16:creationId xmlns:a16="http://schemas.microsoft.com/office/drawing/2014/main" id="{1FF22AFD-E1D8-06D2-F7E2-F98A079F38B8}"/>
                      </a:ext>
                    </a:extLst>
                  </p:cNvPr>
                  <p:cNvSpPr/>
                  <p:nvPr/>
                </p:nvSpPr>
                <p:spPr>
                  <a:xfrm>
                    <a:off x="2649817" y="4260144"/>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3</m:t>
                              </m:r>
                            </m:sub>
                          </m:sSub>
                        </m:oMath>
                      </m:oMathPara>
                    </a14:m>
                    <a:endParaRPr lang="en-US" dirty="0"/>
                  </a:p>
                </p:txBody>
              </p:sp>
            </mc:Choice>
            <mc:Fallback xmlns="">
              <p:sp>
                <p:nvSpPr>
                  <p:cNvPr id="104" name="Oval 103" descr="Equation: s sub 3">
                    <a:extLst>
                      <a:ext uri="{FF2B5EF4-FFF2-40B4-BE49-F238E27FC236}">
                        <a16:creationId xmlns:a16="http://schemas.microsoft.com/office/drawing/2014/main" id="{1FF22AFD-E1D8-06D2-F7E2-F98A079F38B8}"/>
                      </a:ext>
                    </a:extLst>
                  </p:cNvPr>
                  <p:cNvSpPr>
                    <a:spLocks noRot="1" noChangeAspect="1" noMove="1" noResize="1" noEditPoints="1" noAdjustHandles="1" noChangeArrowheads="1" noChangeShapeType="1" noTextEdit="1"/>
                  </p:cNvSpPr>
                  <p:nvPr/>
                </p:nvSpPr>
                <p:spPr>
                  <a:xfrm>
                    <a:off x="2649817" y="4260144"/>
                    <a:ext cx="381000" cy="381000"/>
                  </a:xfrm>
                  <a:prstGeom prst="ellipse">
                    <a:avLst/>
                  </a:prstGeom>
                  <a:blipFill>
                    <a:blip r:embed="rId11"/>
                    <a:stretch>
                      <a:fillRect/>
                    </a:stretch>
                  </a:blipFill>
                </p:spPr>
                <p:txBody>
                  <a:bodyPr/>
                  <a:lstStyle/>
                  <a:p>
                    <a:r>
                      <a:rPr lang="en-US">
                        <a:noFill/>
                      </a:rPr>
                      <a:t> </a:t>
                    </a:r>
                  </a:p>
                </p:txBody>
              </p:sp>
            </mc:Fallback>
          </mc:AlternateContent>
          <p:cxnSp>
            <p:nvCxnSpPr>
              <p:cNvPr id="107" name="Straight Arrow Connector 106">
                <a:extLst>
                  <a:ext uri="{FF2B5EF4-FFF2-40B4-BE49-F238E27FC236}">
                    <a16:creationId xmlns:a16="http://schemas.microsoft.com/office/drawing/2014/main" id="{B4B64990-DEFE-FC7F-EC9C-D647800ED0F7}"/>
                  </a:ext>
                  <a:ext uri="{C183D7F6-B498-43B3-948B-1728B52AA6E4}">
                    <adec:decorative xmlns:adec="http://schemas.microsoft.com/office/drawing/2017/decorative" val="1"/>
                  </a:ext>
                </a:extLst>
              </p:cNvPr>
              <p:cNvCxnSpPr>
                <a:cxnSpLocks/>
                <a:stCxn id="96" idx="6"/>
                <a:endCxn id="104" idx="1"/>
              </p:cNvCxnSpPr>
              <p:nvPr/>
            </p:nvCxnSpPr>
            <p:spPr>
              <a:xfrm>
                <a:off x="2123013" y="3964984"/>
                <a:ext cx="582600" cy="3509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0" name="Straight Arrow Connector 109">
                <a:extLst>
                  <a:ext uri="{FF2B5EF4-FFF2-40B4-BE49-F238E27FC236}">
                    <a16:creationId xmlns:a16="http://schemas.microsoft.com/office/drawing/2014/main" id="{ED0EDB06-A7EF-B3BC-0351-B2A7BE3D48A1}"/>
                  </a:ext>
                  <a:ext uri="{C183D7F6-B498-43B3-948B-1728B52AA6E4}">
                    <adec:decorative xmlns:adec="http://schemas.microsoft.com/office/drawing/2017/decorative" val="1"/>
                  </a:ext>
                </a:extLst>
              </p:cNvPr>
              <p:cNvCxnSpPr>
                <a:cxnSpLocks/>
                <a:stCxn id="98" idx="2"/>
                <a:endCxn id="96" idx="7"/>
              </p:cNvCxnSpPr>
              <p:nvPr/>
            </p:nvCxnSpPr>
            <p:spPr>
              <a:xfrm flipH="1">
                <a:off x="2067217" y="3410425"/>
                <a:ext cx="582600" cy="4198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3" name="Straight Arrow Connector 112">
                <a:extLst>
                  <a:ext uri="{FF2B5EF4-FFF2-40B4-BE49-F238E27FC236}">
                    <a16:creationId xmlns:a16="http://schemas.microsoft.com/office/drawing/2014/main" id="{FEB7D7A7-609E-1AD6-C255-CC0610FF8CFB}"/>
                  </a:ext>
                  <a:ext uri="{C183D7F6-B498-43B3-948B-1728B52AA6E4}">
                    <adec:decorative xmlns:adec="http://schemas.microsoft.com/office/drawing/2017/decorative" val="1"/>
                  </a:ext>
                </a:extLst>
              </p:cNvPr>
              <p:cNvCxnSpPr>
                <a:cxnSpLocks/>
                <a:stCxn id="98" idx="5"/>
                <a:endCxn id="100" idx="1"/>
              </p:cNvCxnSpPr>
              <p:nvPr/>
            </p:nvCxnSpPr>
            <p:spPr>
              <a:xfrm>
                <a:off x="2975021" y="3545129"/>
                <a:ext cx="317165" cy="4741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20" name="TextBox 119">
              <a:extLst>
                <a:ext uri="{FF2B5EF4-FFF2-40B4-BE49-F238E27FC236}">
                  <a16:creationId xmlns:a16="http://schemas.microsoft.com/office/drawing/2014/main" id="{D3F58CDA-6BBE-80C8-C3CF-881F9E752F10}"/>
                </a:ext>
              </a:extLst>
            </p:cNvPr>
            <p:cNvSpPr txBox="1"/>
            <p:nvPr/>
          </p:nvSpPr>
          <p:spPr>
            <a:xfrm>
              <a:off x="8630084" y="1939995"/>
              <a:ext cx="3147961" cy="369332"/>
            </a:xfrm>
            <a:prstGeom prst="rect">
              <a:avLst/>
            </a:prstGeom>
            <a:noFill/>
          </p:spPr>
          <p:txBody>
            <a:bodyPr wrap="square">
              <a:spAutoFit/>
            </a:bodyPr>
            <a:lstStyle/>
            <a:p>
              <a:r>
                <a:rPr lang="en-US" sz="1800" b="1" dirty="0"/>
                <a:t>Markov model as a graph</a:t>
              </a:r>
              <a:endParaRPr lang="en-US" dirty="0"/>
            </a:p>
          </p:txBody>
        </p:sp>
        <p:sp>
          <p:nvSpPr>
            <p:cNvPr id="122" name="Speech Bubble: Rectangle with Corners Rounded 121">
              <a:extLst>
                <a:ext uri="{FF2B5EF4-FFF2-40B4-BE49-F238E27FC236}">
                  <a16:creationId xmlns:a16="http://schemas.microsoft.com/office/drawing/2014/main" id="{41D246F9-7BDE-9942-A22F-15402A63E010}"/>
                </a:ext>
              </a:extLst>
            </p:cNvPr>
            <p:cNvSpPr/>
            <p:nvPr/>
          </p:nvSpPr>
          <p:spPr>
            <a:xfrm>
              <a:off x="9803567" y="4489554"/>
              <a:ext cx="1641423" cy="821386"/>
            </a:xfrm>
            <a:prstGeom prst="wedgeRoundRectCallout">
              <a:avLst>
                <a:gd name="adj1" fmla="val -26312"/>
                <a:gd name="adj2" fmla="val -120911"/>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Subscript is the state ID</a:t>
              </a:r>
            </a:p>
          </p:txBody>
        </p:sp>
      </p:grpSp>
      <p:grpSp>
        <p:nvGrpSpPr>
          <p:cNvPr id="5" name="Group 4" descr="An episode unrolled over time: a chain of states s0 → s1 → s2 → and so on.">
            <a:extLst>
              <a:ext uri="{FF2B5EF4-FFF2-40B4-BE49-F238E27FC236}">
                <a16:creationId xmlns:a16="http://schemas.microsoft.com/office/drawing/2014/main" id="{8E1D08BA-D702-72B0-67F9-5EBA98D9A1BB}"/>
              </a:ext>
            </a:extLst>
          </p:cNvPr>
          <p:cNvGrpSpPr/>
          <p:nvPr/>
        </p:nvGrpSpPr>
        <p:grpSpPr>
          <a:xfrm>
            <a:off x="2193327" y="4915566"/>
            <a:ext cx="6963981" cy="1114383"/>
            <a:chOff x="2193327" y="4915566"/>
            <a:chExt cx="6963981" cy="1114383"/>
          </a:xfrm>
        </p:grpSpPr>
        <p:grpSp>
          <p:nvGrpSpPr>
            <p:cNvPr id="121" name="Group 120" descr="Diagram with labels: s sub 0; s sub 1; s sub 2; ….">
              <a:extLst>
                <a:ext uri="{FF2B5EF4-FFF2-40B4-BE49-F238E27FC236}">
                  <a16:creationId xmlns:a16="http://schemas.microsoft.com/office/drawing/2014/main" id="{E23B0AB7-59CE-A66F-BE09-92725397B0C0}"/>
                </a:ext>
              </a:extLst>
            </p:cNvPr>
            <p:cNvGrpSpPr/>
            <p:nvPr/>
          </p:nvGrpSpPr>
          <p:grpSpPr>
            <a:xfrm>
              <a:off x="2193327" y="4915566"/>
              <a:ext cx="4759686" cy="720737"/>
              <a:chOff x="3077744" y="5522666"/>
              <a:chExt cx="4759686" cy="720737"/>
            </a:xfrm>
          </p:grpSpPr>
          <mc:AlternateContent xmlns:mc="http://schemas.openxmlformats.org/markup-compatibility/2006" xmlns:a14="http://schemas.microsoft.com/office/drawing/2010/main">
            <mc:Choice Requires="a14">
              <p:sp>
                <p:nvSpPr>
                  <p:cNvPr id="7" name="Oval 6" descr="Equation: s sub 0">
                    <a:extLst>
                      <a:ext uri="{FF2B5EF4-FFF2-40B4-BE49-F238E27FC236}">
                        <a16:creationId xmlns:a16="http://schemas.microsoft.com/office/drawing/2014/main" id="{152B55D3-E0F6-B71A-42B9-1C4F70181034}"/>
                      </a:ext>
                    </a:extLst>
                  </p:cNvPr>
                  <p:cNvSpPr/>
                  <p:nvPr/>
                </p:nvSpPr>
                <p:spPr>
                  <a:xfrm>
                    <a:off x="3329977" y="5702260"/>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m:oMathPara>
                    </a14:m>
                    <a:endParaRPr lang="en-US" dirty="0"/>
                  </a:p>
                </p:txBody>
              </p:sp>
            </mc:Choice>
            <mc:Fallback xmlns="">
              <p:sp>
                <p:nvSpPr>
                  <p:cNvPr id="7" name="Oval 6" descr="Equation: s sub 0">
                    <a:extLst>
                      <a:ext uri="{FF2B5EF4-FFF2-40B4-BE49-F238E27FC236}">
                        <a16:creationId xmlns:a16="http://schemas.microsoft.com/office/drawing/2014/main" id="{152B55D3-E0F6-B71A-42B9-1C4F70181034}"/>
                      </a:ext>
                    </a:extLst>
                  </p:cNvPr>
                  <p:cNvSpPr>
                    <a:spLocks noRot="1" noChangeAspect="1" noMove="1" noResize="1" noEditPoints="1" noAdjustHandles="1" noChangeArrowheads="1" noChangeShapeType="1" noTextEdit="1"/>
                  </p:cNvSpPr>
                  <p:nvPr/>
                </p:nvSpPr>
                <p:spPr>
                  <a:xfrm>
                    <a:off x="3329977" y="5702260"/>
                    <a:ext cx="381000" cy="381000"/>
                  </a:xfrm>
                  <a:prstGeom prst="ellipse">
                    <a:avLst/>
                  </a:prstGeom>
                  <a:blipFill>
                    <a:blip r:embed="rId4"/>
                    <a:stretch>
                      <a:fillRect/>
                    </a:stretch>
                  </a:blipFill>
                </p:spPr>
                <p:txBody>
                  <a:bodyPr/>
                  <a:lstStyle/>
                  <a:p>
                    <a:r>
                      <a:rPr lang="en-US">
                        <a:noFill/>
                      </a:rPr>
                      <a:t> </a:t>
                    </a:r>
                  </a:p>
                </p:txBody>
              </p:sp>
            </mc:Fallback>
          </mc:AlternateContent>
          <p:cxnSp>
            <p:nvCxnSpPr>
              <p:cNvPr id="57" name="Straight Arrow Connector 56">
                <a:extLst>
                  <a:ext uri="{FF2B5EF4-FFF2-40B4-BE49-F238E27FC236}">
                    <a16:creationId xmlns:a16="http://schemas.microsoft.com/office/drawing/2014/main" id="{ACAB2C98-7A3E-3670-75A7-AD1721C32637}"/>
                  </a:ext>
                  <a:ext uri="{C183D7F6-B498-43B3-948B-1728B52AA6E4}">
                    <adec:decorative xmlns:adec="http://schemas.microsoft.com/office/drawing/2017/decorative" val="1"/>
                  </a:ext>
                </a:extLst>
              </p:cNvPr>
              <p:cNvCxnSpPr>
                <a:cxnSpLocks/>
                <a:stCxn id="7" idx="6"/>
              </p:cNvCxnSpPr>
              <p:nvPr/>
            </p:nvCxnSpPr>
            <p:spPr>
              <a:xfrm>
                <a:off x="3710977" y="5892760"/>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5" name="Oval 64" descr="Equation: s sub 1">
                    <a:extLst>
                      <a:ext uri="{FF2B5EF4-FFF2-40B4-BE49-F238E27FC236}">
                        <a16:creationId xmlns:a16="http://schemas.microsoft.com/office/drawing/2014/main" id="{A108B6E2-B643-CF02-5474-3A81F48CCD8C}"/>
                      </a:ext>
                    </a:extLst>
                  </p:cNvPr>
                  <p:cNvSpPr/>
                  <p:nvPr/>
                </p:nvSpPr>
                <p:spPr>
                  <a:xfrm>
                    <a:off x="4618781" y="5702260"/>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oMath>
                      </m:oMathPara>
                    </a14:m>
                    <a:endParaRPr lang="en-US" dirty="0"/>
                  </a:p>
                </p:txBody>
              </p:sp>
            </mc:Choice>
            <mc:Fallback xmlns="">
              <p:sp>
                <p:nvSpPr>
                  <p:cNvPr id="65" name="Oval 64" descr="Equation: s sub 1">
                    <a:extLst>
                      <a:ext uri="{FF2B5EF4-FFF2-40B4-BE49-F238E27FC236}">
                        <a16:creationId xmlns:a16="http://schemas.microsoft.com/office/drawing/2014/main" id="{A108B6E2-B643-CF02-5474-3A81F48CCD8C}"/>
                      </a:ext>
                    </a:extLst>
                  </p:cNvPr>
                  <p:cNvSpPr>
                    <a:spLocks noRot="1" noChangeAspect="1" noMove="1" noResize="1" noEditPoints="1" noAdjustHandles="1" noChangeArrowheads="1" noChangeShapeType="1" noTextEdit="1"/>
                  </p:cNvSpPr>
                  <p:nvPr/>
                </p:nvSpPr>
                <p:spPr>
                  <a:xfrm>
                    <a:off x="4618781" y="5702260"/>
                    <a:ext cx="381000" cy="381000"/>
                  </a:xfrm>
                  <a:prstGeom prst="ellipse">
                    <a:avLst/>
                  </a:prstGeom>
                  <a:blipFill>
                    <a:blip r:embed="rId5"/>
                    <a:stretch>
                      <a:fillRect/>
                    </a:stretch>
                  </a:blipFill>
                </p:spPr>
                <p:txBody>
                  <a:bodyPr/>
                  <a:lstStyle/>
                  <a:p>
                    <a:r>
                      <a:rPr lang="en-US">
                        <a:noFill/>
                      </a:rPr>
                      <a:t> </a:t>
                    </a:r>
                  </a:p>
                </p:txBody>
              </p:sp>
            </mc:Fallback>
          </mc:AlternateContent>
          <p:cxnSp>
            <p:nvCxnSpPr>
              <p:cNvPr id="71" name="Straight Arrow Connector 70">
                <a:extLst>
                  <a:ext uri="{FF2B5EF4-FFF2-40B4-BE49-F238E27FC236}">
                    <a16:creationId xmlns:a16="http://schemas.microsoft.com/office/drawing/2014/main" id="{5D3A19B9-3B2D-38D7-8D83-B145B9542A8B}"/>
                  </a:ext>
                  <a:ext uri="{C183D7F6-B498-43B3-948B-1728B52AA6E4}">
                    <adec:decorative xmlns:adec="http://schemas.microsoft.com/office/drawing/2017/decorative" val="1"/>
                  </a:ext>
                </a:extLst>
              </p:cNvPr>
              <p:cNvCxnSpPr>
                <a:cxnSpLocks/>
                <a:stCxn id="65" idx="6"/>
              </p:cNvCxnSpPr>
              <p:nvPr/>
            </p:nvCxnSpPr>
            <p:spPr>
              <a:xfrm>
                <a:off x="4999781" y="5892760"/>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3" name="Oval 72" descr="Equation: s sub 2">
                    <a:extLst>
                      <a:ext uri="{FF2B5EF4-FFF2-40B4-BE49-F238E27FC236}">
                        <a16:creationId xmlns:a16="http://schemas.microsoft.com/office/drawing/2014/main" id="{2E77B033-B4CA-26D9-0F3C-A72C955E1AA2}"/>
                      </a:ext>
                    </a:extLst>
                  </p:cNvPr>
                  <p:cNvSpPr/>
                  <p:nvPr/>
                </p:nvSpPr>
                <p:spPr>
                  <a:xfrm>
                    <a:off x="5907625" y="5702260"/>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oMath>
                      </m:oMathPara>
                    </a14:m>
                    <a:endParaRPr lang="en-US" dirty="0"/>
                  </a:p>
                </p:txBody>
              </p:sp>
            </mc:Choice>
            <mc:Fallback xmlns="">
              <p:sp>
                <p:nvSpPr>
                  <p:cNvPr id="73" name="Oval 72" descr="Equation: s sub 2">
                    <a:extLst>
                      <a:ext uri="{FF2B5EF4-FFF2-40B4-BE49-F238E27FC236}">
                        <a16:creationId xmlns:a16="http://schemas.microsoft.com/office/drawing/2014/main" id="{2E77B033-B4CA-26D9-0F3C-A72C955E1AA2}"/>
                      </a:ext>
                    </a:extLst>
                  </p:cNvPr>
                  <p:cNvSpPr>
                    <a:spLocks noRot="1" noChangeAspect="1" noMove="1" noResize="1" noEditPoints="1" noAdjustHandles="1" noChangeArrowheads="1" noChangeShapeType="1" noTextEdit="1"/>
                  </p:cNvSpPr>
                  <p:nvPr/>
                </p:nvSpPr>
                <p:spPr>
                  <a:xfrm>
                    <a:off x="5907625" y="5702260"/>
                    <a:ext cx="381000" cy="381000"/>
                  </a:xfrm>
                  <a:prstGeom prst="ellipse">
                    <a:avLst/>
                  </a:prstGeom>
                  <a:blipFill>
                    <a:blip r:embed="rId6"/>
                    <a:stretch>
                      <a:fillRect/>
                    </a:stretch>
                  </a:blipFill>
                </p:spPr>
                <p:txBody>
                  <a:bodyPr/>
                  <a:lstStyle/>
                  <a:p>
                    <a:r>
                      <a:rPr lang="en-US">
                        <a:noFill/>
                      </a:rPr>
                      <a:t> </a:t>
                    </a:r>
                  </a:p>
                </p:txBody>
              </p:sp>
            </mc:Fallback>
          </mc:AlternateContent>
          <p:cxnSp>
            <p:nvCxnSpPr>
              <p:cNvPr id="79" name="Straight Arrow Connector 78">
                <a:extLst>
                  <a:ext uri="{FF2B5EF4-FFF2-40B4-BE49-F238E27FC236}">
                    <a16:creationId xmlns:a16="http://schemas.microsoft.com/office/drawing/2014/main" id="{3A3D5740-0B86-72BD-C715-7F831EB7F742}"/>
                  </a:ext>
                  <a:ext uri="{C183D7F6-B498-43B3-948B-1728B52AA6E4}">
                    <adec:decorative xmlns:adec="http://schemas.microsoft.com/office/drawing/2017/decorative" val="1"/>
                  </a:ext>
                </a:extLst>
              </p:cNvPr>
              <p:cNvCxnSpPr>
                <a:cxnSpLocks/>
                <a:stCxn id="73" idx="6"/>
              </p:cNvCxnSpPr>
              <p:nvPr/>
            </p:nvCxnSpPr>
            <p:spPr>
              <a:xfrm>
                <a:off x="6288625" y="5892760"/>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1" name="TextBox 80">
                <a:extLst>
                  <a:ext uri="{FF2B5EF4-FFF2-40B4-BE49-F238E27FC236}">
                    <a16:creationId xmlns:a16="http://schemas.microsoft.com/office/drawing/2014/main" id="{63FC2EB1-BD9C-500D-D11C-8EFE2C782A95}"/>
                  </a:ext>
                </a:extLst>
              </p:cNvPr>
              <p:cNvSpPr txBox="1"/>
              <p:nvPr/>
            </p:nvSpPr>
            <p:spPr>
              <a:xfrm>
                <a:off x="7204076" y="5686053"/>
                <a:ext cx="395910" cy="369332"/>
              </a:xfrm>
              <a:prstGeom prst="rect">
                <a:avLst/>
              </a:prstGeom>
              <a:noFill/>
            </p:spPr>
            <p:txBody>
              <a:bodyPr wrap="square" rtlCol="0">
                <a:spAutoFit/>
              </a:bodyPr>
              <a:lstStyle/>
              <a:p>
                <a:r>
                  <a:rPr lang="en-US" dirty="0"/>
                  <a:t>…</a:t>
                </a:r>
              </a:p>
            </p:txBody>
          </p:sp>
          <p:sp>
            <p:nvSpPr>
              <p:cNvPr id="82" name="Rectangle 81">
                <a:extLst>
                  <a:ext uri="{FF2B5EF4-FFF2-40B4-BE49-F238E27FC236}">
                    <a16:creationId xmlns:a16="http://schemas.microsoft.com/office/drawing/2014/main" id="{33CF2DCD-1A4F-80EF-7EC5-D9D7734BCBB3}"/>
                  </a:ext>
                  <a:ext uri="{C183D7F6-B498-43B3-948B-1728B52AA6E4}">
                    <adec:decorative xmlns:adec="http://schemas.microsoft.com/office/drawing/2017/decorative" val="1"/>
                  </a:ext>
                </a:extLst>
              </p:cNvPr>
              <p:cNvSpPr/>
              <p:nvPr/>
            </p:nvSpPr>
            <p:spPr>
              <a:xfrm>
                <a:off x="3077744" y="5522666"/>
                <a:ext cx="4759686" cy="720737"/>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23" name="Speech Bubble: Rectangle with Corners Rounded 122" descr="Subscript is time t">
                  <a:extLst>
                    <a:ext uri="{FF2B5EF4-FFF2-40B4-BE49-F238E27FC236}">
                      <a16:creationId xmlns:a16="http://schemas.microsoft.com/office/drawing/2014/main" id="{2FEA0EFC-D3F4-D91B-15F9-10DB23356914}"/>
                    </a:ext>
                  </a:extLst>
                </p:cNvPr>
                <p:cNvSpPr/>
                <p:nvPr/>
              </p:nvSpPr>
              <p:spPr>
                <a:xfrm>
                  <a:off x="7515885" y="5208563"/>
                  <a:ext cx="1641423" cy="821386"/>
                </a:xfrm>
                <a:prstGeom prst="wedgeRoundRectCallout">
                  <a:avLst>
                    <a:gd name="adj1" fmla="val -126312"/>
                    <a:gd name="adj2" fmla="val -15062"/>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Subscript is time </a:t>
                  </a:r>
                  <a14:m>
                    <m:oMath xmlns:m="http://schemas.openxmlformats.org/officeDocument/2006/math">
                      <m:r>
                        <a:rPr lang="en-US" b="0" i="1" smtClean="0">
                          <a:latin typeface="Cambria Math" panose="02040503050406030204" pitchFamily="18" charset="0"/>
                        </a:rPr>
                        <m:t>𝑡</m:t>
                      </m:r>
                    </m:oMath>
                  </a14:m>
                  <a:endParaRPr lang="en-US" dirty="0"/>
                </a:p>
              </p:txBody>
            </p:sp>
          </mc:Choice>
          <mc:Fallback xmlns="">
            <p:sp>
              <p:nvSpPr>
                <p:cNvPr id="123" name="Speech Bubble: Rectangle with Corners Rounded 122" descr="Subscript is time t">
                  <a:extLst>
                    <a:ext uri="{FF2B5EF4-FFF2-40B4-BE49-F238E27FC236}">
                      <a16:creationId xmlns:a16="http://schemas.microsoft.com/office/drawing/2014/main" id="{2FEA0EFC-D3F4-D91B-15F9-10DB23356914}"/>
                    </a:ext>
                  </a:extLst>
                </p:cNvPr>
                <p:cNvSpPr>
                  <a:spLocks noRot="1" noChangeAspect="1" noMove="1" noResize="1" noEditPoints="1" noAdjustHandles="1" noChangeArrowheads="1" noChangeShapeType="1" noTextEdit="1"/>
                </p:cNvSpPr>
                <p:nvPr/>
              </p:nvSpPr>
              <p:spPr>
                <a:xfrm>
                  <a:off x="7515885" y="5208563"/>
                  <a:ext cx="1641423" cy="821386"/>
                </a:xfrm>
                <a:prstGeom prst="wedgeRoundRectCallout">
                  <a:avLst>
                    <a:gd name="adj1" fmla="val -126312"/>
                    <a:gd name="adj2" fmla="val -15062"/>
                    <a:gd name="adj3" fmla="val 16667"/>
                  </a:avLst>
                </a:prstGeom>
                <a:blipFill>
                  <a:blip r:embed="rId12"/>
                  <a:stretch>
                    <a:fillRect/>
                  </a:stretch>
                </a:blipFill>
              </p:spPr>
              <p:txBody>
                <a:bodyPr/>
                <a:lstStyle/>
                <a:p>
                  <a:r>
                    <a:rPr lang="en-US">
                      <a:noFill/>
                    </a:rPr>
                    <a:t> </a:t>
                  </a:r>
                </a:p>
              </p:txBody>
            </p:sp>
          </mc:Fallback>
        </mc:AlternateContent>
      </p:grpSp>
      <p:sp>
        <p:nvSpPr>
          <p:cNvPr id="126" name="TextBox 125">
            <a:extLst>
              <a:ext uri="{FF2B5EF4-FFF2-40B4-BE49-F238E27FC236}">
                <a16:creationId xmlns:a16="http://schemas.microsoft.com/office/drawing/2014/main" id="{5FE7BA26-0A51-15B1-7D0F-5DACB67DA83D}"/>
              </a:ext>
            </a:extLst>
          </p:cNvPr>
          <p:cNvSpPr txBox="1"/>
          <p:nvPr/>
        </p:nvSpPr>
        <p:spPr>
          <a:xfrm>
            <a:off x="1136972" y="6253374"/>
            <a:ext cx="9631181" cy="36933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Note: This is called a discrete-time, stationary, 1</a:t>
            </a:r>
            <a:r>
              <a:rPr lang="en-US" baseline="30000" dirty="0"/>
              <a:t>st</a:t>
            </a:r>
            <a:r>
              <a:rPr lang="en-US" dirty="0"/>
              <a:t> –order Markov process with finite state space.</a:t>
            </a:r>
          </a:p>
        </p:txBody>
      </p:sp>
    </p:spTree>
    <p:extLst>
      <p:ext uri="{BB962C8B-B14F-4D97-AF65-F5344CB8AC3E}">
        <p14:creationId xmlns:p14="http://schemas.microsoft.com/office/powerpoint/2010/main" val="1470643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P spid="1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4A927-95BA-7D8A-1B61-379C0D091514}"/>
              </a:ext>
            </a:extLst>
          </p:cNvPr>
          <p:cNvSpPr>
            <a:spLocks noGrp="1"/>
          </p:cNvSpPr>
          <p:nvPr>
            <p:ph type="title"/>
          </p:nvPr>
        </p:nvSpPr>
        <p:spPr/>
        <p:txBody>
          <a:bodyPr/>
          <a:lstStyle/>
          <a:p>
            <a:r>
              <a:rPr lang="en-US" dirty="0"/>
              <a:t>Hidden Markov Model (HMM)</a:t>
            </a:r>
          </a:p>
        </p:txBody>
      </p:sp>
      <mc:AlternateContent xmlns:mc="http://schemas.openxmlformats.org/markup-compatibility/2006" xmlns:a14="http://schemas.microsoft.com/office/drawing/2010/main">
        <mc:Choice Requires="a14">
          <p:sp>
            <p:nvSpPr>
              <p:cNvPr id="3" name="Content Placeholder 2" descr="A statistical model used to predict a sequence of hidden events (states) by observing a sequence of visible outcomes defined by:. A set of hidden states: S equals {s sub 0, s sub 1,s sub 2, dot dot dot,s sub n}. A stochastic transition model: Pr (s sub t | s sub t minus 1) for all s sub t,s sub t minus 1, in S. A stochastic observation model: Pr (o sub t | s sub t). Use: State estimation (Filtering): Find most likely state given a sequence of observations">
                <a:extLst>
                  <a:ext uri="{FF2B5EF4-FFF2-40B4-BE49-F238E27FC236}">
                    <a16:creationId xmlns:a16="http://schemas.microsoft.com/office/drawing/2014/main" id="{85686AE2-B932-D772-B21D-29BFAA8373DA}"/>
                  </a:ext>
                </a:extLst>
              </p:cNvPr>
              <p:cNvSpPr>
                <a:spLocks noGrp="1"/>
              </p:cNvSpPr>
              <p:nvPr>
                <p:ph idx="1"/>
              </p:nvPr>
            </p:nvSpPr>
            <p:spPr>
              <a:xfrm>
                <a:off x="838200" y="1397331"/>
                <a:ext cx="10515600" cy="2994788"/>
              </a:xfrm>
            </p:spPr>
            <p:txBody>
              <a:bodyPr>
                <a:normAutofit fontScale="92500" lnSpcReduction="20000"/>
              </a:bodyPr>
              <a:lstStyle/>
              <a:p>
                <a:r>
                  <a:rPr lang="en-US" dirty="0"/>
                  <a:t>A statistical model used to predict a sequence of hidden events (states) by observing a sequence of visible outcomes defined by:</a:t>
                </a:r>
              </a:p>
              <a:p>
                <a:pPr lvl="1">
                  <a:lnSpc>
                    <a:spcPct val="120000"/>
                  </a:lnSpc>
                </a:pPr>
                <a:r>
                  <a:rPr lang="en-US" dirty="0"/>
                  <a:t>A set of hidden states: </a:t>
                </a:r>
                <a14:m>
                  <m:oMath xmlns:m="http://schemas.openxmlformats.org/officeDocument/2006/math">
                    <m:r>
                      <a:rPr lang="en-US" i="1" dirty="0">
                        <a:latin typeface="Cambria Math" panose="02040503050406030204" pitchFamily="18" charset="0"/>
                        <a:ea typeface="Cambria Math" panose="02040503050406030204" pitchFamily="18" charset="0"/>
                      </a:rPr>
                      <m:t>𝒮</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0</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2</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𝑛</m:t>
                        </m:r>
                      </m:sub>
                    </m:sSub>
                    <m:r>
                      <a:rPr lang="en-US" i="1" dirty="0">
                        <a:latin typeface="Cambria Math" panose="02040503050406030204" pitchFamily="18" charset="0"/>
                      </a:rPr>
                      <m:t>}</m:t>
                    </m:r>
                  </m:oMath>
                </a14:m>
                <a:endParaRPr lang="en-US" dirty="0"/>
              </a:p>
              <a:p>
                <a:pPr lvl="1">
                  <a:lnSpc>
                    <a:spcPct val="120000"/>
                  </a:lnSpc>
                </a:pPr>
                <a:r>
                  <a:rPr lang="en-US" dirty="0"/>
                  <a:t>A stochastic transition model: </a:t>
                </a:r>
                <a:r>
                  <a:rPr lang="en-US" i="1" dirty="0">
                    <a:latin typeface="Cambria Math" panose="02040503050406030204" pitchFamily="18" charset="0"/>
                  </a:rPr>
                  <a:t> </a:t>
                </a:r>
                <a:r>
                  <a:rPr lang="en-US" dirty="0">
                    <a:latin typeface="Cambria Math" panose="02040503050406030204" pitchFamily="18" charset="0"/>
                  </a:rPr>
                  <a:t>Pr</a:t>
                </a:r>
                <a14:m>
                  <m:oMath xmlns:m="http://schemas.openxmlformats.org/officeDocument/2006/math">
                    <m:d>
                      <m:dPr>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𝑡</m:t>
                            </m:r>
                          </m:sub>
                        </m:sSub>
                      </m:e>
                    </m:d>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𝑡</m:t>
                        </m:r>
                        <m:r>
                          <a:rPr lang="en-US" i="1" dirty="0">
                            <a:latin typeface="Cambria Math" panose="02040503050406030204" pitchFamily="18" charset="0"/>
                          </a:rPr>
                          <m:t>−1</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𝑡</m:t>
                        </m:r>
                        <m:r>
                          <a:rPr lang="en-US" i="1" dirty="0">
                            <a:latin typeface="Cambria Math" panose="02040503050406030204" pitchFamily="18" charset="0"/>
                          </a:rPr>
                          <m:t>−1</m:t>
                        </m:r>
                      </m:sub>
                    </m:sSub>
                    <m:r>
                      <a:rPr lang="en-US" i="1" dirty="0">
                        <a:latin typeface="Cambria Math" panose="02040503050406030204" pitchFamily="18" charset="0"/>
                      </a:rPr>
                      <m:t>∈</m:t>
                    </m:r>
                    <m:r>
                      <a:rPr lang="en-US" i="1" dirty="0">
                        <a:latin typeface="Cambria Math" panose="02040503050406030204" pitchFamily="18" charset="0"/>
                        <a:ea typeface="Cambria Math" panose="02040503050406030204" pitchFamily="18" charset="0"/>
                      </a:rPr>
                      <m:t>𝒮</m:t>
                    </m:r>
                  </m:oMath>
                </a14:m>
                <a:endParaRPr lang="en-US" dirty="0"/>
              </a:p>
              <a:p>
                <a:pPr lvl="1">
                  <a:lnSpc>
                    <a:spcPct val="120000"/>
                  </a:lnSpc>
                </a:pPr>
                <a:r>
                  <a:rPr lang="en-US" dirty="0"/>
                  <a:t>A stochastic observation model: </a:t>
                </a:r>
                <a:r>
                  <a:rPr lang="en-US" dirty="0">
                    <a:latin typeface="Cambria Math" panose="02040503050406030204" pitchFamily="18" charset="0"/>
                  </a:rPr>
                  <a:t>Pr</a:t>
                </a:r>
                <a14:m>
                  <m:oMath xmlns:m="http://schemas.openxmlformats.org/officeDocument/2006/math">
                    <m:d>
                      <m:dPr>
                        <m:endChr m:val="|"/>
                        <m:ctrlPr>
                          <a:rPr lang="en-US" i="1" dirty="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𝑜</m:t>
                            </m:r>
                          </m:e>
                          <m:sub>
                            <m:r>
                              <a:rPr lang="en-US" b="0" i="1" dirty="0">
                                <a:latin typeface="Cambria Math" panose="02040503050406030204" pitchFamily="18" charset="0"/>
                              </a:rPr>
                              <m:t>𝑡</m:t>
                            </m:r>
                          </m:sub>
                        </m:sSub>
                      </m:e>
                    </m:d>
                    <m:sSub>
                      <m:sSubPr>
                        <m:ctrlPr>
                          <a:rPr lang="en-US" b="0" i="1" dirty="0">
                            <a:latin typeface="Cambria Math" panose="02040503050406030204" pitchFamily="18" charset="0"/>
                          </a:rPr>
                        </m:ctrlPr>
                      </m:sSubPr>
                      <m:e>
                        <m:r>
                          <a:rPr lang="en-US" b="0" i="1" dirty="0">
                            <a:latin typeface="Cambria Math" panose="02040503050406030204" pitchFamily="18" charset="0"/>
                          </a:rPr>
                          <m:t>𝑠</m:t>
                        </m:r>
                      </m:e>
                      <m:sub>
                        <m:r>
                          <a:rPr lang="en-US" b="0" i="1" dirty="0">
                            <a:latin typeface="Cambria Math" panose="02040503050406030204" pitchFamily="18" charset="0"/>
                          </a:rPr>
                          <m:t>𝑡</m:t>
                        </m:r>
                      </m:sub>
                    </m:sSub>
                    <m:r>
                      <a:rPr lang="en-US" b="0" i="1" dirty="0">
                        <a:latin typeface="Cambria Math" panose="02040503050406030204" pitchFamily="18" charset="0"/>
                      </a:rPr>
                      <m:t>)</m:t>
                    </m:r>
                  </m:oMath>
                </a14:m>
                <a:endParaRPr lang="en-US" dirty="0"/>
              </a:p>
              <a:p>
                <a:pPr>
                  <a:lnSpc>
                    <a:spcPct val="120000"/>
                  </a:lnSpc>
                </a:pPr>
                <a:r>
                  <a:rPr lang="en-US" dirty="0"/>
                  <a:t>Use: State estimation (Filtering): Find most likely state given a sequence of observations.</a:t>
                </a:r>
              </a:p>
              <a:p>
                <a:pPr lvl="1">
                  <a:lnSpc>
                    <a:spcPct val="120000"/>
                  </a:lnSpc>
                </a:pPr>
                <a:endParaRPr lang="en-US" dirty="0"/>
              </a:p>
            </p:txBody>
          </p:sp>
        </mc:Choice>
        <mc:Fallback xmlns="">
          <p:sp>
            <p:nvSpPr>
              <p:cNvPr id="3" name="Content Placeholder 2" descr="A statistical model used to predict a sequence of hidden events (states) by observing a sequence of visible outcomes defined by:. A set of hidden states: S equals {s sub 0, s sub 1,s sub 2, dot dot dot,s sub n}. A stochastic transition model: Pr (s sub t | s sub t minus 1) for all s sub t,s sub t minus 1, in S. A stochastic observation model: Pr (o sub t | s sub t). Use: State estimation (Filtering): Find most likely state given a sequence of observations">
                <a:extLst>
                  <a:ext uri="{FF2B5EF4-FFF2-40B4-BE49-F238E27FC236}">
                    <a16:creationId xmlns:a16="http://schemas.microsoft.com/office/drawing/2014/main" id="{85686AE2-B932-D772-B21D-29BFAA8373DA}"/>
                  </a:ext>
                </a:extLst>
              </p:cNvPr>
              <p:cNvSpPr>
                <a:spLocks noGrp="1" noRot="1" noChangeAspect="1" noMove="1" noResize="1" noEditPoints="1" noAdjustHandles="1" noChangeArrowheads="1" noChangeShapeType="1" noTextEdit="1"/>
              </p:cNvSpPr>
              <p:nvPr>
                <p:ph idx="1"/>
              </p:nvPr>
            </p:nvSpPr>
            <p:spPr>
              <a:xfrm>
                <a:off x="838200" y="1397331"/>
                <a:ext cx="10515600" cy="2994788"/>
              </a:xfrm>
              <a:blipFill>
                <a:blip r:embed="rId2"/>
                <a:stretch>
                  <a:fillRect l="-928" t="-5092"/>
                </a:stretch>
              </a:blipFill>
            </p:spPr>
            <p:txBody>
              <a:bodyPr/>
              <a:lstStyle/>
              <a:p>
                <a:r>
                  <a:rPr lang="en-US">
                    <a:noFill/>
                  </a:rPr>
                  <a:t> </a:t>
                </a:r>
              </a:p>
            </p:txBody>
          </p:sp>
        </mc:Fallback>
      </mc:AlternateContent>
      <p:grpSp>
        <p:nvGrpSpPr>
          <p:cNvPr id="37" name="Group 36" descr="Hidden Markov model unrolled over time: a chain of hidden states s1 → s2 → s3 → and so on (on a gray band), and each state s_t emits an observation o_t shown above it.">
            <a:extLst>
              <a:ext uri="{FF2B5EF4-FFF2-40B4-BE49-F238E27FC236}">
                <a16:creationId xmlns:a16="http://schemas.microsoft.com/office/drawing/2014/main" id="{77CD9D90-62B0-A388-B7E6-A1BC42CA9720}"/>
              </a:ext>
            </a:extLst>
          </p:cNvPr>
          <p:cNvGrpSpPr/>
          <p:nvPr/>
        </p:nvGrpSpPr>
        <p:grpSpPr>
          <a:xfrm>
            <a:off x="3919753" y="4447647"/>
            <a:ext cx="4810824" cy="1454047"/>
            <a:chOff x="3919753" y="4447647"/>
            <a:chExt cx="4810824" cy="1454047"/>
          </a:xfrm>
        </p:grpSpPr>
        <p:grpSp>
          <p:nvGrpSpPr>
            <p:cNvPr id="35" name="Group 34" descr="Diagram with labels: s sub 1; s sub 2; s sub 3; …; o sub 1; o sub 3; o sub 2.">
              <a:extLst>
                <a:ext uri="{FF2B5EF4-FFF2-40B4-BE49-F238E27FC236}">
                  <a16:creationId xmlns:a16="http://schemas.microsoft.com/office/drawing/2014/main" id="{1D94637A-F96B-275C-13A7-CCAC288021AD}"/>
                </a:ext>
              </a:extLst>
            </p:cNvPr>
            <p:cNvGrpSpPr/>
            <p:nvPr/>
          </p:nvGrpSpPr>
          <p:grpSpPr>
            <a:xfrm>
              <a:off x="3919753" y="4447647"/>
              <a:ext cx="4759686" cy="1454047"/>
              <a:chOff x="2188389" y="4192815"/>
              <a:chExt cx="4759686" cy="1454047"/>
            </a:xfrm>
          </p:grpSpPr>
          <mc:AlternateContent xmlns:mc="http://schemas.openxmlformats.org/markup-compatibility/2006" xmlns:a14="http://schemas.microsoft.com/office/drawing/2010/main">
            <mc:Choice Requires="a14">
              <p:sp>
                <p:nvSpPr>
                  <p:cNvPr id="5" name="Oval 4" descr="Equation: s sub 1">
                    <a:extLst>
                      <a:ext uri="{FF2B5EF4-FFF2-40B4-BE49-F238E27FC236}">
                        <a16:creationId xmlns:a16="http://schemas.microsoft.com/office/drawing/2014/main" id="{7670CFED-1BB8-EB3A-F3E9-EF16C9B42359}"/>
                      </a:ext>
                    </a:extLst>
                  </p:cNvPr>
                  <p:cNvSpPr/>
                  <p:nvPr/>
                </p:nvSpPr>
                <p:spPr>
                  <a:xfrm>
                    <a:off x="2445560" y="5095160"/>
                    <a:ext cx="381000" cy="381000"/>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oMath>
                      </m:oMathPara>
                    </a14:m>
                    <a:endParaRPr lang="en-US" dirty="0"/>
                  </a:p>
                </p:txBody>
              </p:sp>
            </mc:Choice>
            <mc:Fallback xmlns="">
              <p:sp>
                <p:nvSpPr>
                  <p:cNvPr id="5" name="Oval 4" descr="Equation: s sub 1">
                    <a:extLst>
                      <a:ext uri="{FF2B5EF4-FFF2-40B4-BE49-F238E27FC236}">
                        <a16:creationId xmlns:a16="http://schemas.microsoft.com/office/drawing/2014/main" id="{7670CFED-1BB8-EB3A-F3E9-EF16C9B42359}"/>
                      </a:ext>
                    </a:extLst>
                  </p:cNvPr>
                  <p:cNvSpPr>
                    <a:spLocks noRot="1" noChangeAspect="1" noMove="1" noResize="1" noEditPoints="1" noAdjustHandles="1" noChangeArrowheads="1" noChangeShapeType="1" noTextEdit="1"/>
                  </p:cNvSpPr>
                  <p:nvPr/>
                </p:nvSpPr>
                <p:spPr>
                  <a:xfrm>
                    <a:off x="2445560" y="5095160"/>
                    <a:ext cx="381000" cy="381000"/>
                  </a:xfrm>
                  <a:prstGeom prst="ellipse">
                    <a:avLst/>
                  </a:prstGeom>
                  <a:blipFill>
                    <a:blip r:embed="rId3"/>
                    <a:stretch>
                      <a:fillRect/>
                    </a:stretch>
                  </a:blipFill>
                  <a:ln/>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BFF7E92F-BCB4-56D2-9A25-3D49339A776D}"/>
                  </a:ext>
                  <a:ext uri="{C183D7F6-B498-43B3-948B-1728B52AA6E4}">
                    <adec:decorative xmlns:adec="http://schemas.microsoft.com/office/drawing/2017/decorative" val="1"/>
                  </a:ext>
                </a:extLst>
              </p:cNvPr>
              <p:cNvCxnSpPr>
                <a:cxnSpLocks/>
                <a:stCxn id="5" idx="6"/>
              </p:cNvCxnSpPr>
              <p:nvPr/>
            </p:nvCxnSpPr>
            <p:spPr>
              <a:xfrm>
                <a:off x="2826560" y="5285660"/>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 name="Oval 6" descr="Equation: s sub 2">
                    <a:extLst>
                      <a:ext uri="{FF2B5EF4-FFF2-40B4-BE49-F238E27FC236}">
                        <a16:creationId xmlns:a16="http://schemas.microsoft.com/office/drawing/2014/main" id="{02067943-3223-E5FC-3082-3F91D9DA7350}"/>
                      </a:ext>
                    </a:extLst>
                  </p:cNvPr>
                  <p:cNvSpPr/>
                  <p:nvPr/>
                </p:nvSpPr>
                <p:spPr>
                  <a:xfrm>
                    <a:off x="3734364" y="5095160"/>
                    <a:ext cx="381000" cy="381000"/>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oMath>
                      </m:oMathPara>
                    </a14:m>
                    <a:endParaRPr lang="en-US" dirty="0"/>
                  </a:p>
                </p:txBody>
              </p:sp>
            </mc:Choice>
            <mc:Fallback xmlns="">
              <p:sp>
                <p:nvSpPr>
                  <p:cNvPr id="7" name="Oval 6" descr="Equation: s sub 2">
                    <a:extLst>
                      <a:ext uri="{FF2B5EF4-FFF2-40B4-BE49-F238E27FC236}">
                        <a16:creationId xmlns:a16="http://schemas.microsoft.com/office/drawing/2014/main" id="{02067943-3223-E5FC-3082-3F91D9DA7350}"/>
                      </a:ext>
                    </a:extLst>
                  </p:cNvPr>
                  <p:cNvSpPr>
                    <a:spLocks noRot="1" noChangeAspect="1" noMove="1" noResize="1" noEditPoints="1" noAdjustHandles="1" noChangeArrowheads="1" noChangeShapeType="1" noTextEdit="1"/>
                  </p:cNvSpPr>
                  <p:nvPr/>
                </p:nvSpPr>
                <p:spPr>
                  <a:xfrm>
                    <a:off x="3734364" y="5095160"/>
                    <a:ext cx="381000" cy="381000"/>
                  </a:xfrm>
                  <a:prstGeom prst="ellipse">
                    <a:avLst/>
                  </a:prstGeom>
                  <a:blipFill>
                    <a:blip r:embed="rId4"/>
                    <a:stretch>
                      <a:fillRect/>
                    </a:stretch>
                  </a:blipFill>
                  <a:ln/>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A7FEDC04-060B-B37D-46AD-2A4380696E04}"/>
                  </a:ext>
                  <a:ext uri="{C183D7F6-B498-43B3-948B-1728B52AA6E4}">
                    <adec:decorative xmlns:adec="http://schemas.microsoft.com/office/drawing/2017/decorative" val="1"/>
                  </a:ext>
                </a:extLst>
              </p:cNvPr>
              <p:cNvCxnSpPr>
                <a:cxnSpLocks/>
                <a:stCxn id="7" idx="6"/>
              </p:cNvCxnSpPr>
              <p:nvPr/>
            </p:nvCxnSpPr>
            <p:spPr>
              <a:xfrm>
                <a:off x="4115364" y="5285660"/>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Oval 8" descr="Equation: s sub 3">
                    <a:extLst>
                      <a:ext uri="{FF2B5EF4-FFF2-40B4-BE49-F238E27FC236}">
                        <a16:creationId xmlns:a16="http://schemas.microsoft.com/office/drawing/2014/main" id="{FA131044-9C02-0670-DCCE-4A2798B39C91}"/>
                      </a:ext>
                    </a:extLst>
                  </p:cNvPr>
                  <p:cNvSpPr/>
                  <p:nvPr/>
                </p:nvSpPr>
                <p:spPr>
                  <a:xfrm>
                    <a:off x="5023208" y="5095160"/>
                    <a:ext cx="381000" cy="381000"/>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3</m:t>
                              </m:r>
                            </m:sub>
                          </m:sSub>
                        </m:oMath>
                      </m:oMathPara>
                    </a14:m>
                    <a:endParaRPr lang="en-US" dirty="0"/>
                  </a:p>
                </p:txBody>
              </p:sp>
            </mc:Choice>
            <mc:Fallback xmlns="">
              <p:sp>
                <p:nvSpPr>
                  <p:cNvPr id="9" name="Oval 8" descr="Equation: s sub 3">
                    <a:extLst>
                      <a:ext uri="{FF2B5EF4-FFF2-40B4-BE49-F238E27FC236}">
                        <a16:creationId xmlns:a16="http://schemas.microsoft.com/office/drawing/2014/main" id="{FA131044-9C02-0670-DCCE-4A2798B39C91}"/>
                      </a:ext>
                    </a:extLst>
                  </p:cNvPr>
                  <p:cNvSpPr>
                    <a:spLocks noRot="1" noChangeAspect="1" noMove="1" noResize="1" noEditPoints="1" noAdjustHandles="1" noChangeArrowheads="1" noChangeShapeType="1" noTextEdit="1"/>
                  </p:cNvSpPr>
                  <p:nvPr/>
                </p:nvSpPr>
                <p:spPr>
                  <a:xfrm>
                    <a:off x="5023208" y="5095160"/>
                    <a:ext cx="381000" cy="381000"/>
                  </a:xfrm>
                  <a:prstGeom prst="ellipse">
                    <a:avLst/>
                  </a:prstGeom>
                  <a:blipFill>
                    <a:blip r:embed="rId5"/>
                    <a:stretch>
                      <a:fillRect/>
                    </a:stretch>
                  </a:blipFill>
                  <a:ln/>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EA8E4E24-24AD-0E40-B9B8-E5DA66BCBF4E}"/>
                  </a:ext>
                  <a:ext uri="{C183D7F6-B498-43B3-948B-1728B52AA6E4}">
                    <adec:decorative xmlns:adec="http://schemas.microsoft.com/office/drawing/2017/decorative" val="1"/>
                  </a:ext>
                </a:extLst>
              </p:cNvPr>
              <p:cNvCxnSpPr>
                <a:cxnSpLocks/>
                <a:stCxn id="9" idx="6"/>
              </p:cNvCxnSpPr>
              <p:nvPr/>
            </p:nvCxnSpPr>
            <p:spPr>
              <a:xfrm>
                <a:off x="5404208" y="5285660"/>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D35A34F5-0490-497A-EF19-DFF85D2E977F}"/>
                  </a:ext>
                </a:extLst>
              </p:cNvPr>
              <p:cNvSpPr txBox="1"/>
              <p:nvPr/>
            </p:nvSpPr>
            <p:spPr>
              <a:xfrm>
                <a:off x="6319659" y="5078953"/>
                <a:ext cx="395910" cy="369332"/>
              </a:xfrm>
              <a:prstGeom prst="rect">
                <a:avLst/>
              </a:prstGeom>
              <a:noFill/>
            </p:spPr>
            <p:txBody>
              <a:bodyPr wrap="square" rtlCol="0">
                <a:spAutoFit/>
              </a:bodyPr>
              <a:lstStyle/>
              <a:p>
                <a:r>
                  <a:rPr lang="en-US" dirty="0"/>
                  <a:t>…</a:t>
                </a:r>
              </a:p>
            </p:txBody>
          </p:sp>
          <p:sp>
            <p:nvSpPr>
              <p:cNvPr id="12" name="Rectangle 11">
                <a:extLst>
                  <a:ext uri="{FF2B5EF4-FFF2-40B4-BE49-F238E27FC236}">
                    <a16:creationId xmlns:a16="http://schemas.microsoft.com/office/drawing/2014/main" id="{FB1B7700-2D13-60AA-E00D-F5AB683CC227}"/>
                  </a:ext>
                  <a:ext uri="{C183D7F6-B498-43B3-948B-1728B52AA6E4}">
                    <adec:decorative xmlns:adec="http://schemas.microsoft.com/office/drawing/2017/decorative" val="1"/>
                  </a:ext>
                </a:extLst>
              </p:cNvPr>
              <p:cNvSpPr/>
              <p:nvPr/>
            </p:nvSpPr>
            <p:spPr>
              <a:xfrm>
                <a:off x="2188389" y="4192815"/>
                <a:ext cx="4759686" cy="1454047"/>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2" name="Oval 21" descr="Equation: o sub 1">
                    <a:extLst>
                      <a:ext uri="{FF2B5EF4-FFF2-40B4-BE49-F238E27FC236}">
                        <a16:creationId xmlns:a16="http://schemas.microsoft.com/office/drawing/2014/main" id="{C2945A3C-74B0-2DBB-79FF-743E83BA9C00}"/>
                      </a:ext>
                    </a:extLst>
                  </p:cNvPr>
                  <p:cNvSpPr/>
                  <p:nvPr/>
                </p:nvSpPr>
                <p:spPr>
                  <a:xfrm>
                    <a:off x="2445560" y="4363518"/>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1</m:t>
                              </m:r>
                            </m:sub>
                          </m:sSub>
                        </m:oMath>
                      </m:oMathPara>
                    </a14:m>
                    <a:endParaRPr lang="en-US" dirty="0"/>
                  </a:p>
                </p:txBody>
              </p:sp>
            </mc:Choice>
            <mc:Fallback xmlns="">
              <p:sp>
                <p:nvSpPr>
                  <p:cNvPr id="22" name="Oval 21" descr="Equation: o sub 1">
                    <a:extLst>
                      <a:ext uri="{FF2B5EF4-FFF2-40B4-BE49-F238E27FC236}">
                        <a16:creationId xmlns:a16="http://schemas.microsoft.com/office/drawing/2014/main" id="{C2945A3C-74B0-2DBB-79FF-743E83BA9C00}"/>
                      </a:ext>
                    </a:extLst>
                  </p:cNvPr>
                  <p:cNvSpPr>
                    <a:spLocks noRot="1" noChangeAspect="1" noMove="1" noResize="1" noEditPoints="1" noAdjustHandles="1" noChangeArrowheads="1" noChangeShapeType="1" noTextEdit="1"/>
                  </p:cNvSpPr>
                  <p:nvPr/>
                </p:nvSpPr>
                <p:spPr>
                  <a:xfrm>
                    <a:off x="2445560" y="4363518"/>
                    <a:ext cx="381000" cy="381000"/>
                  </a:xfrm>
                  <a:prstGeom prst="ellipse">
                    <a:avLst/>
                  </a:prstGeom>
                  <a:blipFill>
                    <a:blip r:embed="rId6"/>
                    <a:stretch>
                      <a:fillRect/>
                    </a:stretch>
                  </a:blipFill>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172E9BBB-A61E-98EB-0469-815BEFE8FDA6}"/>
                  </a:ext>
                  <a:ext uri="{C183D7F6-B498-43B3-948B-1728B52AA6E4}">
                    <adec:decorative xmlns:adec="http://schemas.microsoft.com/office/drawing/2017/decorative" val="1"/>
                  </a:ext>
                </a:extLst>
              </p:cNvPr>
              <p:cNvCxnSpPr>
                <a:stCxn id="5" idx="0"/>
                <a:endCxn id="22" idx="4"/>
              </p:cNvCxnSpPr>
              <p:nvPr/>
            </p:nvCxnSpPr>
            <p:spPr>
              <a:xfrm flipV="1">
                <a:off x="2636060" y="4744518"/>
                <a:ext cx="0" cy="35064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sp>
                <p:nvSpPr>
                  <p:cNvPr id="25" name="Oval 24" descr="Equation: o sub 3">
                    <a:extLst>
                      <a:ext uri="{FF2B5EF4-FFF2-40B4-BE49-F238E27FC236}">
                        <a16:creationId xmlns:a16="http://schemas.microsoft.com/office/drawing/2014/main" id="{DEE84496-6463-B1B0-DF07-347AC5918CB2}"/>
                      </a:ext>
                    </a:extLst>
                  </p:cNvPr>
                  <p:cNvSpPr/>
                  <p:nvPr/>
                </p:nvSpPr>
                <p:spPr>
                  <a:xfrm>
                    <a:off x="5023168" y="4363518"/>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3</m:t>
                              </m:r>
                            </m:sub>
                          </m:sSub>
                        </m:oMath>
                      </m:oMathPara>
                    </a14:m>
                    <a:endParaRPr lang="en-US" dirty="0"/>
                  </a:p>
                </p:txBody>
              </p:sp>
            </mc:Choice>
            <mc:Fallback xmlns="">
              <p:sp>
                <p:nvSpPr>
                  <p:cNvPr id="25" name="Oval 24" descr="Equation: o sub 3">
                    <a:extLst>
                      <a:ext uri="{FF2B5EF4-FFF2-40B4-BE49-F238E27FC236}">
                        <a16:creationId xmlns:a16="http://schemas.microsoft.com/office/drawing/2014/main" id="{DEE84496-6463-B1B0-DF07-347AC5918CB2}"/>
                      </a:ext>
                    </a:extLst>
                  </p:cNvPr>
                  <p:cNvSpPr>
                    <a:spLocks noRot="1" noChangeAspect="1" noMove="1" noResize="1" noEditPoints="1" noAdjustHandles="1" noChangeArrowheads="1" noChangeShapeType="1" noTextEdit="1"/>
                  </p:cNvSpPr>
                  <p:nvPr/>
                </p:nvSpPr>
                <p:spPr>
                  <a:xfrm>
                    <a:off x="5023168" y="4363518"/>
                    <a:ext cx="381000" cy="381000"/>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descr="Equation: o sub 2">
                    <a:extLst>
                      <a:ext uri="{FF2B5EF4-FFF2-40B4-BE49-F238E27FC236}">
                        <a16:creationId xmlns:a16="http://schemas.microsoft.com/office/drawing/2014/main" id="{383E718D-49C0-8801-E1B3-6EF5B7C9E749}"/>
                      </a:ext>
                    </a:extLst>
                  </p:cNvPr>
                  <p:cNvSpPr/>
                  <p:nvPr/>
                </p:nvSpPr>
                <p:spPr>
                  <a:xfrm>
                    <a:off x="3734364" y="4363518"/>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2</m:t>
                              </m:r>
                            </m:sub>
                          </m:sSub>
                        </m:oMath>
                      </m:oMathPara>
                    </a14:m>
                    <a:endParaRPr lang="en-US" dirty="0"/>
                  </a:p>
                </p:txBody>
              </p:sp>
            </mc:Choice>
            <mc:Fallback xmlns="">
              <p:sp>
                <p:nvSpPr>
                  <p:cNvPr id="26" name="Oval 25" descr="Equation: o sub 2">
                    <a:extLst>
                      <a:ext uri="{FF2B5EF4-FFF2-40B4-BE49-F238E27FC236}">
                        <a16:creationId xmlns:a16="http://schemas.microsoft.com/office/drawing/2014/main" id="{383E718D-49C0-8801-E1B3-6EF5B7C9E749}"/>
                      </a:ext>
                    </a:extLst>
                  </p:cNvPr>
                  <p:cNvSpPr>
                    <a:spLocks noRot="1" noChangeAspect="1" noMove="1" noResize="1" noEditPoints="1" noAdjustHandles="1" noChangeArrowheads="1" noChangeShapeType="1" noTextEdit="1"/>
                  </p:cNvSpPr>
                  <p:nvPr/>
                </p:nvSpPr>
                <p:spPr>
                  <a:xfrm>
                    <a:off x="3734364" y="4363518"/>
                    <a:ext cx="381000" cy="381000"/>
                  </a:xfrm>
                  <a:prstGeom prst="ellipse">
                    <a:avLst/>
                  </a:prstGeom>
                  <a:blipFill>
                    <a:blip r:embed="rId8"/>
                    <a:stretch>
                      <a:fillRect/>
                    </a:stretch>
                  </a:blipFill>
                </p:spPr>
                <p:txBody>
                  <a:bodyPr/>
                  <a:lstStyle/>
                  <a:p>
                    <a:r>
                      <a:rPr lang="en-US">
                        <a:noFill/>
                      </a:rPr>
                      <a:t> </a:t>
                    </a:r>
                  </a:p>
                </p:txBody>
              </p:sp>
            </mc:Fallback>
          </mc:AlternateContent>
          <p:cxnSp>
            <p:nvCxnSpPr>
              <p:cNvPr id="27" name="Straight Arrow Connector 26">
                <a:extLst>
                  <a:ext uri="{FF2B5EF4-FFF2-40B4-BE49-F238E27FC236}">
                    <a16:creationId xmlns:a16="http://schemas.microsoft.com/office/drawing/2014/main" id="{4710BFC6-C1B6-DBEF-1DB4-493D356BF706}"/>
                  </a:ext>
                  <a:ext uri="{C183D7F6-B498-43B3-948B-1728B52AA6E4}">
                    <adec:decorative xmlns:adec="http://schemas.microsoft.com/office/drawing/2017/decorative" val="1"/>
                  </a:ext>
                </a:extLst>
              </p:cNvPr>
              <p:cNvCxnSpPr>
                <a:cxnSpLocks/>
                <a:stCxn id="7" idx="0"/>
                <a:endCxn id="26" idx="4"/>
              </p:cNvCxnSpPr>
              <p:nvPr/>
            </p:nvCxnSpPr>
            <p:spPr>
              <a:xfrm flipV="1">
                <a:off x="3924864" y="4744518"/>
                <a:ext cx="0" cy="35064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28" name="Straight Arrow Connector 27">
                <a:extLst>
                  <a:ext uri="{FF2B5EF4-FFF2-40B4-BE49-F238E27FC236}">
                    <a16:creationId xmlns:a16="http://schemas.microsoft.com/office/drawing/2014/main" id="{AFC3ED8D-BFF7-1392-553A-C408C6D8B6ED}"/>
                  </a:ext>
                  <a:ext uri="{C183D7F6-B498-43B3-948B-1728B52AA6E4}">
                    <adec:decorative xmlns:adec="http://schemas.microsoft.com/office/drawing/2017/decorative" val="1"/>
                  </a:ext>
                </a:extLst>
              </p:cNvPr>
              <p:cNvCxnSpPr>
                <a:cxnSpLocks/>
              </p:cNvCxnSpPr>
              <p:nvPr/>
            </p:nvCxnSpPr>
            <p:spPr>
              <a:xfrm flipH="1" flipV="1">
                <a:off x="5221163" y="4744518"/>
                <a:ext cx="40" cy="35064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34" name="Rectangle 33">
                <a:extLst>
                  <a:ext uri="{FF2B5EF4-FFF2-40B4-BE49-F238E27FC236}">
                    <a16:creationId xmlns:a16="http://schemas.microsoft.com/office/drawing/2014/main" id="{10B2624F-D32F-B006-F675-51AFABC9D89B}"/>
                  </a:ext>
                  <a:ext uri="{C183D7F6-B498-43B3-948B-1728B52AA6E4}">
                    <adec:decorative xmlns:adec="http://schemas.microsoft.com/office/drawing/2017/decorative" val="1"/>
                  </a:ext>
                </a:extLst>
              </p:cNvPr>
              <p:cNvSpPr/>
              <p:nvPr/>
            </p:nvSpPr>
            <p:spPr>
              <a:xfrm>
                <a:off x="2286000" y="5006715"/>
                <a:ext cx="4564465" cy="554636"/>
              </a:xfrm>
              <a:prstGeom prst="rect">
                <a:avLst/>
              </a:prstGeom>
              <a:solidFill>
                <a:srgbClr val="747474">
                  <a:alpha val="50196"/>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grpSp>
        <p:sp>
          <p:nvSpPr>
            <p:cNvPr id="36" name="TextBox 35">
              <a:extLst>
                <a:ext uri="{FF2B5EF4-FFF2-40B4-BE49-F238E27FC236}">
                  <a16:creationId xmlns:a16="http://schemas.microsoft.com/office/drawing/2014/main" id="{F36894D6-C62C-18ED-B8B4-49E558319135}"/>
                </a:ext>
              </a:extLst>
            </p:cNvPr>
            <p:cNvSpPr txBox="1"/>
            <p:nvPr/>
          </p:nvSpPr>
          <p:spPr>
            <a:xfrm>
              <a:off x="7925049" y="4469650"/>
              <a:ext cx="805528" cy="369332"/>
            </a:xfrm>
            <a:prstGeom prst="rect">
              <a:avLst/>
            </a:prstGeom>
            <a:noFill/>
          </p:spPr>
          <p:txBody>
            <a:bodyPr wrap="square" rtlCol="0">
              <a:spAutoFit/>
            </a:bodyPr>
            <a:lstStyle/>
            <a:p>
              <a:r>
                <a:rPr lang="en-US" dirty="0"/>
                <a:t>HMM</a:t>
              </a:r>
            </a:p>
          </p:txBody>
        </p:sp>
      </p:grpSp>
    </p:spTree>
    <p:extLst>
      <p:ext uri="{BB962C8B-B14F-4D97-AF65-F5344CB8AC3E}">
        <p14:creationId xmlns:p14="http://schemas.microsoft.com/office/powerpoint/2010/main" val="3752213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CC91D-5DF9-1FC2-2816-989A13B06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C0B64B-329D-5981-5D6B-A06BDF5736A9}"/>
              </a:ext>
            </a:extLst>
          </p:cNvPr>
          <p:cNvSpPr>
            <a:spLocks noGrp="1"/>
          </p:cNvSpPr>
          <p:nvPr>
            <p:ph type="title"/>
          </p:nvPr>
        </p:nvSpPr>
        <p:spPr/>
        <p:txBody>
          <a:bodyPr>
            <a:normAutofit/>
          </a:bodyPr>
          <a:lstStyle/>
          <a:p>
            <a:r>
              <a:rPr lang="en-US" dirty="0"/>
              <a:t>Markov Decision Process (MDP)</a:t>
            </a:r>
          </a:p>
        </p:txBody>
      </p:sp>
      <mc:AlternateContent xmlns:mc="http://schemas.openxmlformats.org/markup-compatibility/2006" xmlns:a14="http://schemas.microsoft.com/office/drawing/2010/main">
        <mc:Choice Requires="a14">
          <p:sp>
            <p:nvSpPr>
              <p:cNvPr id="3" name="Content Placeholder 2" descr="Finite MDPs are discrete-time stochastic control processes defined by:. A finite set of states S equals {s sub 0, s sub 1,s sub 2, dot dot dot,s sub n}. A set of available actions A (s) for all s in S. A transition model Pr(s prime given s, a) where a in A(s). A reward function r where the immediate reward depends on the current state and action (often modeled as r(s,a,s prime))">
                <a:extLst>
                  <a:ext uri="{FF2B5EF4-FFF2-40B4-BE49-F238E27FC236}">
                    <a16:creationId xmlns:a16="http://schemas.microsoft.com/office/drawing/2014/main" id="{B68A2157-F99A-01D6-0534-94E00339C912}"/>
                  </a:ext>
                </a:extLst>
              </p:cNvPr>
              <p:cNvSpPr>
                <a:spLocks noGrp="1"/>
              </p:cNvSpPr>
              <p:nvPr>
                <p:ph idx="1"/>
              </p:nvPr>
            </p:nvSpPr>
            <p:spPr>
              <a:xfrm>
                <a:off x="879260" y="1373999"/>
                <a:ext cx="7040943" cy="3018119"/>
              </a:xfrm>
            </p:spPr>
            <p:txBody>
              <a:bodyPr>
                <a:normAutofit fontScale="92500" lnSpcReduction="20000"/>
              </a:bodyPr>
              <a:lstStyle/>
              <a:p>
                <a:pPr marL="0" indent="0">
                  <a:buNone/>
                </a:pPr>
                <a:r>
                  <a:rPr lang="en-US" dirty="0"/>
                  <a:t>Finite MDPs are discrete-time stochastic control processes defined by:</a:t>
                </a:r>
              </a:p>
              <a:p>
                <a:pPr lvl="1">
                  <a:lnSpc>
                    <a:spcPct val="120000"/>
                  </a:lnSpc>
                </a:pPr>
                <a:r>
                  <a:rPr lang="en-US" dirty="0"/>
                  <a:t>A finite set of </a:t>
                </a:r>
                <a:r>
                  <a:rPr lang="en-US" b="1" dirty="0"/>
                  <a:t>states</a:t>
                </a:r>
                <a:r>
                  <a:rPr lang="en-US" dirty="0"/>
                  <a:t> </a:t>
                </a:r>
                <a14:m>
                  <m:oMath xmlns:m="http://schemas.openxmlformats.org/officeDocument/2006/math">
                    <m:r>
                      <a:rPr lang="en-US" i="1" dirty="0" smtClean="0">
                        <a:latin typeface="Cambria Math" panose="02040503050406030204" pitchFamily="18" charset="0"/>
                        <a:ea typeface="Cambria Math" panose="02040503050406030204" pitchFamily="18" charset="0"/>
                      </a:rPr>
                      <m:t>𝒮</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0</m:t>
                        </m:r>
                      </m:sub>
                    </m:sSub>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𝑛</m:t>
                        </m:r>
                      </m:sub>
                    </m:sSub>
                    <m:r>
                      <a:rPr lang="en-US" b="0" i="1" dirty="0" smtClean="0">
                        <a:latin typeface="Cambria Math" panose="02040503050406030204" pitchFamily="18" charset="0"/>
                      </a:rPr>
                      <m:t>}</m:t>
                    </m:r>
                  </m:oMath>
                </a14:m>
                <a:endParaRPr lang="en-US" dirty="0"/>
              </a:p>
              <a:p>
                <a:pPr lvl="1">
                  <a:lnSpc>
                    <a:spcPct val="120000"/>
                  </a:lnSpc>
                </a:pPr>
                <a:r>
                  <a:rPr lang="en-US" dirty="0"/>
                  <a:t>A set of available </a:t>
                </a:r>
                <a:r>
                  <a:rPr lang="en-US" b="1" dirty="0"/>
                  <a:t>actions</a:t>
                </a:r>
                <a:r>
                  <a:rPr lang="en-US" dirty="0"/>
                  <a:t> </a:t>
                </a:r>
                <a14:m>
                  <m:oMath xmlns:m="http://schemas.openxmlformats.org/officeDocument/2006/math">
                    <m:r>
                      <a:rPr lang="en-US" i="1" dirty="0" smtClean="0">
                        <a:latin typeface="Cambria Math" panose="02040503050406030204" pitchFamily="18" charset="0"/>
                        <a:ea typeface="Cambria Math" panose="02040503050406030204" pitchFamily="18" charset="0"/>
                      </a:rPr>
                      <m:t>𝒜</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𝑠</m:t>
                        </m:r>
                      </m:e>
                    </m:d>
                    <m:r>
                      <a:rPr lang="en-US" b="0" i="1" dirty="0" smtClean="0">
                        <a:latin typeface="Cambria Math" panose="02040503050406030204" pitchFamily="18" charset="0"/>
                      </a:rPr>
                      <m:t>  ∀</m:t>
                    </m:r>
                    <m:r>
                      <a:rPr lang="en-US" b="0" i="1" dirty="0" smtClean="0">
                        <a:latin typeface="Cambria Math" panose="02040503050406030204" pitchFamily="18" charset="0"/>
                      </a:rPr>
                      <m:t>𝑠</m:t>
                    </m:r>
                    <m:r>
                      <a:rPr lang="en-US" b="0" i="1" dirty="0" smtClean="0">
                        <a:latin typeface="Cambria Math" panose="02040503050406030204" pitchFamily="18" charset="0"/>
                      </a:rPr>
                      <m:t>∈</m:t>
                    </m:r>
                    <m:r>
                      <a:rPr lang="en-US" i="1" dirty="0">
                        <a:latin typeface="Cambria Math" panose="02040503050406030204" pitchFamily="18" charset="0"/>
                        <a:ea typeface="Cambria Math" panose="02040503050406030204" pitchFamily="18" charset="0"/>
                      </a:rPr>
                      <m:t>𝒮</m:t>
                    </m:r>
                  </m:oMath>
                </a14:m>
                <a:endParaRPr lang="en-US" dirty="0">
                  <a:ea typeface="Cambria Math" panose="02040503050406030204" pitchFamily="18" charset="0"/>
                </a:endParaRPr>
              </a:p>
              <a:p>
                <a:pPr lvl="1">
                  <a:lnSpc>
                    <a:spcPct val="120000"/>
                  </a:lnSpc>
                </a:pPr>
                <a:r>
                  <a:rPr lang="en-US" dirty="0"/>
                  <a:t>A </a:t>
                </a:r>
                <a:r>
                  <a:rPr lang="en-US" b="1" dirty="0"/>
                  <a:t>transition model </a:t>
                </a:r>
                <a14:m>
                  <m:oMath xmlns:m="http://schemas.openxmlformats.org/officeDocument/2006/math">
                    <m:r>
                      <m:rPr>
                        <m:sty m:val="p"/>
                      </m:rPr>
                      <a:rPr lang="en-US" b="0" i="0" dirty="0" smtClean="0">
                        <a:latin typeface="Cambria Math" panose="02040503050406030204" pitchFamily="18" charset="0"/>
                      </a:rPr>
                      <m:t>Pr</m:t>
                    </m:r>
                    <m:r>
                      <a:rPr lang="en-US" i="1" dirty="0" smtClean="0">
                        <a:latin typeface="Cambria Math" panose="02040503050406030204" pitchFamily="18" charset="0"/>
                      </a:rPr>
                      <m:t>(</m:t>
                    </m:r>
                    <m:r>
                      <a:rPr lang="en-US" i="1" dirty="0" smtClean="0">
                        <a:latin typeface="Cambria Math" panose="02040503050406030204" pitchFamily="18" charset="0"/>
                      </a:rPr>
                      <m:t>𝑠</m:t>
                    </m:r>
                    <m:r>
                      <a:rPr lang="en-US" b="0" i="1" dirty="0" smtClean="0">
                        <a:latin typeface="Cambria Math" panose="02040503050406030204" pitchFamily="18" charset="0"/>
                      </a:rPr>
                      <m:t>′</m:t>
                    </m:r>
                    <m:r>
                      <a:rPr lang="en-US" i="1" dirty="0" smtClean="0">
                        <a:latin typeface="Cambria Math" panose="02040503050406030204" pitchFamily="18" charset="0"/>
                      </a:rPr>
                      <m:t> | </m:t>
                    </m:r>
                    <m:r>
                      <a:rPr lang="en-US" i="1" dirty="0" smtClean="0">
                        <a:latin typeface="Cambria Math" panose="02040503050406030204" pitchFamily="18" charset="0"/>
                      </a:rPr>
                      <m:t>𝑠</m:t>
                    </m:r>
                    <m:r>
                      <a:rPr lang="en-US" i="1" dirty="0" smtClean="0">
                        <a:latin typeface="Cambria Math" panose="02040503050406030204" pitchFamily="18" charset="0"/>
                      </a:rPr>
                      <m:t>, </m:t>
                    </m:r>
                    <m:r>
                      <a:rPr lang="en-US" i="1" dirty="0" smtClean="0">
                        <a:latin typeface="Cambria Math" panose="02040503050406030204" pitchFamily="18" charset="0"/>
                      </a:rPr>
                      <m:t>𝑎</m:t>
                    </m:r>
                    <m:r>
                      <a:rPr lang="en-US" i="1" dirty="0" smtClean="0">
                        <a:latin typeface="Cambria Math" panose="02040503050406030204" pitchFamily="18" charset="0"/>
                      </a:rPr>
                      <m:t>)</m:t>
                    </m:r>
                  </m:oMath>
                </a14:m>
                <a:r>
                  <a:rPr lang="en-US" dirty="0"/>
                  <a:t> where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i="1" dirty="0">
                        <a:latin typeface="Cambria Math" panose="02040503050406030204" pitchFamily="18" charset="0"/>
                        <a:ea typeface="Cambria Math" panose="02040503050406030204" pitchFamily="18" charset="0"/>
                      </a:rPr>
                      <m:t>𝒜</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dirty="0"/>
              </a:p>
              <a:p>
                <a:pPr lvl="1">
                  <a:lnSpc>
                    <a:spcPct val="120000"/>
                  </a:lnSpc>
                </a:pPr>
                <a:r>
                  <a:rPr lang="en-US" dirty="0"/>
                  <a:t>A </a:t>
                </a:r>
                <a:r>
                  <a:rPr lang="en-US" b="1" dirty="0"/>
                  <a:t>reward function </a:t>
                </a:r>
                <a14:m>
                  <m:oMath xmlns:m="http://schemas.openxmlformats.org/officeDocument/2006/math">
                    <m:r>
                      <a:rPr lang="en-US" b="0" i="1" dirty="0" smtClean="0">
                        <a:latin typeface="Cambria Math" panose="02040503050406030204" pitchFamily="18" charset="0"/>
                      </a:rPr>
                      <m:t>𝑟</m:t>
                    </m:r>
                  </m:oMath>
                </a14:m>
                <a:r>
                  <a:rPr lang="en-US" dirty="0"/>
                  <a:t> where the immediate reward depends on the current state and action (often modeled as  </a:t>
                </a:r>
                <a14:m>
                  <m:oMath xmlns:m="http://schemas.openxmlformats.org/officeDocument/2006/math">
                    <m:r>
                      <a:rPr lang="en-US" b="0" i="1" dirty="0" smtClean="0">
                        <a:latin typeface="Cambria Math" panose="02040503050406030204" pitchFamily="18" charset="0"/>
                      </a:rPr>
                      <m:t>𝑟</m:t>
                    </m:r>
                    <m:r>
                      <a:rPr lang="en-US" i="1" dirty="0" smtClean="0">
                        <a:latin typeface="Cambria Math" panose="02040503050406030204" pitchFamily="18" charset="0"/>
                      </a:rPr>
                      <m:t>(</m:t>
                    </m:r>
                    <m:r>
                      <a:rPr lang="en-US" b="0" i="1" dirty="0" smtClean="0">
                        <a:latin typeface="Cambria Math" panose="02040503050406030204" pitchFamily="18" charset="0"/>
                      </a:rPr>
                      <m:t>𝑠</m:t>
                    </m:r>
                    <m:r>
                      <a:rPr lang="en-US" i="1" dirty="0" err="1" smtClean="0">
                        <a:latin typeface="Cambria Math" panose="02040503050406030204" pitchFamily="18" charset="0"/>
                      </a:rPr>
                      <m:t>,</m:t>
                    </m:r>
                    <m:r>
                      <a:rPr lang="en-US" b="0" i="1" dirty="0" smtClean="0">
                        <a:latin typeface="Cambria Math" panose="02040503050406030204" pitchFamily="18" charset="0"/>
                      </a:rPr>
                      <m:t>𝑎</m:t>
                    </m:r>
                    <m:r>
                      <a:rPr lang="en-US" i="1" dirty="0" err="1" smtClean="0">
                        <a:latin typeface="Cambria Math" panose="02040503050406030204" pitchFamily="18" charset="0"/>
                      </a:rPr>
                      <m:t>,</m:t>
                    </m:r>
                    <m:r>
                      <a:rPr lang="en-US" b="0" i="1" dirty="0" smtClean="0">
                        <a:latin typeface="Cambria Math" panose="02040503050406030204" pitchFamily="18" charset="0"/>
                      </a:rPr>
                      <m:t>𝑠</m:t>
                    </m:r>
                    <m:r>
                      <a:rPr lang="en-US" b="0" i="1" dirty="0" smtClean="0">
                        <a:latin typeface="Cambria Math" panose="02040503050406030204" pitchFamily="18" charset="0"/>
                      </a:rPr>
                      <m:t>′)</m:t>
                    </m:r>
                  </m:oMath>
                </a14:m>
                <a:r>
                  <a:rPr lang="en-US" dirty="0"/>
                  <a:t>)</a:t>
                </a:r>
              </a:p>
              <a:p>
                <a:pPr marL="0" indent="0">
                  <a:buNone/>
                </a:pPr>
                <a:endParaRPr lang="en-US" dirty="0"/>
              </a:p>
              <a:p>
                <a:pPr marL="0" indent="0">
                  <a:buNone/>
                </a:pPr>
                <a:endParaRPr lang="en-US" dirty="0"/>
              </a:p>
            </p:txBody>
          </p:sp>
        </mc:Choice>
        <mc:Fallback xmlns="">
          <p:sp>
            <p:nvSpPr>
              <p:cNvPr id="3" name="Content Placeholder 2" descr="Finite MDPs are discrete-time stochastic control processes defined by:. A finite set of states S equals {s sub 0, s sub 1,s sub 2, dot dot dot,s sub n}. A set of available actions A (s) for all s in S. A transition model Pr(s prime given s, a) where a in A(s). A reward function r where the immediate reward depends on the current state and action (often modeled as r(s,a,s prime))">
                <a:extLst>
                  <a:ext uri="{FF2B5EF4-FFF2-40B4-BE49-F238E27FC236}">
                    <a16:creationId xmlns:a16="http://schemas.microsoft.com/office/drawing/2014/main" id="{B68A2157-F99A-01D6-0534-94E00339C912}"/>
                  </a:ext>
                </a:extLst>
              </p:cNvPr>
              <p:cNvSpPr>
                <a:spLocks noGrp="1" noRot="1" noChangeAspect="1" noMove="1" noResize="1" noEditPoints="1" noAdjustHandles="1" noChangeArrowheads="1" noChangeShapeType="1" noTextEdit="1"/>
              </p:cNvSpPr>
              <p:nvPr>
                <p:ph idx="1"/>
              </p:nvPr>
            </p:nvSpPr>
            <p:spPr>
              <a:xfrm>
                <a:off x="879260" y="1373999"/>
                <a:ext cx="7040943" cy="3018119"/>
              </a:xfrm>
              <a:blipFill>
                <a:blip r:embed="rId3"/>
                <a:stretch>
                  <a:fillRect l="-1558" t="-5051" r="-2165" b="-808"/>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55149508-616A-F2FC-2415-0DEBE5CC3D50}"/>
              </a:ext>
            </a:extLst>
          </p:cNvPr>
          <p:cNvSpPr txBox="1"/>
          <p:nvPr/>
        </p:nvSpPr>
        <p:spPr>
          <a:xfrm>
            <a:off x="8305239" y="1391299"/>
            <a:ext cx="3017696" cy="369332"/>
          </a:xfrm>
          <a:prstGeom prst="rect">
            <a:avLst/>
          </a:prstGeom>
          <a:noFill/>
        </p:spPr>
        <p:txBody>
          <a:bodyPr wrap="square" rtlCol="0">
            <a:spAutoFit/>
          </a:bodyPr>
          <a:lstStyle/>
          <a:p>
            <a:r>
              <a:rPr lang="en-US" b="1" dirty="0"/>
              <a:t>Example MDP as a Graph</a:t>
            </a:r>
          </a:p>
        </p:txBody>
      </p:sp>
      <p:grpSp>
        <p:nvGrpSpPr>
          <p:cNvPr id="49" name="Group 48" descr="Example MDP drawn as a graph with three states. From s0, action a1 leads to s1 with probability 1 and reward 10. From s1, action a1 leads to s2 with probability 1 and reward 100; action a2 returns to s0 with probability .5 and reward −5, or stays in s1 with probability .5 and reward 10. s2 is absorbing: actions a1 and a2 keep it in s2 with reward 0. Green numbers are transition probabilities and orange numbers are rewards.">
            <a:extLst>
              <a:ext uri="{FF2B5EF4-FFF2-40B4-BE49-F238E27FC236}">
                <a16:creationId xmlns:a16="http://schemas.microsoft.com/office/drawing/2014/main" id="{865370CB-16C0-CB6B-FAF4-7A6A4707480C}"/>
              </a:ext>
            </a:extLst>
          </p:cNvPr>
          <p:cNvGrpSpPr/>
          <p:nvPr/>
        </p:nvGrpSpPr>
        <p:grpSpPr>
          <a:xfrm>
            <a:off x="8022597" y="1796469"/>
            <a:ext cx="3290143" cy="2621615"/>
            <a:chOff x="7946052" y="2800566"/>
            <a:chExt cx="3941148" cy="3097513"/>
          </a:xfrm>
        </p:grpSpPr>
        <mc:AlternateContent xmlns:mc="http://schemas.openxmlformats.org/markup-compatibility/2006" xmlns:a14="http://schemas.microsoft.com/office/drawing/2010/main">
          <mc:Choice Requires="a14">
            <p:sp>
              <p:nvSpPr>
                <p:cNvPr id="4" name="Oval 3" descr="Equation: s sub 0">
                  <a:extLst>
                    <a:ext uri="{FF2B5EF4-FFF2-40B4-BE49-F238E27FC236}">
                      <a16:creationId xmlns:a16="http://schemas.microsoft.com/office/drawing/2014/main" id="{773695EE-CFA5-D347-0E54-9A063511322D}"/>
                    </a:ext>
                  </a:extLst>
                </p:cNvPr>
                <p:cNvSpPr/>
                <p:nvPr/>
              </p:nvSpPr>
              <p:spPr>
                <a:xfrm>
                  <a:off x="8249162" y="3419487"/>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𝑠</m:t>
                            </m:r>
                          </m:e>
                          <m:sub>
                            <m:r>
                              <a:rPr lang="en-US" sz="1600" b="0" i="1" smtClean="0">
                                <a:latin typeface="Cambria Math" panose="02040503050406030204" pitchFamily="18" charset="0"/>
                              </a:rPr>
                              <m:t>0</m:t>
                            </m:r>
                          </m:sub>
                        </m:sSub>
                      </m:oMath>
                    </m:oMathPara>
                  </a14:m>
                  <a:endParaRPr lang="en-US" sz="1600" dirty="0"/>
                </a:p>
              </p:txBody>
            </p:sp>
          </mc:Choice>
          <mc:Fallback xmlns="">
            <p:sp>
              <p:nvSpPr>
                <p:cNvPr id="4" name="Oval 3" descr="Equation: s sub 0">
                  <a:extLst>
                    <a:ext uri="{FF2B5EF4-FFF2-40B4-BE49-F238E27FC236}">
                      <a16:creationId xmlns:a16="http://schemas.microsoft.com/office/drawing/2014/main" id="{CF79983A-CC8B-1C9B-61BD-A8B95DEE9F1A}"/>
                    </a:ext>
                  </a:extLst>
                </p:cNvPr>
                <p:cNvSpPr>
                  <a:spLocks noRot="1" noChangeAspect="1" noMove="1" noResize="1" noEditPoints="1" noAdjustHandles="1" noChangeArrowheads="1" noChangeShapeType="1" noTextEdit="1"/>
                </p:cNvSpPr>
                <p:nvPr/>
              </p:nvSpPr>
              <p:spPr>
                <a:xfrm>
                  <a:off x="8249162" y="3419487"/>
                  <a:ext cx="381000" cy="38100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descr="Equation: s sub 1">
                  <a:extLst>
                    <a:ext uri="{FF2B5EF4-FFF2-40B4-BE49-F238E27FC236}">
                      <a16:creationId xmlns:a16="http://schemas.microsoft.com/office/drawing/2014/main" id="{B21D2145-5189-CEFE-6311-FC118AA8F372}"/>
                    </a:ext>
                  </a:extLst>
                </p:cNvPr>
                <p:cNvSpPr/>
                <p:nvPr/>
              </p:nvSpPr>
              <p:spPr>
                <a:xfrm>
                  <a:off x="10154162" y="3408877"/>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𝑠</m:t>
                            </m:r>
                          </m:e>
                          <m:sub>
                            <m:r>
                              <a:rPr lang="en-US" sz="1600" b="0" i="1" smtClean="0">
                                <a:latin typeface="Cambria Math" panose="02040503050406030204" pitchFamily="18" charset="0"/>
                              </a:rPr>
                              <m:t>1</m:t>
                            </m:r>
                          </m:sub>
                        </m:sSub>
                      </m:oMath>
                    </m:oMathPara>
                  </a14:m>
                  <a:endParaRPr lang="en-US" sz="1600" dirty="0"/>
                </a:p>
              </p:txBody>
            </p:sp>
          </mc:Choice>
          <mc:Fallback xmlns="">
            <p:sp>
              <p:nvSpPr>
                <p:cNvPr id="5" name="Oval 4" descr="Equation: s sub 1">
                  <a:extLst>
                    <a:ext uri="{FF2B5EF4-FFF2-40B4-BE49-F238E27FC236}">
                      <a16:creationId xmlns:a16="http://schemas.microsoft.com/office/drawing/2014/main" id="{7A0FEBA4-CCFB-34EB-F0E6-8EE13E477B1C}"/>
                    </a:ext>
                  </a:extLst>
                </p:cNvPr>
                <p:cNvSpPr>
                  <a:spLocks noRot="1" noChangeAspect="1" noMove="1" noResize="1" noEditPoints="1" noAdjustHandles="1" noChangeArrowheads="1" noChangeShapeType="1" noTextEdit="1"/>
                </p:cNvSpPr>
                <p:nvPr/>
              </p:nvSpPr>
              <p:spPr>
                <a:xfrm>
                  <a:off x="10154162" y="3408877"/>
                  <a:ext cx="381000" cy="381000"/>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descr="Equation: s sub 2">
                  <a:extLst>
                    <a:ext uri="{FF2B5EF4-FFF2-40B4-BE49-F238E27FC236}">
                      <a16:creationId xmlns:a16="http://schemas.microsoft.com/office/drawing/2014/main" id="{490AA374-2A90-E46C-AA43-55893B444CFF}"/>
                    </a:ext>
                  </a:extLst>
                </p:cNvPr>
                <p:cNvSpPr/>
                <p:nvPr/>
              </p:nvSpPr>
              <p:spPr>
                <a:xfrm>
                  <a:off x="9773162" y="5034768"/>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𝑠</m:t>
                            </m:r>
                          </m:e>
                          <m:sub>
                            <m:r>
                              <a:rPr lang="en-US" sz="1600" b="0" i="1" smtClean="0">
                                <a:latin typeface="Cambria Math" panose="02040503050406030204" pitchFamily="18" charset="0"/>
                              </a:rPr>
                              <m:t>2</m:t>
                            </m:r>
                          </m:sub>
                        </m:sSub>
                      </m:oMath>
                    </m:oMathPara>
                  </a14:m>
                  <a:endParaRPr lang="en-US" sz="1600" dirty="0"/>
                </a:p>
              </p:txBody>
            </p:sp>
          </mc:Choice>
          <mc:Fallback xmlns="">
            <p:sp>
              <p:nvSpPr>
                <p:cNvPr id="6" name="Oval 5" descr="Equation: s sub 2">
                  <a:extLst>
                    <a:ext uri="{FF2B5EF4-FFF2-40B4-BE49-F238E27FC236}">
                      <a16:creationId xmlns:a16="http://schemas.microsoft.com/office/drawing/2014/main" id="{0930646F-4C58-99C9-9F42-1645EDB3E21D}"/>
                    </a:ext>
                  </a:extLst>
                </p:cNvPr>
                <p:cNvSpPr>
                  <a:spLocks noRot="1" noChangeAspect="1" noMove="1" noResize="1" noEditPoints="1" noAdjustHandles="1" noChangeArrowheads="1" noChangeShapeType="1" noTextEdit="1"/>
                </p:cNvSpPr>
                <p:nvPr/>
              </p:nvSpPr>
              <p:spPr>
                <a:xfrm>
                  <a:off x="9773162" y="5034768"/>
                  <a:ext cx="381000" cy="381000"/>
                </a:xfrm>
                <a:prstGeom prst="ellipse">
                  <a:avLst/>
                </a:prstGeom>
                <a:blipFill>
                  <a:blip r:embed="rId6"/>
                  <a:stretch>
                    <a:fillRect/>
                  </a:stretch>
                </a:blipFill>
              </p:spPr>
              <p:txBody>
                <a:bodyPr/>
                <a:lstStyle/>
                <a:p>
                  <a:r>
                    <a:rPr lang="en-US">
                      <a:noFill/>
                    </a:rPr>
                    <a:t> </a:t>
                  </a:r>
                </a:p>
              </p:txBody>
            </p:sp>
          </mc:Fallback>
        </mc:AlternateContent>
        <p:cxnSp>
          <p:nvCxnSpPr>
            <p:cNvPr id="13" name="Connector: Curved 12">
              <a:extLst>
                <a:ext uri="{FF2B5EF4-FFF2-40B4-BE49-F238E27FC236}">
                  <a16:creationId xmlns:a16="http://schemas.microsoft.com/office/drawing/2014/main" id="{13546944-8B96-C5D8-574F-7E30B68E7064}"/>
                </a:ext>
                <a:ext uri="{C183D7F6-B498-43B3-948B-1728B52AA6E4}">
                  <adec:decorative xmlns:adec="http://schemas.microsoft.com/office/drawing/2017/decorative" val="1"/>
                </a:ext>
              </a:extLst>
            </p:cNvPr>
            <p:cNvCxnSpPr>
              <a:cxnSpLocks/>
              <a:stCxn id="4" idx="7"/>
              <a:endCxn id="5" idx="1"/>
            </p:cNvCxnSpPr>
            <p:nvPr/>
          </p:nvCxnSpPr>
          <p:spPr>
            <a:xfrm rot="5400000" flipH="1" flipV="1">
              <a:off x="9386857" y="2652182"/>
              <a:ext cx="10610" cy="1635592"/>
            </a:xfrm>
            <a:prstGeom prst="curvedConnector3">
              <a:avLst>
                <a:gd name="adj1" fmla="val 278045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Curved 14">
              <a:extLst>
                <a:ext uri="{FF2B5EF4-FFF2-40B4-BE49-F238E27FC236}">
                  <a16:creationId xmlns:a16="http://schemas.microsoft.com/office/drawing/2014/main" id="{BB6AAFB3-E14A-34FD-12AC-D7ECBAFCD84C}"/>
                </a:ext>
                <a:ext uri="{C183D7F6-B498-43B3-948B-1728B52AA6E4}">
                  <adec:decorative xmlns:adec="http://schemas.microsoft.com/office/drawing/2017/decorative" val="1"/>
                </a:ext>
              </a:extLst>
            </p:cNvPr>
            <p:cNvCxnSpPr>
              <a:cxnSpLocks/>
              <a:stCxn id="5" idx="3"/>
              <a:endCxn id="4" idx="5"/>
            </p:cNvCxnSpPr>
            <p:nvPr/>
          </p:nvCxnSpPr>
          <p:spPr>
            <a:xfrm rot="5400000">
              <a:off x="9386857" y="2921590"/>
              <a:ext cx="10610" cy="1635592"/>
            </a:xfrm>
            <a:prstGeom prst="curvedConnector3">
              <a:avLst>
                <a:gd name="adj1" fmla="val 278045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19F334B9-DE31-76B4-47D1-A266095293CA}"/>
                </a:ext>
                <a:ext uri="{C183D7F6-B498-43B3-948B-1728B52AA6E4}">
                  <adec:decorative xmlns:adec="http://schemas.microsoft.com/office/drawing/2017/decorative" val="1"/>
                </a:ext>
              </a:extLst>
            </p:cNvPr>
            <p:cNvCxnSpPr>
              <a:cxnSpLocks/>
              <a:stCxn id="5" idx="7"/>
              <a:endCxn id="5" idx="5"/>
            </p:cNvCxnSpPr>
            <p:nvPr/>
          </p:nvCxnSpPr>
          <p:spPr>
            <a:xfrm rot="16200000" flipH="1">
              <a:off x="10344662" y="3599377"/>
              <a:ext cx="269408" cy="12700"/>
            </a:xfrm>
            <a:prstGeom prst="curvedConnector5">
              <a:avLst>
                <a:gd name="adj1" fmla="val -84853"/>
                <a:gd name="adj2" fmla="val 4360661"/>
                <a:gd name="adj3" fmla="val 18485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CE87BEC-AF6B-2B13-ADE1-BF0ADDF80F5D}"/>
                </a:ext>
                <a:ext uri="{C183D7F6-B498-43B3-948B-1728B52AA6E4}">
                  <adec:decorative xmlns:adec="http://schemas.microsoft.com/office/drawing/2017/decorative" val="1"/>
                </a:ext>
              </a:extLst>
            </p:cNvPr>
            <p:cNvCxnSpPr>
              <a:stCxn id="5" idx="4"/>
              <a:endCxn id="6" idx="0"/>
            </p:cNvCxnSpPr>
            <p:nvPr/>
          </p:nvCxnSpPr>
          <p:spPr>
            <a:xfrm flipH="1">
              <a:off x="9963662" y="3789877"/>
              <a:ext cx="381000" cy="12448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descr="Equation: a sub 1">
                  <a:extLst>
                    <a:ext uri="{FF2B5EF4-FFF2-40B4-BE49-F238E27FC236}">
                      <a16:creationId xmlns:a16="http://schemas.microsoft.com/office/drawing/2014/main" id="{E70AA8CC-4760-79B0-1E00-3EFC7848D71D}"/>
                    </a:ext>
                  </a:extLst>
                </p:cNvPr>
                <p:cNvSpPr txBox="1"/>
                <p:nvPr/>
              </p:nvSpPr>
              <p:spPr>
                <a:xfrm>
                  <a:off x="9214430" y="2811831"/>
                  <a:ext cx="515683" cy="400011"/>
                </a:xfrm>
                <a:prstGeom prst="rect">
                  <a:avLst/>
                </a:prstGeom>
                <a:noFill/>
              </p:spPr>
              <p:txBody>
                <a:bodyPr wrap="none" rtlCol="0">
                  <a:spAutoFit/>
                </a:bodyPr>
                <a:lstStyle/>
                <a:p>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𝑎</m:t>
                            </m:r>
                          </m:e>
                          <m:sub>
                            <m:r>
                              <a:rPr lang="en-US" sz="1600" b="0" i="1" smtClean="0">
                                <a:latin typeface="Cambria Math" panose="02040503050406030204" pitchFamily="18" charset="0"/>
                              </a:rPr>
                              <m:t>1</m:t>
                            </m:r>
                          </m:sub>
                        </m:sSub>
                      </m:oMath>
                    </m:oMathPara>
                  </a14:m>
                  <a:endParaRPr lang="en-US" sz="1600" dirty="0"/>
                </a:p>
              </p:txBody>
            </p:sp>
          </mc:Choice>
          <mc:Fallback xmlns="">
            <p:sp>
              <p:nvSpPr>
                <p:cNvPr id="29" name="TextBox 28" descr="Equation: a sub 1">
                  <a:extLst>
                    <a:ext uri="{FF2B5EF4-FFF2-40B4-BE49-F238E27FC236}">
                      <a16:creationId xmlns:a16="http://schemas.microsoft.com/office/drawing/2014/main" id="{E70AA8CC-4760-79B0-1E00-3EFC7848D71D}"/>
                    </a:ext>
                  </a:extLst>
                </p:cNvPr>
                <p:cNvSpPr txBox="1">
                  <a:spLocks noRot="1" noChangeAspect="1" noMove="1" noResize="1" noEditPoints="1" noAdjustHandles="1" noChangeArrowheads="1" noChangeShapeType="1" noTextEdit="1"/>
                </p:cNvSpPr>
                <p:nvPr/>
              </p:nvSpPr>
              <p:spPr>
                <a:xfrm>
                  <a:off x="9214430" y="2811831"/>
                  <a:ext cx="515683" cy="400011"/>
                </a:xfrm>
                <a:prstGeom prst="rect">
                  <a:avLst/>
                </a:prstGeom>
                <a:blipFill>
                  <a:blip r:embed="rId7"/>
                  <a:stretch>
                    <a:fillRect/>
                  </a:stretch>
                </a:blipFill>
              </p:spPr>
              <p:txBody>
                <a:bodyPr/>
                <a:lstStyle/>
                <a:p>
                  <a:r>
                    <a:rPr lang="en-US">
                      <a:noFill/>
                    </a:rPr>
                    <a:t> </a:t>
                  </a:r>
                </a:p>
              </p:txBody>
            </p:sp>
          </mc:Fallback>
        </mc:AlternateContent>
        <p:sp>
          <p:nvSpPr>
            <p:cNvPr id="30" name="TextBox 29">
              <a:extLst>
                <a:ext uri="{FF2B5EF4-FFF2-40B4-BE49-F238E27FC236}">
                  <a16:creationId xmlns:a16="http://schemas.microsoft.com/office/drawing/2014/main" id="{F95DA36C-6B11-262D-0481-3E3DBC0EF454}"/>
                </a:ext>
              </a:extLst>
            </p:cNvPr>
            <p:cNvSpPr txBox="1"/>
            <p:nvPr/>
          </p:nvSpPr>
          <p:spPr>
            <a:xfrm>
              <a:off x="8594716" y="2943280"/>
              <a:ext cx="337590" cy="400011"/>
            </a:xfrm>
            <a:prstGeom prst="rect">
              <a:avLst/>
            </a:prstGeom>
            <a:noFill/>
          </p:spPr>
          <p:txBody>
            <a:bodyPr wrap="square" rtlCol="0">
              <a:spAutoFit/>
            </a:bodyPr>
            <a:lstStyle/>
            <a:p>
              <a:r>
                <a:rPr lang="en-US" sz="1600" b="1" dirty="0">
                  <a:solidFill>
                    <a:schemeClr val="accent3"/>
                  </a:solidFill>
                </a:rPr>
                <a:t>1</a:t>
              </a:r>
            </a:p>
          </p:txBody>
        </p:sp>
        <p:sp>
          <p:nvSpPr>
            <p:cNvPr id="32" name="TextBox 31">
              <a:extLst>
                <a:ext uri="{FF2B5EF4-FFF2-40B4-BE49-F238E27FC236}">
                  <a16:creationId xmlns:a16="http://schemas.microsoft.com/office/drawing/2014/main" id="{91AF9680-C855-05AB-BF11-2898B64E2213}"/>
                </a:ext>
              </a:extLst>
            </p:cNvPr>
            <p:cNvSpPr txBox="1"/>
            <p:nvPr/>
          </p:nvSpPr>
          <p:spPr>
            <a:xfrm>
              <a:off x="9183125" y="3192427"/>
              <a:ext cx="530432" cy="400011"/>
            </a:xfrm>
            <a:prstGeom prst="rect">
              <a:avLst/>
            </a:prstGeom>
            <a:noFill/>
          </p:spPr>
          <p:txBody>
            <a:bodyPr wrap="square" rtlCol="0">
              <a:spAutoFit/>
            </a:bodyPr>
            <a:lstStyle/>
            <a:p>
              <a:r>
                <a:rPr lang="en-US" sz="1600" b="1" dirty="0">
                  <a:solidFill>
                    <a:schemeClr val="accent2"/>
                  </a:solidFill>
                </a:rPr>
                <a:t>10</a:t>
              </a:r>
            </a:p>
          </p:txBody>
        </p:sp>
        <mc:AlternateContent xmlns:mc="http://schemas.openxmlformats.org/markup-compatibility/2006" xmlns:a14="http://schemas.microsoft.com/office/drawing/2010/main">
          <mc:Choice Requires="a14">
            <p:sp>
              <p:nvSpPr>
                <p:cNvPr id="33" name="TextBox 32" descr="Equation: a sub 2">
                  <a:extLst>
                    <a:ext uri="{FF2B5EF4-FFF2-40B4-BE49-F238E27FC236}">
                      <a16:creationId xmlns:a16="http://schemas.microsoft.com/office/drawing/2014/main" id="{CB5DCBBB-0BBE-6433-13A6-801055DB1613}"/>
                    </a:ext>
                  </a:extLst>
                </p:cNvPr>
                <p:cNvSpPr txBox="1"/>
                <p:nvPr/>
              </p:nvSpPr>
              <p:spPr>
                <a:xfrm>
                  <a:off x="9240412" y="4017591"/>
                  <a:ext cx="521367" cy="400011"/>
                </a:xfrm>
                <a:prstGeom prst="rect">
                  <a:avLst/>
                </a:prstGeom>
                <a:noFill/>
              </p:spPr>
              <p:txBody>
                <a:bodyPr wrap="none" rtlCol="0">
                  <a:spAutoFit/>
                </a:bodyPr>
                <a:lstStyle/>
                <a:p>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𝑎</m:t>
                            </m:r>
                          </m:e>
                          <m:sub>
                            <m:r>
                              <a:rPr lang="en-US" sz="1600" b="0" i="1" smtClean="0">
                                <a:latin typeface="Cambria Math" panose="02040503050406030204" pitchFamily="18" charset="0"/>
                              </a:rPr>
                              <m:t>2</m:t>
                            </m:r>
                          </m:sub>
                        </m:sSub>
                      </m:oMath>
                    </m:oMathPara>
                  </a14:m>
                  <a:endParaRPr lang="en-US" sz="1600" dirty="0"/>
                </a:p>
              </p:txBody>
            </p:sp>
          </mc:Choice>
          <mc:Fallback xmlns="">
            <p:sp>
              <p:nvSpPr>
                <p:cNvPr id="33" name="TextBox 32" descr="Equation: a sub 2">
                  <a:extLst>
                    <a:ext uri="{FF2B5EF4-FFF2-40B4-BE49-F238E27FC236}">
                      <a16:creationId xmlns:a16="http://schemas.microsoft.com/office/drawing/2014/main" id="{CB5DCBBB-0BBE-6433-13A6-801055DB1613}"/>
                    </a:ext>
                  </a:extLst>
                </p:cNvPr>
                <p:cNvSpPr txBox="1">
                  <a:spLocks noRot="1" noChangeAspect="1" noMove="1" noResize="1" noEditPoints="1" noAdjustHandles="1" noChangeArrowheads="1" noChangeShapeType="1" noTextEdit="1"/>
                </p:cNvSpPr>
                <p:nvPr/>
              </p:nvSpPr>
              <p:spPr>
                <a:xfrm>
                  <a:off x="9240412" y="4017591"/>
                  <a:ext cx="521367" cy="40001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descr="Equation: a sub 1">
                  <a:extLst>
                    <a:ext uri="{FF2B5EF4-FFF2-40B4-BE49-F238E27FC236}">
                      <a16:creationId xmlns:a16="http://schemas.microsoft.com/office/drawing/2014/main" id="{1563EEF2-DE47-D896-2E50-1A9247238540}"/>
                    </a:ext>
                  </a:extLst>
                </p:cNvPr>
                <p:cNvSpPr txBox="1"/>
                <p:nvPr/>
              </p:nvSpPr>
              <p:spPr>
                <a:xfrm>
                  <a:off x="10110751" y="4263294"/>
                  <a:ext cx="515683" cy="400011"/>
                </a:xfrm>
                <a:prstGeom prst="rect">
                  <a:avLst/>
                </a:prstGeom>
                <a:noFill/>
              </p:spPr>
              <p:txBody>
                <a:bodyPr wrap="none" rtlCol="0">
                  <a:spAutoFit/>
                </a:bodyPr>
                <a:lstStyle/>
                <a:p>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𝑎</m:t>
                            </m:r>
                          </m:e>
                          <m:sub>
                            <m:r>
                              <a:rPr lang="en-US" sz="1600" b="0" i="1" smtClean="0">
                                <a:latin typeface="Cambria Math" panose="02040503050406030204" pitchFamily="18" charset="0"/>
                              </a:rPr>
                              <m:t>1</m:t>
                            </m:r>
                          </m:sub>
                        </m:sSub>
                      </m:oMath>
                    </m:oMathPara>
                  </a14:m>
                  <a:endParaRPr lang="en-US" sz="1600" dirty="0"/>
                </a:p>
              </p:txBody>
            </p:sp>
          </mc:Choice>
          <mc:Fallback xmlns="">
            <p:sp>
              <p:nvSpPr>
                <p:cNvPr id="34" name="TextBox 33" descr="Equation: a sub 1">
                  <a:extLst>
                    <a:ext uri="{FF2B5EF4-FFF2-40B4-BE49-F238E27FC236}">
                      <a16:creationId xmlns:a16="http://schemas.microsoft.com/office/drawing/2014/main" id="{1563EEF2-DE47-D896-2E50-1A9247238540}"/>
                    </a:ext>
                  </a:extLst>
                </p:cNvPr>
                <p:cNvSpPr txBox="1">
                  <a:spLocks noRot="1" noChangeAspect="1" noMove="1" noResize="1" noEditPoints="1" noAdjustHandles="1" noChangeArrowheads="1" noChangeShapeType="1" noTextEdit="1"/>
                </p:cNvSpPr>
                <p:nvPr/>
              </p:nvSpPr>
              <p:spPr>
                <a:xfrm>
                  <a:off x="10110751" y="4263294"/>
                  <a:ext cx="515683" cy="400011"/>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descr="Equation: a sub 2">
                  <a:extLst>
                    <a:ext uri="{FF2B5EF4-FFF2-40B4-BE49-F238E27FC236}">
                      <a16:creationId xmlns:a16="http://schemas.microsoft.com/office/drawing/2014/main" id="{BA9E7475-B11F-57C7-A012-6267B85DDAE0}"/>
                    </a:ext>
                  </a:extLst>
                </p:cNvPr>
                <p:cNvSpPr txBox="1"/>
                <p:nvPr/>
              </p:nvSpPr>
              <p:spPr>
                <a:xfrm>
                  <a:off x="10984391" y="3406445"/>
                  <a:ext cx="521367" cy="400011"/>
                </a:xfrm>
                <a:prstGeom prst="rect">
                  <a:avLst/>
                </a:prstGeom>
                <a:noFill/>
              </p:spPr>
              <p:txBody>
                <a:bodyPr wrap="none" rtlCol="0">
                  <a:spAutoFit/>
                </a:bodyPr>
                <a:lstStyle/>
                <a:p>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𝑎</m:t>
                            </m:r>
                          </m:e>
                          <m:sub>
                            <m:r>
                              <a:rPr lang="en-US" sz="1600" b="0" i="1" smtClean="0">
                                <a:latin typeface="Cambria Math" panose="02040503050406030204" pitchFamily="18" charset="0"/>
                              </a:rPr>
                              <m:t>2</m:t>
                            </m:r>
                          </m:sub>
                        </m:sSub>
                      </m:oMath>
                    </m:oMathPara>
                  </a14:m>
                  <a:endParaRPr lang="en-US" sz="1600" dirty="0"/>
                </a:p>
              </p:txBody>
            </p:sp>
          </mc:Choice>
          <mc:Fallback xmlns="">
            <p:sp>
              <p:nvSpPr>
                <p:cNvPr id="35" name="TextBox 34" descr="Equation: a sub 2">
                  <a:extLst>
                    <a:ext uri="{FF2B5EF4-FFF2-40B4-BE49-F238E27FC236}">
                      <a16:creationId xmlns:a16="http://schemas.microsoft.com/office/drawing/2014/main" id="{BA9E7475-B11F-57C7-A012-6267B85DDAE0}"/>
                    </a:ext>
                  </a:extLst>
                </p:cNvPr>
                <p:cNvSpPr txBox="1">
                  <a:spLocks noRot="1" noChangeAspect="1" noMove="1" noResize="1" noEditPoints="1" noAdjustHandles="1" noChangeArrowheads="1" noChangeShapeType="1" noTextEdit="1"/>
                </p:cNvSpPr>
                <p:nvPr/>
              </p:nvSpPr>
              <p:spPr>
                <a:xfrm>
                  <a:off x="10984391" y="3406445"/>
                  <a:ext cx="521367" cy="400011"/>
                </a:xfrm>
                <a:prstGeom prst="rect">
                  <a:avLst/>
                </a:prstGeom>
                <a:blipFill>
                  <a:blip r:embed="rId10"/>
                  <a:stretch>
                    <a:fillRect/>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BCFB60E5-2B1D-A2C4-A39A-7685E10076E7}"/>
                </a:ext>
              </a:extLst>
            </p:cNvPr>
            <p:cNvSpPr txBox="1"/>
            <p:nvPr/>
          </p:nvSpPr>
          <p:spPr>
            <a:xfrm>
              <a:off x="9590284" y="3942924"/>
              <a:ext cx="467820" cy="400011"/>
            </a:xfrm>
            <a:prstGeom prst="rect">
              <a:avLst/>
            </a:prstGeom>
            <a:noFill/>
          </p:spPr>
          <p:txBody>
            <a:bodyPr wrap="square" rtlCol="0">
              <a:spAutoFit/>
            </a:bodyPr>
            <a:lstStyle/>
            <a:p>
              <a:r>
                <a:rPr lang="en-US" sz="1600" b="1" dirty="0">
                  <a:solidFill>
                    <a:schemeClr val="accent3"/>
                  </a:solidFill>
                </a:rPr>
                <a:t>.5</a:t>
              </a:r>
            </a:p>
          </p:txBody>
        </p:sp>
        <p:sp>
          <p:nvSpPr>
            <p:cNvPr id="37" name="TextBox 36">
              <a:extLst>
                <a:ext uri="{FF2B5EF4-FFF2-40B4-BE49-F238E27FC236}">
                  <a16:creationId xmlns:a16="http://schemas.microsoft.com/office/drawing/2014/main" id="{AC589BEE-80A6-3C4E-2967-5B08A5D24D05}"/>
                </a:ext>
              </a:extLst>
            </p:cNvPr>
            <p:cNvSpPr txBox="1"/>
            <p:nvPr/>
          </p:nvSpPr>
          <p:spPr>
            <a:xfrm>
              <a:off x="10578572" y="2927671"/>
              <a:ext cx="467819" cy="400011"/>
            </a:xfrm>
            <a:prstGeom prst="rect">
              <a:avLst/>
            </a:prstGeom>
            <a:noFill/>
          </p:spPr>
          <p:txBody>
            <a:bodyPr wrap="square" rtlCol="0">
              <a:spAutoFit/>
            </a:bodyPr>
            <a:lstStyle/>
            <a:p>
              <a:r>
                <a:rPr lang="en-US" sz="1600" b="1" dirty="0">
                  <a:solidFill>
                    <a:schemeClr val="accent3"/>
                  </a:solidFill>
                </a:rPr>
                <a:t>.5</a:t>
              </a:r>
            </a:p>
          </p:txBody>
        </p:sp>
        <p:sp>
          <p:nvSpPr>
            <p:cNvPr id="38" name="TextBox 37">
              <a:extLst>
                <a:ext uri="{FF2B5EF4-FFF2-40B4-BE49-F238E27FC236}">
                  <a16:creationId xmlns:a16="http://schemas.microsoft.com/office/drawing/2014/main" id="{E5B659CF-7FBA-AFF0-ACE5-0A44570E3809}"/>
                </a:ext>
              </a:extLst>
            </p:cNvPr>
            <p:cNvSpPr txBox="1"/>
            <p:nvPr/>
          </p:nvSpPr>
          <p:spPr>
            <a:xfrm>
              <a:off x="10197572" y="3913114"/>
              <a:ext cx="467819" cy="400011"/>
            </a:xfrm>
            <a:prstGeom prst="rect">
              <a:avLst/>
            </a:prstGeom>
            <a:noFill/>
          </p:spPr>
          <p:txBody>
            <a:bodyPr wrap="square" rtlCol="0">
              <a:spAutoFit/>
            </a:bodyPr>
            <a:lstStyle/>
            <a:p>
              <a:r>
                <a:rPr lang="en-US" sz="1600" b="1" dirty="0">
                  <a:solidFill>
                    <a:schemeClr val="accent3"/>
                  </a:solidFill>
                </a:rPr>
                <a:t>1</a:t>
              </a:r>
            </a:p>
          </p:txBody>
        </p:sp>
        <p:sp>
          <p:nvSpPr>
            <p:cNvPr id="39" name="TextBox 38">
              <a:extLst>
                <a:ext uri="{FF2B5EF4-FFF2-40B4-BE49-F238E27FC236}">
                  <a16:creationId xmlns:a16="http://schemas.microsoft.com/office/drawing/2014/main" id="{B67D9260-6EC3-D37E-0337-D794A61F52ED}"/>
                </a:ext>
              </a:extLst>
            </p:cNvPr>
            <p:cNvSpPr txBox="1"/>
            <p:nvPr/>
          </p:nvSpPr>
          <p:spPr>
            <a:xfrm>
              <a:off x="10975769" y="3745663"/>
              <a:ext cx="530432" cy="400011"/>
            </a:xfrm>
            <a:prstGeom prst="rect">
              <a:avLst/>
            </a:prstGeom>
            <a:noFill/>
          </p:spPr>
          <p:txBody>
            <a:bodyPr wrap="square" rtlCol="0">
              <a:spAutoFit/>
            </a:bodyPr>
            <a:lstStyle/>
            <a:p>
              <a:r>
                <a:rPr lang="en-US" sz="1600" b="1" dirty="0">
                  <a:solidFill>
                    <a:schemeClr val="accent2"/>
                  </a:solidFill>
                </a:rPr>
                <a:t>10</a:t>
              </a:r>
            </a:p>
          </p:txBody>
        </p:sp>
        <p:sp>
          <p:nvSpPr>
            <p:cNvPr id="40" name="TextBox 39">
              <a:extLst>
                <a:ext uri="{FF2B5EF4-FFF2-40B4-BE49-F238E27FC236}">
                  <a16:creationId xmlns:a16="http://schemas.microsoft.com/office/drawing/2014/main" id="{D3A53EF5-CE45-CF3E-9B5E-335C411B7E2B}"/>
                </a:ext>
              </a:extLst>
            </p:cNvPr>
            <p:cNvSpPr txBox="1"/>
            <p:nvPr/>
          </p:nvSpPr>
          <p:spPr>
            <a:xfrm>
              <a:off x="9267088" y="3709878"/>
              <a:ext cx="530432" cy="400011"/>
            </a:xfrm>
            <a:prstGeom prst="rect">
              <a:avLst/>
            </a:prstGeom>
            <a:noFill/>
          </p:spPr>
          <p:txBody>
            <a:bodyPr wrap="square" rtlCol="0">
              <a:spAutoFit/>
            </a:bodyPr>
            <a:lstStyle/>
            <a:p>
              <a:r>
                <a:rPr lang="en-US" sz="1600" b="1" dirty="0">
                  <a:solidFill>
                    <a:schemeClr val="accent2"/>
                  </a:solidFill>
                </a:rPr>
                <a:t>-5</a:t>
              </a:r>
            </a:p>
          </p:txBody>
        </p:sp>
        <p:sp>
          <p:nvSpPr>
            <p:cNvPr id="41" name="TextBox 40">
              <a:extLst>
                <a:ext uri="{FF2B5EF4-FFF2-40B4-BE49-F238E27FC236}">
                  <a16:creationId xmlns:a16="http://schemas.microsoft.com/office/drawing/2014/main" id="{6E65FAA4-D92B-C1B9-916E-69BDC1416C9B}"/>
                </a:ext>
              </a:extLst>
            </p:cNvPr>
            <p:cNvSpPr txBox="1"/>
            <p:nvPr/>
          </p:nvSpPr>
          <p:spPr>
            <a:xfrm>
              <a:off x="9517581" y="4482628"/>
              <a:ext cx="769510" cy="400011"/>
            </a:xfrm>
            <a:prstGeom prst="rect">
              <a:avLst/>
            </a:prstGeom>
            <a:noFill/>
          </p:spPr>
          <p:txBody>
            <a:bodyPr wrap="square" rtlCol="0">
              <a:spAutoFit/>
            </a:bodyPr>
            <a:lstStyle/>
            <a:p>
              <a:r>
                <a:rPr lang="en-US" sz="1600" b="1" dirty="0">
                  <a:solidFill>
                    <a:schemeClr val="accent2"/>
                  </a:solidFill>
                </a:rPr>
                <a:t>100</a:t>
              </a:r>
            </a:p>
          </p:txBody>
        </p:sp>
        <p:cxnSp>
          <p:nvCxnSpPr>
            <p:cNvPr id="42" name="Connector: Curved 41">
              <a:extLst>
                <a:ext uri="{FF2B5EF4-FFF2-40B4-BE49-F238E27FC236}">
                  <a16:creationId xmlns:a16="http://schemas.microsoft.com/office/drawing/2014/main" id="{B1F6F2C0-2BAF-2B06-77CD-751CF81F2BFB}"/>
                </a:ext>
                <a:ext uri="{C183D7F6-B498-43B3-948B-1728B52AA6E4}">
                  <adec:decorative xmlns:adec="http://schemas.microsoft.com/office/drawing/2017/decorative" val="1"/>
                </a:ext>
              </a:extLst>
            </p:cNvPr>
            <p:cNvCxnSpPr>
              <a:cxnSpLocks/>
              <a:stCxn id="6" idx="7"/>
              <a:endCxn id="6" idx="5"/>
            </p:cNvCxnSpPr>
            <p:nvPr/>
          </p:nvCxnSpPr>
          <p:spPr>
            <a:xfrm rot="16200000" flipH="1">
              <a:off x="9963662" y="5225268"/>
              <a:ext cx="269408" cy="12700"/>
            </a:xfrm>
            <a:prstGeom prst="curvedConnector5">
              <a:avLst>
                <a:gd name="adj1" fmla="val -84853"/>
                <a:gd name="adj2" fmla="val 4360661"/>
                <a:gd name="adj3" fmla="val 184853"/>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descr="Equation: a sub 1,a sub 2">
                  <a:extLst>
                    <a:ext uri="{FF2B5EF4-FFF2-40B4-BE49-F238E27FC236}">
                      <a16:creationId xmlns:a16="http://schemas.microsoft.com/office/drawing/2014/main" id="{E3541C6D-B478-DE81-D7C2-A84F7B3A269C}"/>
                    </a:ext>
                  </a:extLst>
                </p:cNvPr>
                <p:cNvSpPr txBox="1"/>
                <p:nvPr/>
              </p:nvSpPr>
              <p:spPr>
                <a:xfrm>
                  <a:off x="10589411" y="4995359"/>
                  <a:ext cx="856785" cy="400011"/>
                </a:xfrm>
                <a:prstGeom prst="rect">
                  <a:avLst/>
                </a:prstGeom>
                <a:noFill/>
              </p:spPr>
              <p:txBody>
                <a:bodyPr wrap="none" rtlCol="0">
                  <a:spAutoFit/>
                </a:bodyPr>
                <a:lstStyle/>
                <a:p>
                  <a:pPr/>
                  <a14:m>
                    <m:oMathPara xmlns:m="http://schemas.openxmlformats.org/officeDocument/2006/math">
                      <m:oMath>
                        <m:sSub>
                          <m:sSubPr>
                            <m:ctrlPr>
                              <a:rPr lang="en-US" sz="1600" i="1">
                                <a:latin typeface="Cambria Math" panose="02040503050406030204" pitchFamily="18" charset="0"/>
                              </a:rPr>
                            </m:ctrlPr>
                          </m:sSubPr>
                          <m:e>
                            <m:r>
                              <a:rPr lang="en-US" sz="1600" i="1">
                                <a:latin typeface="Cambria Math" panose="02040503050406030204" pitchFamily="18" charset="0"/>
                              </a:rPr>
                              <m:t>𝑎</m:t>
                            </m:r>
                          </m:e>
                          <m:sub>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𝑎</m:t>
                            </m:r>
                          </m:e>
                          <m:sub>
                            <m:r>
                              <a:rPr lang="en-US" sz="1600" b="0" i="1" smtClean="0">
                                <a:latin typeface="Cambria Math" panose="02040503050406030204" pitchFamily="18" charset="0"/>
                              </a:rPr>
                              <m:t>2</m:t>
                            </m:r>
                          </m:sub>
                        </m:sSub>
                      </m:oMath>
                    </m:oMathPara>
                  </a14:m>
                  <a:endParaRPr lang="en-US" sz="1600" dirty="0"/>
                </a:p>
              </p:txBody>
            </p:sp>
          </mc:Choice>
          <mc:Fallback xmlns="">
            <p:sp>
              <p:nvSpPr>
                <p:cNvPr id="45" name="TextBox 44" descr="Equation: a sub 1,a sub 2">
                  <a:extLst>
                    <a:ext uri="{FF2B5EF4-FFF2-40B4-BE49-F238E27FC236}">
                      <a16:creationId xmlns:a16="http://schemas.microsoft.com/office/drawing/2014/main" id="{E3541C6D-B478-DE81-D7C2-A84F7B3A269C}"/>
                    </a:ext>
                  </a:extLst>
                </p:cNvPr>
                <p:cNvSpPr txBox="1">
                  <a:spLocks noRot="1" noChangeAspect="1" noMove="1" noResize="1" noEditPoints="1" noAdjustHandles="1" noChangeArrowheads="1" noChangeShapeType="1" noTextEdit="1"/>
                </p:cNvSpPr>
                <p:nvPr/>
              </p:nvSpPr>
              <p:spPr>
                <a:xfrm>
                  <a:off x="10589411" y="4995359"/>
                  <a:ext cx="856785" cy="400011"/>
                </a:xfrm>
                <a:prstGeom prst="rect">
                  <a:avLst/>
                </a:prstGeom>
                <a:blipFill>
                  <a:blip r:embed="rId11"/>
                  <a:stretch>
                    <a:fillRect/>
                  </a:stretch>
                </a:blipFill>
              </p:spPr>
              <p:txBody>
                <a:bodyPr/>
                <a:lstStyle/>
                <a:p>
                  <a:r>
                    <a:rPr lang="en-US">
                      <a:noFill/>
                    </a:rPr>
                    <a:t> </a:t>
                  </a:r>
                </a:p>
              </p:txBody>
            </p:sp>
          </mc:Fallback>
        </mc:AlternateContent>
        <p:sp>
          <p:nvSpPr>
            <p:cNvPr id="46" name="TextBox 45">
              <a:extLst>
                <a:ext uri="{FF2B5EF4-FFF2-40B4-BE49-F238E27FC236}">
                  <a16:creationId xmlns:a16="http://schemas.microsoft.com/office/drawing/2014/main" id="{5C7ADA4D-5E31-CCAB-BB07-8C29F0F4CDE6}"/>
                </a:ext>
              </a:extLst>
            </p:cNvPr>
            <p:cNvSpPr txBox="1"/>
            <p:nvPr/>
          </p:nvSpPr>
          <p:spPr>
            <a:xfrm>
              <a:off x="10471394" y="5498068"/>
              <a:ext cx="530432" cy="400011"/>
            </a:xfrm>
            <a:prstGeom prst="rect">
              <a:avLst/>
            </a:prstGeom>
            <a:noFill/>
          </p:spPr>
          <p:txBody>
            <a:bodyPr wrap="square" rtlCol="0">
              <a:spAutoFit/>
            </a:bodyPr>
            <a:lstStyle/>
            <a:p>
              <a:r>
                <a:rPr lang="en-US" sz="1600" b="1" dirty="0">
                  <a:solidFill>
                    <a:schemeClr val="accent2"/>
                  </a:solidFill>
                </a:rPr>
                <a:t>0</a:t>
              </a:r>
            </a:p>
          </p:txBody>
        </p:sp>
        <p:sp>
          <p:nvSpPr>
            <p:cNvPr id="47" name="Rectangle 46">
              <a:extLst>
                <a:ext uri="{FF2B5EF4-FFF2-40B4-BE49-F238E27FC236}">
                  <a16:creationId xmlns:a16="http://schemas.microsoft.com/office/drawing/2014/main" id="{11732642-F447-B526-75DA-05E010BAD70B}"/>
                </a:ext>
                <a:ext uri="{C183D7F6-B498-43B3-948B-1728B52AA6E4}">
                  <adec:decorative xmlns:adec="http://schemas.microsoft.com/office/drawing/2017/decorative" val="1"/>
                </a:ext>
              </a:extLst>
            </p:cNvPr>
            <p:cNvSpPr/>
            <p:nvPr/>
          </p:nvSpPr>
          <p:spPr>
            <a:xfrm>
              <a:off x="7946052" y="2800566"/>
              <a:ext cx="3941148" cy="3066833"/>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mc:AlternateContent xmlns:mc="http://schemas.openxmlformats.org/markup-compatibility/2006" xmlns:a14="http://schemas.microsoft.com/office/drawing/2010/main">
          <mc:Choice Requires="a14">
            <p:sp>
              <p:nvSpPr>
                <p:cNvPr id="48" name="TextBox 47" descr="Equation: p (s prime| s,a). r(s,a,s prime)">
                  <a:extLst>
                    <a:ext uri="{FF2B5EF4-FFF2-40B4-BE49-F238E27FC236}">
                      <a16:creationId xmlns:a16="http://schemas.microsoft.com/office/drawing/2014/main" id="{A97F0D86-83DF-9BB0-4617-1FDEAFDBA88A}"/>
                    </a:ext>
                  </a:extLst>
                </p:cNvPr>
                <p:cNvSpPr txBox="1"/>
                <p:nvPr/>
              </p:nvSpPr>
              <p:spPr>
                <a:xfrm>
                  <a:off x="8115261" y="4906930"/>
                  <a:ext cx="1236254" cy="690928"/>
                </a:xfrm>
                <a:prstGeom prst="rect">
                  <a:avLst/>
                </a:prstGeom>
                <a:noFill/>
              </p:spPr>
              <p:txBody>
                <a:bodyPr wrap="square" rtlCol="0">
                  <a:spAutoFit/>
                </a:bodyPr>
                <a:lstStyle/>
                <a:p>
                  <a:pPr/>
                  <a14:m>
                    <m:oMathPara xmlns:m="http://schemas.openxmlformats.org/officeDocument/2006/math">
                      <m:oMath>
                        <m:r>
                          <a:rPr lang="en-US" sz="1600" b="1" i="1" dirty="0" smtClean="0">
                            <a:solidFill>
                              <a:schemeClr val="accent3"/>
                            </a:solidFill>
                            <a:latin typeface="Cambria Math" panose="02040503050406030204" pitchFamily="18" charset="0"/>
                          </a:rPr>
                          <m:t>𝒑</m:t>
                        </m:r>
                        <m:d>
                          <m:dPr>
                            <m:endChr m:val="|"/>
                            <m:ctrlPr>
                              <a:rPr lang="en-US" sz="1600" b="1" i="1" dirty="0" smtClean="0">
                                <a:solidFill>
                                  <a:schemeClr val="accent3"/>
                                </a:solidFill>
                                <a:latin typeface="Cambria Math" panose="02040503050406030204" pitchFamily="18" charset="0"/>
                              </a:rPr>
                            </m:ctrlPr>
                          </m:dPr>
                          <m:e>
                            <m:r>
                              <a:rPr lang="en-US" sz="1600" b="1" i="1" dirty="0" smtClean="0">
                                <a:solidFill>
                                  <a:schemeClr val="accent3"/>
                                </a:solidFill>
                                <a:latin typeface="Cambria Math" panose="02040503050406030204" pitchFamily="18" charset="0"/>
                              </a:rPr>
                              <m:t>𝒔</m:t>
                            </m:r>
                            <m:r>
                              <a:rPr lang="en-US" sz="1600" b="1" i="1" dirty="0" smtClean="0">
                                <a:solidFill>
                                  <a:schemeClr val="accent3"/>
                                </a:solidFill>
                                <a:latin typeface="Cambria Math" panose="02040503050406030204" pitchFamily="18" charset="0"/>
                              </a:rPr>
                              <m:t>’</m:t>
                            </m:r>
                          </m:e>
                        </m:d>
                        <m:r>
                          <a:rPr lang="en-US" sz="1600" b="1" i="1" dirty="0" err="1" smtClean="0">
                            <a:solidFill>
                              <a:schemeClr val="accent3"/>
                            </a:solidFill>
                            <a:latin typeface="Cambria Math" panose="02040503050406030204" pitchFamily="18" charset="0"/>
                          </a:rPr>
                          <m:t>𝒔</m:t>
                        </m:r>
                        <m:r>
                          <a:rPr lang="en-US" sz="1600" b="1" i="1" dirty="0" err="1" smtClean="0">
                            <a:solidFill>
                              <a:schemeClr val="accent3"/>
                            </a:solidFill>
                            <a:latin typeface="Cambria Math" panose="02040503050406030204" pitchFamily="18" charset="0"/>
                          </a:rPr>
                          <m:t>,</m:t>
                        </m:r>
                        <m:r>
                          <a:rPr lang="en-US" sz="1600" b="1" i="1" dirty="0" err="1" smtClean="0">
                            <a:solidFill>
                              <a:schemeClr val="accent3"/>
                            </a:solidFill>
                            <a:latin typeface="Cambria Math" panose="02040503050406030204" pitchFamily="18" charset="0"/>
                          </a:rPr>
                          <m:t>𝒂</m:t>
                        </m:r>
                        <m:r>
                          <a:rPr lang="en-US" sz="1600" b="1" i="1" dirty="0" smtClean="0">
                            <a:solidFill>
                              <a:schemeClr val="accent3"/>
                            </a:solidFill>
                            <a:latin typeface="Cambria Math" panose="02040503050406030204" pitchFamily="18" charset="0"/>
                          </a:rPr>
                          <m:t>)</m:t>
                        </m:r>
                      </m:oMath>
                    </m:oMathPara>
                  </a14:m>
                  <a:endParaRPr lang="en-US" sz="1600" b="1" dirty="0">
                    <a:solidFill>
                      <a:schemeClr val="accent3"/>
                    </a:solidFill>
                  </a:endParaRPr>
                </a:p>
                <a:p>
                  <a:pPr/>
                  <a14:m>
                    <m:oMathPara xmlns:m="http://schemas.openxmlformats.org/officeDocument/2006/math">
                      <m:oMath>
                        <m:r>
                          <a:rPr lang="en-US" sz="1600" b="1" i="1" dirty="0" smtClean="0">
                            <a:solidFill>
                              <a:schemeClr val="accent2"/>
                            </a:solidFill>
                            <a:latin typeface="Cambria Math" panose="02040503050406030204" pitchFamily="18" charset="0"/>
                          </a:rPr>
                          <m:t>𝒓</m:t>
                        </m:r>
                        <m:r>
                          <a:rPr lang="en-US" sz="1600" b="1" i="1" dirty="0" smtClean="0">
                            <a:solidFill>
                              <a:schemeClr val="accent2"/>
                            </a:solidFill>
                            <a:latin typeface="Cambria Math" panose="02040503050406030204" pitchFamily="18" charset="0"/>
                          </a:rPr>
                          <m:t>(</m:t>
                        </m:r>
                        <m:r>
                          <a:rPr lang="en-US" sz="1600" b="1" i="1" dirty="0" err="1" smtClean="0">
                            <a:solidFill>
                              <a:schemeClr val="accent2"/>
                            </a:solidFill>
                            <a:latin typeface="Cambria Math" panose="02040503050406030204" pitchFamily="18" charset="0"/>
                          </a:rPr>
                          <m:t>𝒔</m:t>
                        </m:r>
                        <m:r>
                          <a:rPr lang="en-US" sz="1600" b="1" i="1" dirty="0" err="1" smtClean="0">
                            <a:solidFill>
                              <a:schemeClr val="accent2"/>
                            </a:solidFill>
                            <a:latin typeface="Cambria Math" panose="02040503050406030204" pitchFamily="18" charset="0"/>
                          </a:rPr>
                          <m:t>,</m:t>
                        </m:r>
                        <m:r>
                          <a:rPr lang="en-US" sz="1600" b="1" i="1" dirty="0" err="1" smtClean="0">
                            <a:solidFill>
                              <a:schemeClr val="accent2"/>
                            </a:solidFill>
                            <a:latin typeface="Cambria Math" panose="02040503050406030204" pitchFamily="18" charset="0"/>
                          </a:rPr>
                          <m:t>𝒂</m:t>
                        </m:r>
                        <m:r>
                          <a:rPr lang="en-US" sz="1600" b="1" i="1" dirty="0" err="1" smtClean="0">
                            <a:solidFill>
                              <a:schemeClr val="accent2"/>
                            </a:solidFill>
                            <a:latin typeface="Cambria Math" panose="02040503050406030204" pitchFamily="18" charset="0"/>
                          </a:rPr>
                          <m:t>,</m:t>
                        </m:r>
                        <m:r>
                          <a:rPr lang="en-US" sz="1600" b="1" i="1" dirty="0" err="1" smtClean="0">
                            <a:solidFill>
                              <a:schemeClr val="accent2"/>
                            </a:solidFill>
                            <a:latin typeface="Cambria Math" panose="02040503050406030204" pitchFamily="18" charset="0"/>
                          </a:rPr>
                          <m:t>𝒔</m:t>
                        </m:r>
                        <m:r>
                          <a:rPr lang="en-US" sz="1600" b="1" i="1" dirty="0" smtClean="0">
                            <a:solidFill>
                              <a:schemeClr val="accent2"/>
                            </a:solidFill>
                            <a:latin typeface="Cambria Math" panose="02040503050406030204" pitchFamily="18" charset="0"/>
                          </a:rPr>
                          <m:t>’)</m:t>
                        </m:r>
                      </m:oMath>
                    </m:oMathPara>
                  </a14:m>
                  <a:endParaRPr lang="en-US" sz="1600" b="1" dirty="0">
                    <a:solidFill>
                      <a:schemeClr val="accent6"/>
                    </a:solidFill>
                  </a:endParaRPr>
                </a:p>
              </p:txBody>
            </p:sp>
          </mc:Choice>
          <mc:Fallback xmlns="">
            <p:sp>
              <p:nvSpPr>
                <p:cNvPr id="48" name="TextBox 47" descr="Equation: p (s prime| s,a). r(s,a,s prime)">
                  <a:extLst>
                    <a:ext uri="{FF2B5EF4-FFF2-40B4-BE49-F238E27FC236}">
                      <a16:creationId xmlns:a16="http://schemas.microsoft.com/office/drawing/2014/main" id="{A97F0D86-83DF-9BB0-4617-1FDEAFDBA88A}"/>
                    </a:ext>
                  </a:extLst>
                </p:cNvPr>
                <p:cNvSpPr txBox="1">
                  <a:spLocks noRot="1" noChangeAspect="1" noMove="1" noResize="1" noEditPoints="1" noAdjustHandles="1" noChangeArrowheads="1" noChangeShapeType="1" noTextEdit="1"/>
                </p:cNvSpPr>
                <p:nvPr/>
              </p:nvSpPr>
              <p:spPr>
                <a:xfrm>
                  <a:off x="8115261" y="4906930"/>
                  <a:ext cx="1236254" cy="690928"/>
                </a:xfrm>
                <a:prstGeom prst="rect">
                  <a:avLst/>
                </a:prstGeom>
                <a:blipFill>
                  <a:blip r:embed="rId12"/>
                  <a:stretch>
                    <a:fillRect b="-5208"/>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8" name="TextBox 87" descr="Trajectory as a Markov decision process “unrolled” over time:. s sub 0, a sub 0,r sub 1,s sub 1,a sub 1,r sub 2,s sub 2,a sub 2,r sub 3, dot dot dot">
                <a:extLst>
                  <a:ext uri="{FF2B5EF4-FFF2-40B4-BE49-F238E27FC236}">
                    <a16:creationId xmlns:a16="http://schemas.microsoft.com/office/drawing/2014/main" id="{A11C1FAA-D9D4-C960-8D26-D4079588ECAC}"/>
                  </a:ext>
                </a:extLst>
              </p:cNvPr>
              <p:cNvSpPr txBox="1"/>
              <p:nvPr/>
            </p:nvSpPr>
            <p:spPr>
              <a:xfrm>
                <a:off x="1026399" y="4338172"/>
                <a:ext cx="6861454" cy="646331"/>
              </a:xfrm>
              <a:prstGeom prst="rect">
                <a:avLst/>
              </a:prstGeom>
              <a:noFill/>
            </p:spPr>
            <p:txBody>
              <a:bodyPr wrap="square">
                <a:spAutoFit/>
              </a:bodyPr>
              <a:lstStyle/>
              <a:p>
                <a:r>
                  <a:rPr lang="en-US" sz="1800" b="1" dirty="0"/>
                  <a:t>Trajectory as a</a:t>
                </a:r>
                <a:r>
                  <a:rPr lang="en-US" b="1" dirty="0"/>
                  <a:t> Markov decision process “unrolled”  over time:</a:t>
                </a:r>
                <a:endParaRPr lang="en-US" sz="1800" b="1" dirty="0"/>
              </a:p>
              <a:p>
                <a:pPr/>
                <a14:m>
                  <m:oMathPara xmlns:m="http://schemas.openxmlformats.org/officeDocument/2006/math">
                    <m:o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b="0" i="1" dirty="0" smtClean="0">
                              <a:latin typeface="Cambria Math" panose="02040503050406030204" pitchFamily="18" charset="0"/>
                            </a:rPr>
                            <m:t>0</m:t>
                          </m:r>
                        </m:sub>
                      </m:sSub>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0</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𝑟</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𝑟</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𝑟</m:t>
                          </m:r>
                        </m:e>
                        <m:sub>
                          <m:r>
                            <a:rPr lang="en-US" b="0" i="1" dirty="0" smtClean="0">
                              <a:latin typeface="Cambria Math" panose="02040503050406030204" pitchFamily="18" charset="0"/>
                            </a:rPr>
                            <m:t>3</m:t>
                          </m:r>
                        </m:sub>
                      </m:sSub>
                      <m:r>
                        <a:rPr lang="en-US" b="0" i="1" dirty="0" smtClean="0">
                          <a:latin typeface="Cambria Math" panose="02040503050406030204" pitchFamily="18" charset="0"/>
                        </a:rPr>
                        <m:t>,…</m:t>
                      </m:r>
                    </m:oMath>
                  </m:oMathPara>
                </a14:m>
                <a:endParaRPr lang="en-US" b="1" dirty="0"/>
              </a:p>
            </p:txBody>
          </p:sp>
        </mc:Choice>
        <mc:Fallback xmlns="">
          <p:sp>
            <p:nvSpPr>
              <p:cNvPr id="88" name="TextBox 87" descr="Trajectory as a Markov decision process “unrolled” over time:. s sub 0, a sub 0,r sub 1,s sub 1,a sub 1,r sub 2,s sub 2,a sub 2,r sub 3, dot dot dot">
                <a:extLst>
                  <a:ext uri="{FF2B5EF4-FFF2-40B4-BE49-F238E27FC236}">
                    <a16:creationId xmlns:a16="http://schemas.microsoft.com/office/drawing/2014/main" id="{A11C1FAA-D9D4-C960-8D26-D4079588ECAC}"/>
                  </a:ext>
                </a:extLst>
              </p:cNvPr>
              <p:cNvSpPr txBox="1">
                <a:spLocks noRot="1" noChangeAspect="1" noMove="1" noResize="1" noEditPoints="1" noAdjustHandles="1" noChangeArrowheads="1" noChangeShapeType="1" noTextEdit="1"/>
              </p:cNvSpPr>
              <p:nvPr/>
            </p:nvSpPr>
            <p:spPr>
              <a:xfrm>
                <a:off x="1026399" y="4338172"/>
                <a:ext cx="6861454" cy="646331"/>
              </a:xfrm>
              <a:prstGeom prst="rect">
                <a:avLst/>
              </a:prstGeom>
              <a:blipFill>
                <a:blip r:embed="rId22"/>
                <a:stretch>
                  <a:fillRect l="-710" t="-4717"/>
                </a:stretch>
              </a:blipFill>
            </p:spPr>
            <p:txBody>
              <a:bodyPr/>
              <a:lstStyle/>
              <a:p>
                <a:r>
                  <a:rPr lang="en-US">
                    <a:noFill/>
                  </a:rPr>
                  <a:t> </a:t>
                </a:r>
              </a:p>
            </p:txBody>
          </p:sp>
        </mc:Fallback>
      </mc:AlternateContent>
      <p:grpSp>
        <p:nvGrpSpPr>
          <p:cNvPr id="18" name="Group 17" descr="MDP unrolled over time: states s0, s1, s2 in a row; each state leads to an action a_t (green diamond), and each action leads to the next state and a reward r_t+1 (orange square). Arrows show the dependencies.">
            <a:extLst>
              <a:ext uri="{FF2B5EF4-FFF2-40B4-BE49-F238E27FC236}">
                <a16:creationId xmlns:a16="http://schemas.microsoft.com/office/drawing/2014/main" id="{C817F66B-E598-96D3-D734-23EED1D1C639}"/>
              </a:ext>
            </a:extLst>
          </p:cNvPr>
          <p:cNvGrpSpPr/>
          <p:nvPr/>
        </p:nvGrpSpPr>
        <p:grpSpPr>
          <a:xfrm>
            <a:off x="3859412" y="4883130"/>
            <a:ext cx="7579944" cy="1629572"/>
            <a:chOff x="3859412" y="4883130"/>
            <a:chExt cx="7579944" cy="1629572"/>
          </a:xfrm>
        </p:grpSpPr>
        <p:sp>
          <p:nvSpPr>
            <p:cNvPr id="10" name="Speech Bubble: Rectangle with Corners Rounded 9">
              <a:extLst>
                <a:ext uri="{FF2B5EF4-FFF2-40B4-BE49-F238E27FC236}">
                  <a16:creationId xmlns:a16="http://schemas.microsoft.com/office/drawing/2014/main" id="{0CA47357-AF7F-7B71-432F-6BE65DA78431}"/>
                </a:ext>
              </a:extLst>
            </p:cNvPr>
            <p:cNvSpPr/>
            <p:nvPr/>
          </p:nvSpPr>
          <p:spPr>
            <a:xfrm>
              <a:off x="3859412" y="5888416"/>
              <a:ext cx="1858883" cy="604458"/>
            </a:xfrm>
            <a:prstGeom prst="wedgeRoundRectCallout">
              <a:avLst>
                <a:gd name="adj1" fmla="val 133904"/>
                <a:gd name="adj2" fmla="val 23031"/>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Arrow show dependencies</a:t>
              </a:r>
            </a:p>
          </p:txBody>
        </p:sp>
        <p:grpSp>
          <p:nvGrpSpPr>
            <p:cNvPr id="14" name="Group 13" descr="Diagram with labels: s sub 0; a sub o; r sub 1; s sub 1; a sub 1; r sub 2; s sub 2; a sub 2; r sub 3; …; MDP.">
              <a:extLst>
                <a:ext uri="{FF2B5EF4-FFF2-40B4-BE49-F238E27FC236}">
                  <a16:creationId xmlns:a16="http://schemas.microsoft.com/office/drawing/2014/main" id="{4B34CECD-4CB3-1EBA-7363-F817D365CC9D}"/>
                </a:ext>
              </a:extLst>
            </p:cNvPr>
            <p:cNvGrpSpPr/>
            <p:nvPr/>
          </p:nvGrpSpPr>
          <p:grpSpPr>
            <a:xfrm>
              <a:off x="6563249" y="4883130"/>
              <a:ext cx="4876107" cy="1629572"/>
              <a:chOff x="6563249" y="4883130"/>
              <a:chExt cx="4876107" cy="1629572"/>
            </a:xfrm>
          </p:grpSpPr>
          <p:grpSp>
            <p:nvGrpSpPr>
              <p:cNvPr id="83" name="Group 82" descr="Diagram with labels: s sub 0; a sub o; r sub 1; s sub 1; a sub 1; r sub 2; s sub 2; a sub 2; r sub 3; ….">
                <a:extLst>
                  <a:ext uri="{FF2B5EF4-FFF2-40B4-BE49-F238E27FC236}">
                    <a16:creationId xmlns:a16="http://schemas.microsoft.com/office/drawing/2014/main" id="{5B6F3DF1-74EE-5ECB-8133-112CF87DFA50}"/>
                  </a:ext>
                </a:extLst>
              </p:cNvPr>
              <p:cNvGrpSpPr/>
              <p:nvPr/>
            </p:nvGrpSpPr>
            <p:grpSpPr>
              <a:xfrm>
                <a:off x="6563249" y="4883130"/>
                <a:ext cx="4759686" cy="1629572"/>
                <a:chOff x="3160518" y="4817835"/>
                <a:chExt cx="4759686" cy="1629572"/>
              </a:xfrm>
            </p:grpSpPr>
            <mc:AlternateContent xmlns:mc="http://schemas.openxmlformats.org/markup-compatibility/2006" xmlns:a14="http://schemas.microsoft.com/office/drawing/2010/main">
              <mc:Choice Requires="a14">
                <p:sp>
                  <p:nvSpPr>
                    <p:cNvPr id="7" name="Oval 6" descr="Equation: s sub 0">
                      <a:extLst>
                        <a:ext uri="{FF2B5EF4-FFF2-40B4-BE49-F238E27FC236}">
                          <a16:creationId xmlns:a16="http://schemas.microsoft.com/office/drawing/2014/main" id="{3A1E1E07-E971-6A0D-ECFA-93F1E9E3059B}"/>
                        </a:ext>
                      </a:extLst>
                    </p:cNvPr>
                    <p:cNvSpPr/>
                    <p:nvPr/>
                  </p:nvSpPr>
                  <p:spPr>
                    <a:xfrm>
                      <a:off x="3412751" y="5442121"/>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m:oMathPara>
                      </a14:m>
                      <a:endParaRPr lang="en-US" dirty="0"/>
                    </a:p>
                  </p:txBody>
                </p:sp>
              </mc:Choice>
              <mc:Fallback xmlns="">
                <p:sp>
                  <p:nvSpPr>
                    <p:cNvPr id="7" name="Oval 6" descr="Equation: s sub 0">
                      <a:extLst>
                        <a:ext uri="{FF2B5EF4-FFF2-40B4-BE49-F238E27FC236}">
                          <a16:creationId xmlns:a16="http://schemas.microsoft.com/office/drawing/2014/main" id="{3A1E1E07-E971-6A0D-ECFA-93F1E9E3059B}"/>
                        </a:ext>
                      </a:extLst>
                    </p:cNvPr>
                    <p:cNvSpPr>
                      <a:spLocks noRot="1" noChangeAspect="1" noMove="1" noResize="1" noEditPoints="1" noAdjustHandles="1" noChangeArrowheads="1" noChangeShapeType="1" noTextEdit="1"/>
                    </p:cNvSpPr>
                    <p:nvPr/>
                  </p:nvSpPr>
                  <p:spPr>
                    <a:xfrm>
                      <a:off x="3412751" y="5442121"/>
                      <a:ext cx="381000" cy="381000"/>
                    </a:xfrm>
                    <a:prstGeom prst="ellipse">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Flowchart: Decision 8" descr="Equation: a sub o">
                      <a:extLst>
                        <a:ext uri="{FF2B5EF4-FFF2-40B4-BE49-F238E27FC236}">
                          <a16:creationId xmlns:a16="http://schemas.microsoft.com/office/drawing/2014/main" id="{F5E2D65E-63C1-B021-34F0-4BE3D92DB58B}"/>
                        </a:ext>
                      </a:extLst>
                    </p:cNvPr>
                    <p:cNvSpPr/>
                    <p:nvPr/>
                  </p:nvSpPr>
                  <p:spPr>
                    <a:xfrm>
                      <a:off x="3879710" y="4920378"/>
                      <a:ext cx="635194" cy="414210"/>
                    </a:xfrm>
                    <a:prstGeom prst="flowChartDecision">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𝑜</m:t>
                                </m:r>
                              </m:sub>
                            </m:sSub>
                          </m:oMath>
                        </m:oMathPara>
                      </a14:m>
                      <a:endParaRPr lang="en-US" dirty="0"/>
                    </a:p>
                  </p:txBody>
                </p:sp>
              </mc:Choice>
              <mc:Fallback xmlns="">
                <p:sp>
                  <p:nvSpPr>
                    <p:cNvPr id="9" name="Flowchart: Decision 8" descr="Equation: a sub o">
                      <a:extLst>
                        <a:ext uri="{FF2B5EF4-FFF2-40B4-BE49-F238E27FC236}">
                          <a16:creationId xmlns:a16="http://schemas.microsoft.com/office/drawing/2014/main" id="{F5E2D65E-63C1-B021-34F0-4BE3D92DB58B}"/>
                        </a:ext>
                      </a:extLst>
                    </p:cNvPr>
                    <p:cNvSpPr>
                      <a:spLocks noRot="1" noChangeAspect="1" noMove="1" noResize="1" noEditPoints="1" noAdjustHandles="1" noChangeArrowheads="1" noChangeShapeType="1" noTextEdit="1"/>
                    </p:cNvSpPr>
                    <p:nvPr/>
                  </p:nvSpPr>
                  <p:spPr>
                    <a:xfrm>
                      <a:off x="3879710" y="4920378"/>
                      <a:ext cx="635194" cy="414210"/>
                    </a:xfrm>
                    <a:prstGeom prst="flowChartDecision">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descr="Equation: r sub 1">
                      <a:extLst>
                        <a:ext uri="{FF2B5EF4-FFF2-40B4-BE49-F238E27FC236}">
                          <a16:creationId xmlns:a16="http://schemas.microsoft.com/office/drawing/2014/main" id="{EA30D281-AE29-40AA-EFE2-094FCA41388E}"/>
                        </a:ext>
                      </a:extLst>
                    </p:cNvPr>
                    <p:cNvSpPr/>
                    <p:nvPr/>
                  </p:nvSpPr>
                  <p:spPr>
                    <a:xfrm>
                      <a:off x="4695871" y="6013621"/>
                      <a:ext cx="404849" cy="294652"/>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oMath>
                        </m:oMathPara>
                      </a14:m>
                      <a:endParaRPr lang="en-US" dirty="0"/>
                    </a:p>
                  </p:txBody>
                </p:sp>
              </mc:Choice>
              <mc:Fallback xmlns="">
                <p:sp>
                  <p:nvSpPr>
                    <p:cNvPr id="12" name="Rectangle 11" descr="Equation: r sub 1">
                      <a:extLst>
                        <a:ext uri="{FF2B5EF4-FFF2-40B4-BE49-F238E27FC236}">
                          <a16:creationId xmlns:a16="http://schemas.microsoft.com/office/drawing/2014/main" id="{EA30D281-AE29-40AA-EFE2-094FCA41388E}"/>
                        </a:ext>
                      </a:extLst>
                    </p:cNvPr>
                    <p:cNvSpPr>
                      <a:spLocks noRot="1" noChangeAspect="1" noMove="1" noResize="1" noEditPoints="1" noAdjustHandles="1" noChangeArrowheads="1" noChangeShapeType="1" noTextEdit="1"/>
                    </p:cNvSpPr>
                    <p:nvPr/>
                  </p:nvSpPr>
                  <p:spPr>
                    <a:xfrm>
                      <a:off x="4695871" y="6013621"/>
                      <a:ext cx="404849" cy="294652"/>
                    </a:xfrm>
                    <a:prstGeom prst="rect">
                      <a:avLst/>
                    </a:prstGeom>
                    <a:blipFill>
                      <a:blip r:embed="rId15"/>
                      <a:stretch>
                        <a:fillRect b="-5660"/>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FA42ECFB-A2F4-52C1-EC43-6110DAA21922}"/>
                    </a:ext>
                    <a:ext uri="{C183D7F6-B498-43B3-948B-1728B52AA6E4}">
                      <adec:decorative xmlns:adec="http://schemas.microsoft.com/office/drawing/2017/decorative" val="1"/>
                    </a:ext>
                  </a:extLst>
                </p:cNvPr>
                <p:cNvCxnSpPr>
                  <a:cxnSpLocks/>
                  <a:stCxn id="7" idx="0"/>
                  <a:endCxn id="9" idx="1"/>
                </p:cNvCxnSpPr>
                <p:nvPr/>
              </p:nvCxnSpPr>
              <p:spPr>
                <a:xfrm flipV="1">
                  <a:off x="3603251" y="5127483"/>
                  <a:ext cx="276459" cy="314638"/>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DFB087F-7637-9C56-CA14-2ECCE220323E}"/>
                    </a:ext>
                    <a:ext uri="{C183D7F6-B498-43B3-948B-1728B52AA6E4}">
                      <adec:decorative xmlns:adec="http://schemas.microsoft.com/office/drawing/2017/decorative" val="1"/>
                    </a:ext>
                  </a:extLst>
                </p:cNvPr>
                <p:cNvCxnSpPr>
                  <a:cxnSpLocks/>
                  <a:stCxn id="7" idx="5"/>
                  <a:endCxn id="12" idx="1"/>
                </p:cNvCxnSpPr>
                <p:nvPr/>
              </p:nvCxnSpPr>
              <p:spPr>
                <a:xfrm>
                  <a:off x="3737955" y="5767325"/>
                  <a:ext cx="957916" cy="39362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D3E32970-1B82-B141-4C56-50D48316EC9C}"/>
                    </a:ext>
                    <a:ext uri="{C183D7F6-B498-43B3-948B-1728B52AA6E4}">
                      <adec:decorative xmlns:adec="http://schemas.microsoft.com/office/drawing/2017/decorative" val="1"/>
                    </a:ext>
                  </a:extLst>
                </p:cNvPr>
                <p:cNvCxnSpPr>
                  <a:cxnSpLocks/>
                  <a:stCxn id="9" idx="2"/>
                  <a:endCxn id="12" idx="0"/>
                </p:cNvCxnSpPr>
                <p:nvPr/>
              </p:nvCxnSpPr>
              <p:spPr>
                <a:xfrm>
                  <a:off x="4197307" y="5334588"/>
                  <a:ext cx="700989" cy="679033"/>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C8886D5D-F559-F39A-0B87-96EC30F30234}"/>
                    </a:ext>
                    <a:ext uri="{C183D7F6-B498-43B3-948B-1728B52AA6E4}">
                      <adec:decorative xmlns:adec="http://schemas.microsoft.com/office/drawing/2017/decorative" val="1"/>
                    </a:ext>
                  </a:extLst>
                </p:cNvPr>
                <p:cNvCxnSpPr>
                  <a:cxnSpLocks/>
                  <a:stCxn id="7" idx="6"/>
                </p:cNvCxnSpPr>
                <p:nvPr/>
              </p:nvCxnSpPr>
              <p:spPr>
                <a:xfrm>
                  <a:off x="3793751" y="5632621"/>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AA9567DD-4FF4-B1C5-433F-12CE4D58A7B4}"/>
                    </a:ext>
                    <a:ext uri="{C183D7F6-B498-43B3-948B-1728B52AA6E4}">
                      <adec:decorative xmlns:adec="http://schemas.microsoft.com/office/drawing/2017/decorative" val="1"/>
                    </a:ext>
                  </a:extLst>
                </p:cNvPr>
                <p:cNvCxnSpPr>
                  <a:cxnSpLocks/>
                  <a:stCxn id="9" idx="3"/>
                </p:cNvCxnSpPr>
                <p:nvPr/>
              </p:nvCxnSpPr>
              <p:spPr>
                <a:xfrm>
                  <a:off x="4514904" y="5127483"/>
                  <a:ext cx="242447" cy="3704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5" name="Oval 64" descr="Equation: s sub 1">
                      <a:extLst>
                        <a:ext uri="{FF2B5EF4-FFF2-40B4-BE49-F238E27FC236}">
                          <a16:creationId xmlns:a16="http://schemas.microsoft.com/office/drawing/2014/main" id="{53F1F228-3027-AA8B-5A7F-2391C71ED3C6}"/>
                        </a:ext>
                      </a:extLst>
                    </p:cNvPr>
                    <p:cNvSpPr/>
                    <p:nvPr/>
                  </p:nvSpPr>
                  <p:spPr>
                    <a:xfrm>
                      <a:off x="4701555" y="5442121"/>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oMath>
                        </m:oMathPara>
                      </a14:m>
                      <a:endParaRPr lang="en-US" dirty="0"/>
                    </a:p>
                  </p:txBody>
                </p:sp>
              </mc:Choice>
              <mc:Fallback xmlns="">
                <p:sp>
                  <p:nvSpPr>
                    <p:cNvPr id="65" name="Oval 64" descr="Equation: s sub 1">
                      <a:extLst>
                        <a:ext uri="{FF2B5EF4-FFF2-40B4-BE49-F238E27FC236}">
                          <a16:creationId xmlns:a16="http://schemas.microsoft.com/office/drawing/2014/main" id="{53F1F228-3027-AA8B-5A7F-2391C71ED3C6}"/>
                        </a:ext>
                      </a:extLst>
                    </p:cNvPr>
                    <p:cNvSpPr>
                      <a:spLocks noRot="1" noChangeAspect="1" noMove="1" noResize="1" noEditPoints="1" noAdjustHandles="1" noChangeArrowheads="1" noChangeShapeType="1" noTextEdit="1"/>
                    </p:cNvSpPr>
                    <p:nvPr/>
                  </p:nvSpPr>
                  <p:spPr>
                    <a:xfrm>
                      <a:off x="4701555" y="5442121"/>
                      <a:ext cx="381000" cy="381000"/>
                    </a:xfrm>
                    <a:prstGeom prst="ellipse">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Flowchart: Decision 65" descr="Equation: a sub 1">
                      <a:extLst>
                        <a:ext uri="{FF2B5EF4-FFF2-40B4-BE49-F238E27FC236}">
                          <a16:creationId xmlns:a16="http://schemas.microsoft.com/office/drawing/2014/main" id="{905E9155-1C58-F969-693B-0005EFA07CCB}"/>
                        </a:ext>
                      </a:extLst>
                    </p:cNvPr>
                    <p:cNvSpPr/>
                    <p:nvPr/>
                  </p:nvSpPr>
                  <p:spPr>
                    <a:xfrm>
                      <a:off x="5168514" y="4920378"/>
                      <a:ext cx="635194" cy="414210"/>
                    </a:xfrm>
                    <a:prstGeom prst="flowChartDecision">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66" name="Flowchart: Decision 65" descr="Equation: a sub 1">
                      <a:extLst>
                        <a:ext uri="{FF2B5EF4-FFF2-40B4-BE49-F238E27FC236}">
                          <a16:creationId xmlns:a16="http://schemas.microsoft.com/office/drawing/2014/main" id="{905E9155-1C58-F969-693B-0005EFA07CCB}"/>
                        </a:ext>
                      </a:extLst>
                    </p:cNvPr>
                    <p:cNvSpPr>
                      <a:spLocks noRot="1" noChangeAspect="1" noMove="1" noResize="1" noEditPoints="1" noAdjustHandles="1" noChangeArrowheads="1" noChangeShapeType="1" noTextEdit="1"/>
                    </p:cNvSpPr>
                    <p:nvPr/>
                  </p:nvSpPr>
                  <p:spPr>
                    <a:xfrm>
                      <a:off x="5168514" y="4920378"/>
                      <a:ext cx="635194" cy="414210"/>
                    </a:xfrm>
                    <a:prstGeom prst="flowChartDecision">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descr="Equation: r sub 2">
                      <a:extLst>
                        <a:ext uri="{FF2B5EF4-FFF2-40B4-BE49-F238E27FC236}">
                          <a16:creationId xmlns:a16="http://schemas.microsoft.com/office/drawing/2014/main" id="{2FB5DC9A-FC55-3666-89A8-B0DF1C0B33DA}"/>
                        </a:ext>
                      </a:extLst>
                    </p:cNvPr>
                    <p:cNvSpPr/>
                    <p:nvPr/>
                  </p:nvSpPr>
                  <p:spPr>
                    <a:xfrm>
                      <a:off x="6005079" y="6013621"/>
                      <a:ext cx="404849" cy="294652"/>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oMath>
                        </m:oMathPara>
                      </a14:m>
                      <a:endParaRPr lang="en-US" dirty="0"/>
                    </a:p>
                  </p:txBody>
                </p:sp>
              </mc:Choice>
              <mc:Fallback xmlns="">
                <p:sp>
                  <p:nvSpPr>
                    <p:cNvPr id="67" name="Rectangle 66" descr="Equation: r sub 2">
                      <a:extLst>
                        <a:ext uri="{FF2B5EF4-FFF2-40B4-BE49-F238E27FC236}">
                          <a16:creationId xmlns:a16="http://schemas.microsoft.com/office/drawing/2014/main" id="{2FB5DC9A-FC55-3666-89A8-B0DF1C0B33DA}"/>
                        </a:ext>
                      </a:extLst>
                    </p:cNvPr>
                    <p:cNvSpPr>
                      <a:spLocks noRot="1" noChangeAspect="1" noMove="1" noResize="1" noEditPoints="1" noAdjustHandles="1" noChangeArrowheads="1" noChangeShapeType="1" noTextEdit="1"/>
                    </p:cNvSpPr>
                    <p:nvPr/>
                  </p:nvSpPr>
                  <p:spPr>
                    <a:xfrm>
                      <a:off x="6005079" y="6013621"/>
                      <a:ext cx="404849" cy="294652"/>
                    </a:xfrm>
                    <a:prstGeom prst="rect">
                      <a:avLst/>
                    </a:prstGeom>
                    <a:blipFill>
                      <a:blip r:embed="rId18"/>
                      <a:stretch>
                        <a:fillRect b="-5660"/>
                      </a:stretch>
                    </a:blipFill>
                  </p:spPr>
                  <p:txBody>
                    <a:bodyPr/>
                    <a:lstStyle/>
                    <a:p>
                      <a:r>
                        <a:rPr lang="en-US">
                          <a:noFill/>
                        </a:rPr>
                        <a:t> </a:t>
                      </a:r>
                    </a:p>
                  </p:txBody>
                </p:sp>
              </mc:Fallback>
            </mc:AlternateContent>
            <p:cxnSp>
              <p:nvCxnSpPr>
                <p:cNvPr id="68" name="Straight Arrow Connector 67">
                  <a:extLst>
                    <a:ext uri="{FF2B5EF4-FFF2-40B4-BE49-F238E27FC236}">
                      <a16:creationId xmlns:a16="http://schemas.microsoft.com/office/drawing/2014/main" id="{80BB0CA2-CDC5-D7AA-992E-24B6CC80328E}"/>
                    </a:ext>
                    <a:ext uri="{C183D7F6-B498-43B3-948B-1728B52AA6E4}">
                      <adec:decorative xmlns:adec="http://schemas.microsoft.com/office/drawing/2017/decorative" val="1"/>
                    </a:ext>
                  </a:extLst>
                </p:cNvPr>
                <p:cNvCxnSpPr>
                  <a:cxnSpLocks/>
                  <a:stCxn id="65" idx="0"/>
                  <a:endCxn id="66" idx="1"/>
                </p:cNvCxnSpPr>
                <p:nvPr/>
              </p:nvCxnSpPr>
              <p:spPr>
                <a:xfrm flipV="1">
                  <a:off x="4892055" y="5127483"/>
                  <a:ext cx="276459" cy="314638"/>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7E9B84AF-17CB-D78A-27A2-D220997BA87B}"/>
                    </a:ext>
                    <a:ext uri="{C183D7F6-B498-43B3-948B-1728B52AA6E4}">
                      <adec:decorative xmlns:adec="http://schemas.microsoft.com/office/drawing/2017/decorative" val="1"/>
                    </a:ext>
                  </a:extLst>
                </p:cNvPr>
                <p:cNvCxnSpPr>
                  <a:cxnSpLocks/>
                  <a:stCxn id="65" idx="5"/>
                  <a:endCxn id="67" idx="1"/>
                </p:cNvCxnSpPr>
                <p:nvPr/>
              </p:nvCxnSpPr>
              <p:spPr>
                <a:xfrm>
                  <a:off x="5026759" y="5767325"/>
                  <a:ext cx="978320" cy="39362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DF926C25-09AF-C59D-9661-828F6A1FDDBE}"/>
                    </a:ext>
                    <a:ext uri="{C183D7F6-B498-43B3-948B-1728B52AA6E4}">
                      <adec:decorative xmlns:adec="http://schemas.microsoft.com/office/drawing/2017/decorative" val="1"/>
                    </a:ext>
                  </a:extLst>
                </p:cNvPr>
                <p:cNvCxnSpPr>
                  <a:cxnSpLocks/>
                  <a:stCxn id="66" idx="2"/>
                  <a:endCxn id="67" idx="0"/>
                </p:cNvCxnSpPr>
                <p:nvPr/>
              </p:nvCxnSpPr>
              <p:spPr>
                <a:xfrm>
                  <a:off x="5486111" y="5334588"/>
                  <a:ext cx="721393" cy="679033"/>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3E4EA84B-4E34-CE85-46A5-750170E457BB}"/>
                    </a:ext>
                    <a:ext uri="{C183D7F6-B498-43B3-948B-1728B52AA6E4}">
                      <adec:decorative xmlns:adec="http://schemas.microsoft.com/office/drawing/2017/decorative" val="1"/>
                    </a:ext>
                  </a:extLst>
                </p:cNvPr>
                <p:cNvCxnSpPr>
                  <a:cxnSpLocks/>
                  <a:stCxn id="65" idx="6"/>
                </p:cNvCxnSpPr>
                <p:nvPr/>
              </p:nvCxnSpPr>
              <p:spPr>
                <a:xfrm>
                  <a:off x="5082555" y="5632621"/>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 name="Straight Arrow Connector 71">
                  <a:extLst>
                    <a:ext uri="{FF2B5EF4-FFF2-40B4-BE49-F238E27FC236}">
                      <a16:creationId xmlns:a16="http://schemas.microsoft.com/office/drawing/2014/main" id="{A9501B64-D862-DBC0-7E6E-BDD2E771FCFB}"/>
                    </a:ext>
                    <a:ext uri="{C183D7F6-B498-43B3-948B-1728B52AA6E4}">
                      <adec:decorative xmlns:adec="http://schemas.microsoft.com/office/drawing/2017/decorative" val="1"/>
                    </a:ext>
                  </a:extLst>
                </p:cNvPr>
                <p:cNvCxnSpPr>
                  <a:cxnSpLocks/>
                  <a:stCxn id="66" idx="3"/>
                </p:cNvCxnSpPr>
                <p:nvPr/>
              </p:nvCxnSpPr>
              <p:spPr>
                <a:xfrm>
                  <a:off x="5803708" y="5127483"/>
                  <a:ext cx="242447" cy="3704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3" name="Oval 72" descr="Equation: s sub 2">
                      <a:extLst>
                        <a:ext uri="{FF2B5EF4-FFF2-40B4-BE49-F238E27FC236}">
                          <a16:creationId xmlns:a16="http://schemas.microsoft.com/office/drawing/2014/main" id="{43B3821B-6F01-1BEB-6315-7FB562234D4E}"/>
                        </a:ext>
                      </a:extLst>
                    </p:cNvPr>
                    <p:cNvSpPr/>
                    <p:nvPr/>
                  </p:nvSpPr>
                  <p:spPr>
                    <a:xfrm>
                      <a:off x="5990399" y="5442121"/>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oMath>
                        </m:oMathPara>
                      </a14:m>
                      <a:endParaRPr lang="en-US" dirty="0"/>
                    </a:p>
                  </p:txBody>
                </p:sp>
              </mc:Choice>
              <mc:Fallback xmlns="">
                <p:sp>
                  <p:nvSpPr>
                    <p:cNvPr id="73" name="Oval 72" descr="Equation: s sub 2">
                      <a:extLst>
                        <a:ext uri="{FF2B5EF4-FFF2-40B4-BE49-F238E27FC236}">
                          <a16:creationId xmlns:a16="http://schemas.microsoft.com/office/drawing/2014/main" id="{43B3821B-6F01-1BEB-6315-7FB562234D4E}"/>
                        </a:ext>
                      </a:extLst>
                    </p:cNvPr>
                    <p:cNvSpPr>
                      <a:spLocks noRot="1" noChangeAspect="1" noMove="1" noResize="1" noEditPoints="1" noAdjustHandles="1" noChangeArrowheads="1" noChangeShapeType="1" noTextEdit="1"/>
                    </p:cNvSpPr>
                    <p:nvPr/>
                  </p:nvSpPr>
                  <p:spPr>
                    <a:xfrm>
                      <a:off x="5990399" y="5442121"/>
                      <a:ext cx="381000" cy="381000"/>
                    </a:xfrm>
                    <a:prstGeom prst="ellipse">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Flowchart: Decision 73" descr="Equation: a sub 2">
                      <a:extLst>
                        <a:ext uri="{FF2B5EF4-FFF2-40B4-BE49-F238E27FC236}">
                          <a16:creationId xmlns:a16="http://schemas.microsoft.com/office/drawing/2014/main" id="{8B64C264-E05D-A7CD-E4B9-19276CAC37E7}"/>
                        </a:ext>
                      </a:extLst>
                    </p:cNvPr>
                    <p:cNvSpPr/>
                    <p:nvPr/>
                  </p:nvSpPr>
                  <p:spPr>
                    <a:xfrm>
                      <a:off x="6457358" y="4920378"/>
                      <a:ext cx="635194" cy="414210"/>
                    </a:xfrm>
                    <a:prstGeom prst="flowChartDecision">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74" name="Flowchart: Decision 73" descr="Equation: a sub 2">
                      <a:extLst>
                        <a:ext uri="{FF2B5EF4-FFF2-40B4-BE49-F238E27FC236}">
                          <a16:creationId xmlns:a16="http://schemas.microsoft.com/office/drawing/2014/main" id="{8B64C264-E05D-A7CD-E4B9-19276CAC37E7}"/>
                        </a:ext>
                      </a:extLst>
                    </p:cNvPr>
                    <p:cNvSpPr>
                      <a:spLocks noRot="1" noChangeAspect="1" noMove="1" noResize="1" noEditPoints="1" noAdjustHandles="1" noChangeArrowheads="1" noChangeShapeType="1" noTextEdit="1"/>
                    </p:cNvSpPr>
                    <p:nvPr/>
                  </p:nvSpPr>
                  <p:spPr>
                    <a:xfrm>
                      <a:off x="6457358" y="4920378"/>
                      <a:ext cx="635194" cy="414210"/>
                    </a:xfrm>
                    <a:prstGeom prst="flowChartDecision">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Rectangle 74" descr="Equation: r sub 3">
                      <a:extLst>
                        <a:ext uri="{FF2B5EF4-FFF2-40B4-BE49-F238E27FC236}">
                          <a16:creationId xmlns:a16="http://schemas.microsoft.com/office/drawing/2014/main" id="{A03A83B2-C0D9-3CA5-9D53-ABCF93FEF2BE}"/>
                        </a:ext>
                      </a:extLst>
                    </p:cNvPr>
                    <p:cNvSpPr/>
                    <p:nvPr/>
                  </p:nvSpPr>
                  <p:spPr>
                    <a:xfrm>
                      <a:off x="7213775" y="6030881"/>
                      <a:ext cx="404849" cy="294652"/>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oMath>
                        </m:oMathPara>
                      </a14:m>
                      <a:endParaRPr lang="en-US" dirty="0"/>
                    </a:p>
                  </p:txBody>
                </p:sp>
              </mc:Choice>
              <mc:Fallback xmlns="">
                <p:sp>
                  <p:nvSpPr>
                    <p:cNvPr id="75" name="Rectangle 74" descr="Equation: r sub 3">
                      <a:extLst>
                        <a:ext uri="{FF2B5EF4-FFF2-40B4-BE49-F238E27FC236}">
                          <a16:creationId xmlns:a16="http://schemas.microsoft.com/office/drawing/2014/main" id="{A03A83B2-C0D9-3CA5-9D53-ABCF93FEF2BE}"/>
                        </a:ext>
                      </a:extLst>
                    </p:cNvPr>
                    <p:cNvSpPr>
                      <a:spLocks noRot="1" noChangeAspect="1" noMove="1" noResize="1" noEditPoints="1" noAdjustHandles="1" noChangeArrowheads="1" noChangeShapeType="1" noTextEdit="1"/>
                    </p:cNvSpPr>
                    <p:nvPr/>
                  </p:nvSpPr>
                  <p:spPr>
                    <a:xfrm>
                      <a:off x="7213775" y="6030881"/>
                      <a:ext cx="404849" cy="294652"/>
                    </a:xfrm>
                    <a:prstGeom prst="rect">
                      <a:avLst/>
                    </a:prstGeom>
                    <a:blipFill>
                      <a:blip r:embed="rId21"/>
                      <a:stretch>
                        <a:fillRect b="-7692"/>
                      </a:stretch>
                    </a:blipFill>
                  </p:spPr>
                  <p:txBody>
                    <a:bodyPr/>
                    <a:lstStyle/>
                    <a:p>
                      <a:r>
                        <a:rPr lang="en-US">
                          <a:noFill/>
                        </a:rPr>
                        <a:t> </a:t>
                      </a:r>
                    </a:p>
                  </p:txBody>
                </p:sp>
              </mc:Fallback>
            </mc:AlternateContent>
            <p:cxnSp>
              <p:nvCxnSpPr>
                <p:cNvPr id="76" name="Straight Arrow Connector 75">
                  <a:extLst>
                    <a:ext uri="{FF2B5EF4-FFF2-40B4-BE49-F238E27FC236}">
                      <a16:creationId xmlns:a16="http://schemas.microsoft.com/office/drawing/2014/main" id="{F8A6C990-B9E6-3389-0EE9-E126B9DBCFD1}"/>
                    </a:ext>
                    <a:ext uri="{C183D7F6-B498-43B3-948B-1728B52AA6E4}">
                      <adec:decorative xmlns:adec="http://schemas.microsoft.com/office/drawing/2017/decorative" val="1"/>
                    </a:ext>
                  </a:extLst>
                </p:cNvPr>
                <p:cNvCxnSpPr>
                  <a:cxnSpLocks/>
                  <a:stCxn id="73" idx="0"/>
                  <a:endCxn id="74" idx="1"/>
                </p:cNvCxnSpPr>
                <p:nvPr/>
              </p:nvCxnSpPr>
              <p:spPr>
                <a:xfrm flipV="1">
                  <a:off x="6180899" y="5127483"/>
                  <a:ext cx="276459" cy="314638"/>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A48675D0-FCBE-35D2-68B8-121B1B8249C6}"/>
                    </a:ext>
                    <a:ext uri="{C183D7F6-B498-43B3-948B-1728B52AA6E4}">
                      <adec:decorative xmlns:adec="http://schemas.microsoft.com/office/drawing/2017/decorative" val="1"/>
                    </a:ext>
                  </a:extLst>
                </p:cNvPr>
                <p:cNvCxnSpPr>
                  <a:cxnSpLocks/>
                  <a:stCxn id="73" idx="5"/>
                  <a:endCxn id="75" idx="1"/>
                </p:cNvCxnSpPr>
                <p:nvPr/>
              </p:nvCxnSpPr>
              <p:spPr>
                <a:xfrm>
                  <a:off x="6315603" y="5767325"/>
                  <a:ext cx="898172" cy="41088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27D73AF0-259D-9107-E128-05BF0F9510D1}"/>
                    </a:ext>
                    <a:ext uri="{C183D7F6-B498-43B3-948B-1728B52AA6E4}">
                      <adec:decorative xmlns:adec="http://schemas.microsoft.com/office/drawing/2017/decorative" val="1"/>
                    </a:ext>
                  </a:extLst>
                </p:cNvPr>
                <p:cNvCxnSpPr>
                  <a:cxnSpLocks/>
                  <a:stCxn id="74" idx="2"/>
                  <a:endCxn id="75" idx="0"/>
                </p:cNvCxnSpPr>
                <p:nvPr/>
              </p:nvCxnSpPr>
              <p:spPr>
                <a:xfrm>
                  <a:off x="6774955" y="5334588"/>
                  <a:ext cx="641245" cy="696293"/>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47731D88-2686-AD33-9854-06C41CF52EF8}"/>
                    </a:ext>
                    <a:ext uri="{C183D7F6-B498-43B3-948B-1728B52AA6E4}">
                      <adec:decorative xmlns:adec="http://schemas.microsoft.com/office/drawing/2017/decorative" val="1"/>
                    </a:ext>
                  </a:extLst>
                </p:cNvPr>
                <p:cNvCxnSpPr>
                  <a:cxnSpLocks/>
                  <a:stCxn id="73" idx="6"/>
                </p:cNvCxnSpPr>
                <p:nvPr/>
              </p:nvCxnSpPr>
              <p:spPr>
                <a:xfrm>
                  <a:off x="6371399" y="5632621"/>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5D99DB2C-6F51-8928-8BB8-DC51F252FE9F}"/>
                    </a:ext>
                    <a:ext uri="{C183D7F6-B498-43B3-948B-1728B52AA6E4}">
                      <adec:decorative xmlns:adec="http://schemas.microsoft.com/office/drawing/2017/decorative" val="1"/>
                    </a:ext>
                  </a:extLst>
                </p:cNvPr>
                <p:cNvCxnSpPr>
                  <a:cxnSpLocks/>
                  <a:stCxn id="74" idx="3"/>
                </p:cNvCxnSpPr>
                <p:nvPr/>
              </p:nvCxnSpPr>
              <p:spPr>
                <a:xfrm>
                  <a:off x="7092552" y="5127483"/>
                  <a:ext cx="242447" cy="3704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1" name="TextBox 80">
                  <a:extLst>
                    <a:ext uri="{FF2B5EF4-FFF2-40B4-BE49-F238E27FC236}">
                      <a16:creationId xmlns:a16="http://schemas.microsoft.com/office/drawing/2014/main" id="{E94D57AC-0B39-48DB-7CE5-FF7627773B74}"/>
                    </a:ext>
                  </a:extLst>
                </p:cNvPr>
                <p:cNvSpPr txBox="1"/>
                <p:nvPr/>
              </p:nvSpPr>
              <p:spPr>
                <a:xfrm>
                  <a:off x="7286850" y="5425914"/>
                  <a:ext cx="395910" cy="369332"/>
                </a:xfrm>
                <a:prstGeom prst="rect">
                  <a:avLst/>
                </a:prstGeom>
                <a:noFill/>
              </p:spPr>
              <p:txBody>
                <a:bodyPr wrap="square" rtlCol="0">
                  <a:spAutoFit/>
                </a:bodyPr>
                <a:lstStyle/>
                <a:p>
                  <a:r>
                    <a:rPr lang="en-US" dirty="0"/>
                    <a:t>…</a:t>
                  </a:r>
                </a:p>
              </p:txBody>
            </p:sp>
            <p:sp>
              <p:nvSpPr>
                <p:cNvPr id="82" name="Rectangle 81">
                  <a:extLst>
                    <a:ext uri="{FF2B5EF4-FFF2-40B4-BE49-F238E27FC236}">
                      <a16:creationId xmlns:a16="http://schemas.microsoft.com/office/drawing/2014/main" id="{91E24E00-BB52-2DA7-11B1-828CD1B1034A}"/>
                    </a:ext>
                    <a:ext uri="{C183D7F6-B498-43B3-948B-1728B52AA6E4}">
                      <adec:decorative xmlns:adec="http://schemas.microsoft.com/office/drawing/2017/decorative" val="1"/>
                    </a:ext>
                  </a:extLst>
                </p:cNvPr>
                <p:cNvSpPr/>
                <p:nvPr/>
              </p:nvSpPr>
              <p:spPr>
                <a:xfrm>
                  <a:off x="3160518" y="4817835"/>
                  <a:ext cx="4759686" cy="1629572"/>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grpSp>
          <p:sp>
            <p:nvSpPr>
              <p:cNvPr id="11" name="TextBox 10">
                <a:extLst>
                  <a:ext uri="{FF2B5EF4-FFF2-40B4-BE49-F238E27FC236}">
                    <a16:creationId xmlns:a16="http://schemas.microsoft.com/office/drawing/2014/main" id="{CDE9D100-6446-C74E-C4D9-D87B9D02698A}"/>
                  </a:ext>
                </a:extLst>
              </p:cNvPr>
              <p:cNvSpPr txBox="1"/>
              <p:nvPr/>
            </p:nvSpPr>
            <p:spPr>
              <a:xfrm>
                <a:off x="10671297" y="4892320"/>
                <a:ext cx="768059" cy="382049"/>
              </a:xfrm>
              <a:prstGeom prst="rect">
                <a:avLst/>
              </a:prstGeom>
              <a:noFill/>
            </p:spPr>
            <p:txBody>
              <a:bodyPr wrap="square" rtlCol="0">
                <a:spAutoFit/>
              </a:bodyPr>
              <a:lstStyle/>
              <a:p>
                <a:r>
                  <a:rPr lang="en-US" dirty="0"/>
                  <a:t>MDP</a:t>
                </a:r>
              </a:p>
            </p:txBody>
          </p:sp>
        </p:grpSp>
      </p:grpSp>
    </p:spTree>
    <p:extLst>
      <p:ext uri="{BB962C8B-B14F-4D97-AF65-F5344CB8AC3E}">
        <p14:creationId xmlns:p14="http://schemas.microsoft.com/office/powerpoint/2010/main" val="1220813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9B3CF-0EBB-B802-54F0-3999C26466E7}"/>
              </a:ext>
            </a:extLst>
          </p:cNvPr>
          <p:cNvSpPr>
            <a:spLocks noGrp="1"/>
          </p:cNvSpPr>
          <p:nvPr>
            <p:ph type="title"/>
          </p:nvPr>
        </p:nvSpPr>
        <p:spPr/>
        <p:txBody>
          <a:bodyPr/>
          <a:lstStyle/>
          <a:p>
            <a:r>
              <a:rPr lang="en-US" dirty="0"/>
              <a:t>Partially Observable MDP (POMDP)</a:t>
            </a:r>
          </a:p>
        </p:txBody>
      </p:sp>
      <p:sp>
        <p:nvSpPr>
          <p:cNvPr id="3" name="Content Placeholder 2">
            <a:extLst>
              <a:ext uri="{FF2B5EF4-FFF2-40B4-BE49-F238E27FC236}">
                <a16:creationId xmlns:a16="http://schemas.microsoft.com/office/drawing/2014/main" id="{6BA2A8E9-FBBC-E224-7311-2CEDD952638C}"/>
              </a:ext>
            </a:extLst>
          </p:cNvPr>
          <p:cNvSpPr>
            <a:spLocks noGrp="1"/>
          </p:cNvSpPr>
          <p:nvPr>
            <p:ph idx="1"/>
          </p:nvPr>
        </p:nvSpPr>
        <p:spPr/>
        <p:txBody>
          <a:bodyPr/>
          <a:lstStyle/>
          <a:p>
            <a:r>
              <a:rPr lang="en-US" dirty="0"/>
              <a:t>Add hidden states and observations to an MDP</a:t>
            </a:r>
          </a:p>
        </p:txBody>
      </p:sp>
      <p:grpSp>
        <p:nvGrpSpPr>
          <p:cNvPr id="132" name="Group 131" descr="MDP unrolled over time: states s0, s1, s2, each leading to an action a_t, and each action leading to the next state and a reward r_t+1.">
            <a:extLst>
              <a:ext uri="{FF2B5EF4-FFF2-40B4-BE49-F238E27FC236}">
                <a16:creationId xmlns:a16="http://schemas.microsoft.com/office/drawing/2014/main" id="{D2A719F9-1F3D-A190-AD98-B0276915613B}"/>
              </a:ext>
            </a:extLst>
          </p:cNvPr>
          <p:cNvGrpSpPr/>
          <p:nvPr/>
        </p:nvGrpSpPr>
        <p:grpSpPr>
          <a:xfrm>
            <a:off x="899410" y="2093589"/>
            <a:ext cx="4764674" cy="1629572"/>
            <a:chOff x="899410" y="2093589"/>
            <a:chExt cx="4764674" cy="1629572"/>
          </a:xfrm>
        </p:grpSpPr>
        <p:grpSp>
          <p:nvGrpSpPr>
            <p:cNvPr id="92" name="Group 91" descr="Diagram with labels: s sub 0; a sub o; r sub 1; s sub 1; a sub 1; r sub 2; s sub 2; a sub 2; r sub 3; ….">
              <a:extLst>
                <a:ext uri="{FF2B5EF4-FFF2-40B4-BE49-F238E27FC236}">
                  <a16:creationId xmlns:a16="http://schemas.microsoft.com/office/drawing/2014/main" id="{CEE55189-4F19-D2CE-E85E-01C147F02D0F}"/>
                </a:ext>
              </a:extLst>
            </p:cNvPr>
            <p:cNvGrpSpPr/>
            <p:nvPr/>
          </p:nvGrpSpPr>
          <p:grpSpPr>
            <a:xfrm>
              <a:off x="904398" y="2093589"/>
              <a:ext cx="4759686" cy="1629572"/>
              <a:chOff x="3160518" y="4817835"/>
              <a:chExt cx="4759686" cy="1629572"/>
            </a:xfrm>
          </p:grpSpPr>
          <mc:AlternateContent xmlns:mc="http://schemas.openxmlformats.org/markup-compatibility/2006" xmlns:a14="http://schemas.microsoft.com/office/drawing/2010/main">
            <mc:Choice Requires="a14">
              <p:sp>
                <p:nvSpPr>
                  <p:cNvPr id="93" name="Oval 92" descr="Equation: s sub 0">
                    <a:extLst>
                      <a:ext uri="{FF2B5EF4-FFF2-40B4-BE49-F238E27FC236}">
                        <a16:creationId xmlns:a16="http://schemas.microsoft.com/office/drawing/2014/main" id="{0C504263-5F1A-9AB6-40C4-ADB2A0E44AB1}"/>
                      </a:ext>
                    </a:extLst>
                  </p:cNvPr>
                  <p:cNvSpPr/>
                  <p:nvPr/>
                </p:nvSpPr>
                <p:spPr>
                  <a:xfrm>
                    <a:off x="3412751" y="5442121"/>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m:oMathPara>
                    </a14:m>
                    <a:endParaRPr lang="en-US" dirty="0"/>
                  </a:p>
                </p:txBody>
              </p:sp>
            </mc:Choice>
            <mc:Fallback xmlns="">
              <p:sp>
                <p:nvSpPr>
                  <p:cNvPr id="93" name="Oval 92" descr="Equation: s sub 0">
                    <a:extLst>
                      <a:ext uri="{FF2B5EF4-FFF2-40B4-BE49-F238E27FC236}">
                        <a16:creationId xmlns:a16="http://schemas.microsoft.com/office/drawing/2014/main" id="{0C504263-5F1A-9AB6-40C4-ADB2A0E44AB1}"/>
                      </a:ext>
                    </a:extLst>
                  </p:cNvPr>
                  <p:cNvSpPr>
                    <a:spLocks noRot="1" noChangeAspect="1" noMove="1" noResize="1" noEditPoints="1" noAdjustHandles="1" noChangeArrowheads="1" noChangeShapeType="1" noTextEdit="1"/>
                  </p:cNvSpPr>
                  <p:nvPr/>
                </p:nvSpPr>
                <p:spPr>
                  <a:xfrm>
                    <a:off x="3412751" y="5442121"/>
                    <a:ext cx="381000" cy="381000"/>
                  </a:xfrm>
                  <a:prstGeom prst="ellipse">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Flowchart: Decision 93" descr="Equation: a sub o">
                    <a:extLst>
                      <a:ext uri="{FF2B5EF4-FFF2-40B4-BE49-F238E27FC236}">
                        <a16:creationId xmlns:a16="http://schemas.microsoft.com/office/drawing/2014/main" id="{E01C7420-CEF0-53AF-96A1-D661AFAEFA60}"/>
                      </a:ext>
                    </a:extLst>
                  </p:cNvPr>
                  <p:cNvSpPr/>
                  <p:nvPr/>
                </p:nvSpPr>
                <p:spPr>
                  <a:xfrm>
                    <a:off x="3879710" y="4920378"/>
                    <a:ext cx="635194" cy="414210"/>
                  </a:xfrm>
                  <a:prstGeom prst="flowChartDecision">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𝑜</m:t>
                              </m:r>
                            </m:sub>
                          </m:sSub>
                        </m:oMath>
                      </m:oMathPara>
                    </a14:m>
                    <a:endParaRPr lang="en-US" dirty="0"/>
                  </a:p>
                </p:txBody>
              </p:sp>
            </mc:Choice>
            <mc:Fallback xmlns="">
              <p:sp>
                <p:nvSpPr>
                  <p:cNvPr id="94" name="Flowchart: Decision 93" descr="Equation: a sub o">
                    <a:extLst>
                      <a:ext uri="{FF2B5EF4-FFF2-40B4-BE49-F238E27FC236}">
                        <a16:creationId xmlns:a16="http://schemas.microsoft.com/office/drawing/2014/main" id="{E01C7420-CEF0-53AF-96A1-D661AFAEFA60}"/>
                      </a:ext>
                    </a:extLst>
                  </p:cNvPr>
                  <p:cNvSpPr>
                    <a:spLocks noRot="1" noChangeAspect="1" noMove="1" noResize="1" noEditPoints="1" noAdjustHandles="1" noChangeArrowheads="1" noChangeShapeType="1" noTextEdit="1"/>
                  </p:cNvSpPr>
                  <p:nvPr/>
                </p:nvSpPr>
                <p:spPr>
                  <a:xfrm>
                    <a:off x="3879710" y="4920378"/>
                    <a:ext cx="635194" cy="414210"/>
                  </a:xfrm>
                  <a:prstGeom prst="flowChartDecision">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Rectangle 94" descr="Equation: r sub 1">
                    <a:extLst>
                      <a:ext uri="{FF2B5EF4-FFF2-40B4-BE49-F238E27FC236}">
                        <a16:creationId xmlns:a16="http://schemas.microsoft.com/office/drawing/2014/main" id="{D0B8D235-15EB-9170-30F2-286A1E5333EE}"/>
                      </a:ext>
                    </a:extLst>
                  </p:cNvPr>
                  <p:cNvSpPr/>
                  <p:nvPr/>
                </p:nvSpPr>
                <p:spPr>
                  <a:xfrm>
                    <a:off x="4695871" y="6013621"/>
                    <a:ext cx="404849" cy="294652"/>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oMath>
                      </m:oMathPara>
                    </a14:m>
                    <a:endParaRPr lang="en-US" dirty="0"/>
                  </a:p>
                </p:txBody>
              </p:sp>
            </mc:Choice>
            <mc:Fallback xmlns="">
              <p:sp>
                <p:nvSpPr>
                  <p:cNvPr id="95" name="Rectangle 94" descr="Equation: r sub 1">
                    <a:extLst>
                      <a:ext uri="{FF2B5EF4-FFF2-40B4-BE49-F238E27FC236}">
                        <a16:creationId xmlns:a16="http://schemas.microsoft.com/office/drawing/2014/main" id="{D0B8D235-15EB-9170-30F2-286A1E5333EE}"/>
                      </a:ext>
                    </a:extLst>
                  </p:cNvPr>
                  <p:cNvSpPr>
                    <a:spLocks noRot="1" noChangeAspect="1" noMove="1" noResize="1" noEditPoints="1" noAdjustHandles="1" noChangeArrowheads="1" noChangeShapeType="1" noTextEdit="1"/>
                  </p:cNvSpPr>
                  <p:nvPr/>
                </p:nvSpPr>
                <p:spPr>
                  <a:xfrm>
                    <a:off x="4695871" y="6013621"/>
                    <a:ext cx="404849" cy="294652"/>
                  </a:xfrm>
                  <a:prstGeom prst="rect">
                    <a:avLst/>
                  </a:prstGeom>
                  <a:blipFill>
                    <a:blip r:embed="rId4"/>
                    <a:stretch>
                      <a:fillRect b="-5769"/>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C1D43666-2AF9-E07B-ACC1-11A4D1FE08AF}"/>
                  </a:ext>
                  <a:ext uri="{C183D7F6-B498-43B3-948B-1728B52AA6E4}">
                    <adec:decorative xmlns:adec="http://schemas.microsoft.com/office/drawing/2017/decorative" val="1"/>
                  </a:ext>
                </a:extLst>
              </p:cNvPr>
              <p:cNvCxnSpPr>
                <a:cxnSpLocks/>
                <a:stCxn id="93" idx="0"/>
                <a:endCxn id="94" idx="1"/>
              </p:cNvCxnSpPr>
              <p:nvPr/>
            </p:nvCxnSpPr>
            <p:spPr>
              <a:xfrm flipV="1">
                <a:off x="3603251" y="5127483"/>
                <a:ext cx="276459" cy="314638"/>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97" name="Straight Arrow Connector 96">
                <a:extLst>
                  <a:ext uri="{FF2B5EF4-FFF2-40B4-BE49-F238E27FC236}">
                    <a16:creationId xmlns:a16="http://schemas.microsoft.com/office/drawing/2014/main" id="{11F1A51F-9736-FBE6-7E60-154E9CD6FA26}"/>
                  </a:ext>
                  <a:ext uri="{C183D7F6-B498-43B3-948B-1728B52AA6E4}">
                    <adec:decorative xmlns:adec="http://schemas.microsoft.com/office/drawing/2017/decorative" val="1"/>
                  </a:ext>
                </a:extLst>
              </p:cNvPr>
              <p:cNvCxnSpPr>
                <a:cxnSpLocks/>
                <a:stCxn id="93" idx="5"/>
                <a:endCxn id="95" idx="1"/>
              </p:cNvCxnSpPr>
              <p:nvPr/>
            </p:nvCxnSpPr>
            <p:spPr>
              <a:xfrm>
                <a:off x="3737955" y="5767325"/>
                <a:ext cx="957916" cy="39362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8" name="Straight Arrow Connector 97">
                <a:extLst>
                  <a:ext uri="{FF2B5EF4-FFF2-40B4-BE49-F238E27FC236}">
                    <a16:creationId xmlns:a16="http://schemas.microsoft.com/office/drawing/2014/main" id="{ABA2B0E2-088E-5E82-7782-96CC7BFD2613}"/>
                  </a:ext>
                  <a:ext uri="{C183D7F6-B498-43B3-948B-1728B52AA6E4}">
                    <adec:decorative xmlns:adec="http://schemas.microsoft.com/office/drawing/2017/decorative" val="1"/>
                  </a:ext>
                </a:extLst>
              </p:cNvPr>
              <p:cNvCxnSpPr>
                <a:cxnSpLocks/>
                <a:stCxn id="94" idx="2"/>
                <a:endCxn id="95" idx="0"/>
              </p:cNvCxnSpPr>
              <p:nvPr/>
            </p:nvCxnSpPr>
            <p:spPr>
              <a:xfrm>
                <a:off x="4197307" y="5334588"/>
                <a:ext cx="700989" cy="679033"/>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33D79A1E-C539-A1E3-8AB1-47CBD3D06F7F}"/>
                  </a:ext>
                  <a:ext uri="{C183D7F6-B498-43B3-948B-1728B52AA6E4}">
                    <adec:decorative xmlns:adec="http://schemas.microsoft.com/office/drawing/2017/decorative" val="1"/>
                  </a:ext>
                </a:extLst>
              </p:cNvPr>
              <p:cNvCxnSpPr>
                <a:cxnSpLocks/>
                <a:stCxn id="93" idx="6"/>
              </p:cNvCxnSpPr>
              <p:nvPr/>
            </p:nvCxnSpPr>
            <p:spPr>
              <a:xfrm>
                <a:off x="3793751" y="5632621"/>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915874D9-7DDA-6A96-23B2-B2358D9614E8}"/>
                  </a:ext>
                  <a:ext uri="{C183D7F6-B498-43B3-948B-1728B52AA6E4}">
                    <adec:decorative xmlns:adec="http://schemas.microsoft.com/office/drawing/2017/decorative" val="1"/>
                  </a:ext>
                </a:extLst>
              </p:cNvPr>
              <p:cNvCxnSpPr>
                <a:cxnSpLocks/>
                <a:stCxn id="94" idx="3"/>
              </p:cNvCxnSpPr>
              <p:nvPr/>
            </p:nvCxnSpPr>
            <p:spPr>
              <a:xfrm>
                <a:off x="4514904" y="5127483"/>
                <a:ext cx="242447" cy="3704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1" name="Oval 100" descr="Equation: s sub 1">
                    <a:extLst>
                      <a:ext uri="{FF2B5EF4-FFF2-40B4-BE49-F238E27FC236}">
                        <a16:creationId xmlns:a16="http://schemas.microsoft.com/office/drawing/2014/main" id="{A8ED421D-6D0E-2BFB-C267-E7A1D1753AD7}"/>
                      </a:ext>
                    </a:extLst>
                  </p:cNvPr>
                  <p:cNvSpPr/>
                  <p:nvPr/>
                </p:nvSpPr>
                <p:spPr>
                  <a:xfrm>
                    <a:off x="4701555" y="5442121"/>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oMath>
                      </m:oMathPara>
                    </a14:m>
                    <a:endParaRPr lang="en-US" dirty="0"/>
                  </a:p>
                </p:txBody>
              </p:sp>
            </mc:Choice>
            <mc:Fallback xmlns="">
              <p:sp>
                <p:nvSpPr>
                  <p:cNvPr id="101" name="Oval 100" descr="Equation: s sub 1">
                    <a:extLst>
                      <a:ext uri="{FF2B5EF4-FFF2-40B4-BE49-F238E27FC236}">
                        <a16:creationId xmlns:a16="http://schemas.microsoft.com/office/drawing/2014/main" id="{A8ED421D-6D0E-2BFB-C267-E7A1D1753AD7}"/>
                      </a:ext>
                    </a:extLst>
                  </p:cNvPr>
                  <p:cNvSpPr>
                    <a:spLocks noRot="1" noChangeAspect="1" noMove="1" noResize="1" noEditPoints="1" noAdjustHandles="1" noChangeArrowheads="1" noChangeShapeType="1" noTextEdit="1"/>
                  </p:cNvSpPr>
                  <p:nvPr/>
                </p:nvSpPr>
                <p:spPr>
                  <a:xfrm>
                    <a:off x="4701555" y="5442121"/>
                    <a:ext cx="381000" cy="381000"/>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Flowchart: Decision 101" descr="Equation: a sub 1">
                    <a:extLst>
                      <a:ext uri="{FF2B5EF4-FFF2-40B4-BE49-F238E27FC236}">
                        <a16:creationId xmlns:a16="http://schemas.microsoft.com/office/drawing/2014/main" id="{A6FEA34E-0824-6896-E9E9-0B7BD38266EE}"/>
                      </a:ext>
                    </a:extLst>
                  </p:cNvPr>
                  <p:cNvSpPr/>
                  <p:nvPr/>
                </p:nvSpPr>
                <p:spPr>
                  <a:xfrm>
                    <a:off x="5168514" y="4920378"/>
                    <a:ext cx="635194" cy="414210"/>
                  </a:xfrm>
                  <a:prstGeom prst="flowChartDecision">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102" name="Flowchart: Decision 101" descr="Equation: a sub 1">
                    <a:extLst>
                      <a:ext uri="{FF2B5EF4-FFF2-40B4-BE49-F238E27FC236}">
                        <a16:creationId xmlns:a16="http://schemas.microsoft.com/office/drawing/2014/main" id="{A6FEA34E-0824-6896-E9E9-0B7BD38266EE}"/>
                      </a:ext>
                    </a:extLst>
                  </p:cNvPr>
                  <p:cNvSpPr>
                    <a:spLocks noRot="1" noChangeAspect="1" noMove="1" noResize="1" noEditPoints="1" noAdjustHandles="1" noChangeArrowheads="1" noChangeShapeType="1" noTextEdit="1"/>
                  </p:cNvSpPr>
                  <p:nvPr/>
                </p:nvSpPr>
                <p:spPr>
                  <a:xfrm>
                    <a:off x="5168514" y="4920378"/>
                    <a:ext cx="635194" cy="414210"/>
                  </a:xfrm>
                  <a:prstGeom prst="flowChartDecision">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Rectangle 102" descr="Equation: r sub 2">
                    <a:extLst>
                      <a:ext uri="{FF2B5EF4-FFF2-40B4-BE49-F238E27FC236}">
                        <a16:creationId xmlns:a16="http://schemas.microsoft.com/office/drawing/2014/main" id="{B17D75EA-F17E-76E8-221D-4C2E1A197450}"/>
                      </a:ext>
                    </a:extLst>
                  </p:cNvPr>
                  <p:cNvSpPr/>
                  <p:nvPr/>
                </p:nvSpPr>
                <p:spPr>
                  <a:xfrm>
                    <a:off x="6005079" y="6013621"/>
                    <a:ext cx="404849" cy="294652"/>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oMath>
                      </m:oMathPara>
                    </a14:m>
                    <a:endParaRPr lang="en-US" dirty="0"/>
                  </a:p>
                </p:txBody>
              </p:sp>
            </mc:Choice>
            <mc:Fallback xmlns="">
              <p:sp>
                <p:nvSpPr>
                  <p:cNvPr id="103" name="Rectangle 102" descr="Equation: r sub 2">
                    <a:extLst>
                      <a:ext uri="{FF2B5EF4-FFF2-40B4-BE49-F238E27FC236}">
                        <a16:creationId xmlns:a16="http://schemas.microsoft.com/office/drawing/2014/main" id="{B17D75EA-F17E-76E8-221D-4C2E1A197450}"/>
                      </a:ext>
                    </a:extLst>
                  </p:cNvPr>
                  <p:cNvSpPr>
                    <a:spLocks noRot="1" noChangeAspect="1" noMove="1" noResize="1" noEditPoints="1" noAdjustHandles="1" noChangeArrowheads="1" noChangeShapeType="1" noTextEdit="1"/>
                  </p:cNvSpPr>
                  <p:nvPr/>
                </p:nvSpPr>
                <p:spPr>
                  <a:xfrm>
                    <a:off x="6005079" y="6013621"/>
                    <a:ext cx="404849" cy="294652"/>
                  </a:xfrm>
                  <a:prstGeom prst="rect">
                    <a:avLst/>
                  </a:prstGeom>
                  <a:blipFill>
                    <a:blip r:embed="rId7"/>
                    <a:stretch>
                      <a:fillRect b="-5769"/>
                    </a:stretch>
                  </a:blipFill>
                </p:spPr>
                <p:txBody>
                  <a:bodyPr/>
                  <a:lstStyle/>
                  <a:p>
                    <a:r>
                      <a:rPr lang="en-US">
                        <a:noFill/>
                      </a:rPr>
                      <a:t> </a:t>
                    </a:r>
                  </a:p>
                </p:txBody>
              </p:sp>
            </mc:Fallback>
          </mc:AlternateContent>
          <p:cxnSp>
            <p:nvCxnSpPr>
              <p:cNvPr id="104" name="Straight Arrow Connector 103">
                <a:extLst>
                  <a:ext uri="{FF2B5EF4-FFF2-40B4-BE49-F238E27FC236}">
                    <a16:creationId xmlns:a16="http://schemas.microsoft.com/office/drawing/2014/main" id="{FFBB9128-34C7-5999-4D45-2C7E88A68864}"/>
                  </a:ext>
                  <a:ext uri="{C183D7F6-B498-43B3-948B-1728B52AA6E4}">
                    <adec:decorative xmlns:adec="http://schemas.microsoft.com/office/drawing/2017/decorative" val="1"/>
                  </a:ext>
                </a:extLst>
              </p:cNvPr>
              <p:cNvCxnSpPr>
                <a:cxnSpLocks/>
                <a:stCxn id="101" idx="0"/>
                <a:endCxn id="102" idx="1"/>
              </p:cNvCxnSpPr>
              <p:nvPr/>
            </p:nvCxnSpPr>
            <p:spPr>
              <a:xfrm flipV="1">
                <a:off x="4892055" y="5127483"/>
                <a:ext cx="276459" cy="314638"/>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05" name="Straight Arrow Connector 104">
                <a:extLst>
                  <a:ext uri="{FF2B5EF4-FFF2-40B4-BE49-F238E27FC236}">
                    <a16:creationId xmlns:a16="http://schemas.microsoft.com/office/drawing/2014/main" id="{0697CC82-5590-4738-0A6B-4551971FEB6E}"/>
                  </a:ext>
                  <a:ext uri="{C183D7F6-B498-43B3-948B-1728B52AA6E4}">
                    <adec:decorative xmlns:adec="http://schemas.microsoft.com/office/drawing/2017/decorative" val="1"/>
                  </a:ext>
                </a:extLst>
              </p:cNvPr>
              <p:cNvCxnSpPr>
                <a:cxnSpLocks/>
                <a:stCxn id="101" idx="5"/>
                <a:endCxn id="103" idx="1"/>
              </p:cNvCxnSpPr>
              <p:nvPr/>
            </p:nvCxnSpPr>
            <p:spPr>
              <a:xfrm>
                <a:off x="5026759" y="5767325"/>
                <a:ext cx="978320" cy="39362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105">
                <a:extLst>
                  <a:ext uri="{FF2B5EF4-FFF2-40B4-BE49-F238E27FC236}">
                    <a16:creationId xmlns:a16="http://schemas.microsoft.com/office/drawing/2014/main" id="{EFA2C3F5-AD77-389D-7454-93A3C342D050}"/>
                  </a:ext>
                  <a:ext uri="{C183D7F6-B498-43B3-948B-1728B52AA6E4}">
                    <adec:decorative xmlns:adec="http://schemas.microsoft.com/office/drawing/2017/decorative" val="1"/>
                  </a:ext>
                </a:extLst>
              </p:cNvPr>
              <p:cNvCxnSpPr>
                <a:cxnSpLocks/>
                <a:stCxn id="102" idx="2"/>
                <a:endCxn id="103" idx="0"/>
              </p:cNvCxnSpPr>
              <p:nvPr/>
            </p:nvCxnSpPr>
            <p:spPr>
              <a:xfrm>
                <a:off x="5486111" y="5334588"/>
                <a:ext cx="721393" cy="679033"/>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07" name="Straight Arrow Connector 106">
                <a:extLst>
                  <a:ext uri="{FF2B5EF4-FFF2-40B4-BE49-F238E27FC236}">
                    <a16:creationId xmlns:a16="http://schemas.microsoft.com/office/drawing/2014/main" id="{D319FA24-1D2C-5534-E12A-E451664F9060}"/>
                  </a:ext>
                  <a:ext uri="{C183D7F6-B498-43B3-948B-1728B52AA6E4}">
                    <adec:decorative xmlns:adec="http://schemas.microsoft.com/office/drawing/2017/decorative" val="1"/>
                  </a:ext>
                </a:extLst>
              </p:cNvPr>
              <p:cNvCxnSpPr>
                <a:cxnSpLocks/>
                <a:stCxn id="101" idx="6"/>
              </p:cNvCxnSpPr>
              <p:nvPr/>
            </p:nvCxnSpPr>
            <p:spPr>
              <a:xfrm>
                <a:off x="5082555" y="5632621"/>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8" name="Straight Arrow Connector 107">
                <a:extLst>
                  <a:ext uri="{FF2B5EF4-FFF2-40B4-BE49-F238E27FC236}">
                    <a16:creationId xmlns:a16="http://schemas.microsoft.com/office/drawing/2014/main" id="{D1C7A50D-46CE-268A-3C53-C2D8C7CFAF07}"/>
                  </a:ext>
                  <a:ext uri="{C183D7F6-B498-43B3-948B-1728B52AA6E4}">
                    <adec:decorative xmlns:adec="http://schemas.microsoft.com/office/drawing/2017/decorative" val="1"/>
                  </a:ext>
                </a:extLst>
              </p:cNvPr>
              <p:cNvCxnSpPr>
                <a:cxnSpLocks/>
                <a:stCxn id="102" idx="3"/>
              </p:cNvCxnSpPr>
              <p:nvPr/>
            </p:nvCxnSpPr>
            <p:spPr>
              <a:xfrm>
                <a:off x="5803708" y="5127483"/>
                <a:ext cx="242447" cy="3704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Oval 108" descr="Equation: s sub 2">
                    <a:extLst>
                      <a:ext uri="{FF2B5EF4-FFF2-40B4-BE49-F238E27FC236}">
                        <a16:creationId xmlns:a16="http://schemas.microsoft.com/office/drawing/2014/main" id="{AB0AF40A-2777-5015-C7F3-C7982BFF2B25}"/>
                      </a:ext>
                    </a:extLst>
                  </p:cNvPr>
                  <p:cNvSpPr/>
                  <p:nvPr/>
                </p:nvSpPr>
                <p:spPr>
                  <a:xfrm>
                    <a:off x="5990399" y="5442121"/>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oMath>
                      </m:oMathPara>
                    </a14:m>
                    <a:endParaRPr lang="en-US" dirty="0"/>
                  </a:p>
                </p:txBody>
              </p:sp>
            </mc:Choice>
            <mc:Fallback xmlns="">
              <p:sp>
                <p:nvSpPr>
                  <p:cNvPr id="109" name="Oval 108" descr="Equation: s sub 2">
                    <a:extLst>
                      <a:ext uri="{FF2B5EF4-FFF2-40B4-BE49-F238E27FC236}">
                        <a16:creationId xmlns:a16="http://schemas.microsoft.com/office/drawing/2014/main" id="{AB0AF40A-2777-5015-C7F3-C7982BFF2B25}"/>
                      </a:ext>
                    </a:extLst>
                  </p:cNvPr>
                  <p:cNvSpPr>
                    <a:spLocks noRot="1" noChangeAspect="1" noMove="1" noResize="1" noEditPoints="1" noAdjustHandles="1" noChangeArrowheads="1" noChangeShapeType="1" noTextEdit="1"/>
                  </p:cNvSpPr>
                  <p:nvPr/>
                </p:nvSpPr>
                <p:spPr>
                  <a:xfrm>
                    <a:off x="5990399" y="5442121"/>
                    <a:ext cx="381000" cy="381000"/>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Flowchart: Decision 109" descr="Equation: a sub 2">
                    <a:extLst>
                      <a:ext uri="{FF2B5EF4-FFF2-40B4-BE49-F238E27FC236}">
                        <a16:creationId xmlns:a16="http://schemas.microsoft.com/office/drawing/2014/main" id="{A3D6763E-0A94-6799-5FC1-D2F3E56E7086}"/>
                      </a:ext>
                    </a:extLst>
                  </p:cNvPr>
                  <p:cNvSpPr/>
                  <p:nvPr/>
                </p:nvSpPr>
                <p:spPr>
                  <a:xfrm>
                    <a:off x="6457358" y="4920378"/>
                    <a:ext cx="635194" cy="414210"/>
                  </a:xfrm>
                  <a:prstGeom prst="flowChartDecision">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110" name="Flowchart: Decision 109" descr="Equation: a sub 2">
                    <a:extLst>
                      <a:ext uri="{FF2B5EF4-FFF2-40B4-BE49-F238E27FC236}">
                        <a16:creationId xmlns:a16="http://schemas.microsoft.com/office/drawing/2014/main" id="{A3D6763E-0A94-6799-5FC1-D2F3E56E7086}"/>
                      </a:ext>
                    </a:extLst>
                  </p:cNvPr>
                  <p:cNvSpPr>
                    <a:spLocks noRot="1" noChangeAspect="1" noMove="1" noResize="1" noEditPoints="1" noAdjustHandles="1" noChangeArrowheads="1" noChangeShapeType="1" noTextEdit="1"/>
                  </p:cNvSpPr>
                  <p:nvPr/>
                </p:nvSpPr>
                <p:spPr>
                  <a:xfrm>
                    <a:off x="6457358" y="4920378"/>
                    <a:ext cx="635194" cy="414210"/>
                  </a:xfrm>
                  <a:prstGeom prst="flowChartDecision">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Rectangle 110" descr="Equation: r sub 3">
                    <a:extLst>
                      <a:ext uri="{FF2B5EF4-FFF2-40B4-BE49-F238E27FC236}">
                        <a16:creationId xmlns:a16="http://schemas.microsoft.com/office/drawing/2014/main" id="{8C95D511-7644-452D-3497-47CADC2FB8D2}"/>
                      </a:ext>
                    </a:extLst>
                  </p:cNvPr>
                  <p:cNvSpPr/>
                  <p:nvPr/>
                </p:nvSpPr>
                <p:spPr>
                  <a:xfrm>
                    <a:off x="7213775" y="6030881"/>
                    <a:ext cx="404849" cy="294652"/>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oMath>
                      </m:oMathPara>
                    </a14:m>
                    <a:endParaRPr lang="en-US" dirty="0"/>
                  </a:p>
                </p:txBody>
              </p:sp>
            </mc:Choice>
            <mc:Fallback xmlns="">
              <p:sp>
                <p:nvSpPr>
                  <p:cNvPr id="111" name="Rectangle 110" descr="Equation: r sub 3">
                    <a:extLst>
                      <a:ext uri="{FF2B5EF4-FFF2-40B4-BE49-F238E27FC236}">
                        <a16:creationId xmlns:a16="http://schemas.microsoft.com/office/drawing/2014/main" id="{8C95D511-7644-452D-3497-47CADC2FB8D2}"/>
                      </a:ext>
                    </a:extLst>
                  </p:cNvPr>
                  <p:cNvSpPr>
                    <a:spLocks noRot="1" noChangeAspect="1" noMove="1" noResize="1" noEditPoints="1" noAdjustHandles="1" noChangeArrowheads="1" noChangeShapeType="1" noTextEdit="1"/>
                  </p:cNvSpPr>
                  <p:nvPr/>
                </p:nvSpPr>
                <p:spPr>
                  <a:xfrm>
                    <a:off x="7213775" y="6030881"/>
                    <a:ext cx="404849" cy="294652"/>
                  </a:xfrm>
                  <a:prstGeom prst="rect">
                    <a:avLst/>
                  </a:prstGeom>
                  <a:blipFill>
                    <a:blip r:embed="rId10"/>
                    <a:stretch>
                      <a:fillRect b="-5660"/>
                    </a:stretch>
                  </a:blipFill>
                </p:spPr>
                <p:txBody>
                  <a:bodyPr/>
                  <a:lstStyle/>
                  <a:p>
                    <a:r>
                      <a:rPr lang="en-US">
                        <a:noFill/>
                      </a:rPr>
                      <a:t> </a:t>
                    </a:r>
                  </a:p>
                </p:txBody>
              </p:sp>
            </mc:Fallback>
          </mc:AlternateContent>
          <p:cxnSp>
            <p:nvCxnSpPr>
              <p:cNvPr id="112" name="Straight Arrow Connector 111">
                <a:extLst>
                  <a:ext uri="{FF2B5EF4-FFF2-40B4-BE49-F238E27FC236}">
                    <a16:creationId xmlns:a16="http://schemas.microsoft.com/office/drawing/2014/main" id="{C70E0BD3-80B7-7EC3-B084-F0347F714FC2}"/>
                  </a:ext>
                  <a:ext uri="{C183D7F6-B498-43B3-948B-1728B52AA6E4}">
                    <adec:decorative xmlns:adec="http://schemas.microsoft.com/office/drawing/2017/decorative" val="1"/>
                  </a:ext>
                </a:extLst>
              </p:cNvPr>
              <p:cNvCxnSpPr>
                <a:cxnSpLocks/>
                <a:stCxn id="109" idx="0"/>
                <a:endCxn id="110" idx="1"/>
              </p:cNvCxnSpPr>
              <p:nvPr/>
            </p:nvCxnSpPr>
            <p:spPr>
              <a:xfrm flipV="1">
                <a:off x="6180899" y="5127483"/>
                <a:ext cx="276459" cy="314638"/>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13" name="Straight Arrow Connector 112">
                <a:extLst>
                  <a:ext uri="{FF2B5EF4-FFF2-40B4-BE49-F238E27FC236}">
                    <a16:creationId xmlns:a16="http://schemas.microsoft.com/office/drawing/2014/main" id="{9FA72981-7A6F-95EE-BFC1-8D3B976D050F}"/>
                  </a:ext>
                  <a:ext uri="{C183D7F6-B498-43B3-948B-1728B52AA6E4}">
                    <adec:decorative xmlns:adec="http://schemas.microsoft.com/office/drawing/2017/decorative" val="1"/>
                  </a:ext>
                </a:extLst>
              </p:cNvPr>
              <p:cNvCxnSpPr>
                <a:cxnSpLocks/>
                <a:stCxn id="109" idx="5"/>
                <a:endCxn id="111" idx="1"/>
              </p:cNvCxnSpPr>
              <p:nvPr/>
            </p:nvCxnSpPr>
            <p:spPr>
              <a:xfrm>
                <a:off x="6315603" y="5767325"/>
                <a:ext cx="898172" cy="41088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14" name="Straight Arrow Connector 113">
                <a:extLst>
                  <a:ext uri="{FF2B5EF4-FFF2-40B4-BE49-F238E27FC236}">
                    <a16:creationId xmlns:a16="http://schemas.microsoft.com/office/drawing/2014/main" id="{8BFC464E-0D89-DF0D-4CDB-9D3CFB3A1BE6}"/>
                  </a:ext>
                  <a:ext uri="{C183D7F6-B498-43B3-948B-1728B52AA6E4}">
                    <adec:decorative xmlns:adec="http://schemas.microsoft.com/office/drawing/2017/decorative" val="1"/>
                  </a:ext>
                </a:extLst>
              </p:cNvPr>
              <p:cNvCxnSpPr>
                <a:cxnSpLocks/>
                <a:stCxn id="110" idx="2"/>
                <a:endCxn id="111" idx="0"/>
              </p:cNvCxnSpPr>
              <p:nvPr/>
            </p:nvCxnSpPr>
            <p:spPr>
              <a:xfrm>
                <a:off x="6774955" y="5334588"/>
                <a:ext cx="641245" cy="696293"/>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15" name="Straight Arrow Connector 114">
                <a:extLst>
                  <a:ext uri="{FF2B5EF4-FFF2-40B4-BE49-F238E27FC236}">
                    <a16:creationId xmlns:a16="http://schemas.microsoft.com/office/drawing/2014/main" id="{87E3B5EC-EAB9-45A2-CC03-F85AE3052B10}"/>
                  </a:ext>
                  <a:ext uri="{C183D7F6-B498-43B3-948B-1728B52AA6E4}">
                    <adec:decorative xmlns:adec="http://schemas.microsoft.com/office/drawing/2017/decorative" val="1"/>
                  </a:ext>
                </a:extLst>
              </p:cNvPr>
              <p:cNvCxnSpPr>
                <a:cxnSpLocks/>
                <a:stCxn id="109" idx="6"/>
              </p:cNvCxnSpPr>
              <p:nvPr/>
            </p:nvCxnSpPr>
            <p:spPr>
              <a:xfrm>
                <a:off x="6371399" y="5632621"/>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6" name="Straight Arrow Connector 115">
                <a:extLst>
                  <a:ext uri="{FF2B5EF4-FFF2-40B4-BE49-F238E27FC236}">
                    <a16:creationId xmlns:a16="http://schemas.microsoft.com/office/drawing/2014/main" id="{4048A642-3EAB-341D-1649-CAA9534EB17E}"/>
                  </a:ext>
                  <a:ext uri="{C183D7F6-B498-43B3-948B-1728B52AA6E4}">
                    <adec:decorative xmlns:adec="http://schemas.microsoft.com/office/drawing/2017/decorative" val="1"/>
                  </a:ext>
                </a:extLst>
              </p:cNvPr>
              <p:cNvCxnSpPr>
                <a:cxnSpLocks/>
                <a:stCxn id="110" idx="3"/>
              </p:cNvCxnSpPr>
              <p:nvPr/>
            </p:nvCxnSpPr>
            <p:spPr>
              <a:xfrm>
                <a:off x="7092552" y="5127483"/>
                <a:ext cx="242447" cy="3704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12290958-9661-7D84-20D7-6212173CB71A}"/>
                  </a:ext>
                </a:extLst>
              </p:cNvPr>
              <p:cNvSpPr txBox="1"/>
              <p:nvPr/>
            </p:nvSpPr>
            <p:spPr>
              <a:xfrm>
                <a:off x="7286850" y="5425914"/>
                <a:ext cx="395910" cy="369332"/>
              </a:xfrm>
              <a:prstGeom prst="rect">
                <a:avLst/>
              </a:prstGeom>
              <a:noFill/>
            </p:spPr>
            <p:txBody>
              <a:bodyPr wrap="square" rtlCol="0">
                <a:spAutoFit/>
              </a:bodyPr>
              <a:lstStyle/>
              <a:p>
                <a:r>
                  <a:rPr lang="en-US" dirty="0"/>
                  <a:t>…</a:t>
                </a:r>
              </a:p>
            </p:txBody>
          </p:sp>
          <p:sp>
            <p:nvSpPr>
              <p:cNvPr id="118" name="Rectangle 117">
                <a:extLst>
                  <a:ext uri="{FF2B5EF4-FFF2-40B4-BE49-F238E27FC236}">
                    <a16:creationId xmlns:a16="http://schemas.microsoft.com/office/drawing/2014/main" id="{9689DA45-3502-C3C2-D894-5BC37DC115F4}"/>
                  </a:ext>
                  <a:ext uri="{C183D7F6-B498-43B3-948B-1728B52AA6E4}">
                    <adec:decorative xmlns:adec="http://schemas.microsoft.com/office/drawing/2017/decorative" val="1"/>
                  </a:ext>
                </a:extLst>
              </p:cNvPr>
              <p:cNvSpPr/>
              <p:nvPr/>
            </p:nvSpPr>
            <p:spPr>
              <a:xfrm>
                <a:off x="3160518" y="4817835"/>
                <a:ext cx="4759686" cy="1629572"/>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grpSp>
        <p:sp>
          <p:nvSpPr>
            <p:cNvPr id="121" name="TextBox 120">
              <a:extLst>
                <a:ext uri="{FF2B5EF4-FFF2-40B4-BE49-F238E27FC236}">
                  <a16:creationId xmlns:a16="http://schemas.microsoft.com/office/drawing/2014/main" id="{E396C2C3-2034-CDD3-0690-FFA5167DE13C}"/>
                </a:ext>
              </a:extLst>
            </p:cNvPr>
            <p:cNvSpPr txBox="1"/>
            <p:nvPr/>
          </p:nvSpPr>
          <p:spPr>
            <a:xfrm>
              <a:off x="899410" y="3336175"/>
              <a:ext cx="805528" cy="369332"/>
            </a:xfrm>
            <a:prstGeom prst="rect">
              <a:avLst/>
            </a:prstGeom>
            <a:noFill/>
          </p:spPr>
          <p:txBody>
            <a:bodyPr wrap="square" rtlCol="0">
              <a:spAutoFit/>
            </a:bodyPr>
            <a:lstStyle/>
            <a:p>
              <a:r>
                <a:rPr lang="en-US" dirty="0"/>
                <a:t>MDP</a:t>
              </a:r>
            </a:p>
          </p:txBody>
        </p:sp>
      </p:grpSp>
      <p:sp>
        <p:nvSpPr>
          <p:cNvPr id="119" name="TextBox 118">
            <a:extLst>
              <a:ext uri="{FF2B5EF4-FFF2-40B4-BE49-F238E27FC236}">
                <a16:creationId xmlns:a16="http://schemas.microsoft.com/office/drawing/2014/main" id="{A3FC32C3-7E1F-4BC5-AF05-8A0D3E6BB816}"/>
              </a:ext>
              <a:ext uri="{C183D7F6-B498-43B3-948B-1728B52AA6E4}">
                <adec:decorative xmlns:adec="http://schemas.microsoft.com/office/drawing/2017/decorative" val="1"/>
              </a:ext>
            </a:extLst>
          </p:cNvPr>
          <p:cNvSpPr txBox="1"/>
          <p:nvPr/>
        </p:nvSpPr>
        <p:spPr>
          <a:xfrm>
            <a:off x="5631985" y="2094624"/>
            <a:ext cx="1052755" cy="1569660"/>
          </a:xfrm>
          <a:prstGeom prst="rect">
            <a:avLst/>
          </a:prstGeom>
          <a:noFill/>
        </p:spPr>
        <p:txBody>
          <a:bodyPr wrap="square" rtlCol="0">
            <a:spAutoFit/>
          </a:bodyPr>
          <a:lstStyle/>
          <a:p>
            <a:r>
              <a:rPr lang="en-US" sz="9600" b="1" dirty="0"/>
              <a:t>+</a:t>
            </a:r>
          </a:p>
        </p:txBody>
      </p:sp>
      <p:grpSp>
        <p:nvGrpSpPr>
          <p:cNvPr id="131" name="Group 130" descr="Hidden Markov model: a chain of hidden states s1 → s2 → s3 on a gray band, each emitting an observation o_t above it.">
            <a:extLst>
              <a:ext uri="{FF2B5EF4-FFF2-40B4-BE49-F238E27FC236}">
                <a16:creationId xmlns:a16="http://schemas.microsoft.com/office/drawing/2014/main" id="{8A755258-A1B3-4D42-4F68-EC7C293972EC}"/>
              </a:ext>
            </a:extLst>
          </p:cNvPr>
          <p:cNvGrpSpPr/>
          <p:nvPr/>
        </p:nvGrpSpPr>
        <p:grpSpPr>
          <a:xfrm>
            <a:off x="6394522" y="2203678"/>
            <a:ext cx="4876639" cy="1454047"/>
            <a:chOff x="6394522" y="2203678"/>
            <a:chExt cx="4876639" cy="1454047"/>
          </a:xfrm>
        </p:grpSpPr>
        <p:grpSp>
          <p:nvGrpSpPr>
            <p:cNvPr id="76" name="Group 75" descr="Diagram with labels: s sub 1; s sub 2; s sub 3; …; o sub 1; o sub 3; o sub 2.">
              <a:extLst>
                <a:ext uri="{FF2B5EF4-FFF2-40B4-BE49-F238E27FC236}">
                  <a16:creationId xmlns:a16="http://schemas.microsoft.com/office/drawing/2014/main" id="{0E6F2945-DF34-2D73-CB39-ABC2B3D1ECE1}"/>
                </a:ext>
              </a:extLst>
            </p:cNvPr>
            <p:cNvGrpSpPr/>
            <p:nvPr/>
          </p:nvGrpSpPr>
          <p:grpSpPr>
            <a:xfrm>
              <a:off x="6394522" y="2203678"/>
              <a:ext cx="4759686" cy="1454047"/>
              <a:chOff x="2188389" y="4192815"/>
              <a:chExt cx="4759686" cy="1454047"/>
            </a:xfrm>
          </p:grpSpPr>
          <mc:AlternateContent xmlns:mc="http://schemas.openxmlformats.org/markup-compatibility/2006" xmlns:a14="http://schemas.microsoft.com/office/drawing/2010/main">
            <mc:Choice Requires="a14">
              <p:sp>
                <p:nvSpPr>
                  <p:cNvPr id="77" name="Oval 76" descr="Equation: s sub 1">
                    <a:extLst>
                      <a:ext uri="{FF2B5EF4-FFF2-40B4-BE49-F238E27FC236}">
                        <a16:creationId xmlns:a16="http://schemas.microsoft.com/office/drawing/2014/main" id="{3B108309-53B0-07E3-CA2B-221AE9103D06}"/>
                      </a:ext>
                    </a:extLst>
                  </p:cNvPr>
                  <p:cNvSpPr/>
                  <p:nvPr/>
                </p:nvSpPr>
                <p:spPr>
                  <a:xfrm>
                    <a:off x="2445560" y="5095160"/>
                    <a:ext cx="381000" cy="381000"/>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oMath>
                      </m:oMathPara>
                    </a14:m>
                    <a:endParaRPr lang="en-US" dirty="0"/>
                  </a:p>
                </p:txBody>
              </p:sp>
            </mc:Choice>
            <mc:Fallback xmlns="">
              <p:sp>
                <p:nvSpPr>
                  <p:cNvPr id="77" name="Oval 76" descr="Equation: s sub 1">
                    <a:extLst>
                      <a:ext uri="{FF2B5EF4-FFF2-40B4-BE49-F238E27FC236}">
                        <a16:creationId xmlns:a16="http://schemas.microsoft.com/office/drawing/2014/main" id="{3B108309-53B0-07E3-CA2B-221AE9103D06}"/>
                      </a:ext>
                    </a:extLst>
                  </p:cNvPr>
                  <p:cNvSpPr>
                    <a:spLocks noRot="1" noChangeAspect="1" noMove="1" noResize="1" noEditPoints="1" noAdjustHandles="1" noChangeArrowheads="1" noChangeShapeType="1" noTextEdit="1"/>
                  </p:cNvSpPr>
                  <p:nvPr/>
                </p:nvSpPr>
                <p:spPr>
                  <a:xfrm>
                    <a:off x="2445560" y="5095160"/>
                    <a:ext cx="381000" cy="381000"/>
                  </a:xfrm>
                  <a:prstGeom prst="ellipse">
                    <a:avLst/>
                  </a:prstGeom>
                  <a:blipFill>
                    <a:blip r:embed="rId11"/>
                    <a:stretch>
                      <a:fillRect/>
                    </a:stretch>
                  </a:blipFill>
                  <a:ln/>
                </p:spPr>
                <p:txBody>
                  <a:bodyPr/>
                  <a:lstStyle/>
                  <a:p>
                    <a:r>
                      <a:rPr lang="en-US">
                        <a:noFill/>
                      </a:rPr>
                      <a:t> </a:t>
                    </a:r>
                  </a:p>
                </p:txBody>
              </p:sp>
            </mc:Fallback>
          </mc:AlternateContent>
          <p:cxnSp>
            <p:nvCxnSpPr>
              <p:cNvPr id="78" name="Straight Arrow Connector 77">
                <a:extLst>
                  <a:ext uri="{FF2B5EF4-FFF2-40B4-BE49-F238E27FC236}">
                    <a16:creationId xmlns:a16="http://schemas.microsoft.com/office/drawing/2014/main" id="{3F08B14D-7661-B416-D41D-7419F6BAFA4A}"/>
                  </a:ext>
                  <a:ext uri="{C183D7F6-B498-43B3-948B-1728B52AA6E4}">
                    <adec:decorative xmlns:adec="http://schemas.microsoft.com/office/drawing/2017/decorative" val="1"/>
                  </a:ext>
                </a:extLst>
              </p:cNvPr>
              <p:cNvCxnSpPr>
                <a:cxnSpLocks/>
                <a:stCxn id="77" idx="6"/>
              </p:cNvCxnSpPr>
              <p:nvPr/>
            </p:nvCxnSpPr>
            <p:spPr>
              <a:xfrm>
                <a:off x="2826560" y="5285660"/>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9" name="Oval 78" descr="Equation: s sub 2">
                    <a:extLst>
                      <a:ext uri="{FF2B5EF4-FFF2-40B4-BE49-F238E27FC236}">
                        <a16:creationId xmlns:a16="http://schemas.microsoft.com/office/drawing/2014/main" id="{9AFD15F6-76C3-CABA-8E92-794DC833DAB9}"/>
                      </a:ext>
                    </a:extLst>
                  </p:cNvPr>
                  <p:cNvSpPr/>
                  <p:nvPr/>
                </p:nvSpPr>
                <p:spPr>
                  <a:xfrm>
                    <a:off x="3734364" y="5095160"/>
                    <a:ext cx="381000" cy="381000"/>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oMath>
                      </m:oMathPara>
                    </a14:m>
                    <a:endParaRPr lang="en-US" dirty="0"/>
                  </a:p>
                </p:txBody>
              </p:sp>
            </mc:Choice>
            <mc:Fallback xmlns="">
              <p:sp>
                <p:nvSpPr>
                  <p:cNvPr id="79" name="Oval 78" descr="Equation: s sub 2">
                    <a:extLst>
                      <a:ext uri="{FF2B5EF4-FFF2-40B4-BE49-F238E27FC236}">
                        <a16:creationId xmlns:a16="http://schemas.microsoft.com/office/drawing/2014/main" id="{9AFD15F6-76C3-CABA-8E92-794DC833DAB9}"/>
                      </a:ext>
                    </a:extLst>
                  </p:cNvPr>
                  <p:cNvSpPr>
                    <a:spLocks noRot="1" noChangeAspect="1" noMove="1" noResize="1" noEditPoints="1" noAdjustHandles="1" noChangeArrowheads="1" noChangeShapeType="1" noTextEdit="1"/>
                  </p:cNvSpPr>
                  <p:nvPr/>
                </p:nvSpPr>
                <p:spPr>
                  <a:xfrm>
                    <a:off x="3734364" y="5095160"/>
                    <a:ext cx="381000" cy="381000"/>
                  </a:xfrm>
                  <a:prstGeom prst="ellipse">
                    <a:avLst/>
                  </a:prstGeom>
                  <a:blipFill>
                    <a:blip r:embed="rId12"/>
                    <a:stretch>
                      <a:fillRect/>
                    </a:stretch>
                  </a:blipFill>
                  <a:ln/>
                </p:spPr>
                <p:txBody>
                  <a:bodyPr/>
                  <a:lstStyle/>
                  <a:p>
                    <a:r>
                      <a:rPr lang="en-US">
                        <a:noFill/>
                      </a:rPr>
                      <a:t> </a:t>
                    </a:r>
                  </a:p>
                </p:txBody>
              </p:sp>
            </mc:Fallback>
          </mc:AlternateContent>
          <p:cxnSp>
            <p:nvCxnSpPr>
              <p:cNvPr id="80" name="Straight Arrow Connector 79">
                <a:extLst>
                  <a:ext uri="{FF2B5EF4-FFF2-40B4-BE49-F238E27FC236}">
                    <a16:creationId xmlns:a16="http://schemas.microsoft.com/office/drawing/2014/main" id="{849BFCDB-B25C-D7C1-1DB7-6B9D6BED6EBA}"/>
                  </a:ext>
                  <a:ext uri="{C183D7F6-B498-43B3-948B-1728B52AA6E4}">
                    <adec:decorative xmlns:adec="http://schemas.microsoft.com/office/drawing/2017/decorative" val="1"/>
                  </a:ext>
                </a:extLst>
              </p:cNvPr>
              <p:cNvCxnSpPr>
                <a:cxnSpLocks/>
                <a:stCxn id="79" idx="6"/>
              </p:cNvCxnSpPr>
              <p:nvPr/>
            </p:nvCxnSpPr>
            <p:spPr>
              <a:xfrm>
                <a:off x="4115364" y="5285660"/>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1" name="Oval 80" descr="Equation: s sub 3">
                    <a:extLst>
                      <a:ext uri="{FF2B5EF4-FFF2-40B4-BE49-F238E27FC236}">
                        <a16:creationId xmlns:a16="http://schemas.microsoft.com/office/drawing/2014/main" id="{A143DB74-1FF9-0637-69D0-0B44995CAAEC}"/>
                      </a:ext>
                    </a:extLst>
                  </p:cNvPr>
                  <p:cNvSpPr/>
                  <p:nvPr/>
                </p:nvSpPr>
                <p:spPr>
                  <a:xfrm>
                    <a:off x="5023208" y="5095160"/>
                    <a:ext cx="381000" cy="381000"/>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3</m:t>
                              </m:r>
                            </m:sub>
                          </m:sSub>
                        </m:oMath>
                      </m:oMathPara>
                    </a14:m>
                    <a:endParaRPr lang="en-US" dirty="0"/>
                  </a:p>
                </p:txBody>
              </p:sp>
            </mc:Choice>
            <mc:Fallback xmlns="">
              <p:sp>
                <p:nvSpPr>
                  <p:cNvPr id="81" name="Oval 80" descr="Equation: s sub 3">
                    <a:extLst>
                      <a:ext uri="{FF2B5EF4-FFF2-40B4-BE49-F238E27FC236}">
                        <a16:creationId xmlns:a16="http://schemas.microsoft.com/office/drawing/2014/main" id="{A143DB74-1FF9-0637-69D0-0B44995CAAEC}"/>
                      </a:ext>
                    </a:extLst>
                  </p:cNvPr>
                  <p:cNvSpPr>
                    <a:spLocks noRot="1" noChangeAspect="1" noMove="1" noResize="1" noEditPoints="1" noAdjustHandles="1" noChangeArrowheads="1" noChangeShapeType="1" noTextEdit="1"/>
                  </p:cNvSpPr>
                  <p:nvPr/>
                </p:nvSpPr>
                <p:spPr>
                  <a:xfrm>
                    <a:off x="5023208" y="5095160"/>
                    <a:ext cx="381000" cy="381000"/>
                  </a:xfrm>
                  <a:prstGeom prst="ellipse">
                    <a:avLst/>
                  </a:prstGeom>
                  <a:blipFill>
                    <a:blip r:embed="rId13"/>
                    <a:stretch>
                      <a:fillRect/>
                    </a:stretch>
                  </a:blipFill>
                  <a:ln/>
                </p:spPr>
                <p:txBody>
                  <a:bodyPr/>
                  <a:lstStyle/>
                  <a:p>
                    <a:r>
                      <a:rPr lang="en-US">
                        <a:noFill/>
                      </a:rPr>
                      <a:t> </a:t>
                    </a:r>
                  </a:p>
                </p:txBody>
              </p:sp>
            </mc:Fallback>
          </mc:AlternateContent>
          <p:cxnSp>
            <p:nvCxnSpPr>
              <p:cNvPr id="82" name="Straight Arrow Connector 81">
                <a:extLst>
                  <a:ext uri="{FF2B5EF4-FFF2-40B4-BE49-F238E27FC236}">
                    <a16:creationId xmlns:a16="http://schemas.microsoft.com/office/drawing/2014/main" id="{C2411C18-9724-733A-239B-76599E0ADF74}"/>
                  </a:ext>
                  <a:ext uri="{C183D7F6-B498-43B3-948B-1728B52AA6E4}">
                    <adec:decorative xmlns:adec="http://schemas.microsoft.com/office/drawing/2017/decorative" val="1"/>
                  </a:ext>
                </a:extLst>
              </p:cNvPr>
              <p:cNvCxnSpPr>
                <a:cxnSpLocks/>
                <a:stCxn id="81" idx="6"/>
              </p:cNvCxnSpPr>
              <p:nvPr/>
            </p:nvCxnSpPr>
            <p:spPr>
              <a:xfrm>
                <a:off x="5404208" y="5285660"/>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3" name="TextBox 82">
                <a:extLst>
                  <a:ext uri="{FF2B5EF4-FFF2-40B4-BE49-F238E27FC236}">
                    <a16:creationId xmlns:a16="http://schemas.microsoft.com/office/drawing/2014/main" id="{4FCAF23D-DA48-5797-7173-46F984595DFC}"/>
                  </a:ext>
                </a:extLst>
              </p:cNvPr>
              <p:cNvSpPr txBox="1"/>
              <p:nvPr/>
            </p:nvSpPr>
            <p:spPr>
              <a:xfrm>
                <a:off x="6319659" y="5078953"/>
                <a:ext cx="395910" cy="369332"/>
              </a:xfrm>
              <a:prstGeom prst="rect">
                <a:avLst/>
              </a:prstGeom>
              <a:noFill/>
            </p:spPr>
            <p:txBody>
              <a:bodyPr wrap="square" rtlCol="0">
                <a:spAutoFit/>
              </a:bodyPr>
              <a:lstStyle/>
              <a:p>
                <a:r>
                  <a:rPr lang="en-US" dirty="0"/>
                  <a:t>…</a:t>
                </a:r>
              </a:p>
            </p:txBody>
          </p:sp>
          <p:sp>
            <p:nvSpPr>
              <p:cNvPr id="84" name="Rectangle 83">
                <a:extLst>
                  <a:ext uri="{FF2B5EF4-FFF2-40B4-BE49-F238E27FC236}">
                    <a16:creationId xmlns:a16="http://schemas.microsoft.com/office/drawing/2014/main" id="{838B4FA5-A203-912A-2E15-061A0F04704D}"/>
                  </a:ext>
                  <a:ext uri="{C183D7F6-B498-43B3-948B-1728B52AA6E4}">
                    <adec:decorative xmlns:adec="http://schemas.microsoft.com/office/drawing/2017/decorative" val="1"/>
                  </a:ext>
                </a:extLst>
              </p:cNvPr>
              <p:cNvSpPr/>
              <p:nvPr/>
            </p:nvSpPr>
            <p:spPr>
              <a:xfrm>
                <a:off x="2188389" y="4192815"/>
                <a:ext cx="4759686" cy="1454047"/>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5" name="Oval 84" descr="Equation: o sub 1">
                    <a:extLst>
                      <a:ext uri="{FF2B5EF4-FFF2-40B4-BE49-F238E27FC236}">
                        <a16:creationId xmlns:a16="http://schemas.microsoft.com/office/drawing/2014/main" id="{107935B7-F8DB-68FD-7654-0A0038E9B625}"/>
                      </a:ext>
                    </a:extLst>
                  </p:cNvPr>
                  <p:cNvSpPr/>
                  <p:nvPr/>
                </p:nvSpPr>
                <p:spPr>
                  <a:xfrm>
                    <a:off x="2445560" y="4363518"/>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1</m:t>
                              </m:r>
                            </m:sub>
                          </m:sSub>
                        </m:oMath>
                      </m:oMathPara>
                    </a14:m>
                    <a:endParaRPr lang="en-US" dirty="0"/>
                  </a:p>
                </p:txBody>
              </p:sp>
            </mc:Choice>
            <mc:Fallback xmlns="">
              <p:sp>
                <p:nvSpPr>
                  <p:cNvPr id="85" name="Oval 84" descr="Equation: o sub 1">
                    <a:extLst>
                      <a:ext uri="{FF2B5EF4-FFF2-40B4-BE49-F238E27FC236}">
                        <a16:creationId xmlns:a16="http://schemas.microsoft.com/office/drawing/2014/main" id="{107935B7-F8DB-68FD-7654-0A0038E9B625}"/>
                      </a:ext>
                    </a:extLst>
                  </p:cNvPr>
                  <p:cNvSpPr>
                    <a:spLocks noRot="1" noChangeAspect="1" noMove="1" noResize="1" noEditPoints="1" noAdjustHandles="1" noChangeArrowheads="1" noChangeShapeType="1" noTextEdit="1"/>
                  </p:cNvSpPr>
                  <p:nvPr/>
                </p:nvSpPr>
                <p:spPr>
                  <a:xfrm>
                    <a:off x="2445560" y="4363518"/>
                    <a:ext cx="381000" cy="381000"/>
                  </a:xfrm>
                  <a:prstGeom prst="ellipse">
                    <a:avLst/>
                  </a:prstGeom>
                  <a:blipFill>
                    <a:blip r:embed="rId14"/>
                    <a:stretch>
                      <a:fillRect/>
                    </a:stretch>
                  </a:blipFill>
                </p:spPr>
                <p:txBody>
                  <a:bodyPr/>
                  <a:lstStyle/>
                  <a:p>
                    <a:r>
                      <a:rPr lang="en-US">
                        <a:noFill/>
                      </a:rPr>
                      <a:t> </a:t>
                    </a:r>
                  </a:p>
                </p:txBody>
              </p:sp>
            </mc:Fallback>
          </mc:AlternateContent>
          <p:cxnSp>
            <p:nvCxnSpPr>
              <p:cNvPr id="86" name="Straight Arrow Connector 85">
                <a:extLst>
                  <a:ext uri="{FF2B5EF4-FFF2-40B4-BE49-F238E27FC236}">
                    <a16:creationId xmlns:a16="http://schemas.microsoft.com/office/drawing/2014/main" id="{21B6EAD3-B391-445F-55AE-3B08DB07167A}"/>
                  </a:ext>
                  <a:ext uri="{C183D7F6-B498-43B3-948B-1728B52AA6E4}">
                    <adec:decorative xmlns:adec="http://schemas.microsoft.com/office/drawing/2017/decorative" val="1"/>
                  </a:ext>
                </a:extLst>
              </p:cNvPr>
              <p:cNvCxnSpPr>
                <a:stCxn id="77" idx="0"/>
                <a:endCxn id="85" idx="4"/>
              </p:cNvCxnSpPr>
              <p:nvPr/>
            </p:nvCxnSpPr>
            <p:spPr>
              <a:xfrm flipV="1">
                <a:off x="2636060" y="4744518"/>
                <a:ext cx="0" cy="35064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sp>
                <p:nvSpPr>
                  <p:cNvPr id="87" name="Oval 86" descr="Equation: o sub 3">
                    <a:extLst>
                      <a:ext uri="{FF2B5EF4-FFF2-40B4-BE49-F238E27FC236}">
                        <a16:creationId xmlns:a16="http://schemas.microsoft.com/office/drawing/2014/main" id="{21BA74BD-ACFB-1673-7041-2656DFDAAD16}"/>
                      </a:ext>
                    </a:extLst>
                  </p:cNvPr>
                  <p:cNvSpPr/>
                  <p:nvPr/>
                </p:nvSpPr>
                <p:spPr>
                  <a:xfrm>
                    <a:off x="5023168" y="4363518"/>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3</m:t>
                              </m:r>
                            </m:sub>
                          </m:sSub>
                        </m:oMath>
                      </m:oMathPara>
                    </a14:m>
                    <a:endParaRPr lang="en-US" dirty="0"/>
                  </a:p>
                </p:txBody>
              </p:sp>
            </mc:Choice>
            <mc:Fallback xmlns="">
              <p:sp>
                <p:nvSpPr>
                  <p:cNvPr id="87" name="Oval 86" descr="Equation: o sub 3">
                    <a:extLst>
                      <a:ext uri="{FF2B5EF4-FFF2-40B4-BE49-F238E27FC236}">
                        <a16:creationId xmlns:a16="http://schemas.microsoft.com/office/drawing/2014/main" id="{21BA74BD-ACFB-1673-7041-2656DFDAAD16}"/>
                      </a:ext>
                    </a:extLst>
                  </p:cNvPr>
                  <p:cNvSpPr>
                    <a:spLocks noRot="1" noChangeAspect="1" noMove="1" noResize="1" noEditPoints="1" noAdjustHandles="1" noChangeArrowheads="1" noChangeShapeType="1" noTextEdit="1"/>
                  </p:cNvSpPr>
                  <p:nvPr/>
                </p:nvSpPr>
                <p:spPr>
                  <a:xfrm>
                    <a:off x="5023168" y="4363518"/>
                    <a:ext cx="381000" cy="381000"/>
                  </a:xfrm>
                  <a:prstGeom prst="ellipse">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Oval 87" descr="Equation: o sub 2">
                    <a:extLst>
                      <a:ext uri="{FF2B5EF4-FFF2-40B4-BE49-F238E27FC236}">
                        <a16:creationId xmlns:a16="http://schemas.microsoft.com/office/drawing/2014/main" id="{1F8AB673-20CA-FF3A-95FA-A5D8801DC1D9}"/>
                      </a:ext>
                    </a:extLst>
                  </p:cNvPr>
                  <p:cNvSpPr/>
                  <p:nvPr/>
                </p:nvSpPr>
                <p:spPr>
                  <a:xfrm>
                    <a:off x="3734364" y="4363518"/>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2</m:t>
                              </m:r>
                            </m:sub>
                          </m:sSub>
                        </m:oMath>
                      </m:oMathPara>
                    </a14:m>
                    <a:endParaRPr lang="en-US" dirty="0"/>
                  </a:p>
                </p:txBody>
              </p:sp>
            </mc:Choice>
            <mc:Fallback xmlns="">
              <p:sp>
                <p:nvSpPr>
                  <p:cNvPr id="88" name="Oval 87" descr="Equation: o sub 2">
                    <a:extLst>
                      <a:ext uri="{FF2B5EF4-FFF2-40B4-BE49-F238E27FC236}">
                        <a16:creationId xmlns:a16="http://schemas.microsoft.com/office/drawing/2014/main" id="{1F8AB673-20CA-FF3A-95FA-A5D8801DC1D9}"/>
                      </a:ext>
                    </a:extLst>
                  </p:cNvPr>
                  <p:cNvSpPr>
                    <a:spLocks noRot="1" noChangeAspect="1" noMove="1" noResize="1" noEditPoints="1" noAdjustHandles="1" noChangeArrowheads="1" noChangeShapeType="1" noTextEdit="1"/>
                  </p:cNvSpPr>
                  <p:nvPr/>
                </p:nvSpPr>
                <p:spPr>
                  <a:xfrm>
                    <a:off x="3734364" y="4363518"/>
                    <a:ext cx="381000" cy="381000"/>
                  </a:xfrm>
                  <a:prstGeom prst="ellipse">
                    <a:avLst/>
                  </a:prstGeom>
                  <a:blipFill>
                    <a:blip r:embed="rId16"/>
                    <a:stretch>
                      <a:fillRect/>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B6469518-5154-F73B-15BB-2739DBD79887}"/>
                  </a:ext>
                  <a:ext uri="{C183D7F6-B498-43B3-948B-1728B52AA6E4}">
                    <adec:decorative xmlns:adec="http://schemas.microsoft.com/office/drawing/2017/decorative" val="1"/>
                  </a:ext>
                </a:extLst>
              </p:cNvPr>
              <p:cNvCxnSpPr>
                <a:cxnSpLocks/>
                <a:stCxn id="79" idx="0"/>
                <a:endCxn id="88" idx="4"/>
              </p:cNvCxnSpPr>
              <p:nvPr/>
            </p:nvCxnSpPr>
            <p:spPr>
              <a:xfrm flipV="1">
                <a:off x="3924864" y="4744518"/>
                <a:ext cx="0" cy="35064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90" name="Straight Arrow Connector 89">
                <a:extLst>
                  <a:ext uri="{FF2B5EF4-FFF2-40B4-BE49-F238E27FC236}">
                    <a16:creationId xmlns:a16="http://schemas.microsoft.com/office/drawing/2014/main" id="{2139AC4D-2F11-4E74-3497-0C70BD23E8D9}"/>
                  </a:ext>
                  <a:ext uri="{C183D7F6-B498-43B3-948B-1728B52AA6E4}">
                    <adec:decorative xmlns:adec="http://schemas.microsoft.com/office/drawing/2017/decorative" val="1"/>
                  </a:ext>
                </a:extLst>
              </p:cNvPr>
              <p:cNvCxnSpPr>
                <a:cxnSpLocks/>
              </p:cNvCxnSpPr>
              <p:nvPr/>
            </p:nvCxnSpPr>
            <p:spPr>
              <a:xfrm flipH="1" flipV="1">
                <a:off x="5221163" y="4744518"/>
                <a:ext cx="40" cy="35064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91" name="Rectangle 90">
                <a:extLst>
                  <a:ext uri="{FF2B5EF4-FFF2-40B4-BE49-F238E27FC236}">
                    <a16:creationId xmlns:a16="http://schemas.microsoft.com/office/drawing/2014/main" id="{9B8CD154-3C04-1DF8-BB95-1063BFC2BDB4}"/>
                  </a:ext>
                  <a:ext uri="{C183D7F6-B498-43B3-948B-1728B52AA6E4}">
                    <adec:decorative xmlns:adec="http://schemas.microsoft.com/office/drawing/2017/decorative" val="1"/>
                  </a:ext>
                </a:extLst>
              </p:cNvPr>
              <p:cNvSpPr/>
              <p:nvPr/>
            </p:nvSpPr>
            <p:spPr>
              <a:xfrm>
                <a:off x="2286000" y="5006715"/>
                <a:ext cx="4564465" cy="554636"/>
              </a:xfrm>
              <a:prstGeom prst="rect">
                <a:avLst/>
              </a:prstGeom>
              <a:solidFill>
                <a:srgbClr val="747474">
                  <a:alpha val="50196"/>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grpSp>
        <p:sp>
          <p:nvSpPr>
            <p:cNvPr id="122" name="TextBox 121">
              <a:extLst>
                <a:ext uri="{FF2B5EF4-FFF2-40B4-BE49-F238E27FC236}">
                  <a16:creationId xmlns:a16="http://schemas.microsoft.com/office/drawing/2014/main" id="{042011B3-56B5-C56A-C96E-1309B2EB18ED}"/>
                </a:ext>
              </a:extLst>
            </p:cNvPr>
            <p:cNvSpPr txBox="1"/>
            <p:nvPr/>
          </p:nvSpPr>
          <p:spPr>
            <a:xfrm>
              <a:off x="10465633" y="2221907"/>
              <a:ext cx="805528" cy="369332"/>
            </a:xfrm>
            <a:prstGeom prst="rect">
              <a:avLst/>
            </a:prstGeom>
            <a:noFill/>
          </p:spPr>
          <p:txBody>
            <a:bodyPr wrap="square" rtlCol="0">
              <a:spAutoFit/>
            </a:bodyPr>
            <a:lstStyle/>
            <a:p>
              <a:r>
                <a:rPr lang="en-US" dirty="0"/>
                <a:t>HMM</a:t>
              </a:r>
            </a:p>
          </p:txBody>
        </p:sp>
      </p:grpSp>
      <p:sp>
        <p:nvSpPr>
          <p:cNvPr id="120" name="TextBox 119">
            <a:extLst>
              <a:ext uri="{FF2B5EF4-FFF2-40B4-BE49-F238E27FC236}">
                <a16:creationId xmlns:a16="http://schemas.microsoft.com/office/drawing/2014/main" id="{F8563D63-8EB0-CF16-17E2-F20491389E1E}"/>
              </a:ext>
            </a:extLst>
          </p:cNvPr>
          <p:cNvSpPr txBox="1"/>
          <p:nvPr/>
        </p:nvSpPr>
        <p:spPr>
          <a:xfrm>
            <a:off x="2590313" y="4492090"/>
            <a:ext cx="1052755" cy="1569660"/>
          </a:xfrm>
          <a:prstGeom prst="rect">
            <a:avLst/>
          </a:prstGeom>
          <a:noFill/>
        </p:spPr>
        <p:txBody>
          <a:bodyPr wrap="square" rtlCol="0">
            <a:spAutoFit/>
          </a:bodyPr>
          <a:lstStyle/>
          <a:p>
            <a:r>
              <a:rPr lang="en-US" sz="9600" b="1" dirty="0"/>
              <a:t>=</a:t>
            </a:r>
          </a:p>
        </p:txBody>
      </p:sp>
      <p:grpSp>
        <p:nvGrpSpPr>
          <p:cNvPr id="129" name="Group 128" descr="POMDP unrolled over time, combining the two: hidden states s0, s1, s2 on a gray band, each emitting an observation o0, o1, o2. Each action a_t depends on all observations so far (long arcs from earlier observations), and leads to the next hidden state and a reward r_t+1.">
            <a:extLst>
              <a:ext uri="{FF2B5EF4-FFF2-40B4-BE49-F238E27FC236}">
                <a16:creationId xmlns:a16="http://schemas.microsoft.com/office/drawing/2014/main" id="{2B6178BD-FB23-588D-AE2D-AA6B7C0E78F2}"/>
              </a:ext>
            </a:extLst>
          </p:cNvPr>
          <p:cNvGrpSpPr/>
          <p:nvPr/>
        </p:nvGrpSpPr>
        <p:grpSpPr>
          <a:xfrm>
            <a:off x="3716157" y="4137286"/>
            <a:ext cx="4759686" cy="2046338"/>
            <a:chOff x="3716157" y="4137286"/>
            <a:chExt cx="4759686" cy="2046338"/>
          </a:xfrm>
        </p:grpSpPr>
        <mc:AlternateContent xmlns:mc="http://schemas.openxmlformats.org/markup-compatibility/2006" xmlns:a14="http://schemas.microsoft.com/office/drawing/2010/main">
          <mc:Choice Requires="a14">
            <p:sp>
              <p:nvSpPr>
                <p:cNvPr id="5" name="Oval 4" descr="Equation: s sub 0">
                  <a:extLst>
                    <a:ext uri="{FF2B5EF4-FFF2-40B4-BE49-F238E27FC236}">
                      <a16:creationId xmlns:a16="http://schemas.microsoft.com/office/drawing/2014/main" id="{38B52609-46FB-6610-B951-65F3B08845E3}"/>
                    </a:ext>
                  </a:extLst>
                </p:cNvPr>
                <p:cNvSpPr/>
                <p:nvPr/>
              </p:nvSpPr>
              <p:spPr>
                <a:xfrm>
                  <a:off x="3968390" y="5178338"/>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m:oMathPara>
                  </a14:m>
                  <a:endParaRPr lang="en-US" dirty="0"/>
                </a:p>
              </p:txBody>
            </p:sp>
          </mc:Choice>
          <mc:Fallback xmlns="">
            <p:sp>
              <p:nvSpPr>
                <p:cNvPr id="5" name="Oval 4" descr="Equation: s sub 0">
                  <a:extLst>
                    <a:ext uri="{FF2B5EF4-FFF2-40B4-BE49-F238E27FC236}">
                      <a16:creationId xmlns:a16="http://schemas.microsoft.com/office/drawing/2014/main" id="{38B52609-46FB-6610-B951-65F3B08845E3}"/>
                    </a:ext>
                  </a:extLst>
                </p:cNvPr>
                <p:cNvSpPr>
                  <a:spLocks noRot="1" noChangeAspect="1" noMove="1" noResize="1" noEditPoints="1" noAdjustHandles="1" noChangeArrowheads="1" noChangeShapeType="1" noTextEdit="1"/>
                </p:cNvSpPr>
                <p:nvPr/>
              </p:nvSpPr>
              <p:spPr>
                <a:xfrm>
                  <a:off x="3968390" y="5178338"/>
                  <a:ext cx="381000" cy="381000"/>
                </a:xfrm>
                <a:prstGeom prst="ellipse">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Flowchart: Decision 5" descr="Equation: a sub o">
                  <a:extLst>
                    <a:ext uri="{FF2B5EF4-FFF2-40B4-BE49-F238E27FC236}">
                      <a16:creationId xmlns:a16="http://schemas.microsoft.com/office/drawing/2014/main" id="{4D078D20-D69A-073E-AD30-5DA7F47A858A}"/>
                    </a:ext>
                  </a:extLst>
                </p:cNvPr>
                <p:cNvSpPr/>
                <p:nvPr/>
              </p:nvSpPr>
              <p:spPr>
                <a:xfrm>
                  <a:off x="4511791" y="4603823"/>
                  <a:ext cx="635194" cy="414210"/>
                </a:xfrm>
                <a:prstGeom prst="flowChartDecision">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𝑜</m:t>
                            </m:r>
                          </m:sub>
                        </m:sSub>
                      </m:oMath>
                    </m:oMathPara>
                  </a14:m>
                  <a:endParaRPr lang="en-US" dirty="0"/>
                </a:p>
              </p:txBody>
            </p:sp>
          </mc:Choice>
          <mc:Fallback xmlns="">
            <p:sp>
              <p:nvSpPr>
                <p:cNvPr id="6" name="Flowchart: Decision 5" descr="Equation: a sub o">
                  <a:extLst>
                    <a:ext uri="{FF2B5EF4-FFF2-40B4-BE49-F238E27FC236}">
                      <a16:creationId xmlns:a16="http://schemas.microsoft.com/office/drawing/2014/main" id="{4D078D20-D69A-073E-AD30-5DA7F47A858A}"/>
                    </a:ext>
                  </a:extLst>
                </p:cNvPr>
                <p:cNvSpPr>
                  <a:spLocks noRot="1" noChangeAspect="1" noMove="1" noResize="1" noEditPoints="1" noAdjustHandles="1" noChangeArrowheads="1" noChangeShapeType="1" noTextEdit="1"/>
                </p:cNvSpPr>
                <p:nvPr/>
              </p:nvSpPr>
              <p:spPr>
                <a:xfrm>
                  <a:off x="4511791" y="4603823"/>
                  <a:ext cx="635194" cy="414210"/>
                </a:xfrm>
                <a:prstGeom prst="flowChartDecision">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descr="Equation: r sub 1">
                  <a:extLst>
                    <a:ext uri="{FF2B5EF4-FFF2-40B4-BE49-F238E27FC236}">
                      <a16:creationId xmlns:a16="http://schemas.microsoft.com/office/drawing/2014/main" id="{317D26BA-7CEB-6B14-7C7F-97AFB5DD9BCB}"/>
                    </a:ext>
                  </a:extLst>
                </p:cNvPr>
                <p:cNvSpPr/>
                <p:nvPr/>
              </p:nvSpPr>
              <p:spPr>
                <a:xfrm>
                  <a:off x="5251510" y="5749838"/>
                  <a:ext cx="404849" cy="294652"/>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oMath>
                    </m:oMathPara>
                  </a14:m>
                  <a:endParaRPr lang="en-US" dirty="0"/>
                </a:p>
              </p:txBody>
            </p:sp>
          </mc:Choice>
          <mc:Fallback xmlns="">
            <p:sp>
              <p:nvSpPr>
                <p:cNvPr id="7" name="Rectangle 6" descr="Equation: r sub 1">
                  <a:extLst>
                    <a:ext uri="{FF2B5EF4-FFF2-40B4-BE49-F238E27FC236}">
                      <a16:creationId xmlns:a16="http://schemas.microsoft.com/office/drawing/2014/main" id="{317D26BA-7CEB-6B14-7C7F-97AFB5DD9BCB}"/>
                    </a:ext>
                  </a:extLst>
                </p:cNvPr>
                <p:cNvSpPr>
                  <a:spLocks noRot="1" noChangeAspect="1" noMove="1" noResize="1" noEditPoints="1" noAdjustHandles="1" noChangeArrowheads="1" noChangeShapeType="1" noTextEdit="1"/>
                </p:cNvSpPr>
                <p:nvPr/>
              </p:nvSpPr>
              <p:spPr>
                <a:xfrm>
                  <a:off x="5251510" y="5749838"/>
                  <a:ext cx="404849" cy="294652"/>
                </a:xfrm>
                <a:prstGeom prst="rect">
                  <a:avLst/>
                </a:prstGeom>
                <a:blipFill>
                  <a:blip r:embed="rId19"/>
                  <a:stretch>
                    <a:fillRect b="-5660"/>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E091C890-C881-501F-69D1-0F21282D20F4}"/>
                </a:ext>
                <a:ext uri="{C183D7F6-B498-43B3-948B-1728B52AA6E4}">
                  <adec:decorative xmlns:adec="http://schemas.microsoft.com/office/drawing/2017/decorative" val="1"/>
                </a:ext>
              </a:extLst>
            </p:cNvPr>
            <p:cNvCxnSpPr>
              <a:cxnSpLocks/>
              <a:stCxn id="33" idx="6"/>
              <a:endCxn id="6" idx="1"/>
            </p:cNvCxnSpPr>
            <p:nvPr/>
          </p:nvCxnSpPr>
          <p:spPr>
            <a:xfrm flipV="1">
              <a:off x="4349390" y="4810928"/>
              <a:ext cx="162401" cy="2682"/>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35A6F6B4-70C1-1824-DF32-4F0655095E28}"/>
                </a:ext>
                <a:ext uri="{C183D7F6-B498-43B3-948B-1728B52AA6E4}">
                  <adec:decorative xmlns:adec="http://schemas.microsoft.com/office/drawing/2017/decorative" val="1"/>
                </a:ext>
              </a:extLst>
            </p:cNvPr>
            <p:cNvCxnSpPr>
              <a:cxnSpLocks/>
              <a:stCxn id="5" idx="5"/>
              <a:endCxn id="7" idx="1"/>
            </p:cNvCxnSpPr>
            <p:nvPr/>
          </p:nvCxnSpPr>
          <p:spPr>
            <a:xfrm>
              <a:off x="4293594" y="5503542"/>
              <a:ext cx="957916" cy="39362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15CD8546-8656-59FC-172E-608B84783442}"/>
                </a:ext>
                <a:ext uri="{C183D7F6-B498-43B3-948B-1728B52AA6E4}">
                  <adec:decorative xmlns:adec="http://schemas.microsoft.com/office/drawing/2017/decorative" val="1"/>
                </a:ext>
              </a:extLst>
            </p:cNvPr>
            <p:cNvCxnSpPr>
              <a:cxnSpLocks/>
              <a:stCxn id="6" idx="2"/>
              <a:endCxn id="7" idx="0"/>
            </p:cNvCxnSpPr>
            <p:nvPr/>
          </p:nvCxnSpPr>
          <p:spPr>
            <a:xfrm>
              <a:off x="4829388" y="5018033"/>
              <a:ext cx="624547" cy="731805"/>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5AF2C63-6680-4464-2AEB-E3E767685DB0}"/>
                </a:ext>
                <a:ext uri="{C183D7F6-B498-43B3-948B-1728B52AA6E4}">
                  <adec:decorative xmlns:adec="http://schemas.microsoft.com/office/drawing/2017/decorative" val="1"/>
                </a:ext>
              </a:extLst>
            </p:cNvPr>
            <p:cNvCxnSpPr>
              <a:cxnSpLocks/>
              <a:stCxn id="5" idx="6"/>
            </p:cNvCxnSpPr>
            <p:nvPr/>
          </p:nvCxnSpPr>
          <p:spPr>
            <a:xfrm>
              <a:off x="4349390" y="5368838"/>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B14B0E5A-9182-6620-C4A4-696854885ACC}"/>
                </a:ext>
                <a:ext uri="{C183D7F6-B498-43B3-948B-1728B52AA6E4}">
                  <adec:decorative xmlns:adec="http://schemas.microsoft.com/office/drawing/2017/decorative" val="1"/>
                </a:ext>
              </a:extLst>
            </p:cNvPr>
            <p:cNvCxnSpPr>
              <a:cxnSpLocks/>
              <a:stCxn id="6" idx="3"/>
              <a:endCxn id="13" idx="1"/>
            </p:cNvCxnSpPr>
            <p:nvPr/>
          </p:nvCxnSpPr>
          <p:spPr>
            <a:xfrm>
              <a:off x="5146985" y="4810928"/>
              <a:ext cx="166005" cy="4232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Oval 12" descr="Equation: s sub 1">
                  <a:extLst>
                    <a:ext uri="{FF2B5EF4-FFF2-40B4-BE49-F238E27FC236}">
                      <a16:creationId xmlns:a16="http://schemas.microsoft.com/office/drawing/2014/main" id="{A0A79D65-2AFB-77A4-3E9B-86A7701010A8}"/>
                    </a:ext>
                  </a:extLst>
                </p:cNvPr>
                <p:cNvSpPr/>
                <p:nvPr/>
              </p:nvSpPr>
              <p:spPr>
                <a:xfrm>
                  <a:off x="5257194" y="5178338"/>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oMath>
                    </m:oMathPara>
                  </a14:m>
                  <a:endParaRPr lang="en-US" dirty="0"/>
                </a:p>
              </p:txBody>
            </p:sp>
          </mc:Choice>
          <mc:Fallback xmlns="">
            <p:sp>
              <p:nvSpPr>
                <p:cNvPr id="13" name="Oval 12" descr="Equation: s sub 1">
                  <a:extLst>
                    <a:ext uri="{FF2B5EF4-FFF2-40B4-BE49-F238E27FC236}">
                      <a16:creationId xmlns:a16="http://schemas.microsoft.com/office/drawing/2014/main" id="{A0A79D65-2AFB-77A4-3E9B-86A7701010A8}"/>
                    </a:ext>
                  </a:extLst>
                </p:cNvPr>
                <p:cNvSpPr>
                  <a:spLocks noRot="1" noChangeAspect="1" noMove="1" noResize="1" noEditPoints="1" noAdjustHandles="1" noChangeArrowheads="1" noChangeShapeType="1" noTextEdit="1"/>
                </p:cNvSpPr>
                <p:nvPr/>
              </p:nvSpPr>
              <p:spPr>
                <a:xfrm>
                  <a:off x="5257194" y="5178338"/>
                  <a:ext cx="381000" cy="381000"/>
                </a:xfrm>
                <a:prstGeom prst="ellipse">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Flowchart: Decision 13" descr="Equation: a sub 1">
                  <a:extLst>
                    <a:ext uri="{FF2B5EF4-FFF2-40B4-BE49-F238E27FC236}">
                      <a16:creationId xmlns:a16="http://schemas.microsoft.com/office/drawing/2014/main" id="{BEE4A6E7-9C3D-7CA5-E32A-F2C99A416ED9}"/>
                    </a:ext>
                  </a:extLst>
                </p:cNvPr>
                <p:cNvSpPr/>
                <p:nvPr/>
              </p:nvSpPr>
              <p:spPr>
                <a:xfrm>
                  <a:off x="5829643" y="4588855"/>
                  <a:ext cx="635194" cy="414210"/>
                </a:xfrm>
                <a:prstGeom prst="flowChartDecision">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14" name="Flowchart: Decision 13" descr="Equation: a sub 1">
                  <a:extLst>
                    <a:ext uri="{FF2B5EF4-FFF2-40B4-BE49-F238E27FC236}">
                      <a16:creationId xmlns:a16="http://schemas.microsoft.com/office/drawing/2014/main" id="{BEE4A6E7-9C3D-7CA5-E32A-F2C99A416ED9}"/>
                    </a:ext>
                  </a:extLst>
                </p:cNvPr>
                <p:cNvSpPr>
                  <a:spLocks noRot="1" noChangeAspect="1" noMove="1" noResize="1" noEditPoints="1" noAdjustHandles="1" noChangeArrowheads="1" noChangeShapeType="1" noTextEdit="1"/>
                </p:cNvSpPr>
                <p:nvPr/>
              </p:nvSpPr>
              <p:spPr>
                <a:xfrm>
                  <a:off x="5829643" y="4588855"/>
                  <a:ext cx="635194" cy="414210"/>
                </a:xfrm>
                <a:prstGeom prst="flowChartDecision">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descr="Equation: r sub 2">
                  <a:extLst>
                    <a:ext uri="{FF2B5EF4-FFF2-40B4-BE49-F238E27FC236}">
                      <a16:creationId xmlns:a16="http://schemas.microsoft.com/office/drawing/2014/main" id="{3EDB8AA9-5AAB-6526-7257-83185E260308}"/>
                    </a:ext>
                  </a:extLst>
                </p:cNvPr>
                <p:cNvSpPr/>
                <p:nvPr/>
              </p:nvSpPr>
              <p:spPr>
                <a:xfrm>
                  <a:off x="6560718" y="5749838"/>
                  <a:ext cx="404849" cy="294652"/>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oMath>
                    </m:oMathPara>
                  </a14:m>
                  <a:endParaRPr lang="en-US" dirty="0"/>
                </a:p>
              </p:txBody>
            </p:sp>
          </mc:Choice>
          <mc:Fallback xmlns="">
            <p:sp>
              <p:nvSpPr>
                <p:cNvPr id="15" name="Rectangle 14" descr="Equation: r sub 2">
                  <a:extLst>
                    <a:ext uri="{FF2B5EF4-FFF2-40B4-BE49-F238E27FC236}">
                      <a16:creationId xmlns:a16="http://schemas.microsoft.com/office/drawing/2014/main" id="{3EDB8AA9-5AAB-6526-7257-83185E260308}"/>
                    </a:ext>
                  </a:extLst>
                </p:cNvPr>
                <p:cNvSpPr>
                  <a:spLocks noRot="1" noChangeAspect="1" noMove="1" noResize="1" noEditPoints="1" noAdjustHandles="1" noChangeArrowheads="1" noChangeShapeType="1" noTextEdit="1"/>
                </p:cNvSpPr>
                <p:nvPr/>
              </p:nvSpPr>
              <p:spPr>
                <a:xfrm>
                  <a:off x="6560718" y="5749838"/>
                  <a:ext cx="404849" cy="294652"/>
                </a:xfrm>
                <a:prstGeom prst="rect">
                  <a:avLst/>
                </a:prstGeom>
                <a:blipFill>
                  <a:blip r:embed="rId22"/>
                  <a:stretch>
                    <a:fillRect b="-5660"/>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43D443ED-6916-B9D9-57B3-3AE051BB1147}"/>
                </a:ext>
                <a:ext uri="{C183D7F6-B498-43B3-948B-1728B52AA6E4}">
                  <adec:decorative xmlns:adec="http://schemas.microsoft.com/office/drawing/2017/decorative" val="1"/>
                </a:ext>
              </a:extLst>
            </p:cNvPr>
            <p:cNvCxnSpPr>
              <a:cxnSpLocks/>
              <a:stCxn id="32" idx="6"/>
              <a:endCxn id="14" idx="1"/>
            </p:cNvCxnSpPr>
            <p:nvPr/>
          </p:nvCxnSpPr>
          <p:spPr>
            <a:xfrm flipV="1">
              <a:off x="5638194" y="4795960"/>
              <a:ext cx="191449" cy="6964"/>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A059BAAB-6BB8-FCF0-6F11-9C54180D7470}"/>
                </a:ext>
                <a:ext uri="{C183D7F6-B498-43B3-948B-1728B52AA6E4}">
                  <adec:decorative xmlns:adec="http://schemas.microsoft.com/office/drawing/2017/decorative" val="1"/>
                </a:ext>
              </a:extLst>
            </p:cNvPr>
            <p:cNvCxnSpPr>
              <a:cxnSpLocks/>
              <a:stCxn id="13" idx="5"/>
              <a:endCxn id="15" idx="1"/>
            </p:cNvCxnSpPr>
            <p:nvPr/>
          </p:nvCxnSpPr>
          <p:spPr>
            <a:xfrm>
              <a:off x="5582398" y="5503542"/>
              <a:ext cx="978320" cy="39362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F73396A7-40C1-55A0-C949-D1474006B76E}"/>
                </a:ext>
                <a:ext uri="{C183D7F6-B498-43B3-948B-1728B52AA6E4}">
                  <adec:decorative xmlns:adec="http://schemas.microsoft.com/office/drawing/2017/decorative" val="1"/>
                </a:ext>
              </a:extLst>
            </p:cNvPr>
            <p:cNvCxnSpPr>
              <a:cxnSpLocks/>
              <a:stCxn id="14" idx="2"/>
              <a:endCxn id="15" idx="0"/>
            </p:cNvCxnSpPr>
            <p:nvPr/>
          </p:nvCxnSpPr>
          <p:spPr>
            <a:xfrm>
              <a:off x="6147240" y="5003065"/>
              <a:ext cx="615903" cy="746773"/>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D321E174-25DC-4738-DC3F-D29BB77BB67C}"/>
                </a:ext>
                <a:ext uri="{C183D7F6-B498-43B3-948B-1728B52AA6E4}">
                  <adec:decorative xmlns:adec="http://schemas.microsoft.com/office/drawing/2017/decorative" val="1"/>
                </a:ext>
              </a:extLst>
            </p:cNvPr>
            <p:cNvCxnSpPr>
              <a:cxnSpLocks/>
              <a:stCxn id="13" idx="6"/>
            </p:cNvCxnSpPr>
            <p:nvPr/>
          </p:nvCxnSpPr>
          <p:spPr>
            <a:xfrm>
              <a:off x="5638194" y="5368838"/>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AEE32C7-9615-1D37-3CC2-00726946B2C4}"/>
                </a:ext>
                <a:ext uri="{C183D7F6-B498-43B3-948B-1728B52AA6E4}">
                  <adec:decorative xmlns:adec="http://schemas.microsoft.com/office/drawing/2017/decorative" val="1"/>
                </a:ext>
              </a:extLst>
            </p:cNvPr>
            <p:cNvCxnSpPr>
              <a:cxnSpLocks/>
              <a:stCxn id="14" idx="3"/>
            </p:cNvCxnSpPr>
            <p:nvPr/>
          </p:nvCxnSpPr>
          <p:spPr>
            <a:xfrm>
              <a:off x="6464837" y="4795960"/>
              <a:ext cx="188155" cy="3809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Oval 20" descr="Equation: s sub 2">
                  <a:extLst>
                    <a:ext uri="{FF2B5EF4-FFF2-40B4-BE49-F238E27FC236}">
                      <a16:creationId xmlns:a16="http://schemas.microsoft.com/office/drawing/2014/main" id="{777CB221-299C-B0EA-873A-67CF31628F30}"/>
                    </a:ext>
                  </a:extLst>
                </p:cNvPr>
                <p:cNvSpPr/>
                <p:nvPr/>
              </p:nvSpPr>
              <p:spPr>
                <a:xfrm>
                  <a:off x="6546038" y="5178338"/>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oMath>
                    </m:oMathPara>
                  </a14:m>
                  <a:endParaRPr lang="en-US" dirty="0"/>
                </a:p>
              </p:txBody>
            </p:sp>
          </mc:Choice>
          <mc:Fallback xmlns="">
            <p:sp>
              <p:nvSpPr>
                <p:cNvPr id="21" name="Oval 20" descr="Equation: s sub 2">
                  <a:extLst>
                    <a:ext uri="{FF2B5EF4-FFF2-40B4-BE49-F238E27FC236}">
                      <a16:creationId xmlns:a16="http://schemas.microsoft.com/office/drawing/2014/main" id="{777CB221-299C-B0EA-873A-67CF31628F30}"/>
                    </a:ext>
                  </a:extLst>
                </p:cNvPr>
                <p:cNvSpPr>
                  <a:spLocks noRot="1" noChangeAspect="1" noMove="1" noResize="1" noEditPoints="1" noAdjustHandles="1" noChangeArrowheads="1" noChangeShapeType="1" noTextEdit="1"/>
                </p:cNvSpPr>
                <p:nvPr/>
              </p:nvSpPr>
              <p:spPr>
                <a:xfrm>
                  <a:off x="6546038" y="5178338"/>
                  <a:ext cx="381000" cy="381000"/>
                </a:xfrm>
                <a:prstGeom prst="ellipse">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Flowchart: Decision 21" descr="Equation: a sub 2">
                  <a:extLst>
                    <a:ext uri="{FF2B5EF4-FFF2-40B4-BE49-F238E27FC236}">
                      <a16:creationId xmlns:a16="http://schemas.microsoft.com/office/drawing/2014/main" id="{5B3F60C3-A52C-3BFC-EF58-082E604E12F3}"/>
                    </a:ext>
                  </a:extLst>
                </p:cNvPr>
                <p:cNvSpPr/>
                <p:nvPr/>
              </p:nvSpPr>
              <p:spPr>
                <a:xfrm>
                  <a:off x="7064303" y="4595819"/>
                  <a:ext cx="635194" cy="414210"/>
                </a:xfrm>
                <a:prstGeom prst="flowChartDecision">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22" name="Flowchart: Decision 21" descr="Equation: a sub 2">
                  <a:extLst>
                    <a:ext uri="{FF2B5EF4-FFF2-40B4-BE49-F238E27FC236}">
                      <a16:creationId xmlns:a16="http://schemas.microsoft.com/office/drawing/2014/main" id="{5B3F60C3-A52C-3BFC-EF58-082E604E12F3}"/>
                    </a:ext>
                  </a:extLst>
                </p:cNvPr>
                <p:cNvSpPr>
                  <a:spLocks noRot="1" noChangeAspect="1" noMove="1" noResize="1" noEditPoints="1" noAdjustHandles="1" noChangeArrowheads="1" noChangeShapeType="1" noTextEdit="1"/>
                </p:cNvSpPr>
                <p:nvPr/>
              </p:nvSpPr>
              <p:spPr>
                <a:xfrm>
                  <a:off x="7064303" y="4595819"/>
                  <a:ext cx="635194" cy="414210"/>
                </a:xfrm>
                <a:prstGeom prst="flowChartDecision">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descr="Equation: r sub 3">
                  <a:extLst>
                    <a:ext uri="{FF2B5EF4-FFF2-40B4-BE49-F238E27FC236}">
                      <a16:creationId xmlns:a16="http://schemas.microsoft.com/office/drawing/2014/main" id="{560E874E-7D23-2186-1B9C-8D18C6895CB2}"/>
                    </a:ext>
                  </a:extLst>
                </p:cNvPr>
                <p:cNvSpPr/>
                <p:nvPr/>
              </p:nvSpPr>
              <p:spPr>
                <a:xfrm>
                  <a:off x="7769414" y="5767098"/>
                  <a:ext cx="404849" cy="294652"/>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oMath>
                    </m:oMathPara>
                  </a14:m>
                  <a:endParaRPr lang="en-US" dirty="0"/>
                </a:p>
              </p:txBody>
            </p:sp>
          </mc:Choice>
          <mc:Fallback xmlns="">
            <p:sp>
              <p:nvSpPr>
                <p:cNvPr id="23" name="Rectangle 22" descr="Equation: r sub 3">
                  <a:extLst>
                    <a:ext uri="{FF2B5EF4-FFF2-40B4-BE49-F238E27FC236}">
                      <a16:creationId xmlns:a16="http://schemas.microsoft.com/office/drawing/2014/main" id="{560E874E-7D23-2186-1B9C-8D18C6895CB2}"/>
                    </a:ext>
                  </a:extLst>
                </p:cNvPr>
                <p:cNvSpPr>
                  <a:spLocks noRot="1" noChangeAspect="1" noMove="1" noResize="1" noEditPoints="1" noAdjustHandles="1" noChangeArrowheads="1" noChangeShapeType="1" noTextEdit="1"/>
                </p:cNvSpPr>
                <p:nvPr/>
              </p:nvSpPr>
              <p:spPr>
                <a:xfrm>
                  <a:off x="7769414" y="5767098"/>
                  <a:ext cx="404849" cy="294652"/>
                </a:xfrm>
                <a:prstGeom prst="rect">
                  <a:avLst/>
                </a:prstGeom>
                <a:blipFill>
                  <a:blip r:embed="rId25"/>
                  <a:stretch>
                    <a:fillRect b="-7692"/>
                  </a:stretch>
                </a:blipFill>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567FECB7-57BD-C6C1-81C5-E9D438906A3D}"/>
                </a:ext>
                <a:ext uri="{C183D7F6-B498-43B3-948B-1728B52AA6E4}">
                  <adec:decorative xmlns:adec="http://schemas.microsoft.com/office/drawing/2017/decorative" val="1"/>
                </a:ext>
              </a:extLst>
            </p:cNvPr>
            <p:cNvCxnSpPr>
              <a:cxnSpLocks/>
              <a:stCxn id="31" idx="6"/>
              <a:endCxn id="22" idx="1"/>
            </p:cNvCxnSpPr>
            <p:nvPr/>
          </p:nvCxnSpPr>
          <p:spPr>
            <a:xfrm>
              <a:off x="6933857" y="4802513"/>
              <a:ext cx="130446" cy="411"/>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1A9E872E-DFD7-A21E-27A4-6F9A84CBDD73}"/>
                </a:ext>
                <a:ext uri="{C183D7F6-B498-43B3-948B-1728B52AA6E4}">
                  <adec:decorative xmlns:adec="http://schemas.microsoft.com/office/drawing/2017/decorative" val="1"/>
                </a:ext>
              </a:extLst>
            </p:cNvPr>
            <p:cNvCxnSpPr>
              <a:cxnSpLocks/>
              <a:stCxn id="21" idx="5"/>
              <a:endCxn id="23" idx="1"/>
            </p:cNvCxnSpPr>
            <p:nvPr/>
          </p:nvCxnSpPr>
          <p:spPr>
            <a:xfrm>
              <a:off x="6871242" y="5503542"/>
              <a:ext cx="898172" cy="41088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BB7B57F0-56B2-CD3B-71EA-37969B33E9C7}"/>
                </a:ext>
                <a:ext uri="{C183D7F6-B498-43B3-948B-1728B52AA6E4}">
                  <adec:decorative xmlns:adec="http://schemas.microsoft.com/office/drawing/2017/decorative" val="1"/>
                </a:ext>
              </a:extLst>
            </p:cNvPr>
            <p:cNvCxnSpPr>
              <a:cxnSpLocks/>
              <a:stCxn id="22" idx="2"/>
              <a:endCxn id="23" idx="0"/>
            </p:cNvCxnSpPr>
            <p:nvPr/>
          </p:nvCxnSpPr>
          <p:spPr>
            <a:xfrm>
              <a:off x="7381900" y="5010029"/>
              <a:ext cx="589939" cy="757069"/>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F588C65-EBE7-3760-821D-5784F1162BA8}"/>
                </a:ext>
                <a:ext uri="{C183D7F6-B498-43B3-948B-1728B52AA6E4}">
                  <adec:decorative xmlns:adec="http://schemas.microsoft.com/office/drawing/2017/decorative" val="1"/>
                </a:ext>
              </a:extLst>
            </p:cNvPr>
            <p:cNvCxnSpPr>
              <a:cxnSpLocks/>
              <a:stCxn id="21" idx="6"/>
            </p:cNvCxnSpPr>
            <p:nvPr/>
          </p:nvCxnSpPr>
          <p:spPr>
            <a:xfrm>
              <a:off x="6927038" y="5368838"/>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1305087F-0C64-279F-5ED6-BFD51E49547F}"/>
                </a:ext>
                <a:ext uri="{C183D7F6-B498-43B3-948B-1728B52AA6E4}">
                  <adec:decorative xmlns:adec="http://schemas.microsoft.com/office/drawing/2017/decorative" val="1"/>
                </a:ext>
              </a:extLst>
            </p:cNvPr>
            <p:cNvCxnSpPr>
              <a:cxnSpLocks/>
              <a:stCxn id="22" idx="3"/>
            </p:cNvCxnSpPr>
            <p:nvPr/>
          </p:nvCxnSpPr>
          <p:spPr>
            <a:xfrm>
              <a:off x="7699497" y="4802924"/>
              <a:ext cx="242447" cy="3704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AA2C0D2A-C16D-E5F7-2092-B030DE1EBC9B}"/>
                </a:ext>
              </a:extLst>
            </p:cNvPr>
            <p:cNvSpPr txBox="1"/>
            <p:nvPr/>
          </p:nvSpPr>
          <p:spPr>
            <a:xfrm>
              <a:off x="7842489" y="5162131"/>
              <a:ext cx="395910" cy="369332"/>
            </a:xfrm>
            <a:prstGeom prst="rect">
              <a:avLst/>
            </a:prstGeom>
            <a:noFill/>
          </p:spPr>
          <p:txBody>
            <a:bodyPr wrap="square" rtlCol="0">
              <a:spAutoFit/>
            </a:bodyPr>
            <a:lstStyle/>
            <a:p>
              <a:r>
                <a:rPr lang="en-US" dirty="0"/>
                <a:t>…</a:t>
              </a:r>
            </a:p>
          </p:txBody>
        </p:sp>
        <p:sp>
          <p:nvSpPr>
            <p:cNvPr id="30" name="Rectangle 29">
              <a:extLst>
                <a:ext uri="{FF2B5EF4-FFF2-40B4-BE49-F238E27FC236}">
                  <a16:creationId xmlns:a16="http://schemas.microsoft.com/office/drawing/2014/main" id="{B7EAE37F-88FE-B82C-EE5D-EA4CD9BE34B9}"/>
                </a:ext>
                <a:ext uri="{C183D7F6-B498-43B3-948B-1728B52AA6E4}">
                  <adec:decorative xmlns:adec="http://schemas.microsoft.com/office/drawing/2017/decorative" val="1"/>
                </a:ext>
              </a:extLst>
            </p:cNvPr>
            <p:cNvSpPr/>
            <p:nvPr/>
          </p:nvSpPr>
          <p:spPr>
            <a:xfrm>
              <a:off x="3716157" y="4137286"/>
              <a:ext cx="4759686" cy="2046338"/>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Oval 30" descr="Equation: o sub 2">
                  <a:extLst>
                    <a:ext uri="{FF2B5EF4-FFF2-40B4-BE49-F238E27FC236}">
                      <a16:creationId xmlns:a16="http://schemas.microsoft.com/office/drawing/2014/main" id="{B063C8C2-2916-70E8-CCB0-F198916A5364}"/>
                    </a:ext>
                  </a:extLst>
                </p:cNvPr>
                <p:cNvSpPr/>
                <p:nvPr/>
              </p:nvSpPr>
              <p:spPr>
                <a:xfrm>
                  <a:off x="6552857" y="4612013"/>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2</m:t>
                            </m:r>
                          </m:sub>
                        </m:sSub>
                      </m:oMath>
                    </m:oMathPara>
                  </a14:m>
                  <a:endParaRPr lang="en-US" dirty="0"/>
                </a:p>
              </p:txBody>
            </p:sp>
          </mc:Choice>
          <mc:Fallback xmlns="">
            <p:sp>
              <p:nvSpPr>
                <p:cNvPr id="31" name="Oval 30" descr="Equation: o sub 2">
                  <a:extLst>
                    <a:ext uri="{FF2B5EF4-FFF2-40B4-BE49-F238E27FC236}">
                      <a16:creationId xmlns:a16="http://schemas.microsoft.com/office/drawing/2014/main" id="{B063C8C2-2916-70E8-CCB0-F198916A5364}"/>
                    </a:ext>
                  </a:extLst>
                </p:cNvPr>
                <p:cNvSpPr>
                  <a:spLocks noRot="1" noChangeAspect="1" noMove="1" noResize="1" noEditPoints="1" noAdjustHandles="1" noChangeArrowheads="1" noChangeShapeType="1" noTextEdit="1"/>
                </p:cNvSpPr>
                <p:nvPr/>
              </p:nvSpPr>
              <p:spPr>
                <a:xfrm>
                  <a:off x="6552857" y="4612013"/>
                  <a:ext cx="381000" cy="381000"/>
                </a:xfrm>
                <a:prstGeom prst="ellipse">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descr="Equation: o sub 1">
                  <a:extLst>
                    <a:ext uri="{FF2B5EF4-FFF2-40B4-BE49-F238E27FC236}">
                      <a16:creationId xmlns:a16="http://schemas.microsoft.com/office/drawing/2014/main" id="{B5D6B462-3501-9E63-5775-F1F561EA5BA3}"/>
                    </a:ext>
                  </a:extLst>
                </p:cNvPr>
                <p:cNvSpPr/>
                <p:nvPr/>
              </p:nvSpPr>
              <p:spPr>
                <a:xfrm>
                  <a:off x="5257194" y="4612424"/>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1</m:t>
                            </m:r>
                          </m:sub>
                        </m:sSub>
                      </m:oMath>
                    </m:oMathPara>
                  </a14:m>
                  <a:endParaRPr lang="en-US" dirty="0"/>
                </a:p>
              </p:txBody>
            </p:sp>
          </mc:Choice>
          <mc:Fallback xmlns="">
            <p:sp>
              <p:nvSpPr>
                <p:cNvPr id="32" name="Oval 31" descr="Equation: o sub 1">
                  <a:extLst>
                    <a:ext uri="{FF2B5EF4-FFF2-40B4-BE49-F238E27FC236}">
                      <a16:creationId xmlns:a16="http://schemas.microsoft.com/office/drawing/2014/main" id="{B5D6B462-3501-9E63-5775-F1F561EA5BA3}"/>
                    </a:ext>
                  </a:extLst>
                </p:cNvPr>
                <p:cNvSpPr>
                  <a:spLocks noRot="1" noChangeAspect="1" noMove="1" noResize="1" noEditPoints="1" noAdjustHandles="1" noChangeArrowheads="1" noChangeShapeType="1" noTextEdit="1"/>
                </p:cNvSpPr>
                <p:nvPr/>
              </p:nvSpPr>
              <p:spPr>
                <a:xfrm>
                  <a:off x="5257194" y="4612424"/>
                  <a:ext cx="381000" cy="381000"/>
                </a:xfrm>
                <a:prstGeom prst="ellipse">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val 32" descr="Equation: o sub 0">
                  <a:extLst>
                    <a:ext uri="{FF2B5EF4-FFF2-40B4-BE49-F238E27FC236}">
                      <a16:creationId xmlns:a16="http://schemas.microsoft.com/office/drawing/2014/main" id="{965F2D06-6778-725C-72F4-19EC1B02AD53}"/>
                    </a:ext>
                  </a:extLst>
                </p:cNvPr>
                <p:cNvSpPr/>
                <p:nvPr/>
              </p:nvSpPr>
              <p:spPr>
                <a:xfrm>
                  <a:off x="3968390" y="4623110"/>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0</m:t>
                            </m:r>
                          </m:sub>
                        </m:sSub>
                      </m:oMath>
                    </m:oMathPara>
                  </a14:m>
                  <a:endParaRPr lang="en-US" dirty="0"/>
                </a:p>
              </p:txBody>
            </p:sp>
          </mc:Choice>
          <mc:Fallback xmlns="">
            <p:sp>
              <p:nvSpPr>
                <p:cNvPr id="33" name="Oval 32" descr="Equation: o sub 0">
                  <a:extLst>
                    <a:ext uri="{FF2B5EF4-FFF2-40B4-BE49-F238E27FC236}">
                      <a16:creationId xmlns:a16="http://schemas.microsoft.com/office/drawing/2014/main" id="{965F2D06-6778-725C-72F4-19EC1B02AD53}"/>
                    </a:ext>
                  </a:extLst>
                </p:cNvPr>
                <p:cNvSpPr>
                  <a:spLocks noRot="1" noChangeAspect="1" noMove="1" noResize="1" noEditPoints="1" noAdjustHandles="1" noChangeArrowheads="1" noChangeShapeType="1" noTextEdit="1"/>
                </p:cNvSpPr>
                <p:nvPr/>
              </p:nvSpPr>
              <p:spPr>
                <a:xfrm>
                  <a:off x="3968390" y="4623110"/>
                  <a:ext cx="381000" cy="381000"/>
                </a:xfrm>
                <a:prstGeom prst="ellipse">
                  <a:avLst/>
                </a:prstGeom>
                <a:blipFill>
                  <a:blip r:embed="rId28"/>
                  <a:stretch>
                    <a:fillRect/>
                  </a:stretch>
                </a:blipFill>
              </p:spPr>
              <p:txBody>
                <a:bodyPr/>
                <a:lstStyle/>
                <a:p>
                  <a:r>
                    <a:rPr lang="en-US">
                      <a:noFill/>
                    </a:rPr>
                    <a:t> </a:t>
                  </a:r>
                </a:p>
              </p:txBody>
            </p:sp>
          </mc:Fallback>
        </mc:AlternateContent>
        <p:cxnSp>
          <p:nvCxnSpPr>
            <p:cNvPr id="43" name="Straight Arrow Connector 42">
              <a:extLst>
                <a:ext uri="{FF2B5EF4-FFF2-40B4-BE49-F238E27FC236}">
                  <a16:creationId xmlns:a16="http://schemas.microsoft.com/office/drawing/2014/main" id="{825060A6-68D8-BA45-DF30-F80CF46FC922}"/>
                </a:ext>
                <a:ext uri="{C183D7F6-B498-43B3-948B-1728B52AA6E4}">
                  <adec:decorative xmlns:adec="http://schemas.microsoft.com/office/drawing/2017/decorative" val="1"/>
                </a:ext>
              </a:extLst>
            </p:cNvPr>
            <p:cNvCxnSpPr>
              <a:stCxn id="5" idx="0"/>
              <a:endCxn id="33" idx="4"/>
            </p:cNvCxnSpPr>
            <p:nvPr/>
          </p:nvCxnSpPr>
          <p:spPr>
            <a:xfrm flipV="1">
              <a:off x="4158890" y="5004110"/>
              <a:ext cx="0" cy="174228"/>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44" name="Rectangle 43">
              <a:extLst>
                <a:ext uri="{FF2B5EF4-FFF2-40B4-BE49-F238E27FC236}">
                  <a16:creationId xmlns:a16="http://schemas.microsoft.com/office/drawing/2014/main" id="{119291E5-5551-467B-30A5-23818EB81650}"/>
                </a:ext>
                <a:ext uri="{C183D7F6-B498-43B3-948B-1728B52AA6E4}">
                  <adec:decorative xmlns:adec="http://schemas.microsoft.com/office/drawing/2017/decorative" val="1"/>
                </a:ext>
              </a:extLst>
            </p:cNvPr>
            <p:cNvSpPr/>
            <p:nvPr/>
          </p:nvSpPr>
          <p:spPr>
            <a:xfrm>
              <a:off x="3759574" y="5127899"/>
              <a:ext cx="4564465" cy="554636"/>
            </a:xfrm>
            <a:prstGeom prst="rect">
              <a:avLst/>
            </a:prstGeom>
            <a:solidFill>
              <a:srgbClr val="747474">
                <a:alpha val="50196"/>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A16D99D1-7911-36A0-F248-55DB45284D08}"/>
                </a:ext>
                <a:ext uri="{C183D7F6-B498-43B3-948B-1728B52AA6E4}">
                  <adec:decorative xmlns:adec="http://schemas.microsoft.com/office/drawing/2017/decorative" val="1"/>
                </a:ext>
              </a:extLst>
            </p:cNvPr>
            <p:cNvCxnSpPr>
              <a:cxnSpLocks/>
              <a:stCxn id="21" idx="0"/>
              <a:endCxn id="31" idx="4"/>
            </p:cNvCxnSpPr>
            <p:nvPr/>
          </p:nvCxnSpPr>
          <p:spPr>
            <a:xfrm flipV="1">
              <a:off x="6736538" y="4993013"/>
              <a:ext cx="6819" cy="1853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6" name="Straight Arrow Connector 55">
              <a:extLst>
                <a:ext uri="{FF2B5EF4-FFF2-40B4-BE49-F238E27FC236}">
                  <a16:creationId xmlns:a16="http://schemas.microsoft.com/office/drawing/2014/main" id="{E8EBB2AD-EE20-6F53-34B5-96832A2BB790}"/>
                </a:ext>
                <a:ext uri="{C183D7F6-B498-43B3-948B-1728B52AA6E4}">
                  <adec:decorative xmlns:adec="http://schemas.microsoft.com/office/drawing/2017/decorative" val="1"/>
                </a:ext>
              </a:extLst>
            </p:cNvPr>
            <p:cNvCxnSpPr>
              <a:cxnSpLocks/>
              <a:stCxn id="13" idx="0"/>
              <a:endCxn id="32" idx="4"/>
            </p:cNvCxnSpPr>
            <p:nvPr/>
          </p:nvCxnSpPr>
          <p:spPr>
            <a:xfrm flipV="1">
              <a:off x="5447694" y="4993424"/>
              <a:ext cx="0" cy="184914"/>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123" name="Arc 122">
              <a:extLst>
                <a:ext uri="{FF2B5EF4-FFF2-40B4-BE49-F238E27FC236}">
                  <a16:creationId xmlns:a16="http://schemas.microsoft.com/office/drawing/2014/main" id="{1E8F2E65-2C7D-55B9-C0B3-280017C4FC20}"/>
                </a:ext>
                <a:ext uri="{C183D7F6-B498-43B3-948B-1728B52AA6E4}">
                  <adec:decorative xmlns:adec="http://schemas.microsoft.com/office/drawing/2017/decorative" val="1"/>
                </a:ext>
              </a:extLst>
            </p:cNvPr>
            <p:cNvSpPr/>
            <p:nvPr/>
          </p:nvSpPr>
          <p:spPr>
            <a:xfrm>
              <a:off x="4226242" y="4522004"/>
              <a:ext cx="1154100" cy="207590"/>
            </a:xfrm>
            <a:prstGeom prst="arc">
              <a:avLst>
                <a:gd name="adj1" fmla="val 10842268"/>
                <a:gd name="adj2" fmla="val 0"/>
              </a:avLst>
            </a:prstGeom>
            <a:ln>
              <a:headEnd type="none" w="med" len="med"/>
              <a:tailEnd type="triangle" w="med" len="med"/>
            </a:ln>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sp>
          <p:nvSpPr>
            <p:cNvPr id="124" name="Arc 123">
              <a:extLst>
                <a:ext uri="{FF2B5EF4-FFF2-40B4-BE49-F238E27FC236}">
                  <a16:creationId xmlns:a16="http://schemas.microsoft.com/office/drawing/2014/main" id="{71608648-B743-696A-F0AF-30D718B0A845}"/>
                </a:ext>
                <a:ext uri="{C183D7F6-B498-43B3-948B-1728B52AA6E4}">
                  <adec:decorative xmlns:adec="http://schemas.microsoft.com/office/drawing/2017/decorative" val="1"/>
                </a:ext>
              </a:extLst>
            </p:cNvPr>
            <p:cNvSpPr/>
            <p:nvPr/>
          </p:nvSpPr>
          <p:spPr>
            <a:xfrm>
              <a:off x="5515046" y="4524755"/>
              <a:ext cx="1154100" cy="207590"/>
            </a:xfrm>
            <a:prstGeom prst="arc">
              <a:avLst>
                <a:gd name="adj1" fmla="val 10842268"/>
                <a:gd name="adj2" fmla="val 0"/>
              </a:avLst>
            </a:prstGeom>
            <a:ln>
              <a:headEnd type="none" w="med" len="med"/>
              <a:tailEnd type="triangle" w="med" len="med"/>
            </a:ln>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sp>
          <p:nvSpPr>
            <p:cNvPr id="125" name="Arc 124">
              <a:extLst>
                <a:ext uri="{FF2B5EF4-FFF2-40B4-BE49-F238E27FC236}">
                  <a16:creationId xmlns:a16="http://schemas.microsoft.com/office/drawing/2014/main" id="{4D4B2C89-D961-0F55-1FB5-1E79680C2DF1}"/>
                </a:ext>
                <a:ext uri="{C183D7F6-B498-43B3-948B-1728B52AA6E4}">
                  <adec:decorative xmlns:adec="http://schemas.microsoft.com/office/drawing/2017/decorative" val="1"/>
                </a:ext>
              </a:extLst>
            </p:cNvPr>
            <p:cNvSpPr/>
            <p:nvPr/>
          </p:nvSpPr>
          <p:spPr>
            <a:xfrm>
              <a:off x="6781589" y="4503426"/>
              <a:ext cx="1154100" cy="207590"/>
            </a:xfrm>
            <a:prstGeom prst="arc">
              <a:avLst>
                <a:gd name="adj1" fmla="val 10842268"/>
                <a:gd name="adj2" fmla="val 0"/>
              </a:avLst>
            </a:prstGeom>
            <a:ln>
              <a:headEnd type="none" w="med" len="med"/>
              <a:tailEnd type="triangle" w="med" len="med"/>
            </a:ln>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sp>
          <p:nvSpPr>
            <p:cNvPr id="126" name="Arc 125">
              <a:extLst>
                <a:ext uri="{FF2B5EF4-FFF2-40B4-BE49-F238E27FC236}">
                  <a16:creationId xmlns:a16="http://schemas.microsoft.com/office/drawing/2014/main" id="{C0AA3B6B-1224-FED8-1B65-8B4D819F1AC0}"/>
                </a:ext>
                <a:ext uri="{C183D7F6-B498-43B3-948B-1728B52AA6E4}">
                  <adec:decorative xmlns:adec="http://schemas.microsoft.com/office/drawing/2017/decorative" val="1"/>
                </a:ext>
              </a:extLst>
            </p:cNvPr>
            <p:cNvSpPr/>
            <p:nvPr/>
          </p:nvSpPr>
          <p:spPr>
            <a:xfrm>
              <a:off x="4234126" y="4377116"/>
              <a:ext cx="2474374" cy="463462"/>
            </a:xfrm>
            <a:prstGeom prst="arc">
              <a:avLst>
                <a:gd name="adj1" fmla="val 10842268"/>
                <a:gd name="adj2" fmla="val 0"/>
              </a:avLst>
            </a:prstGeom>
            <a:ln>
              <a:headEnd type="none" w="med" len="med"/>
              <a:tailEnd type="triangle" w="med" len="med"/>
            </a:ln>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sp>
          <p:nvSpPr>
            <p:cNvPr id="127" name="Arc 126">
              <a:extLst>
                <a:ext uri="{FF2B5EF4-FFF2-40B4-BE49-F238E27FC236}">
                  <a16:creationId xmlns:a16="http://schemas.microsoft.com/office/drawing/2014/main" id="{72D008EA-EA52-462A-DD8B-B0CFB5657FFA}"/>
                </a:ext>
                <a:ext uri="{C183D7F6-B498-43B3-948B-1728B52AA6E4}">
                  <adec:decorative xmlns:adec="http://schemas.microsoft.com/office/drawing/2017/decorative" val="1"/>
                </a:ext>
              </a:extLst>
            </p:cNvPr>
            <p:cNvSpPr/>
            <p:nvPr/>
          </p:nvSpPr>
          <p:spPr>
            <a:xfrm>
              <a:off x="5490551" y="4387310"/>
              <a:ext cx="2474374" cy="463462"/>
            </a:xfrm>
            <a:prstGeom prst="arc">
              <a:avLst>
                <a:gd name="adj1" fmla="val 10842268"/>
                <a:gd name="adj2" fmla="val 0"/>
              </a:avLst>
            </a:prstGeom>
            <a:ln>
              <a:headEnd type="none" w="med" len="med"/>
              <a:tailEnd type="triangle" w="med" len="med"/>
            </a:ln>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sp>
          <p:nvSpPr>
            <p:cNvPr id="128" name="Arc 127">
              <a:extLst>
                <a:ext uri="{FF2B5EF4-FFF2-40B4-BE49-F238E27FC236}">
                  <a16:creationId xmlns:a16="http://schemas.microsoft.com/office/drawing/2014/main" id="{EFB0C6D4-0A80-1F66-6D09-2E89E2A4908D}"/>
                </a:ext>
                <a:ext uri="{C183D7F6-B498-43B3-948B-1728B52AA6E4}">
                  <adec:decorative xmlns:adec="http://schemas.microsoft.com/office/drawing/2017/decorative" val="1"/>
                </a:ext>
              </a:extLst>
            </p:cNvPr>
            <p:cNvSpPr/>
            <p:nvPr/>
          </p:nvSpPr>
          <p:spPr>
            <a:xfrm>
              <a:off x="4158890" y="4282123"/>
              <a:ext cx="3958435" cy="668607"/>
            </a:xfrm>
            <a:prstGeom prst="arc">
              <a:avLst>
                <a:gd name="adj1" fmla="val 10842268"/>
                <a:gd name="adj2" fmla="val 0"/>
              </a:avLst>
            </a:prstGeom>
            <a:ln>
              <a:headEnd type="none" w="med" len="med"/>
              <a:tailEnd type="triangle" w="med" len="med"/>
            </a:ln>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grpSp>
      <p:sp>
        <p:nvSpPr>
          <p:cNvPr id="130" name="Speech Bubble: Rectangle with Corners Rounded 129">
            <a:extLst>
              <a:ext uri="{FF2B5EF4-FFF2-40B4-BE49-F238E27FC236}">
                <a16:creationId xmlns:a16="http://schemas.microsoft.com/office/drawing/2014/main" id="{C949C14C-43B7-9B31-45D3-2DE65218DC1D}"/>
              </a:ext>
            </a:extLst>
          </p:cNvPr>
          <p:cNvSpPr/>
          <p:nvPr/>
        </p:nvSpPr>
        <p:spPr>
          <a:xfrm>
            <a:off x="9488773" y="4129789"/>
            <a:ext cx="2355907" cy="2053835"/>
          </a:xfrm>
          <a:prstGeom prst="wedgeRoundRectCallout">
            <a:avLst>
              <a:gd name="adj1" fmla="val -109999"/>
              <a:gd name="adj2" fmla="val -34221"/>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t>Note</a:t>
            </a:r>
            <a:r>
              <a:rPr lang="en-US" dirty="0"/>
              <a:t>: Actions depend on all observations seen so far! POMDPs can be solved model-based using belief states.</a:t>
            </a:r>
          </a:p>
        </p:txBody>
      </p:sp>
    </p:spTree>
    <p:extLst>
      <p:ext uri="{BB962C8B-B14F-4D97-AF65-F5344CB8AC3E}">
        <p14:creationId xmlns:p14="http://schemas.microsoft.com/office/powerpoint/2010/main" val="2904183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Illustration of an iceberg in the sea: a small tip shows above the waterline while a much larger mass is hidden below the surface.">
            <a:extLst>
              <a:ext uri="{FF2B5EF4-FFF2-40B4-BE49-F238E27FC236}">
                <a16:creationId xmlns:a16="http://schemas.microsoft.com/office/drawing/2014/main" id="{DE6F77F8-63C3-CAEB-769C-023FEECCAFAE}"/>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t="7516" b="11549"/>
          <a:stretch>
            <a:fillRect/>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4E21EFBA-99E4-973F-2414-0FB468B692B2}"/>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a:solidFill>
                  <a:srgbClr val="FFFFFF"/>
                </a:solidFill>
              </a:rPr>
              <a:t>Partially Observable RL</a:t>
            </a:r>
          </a:p>
        </p:txBody>
      </p:sp>
      <p:sp>
        <p:nvSpPr>
          <p:cNvPr id="5" name="Text Placeholder 4">
            <a:extLst>
              <a:ext uri="{FF2B5EF4-FFF2-40B4-BE49-F238E27FC236}">
                <a16:creationId xmlns:a16="http://schemas.microsoft.com/office/drawing/2014/main" id="{C348A53D-3F1E-C391-CB6C-F865213CF18D}"/>
              </a:ext>
              <a:ext uri="{C183D7F6-B498-43B3-948B-1728B52AA6E4}">
                <adec:decorative xmlns:adec="http://schemas.microsoft.com/office/drawing/2017/decorative" val="1"/>
              </a:ext>
            </a:extLst>
          </p:cNvPr>
          <p:cNvSpPr>
            <a:spLocks noGrp="1"/>
          </p:cNvSpPr>
          <p:nvPr>
            <p:ph type="body" idx="1"/>
          </p:nvPr>
        </p:nvSpPr>
        <p:spPr>
          <a:xfrm>
            <a:off x="1524000" y="4159404"/>
            <a:ext cx="9144000" cy="1098395"/>
          </a:xfrm>
        </p:spPr>
        <p:txBody>
          <a:bodyPr vert="horz" lIns="91440" tIns="45720" rIns="91440" bIns="45720" rtlCol="0">
            <a:normAutofit/>
          </a:bodyPr>
          <a:lstStyle/>
          <a:p>
            <a:pPr algn="ctr"/>
            <a:endParaRPr lang="en-US">
              <a:solidFill>
                <a:srgbClr val="FFFFFF"/>
              </a:solidFill>
            </a:endParaRPr>
          </a:p>
        </p:txBody>
      </p:sp>
      <p:sp>
        <p:nvSpPr>
          <p:cNvPr id="6" name="TextBox 5">
            <a:extLst>
              <a:ext uri="{FF2B5EF4-FFF2-40B4-BE49-F238E27FC236}">
                <a16:creationId xmlns:a16="http://schemas.microsoft.com/office/drawing/2014/main" id="{EB643D41-7E3C-6148-B0A5-673220FE4387}"/>
              </a:ext>
            </a:extLst>
          </p:cNvPr>
          <p:cNvSpPr txBox="1"/>
          <p:nvPr/>
        </p:nvSpPr>
        <p:spPr>
          <a:xfrm>
            <a:off x="9571220" y="6219164"/>
            <a:ext cx="2545577" cy="584775"/>
          </a:xfrm>
          <a:prstGeom prst="rect">
            <a:avLst/>
          </a:prstGeom>
          <a:noFill/>
        </p:spPr>
        <p:txBody>
          <a:bodyPr wrap="square" rtlCol="0">
            <a:spAutoFit/>
          </a:bodyPr>
          <a:lstStyle/>
          <a:p>
            <a:pPr algn="r"/>
            <a:r>
              <a:rPr lang="en-US" sz="1600" dirty="0">
                <a:solidFill>
                  <a:schemeClr val="bg1">
                    <a:lumMod val="65000"/>
                    <a:lumOff val="35000"/>
                  </a:schemeClr>
                </a:solidFill>
              </a:rPr>
              <a:t>iStock</a:t>
            </a:r>
            <a:br>
              <a:rPr lang="en-US" sz="1600" dirty="0">
                <a:solidFill>
                  <a:schemeClr val="bg1">
                    <a:lumMod val="65000"/>
                    <a:lumOff val="35000"/>
                  </a:schemeClr>
                </a:solidFill>
              </a:rPr>
            </a:br>
            <a:r>
              <a:rPr lang="en-US" sz="1600" dirty="0">
                <a:solidFill>
                  <a:schemeClr val="bg1">
                    <a:lumMod val="65000"/>
                    <a:lumOff val="35000"/>
                  </a:schemeClr>
                </a:solidFill>
              </a:rPr>
              <a:t>Credit: </a:t>
            </a:r>
            <a:r>
              <a:rPr lang="en-US" sz="1600" u="sng" dirty="0" err="1">
                <a:solidFill>
                  <a:schemeClr val="bg1">
                    <a:lumMod val="65000"/>
                    <a:lumOff val="35000"/>
                  </a:schemeClr>
                </a:solidFill>
                <a:hlinkClick r:id="rId3">
                  <a:extLst>
                    <a:ext uri="{A12FA001-AC4F-418D-AE19-62706E023703}">
                      <ahyp:hlinkClr xmlns:ahyp="http://schemas.microsoft.com/office/drawing/2018/hyperlinkcolor" val="tx"/>
                    </a:ext>
                  </a:extLst>
                </a:hlinkClick>
              </a:rPr>
              <a:t>RomoloTavani</a:t>
            </a:r>
            <a:r>
              <a:rPr lang="en-US" sz="1600" dirty="0">
                <a:solidFill>
                  <a:schemeClr val="bg1">
                    <a:lumMod val="65000"/>
                    <a:lumOff val="35000"/>
                  </a:schemeClr>
                </a:solidFill>
              </a:rPr>
              <a:t>  </a:t>
            </a:r>
          </a:p>
        </p:txBody>
      </p:sp>
    </p:spTree>
    <p:extLst>
      <p:ext uri="{BB962C8B-B14F-4D97-AF65-F5344CB8AC3E}">
        <p14:creationId xmlns:p14="http://schemas.microsoft.com/office/powerpoint/2010/main" val="1295654878"/>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DB56E-C176-70EE-0CF8-41F69405762A}"/>
              </a:ext>
            </a:extLst>
          </p:cNvPr>
          <p:cNvSpPr>
            <a:spLocks noGrp="1"/>
          </p:cNvSpPr>
          <p:nvPr>
            <p:ph type="title"/>
          </p:nvPr>
        </p:nvSpPr>
        <p:spPr/>
        <p:txBody>
          <a:bodyPr/>
          <a:lstStyle/>
          <a:p>
            <a:r>
              <a:rPr lang="en-US" dirty="0"/>
              <a:t>RL with Partial Observability</a:t>
            </a:r>
          </a:p>
        </p:txBody>
      </p:sp>
      <mc:AlternateContent xmlns:mc="http://schemas.openxmlformats.org/markup-compatibility/2006" xmlns:a14="http://schemas.microsoft.com/office/drawing/2010/main">
        <mc:Choice Requires="a14">
          <p:sp>
            <p:nvSpPr>
              <p:cNvPr id="3" name="Content Placeholder 2" descr="Definition:. States: s in S. Observations: o in O. Actions: a in A. Rewards: r in the real numbers. Transition model: Pr(s sub t given s sub t minus 1,a sub t minus 1). Observation model: Pr(o sub t given a sub t minus 1,s sub t). Reward model: Pr(r sub t given s sub t,a sub t). Discount factor: 0 is less than or equal to gamma is less than or equal to 1. Horizon: T in the natural numbers or infinity. Goal: find optimal policy pi star equals argmax over pi, of the sum over t equals 0 to T, of gamma to the power t E sub pi [r sub t]">
                <a:extLst>
                  <a:ext uri="{FF2B5EF4-FFF2-40B4-BE49-F238E27FC236}">
                    <a16:creationId xmlns:a16="http://schemas.microsoft.com/office/drawing/2014/main" id="{B3564D88-9540-F782-EE2E-B28003BEBF5C}"/>
                  </a:ext>
                </a:extLst>
              </p:cNvPr>
              <p:cNvSpPr>
                <a:spLocks noGrp="1"/>
              </p:cNvSpPr>
              <p:nvPr>
                <p:ph idx="1"/>
              </p:nvPr>
            </p:nvSpPr>
            <p:spPr/>
            <p:txBody>
              <a:bodyPr>
                <a:normAutofit fontScale="92500" lnSpcReduction="10000"/>
              </a:bodyPr>
              <a:lstStyle/>
              <a:p>
                <a:r>
                  <a:rPr lang="en-US" dirty="0"/>
                  <a:t>Definition:</a:t>
                </a:r>
              </a:p>
              <a:p>
                <a:pPr lvl="1"/>
                <a:r>
                  <a:rPr lang="en-US" dirty="0">
                    <a:solidFill>
                      <a:srgbClr val="747474"/>
                    </a:solidFill>
                  </a:rPr>
                  <a:t>States: </a:t>
                </a:r>
                <a14:m>
                  <m:oMath xmlns:m="http://schemas.openxmlformats.org/officeDocument/2006/math">
                    <m:r>
                      <a:rPr lang="en-US" b="0" i="1" dirty="0" smtClean="0">
                        <a:solidFill>
                          <a:schemeClr val="bg2">
                            <a:lumMod val="75000"/>
                          </a:schemeClr>
                        </a:solidFill>
                        <a:latin typeface="Cambria Math" panose="02040503050406030204" pitchFamily="18" charset="0"/>
                      </a:rPr>
                      <m:t>𝑠</m:t>
                    </m:r>
                    <m:r>
                      <a:rPr lang="en-US" b="0" i="1" dirty="0" smtClean="0">
                        <a:solidFill>
                          <a:schemeClr val="bg2">
                            <a:lumMod val="75000"/>
                          </a:schemeClr>
                        </a:solidFill>
                        <a:latin typeface="Cambria Math" panose="02040503050406030204" pitchFamily="18" charset="0"/>
                      </a:rPr>
                      <m:t>∈</m:t>
                    </m:r>
                    <m:r>
                      <a:rPr lang="en-US" b="0" i="1" dirty="0" smtClean="0">
                        <a:solidFill>
                          <a:schemeClr val="bg2">
                            <a:lumMod val="75000"/>
                          </a:schemeClr>
                        </a:solidFill>
                        <a:latin typeface="Cambria Math" panose="02040503050406030204" pitchFamily="18" charset="0"/>
                        <a:ea typeface="Cambria Math" panose="02040503050406030204" pitchFamily="18" charset="0"/>
                      </a:rPr>
                      <m:t>𝒮</m:t>
                    </m:r>
                  </m:oMath>
                </a14:m>
                <a:endParaRPr lang="en-US" b="0" dirty="0">
                  <a:solidFill>
                    <a:schemeClr val="bg2">
                      <a:lumMod val="75000"/>
                    </a:schemeClr>
                  </a:solidFill>
                  <a:ea typeface="Cambria Math" panose="02040503050406030204" pitchFamily="18" charset="0"/>
                </a:endParaRPr>
              </a:p>
              <a:p>
                <a:pPr lvl="1"/>
                <a:r>
                  <a:rPr lang="en-US" dirty="0"/>
                  <a:t>Observations:</a:t>
                </a:r>
                <a14:m>
                  <m:oMath xmlns:m="http://schemas.openxmlformats.org/officeDocument/2006/math">
                    <m:r>
                      <a:rPr lang="en-US" b="0" i="1" smtClean="0">
                        <a:latin typeface="Cambria Math" panose="02040503050406030204" pitchFamily="18" charset="0"/>
                      </a:rPr>
                      <m:t>𝑜</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𝒪</m:t>
                    </m:r>
                  </m:oMath>
                </a14:m>
                <a:endParaRPr lang="en-US" b="0" dirty="0">
                  <a:ea typeface="Cambria Math" panose="02040503050406030204" pitchFamily="18" charset="0"/>
                </a:endParaRPr>
              </a:p>
              <a:p>
                <a:pPr lvl="1"/>
                <a:r>
                  <a:rPr lang="en-US" dirty="0"/>
                  <a:t>Actions: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𝒜</m:t>
                    </m:r>
                  </m:oMath>
                </a14:m>
                <a:endParaRPr lang="en-US" b="0" dirty="0">
                  <a:ea typeface="Cambria Math" panose="02040503050406030204" pitchFamily="18" charset="0"/>
                </a:endParaRPr>
              </a:p>
              <a:p>
                <a:pPr lvl="1"/>
                <a:r>
                  <a:rPr lang="en-US" dirty="0"/>
                  <a:t>Rewards: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ℝ</m:t>
                    </m:r>
                  </m:oMath>
                </a14:m>
                <a:endParaRPr lang="en-US" b="0" dirty="0">
                  <a:ea typeface="Cambria Math" panose="02040503050406030204" pitchFamily="18" charset="0"/>
                </a:endParaRPr>
              </a:p>
              <a:p>
                <a:pPr lvl="1"/>
                <a:r>
                  <a:rPr lang="en-US" dirty="0">
                    <a:solidFill>
                      <a:srgbClr val="747474"/>
                    </a:solidFill>
                  </a:rPr>
                  <a:t>Transition model: </a:t>
                </a:r>
                <a14:m>
                  <m:oMath xmlns:m="http://schemas.openxmlformats.org/officeDocument/2006/math">
                    <m:r>
                      <m:rPr>
                        <m:sty m:val="p"/>
                      </m:rPr>
                      <a:rPr lang="en-US" i="1" dirty="0" smtClean="0">
                        <a:solidFill>
                          <a:schemeClr val="bg2">
                            <a:lumMod val="75000"/>
                          </a:schemeClr>
                        </a:solidFill>
                        <a:latin typeface="Cambria Math" panose="02040503050406030204" pitchFamily="18" charset="0"/>
                      </a:rPr>
                      <m:t>Pr</m:t>
                    </m:r>
                    <m:r>
                      <a:rPr lang="en-US" i="1" dirty="0">
                        <a:solidFill>
                          <a:schemeClr val="bg2">
                            <a:lumMod val="75000"/>
                          </a:schemeClr>
                        </a:solidFill>
                        <a:latin typeface="Cambria Math" panose="02040503050406030204" pitchFamily="18" charset="0"/>
                      </a:rPr>
                      <m:t>⁡(</m:t>
                    </m:r>
                    <m:sSub>
                      <m:sSubPr>
                        <m:ctrlPr>
                          <a:rPr lang="en-US" i="1" dirty="0">
                            <a:solidFill>
                              <a:schemeClr val="bg2">
                                <a:lumMod val="75000"/>
                              </a:schemeClr>
                            </a:solidFill>
                            <a:latin typeface="Cambria Math" panose="02040503050406030204" pitchFamily="18" charset="0"/>
                          </a:rPr>
                        </m:ctrlPr>
                      </m:sSubPr>
                      <m:e>
                        <m:r>
                          <a:rPr lang="en-US" i="1" dirty="0">
                            <a:solidFill>
                              <a:schemeClr val="bg2">
                                <a:lumMod val="75000"/>
                              </a:schemeClr>
                            </a:solidFill>
                            <a:latin typeface="Cambria Math" panose="02040503050406030204" pitchFamily="18" charset="0"/>
                          </a:rPr>
                          <m:t>𝑠</m:t>
                        </m:r>
                      </m:e>
                      <m:sub>
                        <m:r>
                          <a:rPr lang="en-US" b="0" i="1" dirty="0" smtClean="0">
                            <a:solidFill>
                              <a:schemeClr val="bg2">
                                <a:lumMod val="75000"/>
                              </a:schemeClr>
                            </a:solidFill>
                            <a:latin typeface="Cambria Math" panose="02040503050406030204" pitchFamily="18" charset="0"/>
                          </a:rPr>
                          <m:t>𝑡</m:t>
                        </m:r>
                      </m:sub>
                    </m:sSub>
                    <m:r>
                      <a:rPr lang="en-US" i="1" dirty="0">
                        <a:solidFill>
                          <a:schemeClr val="bg2">
                            <a:lumMod val="75000"/>
                          </a:schemeClr>
                        </a:solidFill>
                        <a:latin typeface="Cambria Math" panose="02040503050406030204" pitchFamily="18" charset="0"/>
                      </a:rPr>
                      <m:t>|</m:t>
                    </m:r>
                    <m:sSub>
                      <m:sSubPr>
                        <m:ctrlPr>
                          <a:rPr lang="en-US" i="1" dirty="0">
                            <a:solidFill>
                              <a:schemeClr val="bg2">
                                <a:lumMod val="75000"/>
                              </a:schemeClr>
                            </a:solidFill>
                            <a:latin typeface="Cambria Math" panose="02040503050406030204" pitchFamily="18" charset="0"/>
                          </a:rPr>
                        </m:ctrlPr>
                      </m:sSubPr>
                      <m:e>
                        <m:r>
                          <a:rPr lang="en-US" i="1" dirty="0">
                            <a:solidFill>
                              <a:schemeClr val="bg2">
                                <a:lumMod val="75000"/>
                              </a:schemeClr>
                            </a:solidFill>
                            <a:latin typeface="Cambria Math" panose="02040503050406030204" pitchFamily="18" charset="0"/>
                          </a:rPr>
                          <m:t>𝑠</m:t>
                        </m:r>
                      </m:e>
                      <m:sub>
                        <m:r>
                          <a:rPr lang="en-US" b="0" i="1" dirty="0" smtClean="0">
                            <a:solidFill>
                              <a:schemeClr val="bg2">
                                <a:lumMod val="75000"/>
                              </a:schemeClr>
                            </a:solidFill>
                            <a:latin typeface="Cambria Math" panose="02040503050406030204" pitchFamily="18" charset="0"/>
                          </a:rPr>
                          <m:t>𝑡</m:t>
                        </m:r>
                        <m:r>
                          <a:rPr lang="en-US" b="0" i="1" dirty="0" smtClean="0">
                            <a:solidFill>
                              <a:schemeClr val="bg2">
                                <a:lumMod val="75000"/>
                              </a:schemeClr>
                            </a:solidFill>
                            <a:latin typeface="Cambria Math" panose="02040503050406030204" pitchFamily="18" charset="0"/>
                          </a:rPr>
                          <m:t>−1</m:t>
                        </m:r>
                      </m:sub>
                    </m:sSub>
                    <m:r>
                      <a:rPr lang="en-US" i="1" dirty="0">
                        <a:solidFill>
                          <a:schemeClr val="bg2">
                            <a:lumMod val="75000"/>
                          </a:schemeClr>
                        </a:solidFill>
                        <a:latin typeface="Cambria Math" panose="02040503050406030204" pitchFamily="18" charset="0"/>
                      </a:rPr>
                      <m:t>,</m:t>
                    </m:r>
                    <m:sSub>
                      <m:sSubPr>
                        <m:ctrlPr>
                          <a:rPr lang="en-US" i="1" dirty="0">
                            <a:solidFill>
                              <a:schemeClr val="bg2">
                                <a:lumMod val="75000"/>
                              </a:schemeClr>
                            </a:solidFill>
                            <a:latin typeface="Cambria Math" panose="02040503050406030204" pitchFamily="18" charset="0"/>
                          </a:rPr>
                        </m:ctrlPr>
                      </m:sSubPr>
                      <m:e>
                        <m:r>
                          <a:rPr lang="en-US" i="1" dirty="0">
                            <a:solidFill>
                              <a:schemeClr val="bg2">
                                <a:lumMod val="75000"/>
                              </a:schemeClr>
                            </a:solidFill>
                            <a:latin typeface="Cambria Math" panose="02040503050406030204" pitchFamily="18" charset="0"/>
                          </a:rPr>
                          <m:t>𝑎</m:t>
                        </m:r>
                      </m:e>
                      <m:sub>
                        <m:r>
                          <a:rPr lang="en-US" b="0" i="1" dirty="0" smtClean="0">
                            <a:solidFill>
                              <a:schemeClr val="bg2">
                                <a:lumMod val="75000"/>
                              </a:schemeClr>
                            </a:solidFill>
                            <a:latin typeface="Cambria Math" panose="02040503050406030204" pitchFamily="18" charset="0"/>
                          </a:rPr>
                          <m:t>𝑡</m:t>
                        </m:r>
                        <m:r>
                          <a:rPr lang="en-US" b="0" i="1" dirty="0" smtClean="0">
                            <a:solidFill>
                              <a:schemeClr val="bg2">
                                <a:lumMod val="75000"/>
                              </a:schemeClr>
                            </a:solidFill>
                            <a:latin typeface="Cambria Math" panose="02040503050406030204" pitchFamily="18" charset="0"/>
                          </a:rPr>
                          <m:t>−1</m:t>
                        </m:r>
                      </m:sub>
                    </m:sSub>
                    <m:r>
                      <a:rPr lang="en-US" i="1" dirty="0">
                        <a:solidFill>
                          <a:schemeClr val="bg2">
                            <a:lumMod val="75000"/>
                          </a:schemeClr>
                        </a:solidFill>
                        <a:latin typeface="Cambria Math" panose="02040503050406030204" pitchFamily="18" charset="0"/>
                      </a:rPr>
                      <m:t>)</m:t>
                    </m:r>
                  </m:oMath>
                </a14:m>
                <a:endParaRPr lang="en-US" dirty="0">
                  <a:solidFill>
                    <a:schemeClr val="bg2">
                      <a:lumMod val="75000"/>
                    </a:schemeClr>
                  </a:solidFill>
                </a:endParaRPr>
              </a:p>
              <a:p>
                <a:pPr lvl="1"/>
                <a:r>
                  <a:rPr lang="en-US" dirty="0">
                    <a:solidFill>
                      <a:srgbClr val="747474"/>
                    </a:solidFill>
                  </a:rPr>
                  <a:t>Observation model: </a:t>
                </a:r>
                <a14:m>
                  <m:oMath xmlns:m="http://schemas.openxmlformats.org/officeDocument/2006/math">
                    <m:r>
                      <m:rPr>
                        <m:sty m:val="p"/>
                      </m:rPr>
                      <a:rPr lang="en-US" i="1" dirty="0" smtClean="0">
                        <a:solidFill>
                          <a:schemeClr val="bg2">
                            <a:lumMod val="75000"/>
                          </a:schemeClr>
                        </a:solidFill>
                        <a:latin typeface="Cambria Math" panose="02040503050406030204" pitchFamily="18" charset="0"/>
                      </a:rPr>
                      <m:t>Pr</m:t>
                    </m:r>
                    <m:r>
                      <a:rPr lang="en-US" i="1" dirty="0">
                        <a:solidFill>
                          <a:schemeClr val="bg2">
                            <a:lumMod val="75000"/>
                          </a:schemeClr>
                        </a:solidFill>
                        <a:latin typeface="Cambria Math" panose="02040503050406030204" pitchFamily="18" charset="0"/>
                      </a:rPr>
                      <m:t>⁡(</m:t>
                    </m:r>
                    <m:sSub>
                      <m:sSubPr>
                        <m:ctrlPr>
                          <a:rPr lang="en-US" i="1" dirty="0">
                            <a:solidFill>
                              <a:schemeClr val="bg2">
                                <a:lumMod val="75000"/>
                              </a:schemeClr>
                            </a:solidFill>
                            <a:latin typeface="Cambria Math" panose="02040503050406030204" pitchFamily="18" charset="0"/>
                          </a:rPr>
                        </m:ctrlPr>
                      </m:sSubPr>
                      <m:e>
                        <m:r>
                          <a:rPr lang="en-US" i="1" dirty="0">
                            <a:solidFill>
                              <a:schemeClr val="bg2">
                                <a:lumMod val="75000"/>
                              </a:schemeClr>
                            </a:solidFill>
                            <a:latin typeface="Cambria Math" panose="02040503050406030204" pitchFamily="18" charset="0"/>
                          </a:rPr>
                          <m:t>𝑜</m:t>
                        </m:r>
                      </m:e>
                      <m:sub>
                        <m:r>
                          <a:rPr lang="en-US" b="0" i="1" dirty="0" smtClean="0">
                            <a:solidFill>
                              <a:schemeClr val="bg2">
                                <a:lumMod val="75000"/>
                              </a:schemeClr>
                            </a:solidFill>
                            <a:latin typeface="Cambria Math" panose="02040503050406030204" pitchFamily="18" charset="0"/>
                          </a:rPr>
                          <m:t>𝑡</m:t>
                        </m:r>
                      </m:sub>
                    </m:sSub>
                    <m:r>
                      <a:rPr lang="en-US" i="1" dirty="0">
                        <a:solidFill>
                          <a:schemeClr val="bg2">
                            <a:lumMod val="75000"/>
                          </a:schemeClr>
                        </a:solidFill>
                        <a:latin typeface="Cambria Math" panose="02040503050406030204" pitchFamily="18" charset="0"/>
                      </a:rPr>
                      <m:t>|</m:t>
                    </m:r>
                    <m:sSub>
                      <m:sSubPr>
                        <m:ctrlPr>
                          <a:rPr lang="en-US" i="1" dirty="0">
                            <a:solidFill>
                              <a:schemeClr val="bg2">
                                <a:lumMod val="75000"/>
                              </a:schemeClr>
                            </a:solidFill>
                            <a:latin typeface="Cambria Math" panose="02040503050406030204" pitchFamily="18" charset="0"/>
                          </a:rPr>
                        </m:ctrlPr>
                      </m:sSubPr>
                      <m:e>
                        <m:r>
                          <a:rPr lang="en-US" i="1" dirty="0">
                            <a:solidFill>
                              <a:schemeClr val="bg2">
                                <a:lumMod val="75000"/>
                              </a:schemeClr>
                            </a:solidFill>
                            <a:latin typeface="Cambria Math" panose="02040503050406030204" pitchFamily="18" charset="0"/>
                          </a:rPr>
                          <m:t>𝑎</m:t>
                        </m:r>
                      </m:e>
                      <m:sub>
                        <m:r>
                          <a:rPr lang="en-US" b="0" i="1" dirty="0" smtClean="0">
                            <a:solidFill>
                              <a:schemeClr val="bg2">
                                <a:lumMod val="75000"/>
                              </a:schemeClr>
                            </a:solidFill>
                            <a:latin typeface="Cambria Math" panose="02040503050406030204" pitchFamily="18" charset="0"/>
                          </a:rPr>
                          <m:t>𝑡</m:t>
                        </m:r>
                        <m:r>
                          <a:rPr lang="en-US" b="0" i="1" dirty="0" smtClean="0">
                            <a:solidFill>
                              <a:schemeClr val="bg2">
                                <a:lumMod val="75000"/>
                              </a:schemeClr>
                            </a:solidFill>
                            <a:latin typeface="Cambria Math" panose="02040503050406030204" pitchFamily="18" charset="0"/>
                          </a:rPr>
                          <m:t>−1</m:t>
                        </m:r>
                      </m:sub>
                    </m:sSub>
                    <m:r>
                      <a:rPr lang="en-US" i="1" dirty="0">
                        <a:solidFill>
                          <a:schemeClr val="bg2">
                            <a:lumMod val="75000"/>
                          </a:schemeClr>
                        </a:solidFill>
                        <a:latin typeface="Cambria Math" panose="02040503050406030204" pitchFamily="18" charset="0"/>
                      </a:rPr>
                      <m:t>,</m:t>
                    </m:r>
                    <m:sSub>
                      <m:sSubPr>
                        <m:ctrlPr>
                          <a:rPr lang="en-US" i="1" dirty="0">
                            <a:solidFill>
                              <a:schemeClr val="bg2">
                                <a:lumMod val="75000"/>
                              </a:schemeClr>
                            </a:solidFill>
                            <a:latin typeface="Cambria Math" panose="02040503050406030204" pitchFamily="18" charset="0"/>
                          </a:rPr>
                        </m:ctrlPr>
                      </m:sSubPr>
                      <m:e>
                        <m:r>
                          <a:rPr lang="en-US" i="1" dirty="0">
                            <a:solidFill>
                              <a:schemeClr val="bg2">
                                <a:lumMod val="75000"/>
                              </a:schemeClr>
                            </a:solidFill>
                            <a:latin typeface="Cambria Math" panose="02040503050406030204" pitchFamily="18" charset="0"/>
                          </a:rPr>
                          <m:t>𝑠</m:t>
                        </m:r>
                      </m:e>
                      <m:sub>
                        <m:r>
                          <a:rPr lang="en-US" b="0" i="1" dirty="0" smtClean="0">
                            <a:solidFill>
                              <a:schemeClr val="bg2">
                                <a:lumMod val="75000"/>
                              </a:schemeClr>
                            </a:solidFill>
                            <a:latin typeface="Cambria Math" panose="02040503050406030204" pitchFamily="18" charset="0"/>
                          </a:rPr>
                          <m:t>𝑡</m:t>
                        </m:r>
                      </m:sub>
                    </m:sSub>
                    <m:r>
                      <a:rPr lang="en-US" b="0" i="1" dirty="0" smtClean="0">
                        <a:solidFill>
                          <a:schemeClr val="bg2">
                            <a:lumMod val="75000"/>
                          </a:schemeClr>
                        </a:solidFill>
                        <a:latin typeface="Cambria Math" panose="02040503050406030204" pitchFamily="18" charset="0"/>
                      </a:rPr>
                      <m:t>)</m:t>
                    </m:r>
                  </m:oMath>
                </a14:m>
                <a:endParaRPr lang="en-US" dirty="0">
                  <a:solidFill>
                    <a:schemeClr val="bg2">
                      <a:lumMod val="75000"/>
                    </a:schemeClr>
                  </a:solidFill>
                </a:endParaRPr>
              </a:p>
              <a:p>
                <a:pPr lvl="1"/>
                <a:r>
                  <a:rPr lang="en-US" dirty="0">
                    <a:solidFill>
                      <a:srgbClr val="747474"/>
                    </a:solidFill>
                  </a:rPr>
                  <a:t>Reward model: </a:t>
                </a:r>
                <a14:m>
                  <m:oMath xmlns:m="http://schemas.openxmlformats.org/officeDocument/2006/math">
                    <m:r>
                      <m:rPr>
                        <m:sty m:val="p"/>
                      </m:rPr>
                      <a:rPr lang="en-US" i="1" dirty="0" smtClean="0">
                        <a:solidFill>
                          <a:schemeClr val="bg2">
                            <a:lumMod val="75000"/>
                          </a:schemeClr>
                        </a:solidFill>
                        <a:latin typeface="Cambria Math" panose="02040503050406030204" pitchFamily="18" charset="0"/>
                      </a:rPr>
                      <m:t>Pr</m:t>
                    </m:r>
                    <m:r>
                      <a:rPr lang="en-US" i="1" dirty="0">
                        <a:solidFill>
                          <a:schemeClr val="bg2">
                            <a:lumMod val="75000"/>
                          </a:schemeClr>
                        </a:solidFill>
                        <a:latin typeface="Cambria Math" panose="02040503050406030204" pitchFamily="18" charset="0"/>
                      </a:rPr>
                      <m:t>⁡(</m:t>
                    </m:r>
                    <m:sSub>
                      <m:sSubPr>
                        <m:ctrlPr>
                          <a:rPr lang="en-US" i="1" dirty="0">
                            <a:solidFill>
                              <a:schemeClr val="bg2">
                                <a:lumMod val="75000"/>
                              </a:schemeClr>
                            </a:solidFill>
                            <a:latin typeface="Cambria Math" panose="02040503050406030204" pitchFamily="18" charset="0"/>
                          </a:rPr>
                        </m:ctrlPr>
                      </m:sSubPr>
                      <m:e>
                        <m:r>
                          <a:rPr lang="en-US" i="1" dirty="0">
                            <a:solidFill>
                              <a:schemeClr val="bg2">
                                <a:lumMod val="75000"/>
                              </a:schemeClr>
                            </a:solidFill>
                            <a:latin typeface="Cambria Math" panose="02040503050406030204" pitchFamily="18" charset="0"/>
                          </a:rPr>
                          <m:t>𝑟</m:t>
                        </m:r>
                      </m:e>
                      <m:sub>
                        <m:r>
                          <a:rPr lang="en-US" b="0" i="1" dirty="0" smtClean="0">
                            <a:solidFill>
                              <a:schemeClr val="bg2">
                                <a:lumMod val="75000"/>
                              </a:schemeClr>
                            </a:solidFill>
                            <a:latin typeface="Cambria Math" panose="02040503050406030204" pitchFamily="18" charset="0"/>
                          </a:rPr>
                          <m:t>𝑡</m:t>
                        </m:r>
                      </m:sub>
                    </m:sSub>
                    <m:r>
                      <a:rPr lang="en-US" i="1" dirty="0">
                        <a:solidFill>
                          <a:schemeClr val="bg2">
                            <a:lumMod val="75000"/>
                          </a:schemeClr>
                        </a:solidFill>
                        <a:latin typeface="Cambria Math" panose="02040503050406030204" pitchFamily="18" charset="0"/>
                      </a:rPr>
                      <m:t>|</m:t>
                    </m:r>
                    <m:sSub>
                      <m:sSubPr>
                        <m:ctrlPr>
                          <a:rPr lang="en-US" i="1" dirty="0">
                            <a:solidFill>
                              <a:schemeClr val="bg2">
                                <a:lumMod val="75000"/>
                              </a:schemeClr>
                            </a:solidFill>
                            <a:latin typeface="Cambria Math" panose="02040503050406030204" pitchFamily="18" charset="0"/>
                          </a:rPr>
                        </m:ctrlPr>
                      </m:sSubPr>
                      <m:e>
                        <m:r>
                          <a:rPr lang="en-US" i="1" dirty="0">
                            <a:solidFill>
                              <a:schemeClr val="bg2">
                                <a:lumMod val="75000"/>
                              </a:schemeClr>
                            </a:solidFill>
                            <a:latin typeface="Cambria Math" panose="02040503050406030204" pitchFamily="18" charset="0"/>
                          </a:rPr>
                          <m:t>𝑠</m:t>
                        </m:r>
                      </m:e>
                      <m:sub>
                        <m:r>
                          <a:rPr lang="en-US" b="0" i="1" dirty="0" smtClean="0">
                            <a:solidFill>
                              <a:schemeClr val="bg2">
                                <a:lumMod val="75000"/>
                              </a:schemeClr>
                            </a:solidFill>
                            <a:latin typeface="Cambria Math" panose="02040503050406030204" pitchFamily="18" charset="0"/>
                          </a:rPr>
                          <m:t>𝑡</m:t>
                        </m:r>
                      </m:sub>
                    </m:sSub>
                    <m:r>
                      <a:rPr lang="en-US" i="1" dirty="0">
                        <a:solidFill>
                          <a:schemeClr val="bg2">
                            <a:lumMod val="75000"/>
                          </a:schemeClr>
                        </a:solidFill>
                        <a:latin typeface="Cambria Math" panose="02040503050406030204" pitchFamily="18" charset="0"/>
                      </a:rPr>
                      <m:t>,</m:t>
                    </m:r>
                    <m:sSub>
                      <m:sSubPr>
                        <m:ctrlPr>
                          <a:rPr lang="en-US" i="1" dirty="0">
                            <a:solidFill>
                              <a:schemeClr val="bg2">
                                <a:lumMod val="75000"/>
                              </a:schemeClr>
                            </a:solidFill>
                            <a:latin typeface="Cambria Math" panose="02040503050406030204" pitchFamily="18" charset="0"/>
                          </a:rPr>
                        </m:ctrlPr>
                      </m:sSubPr>
                      <m:e>
                        <m:r>
                          <a:rPr lang="en-US" i="1" dirty="0">
                            <a:solidFill>
                              <a:schemeClr val="bg2">
                                <a:lumMod val="75000"/>
                              </a:schemeClr>
                            </a:solidFill>
                            <a:latin typeface="Cambria Math" panose="02040503050406030204" pitchFamily="18" charset="0"/>
                          </a:rPr>
                          <m:t>𝑎</m:t>
                        </m:r>
                      </m:e>
                      <m:sub>
                        <m:r>
                          <a:rPr lang="en-US" b="0" i="1" dirty="0" smtClean="0">
                            <a:solidFill>
                              <a:schemeClr val="bg2">
                                <a:lumMod val="75000"/>
                              </a:schemeClr>
                            </a:solidFill>
                            <a:latin typeface="Cambria Math" panose="02040503050406030204" pitchFamily="18" charset="0"/>
                          </a:rPr>
                          <m:t>𝑡</m:t>
                        </m:r>
                      </m:sub>
                    </m:sSub>
                    <m:r>
                      <a:rPr lang="en-US" i="1" dirty="0" smtClean="0">
                        <a:solidFill>
                          <a:schemeClr val="bg2">
                            <a:lumMod val="75000"/>
                          </a:schemeClr>
                        </a:solidFill>
                        <a:latin typeface="Cambria Math" panose="02040503050406030204" pitchFamily="18" charset="0"/>
                      </a:rPr>
                      <m:t>)</m:t>
                    </m:r>
                  </m:oMath>
                </a14:m>
                <a:endParaRPr lang="en-US" dirty="0">
                  <a:solidFill>
                    <a:schemeClr val="bg2">
                      <a:lumMod val="75000"/>
                    </a:schemeClr>
                  </a:solidFill>
                </a:endParaRPr>
              </a:p>
              <a:p>
                <a:pPr lvl="1"/>
                <a:r>
                  <a:rPr lang="en-US" dirty="0"/>
                  <a:t>Discount factor: </a:t>
                </a:r>
                <a14:m>
                  <m:oMath xmlns:m="http://schemas.openxmlformats.org/officeDocument/2006/math">
                    <m:r>
                      <a:rPr lang="en-US" i="1" dirty="0" smtClean="0">
                        <a:latin typeface="Cambria Math" panose="02040503050406030204" pitchFamily="18" charset="0"/>
                      </a:rPr>
                      <m:t>0</m:t>
                    </m:r>
                    <m:r>
                      <a:rPr lang="en-US" b="0" i="1" dirty="0" smtClean="0">
                        <a:latin typeface="Cambria Math" panose="02040503050406030204" pitchFamily="18" charset="0"/>
                      </a:rPr>
                      <m:t>≤ </m:t>
                    </m:r>
                    <m:r>
                      <a:rPr lang="en-US" i="1" dirty="0" smtClean="0">
                        <a:latin typeface="Cambria Math" panose="02040503050406030204" pitchFamily="18" charset="0"/>
                      </a:rPr>
                      <m:t>𝛾</m:t>
                    </m:r>
                    <m:r>
                      <a:rPr lang="en-US" i="1" dirty="0" smtClean="0">
                        <a:latin typeface="Cambria Math" panose="02040503050406030204" pitchFamily="18" charset="0"/>
                      </a:rPr>
                      <m:t>≤1</m:t>
                    </m:r>
                  </m:oMath>
                </a14:m>
                <a:endParaRPr lang="en-US" dirty="0"/>
              </a:p>
              <a:p>
                <a:pPr lvl="1"/>
                <a:r>
                  <a:rPr lang="en-US" dirty="0"/>
                  <a:t>Horizon: </a:t>
                </a:r>
                <a14:m>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ℕ</m:t>
                    </m:r>
                  </m:oMath>
                </a14:m>
                <a:r>
                  <a:rPr lang="en-US" dirty="0"/>
                  <a:t> or </a:t>
                </a:r>
                <a14:m>
                  <m:oMath xmlns:m="http://schemas.openxmlformats.org/officeDocument/2006/math">
                    <m:r>
                      <a:rPr lang="en-US" b="0" i="1" smtClean="0">
                        <a:latin typeface="Cambria Math" panose="02040503050406030204" pitchFamily="18" charset="0"/>
                      </a:rPr>
                      <m:t>∞</m:t>
                    </m:r>
                  </m:oMath>
                </a14:m>
                <a:endParaRPr lang="en-US" dirty="0"/>
              </a:p>
              <a:p>
                <a:r>
                  <a:rPr lang="en-US" dirty="0"/>
                  <a:t>Goal: find optimal policy </a:t>
                </a:r>
                <a:br>
                  <a:rPr lang="en-US" dirty="0"/>
                </a:b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𝜋</m:t>
                        </m:r>
                      </m:e>
                      <m:sup>
                        <m:r>
                          <a:rPr lang="en-US" b="0" i="1" smtClean="0">
                            <a:latin typeface="Cambria Math" panose="02040503050406030204" pitchFamily="18" charset="0"/>
                          </a:rPr>
                          <m:t>∗</m:t>
                        </m:r>
                      </m:sup>
                    </m:sSup>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argmax</m:t>
                            </m:r>
                          </m:e>
                          <m:lim>
                            <m:r>
                              <a:rPr lang="en-US" b="0" i="1" smtClean="0">
                                <a:latin typeface="Cambria Math" panose="02040503050406030204" pitchFamily="18" charset="0"/>
                              </a:rPr>
                              <m:t>𝜋</m:t>
                            </m:r>
                          </m:lim>
                        </m:limLow>
                      </m:fName>
                      <m:e>
                        <m:nary>
                          <m:naryPr>
                            <m:chr m:val="∑"/>
                            <m:limLoc m:val="subSup"/>
                            <m:ctrlPr>
                              <a:rPr lang="en-US" b="0" i="1" smtClean="0">
                                <a:latin typeface="Cambria Math" panose="02040503050406030204" pitchFamily="18" charset="0"/>
                              </a:rPr>
                            </m:ctrlPr>
                          </m:naryPr>
                          <m:sub>
                            <m:r>
                              <m:rPr>
                                <m:brk m:alnAt="25"/>
                              </m:rPr>
                              <a:rPr lang="en-US" b="0" i="1" smtClean="0">
                                <a:latin typeface="Cambria Math" panose="02040503050406030204" pitchFamily="18" charset="0"/>
                              </a:rPr>
                              <m:t>𝑡</m:t>
                            </m:r>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𝛾</m:t>
                                </m:r>
                              </m:e>
                              <m:sup>
                                <m:r>
                                  <a:rPr lang="en-US" b="0" i="1" smtClean="0">
                                    <a:latin typeface="Cambria Math" panose="02040503050406030204" pitchFamily="18" charset="0"/>
                                  </a:rPr>
                                  <m:t>𝑡</m:t>
                                </m:r>
                              </m:sup>
                            </m:s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𝔼</m:t>
                                </m:r>
                              </m:e>
                              <m:sub>
                                <m:r>
                                  <a:rPr lang="en-US" b="0" i="1" smtClean="0">
                                    <a:latin typeface="Cambria Math" panose="02040503050406030204" pitchFamily="18" charset="0"/>
                                    <a:ea typeface="Cambria Math" panose="02040503050406030204" pitchFamily="18" charset="0"/>
                                  </a:rPr>
                                  <m:t>𝜋</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e>
                        </m:nary>
                      </m:e>
                    </m:func>
                  </m:oMath>
                </a14:m>
                <a:endParaRPr lang="en-US" dirty="0"/>
              </a:p>
            </p:txBody>
          </p:sp>
        </mc:Choice>
        <mc:Fallback xmlns="">
          <p:sp>
            <p:nvSpPr>
              <p:cNvPr id="3" name="Content Placeholder 2" descr="Definition:. States: s in S. Observations: o in O. Actions: a in A. Rewards: r in the real numbers. Transition model: Pr(s sub t given s sub t minus 1,a sub t minus 1). Observation model: Pr(o sub t given a sub t minus 1,s sub t). Reward model: Pr(r sub t given s sub t,a sub t). Discount factor: 0 is less than or equal to gamma is less than or equal to 1. Horizon: T in the natural numbers or infinity. Goal: find optimal policy pi star equals argmax over pi, of the sum over t equals 0 to T, of gamma to the power t E sub pi [r sub t]">
                <a:extLst>
                  <a:ext uri="{FF2B5EF4-FFF2-40B4-BE49-F238E27FC236}">
                    <a16:creationId xmlns:a16="http://schemas.microsoft.com/office/drawing/2014/main" id="{B3564D88-9540-F782-EE2E-B28003BEBF5C}"/>
                  </a:ext>
                </a:extLst>
              </p:cNvPr>
              <p:cNvSpPr>
                <a:spLocks noGrp="1" noRot="1" noChangeAspect="1" noMove="1" noResize="1" noEditPoints="1" noAdjustHandles="1" noChangeArrowheads="1" noChangeShapeType="1" noTextEdit="1"/>
              </p:cNvSpPr>
              <p:nvPr>
                <p:ph idx="1"/>
              </p:nvPr>
            </p:nvSpPr>
            <p:spPr>
              <a:blipFill>
                <a:blip r:embed="rId2"/>
                <a:stretch>
                  <a:fillRect l="-928" t="-2551"/>
                </a:stretch>
              </a:blipFill>
            </p:spPr>
            <p:txBody>
              <a:bodyPr/>
              <a:lstStyle/>
              <a:p>
                <a:r>
                  <a:rPr lang="en-US">
                    <a:noFill/>
                  </a:rPr>
                  <a:t> </a:t>
                </a:r>
              </a:p>
            </p:txBody>
          </p:sp>
        </mc:Fallback>
      </mc:AlternateContent>
      <p:sp>
        <p:nvSpPr>
          <p:cNvPr id="4" name="Speech Bubble: Rectangle with Corners Rounded 3">
            <a:extLst>
              <a:ext uri="{FF2B5EF4-FFF2-40B4-BE49-F238E27FC236}">
                <a16:creationId xmlns:a16="http://schemas.microsoft.com/office/drawing/2014/main" id="{BA5B0DF8-B9C1-B70B-7027-EA0E2DE51EAA}"/>
              </a:ext>
            </a:extLst>
          </p:cNvPr>
          <p:cNvSpPr/>
          <p:nvPr/>
        </p:nvSpPr>
        <p:spPr>
          <a:xfrm>
            <a:off x="4332157" y="1289153"/>
            <a:ext cx="1903751" cy="449705"/>
          </a:xfrm>
          <a:prstGeom prst="wedgeRoundRectCallout">
            <a:avLst>
              <a:gd name="adj1" fmla="val -111529"/>
              <a:gd name="adj2" fmla="val 8659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Unobservable</a:t>
            </a:r>
          </a:p>
        </p:txBody>
      </p:sp>
      <p:pic>
        <p:nvPicPr>
          <p:cNvPr id="7" name="Content Placeholder 4" descr="Sutton and Barto Figure 3.1: the agent–environment interaction in a Markov decision process. The agent sends action A_t to the environment; the environment returns the next reward R_t+1 and next state S_t+1, which become the reward R_t and state S_t the agent sees at the next step.">
            <a:extLst>
              <a:ext uri="{FF2B5EF4-FFF2-40B4-BE49-F238E27FC236}">
                <a16:creationId xmlns:a16="http://schemas.microsoft.com/office/drawing/2014/main" id="{C74EE969-6D75-C18D-9DE2-67D978D651A8}"/>
              </a:ext>
            </a:extLst>
          </p:cNvPr>
          <p:cNvPicPr>
            <a:picLocks noChangeAspect="1"/>
          </p:cNvPicPr>
          <p:nvPr/>
        </p:nvPicPr>
        <p:blipFill>
          <a:blip r:embed="rId3"/>
          <a:srcRect l="12270" r="11643" b="13005"/>
          <a:stretch>
            <a:fillRect/>
          </a:stretch>
        </p:blipFill>
        <p:spPr>
          <a:xfrm>
            <a:off x="7317320" y="1232375"/>
            <a:ext cx="4516160" cy="1716810"/>
          </a:xfrm>
          <a:prstGeom prst="rect">
            <a:avLst/>
          </a:prstGeom>
        </p:spPr>
      </p:pic>
      <p:sp>
        <p:nvSpPr>
          <p:cNvPr id="8" name="TextBox 7">
            <a:extLst>
              <a:ext uri="{FF2B5EF4-FFF2-40B4-BE49-F238E27FC236}">
                <a16:creationId xmlns:a16="http://schemas.microsoft.com/office/drawing/2014/main" id="{D9F96A4B-EC68-4B4B-6B2E-1A05A4216C75}"/>
              </a:ext>
            </a:extLst>
          </p:cNvPr>
          <p:cNvSpPr txBox="1"/>
          <p:nvPr/>
        </p:nvSpPr>
        <p:spPr>
          <a:xfrm>
            <a:off x="7317320" y="1578925"/>
            <a:ext cx="567501" cy="830997"/>
          </a:xfrm>
          <a:prstGeom prst="rect">
            <a:avLst/>
          </a:prstGeom>
          <a:noFill/>
        </p:spPr>
        <p:txBody>
          <a:bodyPr wrap="square" rtlCol="0">
            <a:spAutoFit/>
          </a:bodyPr>
          <a:lstStyle/>
          <a:p>
            <a:r>
              <a:rPr lang="en-US" sz="4800" dirty="0">
                <a:solidFill>
                  <a:srgbClr val="FF0000"/>
                </a:solidFill>
              </a:rPr>
              <a:t>x</a:t>
            </a:r>
          </a:p>
        </p:txBody>
      </p:sp>
      <mc:AlternateContent xmlns:mc="http://schemas.openxmlformats.org/markup-compatibility/2006" xmlns:a14="http://schemas.microsoft.com/office/drawing/2010/main">
        <mc:Choice Requires="a14">
          <p:sp>
            <p:nvSpPr>
              <p:cNvPr id="9" name="TextBox 8" descr="observation O sub t">
                <a:extLst>
                  <a:ext uri="{FF2B5EF4-FFF2-40B4-BE49-F238E27FC236}">
                    <a16:creationId xmlns:a16="http://schemas.microsoft.com/office/drawing/2014/main" id="{877F2337-7187-82EF-F82F-CF777882C555}"/>
                  </a:ext>
                </a:extLst>
              </p:cNvPr>
              <p:cNvSpPr txBox="1"/>
              <p:nvPr/>
            </p:nvSpPr>
            <p:spPr>
              <a:xfrm>
                <a:off x="6645581" y="2159834"/>
                <a:ext cx="1103635" cy="523220"/>
              </a:xfrm>
              <a:prstGeom prst="rect">
                <a:avLst/>
              </a:prstGeom>
              <a:noFill/>
            </p:spPr>
            <p:txBody>
              <a:bodyPr wrap="none" rtlCol="0">
                <a:spAutoFit/>
              </a:bodyPr>
              <a:lstStyle/>
              <a:p>
                <a:pPr/>
                <a:r>
                  <a:rPr lang="en-US" sz="1400" dirty="0"/>
                  <a:t>observation</a:t>
                </a:r>
                <a:br>
                  <a:rPr lang="en-US" sz="1400" dirty="0"/>
                </a:b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𝑂</m:t>
                          </m:r>
                        </m:e>
                        <m:sub>
                          <m:r>
                            <a:rPr lang="en-US" sz="1400" b="0" i="1" smtClean="0">
                              <a:latin typeface="Cambria Math" panose="02040503050406030204" pitchFamily="18" charset="0"/>
                            </a:rPr>
                            <m:t>𝑡</m:t>
                          </m:r>
                        </m:sub>
                      </m:sSub>
                    </m:oMath>
                  </m:oMathPara>
                </a14:m>
                <a:endParaRPr lang="en-US" sz="1400" dirty="0"/>
              </a:p>
            </p:txBody>
          </p:sp>
        </mc:Choice>
        <mc:Fallback xmlns="">
          <p:sp>
            <p:nvSpPr>
              <p:cNvPr id="9" name="TextBox 8" descr="observation O sub t">
                <a:extLst>
                  <a:ext uri="{FF2B5EF4-FFF2-40B4-BE49-F238E27FC236}">
                    <a16:creationId xmlns:a16="http://schemas.microsoft.com/office/drawing/2014/main" id="{877F2337-7187-82EF-F82F-CF777882C555}"/>
                  </a:ext>
                </a:extLst>
              </p:cNvPr>
              <p:cNvSpPr txBox="1">
                <a:spLocks noRot="1" noChangeAspect="1" noMove="1" noResize="1" noEditPoints="1" noAdjustHandles="1" noChangeArrowheads="1" noChangeShapeType="1" noTextEdit="1"/>
              </p:cNvSpPr>
              <p:nvPr/>
            </p:nvSpPr>
            <p:spPr>
              <a:xfrm>
                <a:off x="6645581" y="2159834"/>
                <a:ext cx="1103635" cy="523220"/>
              </a:xfrm>
              <a:prstGeom prst="rect">
                <a:avLst/>
              </a:prstGeom>
              <a:blipFill>
                <a:blip r:embed="rId4"/>
                <a:stretch>
                  <a:fillRect l="-1657" t="-1163"/>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E8622735-5225-A77E-2ECF-6A59217E94FA}"/>
              </a:ext>
            </a:extLst>
          </p:cNvPr>
          <p:cNvSpPr txBox="1"/>
          <p:nvPr/>
        </p:nvSpPr>
        <p:spPr>
          <a:xfrm>
            <a:off x="9867332" y="2122359"/>
            <a:ext cx="677075" cy="369332"/>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MDP</a:t>
            </a:r>
          </a:p>
        </p:txBody>
      </p:sp>
      <p:sp>
        <p:nvSpPr>
          <p:cNvPr id="5" name="Right Brace 4">
            <a:extLst>
              <a:ext uri="{FF2B5EF4-FFF2-40B4-BE49-F238E27FC236}">
                <a16:creationId xmlns:a16="http://schemas.microsoft.com/office/drawing/2014/main" id="{D786EF85-09C2-4E0E-BB90-F316F98DA6B8}"/>
              </a:ext>
              <a:ext uri="{C183D7F6-B498-43B3-948B-1728B52AA6E4}">
                <adec:decorative xmlns:adec="http://schemas.microsoft.com/office/drawing/2017/decorative" val="1"/>
              </a:ext>
            </a:extLst>
          </p:cNvPr>
          <p:cNvSpPr/>
          <p:nvPr/>
        </p:nvSpPr>
        <p:spPr>
          <a:xfrm>
            <a:off x="5838670" y="3140439"/>
            <a:ext cx="155448" cy="9144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50545186-2F22-C83E-3C97-321C14468F7C}"/>
              </a:ext>
            </a:extLst>
          </p:cNvPr>
          <p:cNvSpPr txBox="1"/>
          <p:nvPr/>
        </p:nvSpPr>
        <p:spPr>
          <a:xfrm>
            <a:off x="6575680" y="3403912"/>
            <a:ext cx="187377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Unknown model</a:t>
            </a:r>
          </a:p>
        </p:txBody>
      </p:sp>
    </p:spTree>
    <p:extLst>
      <p:ext uri="{BB962C8B-B14F-4D97-AF65-F5344CB8AC3E}">
        <p14:creationId xmlns:p14="http://schemas.microsoft.com/office/powerpoint/2010/main" val="3799060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6F7C9-9EE1-57C5-4782-6CE09F8BC487}"/>
              </a:ext>
            </a:extLst>
          </p:cNvPr>
          <p:cNvSpPr>
            <a:spLocks noGrp="1"/>
          </p:cNvSpPr>
          <p:nvPr>
            <p:ph type="title"/>
          </p:nvPr>
        </p:nvSpPr>
        <p:spPr/>
        <p:txBody>
          <a:bodyPr/>
          <a:lstStyle/>
          <a:p>
            <a:r>
              <a:rPr lang="en-US" dirty="0"/>
              <a:t>States and Observations</a:t>
            </a:r>
          </a:p>
        </p:txBody>
      </p:sp>
      <p:grpSp>
        <p:nvGrpSpPr>
          <p:cNvPr id="12" name="Group 11" descr="Sutton and Barto Figure 3.1: the agent–environment interaction in a Markov decision process. The agent sends action A_t to the environment; the environment returns the next reward R_t+1 and next state S_t+1, which become the reward R_t and state S_t the agent sees at the next step. Labels: x; Observation O sub t; MDP; Environment state S sub t, to the power e; Agent state S sub t, to the power a.">
            <a:extLst>
              <a:ext uri="{FF2B5EF4-FFF2-40B4-BE49-F238E27FC236}">
                <a16:creationId xmlns:a16="http://schemas.microsoft.com/office/drawing/2014/main" id="{E4B6A646-9DBE-7319-AA3C-EAAEC0FEFC7D}"/>
              </a:ext>
            </a:extLst>
          </p:cNvPr>
          <p:cNvGrpSpPr/>
          <p:nvPr/>
        </p:nvGrpSpPr>
        <p:grpSpPr>
          <a:xfrm>
            <a:off x="3640055" y="1221634"/>
            <a:ext cx="5255355" cy="2379164"/>
            <a:chOff x="2868062" y="3044791"/>
            <a:chExt cx="5255355" cy="2379164"/>
          </a:xfrm>
        </p:grpSpPr>
        <p:pic>
          <p:nvPicPr>
            <p:cNvPr id="5" name="Content Placeholder 4" descr="Sutton and Barto Figure 3.1: the agent–environment interaction in a Markov decision process. The agent sends action A_t to the environment; the environment returns the next reward R_t+1 and next state S_t+1, which become the reward R_t and state S_t the agent sees at the next step.">
              <a:extLst>
                <a:ext uri="{FF2B5EF4-FFF2-40B4-BE49-F238E27FC236}">
                  <a16:creationId xmlns:a16="http://schemas.microsoft.com/office/drawing/2014/main" id="{D7367CD8-474D-8C9F-2596-C92C2DC35213}"/>
                </a:ext>
              </a:extLst>
            </p:cNvPr>
            <p:cNvPicPr>
              <a:picLocks noChangeAspect="1"/>
            </p:cNvPicPr>
            <p:nvPr/>
          </p:nvPicPr>
          <p:blipFill>
            <a:blip r:embed="rId2"/>
            <a:srcRect l="12270" r="11643" b="13005"/>
            <a:stretch>
              <a:fillRect/>
            </a:stretch>
          </p:blipFill>
          <p:spPr>
            <a:xfrm>
              <a:off x="3607257" y="3375968"/>
              <a:ext cx="4516160" cy="1716810"/>
            </a:xfrm>
            <a:prstGeom prst="rect">
              <a:avLst/>
            </a:prstGeom>
          </p:spPr>
        </p:pic>
        <p:sp>
          <p:nvSpPr>
            <p:cNvPr id="6" name="TextBox 5">
              <a:extLst>
                <a:ext uri="{FF2B5EF4-FFF2-40B4-BE49-F238E27FC236}">
                  <a16:creationId xmlns:a16="http://schemas.microsoft.com/office/drawing/2014/main" id="{76EDFE9F-5D5E-2AE8-5022-47341B4EF07C}"/>
                </a:ext>
              </a:extLst>
            </p:cNvPr>
            <p:cNvSpPr txBox="1"/>
            <p:nvPr/>
          </p:nvSpPr>
          <p:spPr>
            <a:xfrm>
              <a:off x="3607257" y="3722518"/>
              <a:ext cx="567501" cy="830997"/>
            </a:xfrm>
            <a:prstGeom prst="rect">
              <a:avLst/>
            </a:prstGeom>
            <a:noFill/>
          </p:spPr>
          <p:txBody>
            <a:bodyPr wrap="square" rtlCol="0">
              <a:spAutoFit/>
            </a:bodyPr>
            <a:lstStyle/>
            <a:p>
              <a:r>
                <a:rPr lang="en-US" sz="4800" dirty="0">
                  <a:solidFill>
                    <a:srgbClr val="FF0000"/>
                  </a:solidFill>
                </a:rPr>
                <a:t>x</a:t>
              </a:r>
            </a:p>
          </p:txBody>
        </p:sp>
        <mc:AlternateContent xmlns:mc="http://schemas.openxmlformats.org/markup-compatibility/2006" xmlns:a14="http://schemas.microsoft.com/office/drawing/2010/main">
          <mc:Choice Requires="a14">
            <p:sp>
              <p:nvSpPr>
                <p:cNvPr id="7" name="TextBox 6" descr="Observation O sub t">
                  <a:extLst>
                    <a:ext uri="{FF2B5EF4-FFF2-40B4-BE49-F238E27FC236}">
                      <a16:creationId xmlns:a16="http://schemas.microsoft.com/office/drawing/2014/main" id="{A60FA2E0-98BD-5FA8-ADB3-539907773F66}"/>
                    </a:ext>
                  </a:extLst>
                </p:cNvPr>
                <p:cNvSpPr txBox="1"/>
                <p:nvPr/>
              </p:nvSpPr>
              <p:spPr>
                <a:xfrm>
                  <a:off x="2868062" y="4457494"/>
                  <a:ext cx="1135696" cy="52322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none" rtlCol="0">
                  <a:spAutoFit/>
                </a:bodyPr>
                <a:lstStyle/>
                <a:p>
                  <a:pPr/>
                  <a:r>
                    <a:rPr lang="en-US" sz="1400" dirty="0"/>
                    <a:t>Observation</a:t>
                  </a:r>
                  <a:br>
                    <a:rPr lang="en-US" sz="1400" dirty="0"/>
                  </a:b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𝑂</m:t>
                            </m:r>
                          </m:e>
                          <m:sub>
                            <m:r>
                              <a:rPr lang="en-US" sz="1400" b="0" i="1" smtClean="0">
                                <a:latin typeface="Cambria Math" panose="02040503050406030204" pitchFamily="18" charset="0"/>
                              </a:rPr>
                              <m:t>𝑡</m:t>
                            </m:r>
                          </m:sub>
                        </m:sSub>
                      </m:oMath>
                    </m:oMathPara>
                  </a14:m>
                  <a:endParaRPr lang="en-US" sz="1400" dirty="0"/>
                </a:p>
              </p:txBody>
            </p:sp>
          </mc:Choice>
          <mc:Fallback xmlns="">
            <p:sp>
              <p:nvSpPr>
                <p:cNvPr id="7" name="TextBox 6" descr="Observation O sub t">
                  <a:extLst>
                    <a:ext uri="{FF2B5EF4-FFF2-40B4-BE49-F238E27FC236}">
                      <a16:creationId xmlns:a16="http://schemas.microsoft.com/office/drawing/2014/main" id="{A60FA2E0-98BD-5FA8-ADB3-539907773F66}"/>
                    </a:ext>
                  </a:extLst>
                </p:cNvPr>
                <p:cNvSpPr txBox="1">
                  <a:spLocks noRot="1" noChangeAspect="1" noMove="1" noResize="1" noEditPoints="1" noAdjustHandles="1" noChangeArrowheads="1" noChangeShapeType="1" noTextEdit="1"/>
                </p:cNvSpPr>
                <p:nvPr/>
              </p:nvSpPr>
              <p:spPr>
                <a:xfrm>
                  <a:off x="2868062" y="4457494"/>
                  <a:ext cx="1135696" cy="523220"/>
                </a:xfrm>
                <a:prstGeom prst="rect">
                  <a:avLst/>
                </a:prstGeom>
                <a:blipFill>
                  <a:blip r:embed="rId4"/>
                  <a:stretch>
                    <a:fillRect l="-1058" t="-1124"/>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4415C92C-2E9F-009D-741A-46F471E0FB66}"/>
                </a:ext>
              </a:extLst>
            </p:cNvPr>
            <p:cNvSpPr txBox="1"/>
            <p:nvPr/>
          </p:nvSpPr>
          <p:spPr>
            <a:xfrm>
              <a:off x="6157269" y="4265952"/>
              <a:ext cx="677075" cy="369332"/>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MDP</a:t>
              </a:r>
            </a:p>
          </p:txBody>
        </p:sp>
        <mc:AlternateContent xmlns:mc="http://schemas.openxmlformats.org/markup-compatibility/2006" xmlns:a14="http://schemas.microsoft.com/office/drawing/2010/main">
          <mc:Choice Requires="a14">
            <p:sp>
              <p:nvSpPr>
                <p:cNvPr id="9" name="TextBox 8" descr="Environment state S sub t, to the power e">
                  <a:extLst>
                    <a:ext uri="{FF2B5EF4-FFF2-40B4-BE49-F238E27FC236}">
                      <a16:creationId xmlns:a16="http://schemas.microsoft.com/office/drawing/2014/main" id="{D56C4E86-E105-3A25-E51F-778ACA473DB1}"/>
                    </a:ext>
                  </a:extLst>
                </p:cNvPr>
                <p:cNvSpPr txBox="1"/>
                <p:nvPr/>
              </p:nvSpPr>
              <p:spPr>
                <a:xfrm>
                  <a:off x="5731042" y="4900735"/>
                  <a:ext cx="1171931" cy="5232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sz="1400" dirty="0"/>
                    <a:t>Environment state </a:t>
                  </a:r>
                  <a14:m>
                    <m:oMath xmlns:m="http://schemas.openxmlformats.org/officeDocument/2006/math">
                      <m:sSubSup>
                        <m:sSubSupPr>
                          <m:ctrlPr>
                            <a:rPr lang="en-US" sz="1400" b="0" i="1" smtClean="0">
                              <a:latin typeface="Cambria Math" panose="02040503050406030204" pitchFamily="18" charset="0"/>
                            </a:rPr>
                          </m:ctrlPr>
                        </m:sSubSupPr>
                        <m:e>
                          <m:r>
                            <a:rPr lang="en-US" sz="1400" b="0" i="1" smtClean="0">
                              <a:latin typeface="Cambria Math" panose="02040503050406030204" pitchFamily="18" charset="0"/>
                            </a:rPr>
                            <m:t>𝑆</m:t>
                          </m:r>
                        </m:e>
                        <m:sub>
                          <m:r>
                            <a:rPr lang="en-US" sz="1400" b="0" i="1" smtClean="0">
                              <a:latin typeface="Cambria Math" panose="02040503050406030204" pitchFamily="18" charset="0"/>
                            </a:rPr>
                            <m:t>𝑡</m:t>
                          </m:r>
                        </m:sub>
                        <m:sup>
                          <m:r>
                            <a:rPr lang="en-US" sz="1400" b="0" i="1" smtClean="0">
                              <a:latin typeface="Cambria Math" panose="02040503050406030204" pitchFamily="18" charset="0"/>
                            </a:rPr>
                            <m:t>𝑒</m:t>
                          </m:r>
                        </m:sup>
                      </m:sSubSup>
                    </m:oMath>
                  </a14:m>
                  <a:endParaRPr lang="en-US" sz="1400" dirty="0"/>
                </a:p>
              </p:txBody>
            </p:sp>
          </mc:Choice>
          <mc:Fallback xmlns="">
            <p:sp>
              <p:nvSpPr>
                <p:cNvPr id="9" name="TextBox 8" descr="Environment state S sub t, to the power e">
                  <a:extLst>
                    <a:ext uri="{FF2B5EF4-FFF2-40B4-BE49-F238E27FC236}">
                      <a16:creationId xmlns:a16="http://schemas.microsoft.com/office/drawing/2014/main" id="{D56C4E86-E105-3A25-E51F-778ACA473DB1}"/>
                    </a:ext>
                  </a:extLst>
                </p:cNvPr>
                <p:cNvSpPr txBox="1">
                  <a:spLocks noRot="1" noChangeAspect="1" noMove="1" noResize="1" noEditPoints="1" noAdjustHandles="1" noChangeArrowheads="1" noChangeShapeType="1" noTextEdit="1"/>
                </p:cNvSpPr>
                <p:nvPr/>
              </p:nvSpPr>
              <p:spPr>
                <a:xfrm>
                  <a:off x="5731042" y="4900735"/>
                  <a:ext cx="1171931" cy="523220"/>
                </a:xfrm>
                <a:prstGeom prst="rect">
                  <a:avLst/>
                </a:prstGeom>
                <a:blipFill>
                  <a:blip r:embed="rId5"/>
                  <a:stretch>
                    <a:fillRect l="-1026" t="-1124" r="-2564" b="-78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descr="Agent state S sub t, to the power a">
                  <a:extLst>
                    <a:ext uri="{FF2B5EF4-FFF2-40B4-BE49-F238E27FC236}">
                      <a16:creationId xmlns:a16="http://schemas.microsoft.com/office/drawing/2014/main" id="{AF97BFEA-B75C-B97B-0610-CF24E60B2333}"/>
                    </a:ext>
                  </a:extLst>
                </p:cNvPr>
                <p:cNvSpPr txBox="1"/>
                <p:nvPr/>
              </p:nvSpPr>
              <p:spPr>
                <a:xfrm>
                  <a:off x="5988373" y="3044791"/>
                  <a:ext cx="845971" cy="52322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400" dirty="0"/>
                    <a:t>Agent state </a:t>
                  </a:r>
                  <a14:m>
                    <m:oMath xmlns:m="http://schemas.openxmlformats.org/officeDocument/2006/math">
                      <m:sSubSup>
                        <m:sSubSupPr>
                          <m:ctrlPr>
                            <a:rPr lang="en-US" sz="1400" b="0" i="1" smtClean="0">
                              <a:latin typeface="Cambria Math" panose="02040503050406030204" pitchFamily="18" charset="0"/>
                            </a:rPr>
                          </m:ctrlPr>
                        </m:sSubSupPr>
                        <m:e>
                          <m:r>
                            <a:rPr lang="en-US" sz="1400" b="0" i="1" smtClean="0">
                              <a:latin typeface="Cambria Math" panose="02040503050406030204" pitchFamily="18" charset="0"/>
                            </a:rPr>
                            <m:t>𝑆</m:t>
                          </m:r>
                        </m:e>
                        <m:sub>
                          <m:r>
                            <a:rPr lang="en-US" sz="1400" b="0" i="1" smtClean="0">
                              <a:latin typeface="Cambria Math" panose="02040503050406030204" pitchFamily="18" charset="0"/>
                            </a:rPr>
                            <m:t>𝑡</m:t>
                          </m:r>
                        </m:sub>
                        <m:sup>
                          <m:r>
                            <a:rPr lang="en-US" sz="1400" b="0" i="1" smtClean="0">
                              <a:latin typeface="Cambria Math" panose="02040503050406030204" pitchFamily="18" charset="0"/>
                            </a:rPr>
                            <m:t>𝑎</m:t>
                          </m:r>
                        </m:sup>
                      </m:sSubSup>
                    </m:oMath>
                  </a14:m>
                  <a:endParaRPr lang="en-US" sz="1400" dirty="0"/>
                </a:p>
              </p:txBody>
            </p:sp>
          </mc:Choice>
          <mc:Fallback xmlns="">
            <p:sp>
              <p:nvSpPr>
                <p:cNvPr id="11" name="TextBox 10" descr="Agent state S sub t, to the power a">
                  <a:extLst>
                    <a:ext uri="{FF2B5EF4-FFF2-40B4-BE49-F238E27FC236}">
                      <a16:creationId xmlns:a16="http://schemas.microsoft.com/office/drawing/2014/main" id="{AF97BFEA-B75C-B97B-0610-CF24E60B2333}"/>
                    </a:ext>
                  </a:extLst>
                </p:cNvPr>
                <p:cNvSpPr txBox="1">
                  <a:spLocks noRot="1" noChangeAspect="1" noMove="1" noResize="1" noEditPoints="1" noAdjustHandles="1" noChangeArrowheads="1" noChangeShapeType="1" noTextEdit="1"/>
                </p:cNvSpPr>
                <p:nvPr/>
              </p:nvSpPr>
              <p:spPr>
                <a:xfrm>
                  <a:off x="5988373" y="3044791"/>
                  <a:ext cx="845971" cy="523220"/>
                </a:xfrm>
                <a:prstGeom prst="rect">
                  <a:avLst/>
                </a:prstGeom>
                <a:blipFill>
                  <a:blip r:embed="rId6"/>
                  <a:stretch>
                    <a:fillRect l="-1408" b="-898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 name="Content Placeholder 2" descr="Environment state s sub t, to the power e : Contains all information to determine the next state and needed to make the optimal decision for the next action. Observation o sub t : Information the agent receives. Depends on the environment state via Pr (o sub t | s sub t) . Agent state s sub t, to the power a : Internal representation that the agent uses to choose actions. Typically, s sub t, to the power a, equals g(o sub 1,o sub 2, dot dot dot,o sub t minus 1)">
                <a:extLst>
                  <a:ext uri="{FF2B5EF4-FFF2-40B4-BE49-F238E27FC236}">
                    <a16:creationId xmlns:a16="http://schemas.microsoft.com/office/drawing/2014/main" id="{4615523D-58B4-18CD-389E-B1D4C9D9DDBC}"/>
                  </a:ext>
                </a:extLst>
              </p:cNvPr>
              <p:cNvSpPr>
                <a:spLocks noGrp="1"/>
              </p:cNvSpPr>
              <p:nvPr>
                <p:ph idx="1"/>
              </p:nvPr>
            </p:nvSpPr>
            <p:spPr>
              <a:xfrm>
                <a:off x="947930" y="4045625"/>
                <a:ext cx="8405932" cy="2160304"/>
              </a:xfrm>
            </p:spPr>
            <p:txBody>
              <a:bodyPr>
                <a:normAutofit fontScale="85000" lnSpcReduction="20000"/>
              </a:bodyPr>
              <a:lstStyle/>
              <a:p>
                <a:r>
                  <a:rPr lang="en-US" b="1" dirty="0"/>
                  <a:t>Environment state </a:t>
                </a:r>
                <a14:m>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𝒔</m:t>
                        </m:r>
                      </m:e>
                      <m:sub>
                        <m:r>
                          <a:rPr lang="en-US" b="1" i="1" smtClean="0">
                            <a:latin typeface="Cambria Math" panose="02040503050406030204" pitchFamily="18" charset="0"/>
                          </a:rPr>
                          <m:t>𝒕</m:t>
                        </m:r>
                      </m:sub>
                      <m:sup>
                        <m:r>
                          <a:rPr lang="en-US" b="1" i="1" smtClean="0">
                            <a:latin typeface="Cambria Math" panose="02040503050406030204" pitchFamily="18" charset="0"/>
                          </a:rPr>
                          <m:t>𝒆</m:t>
                        </m:r>
                      </m:sup>
                    </m:sSubSup>
                  </m:oMath>
                </a14:m>
                <a:r>
                  <a:rPr lang="en-US" dirty="0"/>
                  <a:t>: Contains all information to determine the next state and needed to make the optimal decision for the next action.</a:t>
                </a:r>
              </a:p>
              <a:p>
                <a:r>
                  <a:rPr lang="en-US" b="1" dirty="0"/>
                  <a:t>Observation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𝒐</m:t>
                        </m:r>
                      </m:e>
                      <m:sub>
                        <m:r>
                          <a:rPr lang="en-US" b="1" i="1" smtClean="0">
                            <a:latin typeface="Cambria Math" panose="02040503050406030204" pitchFamily="18" charset="0"/>
                          </a:rPr>
                          <m:t>𝒕</m:t>
                        </m:r>
                      </m:sub>
                    </m:sSub>
                  </m:oMath>
                </a14:m>
                <a:r>
                  <a:rPr lang="en-US" dirty="0"/>
                  <a:t>: Information the agent receives. Depends on the environment state via </a:t>
                </a:r>
                <a:r>
                  <a:rPr lang="en-US" dirty="0">
                    <a:latin typeface="Cambria Math" panose="02040503050406030204" pitchFamily="18" charset="0"/>
                  </a:rPr>
                  <a:t>Pr</a:t>
                </a:r>
                <a14:m>
                  <m:oMath xmlns:m="http://schemas.openxmlformats.org/officeDocument/2006/math">
                    <m:d>
                      <m:dPr>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𝑜</m:t>
                            </m:r>
                          </m:e>
                          <m:sub>
                            <m:r>
                              <a:rPr lang="en-US" i="1" dirty="0">
                                <a:latin typeface="Cambria Math" panose="02040503050406030204" pitchFamily="18" charset="0"/>
                              </a:rPr>
                              <m:t>𝑡</m:t>
                            </m:r>
                          </m:sub>
                        </m:sSub>
                      </m:e>
                    </m:d>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𝑡</m:t>
                        </m:r>
                      </m:sub>
                    </m:sSub>
                    <m:r>
                      <a:rPr lang="en-US" i="1" dirty="0">
                        <a:latin typeface="Cambria Math" panose="02040503050406030204" pitchFamily="18" charset="0"/>
                      </a:rPr>
                      <m:t>)</m:t>
                    </m:r>
                  </m:oMath>
                </a14:m>
                <a:r>
                  <a:rPr lang="en-US" dirty="0"/>
                  <a:t>. </a:t>
                </a:r>
              </a:p>
              <a:p>
                <a:r>
                  <a:rPr lang="en-US" b="1" dirty="0"/>
                  <a:t>Agent state </a:t>
                </a:r>
                <a14:m>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𝒔</m:t>
                        </m:r>
                      </m:e>
                      <m:sub>
                        <m:r>
                          <a:rPr lang="en-US" b="1" i="1" smtClean="0">
                            <a:latin typeface="Cambria Math" panose="02040503050406030204" pitchFamily="18" charset="0"/>
                          </a:rPr>
                          <m:t>𝒕</m:t>
                        </m:r>
                      </m:sub>
                      <m:sup>
                        <m:r>
                          <a:rPr lang="en-US" b="1" i="1" smtClean="0">
                            <a:latin typeface="Cambria Math" panose="02040503050406030204" pitchFamily="18" charset="0"/>
                          </a:rPr>
                          <m:t>𝒂</m:t>
                        </m:r>
                      </m:sup>
                    </m:sSubSup>
                  </m:oMath>
                </a14:m>
                <a:r>
                  <a:rPr lang="en-US" dirty="0"/>
                  <a:t>: Internal representation that the agent uses to choose actions. Typically,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𝑡</m:t>
                        </m:r>
                      </m:sub>
                      <m:sup>
                        <m:r>
                          <a:rPr lang="en-US" b="0" i="1" smtClean="0">
                            <a:latin typeface="Cambria Math" panose="02040503050406030204" pitchFamily="18" charset="0"/>
                          </a:rPr>
                          <m:t>𝑎</m:t>
                        </m:r>
                      </m:sup>
                    </m:sSubSup>
                    <m:r>
                      <a:rPr lang="en-US" b="0" i="1" smtClean="0">
                        <a:latin typeface="Cambria Math" panose="02040503050406030204" pitchFamily="18" charset="0"/>
                      </a:rPr>
                      <m:t>=</m:t>
                    </m:r>
                    <m:r>
                      <a:rPr lang="en-US" b="0" i="1" smtClean="0">
                        <a:latin typeface="Cambria Math" panose="02040503050406030204" pitchFamily="18" charset="0"/>
                      </a:rPr>
                      <m:t>𝑔</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oMath>
                </a14:m>
                <a:endParaRPr lang="en-US" dirty="0"/>
              </a:p>
            </p:txBody>
          </p:sp>
        </mc:Choice>
        <mc:Fallback xmlns="">
          <p:sp>
            <p:nvSpPr>
              <p:cNvPr id="3" name="Content Placeholder 2" descr="Environment state s sub t, to the power e : Contains all information to determine the next state and needed to make the optimal decision for the next action. Observation o sub t : Information the agent receives. Depends on the environment state via Pr (o sub t | s sub t) . Agent state s sub t, to the power a : Internal representation that the agent uses to choose actions. Typically, s sub t, to the power a, equals g(o sub 1,o sub 2, dot dot dot,o sub t minus 1)">
                <a:extLst>
                  <a:ext uri="{FF2B5EF4-FFF2-40B4-BE49-F238E27FC236}">
                    <a16:creationId xmlns:a16="http://schemas.microsoft.com/office/drawing/2014/main" id="{4615523D-58B4-18CD-389E-B1D4C9D9DDBC}"/>
                  </a:ext>
                </a:extLst>
              </p:cNvPr>
              <p:cNvSpPr>
                <a:spLocks noGrp="1" noRot="1" noChangeAspect="1" noMove="1" noResize="1" noEditPoints="1" noAdjustHandles="1" noChangeArrowheads="1" noChangeShapeType="1" noTextEdit="1"/>
              </p:cNvSpPr>
              <p:nvPr>
                <p:ph idx="1"/>
              </p:nvPr>
            </p:nvSpPr>
            <p:spPr>
              <a:xfrm>
                <a:off x="947930" y="4045625"/>
                <a:ext cx="8405932" cy="2160304"/>
              </a:xfrm>
              <a:blipFill>
                <a:blip r:embed="rId7"/>
                <a:stretch>
                  <a:fillRect l="-1016" t="-6215" r="-1669" b="-64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Speech Bubble: Rectangle with Corners Rounded 12" descr="We do not have access to s sub t, to the power e in real applications!">
                <a:extLst>
                  <a:ext uri="{FF2B5EF4-FFF2-40B4-BE49-F238E27FC236}">
                    <a16:creationId xmlns:a16="http://schemas.microsoft.com/office/drawing/2014/main" id="{B26DB133-8A09-94B9-5FC0-CBD8D7EFE256}"/>
                  </a:ext>
                </a:extLst>
              </p:cNvPr>
              <p:cNvSpPr/>
              <p:nvPr/>
            </p:nvSpPr>
            <p:spPr>
              <a:xfrm>
                <a:off x="9616190" y="3600798"/>
                <a:ext cx="2151088" cy="1086787"/>
              </a:xfrm>
              <a:prstGeom prst="wedgeRoundRectCallout">
                <a:avLst>
                  <a:gd name="adj1" fmla="val -68219"/>
                  <a:gd name="adj2" fmla="val 2481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We do not have access to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𝑡</m:t>
                        </m:r>
                      </m:sub>
                      <m:sup>
                        <m:r>
                          <a:rPr lang="en-US" b="0" i="1" smtClean="0">
                            <a:latin typeface="Cambria Math" panose="02040503050406030204" pitchFamily="18" charset="0"/>
                          </a:rPr>
                          <m:t>𝑒</m:t>
                        </m:r>
                      </m:sup>
                    </m:sSubSup>
                  </m:oMath>
                </a14:m>
                <a:r>
                  <a:rPr lang="en-US" dirty="0"/>
                  <a:t> in real applications!</a:t>
                </a:r>
              </a:p>
            </p:txBody>
          </p:sp>
        </mc:Choice>
        <mc:Fallback xmlns="">
          <p:sp>
            <p:nvSpPr>
              <p:cNvPr id="13" name="Speech Bubble: Rectangle with Corners Rounded 12" descr="We do not have access to s sub t, to the power e in real applications!">
                <a:extLst>
                  <a:ext uri="{FF2B5EF4-FFF2-40B4-BE49-F238E27FC236}">
                    <a16:creationId xmlns:a16="http://schemas.microsoft.com/office/drawing/2014/main" id="{B26DB133-8A09-94B9-5FC0-CBD8D7EFE256}"/>
                  </a:ext>
                </a:extLst>
              </p:cNvPr>
              <p:cNvSpPr>
                <a:spLocks noRot="1" noChangeAspect="1" noMove="1" noResize="1" noEditPoints="1" noAdjustHandles="1" noChangeArrowheads="1" noChangeShapeType="1" noTextEdit="1"/>
              </p:cNvSpPr>
              <p:nvPr/>
            </p:nvSpPr>
            <p:spPr>
              <a:xfrm>
                <a:off x="9616190" y="3600798"/>
                <a:ext cx="2151088" cy="1086787"/>
              </a:xfrm>
              <a:prstGeom prst="wedgeRoundRectCallout">
                <a:avLst>
                  <a:gd name="adj1" fmla="val -68219"/>
                  <a:gd name="adj2" fmla="val 24819"/>
                  <a:gd name="adj3" fmla="val 16667"/>
                </a:avLst>
              </a:prstGeom>
              <a:blipFill>
                <a:blip r:embed="rId8"/>
                <a:stretch>
                  <a:fillRect b="-5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Speech Bubble: Rectangle with Corners Rounded 13">
                <a:extLst>
                  <a:ext uri="{FF2B5EF4-FFF2-40B4-BE49-F238E27FC236}">
                    <a16:creationId xmlns:a16="http://schemas.microsoft.com/office/drawing/2014/main" id="{5E3A13D3-BB0B-4B66-75AE-530AE67C32A5}"/>
                  </a:ext>
                  <a:ext uri="{C183D7F6-B498-43B3-948B-1728B52AA6E4}">
                    <adec:decorative xmlns:adec="http://schemas.microsoft.com/office/drawing/2017/decorative" val="0"/>
                  </a:ext>
                </a:extLst>
              </p:cNvPr>
              <p:cNvSpPr/>
              <p:nvPr/>
            </p:nvSpPr>
            <p:spPr>
              <a:xfrm>
                <a:off x="9616190" y="5301554"/>
                <a:ext cx="2151088" cy="1086787"/>
              </a:xfrm>
              <a:prstGeom prst="wedgeRoundRectCallout">
                <a:avLst>
                  <a:gd name="adj1" fmla="val -64387"/>
                  <a:gd name="adj2" fmla="val 8266"/>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How should we build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𝑡</m:t>
                        </m:r>
                      </m:sub>
                      <m:sup>
                        <m:r>
                          <a:rPr lang="en-US" b="0" i="1" smtClean="0">
                            <a:latin typeface="Cambria Math" panose="02040503050406030204" pitchFamily="18" charset="0"/>
                          </a:rPr>
                          <m:t>𝑎</m:t>
                        </m:r>
                      </m:sup>
                    </m:sSubSup>
                  </m:oMath>
                </a14:m>
                <a:r>
                  <a:rPr lang="en-US" dirty="0"/>
                  <a:t>so it helps with choosing the next action?</a:t>
                </a:r>
              </a:p>
            </p:txBody>
          </p:sp>
        </mc:Choice>
        <mc:Fallback>
          <p:sp>
            <p:nvSpPr>
              <p:cNvPr id="14" name="Speech Bubble: Rectangle with Corners Rounded 13">
                <a:extLst>
                  <a:ext uri="{FF2B5EF4-FFF2-40B4-BE49-F238E27FC236}">
                    <a16:creationId xmlns:a16="http://schemas.microsoft.com/office/drawing/2014/main" id="{5E3A13D3-BB0B-4B66-75AE-530AE67C32A5}"/>
                  </a:ext>
                  <a:ext uri="{C183D7F6-B498-43B3-948B-1728B52AA6E4}">
                    <adec:decorative xmlns:adec="http://schemas.microsoft.com/office/drawing/2017/decorative" val="0"/>
                  </a:ext>
                </a:extLst>
              </p:cNvPr>
              <p:cNvSpPr>
                <a:spLocks noRot="1" noChangeAspect="1" noMove="1" noResize="1" noEditPoints="1" noAdjustHandles="1" noChangeArrowheads="1" noChangeShapeType="1" noTextEdit="1"/>
              </p:cNvSpPr>
              <p:nvPr/>
            </p:nvSpPr>
            <p:spPr>
              <a:xfrm>
                <a:off x="9616190" y="5301554"/>
                <a:ext cx="2151088" cy="1086787"/>
              </a:xfrm>
              <a:prstGeom prst="wedgeRoundRectCallout">
                <a:avLst>
                  <a:gd name="adj1" fmla="val -64387"/>
                  <a:gd name="adj2" fmla="val 8266"/>
                  <a:gd name="adj3" fmla="val 16667"/>
                </a:avLst>
              </a:prstGeom>
              <a:blipFill>
                <a:blip r:embed="rId9"/>
                <a:stretch>
                  <a:fillRect t="-6818" b="-1136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CE7AC2CA-A8FE-9103-1FD2-65A5CC228B8D}"/>
                  </a:ext>
                  <a:ext uri="{C183D7F6-B498-43B3-948B-1728B52AA6E4}">
                    <adec:decorative xmlns:adec="http://schemas.microsoft.com/office/drawing/2017/decorative" val="1"/>
                  </a:ext>
                </a:extLst>
              </p:cNvPr>
              <p:cNvSpPr txBox="1"/>
              <p:nvPr/>
            </p:nvSpPr>
            <p:spPr>
              <a:xfrm>
                <a:off x="8500981" y="1723698"/>
                <a:ext cx="788858" cy="52322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a:spAutoFit/>
              </a:bodyPr>
              <a:lstStyle/>
              <a:p>
                <a:r>
                  <a:rPr lang="en-US" sz="1400" dirty="0"/>
                  <a:t>Policy </a:t>
                </a:r>
                <a14:m>
                  <m:oMath xmlns:m="http://schemas.openxmlformats.org/officeDocument/2006/math">
                    <m:r>
                      <a:rPr lang="en-US" sz="1400" b="0" i="1" smtClean="0">
                        <a:latin typeface="Cambria Math" panose="02040503050406030204" pitchFamily="18" charset="0"/>
                      </a:rPr>
                      <m:t>𝜋</m:t>
                    </m:r>
                    <m:r>
                      <a:rPr lang="en-US" sz="1400" b="0" i="1" smtClean="0">
                        <a:latin typeface="Cambria Math" panose="02040503050406030204" pitchFamily="18" charset="0"/>
                      </a:rPr>
                      <m:t>(</m:t>
                    </m:r>
                    <m:r>
                      <a:rPr lang="en-US" sz="1400" b="0" i="1" smtClean="0">
                        <a:latin typeface="Cambria Math" panose="02040503050406030204" pitchFamily="18" charset="0"/>
                      </a:rPr>
                      <m:t>𝑎</m:t>
                    </m:r>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𝑠</m:t>
                        </m:r>
                      </m:e>
                      <m:sup>
                        <m:r>
                          <a:rPr lang="en-US" sz="1400" b="0" i="1" smtClean="0">
                            <a:latin typeface="Cambria Math" panose="02040503050406030204" pitchFamily="18" charset="0"/>
                          </a:rPr>
                          <m:t>𝑎</m:t>
                        </m:r>
                      </m:sup>
                    </m:sSup>
                    <m:r>
                      <a:rPr lang="en-US" sz="1400" b="0" i="1" smtClean="0">
                        <a:latin typeface="Cambria Math" panose="02040503050406030204" pitchFamily="18" charset="0"/>
                      </a:rPr>
                      <m:t>)</m:t>
                    </m:r>
                  </m:oMath>
                </a14:m>
                <a:endParaRPr lang="en-US" sz="1400" dirty="0"/>
              </a:p>
            </p:txBody>
          </p:sp>
        </mc:Choice>
        <mc:Fallback>
          <p:sp>
            <p:nvSpPr>
              <p:cNvPr id="16" name="TextBox 15">
                <a:extLst>
                  <a:ext uri="{FF2B5EF4-FFF2-40B4-BE49-F238E27FC236}">
                    <a16:creationId xmlns:a16="http://schemas.microsoft.com/office/drawing/2014/main" id="{CE7AC2CA-A8FE-9103-1FD2-65A5CC228B8D}"/>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8500981" y="1723698"/>
                <a:ext cx="788858" cy="523220"/>
              </a:xfrm>
              <a:prstGeom prst="rect">
                <a:avLst/>
              </a:prstGeom>
              <a:blipFill>
                <a:blip r:embed="rId10"/>
                <a:stretch>
                  <a:fillRect l="-3125" t="-2273" b="-2273"/>
                </a:stretch>
              </a:blipFill>
            </p:spPr>
            <p:txBody>
              <a:bodyPr/>
              <a:lstStyle/>
              <a:p>
                <a:r>
                  <a:rPr lang="en-US">
                    <a:noFill/>
                  </a:rPr>
                  <a:t> </a:t>
                </a:r>
              </a:p>
            </p:txBody>
          </p:sp>
        </mc:Fallback>
      </mc:AlternateContent>
    </p:spTree>
    <p:extLst>
      <p:ext uri="{BB962C8B-B14F-4D97-AF65-F5344CB8AC3E}">
        <p14:creationId xmlns:p14="http://schemas.microsoft.com/office/powerpoint/2010/main" val="1562531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37B25-840D-E9A3-65EC-223C9A072A06}"/>
              </a:ext>
            </a:extLst>
          </p:cNvPr>
          <p:cNvSpPr>
            <a:spLocks noGrp="1"/>
          </p:cNvSpPr>
          <p:nvPr>
            <p:ph type="title"/>
          </p:nvPr>
        </p:nvSpPr>
        <p:spPr/>
        <p:txBody>
          <a:bodyPr/>
          <a:lstStyle/>
          <a:p>
            <a:r>
              <a:rPr lang="en-US" dirty="0"/>
              <a:t>Simple Heuristic: Observation as State</a:t>
            </a:r>
          </a:p>
        </p:txBody>
      </p:sp>
      <p:grpSp>
        <p:nvGrpSpPr>
          <p:cNvPr id="45" name="Group 44" descr="POMDP unrolled over time: hidden states s0, s1, s2 on a gray band emit observations o0, o1, o2; each action a_t is chosen from the current observation, and leads to the next hidden state and a reward. Faded arcs from earlier observations show the information that this heuristic ignores.">
            <a:extLst>
              <a:ext uri="{FF2B5EF4-FFF2-40B4-BE49-F238E27FC236}">
                <a16:creationId xmlns:a16="http://schemas.microsoft.com/office/drawing/2014/main" id="{9F5947E6-4E47-6F68-0C0A-0ED3A08B950B}"/>
              </a:ext>
            </a:extLst>
          </p:cNvPr>
          <p:cNvGrpSpPr/>
          <p:nvPr/>
        </p:nvGrpSpPr>
        <p:grpSpPr>
          <a:xfrm>
            <a:off x="3204945" y="1382662"/>
            <a:ext cx="4759686" cy="2046338"/>
            <a:chOff x="3716157" y="4137286"/>
            <a:chExt cx="4759686" cy="2046338"/>
          </a:xfrm>
        </p:grpSpPr>
        <mc:AlternateContent xmlns:mc="http://schemas.openxmlformats.org/markup-compatibility/2006" xmlns:a14="http://schemas.microsoft.com/office/drawing/2010/main">
          <mc:Choice Requires="a14">
            <p:sp>
              <p:nvSpPr>
                <p:cNvPr id="46" name="Oval 45" descr="Equation: s sub 0">
                  <a:extLst>
                    <a:ext uri="{FF2B5EF4-FFF2-40B4-BE49-F238E27FC236}">
                      <a16:creationId xmlns:a16="http://schemas.microsoft.com/office/drawing/2014/main" id="{A73BC257-2136-AAD7-5BBC-40FA9B9C961F}"/>
                    </a:ext>
                  </a:extLst>
                </p:cNvPr>
                <p:cNvSpPr/>
                <p:nvPr/>
              </p:nvSpPr>
              <p:spPr>
                <a:xfrm>
                  <a:off x="3968390" y="5178338"/>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m:oMathPara>
                  </a14:m>
                  <a:endParaRPr lang="en-US" dirty="0"/>
                </a:p>
              </p:txBody>
            </p:sp>
          </mc:Choice>
          <mc:Fallback xmlns="">
            <p:sp>
              <p:nvSpPr>
                <p:cNvPr id="46" name="Oval 45" descr="Equation: s sub 0">
                  <a:extLst>
                    <a:ext uri="{FF2B5EF4-FFF2-40B4-BE49-F238E27FC236}">
                      <a16:creationId xmlns:a16="http://schemas.microsoft.com/office/drawing/2014/main" id="{A73BC257-2136-AAD7-5BBC-40FA9B9C961F}"/>
                    </a:ext>
                  </a:extLst>
                </p:cNvPr>
                <p:cNvSpPr>
                  <a:spLocks noRot="1" noChangeAspect="1" noMove="1" noResize="1" noEditPoints="1" noAdjustHandles="1" noChangeArrowheads="1" noChangeShapeType="1" noTextEdit="1"/>
                </p:cNvSpPr>
                <p:nvPr/>
              </p:nvSpPr>
              <p:spPr>
                <a:xfrm>
                  <a:off x="3968390" y="5178338"/>
                  <a:ext cx="381000" cy="381000"/>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Flowchart: Decision 46" descr="Equation: a sub o">
                  <a:extLst>
                    <a:ext uri="{FF2B5EF4-FFF2-40B4-BE49-F238E27FC236}">
                      <a16:creationId xmlns:a16="http://schemas.microsoft.com/office/drawing/2014/main" id="{E24C5A00-5F90-F376-5AD8-8002A84343E3}"/>
                    </a:ext>
                  </a:extLst>
                </p:cNvPr>
                <p:cNvSpPr/>
                <p:nvPr/>
              </p:nvSpPr>
              <p:spPr>
                <a:xfrm>
                  <a:off x="4511791" y="4603823"/>
                  <a:ext cx="635194" cy="414210"/>
                </a:xfrm>
                <a:prstGeom prst="flowChartDecision">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𝑜</m:t>
                            </m:r>
                          </m:sub>
                        </m:sSub>
                      </m:oMath>
                    </m:oMathPara>
                  </a14:m>
                  <a:endParaRPr lang="en-US" dirty="0"/>
                </a:p>
              </p:txBody>
            </p:sp>
          </mc:Choice>
          <mc:Fallback xmlns="">
            <p:sp>
              <p:nvSpPr>
                <p:cNvPr id="47" name="Flowchart: Decision 46" descr="Equation: a sub o">
                  <a:extLst>
                    <a:ext uri="{FF2B5EF4-FFF2-40B4-BE49-F238E27FC236}">
                      <a16:creationId xmlns:a16="http://schemas.microsoft.com/office/drawing/2014/main" id="{E24C5A00-5F90-F376-5AD8-8002A84343E3}"/>
                    </a:ext>
                  </a:extLst>
                </p:cNvPr>
                <p:cNvSpPr>
                  <a:spLocks noRot="1" noChangeAspect="1" noMove="1" noResize="1" noEditPoints="1" noAdjustHandles="1" noChangeArrowheads="1" noChangeShapeType="1" noTextEdit="1"/>
                </p:cNvSpPr>
                <p:nvPr/>
              </p:nvSpPr>
              <p:spPr>
                <a:xfrm>
                  <a:off x="4511791" y="4603823"/>
                  <a:ext cx="635194" cy="414210"/>
                </a:xfrm>
                <a:prstGeom prst="flowChartDecision">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ectangle 47" descr="Equation: r sub 1">
                  <a:extLst>
                    <a:ext uri="{FF2B5EF4-FFF2-40B4-BE49-F238E27FC236}">
                      <a16:creationId xmlns:a16="http://schemas.microsoft.com/office/drawing/2014/main" id="{939AE17B-3371-802D-C15B-BACABEF01A55}"/>
                    </a:ext>
                  </a:extLst>
                </p:cNvPr>
                <p:cNvSpPr/>
                <p:nvPr/>
              </p:nvSpPr>
              <p:spPr>
                <a:xfrm>
                  <a:off x="5251510" y="5749838"/>
                  <a:ext cx="404849" cy="294652"/>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oMath>
                    </m:oMathPara>
                  </a14:m>
                  <a:endParaRPr lang="en-US" dirty="0"/>
                </a:p>
              </p:txBody>
            </p:sp>
          </mc:Choice>
          <mc:Fallback xmlns="">
            <p:sp>
              <p:nvSpPr>
                <p:cNvPr id="48" name="Rectangle 47" descr="Equation: r sub 1">
                  <a:extLst>
                    <a:ext uri="{FF2B5EF4-FFF2-40B4-BE49-F238E27FC236}">
                      <a16:creationId xmlns:a16="http://schemas.microsoft.com/office/drawing/2014/main" id="{939AE17B-3371-802D-C15B-BACABEF01A55}"/>
                    </a:ext>
                  </a:extLst>
                </p:cNvPr>
                <p:cNvSpPr>
                  <a:spLocks noRot="1" noChangeAspect="1" noMove="1" noResize="1" noEditPoints="1" noAdjustHandles="1" noChangeArrowheads="1" noChangeShapeType="1" noTextEdit="1"/>
                </p:cNvSpPr>
                <p:nvPr/>
              </p:nvSpPr>
              <p:spPr>
                <a:xfrm>
                  <a:off x="5251510" y="5749838"/>
                  <a:ext cx="404849" cy="294652"/>
                </a:xfrm>
                <a:prstGeom prst="rect">
                  <a:avLst/>
                </a:prstGeom>
                <a:blipFill>
                  <a:blip r:embed="rId5"/>
                  <a:stretch>
                    <a:fillRect b="-5660"/>
                  </a:stretch>
                </a:blipFill>
              </p:spPr>
              <p:txBody>
                <a:bodyPr/>
                <a:lstStyle/>
                <a:p>
                  <a:r>
                    <a:rPr lang="en-US">
                      <a:noFill/>
                    </a:rPr>
                    <a:t> </a:t>
                  </a:r>
                </a:p>
              </p:txBody>
            </p:sp>
          </mc:Fallback>
        </mc:AlternateContent>
        <p:cxnSp>
          <p:nvCxnSpPr>
            <p:cNvPr id="49" name="Straight Arrow Connector 48">
              <a:extLst>
                <a:ext uri="{FF2B5EF4-FFF2-40B4-BE49-F238E27FC236}">
                  <a16:creationId xmlns:a16="http://schemas.microsoft.com/office/drawing/2014/main" id="{71DC45FC-C89E-FAAE-3EEE-0D5EDBF4F566}"/>
                </a:ext>
                <a:ext uri="{C183D7F6-B498-43B3-948B-1728B52AA6E4}">
                  <adec:decorative xmlns:adec="http://schemas.microsoft.com/office/drawing/2017/decorative" val="1"/>
                </a:ext>
              </a:extLst>
            </p:cNvPr>
            <p:cNvCxnSpPr>
              <a:cxnSpLocks/>
              <a:stCxn id="74" idx="6"/>
              <a:endCxn id="47" idx="1"/>
            </p:cNvCxnSpPr>
            <p:nvPr/>
          </p:nvCxnSpPr>
          <p:spPr>
            <a:xfrm flipV="1">
              <a:off x="4349390" y="4810928"/>
              <a:ext cx="162401" cy="2682"/>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37506D42-E779-18CD-1C87-ECDC5A4DCFAD}"/>
                </a:ext>
                <a:ext uri="{C183D7F6-B498-43B3-948B-1728B52AA6E4}">
                  <adec:decorative xmlns:adec="http://schemas.microsoft.com/office/drawing/2017/decorative" val="1"/>
                </a:ext>
              </a:extLst>
            </p:cNvPr>
            <p:cNvCxnSpPr>
              <a:cxnSpLocks/>
              <a:stCxn id="46" idx="5"/>
              <a:endCxn id="48" idx="1"/>
            </p:cNvCxnSpPr>
            <p:nvPr/>
          </p:nvCxnSpPr>
          <p:spPr>
            <a:xfrm>
              <a:off x="4293594" y="5503542"/>
              <a:ext cx="957916" cy="39362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F74C447C-4B8A-9140-3648-D031A68A6F49}"/>
                </a:ext>
                <a:ext uri="{C183D7F6-B498-43B3-948B-1728B52AA6E4}">
                  <adec:decorative xmlns:adec="http://schemas.microsoft.com/office/drawing/2017/decorative" val="1"/>
                </a:ext>
              </a:extLst>
            </p:cNvPr>
            <p:cNvCxnSpPr>
              <a:cxnSpLocks/>
              <a:stCxn id="47" idx="2"/>
              <a:endCxn id="48" idx="0"/>
            </p:cNvCxnSpPr>
            <p:nvPr/>
          </p:nvCxnSpPr>
          <p:spPr>
            <a:xfrm>
              <a:off x="4829388" y="5018033"/>
              <a:ext cx="624547" cy="731805"/>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741E4F0D-8889-B70D-5A78-39D99E8278C3}"/>
                </a:ext>
                <a:ext uri="{C183D7F6-B498-43B3-948B-1728B52AA6E4}">
                  <adec:decorative xmlns:adec="http://schemas.microsoft.com/office/drawing/2017/decorative" val="1"/>
                </a:ext>
              </a:extLst>
            </p:cNvPr>
            <p:cNvCxnSpPr>
              <a:cxnSpLocks/>
              <a:stCxn id="46" idx="6"/>
            </p:cNvCxnSpPr>
            <p:nvPr/>
          </p:nvCxnSpPr>
          <p:spPr>
            <a:xfrm>
              <a:off x="4349390" y="5368838"/>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F1F118E8-67CF-B1F5-A33D-6029CBF5590F}"/>
                </a:ext>
                <a:ext uri="{C183D7F6-B498-43B3-948B-1728B52AA6E4}">
                  <adec:decorative xmlns:adec="http://schemas.microsoft.com/office/drawing/2017/decorative" val="1"/>
                </a:ext>
              </a:extLst>
            </p:cNvPr>
            <p:cNvCxnSpPr>
              <a:cxnSpLocks/>
              <a:stCxn id="47" idx="3"/>
              <a:endCxn id="54" idx="1"/>
            </p:cNvCxnSpPr>
            <p:nvPr/>
          </p:nvCxnSpPr>
          <p:spPr>
            <a:xfrm>
              <a:off x="5146985" y="4810928"/>
              <a:ext cx="166005" cy="4232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4" name="Oval 53" descr="Equation: s sub 1">
                  <a:extLst>
                    <a:ext uri="{FF2B5EF4-FFF2-40B4-BE49-F238E27FC236}">
                      <a16:creationId xmlns:a16="http://schemas.microsoft.com/office/drawing/2014/main" id="{E1968FBE-6C95-13E4-D7C2-F647ED88B019}"/>
                    </a:ext>
                  </a:extLst>
                </p:cNvPr>
                <p:cNvSpPr/>
                <p:nvPr/>
              </p:nvSpPr>
              <p:spPr>
                <a:xfrm>
                  <a:off x="5257194" y="5178338"/>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oMath>
                    </m:oMathPara>
                  </a14:m>
                  <a:endParaRPr lang="en-US" dirty="0"/>
                </a:p>
              </p:txBody>
            </p:sp>
          </mc:Choice>
          <mc:Fallback xmlns="">
            <p:sp>
              <p:nvSpPr>
                <p:cNvPr id="54" name="Oval 53" descr="Equation: s sub 1">
                  <a:extLst>
                    <a:ext uri="{FF2B5EF4-FFF2-40B4-BE49-F238E27FC236}">
                      <a16:creationId xmlns:a16="http://schemas.microsoft.com/office/drawing/2014/main" id="{E1968FBE-6C95-13E4-D7C2-F647ED88B019}"/>
                    </a:ext>
                  </a:extLst>
                </p:cNvPr>
                <p:cNvSpPr>
                  <a:spLocks noRot="1" noChangeAspect="1" noMove="1" noResize="1" noEditPoints="1" noAdjustHandles="1" noChangeArrowheads="1" noChangeShapeType="1" noTextEdit="1"/>
                </p:cNvSpPr>
                <p:nvPr/>
              </p:nvSpPr>
              <p:spPr>
                <a:xfrm>
                  <a:off x="5257194" y="5178338"/>
                  <a:ext cx="381000" cy="381000"/>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Flowchart: Decision 54" descr="Equation: a sub 1">
                  <a:extLst>
                    <a:ext uri="{FF2B5EF4-FFF2-40B4-BE49-F238E27FC236}">
                      <a16:creationId xmlns:a16="http://schemas.microsoft.com/office/drawing/2014/main" id="{1774F489-8D29-9EEE-B21C-5E4B6F2EEA0E}"/>
                    </a:ext>
                  </a:extLst>
                </p:cNvPr>
                <p:cNvSpPr/>
                <p:nvPr/>
              </p:nvSpPr>
              <p:spPr>
                <a:xfrm>
                  <a:off x="5829643" y="4588855"/>
                  <a:ext cx="635194" cy="414210"/>
                </a:xfrm>
                <a:prstGeom prst="flowChartDecision">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p:txBody>
            </p:sp>
          </mc:Choice>
          <mc:Fallback xmlns="">
            <p:sp>
              <p:nvSpPr>
                <p:cNvPr id="55" name="Flowchart: Decision 54" descr="Equation: a sub 1">
                  <a:extLst>
                    <a:ext uri="{FF2B5EF4-FFF2-40B4-BE49-F238E27FC236}">
                      <a16:creationId xmlns:a16="http://schemas.microsoft.com/office/drawing/2014/main" id="{1774F489-8D29-9EEE-B21C-5E4B6F2EEA0E}"/>
                    </a:ext>
                  </a:extLst>
                </p:cNvPr>
                <p:cNvSpPr>
                  <a:spLocks noRot="1" noChangeAspect="1" noMove="1" noResize="1" noEditPoints="1" noAdjustHandles="1" noChangeArrowheads="1" noChangeShapeType="1" noTextEdit="1"/>
                </p:cNvSpPr>
                <p:nvPr/>
              </p:nvSpPr>
              <p:spPr>
                <a:xfrm>
                  <a:off x="5829643" y="4588855"/>
                  <a:ext cx="635194" cy="414210"/>
                </a:xfrm>
                <a:prstGeom prst="flowChartDecision">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Rectangle 55" descr="Equation: r sub 2">
                  <a:extLst>
                    <a:ext uri="{FF2B5EF4-FFF2-40B4-BE49-F238E27FC236}">
                      <a16:creationId xmlns:a16="http://schemas.microsoft.com/office/drawing/2014/main" id="{34B8D508-8317-9AC0-5FBC-E923FE084075}"/>
                    </a:ext>
                  </a:extLst>
                </p:cNvPr>
                <p:cNvSpPr/>
                <p:nvPr/>
              </p:nvSpPr>
              <p:spPr>
                <a:xfrm>
                  <a:off x="6560718" y="5749838"/>
                  <a:ext cx="404849" cy="294652"/>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oMath>
                    </m:oMathPara>
                  </a14:m>
                  <a:endParaRPr lang="en-US" dirty="0"/>
                </a:p>
              </p:txBody>
            </p:sp>
          </mc:Choice>
          <mc:Fallback xmlns="">
            <p:sp>
              <p:nvSpPr>
                <p:cNvPr id="56" name="Rectangle 55" descr="Equation: r sub 2">
                  <a:extLst>
                    <a:ext uri="{FF2B5EF4-FFF2-40B4-BE49-F238E27FC236}">
                      <a16:creationId xmlns:a16="http://schemas.microsoft.com/office/drawing/2014/main" id="{34B8D508-8317-9AC0-5FBC-E923FE084075}"/>
                    </a:ext>
                  </a:extLst>
                </p:cNvPr>
                <p:cNvSpPr>
                  <a:spLocks noRot="1" noChangeAspect="1" noMove="1" noResize="1" noEditPoints="1" noAdjustHandles="1" noChangeArrowheads="1" noChangeShapeType="1" noTextEdit="1"/>
                </p:cNvSpPr>
                <p:nvPr/>
              </p:nvSpPr>
              <p:spPr>
                <a:xfrm>
                  <a:off x="6560718" y="5749838"/>
                  <a:ext cx="404849" cy="294652"/>
                </a:xfrm>
                <a:prstGeom prst="rect">
                  <a:avLst/>
                </a:prstGeom>
                <a:blipFill>
                  <a:blip r:embed="rId8"/>
                  <a:stretch>
                    <a:fillRect b="-5660"/>
                  </a:stretch>
                </a:blipFill>
              </p:spPr>
              <p:txBody>
                <a:bodyPr/>
                <a:lstStyle/>
                <a:p>
                  <a:r>
                    <a:rPr lang="en-US">
                      <a:noFill/>
                    </a:rPr>
                    <a:t> </a:t>
                  </a:r>
                </a:p>
              </p:txBody>
            </p:sp>
          </mc:Fallback>
        </mc:AlternateContent>
        <p:cxnSp>
          <p:nvCxnSpPr>
            <p:cNvPr id="57" name="Straight Arrow Connector 56">
              <a:extLst>
                <a:ext uri="{FF2B5EF4-FFF2-40B4-BE49-F238E27FC236}">
                  <a16:creationId xmlns:a16="http://schemas.microsoft.com/office/drawing/2014/main" id="{F2261EC5-0153-1AA9-91A0-1877FBA1B49F}"/>
                </a:ext>
                <a:ext uri="{C183D7F6-B498-43B3-948B-1728B52AA6E4}">
                  <adec:decorative xmlns:adec="http://schemas.microsoft.com/office/drawing/2017/decorative" val="1"/>
                </a:ext>
              </a:extLst>
            </p:cNvPr>
            <p:cNvCxnSpPr>
              <a:cxnSpLocks/>
              <a:stCxn id="73" idx="6"/>
              <a:endCxn id="55" idx="1"/>
            </p:cNvCxnSpPr>
            <p:nvPr/>
          </p:nvCxnSpPr>
          <p:spPr>
            <a:xfrm flipV="1">
              <a:off x="5638194" y="4795960"/>
              <a:ext cx="191449" cy="6964"/>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3C17D0EA-0DBE-620E-9E05-2919253BE99B}"/>
                </a:ext>
                <a:ext uri="{C183D7F6-B498-43B3-948B-1728B52AA6E4}">
                  <adec:decorative xmlns:adec="http://schemas.microsoft.com/office/drawing/2017/decorative" val="1"/>
                </a:ext>
              </a:extLst>
            </p:cNvPr>
            <p:cNvCxnSpPr>
              <a:cxnSpLocks/>
              <a:stCxn id="54" idx="5"/>
              <a:endCxn id="56" idx="1"/>
            </p:cNvCxnSpPr>
            <p:nvPr/>
          </p:nvCxnSpPr>
          <p:spPr>
            <a:xfrm>
              <a:off x="5582398" y="5503542"/>
              <a:ext cx="978320" cy="39362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A942D8D9-2A5B-955E-63EF-57E0897BFE8A}"/>
                </a:ext>
                <a:ext uri="{C183D7F6-B498-43B3-948B-1728B52AA6E4}">
                  <adec:decorative xmlns:adec="http://schemas.microsoft.com/office/drawing/2017/decorative" val="1"/>
                </a:ext>
              </a:extLst>
            </p:cNvPr>
            <p:cNvCxnSpPr>
              <a:cxnSpLocks/>
              <a:stCxn id="55" idx="2"/>
              <a:endCxn id="56" idx="0"/>
            </p:cNvCxnSpPr>
            <p:nvPr/>
          </p:nvCxnSpPr>
          <p:spPr>
            <a:xfrm>
              <a:off x="6147240" y="5003065"/>
              <a:ext cx="615903" cy="746773"/>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F3BF23F7-E920-0941-E6C1-E961001B2D3F}"/>
                </a:ext>
                <a:ext uri="{C183D7F6-B498-43B3-948B-1728B52AA6E4}">
                  <adec:decorative xmlns:adec="http://schemas.microsoft.com/office/drawing/2017/decorative" val="1"/>
                </a:ext>
              </a:extLst>
            </p:cNvPr>
            <p:cNvCxnSpPr>
              <a:cxnSpLocks/>
              <a:stCxn id="54" idx="6"/>
            </p:cNvCxnSpPr>
            <p:nvPr/>
          </p:nvCxnSpPr>
          <p:spPr>
            <a:xfrm>
              <a:off x="5638194" y="5368838"/>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F8C10549-49DF-F750-092B-CC835DA38E21}"/>
                </a:ext>
                <a:ext uri="{C183D7F6-B498-43B3-948B-1728B52AA6E4}">
                  <adec:decorative xmlns:adec="http://schemas.microsoft.com/office/drawing/2017/decorative" val="1"/>
                </a:ext>
              </a:extLst>
            </p:cNvPr>
            <p:cNvCxnSpPr>
              <a:cxnSpLocks/>
              <a:stCxn id="55" idx="3"/>
            </p:cNvCxnSpPr>
            <p:nvPr/>
          </p:nvCxnSpPr>
          <p:spPr>
            <a:xfrm>
              <a:off x="6464837" y="4795960"/>
              <a:ext cx="188155" cy="3809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2" name="Oval 61" descr="Equation: s sub 2">
                  <a:extLst>
                    <a:ext uri="{FF2B5EF4-FFF2-40B4-BE49-F238E27FC236}">
                      <a16:creationId xmlns:a16="http://schemas.microsoft.com/office/drawing/2014/main" id="{88BCA95D-BF2A-B030-3075-5ED5C7FCB1A8}"/>
                    </a:ext>
                  </a:extLst>
                </p:cNvPr>
                <p:cNvSpPr/>
                <p:nvPr/>
              </p:nvSpPr>
              <p:spPr>
                <a:xfrm>
                  <a:off x="6546038" y="5178338"/>
                  <a:ext cx="381000" cy="381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oMath>
                    </m:oMathPara>
                  </a14:m>
                  <a:endParaRPr lang="en-US" dirty="0"/>
                </a:p>
              </p:txBody>
            </p:sp>
          </mc:Choice>
          <mc:Fallback xmlns="">
            <p:sp>
              <p:nvSpPr>
                <p:cNvPr id="62" name="Oval 61" descr="Equation: s sub 2">
                  <a:extLst>
                    <a:ext uri="{FF2B5EF4-FFF2-40B4-BE49-F238E27FC236}">
                      <a16:creationId xmlns:a16="http://schemas.microsoft.com/office/drawing/2014/main" id="{88BCA95D-BF2A-B030-3075-5ED5C7FCB1A8}"/>
                    </a:ext>
                  </a:extLst>
                </p:cNvPr>
                <p:cNvSpPr>
                  <a:spLocks noRot="1" noChangeAspect="1" noMove="1" noResize="1" noEditPoints="1" noAdjustHandles="1" noChangeArrowheads="1" noChangeShapeType="1" noTextEdit="1"/>
                </p:cNvSpPr>
                <p:nvPr/>
              </p:nvSpPr>
              <p:spPr>
                <a:xfrm>
                  <a:off x="6546038" y="5178338"/>
                  <a:ext cx="381000" cy="381000"/>
                </a:xfrm>
                <a:prstGeom prst="ellipse">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Flowchart: Decision 62" descr="Equation: a sub 2">
                  <a:extLst>
                    <a:ext uri="{FF2B5EF4-FFF2-40B4-BE49-F238E27FC236}">
                      <a16:creationId xmlns:a16="http://schemas.microsoft.com/office/drawing/2014/main" id="{E2F4EC81-986B-4D43-1DC3-F6FFCE112011}"/>
                    </a:ext>
                  </a:extLst>
                </p:cNvPr>
                <p:cNvSpPr/>
                <p:nvPr/>
              </p:nvSpPr>
              <p:spPr>
                <a:xfrm>
                  <a:off x="7064303" y="4595819"/>
                  <a:ext cx="635194" cy="414210"/>
                </a:xfrm>
                <a:prstGeom prst="flowChartDecision">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US" dirty="0"/>
                </a:p>
              </p:txBody>
            </p:sp>
          </mc:Choice>
          <mc:Fallback xmlns="">
            <p:sp>
              <p:nvSpPr>
                <p:cNvPr id="63" name="Flowchart: Decision 62" descr="Equation: a sub 2">
                  <a:extLst>
                    <a:ext uri="{FF2B5EF4-FFF2-40B4-BE49-F238E27FC236}">
                      <a16:creationId xmlns:a16="http://schemas.microsoft.com/office/drawing/2014/main" id="{E2F4EC81-986B-4D43-1DC3-F6FFCE112011}"/>
                    </a:ext>
                  </a:extLst>
                </p:cNvPr>
                <p:cNvSpPr>
                  <a:spLocks noRot="1" noChangeAspect="1" noMove="1" noResize="1" noEditPoints="1" noAdjustHandles="1" noChangeArrowheads="1" noChangeShapeType="1" noTextEdit="1"/>
                </p:cNvSpPr>
                <p:nvPr/>
              </p:nvSpPr>
              <p:spPr>
                <a:xfrm>
                  <a:off x="7064303" y="4595819"/>
                  <a:ext cx="635194" cy="414210"/>
                </a:xfrm>
                <a:prstGeom prst="flowChartDecision">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Rectangle 63" descr="Equation: r sub 3">
                  <a:extLst>
                    <a:ext uri="{FF2B5EF4-FFF2-40B4-BE49-F238E27FC236}">
                      <a16:creationId xmlns:a16="http://schemas.microsoft.com/office/drawing/2014/main" id="{A509479C-E500-0744-C6CC-A3F3E22C88FE}"/>
                    </a:ext>
                  </a:extLst>
                </p:cNvPr>
                <p:cNvSpPr/>
                <p:nvPr/>
              </p:nvSpPr>
              <p:spPr>
                <a:xfrm>
                  <a:off x="7769414" y="5767098"/>
                  <a:ext cx="404849" cy="294652"/>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oMath>
                    </m:oMathPara>
                  </a14:m>
                  <a:endParaRPr lang="en-US" dirty="0"/>
                </a:p>
              </p:txBody>
            </p:sp>
          </mc:Choice>
          <mc:Fallback xmlns="">
            <p:sp>
              <p:nvSpPr>
                <p:cNvPr id="64" name="Rectangle 63" descr="Equation: r sub 3">
                  <a:extLst>
                    <a:ext uri="{FF2B5EF4-FFF2-40B4-BE49-F238E27FC236}">
                      <a16:creationId xmlns:a16="http://schemas.microsoft.com/office/drawing/2014/main" id="{A509479C-E500-0744-C6CC-A3F3E22C88FE}"/>
                    </a:ext>
                  </a:extLst>
                </p:cNvPr>
                <p:cNvSpPr>
                  <a:spLocks noRot="1" noChangeAspect="1" noMove="1" noResize="1" noEditPoints="1" noAdjustHandles="1" noChangeArrowheads="1" noChangeShapeType="1" noTextEdit="1"/>
                </p:cNvSpPr>
                <p:nvPr/>
              </p:nvSpPr>
              <p:spPr>
                <a:xfrm>
                  <a:off x="7769414" y="5767098"/>
                  <a:ext cx="404849" cy="294652"/>
                </a:xfrm>
                <a:prstGeom prst="rect">
                  <a:avLst/>
                </a:prstGeom>
                <a:blipFill>
                  <a:blip r:embed="rId11"/>
                  <a:stretch>
                    <a:fillRect b="-5660"/>
                  </a:stretch>
                </a:blipFill>
              </p:spPr>
              <p:txBody>
                <a:bodyPr/>
                <a:lstStyle/>
                <a:p>
                  <a:r>
                    <a:rPr lang="en-US">
                      <a:noFill/>
                    </a:rPr>
                    <a:t> </a:t>
                  </a:r>
                </a:p>
              </p:txBody>
            </p:sp>
          </mc:Fallback>
        </mc:AlternateContent>
        <p:cxnSp>
          <p:nvCxnSpPr>
            <p:cNvPr id="65" name="Straight Arrow Connector 64">
              <a:extLst>
                <a:ext uri="{FF2B5EF4-FFF2-40B4-BE49-F238E27FC236}">
                  <a16:creationId xmlns:a16="http://schemas.microsoft.com/office/drawing/2014/main" id="{6582419E-ADFC-087B-D9FB-DCF44CD0581D}"/>
                </a:ext>
                <a:ext uri="{C183D7F6-B498-43B3-948B-1728B52AA6E4}">
                  <adec:decorative xmlns:adec="http://schemas.microsoft.com/office/drawing/2017/decorative" val="1"/>
                </a:ext>
              </a:extLst>
            </p:cNvPr>
            <p:cNvCxnSpPr>
              <a:cxnSpLocks/>
              <a:stCxn id="72" idx="6"/>
              <a:endCxn id="63" idx="1"/>
            </p:cNvCxnSpPr>
            <p:nvPr/>
          </p:nvCxnSpPr>
          <p:spPr>
            <a:xfrm>
              <a:off x="6933857" y="4802513"/>
              <a:ext cx="130446" cy="411"/>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5FD1C733-BA7F-2477-5EB8-BD01159824DA}"/>
                </a:ext>
                <a:ext uri="{C183D7F6-B498-43B3-948B-1728B52AA6E4}">
                  <adec:decorative xmlns:adec="http://schemas.microsoft.com/office/drawing/2017/decorative" val="1"/>
                </a:ext>
              </a:extLst>
            </p:cNvPr>
            <p:cNvCxnSpPr>
              <a:cxnSpLocks/>
              <a:stCxn id="62" idx="5"/>
              <a:endCxn id="64" idx="1"/>
            </p:cNvCxnSpPr>
            <p:nvPr/>
          </p:nvCxnSpPr>
          <p:spPr>
            <a:xfrm>
              <a:off x="6871242" y="5503542"/>
              <a:ext cx="898172" cy="41088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47383D10-426B-4AB9-2C5C-A8226A23C1B1}"/>
                </a:ext>
                <a:ext uri="{C183D7F6-B498-43B3-948B-1728B52AA6E4}">
                  <adec:decorative xmlns:adec="http://schemas.microsoft.com/office/drawing/2017/decorative" val="1"/>
                </a:ext>
              </a:extLst>
            </p:cNvPr>
            <p:cNvCxnSpPr>
              <a:cxnSpLocks/>
              <a:stCxn id="63" idx="2"/>
              <a:endCxn id="64" idx="0"/>
            </p:cNvCxnSpPr>
            <p:nvPr/>
          </p:nvCxnSpPr>
          <p:spPr>
            <a:xfrm>
              <a:off x="7381900" y="5010029"/>
              <a:ext cx="589939" cy="757069"/>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78E5A3CA-BCA0-C5ED-C331-6C3A5706C029}"/>
                </a:ext>
                <a:ext uri="{C183D7F6-B498-43B3-948B-1728B52AA6E4}">
                  <adec:decorative xmlns:adec="http://schemas.microsoft.com/office/drawing/2017/decorative" val="1"/>
                </a:ext>
              </a:extLst>
            </p:cNvPr>
            <p:cNvCxnSpPr>
              <a:cxnSpLocks/>
              <a:stCxn id="62" idx="6"/>
            </p:cNvCxnSpPr>
            <p:nvPr/>
          </p:nvCxnSpPr>
          <p:spPr>
            <a:xfrm>
              <a:off x="6927038" y="5368838"/>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B9E78E3D-DFCF-6822-5F6C-53D63DB8F6EF}"/>
                </a:ext>
                <a:ext uri="{C183D7F6-B498-43B3-948B-1728B52AA6E4}">
                  <adec:decorative xmlns:adec="http://schemas.microsoft.com/office/drawing/2017/decorative" val="1"/>
                </a:ext>
              </a:extLst>
            </p:cNvPr>
            <p:cNvCxnSpPr>
              <a:cxnSpLocks/>
              <a:stCxn id="63" idx="3"/>
            </p:cNvCxnSpPr>
            <p:nvPr/>
          </p:nvCxnSpPr>
          <p:spPr>
            <a:xfrm>
              <a:off x="7699497" y="4802924"/>
              <a:ext cx="242447" cy="3704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C9C5C85C-F074-D1FF-EC13-B12A3A53BFE6}"/>
                </a:ext>
              </a:extLst>
            </p:cNvPr>
            <p:cNvSpPr txBox="1"/>
            <p:nvPr/>
          </p:nvSpPr>
          <p:spPr>
            <a:xfrm>
              <a:off x="7842489" y="5162131"/>
              <a:ext cx="395910" cy="369332"/>
            </a:xfrm>
            <a:prstGeom prst="rect">
              <a:avLst/>
            </a:prstGeom>
            <a:noFill/>
          </p:spPr>
          <p:txBody>
            <a:bodyPr wrap="square" rtlCol="0">
              <a:spAutoFit/>
            </a:bodyPr>
            <a:lstStyle/>
            <a:p>
              <a:r>
                <a:rPr lang="en-US" dirty="0"/>
                <a:t>…</a:t>
              </a:r>
            </a:p>
          </p:txBody>
        </p:sp>
        <p:sp>
          <p:nvSpPr>
            <p:cNvPr id="71" name="Rectangle 70">
              <a:extLst>
                <a:ext uri="{FF2B5EF4-FFF2-40B4-BE49-F238E27FC236}">
                  <a16:creationId xmlns:a16="http://schemas.microsoft.com/office/drawing/2014/main" id="{8F96A9BB-799D-E20D-8E51-7D180A0CA849}"/>
                </a:ext>
                <a:ext uri="{C183D7F6-B498-43B3-948B-1728B52AA6E4}">
                  <adec:decorative xmlns:adec="http://schemas.microsoft.com/office/drawing/2017/decorative" val="1"/>
                </a:ext>
              </a:extLst>
            </p:cNvPr>
            <p:cNvSpPr/>
            <p:nvPr/>
          </p:nvSpPr>
          <p:spPr>
            <a:xfrm>
              <a:off x="3716157" y="4137286"/>
              <a:ext cx="4759686" cy="2046338"/>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2" name="Oval 71" descr="Equation: o sub 2">
                  <a:extLst>
                    <a:ext uri="{FF2B5EF4-FFF2-40B4-BE49-F238E27FC236}">
                      <a16:creationId xmlns:a16="http://schemas.microsoft.com/office/drawing/2014/main" id="{A3AAFEA4-AC61-F54D-4A4F-34DD694E7ADD}"/>
                    </a:ext>
                  </a:extLst>
                </p:cNvPr>
                <p:cNvSpPr/>
                <p:nvPr/>
              </p:nvSpPr>
              <p:spPr>
                <a:xfrm>
                  <a:off x="6552857" y="4612013"/>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2</m:t>
                            </m:r>
                          </m:sub>
                        </m:sSub>
                      </m:oMath>
                    </m:oMathPara>
                  </a14:m>
                  <a:endParaRPr lang="en-US" dirty="0"/>
                </a:p>
              </p:txBody>
            </p:sp>
          </mc:Choice>
          <mc:Fallback xmlns="">
            <p:sp>
              <p:nvSpPr>
                <p:cNvPr id="72" name="Oval 71" descr="Equation: o sub 2">
                  <a:extLst>
                    <a:ext uri="{FF2B5EF4-FFF2-40B4-BE49-F238E27FC236}">
                      <a16:creationId xmlns:a16="http://schemas.microsoft.com/office/drawing/2014/main" id="{A3AAFEA4-AC61-F54D-4A4F-34DD694E7ADD}"/>
                    </a:ext>
                  </a:extLst>
                </p:cNvPr>
                <p:cNvSpPr>
                  <a:spLocks noRot="1" noChangeAspect="1" noMove="1" noResize="1" noEditPoints="1" noAdjustHandles="1" noChangeArrowheads="1" noChangeShapeType="1" noTextEdit="1"/>
                </p:cNvSpPr>
                <p:nvPr/>
              </p:nvSpPr>
              <p:spPr>
                <a:xfrm>
                  <a:off x="6552857" y="4612013"/>
                  <a:ext cx="381000" cy="381000"/>
                </a:xfrm>
                <a:prstGeom prst="ellipse">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Oval 72" descr="Equation: o sub 1">
                  <a:extLst>
                    <a:ext uri="{FF2B5EF4-FFF2-40B4-BE49-F238E27FC236}">
                      <a16:creationId xmlns:a16="http://schemas.microsoft.com/office/drawing/2014/main" id="{AF0BE2C9-D433-764E-7A87-01445DE446C9}"/>
                    </a:ext>
                  </a:extLst>
                </p:cNvPr>
                <p:cNvSpPr/>
                <p:nvPr/>
              </p:nvSpPr>
              <p:spPr>
                <a:xfrm>
                  <a:off x="5257194" y="4612424"/>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1</m:t>
                            </m:r>
                          </m:sub>
                        </m:sSub>
                      </m:oMath>
                    </m:oMathPara>
                  </a14:m>
                  <a:endParaRPr lang="en-US" dirty="0"/>
                </a:p>
              </p:txBody>
            </p:sp>
          </mc:Choice>
          <mc:Fallback xmlns="">
            <p:sp>
              <p:nvSpPr>
                <p:cNvPr id="73" name="Oval 72" descr="Equation: o sub 1">
                  <a:extLst>
                    <a:ext uri="{FF2B5EF4-FFF2-40B4-BE49-F238E27FC236}">
                      <a16:creationId xmlns:a16="http://schemas.microsoft.com/office/drawing/2014/main" id="{AF0BE2C9-D433-764E-7A87-01445DE446C9}"/>
                    </a:ext>
                  </a:extLst>
                </p:cNvPr>
                <p:cNvSpPr>
                  <a:spLocks noRot="1" noChangeAspect="1" noMove="1" noResize="1" noEditPoints="1" noAdjustHandles="1" noChangeArrowheads="1" noChangeShapeType="1" noTextEdit="1"/>
                </p:cNvSpPr>
                <p:nvPr/>
              </p:nvSpPr>
              <p:spPr>
                <a:xfrm>
                  <a:off x="5257194" y="4612424"/>
                  <a:ext cx="381000" cy="381000"/>
                </a:xfrm>
                <a:prstGeom prst="ellipse">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Oval 73" descr="Equation: o sub 0">
                  <a:extLst>
                    <a:ext uri="{FF2B5EF4-FFF2-40B4-BE49-F238E27FC236}">
                      <a16:creationId xmlns:a16="http://schemas.microsoft.com/office/drawing/2014/main" id="{1111FBCE-E1DE-00DA-D963-A2869257ACF4}"/>
                    </a:ext>
                  </a:extLst>
                </p:cNvPr>
                <p:cNvSpPr/>
                <p:nvPr/>
              </p:nvSpPr>
              <p:spPr>
                <a:xfrm>
                  <a:off x="3968390" y="4623110"/>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0</m:t>
                            </m:r>
                          </m:sub>
                        </m:sSub>
                      </m:oMath>
                    </m:oMathPara>
                  </a14:m>
                  <a:endParaRPr lang="en-US" dirty="0"/>
                </a:p>
              </p:txBody>
            </p:sp>
          </mc:Choice>
          <mc:Fallback xmlns="">
            <p:sp>
              <p:nvSpPr>
                <p:cNvPr id="74" name="Oval 73" descr="Equation: o sub 0">
                  <a:extLst>
                    <a:ext uri="{FF2B5EF4-FFF2-40B4-BE49-F238E27FC236}">
                      <a16:creationId xmlns:a16="http://schemas.microsoft.com/office/drawing/2014/main" id="{1111FBCE-E1DE-00DA-D963-A2869257ACF4}"/>
                    </a:ext>
                  </a:extLst>
                </p:cNvPr>
                <p:cNvSpPr>
                  <a:spLocks noRot="1" noChangeAspect="1" noMove="1" noResize="1" noEditPoints="1" noAdjustHandles="1" noChangeArrowheads="1" noChangeShapeType="1" noTextEdit="1"/>
                </p:cNvSpPr>
                <p:nvPr/>
              </p:nvSpPr>
              <p:spPr>
                <a:xfrm>
                  <a:off x="3968390" y="4623110"/>
                  <a:ext cx="381000" cy="381000"/>
                </a:xfrm>
                <a:prstGeom prst="ellipse">
                  <a:avLst/>
                </a:prstGeom>
                <a:blipFill>
                  <a:blip r:embed="rId14"/>
                  <a:stretch>
                    <a:fillRect/>
                  </a:stretch>
                </a:blipFill>
              </p:spPr>
              <p:txBody>
                <a:bodyPr/>
                <a:lstStyle/>
                <a:p>
                  <a:r>
                    <a:rPr lang="en-US">
                      <a:noFill/>
                    </a:rPr>
                    <a:t> </a:t>
                  </a:r>
                </a:p>
              </p:txBody>
            </p:sp>
          </mc:Fallback>
        </mc:AlternateContent>
        <p:cxnSp>
          <p:nvCxnSpPr>
            <p:cNvPr id="75" name="Straight Arrow Connector 74">
              <a:extLst>
                <a:ext uri="{FF2B5EF4-FFF2-40B4-BE49-F238E27FC236}">
                  <a16:creationId xmlns:a16="http://schemas.microsoft.com/office/drawing/2014/main" id="{4940D2E9-6CD7-5AF5-F493-1A669EE86DB8}"/>
                </a:ext>
                <a:ext uri="{C183D7F6-B498-43B3-948B-1728B52AA6E4}">
                  <adec:decorative xmlns:adec="http://schemas.microsoft.com/office/drawing/2017/decorative" val="1"/>
                </a:ext>
              </a:extLst>
            </p:cNvPr>
            <p:cNvCxnSpPr>
              <a:stCxn id="46" idx="0"/>
              <a:endCxn id="74" idx="4"/>
            </p:cNvCxnSpPr>
            <p:nvPr/>
          </p:nvCxnSpPr>
          <p:spPr>
            <a:xfrm flipV="1">
              <a:off x="4158890" y="5004110"/>
              <a:ext cx="0" cy="174228"/>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76" name="Rectangle 75">
              <a:extLst>
                <a:ext uri="{FF2B5EF4-FFF2-40B4-BE49-F238E27FC236}">
                  <a16:creationId xmlns:a16="http://schemas.microsoft.com/office/drawing/2014/main" id="{3BAC6253-5523-343D-FC5A-69384DD8370E}"/>
                </a:ext>
                <a:ext uri="{C183D7F6-B498-43B3-948B-1728B52AA6E4}">
                  <adec:decorative xmlns:adec="http://schemas.microsoft.com/office/drawing/2017/decorative" val="1"/>
                </a:ext>
              </a:extLst>
            </p:cNvPr>
            <p:cNvSpPr/>
            <p:nvPr/>
          </p:nvSpPr>
          <p:spPr>
            <a:xfrm>
              <a:off x="3849146" y="5127899"/>
              <a:ext cx="4474893" cy="554636"/>
            </a:xfrm>
            <a:prstGeom prst="rect">
              <a:avLst/>
            </a:prstGeom>
            <a:solidFill>
              <a:srgbClr val="747474">
                <a:alpha val="50196"/>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cxnSp>
          <p:nvCxnSpPr>
            <p:cNvPr id="77" name="Straight Arrow Connector 76">
              <a:extLst>
                <a:ext uri="{FF2B5EF4-FFF2-40B4-BE49-F238E27FC236}">
                  <a16:creationId xmlns:a16="http://schemas.microsoft.com/office/drawing/2014/main" id="{970653F9-FEC3-8878-16F5-5AFB8389B066}"/>
                </a:ext>
                <a:ext uri="{C183D7F6-B498-43B3-948B-1728B52AA6E4}">
                  <adec:decorative xmlns:adec="http://schemas.microsoft.com/office/drawing/2017/decorative" val="1"/>
                </a:ext>
              </a:extLst>
            </p:cNvPr>
            <p:cNvCxnSpPr>
              <a:cxnSpLocks/>
              <a:stCxn id="62" idx="0"/>
              <a:endCxn id="72" idx="4"/>
            </p:cNvCxnSpPr>
            <p:nvPr/>
          </p:nvCxnSpPr>
          <p:spPr>
            <a:xfrm flipV="1">
              <a:off x="6736538" y="4993013"/>
              <a:ext cx="6819" cy="1853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78" name="Straight Arrow Connector 77">
              <a:extLst>
                <a:ext uri="{FF2B5EF4-FFF2-40B4-BE49-F238E27FC236}">
                  <a16:creationId xmlns:a16="http://schemas.microsoft.com/office/drawing/2014/main" id="{1F91E47B-B81B-75AC-AC6B-446AA0F4130D}"/>
                </a:ext>
                <a:ext uri="{C183D7F6-B498-43B3-948B-1728B52AA6E4}">
                  <adec:decorative xmlns:adec="http://schemas.microsoft.com/office/drawing/2017/decorative" val="1"/>
                </a:ext>
              </a:extLst>
            </p:cNvPr>
            <p:cNvCxnSpPr>
              <a:cxnSpLocks/>
              <a:stCxn id="54" idx="0"/>
              <a:endCxn id="73" idx="4"/>
            </p:cNvCxnSpPr>
            <p:nvPr/>
          </p:nvCxnSpPr>
          <p:spPr>
            <a:xfrm flipV="1">
              <a:off x="5447694" y="4993424"/>
              <a:ext cx="0" cy="184914"/>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79" name="Arc 78">
              <a:extLst>
                <a:ext uri="{FF2B5EF4-FFF2-40B4-BE49-F238E27FC236}">
                  <a16:creationId xmlns:a16="http://schemas.microsoft.com/office/drawing/2014/main" id="{29875B2C-1200-ABB5-AC06-EB315E01FD07}"/>
                </a:ext>
                <a:ext uri="{C183D7F6-B498-43B3-948B-1728B52AA6E4}">
                  <adec:decorative xmlns:adec="http://schemas.microsoft.com/office/drawing/2017/decorative" val="1"/>
                </a:ext>
              </a:extLst>
            </p:cNvPr>
            <p:cNvSpPr/>
            <p:nvPr/>
          </p:nvSpPr>
          <p:spPr>
            <a:xfrm>
              <a:off x="4226242" y="4522004"/>
              <a:ext cx="1154100" cy="207590"/>
            </a:xfrm>
            <a:prstGeom prst="arc">
              <a:avLst>
                <a:gd name="adj1" fmla="val 10842268"/>
                <a:gd name="adj2" fmla="val 0"/>
              </a:avLst>
            </a:prstGeom>
            <a:ln>
              <a:solidFill>
                <a:schemeClr val="bg2">
                  <a:lumMod val="90000"/>
                </a:schemeClr>
              </a:solidFill>
              <a:headEnd type="none" w="med" len="med"/>
              <a:tailEnd type="triangle" w="med" len="med"/>
            </a:ln>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sp>
          <p:nvSpPr>
            <p:cNvPr id="80" name="Arc 79">
              <a:extLst>
                <a:ext uri="{FF2B5EF4-FFF2-40B4-BE49-F238E27FC236}">
                  <a16:creationId xmlns:a16="http://schemas.microsoft.com/office/drawing/2014/main" id="{91E87553-076A-222C-C7A4-5F6E37070E52}"/>
                </a:ext>
                <a:ext uri="{C183D7F6-B498-43B3-948B-1728B52AA6E4}">
                  <adec:decorative xmlns:adec="http://schemas.microsoft.com/office/drawing/2017/decorative" val="1"/>
                </a:ext>
              </a:extLst>
            </p:cNvPr>
            <p:cNvSpPr/>
            <p:nvPr/>
          </p:nvSpPr>
          <p:spPr>
            <a:xfrm>
              <a:off x="5515046" y="4524755"/>
              <a:ext cx="1154100" cy="207590"/>
            </a:xfrm>
            <a:prstGeom prst="arc">
              <a:avLst>
                <a:gd name="adj1" fmla="val 10842268"/>
                <a:gd name="adj2" fmla="val 0"/>
              </a:avLst>
            </a:prstGeom>
            <a:ln>
              <a:solidFill>
                <a:schemeClr val="bg2">
                  <a:lumMod val="90000"/>
                </a:schemeClr>
              </a:solidFill>
              <a:headEnd type="none" w="med" len="med"/>
              <a:tailEnd type="triangle" w="med" len="med"/>
            </a:ln>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sp>
          <p:nvSpPr>
            <p:cNvPr id="81" name="Arc 80">
              <a:extLst>
                <a:ext uri="{FF2B5EF4-FFF2-40B4-BE49-F238E27FC236}">
                  <a16:creationId xmlns:a16="http://schemas.microsoft.com/office/drawing/2014/main" id="{7C927F2D-20F7-D39E-ABC5-1ED544BCABA3}"/>
                </a:ext>
                <a:ext uri="{C183D7F6-B498-43B3-948B-1728B52AA6E4}">
                  <adec:decorative xmlns:adec="http://schemas.microsoft.com/office/drawing/2017/decorative" val="1"/>
                </a:ext>
              </a:extLst>
            </p:cNvPr>
            <p:cNvSpPr/>
            <p:nvPr/>
          </p:nvSpPr>
          <p:spPr>
            <a:xfrm>
              <a:off x="6781589" y="4503426"/>
              <a:ext cx="1154100" cy="207590"/>
            </a:xfrm>
            <a:prstGeom prst="arc">
              <a:avLst>
                <a:gd name="adj1" fmla="val 10842268"/>
                <a:gd name="adj2" fmla="val 0"/>
              </a:avLst>
            </a:prstGeom>
            <a:ln>
              <a:solidFill>
                <a:schemeClr val="bg2">
                  <a:lumMod val="90000"/>
                </a:schemeClr>
              </a:solidFill>
              <a:headEnd type="none" w="med" len="med"/>
              <a:tailEnd type="triangle" w="med" len="med"/>
            </a:ln>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sp>
          <p:nvSpPr>
            <p:cNvPr id="82" name="Arc 81">
              <a:extLst>
                <a:ext uri="{FF2B5EF4-FFF2-40B4-BE49-F238E27FC236}">
                  <a16:creationId xmlns:a16="http://schemas.microsoft.com/office/drawing/2014/main" id="{5BFE3E5F-5E7F-87C8-A951-97714D06DEC9}"/>
                </a:ext>
                <a:ext uri="{C183D7F6-B498-43B3-948B-1728B52AA6E4}">
                  <adec:decorative xmlns:adec="http://schemas.microsoft.com/office/drawing/2017/decorative" val="1"/>
                </a:ext>
              </a:extLst>
            </p:cNvPr>
            <p:cNvSpPr/>
            <p:nvPr/>
          </p:nvSpPr>
          <p:spPr>
            <a:xfrm>
              <a:off x="4234126" y="4377116"/>
              <a:ext cx="2474374" cy="463462"/>
            </a:xfrm>
            <a:prstGeom prst="arc">
              <a:avLst>
                <a:gd name="adj1" fmla="val 10842268"/>
                <a:gd name="adj2" fmla="val 0"/>
              </a:avLst>
            </a:prstGeom>
            <a:ln>
              <a:solidFill>
                <a:schemeClr val="bg2">
                  <a:lumMod val="90000"/>
                </a:schemeClr>
              </a:solidFill>
              <a:headEnd type="none" w="med" len="med"/>
              <a:tailEnd type="triangle" w="med" len="med"/>
            </a:ln>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sp>
          <p:nvSpPr>
            <p:cNvPr id="83" name="Arc 82">
              <a:extLst>
                <a:ext uri="{FF2B5EF4-FFF2-40B4-BE49-F238E27FC236}">
                  <a16:creationId xmlns:a16="http://schemas.microsoft.com/office/drawing/2014/main" id="{C630DA46-9178-9121-2A28-0C9B6E125A2E}"/>
                </a:ext>
                <a:ext uri="{C183D7F6-B498-43B3-948B-1728B52AA6E4}">
                  <adec:decorative xmlns:adec="http://schemas.microsoft.com/office/drawing/2017/decorative" val="1"/>
                </a:ext>
              </a:extLst>
            </p:cNvPr>
            <p:cNvSpPr/>
            <p:nvPr/>
          </p:nvSpPr>
          <p:spPr>
            <a:xfrm>
              <a:off x="5490551" y="4387310"/>
              <a:ext cx="2474374" cy="463462"/>
            </a:xfrm>
            <a:prstGeom prst="arc">
              <a:avLst>
                <a:gd name="adj1" fmla="val 10842268"/>
                <a:gd name="adj2" fmla="val 0"/>
              </a:avLst>
            </a:prstGeom>
            <a:ln>
              <a:solidFill>
                <a:schemeClr val="bg2">
                  <a:lumMod val="90000"/>
                </a:schemeClr>
              </a:solidFill>
              <a:headEnd type="none" w="med" len="med"/>
              <a:tailEnd type="triangle" w="med" len="med"/>
            </a:ln>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sp>
          <p:nvSpPr>
            <p:cNvPr id="84" name="Arc 83">
              <a:extLst>
                <a:ext uri="{FF2B5EF4-FFF2-40B4-BE49-F238E27FC236}">
                  <a16:creationId xmlns:a16="http://schemas.microsoft.com/office/drawing/2014/main" id="{C6B1B7D7-CB8E-2B3E-0DAE-EBB53F33E998}"/>
                </a:ext>
                <a:ext uri="{C183D7F6-B498-43B3-948B-1728B52AA6E4}">
                  <adec:decorative xmlns:adec="http://schemas.microsoft.com/office/drawing/2017/decorative" val="1"/>
                </a:ext>
              </a:extLst>
            </p:cNvPr>
            <p:cNvSpPr/>
            <p:nvPr/>
          </p:nvSpPr>
          <p:spPr>
            <a:xfrm>
              <a:off x="4158890" y="4282123"/>
              <a:ext cx="3958435" cy="668607"/>
            </a:xfrm>
            <a:prstGeom prst="arc">
              <a:avLst>
                <a:gd name="adj1" fmla="val 10842268"/>
                <a:gd name="adj2" fmla="val 0"/>
              </a:avLst>
            </a:prstGeom>
            <a:ln>
              <a:solidFill>
                <a:schemeClr val="bg2">
                  <a:lumMod val="90000"/>
                </a:schemeClr>
              </a:solidFill>
              <a:headEnd type="none" w="med" len="med"/>
              <a:tailEnd type="triangle" w="med" len="med"/>
            </a:ln>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solidFill>
                  <a:schemeClr val="bg2">
                    <a:lumMod val="90000"/>
                  </a:schemeClr>
                </a:solidFill>
              </a:endParaRPr>
            </a:p>
          </p:txBody>
        </p:sp>
      </p:grpSp>
      <mc:AlternateContent xmlns:mc="http://schemas.openxmlformats.org/markup-compatibility/2006" xmlns:a14="http://schemas.microsoft.com/office/drawing/2010/main">
        <mc:Choice Requires="a14">
          <p:sp>
            <p:nvSpPr>
              <p:cNvPr id="4" name="Content Placeholder 3" descr="Idea: Use s sub t, to the power e, equals o sub t with any RL algorithm. For (DRL) approximation: Learn a state-action value function Q(o,a given theta). Assumption: o sub t contains enough information to decide on action a sub t . This is in general not very likely; we may get a very bad approximation Q(o,a given theta) is not equal to Q(s,a given theta). Improvement: Using a sliding window s sub t, to the power e, equals (o sub t, o sub t minus 1, dot dot dot,o sub t minus k) called frame stacking often works better">
                <a:extLst>
                  <a:ext uri="{FF2B5EF4-FFF2-40B4-BE49-F238E27FC236}">
                    <a16:creationId xmlns:a16="http://schemas.microsoft.com/office/drawing/2014/main" id="{F002B90F-CB86-11BA-325D-BD4404A98CD0}"/>
                  </a:ext>
                </a:extLst>
              </p:cNvPr>
              <p:cNvSpPr>
                <a:spLocks noGrp="1"/>
              </p:cNvSpPr>
              <p:nvPr>
                <p:ph idx="1"/>
              </p:nvPr>
            </p:nvSpPr>
            <p:spPr>
              <a:xfrm>
                <a:off x="813758" y="3619501"/>
                <a:ext cx="10515600" cy="2773866"/>
              </a:xfrm>
            </p:spPr>
            <p:txBody>
              <a:bodyPr>
                <a:normAutofit fontScale="70000" lnSpcReduction="20000"/>
              </a:bodyPr>
              <a:lstStyle/>
              <a:p>
                <a:pPr>
                  <a:lnSpc>
                    <a:spcPct val="120000"/>
                  </a:lnSpc>
                </a:pPr>
                <a:r>
                  <a:rPr lang="en-US" b="1" dirty="0"/>
                  <a:t>Idea</a:t>
                </a:r>
                <a:r>
                  <a:rPr lang="en-US" dirty="0"/>
                  <a:t>: Use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𝑡</m:t>
                        </m:r>
                      </m:sub>
                      <m:sup>
                        <m:r>
                          <a:rPr lang="en-US" b="0" i="1" smtClean="0">
                            <a:latin typeface="Cambria Math" panose="02040503050406030204" pitchFamily="18" charset="0"/>
                          </a:rPr>
                          <m:t>𝑒</m:t>
                        </m:r>
                      </m:sup>
                    </m:sSubSup>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𝑡</m:t>
                        </m:r>
                      </m:sub>
                    </m:sSub>
                  </m:oMath>
                </a14:m>
                <a:r>
                  <a:rPr lang="en-US" dirty="0"/>
                  <a:t> with any RL algorithm.</a:t>
                </a:r>
              </a:p>
              <a:p>
                <a:pPr>
                  <a:lnSpc>
                    <a:spcPct val="120000"/>
                  </a:lnSpc>
                </a:pPr>
                <a:r>
                  <a:rPr lang="en-US" b="1" dirty="0"/>
                  <a:t>For (DRL) approximation</a:t>
                </a:r>
                <a:r>
                  <a:rPr lang="en-US" dirty="0"/>
                  <a:t>: Learn a state-action value function </a:t>
                </a:r>
                <a14:m>
                  <m:oMath xmlns:m="http://schemas.openxmlformats.org/officeDocument/2006/math">
                    <m:r>
                      <a:rPr lang="en-US" i="1">
                        <a:latin typeface="Cambria Math" panose="02040503050406030204" pitchFamily="18" charset="0"/>
                      </a:rPr>
                      <m:t>𝑄</m:t>
                    </m:r>
                    <m:r>
                      <a:rPr lang="en-US" i="1">
                        <a:latin typeface="Cambria Math" panose="02040503050406030204" pitchFamily="18" charset="0"/>
                      </a:rPr>
                      <m:t>(</m:t>
                    </m:r>
                    <m:r>
                      <a:rPr lang="en-US" i="1">
                        <a:latin typeface="Cambria Math" panose="02040503050406030204" pitchFamily="18" charset="0"/>
                      </a:rPr>
                      <m:t>𝑜</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b="1" i="1" smtClean="0">
                        <a:latin typeface="Cambria Math" panose="02040503050406030204" pitchFamily="18" charset="0"/>
                      </a:rPr>
                      <m:t>𝜽</m:t>
                    </m:r>
                    <m:r>
                      <a:rPr lang="en-US" i="1">
                        <a:latin typeface="Cambria Math" panose="02040503050406030204" pitchFamily="18" charset="0"/>
                      </a:rPr>
                      <m:t>)</m:t>
                    </m:r>
                  </m:oMath>
                </a14:m>
                <a:endParaRPr lang="en-US" dirty="0"/>
              </a:p>
              <a:p>
                <a:pPr>
                  <a:lnSpc>
                    <a:spcPct val="120000"/>
                  </a:lnSpc>
                </a:pPr>
                <a:endParaRPr lang="en-US" b="1" dirty="0"/>
              </a:p>
              <a:p>
                <a:pPr>
                  <a:lnSpc>
                    <a:spcPct val="120000"/>
                  </a:lnSpc>
                </a:pPr>
                <a:r>
                  <a:rPr lang="en-US" b="1" dirty="0"/>
                  <a:t>Assumption</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𝑡</m:t>
                        </m:r>
                      </m:sub>
                    </m:sSub>
                  </m:oMath>
                </a14:m>
                <a:r>
                  <a:rPr lang="en-US" dirty="0"/>
                  <a:t> contains enough information to decide on action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oMath>
                </a14:m>
                <a:r>
                  <a:rPr lang="en-US" dirty="0"/>
                  <a:t>. This is in general not very likely; we may get a very bad approximation </a:t>
                </a:r>
                <a14:m>
                  <m:oMath xmlns:m="http://schemas.openxmlformats.org/officeDocument/2006/math">
                    <m:r>
                      <a:rPr lang="en-US" i="1">
                        <a:latin typeface="Cambria Math" panose="02040503050406030204" pitchFamily="18" charset="0"/>
                      </a:rPr>
                      <m:t>𝑄</m:t>
                    </m:r>
                    <m:r>
                      <a:rPr lang="en-US" i="1">
                        <a:latin typeface="Cambria Math" panose="02040503050406030204" pitchFamily="18" charset="0"/>
                      </a:rPr>
                      <m:t>(</m:t>
                    </m:r>
                    <m:r>
                      <a:rPr lang="en-US" i="1">
                        <a:latin typeface="Cambria Math" panose="02040503050406030204" pitchFamily="18" charset="0"/>
                      </a:rPr>
                      <m:t>𝑜</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b="1" i="1" smtClean="0">
                        <a:latin typeface="Cambria Math" panose="02040503050406030204" pitchFamily="18" charset="0"/>
                      </a:rPr>
                      <m:t>𝜽</m:t>
                    </m:r>
                    <m:r>
                      <a:rPr lang="en-US" i="1">
                        <a:latin typeface="Cambria Math" panose="02040503050406030204" pitchFamily="18" charset="0"/>
                      </a:rPr>
                      <m:t>)</m:t>
                    </m:r>
                    <m:r>
                      <a:rPr lang="en-US" b="0" i="1" smtClean="0">
                        <a:latin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𝑄</m:t>
                    </m:r>
                    <m:r>
                      <a:rPr lang="en-US" i="1">
                        <a:latin typeface="Cambria Math" panose="02040503050406030204" pitchFamily="18" charset="0"/>
                      </a:rPr>
                      <m:t>(</m:t>
                    </m:r>
                    <m:r>
                      <a:rPr lang="en-US" b="0" i="1" smtClean="0">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b="1" i="1" smtClean="0">
                        <a:latin typeface="Cambria Math" panose="02040503050406030204" pitchFamily="18" charset="0"/>
                      </a:rPr>
                      <m:t>𝜽</m:t>
                    </m:r>
                    <m:r>
                      <a:rPr lang="en-US" i="1">
                        <a:latin typeface="Cambria Math" panose="02040503050406030204" pitchFamily="18" charset="0"/>
                      </a:rPr>
                      <m:t>)</m:t>
                    </m:r>
                  </m:oMath>
                </a14:m>
                <a:endParaRPr lang="en-US" dirty="0"/>
              </a:p>
              <a:p>
                <a:pPr>
                  <a:lnSpc>
                    <a:spcPct val="120000"/>
                  </a:lnSpc>
                </a:pPr>
                <a:r>
                  <a:rPr lang="en-US" b="1" dirty="0"/>
                  <a:t>Improvement</a:t>
                </a:r>
                <a:r>
                  <a:rPr lang="en-US" dirty="0"/>
                  <a:t>: Using a sliding window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𝑡</m:t>
                        </m:r>
                      </m:sub>
                      <m:sup>
                        <m:r>
                          <a:rPr lang="en-US" b="0" i="1" smtClean="0">
                            <a:latin typeface="Cambria Math" panose="02040503050406030204" pitchFamily="18" charset="0"/>
                          </a:rPr>
                          <m:t>𝑒</m:t>
                        </m:r>
                      </m:sup>
                    </m:sSubSup>
                    <m:r>
                      <a:rPr lang="en-US" b="0" i="0"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𝑡</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sub>
                        </m:sSub>
                      </m:e>
                    </m:d>
                  </m:oMath>
                </a14:m>
                <a:r>
                  <a:rPr lang="en-US" dirty="0"/>
                  <a:t> called frame stacking often works better.</a:t>
                </a:r>
              </a:p>
            </p:txBody>
          </p:sp>
        </mc:Choice>
        <mc:Fallback xmlns="">
          <p:sp>
            <p:nvSpPr>
              <p:cNvPr id="4" name="Content Placeholder 3" descr="Idea: Use s sub t, to the power e, equals o sub t with any RL algorithm. For (DRL) approximation: Learn a state-action value function Q(o,a given theta). Assumption: o sub t contains enough information to decide on action a sub t . This is in general not very likely; we may get a very bad approximation Q(o,a given theta) is not equal to Q(s,a given theta). Improvement: Using a sliding window s sub t, to the power e, equals (o sub t, o sub t minus 1, dot dot dot,o sub t minus k) called frame stacking often works better">
                <a:extLst>
                  <a:ext uri="{FF2B5EF4-FFF2-40B4-BE49-F238E27FC236}">
                    <a16:creationId xmlns:a16="http://schemas.microsoft.com/office/drawing/2014/main" id="{F002B90F-CB86-11BA-325D-BD4404A98CD0}"/>
                  </a:ext>
                </a:extLst>
              </p:cNvPr>
              <p:cNvSpPr>
                <a:spLocks noGrp="1" noRot="1" noChangeAspect="1" noMove="1" noResize="1" noEditPoints="1" noAdjustHandles="1" noChangeArrowheads="1" noChangeShapeType="1" noTextEdit="1"/>
              </p:cNvSpPr>
              <p:nvPr>
                <p:ph idx="1"/>
              </p:nvPr>
            </p:nvSpPr>
            <p:spPr>
              <a:xfrm>
                <a:off x="813758" y="3619501"/>
                <a:ext cx="10515600" cy="2773866"/>
              </a:xfrm>
              <a:blipFill>
                <a:blip r:embed="rId2"/>
                <a:stretch>
                  <a:fillRect l="-522" t="-1099" b="-2637"/>
                </a:stretch>
              </a:blipFill>
            </p:spPr>
            <p:txBody>
              <a:bodyPr/>
              <a:lstStyle/>
              <a:p>
                <a:r>
                  <a:rPr lang="en-US">
                    <a:noFill/>
                  </a:rPr>
                  <a:t> </a:t>
                </a:r>
              </a:p>
            </p:txBody>
          </p:sp>
        </mc:Fallback>
      </mc:AlternateContent>
    </p:spTree>
    <p:extLst>
      <p:ext uri="{BB962C8B-B14F-4D97-AF65-F5344CB8AC3E}">
        <p14:creationId xmlns:p14="http://schemas.microsoft.com/office/powerpoint/2010/main" val="3388894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68BD1-2353-B85B-33CC-274FFFBEE0E7}"/>
              </a:ext>
            </a:extLst>
          </p:cNvPr>
          <p:cNvSpPr>
            <a:spLocks noGrp="1"/>
          </p:cNvSpPr>
          <p:nvPr>
            <p:ph type="title"/>
          </p:nvPr>
        </p:nvSpPr>
        <p:spPr>
          <a:xfrm>
            <a:off x="838200" y="365126"/>
            <a:ext cx="4956609" cy="1384954"/>
          </a:xfrm>
        </p:spPr>
        <p:txBody>
          <a:bodyPr>
            <a:normAutofit/>
          </a:bodyPr>
          <a:lstStyle/>
          <a:p>
            <a:r>
              <a:rPr lang="en-US" dirty="0"/>
              <a:t>Optimal Belief </a:t>
            </a:r>
            <a:br>
              <a:rPr lang="en-US" dirty="0"/>
            </a:br>
            <a:r>
              <a:rPr lang="en-US" dirty="0"/>
              <a:t>Monitoring</a:t>
            </a:r>
          </a:p>
        </p:txBody>
      </p:sp>
      <p:grpSp>
        <p:nvGrpSpPr>
          <p:cNvPr id="53" name="Group 52" descr="Belief monitoring on a hidden Markov model: hidden states s1 → s2 → s3 on a gray band emit observations o1, o2, o3; a chain of belief states b0 → b1 → b2 → b3 runs above, and each belief b_t is updated from the previous belief and the new observation o_t.">
            <a:extLst>
              <a:ext uri="{FF2B5EF4-FFF2-40B4-BE49-F238E27FC236}">
                <a16:creationId xmlns:a16="http://schemas.microsoft.com/office/drawing/2014/main" id="{F6781065-3214-7BC3-8908-FED3E1E8F8A1}"/>
              </a:ext>
            </a:extLst>
          </p:cNvPr>
          <p:cNvGrpSpPr/>
          <p:nvPr/>
        </p:nvGrpSpPr>
        <p:grpSpPr>
          <a:xfrm>
            <a:off x="5794809" y="459337"/>
            <a:ext cx="5548800" cy="2104643"/>
            <a:chOff x="5794809" y="238024"/>
            <a:chExt cx="5548800" cy="2104643"/>
          </a:xfrm>
        </p:grpSpPr>
        <mc:AlternateContent xmlns:mc="http://schemas.openxmlformats.org/markup-compatibility/2006" xmlns:a14="http://schemas.microsoft.com/office/drawing/2010/main">
          <mc:Choice Requires="a14">
            <p:sp>
              <p:nvSpPr>
                <p:cNvPr id="9" name="Oval 8" descr="Equation: s sub 1">
                  <a:extLst>
                    <a:ext uri="{FF2B5EF4-FFF2-40B4-BE49-F238E27FC236}">
                      <a16:creationId xmlns:a16="http://schemas.microsoft.com/office/drawing/2014/main" id="{F01218CF-C22F-F5DD-8585-B820CC92DCA0}"/>
                    </a:ext>
                  </a:extLst>
                </p:cNvPr>
                <p:cNvSpPr/>
                <p:nvPr/>
              </p:nvSpPr>
              <p:spPr>
                <a:xfrm>
                  <a:off x="6739996" y="1790965"/>
                  <a:ext cx="381000" cy="381000"/>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oMath>
                    </m:oMathPara>
                  </a14:m>
                  <a:endParaRPr lang="en-US" dirty="0"/>
                </a:p>
              </p:txBody>
            </p:sp>
          </mc:Choice>
          <mc:Fallback xmlns="">
            <p:sp>
              <p:nvSpPr>
                <p:cNvPr id="9" name="Oval 8" descr="Equation: s sub 1">
                  <a:extLst>
                    <a:ext uri="{FF2B5EF4-FFF2-40B4-BE49-F238E27FC236}">
                      <a16:creationId xmlns:a16="http://schemas.microsoft.com/office/drawing/2014/main" id="{F01218CF-C22F-F5DD-8585-B820CC92DCA0}"/>
                    </a:ext>
                  </a:extLst>
                </p:cNvPr>
                <p:cNvSpPr>
                  <a:spLocks noRot="1" noChangeAspect="1" noMove="1" noResize="1" noEditPoints="1" noAdjustHandles="1" noChangeArrowheads="1" noChangeShapeType="1" noTextEdit="1"/>
                </p:cNvSpPr>
                <p:nvPr/>
              </p:nvSpPr>
              <p:spPr>
                <a:xfrm>
                  <a:off x="6739996" y="1790965"/>
                  <a:ext cx="381000" cy="381000"/>
                </a:xfrm>
                <a:prstGeom prst="ellipse">
                  <a:avLst/>
                </a:prstGeom>
                <a:blipFill>
                  <a:blip r:embed="rId3"/>
                  <a:stretch>
                    <a:fillRect/>
                  </a:stretch>
                </a:blipFill>
                <a:ln/>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85D1B552-82F6-1B40-4E00-8C9DD86E351F}"/>
                </a:ext>
                <a:ext uri="{C183D7F6-B498-43B3-948B-1728B52AA6E4}">
                  <adec:decorative xmlns:adec="http://schemas.microsoft.com/office/drawing/2017/decorative" val="1"/>
                </a:ext>
              </a:extLst>
            </p:cNvPr>
            <p:cNvCxnSpPr>
              <a:cxnSpLocks/>
              <a:stCxn id="9" idx="6"/>
            </p:cNvCxnSpPr>
            <p:nvPr/>
          </p:nvCxnSpPr>
          <p:spPr>
            <a:xfrm>
              <a:off x="7120996" y="1981465"/>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Oval 10" descr="Equation: s sub 2">
                  <a:extLst>
                    <a:ext uri="{FF2B5EF4-FFF2-40B4-BE49-F238E27FC236}">
                      <a16:creationId xmlns:a16="http://schemas.microsoft.com/office/drawing/2014/main" id="{2AB59C2E-E877-01BD-3CDA-17DC1A8002D5}"/>
                    </a:ext>
                  </a:extLst>
                </p:cNvPr>
                <p:cNvSpPr/>
                <p:nvPr/>
              </p:nvSpPr>
              <p:spPr>
                <a:xfrm>
                  <a:off x="8028800" y="1790965"/>
                  <a:ext cx="381000" cy="381000"/>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oMath>
                    </m:oMathPara>
                  </a14:m>
                  <a:endParaRPr lang="en-US" dirty="0"/>
                </a:p>
              </p:txBody>
            </p:sp>
          </mc:Choice>
          <mc:Fallback xmlns="">
            <p:sp>
              <p:nvSpPr>
                <p:cNvPr id="11" name="Oval 10" descr="Equation: s sub 2">
                  <a:extLst>
                    <a:ext uri="{FF2B5EF4-FFF2-40B4-BE49-F238E27FC236}">
                      <a16:creationId xmlns:a16="http://schemas.microsoft.com/office/drawing/2014/main" id="{2AB59C2E-E877-01BD-3CDA-17DC1A8002D5}"/>
                    </a:ext>
                  </a:extLst>
                </p:cNvPr>
                <p:cNvSpPr>
                  <a:spLocks noRot="1" noChangeAspect="1" noMove="1" noResize="1" noEditPoints="1" noAdjustHandles="1" noChangeArrowheads="1" noChangeShapeType="1" noTextEdit="1"/>
                </p:cNvSpPr>
                <p:nvPr/>
              </p:nvSpPr>
              <p:spPr>
                <a:xfrm>
                  <a:off x="8028800" y="1790965"/>
                  <a:ext cx="381000" cy="381000"/>
                </a:xfrm>
                <a:prstGeom prst="ellipse">
                  <a:avLst/>
                </a:prstGeom>
                <a:blipFill>
                  <a:blip r:embed="rId4"/>
                  <a:stretch>
                    <a:fillRect/>
                  </a:stretch>
                </a:blipFill>
                <a:ln/>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7C09A9CC-A972-E40D-2456-5D1B5D033AA4}"/>
                </a:ext>
                <a:ext uri="{C183D7F6-B498-43B3-948B-1728B52AA6E4}">
                  <adec:decorative xmlns:adec="http://schemas.microsoft.com/office/drawing/2017/decorative" val="1"/>
                </a:ext>
              </a:extLst>
            </p:cNvPr>
            <p:cNvCxnSpPr>
              <a:cxnSpLocks/>
              <a:stCxn id="11" idx="6"/>
            </p:cNvCxnSpPr>
            <p:nvPr/>
          </p:nvCxnSpPr>
          <p:spPr>
            <a:xfrm>
              <a:off x="8409800" y="1981465"/>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Oval 12" descr="Equation: s sub 3">
                  <a:extLst>
                    <a:ext uri="{FF2B5EF4-FFF2-40B4-BE49-F238E27FC236}">
                      <a16:creationId xmlns:a16="http://schemas.microsoft.com/office/drawing/2014/main" id="{663977A8-F14A-6AB6-2208-4A2FBE8A6D3A}"/>
                    </a:ext>
                  </a:extLst>
                </p:cNvPr>
                <p:cNvSpPr/>
                <p:nvPr/>
              </p:nvSpPr>
              <p:spPr>
                <a:xfrm>
                  <a:off x="9317644" y="1790965"/>
                  <a:ext cx="381000" cy="381000"/>
                </a:xfrm>
                <a:prstGeom prst="ellips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3</m:t>
                            </m:r>
                          </m:sub>
                        </m:sSub>
                      </m:oMath>
                    </m:oMathPara>
                  </a14:m>
                  <a:endParaRPr lang="en-US" dirty="0"/>
                </a:p>
              </p:txBody>
            </p:sp>
          </mc:Choice>
          <mc:Fallback xmlns="">
            <p:sp>
              <p:nvSpPr>
                <p:cNvPr id="13" name="Oval 12" descr="Equation: s sub 3">
                  <a:extLst>
                    <a:ext uri="{FF2B5EF4-FFF2-40B4-BE49-F238E27FC236}">
                      <a16:creationId xmlns:a16="http://schemas.microsoft.com/office/drawing/2014/main" id="{663977A8-F14A-6AB6-2208-4A2FBE8A6D3A}"/>
                    </a:ext>
                  </a:extLst>
                </p:cNvPr>
                <p:cNvSpPr>
                  <a:spLocks noRot="1" noChangeAspect="1" noMove="1" noResize="1" noEditPoints="1" noAdjustHandles="1" noChangeArrowheads="1" noChangeShapeType="1" noTextEdit="1"/>
                </p:cNvSpPr>
                <p:nvPr/>
              </p:nvSpPr>
              <p:spPr>
                <a:xfrm>
                  <a:off x="9317644" y="1790965"/>
                  <a:ext cx="381000" cy="381000"/>
                </a:xfrm>
                <a:prstGeom prst="ellipse">
                  <a:avLst/>
                </a:prstGeom>
                <a:blipFill>
                  <a:blip r:embed="rId5"/>
                  <a:stretch>
                    <a:fillRect/>
                  </a:stretch>
                </a:blipFill>
                <a:ln/>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840BE953-11C8-D04C-43EA-AC189C3D7124}"/>
                </a:ext>
                <a:ext uri="{C183D7F6-B498-43B3-948B-1728B52AA6E4}">
                  <adec:decorative xmlns:adec="http://schemas.microsoft.com/office/drawing/2017/decorative" val="1"/>
                </a:ext>
              </a:extLst>
            </p:cNvPr>
            <p:cNvCxnSpPr>
              <a:cxnSpLocks/>
              <a:stCxn id="13" idx="6"/>
            </p:cNvCxnSpPr>
            <p:nvPr/>
          </p:nvCxnSpPr>
          <p:spPr>
            <a:xfrm>
              <a:off x="9698644" y="1981465"/>
              <a:ext cx="9078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4822B06C-EE04-9013-0965-8DB29F58907D}"/>
                </a:ext>
              </a:extLst>
            </p:cNvPr>
            <p:cNvSpPr txBox="1"/>
            <p:nvPr/>
          </p:nvSpPr>
          <p:spPr>
            <a:xfrm>
              <a:off x="10614095" y="1774758"/>
              <a:ext cx="395910" cy="369332"/>
            </a:xfrm>
            <a:prstGeom prst="rect">
              <a:avLst/>
            </a:prstGeom>
            <a:noFill/>
          </p:spPr>
          <p:txBody>
            <a:bodyPr wrap="square" rtlCol="0">
              <a:spAutoFit/>
            </a:bodyPr>
            <a:lstStyle/>
            <a:p>
              <a:r>
                <a:rPr lang="en-US" dirty="0"/>
                <a:t>…</a:t>
              </a:r>
            </a:p>
          </p:txBody>
        </p:sp>
        <p:sp>
          <p:nvSpPr>
            <p:cNvPr id="16" name="Rectangle 15">
              <a:extLst>
                <a:ext uri="{FF2B5EF4-FFF2-40B4-BE49-F238E27FC236}">
                  <a16:creationId xmlns:a16="http://schemas.microsoft.com/office/drawing/2014/main" id="{1072CBF5-F676-099B-5970-C33815F644A6}"/>
                </a:ext>
                <a:ext uri="{C183D7F6-B498-43B3-948B-1728B52AA6E4}">
                  <adec:decorative xmlns:adec="http://schemas.microsoft.com/office/drawing/2017/decorative" val="1"/>
                </a:ext>
              </a:extLst>
            </p:cNvPr>
            <p:cNvSpPr/>
            <p:nvPr/>
          </p:nvSpPr>
          <p:spPr>
            <a:xfrm>
              <a:off x="5794809" y="238024"/>
              <a:ext cx="5447702" cy="2104643"/>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Oval 16" descr="Equation: o sub 1">
                  <a:extLst>
                    <a:ext uri="{FF2B5EF4-FFF2-40B4-BE49-F238E27FC236}">
                      <a16:creationId xmlns:a16="http://schemas.microsoft.com/office/drawing/2014/main" id="{131F4321-405B-F15F-6E9F-47A35D82659A}"/>
                    </a:ext>
                  </a:extLst>
                </p:cNvPr>
                <p:cNvSpPr/>
                <p:nvPr/>
              </p:nvSpPr>
              <p:spPr>
                <a:xfrm>
                  <a:off x="6739996" y="1059323"/>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1</m:t>
                            </m:r>
                          </m:sub>
                        </m:sSub>
                      </m:oMath>
                    </m:oMathPara>
                  </a14:m>
                  <a:endParaRPr lang="en-US" dirty="0"/>
                </a:p>
              </p:txBody>
            </p:sp>
          </mc:Choice>
          <mc:Fallback xmlns="">
            <p:sp>
              <p:nvSpPr>
                <p:cNvPr id="17" name="Oval 16" descr="Equation: o sub 1">
                  <a:extLst>
                    <a:ext uri="{FF2B5EF4-FFF2-40B4-BE49-F238E27FC236}">
                      <a16:creationId xmlns:a16="http://schemas.microsoft.com/office/drawing/2014/main" id="{131F4321-405B-F15F-6E9F-47A35D82659A}"/>
                    </a:ext>
                  </a:extLst>
                </p:cNvPr>
                <p:cNvSpPr>
                  <a:spLocks noRot="1" noChangeAspect="1" noMove="1" noResize="1" noEditPoints="1" noAdjustHandles="1" noChangeArrowheads="1" noChangeShapeType="1" noTextEdit="1"/>
                </p:cNvSpPr>
                <p:nvPr/>
              </p:nvSpPr>
              <p:spPr>
                <a:xfrm>
                  <a:off x="6739996" y="1059323"/>
                  <a:ext cx="381000" cy="381000"/>
                </a:xfrm>
                <a:prstGeom prst="ellipse">
                  <a:avLst/>
                </a:prstGeom>
                <a:blipFill>
                  <a:blip r:embed="rId6"/>
                  <a:stretch>
                    <a:fillRect/>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A6195814-6EE2-AA77-6102-3CC51A651E72}"/>
                </a:ext>
                <a:ext uri="{C183D7F6-B498-43B3-948B-1728B52AA6E4}">
                  <adec:decorative xmlns:adec="http://schemas.microsoft.com/office/drawing/2017/decorative" val="1"/>
                </a:ext>
              </a:extLst>
            </p:cNvPr>
            <p:cNvCxnSpPr>
              <a:stCxn id="9" idx="0"/>
              <a:endCxn id="17" idx="4"/>
            </p:cNvCxnSpPr>
            <p:nvPr/>
          </p:nvCxnSpPr>
          <p:spPr>
            <a:xfrm flipV="1">
              <a:off x="6930496" y="1440323"/>
              <a:ext cx="0" cy="35064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sp>
              <p:nvSpPr>
                <p:cNvPr id="19" name="Oval 18" descr="Equation: o sub 3">
                  <a:extLst>
                    <a:ext uri="{FF2B5EF4-FFF2-40B4-BE49-F238E27FC236}">
                      <a16:creationId xmlns:a16="http://schemas.microsoft.com/office/drawing/2014/main" id="{C826B57E-D162-4FF0-DFF1-7E1DEA7B335F}"/>
                    </a:ext>
                  </a:extLst>
                </p:cNvPr>
                <p:cNvSpPr/>
                <p:nvPr/>
              </p:nvSpPr>
              <p:spPr>
                <a:xfrm>
                  <a:off x="9317604" y="1059323"/>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3</m:t>
                            </m:r>
                          </m:sub>
                        </m:sSub>
                      </m:oMath>
                    </m:oMathPara>
                  </a14:m>
                  <a:endParaRPr lang="en-US" dirty="0"/>
                </a:p>
              </p:txBody>
            </p:sp>
          </mc:Choice>
          <mc:Fallback xmlns="">
            <p:sp>
              <p:nvSpPr>
                <p:cNvPr id="19" name="Oval 18" descr="Equation: o sub 3">
                  <a:extLst>
                    <a:ext uri="{FF2B5EF4-FFF2-40B4-BE49-F238E27FC236}">
                      <a16:creationId xmlns:a16="http://schemas.microsoft.com/office/drawing/2014/main" id="{C826B57E-D162-4FF0-DFF1-7E1DEA7B335F}"/>
                    </a:ext>
                  </a:extLst>
                </p:cNvPr>
                <p:cNvSpPr>
                  <a:spLocks noRot="1" noChangeAspect="1" noMove="1" noResize="1" noEditPoints="1" noAdjustHandles="1" noChangeArrowheads="1" noChangeShapeType="1" noTextEdit="1"/>
                </p:cNvSpPr>
                <p:nvPr/>
              </p:nvSpPr>
              <p:spPr>
                <a:xfrm>
                  <a:off x="9317604" y="1059323"/>
                  <a:ext cx="381000" cy="381000"/>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Oval 19" descr="Equation: o sub 2">
                  <a:extLst>
                    <a:ext uri="{FF2B5EF4-FFF2-40B4-BE49-F238E27FC236}">
                      <a16:creationId xmlns:a16="http://schemas.microsoft.com/office/drawing/2014/main" id="{AE402888-0859-315E-112D-FC491BA064D5}"/>
                    </a:ext>
                  </a:extLst>
                </p:cNvPr>
                <p:cNvSpPr/>
                <p:nvPr/>
              </p:nvSpPr>
              <p:spPr>
                <a:xfrm>
                  <a:off x="8028800" y="1059323"/>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2</m:t>
                            </m:r>
                          </m:sub>
                        </m:sSub>
                      </m:oMath>
                    </m:oMathPara>
                  </a14:m>
                  <a:endParaRPr lang="en-US" dirty="0"/>
                </a:p>
              </p:txBody>
            </p:sp>
          </mc:Choice>
          <mc:Fallback xmlns="">
            <p:sp>
              <p:nvSpPr>
                <p:cNvPr id="20" name="Oval 19" descr="Equation: o sub 2">
                  <a:extLst>
                    <a:ext uri="{FF2B5EF4-FFF2-40B4-BE49-F238E27FC236}">
                      <a16:creationId xmlns:a16="http://schemas.microsoft.com/office/drawing/2014/main" id="{AE402888-0859-315E-112D-FC491BA064D5}"/>
                    </a:ext>
                  </a:extLst>
                </p:cNvPr>
                <p:cNvSpPr>
                  <a:spLocks noRot="1" noChangeAspect="1" noMove="1" noResize="1" noEditPoints="1" noAdjustHandles="1" noChangeArrowheads="1" noChangeShapeType="1" noTextEdit="1"/>
                </p:cNvSpPr>
                <p:nvPr/>
              </p:nvSpPr>
              <p:spPr>
                <a:xfrm>
                  <a:off x="8028800" y="1059323"/>
                  <a:ext cx="381000" cy="381000"/>
                </a:xfrm>
                <a:prstGeom prst="ellipse">
                  <a:avLst/>
                </a:prstGeom>
                <a:blipFill>
                  <a:blip r:embed="rId8"/>
                  <a:stretch>
                    <a:fillRect/>
                  </a:stretch>
                </a:blipFill>
              </p:spPr>
              <p:txBody>
                <a:bodyPr/>
                <a:lstStyle/>
                <a:p>
                  <a:r>
                    <a:rPr lang="en-US">
                      <a:noFill/>
                    </a:rPr>
                    <a:t> </a:t>
                  </a:r>
                </a:p>
              </p:txBody>
            </p:sp>
          </mc:Fallback>
        </mc:AlternateContent>
        <p:cxnSp>
          <p:nvCxnSpPr>
            <p:cNvPr id="21" name="Straight Arrow Connector 20">
              <a:extLst>
                <a:ext uri="{FF2B5EF4-FFF2-40B4-BE49-F238E27FC236}">
                  <a16:creationId xmlns:a16="http://schemas.microsoft.com/office/drawing/2014/main" id="{05F9F500-7031-75DE-11AF-317990435A70}"/>
                </a:ext>
                <a:ext uri="{C183D7F6-B498-43B3-948B-1728B52AA6E4}">
                  <adec:decorative xmlns:adec="http://schemas.microsoft.com/office/drawing/2017/decorative" val="1"/>
                </a:ext>
              </a:extLst>
            </p:cNvPr>
            <p:cNvCxnSpPr>
              <a:cxnSpLocks/>
              <a:stCxn id="11" idx="0"/>
              <a:endCxn id="20" idx="4"/>
            </p:cNvCxnSpPr>
            <p:nvPr/>
          </p:nvCxnSpPr>
          <p:spPr>
            <a:xfrm flipV="1">
              <a:off x="8219300" y="1440323"/>
              <a:ext cx="0" cy="35064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22" name="Straight Arrow Connector 21">
              <a:extLst>
                <a:ext uri="{FF2B5EF4-FFF2-40B4-BE49-F238E27FC236}">
                  <a16:creationId xmlns:a16="http://schemas.microsoft.com/office/drawing/2014/main" id="{D260589D-CD41-589D-890C-B5F442452970}"/>
                </a:ext>
                <a:ext uri="{C183D7F6-B498-43B3-948B-1728B52AA6E4}">
                  <adec:decorative xmlns:adec="http://schemas.microsoft.com/office/drawing/2017/decorative" val="1"/>
                </a:ext>
              </a:extLst>
            </p:cNvPr>
            <p:cNvCxnSpPr>
              <a:cxnSpLocks/>
            </p:cNvCxnSpPr>
            <p:nvPr/>
          </p:nvCxnSpPr>
          <p:spPr>
            <a:xfrm flipH="1" flipV="1">
              <a:off x="9515599" y="1440323"/>
              <a:ext cx="40" cy="35064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3" name="Rectangle 22">
              <a:extLst>
                <a:ext uri="{FF2B5EF4-FFF2-40B4-BE49-F238E27FC236}">
                  <a16:creationId xmlns:a16="http://schemas.microsoft.com/office/drawing/2014/main" id="{4B5075B7-46AC-9535-1429-94BA12910DD4}"/>
                </a:ext>
                <a:ext uri="{C183D7F6-B498-43B3-948B-1728B52AA6E4}">
                  <adec:decorative xmlns:adec="http://schemas.microsoft.com/office/drawing/2017/decorative" val="1"/>
                </a:ext>
              </a:extLst>
            </p:cNvPr>
            <p:cNvSpPr/>
            <p:nvPr/>
          </p:nvSpPr>
          <p:spPr>
            <a:xfrm>
              <a:off x="5997122" y="1702520"/>
              <a:ext cx="5147779" cy="554636"/>
            </a:xfrm>
            <a:prstGeom prst="rect">
              <a:avLst/>
            </a:prstGeom>
            <a:solidFill>
              <a:srgbClr val="747474">
                <a:alpha val="50196"/>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370FF5A-3D9A-B331-FE04-F8A18BCF85FE}"/>
                </a:ext>
              </a:extLst>
            </p:cNvPr>
            <p:cNvSpPr txBox="1"/>
            <p:nvPr/>
          </p:nvSpPr>
          <p:spPr>
            <a:xfrm>
              <a:off x="10538081" y="238024"/>
              <a:ext cx="805528" cy="369332"/>
            </a:xfrm>
            <a:prstGeom prst="rect">
              <a:avLst/>
            </a:prstGeom>
            <a:noFill/>
          </p:spPr>
          <p:txBody>
            <a:bodyPr wrap="square" rtlCol="0">
              <a:spAutoFit/>
            </a:bodyPr>
            <a:lstStyle/>
            <a:p>
              <a:r>
                <a:rPr lang="en-US" dirty="0"/>
                <a:t>HMM</a:t>
              </a:r>
            </a:p>
          </p:txBody>
        </p:sp>
        <mc:AlternateContent xmlns:mc="http://schemas.openxmlformats.org/markup-compatibility/2006" xmlns:a14="http://schemas.microsoft.com/office/drawing/2010/main">
          <mc:Choice Requires="a14">
            <p:sp>
              <p:nvSpPr>
                <p:cNvPr id="26" name="Oval 25" descr="Equation: b sub 1">
                  <a:extLst>
                    <a:ext uri="{FF2B5EF4-FFF2-40B4-BE49-F238E27FC236}">
                      <a16:creationId xmlns:a16="http://schemas.microsoft.com/office/drawing/2014/main" id="{7335BA6A-B10F-38BE-219F-2C458D9BDECA}"/>
                    </a:ext>
                  </a:extLst>
                </p:cNvPr>
                <p:cNvSpPr/>
                <p:nvPr/>
              </p:nvSpPr>
              <p:spPr>
                <a:xfrm>
                  <a:off x="6739996" y="432800"/>
                  <a:ext cx="381000" cy="381000"/>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oMath>
                    </m:oMathPara>
                  </a14:m>
                  <a:endParaRPr lang="en-US" dirty="0"/>
                </a:p>
              </p:txBody>
            </p:sp>
          </mc:Choice>
          <mc:Fallback xmlns="">
            <p:sp>
              <p:nvSpPr>
                <p:cNvPr id="26" name="Oval 25" descr="Equation: b sub 1">
                  <a:extLst>
                    <a:ext uri="{FF2B5EF4-FFF2-40B4-BE49-F238E27FC236}">
                      <a16:creationId xmlns:a16="http://schemas.microsoft.com/office/drawing/2014/main" id="{7335BA6A-B10F-38BE-219F-2C458D9BDECA}"/>
                    </a:ext>
                  </a:extLst>
                </p:cNvPr>
                <p:cNvSpPr>
                  <a:spLocks noRot="1" noChangeAspect="1" noMove="1" noResize="1" noEditPoints="1" noAdjustHandles="1" noChangeArrowheads="1" noChangeShapeType="1" noTextEdit="1"/>
                </p:cNvSpPr>
                <p:nvPr/>
              </p:nvSpPr>
              <p:spPr>
                <a:xfrm>
                  <a:off x="6739996" y="432800"/>
                  <a:ext cx="381000" cy="381000"/>
                </a:xfrm>
                <a:prstGeom prst="ellipse">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descr="Equation: b sub 0">
                  <a:extLst>
                    <a:ext uri="{FF2B5EF4-FFF2-40B4-BE49-F238E27FC236}">
                      <a16:creationId xmlns:a16="http://schemas.microsoft.com/office/drawing/2014/main" id="{B2E39AF5-7044-EA10-D71C-C9C467CA9F06}"/>
                    </a:ext>
                  </a:extLst>
                </p:cNvPr>
                <p:cNvSpPr/>
                <p:nvPr/>
              </p:nvSpPr>
              <p:spPr>
                <a:xfrm>
                  <a:off x="5997122" y="432800"/>
                  <a:ext cx="381000" cy="381000"/>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oMath>
                    </m:oMathPara>
                  </a14:m>
                  <a:endParaRPr lang="en-US" dirty="0"/>
                </a:p>
              </p:txBody>
            </p:sp>
          </mc:Choice>
          <mc:Fallback xmlns="">
            <p:sp>
              <p:nvSpPr>
                <p:cNvPr id="27" name="Oval 26" descr="Equation: b sub 0">
                  <a:extLst>
                    <a:ext uri="{FF2B5EF4-FFF2-40B4-BE49-F238E27FC236}">
                      <a16:creationId xmlns:a16="http://schemas.microsoft.com/office/drawing/2014/main" id="{B2E39AF5-7044-EA10-D71C-C9C467CA9F06}"/>
                    </a:ext>
                  </a:extLst>
                </p:cNvPr>
                <p:cNvSpPr>
                  <a:spLocks noRot="1" noChangeAspect="1" noMove="1" noResize="1" noEditPoints="1" noAdjustHandles="1" noChangeArrowheads="1" noChangeShapeType="1" noTextEdit="1"/>
                </p:cNvSpPr>
                <p:nvPr/>
              </p:nvSpPr>
              <p:spPr>
                <a:xfrm>
                  <a:off x="5997122" y="432800"/>
                  <a:ext cx="381000" cy="381000"/>
                </a:xfrm>
                <a:prstGeom prst="ellipse">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descr="Equation: b sub 2">
                  <a:extLst>
                    <a:ext uri="{FF2B5EF4-FFF2-40B4-BE49-F238E27FC236}">
                      <a16:creationId xmlns:a16="http://schemas.microsoft.com/office/drawing/2014/main" id="{98542C78-D913-C8E2-AC62-0A2ABDF27CBA}"/>
                    </a:ext>
                  </a:extLst>
                </p:cNvPr>
                <p:cNvSpPr/>
                <p:nvPr/>
              </p:nvSpPr>
              <p:spPr>
                <a:xfrm>
                  <a:off x="8028800" y="429996"/>
                  <a:ext cx="381000" cy="381000"/>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oMath>
                    </m:oMathPara>
                  </a14:m>
                  <a:endParaRPr lang="en-US" dirty="0"/>
                </a:p>
              </p:txBody>
            </p:sp>
          </mc:Choice>
          <mc:Fallback xmlns="">
            <p:sp>
              <p:nvSpPr>
                <p:cNvPr id="28" name="Oval 27" descr="Equation: b sub 2">
                  <a:extLst>
                    <a:ext uri="{FF2B5EF4-FFF2-40B4-BE49-F238E27FC236}">
                      <a16:creationId xmlns:a16="http://schemas.microsoft.com/office/drawing/2014/main" id="{98542C78-D913-C8E2-AC62-0A2ABDF27CBA}"/>
                    </a:ext>
                  </a:extLst>
                </p:cNvPr>
                <p:cNvSpPr>
                  <a:spLocks noRot="1" noChangeAspect="1" noMove="1" noResize="1" noEditPoints="1" noAdjustHandles="1" noChangeArrowheads="1" noChangeShapeType="1" noTextEdit="1"/>
                </p:cNvSpPr>
                <p:nvPr/>
              </p:nvSpPr>
              <p:spPr>
                <a:xfrm>
                  <a:off x="8028800" y="429996"/>
                  <a:ext cx="381000" cy="381000"/>
                </a:xfrm>
                <a:prstGeom prst="ellipse">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descr="Equation: b sub 3">
                  <a:extLst>
                    <a:ext uri="{FF2B5EF4-FFF2-40B4-BE49-F238E27FC236}">
                      <a16:creationId xmlns:a16="http://schemas.microsoft.com/office/drawing/2014/main" id="{D1A5130E-874E-0FB6-F746-CD3EF4FB03BE}"/>
                    </a:ext>
                  </a:extLst>
                </p:cNvPr>
                <p:cNvSpPr/>
                <p:nvPr/>
              </p:nvSpPr>
              <p:spPr>
                <a:xfrm>
                  <a:off x="9317604" y="429996"/>
                  <a:ext cx="381000" cy="381000"/>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3</m:t>
                            </m:r>
                          </m:sub>
                        </m:sSub>
                      </m:oMath>
                    </m:oMathPara>
                  </a14:m>
                  <a:endParaRPr lang="en-US" dirty="0"/>
                </a:p>
              </p:txBody>
            </p:sp>
          </mc:Choice>
          <mc:Fallback xmlns="">
            <p:sp>
              <p:nvSpPr>
                <p:cNvPr id="29" name="Oval 28" descr="Equation: b sub 3">
                  <a:extLst>
                    <a:ext uri="{FF2B5EF4-FFF2-40B4-BE49-F238E27FC236}">
                      <a16:creationId xmlns:a16="http://schemas.microsoft.com/office/drawing/2014/main" id="{D1A5130E-874E-0FB6-F746-CD3EF4FB03BE}"/>
                    </a:ext>
                  </a:extLst>
                </p:cNvPr>
                <p:cNvSpPr>
                  <a:spLocks noRot="1" noChangeAspect="1" noMove="1" noResize="1" noEditPoints="1" noAdjustHandles="1" noChangeArrowheads="1" noChangeShapeType="1" noTextEdit="1"/>
                </p:cNvSpPr>
                <p:nvPr/>
              </p:nvSpPr>
              <p:spPr>
                <a:xfrm>
                  <a:off x="9317604" y="429996"/>
                  <a:ext cx="381000" cy="381000"/>
                </a:xfrm>
                <a:prstGeom prst="ellipse">
                  <a:avLst/>
                </a:prstGeom>
                <a:blipFill>
                  <a:blip r:embed="rId12"/>
                  <a:stretch>
                    <a:fillRect/>
                  </a:stretch>
                </a:blipFill>
              </p:spPr>
              <p:txBody>
                <a:bodyPr/>
                <a:lstStyle/>
                <a:p>
                  <a:r>
                    <a:rPr lang="en-US">
                      <a:noFill/>
                    </a:rPr>
                    <a:t> </a:t>
                  </a:r>
                </a:p>
              </p:txBody>
            </p:sp>
          </mc:Fallback>
        </mc:AlternateContent>
        <p:cxnSp>
          <p:nvCxnSpPr>
            <p:cNvPr id="31" name="Straight Arrow Connector 30">
              <a:extLst>
                <a:ext uri="{FF2B5EF4-FFF2-40B4-BE49-F238E27FC236}">
                  <a16:creationId xmlns:a16="http://schemas.microsoft.com/office/drawing/2014/main" id="{344B6C8D-1805-80A7-1C28-C9168EF171D3}"/>
                </a:ext>
                <a:ext uri="{C183D7F6-B498-43B3-948B-1728B52AA6E4}">
                  <adec:decorative xmlns:adec="http://schemas.microsoft.com/office/drawing/2017/decorative" val="1"/>
                </a:ext>
              </a:extLst>
            </p:cNvPr>
            <p:cNvCxnSpPr>
              <a:stCxn id="17" idx="0"/>
              <a:endCxn id="26" idx="4"/>
            </p:cNvCxnSpPr>
            <p:nvPr/>
          </p:nvCxnSpPr>
          <p:spPr>
            <a:xfrm flipV="1">
              <a:off x="6930496" y="813800"/>
              <a:ext cx="0" cy="24552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2" name="Straight Arrow Connector 31">
              <a:extLst>
                <a:ext uri="{FF2B5EF4-FFF2-40B4-BE49-F238E27FC236}">
                  <a16:creationId xmlns:a16="http://schemas.microsoft.com/office/drawing/2014/main" id="{425EF212-6BB2-3EB5-7922-823F3ED3BD54}"/>
                </a:ext>
                <a:ext uri="{C183D7F6-B498-43B3-948B-1728B52AA6E4}">
                  <adec:decorative xmlns:adec="http://schemas.microsoft.com/office/drawing/2017/decorative" val="1"/>
                </a:ext>
              </a:extLst>
            </p:cNvPr>
            <p:cNvCxnSpPr>
              <a:cxnSpLocks/>
              <a:stCxn id="19" idx="0"/>
              <a:endCxn id="29" idx="4"/>
            </p:cNvCxnSpPr>
            <p:nvPr/>
          </p:nvCxnSpPr>
          <p:spPr>
            <a:xfrm flipV="1">
              <a:off x="9508104" y="810996"/>
              <a:ext cx="0" cy="24832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3" name="Straight Arrow Connector 32">
              <a:extLst>
                <a:ext uri="{FF2B5EF4-FFF2-40B4-BE49-F238E27FC236}">
                  <a16:creationId xmlns:a16="http://schemas.microsoft.com/office/drawing/2014/main" id="{40100BFC-8785-AF63-3F22-4AA107AB380C}"/>
                </a:ext>
                <a:ext uri="{C183D7F6-B498-43B3-948B-1728B52AA6E4}">
                  <adec:decorative xmlns:adec="http://schemas.microsoft.com/office/drawing/2017/decorative" val="1"/>
                </a:ext>
              </a:extLst>
            </p:cNvPr>
            <p:cNvCxnSpPr>
              <a:cxnSpLocks/>
              <a:stCxn id="20" idx="0"/>
              <a:endCxn id="28" idx="4"/>
            </p:cNvCxnSpPr>
            <p:nvPr/>
          </p:nvCxnSpPr>
          <p:spPr>
            <a:xfrm flipV="1">
              <a:off x="8219300" y="810996"/>
              <a:ext cx="0" cy="24832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41" name="Straight Arrow Connector 40">
              <a:extLst>
                <a:ext uri="{FF2B5EF4-FFF2-40B4-BE49-F238E27FC236}">
                  <a16:creationId xmlns:a16="http://schemas.microsoft.com/office/drawing/2014/main" id="{0C05BFCA-8253-2611-66C3-BDA48136E09E}"/>
                </a:ext>
                <a:ext uri="{C183D7F6-B498-43B3-948B-1728B52AA6E4}">
                  <adec:decorative xmlns:adec="http://schemas.microsoft.com/office/drawing/2017/decorative" val="1"/>
                </a:ext>
              </a:extLst>
            </p:cNvPr>
            <p:cNvCxnSpPr>
              <a:cxnSpLocks/>
              <a:stCxn id="27" idx="6"/>
              <a:endCxn id="26" idx="2"/>
            </p:cNvCxnSpPr>
            <p:nvPr/>
          </p:nvCxnSpPr>
          <p:spPr>
            <a:xfrm>
              <a:off x="6378122" y="623300"/>
              <a:ext cx="361874"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44" name="Straight Arrow Connector 43">
              <a:extLst>
                <a:ext uri="{FF2B5EF4-FFF2-40B4-BE49-F238E27FC236}">
                  <a16:creationId xmlns:a16="http://schemas.microsoft.com/office/drawing/2014/main" id="{00D68FB3-4B8A-7720-2B0A-A40F83B4494B}"/>
                </a:ext>
                <a:ext uri="{C183D7F6-B498-43B3-948B-1728B52AA6E4}">
                  <adec:decorative xmlns:adec="http://schemas.microsoft.com/office/drawing/2017/decorative" val="1"/>
                </a:ext>
              </a:extLst>
            </p:cNvPr>
            <p:cNvCxnSpPr>
              <a:cxnSpLocks/>
              <a:stCxn id="26" idx="6"/>
              <a:endCxn id="28" idx="2"/>
            </p:cNvCxnSpPr>
            <p:nvPr/>
          </p:nvCxnSpPr>
          <p:spPr>
            <a:xfrm flipV="1">
              <a:off x="7120996" y="620496"/>
              <a:ext cx="907804" cy="280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47" name="Straight Arrow Connector 46">
              <a:extLst>
                <a:ext uri="{FF2B5EF4-FFF2-40B4-BE49-F238E27FC236}">
                  <a16:creationId xmlns:a16="http://schemas.microsoft.com/office/drawing/2014/main" id="{9D4E0E40-ED11-1D82-0B93-3DA17CD32E9D}"/>
                </a:ext>
                <a:ext uri="{C183D7F6-B498-43B3-948B-1728B52AA6E4}">
                  <adec:decorative xmlns:adec="http://schemas.microsoft.com/office/drawing/2017/decorative" val="1"/>
                </a:ext>
              </a:extLst>
            </p:cNvPr>
            <p:cNvCxnSpPr>
              <a:cxnSpLocks/>
              <a:stCxn id="28" idx="6"/>
              <a:endCxn id="29" idx="2"/>
            </p:cNvCxnSpPr>
            <p:nvPr/>
          </p:nvCxnSpPr>
          <p:spPr>
            <a:xfrm>
              <a:off x="8409800" y="620496"/>
              <a:ext cx="907804"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50" name="Straight Arrow Connector 49">
              <a:extLst>
                <a:ext uri="{FF2B5EF4-FFF2-40B4-BE49-F238E27FC236}">
                  <a16:creationId xmlns:a16="http://schemas.microsoft.com/office/drawing/2014/main" id="{FE59BDBF-6070-541A-CD4C-4EE9245BD5FF}"/>
                </a:ext>
                <a:ext uri="{C183D7F6-B498-43B3-948B-1728B52AA6E4}">
                  <adec:decorative xmlns:adec="http://schemas.microsoft.com/office/drawing/2017/decorative" val="1"/>
                </a:ext>
              </a:extLst>
            </p:cNvPr>
            <p:cNvCxnSpPr>
              <a:cxnSpLocks/>
              <a:stCxn id="29" idx="6"/>
            </p:cNvCxnSpPr>
            <p:nvPr/>
          </p:nvCxnSpPr>
          <p:spPr>
            <a:xfrm flipV="1">
              <a:off x="9698604" y="610633"/>
              <a:ext cx="789517" cy="986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grpSp>
      <mc:AlternateContent xmlns:mc="http://schemas.openxmlformats.org/markup-compatibility/2006" xmlns:a14="http://schemas.microsoft.com/office/drawing/2010/main">
        <mc:Choice Requires="a14">
          <p:sp>
            <p:nvSpPr>
              <p:cNvPr id="3" name="Content Placeholder 2" descr="A sufficient statistic to make a decision is a belief state b sub t, a probability distribution over all states s in S with elements b sub t (s) equals Pr(S sub t equals s given o sub 1,o sub 2, dot dot dot o sub t) . We need:. Initial state distribution: b sub 0 equals Pr(S sub 0). Transition probabilities: Pr (s sub t | s sub t minus 1). Observation probabilities: Pr (o sub t | s sub t). A HMM is a special type of a Dynamic Bayesian Network (DBN) and belief states can be updated with observations o sub t using Bayesian updates (prediction and filtering):. b sub t (s sub t) is proportional to Pr(o sub t given s sub t) the sum over s sub t minus 1, in S, of Pr of (s sub t given s sub t minus 1) b sub t minus 1, (s sub t minus 1). Issue for RL: Bayesian belief monitoring requires access to the transition and observation probabilities">
                <a:extLst>
                  <a:ext uri="{FF2B5EF4-FFF2-40B4-BE49-F238E27FC236}">
                    <a16:creationId xmlns:a16="http://schemas.microsoft.com/office/drawing/2014/main" id="{EE72083D-3162-C7DB-26F0-0F5F7B396DF4}"/>
                  </a:ext>
                </a:extLst>
              </p:cNvPr>
              <p:cNvSpPr>
                <a:spLocks noGrp="1"/>
              </p:cNvSpPr>
              <p:nvPr>
                <p:ph idx="1"/>
              </p:nvPr>
            </p:nvSpPr>
            <p:spPr>
              <a:xfrm>
                <a:off x="847052" y="2842924"/>
                <a:ext cx="10515600" cy="3777051"/>
              </a:xfrm>
            </p:spPr>
            <p:txBody>
              <a:bodyPr>
                <a:normAutofit fontScale="70000" lnSpcReduction="20000"/>
              </a:bodyPr>
              <a:lstStyle/>
              <a:p>
                <a:r>
                  <a:rPr lang="en-US" dirty="0"/>
                  <a:t>A sufficient statistic to make a decision is a belief state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𝒃</m:t>
                        </m:r>
                      </m:e>
                      <m:sub>
                        <m:r>
                          <a:rPr lang="en-US" b="1" i="1" smtClean="0">
                            <a:latin typeface="Cambria Math" panose="02040503050406030204" pitchFamily="18" charset="0"/>
                          </a:rPr>
                          <m:t>𝒕</m:t>
                        </m:r>
                      </m:sub>
                    </m:sSub>
                  </m:oMath>
                </a14:m>
                <a:r>
                  <a:rPr lang="en-US" dirty="0"/>
                  <a:t>, a probability distribution over all states </a:t>
                </a:r>
                <a14:m>
                  <m:oMath xmlns:m="http://schemas.openxmlformats.org/officeDocument/2006/math">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𝒮</m:t>
                    </m:r>
                  </m:oMath>
                </a14:m>
                <a:r>
                  <a:rPr lang="en-US" dirty="0"/>
                  <a:t> with elements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𝑡</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r>
                      <m:rPr>
                        <m:sty m:val="p"/>
                      </m:rPr>
                      <a:rPr lang="en-US" b="0" i="0" smtClean="0">
                        <a:latin typeface="Cambria Math" panose="02040503050406030204" pitchFamily="18" charset="0"/>
                      </a:rPr>
                      <m:t>Pr</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r>
                  <a:rPr lang="en-US" dirty="0"/>
                  <a:t>. We need: </a:t>
                </a:r>
              </a:p>
              <a:p>
                <a:pPr lvl="1">
                  <a:lnSpc>
                    <a:spcPct val="120000"/>
                  </a:lnSpc>
                </a:pPr>
                <a:r>
                  <a:rPr lang="en-US" dirty="0"/>
                  <a:t>Initial state distribution: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𝒃</m:t>
                        </m:r>
                      </m:e>
                      <m:sub>
                        <m:r>
                          <a:rPr lang="en-US" b="1" i="1" smtClean="0">
                            <a:latin typeface="Cambria Math" panose="02040503050406030204" pitchFamily="18" charset="0"/>
                          </a:rPr>
                          <m:t>𝟎</m:t>
                        </m:r>
                      </m:sub>
                    </m:sSub>
                    <m:r>
                      <a:rPr lang="en-US" b="0" i="0" smtClean="0">
                        <a:latin typeface="Cambria Math" panose="02040503050406030204" pitchFamily="18" charset="0"/>
                      </a:rPr>
                      <m:t>=</m:t>
                    </m:r>
                    <m:r>
                      <m:rPr>
                        <m:sty m:val="p"/>
                      </m:rPr>
                      <a:rPr lang="en-US" b="0" i="0" smtClean="0">
                        <a:latin typeface="Cambria Math" panose="02040503050406030204" pitchFamily="18" charset="0"/>
                      </a:rPr>
                      <m:t>Pr</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a14:m>
                <a:endParaRPr lang="en-US" dirty="0"/>
              </a:p>
              <a:p>
                <a:pPr lvl="1">
                  <a:lnSpc>
                    <a:spcPct val="120000"/>
                  </a:lnSpc>
                </a:pPr>
                <a:r>
                  <a:rPr lang="en-US" dirty="0"/>
                  <a:t>Transition probabilities: </a:t>
                </a:r>
                <a:r>
                  <a:rPr lang="en-US" i="1" dirty="0">
                    <a:latin typeface="Cambria Math" panose="02040503050406030204" pitchFamily="18" charset="0"/>
                  </a:rPr>
                  <a:t> 	</a:t>
                </a:r>
                <a:r>
                  <a:rPr lang="en-US" dirty="0" err="1">
                    <a:latin typeface="Cambria Math" panose="02040503050406030204" pitchFamily="18" charset="0"/>
                  </a:rPr>
                  <a:t>Pr</a:t>
                </a:r>
                <a14:m>
                  <m:oMath xmlns:m="http://schemas.openxmlformats.org/officeDocument/2006/math">
                    <m:d>
                      <m:dPr>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𝑡</m:t>
                            </m:r>
                          </m:sub>
                        </m:sSub>
                      </m:e>
                    </m:d>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𝑡</m:t>
                        </m:r>
                        <m:r>
                          <a:rPr lang="en-US" i="1" dirty="0">
                            <a:latin typeface="Cambria Math" panose="02040503050406030204" pitchFamily="18" charset="0"/>
                          </a:rPr>
                          <m:t>−1</m:t>
                        </m:r>
                      </m:sub>
                    </m:sSub>
                    <m:r>
                      <a:rPr lang="en-US" i="1" dirty="0">
                        <a:latin typeface="Cambria Math" panose="02040503050406030204" pitchFamily="18" charset="0"/>
                      </a:rPr>
                      <m:t>) </m:t>
                    </m:r>
                  </m:oMath>
                </a14:m>
                <a:endParaRPr lang="en-US" dirty="0">
                  <a:latin typeface="Cambria Math" panose="02040503050406030204" pitchFamily="18" charset="0"/>
                </a:endParaRPr>
              </a:p>
              <a:p>
                <a:pPr lvl="1">
                  <a:lnSpc>
                    <a:spcPct val="120000"/>
                  </a:lnSpc>
                </a:pPr>
                <a:r>
                  <a:rPr lang="en-US" dirty="0"/>
                  <a:t>Observation probabilities: 	</a:t>
                </a:r>
                <a:r>
                  <a:rPr lang="en-US" dirty="0" err="1">
                    <a:latin typeface="Cambria Math" panose="02040503050406030204" pitchFamily="18" charset="0"/>
                  </a:rPr>
                  <a:t>Pr</a:t>
                </a:r>
                <a14:m>
                  <m:oMath xmlns:m="http://schemas.openxmlformats.org/officeDocument/2006/math">
                    <m:d>
                      <m:dPr>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𝑜</m:t>
                            </m:r>
                          </m:e>
                          <m:sub>
                            <m:r>
                              <a:rPr lang="en-US" i="1" dirty="0">
                                <a:latin typeface="Cambria Math" panose="02040503050406030204" pitchFamily="18" charset="0"/>
                              </a:rPr>
                              <m:t>𝑡</m:t>
                            </m:r>
                          </m:sub>
                        </m:sSub>
                      </m:e>
                    </m:d>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𝑡</m:t>
                        </m:r>
                      </m:sub>
                    </m:sSub>
                    <m:r>
                      <a:rPr lang="en-US" i="1" dirty="0">
                        <a:latin typeface="Cambria Math" panose="02040503050406030204" pitchFamily="18" charset="0"/>
                      </a:rPr>
                      <m:t>)</m:t>
                    </m:r>
                  </m:oMath>
                </a14:m>
                <a:endParaRPr lang="en-US" dirty="0"/>
              </a:p>
              <a:p>
                <a:pPr>
                  <a:lnSpc>
                    <a:spcPct val="120000"/>
                  </a:lnSpc>
                </a:pPr>
                <a:r>
                  <a:rPr lang="en-US" dirty="0"/>
                  <a:t>A HMM is a special type of a </a:t>
                </a:r>
                <a:r>
                  <a:rPr lang="en-US" b="1" dirty="0"/>
                  <a:t>Dynamic Bayesian Network (DBN) </a:t>
                </a:r>
                <a:r>
                  <a:rPr lang="en-US" dirty="0"/>
                  <a:t>and belief states can be updated with observations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𝑡</m:t>
                        </m:r>
                      </m:sub>
                    </m:sSub>
                  </m:oMath>
                </a14:m>
                <a:r>
                  <a:rPr lang="en-US" dirty="0"/>
                  <a:t> using Bayesian updates (prediction and filtering):</a:t>
                </a:r>
              </a:p>
              <a:p>
                <a:pPr marL="457200" lvl="1" indent="0">
                  <a:lnSpc>
                    <a:spcPct val="120000"/>
                  </a:lnSpc>
                  <a:buNone/>
                </a:pPr>
                <a14:m>
                  <m:oMathPara xmlns:m="http://schemas.openxmlformats.org/officeDocument/2006/math">
                    <m:oMath>
                      <m:sSub>
                        <m:sSubPr>
                          <m:ctrlPr>
                            <a:rPr lang="en-US" i="1" smtClean="0">
                              <a:latin typeface="Cambria Math" panose="02040503050406030204" pitchFamily="18" charset="0"/>
                            </a:rPr>
                          </m:ctrlPr>
                        </m:sSubPr>
                        <m:e>
                          <m:r>
                            <a:rPr lang="en-US" i="1" smtClean="0">
                              <a:latin typeface="Cambria Math" panose="02040503050406030204" pitchFamily="18" charset="0"/>
                            </a:rPr>
                            <m:t>𝑏</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Pr</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𝑜</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nary>
                        <m:naryPr>
                          <m:chr m:val="∑"/>
                          <m:supHide m:val="on"/>
                          <m:ctrlPr>
                            <a:rPr lang="en-US" i="1">
                              <a:latin typeface="Cambria Math" panose="02040503050406030204" pitchFamily="18" charset="0"/>
                              <a:ea typeface="Cambria Math" panose="02040503050406030204" pitchFamily="18" charset="0"/>
                            </a:rPr>
                          </m:ctrlPr>
                        </m:naryPr>
                        <m:sub>
                          <m:sSub>
                            <m:sSubPr>
                              <m:ctrlPr>
                                <a:rPr lang="en-US" i="1">
                                  <a:latin typeface="Cambria Math" panose="02040503050406030204" pitchFamily="18" charset="0"/>
                                  <a:ea typeface="Cambria Math" panose="02040503050406030204" pitchFamily="18" charset="0"/>
                                </a:rPr>
                              </m:ctrlPr>
                            </m:sSubPr>
                            <m:e>
                              <m:r>
                                <m:rPr>
                                  <m:brk m:alnAt="7"/>
                                </m:rPr>
                                <a:rPr lang="en-US" i="1">
                                  <a:latin typeface="Cambria Math" panose="02040503050406030204" pitchFamily="18" charset="0"/>
                                  <a:ea typeface="Cambria Math" panose="02040503050406030204" pitchFamily="18" charset="0"/>
                                </a:rPr>
                                <m:t>𝑠</m:t>
                              </m:r>
                            </m:e>
                            <m:sub>
                              <m:r>
                                <m:rPr>
                                  <m:brk m:alnAt="7"/>
                                </m:rP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𝒮</m:t>
                          </m:r>
                        </m:sub>
                        <m:sup/>
                        <m:e>
                          <m:func>
                            <m:funcPr>
                              <m:ctrlPr>
                                <a:rPr lang="en-US">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Pr</m:t>
                              </m:r>
                            </m:fName>
                            <m:e>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𝑡</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𝑠</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d>
                            </m:e>
                          </m:func>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e>
                      </m:nary>
                      <m:r>
                        <a:rPr lang="en-US" i="1">
                          <a:latin typeface="Cambria Math" panose="02040503050406030204" pitchFamily="18" charset="0"/>
                          <a:ea typeface="Cambria Math" panose="02040503050406030204" pitchFamily="18" charset="0"/>
                        </a:rPr>
                        <m:t> </m:t>
                      </m:r>
                    </m:oMath>
                  </m:oMathPara>
                </a14:m>
                <a:endParaRPr lang="en-US" dirty="0"/>
              </a:p>
              <a:p>
                <a:pPr>
                  <a:lnSpc>
                    <a:spcPct val="120000"/>
                  </a:lnSpc>
                </a:pPr>
                <a:r>
                  <a:rPr lang="en-US" b="1" dirty="0"/>
                  <a:t>Issue for RL</a:t>
                </a:r>
                <a:r>
                  <a:rPr lang="en-US" dirty="0"/>
                  <a:t>: Bayesian belief monitoring requires access to the transition and observation probabilities.</a:t>
                </a:r>
              </a:p>
              <a:p>
                <a:pPr lvl="1">
                  <a:lnSpc>
                    <a:spcPct val="120000"/>
                  </a:lnSpc>
                </a:pPr>
                <a:endParaRPr lang="en-US" dirty="0"/>
              </a:p>
            </p:txBody>
          </p:sp>
        </mc:Choice>
        <mc:Fallback xmlns="">
          <p:sp>
            <p:nvSpPr>
              <p:cNvPr id="3" name="Content Placeholder 2" descr="A sufficient statistic to make a decision is a belief state b sub t, a probability distribution over all states s in S with elements b sub t (s) equals Pr(S sub t equals s given o sub 1,o sub 2, dot dot dot o sub t) . We need:. Initial state distribution: b sub 0 equals Pr(S sub 0). Transition probabilities: Pr (s sub t | s sub t minus 1). Observation probabilities: Pr (o sub t | s sub t). A HMM is a special type of a Dynamic Bayesian Network (DBN) and belief states can be updated with observations o sub t using Bayesian updates (prediction and filtering):. b sub t (s sub t) is proportional to Pr(o sub t given s sub t) the sum over s sub t minus 1, in S, of Pr of (s sub t given s sub t minus 1) b sub t minus 1, (s sub t minus 1). Issue for RL: Bayesian belief monitoring requires access to the transition and observation probabilities">
                <a:extLst>
                  <a:ext uri="{FF2B5EF4-FFF2-40B4-BE49-F238E27FC236}">
                    <a16:creationId xmlns:a16="http://schemas.microsoft.com/office/drawing/2014/main" id="{EE72083D-3162-C7DB-26F0-0F5F7B396DF4}"/>
                  </a:ext>
                </a:extLst>
              </p:cNvPr>
              <p:cNvSpPr>
                <a:spLocks noGrp="1" noRot="1" noChangeAspect="1" noMove="1" noResize="1" noEditPoints="1" noAdjustHandles="1" noChangeArrowheads="1" noChangeShapeType="1" noTextEdit="1"/>
              </p:cNvSpPr>
              <p:nvPr>
                <p:ph idx="1"/>
              </p:nvPr>
            </p:nvSpPr>
            <p:spPr>
              <a:xfrm>
                <a:off x="847052" y="2842924"/>
                <a:ext cx="10515600" cy="3777051"/>
              </a:xfrm>
              <a:blipFill>
                <a:blip r:embed="rId2"/>
                <a:stretch>
                  <a:fillRect l="-522" t="-2742" b="-2258"/>
                </a:stretch>
              </a:blipFill>
            </p:spPr>
            <p:txBody>
              <a:bodyPr/>
              <a:lstStyle/>
              <a:p>
                <a:r>
                  <a:rPr lang="en-US">
                    <a:noFill/>
                  </a:rPr>
                  <a:t> </a:t>
                </a:r>
              </a:p>
            </p:txBody>
          </p:sp>
        </mc:Fallback>
      </mc:AlternateContent>
    </p:spTree>
    <p:extLst>
      <p:ext uri="{BB962C8B-B14F-4D97-AF65-F5344CB8AC3E}">
        <p14:creationId xmlns:p14="http://schemas.microsoft.com/office/powerpoint/2010/main" val="1073596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B8A97-96AA-2C0C-0DF0-65972F4C9E51}"/>
              </a:ext>
            </a:extLst>
          </p:cNvPr>
          <p:cNvSpPr>
            <a:spLocks noGrp="1"/>
          </p:cNvSpPr>
          <p:nvPr>
            <p:ph type="title"/>
          </p:nvPr>
        </p:nvSpPr>
        <p:spPr/>
        <p:txBody>
          <a:bodyPr>
            <a:normAutofit/>
          </a:bodyPr>
          <a:lstStyle/>
          <a:p>
            <a:r>
              <a:rPr lang="en-US" dirty="0"/>
              <a:t>Deep Belief Monitoring with RNNs</a:t>
            </a:r>
          </a:p>
        </p:txBody>
      </p:sp>
      <p:sp>
        <p:nvSpPr>
          <p:cNvPr id="77" name="TextBox 76">
            <a:extLst>
              <a:ext uri="{FF2B5EF4-FFF2-40B4-BE49-F238E27FC236}">
                <a16:creationId xmlns:a16="http://schemas.microsoft.com/office/drawing/2014/main" id="{97B1EAD5-9A4B-99A1-2C57-9C771BB92C86}"/>
              </a:ext>
            </a:extLst>
          </p:cNvPr>
          <p:cNvSpPr txBox="1"/>
          <p:nvPr/>
        </p:nvSpPr>
        <p:spPr>
          <a:xfrm>
            <a:off x="896053" y="1198706"/>
            <a:ext cx="6096000" cy="369332"/>
          </a:xfrm>
          <a:prstGeom prst="rect">
            <a:avLst/>
          </a:prstGeom>
          <a:noFill/>
        </p:spPr>
        <p:txBody>
          <a:bodyPr wrap="square">
            <a:spAutoFit/>
          </a:bodyPr>
          <a:lstStyle/>
          <a:p>
            <a:r>
              <a:rPr lang="en-US" dirty="0"/>
              <a:t>Recurrent Neural Networks (RNNs)</a:t>
            </a:r>
          </a:p>
        </p:txBody>
      </p:sp>
      <p:grpSp>
        <p:nvGrpSpPr>
          <p:cNvPr id="73" name="Group 72" descr="Recurrent neural network cell: observation o_t feeds the hidden state h_t, which has a loop back to itself, and h_t produces the Q-values q_t. Equations: q_t = f(V h_t) and h_t = g(U h_t−1 + W o_t).">
            <a:extLst>
              <a:ext uri="{FF2B5EF4-FFF2-40B4-BE49-F238E27FC236}">
                <a16:creationId xmlns:a16="http://schemas.microsoft.com/office/drawing/2014/main" id="{10B10DBC-8693-9616-0B27-C3EF1BCB7C46}"/>
              </a:ext>
            </a:extLst>
          </p:cNvPr>
          <p:cNvGrpSpPr/>
          <p:nvPr/>
        </p:nvGrpSpPr>
        <p:grpSpPr>
          <a:xfrm>
            <a:off x="1747445" y="1781267"/>
            <a:ext cx="381000" cy="1828488"/>
            <a:chOff x="2432560" y="1531239"/>
            <a:chExt cx="381000" cy="1828488"/>
          </a:xfrm>
        </p:grpSpPr>
        <mc:AlternateContent xmlns:mc="http://schemas.openxmlformats.org/markup-compatibility/2006" xmlns:a14="http://schemas.microsoft.com/office/drawing/2010/main">
          <mc:Choice Requires="a14">
            <p:sp>
              <p:nvSpPr>
                <p:cNvPr id="51" name="Oval 50" descr="Equation: o sub t">
                  <a:extLst>
                    <a:ext uri="{FF2B5EF4-FFF2-40B4-BE49-F238E27FC236}">
                      <a16:creationId xmlns:a16="http://schemas.microsoft.com/office/drawing/2014/main" id="{3457F713-49D3-5F7A-0EAB-D23FDB3021BE}"/>
                    </a:ext>
                  </a:extLst>
                </p:cNvPr>
                <p:cNvSpPr/>
                <p:nvPr/>
              </p:nvSpPr>
              <p:spPr>
                <a:xfrm>
                  <a:off x="2432560" y="2978727"/>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𝑡</m:t>
                            </m:r>
                          </m:sub>
                        </m:sSub>
                      </m:oMath>
                    </m:oMathPara>
                  </a14:m>
                  <a:endParaRPr lang="en-US" dirty="0"/>
                </a:p>
              </p:txBody>
            </p:sp>
          </mc:Choice>
          <mc:Fallback xmlns="">
            <p:sp>
              <p:nvSpPr>
                <p:cNvPr id="51" name="Oval 50" descr="Equation: o sub t">
                  <a:extLst>
                    <a:ext uri="{FF2B5EF4-FFF2-40B4-BE49-F238E27FC236}">
                      <a16:creationId xmlns:a16="http://schemas.microsoft.com/office/drawing/2014/main" id="{3457F713-49D3-5F7A-0EAB-D23FDB3021BE}"/>
                    </a:ext>
                  </a:extLst>
                </p:cNvPr>
                <p:cNvSpPr>
                  <a:spLocks noRot="1" noChangeAspect="1" noMove="1" noResize="1" noEditPoints="1" noAdjustHandles="1" noChangeArrowheads="1" noChangeShapeType="1" noTextEdit="1"/>
                </p:cNvSpPr>
                <p:nvPr/>
              </p:nvSpPr>
              <p:spPr>
                <a:xfrm>
                  <a:off x="2432560" y="2978727"/>
                  <a:ext cx="381000" cy="381000"/>
                </a:xfrm>
                <a:prstGeom prst="ellipse">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Oval 51" descr="Equation: h sub t">
                  <a:extLst>
                    <a:ext uri="{FF2B5EF4-FFF2-40B4-BE49-F238E27FC236}">
                      <a16:creationId xmlns:a16="http://schemas.microsoft.com/office/drawing/2014/main" id="{0E5964E8-E138-9657-0548-FCD86F5ED5B1}"/>
                    </a:ext>
                  </a:extLst>
                </p:cNvPr>
                <p:cNvSpPr/>
                <p:nvPr/>
              </p:nvSpPr>
              <p:spPr>
                <a:xfrm>
                  <a:off x="2432560" y="2183745"/>
                  <a:ext cx="381000" cy="381000"/>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𝑡</m:t>
                            </m:r>
                          </m:sub>
                        </m:sSub>
                      </m:oMath>
                    </m:oMathPara>
                  </a14:m>
                  <a:endParaRPr lang="en-US" dirty="0"/>
                </a:p>
              </p:txBody>
            </p:sp>
          </mc:Choice>
          <mc:Fallback xmlns="">
            <p:sp>
              <p:nvSpPr>
                <p:cNvPr id="52" name="Oval 51" descr="Equation: h sub t">
                  <a:extLst>
                    <a:ext uri="{FF2B5EF4-FFF2-40B4-BE49-F238E27FC236}">
                      <a16:creationId xmlns:a16="http://schemas.microsoft.com/office/drawing/2014/main" id="{0E5964E8-E138-9657-0548-FCD86F5ED5B1}"/>
                    </a:ext>
                  </a:extLst>
                </p:cNvPr>
                <p:cNvSpPr>
                  <a:spLocks noRot="1" noChangeAspect="1" noMove="1" noResize="1" noEditPoints="1" noAdjustHandles="1" noChangeArrowheads="1" noChangeShapeType="1" noTextEdit="1"/>
                </p:cNvSpPr>
                <p:nvPr/>
              </p:nvSpPr>
              <p:spPr>
                <a:xfrm>
                  <a:off x="2432560" y="2183745"/>
                  <a:ext cx="381000" cy="381000"/>
                </a:xfrm>
                <a:prstGeom prst="ellipse">
                  <a:avLst/>
                </a:prstGeom>
                <a:blipFill>
                  <a:blip r:embed="rId3"/>
                  <a:stretch>
                    <a:fillRect/>
                  </a:stretch>
                </a:blipFill>
              </p:spPr>
              <p:txBody>
                <a:bodyPr/>
                <a:lstStyle/>
                <a:p>
                  <a:r>
                    <a:rPr lang="en-US">
                      <a:noFill/>
                    </a:rPr>
                    <a:t> </a:t>
                  </a:r>
                </a:p>
              </p:txBody>
            </p:sp>
          </mc:Fallback>
        </mc:AlternateContent>
        <p:cxnSp>
          <p:nvCxnSpPr>
            <p:cNvPr id="53" name="Straight Arrow Connector 52">
              <a:extLst>
                <a:ext uri="{FF2B5EF4-FFF2-40B4-BE49-F238E27FC236}">
                  <a16:creationId xmlns:a16="http://schemas.microsoft.com/office/drawing/2014/main" id="{95EF5960-5B80-4D00-DC8D-56455240F7EE}"/>
                </a:ext>
                <a:ext uri="{C183D7F6-B498-43B3-948B-1728B52AA6E4}">
                  <adec:decorative xmlns:adec="http://schemas.microsoft.com/office/drawing/2017/decorative" val="1"/>
                </a:ext>
              </a:extLst>
            </p:cNvPr>
            <p:cNvCxnSpPr>
              <a:stCxn id="51" idx="0"/>
              <a:endCxn id="52" idx="4"/>
            </p:cNvCxnSpPr>
            <p:nvPr/>
          </p:nvCxnSpPr>
          <p:spPr>
            <a:xfrm flipV="1">
              <a:off x="2623060" y="2564745"/>
              <a:ext cx="0" cy="41398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sp>
              <p:nvSpPr>
                <p:cNvPr id="54" name="Oval 53" descr="Equation: q sub t">
                  <a:extLst>
                    <a:ext uri="{FF2B5EF4-FFF2-40B4-BE49-F238E27FC236}">
                      <a16:creationId xmlns:a16="http://schemas.microsoft.com/office/drawing/2014/main" id="{2F049BF1-4A53-B9B9-A1A6-0AA1764B3851}"/>
                    </a:ext>
                  </a:extLst>
                </p:cNvPr>
                <p:cNvSpPr/>
                <p:nvPr/>
              </p:nvSpPr>
              <p:spPr>
                <a:xfrm>
                  <a:off x="2432560" y="1531239"/>
                  <a:ext cx="381000" cy="38100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𝑡</m:t>
                            </m:r>
                          </m:sub>
                        </m:sSub>
                      </m:oMath>
                    </m:oMathPara>
                  </a14:m>
                  <a:endParaRPr lang="en-US" dirty="0"/>
                </a:p>
              </p:txBody>
            </p:sp>
          </mc:Choice>
          <mc:Fallback xmlns="">
            <p:sp>
              <p:nvSpPr>
                <p:cNvPr id="54" name="Oval 53" descr="Equation: q sub t">
                  <a:extLst>
                    <a:ext uri="{FF2B5EF4-FFF2-40B4-BE49-F238E27FC236}">
                      <a16:creationId xmlns:a16="http://schemas.microsoft.com/office/drawing/2014/main" id="{2F049BF1-4A53-B9B9-A1A6-0AA1764B3851}"/>
                    </a:ext>
                  </a:extLst>
                </p:cNvPr>
                <p:cNvSpPr>
                  <a:spLocks noRot="1" noChangeAspect="1" noMove="1" noResize="1" noEditPoints="1" noAdjustHandles="1" noChangeArrowheads="1" noChangeShapeType="1" noTextEdit="1"/>
                </p:cNvSpPr>
                <p:nvPr/>
              </p:nvSpPr>
              <p:spPr>
                <a:xfrm>
                  <a:off x="2432560" y="1531239"/>
                  <a:ext cx="381000" cy="381000"/>
                </a:xfrm>
                <a:prstGeom prst="ellipse">
                  <a:avLst/>
                </a:prstGeom>
                <a:blipFill>
                  <a:blip r:embed="rId4"/>
                  <a:stretch>
                    <a:fillRect b="-1493"/>
                  </a:stretch>
                </a:blipFill>
              </p:spPr>
              <p:txBody>
                <a:bodyPr/>
                <a:lstStyle/>
                <a:p>
                  <a:r>
                    <a:rPr lang="en-US">
                      <a:noFill/>
                    </a:rPr>
                    <a:t> </a:t>
                  </a:r>
                </a:p>
              </p:txBody>
            </p:sp>
          </mc:Fallback>
        </mc:AlternateContent>
        <p:cxnSp>
          <p:nvCxnSpPr>
            <p:cNvPr id="55" name="Straight Arrow Connector 54">
              <a:extLst>
                <a:ext uri="{FF2B5EF4-FFF2-40B4-BE49-F238E27FC236}">
                  <a16:creationId xmlns:a16="http://schemas.microsoft.com/office/drawing/2014/main" id="{015845B8-26BD-2D2E-6DD0-88234589188D}"/>
                </a:ext>
                <a:ext uri="{C183D7F6-B498-43B3-948B-1728B52AA6E4}">
                  <adec:decorative xmlns:adec="http://schemas.microsoft.com/office/drawing/2017/decorative" val="1"/>
                </a:ext>
              </a:extLst>
            </p:cNvPr>
            <p:cNvCxnSpPr>
              <a:cxnSpLocks/>
              <a:stCxn id="52" idx="0"/>
              <a:endCxn id="54" idx="4"/>
            </p:cNvCxnSpPr>
            <p:nvPr/>
          </p:nvCxnSpPr>
          <p:spPr>
            <a:xfrm flipV="1">
              <a:off x="2623060" y="1912239"/>
              <a:ext cx="0" cy="271506"/>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57" name="Connector: Curved 56">
              <a:extLst>
                <a:ext uri="{FF2B5EF4-FFF2-40B4-BE49-F238E27FC236}">
                  <a16:creationId xmlns:a16="http://schemas.microsoft.com/office/drawing/2014/main" id="{21A1E7B9-6C6A-585D-EB4A-9588DB65B1C1}"/>
                </a:ext>
                <a:ext uri="{C183D7F6-B498-43B3-948B-1728B52AA6E4}">
                  <adec:decorative xmlns:adec="http://schemas.microsoft.com/office/drawing/2017/decorative" val="1"/>
                </a:ext>
              </a:extLst>
            </p:cNvPr>
            <p:cNvCxnSpPr>
              <a:cxnSpLocks/>
              <a:stCxn id="52" idx="6"/>
              <a:endCxn id="52" idx="2"/>
            </p:cNvCxnSpPr>
            <p:nvPr/>
          </p:nvCxnSpPr>
          <p:spPr>
            <a:xfrm flipH="1">
              <a:off x="2432560" y="2374245"/>
              <a:ext cx="381000" cy="12700"/>
            </a:xfrm>
            <a:prstGeom prst="curvedConnector5">
              <a:avLst>
                <a:gd name="adj1" fmla="val -60000"/>
                <a:gd name="adj2" fmla="val 3007315"/>
                <a:gd name="adj3" fmla="val 160000"/>
              </a:avLst>
            </a:prstGeom>
            <a:ln>
              <a:tailEnd type="triangle"/>
            </a:ln>
          </p:spPr>
          <p:style>
            <a:lnRef idx="2">
              <a:schemeClr val="accent2"/>
            </a:lnRef>
            <a:fillRef idx="0">
              <a:schemeClr val="accent2"/>
            </a:fillRef>
            <a:effectRef idx="1">
              <a:schemeClr val="accent2"/>
            </a:effectRef>
            <a:fontRef idx="minor">
              <a:schemeClr val="tx1"/>
            </a:fontRef>
          </p:style>
        </p:cxnSp>
      </p:grpSp>
      <mc:AlternateContent xmlns:mc="http://schemas.openxmlformats.org/markup-compatibility/2006" xmlns:a14="http://schemas.microsoft.com/office/drawing/2010/main">
        <mc:Choice Requires="a14">
          <p:sp>
            <p:nvSpPr>
              <p:cNvPr id="71" name="TextBox 70" descr="Equation: q sub t equals f(Vh sub t)">
                <a:extLst>
                  <a:ext uri="{FF2B5EF4-FFF2-40B4-BE49-F238E27FC236}">
                    <a16:creationId xmlns:a16="http://schemas.microsoft.com/office/drawing/2014/main" id="{B8865539-1EED-6DB0-267F-8CF365606B22}"/>
                  </a:ext>
                </a:extLst>
              </p:cNvPr>
              <p:cNvSpPr txBox="1"/>
              <p:nvPr/>
            </p:nvSpPr>
            <p:spPr>
              <a:xfrm>
                <a:off x="2193316" y="1727342"/>
                <a:ext cx="1545921" cy="369332"/>
              </a:xfrm>
              <a:prstGeom prst="rect">
                <a:avLst/>
              </a:prstGeom>
              <a:noFill/>
            </p:spPr>
            <p:txBody>
              <a:bodyPr wrap="square">
                <a:spAutoFit/>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𝒒</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1" i="1" smtClean="0">
                          <a:latin typeface="Cambria Math" panose="02040503050406030204" pitchFamily="18" charset="0"/>
                        </a:rPr>
                        <m:t>𝑽</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𝒉</m:t>
                          </m:r>
                        </m:e>
                        <m:sub>
                          <m:r>
                            <a:rPr lang="en-US" b="1" i="1" smtClean="0">
                              <a:latin typeface="Cambria Math" panose="02040503050406030204" pitchFamily="18" charset="0"/>
                            </a:rPr>
                            <m:t>𝒕</m:t>
                          </m:r>
                        </m:sub>
                      </m:sSub>
                      <m:r>
                        <a:rPr lang="en-US" b="0" i="1" smtClean="0">
                          <a:latin typeface="Cambria Math" panose="02040503050406030204" pitchFamily="18" charset="0"/>
                        </a:rPr>
                        <m:t>)</m:t>
                      </m:r>
                    </m:oMath>
                  </m:oMathPara>
                </a14:m>
                <a:endParaRPr lang="en-US" dirty="0"/>
              </a:p>
            </p:txBody>
          </p:sp>
        </mc:Choice>
        <mc:Fallback xmlns="">
          <p:sp>
            <p:nvSpPr>
              <p:cNvPr id="71" name="TextBox 70" descr="Equation: q sub t equals f(Vh sub t)">
                <a:extLst>
                  <a:ext uri="{FF2B5EF4-FFF2-40B4-BE49-F238E27FC236}">
                    <a16:creationId xmlns:a16="http://schemas.microsoft.com/office/drawing/2014/main" id="{B8865539-1EED-6DB0-267F-8CF365606B22}"/>
                  </a:ext>
                </a:extLst>
              </p:cNvPr>
              <p:cNvSpPr txBox="1">
                <a:spLocks noRot="1" noChangeAspect="1" noMove="1" noResize="1" noEditPoints="1" noAdjustHandles="1" noChangeArrowheads="1" noChangeShapeType="1" noTextEdit="1"/>
              </p:cNvSpPr>
              <p:nvPr/>
            </p:nvSpPr>
            <p:spPr>
              <a:xfrm>
                <a:off x="2193316" y="1727342"/>
                <a:ext cx="1545921" cy="369332"/>
              </a:xfrm>
              <a:prstGeom prst="rect">
                <a:avLst/>
              </a:prstGeom>
              <a:blipFill>
                <a:blip r:embed="rId17"/>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descr="Equation: h sub t equals g (Uh sub t minus 1, plus Wo sub t)">
                <a:extLst>
                  <a:ext uri="{FF2B5EF4-FFF2-40B4-BE49-F238E27FC236}">
                    <a16:creationId xmlns:a16="http://schemas.microsoft.com/office/drawing/2014/main" id="{5B1A5901-014C-E2D9-E9C0-C1AE4ED6F64C}"/>
                  </a:ext>
                </a:extLst>
              </p:cNvPr>
              <p:cNvSpPr txBox="1"/>
              <p:nvPr/>
            </p:nvSpPr>
            <p:spPr>
              <a:xfrm>
                <a:off x="2035008" y="2900195"/>
                <a:ext cx="2473241" cy="362984"/>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𝒉</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1" i="1" smtClean="0">
                              <a:latin typeface="Cambria Math" panose="02040503050406030204" pitchFamily="18" charset="0"/>
                            </a:rPr>
                          </m:ctrlPr>
                        </m:dPr>
                        <m:e>
                          <m:r>
                            <a:rPr lang="en-US" b="1" i="1" smtClean="0">
                              <a:latin typeface="Cambria Math" panose="02040503050406030204" pitchFamily="18" charset="0"/>
                            </a:rPr>
                            <m:t>𝑼</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𝒉</m:t>
                              </m:r>
                            </m:e>
                            <m:sub>
                              <m:r>
                                <a:rPr lang="en-US" b="1" i="1" smtClean="0">
                                  <a:latin typeface="Cambria Math" panose="02040503050406030204" pitchFamily="18" charset="0"/>
                                </a:rPr>
                                <m:t>𝒕</m:t>
                              </m:r>
                              <m:r>
                                <a:rPr lang="en-US" b="1" i="1" smtClean="0">
                                  <a:latin typeface="Cambria Math" panose="02040503050406030204" pitchFamily="18" charset="0"/>
                                </a:rPr>
                                <m:t>−</m:t>
                              </m:r>
                              <m:r>
                                <a:rPr lang="en-US" b="1" i="1" smtClean="0">
                                  <a:latin typeface="Cambria Math" panose="02040503050406030204" pitchFamily="18" charset="0"/>
                                </a:rPr>
                                <m:t>𝟏</m:t>
                              </m:r>
                            </m:sub>
                          </m:sSub>
                          <m:r>
                            <a:rPr lang="en-US" b="0" i="1" smtClean="0">
                              <a:latin typeface="Cambria Math" panose="02040503050406030204" pitchFamily="18" charset="0"/>
                            </a:rPr>
                            <m:t>+</m:t>
                          </m:r>
                          <m:r>
                            <a:rPr lang="en-US" b="1" i="1" smtClean="0">
                              <a:latin typeface="Cambria Math" panose="02040503050406030204" pitchFamily="18" charset="0"/>
                            </a:rPr>
                            <m:t>𝑾</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𝒐</m:t>
                              </m:r>
                            </m:e>
                            <m:sub>
                              <m:r>
                                <a:rPr lang="en-US" b="1" i="1" smtClean="0">
                                  <a:latin typeface="Cambria Math" panose="02040503050406030204" pitchFamily="18" charset="0"/>
                                </a:rPr>
                                <m:t>𝒕</m:t>
                              </m:r>
                            </m:sub>
                          </m:sSub>
                        </m:e>
                      </m:d>
                    </m:oMath>
                  </m:oMathPara>
                </a14:m>
                <a:endParaRPr lang="en-US" baseline="-25000" dirty="0"/>
              </a:p>
            </p:txBody>
          </p:sp>
        </mc:Choice>
        <mc:Fallback xmlns="">
          <p:sp>
            <p:nvSpPr>
              <p:cNvPr id="63" name="TextBox 62" descr="Equation: h sub t equals g (Uh sub t minus 1, plus Wo sub t)">
                <a:extLst>
                  <a:ext uri="{FF2B5EF4-FFF2-40B4-BE49-F238E27FC236}">
                    <a16:creationId xmlns:a16="http://schemas.microsoft.com/office/drawing/2014/main" id="{5B1A5901-014C-E2D9-E9C0-C1AE4ED6F64C}"/>
                  </a:ext>
                </a:extLst>
              </p:cNvPr>
              <p:cNvSpPr txBox="1">
                <a:spLocks noRot="1" noChangeAspect="1" noMove="1" noResize="1" noEditPoints="1" noAdjustHandles="1" noChangeArrowheads="1" noChangeShapeType="1" noTextEdit="1"/>
              </p:cNvSpPr>
              <p:nvPr/>
            </p:nvSpPr>
            <p:spPr>
              <a:xfrm>
                <a:off x="2035008" y="2900195"/>
                <a:ext cx="2473241" cy="362984"/>
              </a:xfrm>
              <a:prstGeom prst="rect">
                <a:avLst/>
              </a:prstGeom>
              <a:blipFill>
                <a:blip r:embed="rId5"/>
                <a:stretch>
                  <a:fillRect b="-10169"/>
                </a:stretch>
              </a:blipFill>
            </p:spPr>
            <p:txBody>
              <a:bodyPr/>
              <a:lstStyle/>
              <a:p>
                <a:r>
                  <a:rPr lang="en-US">
                    <a:noFill/>
                  </a:rPr>
                  <a:t> </a:t>
                </a:r>
              </a:p>
            </p:txBody>
          </p:sp>
        </mc:Fallback>
      </mc:AlternateContent>
      <p:grpSp>
        <p:nvGrpSpPr>
          <p:cNvPr id="74" name="Group 73" descr="The same RNN unrolled over time: h0 → h1 → h2 → h3 → and so on; each hidden state h_t receives observation o_t from below and outputs Q-values q_t above.">
            <a:extLst>
              <a:ext uri="{FF2B5EF4-FFF2-40B4-BE49-F238E27FC236}">
                <a16:creationId xmlns:a16="http://schemas.microsoft.com/office/drawing/2014/main" id="{932F9DDA-AAE3-2E11-9B0E-EE6F04167E99}"/>
              </a:ext>
            </a:extLst>
          </p:cNvPr>
          <p:cNvGrpSpPr/>
          <p:nvPr/>
        </p:nvGrpSpPr>
        <p:grpSpPr>
          <a:xfrm>
            <a:off x="5609101" y="1617404"/>
            <a:ext cx="5311414" cy="1992351"/>
            <a:chOff x="5604461" y="1488955"/>
            <a:chExt cx="5311414" cy="1992351"/>
          </a:xfrm>
        </p:grpSpPr>
        <p:grpSp>
          <p:nvGrpSpPr>
            <p:cNvPr id="50" name="Group 49" descr="Diagram with labels: …; o sub 1; o sub 3; o sub 2; h sub 1; h sub 0; h sub 2; h sub 3; q sub 3; q sub 2; q sub 1.">
              <a:extLst>
                <a:ext uri="{FF2B5EF4-FFF2-40B4-BE49-F238E27FC236}">
                  <a16:creationId xmlns:a16="http://schemas.microsoft.com/office/drawing/2014/main" id="{DECF11D4-8D27-1E41-A2A2-7628CFD8633D}"/>
                </a:ext>
              </a:extLst>
            </p:cNvPr>
            <p:cNvGrpSpPr/>
            <p:nvPr/>
          </p:nvGrpSpPr>
          <p:grpSpPr>
            <a:xfrm>
              <a:off x="5797052" y="1644929"/>
              <a:ext cx="4966939" cy="1660029"/>
              <a:chOff x="3179580" y="2008826"/>
              <a:chExt cx="4966939" cy="1660029"/>
            </a:xfrm>
          </p:grpSpPr>
          <p:sp>
            <p:nvSpPr>
              <p:cNvPr id="12" name="TextBox 11">
                <a:extLst>
                  <a:ext uri="{FF2B5EF4-FFF2-40B4-BE49-F238E27FC236}">
                    <a16:creationId xmlns:a16="http://schemas.microsoft.com/office/drawing/2014/main" id="{0556C6CD-DEF6-7D04-DE71-2076D1DE74B6}"/>
                  </a:ext>
                </a:extLst>
              </p:cNvPr>
              <p:cNvSpPr txBox="1"/>
              <p:nvPr/>
            </p:nvSpPr>
            <p:spPr>
              <a:xfrm>
                <a:off x="7750609" y="2642642"/>
                <a:ext cx="395910" cy="369332"/>
              </a:xfrm>
              <a:prstGeom prst="rect">
                <a:avLst/>
              </a:prstGeom>
              <a:noFill/>
            </p:spPr>
            <p:txBody>
              <a:bodyPr wrap="square" rtlCol="0">
                <a:spAutoFit/>
              </a:bodyPr>
              <a:lstStyle/>
              <a:p>
                <a:r>
                  <a:rPr lang="en-US" dirty="0"/>
                  <a:t>…</a:t>
                </a:r>
              </a:p>
            </p:txBody>
          </p:sp>
          <mc:AlternateContent xmlns:mc="http://schemas.openxmlformats.org/markup-compatibility/2006" xmlns:a14="http://schemas.microsoft.com/office/drawing/2010/main">
            <mc:Choice Requires="a14">
              <p:sp>
                <p:nvSpPr>
                  <p:cNvPr id="14" name="Oval 13" descr="Equation: o sub 1">
                    <a:extLst>
                      <a:ext uri="{FF2B5EF4-FFF2-40B4-BE49-F238E27FC236}">
                        <a16:creationId xmlns:a16="http://schemas.microsoft.com/office/drawing/2014/main" id="{B52D11A1-77E6-327B-BA63-33E784685093}"/>
                      </a:ext>
                    </a:extLst>
                  </p:cNvPr>
                  <p:cNvSpPr/>
                  <p:nvPr/>
                </p:nvSpPr>
                <p:spPr>
                  <a:xfrm>
                    <a:off x="3922454" y="3287855"/>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1</m:t>
                              </m:r>
                            </m:sub>
                          </m:sSub>
                        </m:oMath>
                      </m:oMathPara>
                    </a14:m>
                    <a:endParaRPr lang="en-US" dirty="0"/>
                  </a:p>
                </p:txBody>
              </p:sp>
            </mc:Choice>
            <mc:Fallback xmlns="">
              <p:sp>
                <p:nvSpPr>
                  <p:cNvPr id="14" name="Oval 13" descr="Equation: o sub 1">
                    <a:extLst>
                      <a:ext uri="{FF2B5EF4-FFF2-40B4-BE49-F238E27FC236}">
                        <a16:creationId xmlns:a16="http://schemas.microsoft.com/office/drawing/2014/main" id="{B52D11A1-77E6-327B-BA63-33E784685093}"/>
                      </a:ext>
                    </a:extLst>
                  </p:cNvPr>
                  <p:cNvSpPr>
                    <a:spLocks noRot="1" noChangeAspect="1" noMove="1" noResize="1" noEditPoints="1" noAdjustHandles="1" noChangeArrowheads="1" noChangeShapeType="1" noTextEdit="1"/>
                  </p:cNvSpPr>
                  <p:nvPr/>
                </p:nvSpPr>
                <p:spPr>
                  <a:xfrm>
                    <a:off x="3922454" y="3287855"/>
                    <a:ext cx="381000" cy="381000"/>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descr="Equation: o sub 3">
                    <a:extLst>
                      <a:ext uri="{FF2B5EF4-FFF2-40B4-BE49-F238E27FC236}">
                        <a16:creationId xmlns:a16="http://schemas.microsoft.com/office/drawing/2014/main" id="{1563E23E-41F5-F55A-0781-9E67DD368C3D}"/>
                      </a:ext>
                    </a:extLst>
                  </p:cNvPr>
                  <p:cNvSpPr/>
                  <p:nvPr/>
                </p:nvSpPr>
                <p:spPr>
                  <a:xfrm>
                    <a:off x="6500062" y="3287855"/>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3</m:t>
                              </m:r>
                            </m:sub>
                          </m:sSub>
                        </m:oMath>
                      </m:oMathPara>
                    </a14:m>
                    <a:endParaRPr lang="en-US" dirty="0"/>
                  </a:p>
                </p:txBody>
              </p:sp>
            </mc:Choice>
            <mc:Fallback xmlns="">
              <p:sp>
                <p:nvSpPr>
                  <p:cNvPr id="16" name="Oval 15" descr="Equation: o sub 3">
                    <a:extLst>
                      <a:ext uri="{FF2B5EF4-FFF2-40B4-BE49-F238E27FC236}">
                        <a16:creationId xmlns:a16="http://schemas.microsoft.com/office/drawing/2014/main" id="{1563E23E-41F5-F55A-0781-9E67DD368C3D}"/>
                      </a:ext>
                    </a:extLst>
                  </p:cNvPr>
                  <p:cNvSpPr>
                    <a:spLocks noRot="1" noChangeAspect="1" noMove="1" noResize="1" noEditPoints="1" noAdjustHandles="1" noChangeArrowheads="1" noChangeShapeType="1" noTextEdit="1"/>
                  </p:cNvSpPr>
                  <p:nvPr/>
                </p:nvSpPr>
                <p:spPr>
                  <a:xfrm>
                    <a:off x="6500062" y="3287855"/>
                    <a:ext cx="381000" cy="381000"/>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descr="Equation: o sub 2">
                    <a:extLst>
                      <a:ext uri="{FF2B5EF4-FFF2-40B4-BE49-F238E27FC236}">
                        <a16:creationId xmlns:a16="http://schemas.microsoft.com/office/drawing/2014/main" id="{80C29897-2EF2-4E08-884E-195DEA177661}"/>
                      </a:ext>
                    </a:extLst>
                  </p:cNvPr>
                  <p:cNvSpPr/>
                  <p:nvPr/>
                </p:nvSpPr>
                <p:spPr>
                  <a:xfrm>
                    <a:off x="5211258" y="3287855"/>
                    <a:ext cx="381000" cy="381000"/>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2</m:t>
                              </m:r>
                            </m:sub>
                          </m:sSub>
                        </m:oMath>
                      </m:oMathPara>
                    </a14:m>
                    <a:endParaRPr lang="en-US" dirty="0"/>
                  </a:p>
                </p:txBody>
              </p:sp>
            </mc:Choice>
            <mc:Fallback xmlns="">
              <p:sp>
                <p:nvSpPr>
                  <p:cNvPr id="17" name="Oval 16" descr="Equation: o sub 2">
                    <a:extLst>
                      <a:ext uri="{FF2B5EF4-FFF2-40B4-BE49-F238E27FC236}">
                        <a16:creationId xmlns:a16="http://schemas.microsoft.com/office/drawing/2014/main" id="{80C29897-2EF2-4E08-884E-195DEA177661}"/>
                      </a:ext>
                    </a:extLst>
                  </p:cNvPr>
                  <p:cNvSpPr>
                    <a:spLocks noRot="1" noChangeAspect="1" noMove="1" noResize="1" noEditPoints="1" noAdjustHandles="1" noChangeArrowheads="1" noChangeShapeType="1" noTextEdit="1"/>
                  </p:cNvSpPr>
                  <p:nvPr/>
                </p:nvSpPr>
                <p:spPr>
                  <a:xfrm>
                    <a:off x="5211258" y="3287855"/>
                    <a:ext cx="381000" cy="381000"/>
                  </a:xfrm>
                  <a:prstGeom prst="ellipse">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val 21" descr="Equation: h sub 1">
                    <a:extLst>
                      <a:ext uri="{FF2B5EF4-FFF2-40B4-BE49-F238E27FC236}">
                        <a16:creationId xmlns:a16="http://schemas.microsoft.com/office/drawing/2014/main" id="{6716C483-D9E2-1BEE-F441-79E3A28DBA58}"/>
                      </a:ext>
                    </a:extLst>
                  </p:cNvPr>
                  <p:cNvSpPr/>
                  <p:nvPr/>
                </p:nvSpPr>
                <p:spPr>
                  <a:xfrm>
                    <a:off x="3922454" y="2661332"/>
                    <a:ext cx="381000" cy="381000"/>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1</m:t>
                              </m:r>
                            </m:sub>
                          </m:sSub>
                        </m:oMath>
                      </m:oMathPara>
                    </a14:m>
                    <a:endParaRPr lang="en-US" dirty="0"/>
                  </a:p>
                </p:txBody>
              </p:sp>
            </mc:Choice>
            <mc:Fallback xmlns="">
              <p:sp>
                <p:nvSpPr>
                  <p:cNvPr id="22" name="Oval 21" descr="Equation: h sub 1">
                    <a:extLst>
                      <a:ext uri="{FF2B5EF4-FFF2-40B4-BE49-F238E27FC236}">
                        <a16:creationId xmlns:a16="http://schemas.microsoft.com/office/drawing/2014/main" id="{6716C483-D9E2-1BEE-F441-79E3A28DBA58}"/>
                      </a:ext>
                    </a:extLst>
                  </p:cNvPr>
                  <p:cNvSpPr>
                    <a:spLocks noRot="1" noChangeAspect="1" noMove="1" noResize="1" noEditPoints="1" noAdjustHandles="1" noChangeArrowheads="1" noChangeShapeType="1" noTextEdit="1"/>
                  </p:cNvSpPr>
                  <p:nvPr/>
                </p:nvSpPr>
                <p:spPr>
                  <a:xfrm>
                    <a:off x="3922454" y="2661332"/>
                    <a:ext cx="381000" cy="381000"/>
                  </a:xfrm>
                  <a:prstGeom prst="ellipse">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val 22" descr="Equation: h sub 0">
                    <a:extLst>
                      <a:ext uri="{FF2B5EF4-FFF2-40B4-BE49-F238E27FC236}">
                        <a16:creationId xmlns:a16="http://schemas.microsoft.com/office/drawing/2014/main" id="{F05839A9-C521-41BE-3506-C87138A5479A}"/>
                      </a:ext>
                    </a:extLst>
                  </p:cNvPr>
                  <p:cNvSpPr/>
                  <p:nvPr/>
                </p:nvSpPr>
                <p:spPr>
                  <a:xfrm>
                    <a:off x="3179580" y="2661332"/>
                    <a:ext cx="381000" cy="381000"/>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0</m:t>
                              </m:r>
                            </m:sub>
                          </m:sSub>
                        </m:oMath>
                      </m:oMathPara>
                    </a14:m>
                    <a:endParaRPr lang="en-US" dirty="0"/>
                  </a:p>
                </p:txBody>
              </p:sp>
            </mc:Choice>
            <mc:Fallback xmlns="">
              <p:sp>
                <p:nvSpPr>
                  <p:cNvPr id="23" name="Oval 22" descr="Equation: h sub 0">
                    <a:extLst>
                      <a:ext uri="{FF2B5EF4-FFF2-40B4-BE49-F238E27FC236}">
                        <a16:creationId xmlns:a16="http://schemas.microsoft.com/office/drawing/2014/main" id="{F05839A9-C521-41BE-3506-C87138A5479A}"/>
                      </a:ext>
                    </a:extLst>
                  </p:cNvPr>
                  <p:cNvSpPr>
                    <a:spLocks noRot="1" noChangeAspect="1" noMove="1" noResize="1" noEditPoints="1" noAdjustHandles="1" noChangeArrowheads="1" noChangeShapeType="1" noTextEdit="1"/>
                  </p:cNvSpPr>
                  <p:nvPr/>
                </p:nvSpPr>
                <p:spPr>
                  <a:xfrm>
                    <a:off x="3179580" y="2661332"/>
                    <a:ext cx="381000" cy="381000"/>
                  </a:xfrm>
                  <a:prstGeom prst="ellipse">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Oval 23" descr="Equation: h sub 2">
                    <a:extLst>
                      <a:ext uri="{FF2B5EF4-FFF2-40B4-BE49-F238E27FC236}">
                        <a16:creationId xmlns:a16="http://schemas.microsoft.com/office/drawing/2014/main" id="{D0F3F5C4-DAFF-2044-BB99-91707E9294E1}"/>
                      </a:ext>
                    </a:extLst>
                  </p:cNvPr>
                  <p:cNvSpPr/>
                  <p:nvPr/>
                </p:nvSpPr>
                <p:spPr>
                  <a:xfrm>
                    <a:off x="5211258" y="2658528"/>
                    <a:ext cx="381000" cy="381000"/>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2</m:t>
                              </m:r>
                            </m:sub>
                          </m:sSub>
                        </m:oMath>
                      </m:oMathPara>
                    </a14:m>
                    <a:endParaRPr lang="en-US" dirty="0"/>
                  </a:p>
                </p:txBody>
              </p:sp>
            </mc:Choice>
            <mc:Fallback xmlns="">
              <p:sp>
                <p:nvSpPr>
                  <p:cNvPr id="24" name="Oval 23" descr="Equation: h sub 2">
                    <a:extLst>
                      <a:ext uri="{FF2B5EF4-FFF2-40B4-BE49-F238E27FC236}">
                        <a16:creationId xmlns:a16="http://schemas.microsoft.com/office/drawing/2014/main" id="{D0F3F5C4-DAFF-2044-BB99-91707E9294E1}"/>
                      </a:ext>
                    </a:extLst>
                  </p:cNvPr>
                  <p:cNvSpPr>
                    <a:spLocks noRot="1" noChangeAspect="1" noMove="1" noResize="1" noEditPoints="1" noAdjustHandles="1" noChangeArrowheads="1" noChangeShapeType="1" noTextEdit="1"/>
                  </p:cNvSpPr>
                  <p:nvPr/>
                </p:nvSpPr>
                <p:spPr>
                  <a:xfrm>
                    <a:off x="5211258" y="2658528"/>
                    <a:ext cx="381000" cy="381000"/>
                  </a:xfrm>
                  <a:prstGeom prst="ellipse">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Oval 24" descr="Equation: h sub 3">
                    <a:extLst>
                      <a:ext uri="{FF2B5EF4-FFF2-40B4-BE49-F238E27FC236}">
                        <a16:creationId xmlns:a16="http://schemas.microsoft.com/office/drawing/2014/main" id="{492F86EF-7436-D9E0-271F-DE5D817196F4}"/>
                      </a:ext>
                    </a:extLst>
                  </p:cNvPr>
                  <p:cNvSpPr/>
                  <p:nvPr/>
                </p:nvSpPr>
                <p:spPr>
                  <a:xfrm>
                    <a:off x="6500062" y="2658528"/>
                    <a:ext cx="381000" cy="381000"/>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3</m:t>
                              </m:r>
                            </m:sub>
                          </m:sSub>
                        </m:oMath>
                      </m:oMathPara>
                    </a14:m>
                    <a:endParaRPr lang="en-US" dirty="0"/>
                  </a:p>
                </p:txBody>
              </p:sp>
            </mc:Choice>
            <mc:Fallback xmlns="">
              <p:sp>
                <p:nvSpPr>
                  <p:cNvPr id="25" name="Oval 24" descr="Equation: h sub 3">
                    <a:extLst>
                      <a:ext uri="{FF2B5EF4-FFF2-40B4-BE49-F238E27FC236}">
                        <a16:creationId xmlns:a16="http://schemas.microsoft.com/office/drawing/2014/main" id="{492F86EF-7436-D9E0-271F-DE5D817196F4}"/>
                      </a:ext>
                    </a:extLst>
                  </p:cNvPr>
                  <p:cNvSpPr>
                    <a:spLocks noRot="1" noChangeAspect="1" noMove="1" noResize="1" noEditPoints="1" noAdjustHandles="1" noChangeArrowheads="1" noChangeShapeType="1" noTextEdit="1"/>
                  </p:cNvSpPr>
                  <p:nvPr/>
                </p:nvSpPr>
                <p:spPr>
                  <a:xfrm>
                    <a:off x="6500062" y="2658528"/>
                    <a:ext cx="381000" cy="381000"/>
                  </a:xfrm>
                  <a:prstGeom prst="ellipse">
                    <a:avLst/>
                  </a:prstGeom>
                  <a:blipFill>
                    <a:blip r:embed="rId13"/>
                    <a:stretch>
                      <a:fillRect/>
                    </a:stretch>
                  </a:blipFill>
                </p:spPr>
                <p:txBody>
                  <a:bodyPr/>
                  <a:lstStyle/>
                  <a:p>
                    <a:r>
                      <a:rPr lang="en-US">
                        <a:noFill/>
                      </a:rPr>
                      <a:t> </a:t>
                    </a:r>
                  </a:p>
                </p:txBody>
              </p:sp>
            </mc:Fallback>
          </mc:AlternateContent>
          <p:cxnSp>
            <p:nvCxnSpPr>
              <p:cNvPr id="26" name="Straight Arrow Connector 25">
                <a:extLst>
                  <a:ext uri="{FF2B5EF4-FFF2-40B4-BE49-F238E27FC236}">
                    <a16:creationId xmlns:a16="http://schemas.microsoft.com/office/drawing/2014/main" id="{B04A6F45-9AE6-3802-8F91-B497D2EFF2CD}"/>
                  </a:ext>
                  <a:ext uri="{C183D7F6-B498-43B3-948B-1728B52AA6E4}">
                    <adec:decorative xmlns:adec="http://schemas.microsoft.com/office/drawing/2017/decorative" val="1"/>
                  </a:ext>
                </a:extLst>
              </p:cNvPr>
              <p:cNvCxnSpPr>
                <a:stCxn id="14" idx="0"/>
                <a:endCxn id="22" idx="4"/>
              </p:cNvCxnSpPr>
              <p:nvPr/>
            </p:nvCxnSpPr>
            <p:spPr>
              <a:xfrm flipV="1">
                <a:off x="4112954" y="3042332"/>
                <a:ext cx="0" cy="24552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27" name="Straight Arrow Connector 26">
                <a:extLst>
                  <a:ext uri="{FF2B5EF4-FFF2-40B4-BE49-F238E27FC236}">
                    <a16:creationId xmlns:a16="http://schemas.microsoft.com/office/drawing/2014/main" id="{76ED617D-B37A-5CCE-9580-61E0A1A9695C}"/>
                  </a:ext>
                  <a:ext uri="{C183D7F6-B498-43B3-948B-1728B52AA6E4}">
                    <adec:decorative xmlns:adec="http://schemas.microsoft.com/office/drawing/2017/decorative" val="1"/>
                  </a:ext>
                </a:extLst>
              </p:cNvPr>
              <p:cNvCxnSpPr>
                <a:cxnSpLocks/>
                <a:stCxn id="16" idx="0"/>
                <a:endCxn id="25" idx="4"/>
              </p:cNvCxnSpPr>
              <p:nvPr/>
            </p:nvCxnSpPr>
            <p:spPr>
              <a:xfrm flipV="1">
                <a:off x="6690562" y="3039528"/>
                <a:ext cx="0" cy="24832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28" name="Straight Arrow Connector 27">
                <a:extLst>
                  <a:ext uri="{FF2B5EF4-FFF2-40B4-BE49-F238E27FC236}">
                    <a16:creationId xmlns:a16="http://schemas.microsoft.com/office/drawing/2014/main" id="{6E205B5F-7795-5E11-EA48-A713EA74C832}"/>
                  </a:ext>
                  <a:ext uri="{C183D7F6-B498-43B3-948B-1728B52AA6E4}">
                    <adec:decorative xmlns:adec="http://schemas.microsoft.com/office/drawing/2017/decorative" val="1"/>
                  </a:ext>
                </a:extLst>
              </p:cNvPr>
              <p:cNvCxnSpPr>
                <a:cxnSpLocks/>
                <a:stCxn id="17" idx="0"/>
                <a:endCxn id="24" idx="4"/>
              </p:cNvCxnSpPr>
              <p:nvPr/>
            </p:nvCxnSpPr>
            <p:spPr>
              <a:xfrm flipV="1">
                <a:off x="5401758" y="3039528"/>
                <a:ext cx="0" cy="24832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29" name="Straight Arrow Connector 28">
                <a:extLst>
                  <a:ext uri="{FF2B5EF4-FFF2-40B4-BE49-F238E27FC236}">
                    <a16:creationId xmlns:a16="http://schemas.microsoft.com/office/drawing/2014/main" id="{830B8E11-7976-7C03-3DDB-CF8D7F94302F}"/>
                  </a:ext>
                  <a:ext uri="{C183D7F6-B498-43B3-948B-1728B52AA6E4}">
                    <adec:decorative xmlns:adec="http://schemas.microsoft.com/office/drawing/2017/decorative" val="1"/>
                  </a:ext>
                </a:extLst>
              </p:cNvPr>
              <p:cNvCxnSpPr>
                <a:cxnSpLocks/>
                <a:stCxn id="23" idx="6"/>
                <a:endCxn id="22" idx="2"/>
              </p:cNvCxnSpPr>
              <p:nvPr/>
            </p:nvCxnSpPr>
            <p:spPr>
              <a:xfrm>
                <a:off x="3560580" y="2851832"/>
                <a:ext cx="361874"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0" name="Straight Arrow Connector 29">
                <a:extLst>
                  <a:ext uri="{FF2B5EF4-FFF2-40B4-BE49-F238E27FC236}">
                    <a16:creationId xmlns:a16="http://schemas.microsoft.com/office/drawing/2014/main" id="{089D2A47-A901-C37B-073B-59E59A683EA1}"/>
                  </a:ext>
                  <a:ext uri="{C183D7F6-B498-43B3-948B-1728B52AA6E4}">
                    <adec:decorative xmlns:adec="http://schemas.microsoft.com/office/drawing/2017/decorative" val="1"/>
                  </a:ext>
                </a:extLst>
              </p:cNvPr>
              <p:cNvCxnSpPr>
                <a:cxnSpLocks/>
                <a:stCxn id="22" idx="6"/>
                <a:endCxn id="24" idx="2"/>
              </p:cNvCxnSpPr>
              <p:nvPr/>
            </p:nvCxnSpPr>
            <p:spPr>
              <a:xfrm flipV="1">
                <a:off x="4303454" y="2849028"/>
                <a:ext cx="907804" cy="280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1" name="Straight Arrow Connector 30">
                <a:extLst>
                  <a:ext uri="{FF2B5EF4-FFF2-40B4-BE49-F238E27FC236}">
                    <a16:creationId xmlns:a16="http://schemas.microsoft.com/office/drawing/2014/main" id="{AB222127-A204-D09C-8F3A-B20A4AC3B340}"/>
                  </a:ext>
                  <a:ext uri="{C183D7F6-B498-43B3-948B-1728B52AA6E4}">
                    <adec:decorative xmlns:adec="http://schemas.microsoft.com/office/drawing/2017/decorative" val="1"/>
                  </a:ext>
                </a:extLst>
              </p:cNvPr>
              <p:cNvCxnSpPr>
                <a:cxnSpLocks/>
                <a:stCxn id="24" idx="6"/>
                <a:endCxn id="25" idx="2"/>
              </p:cNvCxnSpPr>
              <p:nvPr/>
            </p:nvCxnSpPr>
            <p:spPr>
              <a:xfrm>
                <a:off x="5592258" y="2849028"/>
                <a:ext cx="907804"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2" name="Straight Arrow Connector 31">
                <a:extLst>
                  <a:ext uri="{FF2B5EF4-FFF2-40B4-BE49-F238E27FC236}">
                    <a16:creationId xmlns:a16="http://schemas.microsoft.com/office/drawing/2014/main" id="{F8ADDFCC-29B2-CA98-44A6-4E629772276A}"/>
                  </a:ext>
                  <a:ext uri="{C183D7F6-B498-43B3-948B-1728B52AA6E4}">
                    <adec:decorative xmlns:adec="http://schemas.microsoft.com/office/drawing/2017/decorative" val="1"/>
                  </a:ext>
                </a:extLst>
              </p:cNvPr>
              <p:cNvCxnSpPr>
                <a:cxnSpLocks/>
                <a:stCxn id="25" idx="6"/>
              </p:cNvCxnSpPr>
              <p:nvPr/>
            </p:nvCxnSpPr>
            <p:spPr>
              <a:xfrm flipV="1">
                <a:off x="6881062" y="2839165"/>
                <a:ext cx="789517" cy="986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33" name="Oval 32" descr="Equation: q sub 3">
                    <a:extLst>
                      <a:ext uri="{FF2B5EF4-FFF2-40B4-BE49-F238E27FC236}">
                        <a16:creationId xmlns:a16="http://schemas.microsoft.com/office/drawing/2014/main" id="{97840DF9-2C63-03BC-70C9-9A462DEFA0B4}"/>
                      </a:ext>
                    </a:extLst>
                  </p:cNvPr>
                  <p:cNvSpPr/>
                  <p:nvPr/>
                </p:nvSpPr>
                <p:spPr>
                  <a:xfrm>
                    <a:off x="6500062" y="2037077"/>
                    <a:ext cx="381000" cy="38100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3</m:t>
                              </m:r>
                            </m:sub>
                          </m:sSub>
                        </m:oMath>
                      </m:oMathPara>
                    </a14:m>
                    <a:endParaRPr lang="en-US" dirty="0"/>
                  </a:p>
                </p:txBody>
              </p:sp>
            </mc:Choice>
            <mc:Fallback xmlns="">
              <p:sp>
                <p:nvSpPr>
                  <p:cNvPr id="33" name="Oval 32" descr="Equation: q sub 3">
                    <a:extLst>
                      <a:ext uri="{FF2B5EF4-FFF2-40B4-BE49-F238E27FC236}">
                        <a16:creationId xmlns:a16="http://schemas.microsoft.com/office/drawing/2014/main" id="{97840DF9-2C63-03BC-70C9-9A462DEFA0B4}"/>
                      </a:ext>
                    </a:extLst>
                  </p:cNvPr>
                  <p:cNvSpPr>
                    <a:spLocks noRot="1" noChangeAspect="1" noMove="1" noResize="1" noEditPoints="1" noAdjustHandles="1" noChangeArrowheads="1" noChangeShapeType="1" noTextEdit="1"/>
                  </p:cNvSpPr>
                  <p:nvPr/>
                </p:nvSpPr>
                <p:spPr>
                  <a:xfrm>
                    <a:off x="6500062" y="2037077"/>
                    <a:ext cx="381000" cy="381000"/>
                  </a:xfrm>
                  <a:prstGeom prst="ellipse">
                    <a:avLst/>
                  </a:prstGeom>
                  <a:blipFill>
                    <a:blip r:embed="rId14"/>
                    <a:stretch>
                      <a:fillRect b="-1515"/>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D1DFFEFA-2D4D-9208-49D4-5457F9821846}"/>
                  </a:ext>
                  <a:ext uri="{C183D7F6-B498-43B3-948B-1728B52AA6E4}">
                    <adec:decorative xmlns:adec="http://schemas.microsoft.com/office/drawing/2017/decorative" val="1"/>
                  </a:ext>
                </a:extLst>
              </p:cNvPr>
              <p:cNvCxnSpPr>
                <a:cxnSpLocks/>
                <a:stCxn id="25" idx="0"/>
                <a:endCxn id="33" idx="4"/>
              </p:cNvCxnSpPr>
              <p:nvPr/>
            </p:nvCxnSpPr>
            <p:spPr>
              <a:xfrm flipV="1">
                <a:off x="6690562" y="2418077"/>
                <a:ext cx="0" cy="240451"/>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mc:AlternateContent xmlns:mc="http://schemas.openxmlformats.org/markup-compatibility/2006" xmlns:a14="http://schemas.microsoft.com/office/drawing/2010/main">
            <mc:Choice Requires="a14">
              <p:sp>
                <p:nvSpPr>
                  <p:cNvPr id="40" name="Oval 39" descr="Equation: q sub 2">
                    <a:extLst>
                      <a:ext uri="{FF2B5EF4-FFF2-40B4-BE49-F238E27FC236}">
                        <a16:creationId xmlns:a16="http://schemas.microsoft.com/office/drawing/2014/main" id="{315B87AF-B666-6463-8905-D7A0B785A933}"/>
                      </a:ext>
                    </a:extLst>
                  </p:cNvPr>
                  <p:cNvSpPr/>
                  <p:nvPr/>
                </p:nvSpPr>
                <p:spPr>
                  <a:xfrm>
                    <a:off x="5211257" y="2047927"/>
                    <a:ext cx="381000" cy="38100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oMath>
                      </m:oMathPara>
                    </a14:m>
                    <a:endParaRPr lang="en-US" dirty="0"/>
                  </a:p>
                </p:txBody>
              </p:sp>
            </mc:Choice>
            <mc:Fallback xmlns="">
              <p:sp>
                <p:nvSpPr>
                  <p:cNvPr id="40" name="Oval 39" descr="Equation: q sub 2">
                    <a:extLst>
                      <a:ext uri="{FF2B5EF4-FFF2-40B4-BE49-F238E27FC236}">
                        <a16:creationId xmlns:a16="http://schemas.microsoft.com/office/drawing/2014/main" id="{315B87AF-B666-6463-8905-D7A0B785A933}"/>
                      </a:ext>
                    </a:extLst>
                  </p:cNvPr>
                  <p:cNvSpPr>
                    <a:spLocks noRot="1" noChangeAspect="1" noMove="1" noResize="1" noEditPoints="1" noAdjustHandles="1" noChangeArrowheads="1" noChangeShapeType="1" noTextEdit="1"/>
                  </p:cNvSpPr>
                  <p:nvPr/>
                </p:nvSpPr>
                <p:spPr>
                  <a:xfrm>
                    <a:off x="5211257" y="2047927"/>
                    <a:ext cx="381000" cy="381000"/>
                  </a:xfrm>
                  <a:prstGeom prst="ellipse">
                    <a:avLst/>
                  </a:prstGeom>
                  <a:blipFill>
                    <a:blip r:embed="rId15"/>
                    <a:stretch>
                      <a:fillRect b="-1493"/>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FC811E4E-9FF1-658E-ABCE-D64D7C61C21A}"/>
                  </a:ext>
                  <a:ext uri="{C183D7F6-B498-43B3-948B-1728B52AA6E4}">
                    <adec:decorative xmlns:adec="http://schemas.microsoft.com/office/drawing/2017/decorative" val="1"/>
                  </a:ext>
                </a:extLst>
              </p:cNvPr>
              <p:cNvCxnSpPr>
                <a:cxnSpLocks/>
                <a:stCxn id="24" idx="0"/>
                <a:endCxn id="40" idx="4"/>
              </p:cNvCxnSpPr>
              <p:nvPr/>
            </p:nvCxnSpPr>
            <p:spPr>
              <a:xfrm flipH="1" flipV="1">
                <a:off x="5401757" y="2428927"/>
                <a:ext cx="1" cy="229601"/>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mc:AlternateContent xmlns:mc="http://schemas.openxmlformats.org/markup-compatibility/2006" xmlns:a14="http://schemas.microsoft.com/office/drawing/2010/main">
            <mc:Choice Requires="a14">
              <p:sp>
                <p:nvSpPr>
                  <p:cNvPr id="43" name="Oval 42" descr="Equation: q sub 1">
                    <a:extLst>
                      <a:ext uri="{FF2B5EF4-FFF2-40B4-BE49-F238E27FC236}">
                        <a16:creationId xmlns:a16="http://schemas.microsoft.com/office/drawing/2014/main" id="{DF15993C-20FA-41DE-9956-C92A22B60D5C}"/>
                      </a:ext>
                    </a:extLst>
                  </p:cNvPr>
                  <p:cNvSpPr/>
                  <p:nvPr/>
                </p:nvSpPr>
                <p:spPr>
                  <a:xfrm>
                    <a:off x="3922454" y="2008826"/>
                    <a:ext cx="381000" cy="38100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14:m>
                      <m:oMathPara xmlns:m="http://schemas.openxmlformats.org/officeDocument/2006/math">
                        <m:oMathParaPr>
                          <m:jc m:val="center"/>
                        </m:oMathParaPr>
                        <m:o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oMath>
                      </m:oMathPara>
                    </a14:m>
                    <a:endParaRPr lang="en-US" dirty="0"/>
                  </a:p>
                </p:txBody>
              </p:sp>
            </mc:Choice>
            <mc:Fallback xmlns="">
              <p:sp>
                <p:nvSpPr>
                  <p:cNvPr id="43" name="Oval 42" descr="Equation: q sub 1">
                    <a:extLst>
                      <a:ext uri="{FF2B5EF4-FFF2-40B4-BE49-F238E27FC236}">
                        <a16:creationId xmlns:a16="http://schemas.microsoft.com/office/drawing/2014/main" id="{DF15993C-20FA-41DE-9956-C92A22B60D5C}"/>
                      </a:ext>
                    </a:extLst>
                  </p:cNvPr>
                  <p:cNvSpPr>
                    <a:spLocks noRot="1" noChangeAspect="1" noMove="1" noResize="1" noEditPoints="1" noAdjustHandles="1" noChangeArrowheads="1" noChangeShapeType="1" noTextEdit="1"/>
                  </p:cNvSpPr>
                  <p:nvPr/>
                </p:nvSpPr>
                <p:spPr>
                  <a:xfrm>
                    <a:off x="3922454" y="2008826"/>
                    <a:ext cx="381000" cy="381000"/>
                  </a:xfrm>
                  <a:prstGeom prst="ellipse">
                    <a:avLst/>
                  </a:prstGeom>
                  <a:blipFill>
                    <a:blip r:embed="rId16"/>
                    <a:stretch>
                      <a:fillRect b="-3030"/>
                    </a:stretch>
                  </a:blipFill>
                </p:spPr>
                <p:txBody>
                  <a:bodyPr/>
                  <a:lstStyle/>
                  <a:p>
                    <a:r>
                      <a:rPr lang="en-US">
                        <a:noFill/>
                      </a:rPr>
                      <a:t> </a:t>
                    </a:r>
                  </a:p>
                </p:txBody>
              </p:sp>
            </mc:Fallback>
          </mc:AlternateContent>
          <p:cxnSp>
            <p:nvCxnSpPr>
              <p:cNvPr id="44" name="Straight Arrow Connector 43">
                <a:extLst>
                  <a:ext uri="{FF2B5EF4-FFF2-40B4-BE49-F238E27FC236}">
                    <a16:creationId xmlns:a16="http://schemas.microsoft.com/office/drawing/2014/main" id="{8E78E86F-BDC0-A048-4AF9-AEBFDAF1245A}"/>
                  </a:ext>
                  <a:ext uri="{C183D7F6-B498-43B3-948B-1728B52AA6E4}">
                    <adec:decorative xmlns:adec="http://schemas.microsoft.com/office/drawing/2017/decorative" val="1"/>
                  </a:ext>
                </a:extLst>
              </p:cNvPr>
              <p:cNvCxnSpPr>
                <a:cxnSpLocks/>
                <a:stCxn id="22" idx="0"/>
                <a:endCxn id="43" idx="4"/>
              </p:cNvCxnSpPr>
              <p:nvPr/>
            </p:nvCxnSpPr>
            <p:spPr>
              <a:xfrm flipV="1">
                <a:off x="4112954" y="2389826"/>
                <a:ext cx="0" cy="271506"/>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grpSp>
        <p:grpSp>
          <p:nvGrpSpPr>
            <p:cNvPr id="69" name="Group 68" descr="Diagram with labels: RNN.">
              <a:extLst>
                <a:ext uri="{FF2B5EF4-FFF2-40B4-BE49-F238E27FC236}">
                  <a16:creationId xmlns:a16="http://schemas.microsoft.com/office/drawing/2014/main" id="{5D895D09-3942-9733-0AAE-A74A0C7407DF}"/>
                </a:ext>
              </a:extLst>
            </p:cNvPr>
            <p:cNvGrpSpPr/>
            <p:nvPr/>
          </p:nvGrpSpPr>
          <p:grpSpPr>
            <a:xfrm>
              <a:off x="5604461" y="1488955"/>
              <a:ext cx="5311414" cy="1992351"/>
              <a:chOff x="5657386" y="1516566"/>
              <a:chExt cx="5311414" cy="1992351"/>
            </a:xfrm>
          </p:grpSpPr>
          <p:sp>
            <p:nvSpPr>
              <p:cNvPr id="67" name="Rectangle 66">
                <a:extLst>
                  <a:ext uri="{FF2B5EF4-FFF2-40B4-BE49-F238E27FC236}">
                    <a16:creationId xmlns:a16="http://schemas.microsoft.com/office/drawing/2014/main" id="{F5F90EC7-9BE4-F02B-0D0F-2780A27B8337}"/>
                  </a:ext>
                  <a:ext uri="{C183D7F6-B498-43B3-948B-1728B52AA6E4}">
                    <adec:decorative xmlns:adec="http://schemas.microsoft.com/office/drawing/2017/decorative" val="1"/>
                  </a:ext>
                </a:extLst>
              </p:cNvPr>
              <p:cNvSpPr/>
              <p:nvPr/>
            </p:nvSpPr>
            <p:spPr>
              <a:xfrm>
                <a:off x="5657386" y="1516566"/>
                <a:ext cx="5106598" cy="1992351"/>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68" name="TextBox 67">
                <a:extLst>
                  <a:ext uri="{FF2B5EF4-FFF2-40B4-BE49-F238E27FC236}">
                    <a16:creationId xmlns:a16="http://schemas.microsoft.com/office/drawing/2014/main" id="{A8118814-4EEB-F464-8D66-11AA615D2E91}"/>
                  </a:ext>
                </a:extLst>
              </p:cNvPr>
              <p:cNvSpPr txBox="1"/>
              <p:nvPr/>
            </p:nvSpPr>
            <p:spPr>
              <a:xfrm>
                <a:off x="10163272" y="1516566"/>
                <a:ext cx="805528" cy="369332"/>
              </a:xfrm>
              <a:prstGeom prst="rect">
                <a:avLst/>
              </a:prstGeom>
              <a:noFill/>
            </p:spPr>
            <p:txBody>
              <a:bodyPr wrap="square" rtlCol="0">
                <a:spAutoFit/>
              </a:bodyPr>
              <a:lstStyle/>
              <a:p>
                <a:r>
                  <a:rPr lang="en-US" dirty="0"/>
                  <a:t>RNN</a:t>
                </a:r>
              </a:p>
            </p:txBody>
          </p:sp>
        </p:grpSp>
      </p:grpSp>
      <p:sp>
        <p:nvSpPr>
          <p:cNvPr id="62" name="Arrow: Right 61">
            <a:extLst>
              <a:ext uri="{FF2B5EF4-FFF2-40B4-BE49-F238E27FC236}">
                <a16:creationId xmlns:a16="http://schemas.microsoft.com/office/drawing/2014/main" id="{DA522A41-9B79-D806-BC61-014F1F28A23B}"/>
              </a:ext>
              <a:ext uri="{C183D7F6-B498-43B3-948B-1728B52AA6E4}">
                <adec:decorative xmlns:adec="http://schemas.microsoft.com/office/drawing/2017/decorative" val="1"/>
              </a:ext>
            </a:extLst>
          </p:cNvPr>
          <p:cNvSpPr/>
          <p:nvPr/>
        </p:nvSpPr>
        <p:spPr>
          <a:xfrm>
            <a:off x="3976007" y="2193505"/>
            <a:ext cx="1144859" cy="7463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Unroll </a:t>
            </a:r>
          </a:p>
        </p:txBody>
      </p:sp>
      <p:sp>
        <p:nvSpPr>
          <p:cNvPr id="64" name="TextBox 63">
            <a:extLst>
              <a:ext uri="{FF2B5EF4-FFF2-40B4-BE49-F238E27FC236}">
                <a16:creationId xmlns:a16="http://schemas.microsoft.com/office/drawing/2014/main" id="{3928535D-8D64-2019-9544-B32CE6FC8DB5}"/>
              </a:ext>
              <a:ext uri="{C183D7F6-B498-43B3-948B-1728B52AA6E4}">
                <adec:decorative xmlns:adec="http://schemas.microsoft.com/office/drawing/2017/decorative" val="1"/>
              </a:ext>
            </a:extLst>
          </p:cNvPr>
          <p:cNvSpPr txBox="1"/>
          <p:nvPr/>
        </p:nvSpPr>
        <p:spPr>
          <a:xfrm>
            <a:off x="3944053" y="2035248"/>
            <a:ext cx="805528" cy="369332"/>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66" name="TextBox 65" descr="The hidden state keeps track of the agent state s sub t, to the power a, equals h sub t and is used to predict Q-values used for action selection. The network can be trained using 1-step TD methods like DQN. Issues:. Vanishing or exploding gradients during training (backpropagation through time). Poor long-range memory: The hidden state forgets older observations. LSTMs can help with these issues">
                <a:extLst>
                  <a:ext uri="{FF2B5EF4-FFF2-40B4-BE49-F238E27FC236}">
                    <a16:creationId xmlns:a16="http://schemas.microsoft.com/office/drawing/2014/main" id="{08DA9517-4AF4-AEC7-81C6-17DE80209F23}"/>
                  </a:ext>
                </a:extLst>
              </p:cNvPr>
              <p:cNvSpPr txBox="1"/>
              <p:nvPr/>
            </p:nvSpPr>
            <p:spPr>
              <a:xfrm>
                <a:off x="575901" y="3877983"/>
                <a:ext cx="10430107" cy="2031325"/>
              </a:xfrm>
              <a:prstGeom prst="rect">
                <a:avLst/>
              </a:prstGeom>
              <a:noFill/>
            </p:spPr>
            <p:txBody>
              <a:bodyPr wrap="square" rtlCol="0">
                <a:spAutoFit/>
              </a:bodyPr>
              <a:lstStyle/>
              <a:p>
                <a:r>
                  <a:rPr lang="en-US" dirty="0"/>
                  <a:t>The hidden state keeps track of the agent state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𝑡</m:t>
                        </m:r>
                      </m:sub>
                      <m:sup>
                        <m:r>
                          <a:rPr lang="en-US" b="0" i="1" smtClean="0">
                            <a:latin typeface="Cambria Math" panose="02040503050406030204" pitchFamily="18" charset="0"/>
                          </a:rPr>
                          <m:t>𝑎</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𝑡</m:t>
                        </m:r>
                      </m:sub>
                    </m:sSub>
                  </m:oMath>
                </a14:m>
                <a:r>
                  <a:rPr lang="en-US" dirty="0"/>
                  <a:t> and is used to predict Q-values used for action selection. The network can be trained using 1-step TD methods like DQN.</a:t>
                </a:r>
              </a:p>
              <a:p>
                <a:endParaRPr lang="en-US" dirty="0"/>
              </a:p>
              <a:p>
                <a:r>
                  <a:rPr lang="en-US" dirty="0"/>
                  <a:t>Issues:</a:t>
                </a:r>
              </a:p>
              <a:p>
                <a:pPr marL="742950" lvl="1" indent="-285750">
                  <a:buFont typeface="Arial" panose="020B0604020202020204" pitchFamily="34" charset="0"/>
                  <a:buChar char="•"/>
                </a:pPr>
                <a:r>
                  <a:rPr lang="en-US" dirty="0"/>
                  <a:t>Vanishing or exploding gradients during training (backpropagation through time).</a:t>
                </a:r>
              </a:p>
              <a:p>
                <a:pPr marL="742950" lvl="1" indent="-285750">
                  <a:buFont typeface="Arial" panose="020B0604020202020204" pitchFamily="34" charset="0"/>
                  <a:buChar char="•"/>
                </a:pPr>
                <a:r>
                  <a:rPr lang="en-US" dirty="0"/>
                  <a:t>Poor long-range memory: The hidden state forgets older observations.</a:t>
                </a:r>
              </a:p>
              <a:p>
                <a:r>
                  <a:rPr lang="en-US" dirty="0"/>
                  <a:t>LSTMs can help with these issues.</a:t>
                </a:r>
              </a:p>
            </p:txBody>
          </p:sp>
        </mc:Choice>
        <mc:Fallback xmlns="">
          <p:sp>
            <p:nvSpPr>
              <p:cNvPr id="66" name="TextBox 65" descr="The hidden state keeps track of the agent state s sub t, to the power a, equals h sub t and is used to predict Q-values used for action selection. The network can be trained using 1-step TD methods like DQN. Issues:. Vanishing or exploding gradients during training (backpropagation through time). Poor long-range memory: The hidden state forgets older observations. LSTMs can help with these issues">
                <a:extLst>
                  <a:ext uri="{FF2B5EF4-FFF2-40B4-BE49-F238E27FC236}">
                    <a16:creationId xmlns:a16="http://schemas.microsoft.com/office/drawing/2014/main" id="{08DA9517-4AF4-AEC7-81C6-17DE80209F23}"/>
                  </a:ext>
                </a:extLst>
              </p:cNvPr>
              <p:cNvSpPr txBox="1">
                <a:spLocks noRot="1" noChangeAspect="1" noMove="1" noResize="1" noEditPoints="1" noAdjustHandles="1" noChangeArrowheads="1" noChangeShapeType="1" noTextEdit="1"/>
              </p:cNvSpPr>
              <p:nvPr/>
            </p:nvSpPr>
            <p:spPr>
              <a:xfrm>
                <a:off x="575901" y="3877983"/>
                <a:ext cx="10430107" cy="2031325"/>
              </a:xfrm>
              <a:prstGeom prst="rect">
                <a:avLst/>
              </a:prstGeom>
              <a:blipFill>
                <a:blip r:embed="rId6"/>
                <a:stretch>
                  <a:fillRect l="-468" t="-1201" b="-4204"/>
                </a:stretch>
              </a:blipFill>
            </p:spPr>
            <p:txBody>
              <a:bodyPr/>
              <a:lstStyle/>
              <a:p>
                <a:r>
                  <a:rPr lang="en-US">
                    <a:noFill/>
                  </a:rPr>
                  <a:t> </a:t>
                </a:r>
              </a:p>
            </p:txBody>
          </p:sp>
        </mc:Fallback>
      </mc:AlternateContent>
    </p:spTree>
    <p:extLst>
      <p:ext uri="{BB962C8B-B14F-4D97-AF65-F5344CB8AC3E}">
        <p14:creationId xmlns:p14="http://schemas.microsoft.com/office/powerpoint/2010/main" val="39470613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97475-C341-3413-A113-CEAB0D750C98}"/>
              </a:ext>
            </a:extLst>
          </p:cNvPr>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3" name="Content Placeholder 2" descr="Idea: Use a deep artificial neural network to create a hidden state that has sufficient information to make decisions. This is also called embed the observation into a latent space. s sub t, to the power a, equals h sub t equals g (o sub t, o sub t minus 1, dot dot dot,o sub o given theta sub g) . Training: Train the network to predict Q-values Q(g(o sub t, dot dot dot,o sub 0 given theta sub g),a given theta sub Q) by minimizing the 1-step temporal difference error (Q-learning). This tries to learn a good agent state representation based on observations">
                <a:extLst>
                  <a:ext uri="{FF2B5EF4-FFF2-40B4-BE49-F238E27FC236}">
                    <a16:creationId xmlns:a16="http://schemas.microsoft.com/office/drawing/2014/main" id="{EEB4A14C-06AB-755C-A3C6-18813CF68E7D}"/>
                  </a:ext>
                </a:extLst>
              </p:cNvPr>
              <p:cNvSpPr>
                <a:spLocks noGrp="1"/>
              </p:cNvSpPr>
              <p:nvPr>
                <p:ph idx="1"/>
              </p:nvPr>
            </p:nvSpPr>
            <p:spPr>
              <a:xfrm>
                <a:off x="838200" y="1397330"/>
                <a:ext cx="10651131" cy="1481655"/>
              </a:xfrm>
            </p:spPr>
            <p:txBody>
              <a:bodyPr>
                <a:normAutofit fontScale="62500" lnSpcReduction="20000"/>
              </a:bodyPr>
              <a:lstStyle/>
              <a:p>
                <a:r>
                  <a:rPr lang="en-US" b="1" dirty="0"/>
                  <a:t>Idea</a:t>
                </a:r>
                <a:r>
                  <a:rPr lang="en-US" dirty="0"/>
                  <a:t>: Use a deep artificial neural network to create a hidden state that has sufficient information to make decisions. This is also called embed the observation into a latent space. </a:t>
                </a:r>
                <a:br>
                  <a:rPr lang="en-US" b="0" i="1" dirty="0">
                    <a:latin typeface="Cambria Math" panose="02040503050406030204" pitchFamily="18" charset="0"/>
                  </a:rPr>
                </a:b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𝑡</m:t>
                        </m:r>
                      </m:sub>
                      <m:sup>
                        <m:r>
                          <a:rPr lang="en-US" b="0" i="1" smtClean="0">
                            <a:latin typeface="Cambria Math" panose="02040503050406030204" pitchFamily="18" charset="0"/>
                          </a:rPr>
                          <m:t>𝑎</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𝑡</m:t>
                        </m:r>
                      </m:sub>
                    </m:sSub>
                    <m:r>
                      <a:rPr lang="en-US" i="1">
                        <a:latin typeface="Cambria Math" panose="02040503050406030204" pitchFamily="18" charset="0"/>
                      </a:rPr>
                      <m:t>=</m:t>
                    </m:r>
                    <m:r>
                      <a:rPr lang="en-US" b="0" i="1" smtClean="0">
                        <a:latin typeface="Cambria Math" panose="02040503050406030204" pitchFamily="18" charset="0"/>
                      </a:rPr>
                      <m:t>𝑔</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𝑡</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𝑜</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𝑔</m:t>
                            </m:r>
                          </m:sub>
                        </m:sSub>
                      </m:e>
                    </m:d>
                    <m:r>
                      <a:rPr lang="en-US" b="0" i="0" smtClean="0">
                        <a:latin typeface="Cambria Math" panose="02040503050406030204" pitchFamily="18" charset="0"/>
                      </a:rPr>
                      <m:t>.</m:t>
                    </m:r>
                  </m:oMath>
                </a14:m>
                <a:endParaRPr lang="en-US" dirty="0"/>
              </a:p>
              <a:p>
                <a:r>
                  <a:rPr lang="en-US" b="1" dirty="0"/>
                  <a:t>Training</a:t>
                </a:r>
                <a:r>
                  <a:rPr lang="en-US" dirty="0"/>
                  <a:t>: Train the network to predict Q-values </a:t>
                </a:r>
                <a14:m>
                  <m:oMath xmlns:m="http://schemas.openxmlformats.org/officeDocument/2006/math">
                    <m:r>
                      <a:rPr lang="en-US" b="0" i="1" smtClean="0">
                        <a:latin typeface="Cambria Math" panose="02040503050406030204" pitchFamily="18" charset="0"/>
                      </a:rPr>
                      <m:t>𝑄</m:t>
                    </m:r>
                    <m:r>
                      <a:rPr lang="en-US" i="1">
                        <a:latin typeface="Cambria Math" panose="02040503050406030204" pitchFamily="18" charset="0"/>
                      </a:rPr>
                      <m:t>(</m:t>
                    </m:r>
                    <m:r>
                      <a:rPr lang="en-US" b="0" i="1" smtClean="0">
                        <a:latin typeface="Cambria Math" panose="02040503050406030204" pitchFamily="18" charset="0"/>
                      </a:rPr>
                      <m:t>𝑔</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𝑡</m:t>
                        </m:r>
                      </m:sub>
                    </m:sSub>
                    <m:r>
                      <a:rPr lang="en-US" i="1">
                        <a:latin typeface="Cambria Math" panose="02040503050406030204" pitchFamily="18" charset="0"/>
                      </a:rPr>
                      <m:t>,…</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𝑔</m:t>
                        </m:r>
                      </m:sub>
                    </m:sSub>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b="0" i="1" smtClean="0">
                            <a:latin typeface="Cambria Math" panose="02040503050406030204" pitchFamily="18" charset="0"/>
                          </a:rPr>
                          <m:t>𝑄</m:t>
                        </m:r>
                      </m:sub>
                    </m:sSub>
                    <m:r>
                      <a:rPr lang="en-US" i="1">
                        <a:latin typeface="Cambria Math" panose="02040503050406030204" pitchFamily="18" charset="0"/>
                      </a:rPr>
                      <m:t>)</m:t>
                    </m:r>
                    <m:r>
                      <a:rPr lang="en-US" b="0" i="0" smtClean="0">
                        <a:latin typeface="Cambria Math" panose="02040503050406030204" pitchFamily="18" charset="0"/>
                      </a:rPr>
                      <m:t> </m:t>
                    </m:r>
                    <m:r>
                      <m:rPr>
                        <m:sty m:val="p"/>
                      </m:rPr>
                      <a:rPr lang="en-US" b="0" i="0" smtClean="0">
                        <a:latin typeface="Cambria Math" panose="02040503050406030204" pitchFamily="18" charset="0"/>
                      </a:rPr>
                      <m:t>by</m:t>
                    </m:r>
                    <m:r>
                      <a:rPr lang="en-US" b="0" i="0" smtClean="0">
                        <a:latin typeface="Cambria Math" panose="02040503050406030204" pitchFamily="18" charset="0"/>
                      </a:rPr>
                      <m:t> </m:t>
                    </m:r>
                  </m:oMath>
                </a14:m>
                <a:r>
                  <a:rPr lang="en-US" dirty="0"/>
                  <a:t>minimizing the 1-step temporal difference error (Q-learning). This tries to learn a good agent state representation based on observations.</a:t>
                </a:r>
              </a:p>
            </p:txBody>
          </p:sp>
        </mc:Choice>
        <mc:Fallback xmlns="">
          <p:sp>
            <p:nvSpPr>
              <p:cNvPr id="3" name="Content Placeholder 2" descr="Idea: Use a deep artificial neural network to create a hidden state that has sufficient information to make decisions. This is also called embed the observation into a latent space. s sub t, to the power a, equals h sub t equals g (o sub t, o sub t minus 1, dot dot dot,o sub o given theta sub g) . Training: Train the network to predict Q-values Q(g(o sub t, dot dot dot,o sub 0 given theta sub g),a given theta sub Q) by minimizing the 1-step temporal difference error (Q-learning). This tries to learn a good agent state representation based on observations">
                <a:extLst>
                  <a:ext uri="{FF2B5EF4-FFF2-40B4-BE49-F238E27FC236}">
                    <a16:creationId xmlns:a16="http://schemas.microsoft.com/office/drawing/2014/main" id="{EEB4A14C-06AB-755C-A3C6-18813CF68E7D}"/>
                  </a:ext>
                </a:extLst>
              </p:cNvPr>
              <p:cNvSpPr>
                <a:spLocks noGrp="1" noRot="1" noChangeAspect="1" noMove="1" noResize="1" noEditPoints="1" noAdjustHandles="1" noChangeArrowheads="1" noChangeShapeType="1" noTextEdit="1"/>
              </p:cNvSpPr>
              <p:nvPr>
                <p:ph idx="1"/>
              </p:nvPr>
            </p:nvSpPr>
            <p:spPr>
              <a:xfrm>
                <a:off x="838200" y="1397330"/>
                <a:ext cx="10651131" cy="1481655"/>
              </a:xfrm>
              <a:blipFill>
                <a:blip r:embed="rId2"/>
                <a:stretch>
                  <a:fillRect l="-401" t="-6173" r="-801" b="-3292"/>
                </a:stretch>
              </a:blipFill>
            </p:spPr>
            <p:txBody>
              <a:bodyPr/>
              <a:lstStyle/>
              <a:p>
                <a:r>
                  <a:rPr lang="en-US">
                    <a:noFill/>
                  </a:rPr>
                  <a:t> </a:t>
                </a:r>
              </a:p>
            </p:txBody>
          </p:sp>
        </mc:Fallback>
      </mc:AlternateContent>
      <p:pic>
        <p:nvPicPr>
          <p:cNvPr id="1028" name="Picture 4" descr="Screenshot of the Atari game Ms. Pac-Man: a maze with pellets, four ghosts in the centre box and Pac-Man near the bottom.">
            <a:extLst>
              <a:ext uri="{FF2B5EF4-FFF2-40B4-BE49-F238E27FC236}">
                <a16:creationId xmlns:a16="http://schemas.microsoft.com/office/drawing/2014/main" id="{3B66EC64-73FA-EC0D-F663-E60EF66E27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797" y="2827450"/>
            <a:ext cx="1477202" cy="1899259"/>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Group 28" descr="Pipeline diagram: an observation (an Atari Pac-Man screen) feeds a Deep Network (convolution, RNN, etc.), which produces Hidden State h, then a Fully connected layer, then Q-values, which choose an action (a joystick). A feedback arrow from the Q-values back to the deep network is labelled Train using TD-error as loss. A purple note says: The direction of the moving ghosts is not observable!">
            <a:extLst>
              <a:ext uri="{FF2B5EF4-FFF2-40B4-BE49-F238E27FC236}">
                <a16:creationId xmlns:a16="http://schemas.microsoft.com/office/drawing/2014/main" id="{ECE9BBC3-86A1-408E-873E-F10CA39CC1D1}"/>
              </a:ext>
            </a:extLst>
          </p:cNvPr>
          <p:cNvGrpSpPr/>
          <p:nvPr/>
        </p:nvGrpSpPr>
        <p:grpSpPr>
          <a:xfrm>
            <a:off x="1723773" y="3444684"/>
            <a:ext cx="9610013" cy="2244777"/>
            <a:chOff x="2085507" y="2649517"/>
            <a:chExt cx="9610013" cy="2244777"/>
          </a:xfrm>
        </p:grpSpPr>
        <p:grpSp>
          <p:nvGrpSpPr>
            <p:cNvPr id="15" name="Group 14" descr="Pipeline: observation, then Deep Network (convolution, RNN, etc.), then Hidden State h, then Fully connected layer, then Q-values.">
              <a:extLst>
                <a:ext uri="{FF2B5EF4-FFF2-40B4-BE49-F238E27FC236}">
                  <a16:creationId xmlns:a16="http://schemas.microsoft.com/office/drawing/2014/main" id="{EB90E7ED-4FD3-FE19-CD90-303AD260A98D}"/>
                </a:ext>
              </a:extLst>
            </p:cNvPr>
            <p:cNvGrpSpPr/>
            <p:nvPr/>
          </p:nvGrpSpPr>
          <p:grpSpPr>
            <a:xfrm>
              <a:off x="2085507" y="2649517"/>
              <a:ext cx="8020985" cy="2244777"/>
              <a:chOff x="1094282" y="3310952"/>
              <a:chExt cx="8020985" cy="2244777"/>
            </a:xfrm>
          </p:grpSpPr>
          <p:sp>
            <p:nvSpPr>
              <p:cNvPr id="4" name="Oval 3">
                <a:extLst>
                  <a:ext uri="{FF2B5EF4-FFF2-40B4-BE49-F238E27FC236}">
                    <a16:creationId xmlns:a16="http://schemas.microsoft.com/office/drawing/2014/main" id="{092E33EA-E973-4928-790E-CAC9521E1D24}"/>
                  </a:ext>
                </a:extLst>
              </p:cNvPr>
              <p:cNvSpPr/>
              <p:nvPr/>
            </p:nvSpPr>
            <p:spPr>
              <a:xfrm>
                <a:off x="1094282" y="3979888"/>
                <a:ext cx="914400" cy="906905"/>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observation</a:t>
                </a:r>
              </a:p>
            </p:txBody>
          </p:sp>
          <p:sp>
            <p:nvSpPr>
              <p:cNvPr id="5" name="Rectangle 4">
                <a:extLst>
                  <a:ext uri="{FF2B5EF4-FFF2-40B4-BE49-F238E27FC236}">
                    <a16:creationId xmlns:a16="http://schemas.microsoft.com/office/drawing/2014/main" id="{68C82C46-14E0-A523-A388-479666CEEA4D}"/>
                  </a:ext>
                </a:extLst>
              </p:cNvPr>
              <p:cNvSpPr/>
              <p:nvPr/>
            </p:nvSpPr>
            <p:spPr>
              <a:xfrm>
                <a:off x="2496174" y="3485212"/>
                <a:ext cx="1948721" cy="1896256"/>
              </a:xfrm>
              <a:prstGeom prst="rect">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Deep Network</a:t>
                </a:r>
              </a:p>
              <a:p>
                <a:pPr algn="ctr"/>
                <a:endParaRPr lang="en-US" dirty="0"/>
              </a:p>
              <a:p>
                <a:pPr algn="ctr"/>
                <a:r>
                  <a:rPr lang="en-US" sz="1600" dirty="0"/>
                  <a:t>Convolution,</a:t>
                </a:r>
              </a:p>
              <a:p>
                <a:pPr algn="ctr"/>
                <a:r>
                  <a:rPr lang="en-US" sz="1600" dirty="0"/>
                  <a:t>RNN, etc.</a:t>
                </a:r>
              </a:p>
            </p:txBody>
          </p:sp>
          <mc:AlternateContent xmlns:mc="http://schemas.openxmlformats.org/markup-compatibility/2006" xmlns:a14="http://schemas.microsoft.com/office/drawing/2010/main">
            <mc:Choice Requires="a14">
              <p:sp>
                <p:nvSpPr>
                  <p:cNvPr id="6" name="Rectangle 5" descr="Hidden State h">
                    <a:extLst>
                      <a:ext uri="{FF2B5EF4-FFF2-40B4-BE49-F238E27FC236}">
                        <a16:creationId xmlns:a16="http://schemas.microsoft.com/office/drawing/2014/main" id="{AB3CCC84-749D-DFF2-9978-AC4D44C56EEF}"/>
                      </a:ext>
                    </a:extLst>
                  </p:cNvPr>
                  <p:cNvSpPr/>
                  <p:nvPr/>
                </p:nvSpPr>
                <p:spPr>
                  <a:xfrm>
                    <a:off x="4932387" y="3310952"/>
                    <a:ext cx="397239" cy="224477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vert="vert270" rtlCol="0" anchor="ctr"/>
                  <a:lstStyle/>
                  <a:p>
                    <a:pPr algn="ctr"/>
                    <a:r>
                      <a:rPr lang="en-US" dirty="0"/>
                      <a:t>Hidden State </a:t>
                    </a:r>
                    <a14:m>
                      <m:oMath xmlns:m="http://schemas.openxmlformats.org/officeDocument/2006/math">
                        <m:r>
                          <a:rPr lang="en-US" b="0" i="1" smtClean="0">
                            <a:latin typeface="Cambria Math" panose="02040503050406030204" pitchFamily="18" charset="0"/>
                          </a:rPr>
                          <m:t>ℎ</m:t>
                        </m:r>
                      </m:oMath>
                    </a14:m>
                    <a:endParaRPr lang="en-US" dirty="0"/>
                  </a:p>
                </p:txBody>
              </p:sp>
            </mc:Choice>
            <mc:Fallback xmlns="">
              <p:sp>
                <p:nvSpPr>
                  <p:cNvPr id="6" name="Rectangle 5" descr="Hidden State h">
                    <a:extLst>
                      <a:ext uri="{FF2B5EF4-FFF2-40B4-BE49-F238E27FC236}">
                        <a16:creationId xmlns:a16="http://schemas.microsoft.com/office/drawing/2014/main" id="{AB3CCC84-749D-DFF2-9978-AC4D44C56EEF}"/>
                      </a:ext>
                    </a:extLst>
                  </p:cNvPr>
                  <p:cNvSpPr>
                    <a:spLocks noRot="1" noChangeAspect="1" noMove="1" noResize="1" noEditPoints="1" noAdjustHandles="1" noChangeArrowheads="1" noChangeShapeType="1" noTextEdit="1"/>
                  </p:cNvSpPr>
                  <p:nvPr/>
                </p:nvSpPr>
                <p:spPr>
                  <a:xfrm>
                    <a:off x="4932387" y="3310952"/>
                    <a:ext cx="397239" cy="2244777"/>
                  </a:xfrm>
                  <a:prstGeom prst="rect">
                    <a:avLst/>
                  </a:prstGeom>
                  <a:blipFill>
                    <a:blip r:embed="rId4"/>
                    <a:stretch>
                      <a:fillRect l="-1449" r="-17391"/>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315BD782-7EE6-D394-5131-15BDA154990D}"/>
                  </a:ext>
                </a:extLst>
              </p:cNvPr>
              <p:cNvSpPr/>
              <p:nvPr/>
            </p:nvSpPr>
            <p:spPr>
              <a:xfrm>
                <a:off x="5817118" y="3485212"/>
                <a:ext cx="1948721" cy="189625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Fully connected layer</a:t>
                </a:r>
              </a:p>
            </p:txBody>
          </p:sp>
          <p:sp>
            <p:nvSpPr>
              <p:cNvPr id="8" name="Oval 7">
                <a:extLst>
                  <a:ext uri="{FF2B5EF4-FFF2-40B4-BE49-F238E27FC236}">
                    <a16:creationId xmlns:a16="http://schemas.microsoft.com/office/drawing/2014/main" id="{A256BA5F-AD26-C47A-6D4F-D6B0DC35B5B7}"/>
                  </a:ext>
                </a:extLst>
              </p:cNvPr>
              <p:cNvSpPr/>
              <p:nvPr/>
            </p:nvSpPr>
            <p:spPr>
              <a:xfrm>
                <a:off x="8253333" y="4002373"/>
                <a:ext cx="861934" cy="861935"/>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Q-values</a:t>
                </a:r>
              </a:p>
            </p:txBody>
          </p:sp>
          <p:sp>
            <p:nvSpPr>
              <p:cNvPr id="11" name="Arrow: Right 10">
                <a:extLst>
                  <a:ext uri="{FF2B5EF4-FFF2-40B4-BE49-F238E27FC236}">
                    <a16:creationId xmlns:a16="http://schemas.microsoft.com/office/drawing/2014/main" id="{7AE1EAD2-69A7-5F2D-6C29-819A7C09FA84}"/>
                  </a:ext>
                  <a:ext uri="{C183D7F6-B498-43B3-948B-1728B52AA6E4}">
                    <adec:decorative xmlns:adec="http://schemas.microsoft.com/office/drawing/2017/decorative" val="1"/>
                  </a:ext>
                </a:extLst>
              </p:cNvPr>
              <p:cNvSpPr/>
              <p:nvPr/>
            </p:nvSpPr>
            <p:spPr>
              <a:xfrm>
                <a:off x="2095031" y="4230973"/>
                <a:ext cx="314794" cy="404734"/>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B7989DFC-2F24-0A15-BBD7-E295E2247D23}"/>
                  </a:ext>
                  <a:ext uri="{C183D7F6-B498-43B3-948B-1728B52AA6E4}">
                    <adec:decorative xmlns:adec="http://schemas.microsoft.com/office/drawing/2017/decorative" val="1"/>
                  </a:ext>
                </a:extLst>
              </p:cNvPr>
              <p:cNvSpPr/>
              <p:nvPr/>
            </p:nvSpPr>
            <p:spPr>
              <a:xfrm>
                <a:off x="4531244" y="4230973"/>
                <a:ext cx="314794" cy="404734"/>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C12C7CB0-5F53-A7F8-5F37-A0901DD95C33}"/>
                  </a:ext>
                  <a:ext uri="{C183D7F6-B498-43B3-948B-1728B52AA6E4}">
                    <adec:decorative xmlns:adec="http://schemas.microsoft.com/office/drawing/2017/decorative" val="1"/>
                  </a:ext>
                </a:extLst>
              </p:cNvPr>
              <p:cNvSpPr/>
              <p:nvPr/>
            </p:nvSpPr>
            <p:spPr>
              <a:xfrm>
                <a:off x="5415975" y="4230973"/>
                <a:ext cx="314794" cy="404734"/>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28978B6D-23E0-13AE-F2F6-14339581E18A}"/>
                  </a:ext>
                  <a:ext uri="{C183D7F6-B498-43B3-948B-1728B52AA6E4}">
                    <adec:decorative xmlns:adec="http://schemas.microsoft.com/office/drawing/2017/decorative" val="1"/>
                  </a:ext>
                </a:extLst>
              </p:cNvPr>
              <p:cNvSpPr/>
              <p:nvPr/>
            </p:nvSpPr>
            <p:spPr>
              <a:xfrm>
                <a:off x="7852188" y="4230973"/>
                <a:ext cx="314794" cy="404734"/>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pSp>
        <p:pic>
          <p:nvPicPr>
            <p:cNvPr id="21" name="Picture 20" descr="Photo of a classic Atari joystick with one red button.">
              <a:extLst>
                <a:ext uri="{FF2B5EF4-FFF2-40B4-BE49-F238E27FC236}">
                  <a16:creationId xmlns:a16="http://schemas.microsoft.com/office/drawing/2014/main" id="{30F2CF3C-9B0A-898F-F18A-11ED9E031BB7}"/>
                </a:ext>
              </a:extLst>
            </p:cNvPr>
            <p:cNvPicPr>
              <a:picLocks noChangeAspect="1"/>
            </p:cNvPicPr>
            <p:nvPr/>
          </p:nvPicPr>
          <p:blipFill>
            <a:blip r:embed="rId5"/>
            <a:stretch>
              <a:fillRect/>
            </a:stretch>
          </p:blipFill>
          <p:spPr>
            <a:xfrm>
              <a:off x="10658006" y="3100360"/>
              <a:ext cx="1025719" cy="1025719"/>
            </a:xfrm>
            <a:prstGeom prst="rect">
              <a:avLst/>
            </a:prstGeom>
          </p:spPr>
        </p:pic>
        <p:sp>
          <p:nvSpPr>
            <p:cNvPr id="26" name="TextBox 25">
              <a:extLst>
                <a:ext uri="{FF2B5EF4-FFF2-40B4-BE49-F238E27FC236}">
                  <a16:creationId xmlns:a16="http://schemas.microsoft.com/office/drawing/2014/main" id="{E1250F75-18B6-5E3A-853A-A4363E65EDD1}"/>
                </a:ext>
              </a:extLst>
            </p:cNvPr>
            <p:cNvSpPr txBox="1"/>
            <p:nvPr/>
          </p:nvSpPr>
          <p:spPr>
            <a:xfrm>
              <a:off x="10646209" y="4069228"/>
              <a:ext cx="1049311" cy="369332"/>
            </a:xfrm>
            <a:prstGeom prst="rect">
              <a:avLst/>
            </a:prstGeom>
            <a:noFill/>
          </p:spPr>
          <p:txBody>
            <a:bodyPr wrap="square" rtlCol="0">
              <a:spAutoFit/>
            </a:bodyPr>
            <a:lstStyle/>
            <a:p>
              <a:pPr algn="ctr"/>
              <a:r>
                <a:rPr lang="en-US" dirty="0"/>
                <a:t>action</a:t>
              </a:r>
            </a:p>
          </p:txBody>
        </p:sp>
        <p:sp>
          <p:nvSpPr>
            <p:cNvPr id="27" name="Arrow: Right 26">
              <a:extLst>
                <a:ext uri="{FF2B5EF4-FFF2-40B4-BE49-F238E27FC236}">
                  <a16:creationId xmlns:a16="http://schemas.microsoft.com/office/drawing/2014/main" id="{71B2DAAB-F2A3-06CC-6BE8-2BD97057556C}"/>
                </a:ext>
                <a:ext uri="{C183D7F6-B498-43B3-948B-1728B52AA6E4}">
                  <adec:decorative xmlns:adec="http://schemas.microsoft.com/office/drawing/2017/decorative" val="1"/>
                </a:ext>
              </a:extLst>
            </p:cNvPr>
            <p:cNvSpPr/>
            <p:nvPr/>
          </p:nvSpPr>
          <p:spPr>
            <a:xfrm>
              <a:off x="10192843" y="3613220"/>
              <a:ext cx="314794" cy="404734"/>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pSp>
      <p:grpSp>
        <p:nvGrpSpPr>
          <p:cNvPr id="36" name="Group 35" descr="Feedback arrow from the Q-values back to the deep network, labelled Train using TD-error as loss.">
            <a:extLst>
              <a:ext uri="{FF2B5EF4-FFF2-40B4-BE49-F238E27FC236}">
                <a16:creationId xmlns:a16="http://schemas.microsoft.com/office/drawing/2014/main" id="{DD6341E2-E977-B892-BAD0-BE38C6CD0860}"/>
              </a:ext>
            </a:extLst>
          </p:cNvPr>
          <p:cNvGrpSpPr/>
          <p:nvPr/>
        </p:nvGrpSpPr>
        <p:grpSpPr>
          <a:xfrm>
            <a:off x="3841232" y="5050261"/>
            <a:ext cx="5654612" cy="1186407"/>
            <a:chOff x="4255105" y="4827071"/>
            <a:chExt cx="5654612" cy="1186407"/>
          </a:xfrm>
        </p:grpSpPr>
        <p:sp>
          <p:nvSpPr>
            <p:cNvPr id="31" name="Arrow: Up 30">
              <a:extLst>
                <a:ext uri="{FF2B5EF4-FFF2-40B4-BE49-F238E27FC236}">
                  <a16:creationId xmlns:a16="http://schemas.microsoft.com/office/drawing/2014/main" id="{4173A664-3656-A562-DC36-324516C9B2BC}"/>
                </a:ext>
                <a:ext uri="{C183D7F6-B498-43B3-948B-1728B52AA6E4}">
                  <adec:decorative xmlns:adec="http://schemas.microsoft.com/office/drawing/2017/decorative" val="1"/>
                </a:ext>
              </a:extLst>
            </p:cNvPr>
            <p:cNvSpPr/>
            <p:nvPr/>
          </p:nvSpPr>
          <p:spPr>
            <a:xfrm>
              <a:off x="7597698" y="5110087"/>
              <a:ext cx="527824" cy="569601"/>
            </a:xfrm>
            <a:prstGeom prs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Arrow: Up 31">
              <a:extLst>
                <a:ext uri="{FF2B5EF4-FFF2-40B4-BE49-F238E27FC236}">
                  <a16:creationId xmlns:a16="http://schemas.microsoft.com/office/drawing/2014/main" id="{B265B3A6-D6B8-4D1F-FDC2-C2068B85CA3E}"/>
                </a:ext>
                <a:ext uri="{C183D7F6-B498-43B3-948B-1728B52AA6E4}">
                  <adec:decorative xmlns:adec="http://schemas.microsoft.com/office/drawing/2017/decorative" val="1"/>
                </a:ext>
              </a:extLst>
            </p:cNvPr>
            <p:cNvSpPr/>
            <p:nvPr/>
          </p:nvSpPr>
          <p:spPr>
            <a:xfrm>
              <a:off x="4255105" y="5074545"/>
              <a:ext cx="527824" cy="569601"/>
            </a:xfrm>
            <a:prstGeom prs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65F25576-11B0-04B5-8EF3-C1B53CE70694}"/>
                </a:ext>
              </a:extLst>
            </p:cNvPr>
            <p:cNvSpPr txBox="1"/>
            <p:nvPr/>
          </p:nvSpPr>
          <p:spPr>
            <a:xfrm>
              <a:off x="4386145" y="5644146"/>
              <a:ext cx="5523572"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Train using TD-error as loss</a:t>
              </a:r>
            </a:p>
          </p:txBody>
        </p:sp>
        <p:sp>
          <p:nvSpPr>
            <p:cNvPr id="35" name="Rectangle 34">
              <a:extLst>
                <a:ext uri="{FF2B5EF4-FFF2-40B4-BE49-F238E27FC236}">
                  <a16:creationId xmlns:a16="http://schemas.microsoft.com/office/drawing/2014/main" id="{C415DE21-15E1-FE91-6D7F-48D4430BE190}"/>
                </a:ext>
                <a:ext uri="{C183D7F6-B498-43B3-948B-1728B52AA6E4}">
                  <adec:decorative xmlns:adec="http://schemas.microsoft.com/office/drawing/2017/decorative" val="1"/>
                </a:ext>
              </a:extLst>
            </p:cNvPr>
            <p:cNvSpPr/>
            <p:nvPr/>
          </p:nvSpPr>
          <p:spPr>
            <a:xfrm>
              <a:off x="9575179" y="4827071"/>
              <a:ext cx="334537" cy="84681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37" name="Speech Bubble: Rectangle with Corners Rounded 36">
            <a:extLst>
              <a:ext uri="{FF2B5EF4-FFF2-40B4-BE49-F238E27FC236}">
                <a16:creationId xmlns:a16="http://schemas.microsoft.com/office/drawing/2014/main" id="{FBEB04A1-8BA2-4DEB-530D-6F4C8A99DBA8}"/>
              </a:ext>
            </a:extLst>
          </p:cNvPr>
          <p:cNvSpPr/>
          <p:nvPr/>
        </p:nvSpPr>
        <p:spPr>
          <a:xfrm>
            <a:off x="1195441" y="5335138"/>
            <a:ext cx="1723191" cy="724785"/>
          </a:xfrm>
          <a:prstGeom prst="wedgeRoundRectCallout">
            <a:avLst>
              <a:gd name="adj1" fmla="val -31618"/>
              <a:gd name="adj2" fmla="val -153924"/>
              <a:gd name="adj3" fmla="val 16667"/>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400" dirty="0"/>
              <a:t>The direction of the moving ghosts is not observable!</a:t>
            </a:r>
          </a:p>
        </p:txBody>
      </p:sp>
    </p:spTree>
    <p:extLst>
      <p:ext uri="{BB962C8B-B14F-4D97-AF65-F5344CB8AC3E}">
        <p14:creationId xmlns:p14="http://schemas.microsoft.com/office/powerpoint/2010/main" val="1355451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FA69AAE0-49D5-4C8B-8BA2-55898C00E0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hoto of a Pong arcade cabinet with a yellow front and wood-grain sides.">
            <a:extLst>
              <a:ext uri="{FF2B5EF4-FFF2-40B4-BE49-F238E27FC236}">
                <a16:creationId xmlns:a16="http://schemas.microsoft.com/office/drawing/2014/main" id="{53BCD748-17F6-7FC1-B1FE-3906C43DAA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44479"/>
          <a:stretch>
            <a:fillRect/>
          </a:stretch>
        </p:blipFill>
        <p:spPr bwMode="auto">
          <a:xfrm>
            <a:off x="-4" y="-4"/>
            <a:ext cx="7534640" cy="6857984"/>
          </a:xfrm>
          <a:custGeom>
            <a:avLst/>
            <a:gdLst/>
            <a:ahLst/>
            <a:cxnLst/>
            <a:rect l="l" t="t" r="r" b="b"/>
            <a:pathLst>
              <a:path w="7534640" h="6857984">
                <a:moveTo>
                  <a:pt x="0" y="0"/>
                </a:moveTo>
                <a:lnTo>
                  <a:pt x="7534640" y="0"/>
                </a:lnTo>
                <a:lnTo>
                  <a:pt x="7534640" y="3832811"/>
                </a:lnTo>
                <a:lnTo>
                  <a:pt x="7344853" y="3826712"/>
                </a:lnTo>
                <a:cubicBezTo>
                  <a:pt x="7344853" y="3826712"/>
                  <a:pt x="7341511" y="3826712"/>
                  <a:pt x="7341511" y="3826712"/>
                </a:cubicBezTo>
                <a:cubicBezTo>
                  <a:pt x="7274667" y="3823370"/>
                  <a:pt x="7211169" y="3823370"/>
                  <a:pt x="7144324" y="3820027"/>
                </a:cubicBezTo>
                <a:cubicBezTo>
                  <a:pt x="6913719" y="3820027"/>
                  <a:pt x="6683113" y="3820027"/>
                  <a:pt x="6455848" y="3820027"/>
                </a:cubicBezTo>
                <a:cubicBezTo>
                  <a:pt x="6231926" y="3910265"/>
                  <a:pt x="5987951" y="3833396"/>
                  <a:pt x="5767372" y="3903581"/>
                </a:cubicBezTo>
                <a:cubicBezTo>
                  <a:pt x="5533423" y="3900239"/>
                  <a:pt x="5312845" y="3970423"/>
                  <a:pt x="5082238" y="4000503"/>
                </a:cubicBezTo>
                <a:cubicBezTo>
                  <a:pt x="4908446" y="4013871"/>
                  <a:pt x="4731314" y="3997160"/>
                  <a:pt x="4570892" y="4067345"/>
                </a:cubicBezTo>
                <a:cubicBezTo>
                  <a:pt x="4447233" y="4124161"/>
                  <a:pt x="4350312" y="4197688"/>
                  <a:pt x="4483996" y="4348083"/>
                </a:cubicBezTo>
                <a:cubicBezTo>
                  <a:pt x="4644419" y="4344742"/>
                  <a:pt x="4627708" y="4598742"/>
                  <a:pt x="4788129" y="4561979"/>
                </a:cubicBezTo>
                <a:cubicBezTo>
                  <a:pt x="4754709" y="4678954"/>
                  <a:pt x="4641076" y="4618795"/>
                  <a:pt x="4600971" y="4705690"/>
                </a:cubicBezTo>
                <a:cubicBezTo>
                  <a:pt x="4684524" y="4779217"/>
                  <a:pt x="4844945" y="4725744"/>
                  <a:pt x="4871683" y="4879480"/>
                </a:cubicBezTo>
                <a:cubicBezTo>
                  <a:pt x="4838262" y="5039902"/>
                  <a:pt x="4945210" y="5019849"/>
                  <a:pt x="5032105" y="5029876"/>
                </a:cubicBezTo>
                <a:cubicBezTo>
                  <a:pt x="5239317" y="5049930"/>
                  <a:pt x="5439843" y="5063297"/>
                  <a:pt x="5643713" y="5096719"/>
                </a:cubicBezTo>
                <a:cubicBezTo>
                  <a:pt x="5693844" y="5106745"/>
                  <a:pt x="5810819" y="5083350"/>
                  <a:pt x="5800794" y="5186956"/>
                </a:cubicBezTo>
                <a:cubicBezTo>
                  <a:pt x="5790767" y="5270508"/>
                  <a:pt x="5700529" y="5240431"/>
                  <a:pt x="5643713" y="5243772"/>
                </a:cubicBezTo>
                <a:cubicBezTo>
                  <a:pt x="5329553" y="5283879"/>
                  <a:pt x="5012052" y="5220378"/>
                  <a:pt x="4701235" y="5223719"/>
                </a:cubicBezTo>
                <a:cubicBezTo>
                  <a:pt x="4664472" y="5223719"/>
                  <a:pt x="4657787" y="5334009"/>
                  <a:pt x="4577576" y="5297246"/>
                </a:cubicBezTo>
                <a:cubicBezTo>
                  <a:pt x="4788129" y="5397510"/>
                  <a:pt x="5767372" y="5424248"/>
                  <a:pt x="6094900" y="5477721"/>
                </a:cubicBezTo>
                <a:cubicBezTo>
                  <a:pt x="5754004" y="5858724"/>
                  <a:pt x="5429817" y="5628117"/>
                  <a:pt x="5159105" y="5842012"/>
                </a:cubicBezTo>
                <a:cubicBezTo>
                  <a:pt x="5159105" y="5842012"/>
                  <a:pt x="5212580" y="5842012"/>
                  <a:pt x="5443187" y="5912197"/>
                </a:cubicBezTo>
                <a:cubicBezTo>
                  <a:pt x="5627002" y="5969012"/>
                  <a:pt x="5536765" y="6049223"/>
                  <a:pt x="6001321" y="6202962"/>
                </a:cubicBezTo>
                <a:cubicBezTo>
                  <a:pt x="5824188" y="6253093"/>
                  <a:pt x="5593581" y="6156172"/>
                  <a:pt x="5506685" y="6416857"/>
                </a:cubicBezTo>
                <a:cubicBezTo>
                  <a:pt x="5643713" y="6463648"/>
                  <a:pt x="5807477" y="6420200"/>
                  <a:pt x="5904398" y="6543858"/>
                </a:cubicBezTo>
                <a:cubicBezTo>
                  <a:pt x="5934478" y="6580622"/>
                  <a:pt x="5964557" y="6604017"/>
                  <a:pt x="6001321" y="6624068"/>
                </a:cubicBezTo>
                <a:cubicBezTo>
                  <a:pt x="5984612" y="6630754"/>
                  <a:pt x="5964557" y="6637437"/>
                  <a:pt x="5951188" y="6644121"/>
                </a:cubicBezTo>
                <a:cubicBezTo>
                  <a:pt x="5977925" y="6667518"/>
                  <a:pt x="6663060" y="6794517"/>
                  <a:pt x="6836850" y="6797860"/>
                </a:cubicBezTo>
                <a:cubicBezTo>
                  <a:pt x="6761652" y="6822926"/>
                  <a:pt x="6636845" y="6844075"/>
                  <a:pt x="6553814" y="6856412"/>
                </a:cubicBezTo>
                <a:lnTo>
                  <a:pt x="6542822" y="6857984"/>
                </a:lnTo>
                <a:lnTo>
                  <a:pt x="0" y="6857984"/>
                </a:lnTo>
                <a:close/>
              </a:path>
            </a:pathLst>
          </a:cu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3DBF2214-D94B-083C-0CBA-19D7814CC919}"/>
              </a:ext>
            </a:extLst>
          </p:cNvPr>
          <p:cNvSpPr>
            <a:spLocks noGrp="1"/>
          </p:cNvSpPr>
          <p:nvPr>
            <p:ph type="title"/>
          </p:nvPr>
        </p:nvSpPr>
        <p:spPr>
          <a:xfrm>
            <a:off x="6343650" y="3962400"/>
            <a:ext cx="5505814" cy="1690409"/>
          </a:xfrm>
        </p:spPr>
        <p:txBody>
          <a:bodyPr vert="horz" lIns="91440" tIns="45720" rIns="91440" bIns="45720" rtlCol="0" anchor="b">
            <a:normAutofit/>
          </a:bodyPr>
          <a:lstStyle/>
          <a:p>
            <a:r>
              <a:rPr lang="en-US" sz="4400" kern="1200">
                <a:solidFill>
                  <a:schemeClr val="tx1"/>
                </a:solidFill>
                <a:latin typeface="+mj-lt"/>
                <a:ea typeface="+mj-ea"/>
                <a:cs typeface="+mj-cs"/>
              </a:rPr>
              <a:t>Case Study: </a:t>
            </a:r>
            <a:br>
              <a:rPr lang="en-US" sz="4400" kern="1200">
                <a:solidFill>
                  <a:schemeClr val="tx1"/>
                </a:solidFill>
                <a:latin typeface="+mj-lt"/>
                <a:ea typeface="+mj-ea"/>
                <a:cs typeface="+mj-cs"/>
              </a:rPr>
            </a:br>
            <a:r>
              <a:rPr lang="en-US" sz="4400" kern="1200">
                <a:solidFill>
                  <a:schemeClr val="tx1"/>
                </a:solidFill>
                <a:latin typeface="+mj-lt"/>
                <a:ea typeface="+mj-ea"/>
                <a:cs typeface="+mj-cs"/>
              </a:rPr>
              <a:t>Atari Pong</a:t>
            </a:r>
          </a:p>
        </p:txBody>
      </p:sp>
      <p:sp>
        <p:nvSpPr>
          <p:cNvPr id="3" name="TextBox 2">
            <a:extLst>
              <a:ext uri="{FF2B5EF4-FFF2-40B4-BE49-F238E27FC236}">
                <a16:creationId xmlns:a16="http://schemas.microsoft.com/office/drawing/2014/main" id="{9386658C-63FF-B01D-7BCA-498AC542D8E8}"/>
              </a:ext>
            </a:extLst>
          </p:cNvPr>
          <p:cNvSpPr txBox="1"/>
          <p:nvPr/>
        </p:nvSpPr>
        <p:spPr>
          <a:xfrm>
            <a:off x="-3056" y="-24"/>
            <a:ext cx="1689197" cy="369332"/>
          </a:xfrm>
          <a:prstGeom prst="rect">
            <a:avLst/>
          </a:prstGeom>
          <a:solidFill>
            <a:srgbClr val="747474">
              <a:alpha val="41961"/>
            </a:srgbClr>
          </a:solidFill>
        </p:spPr>
        <p:txBody>
          <a:bodyPr wrap="square">
            <a:spAutoFit/>
          </a:bodyPr>
          <a:lstStyle/>
          <a:p>
            <a:r>
              <a:rPr lang="en-US" dirty="0"/>
              <a:t>Atari Inc., 1972</a:t>
            </a:r>
          </a:p>
        </p:txBody>
      </p:sp>
      <p:pic>
        <p:nvPicPr>
          <p:cNvPr id="6" name="Picture 5" descr="Screenshot of the Atari game Pong: an orange paddle on the left, a green paddle on the right and a small white ball, with the scores at the top.">
            <a:extLst>
              <a:ext uri="{FF2B5EF4-FFF2-40B4-BE49-F238E27FC236}">
                <a16:creationId xmlns:a16="http://schemas.microsoft.com/office/drawing/2014/main" id="{CDB9D809-2EC1-59CB-DD30-F0D3DDB88D5D}"/>
              </a:ext>
            </a:extLst>
          </p:cNvPr>
          <p:cNvPicPr>
            <a:picLocks noChangeAspect="1"/>
          </p:cNvPicPr>
          <p:nvPr/>
        </p:nvPicPr>
        <p:blipFill>
          <a:blip r:embed="rId3"/>
          <a:srcRect r="-1" b="35072"/>
          <a:stretch>
            <a:fillRect/>
          </a:stretch>
        </p:blipFill>
        <p:spPr>
          <a:xfrm>
            <a:off x="7653541" y="6"/>
            <a:ext cx="4538463" cy="3877247"/>
          </a:xfrm>
          <a:custGeom>
            <a:avLst/>
            <a:gdLst/>
            <a:ahLst/>
            <a:cxnLst/>
            <a:rect l="l" t="t" r="r" b="b"/>
            <a:pathLst>
              <a:path w="4538463" h="3877247">
                <a:moveTo>
                  <a:pt x="0" y="0"/>
                </a:moveTo>
                <a:lnTo>
                  <a:pt x="4538463" y="0"/>
                </a:lnTo>
                <a:lnTo>
                  <a:pt x="4538463" y="3437173"/>
                </a:lnTo>
                <a:lnTo>
                  <a:pt x="4530710" y="3429000"/>
                </a:lnTo>
                <a:cubicBezTo>
                  <a:pt x="4370289" y="3495842"/>
                  <a:pt x="4239946" y="3686344"/>
                  <a:pt x="4056129" y="3636211"/>
                </a:cubicBezTo>
                <a:cubicBezTo>
                  <a:pt x="3872313" y="3589422"/>
                  <a:pt x="3788760" y="3830055"/>
                  <a:pt x="3618310" y="3756528"/>
                </a:cubicBezTo>
                <a:cubicBezTo>
                  <a:pt x="3394389" y="3823371"/>
                  <a:pt x="3163783" y="3823371"/>
                  <a:pt x="2933176" y="3810002"/>
                </a:cubicBezTo>
                <a:cubicBezTo>
                  <a:pt x="2702570" y="3840081"/>
                  <a:pt x="2471962" y="3873503"/>
                  <a:pt x="2238015" y="3850107"/>
                </a:cubicBezTo>
                <a:cubicBezTo>
                  <a:pt x="2007408" y="3870161"/>
                  <a:pt x="1783486" y="3883529"/>
                  <a:pt x="1552880" y="3863476"/>
                </a:cubicBezTo>
                <a:cubicBezTo>
                  <a:pt x="1322274" y="3886870"/>
                  <a:pt x="1091667" y="3876844"/>
                  <a:pt x="864402" y="3860134"/>
                </a:cubicBezTo>
                <a:cubicBezTo>
                  <a:pt x="757455" y="3860134"/>
                  <a:pt x="653849" y="3856792"/>
                  <a:pt x="546902" y="3856792"/>
                </a:cubicBezTo>
                <a:cubicBezTo>
                  <a:pt x="404861" y="3850108"/>
                  <a:pt x="262821" y="3845095"/>
                  <a:pt x="120363" y="3840499"/>
                </a:cubicBezTo>
                <a:lnTo>
                  <a:pt x="0" y="3836632"/>
                </a:lnTo>
                <a:close/>
              </a:path>
            </a:pathLst>
          </a:custGeom>
        </p:spPr>
        <p:style>
          <a:lnRef idx="2">
            <a:schemeClr val="dk1"/>
          </a:lnRef>
          <a:fillRef idx="1">
            <a:schemeClr val="lt1"/>
          </a:fillRef>
          <a:effectRef idx="0">
            <a:schemeClr val="dk1"/>
          </a:effectRef>
          <a:fontRef idx="minor">
            <a:schemeClr val="dk1"/>
          </a:fontRef>
        </p:style>
      </p:pic>
      <p:sp>
        <p:nvSpPr>
          <p:cNvPr id="5" name="Text Placeholder 4">
            <a:extLst>
              <a:ext uri="{FF2B5EF4-FFF2-40B4-BE49-F238E27FC236}">
                <a16:creationId xmlns:a16="http://schemas.microsoft.com/office/drawing/2014/main" id="{D6954E9A-98C6-3951-22D3-983F563998AD}"/>
              </a:ext>
            </a:extLst>
          </p:cNvPr>
          <p:cNvSpPr>
            <a:spLocks noGrp="1"/>
          </p:cNvSpPr>
          <p:nvPr>
            <p:ph type="body" idx="1"/>
          </p:nvPr>
        </p:nvSpPr>
        <p:spPr>
          <a:xfrm>
            <a:off x="6343650" y="5709565"/>
            <a:ext cx="5395975" cy="646785"/>
          </a:xfrm>
        </p:spPr>
        <p:txBody>
          <a:bodyPr vert="horz" lIns="91440" tIns="45720" rIns="91440" bIns="45720" rtlCol="0">
            <a:normAutofit/>
          </a:bodyPr>
          <a:lstStyle/>
          <a:p>
            <a:r>
              <a:rPr lang="en-US" sz="1300" i="1" kern="1200">
                <a:solidFill>
                  <a:schemeClr val="tx1"/>
                </a:solidFill>
                <a:latin typeface="+mn-lt"/>
                <a:ea typeface="+mn-ea"/>
                <a:cs typeface="+mn-cs"/>
              </a:rPr>
              <a:t>Pong</a:t>
            </a:r>
            <a:r>
              <a:rPr lang="en-US" sz="1300" kern="1200">
                <a:solidFill>
                  <a:schemeClr val="tx1"/>
                </a:solidFill>
                <a:latin typeface="+mn-lt"/>
                <a:ea typeface="+mn-ea"/>
                <a:cs typeface="+mn-cs"/>
              </a:rPr>
              <a:t> simulates table tennis. The players use paddles to hit a ball back and forth. Points are earned when the opponent fails to return the ball. The goal is for each player to reach eleven points before the opponent.</a:t>
            </a:r>
          </a:p>
        </p:txBody>
      </p:sp>
    </p:spTree>
    <p:extLst>
      <p:ext uri="{BB962C8B-B14F-4D97-AF65-F5344CB8AC3E}">
        <p14:creationId xmlns:p14="http://schemas.microsoft.com/office/powerpoint/2010/main" val="77588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67B9F-8BF6-1B42-EB84-F83142A4B287}"/>
              </a:ext>
            </a:extLst>
          </p:cNvPr>
          <p:cNvSpPr>
            <a:spLocks noGrp="1"/>
          </p:cNvSpPr>
          <p:nvPr>
            <p:ph type="title"/>
          </p:nvPr>
        </p:nvSpPr>
        <p:spPr/>
        <p:txBody>
          <a:bodyPr/>
          <a:lstStyle/>
          <a:p>
            <a:r>
              <a:rPr lang="en-US" dirty="0"/>
              <a:t>States and Observations </a:t>
            </a:r>
          </a:p>
        </p:txBody>
      </p:sp>
      <p:pic>
        <p:nvPicPr>
          <p:cNvPr id="18" name="Picture 17" descr="Screenshot of the Atari game Pong: an orange paddle on the left, a green paddle on the right and a small white ball, with the scores at the top.">
            <a:extLst>
              <a:ext uri="{FF2B5EF4-FFF2-40B4-BE49-F238E27FC236}">
                <a16:creationId xmlns:a16="http://schemas.microsoft.com/office/drawing/2014/main" id="{F4994B2C-8655-E1E0-0767-730AC54AC68E}"/>
              </a:ext>
            </a:extLst>
          </p:cNvPr>
          <p:cNvPicPr>
            <a:picLocks noChangeAspect="1"/>
          </p:cNvPicPr>
          <p:nvPr/>
        </p:nvPicPr>
        <p:blipFill>
          <a:blip r:embed="rId2"/>
          <a:stretch>
            <a:fillRect/>
          </a:stretch>
        </p:blipFill>
        <p:spPr>
          <a:xfrm>
            <a:off x="1091941" y="1529837"/>
            <a:ext cx="2524216" cy="3325673"/>
          </a:xfrm>
          <a:prstGeom prst="rect">
            <a:avLst/>
          </a:prstGeom>
        </p:spPr>
        <p:style>
          <a:lnRef idx="2">
            <a:schemeClr val="dk1"/>
          </a:lnRef>
          <a:fillRef idx="1">
            <a:schemeClr val="lt1"/>
          </a:fillRef>
          <a:effectRef idx="0">
            <a:schemeClr val="dk1"/>
          </a:effectRef>
          <a:fontRef idx="minor">
            <a:schemeClr val="dk1"/>
          </a:fontRef>
        </p:style>
      </p:pic>
      <p:sp>
        <p:nvSpPr>
          <p:cNvPr id="5" name="TextBox 4">
            <a:extLst>
              <a:ext uri="{FF2B5EF4-FFF2-40B4-BE49-F238E27FC236}">
                <a16:creationId xmlns:a16="http://schemas.microsoft.com/office/drawing/2014/main" id="{F843E6E9-9614-0825-4E13-D51DBE9A71A3}"/>
              </a:ext>
            </a:extLst>
          </p:cNvPr>
          <p:cNvSpPr txBox="1"/>
          <p:nvPr/>
        </p:nvSpPr>
        <p:spPr>
          <a:xfrm>
            <a:off x="734266" y="5070317"/>
            <a:ext cx="3239567" cy="830997"/>
          </a:xfrm>
          <a:prstGeom prst="rect">
            <a:avLst/>
          </a:prstGeom>
          <a:noFill/>
        </p:spPr>
        <p:txBody>
          <a:bodyPr wrap="square">
            <a:spAutoFit/>
          </a:bodyPr>
          <a:lstStyle/>
          <a:p>
            <a:r>
              <a:rPr lang="en-US" sz="1600" b="1" dirty="0"/>
              <a:t>Actions</a:t>
            </a:r>
            <a:r>
              <a:rPr lang="en-US" sz="1600" dirty="0"/>
              <a:t>: move paddle up or down.</a:t>
            </a:r>
          </a:p>
          <a:p>
            <a:r>
              <a:rPr lang="en-US" sz="1600" b="1" dirty="0"/>
              <a:t>Reward</a:t>
            </a:r>
            <a:r>
              <a:rPr lang="en-US" sz="1600" dirty="0"/>
              <a:t>: +1 when the opponent cannot return the ball.</a:t>
            </a:r>
          </a:p>
        </p:txBody>
      </p:sp>
      <mc:AlternateContent xmlns:mc="http://schemas.openxmlformats.org/markup-compatibility/2006" xmlns:a14="http://schemas.microsoft.com/office/drawing/2010/main">
        <mc:Choice Requires="a14">
          <p:sp>
            <p:nvSpPr>
              <p:cNvPr id="3" name="Content Placeholder 2" descr="Define the components of:. Environment state s sub t, to the power e :. Observation o sub t :. Why is this partially observable?">
                <a:extLst>
                  <a:ext uri="{FF2B5EF4-FFF2-40B4-BE49-F238E27FC236}">
                    <a16:creationId xmlns:a16="http://schemas.microsoft.com/office/drawing/2014/main" id="{A2D142EA-76BC-93EF-598D-26AF3B179354}"/>
                  </a:ext>
                </a:extLst>
              </p:cNvPr>
              <p:cNvSpPr>
                <a:spLocks noGrp="1"/>
              </p:cNvSpPr>
              <p:nvPr>
                <p:ph idx="1"/>
              </p:nvPr>
            </p:nvSpPr>
            <p:spPr>
              <a:xfrm>
                <a:off x="4267199" y="1397330"/>
                <a:ext cx="7086599" cy="4779633"/>
              </a:xfrm>
            </p:spPr>
            <p:txBody>
              <a:bodyPr>
                <a:normAutofit/>
              </a:bodyPr>
              <a:lstStyle/>
              <a:p>
                <a:pPr marL="0" indent="0">
                  <a:buNone/>
                </a:pPr>
                <a:r>
                  <a:rPr lang="en-US" dirty="0"/>
                  <a:t>Define the components of:</a:t>
                </a:r>
              </a:p>
              <a:p>
                <a:r>
                  <a:rPr lang="en-US" b="0" dirty="0"/>
                  <a:t>Environment state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𝑡</m:t>
                        </m:r>
                      </m:sub>
                      <m:sup>
                        <m:r>
                          <a:rPr lang="en-US" b="0" i="1" smtClean="0">
                            <a:latin typeface="Cambria Math" panose="02040503050406030204" pitchFamily="18" charset="0"/>
                          </a:rPr>
                          <m:t>𝑒</m:t>
                        </m:r>
                      </m:sup>
                    </m:sSubSup>
                  </m:oMath>
                </a14:m>
                <a:r>
                  <a:rPr lang="en-US" dirty="0"/>
                  <a:t>:</a:t>
                </a:r>
              </a:p>
              <a:p>
                <a:endParaRPr lang="en-US" dirty="0"/>
              </a:p>
              <a:p>
                <a:pPr marL="0" indent="0">
                  <a:buNone/>
                </a:pPr>
                <a:endParaRPr lang="en-US" dirty="0"/>
              </a:p>
              <a:p>
                <a:r>
                  <a:rPr lang="en-US" dirty="0"/>
                  <a:t>Observation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𝑡</m:t>
                        </m:r>
                      </m:sub>
                    </m:sSub>
                  </m:oMath>
                </a14:m>
                <a:r>
                  <a:rPr lang="en-US" dirty="0"/>
                  <a:t>: </a:t>
                </a:r>
              </a:p>
              <a:p>
                <a:endParaRPr lang="en-US" dirty="0"/>
              </a:p>
              <a:p>
                <a:endParaRPr lang="en-US" dirty="0"/>
              </a:p>
              <a:p>
                <a:r>
                  <a:rPr lang="en-US" dirty="0"/>
                  <a:t>Why is this partially observable?</a:t>
                </a:r>
              </a:p>
            </p:txBody>
          </p:sp>
        </mc:Choice>
        <mc:Fallback xmlns="">
          <p:sp>
            <p:nvSpPr>
              <p:cNvPr id="3" name="Content Placeholder 2" descr="Define the components of:. Environment state s sub t, to the power e :. Observation o sub t :. Why is this partially observable?">
                <a:extLst>
                  <a:ext uri="{FF2B5EF4-FFF2-40B4-BE49-F238E27FC236}">
                    <a16:creationId xmlns:a16="http://schemas.microsoft.com/office/drawing/2014/main" id="{A2D142EA-76BC-93EF-598D-26AF3B179354}"/>
                  </a:ext>
                </a:extLst>
              </p:cNvPr>
              <p:cNvSpPr>
                <a:spLocks noGrp="1" noRot="1" noChangeAspect="1" noMove="1" noResize="1" noEditPoints="1" noAdjustHandles="1" noChangeArrowheads="1" noChangeShapeType="1" noTextEdit="1"/>
              </p:cNvSpPr>
              <p:nvPr>
                <p:ph idx="1"/>
              </p:nvPr>
            </p:nvSpPr>
            <p:spPr>
              <a:xfrm>
                <a:off x="4267199" y="1397330"/>
                <a:ext cx="7086599" cy="4779633"/>
              </a:xfrm>
              <a:blipFill>
                <a:blip r:embed="rId3"/>
                <a:stretch>
                  <a:fillRect l="-1721" t="-2168"/>
                </a:stretch>
              </a:blipFill>
            </p:spPr>
            <p:txBody>
              <a:bodyPr/>
              <a:lstStyle/>
              <a:p>
                <a:r>
                  <a:rPr lang="en-US">
                    <a:noFill/>
                  </a:rPr>
                  <a:t> </a:t>
                </a:r>
              </a:p>
            </p:txBody>
          </p:sp>
        </mc:Fallback>
      </mc:AlternateContent>
    </p:spTree>
    <p:extLst>
      <p:ext uri="{BB962C8B-B14F-4D97-AF65-F5344CB8AC3E}">
        <p14:creationId xmlns:p14="http://schemas.microsoft.com/office/powerpoint/2010/main" val="2395196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5624A-BD71-19D1-F0C4-0D727E9814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89C9D4-CC66-9D69-6AA7-23ED36650609}"/>
              </a:ext>
            </a:extLst>
          </p:cNvPr>
          <p:cNvSpPr>
            <a:spLocks noGrp="1"/>
          </p:cNvSpPr>
          <p:nvPr>
            <p:ph type="title"/>
          </p:nvPr>
        </p:nvSpPr>
        <p:spPr/>
        <p:txBody>
          <a:bodyPr/>
          <a:lstStyle/>
          <a:p>
            <a:r>
              <a:rPr lang="en-US" dirty="0"/>
              <a:t>Single Observation as State</a:t>
            </a:r>
          </a:p>
        </p:txBody>
      </p:sp>
      <p:pic>
        <p:nvPicPr>
          <p:cNvPr id="18" name="Picture 17" descr="Screenshot of the Atari game Pong: an orange paddle on the left, a green paddle on the right and a small white ball, with the scores at the top.">
            <a:extLst>
              <a:ext uri="{FF2B5EF4-FFF2-40B4-BE49-F238E27FC236}">
                <a16:creationId xmlns:a16="http://schemas.microsoft.com/office/drawing/2014/main" id="{DB168319-5831-B0D1-C75B-769E9C32CC0C}"/>
              </a:ext>
            </a:extLst>
          </p:cNvPr>
          <p:cNvPicPr>
            <a:picLocks noChangeAspect="1"/>
          </p:cNvPicPr>
          <p:nvPr/>
        </p:nvPicPr>
        <p:blipFill>
          <a:blip r:embed="rId2"/>
          <a:stretch>
            <a:fillRect/>
          </a:stretch>
        </p:blipFill>
        <p:spPr>
          <a:xfrm>
            <a:off x="949518" y="1464014"/>
            <a:ext cx="2524216" cy="3325673"/>
          </a:xfrm>
          <a:prstGeom prst="rect">
            <a:avLst/>
          </a:prstGeom>
        </p:spPr>
        <p:style>
          <a:lnRef idx="2">
            <a:schemeClr val="dk1"/>
          </a:lnRef>
          <a:fillRef idx="1">
            <a:schemeClr val="lt1"/>
          </a:fillRef>
          <a:effectRef idx="0">
            <a:schemeClr val="dk1"/>
          </a:effectRef>
          <a:fontRef idx="minor">
            <a:schemeClr val="dk1"/>
          </a:fontRef>
        </p:style>
      </p:pic>
      <p:sp>
        <p:nvSpPr>
          <p:cNvPr id="4" name="TextBox 3">
            <a:extLst>
              <a:ext uri="{FF2B5EF4-FFF2-40B4-BE49-F238E27FC236}">
                <a16:creationId xmlns:a16="http://schemas.microsoft.com/office/drawing/2014/main" id="{4FDC87CE-D872-C124-0D89-2B687CCF670F}"/>
              </a:ext>
            </a:extLst>
          </p:cNvPr>
          <p:cNvSpPr txBox="1"/>
          <p:nvPr/>
        </p:nvSpPr>
        <p:spPr>
          <a:xfrm>
            <a:off x="760323" y="4944837"/>
            <a:ext cx="2868261" cy="369332"/>
          </a:xfrm>
          <a:prstGeom prst="rect">
            <a:avLst/>
          </a:prstGeom>
          <a:noFill/>
        </p:spPr>
        <p:txBody>
          <a:bodyPr wrap="square" rtlCol="0">
            <a:spAutoFit/>
          </a:bodyPr>
          <a:lstStyle/>
          <a:p>
            <a:r>
              <a:rPr lang="en-US" dirty="0"/>
              <a:t>Feature from current frame</a:t>
            </a:r>
          </a:p>
        </p:txBody>
      </p:sp>
      <mc:AlternateContent xmlns:mc="http://schemas.openxmlformats.org/markup-compatibility/2006" xmlns:a14="http://schemas.microsoft.com/office/drawing/2010/main">
        <mc:Choice Requires="a14">
          <p:sp>
            <p:nvSpPr>
              <p:cNvPr id="3" name="Content Placeholder 2" descr="Learn an approximate Q(o sub t,a given theta) using a TD method. How well do you think this will work?">
                <a:extLst>
                  <a:ext uri="{FF2B5EF4-FFF2-40B4-BE49-F238E27FC236}">
                    <a16:creationId xmlns:a16="http://schemas.microsoft.com/office/drawing/2014/main" id="{0941E2FD-65FE-60BD-0962-587E282A283C}"/>
                  </a:ext>
                </a:extLst>
              </p:cNvPr>
              <p:cNvSpPr>
                <a:spLocks noGrp="1"/>
              </p:cNvSpPr>
              <p:nvPr>
                <p:ph idx="1"/>
              </p:nvPr>
            </p:nvSpPr>
            <p:spPr>
              <a:xfrm>
                <a:off x="3783435" y="1397330"/>
                <a:ext cx="7570364" cy="4779633"/>
              </a:xfrm>
            </p:spPr>
            <p:txBody>
              <a:bodyPr/>
              <a:lstStyle/>
              <a:p>
                <a:pPr marL="0" indent="0">
                  <a:buNone/>
                </a:pPr>
                <a:r>
                  <a:rPr lang="en-US" dirty="0"/>
                  <a:t>Learn an approximate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oMath>
                </a14:m>
                <a:r>
                  <a:rPr lang="en-US" dirty="0"/>
                  <a:t> using a TD method.</a:t>
                </a:r>
              </a:p>
              <a:p>
                <a:pPr marL="0" indent="0">
                  <a:buNone/>
                </a:pPr>
                <a:endParaRPr lang="en-US" dirty="0"/>
              </a:p>
              <a:p>
                <a:pPr marL="0" indent="0">
                  <a:buNone/>
                </a:pPr>
                <a:r>
                  <a:rPr lang="en-US" dirty="0"/>
                  <a:t>How well do you think this will work?</a:t>
                </a:r>
              </a:p>
            </p:txBody>
          </p:sp>
        </mc:Choice>
        <mc:Fallback xmlns="">
          <p:sp>
            <p:nvSpPr>
              <p:cNvPr id="3" name="Content Placeholder 2" descr="Learn an approximate Q(o sub t,a given theta) using a TD method. How well do you think this will work?">
                <a:extLst>
                  <a:ext uri="{FF2B5EF4-FFF2-40B4-BE49-F238E27FC236}">
                    <a16:creationId xmlns:a16="http://schemas.microsoft.com/office/drawing/2014/main" id="{0941E2FD-65FE-60BD-0962-587E282A283C}"/>
                  </a:ext>
                </a:extLst>
              </p:cNvPr>
              <p:cNvSpPr>
                <a:spLocks noGrp="1" noRot="1" noChangeAspect="1" noMove="1" noResize="1" noEditPoints="1" noAdjustHandles="1" noChangeArrowheads="1" noChangeShapeType="1" noTextEdit="1"/>
              </p:cNvSpPr>
              <p:nvPr>
                <p:ph idx="1"/>
              </p:nvPr>
            </p:nvSpPr>
            <p:spPr>
              <a:xfrm>
                <a:off x="3783435" y="1397330"/>
                <a:ext cx="7570364" cy="4779633"/>
              </a:xfrm>
              <a:blipFill>
                <a:blip r:embed="rId3"/>
                <a:stretch>
                  <a:fillRect l="-1692" t="-2168"/>
                </a:stretch>
              </a:blipFill>
            </p:spPr>
            <p:txBody>
              <a:bodyPr/>
              <a:lstStyle/>
              <a:p>
                <a:r>
                  <a:rPr lang="en-US">
                    <a:noFill/>
                  </a:rPr>
                  <a:t> </a:t>
                </a:r>
              </a:p>
            </p:txBody>
          </p:sp>
        </mc:Fallback>
      </mc:AlternateContent>
    </p:spTree>
    <p:extLst>
      <p:ext uri="{BB962C8B-B14F-4D97-AF65-F5344CB8AC3E}">
        <p14:creationId xmlns:p14="http://schemas.microsoft.com/office/powerpoint/2010/main" val="1199129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6D083-D482-712D-B3B5-1F2612BA36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FFDF33-0DA4-9579-F977-75240424FCCC}"/>
              </a:ext>
            </a:extLst>
          </p:cNvPr>
          <p:cNvSpPr>
            <a:spLocks noGrp="1"/>
          </p:cNvSpPr>
          <p:nvPr>
            <p:ph type="title"/>
          </p:nvPr>
        </p:nvSpPr>
        <p:spPr/>
        <p:txBody>
          <a:bodyPr>
            <a:normAutofit/>
          </a:bodyPr>
          <a:lstStyle/>
          <a:p>
            <a:r>
              <a:rPr lang="en-US" dirty="0"/>
              <a:t>Frame Stacking</a:t>
            </a:r>
          </a:p>
        </p:txBody>
      </p:sp>
      <p:pic>
        <p:nvPicPr>
          <p:cNvPr id="18" name="Picture 17" descr="Screenshot of the Atari game Pong: an orange paddle on the left, a green paddle on the right and a small white ball, with the scores at the top.">
            <a:extLst>
              <a:ext uri="{FF2B5EF4-FFF2-40B4-BE49-F238E27FC236}">
                <a16:creationId xmlns:a16="http://schemas.microsoft.com/office/drawing/2014/main" id="{1B1E35AE-1778-403F-6625-2712E6B51A29}"/>
              </a:ext>
            </a:extLst>
          </p:cNvPr>
          <p:cNvPicPr>
            <a:picLocks noChangeAspect="1"/>
          </p:cNvPicPr>
          <p:nvPr/>
        </p:nvPicPr>
        <p:blipFill>
          <a:blip r:embed="rId2"/>
          <a:stretch>
            <a:fillRect/>
          </a:stretch>
        </p:blipFill>
        <p:spPr>
          <a:xfrm>
            <a:off x="949518" y="1464015"/>
            <a:ext cx="1891268" cy="2491760"/>
          </a:xfrm>
          <a:prstGeom prst="rect">
            <a:avLst/>
          </a:prstGeom>
        </p:spPr>
        <p:style>
          <a:lnRef idx="2">
            <a:schemeClr val="dk1"/>
          </a:lnRef>
          <a:fillRef idx="1">
            <a:schemeClr val="lt1"/>
          </a:fillRef>
          <a:effectRef idx="0">
            <a:schemeClr val="dk1"/>
          </a:effectRef>
          <a:fontRef idx="minor">
            <a:schemeClr val="dk1"/>
          </a:fontRef>
        </p:style>
      </p:pic>
      <p:pic>
        <p:nvPicPr>
          <p:cNvPr id="4" name="Picture 3" descr="Screenshot of the Atari game Pong: an orange paddle on the left, a green paddle on the right and a small white ball, with the scores at the top.">
            <a:extLst>
              <a:ext uri="{FF2B5EF4-FFF2-40B4-BE49-F238E27FC236}">
                <a16:creationId xmlns:a16="http://schemas.microsoft.com/office/drawing/2014/main" id="{5B2829DA-8D17-4D04-8E9F-13FE9856CD3C}"/>
              </a:ext>
            </a:extLst>
          </p:cNvPr>
          <p:cNvPicPr>
            <a:picLocks noChangeAspect="1"/>
          </p:cNvPicPr>
          <p:nvPr/>
        </p:nvPicPr>
        <p:blipFill>
          <a:blip r:embed="rId2"/>
          <a:stretch>
            <a:fillRect/>
          </a:stretch>
        </p:blipFill>
        <p:spPr>
          <a:xfrm>
            <a:off x="1101918" y="1616415"/>
            <a:ext cx="1891268" cy="2491760"/>
          </a:xfrm>
          <a:prstGeom prst="rect">
            <a:avLst/>
          </a:prstGeom>
        </p:spPr>
        <p:style>
          <a:lnRef idx="2">
            <a:schemeClr val="dk1"/>
          </a:lnRef>
          <a:fillRef idx="1">
            <a:schemeClr val="lt1"/>
          </a:fillRef>
          <a:effectRef idx="0">
            <a:schemeClr val="dk1"/>
          </a:effectRef>
          <a:fontRef idx="minor">
            <a:schemeClr val="dk1"/>
          </a:fontRef>
        </p:style>
      </p:pic>
      <p:pic>
        <p:nvPicPr>
          <p:cNvPr id="5" name="Picture 4" descr="Screenshot of the Atari game Pong: an orange paddle on the left, a green paddle on the right and a small white ball, with the scores at the top.">
            <a:extLst>
              <a:ext uri="{FF2B5EF4-FFF2-40B4-BE49-F238E27FC236}">
                <a16:creationId xmlns:a16="http://schemas.microsoft.com/office/drawing/2014/main" id="{025991C5-1F17-7FCF-CC77-BDF41E69B315}"/>
              </a:ext>
            </a:extLst>
          </p:cNvPr>
          <p:cNvPicPr>
            <a:picLocks noChangeAspect="1"/>
          </p:cNvPicPr>
          <p:nvPr/>
        </p:nvPicPr>
        <p:blipFill>
          <a:blip r:embed="rId2"/>
          <a:stretch>
            <a:fillRect/>
          </a:stretch>
        </p:blipFill>
        <p:spPr>
          <a:xfrm>
            <a:off x="1254318" y="1768815"/>
            <a:ext cx="1891268" cy="2491760"/>
          </a:xfrm>
          <a:prstGeom prst="rect">
            <a:avLst/>
          </a:prstGeom>
        </p:spPr>
        <p:style>
          <a:lnRef idx="2">
            <a:schemeClr val="dk1"/>
          </a:lnRef>
          <a:fillRef idx="1">
            <a:schemeClr val="lt1"/>
          </a:fillRef>
          <a:effectRef idx="0">
            <a:schemeClr val="dk1"/>
          </a:effectRef>
          <a:fontRef idx="minor">
            <a:schemeClr val="dk1"/>
          </a:fontRef>
        </p:style>
      </p:pic>
      <p:pic>
        <p:nvPicPr>
          <p:cNvPr id="6" name="Picture 5" descr="Screenshot of the Atari game Pong: an orange paddle on the left, a green paddle on the right and a small white ball, with the scores at the top.">
            <a:extLst>
              <a:ext uri="{FF2B5EF4-FFF2-40B4-BE49-F238E27FC236}">
                <a16:creationId xmlns:a16="http://schemas.microsoft.com/office/drawing/2014/main" id="{3BD61787-91BA-4A5E-942B-C3954553CC24}"/>
              </a:ext>
            </a:extLst>
          </p:cNvPr>
          <p:cNvPicPr>
            <a:picLocks noChangeAspect="1"/>
          </p:cNvPicPr>
          <p:nvPr/>
        </p:nvPicPr>
        <p:blipFill>
          <a:blip r:embed="rId2"/>
          <a:stretch>
            <a:fillRect/>
          </a:stretch>
        </p:blipFill>
        <p:spPr>
          <a:xfrm>
            <a:off x="1406718" y="1921215"/>
            <a:ext cx="1891268" cy="2491760"/>
          </a:xfrm>
          <a:prstGeom prst="rect">
            <a:avLst/>
          </a:prstGeom>
        </p:spPr>
        <p:style>
          <a:lnRef idx="2">
            <a:schemeClr val="dk1"/>
          </a:lnRef>
          <a:fillRef idx="1">
            <a:schemeClr val="lt1"/>
          </a:fillRef>
          <a:effectRef idx="0">
            <a:schemeClr val="dk1"/>
          </a:effectRef>
          <a:fontRef idx="minor">
            <a:schemeClr val="dk1"/>
          </a:fontRef>
        </p:style>
      </p:pic>
      <p:sp>
        <p:nvSpPr>
          <p:cNvPr id="7" name="TextBox 6">
            <a:extLst>
              <a:ext uri="{FF2B5EF4-FFF2-40B4-BE49-F238E27FC236}">
                <a16:creationId xmlns:a16="http://schemas.microsoft.com/office/drawing/2014/main" id="{E985D15B-ADE7-87B3-CF93-2F3BA401B523}"/>
              </a:ext>
            </a:extLst>
          </p:cNvPr>
          <p:cNvSpPr txBox="1"/>
          <p:nvPr/>
        </p:nvSpPr>
        <p:spPr>
          <a:xfrm>
            <a:off x="838200" y="4688260"/>
            <a:ext cx="2760297" cy="369332"/>
          </a:xfrm>
          <a:prstGeom prst="rect">
            <a:avLst/>
          </a:prstGeom>
          <a:noFill/>
        </p:spPr>
        <p:txBody>
          <a:bodyPr wrap="square" rtlCol="0">
            <a:spAutoFit/>
          </a:bodyPr>
          <a:lstStyle/>
          <a:p>
            <a:r>
              <a:rPr lang="en-US" dirty="0"/>
              <a:t>Feature from four frames</a:t>
            </a:r>
          </a:p>
        </p:txBody>
      </p:sp>
      <mc:AlternateContent xmlns:mc="http://schemas.openxmlformats.org/markup-compatibility/2006" xmlns:a14="http://schemas.microsoft.com/office/drawing/2010/main">
        <mc:Choice Requires="a14">
          <p:sp>
            <p:nvSpPr>
              <p:cNvPr id="3" name="Content Placeholder 2" descr="Learn an approximation. h sub t equals g(o sub t, o sub t minus 1, o sub t minus 2,o sub t minus 3, given theta sub g). Q(h sub t, a given theta sub q). using a TD method. How well does this work? Why?">
                <a:extLst>
                  <a:ext uri="{FF2B5EF4-FFF2-40B4-BE49-F238E27FC236}">
                    <a16:creationId xmlns:a16="http://schemas.microsoft.com/office/drawing/2014/main" id="{8AB248EC-3AB6-8D63-9FEB-882537CAD720}"/>
                  </a:ext>
                </a:extLst>
              </p:cNvPr>
              <p:cNvSpPr>
                <a:spLocks noGrp="1"/>
              </p:cNvSpPr>
              <p:nvPr>
                <p:ph idx="1"/>
              </p:nvPr>
            </p:nvSpPr>
            <p:spPr>
              <a:xfrm>
                <a:off x="3783435" y="1397330"/>
                <a:ext cx="7570364" cy="4779633"/>
              </a:xfrm>
            </p:spPr>
            <p:txBody>
              <a:bodyPr/>
              <a:lstStyle/>
              <a:p>
                <a:pPr marL="0" indent="0">
                  <a:buNone/>
                </a:pPr>
                <a:r>
                  <a:rPr lang="en-US" dirty="0"/>
                  <a:t>Learn an approximation</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𝑔</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𝑡</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𝑡</m:t>
                          </m:r>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𝑡</m:t>
                          </m:r>
                          <m:r>
                            <a:rPr lang="en-US" i="1">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𝑔</m:t>
                          </m:r>
                        </m:sub>
                      </m:sSub>
                      <m:r>
                        <a:rPr lang="en-US" i="1">
                          <a:latin typeface="Cambria Math" panose="02040503050406030204" pitchFamily="18" charset="0"/>
                        </a:rPr>
                        <m:t>)</m:t>
                      </m:r>
                    </m:oMath>
                  </m:oMathPara>
                </a14:m>
                <a:endParaRPr lang="en-US" i="1" dirty="0">
                  <a:latin typeface="Cambria Math" panose="02040503050406030204" pitchFamily="18" charset="0"/>
                </a:endParaRPr>
              </a:p>
              <a:p>
                <a:pPr marL="0" indent="0">
                  <a:buNone/>
                </a:pPr>
                <a14:m>
                  <m:oMathPara xmlns:m="http://schemas.openxmlformats.org/officeDocument/2006/math">
                    <m:oMath>
                      <m:r>
                        <a:rPr lang="en-US" i="1">
                          <a:latin typeface="Cambria Math" panose="02040503050406030204" pitchFamily="18" charset="0"/>
                        </a:rPr>
                        <m:t>𝑄</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𝑡</m:t>
                          </m:r>
                        </m:sub>
                      </m:sSub>
                      <m:r>
                        <a:rPr lang="en-US" b="0" i="1" smtClean="0">
                          <a:latin typeface="Cambria Math" panose="02040503050406030204" pitchFamily="18" charset="0"/>
                        </a:rPr>
                        <m:t>, </m:t>
                      </m:r>
                      <m:r>
                        <a:rPr lang="en-US" i="1">
                          <a:latin typeface="Cambria Math" panose="02040503050406030204" pitchFamily="18" charset="0"/>
                        </a:rPr>
                        <m:t>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𝑞</m:t>
                          </m:r>
                        </m:sub>
                      </m:sSub>
                      <m:r>
                        <a:rPr lang="en-US" b="0" i="1" smtClean="0">
                          <a:latin typeface="Cambria Math" panose="02040503050406030204" pitchFamily="18" charset="0"/>
                        </a:rPr>
                        <m:t>)</m:t>
                      </m:r>
                    </m:oMath>
                  </m:oMathPara>
                </a14:m>
                <a:endParaRPr lang="en-US" dirty="0"/>
              </a:p>
              <a:p>
                <a:pPr marL="0" indent="0">
                  <a:buNone/>
                </a:pPr>
                <a:r>
                  <a:rPr lang="en-US" dirty="0"/>
                  <a:t>using a TD method.</a:t>
                </a:r>
              </a:p>
              <a:p>
                <a:pPr marL="0" indent="0">
                  <a:buNone/>
                </a:pPr>
                <a:endParaRPr lang="en-US" dirty="0"/>
              </a:p>
              <a:p>
                <a:pPr marL="0" indent="0">
                  <a:buNone/>
                </a:pPr>
                <a:r>
                  <a:rPr lang="en-US" dirty="0"/>
                  <a:t>How well does this work? Why?</a:t>
                </a:r>
              </a:p>
            </p:txBody>
          </p:sp>
        </mc:Choice>
        <mc:Fallback xmlns="">
          <p:sp>
            <p:nvSpPr>
              <p:cNvPr id="3" name="Content Placeholder 2" descr="Learn an approximation. h sub t equals g(o sub t, o sub t minus 1, o sub t minus 2,o sub t minus 3, given theta sub g). Q(h sub t, a given theta sub q). using a TD method. How well does this work? Why?">
                <a:extLst>
                  <a:ext uri="{FF2B5EF4-FFF2-40B4-BE49-F238E27FC236}">
                    <a16:creationId xmlns:a16="http://schemas.microsoft.com/office/drawing/2014/main" id="{8AB248EC-3AB6-8D63-9FEB-882537CAD720}"/>
                  </a:ext>
                </a:extLst>
              </p:cNvPr>
              <p:cNvSpPr>
                <a:spLocks noGrp="1" noRot="1" noChangeAspect="1" noMove="1" noResize="1" noEditPoints="1" noAdjustHandles="1" noChangeArrowheads="1" noChangeShapeType="1" noTextEdit="1"/>
              </p:cNvSpPr>
              <p:nvPr>
                <p:ph idx="1"/>
              </p:nvPr>
            </p:nvSpPr>
            <p:spPr>
              <a:xfrm>
                <a:off x="3783435" y="1397330"/>
                <a:ext cx="7570364" cy="4779633"/>
              </a:xfrm>
              <a:blipFill>
                <a:blip r:embed="rId3"/>
                <a:stretch>
                  <a:fillRect l="-1692" t="-2168"/>
                </a:stretch>
              </a:blipFill>
            </p:spPr>
            <p:txBody>
              <a:bodyPr/>
              <a:lstStyle/>
              <a:p>
                <a:r>
                  <a:rPr lang="en-US">
                    <a:noFill/>
                  </a:rPr>
                  <a:t> </a:t>
                </a:r>
              </a:p>
            </p:txBody>
          </p:sp>
        </mc:Fallback>
      </mc:AlternateContent>
    </p:spTree>
    <p:extLst>
      <p:ext uri="{BB962C8B-B14F-4D97-AF65-F5344CB8AC3E}">
        <p14:creationId xmlns:p14="http://schemas.microsoft.com/office/powerpoint/2010/main" val="4147099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D3508-EDAB-C314-F22B-76145B6346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2B8E3F-351A-6D4D-5053-4F6731354E20}"/>
              </a:ext>
            </a:extLst>
          </p:cNvPr>
          <p:cNvSpPr>
            <a:spLocks noGrp="1"/>
          </p:cNvSpPr>
          <p:nvPr>
            <p:ph type="title"/>
          </p:nvPr>
        </p:nvSpPr>
        <p:spPr/>
        <p:txBody>
          <a:bodyPr>
            <a:normAutofit/>
          </a:bodyPr>
          <a:lstStyle/>
          <a:p>
            <a:r>
              <a:rPr lang="en-US" dirty="0"/>
              <a:t>Deep Recurrent Q-Learning</a:t>
            </a:r>
          </a:p>
        </p:txBody>
      </p:sp>
      <p:sp>
        <p:nvSpPr>
          <p:cNvPr id="3" name="Content Placeholder 2">
            <a:extLst>
              <a:ext uri="{FF2B5EF4-FFF2-40B4-BE49-F238E27FC236}">
                <a16:creationId xmlns:a16="http://schemas.microsoft.com/office/drawing/2014/main" id="{2201173A-A43D-C835-28FA-2C0943A83957}"/>
              </a:ext>
            </a:extLst>
          </p:cNvPr>
          <p:cNvSpPr>
            <a:spLocks noGrp="1"/>
          </p:cNvSpPr>
          <p:nvPr>
            <p:ph idx="1"/>
          </p:nvPr>
        </p:nvSpPr>
        <p:spPr>
          <a:xfrm>
            <a:off x="838199" y="1124198"/>
            <a:ext cx="6462133" cy="2931122"/>
          </a:xfrm>
        </p:spPr>
        <p:txBody>
          <a:bodyPr>
            <a:normAutofit fontScale="62500" lnSpcReduction="20000"/>
          </a:bodyPr>
          <a:lstStyle/>
          <a:p>
            <a:pPr marL="0" indent="0">
              <a:buNone/>
            </a:pPr>
            <a:r>
              <a:rPr lang="en-US" b="1" dirty="0"/>
              <a:t>Paper</a:t>
            </a:r>
            <a:r>
              <a:rPr lang="en-US" dirty="0"/>
              <a:t>: Matthew Hausknecht and Peter Stone, Deep Recurrent Q-Learning for Partially Observable MDPs, 2015 AAAI Fall Symposium.</a:t>
            </a:r>
          </a:p>
          <a:p>
            <a:pPr marL="0" indent="0">
              <a:buNone/>
            </a:pPr>
            <a:endParaRPr lang="en-US" dirty="0"/>
          </a:p>
          <a:p>
            <a:pPr marL="0" indent="0">
              <a:buNone/>
            </a:pPr>
            <a:r>
              <a:rPr lang="en-US" b="1" dirty="0"/>
              <a:t>Approach</a:t>
            </a:r>
            <a:r>
              <a:rPr lang="en-US" dirty="0"/>
              <a:t>: Deep belief monitoring using </a:t>
            </a:r>
          </a:p>
          <a:p>
            <a:pPr lvl="1"/>
            <a:r>
              <a:rPr lang="en-US" dirty="0"/>
              <a:t>convolution to process the screen image (observation model)</a:t>
            </a:r>
          </a:p>
          <a:p>
            <a:pPr lvl="1"/>
            <a:r>
              <a:rPr lang="en-US" dirty="0"/>
              <a:t>RNN (LSTM) to update the agent state (transition model)</a:t>
            </a:r>
          </a:p>
          <a:p>
            <a:pPr lvl="1"/>
            <a:r>
              <a:rPr lang="en-US" dirty="0"/>
              <a:t>A fully connected layer to predict Q-values</a:t>
            </a:r>
          </a:p>
          <a:p>
            <a:pPr lvl="1"/>
            <a:endParaRPr lang="en-US" dirty="0"/>
          </a:p>
          <a:p>
            <a:r>
              <a:rPr lang="en-US" b="1" dirty="0"/>
              <a:t>Results</a:t>
            </a:r>
            <a:r>
              <a:rPr lang="en-US" dirty="0"/>
              <a:t>: Works better than frame stacking on some Atari games.</a:t>
            </a:r>
          </a:p>
          <a:p>
            <a:pPr marL="0" indent="0">
              <a:buNone/>
            </a:pPr>
            <a:endParaRPr lang="en-US" dirty="0"/>
          </a:p>
          <a:p>
            <a:pPr marL="0" indent="0">
              <a:buNone/>
            </a:pPr>
            <a:endParaRPr lang="en-US" dirty="0"/>
          </a:p>
        </p:txBody>
      </p:sp>
      <p:pic>
        <p:nvPicPr>
          <p:cNvPr id="23" name="Picture 22" descr="Line chart of score (−20 to 20) against training episode (0 to about 5,500) on flickering Pong (Hausknecht and Stone). DRQN with 1 frame (blue, solid) rises from −20 to about 12 by episode 2,000 and stays there. DQN with 10 frames (green, dashed) climbs slowly to about −3 by episode 4,000. DQN with 4 frames (red, dotted) only reaches about −15. Faint lines show the raw scores around each smoothed curve.">
            <a:extLst>
              <a:ext uri="{FF2B5EF4-FFF2-40B4-BE49-F238E27FC236}">
                <a16:creationId xmlns:a16="http://schemas.microsoft.com/office/drawing/2014/main" id="{D71F821A-9FD0-8318-0638-2EEC34FAC6A2}"/>
              </a:ext>
            </a:extLst>
          </p:cNvPr>
          <p:cNvPicPr>
            <a:picLocks noChangeAspect="1"/>
          </p:cNvPicPr>
          <p:nvPr/>
        </p:nvPicPr>
        <p:blipFill>
          <a:blip r:embed="rId2"/>
          <a:stretch>
            <a:fillRect/>
          </a:stretch>
        </p:blipFill>
        <p:spPr>
          <a:xfrm>
            <a:off x="1550387" y="4021796"/>
            <a:ext cx="3517316" cy="2723247"/>
          </a:xfrm>
          <a:prstGeom prst="rect">
            <a:avLst/>
          </a:prstGeom>
        </p:spPr>
      </p:pic>
      <mc:AlternateContent xmlns:mc="http://schemas.openxmlformats.org/markup-compatibility/2006" xmlns:a14="http://schemas.microsoft.com/office/drawing/2010/main">
        <mc:Choice Requires="a14">
          <p:sp>
            <p:nvSpPr>
              <p:cNvPr id="13" name="TextBox 12" descr="Architecture Q(g(o sub t, dot dot dot,o sub 0 given theta sub g),a given theta sub Q)">
                <a:extLst>
                  <a:ext uri="{FF2B5EF4-FFF2-40B4-BE49-F238E27FC236}">
                    <a16:creationId xmlns:a16="http://schemas.microsoft.com/office/drawing/2014/main" id="{703062B2-5E1E-60F6-A549-DDA59BC3C369}"/>
                  </a:ext>
                </a:extLst>
              </p:cNvPr>
              <p:cNvSpPr txBox="1"/>
              <p:nvPr/>
            </p:nvSpPr>
            <p:spPr>
              <a:xfrm>
                <a:off x="6961580" y="458363"/>
                <a:ext cx="4638361" cy="699359"/>
              </a:xfrm>
              <a:prstGeom prst="rect">
                <a:avLst/>
              </a:prstGeom>
              <a:noFill/>
            </p:spPr>
            <p:txBody>
              <a:bodyPr wrap="square">
                <a:spAutoFit/>
              </a:bodyPr>
              <a:lstStyle/>
              <a:p>
                <a:pPr algn="ctr"/>
                <a:r>
                  <a:rPr lang="en-US" sz="2000" b="1" dirty="0"/>
                  <a:t>Architecture</a:t>
                </a:r>
                <a:r>
                  <a:rPr lang="en-US" dirty="0"/>
                  <a:t> </a:t>
                </a:r>
                <a:br>
                  <a:rPr lang="en-US" dirty="0"/>
                </a:br>
                <a14:m>
                  <m:oMathPara xmlns:m="http://schemas.openxmlformats.org/officeDocument/2006/math">
                    <m:oMath>
                      <m:r>
                        <a:rPr lang="en-US" i="1" smtClean="0">
                          <a:latin typeface="Cambria Math" panose="02040503050406030204" pitchFamily="18" charset="0"/>
                        </a:rPr>
                        <m:t>𝑄</m:t>
                      </m:r>
                      <m:r>
                        <a:rPr lang="en-US" i="1" smtClean="0">
                          <a:latin typeface="Cambria Math" panose="02040503050406030204" pitchFamily="18" charset="0"/>
                        </a:rPr>
                        <m:t>(</m:t>
                      </m:r>
                      <m:r>
                        <a:rPr lang="en-US" b="0" i="1" smtClean="0">
                          <a:latin typeface="Cambria Math" panose="02040503050406030204" pitchFamily="18" charset="0"/>
                        </a:rPr>
                        <m:t>𝑔</m:t>
                      </m:r>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𝑡</m:t>
                          </m:r>
                        </m:sub>
                      </m:sSub>
                      <m:r>
                        <a:rPr lang="en-US" i="1">
                          <a:latin typeface="Cambria Math" panose="02040503050406030204" pitchFamily="18" charset="0"/>
                        </a:rPr>
                        <m:t>,…</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𝑔</m:t>
                          </m:r>
                        </m:sub>
                      </m:sSub>
                      <m:r>
                        <a:rPr lang="en-US" i="1">
                          <a:latin typeface="Cambria Math" panose="02040503050406030204" pitchFamily="18" charset="0"/>
                        </a:rPr>
                        <m:t>),</m:t>
                      </m:r>
                      <m:r>
                        <a:rPr lang="en-US" i="1">
                          <a:latin typeface="Cambria Math" panose="02040503050406030204" pitchFamily="18" charset="0"/>
                        </a:rPr>
                        <m:t>𝑎</m:t>
                      </m:r>
                      <m:r>
                        <a:rPr lang="en-US" b="0" i="1" smtClean="0">
                          <a:latin typeface="Cambria Math" panose="02040503050406030204" pitchFamily="18" charset="0"/>
                        </a:rPr>
                        <m:t>|</m:t>
                      </m:r>
                      <m:r>
                        <m:rPr>
                          <m:nor/>
                        </m:rPr>
                        <a:rPr lang="en-US" i="0" dirty="0"/>
                        <m:t> </m:t>
                      </m:r>
                      <m:sSub>
                        <m:sSubPr>
                          <m:ctrlPr>
                            <a:rPr lang="en-US" i="1">
                              <a:latin typeface="Cambria Math" panose="02040503050406030204" pitchFamily="18" charset="0"/>
                            </a:rPr>
                          </m:ctrlPr>
                        </m:sSubPr>
                        <m:e>
                          <m:r>
                            <a:rPr lang="en-US" i="1">
                              <a:latin typeface="Cambria Math" panose="02040503050406030204" pitchFamily="18" charset="0"/>
                            </a:rPr>
                            <m:t>𝜃</m:t>
                          </m:r>
                        </m:e>
                        <m:sub>
                          <m:r>
                            <m:rPr>
                              <m:sty m:val="p"/>
                            </m:rPr>
                            <a:rPr lang="en-US">
                              <a:latin typeface="Cambria Math" panose="02040503050406030204" pitchFamily="18" charset="0"/>
                            </a:rPr>
                            <m:t>Q</m:t>
                          </m:r>
                        </m:sub>
                      </m:sSub>
                      <m:r>
                        <a:rPr lang="en-US" i="1">
                          <a:latin typeface="Cambria Math" panose="02040503050406030204" pitchFamily="18" charset="0"/>
                        </a:rPr>
                        <m:t>)</m:t>
                      </m:r>
                      <m:r>
                        <a:rPr lang="en-US" b="0" i="0" smtClean="0">
                          <a:latin typeface="Cambria Math" panose="02040503050406030204" pitchFamily="18" charset="0"/>
                        </a:rPr>
                        <m:t> </m:t>
                      </m:r>
                    </m:oMath>
                  </m:oMathPara>
                </a14:m>
                <a:endParaRPr lang="en-US" dirty="0"/>
              </a:p>
            </p:txBody>
          </p:sp>
        </mc:Choice>
        <mc:Fallback xmlns="">
          <p:sp>
            <p:nvSpPr>
              <p:cNvPr id="13" name="TextBox 12" descr="Architecture Q(g(o sub t, dot dot dot,o sub 0 given theta sub g),a given theta sub Q)">
                <a:extLst>
                  <a:ext uri="{FF2B5EF4-FFF2-40B4-BE49-F238E27FC236}">
                    <a16:creationId xmlns:a16="http://schemas.microsoft.com/office/drawing/2014/main" id="{703062B2-5E1E-60F6-A549-DDA59BC3C369}"/>
                  </a:ext>
                </a:extLst>
              </p:cNvPr>
              <p:cNvSpPr txBox="1">
                <a:spLocks noRot="1" noChangeAspect="1" noMove="1" noResize="1" noEditPoints="1" noAdjustHandles="1" noChangeArrowheads="1" noChangeShapeType="1" noTextEdit="1"/>
              </p:cNvSpPr>
              <p:nvPr/>
            </p:nvSpPr>
            <p:spPr>
              <a:xfrm>
                <a:off x="6961580" y="458363"/>
                <a:ext cx="4638361" cy="699359"/>
              </a:xfrm>
              <a:prstGeom prst="rect">
                <a:avLst/>
              </a:prstGeom>
              <a:blipFill>
                <a:blip r:embed="rId3"/>
                <a:stretch>
                  <a:fillRect t="-4348" b="-4348"/>
                </a:stretch>
              </a:blipFill>
            </p:spPr>
            <p:txBody>
              <a:bodyPr/>
              <a:lstStyle/>
              <a:p>
                <a:r>
                  <a:rPr lang="en-US">
                    <a:noFill/>
                  </a:rPr>
                  <a:t> </a:t>
                </a:r>
              </a:p>
            </p:txBody>
          </p:sp>
        </mc:Fallback>
      </mc:AlternateContent>
      <p:grpSp>
        <p:nvGrpSpPr>
          <p:cNvPr id="29" name="Group 28" descr="Deep Recurrent Q-Network (DRQN) architecture, shown unrolled over two time steps: an 84 by 84 by 1 game frame passes through Conv1 (32 filters, 8 by 8, stride 4, output 20 by 20 by 32), Conv2 (64 filters, 4 by 4, stride 2, output 9 by 9 by 64) and Conv3 (64 filters, 3 by 3, stride 1, output 7 by 7 by 64), then an LSTM layer of 512 units that carries memory between time steps, and finally a layer of 18 Q-values, one per action. Screenshot of the Atari game Pong: an orange paddle on the left, a green paddle on the right and a small white ball, with the scores at the top. Labels: o sub t minus 1; o sub t; …; h sub t; h sub t minus 1.">
            <a:extLst>
              <a:ext uri="{FF2B5EF4-FFF2-40B4-BE49-F238E27FC236}">
                <a16:creationId xmlns:a16="http://schemas.microsoft.com/office/drawing/2014/main" id="{A3392F50-3ECD-FDE9-A3D4-F4DF54BE25F5}"/>
              </a:ext>
            </a:extLst>
          </p:cNvPr>
          <p:cNvGrpSpPr/>
          <p:nvPr/>
        </p:nvGrpSpPr>
        <p:grpSpPr>
          <a:xfrm>
            <a:off x="6051179" y="1294288"/>
            <a:ext cx="5518402" cy="5414194"/>
            <a:chOff x="6051179" y="1294288"/>
            <a:chExt cx="5518402" cy="5414194"/>
          </a:xfrm>
        </p:grpSpPr>
        <p:pic>
          <p:nvPicPr>
            <p:cNvPr id="11" name="Picture 10" descr="Deep Recurrent Q-Network (DRQN) architecture, shown unrolled over two time steps: an 84 by 84 by 1 game frame passes through Conv1 (32 filters, 8 by 8, stride 4, output 20 by 20 by 32), Conv2 (64 filters, 4 by 4, stride 2, output 9 by 9 by 64) and Conv3 (64 filters, 3 by 3, stride 1, output 7 by 7 by 64), then an LSTM layer of 512 units that carries memory between time steps, and finally a layer of 18 Q-values, one per action.">
              <a:extLst>
                <a:ext uri="{FF2B5EF4-FFF2-40B4-BE49-F238E27FC236}">
                  <a16:creationId xmlns:a16="http://schemas.microsoft.com/office/drawing/2014/main" id="{F065F021-3A7B-A59D-1F6B-B43FC0FC77B4}"/>
                </a:ext>
              </a:extLst>
            </p:cNvPr>
            <p:cNvPicPr>
              <a:picLocks noChangeAspect="1"/>
            </p:cNvPicPr>
            <p:nvPr/>
          </p:nvPicPr>
          <p:blipFill>
            <a:blip r:embed="rId4"/>
            <a:stretch>
              <a:fillRect/>
            </a:stretch>
          </p:blipFill>
          <p:spPr>
            <a:xfrm>
              <a:off x="6660779" y="1294288"/>
              <a:ext cx="4908802" cy="5092962"/>
            </a:xfrm>
            <a:prstGeom prst="rect">
              <a:avLst/>
            </a:prstGeom>
          </p:spPr>
        </p:pic>
        <p:pic>
          <p:nvPicPr>
            <p:cNvPr id="19" name="Picture 18" descr="Screenshot of the Atari game Pong: an orange paddle on the left, a green paddle on the right and a small white ball, with the scores at the top.">
              <a:extLst>
                <a:ext uri="{FF2B5EF4-FFF2-40B4-BE49-F238E27FC236}">
                  <a16:creationId xmlns:a16="http://schemas.microsoft.com/office/drawing/2014/main" id="{1B1D0E02-A7A8-6DB5-FE19-5DB569ECD580}"/>
                </a:ext>
              </a:extLst>
            </p:cNvPr>
            <p:cNvPicPr>
              <a:picLocks noChangeAspect="1"/>
            </p:cNvPicPr>
            <p:nvPr/>
          </p:nvPicPr>
          <p:blipFill>
            <a:blip r:embed="rId5"/>
            <a:stretch>
              <a:fillRect/>
            </a:stretch>
          </p:blipFill>
          <p:spPr>
            <a:xfrm>
              <a:off x="6735381" y="5442597"/>
              <a:ext cx="705937" cy="930077"/>
            </a:xfrm>
            <a:prstGeom prst="rect">
              <a:avLst/>
            </a:prstGeom>
          </p:spPr>
          <p:style>
            <a:lnRef idx="2">
              <a:schemeClr val="dk1"/>
            </a:lnRef>
            <a:fillRef idx="1">
              <a:schemeClr val="lt1"/>
            </a:fillRef>
            <a:effectRef idx="0">
              <a:schemeClr val="dk1"/>
            </a:effectRef>
            <a:fontRef idx="minor">
              <a:schemeClr val="dk1"/>
            </a:fontRef>
          </p:style>
        </p:pic>
        <p:pic>
          <p:nvPicPr>
            <p:cNvPr id="21" name="Picture 20" descr="Screenshot of the Atari game Pong: an orange paddle on the left, a green paddle on the right and a small white ball, with the scores at the top.">
              <a:extLst>
                <a:ext uri="{FF2B5EF4-FFF2-40B4-BE49-F238E27FC236}">
                  <a16:creationId xmlns:a16="http://schemas.microsoft.com/office/drawing/2014/main" id="{931A8198-BF14-42BA-3862-7A9778C74ED6}"/>
                </a:ext>
              </a:extLst>
            </p:cNvPr>
            <p:cNvPicPr>
              <a:picLocks noChangeAspect="1"/>
            </p:cNvPicPr>
            <p:nvPr/>
          </p:nvPicPr>
          <p:blipFill>
            <a:blip r:embed="rId5"/>
            <a:stretch>
              <a:fillRect/>
            </a:stretch>
          </p:blipFill>
          <p:spPr>
            <a:xfrm>
              <a:off x="8927791" y="5468659"/>
              <a:ext cx="705937" cy="930077"/>
            </a:xfrm>
            <a:prstGeom prst="rect">
              <a:avLst/>
            </a:prstGeom>
          </p:spPr>
          <p:style>
            <a:lnRef idx="2">
              <a:schemeClr val="dk1"/>
            </a:lnRef>
            <a:fillRef idx="1">
              <a:schemeClr val="lt1"/>
            </a:fillRef>
            <a:effectRef idx="0">
              <a:schemeClr val="dk1"/>
            </a:effectRef>
            <a:fontRef idx="minor">
              <a:schemeClr val="dk1"/>
            </a:fontRef>
          </p:style>
        </p:pic>
        <mc:AlternateContent xmlns:mc="http://schemas.openxmlformats.org/markup-compatibility/2006" xmlns:a14="http://schemas.microsoft.com/office/drawing/2010/main">
          <mc:Choice Requires="a14">
            <p:sp>
              <p:nvSpPr>
                <p:cNvPr id="24" name="TextBox 23" descr="Equation: o sub t minus 1">
                  <a:extLst>
                    <a:ext uri="{FF2B5EF4-FFF2-40B4-BE49-F238E27FC236}">
                      <a16:creationId xmlns:a16="http://schemas.microsoft.com/office/drawing/2014/main" id="{4BBA46CA-13FE-9019-AE78-BAB8B17D335E}"/>
                    </a:ext>
                  </a:extLst>
                </p:cNvPr>
                <p:cNvSpPr txBox="1"/>
                <p:nvPr/>
              </p:nvSpPr>
              <p:spPr>
                <a:xfrm>
                  <a:off x="6790970" y="6308208"/>
                  <a:ext cx="594757"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m:oMathPara>
                  </a14:m>
                  <a:endParaRPr lang="en-US" dirty="0"/>
                </a:p>
              </p:txBody>
            </p:sp>
          </mc:Choice>
          <mc:Fallback xmlns="">
            <p:sp>
              <p:nvSpPr>
                <p:cNvPr id="24" name="TextBox 23" descr="Equation: o sub t minus 1">
                  <a:extLst>
                    <a:ext uri="{FF2B5EF4-FFF2-40B4-BE49-F238E27FC236}">
                      <a16:creationId xmlns:a16="http://schemas.microsoft.com/office/drawing/2014/main" id="{4BBA46CA-13FE-9019-AE78-BAB8B17D335E}"/>
                    </a:ext>
                  </a:extLst>
                </p:cNvPr>
                <p:cNvSpPr txBox="1">
                  <a:spLocks noRot="1" noChangeAspect="1" noMove="1" noResize="1" noEditPoints="1" noAdjustHandles="1" noChangeArrowheads="1" noChangeShapeType="1" noTextEdit="1"/>
                </p:cNvSpPr>
                <p:nvPr/>
              </p:nvSpPr>
              <p:spPr>
                <a:xfrm>
                  <a:off x="6790970" y="6308208"/>
                  <a:ext cx="594757"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descr="Equation: o sub t">
                  <a:extLst>
                    <a:ext uri="{FF2B5EF4-FFF2-40B4-BE49-F238E27FC236}">
                      <a16:creationId xmlns:a16="http://schemas.microsoft.com/office/drawing/2014/main" id="{898610EB-B236-8216-E148-926D9792B283}"/>
                    </a:ext>
                  </a:extLst>
                </p:cNvPr>
                <p:cNvSpPr txBox="1"/>
                <p:nvPr/>
              </p:nvSpPr>
              <p:spPr>
                <a:xfrm>
                  <a:off x="9115180" y="6339150"/>
                  <a:ext cx="341970"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𝑡</m:t>
                            </m:r>
                          </m:sub>
                        </m:sSub>
                      </m:oMath>
                    </m:oMathPara>
                  </a14:m>
                  <a:endParaRPr lang="en-US" dirty="0"/>
                </a:p>
              </p:txBody>
            </p:sp>
          </mc:Choice>
          <mc:Fallback xmlns="">
            <p:sp>
              <p:nvSpPr>
                <p:cNvPr id="25" name="TextBox 24" descr="Equation: o sub t">
                  <a:extLst>
                    <a:ext uri="{FF2B5EF4-FFF2-40B4-BE49-F238E27FC236}">
                      <a16:creationId xmlns:a16="http://schemas.microsoft.com/office/drawing/2014/main" id="{898610EB-B236-8216-E148-926D9792B283}"/>
                    </a:ext>
                  </a:extLst>
                </p:cNvPr>
                <p:cNvSpPr txBox="1">
                  <a:spLocks noRot="1" noChangeAspect="1" noMove="1" noResize="1" noEditPoints="1" noAdjustHandles="1" noChangeArrowheads="1" noChangeShapeType="1" noTextEdit="1"/>
                </p:cNvSpPr>
                <p:nvPr/>
              </p:nvSpPr>
              <p:spPr>
                <a:xfrm>
                  <a:off x="9115180" y="6339150"/>
                  <a:ext cx="341970" cy="369332"/>
                </a:xfrm>
                <a:prstGeom prst="rect">
                  <a:avLst/>
                </a:prstGeom>
                <a:blipFill>
                  <a:blip r:embed="rId7"/>
                  <a:stretch>
                    <a:fillRect/>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11FC8ED1-CEE1-12E0-8DED-E8C9DEDD5D31}"/>
                </a:ext>
              </a:extLst>
            </p:cNvPr>
            <p:cNvSpPr txBox="1"/>
            <p:nvPr/>
          </p:nvSpPr>
          <p:spPr>
            <a:xfrm>
              <a:off x="6051179" y="5515831"/>
              <a:ext cx="609600" cy="584775"/>
            </a:xfrm>
            <a:prstGeom prst="rect">
              <a:avLst/>
            </a:prstGeom>
            <a:noFill/>
          </p:spPr>
          <p:txBody>
            <a:bodyPr wrap="square" rtlCol="0">
              <a:spAutoFit/>
            </a:bodyPr>
            <a:lstStyle/>
            <a:p>
              <a:r>
                <a:rPr lang="en-US" sz="3200" dirty="0"/>
                <a:t>…</a:t>
              </a:r>
            </a:p>
          </p:txBody>
        </p:sp>
        <mc:AlternateContent xmlns:mc="http://schemas.openxmlformats.org/markup-compatibility/2006" xmlns:a14="http://schemas.microsoft.com/office/drawing/2010/main">
          <mc:Choice Requires="a14">
            <p:sp>
              <p:nvSpPr>
                <p:cNvPr id="27" name="TextBox 26" descr="Equation: h sub t">
                  <a:extLst>
                    <a:ext uri="{FF2B5EF4-FFF2-40B4-BE49-F238E27FC236}">
                      <a16:creationId xmlns:a16="http://schemas.microsoft.com/office/drawing/2014/main" id="{AD06DA8E-D781-AA66-4CB0-998458CCFB92}"/>
                    </a:ext>
                  </a:extLst>
                </p:cNvPr>
                <p:cNvSpPr txBox="1"/>
                <p:nvPr/>
              </p:nvSpPr>
              <p:spPr>
                <a:xfrm>
                  <a:off x="9819581" y="1706988"/>
                  <a:ext cx="341970"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𝑡</m:t>
                            </m:r>
                          </m:sub>
                        </m:sSub>
                      </m:oMath>
                    </m:oMathPara>
                  </a14:m>
                  <a:endParaRPr lang="en-US" dirty="0"/>
                </a:p>
              </p:txBody>
            </p:sp>
          </mc:Choice>
          <mc:Fallback xmlns="">
            <p:sp>
              <p:nvSpPr>
                <p:cNvPr id="27" name="TextBox 26" descr="Equation: h sub t">
                  <a:extLst>
                    <a:ext uri="{FF2B5EF4-FFF2-40B4-BE49-F238E27FC236}">
                      <a16:creationId xmlns:a16="http://schemas.microsoft.com/office/drawing/2014/main" id="{AD06DA8E-D781-AA66-4CB0-998458CCFB92}"/>
                    </a:ext>
                  </a:extLst>
                </p:cNvPr>
                <p:cNvSpPr txBox="1">
                  <a:spLocks noRot="1" noChangeAspect="1" noMove="1" noResize="1" noEditPoints="1" noAdjustHandles="1" noChangeArrowheads="1" noChangeShapeType="1" noTextEdit="1"/>
                </p:cNvSpPr>
                <p:nvPr/>
              </p:nvSpPr>
              <p:spPr>
                <a:xfrm>
                  <a:off x="9819581" y="1706988"/>
                  <a:ext cx="34197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descr="Equation: h sub t minus 1">
                  <a:extLst>
                    <a:ext uri="{FF2B5EF4-FFF2-40B4-BE49-F238E27FC236}">
                      <a16:creationId xmlns:a16="http://schemas.microsoft.com/office/drawing/2014/main" id="{49857BE2-1048-8295-C1F7-68E737437E6D}"/>
                    </a:ext>
                  </a:extLst>
                </p:cNvPr>
                <p:cNvSpPr txBox="1"/>
                <p:nvPr/>
              </p:nvSpPr>
              <p:spPr>
                <a:xfrm>
                  <a:off x="7680962" y="1640916"/>
                  <a:ext cx="341970"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m:oMathPara>
                  </a14:m>
                  <a:endParaRPr lang="en-US" dirty="0"/>
                </a:p>
              </p:txBody>
            </p:sp>
          </mc:Choice>
          <mc:Fallback xmlns="">
            <p:sp>
              <p:nvSpPr>
                <p:cNvPr id="28" name="TextBox 27" descr="Equation: h sub t minus 1">
                  <a:extLst>
                    <a:ext uri="{FF2B5EF4-FFF2-40B4-BE49-F238E27FC236}">
                      <a16:creationId xmlns:a16="http://schemas.microsoft.com/office/drawing/2014/main" id="{49857BE2-1048-8295-C1F7-68E737437E6D}"/>
                    </a:ext>
                  </a:extLst>
                </p:cNvPr>
                <p:cNvSpPr txBox="1">
                  <a:spLocks noRot="1" noChangeAspect="1" noMove="1" noResize="1" noEditPoints="1" noAdjustHandles="1" noChangeArrowheads="1" noChangeShapeType="1" noTextEdit="1"/>
                </p:cNvSpPr>
                <p:nvPr/>
              </p:nvSpPr>
              <p:spPr>
                <a:xfrm>
                  <a:off x="7680962" y="1640916"/>
                  <a:ext cx="341970" cy="369332"/>
                </a:xfrm>
                <a:prstGeom prst="rect">
                  <a:avLst/>
                </a:prstGeom>
                <a:blipFill>
                  <a:blip r:embed="rId9"/>
                  <a:stretch>
                    <a:fillRect r="-67857"/>
                  </a:stretch>
                </a:blipFill>
              </p:spPr>
              <p:txBody>
                <a:bodyPr/>
                <a:lstStyle/>
                <a:p>
                  <a:r>
                    <a:rPr lang="en-US">
                      <a:noFill/>
                    </a:rPr>
                    <a:t> </a:t>
                  </a:r>
                </a:p>
              </p:txBody>
            </p:sp>
          </mc:Fallback>
        </mc:AlternateContent>
      </p:grpSp>
    </p:spTree>
    <p:extLst>
      <p:ext uri="{BB962C8B-B14F-4D97-AF65-F5344CB8AC3E}">
        <p14:creationId xmlns:p14="http://schemas.microsoft.com/office/powerpoint/2010/main" val="35019281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15B90-DA12-5311-A694-71F1513664CE}"/>
              </a:ext>
            </a:extLst>
          </p:cNvPr>
          <p:cNvSpPr>
            <a:spLocks noGrp="1"/>
          </p:cNvSpPr>
          <p:nvPr>
            <p:ph type="title"/>
          </p:nvPr>
        </p:nvSpPr>
        <p:spPr>
          <a:xfrm>
            <a:off x="758952" y="785366"/>
            <a:ext cx="4069055" cy="2072853"/>
          </a:xfrm>
        </p:spPr>
        <p:txBody>
          <a:bodyPr anchor="t">
            <a:normAutofit/>
          </a:bodyPr>
          <a:lstStyle/>
          <a:p>
            <a:r>
              <a:rPr lang="en-US" sz="4000" dirty="0"/>
              <a:t>What You Should Know</a:t>
            </a:r>
          </a:p>
        </p:txBody>
      </p:sp>
      <p:sp>
        <p:nvSpPr>
          <p:cNvPr id="3" name="Content Placeholder 2">
            <a:extLst>
              <a:ext uri="{FF2B5EF4-FFF2-40B4-BE49-F238E27FC236}">
                <a16:creationId xmlns:a16="http://schemas.microsoft.com/office/drawing/2014/main" id="{76BBA507-BEF2-070A-4241-AF2BA1803534}"/>
              </a:ext>
            </a:extLst>
          </p:cNvPr>
          <p:cNvSpPr>
            <a:spLocks noGrp="1"/>
          </p:cNvSpPr>
          <p:nvPr>
            <p:ph idx="1"/>
          </p:nvPr>
        </p:nvSpPr>
        <p:spPr>
          <a:xfrm>
            <a:off x="5575712" y="1064173"/>
            <a:ext cx="5389654" cy="4971174"/>
          </a:xfrm>
        </p:spPr>
        <p:txBody>
          <a:bodyPr anchor="ctr">
            <a:normAutofit/>
          </a:bodyPr>
          <a:lstStyle/>
          <a:p>
            <a:r>
              <a:rPr lang="en-US" sz="1800" dirty="0"/>
              <a:t>How observations are related to the environment state and the agent state.</a:t>
            </a:r>
          </a:p>
          <a:p>
            <a:endParaRPr lang="en-US" sz="1800" dirty="0"/>
          </a:p>
          <a:p>
            <a:r>
              <a:rPr lang="en-US" sz="1800" dirty="0"/>
              <a:t>The relationship between Markov Chains, MDPs, HMMs, and POMDPs.</a:t>
            </a:r>
          </a:p>
          <a:p>
            <a:endParaRPr lang="en-US" sz="1800" dirty="0"/>
          </a:p>
          <a:p>
            <a:r>
              <a:rPr lang="en-US" sz="1800" dirty="0"/>
              <a:t>Why using (stacked) observations instead of states sometimes works.</a:t>
            </a:r>
          </a:p>
          <a:p>
            <a:endParaRPr lang="en-US" sz="1800" dirty="0"/>
          </a:p>
          <a:p>
            <a:r>
              <a:rPr lang="en-US" sz="1800" dirty="0"/>
              <a:t>Belief states and belief monitoring. How deep neural networks can be used to learn belief states.</a:t>
            </a:r>
          </a:p>
        </p:txBody>
      </p:sp>
      <p:pic>
        <p:nvPicPr>
          <p:cNvPr id="4" name="Picture 3">
            <a:extLst>
              <a:ext uri="{FF2B5EF4-FFF2-40B4-BE49-F238E27FC236}">
                <a16:creationId xmlns:a16="http://schemas.microsoft.com/office/drawing/2014/main" id="{C0016F98-4E8E-CBB1-A610-58AFEB8B6E7F}"/>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110" b="-1"/>
          <a:stretch>
            <a:fillRect/>
          </a:stretch>
        </p:blipFill>
        <p:spPr bwMode="auto">
          <a:xfrm>
            <a:off x="724708" y="3429000"/>
            <a:ext cx="3951110" cy="2666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48802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18723</TotalTime>
  <Words>2388</Words>
  <Application>Microsoft Macintosh PowerPoint</Application>
  <PresentationFormat>Widescreen</PresentationFormat>
  <Paragraphs>360</Paragraphs>
  <Slides>22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Display</vt:lpstr>
      <vt:lpstr>Arial</vt:lpstr>
      <vt:lpstr>Calibri</vt:lpstr>
      <vt:lpstr>Cambria Math</vt:lpstr>
      <vt:lpstr>Office Theme</vt:lpstr>
      <vt:lpstr>Reinforcement Learning  Partial Observability Sutton/Barto* Chapter 17.3 AIMA** Chapters 14 and 15 </vt:lpstr>
      <vt:lpstr>Topics of this Course</vt:lpstr>
      <vt:lpstr>Summary of Notation</vt:lpstr>
      <vt:lpstr>Foundation</vt:lpstr>
      <vt:lpstr>Fully Observable RL</vt:lpstr>
      <vt:lpstr>Markov Process</vt:lpstr>
      <vt:lpstr>Hidden Markov Model (HMM)</vt:lpstr>
      <vt:lpstr>Markov Decision Process (MDP)</vt:lpstr>
      <vt:lpstr>Partially Observable MDP (POMDP)</vt:lpstr>
      <vt:lpstr>Partially Observable RL</vt:lpstr>
      <vt:lpstr>RL with Partial Observability</vt:lpstr>
      <vt:lpstr>States and Observations</vt:lpstr>
      <vt:lpstr>Simple Heuristic: Observation as State</vt:lpstr>
      <vt:lpstr>Optimal Belief  Monitoring</vt:lpstr>
      <vt:lpstr>Deep Belief Monitoring with RNNs</vt:lpstr>
      <vt:lpstr>Example</vt:lpstr>
      <vt:lpstr>Case Study:  Atari Pong</vt:lpstr>
      <vt:lpstr>States and Observations </vt:lpstr>
      <vt:lpstr>Single Observation as State</vt:lpstr>
      <vt:lpstr>Frame Stacking</vt:lpstr>
      <vt:lpstr>Deep Recurrent Q-Learning</vt:lpstr>
      <vt:lpstr>What You Should Know</vt:lpstr>
    </vt:vector>
  </TitlesOfParts>
  <Company>Southern Methodist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Hahsler, Michael</dc:creator>
  <cp:lastModifiedBy>Munoth, Prerna</cp:lastModifiedBy>
  <cp:revision>172</cp:revision>
  <dcterms:created xsi:type="dcterms:W3CDTF">2025-09-08T14:44:49Z</dcterms:created>
  <dcterms:modified xsi:type="dcterms:W3CDTF">2026-10-15T23:00:29Z</dcterms:modified>
</cp:coreProperties>
</file>