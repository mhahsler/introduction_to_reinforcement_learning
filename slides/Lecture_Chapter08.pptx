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93" r:id="rId5"/>
    <p:sldId id="385" r:id="rId6"/>
    <p:sldId id="386" r:id="rId7"/>
    <p:sldId id="392" r:id="rId8"/>
    <p:sldId id="388" r:id="rId9"/>
    <p:sldId id="389" r:id="rId10"/>
    <p:sldId id="390" r:id="rId11"/>
    <p:sldId id="394" r:id="rId12"/>
    <p:sldId id="391" r:id="rId13"/>
    <p:sldId id="396" r:id="rId14"/>
    <p:sldId id="398" r:id="rId15"/>
    <p:sldId id="399" r:id="rId16"/>
    <p:sldId id="400" r:id="rId17"/>
    <p:sldId id="402" r:id="rId18"/>
    <p:sldId id="403" r:id="rId19"/>
    <p:sldId id="404" r:id="rId20"/>
    <p:sldId id="405" r:id="rId21"/>
    <p:sldId id="406" r:id="rId22"/>
    <p:sldId id="407" r:id="rId23"/>
    <p:sldId id="40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175B7E81-9252-44C4-987D-BA1F14A88A5B}">
          <p14:sldIdLst>
            <p14:sldId id="393"/>
            <p14:sldId id="385"/>
            <p14:sldId id="386"/>
          </p14:sldIdLst>
        </p14:section>
        <p14:section name="Dyna" id="{75F464EC-0F8E-4CC2-8476-91103851FE06}">
          <p14:sldIdLst>
            <p14:sldId id="392"/>
            <p14:sldId id="388"/>
            <p14:sldId id="389"/>
            <p14:sldId id="390"/>
          </p14:sldIdLst>
        </p14:section>
        <p14:section name="Sampling" id="{9D014FB2-5D5A-464A-8C19-F3F7FC3F9627}">
          <p14:sldIdLst>
            <p14:sldId id="394"/>
            <p14:sldId id="391"/>
            <p14:sldId id="396"/>
            <p14:sldId id="398"/>
            <p14:sldId id="399"/>
            <p14:sldId id="400"/>
            <p14:sldId id="402"/>
          </p14:sldIdLst>
        </p14:section>
        <p14:section name="Summary of Tabular Solution Methods" id="{F4B514AC-6B74-4B49-94E0-2924F11DBE14}">
          <p14:sldIdLst>
            <p14:sldId id="403"/>
            <p14:sldId id="404"/>
            <p14:sldId id="405"/>
            <p14:sldId id="406"/>
            <p14:sldId id="407"/>
            <p14:sldId id="4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Planning and Learning with Tabular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b="1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62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A1BA-CA5C-693B-FB3E-C368A66D7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C215C-7DA6-48E2-7A2B-214A4A527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47322"/>
            <a:ext cx="5157787" cy="494791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86ED9-B3B0-4E7E-C9D8-36D605A9C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142114"/>
            <a:ext cx="5157787" cy="1325563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Requires knowledge of the MDP model.</a:t>
            </a:r>
          </a:p>
          <a:p>
            <a:r>
              <a:rPr lang="en-US" dirty="0"/>
              <a:t>Methods: Dynamic Programming, heuristic search</a:t>
            </a:r>
          </a:p>
          <a:p>
            <a:r>
              <a:rPr lang="en-US" dirty="0"/>
              <a:t>Use the known model to </a:t>
            </a:r>
            <a:r>
              <a:rPr lang="en-US" b="1" dirty="0"/>
              <a:t>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E8A69-3C51-CDFE-7A41-514AB48A4C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47322"/>
            <a:ext cx="5183188" cy="49479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9DFBC9-5C98-B059-76C6-7C39C8A8AE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142114"/>
            <a:ext cx="5183188" cy="1325563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Model is unknown.</a:t>
            </a:r>
          </a:p>
          <a:p>
            <a:r>
              <a:rPr lang="en-US" dirty="0"/>
              <a:t>Methods: MC, TD</a:t>
            </a:r>
          </a:p>
          <a:p>
            <a:r>
              <a:rPr lang="en-US" b="1" dirty="0"/>
              <a:t>Learn</a:t>
            </a:r>
            <a:r>
              <a:rPr lang="en-US" dirty="0"/>
              <a:t> from interactions with the environment (sampling).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549527-8988-50D5-4FD2-A4EACAA47452}"/>
              </a:ext>
            </a:extLst>
          </p:cNvPr>
          <p:cNvSpPr txBox="1">
            <a:spLocks/>
          </p:cNvSpPr>
          <p:nvPr/>
        </p:nvSpPr>
        <p:spPr>
          <a:xfrm>
            <a:off x="839788" y="4013588"/>
            <a:ext cx="10515600" cy="2029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All methods:</a:t>
            </a:r>
          </a:p>
          <a:p>
            <a:pPr lvl="1"/>
            <a:r>
              <a:rPr lang="en-US" dirty="0"/>
              <a:t>Compute a value function/policy.</a:t>
            </a:r>
          </a:p>
          <a:p>
            <a:pPr lvl="1"/>
            <a:r>
              <a:rPr lang="en-US" dirty="0"/>
              <a:t>Look ahead to future events and compute a backed-up value to update an approximate value function.</a:t>
            </a:r>
          </a:p>
        </p:txBody>
      </p:sp>
    </p:spTree>
    <p:extLst>
      <p:ext uri="{BB962C8B-B14F-4D97-AF65-F5344CB8AC3E}">
        <p14:creationId xmlns:p14="http://schemas.microsoft.com/office/powerpoint/2010/main" val="3129097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63D3F0-03CF-B1AF-8CA4-243B27B69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Model of the environment</a:t>
                </a:r>
                <a:r>
                  <a:rPr lang="en-US" dirty="0"/>
                  <a:t>: Anything the agent can use to predict the outcome of actions (e.g., next state and reward).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Models can be:</a:t>
                </a:r>
              </a:p>
              <a:p>
                <a:pPr lvl="1"/>
                <a:r>
                  <a:rPr lang="en-US" b="1" dirty="0"/>
                  <a:t>Distribution models</a:t>
                </a:r>
                <a:r>
                  <a:rPr lang="en-US" dirty="0"/>
                  <a:t>: Specify the complete distribution of all possible outcomes.</a:t>
                </a:r>
              </a:p>
              <a:p>
                <a:pPr lvl="2"/>
                <a:r>
                  <a:rPr lang="en-US" dirty="0"/>
                  <a:t>For finite MDPs this is the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Used by dynamic programming methods for planning.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b="1" dirty="0"/>
                  <a:t>Sample models</a:t>
                </a:r>
                <a:r>
                  <a:rPr lang="en-US" dirty="0"/>
                  <a:t>: Simulate the real environment by producing one outcome for an action. The outcome needs to be a valid sample from the distribution model.</a:t>
                </a:r>
              </a:p>
              <a:p>
                <a:pPr lvl="2"/>
                <a:r>
                  <a:rPr lang="en-US" dirty="0"/>
                  <a:t>Are typically easier to create.</a:t>
                </a:r>
              </a:p>
              <a:p>
                <a:pPr lvl="2"/>
                <a:r>
                  <a:rPr lang="en-US" dirty="0"/>
                  <a:t>Can be used for MC and TD methods for learning. This is called trajectory sampling.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real environment can be seen as a physical model with sequential sampling access.</a:t>
                </a:r>
              </a:p>
              <a:p>
                <a:pPr lvl="1"/>
                <a:r>
                  <a:rPr lang="en-US" dirty="0"/>
                  <a:t>Model-free methods often use sample models when accessing the real environment is slow or expensive.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  <a:blipFill>
                <a:blip r:embed="rId2"/>
                <a:stretch>
                  <a:fillRect l="-638" t="-2335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97B3B91-268C-F9DD-CBA0-C6797B3B55BA}"/>
              </a:ext>
            </a:extLst>
          </p:cNvPr>
          <p:cNvSpPr txBox="1"/>
          <p:nvPr/>
        </p:nvSpPr>
        <p:spPr>
          <a:xfrm>
            <a:off x="3638986" y="5988972"/>
            <a:ext cx="4914028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Can we integrate learning and planning?</a:t>
            </a:r>
          </a:p>
        </p:txBody>
      </p:sp>
    </p:spTree>
    <p:extLst>
      <p:ext uri="{BB962C8B-B14F-4D97-AF65-F5344CB8AC3E}">
        <p14:creationId xmlns:p14="http://schemas.microsoft.com/office/powerpoint/2010/main" val="25428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3EEFEA-0015-8BCC-C791-B934FAEDB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BC8F79-3E91-A277-FC6D-5703A7729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Integrating Planning, Acting, and Learning</a:t>
            </a:r>
          </a:p>
        </p:txBody>
      </p:sp>
    </p:spTree>
    <p:extLst>
      <p:ext uri="{BB962C8B-B14F-4D97-AF65-F5344CB8AC3E}">
        <p14:creationId xmlns:p14="http://schemas.microsoft.com/office/powerpoint/2010/main" val="266541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EC5060-ED9D-A7CB-C624-3FD02CBD1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1" y="1720207"/>
            <a:ext cx="4326058" cy="3417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596584-F4DC-4CCF-DAD5-C0800840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Integrating Planning, Acting, and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6895810" cy="471728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Direct RL is model-free Learning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Use the experience directly to improve the value function/policy. E.g., via one-step Q-learning.</a:t>
                </a:r>
              </a:p>
              <a:p>
                <a:endParaRPr lang="en-US" dirty="0"/>
              </a:p>
              <a:p>
                <a:r>
                  <a:rPr lang="en-US" b="1" dirty="0"/>
                  <a:t>Model Learning and Planning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Real experience is also used to learn a model. E.g., by recording for each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model can be used for planning to improve the value function/policy. E.g., by sampling from the model to update the Q-values. 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Advantage</a:t>
                </a:r>
                <a:r>
                  <a:rPr lang="en-US" dirty="0"/>
                  <a:t>: Makes the approach much more sample efficient. Experience is not just used once but retained in the model.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6895810" cy="4717283"/>
              </a:xfrm>
              <a:blipFill>
                <a:blip r:embed="rId3"/>
                <a:stretch>
                  <a:fillRect l="-1502" t="-3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1906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5BE67-97CC-F251-532A-623A2647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Dyna-Q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92F7C4-E638-E7F0-C86E-4207F5C5A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8343" y="399914"/>
            <a:ext cx="3977112" cy="314191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937AB9C-6AA5-A7EB-5688-445A6D78D962}"/>
              </a:ext>
            </a:extLst>
          </p:cNvPr>
          <p:cNvGrpSpPr>
            <a:grpSpLocks noChangeAspect="1"/>
          </p:cNvGrpSpPr>
          <p:nvPr/>
        </p:nvGrpSpPr>
        <p:grpSpPr>
          <a:xfrm>
            <a:off x="693614" y="2680969"/>
            <a:ext cx="7922078" cy="3558916"/>
            <a:chOff x="1027761" y="1690688"/>
            <a:chExt cx="9799864" cy="45509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B7BD3E-BFBF-D93E-B3A8-87CE35EB3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761" y="1690688"/>
              <a:ext cx="9799864" cy="45509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43AABACC-352B-D6F3-1630-3C22810331E2}"/>
                </a:ext>
              </a:extLst>
            </p:cNvPr>
            <p:cNvSpPr/>
            <p:nvPr/>
          </p:nvSpPr>
          <p:spPr>
            <a:xfrm>
              <a:off x="8899695" y="3652068"/>
              <a:ext cx="1577515" cy="314107"/>
            </a:xfrm>
            <a:prstGeom prst="wedgeRoundRectCallout">
              <a:avLst>
                <a:gd name="adj1" fmla="val -88975"/>
                <a:gd name="adj2" fmla="val 67702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Direct RL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34714BA1-C236-3E36-3CE9-E93B07A696BD}"/>
                </a:ext>
              </a:extLst>
            </p:cNvPr>
            <p:cNvSpPr/>
            <p:nvPr/>
          </p:nvSpPr>
          <p:spPr>
            <a:xfrm>
              <a:off x="8769872" y="4653329"/>
              <a:ext cx="416009" cy="125886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168B176-252B-01A8-D5CF-A6F29DF4DCE4}"/>
                </a:ext>
              </a:extLst>
            </p:cNvPr>
            <p:cNvSpPr txBox="1"/>
            <p:nvPr/>
          </p:nvSpPr>
          <p:spPr>
            <a:xfrm>
              <a:off x="9274609" y="5078516"/>
              <a:ext cx="1308546" cy="43292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Planning</a:t>
              </a:r>
            </a:p>
          </p:txBody>
        </p:sp>
      </p:grp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8DF5D581-CEB0-AD06-59A9-C85B97349AB2}"/>
              </a:ext>
            </a:extLst>
          </p:cNvPr>
          <p:cNvSpPr/>
          <p:nvPr/>
        </p:nvSpPr>
        <p:spPr>
          <a:xfrm>
            <a:off x="7134546" y="4567465"/>
            <a:ext cx="2011202" cy="239484"/>
          </a:xfrm>
          <a:prstGeom prst="wedgeRoundRectCallout">
            <a:avLst>
              <a:gd name="adj1" fmla="val -65028"/>
              <a:gd name="adj2" fmla="val 1232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Model learning</a:t>
            </a:r>
          </a:p>
        </p:txBody>
      </p:sp>
    </p:spTree>
    <p:extLst>
      <p:ext uri="{BB962C8B-B14F-4D97-AF65-F5344CB8AC3E}">
        <p14:creationId xmlns:p14="http://schemas.microsoft.com/office/powerpoint/2010/main" val="101948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C8AC25-EC4C-3842-F311-7347DBC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776774" cy="759072"/>
          </a:xfrm>
        </p:spPr>
        <p:txBody>
          <a:bodyPr/>
          <a:lstStyle/>
          <a:p>
            <a:r>
              <a:rPr lang="en-US" dirty="0"/>
              <a:t>The Effect of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E6196-0C58-18A7-BA50-D3B376B6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370" y="1660797"/>
            <a:ext cx="7086022" cy="4108300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0268D5-3842-005A-9D87-7A037B2EC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396030"/>
            <a:ext cx="5623420" cy="4870545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Benefit</a:t>
            </a:r>
            <a:r>
              <a:rPr lang="en-US" dirty="0"/>
              <a:t>: Adding planning speeds learning by reusing sampled experience.</a:t>
            </a:r>
          </a:p>
          <a:p>
            <a:endParaRPr lang="en-US" dirty="0"/>
          </a:p>
          <a:p>
            <a:r>
              <a:rPr lang="en-US" b="1" dirty="0"/>
              <a:t>Issues</a:t>
            </a:r>
            <a:r>
              <a:rPr lang="en-US" dirty="0"/>
              <a:t>: Planning is a problem if the model is wrong:</a:t>
            </a:r>
          </a:p>
          <a:p>
            <a:pPr lvl="1"/>
            <a:r>
              <a:rPr lang="en-US" dirty="0"/>
              <a:t>Based on an insufficient number of samples.</a:t>
            </a:r>
          </a:p>
          <a:p>
            <a:pPr lvl="1"/>
            <a:r>
              <a:rPr lang="en-US" dirty="0"/>
              <a:t>Function approximation not great.</a:t>
            </a:r>
          </a:p>
          <a:p>
            <a:pPr lvl="1"/>
            <a:r>
              <a:rPr lang="en-US" dirty="0"/>
              <a:t>Environment changes</a:t>
            </a:r>
          </a:p>
          <a:p>
            <a:r>
              <a:rPr lang="en-US" dirty="0"/>
              <a:t>Dyna quickly corrects too optimistic predictions since they will be selected for the next real action.</a:t>
            </a:r>
          </a:p>
          <a:p>
            <a:endParaRPr lang="en-US" dirty="0"/>
          </a:p>
          <a:p>
            <a:r>
              <a:rPr lang="en-US" dirty="0"/>
              <a:t>For changing environments:</a:t>
            </a:r>
          </a:p>
          <a:p>
            <a:pPr lvl="1"/>
            <a:r>
              <a:rPr lang="en-US" dirty="0"/>
              <a:t>Keep exploring.</a:t>
            </a:r>
          </a:p>
          <a:p>
            <a:pPr lvl="1"/>
            <a:r>
              <a:rPr lang="en-US" dirty="0"/>
              <a:t>Keep track of long action/state combinations that were not tried.</a:t>
            </a:r>
          </a:p>
        </p:txBody>
      </p:sp>
    </p:spTree>
    <p:extLst>
      <p:ext uri="{BB962C8B-B14F-4D97-AF65-F5344CB8AC3E}">
        <p14:creationId xmlns:p14="http://schemas.microsoft.com/office/powerpoint/2010/main" val="3636997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4D2E0C-9397-0251-BE88-27DE9E96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D0E66-448A-2B1F-DC4F-AFCD2FF3C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DA9A14-34CA-9AC7-415D-3D9BB2C1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updates on sampled experience</a:t>
            </a:r>
          </a:p>
        </p:txBody>
      </p:sp>
    </p:spTree>
    <p:extLst>
      <p:ext uri="{BB962C8B-B14F-4D97-AF65-F5344CB8AC3E}">
        <p14:creationId xmlns:p14="http://schemas.microsoft.com/office/powerpoint/2010/main" val="586579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859C-00DA-DABF-41E1-705430742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466033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Expected vs. Sample Updates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8651C-D732-C69E-3D6A-B222E9D9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723" y="302003"/>
            <a:ext cx="4049567" cy="62539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Expected updates (DP)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p>
                                      <m:sSup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lim>
                                </m:limLow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Sample updates (on-step TD)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Sampling adds variance due to the sample error but is computationally much cheaper.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  <a:blipFill>
                <a:blip r:embed="rId3"/>
                <a:stretch>
                  <a:fillRect l="-827" t="-12893" b="-1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533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6E25EF-48DC-A4AE-65BF-0EC0DC35F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 and </a:t>
            </a:r>
            <a:br>
              <a:rPr lang="en-US" dirty="0"/>
            </a:br>
            <a:r>
              <a:rPr lang="en-US" dirty="0"/>
              <a:t>Rollout Algorithms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AFEA0-2CFA-4384-CF4E-F3C845C83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Decision-time planning</a:t>
            </a:r>
          </a:p>
        </p:txBody>
      </p:sp>
    </p:spTree>
    <p:extLst>
      <p:ext uri="{BB962C8B-B14F-4D97-AF65-F5344CB8AC3E}">
        <p14:creationId xmlns:p14="http://schemas.microsoft.com/office/powerpoint/2010/main" val="682395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A6356EF-E592-3AC7-97BD-5A89144E7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5917" y="2076147"/>
            <a:ext cx="6456730" cy="321306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540E156-9D3F-D3EF-4006-10719CAD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1: Heuristic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4656364" cy="477963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Consider a large tree of possible continuations (trajectories of a given length)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Apply an approx. value function to the states in leaf nodes.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 values towards the current state (using max).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Choose the best next action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4656364" cy="4779633"/>
              </a:xfrm>
              <a:blipFill>
                <a:blip r:embed="rId3"/>
                <a:stretch>
                  <a:fillRect l="-1835" t="-2551" r="-1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9CBFCEF7-963A-4187-6A15-D0E256203C8E}"/>
              </a:ext>
            </a:extLst>
          </p:cNvPr>
          <p:cNvSpPr/>
          <p:nvPr/>
        </p:nvSpPr>
        <p:spPr>
          <a:xfrm>
            <a:off x="5758626" y="5514378"/>
            <a:ext cx="2142906" cy="359863"/>
          </a:xfrm>
          <a:prstGeom prst="wedgeRoundRectCallout">
            <a:avLst>
              <a:gd name="adj1" fmla="val -21943"/>
              <a:gd name="adj2" fmla="val -3839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Estimate values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E4EFD103-2544-1279-0631-58B4728E2AD2}"/>
              </a:ext>
            </a:extLst>
          </p:cNvPr>
          <p:cNvSpPr/>
          <p:nvPr/>
        </p:nvSpPr>
        <p:spPr>
          <a:xfrm flipV="1">
            <a:off x="11154283" y="2910721"/>
            <a:ext cx="781777" cy="210277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3. backup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5F441F9-26AE-4857-0003-6C4FFDACE6EE}"/>
              </a:ext>
            </a:extLst>
          </p:cNvPr>
          <p:cNvSpPr/>
          <p:nvPr/>
        </p:nvSpPr>
        <p:spPr>
          <a:xfrm>
            <a:off x="7689758" y="1206901"/>
            <a:ext cx="2142906" cy="359863"/>
          </a:xfrm>
          <a:prstGeom prst="wedgeRoundRectCallout">
            <a:avLst>
              <a:gd name="adj1" fmla="val -41487"/>
              <a:gd name="adj2" fmla="val 2329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 Pick best action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0F962-53D0-07DC-792F-6FB00B52DA93}"/>
              </a:ext>
            </a:extLst>
          </p:cNvPr>
          <p:cNvSpPr txBox="1"/>
          <p:nvPr/>
        </p:nvSpPr>
        <p:spPr>
          <a:xfrm>
            <a:off x="3427256" y="6217173"/>
            <a:ext cx="5723725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This is like heuristic min-max search for games.</a:t>
            </a:r>
          </a:p>
        </p:txBody>
      </p:sp>
    </p:spTree>
    <p:extLst>
      <p:ext uri="{BB962C8B-B14F-4D97-AF65-F5344CB8AC3E}">
        <p14:creationId xmlns:p14="http://schemas.microsoft.com/office/powerpoint/2010/main" val="2868713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21C83-C1A9-FB6C-6458-7E764229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Option 2: Rollout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an initial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called the base policy.</a:t>
                </a:r>
              </a:p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Monte Carlo Policy Estimation: Use many simulated trajectories to approximate all state/action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Choose the best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b="0" dirty="0"/>
                  <a:t> according to the estimates. This is called the rollout policy.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If the base policy is reasonable (e.g., a good heuristic), rollouts are locally optimal.</a:t>
                </a:r>
              </a:p>
              <a:p>
                <a:r>
                  <a:rPr lang="en-US" dirty="0"/>
                  <a:t>Rollout policy is guaranteed to be at least as good as the base policy (in expectation)</a:t>
                </a:r>
              </a:p>
              <a:p>
                <a:r>
                  <a:rPr lang="en-US" dirty="0"/>
                  <a:t>You get policy improvement without solving Bellman equations.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189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54759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29CDF0-6E54-CF31-4006-DA0CE95A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910" y="1224786"/>
            <a:ext cx="6086998" cy="38977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B9468A3-760E-EC4A-9394-247656C3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Rollout Algorithm: Monte Carlo Tree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45C3E-18E2-0CBC-535D-7E0DD489F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5023757" cy="477963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MCTS is a rollout algorithm that stores some intermediate estimates in a depth-limited tree structure. </a:t>
            </a:r>
          </a:p>
          <a:p>
            <a:pPr lvl="1"/>
            <a:r>
              <a:rPr lang="en-US" b="1" dirty="0"/>
              <a:t>Selection</a:t>
            </a:r>
            <a:r>
              <a:rPr lang="en-US" dirty="0"/>
              <a:t>: Pick the currently best leaf node (e.g., greedy, UCB).</a:t>
            </a:r>
          </a:p>
          <a:p>
            <a:pPr lvl="1"/>
            <a:r>
              <a:rPr lang="en-US" b="1" dirty="0"/>
              <a:t>Expansion</a:t>
            </a:r>
            <a:r>
              <a:rPr lang="en-US" dirty="0"/>
              <a:t>: Add new nodes, but keep the tree small enough.</a:t>
            </a:r>
          </a:p>
          <a:p>
            <a:pPr lvl="1"/>
            <a:r>
              <a:rPr lang="en-US" b="1" dirty="0"/>
              <a:t>Simulation</a:t>
            </a:r>
            <a:r>
              <a:rPr lang="en-US" dirty="0"/>
              <a:t>: From a selected node, simulate complete episode(s). </a:t>
            </a:r>
          </a:p>
          <a:p>
            <a:pPr lvl="1"/>
            <a:r>
              <a:rPr lang="en-US" b="1" dirty="0"/>
              <a:t>Backup</a:t>
            </a:r>
            <a:r>
              <a:rPr lang="en-US" dirty="0"/>
              <a:t>: update the tree with the result of the playout.</a:t>
            </a:r>
          </a:p>
          <a:p>
            <a:endParaRPr lang="en-US" dirty="0"/>
          </a:p>
          <a:p>
            <a:r>
              <a:rPr lang="en-US" b="1" dirty="0"/>
              <a:t>Advantage</a:t>
            </a:r>
            <a:r>
              <a:rPr lang="en-US" dirty="0"/>
              <a:t>: selection steers the simulation towards better trajectories. This avoids approximating the full value function.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/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Stores estimated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values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  <a:blipFill>
                <a:blip r:embed="rId3"/>
                <a:stretch>
                  <a:fillRect b="-4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B5B0257-0AFD-5451-8182-1A7A8976312D}"/>
              </a:ext>
            </a:extLst>
          </p:cNvPr>
          <p:cNvSpPr txBox="1"/>
          <p:nvPr/>
        </p:nvSpPr>
        <p:spPr>
          <a:xfrm>
            <a:off x="783152" y="6176963"/>
            <a:ext cx="10942130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MTCS can be seen as an RL method that selectively approximates q-values useful for choosing good actions.</a:t>
            </a:r>
          </a:p>
        </p:txBody>
      </p:sp>
    </p:spTree>
    <p:extLst>
      <p:ext uri="{BB962C8B-B14F-4D97-AF65-F5344CB8AC3E}">
        <p14:creationId xmlns:p14="http://schemas.microsoft.com/office/powerpoint/2010/main" val="9599140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1012F4-36DF-FD35-6D3C-6566E015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52967B-B41E-CCE0-ED2B-9ED416463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1B6DA-A372-993E-5FE0-1B16BA463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3164" y="2457449"/>
            <a:ext cx="5951765" cy="4261757"/>
          </a:xfrm>
        </p:spPr>
        <p:txBody>
          <a:bodyPr anchor="ctr">
            <a:normAutofit/>
          </a:bodyPr>
          <a:lstStyle/>
          <a:p>
            <a:r>
              <a:rPr lang="en-US" sz="1600" dirty="0"/>
              <a:t>Planning requires a model of the environment. </a:t>
            </a:r>
          </a:p>
          <a:p>
            <a:pPr lvl="1"/>
            <a:r>
              <a:rPr lang="en-US" sz="1600" dirty="0"/>
              <a:t>Distribution model</a:t>
            </a:r>
          </a:p>
          <a:p>
            <a:pPr lvl="1"/>
            <a:r>
              <a:rPr lang="en-US" sz="1600" dirty="0"/>
              <a:t>Sample model</a:t>
            </a:r>
          </a:p>
          <a:p>
            <a:endParaRPr lang="en-US" sz="1600" dirty="0"/>
          </a:p>
          <a:p>
            <a:r>
              <a:rPr lang="en-US" sz="1600" dirty="0"/>
              <a:t>DP requires a distribution model because it uses expected updates.</a:t>
            </a:r>
          </a:p>
          <a:p>
            <a:r>
              <a:rPr lang="en-US" sz="1600" dirty="0"/>
              <a:t>Model-free RL, like TD, can use a sample model to perform sample updates.</a:t>
            </a:r>
          </a:p>
          <a:p>
            <a:r>
              <a:rPr lang="en-US" sz="1600" dirty="0"/>
              <a:t>Decision-time planning can also use a sample model. E.g., rollout algorithms sample trajectories.  </a:t>
            </a:r>
          </a:p>
          <a:p>
            <a:endParaRPr lang="en-US" sz="1600" dirty="0"/>
          </a:p>
          <a:p>
            <a:r>
              <a:rPr lang="en-US" sz="1600" dirty="0"/>
              <a:t>Planning and learning are related: They try to estimate the same value function.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33179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B29DCF-5823-DFE3-76A3-9921453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Part I: </a:t>
            </a:r>
            <a:br>
              <a:rPr lang="en-US" dirty="0"/>
            </a:br>
            <a:r>
              <a:rPr lang="en-US" dirty="0"/>
              <a:t>Tabular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2D5D64-9B74-CBE4-593F-CD0BD612F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184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759B-BFB3-E9E3-B86B-928B804D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B916F-83BD-942C-05F0-07CE48F74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6730093" cy="477963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Estimate a value function.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up along actual or possible state trajectories.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Generalized policy iteration (GPI): maintain an approx. value function and an approx. policy. Each is used to update the other. Converges due to the policy improvement theorem.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034BB89-D9AD-752C-0116-E0F49DEE26E2}"/>
              </a:ext>
            </a:extLst>
          </p:cNvPr>
          <p:cNvGrpSpPr/>
          <p:nvPr/>
        </p:nvGrpSpPr>
        <p:grpSpPr>
          <a:xfrm>
            <a:off x="8329133" y="1064072"/>
            <a:ext cx="2751579" cy="4729856"/>
            <a:chOff x="8329133" y="558128"/>
            <a:chExt cx="2751579" cy="472985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D7366F6-2509-4BE8-74F6-EEAFAB9B3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9133" y="1124198"/>
              <a:ext cx="2751579" cy="416378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51D61-2411-6879-B37C-B7CD2548ECAE}"/>
                </a:ext>
              </a:extLst>
            </p:cNvPr>
            <p:cNvSpPr txBox="1"/>
            <p:nvPr/>
          </p:nvSpPr>
          <p:spPr>
            <a:xfrm>
              <a:off x="8709548" y="558128"/>
              <a:ext cx="16410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GPI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309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2B106-F46F-71F6-E8A8-A93D086D6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Depth vs. Update Width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B6AFE-8E14-4667-7D60-A58A0303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923" y="1210540"/>
            <a:ext cx="5383802" cy="50154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CA57B6F-AFA2-C742-A3A7-F8BFC16F658E}"/>
              </a:ext>
            </a:extLst>
          </p:cNvPr>
          <p:cNvGrpSpPr/>
          <p:nvPr/>
        </p:nvGrpSpPr>
        <p:grpSpPr>
          <a:xfrm>
            <a:off x="623171" y="1537220"/>
            <a:ext cx="2169697" cy="3783559"/>
            <a:chOff x="9600257" y="1526721"/>
            <a:chExt cx="2169697" cy="378355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11F3E45-0A95-EED3-B84E-EEFE207BB62B}"/>
                </a:ext>
              </a:extLst>
            </p:cNvPr>
            <p:cNvSpPr txBox="1"/>
            <p:nvPr/>
          </p:nvSpPr>
          <p:spPr>
            <a:xfrm>
              <a:off x="9658670" y="1526721"/>
              <a:ext cx="20528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One-step methods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7377371-CF2F-F011-0779-F30E76BC4BB4}"/>
                </a:ext>
              </a:extLst>
            </p:cNvPr>
            <p:cNvSpPr txBox="1"/>
            <p:nvPr/>
          </p:nvSpPr>
          <p:spPr>
            <a:xfrm>
              <a:off x="9803742" y="3244334"/>
              <a:ext cx="1762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n-step methods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CB11024-C75F-4F34-33B5-AF6E80BF33E8}"/>
                </a:ext>
              </a:extLst>
            </p:cNvPr>
            <p:cNvSpPr txBox="1"/>
            <p:nvPr/>
          </p:nvSpPr>
          <p:spPr>
            <a:xfrm>
              <a:off x="9600257" y="4940948"/>
              <a:ext cx="2169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Full-return methods</a:t>
              </a:r>
            </a:p>
          </p:txBody>
        </p:sp>
        <p:sp>
          <p:nvSpPr>
            <p:cNvPr id="8" name="Arrow: Down 7">
              <a:extLst>
                <a:ext uri="{FF2B5EF4-FFF2-40B4-BE49-F238E27FC236}">
                  <a16:creationId xmlns:a16="http://schemas.microsoft.com/office/drawing/2014/main" id="{14776485-2079-FEC2-09A9-7017DA2CC2F5}"/>
                </a:ext>
              </a:extLst>
            </p:cNvPr>
            <p:cNvSpPr/>
            <p:nvPr/>
          </p:nvSpPr>
          <p:spPr>
            <a:xfrm>
              <a:off x="10378945" y="2081893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41E61BFF-8CD8-FB08-066F-8BE63D8D46A9}"/>
                </a:ext>
              </a:extLst>
            </p:cNvPr>
            <p:cNvSpPr/>
            <p:nvPr/>
          </p:nvSpPr>
          <p:spPr>
            <a:xfrm>
              <a:off x="10378945" y="3762766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207F5-CAC8-12B2-B67A-66F8D1C74980}"/>
              </a:ext>
            </a:extLst>
          </p:cNvPr>
          <p:cNvGrpSpPr/>
          <p:nvPr/>
        </p:nvGrpSpPr>
        <p:grpSpPr>
          <a:xfrm>
            <a:off x="2938556" y="6161314"/>
            <a:ext cx="5326628" cy="551543"/>
            <a:chOff x="2938556" y="6161314"/>
            <a:chExt cx="5326628" cy="55154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65FAD9-46E0-2ED7-7960-D6D32A45196B}"/>
                </a:ext>
              </a:extLst>
            </p:cNvPr>
            <p:cNvSpPr txBox="1"/>
            <p:nvPr/>
          </p:nvSpPr>
          <p:spPr>
            <a:xfrm>
              <a:off x="2938556" y="6252419"/>
              <a:ext cx="20748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Sampled trajectory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793D0C-B4CF-EC6C-54B8-83A8347068BF}"/>
                </a:ext>
              </a:extLst>
            </p:cNvPr>
            <p:cNvSpPr txBox="1"/>
            <p:nvPr/>
          </p:nvSpPr>
          <p:spPr>
            <a:xfrm>
              <a:off x="6096000" y="6252419"/>
              <a:ext cx="2169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Consider all actions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569A355E-8C8B-CA9F-BE38-4BCBB51D550C}"/>
                </a:ext>
              </a:extLst>
            </p:cNvPr>
            <p:cNvSpPr/>
            <p:nvPr/>
          </p:nvSpPr>
          <p:spPr>
            <a:xfrm>
              <a:off x="5174343" y="6161314"/>
              <a:ext cx="718457" cy="55154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F398DD-AA03-FE12-13CC-F67E547F1FF6}"/>
              </a:ext>
            </a:extLst>
          </p:cNvPr>
          <p:cNvSpPr txBox="1"/>
          <p:nvPr/>
        </p:nvSpPr>
        <p:spPr>
          <a:xfrm>
            <a:off x="9089814" y="2793168"/>
            <a:ext cx="2275530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Each method is located somewhere  in this continuum.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A7752DC-C919-21AB-695A-0B5E14D50DAF}"/>
              </a:ext>
            </a:extLst>
          </p:cNvPr>
          <p:cNvSpPr/>
          <p:nvPr/>
        </p:nvSpPr>
        <p:spPr>
          <a:xfrm>
            <a:off x="5069641" y="4071507"/>
            <a:ext cx="104702" cy="102624"/>
          </a:xfrm>
          <a:prstGeom prst="ellipse">
            <a:avLst/>
          </a:prstGeom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938DCA-3D73-EEA6-5D71-9C1852C94B98}"/>
              </a:ext>
            </a:extLst>
          </p:cNvPr>
          <p:cNvSpPr txBox="1"/>
          <p:nvPr/>
        </p:nvSpPr>
        <p:spPr>
          <a:xfrm>
            <a:off x="5127161" y="3855268"/>
            <a:ext cx="15312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Rollout Algorithms</a:t>
            </a:r>
          </a:p>
        </p:txBody>
      </p:sp>
    </p:spTree>
    <p:extLst>
      <p:ext uri="{BB962C8B-B14F-4D97-AF65-F5344CB8AC3E}">
        <p14:creationId xmlns:p14="http://schemas.microsoft.com/office/powerpoint/2010/main" val="130723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FAD6-8953-D14F-C853-F13F480B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1F75A-ED78-4D7C-E025-9485BB928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On-Policy</a:t>
            </a:r>
            <a:r>
              <a:rPr lang="en-US" dirty="0"/>
              <a:t>: Learn the policy the agent is following.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Off-Policy</a:t>
            </a:r>
            <a:r>
              <a:rPr lang="en-US" dirty="0"/>
              <a:t>: Learn a target policy that is different from the followed behavior policy.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Off-Policy is useful because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Learn optimal policies while exploring</a:t>
            </a:r>
          </a:p>
          <a:p>
            <a:pPr lvl="1"/>
            <a:r>
              <a:rPr lang="en-US" dirty="0"/>
              <a:t>Reuse of data: sample efficiency, offline, and batch RL</a:t>
            </a:r>
          </a:p>
          <a:p>
            <a:pPr lvl="1"/>
            <a:r>
              <a:rPr lang="en-US" dirty="0"/>
              <a:t>Safe learning and exploration</a:t>
            </a:r>
          </a:p>
          <a:p>
            <a:pPr marL="0" indent="0">
              <a:buNone/>
            </a:pPr>
            <a:r>
              <a:rPr lang="en-US" b="1" dirty="0"/>
              <a:t>Off-Policy learning is harder because:</a:t>
            </a:r>
          </a:p>
          <a:p>
            <a:pPr lvl="1"/>
            <a:r>
              <a:rPr lang="en-US" dirty="0"/>
              <a:t>Requires distributional correction: E.g., importance sampling</a:t>
            </a:r>
          </a:p>
          <a:p>
            <a:pPr lvl="1"/>
            <a:r>
              <a:rPr lang="en-US" dirty="0"/>
              <a:t>May suffer from high variance (due to importance sampling)</a:t>
            </a:r>
          </a:p>
          <a:p>
            <a:pPr lvl="1"/>
            <a:r>
              <a:rPr lang="en-US" dirty="0"/>
              <a:t>Instability with non-linear function approximation (deep RL)</a:t>
            </a:r>
          </a:p>
        </p:txBody>
      </p:sp>
    </p:spTree>
    <p:extLst>
      <p:ext uri="{BB962C8B-B14F-4D97-AF65-F5344CB8AC3E}">
        <p14:creationId xmlns:p14="http://schemas.microsoft.com/office/powerpoint/2010/main" val="38689392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C101-39C4-5534-A3ED-9D36AB8B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60D31-9CD5-1596-21BF-AD897227A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Definition of return</a:t>
            </a:r>
            <a:r>
              <a:rPr lang="en-US" dirty="0"/>
              <a:t>: Episodic vs. continuing task; discounted vs. undiscounted.</a:t>
            </a:r>
          </a:p>
          <a:p>
            <a:r>
              <a:rPr lang="en-US" b="1" dirty="0"/>
              <a:t>Action values vs. state values</a:t>
            </a:r>
          </a:p>
          <a:p>
            <a:r>
              <a:rPr lang="en-US" b="1" dirty="0"/>
              <a:t>Exploration vs Exploitation</a:t>
            </a:r>
            <a:r>
              <a:rPr lang="en-US" dirty="0"/>
              <a:t>: This is a trade-off. Many methods need exploration for convergence.</a:t>
            </a:r>
          </a:p>
          <a:p>
            <a:r>
              <a:rPr lang="en-US" b="1" dirty="0"/>
              <a:t>Synchronous vs. Asynchronous</a:t>
            </a:r>
            <a:r>
              <a:rPr lang="en-US" dirty="0"/>
              <a:t>: Are all states updated at once or one by one in some order?</a:t>
            </a:r>
          </a:p>
          <a:p>
            <a:r>
              <a:rPr lang="en-US" b="1" dirty="0"/>
              <a:t>Real vs. Simulated</a:t>
            </a:r>
            <a:r>
              <a:rPr lang="en-US" dirty="0"/>
              <a:t>: Are real experiences, simulations, or both used for updates?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7100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6DFC-1DF7-340A-8A49-67E7A508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Tables need much </a:t>
                </a:r>
                <a:r>
                  <a:rPr lang="en-US" b="1" dirty="0"/>
                  <a:t>space</a:t>
                </a:r>
                <a:r>
                  <a:rPr lang="en-US" dirty="0"/>
                  <a:t>. A complete table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-values has size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dirty="0"/>
                          <m:t> 	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The state space is typically extremely large, or even infinite, in continuous spaces.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We need a lot of </a:t>
                </a:r>
                <a:r>
                  <a:rPr lang="en-US" b="1" dirty="0"/>
                  <a:t>data </a:t>
                </a:r>
                <a:r>
                  <a:rPr lang="en-US" dirty="0"/>
                  <a:t>to estimate all entries.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Two states may be very similar and therefore should have similar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-values. Tabular methods </a:t>
                </a:r>
                <a:r>
                  <a:rPr lang="en-US" b="1" dirty="0"/>
                  <a:t>cannot generalize across states</a:t>
                </a:r>
                <a:r>
                  <a:rPr lang="en-US" dirty="0"/>
                  <a:t>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Next, we will talk about </a:t>
                </a:r>
                <a:r>
                  <a:rPr lang="en-US" b="1" dirty="0"/>
                  <a:t>approximate solution methods </a:t>
                </a:r>
                <a:r>
                  <a:rPr lang="en-US" dirty="0"/>
                  <a:t>to deal with these issues.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962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8834</TotalTime>
  <Words>1844</Words>
  <Application>Microsoft Office PowerPoint</Application>
  <PresentationFormat>Widescreen</PresentationFormat>
  <Paragraphs>216</Paragraphs>
  <Slides>23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Planning and Learning with Tabular Methods Sutton/Barto* Chapter 8</vt:lpstr>
      <vt:lpstr>Topics of this Course</vt:lpstr>
      <vt:lpstr>Summary of Notation</vt:lpstr>
      <vt:lpstr>Planning vs. Learning</vt:lpstr>
      <vt:lpstr>Planning vs. Learning</vt:lpstr>
      <vt:lpstr>What is a Model</vt:lpstr>
      <vt:lpstr>Dyna</vt:lpstr>
      <vt:lpstr>Integrating Planning, Acting, and Learning</vt:lpstr>
      <vt:lpstr>Alg. Tabular Dyna-Q</vt:lpstr>
      <vt:lpstr>The Effect of Planning</vt:lpstr>
      <vt:lpstr>Sampling</vt:lpstr>
      <vt:lpstr>Expected vs. Sample Updates</vt:lpstr>
      <vt:lpstr>Heuristic Search and  Rollout Algorithms</vt:lpstr>
      <vt:lpstr>Option 1: Heuristic Search</vt:lpstr>
      <vt:lpstr>Option 2: Rollout Algorithms</vt:lpstr>
      <vt:lpstr>Rollout Algorithm: Monte Carlo Tree Search</vt:lpstr>
      <vt:lpstr>What you Should Know</vt:lpstr>
      <vt:lpstr>Summary of Part I:  Tabular Solution Methods</vt:lpstr>
      <vt:lpstr>Common Ideas</vt:lpstr>
      <vt:lpstr>Update Depth vs. Update Width</vt:lpstr>
      <vt:lpstr>On-Policy vs. Off-Policy</vt:lpstr>
      <vt:lpstr>Other Dimensions</vt:lpstr>
      <vt:lpstr>Issues with Tabular Methods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168</cp:revision>
  <dcterms:created xsi:type="dcterms:W3CDTF">2025-09-08T14:44:49Z</dcterms:created>
  <dcterms:modified xsi:type="dcterms:W3CDTF">2026-02-06T15:03:07Z</dcterms:modified>
</cp:coreProperties>
</file>