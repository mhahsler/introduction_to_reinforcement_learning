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0" r:id="rId4"/>
    <p:sldId id="393" r:id="rId5"/>
    <p:sldId id="385" r:id="rId6"/>
    <p:sldId id="386" r:id="rId7"/>
    <p:sldId id="392" r:id="rId8"/>
    <p:sldId id="388" r:id="rId9"/>
    <p:sldId id="389" r:id="rId10"/>
    <p:sldId id="390" r:id="rId11"/>
    <p:sldId id="394" r:id="rId12"/>
    <p:sldId id="391" r:id="rId13"/>
    <p:sldId id="396" r:id="rId14"/>
    <p:sldId id="398" r:id="rId15"/>
    <p:sldId id="399" r:id="rId16"/>
    <p:sldId id="400" r:id="rId17"/>
    <p:sldId id="402" r:id="rId18"/>
    <p:sldId id="403" r:id="rId19"/>
    <p:sldId id="404" r:id="rId20"/>
    <p:sldId id="405" r:id="rId21"/>
    <p:sldId id="406" r:id="rId22"/>
    <p:sldId id="407" r:id="rId23"/>
    <p:sldId id="479" r:id="rId24"/>
    <p:sldId id="40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0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79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b="1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788384"/>
            <a:ext cx="10515600" cy="12547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 do the following:</a:t>
            </a:r>
          </a:p>
          <a:p>
            <a:pPr lvl="1"/>
            <a:r>
              <a:rPr lang="en-US" b="1" dirty="0"/>
              <a:t>Policy evaluation </a:t>
            </a:r>
            <a:r>
              <a:rPr lang="en-US" dirty="0"/>
              <a:t>(prediction): Compute a value function/policy.</a:t>
            </a:r>
          </a:p>
          <a:p>
            <a:pPr lvl="1"/>
            <a:r>
              <a:rPr lang="en-US" b="1" dirty="0"/>
              <a:t>Look ahead </a:t>
            </a:r>
            <a:r>
              <a:rPr lang="en-US" dirty="0"/>
              <a:t>to future events (rewards, states, actions) and compute a backed-up value to update an approximate value function.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2F68D9-8E69-A250-D35E-1231A1F5B17C}"/>
              </a:ext>
            </a:extLst>
          </p:cNvPr>
          <p:cNvGrpSpPr/>
          <p:nvPr/>
        </p:nvGrpSpPr>
        <p:grpSpPr>
          <a:xfrm>
            <a:off x="3118262" y="3594779"/>
            <a:ext cx="5758626" cy="806207"/>
            <a:chOff x="3118262" y="3594779"/>
            <a:chExt cx="5758626" cy="8062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675E7B-A0EA-C8F4-0666-CCA5988ACAC1}"/>
                </a:ext>
              </a:extLst>
            </p:cNvPr>
            <p:cNvSpPr txBox="1"/>
            <p:nvPr/>
          </p:nvSpPr>
          <p:spPr>
            <a:xfrm>
              <a:off x="3118262" y="4031654"/>
              <a:ext cx="5758626" cy="3693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+ use the MDP as a simulation model for Model-free RL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347AD2C-46E6-E6D8-9F53-949CED70E983}"/>
                </a:ext>
              </a:extLst>
            </p:cNvPr>
            <p:cNvCxnSpPr/>
            <p:nvPr/>
          </p:nvCxnSpPr>
          <p:spPr>
            <a:xfrm>
              <a:off x="3762302" y="3594779"/>
              <a:ext cx="711976" cy="3839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C91D920-DB4A-1FD1-3DF5-018FDCA5C2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5748" y="3660782"/>
              <a:ext cx="777122" cy="3109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</a:t>
                </a:r>
                <a:r>
                  <a:rPr lang="en-US" b="1" dirty="0"/>
                  <a:t>trajectory sampling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physically represented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slow, expensive or dangerous.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sampled experience directly to </a:t>
                </a:r>
                <a:r>
                  <a:rPr lang="en-US" b="1" dirty="0"/>
                  <a:t>improve the value function/policy</a:t>
                </a:r>
                <a:r>
                  <a:rPr lang="en-US" dirty="0"/>
                  <a:t>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</a:t>
                </a:r>
                <a:r>
                  <a:rPr lang="en-US" b="1" dirty="0"/>
                  <a:t>learn a model</a:t>
                </a:r>
                <a:r>
                  <a:rPr lang="en-US" dirty="0"/>
                  <a:t>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</a:t>
                </a:r>
                <a:r>
                  <a:rPr lang="en-US" b="1" dirty="0"/>
                  <a:t>planning</a:t>
                </a:r>
                <a:r>
                  <a:rPr lang="en-US" dirty="0"/>
                  <a:t>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Model learning and planning makes the approach much more sample efficient. Experience is not just used once but retained in the model.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  <a:blipFill>
                <a:blip r:embed="rId3"/>
                <a:stretch>
                  <a:fillRect l="-1325" t="-2989" r="-1590" b="-2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10270766" cy="3558915"/>
            <a:chOff x="1027761" y="1690688"/>
            <a:chExt cx="12705267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995399" y="3502535"/>
              <a:ext cx="2745523" cy="271041"/>
            </a:xfrm>
            <a:prstGeom prst="wedgeRoundRectCallout">
              <a:avLst>
                <a:gd name="adj1" fmla="val -76395"/>
                <a:gd name="adj2" fmla="val 14344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RL: Q-Learning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33616" y="5066294"/>
              <a:ext cx="4499412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Improve Q using the model (Planning)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/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 learning: learn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  <a:blipFill>
                <a:blip r:embed="rId4"/>
                <a:stretch>
                  <a:fillRect t="-1695" b="-18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Benefit</a:t>
                </a:r>
                <a:r>
                  <a:rPr lang="en-US" dirty="0"/>
                  <a:t>: Adding planning speeds learning by reusing sampled experience.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Planning is a problem if the model is wrong:</a:t>
                </a:r>
              </a:p>
              <a:p>
                <a:pPr lvl="1"/>
                <a:r>
                  <a:rPr lang="en-US" dirty="0"/>
                  <a:t>Based on an insufficient number of samples.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-function approximation is not great.</a:t>
                </a:r>
              </a:p>
              <a:p>
                <a:pPr lvl="1"/>
                <a:r>
                  <a:rPr lang="en-US" dirty="0"/>
                  <a:t>Environment changes.</a:t>
                </a:r>
              </a:p>
              <a:p>
                <a:endParaRPr lang="en-US" dirty="0"/>
              </a:p>
              <a:p>
                <a:r>
                  <a:rPr lang="en-US" dirty="0"/>
                  <a:t>Luckily, Dyna quickly corrects overly optimistic predictions since they will be selected for the next real action in the direct RL step.</a:t>
                </a:r>
              </a:p>
              <a:p>
                <a:endParaRPr lang="en-US" dirty="0"/>
              </a:p>
              <a:p>
                <a:r>
                  <a:rPr lang="en-US" dirty="0"/>
                  <a:t>For changing environments:</a:t>
                </a:r>
              </a:p>
              <a:p>
                <a:pPr lvl="1"/>
                <a:r>
                  <a:rPr lang="en-US" dirty="0"/>
                  <a:t>Keep exploring.</a:t>
                </a:r>
              </a:p>
              <a:p>
                <a:pPr lvl="1"/>
                <a:r>
                  <a:rPr lang="en-US" dirty="0"/>
                  <a:t>Keep track of how out-of-date estimates are. I.e., for how long each action/state combination was not tried.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  <a:blipFill>
                <a:blip r:embed="rId3"/>
                <a:stretch>
                  <a:fillRect l="-651" t="-2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C1666A5B-CCA6-7A12-3D37-72BB0409C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49" y="185109"/>
            <a:ext cx="2597348" cy="205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 Similar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estimation, but it always uses the best and not the observed action.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  <a:blipFill>
                <a:blip r:embed="rId3"/>
                <a:stretch>
                  <a:fillRect l="-1442" t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8214611" y="5561579"/>
            <a:ext cx="3247086" cy="359863"/>
          </a:xfrm>
          <a:prstGeom prst="wedgeRoundRectCallout">
            <a:avLst>
              <a:gd name="adj1" fmla="val 37593"/>
              <a:gd name="adj2" fmla="val -3818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leaf node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248525"/>
            <a:ext cx="781777" cy="27649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901563"/>
            <a:ext cx="2938744" cy="665202"/>
          </a:xfrm>
          <a:prstGeom prst="wedgeRoundRectCallout">
            <a:avLst>
              <a:gd name="adj1" fmla="val -29245"/>
              <a:gd name="adj2" fmla="val 14164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 leasing to largest Q-value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238995" y="6217463"/>
            <a:ext cx="659366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(cut-off) min-max search for games.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/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blipFill>
                <a:blip r:embed="rId4"/>
                <a:stretch>
                  <a:fillRect r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/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blipFill>
                <a:blip r:embed="rId5"/>
                <a:stretch>
                  <a:fillRect r="-6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/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blipFill>
                <a:blip r:embed="rId6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/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blipFill>
                <a:blip r:embed="rId7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/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blipFill>
                <a:blip r:embed="rId8"/>
                <a:stretch>
                  <a:fillRect l="-6061" r="-7575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Monte Carlo Policy Estimation</a:t>
                </a:r>
                <a:r>
                  <a:rPr lang="en-US" dirty="0"/>
                  <a:t>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</a:t>
                </a:r>
                <a:r>
                  <a:rPr lang="en-US" b="1" dirty="0"/>
                  <a:t>rollout policy</a:t>
                </a:r>
                <a:r>
                  <a:rPr lang="en-US" b="0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(i.e., somewhat similar to the optimal policy),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expectation).</a:t>
                </a:r>
              </a:p>
              <a:p>
                <a:r>
                  <a:rPr lang="en-US" b="1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50"/>
            <a:ext cx="5951765" cy="4100748"/>
          </a:xfrm>
        </p:spPr>
        <p:txBody>
          <a:bodyPr anchor="ctr">
            <a:normAutofit lnSpcReduction="10000"/>
          </a:bodyPr>
          <a:lstStyle/>
          <a:p>
            <a:r>
              <a:rPr lang="en-US" sz="1600" dirty="0"/>
              <a:t>We can have different models of the environment. </a:t>
            </a:r>
          </a:p>
          <a:p>
            <a:pPr lvl="1"/>
            <a:r>
              <a:rPr lang="en-US" sz="1600" dirty="0"/>
              <a:t>A full </a:t>
            </a:r>
            <a:r>
              <a:rPr lang="en-US" sz="1600" b="1" dirty="0"/>
              <a:t>distribution model</a:t>
            </a:r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sample model</a:t>
            </a:r>
          </a:p>
          <a:p>
            <a:endParaRPr lang="en-US" sz="1600" dirty="0"/>
          </a:p>
          <a:p>
            <a:pPr lvl="1"/>
            <a:r>
              <a:rPr lang="en-US" sz="1600" dirty="0"/>
              <a:t>DP (planning) requires a distribution model because it uses expected updates.</a:t>
            </a:r>
          </a:p>
          <a:p>
            <a:pPr lvl="1"/>
            <a:r>
              <a:rPr lang="en-US" sz="1600" dirty="0"/>
              <a:t>Model-free RL, like MC and TD, can use a sample model to perform sample updates.</a:t>
            </a:r>
          </a:p>
          <a:p>
            <a:pPr lvl="1"/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 and try to estimate the same value function.</a:t>
            </a:r>
          </a:p>
          <a:p>
            <a:pPr lvl="1"/>
            <a:r>
              <a:rPr lang="en-US" sz="1600" b="1" dirty="0"/>
              <a:t>Learning</a:t>
            </a:r>
            <a:r>
              <a:rPr lang="en-US" sz="1600" dirty="0"/>
              <a:t>: Direct RL directly learns a value function</a:t>
            </a:r>
          </a:p>
          <a:p>
            <a:pPr lvl="1"/>
            <a:r>
              <a:rPr lang="en-US" sz="1600" b="1" dirty="0"/>
              <a:t>Planning</a:t>
            </a:r>
            <a:r>
              <a:rPr lang="en-US" sz="1600" dirty="0"/>
              <a:t>: We learn a model used to estimate the value function.</a:t>
            </a:r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7421380" cy="416378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Policy Evaluation</a:t>
            </a:r>
            <a:r>
              <a:rPr lang="en-US" dirty="0"/>
              <a:t>: Estimate the value function by updates based on </a:t>
            </a:r>
            <a:r>
              <a:rPr lang="en-US" b="1" dirty="0"/>
              <a:t>backing up </a:t>
            </a:r>
            <a:r>
              <a:rPr lang="en-US" dirty="0"/>
              <a:t>values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Generalized policy iteration (GPI): </a:t>
            </a:r>
            <a:r>
              <a:rPr lang="en-US" dirty="0"/>
              <a:t>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Differences</a:t>
            </a:r>
            <a:r>
              <a:rPr lang="en-US" dirty="0"/>
              <a:t>: How to perform policy evaluation.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718878" y="951646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Evaluation: 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320484"/>
            <a:ext cx="2169697" cy="4000295"/>
            <a:chOff x="9600257" y="1309985"/>
            <a:chExt cx="2169697" cy="40002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309985"/>
              <a:ext cx="20528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Depth</a:t>
              </a:r>
            </a:p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306541" y="6100430"/>
            <a:ext cx="6410689" cy="646331"/>
            <a:chOff x="2306541" y="6100430"/>
            <a:chExt cx="6410689" cy="64633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306541" y="6232272"/>
              <a:ext cx="2815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Width</a:t>
              </a:r>
              <a:r>
                <a:rPr lang="en-US" dirty="0"/>
                <a:t>: 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100430"/>
              <a:ext cx="26212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 </a:t>
              </a:r>
              <a:br>
                <a:rPr lang="en-US" dirty="0"/>
              </a:br>
              <a:r>
                <a:rPr lang="en-US" dirty="0"/>
                <a:t>(use expectation or max)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9089814" y="2793168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19C3A0-42FD-212B-5471-F32C75AA54ED}"/>
              </a:ext>
            </a:extLst>
          </p:cNvPr>
          <p:cNvGrpSpPr/>
          <p:nvPr/>
        </p:nvGrpSpPr>
        <p:grpSpPr>
          <a:xfrm>
            <a:off x="5227038" y="4670475"/>
            <a:ext cx="1588797" cy="523220"/>
            <a:chOff x="5069641" y="3855268"/>
            <a:chExt cx="1588797" cy="5232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7752DC-C919-21AB-695A-0B5E14D50DAF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938DCA-3D73-EEA6-5D71-9C1852C94B98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Rollout Algorithms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E74D7B6-C23A-AF2E-4548-1F2E9AF97501}"/>
              </a:ext>
            </a:extLst>
          </p:cNvPr>
          <p:cNvSpPr txBox="1"/>
          <p:nvPr/>
        </p:nvSpPr>
        <p:spPr>
          <a:xfrm>
            <a:off x="4235081" y="1626887"/>
            <a:ext cx="15312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one-step Sarsa,</a:t>
            </a:r>
            <a:br>
              <a:rPr lang="en-US" sz="1400" dirty="0"/>
            </a:br>
            <a:r>
              <a:rPr lang="en-US" sz="1400" dirty="0"/>
              <a:t>Q-Learning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79370B-E9C9-008B-B236-A85F259625FE}"/>
              </a:ext>
            </a:extLst>
          </p:cNvPr>
          <p:cNvSpPr txBox="1"/>
          <p:nvPr/>
        </p:nvSpPr>
        <p:spPr>
          <a:xfrm>
            <a:off x="8438052" y="1580720"/>
            <a:ext cx="2564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 Expected Sarsa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ABC249-B9C3-B83D-2555-FEAEA52E10A6}"/>
              </a:ext>
            </a:extLst>
          </p:cNvPr>
          <p:cNvGrpSpPr/>
          <p:nvPr/>
        </p:nvGrpSpPr>
        <p:grpSpPr>
          <a:xfrm>
            <a:off x="4130378" y="3100944"/>
            <a:ext cx="1583628" cy="307777"/>
            <a:chOff x="4130378" y="3100944"/>
            <a:chExt cx="1583628" cy="307777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FC1DEF-060E-DB48-CC65-B77A6C34CC20}"/>
                </a:ext>
              </a:extLst>
            </p:cNvPr>
            <p:cNvSpPr/>
            <p:nvPr/>
          </p:nvSpPr>
          <p:spPr>
            <a:xfrm>
              <a:off x="4130378" y="3203521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5C0057-A551-8186-D2E1-FC4CE09F09CD}"/>
                </a:ext>
              </a:extLst>
            </p:cNvPr>
            <p:cNvSpPr txBox="1"/>
            <p:nvPr/>
          </p:nvSpPr>
          <p:spPr>
            <a:xfrm>
              <a:off x="4182729" y="3100944"/>
              <a:ext cx="15312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n-step Sarsa</a:t>
              </a:r>
            </a:p>
          </p:txBody>
        </p:sp>
      </p:grpSp>
      <p:sp>
        <p:nvSpPr>
          <p:cNvPr id="24" name="Arrow: Down 23">
            <a:extLst>
              <a:ext uri="{FF2B5EF4-FFF2-40B4-BE49-F238E27FC236}">
                <a16:creationId xmlns:a16="http://schemas.microsoft.com/office/drawing/2014/main" id="{9460DE18-4C9A-6BA3-92A8-156AF432C6B4}"/>
              </a:ext>
            </a:extLst>
          </p:cNvPr>
          <p:cNvSpPr/>
          <p:nvPr/>
        </p:nvSpPr>
        <p:spPr>
          <a:xfrm flipV="1">
            <a:off x="2651452" y="2053157"/>
            <a:ext cx="679509" cy="285209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Bias increases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9F10ED61-9697-A761-C38E-9B0931805EDB}"/>
              </a:ext>
            </a:extLst>
          </p:cNvPr>
          <p:cNvSpPr/>
          <p:nvPr/>
        </p:nvSpPr>
        <p:spPr>
          <a:xfrm flipH="1">
            <a:off x="4369599" y="5513480"/>
            <a:ext cx="2327944" cy="5869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Variance increases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D1DE593-0B34-D530-BE33-148CB1599F39}"/>
              </a:ext>
            </a:extLst>
          </p:cNvPr>
          <p:cNvGrpSpPr/>
          <p:nvPr/>
        </p:nvGrpSpPr>
        <p:grpSpPr>
          <a:xfrm>
            <a:off x="5227038" y="3517291"/>
            <a:ext cx="1588797" cy="523220"/>
            <a:chOff x="5069641" y="3855268"/>
            <a:chExt cx="1588797" cy="52322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F37B31-30DD-6438-F97B-1D7F20C6B9DE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F71844-0FD3-56FF-0936-594357BEDB8D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Heuristic</a:t>
              </a:r>
              <a:br>
                <a:rPr lang="en-US" sz="1400" dirty="0"/>
              </a:br>
              <a:r>
                <a:rPr lang="en-US" sz="1400" dirty="0"/>
                <a:t>Search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  <p:bldP spid="19" grpId="0"/>
      <p:bldP spid="24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Evaluate or learn a policy that is used to sample data.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Evaluate or learn a target policy different from the behavior policy.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Learn optimal policies </a:t>
            </a:r>
            <a:r>
              <a:rPr lang="en-US" dirty="0"/>
              <a:t>while using exploring behavior.</a:t>
            </a:r>
          </a:p>
          <a:p>
            <a:pPr lvl="1"/>
            <a:r>
              <a:rPr lang="en-US" b="1" dirty="0"/>
              <a:t>Reuse of data is possible</a:t>
            </a:r>
            <a:r>
              <a:rPr lang="en-US" dirty="0"/>
              <a:t>: offline, and batch RL on existing training data leads to better sample efficiency.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b="1" dirty="0"/>
              <a:t>Requires distributional correction</a:t>
            </a:r>
            <a:r>
              <a:rPr lang="en-US" dirty="0"/>
              <a:t>: E.g., importance sampling which is not able to use all data when the behavioral policy is very different from the target policy.</a:t>
            </a:r>
          </a:p>
          <a:p>
            <a:pPr lvl="1"/>
            <a:r>
              <a:rPr lang="en-US" dirty="0"/>
              <a:t>May suffer from </a:t>
            </a:r>
            <a:r>
              <a:rPr lang="en-US" b="1" dirty="0"/>
              <a:t>high variance </a:t>
            </a:r>
            <a:r>
              <a:rPr lang="en-US" dirty="0"/>
              <a:t>caused by importance sampling.</a:t>
            </a:r>
          </a:p>
          <a:p>
            <a:pPr lvl="1"/>
            <a:r>
              <a:rPr lang="en-US" b="1" dirty="0"/>
              <a:t>Instability with non-linear function approximation: </a:t>
            </a:r>
            <a:r>
              <a:rPr lang="en-US" dirty="0"/>
              <a:t>This is a major issue for deep RL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Definition of return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Episodic vs. continuing task</a:t>
                </a:r>
              </a:p>
              <a:p>
                <a:pPr lvl="1"/>
                <a:r>
                  <a:rPr lang="en-US" dirty="0"/>
                  <a:t>Discounted vs. undiscounted</a:t>
                </a:r>
              </a:p>
              <a:p>
                <a:endParaRPr lang="en-US" b="1" dirty="0"/>
              </a:p>
              <a:p>
                <a:r>
                  <a:rPr lang="en-US" b="1" dirty="0"/>
                  <a:t>Action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1" dirty="0"/>
                  <a:t> vs. state </a:t>
                </a:r>
                <a:r>
                  <a:rPr lang="en-US" b="1" dirty="0" err="1"/>
                  <a:t>values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Exploration vs. exploitation</a:t>
                </a:r>
                <a:r>
                  <a:rPr lang="en-US" dirty="0"/>
                  <a:t>: This is a trade-off. Many methods need exploration (covering behavior policies) for convergence. This is related to on s. off-policy learning.</a:t>
                </a:r>
              </a:p>
              <a:p>
                <a:endParaRPr lang="en-US" b="1" dirty="0"/>
              </a:p>
              <a:p>
                <a:r>
                  <a:rPr lang="en-US" b="1" dirty="0"/>
                  <a:t>Synchronous vs. asynchronous updates</a:t>
                </a:r>
                <a:r>
                  <a:rPr lang="en-US" dirty="0"/>
                  <a:t>: Are all states updated at once or one by one in some order?</a:t>
                </a:r>
              </a:p>
              <a:p>
                <a:endParaRPr lang="en-US" b="1" dirty="0"/>
              </a:p>
              <a:p>
                <a:r>
                  <a:rPr lang="en-US" b="1" dirty="0"/>
                  <a:t>Real vs. simulated experience</a:t>
                </a:r>
                <a:r>
                  <a:rPr lang="en-US" dirty="0"/>
                  <a:t>: Are real experiences, simulations, or both used for updates?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D7FF-0D60-8343-A797-3671E686E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 With Reflex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9333-8620-3B90-7232-099721165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252148" cy="4779633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Tabular methods create a policy that defines the action for each state.</a:t>
            </a:r>
          </a:p>
          <a:p>
            <a:r>
              <a:rPr lang="en-US" dirty="0"/>
              <a:t>We can implement this policy by a set of rules, one for each state.</a:t>
            </a:r>
          </a:p>
          <a:p>
            <a:r>
              <a:rPr lang="en-US" dirty="0"/>
              <a:t>The agent is </a:t>
            </a:r>
            <a:r>
              <a:rPr lang="en-US" b="1" dirty="0"/>
              <a:t>learning</a:t>
            </a:r>
            <a:r>
              <a:rPr lang="en-US" dirty="0"/>
              <a:t> because it improves the policy over time.</a:t>
            </a:r>
          </a:p>
          <a:p>
            <a:r>
              <a:rPr lang="en-US" dirty="0"/>
              <a:t>For episodic tasks, tabular RL implements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reflex agent.</a:t>
            </a:r>
          </a:p>
          <a:p>
            <a:r>
              <a:rPr lang="en-US" dirty="0"/>
              <a:t>For continuous tasks, where the rewards express utility, we get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utility-based agent</a:t>
            </a:r>
            <a:r>
              <a:rPr lang="en-US" dirty="0"/>
              <a:t>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Cases: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Fully observable case:</a:t>
            </a:r>
          </a:p>
          <a:p>
            <a:pPr lvl="1"/>
            <a:r>
              <a:rPr lang="en-US" dirty="0"/>
              <a:t>DP uses the MDP for </a:t>
            </a:r>
            <a:r>
              <a:rPr lang="en-US" b="1" dirty="0"/>
              <a:t>planning</a:t>
            </a:r>
            <a:r>
              <a:rPr lang="en-US" dirty="0"/>
              <a:t> to create the optimal simple reflex agent.</a:t>
            </a:r>
          </a:p>
          <a:p>
            <a:pPr lvl="1"/>
            <a:r>
              <a:rPr lang="en-US" dirty="0"/>
              <a:t>Model-free RL </a:t>
            </a:r>
            <a:r>
              <a:rPr lang="en-US" b="1" dirty="0"/>
              <a:t>learns</a:t>
            </a:r>
            <a:r>
              <a:rPr lang="en-US" dirty="0"/>
              <a:t> a simple reflex agent.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Partially observable case</a:t>
            </a:r>
            <a:r>
              <a:rPr lang="en-US" dirty="0"/>
              <a:t>: The agent constantly updates its agent state to approximate the environment state. The agent stores the agent state and uses it to decide on actions. It learns a </a:t>
            </a:r>
            <a:r>
              <a:rPr lang="en-US" b="1" dirty="0"/>
              <a:t>model-based reflex agent.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8640CF-BEAF-75A2-FCE5-1B24B83B017E}"/>
              </a:ext>
            </a:extLst>
          </p:cNvPr>
          <p:cNvGrpSpPr/>
          <p:nvPr/>
        </p:nvGrpSpPr>
        <p:grpSpPr>
          <a:xfrm>
            <a:off x="7009998" y="1397330"/>
            <a:ext cx="4712275" cy="4015134"/>
            <a:chOff x="7009998" y="1397330"/>
            <a:chExt cx="4712275" cy="4015134"/>
          </a:xfrm>
        </p:grpSpPr>
        <p:pic>
          <p:nvPicPr>
            <p:cNvPr id="4" name="Picture 3" descr="A figure showing that a learning agent adds a critic component, a learning element and a problem generator to the agent design.">
              <a:extLst>
                <a:ext uri="{FF2B5EF4-FFF2-40B4-BE49-F238E27FC236}">
                  <a16:creationId xmlns:a16="http://schemas.microsoft.com/office/drawing/2014/main" id="{05C53980-2E3E-DE8E-EA48-72A467EC0A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17457" y="2265575"/>
              <a:ext cx="4104816" cy="283169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1BA4D4-3742-5A38-083A-C33F0C5E6303}"/>
                </a:ext>
              </a:extLst>
            </p:cNvPr>
            <p:cNvSpPr txBox="1"/>
            <p:nvPr/>
          </p:nvSpPr>
          <p:spPr>
            <a:xfrm>
              <a:off x="8190166" y="1397330"/>
              <a:ext cx="24160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Model-free RL as</a:t>
              </a:r>
              <a:br>
                <a:rPr lang="en-US" b="1" dirty="0"/>
              </a:br>
              <a:r>
                <a:rPr lang="en-US" b="1" dirty="0"/>
                <a:t> A Learning Agent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34C613-BC3B-EC8F-625C-71F00396A41C}"/>
                </a:ext>
              </a:extLst>
            </p:cNvPr>
            <p:cNvSpPr txBox="1"/>
            <p:nvPr/>
          </p:nvSpPr>
          <p:spPr>
            <a:xfrm>
              <a:off x="7524925" y="5135465"/>
              <a:ext cx="41973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Source: Artificial Intelligence: A Modern Approach, Chapter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4E5284-07B1-796A-FB24-F08E93A0FA77}"/>
                </a:ext>
              </a:extLst>
            </p:cNvPr>
            <p:cNvSpPr txBox="1"/>
            <p:nvPr/>
          </p:nvSpPr>
          <p:spPr>
            <a:xfrm>
              <a:off x="8579825" y="2982110"/>
              <a:ext cx="8863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E.g., </a:t>
              </a:r>
              <a:br>
                <a:rPr lang="en-US" sz="1400" b="1" dirty="0">
                  <a:solidFill>
                    <a:schemeClr val="accent3"/>
                  </a:solidFill>
                </a:rPr>
              </a:br>
              <a:r>
                <a:rPr lang="en-US" sz="1400" b="1" dirty="0">
                  <a:solidFill>
                    <a:schemeClr val="accent3"/>
                  </a:solidFill>
                </a:rPr>
                <a:t>TD error</a:t>
              </a:r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1F1274E2-37F3-8CF3-654F-938B43186448}"/>
                </a:ext>
              </a:extLst>
            </p:cNvPr>
            <p:cNvSpPr/>
            <p:nvPr/>
          </p:nvSpPr>
          <p:spPr>
            <a:xfrm>
              <a:off x="10298852" y="3243720"/>
              <a:ext cx="750728" cy="251537"/>
            </a:xfrm>
            <a:prstGeom prst="wedgeRoundRectCallout">
              <a:avLst>
                <a:gd name="adj1" fmla="val -34810"/>
                <a:gd name="adj2" fmla="val 10421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policy</a:t>
              </a:r>
            </a:p>
          </p:txBody>
        </p:sp>
        <p:sp>
          <p:nvSpPr>
            <p:cNvPr id="14" name="Speech Bubble: Rectangle with Corners Rounded 13">
              <a:extLst>
                <a:ext uri="{FF2B5EF4-FFF2-40B4-BE49-F238E27FC236}">
                  <a16:creationId xmlns:a16="http://schemas.microsoft.com/office/drawing/2014/main" id="{E4C0C03E-F032-E997-1EFB-5027E8BCCECE}"/>
                </a:ext>
              </a:extLst>
            </p:cNvPr>
            <p:cNvSpPr/>
            <p:nvPr/>
          </p:nvSpPr>
          <p:spPr>
            <a:xfrm>
              <a:off x="9398181" y="2146936"/>
              <a:ext cx="1651399" cy="266841"/>
            </a:xfrm>
            <a:prstGeom prst="wedgeRoundRectCallout">
              <a:avLst>
                <a:gd name="adj1" fmla="val -60680"/>
                <a:gd name="adj2" fmla="val 31187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Expected return</a:t>
              </a:r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21CB411E-164D-2FED-70AE-F42BEED7AEE3}"/>
                </a:ext>
              </a:extLst>
            </p:cNvPr>
            <p:cNvSpPr/>
            <p:nvPr/>
          </p:nvSpPr>
          <p:spPr>
            <a:xfrm>
              <a:off x="7009998" y="3843711"/>
              <a:ext cx="1122387" cy="421489"/>
            </a:xfrm>
            <a:prstGeom prst="wedgeRoundRectCallout">
              <a:avLst>
                <a:gd name="adj1" fmla="val 66862"/>
                <a:gd name="adj2" fmla="val -70173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Update value </a:t>
              </a:r>
              <a:r>
                <a:rPr lang="en-US" sz="1400" dirty="0" err="1"/>
                <a:t>func</a:t>
              </a:r>
              <a:r>
                <a:rPr lang="en-US" sz="1400" dirty="0"/>
                <a:t>.</a:t>
              </a:r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743276A6-B236-4944-FAFA-86936D5013EA}"/>
                </a:ext>
              </a:extLst>
            </p:cNvPr>
            <p:cNvSpPr/>
            <p:nvPr/>
          </p:nvSpPr>
          <p:spPr>
            <a:xfrm>
              <a:off x="7009998" y="4303395"/>
              <a:ext cx="1122387" cy="421489"/>
            </a:xfrm>
            <a:prstGeom prst="wedgeRoundRectCallout">
              <a:avLst>
                <a:gd name="adj1" fmla="val 68197"/>
                <a:gd name="adj2" fmla="val 95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Exploring behavior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20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a lot of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 since each table entry is independent. We </a:t>
                </a:r>
                <a:r>
                  <a:rPr lang="en-US" b="1" dirty="0"/>
                  <a:t>need a lot of data </a:t>
                </a:r>
                <a:r>
                  <a:rPr lang="en-US" dirty="0"/>
                  <a:t>to estimate all entries.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In the next part of this course,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9066</TotalTime>
  <Words>2288</Words>
  <Application>Microsoft Office PowerPoint</Application>
  <PresentationFormat>Widescreen</PresentationFormat>
  <Paragraphs>261</Paragraphs>
  <Slides>24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Topics of this Course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Policy Evaluation: Update Depth vs. Update Width</vt:lpstr>
      <vt:lpstr>On-Policy vs. Off-Policy</vt:lpstr>
      <vt:lpstr>Other Dimensions</vt:lpstr>
      <vt:lpstr>Relationship With Reflex Agents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174</cp:revision>
  <dcterms:created xsi:type="dcterms:W3CDTF">2025-09-08T14:44:49Z</dcterms:created>
  <dcterms:modified xsi:type="dcterms:W3CDTF">2026-03-04T16:43:05Z</dcterms:modified>
</cp:coreProperties>
</file>