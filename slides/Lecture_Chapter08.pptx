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313" r:id="rId3"/>
    <p:sldId id="480" r:id="rId4"/>
    <p:sldId id="393" r:id="rId5"/>
    <p:sldId id="385" r:id="rId6"/>
    <p:sldId id="386" r:id="rId7"/>
    <p:sldId id="392" r:id="rId8"/>
    <p:sldId id="388" r:id="rId9"/>
    <p:sldId id="389" r:id="rId10"/>
    <p:sldId id="390" r:id="rId11"/>
    <p:sldId id="394" r:id="rId12"/>
    <p:sldId id="391" r:id="rId13"/>
    <p:sldId id="396" r:id="rId14"/>
    <p:sldId id="398" r:id="rId15"/>
    <p:sldId id="399" r:id="rId16"/>
    <p:sldId id="400" r:id="rId17"/>
    <p:sldId id="402" r:id="rId18"/>
    <p:sldId id="403" r:id="rId19"/>
    <p:sldId id="404" r:id="rId20"/>
    <p:sldId id="405" r:id="rId21"/>
    <p:sldId id="406" r:id="rId22"/>
    <p:sldId id="407" r:id="rId23"/>
    <p:sldId id="479" r:id="rId24"/>
    <p:sldId id="408" r:id="rId2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Default Section" id="{83286E67-F0F0-421C-8F74-7B93ABA17FBF}">
          <p14:sldIdLst>
            <p14:sldId id="256"/>
            <p14:sldId id="313"/>
            <p14:sldId id="480"/>
          </p14:sldIdLst>
        </p14:section>
        <p14:section name="Introduction" id="{175B7E81-9252-44C4-987D-BA1F14A88A5B}">
          <p14:sldIdLst>
            <p14:sldId id="393"/>
            <p14:sldId id="385"/>
            <p14:sldId id="386"/>
          </p14:sldIdLst>
        </p14:section>
        <p14:section name="Dyna" id="{75F464EC-0F8E-4CC2-8476-91103851FE06}">
          <p14:sldIdLst>
            <p14:sldId id="392"/>
            <p14:sldId id="388"/>
            <p14:sldId id="389"/>
            <p14:sldId id="390"/>
          </p14:sldIdLst>
        </p14:section>
        <p14:section name="Sampling" id="{9D014FB2-5D5A-464A-8C19-F3F7FC3F9627}">
          <p14:sldIdLst>
            <p14:sldId id="394"/>
            <p14:sldId id="391"/>
            <p14:sldId id="396"/>
            <p14:sldId id="398"/>
            <p14:sldId id="399"/>
            <p14:sldId id="400"/>
            <p14:sldId id="402"/>
          </p14:sldIdLst>
        </p14:section>
        <p14:section name="Summary of Tabular Solution Methods" id="{F4B514AC-6B74-4B49-94E0-2924F11DBE14}">
          <p14:sldIdLst>
            <p14:sldId id="403"/>
            <p14:sldId id="404"/>
            <p14:sldId id="405"/>
            <p14:sldId id="406"/>
            <p14:sldId id="407"/>
            <p14:sldId id="479"/>
            <p14:sldId id="408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4599F94E-CEE6-441E-89CC-EB005ECD8F06}">
      <a14:m xmlns:a14="http://schemas.microsoft.com/office/drawing/2010/main">
        <m:mathPr xmlns:m="http://schemas.openxmlformats.org/officeDocument/2006/math">
          <m:brkBin m:val="before"/>
          <m:brkBinSub m:val="--"/>
        </m:mathPr>
      </a14:m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3923" autoAdjust="0"/>
    <p:restoredTop sz="94660"/>
  </p:normalViewPr>
  <p:slideViewPr>
    <p:cSldViewPr snapToGrid="0">
      <p:cViewPr varScale="1">
        <p:scale>
          <a:sx n="128" d="100"/>
          <a:sy n="128" d="100"/>
        </p:scale>
        <p:origin x="88" y="616"/>
      </p:cViewPr>
      <p:guideLst/>
    </p:cSldViewPr>
  </p:slideViewPr>
  <p:notesTextViewPr>
    <p:cViewPr>
      <p:scale>
        <a:sx n="3" d="2"/>
        <a:sy n="3" d="2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D8D5558-2701-D852-1A01-0BF39B58DEE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0E150F4-19D6-3927-AF4C-79938CACB9B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A1C3DC3-6BE4-4AD5-BF83-83DBE6741D3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3/30/2026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BCD0FF9-FEE5-7DEA-F2A0-04CD3C8E9FC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FBCCB2C-BF64-0CEB-C138-EC1E0FF1796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7738029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B3EA809-C199-A2CA-4B62-C11FD83604C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759072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9ABD398-BC57-413F-4426-6AE62DCF0FF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97330"/>
            <a:ext cx="10515600" cy="4779633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F009A95-DE70-5583-0BB6-25CA049AFAD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3/30/2026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22F8C87-113F-3949-D291-E8101A072BA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968CBE1-6776-590E-6A36-B274F6F6168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2716524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137B990-0C44-FE72-89C1-7BAFB2C892A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1BF51AA-25F1-19ED-49F4-909710D8F4A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86F3394-E947-7BBC-4B4E-FC222CF9E35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3/30/2026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0090F51-989A-F265-1B59-526B06EC070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A96400B-F255-95CF-8BD8-3D8AE595A2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5833765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10DC8DE-D8D3-04F9-7952-B3C9B444DE1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05C6199-C068-6A1D-B9C6-37C04A922F65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CB26636-1E6C-5A66-DCE9-40F0239C9A0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485DEA3-FC5C-77B6-8AEC-BF4A26C7605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3/30/2026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0A2BAE8-516B-EE07-0EF8-4E37D353BE3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F1D7F8D-0B8A-CA54-C5D1-DAFB9A2172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0953588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37762D-C67C-6FB4-D8AF-A2AEADD0B2F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66F3E59-5CAF-AE52-066A-662EAF232F9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8294A81-151A-F8B5-9A7D-43577F3F693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CBDED1E-7743-9D82-5A8F-215AF2DB838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D3E3FED4-7E43-512F-BDC2-AB5A6F6A961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0CE71D6A-F625-133A-E751-2B967B94A66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3/30/2026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33256629-E601-1BA5-526C-36960EEBE0E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E665DDDF-B6D4-29FB-6B7F-C7017B4EAB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9571708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B42B25A-3F20-51F4-D136-F73B176833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EFF8609-CAA0-6678-FCA9-C0252974D7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3/30/2026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911A081-E4EB-7E96-A0AA-2E4D4909983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DD0AC27-1467-337C-D636-190385E397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5731793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EC8C3DB-E47E-C122-D7BD-AAAC105B291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3/30/2026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12194795-A7C6-B915-9849-6DDF9E5561D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ABBD6E5-D6AC-7828-B9FA-162561BDB7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8758747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0CDDA5E-FB2F-65E3-9AC6-77E9E333A26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EF88CA7-EDCF-7BC9-0D50-5F550487A70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7F96387-78E1-111C-2860-3620802599F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8A170FC-BF4D-52B4-3D96-975E35B67EE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3/30/2026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3EB24C2-CDEC-1D6D-42DB-F885EAF6C23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9ACA044-7F46-1F0F-A966-A66706F2D1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4319248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B692354-EE3F-C81F-2C98-42CA24F0424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6B37B54A-0E38-1C0F-EA90-8D9A628CC2C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2DF9108-1890-E2BF-7EA2-A2F28DEA6C3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D668F02-6193-91DC-69E0-6CC09A2476E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3/30/2026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534B642-5606-ACB8-4ADF-6DDE8BE4B5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F89560E-8858-1CED-6B2E-1EF0F58F2F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9475709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65BA8BF-0F66-F00E-4527-03CBDE1E6F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548F7C1-32BC-0F71-0130-0DFB9C183A5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C59C7E0-3252-37DB-73A7-7F070748FFE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3/30/2026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676C5EE-EAD9-8D18-3741-930600D3BDD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05647D8-342D-AED5-3763-DD02F7C2A4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5084422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9DD0B639-7A1F-68FA-45DD-3196E2CB572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CF4F1BB-B40D-E6E4-111B-122348C261F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C52DAFD-560D-9508-6F31-281EC974361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3/30/2026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90C6320-E161-CE4A-CBDD-27072D2A15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04C3E81-2AD2-5FBE-B6F5-1512F3AF97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7058002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CC946CF1-7E31-D1FD-63E0-29688510ED5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5499997-F7F8-3FB5-F294-092654769C9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2FEC26E-B485-AE94-5C91-D0E504CEB56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E22BF2E-04DA-469E-97C5-BB68A0368813}" type="datetimeFigureOut">
              <a:rPr lang="en-US" smtClean="0"/>
              <a:t>3/30/2026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A3ECD47-D4F5-A47B-6CA1-E8E47C1C43B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9C8C2B9-7B85-792D-492E-EE9D50875A0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5873914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hyperlink" Target="https://creativecommons.org/licenses/by-nc-sa/4.0/" TargetMode="External"/><Relationship Id="rId7" Type="http://schemas.openxmlformats.org/officeDocument/2006/relationships/image" Target="../media/image5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0.png"/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51.png"/><Relationship Id="rId4" Type="http://schemas.openxmlformats.org/officeDocument/2006/relationships/image" Target="../media/image30.png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0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9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.png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0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9.png"/><Relationship Id="rId3" Type="http://schemas.openxmlformats.org/officeDocument/2006/relationships/image" Target="../media/image14.png"/><Relationship Id="rId7" Type="http://schemas.openxmlformats.org/officeDocument/2006/relationships/image" Target="../media/image18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7.png"/><Relationship Id="rId5" Type="http://schemas.openxmlformats.org/officeDocument/2006/relationships/image" Target="../media/image16.png"/><Relationship Id="rId4" Type="http://schemas.openxmlformats.org/officeDocument/2006/relationships/image" Target="../media/image15.png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0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0671A8AE-40A1-4631-A6B8-581AFF06548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72B02EEF-8413-288E-566D-063A066A6CB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5377" r="23298" b="3714"/>
          <a:stretch>
            <a:fillRect/>
          </a:stretch>
        </p:blipFill>
        <p:spPr bwMode="auto">
          <a:xfrm>
            <a:off x="3523485" y="0"/>
            <a:ext cx="8668512" cy="685799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2" name="Rectangle 11">
            <a:extLst>
              <a:ext uri="{FF2B5EF4-FFF2-40B4-BE49-F238E27FC236}">
                <a16:creationId xmlns:a16="http://schemas.microsoft.com/office/drawing/2014/main" id="{AB58EF07-17C2-48CF-ABB0-EEF1F17CB8F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" y="0"/>
            <a:ext cx="9339206" cy="6858000"/>
          </a:xfrm>
          <a:prstGeom prst="rect">
            <a:avLst/>
          </a:prstGeom>
          <a:gradFill>
            <a:gsLst>
              <a:gs pos="58000">
                <a:schemeClr val="tx1"/>
              </a:gs>
              <a:gs pos="33000">
                <a:schemeClr val="tx1">
                  <a:alpha val="64000"/>
                </a:schemeClr>
              </a:gs>
              <a:gs pos="0">
                <a:schemeClr val="tx1">
                  <a:alpha val="0"/>
                </a:schemeClr>
              </a:gs>
              <a:gs pos="100000">
                <a:schemeClr val="tx1"/>
              </a:gs>
            </a:gsLst>
            <a:lin ang="10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51EE42B-57B4-EB74-A37C-6675858E7D2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77981" y="1122363"/>
            <a:ext cx="4463968" cy="3204134"/>
          </a:xfrm>
        </p:spPr>
        <p:txBody>
          <a:bodyPr anchor="b">
            <a:noAutofit/>
          </a:bodyPr>
          <a:lstStyle/>
          <a:p>
            <a:pPr algn="l"/>
            <a:r>
              <a:rPr lang="en-US" sz="3600" dirty="0">
                <a:solidFill>
                  <a:schemeClr val="bg1"/>
                </a:solidFill>
              </a:rPr>
              <a:t>Reinforcement Learning</a:t>
            </a:r>
            <a:br>
              <a:rPr lang="en-US" sz="3600" dirty="0">
                <a:solidFill>
                  <a:schemeClr val="bg1"/>
                </a:solidFill>
              </a:rPr>
            </a:br>
            <a:br>
              <a:rPr lang="en-US" sz="3600" dirty="0">
                <a:solidFill>
                  <a:schemeClr val="bg1"/>
                </a:solidFill>
              </a:rPr>
            </a:br>
            <a:r>
              <a:rPr lang="en-US" sz="3600" dirty="0">
                <a:solidFill>
                  <a:schemeClr val="bg1"/>
                </a:solidFill>
              </a:rPr>
              <a:t>Planning and Learning with Tabular Methods</a:t>
            </a:r>
            <a:br>
              <a:rPr lang="en-US" sz="2800" dirty="0">
                <a:solidFill>
                  <a:schemeClr val="bg1"/>
                </a:solidFill>
              </a:rPr>
            </a:br>
            <a:r>
              <a:rPr lang="en-US" sz="2000" dirty="0">
                <a:solidFill>
                  <a:schemeClr val="bg1"/>
                </a:solidFill>
              </a:rPr>
              <a:t>Sutton/Barto*</a:t>
            </a:r>
            <a:r>
              <a:rPr lang="en-US" sz="1800" dirty="0">
                <a:solidFill>
                  <a:schemeClr val="bg1"/>
                </a:solidFill>
              </a:rPr>
              <a:t> Chapter 8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FFF10C2-8C10-0E89-D285-D614C36EEE6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477982" y="4868822"/>
            <a:ext cx="4169519" cy="1443894"/>
          </a:xfrm>
        </p:spPr>
        <p:txBody>
          <a:bodyPr>
            <a:normAutofit fontScale="92500"/>
          </a:bodyPr>
          <a:lstStyle/>
          <a:p>
            <a:pPr algn="l"/>
            <a:r>
              <a:rPr lang="en-US" sz="1700" dirty="0">
                <a:solidFill>
                  <a:schemeClr val="bg1"/>
                </a:solidFill>
              </a:rPr>
              <a:t>Michael Hahsler, SMU</a:t>
            </a:r>
          </a:p>
          <a:p>
            <a:pPr algn="l"/>
            <a:r>
              <a:rPr lang="en-US" sz="1300" dirty="0">
                <a:solidFill>
                  <a:schemeClr val="bg1"/>
                </a:solidFill>
              </a:rPr>
              <a:t>With figures from Sutton/Barto*</a:t>
            </a:r>
          </a:p>
          <a:p>
            <a:pPr algn="l"/>
            <a:endParaRPr lang="en-US" sz="1300" dirty="0">
              <a:solidFill>
                <a:schemeClr val="bg1"/>
              </a:solidFill>
            </a:endParaRPr>
          </a:p>
          <a:p>
            <a:pPr algn="l"/>
            <a:r>
              <a:rPr lang="en-US" sz="1300" dirty="0">
                <a:solidFill>
                  <a:schemeClr val="bg1"/>
                </a:solidFill>
              </a:rPr>
              <a:t>*Sutton and Barto, Reinforcement Learning: An Introduction, 2</a:t>
            </a:r>
            <a:r>
              <a:rPr lang="en-US" sz="1300" baseline="30000" dirty="0">
                <a:solidFill>
                  <a:schemeClr val="bg1"/>
                </a:solidFill>
              </a:rPr>
              <a:t>nd</a:t>
            </a:r>
            <a:r>
              <a:rPr lang="en-US" sz="1300" dirty="0">
                <a:solidFill>
                  <a:schemeClr val="bg1"/>
                </a:solidFill>
              </a:rPr>
              <a:t> edition, MIT Press, Cambridge, MA, 2018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AF2F604E-43BE-4DC3-B983-E071523364F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759921" y="346791"/>
            <a:ext cx="146304" cy="704088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08C9B587-E65E-4B52-B37C-ABEBB6E8792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81029" y="4546920"/>
            <a:ext cx="3977640" cy="18288"/>
          </a:xfrm>
          <a:prstGeom prst="rect">
            <a:avLst/>
          </a:prstGeom>
          <a:solidFill>
            <a:schemeClr val="tx1"/>
          </a:solidFill>
          <a:ln w="31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4" name="object 23">
            <a:hlinkClick r:id="rId3"/>
            <a:extLst>
              <a:ext uri="{FF2B5EF4-FFF2-40B4-BE49-F238E27FC236}">
                <a16:creationId xmlns:a16="http://schemas.microsoft.com/office/drawing/2014/main" id="{3CBD6548-3D4E-9A40-CA35-355261D4E92C}"/>
              </a:ext>
            </a:extLst>
          </p:cNvPr>
          <p:cNvPicPr/>
          <p:nvPr/>
        </p:nvPicPr>
        <p:blipFill>
          <a:blip r:embed="rId4" cstate="print"/>
          <a:stretch>
            <a:fillRect/>
          </a:stretch>
        </p:blipFill>
        <p:spPr>
          <a:xfrm>
            <a:off x="10961016" y="6265038"/>
            <a:ext cx="1037459" cy="383579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8AD28C7D-14A3-CFEB-3DEC-2E01272844F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57741" y="125210"/>
            <a:ext cx="4182403" cy="100094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7" name="Group 6">
            <a:extLst>
              <a:ext uri="{FF2B5EF4-FFF2-40B4-BE49-F238E27FC236}">
                <a16:creationId xmlns:a16="http://schemas.microsoft.com/office/drawing/2014/main" id="{DA1C6744-BD97-2C10-F393-A0B726F71E7A}"/>
              </a:ext>
            </a:extLst>
          </p:cNvPr>
          <p:cNvGrpSpPr/>
          <p:nvPr/>
        </p:nvGrpSpPr>
        <p:grpSpPr>
          <a:xfrm>
            <a:off x="10961015" y="4868822"/>
            <a:ext cx="1037459" cy="1303078"/>
            <a:chOff x="5248582" y="2401735"/>
            <a:chExt cx="1694835" cy="2054530"/>
          </a:xfrm>
        </p:grpSpPr>
        <p:pic>
          <p:nvPicPr>
            <p:cNvPr id="8" name="Picture 7">
              <a:extLst>
                <a:ext uri="{FF2B5EF4-FFF2-40B4-BE49-F238E27FC236}">
                  <a16:creationId xmlns:a16="http://schemas.microsoft.com/office/drawing/2014/main" id="{2F5FC233-1ACF-0EE9-5B1F-F0A29270EECF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5248582" y="2401735"/>
              <a:ext cx="1694835" cy="2054530"/>
            </a:xfrm>
            <a:prstGeom prst="rect">
              <a:avLst/>
            </a:prstGeom>
          </p:spPr>
        </p:pic>
        <p:pic>
          <p:nvPicPr>
            <p:cNvPr id="9" name="Picture 8">
              <a:extLst>
                <a:ext uri="{FF2B5EF4-FFF2-40B4-BE49-F238E27FC236}">
                  <a16:creationId xmlns:a16="http://schemas.microsoft.com/office/drawing/2014/main" id="{26CB3135-CE78-1137-FBA3-29AA8592D8FA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5315643" y="2435129"/>
              <a:ext cx="1560711" cy="1560711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385275295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E7A3493-2ED6-DF09-F569-7F3DCA81AB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Topics of this Course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F95E019-92A5-79AC-D777-59B4926F61A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r>
              <a:rPr lang="en-US" dirty="0"/>
              <a:t>Introduction to reinforcement learning</a:t>
            </a:r>
          </a:p>
          <a:p>
            <a:r>
              <a:rPr lang="en-US" dirty="0"/>
              <a:t>Markov decision processes</a:t>
            </a:r>
          </a:p>
          <a:p>
            <a:r>
              <a:rPr lang="en-US" b="1" dirty="0"/>
              <a:t>Part I: Tabular Methods</a:t>
            </a:r>
          </a:p>
          <a:p>
            <a:pPr lvl="1"/>
            <a:r>
              <a:rPr lang="en-US" dirty="0"/>
              <a:t>Dynamic programming</a:t>
            </a:r>
          </a:p>
          <a:p>
            <a:pPr lvl="1"/>
            <a:r>
              <a:rPr lang="en-US" dirty="0"/>
              <a:t>Monte Carlo methods</a:t>
            </a:r>
          </a:p>
          <a:p>
            <a:pPr lvl="1"/>
            <a:r>
              <a:rPr lang="en-US" dirty="0"/>
              <a:t>Temporal-difference learning</a:t>
            </a:r>
          </a:p>
          <a:p>
            <a:pPr lvl="1"/>
            <a:r>
              <a:rPr lang="en-US" dirty="0"/>
              <a:t>Multi-step bootstrapping</a:t>
            </a:r>
          </a:p>
          <a:p>
            <a:pPr lvl="1"/>
            <a:r>
              <a:rPr lang="en-US" b="1" dirty="0"/>
              <a:t>Planning and learning with tabular methods</a:t>
            </a:r>
          </a:p>
          <a:p>
            <a:r>
              <a:rPr lang="en-US" dirty="0"/>
              <a:t>Part II: Approximate Solution Methods</a:t>
            </a:r>
          </a:p>
          <a:p>
            <a:pPr lvl="1"/>
            <a:r>
              <a:rPr lang="en-US" dirty="0"/>
              <a:t>Prediction and Control using Approximation</a:t>
            </a:r>
          </a:p>
          <a:p>
            <a:pPr lvl="1"/>
            <a:r>
              <a:rPr lang="en-US" dirty="0"/>
              <a:t>Eligibility Traces</a:t>
            </a:r>
          </a:p>
          <a:p>
            <a:pPr lvl="1"/>
            <a:r>
              <a:rPr lang="en-US" dirty="0"/>
              <a:t>Policy Gradient Methods</a:t>
            </a:r>
          </a:p>
          <a:p>
            <a:r>
              <a:rPr lang="en-US" dirty="0"/>
              <a:t>Part III: Modern RL Methods</a:t>
            </a:r>
          </a:p>
          <a:p>
            <a:pPr lvl="1"/>
            <a:r>
              <a:rPr lang="en-US" dirty="0"/>
              <a:t>Deep Reinforcement Learning</a:t>
            </a:r>
          </a:p>
          <a:p>
            <a:pPr lvl="1"/>
            <a:r>
              <a:rPr lang="en-US" dirty="0"/>
              <a:t>Current Applications</a:t>
            </a:r>
          </a:p>
        </p:txBody>
      </p:sp>
    </p:spTree>
    <p:extLst>
      <p:ext uri="{BB962C8B-B14F-4D97-AF65-F5344CB8AC3E}">
        <p14:creationId xmlns:p14="http://schemas.microsoft.com/office/powerpoint/2010/main" val="365336753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BA4E1A2-75E3-3C9C-6C10-EE078C5AD5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Summary of Notation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7E69C9C-42B6-9B0F-9AE0-20D17703E49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22819" y="3700831"/>
                <a:ext cx="5273179" cy="1902124"/>
              </a:xfrm>
            </p:spPr>
            <p:style>
              <a:lnRef idx="2">
                <a:schemeClr val="accent2"/>
              </a:lnRef>
              <a:fillRef idx="1">
                <a:schemeClr val="lt1"/>
              </a:fillRef>
              <a:effectRef idx="0">
                <a:schemeClr val="accent2"/>
              </a:effectRef>
              <a:fontRef idx="minor">
                <a:schemeClr val="dk1"/>
              </a:fontRef>
            </p:style>
            <p:txBody>
              <a:bodyPr>
                <a:spAutoFit/>
              </a:bodyPr>
              <a:lstStyle/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:r>
                  <a:rPr lang="en-US" sz="1200" b="1" dirty="0"/>
                  <a:t>Value Function</a:t>
                </a:r>
                <a:endParaRPr lang="en-US" sz="1200" i="1" dirty="0">
                  <a:latin typeface="Cambria Math" panose="02040503050406030204" pitchFamily="18" charset="0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latin typeface="Cambria Math" panose="02040503050406030204" pitchFamily="18" charset="0"/>
                          </a:rPr>
                          <m:t>𝐺</m:t>
                        </m:r>
                      </m:e>
                      <m:sub>
                        <m:r>
                          <a:rPr lang="en-US" sz="1200" i="1" dirty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US" sz="1200" dirty="0"/>
                  <a:t> 	return (cumulative reward) following time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endParaRPr lang="en-US" sz="1200" dirty="0"/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𝐺</m:t>
                        </m:r>
                      </m:e>
                      <m:sub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:</m:t>
                        </m:r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h</m:t>
                        </m:r>
                      </m:sub>
                    </m:sSub>
                  </m:oMath>
                </a14:m>
                <a:r>
                  <a:rPr lang="en-US" sz="1200" dirty="0">
                    <a:solidFill>
                      <a:schemeClr val="tx1"/>
                    </a:solidFill>
                  </a:rPr>
                  <a:t>	return from </a:t>
                </a:r>
                <a14:m>
                  <m:oMath xmlns:m="http://schemas.openxmlformats.org/officeDocument/2006/math"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r>
                  <a:rPr lang="en-US" sz="1200" dirty="0">
                    <a:solidFill>
                      <a:schemeClr val="tx1"/>
                    </a:solidFill>
                  </a:rPr>
                  <a:t> to </a:t>
                </a:r>
                <a14:m>
                  <m:oMath xmlns:m="http://schemas.openxmlformats.org/officeDocument/2006/math"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h</m:t>
                    </m:r>
                  </m:oMath>
                </a14:m>
                <a:r>
                  <a:rPr lang="en-US" sz="1200" dirty="0">
                    <a:solidFill>
                      <a:schemeClr val="tx1"/>
                    </a:solidFill>
                  </a:rPr>
                  <a:t> (discounted and corrected)</a:t>
                </a:r>
                <a:endParaRPr lang="en-US" sz="1200" dirty="0"/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:endParaRPr lang="en-US" sz="1200" i="1" dirty="0">
                  <a:latin typeface="Cambria Math" panose="02040503050406030204" pitchFamily="18" charset="0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sz="1200" i="1" dirty="0">
                            <a:latin typeface="Cambria Math" panose="02040503050406030204" pitchFamily="18" charset="0"/>
                          </a:rPr>
                          <m:t>𝜋</m:t>
                        </m:r>
                      </m:sub>
                    </m:sSub>
                    <m:r>
                      <a:rPr lang="en-US" sz="1200" i="1" dirty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/>
                  <a:t>	value of state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sz="1200" dirty="0"/>
                  <a:t> under policy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𝜋</m:t>
                    </m:r>
                  </m:oMath>
                </a14:m>
                <a:r>
                  <a:rPr lang="en-US" sz="1200" dirty="0"/>
                  <a:t> (expected return)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sz="1200" i="1" dirty="0">
                            <a:latin typeface="Cambria Math" panose="02040503050406030204" pitchFamily="18" charset="0"/>
                          </a:rPr>
                          <m:t>∗</m:t>
                        </m:r>
                      </m:sub>
                    </m:sSub>
                    <m:r>
                      <a:rPr lang="en-US" sz="1200" i="1" dirty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/>
                  <a:t>	value of state s under the optimal policy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latin typeface="Cambria Math" panose="02040503050406030204" pitchFamily="18" charset="0"/>
                          </a:rPr>
                          <m:t>𝑞</m:t>
                        </m:r>
                      </m:e>
                      <m:sub>
                        <m:r>
                          <a:rPr lang="en-US" sz="1200" i="1" dirty="0">
                            <a:latin typeface="Cambria Math" panose="02040503050406030204" pitchFamily="18" charset="0"/>
                          </a:rPr>
                          <m:t>𝜋</m:t>
                        </m:r>
                      </m:sub>
                    </m:sSub>
                    <m:r>
                      <a:rPr lang="en-US" sz="1200" i="1" dirty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/>
                  <a:t>	value of taking action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</m:oMath>
                </a14:m>
                <a:r>
                  <a:rPr lang="en-US" sz="1200" dirty="0"/>
                  <a:t> in state </a:t>
                </a: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sz="1200" dirty="0"/>
                  <a:t> under policy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𝜋</m:t>
                    </m:r>
                  </m:oMath>
                </a14:m>
                <a:endParaRPr lang="en-US" sz="1200" dirty="0"/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latin typeface="Cambria Math" panose="02040503050406030204" pitchFamily="18" charset="0"/>
                          </a:rPr>
                          <m:t>𝑞</m:t>
                        </m:r>
                      </m:e>
                      <m:sub>
                        <m:r>
                          <a:rPr lang="en-US" sz="1200" i="1" dirty="0">
                            <a:latin typeface="Cambria Math" panose="02040503050406030204" pitchFamily="18" charset="0"/>
                          </a:rPr>
                          <m:t>∗</m:t>
                        </m:r>
                      </m:sub>
                    </m:sSub>
                    <m:r>
                      <a:rPr lang="en-US" sz="1200" i="1" dirty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/>
                  <a:t>	value of taking action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</m:oMath>
                </a14:m>
                <a:r>
                  <a:rPr lang="en-US" sz="1200" dirty="0"/>
                  <a:t> in state </a:t>
                </a: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sz="1200" dirty="0"/>
                  <a:t> under the optimal policy</a:t>
                </a: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𝑉</m:t>
                    </m:r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, </m:t>
                    </m:r>
                    <m:sSub>
                      <m:sSubPr>
                        <m:ctrlP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𝑉</m:t>
                        </m:r>
                      </m:e>
                      <m:sub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sz="1200" dirty="0">
                    <a:solidFill>
                      <a:schemeClr val="tx1"/>
                    </a:solidFill>
                  </a:rPr>
                  <a:t>	array estimates of state-value function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𝜋</m:t>
                        </m:r>
                      </m:sub>
                    </m:sSub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sz="1200" dirty="0">
                    <a:solidFill>
                      <a:schemeClr val="tx1"/>
                    </a:solidFill>
                  </a:rPr>
                  <a:t>or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∗</m:t>
                        </m:r>
                      </m:sub>
                    </m:sSub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endParaRPr lang="en-US" sz="1200" dirty="0">
                  <a:solidFill>
                    <a:schemeClr val="tx1"/>
                  </a:solidFill>
                </a:endParaRP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𝑄</m:t>
                    </m:r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𝑄</m:t>
                        </m:r>
                      </m:e>
                      <m:sub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sz="1200" dirty="0">
                    <a:solidFill>
                      <a:schemeClr val="tx1"/>
                    </a:solidFill>
                  </a:rPr>
                  <a:t>	array estimates of action-value function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𝑞</m:t>
                        </m:r>
                      </m:e>
                      <m:sub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𝜋</m:t>
                        </m:r>
                      </m:sub>
                    </m:sSub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sz="1200" dirty="0">
                    <a:solidFill>
                      <a:schemeClr val="tx1"/>
                    </a:solidFill>
                  </a:rPr>
                  <a:t>or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∗</m:t>
                        </m:r>
                      </m:sub>
                    </m:sSub>
                  </m:oMath>
                </a14:m>
                <a:endParaRPr lang="en-US" sz="12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7E69C9C-42B6-9B0F-9AE0-20D17703E49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22819" y="3700831"/>
                <a:ext cx="5273179" cy="1902124"/>
              </a:xfrm>
              <a:blipFill>
                <a:blip r:embed="rId2"/>
                <a:stretch>
                  <a:fillRect b="-95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5CD475E5-BE3B-5594-57DC-46A17411F2F9}"/>
                  </a:ext>
                </a:extLst>
              </p:cNvPr>
              <p:cNvSpPr txBox="1"/>
              <p:nvPr/>
            </p:nvSpPr>
            <p:spPr>
              <a:xfrm>
                <a:off x="822820" y="1124198"/>
                <a:ext cx="5273179" cy="2308324"/>
              </a:xfrm>
              <a:prstGeom prst="rect">
                <a:avLst/>
              </a:prstGeom>
            </p:spPr>
            <p:style>
              <a:lnRef idx="2">
                <a:schemeClr val="accent2"/>
              </a:lnRef>
              <a:fillRef idx="1">
                <a:schemeClr val="lt1"/>
              </a:fillRef>
              <a:effectRef idx="0">
                <a:schemeClr val="accent2"/>
              </a:effectRef>
              <a:fontRef idx="minor">
                <a:schemeClr val="dk1"/>
              </a:fontRef>
            </p:style>
            <p:txBody>
              <a:bodyPr wrap="square">
                <a:spAutoFit/>
              </a:bodyPr>
              <a:lstStyle/>
              <a:p>
                <a:r>
                  <a:rPr lang="en-US" sz="1200" b="1" dirty="0"/>
                  <a:t>General</a:t>
                </a:r>
                <a:endParaRPr lang="en-US" sz="1200" dirty="0"/>
              </a:p>
              <a:p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𝑋</m:t>
                    </m:r>
                  </m:oMath>
                </a14:m>
                <a:r>
                  <a:rPr lang="en-US" sz="1200" dirty="0"/>
                  <a:t>	capital letters: random variables</a:t>
                </a:r>
                <a:br>
                  <a:rPr lang="en-US" sz="1200" dirty="0"/>
                </a:br>
                <a14:m>
                  <m:oMath xmlns:m="http://schemas.openxmlformats.org/officeDocument/2006/math"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sz="1200" b="0" i="0" smtClean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𝑝</m:t>
                    </m:r>
                  </m:oMath>
                </a14:m>
                <a:r>
                  <a:rPr lang="en-US" sz="1200" dirty="0"/>
                  <a:t>	lower-case letters: realizations of random variables </a:t>
                </a:r>
                <a:br>
                  <a:rPr lang="en-US" sz="1200" dirty="0"/>
                </a:br>
                <a:r>
                  <a:rPr lang="en-US" sz="1200" dirty="0"/>
                  <a:t>	or scalar functions</a:t>
                </a:r>
              </a:p>
              <a:p>
                <a14:m>
                  <m:oMath xmlns:m="http://schemas.openxmlformats.org/officeDocument/2006/math">
                    <m:r>
                      <a:rPr lang="en-US" sz="1200" b="1" i="1" smtClean="0">
                        <a:latin typeface="Cambria Math" panose="02040503050406030204" pitchFamily="18" charset="0"/>
                      </a:rPr>
                      <m:t>𝒘</m:t>
                    </m:r>
                  </m:oMath>
                </a14:m>
                <a:r>
                  <a:rPr lang="en-US" sz="1200" dirty="0"/>
                  <a:t> 	Bold lower-case letters: real-valued vectors </a:t>
                </a:r>
                <a:br>
                  <a:rPr lang="en-US" sz="1200" dirty="0"/>
                </a:br>
                <a:r>
                  <a:rPr lang="en-US" sz="1200" dirty="0"/>
                  <a:t>	(even if random variables)</a:t>
                </a:r>
              </a:p>
              <a:p>
                <a14:m>
                  <m:oMath xmlns:m="http://schemas.openxmlformats.org/officeDocument/2006/math">
                    <m:r>
                      <a:rPr lang="en-US" sz="1200" b="1" i="1" smtClean="0">
                        <a:latin typeface="Cambria Math" panose="02040503050406030204" pitchFamily="18" charset="0"/>
                      </a:rPr>
                      <m:t>𝑾</m:t>
                    </m:r>
                  </m:oMath>
                </a14:m>
                <a:r>
                  <a:rPr lang="en-US" sz="1200" dirty="0"/>
                  <a:t>	bold capitals: matrices</a:t>
                </a:r>
              </a:p>
              <a:p>
                <a14:m>
                  <m:oMath xmlns:m="http://schemas.openxmlformats.org/officeDocument/2006/math"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𝛼</m:t>
                    </m:r>
                  </m:oMath>
                </a14:m>
                <a:r>
                  <a:rPr lang="en-US" sz="1200" dirty="0"/>
                  <a:t>	Greek letters: parameters (vectors if in bolt)</a:t>
                </a:r>
              </a:p>
              <a:p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1200" i="1" dirty="0">
                        <a:latin typeface="Cambria Math" panose="02040503050406030204" pitchFamily="18" charset="0"/>
                      </a:rPr>
                      <m:t>Pr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⁡{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𝑋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}</m:t>
                    </m:r>
                  </m:oMath>
                </a14:m>
                <a:r>
                  <a:rPr lang="en-US" sz="1200" dirty="0"/>
                  <a:t>	probability that a random variable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𝑋</m:t>
                    </m:r>
                  </m:oMath>
                </a14:m>
                <a:r>
                  <a:rPr lang="en-US" sz="1200" dirty="0"/>
                  <a:t> takes on the value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endParaRPr lang="en-US" sz="1200" dirty="0"/>
              </a:p>
              <a:p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𝑋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~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𝑝</m:t>
                    </m:r>
                  </m:oMath>
                </a14:m>
                <a:r>
                  <a:rPr lang="en-US" sz="1200" dirty="0"/>
                  <a:t>	random variable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𝑋</m:t>
                    </m:r>
                  </m:oMath>
                </a14:m>
                <a:r>
                  <a:rPr lang="en-US" sz="1200" dirty="0"/>
                  <a:t> selected from distribution </a:t>
                </a:r>
                <a14:m>
                  <m:oMath xmlns:m="http://schemas.openxmlformats.org/officeDocument/2006/math">
                    <m:r>
                      <a:rPr lang="en-US" sz="1200" i="1">
                        <a:latin typeface="Cambria Math" panose="02040503050406030204" pitchFamily="18" charset="0"/>
                      </a:rPr>
                      <m:t>𝑝</m:t>
                    </m:r>
                    <m:d>
                      <m:dPr>
                        <m:ctrlPr>
                          <a:rPr lang="en-US" sz="12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2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</m:d>
                    <m:r>
                      <a:rPr lang="en-US" sz="1200" i="1">
                        <a:latin typeface="Cambria Math" panose="02040503050406030204" pitchFamily="18" charset="0"/>
                      </a:rPr>
                      <m:t>=</m:t>
                    </m:r>
                    <m:r>
                      <m:rPr>
                        <m:sty m:val="p"/>
                      </m:rPr>
                      <a:rPr lang="en-US" sz="1200">
                        <a:latin typeface="Cambria Math" panose="02040503050406030204" pitchFamily="18" charset="0"/>
                      </a:rPr>
                      <m:t>Pr</m:t>
                    </m:r>
                    <m:r>
                      <a:rPr lang="en-US" sz="1200" i="1">
                        <a:latin typeface="Cambria Math" panose="02040503050406030204" pitchFamily="18" charset="0"/>
                      </a:rPr>
                      <m:t>⁡{</m:t>
                    </m:r>
                    <m:r>
                      <a:rPr lang="en-US" sz="1200" i="1">
                        <a:latin typeface="Cambria Math" panose="02040503050406030204" pitchFamily="18" charset="0"/>
                      </a:rPr>
                      <m:t>𝑋</m:t>
                    </m:r>
                    <m:r>
                      <a:rPr lang="en-US" sz="1200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1200" i="1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sz="1200" i="1">
                        <a:latin typeface="Cambria Math" panose="02040503050406030204" pitchFamily="18" charset="0"/>
                      </a:rPr>
                      <m:t>}</m:t>
                    </m:r>
                  </m:oMath>
                </a14:m>
                <a:endParaRPr lang="en-US" sz="1200" dirty="0"/>
              </a:p>
              <a:p>
                <a14:m>
                  <m:oMath xmlns:m="http://schemas.openxmlformats.org/officeDocument/2006/math">
                    <m:r>
                      <a:rPr lang="en-US" sz="12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𝔼</m:t>
                    </m:r>
                    <m:r>
                      <a:rPr lang="en-US" sz="12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[</m:t>
                    </m:r>
                    <m:r>
                      <a:rPr lang="en-US" sz="12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𝑋</m:t>
                    </m:r>
                    <m:r>
                      <a:rPr lang="en-US" sz="12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]</m:t>
                    </m:r>
                  </m:oMath>
                </a14:m>
                <a:r>
                  <a:rPr lang="en-US" sz="1200" dirty="0"/>
                  <a:t>	expectation of a random variable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𝑋</m:t>
                    </m:r>
                  </m:oMath>
                </a14:m>
                <a:r>
                  <a:rPr lang="en-US" sz="1200" dirty="0"/>
                  <a:t>, i.e., </a:t>
                </a:r>
                <a14:m>
                  <m:oMath xmlns:m="http://schemas.openxmlformats.org/officeDocument/2006/math">
                    <m:r>
                      <a:rPr lang="en-US" sz="12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𝔼</m:t>
                    </m:r>
                    <m:d>
                      <m:dPr>
                        <m:begChr m:val="["/>
                        <m:endChr m:val="]"/>
                        <m:ctrlPr>
                          <a:rPr lang="en-US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𝑋</m:t>
                        </m:r>
                      </m:e>
                    </m:d>
                    <m:r>
                      <a:rPr lang="en-US" sz="12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nary>
                      <m:naryPr>
                        <m:chr m:val="∑"/>
                        <m:supHide m:val="on"/>
                        <m:ctrlPr>
                          <a:rPr lang="en-US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en-US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𝑥</m:t>
                        </m:r>
                      </m:sub>
                      <m:sup/>
                      <m:e>
                        <m:r>
                          <a:rPr lang="en-US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𝑝</m:t>
                        </m:r>
                        <m:d>
                          <m:dPr>
                            <m:ctrlPr>
                              <a:rPr lang="en-US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𝑥</m:t>
                            </m:r>
                          </m:e>
                        </m:d>
                        <m:r>
                          <a:rPr lang="en-US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𝑥</m:t>
                        </m:r>
                      </m:e>
                    </m:nary>
                  </m:oMath>
                </a14:m>
                <a:endParaRPr lang="en-US" sz="1200" dirty="0">
                  <a:ea typeface="Cambria Math" panose="02040503050406030204" pitchFamily="18" charset="0"/>
                </a:endParaRP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sz="1200" dirty="0">
                            <a:latin typeface="Cambria Math" panose="02040503050406030204" pitchFamily="18" charset="0"/>
                          </a:rPr>
                          <m:t>argmax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sz="1200" dirty="0">
                            <a:latin typeface="Cambria Math" panose="02040503050406030204" pitchFamily="18" charset="0"/>
                          </a:rPr>
                          <m:t>a</m:t>
                        </m:r>
                      </m:sub>
                    </m:sSub>
                    <m:r>
                      <a:rPr lang="en-US" sz="1200" dirty="0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𝑓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/>
                  <a:t> a value of action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</m:oMath>
                </a14:m>
                <a:r>
                  <a:rPr lang="en-US" sz="1200" dirty="0"/>
                  <a:t> at which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𝑓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/>
                  <a:t> takes its maximal value</a:t>
                </a:r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5CD475E5-BE3B-5594-57DC-46A17411F2F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22820" y="1124198"/>
                <a:ext cx="5273179" cy="2308324"/>
              </a:xfrm>
              <a:prstGeom prst="rect">
                <a:avLst/>
              </a:prstGeom>
              <a:blipFill>
                <a:blip r:embed="rId3"/>
                <a:stretch>
                  <a:fillRect b="-942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" name="Content Placeholder 2">
                <a:extLst>
                  <a:ext uri="{FF2B5EF4-FFF2-40B4-BE49-F238E27FC236}">
                    <a16:creationId xmlns:a16="http://schemas.microsoft.com/office/drawing/2014/main" id="{6F45EA4F-65F9-5141-0B09-C395CF9CA7A0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6267338" y="1124198"/>
                <a:ext cx="5273179" cy="3693383"/>
              </a:xfrm>
              <a:prstGeom prst="rect">
                <a:avLst/>
              </a:prstGeom>
            </p:spPr>
            <p:style>
              <a:lnRef idx="2">
                <a:schemeClr val="accent2"/>
              </a:lnRef>
              <a:fillRef idx="1">
                <a:schemeClr val="lt1"/>
              </a:fillRef>
              <a:effectRef idx="0">
                <a:schemeClr val="accent2"/>
              </a:effectRef>
              <a:fontRef idx="minor">
                <a:schemeClr val="dk1"/>
              </a:fontRef>
            </p:style>
            <p:txBody>
              <a:bodyPr vert="horz" wrap="square" lIns="91440" tIns="45720" rIns="91440" bIns="45720" rtlCol="0">
                <a:spAutoFit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spcBef>
                    <a:spcPts val="0"/>
                  </a:spcBef>
                  <a:buNone/>
                </a:pPr>
                <a:r>
                  <a:rPr lang="en-US" sz="1200" b="1" dirty="0"/>
                  <a:t>MDP</a:t>
                </a: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b="0" i="1" dirty="0" smtClean="0">
                        <a:latin typeface="Cambria Math" panose="02040503050406030204" pitchFamily="18" charset="0"/>
                      </a:rPr>
                      <m:t>′</m:t>
                    </m:r>
                  </m:oMath>
                </a14:m>
                <a:r>
                  <a:rPr lang="en-US" sz="1200" dirty="0"/>
                  <a:t> 	states</a:t>
                </a: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𝑎</m:t>
                    </m:r>
                  </m:oMath>
                </a14:m>
                <a:r>
                  <a:rPr lang="en-US" sz="1200" dirty="0"/>
                  <a:t> 	an action</a:t>
                </a: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𝑟</m:t>
                    </m:r>
                  </m:oMath>
                </a14:m>
                <a:r>
                  <a:rPr lang="en-US" sz="1200" dirty="0"/>
                  <a:t> 	a reward</a:t>
                </a: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𝒮</m:t>
                    </m:r>
                  </m:oMath>
                </a14:m>
                <a:r>
                  <a:rPr lang="en-US" sz="1200" dirty="0"/>
                  <a:t> 	set of all (nonterminal) states,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1200" b="0" i="1" dirty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200" i="1" dirty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𝒮</m:t>
                        </m:r>
                      </m:e>
                      <m:sup>
                        <m:r>
                          <a:rPr lang="en-US" sz="1200" b="0" i="1" dirty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+</m:t>
                        </m:r>
                      </m:sup>
                    </m:sSup>
                  </m:oMath>
                </a14:m>
                <a:r>
                  <a:rPr lang="en-US" sz="1200" dirty="0"/>
                  <a:t> are all states </a:t>
                </a: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𝒜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/>
                  <a:t>	set of all actions available in state </a:t>
                </a: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endParaRPr lang="en-US" sz="1200" dirty="0"/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>
                        <a:latin typeface="Cambria Math" panose="02040503050406030204" pitchFamily="18" charset="0"/>
                      </a:rPr>
                      <m:t>𝛾</m:t>
                    </m:r>
                  </m:oMath>
                </a14:m>
                <a:r>
                  <a:rPr lang="en-US" sz="1200" dirty="0"/>
                  <a:t> 	discount-rate parameter</a:t>
                </a:r>
                <a:endParaRPr lang="en-US" sz="1200" i="1" dirty="0">
                  <a:latin typeface="Cambria Math" panose="02040503050406030204" pitchFamily="18" charset="0"/>
                </a:endParaRP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r>
                  <a:rPr lang="en-US" sz="1200" dirty="0"/>
                  <a:t> 	discrete time step</a:t>
                </a: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𝑇</m:t>
                    </m:r>
                  </m:oMath>
                </a14:m>
                <a:r>
                  <a:rPr lang="en-US" sz="1200" dirty="0"/>
                  <a:t> 	final time step of an episode (a.k.a. horizon)</a:t>
                </a: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200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 smtClean="0"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  <m:sub>
                        <m:r>
                          <a:rPr lang="en-US" sz="1200" b="0" i="1" dirty="0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US" sz="1200" dirty="0"/>
                  <a:t> 	random variable for the action at time </a:t>
                </a: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endParaRPr lang="en-US" sz="1200" dirty="0"/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200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 smtClean="0"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  <m:sub>
                        <m:r>
                          <a:rPr lang="en-US" sz="1200" b="0" i="1" dirty="0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US" sz="1200" dirty="0"/>
                  <a:t>	random variable for the state at time </a:t>
                </a: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endParaRPr lang="en-US" sz="1200" dirty="0"/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200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 smtClean="0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en-US" sz="1200" b="0" i="1" dirty="0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US" sz="1200" dirty="0"/>
                  <a:t> 	random variable for the reward at time </a:t>
                </a: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endParaRPr lang="en-US" sz="1200" dirty="0"/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:endParaRPr lang="en-US" sz="1200" i="1" dirty="0">
                  <a:latin typeface="Cambria Math" panose="02040503050406030204" pitchFamily="18" charset="0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𝑝</m:t>
                    </m:r>
                    <m:d>
                      <m:dPr>
                        <m:endChr m:val="|"/>
                        <m:ctrlPr>
                          <a:rPr lang="en-US" sz="1200" i="1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p>
                          <m:sSupPr>
                            <m:ctrlPr>
                              <a:rPr lang="en-US" sz="1200" i="1" dirty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1200" i="1" dirty="0"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  <m:sup>
                            <m:r>
                              <a:rPr lang="en-US" sz="1200" i="1" dirty="0">
                                <a:latin typeface="Cambria Math" panose="02040503050406030204" pitchFamily="18" charset="0"/>
                              </a:rPr>
                              <m:t>′</m:t>
                            </m:r>
                          </m:sup>
                        </m:sSup>
                        <m:r>
                          <a:rPr lang="en-US" sz="1200" b="0" i="1" dirty="0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sz="1200" b="0" i="1" dirty="0" smtClean="0">
                            <a:latin typeface="Cambria Math" panose="02040503050406030204" pitchFamily="18" charset="0"/>
                          </a:rPr>
                          <m:t>𝑟</m:t>
                        </m:r>
                        <m:r>
                          <a:rPr lang="en-US" sz="1200" i="1" dirty="0">
                            <a:latin typeface="Cambria Math" panose="02040503050406030204" pitchFamily="18" charset="0"/>
                          </a:rPr>
                          <m:t> </m:t>
                        </m:r>
                      </m:e>
                    </m:d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/>
                  <a:t>	probability of transition to state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′</m:t>
                    </m:r>
                  </m:oMath>
                </a14:m>
                <a:r>
                  <a:rPr lang="en-US" sz="1200" dirty="0"/>
                  <a:t> and receiving reward </a:t>
                </a:r>
                <a14:m>
                  <m:oMath xmlns:m="http://schemas.openxmlformats.org/officeDocument/2006/math"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𝑟</m:t>
                    </m:r>
                  </m:oMath>
                </a14:m>
                <a:r>
                  <a:rPr lang="en-US" sz="1200" dirty="0"/>
                  <a:t>, </a:t>
                </a:r>
                <a:br>
                  <a:rPr lang="en-US" sz="1200" dirty="0"/>
                </a:br>
                <a:r>
                  <a:rPr lang="en-US" sz="1200" dirty="0"/>
                  <a:t>	from state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sz="1200" dirty="0"/>
                  <a:t> taking action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</m:oMath>
                </a14:m>
                <a:r>
                  <a:rPr lang="en-US" sz="1200" dirty="0"/>
                  <a:t>.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𝑝</m:t>
                    </m:r>
                    <m:d>
                      <m:dPr>
                        <m:endChr m:val="|"/>
                        <m:ctrlPr>
                          <a:rPr lang="en-US" sz="1200" i="1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p>
                          <m:sSupPr>
                            <m:ctrlPr>
                              <a:rPr lang="en-US" sz="1200" i="1" dirty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1200" i="1" dirty="0"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  <m:sup>
                            <m:r>
                              <a:rPr lang="en-US" sz="1200" i="1" dirty="0">
                                <a:latin typeface="Cambria Math" panose="02040503050406030204" pitchFamily="18" charset="0"/>
                              </a:rPr>
                              <m:t>′</m:t>
                            </m:r>
                          </m:sup>
                        </m:sSup>
                      </m:e>
                    </m:d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/>
                  <a:t> 	probability of transition to state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′</m:t>
                    </m:r>
                  </m:oMath>
                </a14:m>
                <a:r>
                  <a:rPr lang="en-US" sz="1200" dirty="0"/>
                  <a:t> fom state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sz="1200" dirty="0"/>
                  <a:t> taking action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</m:oMath>
                </a14:m>
                <a:r>
                  <a:rPr lang="en-US" sz="1200" dirty="0"/>
                  <a:t>.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𝑟</m:t>
                    </m:r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/>
                  <a:t>	expected immediate reward from state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sz="1200" dirty="0"/>
                  <a:t> after action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1200" b="0" i="1" dirty="0" smtClean="0">
                        <a:latin typeface="Cambria Math" panose="02040503050406030204" pitchFamily="18" charset="0"/>
                      </a:rPr>
                      <m:t>.</m:t>
                    </m:r>
                  </m:oMath>
                </a14:m>
                <a:endParaRPr lang="en-US" sz="1200" b="0" dirty="0"/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>
                        <a:latin typeface="Cambria Math" panose="02040503050406030204" pitchFamily="18" charset="0"/>
                      </a:rPr>
                      <m:t>𝑟</m:t>
                    </m:r>
                    <m:r>
                      <a:rPr lang="en-US" sz="1200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200" i="1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1200" i="1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′)</m:t>
                    </m:r>
                  </m:oMath>
                </a14:m>
                <a:r>
                  <a:rPr lang="en-US" sz="1200" dirty="0"/>
                  <a:t>	expected immediate reward from state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sz="1200" dirty="0"/>
                  <a:t> to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1200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200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p>
                        <m:r>
                          <a:rPr lang="en-US" sz="1200" b="0" i="1" smtClean="0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</m:oMath>
                </a14:m>
                <a:r>
                  <a:rPr lang="en-US" sz="1200" dirty="0"/>
                  <a:t> with action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1200" b="0" i="1" dirty="0" smtClean="0">
                        <a:latin typeface="Cambria Math" panose="02040503050406030204" pitchFamily="18" charset="0"/>
                      </a:rPr>
                      <m:t>.</m:t>
                    </m:r>
                  </m:oMath>
                </a14:m>
                <a:endParaRPr lang="en-US" sz="1200" i="1" dirty="0">
                  <a:latin typeface="Cambria Math" panose="02040503050406030204" pitchFamily="18" charset="0"/>
                </a:endParaRPr>
              </a:p>
              <a:p>
                <a:pPr marL="0" indent="0">
                  <a:spcBef>
                    <a:spcPts val="0"/>
                  </a:spcBef>
                  <a:buNone/>
                </a:pPr>
                <a:endParaRPr lang="en-US" sz="1200" i="1" dirty="0">
                  <a:latin typeface="Cambria Math" panose="02040503050406030204" pitchFamily="18" charset="0"/>
                </a:endParaRP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𝜋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200" i="1" dirty="0" err="1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1200" i="1" dirty="0" err="1">
                        <a:latin typeface="Cambria Math" panose="02040503050406030204" pitchFamily="18" charset="0"/>
                      </a:rPr>
                      <m:t>|</m:t>
                    </m:r>
                    <m:r>
                      <a:rPr lang="en-US" sz="1200" i="1" dirty="0" err="1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/>
                  <a:t>	probability of taking action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</m:oMath>
                </a14:m>
                <a:r>
                  <a:rPr lang="en-US" sz="1200" dirty="0"/>
                  <a:t> in state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sz="1200" dirty="0"/>
                  <a:t> under stochastic policy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𝜋</m:t>
                    </m:r>
                  </m:oMath>
                </a14:m>
                <a:endParaRPr lang="en-US" sz="1200" dirty="0">
                  <a:ea typeface="Cambria Math" panose="02040503050406030204" pitchFamily="18" charset="0"/>
                </a:endParaRP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𝜋</m:t>
                    </m:r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/>
                  <a:t>	action taken in state </a:t>
                </a: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sz="1200" dirty="0"/>
                  <a:t> under deterministic policy </a:t>
                </a:r>
                <a14:m>
                  <m:oMath xmlns:m="http://schemas.openxmlformats.org/officeDocument/2006/math">
                    <m:r>
                      <a:rPr lang="en-US" sz="1200" b="0" i="1" dirty="0" smtClean="0">
                        <a:latin typeface="Cambria Math" panose="02040503050406030204" pitchFamily="18" charset="0"/>
                      </a:rPr>
                      <m:t>𝜋</m:t>
                    </m:r>
                  </m:oMath>
                </a14:m>
                <a:endParaRPr lang="en-US" sz="1200" dirty="0"/>
              </a:p>
            </p:txBody>
          </p:sp>
        </mc:Choice>
        <mc:Fallback xmlns="">
          <p:sp>
            <p:nvSpPr>
              <p:cNvPr id="11" name="Content Placeholder 2">
                <a:extLst>
                  <a:ext uri="{FF2B5EF4-FFF2-40B4-BE49-F238E27FC236}">
                    <a16:creationId xmlns:a16="http://schemas.microsoft.com/office/drawing/2014/main" id="{6F45EA4F-65F9-5141-0B09-C395CF9CA7A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67338" y="1124198"/>
                <a:ext cx="5273179" cy="3693383"/>
              </a:xfrm>
              <a:prstGeom prst="rect">
                <a:avLst/>
              </a:prstGeom>
              <a:blipFill>
                <a:blip r:embed="rId4"/>
                <a:stretch>
                  <a:fillRect t="-32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" name="Content Placeholder 2">
                <a:extLst>
                  <a:ext uri="{FF2B5EF4-FFF2-40B4-BE49-F238E27FC236}">
                    <a16:creationId xmlns:a16="http://schemas.microsoft.com/office/drawing/2014/main" id="{4C5E539A-F9A7-F959-ACD3-4ADE5900F587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6267338" y="4947712"/>
                <a:ext cx="5273179" cy="646331"/>
              </a:xfrm>
              <a:prstGeom prst="rect">
                <a:avLst/>
              </a:prstGeom>
            </p:spPr>
            <p:style>
              <a:lnRef idx="2">
                <a:schemeClr val="accent2"/>
              </a:lnRef>
              <a:fillRef idx="1">
                <a:schemeClr val="lt1"/>
              </a:fillRef>
              <a:effectRef idx="0">
                <a:schemeClr val="accent2"/>
              </a:effectRef>
              <a:fontRef idx="minor">
                <a:schemeClr val="dk1"/>
              </a:fontRef>
            </p:style>
            <p:txBody>
              <a:bodyPr vert="horz" lIns="91440" tIns="45720" rIns="91440" bIns="45720" rtlCol="0">
                <a:spAutoFit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Font typeface="Arial" panose="020B0604020202020204" pitchFamily="34" charset="0"/>
                  <a:buNone/>
                </a:pPr>
                <a:r>
                  <a:rPr lang="en-US" sz="1200" b="1" dirty="0"/>
                  <a:t>Temporal Difference Learning</a:t>
                </a:r>
                <a:endParaRPr lang="en-US" sz="1200" i="1" dirty="0">
                  <a:latin typeface="Cambria Math" panose="02040503050406030204" pitchFamily="18" charset="0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𝑈</m:t>
                        </m:r>
                      </m:e>
                      <m:sub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US" sz="1200" dirty="0">
                    <a:solidFill>
                      <a:schemeClr val="tx1"/>
                    </a:solidFill>
                  </a:rPr>
                  <a:t>	target for estimate at time</a:t>
                </a:r>
                <a14:m>
                  <m:oMath xmlns:m="http://schemas.openxmlformats.org/officeDocument/2006/math"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endParaRPr lang="en-US" sz="1200" dirty="0">
                  <a:solidFill>
                    <a:schemeClr val="tx1"/>
                  </a:solidFill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b="0" i="1" dirty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𝛿</m:t>
                        </m:r>
                      </m:e>
                      <m:sub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US" sz="1200" dirty="0">
                    <a:solidFill>
                      <a:schemeClr val="tx1"/>
                    </a:solidFill>
                  </a:rPr>
                  <a:t>	TD error</a:t>
                </a:r>
              </a:p>
            </p:txBody>
          </p:sp>
        </mc:Choice>
        <mc:Fallback xmlns="">
          <p:sp>
            <p:nvSpPr>
              <p:cNvPr id="4" name="Content Placeholder 2">
                <a:extLst>
                  <a:ext uri="{FF2B5EF4-FFF2-40B4-BE49-F238E27FC236}">
                    <a16:creationId xmlns:a16="http://schemas.microsoft.com/office/drawing/2014/main" id="{4C5E539A-F9A7-F959-ACD3-4ADE5900F58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67338" y="4947712"/>
                <a:ext cx="5273179" cy="646331"/>
              </a:xfrm>
              <a:prstGeom prst="rect">
                <a:avLst/>
              </a:prstGeom>
              <a:blipFill>
                <a:blip r:embed="rId5"/>
                <a:stretch>
                  <a:fillRect b="-458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92069401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F8A635E-AD98-14E6-86B7-6D189198F7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819E1014-11F3-5C77-4D51-18EDE91CBDD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Planning vs. Learning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230DEA1-85A2-8128-AB1F-6A511F14B1F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5903796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93A1BA-CA5C-693B-FB3E-C368A66D744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Planning vs. Learning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1AC215C-7DA6-48E2-7A2B-214A4A5277F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47322"/>
            <a:ext cx="5157787" cy="494791"/>
          </a:xfrm>
          <a:solidFill>
            <a:schemeClr val="accent2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/>
          <a:lstStyle/>
          <a:p>
            <a:r>
              <a:rPr lang="en-US" dirty="0"/>
              <a:t>Model-based RL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5386ED9-B3B0-4E7E-C9D8-36D605A9CED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142114"/>
            <a:ext cx="5157787" cy="1325563"/>
          </a:xfrm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>
            <a:normAutofit fontScale="77500" lnSpcReduction="20000"/>
          </a:bodyPr>
          <a:lstStyle/>
          <a:p>
            <a:r>
              <a:rPr lang="en-US" dirty="0"/>
              <a:t>Requires knowledge of the MDP model.</a:t>
            </a:r>
          </a:p>
          <a:p>
            <a:r>
              <a:rPr lang="en-US" dirty="0"/>
              <a:t>Methods: Dynamic Programming, heuristic search</a:t>
            </a:r>
          </a:p>
          <a:p>
            <a:r>
              <a:rPr lang="en-US" dirty="0"/>
              <a:t>Use the known model to </a:t>
            </a:r>
            <a:r>
              <a:rPr lang="en-US" b="1" dirty="0"/>
              <a:t>plan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67E8A69-3C51-CDFE-7A41-514AB48A4C6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47322"/>
            <a:ext cx="5183188" cy="494792"/>
          </a:xfrm>
          <a:solidFill>
            <a:schemeClr val="accent3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/>
          <a:lstStyle/>
          <a:p>
            <a:r>
              <a:rPr lang="en-US" dirty="0"/>
              <a:t>Model-free RL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BD9DFBC9-5C98-B059-76C6-7C39C8A8AE32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142114"/>
            <a:ext cx="5183188" cy="1325563"/>
          </a:xfrm>
        </p:spPr>
        <p:style>
          <a:lnRef idx="2">
            <a:schemeClr val="accent3"/>
          </a:lnRef>
          <a:fillRef idx="1">
            <a:schemeClr val="lt1"/>
          </a:fillRef>
          <a:effectRef idx="0">
            <a:schemeClr val="accent3"/>
          </a:effectRef>
          <a:fontRef idx="minor">
            <a:schemeClr val="dk1"/>
          </a:fontRef>
        </p:style>
        <p:txBody>
          <a:bodyPr>
            <a:normAutofit fontScale="77500" lnSpcReduction="20000"/>
          </a:bodyPr>
          <a:lstStyle/>
          <a:p>
            <a:r>
              <a:rPr lang="en-US" dirty="0"/>
              <a:t>Model is unknown.</a:t>
            </a:r>
          </a:p>
          <a:p>
            <a:r>
              <a:rPr lang="en-US" dirty="0"/>
              <a:t>Methods: MC, TD</a:t>
            </a:r>
          </a:p>
          <a:p>
            <a:r>
              <a:rPr lang="en-US" b="1" dirty="0"/>
              <a:t>Learn</a:t>
            </a:r>
            <a:r>
              <a:rPr lang="en-US" dirty="0"/>
              <a:t> from interactions with the environment (sampling).</a:t>
            </a:r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47549527-8988-50D5-4FD2-A4EACAA47452}"/>
              </a:ext>
            </a:extLst>
          </p:cNvPr>
          <p:cNvSpPr txBox="1">
            <a:spLocks/>
          </p:cNvSpPr>
          <p:nvPr/>
        </p:nvSpPr>
        <p:spPr>
          <a:xfrm>
            <a:off x="839788" y="4788384"/>
            <a:ext cx="10515600" cy="1254791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 lnSpcReduction="2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dirty="0"/>
              <a:t>All methods do the following:</a:t>
            </a:r>
          </a:p>
          <a:p>
            <a:pPr lvl="1"/>
            <a:r>
              <a:rPr lang="en-US" b="1" dirty="0"/>
              <a:t>Policy evaluation </a:t>
            </a:r>
            <a:r>
              <a:rPr lang="en-US" dirty="0"/>
              <a:t>(prediction): Compute a value function/policy.</a:t>
            </a:r>
          </a:p>
          <a:p>
            <a:pPr lvl="1"/>
            <a:r>
              <a:rPr lang="en-US" b="1" dirty="0"/>
              <a:t>Look ahead </a:t>
            </a:r>
            <a:r>
              <a:rPr lang="en-US" dirty="0"/>
              <a:t>to future events (rewards, states, actions) and compute a backed-up value to update an approximate value function.</a:t>
            </a:r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E82F68D9-8E69-A250-D35E-1231A1F5B17C}"/>
              </a:ext>
            </a:extLst>
          </p:cNvPr>
          <p:cNvGrpSpPr/>
          <p:nvPr/>
        </p:nvGrpSpPr>
        <p:grpSpPr>
          <a:xfrm>
            <a:off x="3118262" y="3594779"/>
            <a:ext cx="5758626" cy="806207"/>
            <a:chOff x="3118262" y="3594779"/>
            <a:chExt cx="5758626" cy="806207"/>
          </a:xfrm>
        </p:grpSpPr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E4675E7B-A0EA-C8F4-0666-CCA5988ACAC1}"/>
                </a:ext>
              </a:extLst>
            </p:cNvPr>
            <p:cNvSpPr txBox="1"/>
            <p:nvPr/>
          </p:nvSpPr>
          <p:spPr>
            <a:xfrm>
              <a:off x="3118262" y="4031654"/>
              <a:ext cx="5758626" cy="369332"/>
            </a:xfrm>
            <a:prstGeom prst="rect">
              <a:avLst/>
            </a:prstGeom>
          </p:spPr>
          <p:style>
            <a:lnRef idx="2">
              <a:schemeClr val="accent5">
                <a:shade val="15000"/>
              </a:schemeClr>
            </a:lnRef>
            <a:fillRef idx="1">
              <a:schemeClr val="accent5"/>
            </a:fillRef>
            <a:effectRef idx="0">
              <a:schemeClr val="accent5"/>
            </a:effectRef>
            <a:fontRef idx="minor">
              <a:schemeClr val="lt1"/>
            </a:fontRef>
          </p:style>
          <p:txBody>
            <a:bodyPr wrap="square" rtlCol="0">
              <a:spAutoFit/>
            </a:bodyPr>
            <a:lstStyle/>
            <a:p>
              <a:r>
                <a:rPr lang="en-US" dirty="0"/>
                <a:t>+ use the MDP as a simulation model for Model-free RL</a:t>
              </a:r>
            </a:p>
          </p:txBody>
        </p:sp>
        <p:cxnSp>
          <p:nvCxnSpPr>
            <p:cNvPr id="10" name="Straight Arrow Connector 9">
              <a:extLst>
                <a:ext uri="{FF2B5EF4-FFF2-40B4-BE49-F238E27FC236}">
                  <a16:creationId xmlns:a16="http://schemas.microsoft.com/office/drawing/2014/main" id="{2347AD2C-46E6-E6D8-9F53-949CED70E983}"/>
                </a:ext>
              </a:extLst>
            </p:cNvPr>
            <p:cNvCxnSpPr/>
            <p:nvPr/>
          </p:nvCxnSpPr>
          <p:spPr>
            <a:xfrm>
              <a:off x="3762302" y="3594779"/>
              <a:ext cx="711976" cy="383908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5"/>
            </a:lnRef>
            <a:fillRef idx="0">
              <a:schemeClr val="accent5"/>
            </a:fillRef>
            <a:effectRef idx="1">
              <a:schemeClr val="accent5"/>
            </a:effectRef>
            <a:fontRef idx="minor">
              <a:schemeClr val="tx1"/>
            </a:fontRef>
          </p:style>
        </p:cxnSp>
        <p:cxnSp>
          <p:nvCxnSpPr>
            <p:cNvPr id="11" name="Straight Arrow Connector 10">
              <a:extLst>
                <a:ext uri="{FF2B5EF4-FFF2-40B4-BE49-F238E27FC236}">
                  <a16:creationId xmlns:a16="http://schemas.microsoft.com/office/drawing/2014/main" id="{3C91D920-DB4A-1FD1-3DF5-018FDCA5C22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005748" y="3660782"/>
              <a:ext cx="777122" cy="310924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5"/>
            </a:lnRef>
            <a:fillRef idx="0">
              <a:schemeClr val="accent5"/>
            </a:fillRef>
            <a:effectRef idx="1">
              <a:schemeClr val="accent5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12909772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EE63D3F0-03CF-B1AF-8CA4-243B27B69D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is a Model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Content Placeholder 7">
                <a:extLst>
                  <a:ext uri="{FF2B5EF4-FFF2-40B4-BE49-F238E27FC236}">
                    <a16:creationId xmlns:a16="http://schemas.microsoft.com/office/drawing/2014/main" id="{D1E8B6AB-5A2F-3677-9E00-F7B344478115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397331"/>
                <a:ext cx="10515600" cy="4438078"/>
              </a:xfrm>
            </p:spPr>
            <p:txBody>
              <a:bodyPr>
                <a:normAutofit fontScale="70000" lnSpcReduction="20000"/>
              </a:bodyPr>
              <a:lstStyle/>
              <a:p>
                <a:pPr marL="0" indent="0">
                  <a:buNone/>
                </a:pPr>
                <a:r>
                  <a:rPr lang="en-US" b="1" dirty="0"/>
                  <a:t>Model of the environment</a:t>
                </a:r>
                <a:r>
                  <a:rPr lang="en-US" dirty="0"/>
                  <a:t>: Anything the agent can use to predict the outcome of actions (e.g., next state and reward).</a:t>
                </a:r>
              </a:p>
              <a:p>
                <a:pPr lvl="1"/>
                <a:endParaRPr lang="en-US" dirty="0"/>
              </a:p>
              <a:p>
                <a:pPr marL="0" indent="0">
                  <a:buNone/>
                </a:pPr>
                <a:r>
                  <a:rPr lang="en-US" dirty="0"/>
                  <a:t>Models can be:</a:t>
                </a:r>
              </a:p>
              <a:p>
                <a:pPr lvl="1"/>
                <a:r>
                  <a:rPr lang="en-US" b="1" dirty="0"/>
                  <a:t>Distribution models</a:t>
                </a:r>
                <a:r>
                  <a:rPr lang="en-US" dirty="0"/>
                  <a:t>: Specify the complete distribution of all possible outcomes.</a:t>
                </a:r>
              </a:p>
              <a:p>
                <a:pPr lvl="2"/>
                <a:r>
                  <a:rPr lang="en-US" dirty="0"/>
                  <a:t>For finite MDPs this is the function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𝑝</m:t>
                    </m:r>
                    <m:d>
                      <m:dPr>
                        <m:endChr m:val="|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p>
                          <m:sSup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  <m:sup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′</m:t>
                            </m:r>
                          </m:sup>
                        </m:sSup>
                        <m:r>
                          <a:rPr lang="en-US" i="1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𝑟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 </m:t>
                        </m:r>
                      </m:e>
                    </m:d>
                    <m:r>
                      <a:rPr lang="en-US" i="1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 </a:t>
                </a:r>
              </a:p>
              <a:p>
                <a:pPr lvl="2"/>
                <a:r>
                  <a:rPr lang="en-US" dirty="0"/>
                  <a:t>Used by dynamic programming methods for planning.</a:t>
                </a:r>
              </a:p>
              <a:p>
                <a:pPr marL="457200" lvl="1" indent="0">
                  <a:buNone/>
                </a:pPr>
                <a:endParaRPr lang="en-US" dirty="0"/>
              </a:p>
              <a:p>
                <a:pPr lvl="1"/>
                <a:r>
                  <a:rPr lang="en-US" b="1" dirty="0"/>
                  <a:t>Sample models</a:t>
                </a:r>
                <a:r>
                  <a:rPr lang="en-US" dirty="0"/>
                  <a:t>: Simulate the real environment by producing one outcome for an action. The outcome needs to be a valid sample from the distribution model.</a:t>
                </a:r>
              </a:p>
              <a:p>
                <a:pPr lvl="2"/>
                <a:r>
                  <a:rPr lang="en-US" dirty="0"/>
                  <a:t>Are typically easier to create.</a:t>
                </a:r>
              </a:p>
              <a:p>
                <a:pPr lvl="2"/>
                <a:r>
                  <a:rPr lang="en-US" dirty="0"/>
                  <a:t>Can be used for MC and TD methods for learning. This is called </a:t>
                </a:r>
                <a:r>
                  <a:rPr lang="en-US" b="1" dirty="0"/>
                  <a:t>trajectory sampling</a:t>
                </a:r>
                <a:r>
                  <a:rPr lang="en-US" dirty="0"/>
                  <a:t>.</a:t>
                </a:r>
              </a:p>
              <a:p>
                <a:pPr marL="0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:r>
                  <a:rPr lang="en-US" b="1" dirty="0"/>
                  <a:t>Notes</a:t>
                </a:r>
                <a:r>
                  <a:rPr lang="en-US" dirty="0"/>
                  <a:t>:</a:t>
                </a:r>
              </a:p>
              <a:p>
                <a:pPr lvl="1"/>
                <a:r>
                  <a:rPr lang="en-US" dirty="0"/>
                  <a:t>The real environment can be seen as a physically represented model with sequential sampling access.</a:t>
                </a:r>
              </a:p>
              <a:p>
                <a:pPr lvl="1"/>
                <a:r>
                  <a:rPr lang="en-US" dirty="0"/>
                  <a:t>Model-free methods often use sample models when accessing the real environment is slow, expensive or dangerous. </a:t>
                </a:r>
              </a:p>
            </p:txBody>
          </p:sp>
        </mc:Choice>
        <mc:Fallback xmlns="">
          <p:sp>
            <p:nvSpPr>
              <p:cNvPr id="8" name="Content Placeholder 7">
                <a:extLst>
                  <a:ext uri="{FF2B5EF4-FFF2-40B4-BE49-F238E27FC236}">
                    <a16:creationId xmlns:a16="http://schemas.microsoft.com/office/drawing/2014/main" id="{D1E8B6AB-5A2F-3677-9E00-F7B34447811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397331"/>
                <a:ext cx="10515600" cy="4438078"/>
              </a:xfrm>
              <a:blipFill>
                <a:blip r:embed="rId2"/>
                <a:stretch>
                  <a:fillRect l="-638" t="-2335" r="-69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TextBox 2">
            <a:extLst>
              <a:ext uri="{FF2B5EF4-FFF2-40B4-BE49-F238E27FC236}">
                <a16:creationId xmlns:a16="http://schemas.microsoft.com/office/drawing/2014/main" id="{097B3B91-268C-F9DD-CBA0-C6797B3B55BA}"/>
              </a:ext>
            </a:extLst>
          </p:cNvPr>
          <p:cNvSpPr txBox="1"/>
          <p:nvPr/>
        </p:nvSpPr>
        <p:spPr>
          <a:xfrm>
            <a:off x="3638986" y="5988972"/>
            <a:ext cx="4914028" cy="369332"/>
          </a:xfrm>
          <a:prstGeom prst="rect">
            <a:avLst/>
          </a:prstGeom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dirty="0"/>
              <a:t>Can we integrate learning and planning?</a:t>
            </a:r>
          </a:p>
        </p:txBody>
      </p:sp>
    </p:spTree>
    <p:extLst>
      <p:ext uri="{BB962C8B-B14F-4D97-AF65-F5344CB8AC3E}">
        <p14:creationId xmlns:p14="http://schemas.microsoft.com/office/powerpoint/2010/main" val="25428770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3A3EEFEA-0015-8BCC-C791-B934FAEDBC0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Dyna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7BC8F79-3E91-A277-FC6D-5703A772962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Integrating Planning, Acting, and Learning</a:t>
            </a:r>
          </a:p>
        </p:txBody>
      </p:sp>
    </p:spTree>
    <p:extLst>
      <p:ext uri="{BB962C8B-B14F-4D97-AF65-F5344CB8AC3E}">
        <p14:creationId xmlns:p14="http://schemas.microsoft.com/office/powerpoint/2010/main" val="266541318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13EC5060-ED9D-A7CB-C624-3FD02CBD1E3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98961" y="1720207"/>
            <a:ext cx="4326058" cy="3417586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15596584-F4DC-4CCF-DAD5-C08008400D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Integrating Planning, Acting, and Learning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972B9BF-6244-6E3F-DF65-DFA52504F8C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199" y="1397332"/>
                <a:ext cx="6895810" cy="4486938"/>
              </a:xfrm>
            </p:spPr>
            <p:txBody>
              <a:bodyPr>
                <a:normAutofit fontScale="85000" lnSpcReduction="20000"/>
              </a:bodyPr>
              <a:lstStyle/>
              <a:p>
                <a:r>
                  <a:rPr lang="en-US" b="1" dirty="0"/>
                  <a:t>Direct RL is model-free Learning</a:t>
                </a:r>
                <a:r>
                  <a:rPr lang="en-US" dirty="0"/>
                  <a:t>: </a:t>
                </a:r>
              </a:p>
              <a:p>
                <a:pPr lvl="1"/>
                <a:r>
                  <a:rPr lang="en-US" dirty="0"/>
                  <a:t>Use sampled experience directly to </a:t>
                </a:r>
                <a:r>
                  <a:rPr lang="en-US" b="1" dirty="0"/>
                  <a:t>improve the value function/policy</a:t>
                </a:r>
                <a:r>
                  <a:rPr lang="en-US" dirty="0"/>
                  <a:t>. E.g., via one-step Q-learning.</a:t>
                </a:r>
              </a:p>
              <a:p>
                <a:endParaRPr lang="en-US" dirty="0"/>
              </a:p>
              <a:p>
                <a:r>
                  <a:rPr lang="en-US" b="1" dirty="0"/>
                  <a:t>Model Learning and Planning</a:t>
                </a:r>
                <a:r>
                  <a:rPr lang="en-US" dirty="0"/>
                  <a:t>: </a:t>
                </a:r>
              </a:p>
              <a:p>
                <a:pPr lvl="1"/>
                <a:r>
                  <a:rPr lang="en-US" dirty="0"/>
                  <a:t>Real experience is also used to </a:t>
                </a:r>
                <a:r>
                  <a:rPr lang="en-US" b="1" dirty="0"/>
                  <a:t>learn a model</a:t>
                </a:r>
                <a:r>
                  <a:rPr lang="en-US" dirty="0"/>
                  <a:t>. E.g., by recording for each </a:t>
                </a:r>
                <a:br>
                  <a:rPr lang="en-US" b="0" i="1" dirty="0">
                    <a:latin typeface="Cambria Math" panose="02040503050406030204" pitchFamily="18" charset="0"/>
                  </a:rPr>
                </a:b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→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+1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, 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+1</m:t>
                        </m:r>
                      </m:sub>
                    </m:sSub>
                  </m:oMath>
                </a14:m>
                <a:r>
                  <a:rPr lang="en-US" dirty="0"/>
                  <a:t> to estimate </a:t>
                </a:r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</m:acc>
                    <m:r>
                      <a:rPr lang="en-US" b="0" i="1" smtClean="0">
                        <a:latin typeface="Cambria Math" panose="02040503050406030204" pitchFamily="18" charset="0"/>
                      </a:rPr>
                      <m:t>(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+1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+1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|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dirty="0"/>
              </a:p>
              <a:p>
                <a:pPr lvl="1"/>
                <a:r>
                  <a:rPr lang="en-US" dirty="0"/>
                  <a:t>The model can be used for </a:t>
                </a:r>
                <a:r>
                  <a:rPr lang="en-US" b="1" dirty="0"/>
                  <a:t>planning</a:t>
                </a:r>
                <a:r>
                  <a:rPr lang="en-US" dirty="0"/>
                  <a:t> to improve the value function/policy. E.g., by sampling from the model to update the Q-values. </a:t>
                </a:r>
              </a:p>
              <a:p>
                <a:pPr lvl="1"/>
                <a:endParaRPr lang="en-US" dirty="0"/>
              </a:p>
              <a:p>
                <a:pPr marL="0" indent="0">
                  <a:buNone/>
                </a:pPr>
                <a:r>
                  <a:rPr lang="en-US" b="1" dirty="0"/>
                  <a:t>Advantage</a:t>
                </a:r>
                <a:r>
                  <a:rPr lang="en-US" dirty="0"/>
                  <a:t>: Model learning and planning makes the approach much more sample efficient. Experience is not just used once but retained in the model.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972B9BF-6244-6E3F-DF65-DFA52504F8C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199" y="1397332"/>
                <a:ext cx="6895810" cy="4486938"/>
              </a:xfrm>
              <a:blipFill>
                <a:blip r:embed="rId3"/>
                <a:stretch>
                  <a:fillRect l="-1325" t="-2989" r="-1590" b="-258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79190670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1C5BE67-97CC-F251-532A-623A26478B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Alg. Tabular Dyna-Q</a:t>
            </a: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F592F7C4-E638-E7F0-C86E-4207F5C5A0A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68343" y="399914"/>
            <a:ext cx="3977112" cy="3141919"/>
          </a:xfrm>
          <a:prstGeom prst="rect">
            <a:avLst/>
          </a:prstGeom>
        </p:spPr>
      </p:pic>
      <p:grpSp>
        <p:nvGrpSpPr>
          <p:cNvPr id="11" name="Group 10">
            <a:extLst>
              <a:ext uri="{FF2B5EF4-FFF2-40B4-BE49-F238E27FC236}">
                <a16:creationId xmlns:a16="http://schemas.microsoft.com/office/drawing/2014/main" id="{4937AB9C-6AA5-A7EB-5688-445A6D78D962}"/>
              </a:ext>
            </a:extLst>
          </p:cNvPr>
          <p:cNvGrpSpPr>
            <a:grpSpLocks noChangeAspect="1"/>
          </p:cNvGrpSpPr>
          <p:nvPr/>
        </p:nvGrpSpPr>
        <p:grpSpPr>
          <a:xfrm>
            <a:off x="693614" y="2680969"/>
            <a:ext cx="10270766" cy="3558915"/>
            <a:chOff x="1027761" y="1690688"/>
            <a:chExt cx="12705267" cy="4550975"/>
          </a:xfrm>
        </p:grpSpPr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5CB7BD3E-BFBF-D93E-B3A8-87CE35EB3E73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027761" y="1690688"/>
              <a:ext cx="9799864" cy="4550975"/>
            </a:xfrm>
            <a:prstGeom prst="rect">
              <a:avLst/>
            </a:prstGeom>
          </p:spPr>
        </p:pic>
        <p:sp>
          <p:nvSpPr>
            <p:cNvPr id="8" name="Speech Bubble: Rectangle with Corners Rounded 7">
              <a:extLst>
                <a:ext uri="{FF2B5EF4-FFF2-40B4-BE49-F238E27FC236}">
                  <a16:creationId xmlns:a16="http://schemas.microsoft.com/office/drawing/2014/main" id="{43AABACC-352B-D6F3-1630-3C22810331E2}"/>
                </a:ext>
              </a:extLst>
            </p:cNvPr>
            <p:cNvSpPr/>
            <p:nvPr/>
          </p:nvSpPr>
          <p:spPr>
            <a:xfrm>
              <a:off x="8995399" y="3502535"/>
              <a:ext cx="2745523" cy="271041"/>
            </a:xfrm>
            <a:prstGeom prst="wedgeRoundRectCallout">
              <a:avLst>
                <a:gd name="adj1" fmla="val -76395"/>
                <a:gd name="adj2" fmla="val 143446"/>
                <a:gd name="adj3" fmla="val 16667"/>
              </a:avLst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600" dirty="0"/>
                <a:t>Direct RL: Q-Learning</a:t>
              </a:r>
            </a:p>
          </p:txBody>
        </p:sp>
        <p:sp>
          <p:nvSpPr>
            <p:cNvPr id="9" name="Right Brace 8">
              <a:extLst>
                <a:ext uri="{FF2B5EF4-FFF2-40B4-BE49-F238E27FC236}">
                  <a16:creationId xmlns:a16="http://schemas.microsoft.com/office/drawing/2014/main" id="{34714BA1-C236-3E36-3CE9-E93B07A696BD}"/>
                </a:ext>
              </a:extLst>
            </p:cNvPr>
            <p:cNvSpPr/>
            <p:nvPr/>
          </p:nvSpPr>
          <p:spPr>
            <a:xfrm>
              <a:off x="8769872" y="4653329"/>
              <a:ext cx="416009" cy="1258860"/>
            </a:xfrm>
            <a:prstGeom prst="rightBrac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 sz="1600"/>
            </a:p>
          </p:txBody>
        </p: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2168B176-252B-01A8-D5CF-A6F29DF4DCE4}"/>
                </a:ext>
              </a:extLst>
            </p:cNvPr>
            <p:cNvSpPr txBox="1"/>
            <p:nvPr/>
          </p:nvSpPr>
          <p:spPr>
            <a:xfrm>
              <a:off x="9233616" y="5066294"/>
              <a:ext cx="4499412" cy="432927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>
              <a:spAutoFit/>
            </a:bodyPr>
            <a:lstStyle/>
            <a:p>
              <a:r>
                <a:rPr lang="en-US" sz="1600" dirty="0"/>
                <a:t>Improve Q using the model (Planning)</a:t>
              </a:r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Speech Bubble: Rectangle with Corners Rounded 2">
                <a:extLst>
                  <a:ext uri="{FF2B5EF4-FFF2-40B4-BE49-F238E27FC236}">
                    <a16:creationId xmlns:a16="http://schemas.microsoft.com/office/drawing/2014/main" id="{8DF5D581-CEB0-AD06-59A9-C85B97349AB2}"/>
                  </a:ext>
                </a:extLst>
              </p:cNvPr>
              <p:cNvSpPr/>
              <p:nvPr/>
            </p:nvSpPr>
            <p:spPr>
              <a:xfrm>
                <a:off x="7134545" y="4567464"/>
                <a:ext cx="3419445" cy="338553"/>
              </a:xfrm>
              <a:prstGeom prst="wedgeRoundRectCallout">
                <a:avLst>
                  <a:gd name="adj1" fmla="val -57067"/>
                  <a:gd name="adj2" fmla="val -4170"/>
                  <a:gd name="adj3" fmla="val 16667"/>
                </a:avLst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600" dirty="0"/>
                  <a:t>Model learning: learn </a:t>
                </a:r>
                <a14:m>
                  <m:oMath xmlns:m="http://schemas.openxmlformats.org/officeDocument/2006/math">
                    <m:r>
                      <a:rPr lang="en-US" sz="1600" b="0" i="1" smtClean="0">
                        <a:latin typeface="Cambria Math" panose="02040503050406030204" pitchFamily="18" charset="0"/>
                      </a:rPr>
                      <m:t>𝑝</m:t>
                    </m:r>
                    <m:r>
                      <a:rPr lang="en-US" sz="1600" b="0" i="1" smtClean="0">
                        <a:latin typeface="Cambria Math" panose="02040503050406030204" pitchFamily="18" charset="0"/>
                      </a:rPr>
                      <m:t>(</m:t>
                    </m:r>
                    <m:sSup>
                      <m:sSupPr>
                        <m:ctrlPr>
                          <a:rPr lang="en-US" sz="1600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p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  <m:r>
                      <a:rPr lang="en-US" sz="1600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1600" b="0" i="1" smtClean="0">
                        <a:latin typeface="Cambria Math" panose="02040503050406030204" pitchFamily="18" charset="0"/>
                      </a:rPr>
                      <m:t>𝑟</m:t>
                    </m:r>
                    <m:r>
                      <a:rPr lang="en-US" sz="1600" b="0" i="1" smtClean="0">
                        <a:latin typeface="Cambria Math" panose="02040503050406030204" pitchFamily="18" charset="0"/>
                      </a:rPr>
                      <m:t>|</m:t>
                    </m:r>
                    <m:r>
                      <a:rPr lang="en-US" sz="1600" b="0" i="1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600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1600" b="0" i="1" smtClean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1600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sz="1600" dirty="0"/>
              </a:p>
            </p:txBody>
          </p:sp>
        </mc:Choice>
        <mc:Fallback xmlns="">
          <p:sp>
            <p:nvSpPr>
              <p:cNvPr id="3" name="Speech Bubble: Rectangle with Corners Rounded 2">
                <a:extLst>
                  <a:ext uri="{FF2B5EF4-FFF2-40B4-BE49-F238E27FC236}">
                    <a16:creationId xmlns:a16="http://schemas.microsoft.com/office/drawing/2014/main" id="{8DF5D581-CEB0-AD06-59A9-C85B97349AB2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134545" y="4567464"/>
                <a:ext cx="3419445" cy="338553"/>
              </a:xfrm>
              <a:prstGeom prst="wedgeRoundRectCallout">
                <a:avLst>
                  <a:gd name="adj1" fmla="val -57067"/>
                  <a:gd name="adj2" fmla="val -4170"/>
                  <a:gd name="adj3" fmla="val 16667"/>
                </a:avLst>
              </a:prstGeom>
              <a:blipFill>
                <a:blip r:embed="rId4"/>
                <a:stretch>
                  <a:fillRect t="-1695" b="-1864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01948330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A5C8AC25-EC4C-3842-F311-7347DBC1A71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776774" cy="759072"/>
          </a:xfrm>
        </p:spPr>
        <p:txBody>
          <a:bodyPr/>
          <a:lstStyle/>
          <a:p>
            <a:r>
              <a:rPr lang="en-US" dirty="0"/>
              <a:t>The Effect of Planning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25CE6196-0C58-18A7-BA50-D3B376B607E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408370" y="1660797"/>
            <a:ext cx="7086022" cy="4108300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6" name="Content Placeholder 5">
                <a:extLst>
                  <a:ext uri="{FF2B5EF4-FFF2-40B4-BE49-F238E27FC236}">
                    <a16:creationId xmlns:a16="http://schemas.microsoft.com/office/drawing/2014/main" id="{5C0268D5-3842-005A-9D87-7A037B2EC858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6096000" y="2237014"/>
                <a:ext cx="5623420" cy="4221072"/>
              </a:xfrm>
            </p:spPr>
            <p:txBody>
              <a:bodyPr>
                <a:normAutofit fontScale="62500" lnSpcReduction="20000"/>
              </a:bodyPr>
              <a:lstStyle/>
              <a:p>
                <a:r>
                  <a:rPr lang="en-US" b="1" dirty="0"/>
                  <a:t>Benefit</a:t>
                </a:r>
                <a:r>
                  <a:rPr lang="en-US" dirty="0"/>
                  <a:t>: Adding planning speeds learning by reusing sampled experience.</a:t>
                </a:r>
              </a:p>
              <a:p>
                <a:endParaRPr lang="en-US" dirty="0"/>
              </a:p>
              <a:p>
                <a:r>
                  <a:rPr lang="en-US" b="1" dirty="0"/>
                  <a:t>Issues</a:t>
                </a:r>
                <a:r>
                  <a:rPr lang="en-US" dirty="0"/>
                  <a:t>: Planning is a problem if the model is wrong:</a:t>
                </a:r>
              </a:p>
              <a:p>
                <a:pPr lvl="1"/>
                <a:r>
                  <a:rPr lang="en-US" dirty="0"/>
                  <a:t>Based on an insufficient number of samples.</a:t>
                </a:r>
              </a:p>
              <a:p>
                <a:pPr lvl="1"/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𝑝</m:t>
                    </m:r>
                  </m:oMath>
                </a14:m>
                <a:r>
                  <a:rPr lang="en-US" dirty="0"/>
                  <a:t>-function approximation is not great.</a:t>
                </a:r>
              </a:p>
              <a:p>
                <a:pPr lvl="1"/>
                <a:r>
                  <a:rPr lang="en-US" dirty="0"/>
                  <a:t>Environment changes.</a:t>
                </a:r>
              </a:p>
              <a:p>
                <a:endParaRPr lang="en-US" dirty="0"/>
              </a:p>
              <a:p>
                <a:r>
                  <a:rPr lang="en-US" dirty="0"/>
                  <a:t>Luckily, Dyna quickly corrects overly optimistic predictions since they will be selected for the next real action in the direct RL step.</a:t>
                </a:r>
              </a:p>
              <a:p>
                <a:endParaRPr lang="en-US" dirty="0"/>
              </a:p>
              <a:p>
                <a:r>
                  <a:rPr lang="en-US" dirty="0"/>
                  <a:t>For changing environments:</a:t>
                </a:r>
              </a:p>
              <a:p>
                <a:pPr lvl="1"/>
                <a:r>
                  <a:rPr lang="en-US" dirty="0"/>
                  <a:t>Keep exploring.</a:t>
                </a:r>
              </a:p>
              <a:p>
                <a:pPr lvl="1"/>
                <a:r>
                  <a:rPr lang="en-US" dirty="0"/>
                  <a:t>Keep track of how out-of-date estimates are. I.e., for how long each action/state combination was not tried.</a:t>
                </a:r>
              </a:p>
            </p:txBody>
          </p:sp>
        </mc:Choice>
        <mc:Fallback xmlns="">
          <p:sp>
            <p:nvSpPr>
              <p:cNvPr id="6" name="Content Placeholder 5">
                <a:extLst>
                  <a:ext uri="{FF2B5EF4-FFF2-40B4-BE49-F238E27FC236}">
                    <a16:creationId xmlns:a16="http://schemas.microsoft.com/office/drawing/2014/main" id="{5C0268D5-3842-005A-9D87-7A037B2EC858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6096000" y="2237014"/>
                <a:ext cx="5623420" cy="4221072"/>
              </a:xfrm>
              <a:blipFill>
                <a:blip r:embed="rId3"/>
                <a:stretch>
                  <a:fillRect l="-651" t="-231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2" name="Picture 1">
            <a:extLst>
              <a:ext uri="{FF2B5EF4-FFF2-40B4-BE49-F238E27FC236}">
                <a16:creationId xmlns:a16="http://schemas.microsoft.com/office/drawing/2014/main" id="{C1666A5B-CCA6-7A12-3D37-72BB0409CA5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15449" y="185109"/>
            <a:ext cx="2597348" cy="205190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3699741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build="p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974D2E0C-9397-0251-BE88-27DE9E96C6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FF8D0E66-448A-2B1F-DC4F-AFCD2FF3C55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Sampling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7FDA9A14-34CA-9AC7-415D-3D9BB2C19DF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Base updates on sampled experience</a:t>
            </a:r>
          </a:p>
        </p:txBody>
      </p:sp>
    </p:spTree>
    <p:extLst>
      <p:ext uri="{BB962C8B-B14F-4D97-AF65-F5344CB8AC3E}">
        <p14:creationId xmlns:p14="http://schemas.microsoft.com/office/powerpoint/2010/main" val="58657973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7B0859C-00DA-DABF-41E1-70543074272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6466033" cy="759072"/>
          </a:xfrm>
        </p:spPr>
        <p:txBody>
          <a:bodyPr>
            <a:normAutofit fontScale="90000"/>
          </a:bodyPr>
          <a:lstStyle/>
          <a:p>
            <a:r>
              <a:rPr lang="en-US" dirty="0"/>
              <a:t>Expected vs. Sample Updates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D398651C-D732-C69E-3D6A-B222E9D993E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74723" y="302003"/>
            <a:ext cx="4049567" cy="6253993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6DB3DD2-F232-A22F-AD76-91496286CEF6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397330"/>
                <a:ext cx="6632643" cy="3872685"/>
              </a:xfrm>
            </p:spPr>
            <p:txBody>
              <a:bodyPr>
                <a:normAutofit fontScale="70000" lnSpcReduction="20000"/>
              </a:bodyPr>
              <a:lstStyle/>
              <a:p>
                <a:r>
                  <a:rPr lang="en-US" dirty="0"/>
                  <a:t>Expected updates (DP)</a:t>
                </a:r>
                <a:br>
                  <a:rPr lang="en-US" dirty="0"/>
                </a:br>
                <a:br>
                  <a:rPr lang="en-US" dirty="0"/>
                </a:b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𝑄</m:t>
                    </m:r>
                    <m:d>
                      <m:dPr>
                        <m:ctrlPr>
                          <a:rPr lang="en-US" sz="24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</m:d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←</m:t>
                    </m:r>
                    <m:nary>
                      <m:naryPr>
                        <m:chr m:val="∑"/>
                        <m:ctrlPr>
                          <a:rPr lang="en-US" sz="2400" b="0" i="1" smtClean="0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sSup>
                          <m:sSupPr>
                            <m:ctrlPr>
                              <a:rPr lang="en-US" sz="2400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2400" b="0" i="1" smtClean="0"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  <m:sup>
                            <m:r>
                              <a:rPr lang="en-US" sz="2400" b="0" i="1" smtClean="0">
                                <a:latin typeface="Cambria Math" panose="02040503050406030204" pitchFamily="18" charset="0"/>
                              </a:rPr>
                              <m:t>′</m:t>
                            </m:r>
                          </m:sup>
                        </m:sSup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𝑟</m:t>
                        </m:r>
                      </m:sub>
                      <m:sup/>
                      <m:e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𝑝</m:t>
                        </m:r>
                        <m:d>
                          <m:dPr>
                            <m:ctrlPr>
                              <a:rPr lang="en-US" sz="2400" b="0" i="1" dirty="0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p>
                              <m:sSupPr>
                                <m:ctrlPr>
                                  <a:rPr lang="en-US" sz="2400" b="0" i="1" dirty="0" smtClean="0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en-US" sz="2400" b="0" i="1" dirty="0" smtClean="0">
                                    <a:latin typeface="Cambria Math" panose="02040503050406030204" pitchFamily="18" charset="0"/>
                                  </a:rPr>
                                  <m:t>𝑠</m:t>
                                </m:r>
                              </m:e>
                              <m:sup>
                                <m:r>
                                  <a:rPr lang="en-US" sz="2400" b="0" i="1" dirty="0" smtClean="0">
                                    <a:latin typeface="Cambria Math" panose="02040503050406030204" pitchFamily="18" charset="0"/>
                                  </a:rPr>
                                  <m:t>′</m:t>
                                </m:r>
                              </m:sup>
                            </m:sSup>
                            <m:r>
                              <a:rPr lang="en-US" sz="2400" b="0" i="1" dirty="0" smtClean="0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sz="2400" b="0" i="1" dirty="0" smtClean="0">
                                <a:latin typeface="Cambria Math" panose="02040503050406030204" pitchFamily="18" charset="0"/>
                              </a:rPr>
                              <m:t>𝑟</m:t>
                            </m:r>
                          </m:e>
                          <m:e>
                            <m:r>
                              <a:rPr lang="en-US" sz="2400" b="0" i="1" dirty="0" smtClean="0">
                                <a:latin typeface="Cambria Math" panose="02040503050406030204" pitchFamily="18" charset="0"/>
                              </a:rPr>
                              <m:t>𝑠</m:t>
                            </m:r>
                            <m:r>
                              <a:rPr lang="en-US" sz="2400" b="0" i="1" dirty="0" smtClean="0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sz="2400" b="0" i="1" dirty="0" smtClean="0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</m:d>
                        <m:d>
                          <m:dPr>
                            <m:begChr m:val="["/>
                            <m:endChr m:val="]"/>
                            <m:ctrlPr>
                              <a:rPr lang="en-US" sz="2400" b="0" i="1" dirty="0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2400" i="1" dirty="0">
                                <a:latin typeface="Cambria Math" panose="02040503050406030204" pitchFamily="18" charset="0"/>
                              </a:rPr>
                              <m:t>𝑟</m:t>
                            </m:r>
                            <m:r>
                              <a:rPr lang="en-US" sz="2400" i="1" dirty="0">
                                <a:latin typeface="Cambria Math" panose="02040503050406030204" pitchFamily="18" charset="0"/>
                              </a:rPr>
                              <m:t>+</m:t>
                            </m:r>
                            <m:r>
                              <a:rPr lang="en-US" sz="2400" i="1" dirty="0">
                                <a:latin typeface="Cambria Math" panose="02040503050406030204" pitchFamily="18" charset="0"/>
                              </a:rPr>
                              <m:t>𝛾</m:t>
                            </m:r>
                            <m:func>
                              <m:funcPr>
                                <m:ctrlPr>
                                  <a:rPr lang="en-US" sz="2400" i="1" dirty="0">
                                    <a:latin typeface="Cambria Math" panose="02040503050406030204" pitchFamily="18" charset="0"/>
                                  </a:rPr>
                                </m:ctrlPr>
                              </m:funcPr>
                              <m:fName>
                                <m:limLow>
                                  <m:limLowPr>
                                    <m:ctrlPr>
                                      <a:rPr lang="en-US" sz="2400" i="1" dirty="0">
                                        <a:latin typeface="Cambria Math" panose="02040503050406030204" pitchFamily="18" charset="0"/>
                                      </a:rPr>
                                    </m:ctrlPr>
                                  </m:limLowPr>
                                  <m:e>
                                    <m:r>
                                      <m:rPr>
                                        <m:sty m:val="p"/>
                                      </m:rPr>
                                      <a:rPr lang="en-US" sz="2400" dirty="0">
                                        <a:latin typeface="Cambria Math" panose="02040503050406030204" pitchFamily="18" charset="0"/>
                                      </a:rPr>
                                      <m:t>max</m:t>
                                    </m:r>
                                  </m:e>
                                  <m:lim>
                                    <m:sSup>
                                      <m:sSupPr>
                                        <m:ctrlPr>
                                          <a:rPr lang="en-US" sz="2400" i="1" dirty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pPr>
                                      <m:e>
                                        <m:r>
                                          <a:rPr lang="en-US" sz="2400" i="1" dirty="0">
                                            <a:latin typeface="Cambria Math" panose="02040503050406030204" pitchFamily="18" charset="0"/>
                                          </a:rPr>
                                          <m:t>𝑎</m:t>
                                        </m:r>
                                      </m:e>
                                      <m:sup>
                                        <m:r>
                                          <a:rPr lang="en-US" sz="2400" i="1" dirty="0">
                                            <a:latin typeface="Cambria Math" panose="02040503050406030204" pitchFamily="18" charset="0"/>
                                          </a:rPr>
                                          <m:t>′</m:t>
                                        </m:r>
                                      </m:sup>
                                    </m:sSup>
                                  </m:lim>
                                </m:limLow>
                              </m:fName>
                              <m:e>
                                <m:r>
                                  <a:rPr lang="en-US" sz="2400" i="1" dirty="0">
                                    <a:latin typeface="Cambria Math" panose="02040503050406030204" pitchFamily="18" charset="0"/>
                                  </a:rPr>
                                  <m:t>𝑄</m:t>
                                </m:r>
                                <m:r>
                                  <a:rPr lang="en-US" sz="2400" i="1" dirty="0"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sSup>
                                  <m:sSupPr>
                                    <m:ctrlPr>
                                      <a:rPr lang="en-US" sz="2400" i="1" dirty="0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en-US" sz="2400" i="1" dirty="0">
                                        <a:latin typeface="Cambria Math" panose="02040503050406030204" pitchFamily="18" charset="0"/>
                                      </a:rPr>
                                      <m:t>𝑠</m:t>
                                    </m:r>
                                  </m:e>
                                  <m:sup>
                                    <m:r>
                                      <a:rPr lang="en-US" sz="2400" i="1" dirty="0">
                                        <a:latin typeface="Cambria Math" panose="02040503050406030204" pitchFamily="18" charset="0"/>
                                      </a:rPr>
                                      <m:t>′</m:t>
                                    </m:r>
                                  </m:sup>
                                </m:sSup>
                                <m:r>
                                  <a:rPr lang="en-US" sz="2400" i="1" dirty="0">
                                    <a:latin typeface="Cambria Math" panose="02040503050406030204" pitchFamily="18" charset="0"/>
                                  </a:rPr>
                                  <m:t>,</m:t>
                                </m:r>
                                <m:sSup>
                                  <m:sSupPr>
                                    <m:ctrlPr>
                                      <a:rPr lang="en-US" sz="2400" i="1" dirty="0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en-US" sz="2400" i="1" dirty="0">
                                        <a:latin typeface="Cambria Math" panose="02040503050406030204" pitchFamily="18" charset="0"/>
                                      </a:rPr>
                                      <m:t>𝑎</m:t>
                                    </m:r>
                                  </m:e>
                                  <m:sup>
                                    <m:r>
                                      <a:rPr lang="en-US" sz="2400" i="1" dirty="0">
                                        <a:latin typeface="Cambria Math" panose="02040503050406030204" pitchFamily="18" charset="0"/>
                                      </a:rPr>
                                      <m:t>′</m:t>
                                    </m:r>
                                  </m:sup>
                                </m:sSup>
                                <m:r>
                                  <a:rPr lang="en-US" sz="2400" i="1" dirty="0">
                                    <a:latin typeface="Cambria Math" panose="02040503050406030204" pitchFamily="18" charset="0"/>
                                  </a:rPr>
                                  <m:t>)</m:t>
                                </m:r>
                              </m:e>
                            </m:func>
                          </m:e>
                        </m:d>
                      </m:e>
                    </m:nary>
                  </m:oMath>
                </a14:m>
                <a:endParaRPr lang="en-US" dirty="0"/>
              </a:p>
              <a:p>
                <a:endParaRPr lang="en-US" dirty="0"/>
              </a:p>
              <a:p>
                <a:endParaRPr lang="en-US" dirty="0"/>
              </a:p>
              <a:p>
                <a:r>
                  <a:rPr lang="en-US" dirty="0"/>
                  <a:t>Sample updates (on-step TD)</a:t>
                </a:r>
                <a:br>
                  <a:rPr lang="en-US" dirty="0"/>
                </a:br>
                <a:br>
                  <a:rPr lang="en-US" dirty="0"/>
                </a:b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𝑄</m:t>
                    </m:r>
                    <m:d>
                      <m:dPr>
                        <m:ctrlPr>
                          <a:rPr lang="en-US" sz="24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</m:d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←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𝑄</m:t>
                    </m:r>
                    <m:d>
                      <m:dPr>
                        <m:ctrlPr>
                          <a:rPr lang="en-US" sz="24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</m:d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𝛼</m:t>
                    </m:r>
                    <m:d>
                      <m:dPr>
                        <m:begChr m:val="["/>
                        <m:endChr m:val="]"/>
                        <m:ctrlPr>
                          <a:rPr lang="en-US" sz="24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𝑅</m:t>
                        </m:r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𝛾</m:t>
                        </m:r>
                        <m:func>
                          <m:funcPr>
                            <m:ctrlPr>
                              <a:rPr lang="en-US" sz="2400" b="0" i="1" smtClean="0">
                                <a:latin typeface="Cambria Math" panose="02040503050406030204" pitchFamily="18" charset="0"/>
                              </a:rPr>
                            </m:ctrlPr>
                          </m:funcPr>
                          <m:fName>
                            <m:limLow>
                              <m:limLowPr>
                                <m:ctrlPr>
                                  <a:rPr lang="en-US" sz="24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limLowPr>
                              <m:e>
                                <m:r>
                                  <m:rPr>
                                    <m:sty m:val="p"/>
                                  </m:rPr>
                                  <a:rPr lang="en-US" sz="2400" b="0" i="0" smtClean="0">
                                    <a:latin typeface="Cambria Math" panose="02040503050406030204" pitchFamily="18" charset="0"/>
                                  </a:rPr>
                                  <m:t>max</m:t>
                                </m:r>
                              </m:e>
                              <m:lim>
                                <m:r>
                                  <a:rPr lang="en-US" sz="2400" b="0" i="1" smtClean="0">
                                    <a:latin typeface="Cambria Math" panose="02040503050406030204" pitchFamily="18" charset="0"/>
                                  </a:rPr>
                                  <m:t>𝑎</m:t>
                                </m:r>
                                <m:r>
                                  <a:rPr lang="en-US" sz="2400" b="0" i="1" smtClean="0">
                                    <a:latin typeface="Cambria Math" panose="02040503050406030204" pitchFamily="18" charset="0"/>
                                  </a:rPr>
                                  <m:t>′</m:t>
                                </m:r>
                              </m:lim>
                            </m:limLow>
                          </m:fName>
                          <m:e>
                            <m:r>
                              <a:rPr lang="en-US" sz="2400" b="0" i="1" smtClean="0">
                                <a:latin typeface="Cambria Math" panose="02040503050406030204" pitchFamily="18" charset="0"/>
                              </a:rPr>
                              <m:t>𝑄</m:t>
                            </m:r>
                            <m:d>
                              <m:dPr>
                                <m:ctrlPr>
                                  <a:rPr lang="en-US" sz="24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sSup>
                                  <m:sSupPr>
                                    <m:ctrlPr>
                                      <a:rPr lang="en-US" sz="24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en-US" sz="2400" b="0" i="1" smtClean="0">
                                        <a:latin typeface="Cambria Math" panose="02040503050406030204" pitchFamily="18" charset="0"/>
                                      </a:rPr>
                                      <m:t>𝑠</m:t>
                                    </m:r>
                                  </m:e>
                                  <m:sup>
                                    <m:r>
                                      <a:rPr lang="en-US" sz="2400" b="0" i="1" smtClean="0">
                                        <a:latin typeface="Cambria Math" panose="02040503050406030204" pitchFamily="18" charset="0"/>
                                      </a:rPr>
                                      <m:t>′</m:t>
                                    </m:r>
                                  </m:sup>
                                </m:sSup>
                                <m:r>
                                  <a:rPr lang="en-US" sz="2400" b="0" i="1" smtClean="0">
                                    <a:latin typeface="Cambria Math" panose="02040503050406030204" pitchFamily="18" charset="0"/>
                                  </a:rPr>
                                  <m:t>,</m:t>
                                </m:r>
                                <m:r>
                                  <a:rPr lang="en-US" sz="2400" b="0" i="1" smtClean="0">
                                    <a:latin typeface="Cambria Math" panose="02040503050406030204" pitchFamily="18" charset="0"/>
                                  </a:rPr>
                                  <m:t>𝑎</m:t>
                                </m:r>
                              </m:e>
                            </m:d>
                            <m:r>
                              <a:rPr lang="en-US" sz="2400" b="0" i="1" smtClean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2400" b="0" i="1" smtClean="0">
                                <a:latin typeface="Cambria Math" panose="02040503050406030204" pitchFamily="18" charset="0"/>
                              </a:rPr>
                              <m:t>𝑄</m:t>
                            </m:r>
                            <m:r>
                              <a:rPr lang="en-US" sz="2400" b="0" i="1" smtClean="0">
                                <a:latin typeface="Cambria Math" panose="02040503050406030204" pitchFamily="18" charset="0"/>
                              </a:rPr>
                              <m:t>(</m:t>
                            </m:r>
                            <m:r>
                              <a:rPr lang="en-US" sz="2400" b="0" i="1" smtClean="0">
                                <a:latin typeface="Cambria Math" panose="02040503050406030204" pitchFamily="18" charset="0"/>
                              </a:rPr>
                              <m:t>𝑠</m:t>
                            </m:r>
                            <m:r>
                              <a:rPr lang="en-US" sz="2400" b="0" i="1" smtClean="0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sz="2400" b="0" i="1" smtClean="0">
                                <a:latin typeface="Cambria Math" panose="02040503050406030204" pitchFamily="18" charset="0"/>
                              </a:rPr>
                              <m:t>𝑎</m:t>
                            </m:r>
                            <m:r>
                              <a:rPr lang="en-US" sz="2400" b="0" i="1" smtClean="0">
                                <a:latin typeface="Cambria Math" panose="02040503050406030204" pitchFamily="18" charset="0"/>
                              </a:rPr>
                              <m:t>)</m:t>
                            </m:r>
                          </m:e>
                        </m:func>
                      </m:e>
                    </m:d>
                  </m:oMath>
                </a14:m>
                <a:endParaRPr lang="en-US" dirty="0"/>
              </a:p>
              <a:p>
                <a:endParaRPr lang="en-US" dirty="0"/>
              </a:p>
              <a:p>
                <a:endParaRPr lang="en-US" dirty="0"/>
              </a:p>
              <a:p>
                <a:r>
                  <a:rPr lang="en-US" dirty="0"/>
                  <a:t>Sampling adds variance due to the sample error but is computationally much cheaper.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6DB3DD2-F232-A22F-AD76-91496286CEF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397330"/>
                <a:ext cx="6632643" cy="3872685"/>
              </a:xfrm>
              <a:blipFill>
                <a:blip r:embed="rId3"/>
                <a:stretch>
                  <a:fillRect l="-827" t="-12893" b="-173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52253322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0D6E25EF-48DC-A4AE-65BF-0EC0DC35F40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Heuristic Search and </a:t>
            </a:r>
            <a:br>
              <a:rPr lang="en-US" dirty="0"/>
            </a:br>
            <a:r>
              <a:rPr lang="en-US" dirty="0"/>
              <a:t>Rollout Algorithms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6DAFEA0-2CFA-4384-CF4E-F3C845C837A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Decision-time planning</a:t>
            </a:r>
          </a:p>
        </p:txBody>
      </p:sp>
    </p:spTree>
    <p:extLst>
      <p:ext uri="{BB962C8B-B14F-4D97-AF65-F5344CB8AC3E}">
        <p14:creationId xmlns:p14="http://schemas.microsoft.com/office/powerpoint/2010/main" val="68239533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3A6356EF-E592-3AC7-97BD-5A89144E779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55917" y="2076147"/>
            <a:ext cx="6456730" cy="3213065"/>
          </a:xfrm>
          <a:prstGeom prst="rect">
            <a:avLst/>
          </a:prstGeom>
        </p:spPr>
      </p:pic>
      <p:sp>
        <p:nvSpPr>
          <p:cNvPr id="4" name="Title 3">
            <a:extLst>
              <a:ext uri="{FF2B5EF4-FFF2-40B4-BE49-F238E27FC236}">
                <a16:creationId xmlns:a16="http://schemas.microsoft.com/office/drawing/2014/main" id="{4540E156-9D3F-D3EF-4006-10719CAD3D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Option 1: Heuristic Search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Content Placeholder 4">
                <a:extLst>
                  <a:ext uri="{FF2B5EF4-FFF2-40B4-BE49-F238E27FC236}">
                    <a16:creationId xmlns:a16="http://schemas.microsoft.com/office/drawing/2014/main" id="{19E62A12-5D57-D939-F926-D55F98DA3329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397330"/>
                <a:ext cx="4656364" cy="4583745"/>
              </a:xfrm>
            </p:spPr>
            <p:txBody>
              <a:bodyPr>
                <a:normAutofit fontScale="70000" lnSpcReduction="20000"/>
              </a:bodyPr>
              <a:lstStyle/>
              <a:p>
                <a:pPr marL="0" indent="0">
                  <a:buNone/>
                </a:pPr>
                <a:r>
                  <a:rPr lang="en-US" dirty="0"/>
                  <a:t>At decision time in state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dirty="0"/>
                  <a:t>:</a:t>
                </a:r>
              </a:p>
              <a:p>
                <a:pPr marL="514350" indent="-514350">
                  <a:buFont typeface="+mj-lt"/>
                  <a:buAutoNum type="arabicPeriod"/>
                </a:pPr>
                <a:r>
                  <a:rPr lang="en-US" dirty="0"/>
                  <a:t>Consider a large tree of possible continuations (trajectories of a given length) for the current state.</a:t>
                </a:r>
              </a:p>
              <a:p>
                <a:pPr marL="514350" indent="-514350">
                  <a:buFont typeface="+mj-lt"/>
                  <a:buAutoNum type="arabicPeriod"/>
                </a:pPr>
                <a:endParaRPr lang="en-US" dirty="0"/>
              </a:p>
              <a:p>
                <a:pPr marL="514350" indent="-514350">
                  <a:buFont typeface="+mj-lt"/>
                  <a:buAutoNum type="arabicPeriod"/>
                </a:pPr>
                <a:r>
                  <a:rPr lang="en-US" dirty="0"/>
                  <a:t>Apply an approx. value function to the states in leaf nodes.</a:t>
                </a:r>
              </a:p>
              <a:p>
                <a:pPr marL="514350" indent="-514350">
                  <a:buFont typeface="+mj-lt"/>
                  <a:buAutoNum type="arabicPeriod"/>
                </a:pPr>
                <a:endParaRPr lang="en-US" dirty="0"/>
              </a:p>
              <a:p>
                <a:pPr marL="514350" indent="-514350">
                  <a:buFont typeface="+mj-lt"/>
                  <a:buAutoNum type="arabicPeriod"/>
                </a:pPr>
                <a:r>
                  <a:rPr lang="en-US" dirty="0"/>
                  <a:t>Back values towards the current state (using max). Similar to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dirty="0"/>
                  <a:t>-step estimation, but it always uses the best and not the observed action.</a:t>
                </a:r>
              </a:p>
              <a:p>
                <a:pPr marL="514350" indent="-514350">
                  <a:buFont typeface="+mj-lt"/>
                  <a:buAutoNum type="arabicPeriod"/>
                </a:pPr>
                <a:endParaRPr lang="en-US" dirty="0"/>
              </a:p>
              <a:p>
                <a:pPr marL="514350" indent="-514350">
                  <a:buFont typeface="+mj-lt"/>
                  <a:buAutoNum type="arabicPeriod"/>
                </a:pPr>
                <a:r>
                  <a:rPr lang="en-US" dirty="0"/>
                  <a:t>Choose the best next action for the current state.</a:t>
                </a:r>
              </a:p>
              <a:p>
                <a:pPr marL="514350" indent="-514350">
                  <a:buFont typeface="+mj-lt"/>
                  <a:buAutoNum type="arabicPeriod"/>
                </a:pPr>
                <a:endParaRPr lang="en-US" dirty="0"/>
              </a:p>
            </p:txBody>
          </p:sp>
        </mc:Choice>
        <mc:Fallback xmlns="">
          <p:sp>
            <p:nvSpPr>
              <p:cNvPr id="5" name="Content Placeholder 4">
                <a:extLst>
                  <a:ext uri="{FF2B5EF4-FFF2-40B4-BE49-F238E27FC236}">
                    <a16:creationId xmlns:a16="http://schemas.microsoft.com/office/drawing/2014/main" id="{19E62A12-5D57-D939-F926-D55F98DA332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397330"/>
                <a:ext cx="4656364" cy="4583745"/>
              </a:xfrm>
              <a:blipFill>
                <a:blip r:embed="rId3"/>
                <a:stretch>
                  <a:fillRect l="-1442" t="-226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" name="Speech Bubble: Rectangle with Corners Rounded 7">
            <a:extLst>
              <a:ext uri="{FF2B5EF4-FFF2-40B4-BE49-F238E27FC236}">
                <a16:creationId xmlns:a16="http://schemas.microsoft.com/office/drawing/2014/main" id="{9CBFCEF7-963A-4187-6A15-D0E256203C8E}"/>
              </a:ext>
            </a:extLst>
          </p:cNvPr>
          <p:cNvSpPr/>
          <p:nvPr/>
        </p:nvSpPr>
        <p:spPr>
          <a:xfrm>
            <a:off x="8214611" y="5561579"/>
            <a:ext cx="3247086" cy="359863"/>
          </a:xfrm>
          <a:prstGeom prst="wedgeRoundRectCallout">
            <a:avLst>
              <a:gd name="adj1" fmla="val 37593"/>
              <a:gd name="adj2" fmla="val -381818"/>
              <a:gd name="adj3" fmla="val 16667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2. Estimate leaf node values</a:t>
            </a:r>
          </a:p>
        </p:txBody>
      </p:sp>
      <p:sp>
        <p:nvSpPr>
          <p:cNvPr id="10" name="Arrow: Down 9">
            <a:extLst>
              <a:ext uri="{FF2B5EF4-FFF2-40B4-BE49-F238E27FC236}">
                <a16:creationId xmlns:a16="http://schemas.microsoft.com/office/drawing/2014/main" id="{E4EFD103-2544-1279-0631-58B4728E2AD2}"/>
              </a:ext>
            </a:extLst>
          </p:cNvPr>
          <p:cNvSpPr/>
          <p:nvPr/>
        </p:nvSpPr>
        <p:spPr>
          <a:xfrm flipV="1">
            <a:off x="11154283" y="2248525"/>
            <a:ext cx="781777" cy="2764966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" rtlCol="0" anchor="ctr"/>
          <a:lstStyle/>
          <a:p>
            <a:pPr algn="ctr"/>
            <a:r>
              <a:rPr lang="en-US" dirty="0"/>
              <a:t>3. backup</a:t>
            </a:r>
          </a:p>
        </p:txBody>
      </p:sp>
      <p:sp>
        <p:nvSpPr>
          <p:cNvPr id="11" name="Speech Bubble: Rectangle with Corners Rounded 10">
            <a:extLst>
              <a:ext uri="{FF2B5EF4-FFF2-40B4-BE49-F238E27FC236}">
                <a16:creationId xmlns:a16="http://schemas.microsoft.com/office/drawing/2014/main" id="{25F441F9-26AE-4857-0003-6C4FFDACE6EE}"/>
              </a:ext>
            </a:extLst>
          </p:cNvPr>
          <p:cNvSpPr/>
          <p:nvPr/>
        </p:nvSpPr>
        <p:spPr>
          <a:xfrm>
            <a:off x="7689758" y="901563"/>
            <a:ext cx="2938744" cy="665202"/>
          </a:xfrm>
          <a:prstGeom prst="wedgeRoundRectCallout">
            <a:avLst>
              <a:gd name="adj1" fmla="val -29245"/>
              <a:gd name="adj2" fmla="val 141648"/>
              <a:gd name="adj3" fmla="val 16667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4. Pick best action leasing to largest Q-value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FD0F962-53D0-07DC-792F-6FB00B52DA93}"/>
              </a:ext>
            </a:extLst>
          </p:cNvPr>
          <p:cNvSpPr txBox="1"/>
          <p:nvPr/>
        </p:nvSpPr>
        <p:spPr>
          <a:xfrm>
            <a:off x="3238995" y="6217463"/>
            <a:ext cx="6593669" cy="369332"/>
          </a:xfrm>
          <a:prstGeom prst="rect">
            <a:avLst/>
          </a:prstGeom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b="1" dirty="0"/>
              <a:t>Note</a:t>
            </a:r>
            <a:r>
              <a:rPr lang="en-US" dirty="0"/>
              <a:t>: This is like heuristic (cut-off) min-max search for games.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5A54AD96-0F25-00BD-1813-50A2CBD3189F}"/>
                  </a:ext>
                </a:extLst>
              </p:cNvPr>
              <p:cNvSpPr txBox="1"/>
              <p:nvPr/>
            </p:nvSpPr>
            <p:spPr>
              <a:xfrm>
                <a:off x="8829206" y="2149381"/>
                <a:ext cx="202368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𝑅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5A54AD96-0F25-00BD-1813-50A2CBD3189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829206" y="2149381"/>
                <a:ext cx="202368" cy="369332"/>
              </a:xfrm>
              <a:prstGeom prst="rect">
                <a:avLst/>
              </a:prstGeom>
              <a:blipFill>
                <a:blip r:embed="rId4"/>
                <a:stretch>
                  <a:fillRect r="-5588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F9B57E89-CCA6-FDBE-3927-B474DEB79AEE}"/>
                  </a:ext>
                </a:extLst>
              </p:cNvPr>
              <p:cNvSpPr txBox="1"/>
              <p:nvPr/>
            </p:nvSpPr>
            <p:spPr>
              <a:xfrm>
                <a:off x="9918491" y="2518713"/>
                <a:ext cx="202368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𝑅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F9B57E89-CCA6-FDBE-3927-B474DEB79AE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918491" y="2518713"/>
                <a:ext cx="202368" cy="369332"/>
              </a:xfrm>
              <a:prstGeom prst="rect">
                <a:avLst/>
              </a:prstGeom>
              <a:blipFill>
                <a:blip r:embed="rId5"/>
                <a:stretch>
                  <a:fillRect r="-6060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433EA472-B1A1-B839-4937-338ED139E14A}"/>
                  </a:ext>
                </a:extLst>
              </p:cNvPr>
              <p:cNvSpPr txBox="1"/>
              <p:nvPr/>
            </p:nvSpPr>
            <p:spPr>
              <a:xfrm>
                <a:off x="10628502" y="2910721"/>
                <a:ext cx="202368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𝑅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433EA472-B1A1-B839-4937-338ED139E14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628502" y="2910721"/>
                <a:ext cx="202368" cy="369332"/>
              </a:xfrm>
              <a:prstGeom prst="rect">
                <a:avLst/>
              </a:prstGeom>
              <a:blipFill>
                <a:blip r:embed="rId6"/>
                <a:stretch>
                  <a:fillRect r="-5757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F654F0F7-FADF-FB82-93D5-74148073B8B6}"/>
                  </a:ext>
                </a:extLst>
              </p:cNvPr>
              <p:cNvSpPr txBox="1"/>
              <p:nvPr/>
            </p:nvSpPr>
            <p:spPr>
              <a:xfrm>
                <a:off x="10951915" y="3363020"/>
                <a:ext cx="202368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𝑅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F654F0F7-FADF-FB82-93D5-74148073B8B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951915" y="3363020"/>
                <a:ext cx="202368" cy="369332"/>
              </a:xfrm>
              <a:prstGeom prst="rect">
                <a:avLst/>
              </a:prstGeom>
              <a:blipFill>
                <a:blip r:embed="rId7"/>
                <a:stretch>
                  <a:fillRect r="-5757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A2AB9A23-FBD3-DB90-9801-00E1D6F3D56C}"/>
                  </a:ext>
                </a:extLst>
              </p:cNvPr>
              <p:cNvSpPr txBox="1"/>
              <p:nvPr/>
            </p:nvSpPr>
            <p:spPr>
              <a:xfrm>
                <a:off x="11053099" y="4057069"/>
                <a:ext cx="202368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𝑄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A2AB9A23-FBD3-DB90-9801-00E1D6F3D56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053099" y="4057069"/>
                <a:ext cx="202368" cy="369332"/>
              </a:xfrm>
              <a:prstGeom prst="rect">
                <a:avLst/>
              </a:prstGeom>
              <a:blipFill>
                <a:blip r:embed="rId8"/>
                <a:stretch>
                  <a:fillRect l="-6061" r="-75758" b="-10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86871324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10" grpId="0" animBg="1"/>
      <p:bldP spid="11" grpId="0" animBg="1"/>
      <p:bldP spid="3" grpId="0" animBg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0F21C83-C1A9-FB6C-6458-7E764229613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Option 2: Rollout Algorithms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CC82524-2F85-6F77-02EE-038ACB2CB2FC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92500" lnSpcReduction="20000"/>
              </a:bodyPr>
              <a:lstStyle/>
              <a:p>
                <a:pPr marL="0" indent="0">
                  <a:buNone/>
                </a:pPr>
                <a:r>
                  <a:rPr lang="en-US" dirty="0"/>
                  <a:t>Start with an initial policy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𝜋</m:t>
                    </m:r>
                  </m:oMath>
                </a14:m>
                <a:r>
                  <a:rPr lang="en-US" dirty="0"/>
                  <a:t> called the base policy.</a:t>
                </a:r>
              </a:p>
              <a:p>
                <a:pPr marL="0" indent="0">
                  <a:buNone/>
                </a:pPr>
                <a:r>
                  <a:rPr lang="en-US" dirty="0"/>
                  <a:t>At decision time in state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dirty="0"/>
                  <a:t>:</a:t>
                </a:r>
              </a:p>
              <a:p>
                <a:pPr marL="914400" lvl="1" indent="-457200">
                  <a:buFont typeface="+mj-lt"/>
                  <a:buAutoNum type="arabicPeriod"/>
                </a:pPr>
                <a:r>
                  <a:rPr lang="en-US" b="1" dirty="0"/>
                  <a:t>Monte Carlo Policy Estimation</a:t>
                </a:r>
                <a:r>
                  <a:rPr lang="en-US" dirty="0"/>
                  <a:t>: Use many simulated trajectories to approximate all state/action values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𝑞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𝜋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 for the current state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dirty="0"/>
                  <a:t>.</a:t>
                </a:r>
              </a:p>
              <a:p>
                <a:pPr marL="914400" lvl="1" indent="-457200">
                  <a:buFont typeface="+mj-lt"/>
                  <a:buAutoNum type="arabicPeriod"/>
                </a:pPr>
                <a:r>
                  <a:rPr lang="en-US" b="1" dirty="0"/>
                  <a:t>Choose the best action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b="0" i="0" smtClean="0">
                        <a:latin typeface="Cambria Math" panose="02040503050406030204" pitchFamily="18" charset="0"/>
                      </a:rPr>
                      <m:t>=</m:t>
                    </m:r>
                    <m:func>
                      <m:func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limLow>
                          <m:limLow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limLowPr>
                          <m:e>
                            <m:r>
                              <m:rPr>
                                <m:sty m:val="p"/>
                              </m:rPr>
                              <a:rPr lang="en-US" b="0" i="0" smtClean="0">
                                <a:latin typeface="Cambria Math" panose="02040503050406030204" pitchFamily="18" charset="0"/>
                              </a:rPr>
                              <m:t>argmax</m:t>
                            </m:r>
                          </m:e>
                          <m:lim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𝑎</m:t>
                            </m:r>
                          </m:lim>
                        </m:limLow>
                      </m:fName>
                      <m:e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𝑞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𝜋</m:t>
                            </m:r>
                          </m:sub>
                        </m:sSub>
                        <m:r>
                          <a:rPr lang="en-US" i="1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𝑎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)</m:t>
                        </m:r>
                      </m:e>
                    </m:func>
                  </m:oMath>
                </a14:m>
                <a:r>
                  <a:rPr lang="en-US" b="0" dirty="0"/>
                  <a:t> according to the estimates. This is called the </a:t>
                </a:r>
                <a:r>
                  <a:rPr lang="en-US" b="1" dirty="0"/>
                  <a:t>rollout policy</a:t>
                </a:r>
                <a:r>
                  <a:rPr lang="en-US" b="0" dirty="0"/>
                  <a:t>.</a:t>
                </a:r>
              </a:p>
              <a:p>
                <a:pPr marL="914400" lvl="1" indent="-457200">
                  <a:buFont typeface="+mj-lt"/>
                  <a:buAutoNum type="arabicPeriod"/>
                </a:pPr>
                <a:endParaRPr lang="en-US" dirty="0"/>
              </a:p>
              <a:p>
                <a:pPr marL="0" indent="0">
                  <a:buNone/>
                </a:pPr>
                <a:r>
                  <a:rPr lang="en-US" b="1" dirty="0"/>
                  <a:t>Properties</a:t>
                </a:r>
                <a:r>
                  <a:rPr lang="en-US" dirty="0"/>
                  <a:t>:</a:t>
                </a:r>
              </a:p>
              <a:p>
                <a:r>
                  <a:rPr lang="en-US" dirty="0"/>
                  <a:t>If the base policy is reasonable (i.e., somewhat similar to the optimal policy), rollouts are locally optimal.</a:t>
                </a:r>
              </a:p>
              <a:p>
                <a:r>
                  <a:rPr lang="en-US" dirty="0"/>
                  <a:t>Rollout policy is guaranteed to be at least as good as the base policy (in expectation).</a:t>
                </a:r>
              </a:p>
              <a:p>
                <a:r>
                  <a:rPr lang="en-US" b="1" dirty="0"/>
                  <a:t>You get policy improvement without solving Bellman equations.</a:t>
                </a:r>
              </a:p>
              <a:p>
                <a:pPr marL="914400" lvl="1" indent="-457200">
                  <a:buFont typeface="+mj-lt"/>
                  <a:buAutoNum type="arabicPeriod"/>
                </a:pPr>
                <a:endParaRPr lang="en-US" b="1" dirty="0"/>
              </a:p>
              <a:p>
                <a:pPr marL="914400" lvl="1" indent="-457200">
                  <a:buFont typeface="+mj-lt"/>
                  <a:buAutoNum type="arabicPeriod"/>
                </a:pPr>
                <a:endParaRPr lang="en-US" dirty="0"/>
              </a:p>
              <a:p>
                <a:pPr marL="914400" lvl="1" indent="-457200">
                  <a:buFont typeface="+mj-lt"/>
                  <a:buAutoNum type="arabicPeriod"/>
                </a:pPr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CC82524-2F85-6F77-02EE-038ACB2CB2F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43" t="-3189" r="-121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87547592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1D29CDF0-6E54-CF31-4006-DA0CE95A62F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36910" y="1224786"/>
            <a:ext cx="6086998" cy="3897773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AB9468A3-760E-EC4A-9394-247656C37F0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Rollout Algorithm: Monte Carlo Tree Search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9C45C3E-18E2-0CBC-535D-7E0DD489F2F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97330"/>
            <a:ext cx="5023757" cy="4779633"/>
          </a:xfrm>
        </p:spPr>
        <p:txBody>
          <a:bodyPr>
            <a:normAutofit fontScale="77500" lnSpcReduction="20000"/>
          </a:bodyPr>
          <a:lstStyle/>
          <a:p>
            <a:r>
              <a:rPr lang="en-US" dirty="0"/>
              <a:t>MCTS is a rollout algorithm that stores some intermediate estimates in a depth-limited tree structure. </a:t>
            </a:r>
          </a:p>
          <a:p>
            <a:pPr lvl="1"/>
            <a:r>
              <a:rPr lang="en-US" b="1" dirty="0"/>
              <a:t>Selection</a:t>
            </a:r>
            <a:r>
              <a:rPr lang="en-US" dirty="0"/>
              <a:t>: Pick the currently best leaf node (e.g., greedy, UCB).</a:t>
            </a:r>
          </a:p>
          <a:p>
            <a:pPr lvl="1"/>
            <a:r>
              <a:rPr lang="en-US" b="1" dirty="0"/>
              <a:t>Expansion</a:t>
            </a:r>
            <a:r>
              <a:rPr lang="en-US" dirty="0"/>
              <a:t>: Add new nodes, but keep the tree small enough.</a:t>
            </a:r>
          </a:p>
          <a:p>
            <a:pPr lvl="1"/>
            <a:r>
              <a:rPr lang="en-US" b="1" dirty="0"/>
              <a:t>Simulation</a:t>
            </a:r>
            <a:r>
              <a:rPr lang="en-US" dirty="0"/>
              <a:t>: From a selected node, simulate complete episode(s). </a:t>
            </a:r>
          </a:p>
          <a:p>
            <a:pPr lvl="1"/>
            <a:r>
              <a:rPr lang="en-US" b="1" dirty="0"/>
              <a:t>Backup</a:t>
            </a:r>
            <a:r>
              <a:rPr lang="en-US" dirty="0"/>
              <a:t>: update the tree with the result of the playout.</a:t>
            </a:r>
          </a:p>
          <a:p>
            <a:endParaRPr lang="en-US" dirty="0"/>
          </a:p>
          <a:p>
            <a:r>
              <a:rPr lang="en-US" b="1" dirty="0"/>
              <a:t>Advantage</a:t>
            </a:r>
            <a:r>
              <a:rPr lang="en-US" dirty="0"/>
              <a:t>: selection steers the simulation towards better trajectories. This avoids approximating the full value function.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Speech Bubble: Rectangle with Corners Rounded 7">
                <a:extLst>
                  <a:ext uri="{FF2B5EF4-FFF2-40B4-BE49-F238E27FC236}">
                    <a16:creationId xmlns:a16="http://schemas.microsoft.com/office/drawing/2014/main" id="{C8435328-960F-3341-B5FD-2B3A09AB85A7}"/>
                  </a:ext>
                </a:extLst>
              </p:cNvPr>
              <p:cNvSpPr/>
              <p:nvPr/>
            </p:nvSpPr>
            <p:spPr>
              <a:xfrm>
                <a:off x="6254217" y="5018730"/>
                <a:ext cx="1221527" cy="816678"/>
              </a:xfrm>
              <a:prstGeom prst="wedgeRoundRectCallout">
                <a:avLst>
                  <a:gd name="adj1" fmla="val -21404"/>
                  <a:gd name="adj2" fmla="val -256303"/>
                  <a:gd name="adj3" fmla="val 16667"/>
                </a:avLst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400" dirty="0"/>
                  <a:t>Stores estimated </a:t>
                </a:r>
                <a14:m>
                  <m:oMath xmlns:m="http://schemas.openxmlformats.org/officeDocument/2006/math">
                    <m:r>
                      <a:rPr lang="en-US" sz="1400" b="0" i="1" smtClean="0">
                        <a:latin typeface="Cambria Math" panose="02040503050406030204" pitchFamily="18" charset="0"/>
                      </a:rPr>
                      <m:t>𝑞</m:t>
                    </m:r>
                    <m:r>
                      <a:rPr lang="en-US" sz="1400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400" i="1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400" i="1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1400" i="1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1400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400" dirty="0"/>
                  <a:t> values</a:t>
                </a:r>
              </a:p>
            </p:txBody>
          </p:sp>
        </mc:Choice>
        <mc:Fallback xmlns="">
          <p:sp>
            <p:nvSpPr>
              <p:cNvPr id="8" name="Speech Bubble: Rectangle with Corners Rounded 7">
                <a:extLst>
                  <a:ext uri="{FF2B5EF4-FFF2-40B4-BE49-F238E27FC236}">
                    <a16:creationId xmlns:a16="http://schemas.microsoft.com/office/drawing/2014/main" id="{C8435328-960F-3341-B5FD-2B3A09AB85A7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54217" y="5018730"/>
                <a:ext cx="1221527" cy="816678"/>
              </a:xfrm>
              <a:prstGeom prst="wedgeRoundRectCallout">
                <a:avLst>
                  <a:gd name="adj1" fmla="val -21404"/>
                  <a:gd name="adj2" fmla="val -256303"/>
                  <a:gd name="adj3" fmla="val 16667"/>
                </a:avLst>
              </a:prstGeom>
              <a:blipFill>
                <a:blip r:embed="rId3"/>
                <a:stretch>
                  <a:fillRect b="-448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TextBox 3">
            <a:extLst>
              <a:ext uri="{FF2B5EF4-FFF2-40B4-BE49-F238E27FC236}">
                <a16:creationId xmlns:a16="http://schemas.microsoft.com/office/drawing/2014/main" id="{3B5B0257-0AFD-5451-8182-1A7A8976312D}"/>
              </a:ext>
            </a:extLst>
          </p:cNvPr>
          <p:cNvSpPr txBox="1"/>
          <p:nvPr/>
        </p:nvSpPr>
        <p:spPr>
          <a:xfrm>
            <a:off x="783152" y="6176963"/>
            <a:ext cx="10942130" cy="369332"/>
          </a:xfrm>
          <a:prstGeom prst="rect">
            <a:avLst/>
          </a:prstGeom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dirty="0"/>
              <a:t>MTCS can be seen as an RL method that selectively approximates q-values useful for choosing good actions.</a:t>
            </a:r>
          </a:p>
        </p:txBody>
      </p:sp>
    </p:spTree>
    <p:extLst>
      <p:ext uri="{BB962C8B-B14F-4D97-AF65-F5344CB8AC3E}">
        <p14:creationId xmlns:p14="http://schemas.microsoft.com/office/powerpoint/2010/main" val="95991403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Slide Background">
            <a:extLst>
              <a:ext uri="{FF2B5EF4-FFF2-40B4-BE49-F238E27FC236}">
                <a16:creationId xmlns:a16="http://schemas.microsoft.com/office/drawing/2014/main" id="{3ECBE1F1-D69B-4AFA-ABD5-8E41720EF6D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5D1012F4-36DF-FD35-6D3C-6566E015BBD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0596" r="26745" b="-2"/>
          <a:stretch>
            <a:fillRect/>
          </a:stretch>
        </p:blipFill>
        <p:spPr bwMode="auto">
          <a:xfrm>
            <a:off x="-1" y="-2"/>
            <a:ext cx="5410198" cy="685800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 useBgFill="1">
        <p:nvSpPr>
          <p:cNvPr id="11" name="Rectangle 10">
            <a:extLst>
              <a:ext uri="{FF2B5EF4-FFF2-40B4-BE49-F238E27FC236}">
                <a16:creationId xmlns:a16="http://schemas.microsoft.com/office/drawing/2014/main" id="{603A6265-E10C-4B85-9C20-E75FCAF9CC6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410197" y="-1"/>
            <a:ext cx="6781802" cy="2286000"/>
          </a:xfrm>
          <a:prstGeom prst="rect">
            <a:avLst/>
          </a:prstGeom>
          <a:ln>
            <a:noFill/>
          </a:ln>
          <a:effectLst>
            <a:outerShdw blurRad="355600" dist="152400" sx="95000" sy="95000" algn="t" rotWithShape="0">
              <a:srgbClr val="000000">
                <a:alpha val="29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252967B-B41E-CCE0-ED2B-9ED41646346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15317" y="405685"/>
            <a:ext cx="5464968" cy="1559301"/>
          </a:xfrm>
        </p:spPr>
        <p:txBody>
          <a:bodyPr>
            <a:normAutofit/>
          </a:bodyPr>
          <a:lstStyle/>
          <a:p>
            <a:r>
              <a:rPr lang="en-US" sz="4000"/>
              <a:t>What you Should Know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CB1B6DA-A372-993E-5FE0-1B16BA463B7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723164" y="2457450"/>
            <a:ext cx="5951765" cy="4100748"/>
          </a:xfrm>
        </p:spPr>
        <p:txBody>
          <a:bodyPr anchor="ctr">
            <a:normAutofit lnSpcReduction="10000"/>
          </a:bodyPr>
          <a:lstStyle/>
          <a:p>
            <a:r>
              <a:rPr lang="en-US" sz="1600" dirty="0"/>
              <a:t>We can have different models of the environment. </a:t>
            </a:r>
          </a:p>
          <a:p>
            <a:pPr lvl="1"/>
            <a:r>
              <a:rPr lang="en-US" sz="1600" dirty="0"/>
              <a:t>A full </a:t>
            </a:r>
            <a:r>
              <a:rPr lang="en-US" sz="1600" b="1" dirty="0"/>
              <a:t>distribution model</a:t>
            </a:r>
          </a:p>
          <a:p>
            <a:pPr lvl="1"/>
            <a:r>
              <a:rPr lang="en-US" sz="1600" dirty="0"/>
              <a:t>A </a:t>
            </a:r>
            <a:r>
              <a:rPr lang="en-US" sz="1600" b="1" dirty="0"/>
              <a:t>sample model</a:t>
            </a:r>
          </a:p>
          <a:p>
            <a:endParaRPr lang="en-US" sz="1600" dirty="0"/>
          </a:p>
          <a:p>
            <a:pPr lvl="1"/>
            <a:r>
              <a:rPr lang="en-US" sz="1600" dirty="0"/>
              <a:t>DP (planning) requires a distribution model because it uses expected updates.</a:t>
            </a:r>
          </a:p>
          <a:p>
            <a:pPr lvl="1"/>
            <a:r>
              <a:rPr lang="en-US" sz="1600" dirty="0"/>
              <a:t>Model-free RL, like MC and TD, can use a sample model to perform sample updates.</a:t>
            </a:r>
          </a:p>
          <a:p>
            <a:pPr lvl="1"/>
            <a:r>
              <a:rPr lang="en-US" sz="1600" dirty="0"/>
              <a:t>Decision-time planning can also use a sample model. E.g., rollout algorithms sample trajectories.  </a:t>
            </a:r>
          </a:p>
          <a:p>
            <a:endParaRPr lang="en-US" sz="1600" dirty="0"/>
          </a:p>
          <a:p>
            <a:r>
              <a:rPr lang="en-US" sz="1600" dirty="0"/>
              <a:t>Planning and learning are related and try to estimate the same value function.</a:t>
            </a:r>
          </a:p>
          <a:p>
            <a:pPr lvl="1"/>
            <a:r>
              <a:rPr lang="en-US" sz="1600" b="1" dirty="0"/>
              <a:t>Learning</a:t>
            </a:r>
            <a:r>
              <a:rPr lang="en-US" sz="1600" dirty="0"/>
              <a:t>: Direct RL directly learns a value function</a:t>
            </a:r>
          </a:p>
          <a:p>
            <a:pPr lvl="1"/>
            <a:r>
              <a:rPr lang="en-US" sz="1600" b="1" dirty="0"/>
              <a:t>Planning</a:t>
            </a:r>
            <a:r>
              <a:rPr lang="en-US" sz="1600" dirty="0"/>
              <a:t>: We learn a model used to estimate the value function.</a:t>
            </a:r>
          </a:p>
          <a:p>
            <a:pPr lvl="1"/>
            <a:endParaRPr lang="en-US" sz="1200" dirty="0"/>
          </a:p>
        </p:txBody>
      </p:sp>
    </p:spTree>
    <p:extLst>
      <p:ext uri="{BB962C8B-B14F-4D97-AF65-F5344CB8AC3E}">
        <p14:creationId xmlns:p14="http://schemas.microsoft.com/office/powerpoint/2010/main" val="253317983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97B29DCF-5823-DFE3-76A3-9921453D8F4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Summary of Part I: </a:t>
            </a:r>
            <a:br>
              <a:rPr lang="en-US" dirty="0"/>
            </a:br>
            <a:r>
              <a:rPr lang="en-US" dirty="0"/>
              <a:t>Tabular Solution Methods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C2D5D64-9B74-CBE4-593F-CD0BD612F90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85184653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34759B-BFB3-E9E3-B86B-928B804D557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Common Ideas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AAB916F-83BD-942C-05F0-07CE48F7465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97331"/>
            <a:ext cx="7421380" cy="4163786"/>
          </a:xfrm>
        </p:spPr>
        <p:txBody>
          <a:bodyPr>
            <a:normAutofit fontScale="92500" lnSpcReduction="10000"/>
          </a:bodyPr>
          <a:lstStyle/>
          <a:p>
            <a:pPr marL="514350" indent="-514350">
              <a:buFont typeface="+mj-lt"/>
              <a:buAutoNum type="arabicPeriod"/>
            </a:pPr>
            <a:r>
              <a:rPr lang="en-US" b="1" dirty="0"/>
              <a:t>Policy Evaluation</a:t>
            </a:r>
            <a:r>
              <a:rPr lang="en-US" dirty="0"/>
              <a:t>: Estimate the value function by updates based on </a:t>
            </a:r>
            <a:r>
              <a:rPr lang="en-US" b="1" dirty="0"/>
              <a:t>backing up </a:t>
            </a:r>
            <a:r>
              <a:rPr lang="en-US" dirty="0"/>
              <a:t>values along actual or possible state trajectories.</a:t>
            </a:r>
          </a:p>
          <a:p>
            <a:pPr marL="514350" indent="-514350">
              <a:buFont typeface="+mj-lt"/>
              <a:buAutoNum type="arabicPeriod"/>
            </a:pPr>
            <a:endParaRPr lang="en-US" b="1" dirty="0"/>
          </a:p>
          <a:p>
            <a:pPr marL="514350" indent="-514350">
              <a:buFont typeface="+mj-lt"/>
              <a:buAutoNum type="arabicPeriod"/>
            </a:pPr>
            <a:r>
              <a:rPr lang="en-US" b="1" dirty="0"/>
              <a:t>Generalized policy iteration (GPI): </a:t>
            </a:r>
            <a:r>
              <a:rPr lang="en-US" dirty="0"/>
              <a:t>maintain an approx. value function and an approx. policy. Each is used to update the other. Converges due to the policy improvement theorem.</a:t>
            </a:r>
          </a:p>
          <a:p>
            <a:endParaRPr lang="en-US" dirty="0"/>
          </a:p>
          <a:p>
            <a:pPr marL="0" indent="0">
              <a:buNone/>
            </a:pPr>
            <a:r>
              <a:rPr lang="en-US" b="1" dirty="0"/>
              <a:t>Differences</a:t>
            </a:r>
            <a:r>
              <a:rPr lang="en-US" dirty="0"/>
              <a:t>: How to perform policy evaluation.</a:t>
            </a:r>
          </a:p>
          <a:p>
            <a:endParaRPr lang="en-US" dirty="0"/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3034BB89-D9AD-752C-0116-E0F49DEE26E2}"/>
              </a:ext>
            </a:extLst>
          </p:cNvPr>
          <p:cNvGrpSpPr/>
          <p:nvPr/>
        </p:nvGrpSpPr>
        <p:grpSpPr>
          <a:xfrm>
            <a:off x="8718878" y="951646"/>
            <a:ext cx="2751579" cy="4729856"/>
            <a:chOff x="8329133" y="558128"/>
            <a:chExt cx="2751579" cy="4729856"/>
          </a:xfrm>
        </p:grpSpPr>
        <p:pic>
          <p:nvPicPr>
            <p:cNvPr id="9" name="Picture 8">
              <a:extLst>
                <a:ext uri="{FF2B5EF4-FFF2-40B4-BE49-F238E27FC236}">
                  <a16:creationId xmlns:a16="http://schemas.microsoft.com/office/drawing/2014/main" id="{6D7366F6-2509-4BE8-74F6-EEAFAB9B333B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8329133" y="1124198"/>
              <a:ext cx="2751579" cy="4163786"/>
            </a:xfrm>
            <a:prstGeom prst="rect">
              <a:avLst/>
            </a:prstGeom>
          </p:spPr>
        </p:pic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DF451D61-2411-6879-B37C-B7CD2548ECAE}"/>
                </a:ext>
              </a:extLst>
            </p:cNvPr>
            <p:cNvSpPr txBox="1"/>
            <p:nvPr/>
          </p:nvSpPr>
          <p:spPr>
            <a:xfrm>
              <a:off x="8709548" y="558128"/>
              <a:ext cx="1641021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/>
                <a:t>GPI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4171309362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882B106-F46F-71F6-E8A8-A93D086D68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Policy Evaluation: Update Depth vs. Update Width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8DB6AFE-8E14-4667-7D60-A58A0303A73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26923" y="1210540"/>
            <a:ext cx="5383802" cy="5015409"/>
          </a:xfrm>
          <a:prstGeom prst="rect">
            <a:avLst/>
          </a:prstGeom>
        </p:spPr>
      </p:pic>
      <p:grpSp>
        <p:nvGrpSpPr>
          <p:cNvPr id="10" name="Group 9">
            <a:extLst>
              <a:ext uri="{FF2B5EF4-FFF2-40B4-BE49-F238E27FC236}">
                <a16:creationId xmlns:a16="http://schemas.microsoft.com/office/drawing/2014/main" id="{5CA57B6F-AFA2-C742-A3A7-F8BFC16F658E}"/>
              </a:ext>
            </a:extLst>
          </p:cNvPr>
          <p:cNvGrpSpPr/>
          <p:nvPr/>
        </p:nvGrpSpPr>
        <p:grpSpPr>
          <a:xfrm>
            <a:off x="623171" y="1320484"/>
            <a:ext cx="2169697" cy="4000295"/>
            <a:chOff x="9600257" y="1309985"/>
            <a:chExt cx="2169697" cy="4000295"/>
          </a:xfrm>
        </p:grpSpPr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211F3E45-0A95-EED3-B84E-EEFE207BB62B}"/>
                </a:ext>
              </a:extLst>
            </p:cNvPr>
            <p:cNvSpPr txBox="1"/>
            <p:nvPr/>
          </p:nvSpPr>
          <p:spPr>
            <a:xfrm>
              <a:off x="9658670" y="1309985"/>
              <a:ext cx="2052870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b="1" dirty="0"/>
                <a:t>Depth</a:t>
              </a:r>
            </a:p>
            <a:p>
              <a:r>
                <a:rPr lang="en-US" dirty="0"/>
                <a:t>One-step methods</a:t>
              </a:r>
            </a:p>
          </p:txBody>
        </p:sp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47377371-CF2F-F011-0779-F30E76BC4BB4}"/>
                </a:ext>
              </a:extLst>
            </p:cNvPr>
            <p:cNvSpPr txBox="1"/>
            <p:nvPr/>
          </p:nvSpPr>
          <p:spPr>
            <a:xfrm>
              <a:off x="9803742" y="3244334"/>
              <a:ext cx="1762727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n-step methods</a:t>
              </a:r>
            </a:p>
          </p:txBody>
        </p:sp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BCB11024-C75F-4F34-33B5-AF6E80BF33E8}"/>
                </a:ext>
              </a:extLst>
            </p:cNvPr>
            <p:cNvSpPr txBox="1"/>
            <p:nvPr/>
          </p:nvSpPr>
          <p:spPr>
            <a:xfrm>
              <a:off x="9600257" y="4940948"/>
              <a:ext cx="2169697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Full-return methods</a:t>
              </a:r>
            </a:p>
          </p:txBody>
        </p:sp>
        <p:sp>
          <p:nvSpPr>
            <p:cNvPr id="8" name="Arrow: Down 7">
              <a:extLst>
                <a:ext uri="{FF2B5EF4-FFF2-40B4-BE49-F238E27FC236}">
                  <a16:creationId xmlns:a16="http://schemas.microsoft.com/office/drawing/2014/main" id="{14776485-2079-FEC2-09A9-7017DA2CC2F5}"/>
                </a:ext>
              </a:extLst>
            </p:cNvPr>
            <p:cNvSpPr/>
            <p:nvPr/>
          </p:nvSpPr>
          <p:spPr>
            <a:xfrm>
              <a:off x="10378945" y="2081893"/>
              <a:ext cx="612321" cy="1036864"/>
            </a:xfrm>
            <a:prstGeom prst="downArrow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" name="Arrow: Down 8">
              <a:extLst>
                <a:ext uri="{FF2B5EF4-FFF2-40B4-BE49-F238E27FC236}">
                  <a16:creationId xmlns:a16="http://schemas.microsoft.com/office/drawing/2014/main" id="{41E61BFF-8CD8-FB08-066F-8BE63D8D46A9}"/>
                </a:ext>
              </a:extLst>
            </p:cNvPr>
            <p:cNvSpPr/>
            <p:nvPr/>
          </p:nvSpPr>
          <p:spPr>
            <a:xfrm>
              <a:off x="10378945" y="3762766"/>
              <a:ext cx="612321" cy="1036864"/>
            </a:xfrm>
            <a:prstGeom prst="downArrow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4" name="Group 13">
            <a:extLst>
              <a:ext uri="{FF2B5EF4-FFF2-40B4-BE49-F238E27FC236}">
                <a16:creationId xmlns:a16="http://schemas.microsoft.com/office/drawing/2014/main" id="{C4C207F5-CAC8-12B2-B67A-66F8D1C74980}"/>
              </a:ext>
            </a:extLst>
          </p:cNvPr>
          <p:cNvGrpSpPr/>
          <p:nvPr/>
        </p:nvGrpSpPr>
        <p:grpSpPr>
          <a:xfrm>
            <a:off x="2306541" y="6100430"/>
            <a:ext cx="6410689" cy="646331"/>
            <a:chOff x="2306541" y="6100430"/>
            <a:chExt cx="6410689" cy="646331"/>
          </a:xfrm>
        </p:grpSpPr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0365FAD9-46E0-2ED7-7960-D6D32A45196B}"/>
                </a:ext>
              </a:extLst>
            </p:cNvPr>
            <p:cNvSpPr txBox="1"/>
            <p:nvPr/>
          </p:nvSpPr>
          <p:spPr>
            <a:xfrm>
              <a:off x="2306541" y="6232272"/>
              <a:ext cx="281545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b="1" dirty="0"/>
                <a:t>Width</a:t>
              </a:r>
              <a:r>
                <a:rPr lang="en-US" dirty="0"/>
                <a:t>: Sampled trajectory</a:t>
              </a:r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07793D0C-B4CF-EC6C-54B8-83A8347068BF}"/>
                </a:ext>
              </a:extLst>
            </p:cNvPr>
            <p:cNvSpPr txBox="1"/>
            <p:nvPr/>
          </p:nvSpPr>
          <p:spPr>
            <a:xfrm>
              <a:off x="6096000" y="6100430"/>
              <a:ext cx="2621230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Consider all actions </a:t>
              </a:r>
              <a:br>
                <a:rPr lang="en-US" dirty="0"/>
              </a:br>
              <a:r>
                <a:rPr lang="en-US" dirty="0"/>
                <a:t>(use expectation or max)</a:t>
              </a:r>
            </a:p>
          </p:txBody>
        </p:sp>
        <p:sp>
          <p:nvSpPr>
            <p:cNvPr id="13" name="Arrow: Right 12">
              <a:extLst>
                <a:ext uri="{FF2B5EF4-FFF2-40B4-BE49-F238E27FC236}">
                  <a16:creationId xmlns:a16="http://schemas.microsoft.com/office/drawing/2014/main" id="{569A355E-8C8B-CA9F-BE38-4BCBB51D550C}"/>
                </a:ext>
              </a:extLst>
            </p:cNvPr>
            <p:cNvSpPr/>
            <p:nvPr/>
          </p:nvSpPr>
          <p:spPr>
            <a:xfrm>
              <a:off x="5174343" y="6161314"/>
              <a:ext cx="718457" cy="551543"/>
            </a:xfrm>
            <a:prstGeom prst="rightArrow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3" name="TextBox 2">
            <a:extLst>
              <a:ext uri="{FF2B5EF4-FFF2-40B4-BE49-F238E27FC236}">
                <a16:creationId xmlns:a16="http://schemas.microsoft.com/office/drawing/2014/main" id="{FEF398DD-AA03-FE12-13CC-F67E547F1FF6}"/>
              </a:ext>
            </a:extLst>
          </p:cNvPr>
          <p:cNvSpPr txBox="1"/>
          <p:nvPr/>
        </p:nvSpPr>
        <p:spPr>
          <a:xfrm>
            <a:off x="8986196" y="4797303"/>
            <a:ext cx="2275530" cy="923330"/>
          </a:xfrm>
          <a:prstGeom prst="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wrap="square" rtlCol="0">
            <a:spAutoFit/>
          </a:bodyPr>
          <a:lstStyle/>
          <a:p>
            <a:r>
              <a:rPr lang="en-US" dirty="0"/>
              <a:t>Each method is located somewhere  in this continuum.</a:t>
            </a:r>
          </a:p>
        </p:txBody>
      </p:sp>
      <p:grpSp>
        <p:nvGrpSpPr>
          <p:cNvPr id="17" name="Group 16">
            <a:extLst>
              <a:ext uri="{FF2B5EF4-FFF2-40B4-BE49-F238E27FC236}">
                <a16:creationId xmlns:a16="http://schemas.microsoft.com/office/drawing/2014/main" id="{5119C3A0-42FD-212B-5471-F32C75AA54ED}"/>
              </a:ext>
            </a:extLst>
          </p:cNvPr>
          <p:cNvGrpSpPr/>
          <p:nvPr/>
        </p:nvGrpSpPr>
        <p:grpSpPr>
          <a:xfrm>
            <a:off x="5227038" y="4647030"/>
            <a:ext cx="1588797" cy="523220"/>
            <a:chOff x="5069641" y="3855268"/>
            <a:chExt cx="1588797" cy="523220"/>
          </a:xfrm>
        </p:grpSpPr>
        <p:sp>
          <p:nvSpPr>
            <p:cNvPr id="15" name="Oval 14">
              <a:extLst>
                <a:ext uri="{FF2B5EF4-FFF2-40B4-BE49-F238E27FC236}">
                  <a16:creationId xmlns:a16="http://schemas.microsoft.com/office/drawing/2014/main" id="{1A7752DC-C919-21AB-695A-0B5E14D50DAF}"/>
                </a:ext>
              </a:extLst>
            </p:cNvPr>
            <p:cNvSpPr/>
            <p:nvPr/>
          </p:nvSpPr>
          <p:spPr>
            <a:xfrm>
              <a:off x="5069641" y="4071507"/>
              <a:ext cx="104702" cy="102624"/>
            </a:xfrm>
            <a:prstGeom prst="ellipse">
              <a:avLst/>
            </a:prstGeom>
            <a:ln w="635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A2938DCA-3D73-EEA6-5D71-9C1852C94B98}"/>
                </a:ext>
              </a:extLst>
            </p:cNvPr>
            <p:cNvSpPr txBox="1"/>
            <p:nvPr/>
          </p:nvSpPr>
          <p:spPr>
            <a:xfrm>
              <a:off x="5127161" y="3855268"/>
              <a:ext cx="1531277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400" dirty="0"/>
                <a:t>Rollout Algorithms</a:t>
              </a:r>
            </a:p>
          </p:txBody>
        </p:sp>
      </p:grpSp>
      <p:sp>
        <p:nvSpPr>
          <p:cNvPr id="18" name="TextBox 17">
            <a:extLst>
              <a:ext uri="{FF2B5EF4-FFF2-40B4-BE49-F238E27FC236}">
                <a16:creationId xmlns:a16="http://schemas.microsoft.com/office/drawing/2014/main" id="{4E74D7B6-C23A-AF2E-4548-1F2E9AF97501}"/>
              </a:ext>
            </a:extLst>
          </p:cNvPr>
          <p:cNvSpPr txBox="1"/>
          <p:nvPr/>
        </p:nvSpPr>
        <p:spPr>
          <a:xfrm>
            <a:off x="4235080" y="1683811"/>
            <a:ext cx="153127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/>
              <a:t>one-step Sarsa</a:t>
            </a:r>
            <a:br>
              <a:rPr lang="en-US" sz="1400" dirty="0"/>
            </a:br>
            <a:r>
              <a:rPr lang="en-US" sz="1400" dirty="0"/>
              <a:t>Q-Learning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779370B-E9C9-008B-B236-A85F259625FE}"/>
              </a:ext>
            </a:extLst>
          </p:cNvPr>
          <p:cNvSpPr txBox="1"/>
          <p:nvPr/>
        </p:nvSpPr>
        <p:spPr>
          <a:xfrm>
            <a:off x="8438052" y="1580720"/>
            <a:ext cx="256472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/>
              <a:t>+ Expected Sarsa</a:t>
            </a:r>
          </a:p>
        </p:txBody>
      </p:sp>
      <p:grpSp>
        <p:nvGrpSpPr>
          <p:cNvPr id="22" name="Group 21">
            <a:extLst>
              <a:ext uri="{FF2B5EF4-FFF2-40B4-BE49-F238E27FC236}">
                <a16:creationId xmlns:a16="http://schemas.microsoft.com/office/drawing/2014/main" id="{AFABC249-B9C3-B83D-2555-FEAEA52E10A6}"/>
              </a:ext>
            </a:extLst>
          </p:cNvPr>
          <p:cNvGrpSpPr/>
          <p:nvPr/>
        </p:nvGrpSpPr>
        <p:grpSpPr>
          <a:xfrm>
            <a:off x="4130378" y="3100944"/>
            <a:ext cx="1583628" cy="307777"/>
            <a:chOff x="4130378" y="3100944"/>
            <a:chExt cx="1583628" cy="307777"/>
          </a:xfrm>
        </p:grpSpPr>
        <p:sp>
          <p:nvSpPr>
            <p:cNvPr id="20" name="Oval 19">
              <a:extLst>
                <a:ext uri="{FF2B5EF4-FFF2-40B4-BE49-F238E27FC236}">
                  <a16:creationId xmlns:a16="http://schemas.microsoft.com/office/drawing/2014/main" id="{A5FC1DEF-060E-DB48-CC65-B77A6C34CC20}"/>
                </a:ext>
              </a:extLst>
            </p:cNvPr>
            <p:cNvSpPr/>
            <p:nvPr/>
          </p:nvSpPr>
          <p:spPr>
            <a:xfrm>
              <a:off x="4130378" y="3203521"/>
              <a:ext cx="104702" cy="102624"/>
            </a:xfrm>
            <a:prstGeom prst="ellipse">
              <a:avLst/>
            </a:prstGeom>
            <a:ln w="635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F85C0057-A551-8186-D2E1-FC4CE09F09CD}"/>
                </a:ext>
              </a:extLst>
            </p:cNvPr>
            <p:cNvSpPr txBox="1"/>
            <p:nvPr/>
          </p:nvSpPr>
          <p:spPr>
            <a:xfrm>
              <a:off x="4182729" y="3100944"/>
              <a:ext cx="1531277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400" dirty="0"/>
                <a:t>n-step Sarsa</a:t>
              </a:r>
            </a:p>
          </p:txBody>
        </p:sp>
      </p:grpSp>
      <p:sp>
        <p:nvSpPr>
          <p:cNvPr id="24" name="Arrow: Down 23">
            <a:extLst>
              <a:ext uri="{FF2B5EF4-FFF2-40B4-BE49-F238E27FC236}">
                <a16:creationId xmlns:a16="http://schemas.microsoft.com/office/drawing/2014/main" id="{9460DE18-4C9A-6BA3-92A8-156AF432C6B4}"/>
              </a:ext>
            </a:extLst>
          </p:cNvPr>
          <p:cNvSpPr/>
          <p:nvPr/>
        </p:nvSpPr>
        <p:spPr>
          <a:xfrm flipV="1">
            <a:off x="2651452" y="2053157"/>
            <a:ext cx="679509" cy="2852096"/>
          </a:xfrm>
          <a:prstGeom prst="downArrow">
            <a:avLst/>
          </a:prstGeom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vert="vert" rtlCol="0" anchor="ctr"/>
          <a:lstStyle/>
          <a:p>
            <a:pPr algn="ctr"/>
            <a:r>
              <a:rPr lang="en-US" dirty="0"/>
              <a:t>Bias increases</a:t>
            </a:r>
          </a:p>
        </p:txBody>
      </p:sp>
      <p:sp>
        <p:nvSpPr>
          <p:cNvPr id="26" name="Arrow: Right 25">
            <a:extLst>
              <a:ext uri="{FF2B5EF4-FFF2-40B4-BE49-F238E27FC236}">
                <a16:creationId xmlns:a16="http://schemas.microsoft.com/office/drawing/2014/main" id="{9F10ED61-9697-A761-C38E-9B0931805EDB}"/>
              </a:ext>
            </a:extLst>
          </p:cNvPr>
          <p:cNvSpPr/>
          <p:nvPr/>
        </p:nvSpPr>
        <p:spPr>
          <a:xfrm flipH="1">
            <a:off x="4369599" y="5513480"/>
            <a:ext cx="2327944" cy="586950"/>
          </a:xfrm>
          <a:prstGeom prst="rightArrow">
            <a:avLst/>
          </a:prstGeom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Variance increases</a:t>
            </a:r>
          </a:p>
        </p:txBody>
      </p:sp>
      <p:grpSp>
        <p:nvGrpSpPr>
          <p:cNvPr id="27" name="Group 26">
            <a:extLst>
              <a:ext uri="{FF2B5EF4-FFF2-40B4-BE49-F238E27FC236}">
                <a16:creationId xmlns:a16="http://schemas.microsoft.com/office/drawing/2014/main" id="{7D1DE593-0B34-D530-BE33-148CB1599F39}"/>
              </a:ext>
            </a:extLst>
          </p:cNvPr>
          <p:cNvGrpSpPr/>
          <p:nvPr/>
        </p:nvGrpSpPr>
        <p:grpSpPr>
          <a:xfrm>
            <a:off x="5227038" y="3517291"/>
            <a:ext cx="1588797" cy="523220"/>
            <a:chOff x="5069641" y="3855268"/>
            <a:chExt cx="1588797" cy="523220"/>
          </a:xfrm>
        </p:grpSpPr>
        <p:sp>
          <p:nvSpPr>
            <p:cNvPr id="28" name="Oval 27">
              <a:extLst>
                <a:ext uri="{FF2B5EF4-FFF2-40B4-BE49-F238E27FC236}">
                  <a16:creationId xmlns:a16="http://schemas.microsoft.com/office/drawing/2014/main" id="{A9F37B31-30DD-6438-F97B-1D7F20C6B9DE}"/>
                </a:ext>
              </a:extLst>
            </p:cNvPr>
            <p:cNvSpPr/>
            <p:nvPr/>
          </p:nvSpPr>
          <p:spPr>
            <a:xfrm>
              <a:off x="5069641" y="4071507"/>
              <a:ext cx="104702" cy="102624"/>
            </a:xfrm>
            <a:prstGeom prst="ellipse">
              <a:avLst/>
            </a:prstGeom>
            <a:ln w="635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D5F71844-0FD3-56FF-0936-594357BEDB8D}"/>
                </a:ext>
              </a:extLst>
            </p:cNvPr>
            <p:cNvSpPr txBox="1"/>
            <p:nvPr/>
          </p:nvSpPr>
          <p:spPr>
            <a:xfrm>
              <a:off x="5127161" y="3855268"/>
              <a:ext cx="1531277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400" dirty="0"/>
                <a:t>Heuristic</a:t>
              </a:r>
              <a:br>
                <a:rPr lang="en-US" sz="1400" dirty="0"/>
              </a:br>
              <a:r>
                <a:rPr lang="en-US" sz="1400" dirty="0"/>
                <a:t>Search</a:t>
              </a:r>
            </a:p>
          </p:txBody>
        </p:sp>
      </p:grpSp>
      <p:sp>
        <p:nvSpPr>
          <p:cNvPr id="23" name="TextBox 22">
            <a:extLst>
              <a:ext uri="{FF2B5EF4-FFF2-40B4-BE49-F238E27FC236}">
                <a16:creationId xmlns:a16="http://schemas.microsoft.com/office/drawing/2014/main" id="{E0808173-01FB-4745-DD56-A2D88A5FE9FD}"/>
              </a:ext>
            </a:extLst>
          </p:cNvPr>
          <p:cNvSpPr txBox="1"/>
          <p:nvPr/>
        </p:nvSpPr>
        <p:spPr>
          <a:xfrm>
            <a:off x="8986196" y="2360586"/>
            <a:ext cx="2275530" cy="1200329"/>
          </a:xfrm>
          <a:prstGeom prst="rect">
            <a:avLst/>
          </a:prstGeom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wrap="square" rtlCol="0">
            <a:spAutoFit/>
          </a:bodyPr>
          <a:lstStyle/>
          <a:p>
            <a:r>
              <a:rPr lang="en-US" dirty="0"/>
              <a:t>Bias decreases the closer we get to the optimal value function.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09B2548B-E9B6-44AE-AA51-21FD905A4927}"/>
              </a:ext>
            </a:extLst>
          </p:cNvPr>
          <p:cNvSpPr txBox="1"/>
          <p:nvPr/>
        </p:nvSpPr>
        <p:spPr>
          <a:xfrm>
            <a:off x="8986196" y="3724748"/>
            <a:ext cx="2275530" cy="646331"/>
          </a:xfrm>
          <a:prstGeom prst="rect">
            <a:avLst/>
          </a:prstGeom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wrap="square" rtlCol="0">
            <a:spAutoFit/>
          </a:bodyPr>
          <a:lstStyle/>
          <a:p>
            <a:r>
              <a:rPr lang="en-US" dirty="0"/>
              <a:t>Variance decreases with sample size.</a:t>
            </a:r>
          </a:p>
        </p:txBody>
      </p:sp>
    </p:spTree>
    <p:extLst>
      <p:ext uri="{BB962C8B-B14F-4D97-AF65-F5344CB8AC3E}">
        <p14:creationId xmlns:p14="http://schemas.microsoft.com/office/powerpoint/2010/main" val="13072350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18" grpId="0"/>
      <p:bldP spid="19" grpId="0"/>
      <p:bldP spid="24" grpId="0" animBg="1"/>
      <p:bldP spid="26" grpId="0" animBg="1"/>
      <p:bldP spid="23" grpId="0" animBg="1"/>
      <p:bldP spid="25" grpId="0" animBg="1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99CFAD6-8953-D14F-C853-F13F480B14C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On-Policy vs. Off-Policy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921F75A-ED78-4D7C-E025-9485BB9284F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77500" lnSpcReduction="20000"/>
          </a:bodyPr>
          <a:lstStyle/>
          <a:p>
            <a:pPr marL="0" indent="0">
              <a:buNone/>
            </a:pPr>
            <a:r>
              <a:rPr lang="en-US" b="1" dirty="0"/>
              <a:t>On-Policy</a:t>
            </a:r>
            <a:r>
              <a:rPr lang="en-US" dirty="0"/>
              <a:t>: Evaluate or learn a policy that is used to sample data.</a:t>
            </a:r>
          </a:p>
          <a:p>
            <a:endParaRPr lang="en-US" dirty="0"/>
          </a:p>
          <a:p>
            <a:pPr marL="0" indent="0">
              <a:buNone/>
            </a:pPr>
            <a:r>
              <a:rPr lang="en-US" b="1" dirty="0"/>
              <a:t>Off-Policy</a:t>
            </a:r>
            <a:r>
              <a:rPr lang="en-US" dirty="0"/>
              <a:t>: Evaluate or learn a target policy different from the behavior policy.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b="1" dirty="0"/>
              <a:t>Off-Policy is useful because</a:t>
            </a:r>
            <a:r>
              <a:rPr lang="en-US" dirty="0"/>
              <a:t>:</a:t>
            </a:r>
          </a:p>
          <a:p>
            <a:pPr lvl="1"/>
            <a:r>
              <a:rPr lang="en-US" b="1" dirty="0"/>
              <a:t>Learn optimal policies </a:t>
            </a:r>
            <a:r>
              <a:rPr lang="en-US" dirty="0"/>
              <a:t>while using exploring behavior.</a:t>
            </a:r>
          </a:p>
          <a:p>
            <a:pPr lvl="1"/>
            <a:r>
              <a:rPr lang="en-US" b="1" dirty="0"/>
              <a:t>Reuse of data is possible</a:t>
            </a:r>
            <a:r>
              <a:rPr lang="en-US" dirty="0"/>
              <a:t>: offline, and batch RL on existing training data leads to better sample efficiency.</a:t>
            </a:r>
          </a:p>
          <a:p>
            <a:pPr marL="0" indent="0">
              <a:buNone/>
            </a:pPr>
            <a:endParaRPr lang="en-US" b="1" dirty="0"/>
          </a:p>
          <a:p>
            <a:pPr marL="0" indent="0">
              <a:buNone/>
            </a:pPr>
            <a:r>
              <a:rPr lang="en-US" b="1" dirty="0"/>
              <a:t>Off-Policy learning is harder because:</a:t>
            </a:r>
          </a:p>
          <a:p>
            <a:pPr lvl="1"/>
            <a:r>
              <a:rPr lang="en-US" b="1" dirty="0"/>
              <a:t>Requires distributional correction</a:t>
            </a:r>
            <a:r>
              <a:rPr lang="en-US" dirty="0"/>
              <a:t>: E.g., importance sampling which is not able to use all data when the behavioral policy is very different from the target policy.</a:t>
            </a:r>
          </a:p>
          <a:p>
            <a:pPr lvl="1"/>
            <a:r>
              <a:rPr lang="en-US" dirty="0"/>
              <a:t>May suffer from </a:t>
            </a:r>
            <a:r>
              <a:rPr lang="en-US" b="1" dirty="0"/>
              <a:t>high variance </a:t>
            </a:r>
            <a:r>
              <a:rPr lang="en-US" dirty="0"/>
              <a:t>caused by importance sampling.</a:t>
            </a:r>
          </a:p>
          <a:p>
            <a:pPr lvl="1"/>
            <a:r>
              <a:rPr lang="en-US" b="1" dirty="0"/>
              <a:t>Instability with non-linear function approximation: </a:t>
            </a:r>
            <a:r>
              <a:rPr lang="en-US" dirty="0"/>
              <a:t>This is a major issue for deep RL</a:t>
            </a:r>
          </a:p>
        </p:txBody>
      </p:sp>
    </p:spTree>
    <p:extLst>
      <p:ext uri="{BB962C8B-B14F-4D97-AF65-F5344CB8AC3E}">
        <p14:creationId xmlns:p14="http://schemas.microsoft.com/office/powerpoint/2010/main" val="386893922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CF6C101-39C4-5534-A3ED-9D36AB8B7A7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Other Dimensions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8CB60D31-9CD5-1596-21BF-AD897227AFBE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77500" lnSpcReduction="20000"/>
              </a:bodyPr>
              <a:lstStyle/>
              <a:p>
                <a:r>
                  <a:rPr lang="en-US" b="1" dirty="0"/>
                  <a:t>Definition of return</a:t>
                </a:r>
                <a:r>
                  <a:rPr lang="en-US" dirty="0"/>
                  <a:t>: </a:t>
                </a:r>
              </a:p>
              <a:p>
                <a:pPr lvl="1"/>
                <a:r>
                  <a:rPr lang="en-US" dirty="0"/>
                  <a:t>Episodic vs. continuing task</a:t>
                </a:r>
              </a:p>
              <a:p>
                <a:pPr lvl="1"/>
                <a:r>
                  <a:rPr lang="en-US" dirty="0"/>
                  <a:t>Discounted vs. undiscounted</a:t>
                </a:r>
              </a:p>
              <a:p>
                <a:endParaRPr lang="en-US" b="1" dirty="0"/>
              </a:p>
              <a:p>
                <a:r>
                  <a:rPr lang="en-US" b="1" dirty="0"/>
                  <a:t>Action values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𝑞</m:t>
                    </m:r>
                  </m:oMath>
                </a14:m>
                <a:r>
                  <a:rPr lang="en-US" b="1" dirty="0"/>
                  <a:t> vs. state </a:t>
                </a:r>
                <a:r>
                  <a:rPr lang="en-US" b="1" dirty="0" err="1"/>
                  <a:t>values</a:t>
                </a:r>
                <a:r>
                  <a:rPr lang="en-US" b="1" dirty="0"/>
                  <a:t>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𝑣</m:t>
                    </m:r>
                  </m:oMath>
                </a14:m>
                <a:endParaRPr lang="en-US" dirty="0"/>
              </a:p>
              <a:p>
                <a:endParaRPr lang="en-US" b="1" dirty="0"/>
              </a:p>
              <a:p>
                <a:r>
                  <a:rPr lang="en-US" b="1" dirty="0"/>
                  <a:t>Exploration vs. exploitation</a:t>
                </a:r>
                <a:r>
                  <a:rPr lang="en-US" dirty="0"/>
                  <a:t>: This is a trade-off. Many methods need exploration (covering behavior policies) for convergence. This is related to on s. off-policy learning.</a:t>
                </a:r>
              </a:p>
              <a:p>
                <a:endParaRPr lang="en-US" b="1" dirty="0"/>
              </a:p>
              <a:p>
                <a:r>
                  <a:rPr lang="en-US" b="1" dirty="0"/>
                  <a:t>Synchronous vs. asynchronous updates</a:t>
                </a:r>
                <a:r>
                  <a:rPr lang="en-US" dirty="0"/>
                  <a:t>: Are all states updated at once or one by one in some order?</a:t>
                </a:r>
              </a:p>
              <a:p>
                <a:endParaRPr lang="en-US" b="1" dirty="0"/>
              </a:p>
              <a:p>
                <a:r>
                  <a:rPr lang="en-US" b="1" dirty="0"/>
                  <a:t>Real vs. simulated experience</a:t>
                </a:r>
                <a:r>
                  <a:rPr lang="en-US" dirty="0"/>
                  <a:t>: Are real experiences, simulations, or both used for updates?</a:t>
                </a:r>
              </a:p>
              <a:p>
                <a:endParaRPr lang="en-US" dirty="0"/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8CB60D31-9CD5-1596-21BF-AD897227AFBE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696" t="-2551" b="-127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04771004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057D7FF-0D60-8343-A797-3671E686ED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Relationship With Reflex Agents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D419333-8620-3B90-7232-09972116550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1" y="1397330"/>
            <a:ext cx="6252148" cy="4779633"/>
          </a:xfrm>
        </p:spPr>
        <p:txBody>
          <a:bodyPr>
            <a:normAutofit fontScale="55000" lnSpcReduction="20000"/>
          </a:bodyPr>
          <a:lstStyle/>
          <a:p>
            <a:r>
              <a:rPr lang="en-US" dirty="0"/>
              <a:t>Tabular methods create a policy that defines the action for each state.</a:t>
            </a:r>
          </a:p>
          <a:p>
            <a:r>
              <a:rPr lang="en-US" dirty="0"/>
              <a:t>We can implement this policy by a set of rules, one for each state.</a:t>
            </a:r>
          </a:p>
          <a:p>
            <a:r>
              <a:rPr lang="en-US" dirty="0"/>
              <a:t>The agent is </a:t>
            </a:r>
            <a:r>
              <a:rPr lang="en-US" b="1" dirty="0"/>
              <a:t>learning</a:t>
            </a:r>
            <a:r>
              <a:rPr lang="en-US" dirty="0"/>
              <a:t> because it improves the policy over time.</a:t>
            </a:r>
          </a:p>
          <a:p>
            <a:r>
              <a:rPr lang="en-US" dirty="0"/>
              <a:t>For episodic tasks, tabular RL implements a </a:t>
            </a:r>
            <a:r>
              <a:rPr lang="en-US" b="1" dirty="0"/>
              <a:t>learning</a:t>
            </a:r>
            <a:r>
              <a:rPr lang="en-US" dirty="0"/>
              <a:t> </a:t>
            </a:r>
            <a:r>
              <a:rPr lang="en-US" b="1" dirty="0"/>
              <a:t>reflex agent.</a:t>
            </a:r>
          </a:p>
          <a:p>
            <a:r>
              <a:rPr lang="en-US" dirty="0"/>
              <a:t>For continuous tasks, where the rewards express utility, we get a </a:t>
            </a:r>
            <a:r>
              <a:rPr lang="en-US" b="1" dirty="0"/>
              <a:t>learning</a:t>
            </a:r>
            <a:r>
              <a:rPr lang="en-US" dirty="0"/>
              <a:t> </a:t>
            </a:r>
            <a:r>
              <a:rPr lang="en-US" b="1" dirty="0"/>
              <a:t>utility-based agent</a:t>
            </a:r>
            <a:r>
              <a:rPr lang="en-US" dirty="0"/>
              <a:t>.</a:t>
            </a:r>
          </a:p>
          <a:p>
            <a:endParaRPr lang="en-US" b="1" dirty="0"/>
          </a:p>
          <a:p>
            <a:pPr marL="0" indent="0">
              <a:buNone/>
            </a:pPr>
            <a:r>
              <a:rPr lang="en-US" b="1" dirty="0"/>
              <a:t>Cases:</a:t>
            </a:r>
          </a:p>
          <a:p>
            <a:pPr marL="514350" indent="-514350">
              <a:buFont typeface="+mj-lt"/>
              <a:buAutoNum type="alphaLcParenR"/>
            </a:pPr>
            <a:r>
              <a:rPr lang="en-US" b="1" dirty="0"/>
              <a:t>Fully observable case:</a:t>
            </a:r>
          </a:p>
          <a:p>
            <a:pPr lvl="1"/>
            <a:r>
              <a:rPr lang="en-US" dirty="0"/>
              <a:t>DP uses the MDP for </a:t>
            </a:r>
            <a:r>
              <a:rPr lang="en-US" b="1" dirty="0"/>
              <a:t>planning</a:t>
            </a:r>
            <a:r>
              <a:rPr lang="en-US" dirty="0"/>
              <a:t> to create the optimal simple reflex agent.</a:t>
            </a:r>
          </a:p>
          <a:p>
            <a:pPr lvl="1"/>
            <a:r>
              <a:rPr lang="en-US" dirty="0"/>
              <a:t>Model-free RL </a:t>
            </a:r>
            <a:r>
              <a:rPr lang="en-US" b="1" dirty="0"/>
              <a:t>learns</a:t>
            </a:r>
            <a:r>
              <a:rPr lang="en-US" dirty="0"/>
              <a:t> a simple reflex agent.</a:t>
            </a:r>
          </a:p>
          <a:p>
            <a:pPr marL="514350" indent="-514350">
              <a:buFont typeface="+mj-lt"/>
              <a:buAutoNum type="alphaLcParenR"/>
            </a:pPr>
            <a:r>
              <a:rPr lang="en-US" b="1" dirty="0"/>
              <a:t>Partially observable case</a:t>
            </a:r>
            <a:r>
              <a:rPr lang="en-US" dirty="0"/>
              <a:t>: The agent constantly updates its agent state to approximate the environment state. The agent stores the agent state and uses it to decide on actions. It learns a </a:t>
            </a:r>
            <a:r>
              <a:rPr lang="en-US" b="1" dirty="0"/>
              <a:t>model-based reflex agent.</a:t>
            </a:r>
          </a:p>
        </p:txBody>
      </p:sp>
      <p:grpSp>
        <p:nvGrpSpPr>
          <p:cNvPr id="17" name="Group 16">
            <a:extLst>
              <a:ext uri="{FF2B5EF4-FFF2-40B4-BE49-F238E27FC236}">
                <a16:creationId xmlns:a16="http://schemas.microsoft.com/office/drawing/2014/main" id="{828640CF-BEAF-75A2-FCE5-1B24B83B017E}"/>
              </a:ext>
            </a:extLst>
          </p:cNvPr>
          <p:cNvGrpSpPr/>
          <p:nvPr/>
        </p:nvGrpSpPr>
        <p:grpSpPr>
          <a:xfrm>
            <a:off x="7009998" y="1397330"/>
            <a:ext cx="4712275" cy="4015134"/>
            <a:chOff x="7009998" y="1397330"/>
            <a:chExt cx="4712275" cy="4015134"/>
          </a:xfrm>
        </p:grpSpPr>
        <p:pic>
          <p:nvPicPr>
            <p:cNvPr id="4" name="Picture 3" descr="A figure showing that a learning agent adds a critic component, a learning element and a problem generator to the agent design.">
              <a:extLst>
                <a:ext uri="{FF2B5EF4-FFF2-40B4-BE49-F238E27FC236}">
                  <a16:creationId xmlns:a16="http://schemas.microsoft.com/office/drawing/2014/main" id="{05C53980-2E3E-DE8E-EA48-72A467EC0A2C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7617457" y="2265575"/>
              <a:ext cx="4104816" cy="2831695"/>
            </a:xfrm>
            <a:prstGeom prst="rect">
              <a:avLst/>
            </a:prstGeom>
          </p:spPr>
        </p:pic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1A1BA4D4-3742-5A38-083A-C33F0C5E6303}"/>
                </a:ext>
              </a:extLst>
            </p:cNvPr>
            <p:cNvSpPr txBox="1"/>
            <p:nvPr/>
          </p:nvSpPr>
          <p:spPr>
            <a:xfrm>
              <a:off x="8190166" y="1397330"/>
              <a:ext cx="2416029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b="1" dirty="0"/>
                <a:t>Model-free RL as</a:t>
              </a:r>
              <a:br>
                <a:rPr lang="en-US" b="1" dirty="0"/>
              </a:br>
              <a:r>
                <a:rPr lang="en-US" b="1" dirty="0"/>
                <a:t> A Learning Agent</a:t>
              </a:r>
            </a:p>
          </p:txBody>
        </p:sp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0534C613-BC3B-EC8F-625C-71F00396A41C}"/>
                </a:ext>
              </a:extLst>
            </p:cNvPr>
            <p:cNvSpPr txBox="1"/>
            <p:nvPr/>
          </p:nvSpPr>
          <p:spPr>
            <a:xfrm>
              <a:off x="7524925" y="5135465"/>
              <a:ext cx="4197348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200" dirty="0"/>
                <a:t>Source: Artificial Intelligence: A Modern Approach, Chapter 2</a:t>
              </a:r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7C4E5284-07B1-796A-FB24-F08E93A0FA77}"/>
                </a:ext>
              </a:extLst>
            </p:cNvPr>
            <p:cNvSpPr txBox="1"/>
            <p:nvPr/>
          </p:nvSpPr>
          <p:spPr>
            <a:xfrm>
              <a:off x="8579825" y="2982110"/>
              <a:ext cx="886376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400" b="1" dirty="0">
                  <a:solidFill>
                    <a:schemeClr val="accent3"/>
                  </a:solidFill>
                </a:rPr>
                <a:t>E.g., </a:t>
              </a:r>
              <a:br>
                <a:rPr lang="en-US" sz="1400" b="1" dirty="0">
                  <a:solidFill>
                    <a:schemeClr val="accent3"/>
                  </a:solidFill>
                </a:rPr>
              </a:br>
              <a:r>
                <a:rPr lang="en-US" sz="1400" b="1" dirty="0">
                  <a:solidFill>
                    <a:schemeClr val="accent3"/>
                  </a:solidFill>
                </a:rPr>
                <a:t>TD error</a:t>
              </a:r>
            </a:p>
          </p:txBody>
        </p:sp>
        <p:sp>
          <p:nvSpPr>
            <p:cNvPr id="13" name="Speech Bubble: Rectangle with Corners Rounded 12">
              <a:extLst>
                <a:ext uri="{FF2B5EF4-FFF2-40B4-BE49-F238E27FC236}">
                  <a16:creationId xmlns:a16="http://schemas.microsoft.com/office/drawing/2014/main" id="{1F1274E2-37F3-8CF3-654F-938B43186448}"/>
                </a:ext>
              </a:extLst>
            </p:cNvPr>
            <p:cNvSpPr/>
            <p:nvPr/>
          </p:nvSpPr>
          <p:spPr>
            <a:xfrm>
              <a:off x="10298852" y="3243720"/>
              <a:ext cx="750728" cy="251537"/>
            </a:xfrm>
            <a:prstGeom prst="wedgeRoundRectCallout">
              <a:avLst>
                <a:gd name="adj1" fmla="val -34810"/>
                <a:gd name="adj2" fmla="val 104216"/>
                <a:gd name="adj3" fmla="val 16667"/>
              </a:avLst>
            </a:prstGeom>
          </p:spPr>
          <p:style>
            <a:lnRef idx="2">
              <a:schemeClr val="accent3">
                <a:shade val="15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400" dirty="0"/>
                <a:t>policy</a:t>
              </a:r>
            </a:p>
          </p:txBody>
        </p:sp>
        <p:sp>
          <p:nvSpPr>
            <p:cNvPr id="14" name="Speech Bubble: Rectangle with Corners Rounded 13">
              <a:extLst>
                <a:ext uri="{FF2B5EF4-FFF2-40B4-BE49-F238E27FC236}">
                  <a16:creationId xmlns:a16="http://schemas.microsoft.com/office/drawing/2014/main" id="{E4C0C03E-F032-E997-1EFB-5027E8BCCECE}"/>
                </a:ext>
              </a:extLst>
            </p:cNvPr>
            <p:cNvSpPr/>
            <p:nvPr/>
          </p:nvSpPr>
          <p:spPr>
            <a:xfrm>
              <a:off x="9398181" y="2146936"/>
              <a:ext cx="1651399" cy="266841"/>
            </a:xfrm>
            <a:prstGeom prst="wedgeRoundRectCallout">
              <a:avLst>
                <a:gd name="adj1" fmla="val -60680"/>
                <a:gd name="adj2" fmla="val 31187"/>
                <a:gd name="adj3" fmla="val 16667"/>
              </a:avLst>
            </a:prstGeom>
          </p:spPr>
          <p:style>
            <a:lnRef idx="2">
              <a:schemeClr val="accent3">
                <a:shade val="15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400" dirty="0"/>
                <a:t>Expected return</a:t>
              </a:r>
            </a:p>
          </p:txBody>
        </p:sp>
        <p:sp>
          <p:nvSpPr>
            <p:cNvPr id="15" name="Speech Bubble: Rectangle with Corners Rounded 14">
              <a:extLst>
                <a:ext uri="{FF2B5EF4-FFF2-40B4-BE49-F238E27FC236}">
                  <a16:creationId xmlns:a16="http://schemas.microsoft.com/office/drawing/2014/main" id="{21CB411E-164D-2FED-70AE-F42BEED7AEE3}"/>
                </a:ext>
              </a:extLst>
            </p:cNvPr>
            <p:cNvSpPr/>
            <p:nvPr/>
          </p:nvSpPr>
          <p:spPr>
            <a:xfrm>
              <a:off x="7009998" y="3843711"/>
              <a:ext cx="1122387" cy="421489"/>
            </a:xfrm>
            <a:prstGeom prst="wedgeRoundRectCallout">
              <a:avLst>
                <a:gd name="adj1" fmla="val 66862"/>
                <a:gd name="adj2" fmla="val -70173"/>
                <a:gd name="adj3" fmla="val 16667"/>
              </a:avLst>
            </a:prstGeom>
          </p:spPr>
          <p:style>
            <a:lnRef idx="2">
              <a:schemeClr val="accent3">
                <a:shade val="15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400" dirty="0"/>
                <a:t>Update value </a:t>
              </a:r>
              <a:r>
                <a:rPr lang="en-US" sz="1400" dirty="0" err="1"/>
                <a:t>func</a:t>
              </a:r>
              <a:r>
                <a:rPr lang="en-US" sz="1400" dirty="0"/>
                <a:t>.</a:t>
              </a:r>
            </a:p>
          </p:txBody>
        </p:sp>
        <p:sp>
          <p:nvSpPr>
            <p:cNvPr id="16" name="Speech Bubble: Rectangle with Corners Rounded 15">
              <a:extLst>
                <a:ext uri="{FF2B5EF4-FFF2-40B4-BE49-F238E27FC236}">
                  <a16:creationId xmlns:a16="http://schemas.microsoft.com/office/drawing/2014/main" id="{743276A6-B236-4944-FAFA-86936D5013EA}"/>
                </a:ext>
              </a:extLst>
            </p:cNvPr>
            <p:cNvSpPr/>
            <p:nvPr/>
          </p:nvSpPr>
          <p:spPr>
            <a:xfrm>
              <a:off x="7009998" y="4303395"/>
              <a:ext cx="1122387" cy="421489"/>
            </a:xfrm>
            <a:prstGeom prst="wedgeRoundRectCallout">
              <a:avLst>
                <a:gd name="adj1" fmla="val 68197"/>
                <a:gd name="adj2" fmla="val 956"/>
                <a:gd name="adj3" fmla="val 16667"/>
              </a:avLst>
            </a:prstGeom>
          </p:spPr>
          <p:style>
            <a:lnRef idx="2">
              <a:schemeClr val="accent3">
                <a:shade val="15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400" dirty="0"/>
                <a:t>Exploring behavior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43920109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F0A6DFC-1DF7-340A-8A49-67E7A508EC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Issues with Tabular Methods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0A46212-D3F8-9478-4414-6401E13D0EB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92500" lnSpcReduction="10000"/>
              </a:bodyPr>
              <a:lstStyle/>
              <a:p>
                <a:pPr marL="514350" indent="-514350">
                  <a:spcBef>
                    <a:spcPts val="0"/>
                  </a:spcBef>
                  <a:buFont typeface="+mj-lt"/>
                  <a:buAutoNum type="arabicPeriod"/>
                </a:pPr>
                <a:r>
                  <a:rPr lang="en-US" dirty="0"/>
                  <a:t>Tables need a lot of </a:t>
                </a:r>
                <a:r>
                  <a:rPr lang="en-US" b="1" dirty="0"/>
                  <a:t>space</a:t>
                </a:r>
                <a:r>
                  <a:rPr lang="en-US" dirty="0"/>
                  <a:t>. A complete table with </a:t>
                </a:r>
                <a14:m>
                  <m:oMath xmlns:m="http://schemas.openxmlformats.org/officeDocument/2006/math"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𝑄</m:t>
                    </m:r>
                  </m:oMath>
                </a14:m>
                <a:r>
                  <a:rPr lang="en-US" dirty="0"/>
                  <a:t>-values has size</a:t>
                </a:r>
                <a:br>
                  <a:rPr lang="en-US" dirty="0"/>
                </a:b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𝑂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d>
                          <m:dPr>
                            <m:begChr m:val="|"/>
                            <m:endChr m:val="|"/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i="1" dirty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𝒮</m:t>
                            </m:r>
                          </m:e>
                        </m:d>
                        <m:r>
                          <m:rPr>
                            <m:nor/>
                          </m:rPr>
                          <a:rPr lang="en-US" dirty="0"/>
                          <m:t> 	</m:t>
                        </m:r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×</m:t>
                        </m:r>
                        <m:d>
                          <m:dPr>
                            <m:begChr m:val="|"/>
                            <m:endChr m:val="|"/>
                            <m:ctrlPr>
                              <a:rPr lang="en-US" b="0" i="1" dirty="0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i="1" dirty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𝒜</m:t>
                            </m:r>
                          </m:e>
                        </m:d>
                      </m:e>
                    </m:d>
                  </m:oMath>
                </a14:m>
                <a:br>
                  <a:rPr lang="en-US" dirty="0"/>
                </a:br>
                <a:r>
                  <a:rPr lang="en-US" dirty="0"/>
                  <a:t>The state space is typically extremely large, or even infinite, in continuous spaces.</a:t>
                </a:r>
              </a:p>
              <a:p>
                <a:pPr marL="514350" indent="-514350">
                  <a:spcBef>
                    <a:spcPts val="0"/>
                  </a:spcBef>
                  <a:buFont typeface="+mj-lt"/>
                  <a:buAutoNum type="arabicPeriod"/>
                </a:pPr>
                <a:endParaRPr lang="en-US" dirty="0"/>
              </a:p>
              <a:p>
                <a:pPr marL="514350" indent="-514350">
                  <a:spcBef>
                    <a:spcPts val="0"/>
                  </a:spcBef>
                  <a:buFont typeface="+mj-lt"/>
                  <a:buAutoNum type="arabicPeriod"/>
                </a:pPr>
                <a:endParaRPr lang="en-US" dirty="0"/>
              </a:p>
              <a:p>
                <a:pPr marL="514350" indent="-514350">
                  <a:spcBef>
                    <a:spcPts val="0"/>
                  </a:spcBef>
                  <a:buFont typeface="+mj-lt"/>
                  <a:buAutoNum type="arabicPeriod"/>
                </a:pPr>
                <a:r>
                  <a:rPr lang="en-US" dirty="0"/>
                  <a:t>Two states may be very similar and therefore should have similar </a:t>
                </a:r>
                <a14:m>
                  <m:oMath xmlns:m="http://schemas.openxmlformats.org/officeDocument/2006/math"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𝑄</m:t>
                    </m:r>
                  </m:oMath>
                </a14:m>
                <a:r>
                  <a:rPr lang="en-US" dirty="0"/>
                  <a:t>-values. Tabular methods </a:t>
                </a:r>
                <a:r>
                  <a:rPr lang="en-US" b="1" dirty="0"/>
                  <a:t>cannot generalize across states</a:t>
                </a:r>
                <a:r>
                  <a:rPr lang="en-US" dirty="0"/>
                  <a:t> since each table entry is independent. We </a:t>
                </a:r>
                <a:r>
                  <a:rPr lang="en-US" b="1" dirty="0"/>
                  <a:t>need a lot of data </a:t>
                </a:r>
                <a:r>
                  <a:rPr lang="en-US" dirty="0"/>
                  <a:t>to estimate all entries.</a:t>
                </a:r>
              </a:p>
              <a:p>
                <a:pPr marL="0" indent="0">
                  <a:spcBef>
                    <a:spcPts val="0"/>
                  </a:spcBef>
                  <a:buNone/>
                </a:pPr>
                <a:endParaRPr lang="en-US" dirty="0"/>
              </a:p>
              <a:p>
                <a:pPr marL="514350" indent="-514350">
                  <a:spcBef>
                    <a:spcPts val="0"/>
                  </a:spcBef>
                  <a:buFont typeface="+mj-lt"/>
                  <a:buAutoNum type="arabicPeriod"/>
                </a:pPr>
                <a:endParaRPr lang="en-US" dirty="0"/>
              </a:p>
              <a:p>
                <a:pPr marL="0" indent="0">
                  <a:spcBef>
                    <a:spcPts val="0"/>
                  </a:spcBef>
                  <a:buNone/>
                </a:pPr>
                <a:r>
                  <a:rPr lang="en-US" dirty="0"/>
                  <a:t>In the next part of this course, we will talk about </a:t>
                </a:r>
                <a:r>
                  <a:rPr lang="en-US" b="1" dirty="0"/>
                  <a:t>approximate solution methods </a:t>
                </a:r>
                <a:r>
                  <a:rPr lang="en-US" dirty="0"/>
                  <a:t>to deal with these issues.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0A46212-D3F8-9478-4414-6401E13D0EB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101" t="-267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89496266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Facet</Template>
  <TotalTime>9076</TotalTime>
  <Words>2305</Words>
  <Application>Microsoft Office PowerPoint</Application>
  <PresentationFormat>Widescreen</PresentationFormat>
  <Paragraphs>263</Paragraphs>
  <Slides>24</Slides>
  <Notes>0</Notes>
  <HiddenSlides>2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24</vt:i4>
      </vt:variant>
    </vt:vector>
  </HeadingPairs>
  <TitlesOfParts>
    <vt:vector size="30" baseType="lpstr">
      <vt:lpstr>Aptos</vt:lpstr>
      <vt:lpstr>Aptos Display</vt:lpstr>
      <vt:lpstr>Arial</vt:lpstr>
      <vt:lpstr>Calibri</vt:lpstr>
      <vt:lpstr>Cambria Math</vt:lpstr>
      <vt:lpstr>Office Theme</vt:lpstr>
      <vt:lpstr>Reinforcement Learning  Planning and Learning with Tabular Methods Sutton/Barto* Chapter 8</vt:lpstr>
      <vt:lpstr>Topics of this Course</vt:lpstr>
      <vt:lpstr>Summary of Notation</vt:lpstr>
      <vt:lpstr>Planning vs. Learning</vt:lpstr>
      <vt:lpstr>Planning vs. Learning</vt:lpstr>
      <vt:lpstr>What is a Model</vt:lpstr>
      <vt:lpstr>Dyna</vt:lpstr>
      <vt:lpstr>Integrating Planning, Acting, and Learning</vt:lpstr>
      <vt:lpstr>Alg. Tabular Dyna-Q</vt:lpstr>
      <vt:lpstr>The Effect of Planning</vt:lpstr>
      <vt:lpstr>Sampling</vt:lpstr>
      <vt:lpstr>Expected vs. Sample Updates</vt:lpstr>
      <vt:lpstr>Heuristic Search and  Rollout Algorithms</vt:lpstr>
      <vt:lpstr>Option 1: Heuristic Search</vt:lpstr>
      <vt:lpstr>Option 2: Rollout Algorithms</vt:lpstr>
      <vt:lpstr>Rollout Algorithm: Monte Carlo Tree Search</vt:lpstr>
      <vt:lpstr>What you Should Know</vt:lpstr>
      <vt:lpstr>Summary of Part I:  Tabular Solution Methods</vt:lpstr>
      <vt:lpstr>Common Ideas</vt:lpstr>
      <vt:lpstr>Policy Evaluation: Update Depth vs. Update Width</vt:lpstr>
      <vt:lpstr>On-Policy vs. Off-Policy</vt:lpstr>
      <vt:lpstr>Other Dimensions</vt:lpstr>
      <vt:lpstr>Relationship With Reflex Agents</vt:lpstr>
      <vt:lpstr>Issues with Tabular Methods</vt:lpstr>
    </vt:vector>
  </TitlesOfParts>
  <Company>Southern Methodist University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Hahsler, Michael</dc:creator>
  <cp:lastModifiedBy>Hahsler, Michael</cp:lastModifiedBy>
  <cp:revision>176</cp:revision>
  <dcterms:created xsi:type="dcterms:W3CDTF">2025-09-08T14:44:49Z</dcterms:created>
  <dcterms:modified xsi:type="dcterms:W3CDTF">2026-03-30T13:50:41Z</dcterms:modified>
</cp:coreProperties>
</file>