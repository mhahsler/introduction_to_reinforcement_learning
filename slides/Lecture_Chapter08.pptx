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3" r:id="rId3"/>
    <p:sldId id="480" r:id="rId4"/>
    <p:sldId id="393" r:id="rId5"/>
    <p:sldId id="385" r:id="rId6"/>
    <p:sldId id="386" r:id="rId7"/>
    <p:sldId id="392" r:id="rId8"/>
    <p:sldId id="388" r:id="rId9"/>
    <p:sldId id="389" r:id="rId10"/>
    <p:sldId id="390" r:id="rId11"/>
    <p:sldId id="394" r:id="rId12"/>
    <p:sldId id="391" r:id="rId13"/>
    <p:sldId id="396" r:id="rId14"/>
    <p:sldId id="398" r:id="rId15"/>
    <p:sldId id="399" r:id="rId16"/>
    <p:sldId id="400" r:id="rId17"/>
    <p:sldId id="402" r:id="rId18"/>
    <p:sldId id="403" r:id="rId19"/>
    <p:sldId id="404" r:id="rId20"/>
    <p:sldId id="405" r:id="rId21"/>
    <p:sldId id="406" r:id="rId22"/>
    <p:sldId id="407" r:id="rId23"/>
    <p:sldId id="479" r:id="rId24"/>
    <p:sldId id="40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bular Methods" id="{83286E67-F0F0-421C-8F74-7B93ABA17FBF}">
          <p14:sldIdLst>
            <p14:sldId id="256"/>
            <p14:sldId id="313"/>
            <p14:sldId id="480"/>
          </p14:sldIdLst>
        </p14:section>
        <p14:section name="Introduction" id="{175B7E81-9252-44C4-987D-BA1F14A88A5B}">
          <p14:sldIdLst>
            <p14:sldId id="393"/>
            <p14:sldId id="385"/>
            <p14:sldId id="386"/>
          </p14:sldIdLst>
        </p14:section>
        <p14:section name="Dyna" id="{75F464EC-0F8E-4CC2-8476-91103851FE06}">
          <p14:sldIdLst>
            <p14:sldId id="392"/>
            <p14:sldId id="388"/>
            <p14:sldId id="389"/>
            <p14:sldId id="390"/>
          </p14:sldIdLst>
        </p14:section>
        <p14:section name="Sampling" id="{9D014FB2-5D5A-464A-8C19-F3F7FC3F9627}">
          <p14:sldIdLst>
            <p14:sldId id="394"/>
            <p14:sldId id="391"/>
            <p14:sldId id="396"/>
            <p14:sldId id="398"/>
            <p14:sldId id="399"/>
            <p14:sldId id="400"/>
            <p14:sldId id="402"/>
          </p14:sldIdLst>
        </p14:section>
        <p14:section name="Summary of Tabular Solution Methods" id="{F4B514AC-6B74-4B49-94E0-2924F11DBE14}">
          <p14:sldIdLst>
            <p14:sldId id="403"/>
            <p14:sldId id="404"/>
            <p14:sldId id="405"/>
            <p14:sldId id="406"/>
            <p14:sldId id="407"/>
            <p14:sldId id="479"/>
            <p14:sldId id="4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59" autoAdjust="0"/>
    <p:restoredTop sz="94653"/>
  </p:normalViewPr>
  <p:slideViewPr>
    <p:cSldViewPr snapToGrid="0">
      <p:cViewPr varScale="1">
        <p:scale>
          <a:sx n="74" d="100"/>
          <a:sy n="74" d="100"/>
        </p:scale>
        <p:origin x="208" y="928"/>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4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5" y="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463968" cy="3204134"/>
          </a:xfrm>
        </p:spPr>
        <p:txBody>
          <a:bodyPr anchor="b">
            <a:noAutofit/>
          </a:bodyPr>
          <a:lstStyle/>
          <a:p>
            <a:pPr algn="l"/>
            <a:r>
              <a:rPr lang="en-US" sz="3600" dirty="0">
                <a:solidFill>
                  <a:schemeClr val="bg1"/>
                </a:solidFill>
              </a:rPr>
              <a:t>Reinforcement Learning</a:t>
            </a:r>
            <a:br>
              <a:rPr lang="en-US" sz="3600" dirty="0">
                <a:solidFill>
                  <a:schemeClr val="bg1"/>
                </a:solidFill>
              </a:rPr>
            </a:br>
            <a:br>
              <a:rPr lang="en-US" sz="3600" dirty="0">
                <a:solidFill>
                  <a:schemeClr val="bg1"/>
                </a:solidFill>
              </a:rPr>
            </a:br>
            <a:r>
              <a:rPr lang="en-US" sz="3600" dirty="0">
                <a:solidFill>
                  <a:schemeClr val="bg1"/>
                </a:solidFill>
              </a:rPr>
              <a:t>Planning and Learning with Tabular Methods</a:t>
            </a:r>
            <a:br>
              <a:rPr lang="en-US" sz="2800" dirty="0">
                <a:solidFill>
                  <a:schemeClr val="bg1"/>
                </a:solidFill>
              </a:rPr>
            </a:br>
            <a:r>
              <a:rPr lang="en-US" sz="2000" dirty="0">
                <a:solidFill>
                  <a:schemeClr val="bg1"/>
                </a:solidFill>
              </a:rPr>
              <a:t>Sutton/Barto*</a:t>
            </a:r>
            <a:r>
              <a:rPr lang="en-US" sz="1800" dirty="0">
                <a:solidFill>
                  <a:schemeClr val="bg1"/>
                </a:solidFill>
              </a:rPr>
              <a:t> Chapter 8</a:t>
            </a:r>
          </a:p>
        </p:txBody>
      </p:sp>
      <p:pic>
        <p:nvPicPr>
          <p:cNvPr id="6" name="Picture 5">
            <a:extLst>
              <a:ext uri="{FF2B5EF4-FFF2-40B4-BE49-F238E27FC236}">
                <a16:creationId xmlns:a16="http://schemas.microsoft.com/office/drawing/2014/main" id="{8AD28C7D-14A3-CFEB-3DEC-2E01272844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7741" y="125210"/>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868822"/>
            <a:ext cx="4169519" cy="1443894"/>
          </a:xfrm>
        </p:spPr>
        <p:txBody>
          <a:bodyPr>
            <a:normAutofit fontScale="92500"/>
          </a:bodyPr>
          <a:lstStyle/>
          <a:p>
            <a:pPr algn="l"/>
            <a:r>
              <a:rPr lang="en-US" sz="1700" dirty="0">
                <a:solidFill>
                  <a:schemeClr val="bg1"/>
                </a:solidFill>
              </a:rPr>
              <a:t>Michael Hahsler, SMU</a:t>
            </a:r>
          </a:p>
          <a:p>
            <a:pPr algn="l"/>
            <a:r>
              <a:rPr lang="en-US" sz="1300" dirty="0">
                <a:solidFill>
                  <a:schemeClr val="bg1"/>
                </a:solidFill>
              </a:rPr>
              <a:t>With figures from Sutton/Barto*</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grpSp>
        <p:nvGrpSpPr>
          <p:cNvPr id="7" name="Group 6">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5"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dirty="0"/>
              <a:t>Introduction to reinforcement learning</a:t>
            </a:r>
          </a:p>
          <a:p>
            <a:r>
              <a:rPr lang="en-US" dirty="0"/>
              <a:t>Markov decision processes</a:t>
            </a:r>
          </a:p>
          <a:p>
            <a:r>
              <a:rPr lang="en-US" b="1"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b="1"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9" y="3700831"/>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9" y="3700831"/>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p:cNvSpPr>
              <p:nvPr/>
            </p:nvSpPr>
            <p:spPr>
              <a:xfrm>
                <a:off x="6267338" y="4947712"/>
                <a:ext cx="5273179" cy="646331"/>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200" b="1" dirty="0"/>
                  <a:t>Temporal Difference Learning</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𝑈</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target for estimate at time</a:t>
                </a:r>
                <a14:m>
                  <m:oMath xmlns:m="http://schemas.openxmlformats.org/officeDocument/2006/math">
                    <m:r>
                      <a:rPr lang="en-US" sz="1200" i="1" dirty="0">
                        <a:solidFill>
                          <a:schemeClr val="tx1"/>
                        </a:solidFill>
                        <a:latin typeface="Cambria Math" panose="02040503050406030204" pitchFamily="18" charset="0"/>
                      </a:rPr>
                      <m:t> </m:t>
                    </m:r>
                    <m:r>
                      <a:rPr lang="en-US" sz="1200" i="1" dirty="0">
                        <a:solidFill>
                          <a:schemeClr val="tx1"/>
                        </a:solidFill>
                        <a:latin typeface="Cambria Math" panose="02040503050406030204" pitchFamily="18" charset="0"/>
                      </a:rPr>
                      <m:t>𝑡</m:t>
                    </m:r>
                  </m:oMath>
                </a14:m>
                <a:endParaRPr lang="en-US" sz="1200" dirty="0">
                  <a:solidFill>
                    <a:schemeClr val="tx1"/>
                  </a:solidFill>
                </a:endParaRPr>
              </a:p>
              <a:p>
                <a:pPr marL="0" indent="0">
                  <a:lnSpc>
                    <a:spcPct val="100000"/>
                  </a:lnSpc>
                  <a:spcBef>
                    <a:spcPts val="0"/>
                  </a:spcBef>
                  <a:buNone/>
                </a:pPr>
                <a14:m>
                  <m:oMath xmlns:m="http://schemas.openxmlformats.org/officeDocument/2006/math">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𝛿</m:t>
                        </m:r>
                      </m:e>
                      <m:sub>
                        <m:r>
                          <a:rPr lang="en-US" sz="1200" i="1" dirty="0">
                            <a:solidFill>
                              <a:schemeClr val="tx1"/>
                            </a:solidFill>
                            <a:latin typeface="Cambria Math" panose="02040503050406030204" pitchFamily="18" charset="0"/>
                          </a:rPr>
                          <m:t>𝑡</m:t>
                        </m:r>
                      </m:sub>
                    </m:sSub>
                  </m:oMath>
                </a14:m>
                <a:r>
                  <a:rPr lang="en-US" sz="1200" dirty="0">
                    <a:solidFill>
                      <a:schemeClr val="tx1"/>
                    </a:solidFill>
                  </a:rPr>
                  <a:t>	TD error</a:t>
                </a:r>
              </a:p>
            </p:txBody>
          </p:sp>
        </mc:Choice>
        <mc:Fallback xmlns="">
          <p:sp>
            <p:nvSpPr>
              <p:cNvPr id="4" name="Content Placeholder 2" descr="Temporal Difference Learning. U sub t target for estimate at time t. delta sub t TD error">
                <a:extLst>
                  <a:ext uri="{FF2B5EF4-FFF2-40B4-BE49-F238E27FC236}">
                    <a16:creationId xmlns:a16="http://schemas.microsoft.com/office/drawing/2014/main" id="{4C5E539A-F9A7-F959-ACD3-4ADE5900F587}"/>
                  </a:ext>
                </a:extLst>
              </p:cNvPr>
              <p:cNvSpPr txBox="1">
                <a:spLocks noRot="1" noChangeAspect="1" noMove="1" noResize="1" noEditPoints="1" noAdjustHandles="1" noChangeArrowheads="1" noChangeShapeType="1" noTextEdit="1"/>
              </p:cNvSpPr>
              <p:nvPr/>
            </p:nvSpPr>
            <p:spPr>
              <a:xfrm>
                <a:off x="6267338" y="4947712"/>
                <a:ext cx="5273179" cy="646331"/>
              </a:xfrm>
              <a:prstGeom prst="rect">
                <a:avLst/>
              </a:prstGeom>
              <a:blipFill>
                <a:blip r:embed="rId5"/>
                <a:stretch>
                  <a:fillRect b="-4587"/>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635E-AD98-14E6-86B7-6D189198F7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9E1014-11F3-5C77-4D51-18EDE91CBDDF}"/>
              </a:ext>
            </a:extLst>
          </p:cNvPr>
          <p:cNvSpPr>
            <a:spLocks noGrp="1"/>
          </p:cNvSpPr>
          <p:nvPr>
            <p:ph type="title"/>
          </p:nvPr>
        </p:nvSpPr>
        <p:spPr/>
        <p:txBody>
          <a:bodyPr/>
          <a:lstStyle/>
          <a:p>
            <a:r>
              <a:rPr lang="en-US" dirty="0"/>
              <a:t>Planning vs. Learning</a:t>
            </a:r>
          </a:p>
        </p:txBody>
      </p:sp>
      <p:sp>
        <p:nvSpPr>
          <p:cNvPr id="5" name="Text Placeholder 4">
            <a:extLst>
              <a:ext uri="{FF2B5EF4-FFF2-40B4-BE49-F238E27FC236}">
                <a16:creationId xmlns:a16="http://schemas.microsoft.com/office/drawing/2014/main" id="{8230DEA1-85A2-8128-AB1F-6A511F14B1FC}"/>
              </a:ext>
              <a:ext uri="{C183D7F6-B498-43B3-948B-1728B52AA6E4}">
                <adec:decorative xmlns:adec="http://schemas.microsoft.com/office/drawing/2017/decorative" val="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5903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3A1BA-CA5C-693B-FB3E-C368A66D7442}"/>
              </a:ext>
            </a:extLst>
          </p:cNvPr>
          <p:cNvSpPr>
            <a:spLocks noGrp="1"/>
          </p:cNvSpPr>
          <p:nvPr>
            <p:ph type="title"/>
          </p:nvPr>
        </p:nvSpPr>
        <p:spPr/>
        <p:txBody>
          <a:bodyPr/>
          <a:lstStyle/>
          <a:p>
            <a:r>
              <a:rPr lang="en-US" dirty="0"/>
              <a:t>Planning vs. Learning </a:t>
            </a:r>
          </a:p>
        </p:txBody>
      </p:sp>
      <p:sp>
        <p:nvSpPr>
          <p:cNvPr id="4" name="Text Placeholder 3">
            <a:extLst>
              <a:ext uri="{FF2B5EF4-FFF2-40B4-BE49-F238E27FC236}">
                <a16:creationId xmlns:a16="http://schemas.microsoft.com/office/drawing/2014/main" id="{C1AC215C-7DA6-48E2-7A2B-214A4A5277FF}"/>
              </a:ext>
            </a:extLst>
          </p:cNvPr>
          <p:cNvSpPr>
            <a:spLocks noGrp="1"/>
          </p:cNvSpPr>
          <p:nvPr>
            <p:ph type="body" idx="1"/>
          </p:nvPr>
        </p:nvSpPr>
        <p:spPr>
          <a:xfrm>
            <a:off x="839788" y="1647322"/>
            <a:ext cx="5157787" cy="494791"/>
          </a:xfrm>
          <a:solidFill>
            <a:schemeClr val="accent2"/>
          </a:solidFill>
          <a:ln>
            <a:noFill/>
          </a:ln>
        </p:spPr>
        <p:style>
          <a:lnRef idx="0">
            <a:scrgbClr r="0" g="0" b="0"/>
          </a:lnRef>
          <a:fillRef idx="0">
            <a:scrgbClr r="0" g="0" b="0"/>
          </a:fillRef>
          <a:effectRef idx="0">
            <a:scrgbClr r="0" g="0" b="0"/>
          </a:effectRef>
          <a:fontRef idx="minor">
            <a:schemeClr val="lt1"/>
          </a:fontRef>
        </p:style>
        <p:txBody>
          <a:bodyPr/>
          <a:lstStyle/>
          <a:p>
            <a:r>
              <a:rPr lang="en-US" dirty="0"/>
              <a:t>Model-based RL</a:t>
            </a:r>
          </a:p>
        </p:txBody>
      </p:sp>
      <p:sp>
        <p:nvSpPr>
          <p:cNvPr id="5" name="Text Placeholder 4">
            <a:extLst>
              <a:ext uri="{FF2B5EF4-FFF2-40B4-BE49-F238E27FC236}">
                <a16:creationId xmlns:a16="http://schemas.microsoft.com/office/drawing/2014/main" id="{867E8A69-3C51-CDFE-7A41-514AB48A4C67}"/>
              </a:ext>
            </a:extLst>
          </p:cNvPr>
          <p:cNvSpPr>
            <a:spLocks noGrp="1"/>
          </p:cNvSpPr>
          <p:nvPr>
            <p:ph type="body" sz="quarter" idx="3"/>
          </p:nvPr>
        </p:nvSpPr>
        <p:spPr>
          <a:xfrm>
            <a:off x="6172200" y="1647322"/>
            <a:ext cx="5183188" cy="494792"/>
          </a:xfrm>
          <a:solidFill>
            <a:schemeClr val="accent3"/>
          </a:solidFill>
          <a:ln>
            <a:noFill/>
          </a:ln>
        </p:spPr>
        <p:style>
          <a:lnRef idx="0">
            <a:scrgbClr r="0" g="0" b="0"/>
          </a:lnRef>
          <a:fillRef idx="0">
            <a:scrgbClr r="0" g="0" b="0"/>
          </a:fillRef>
          <a:effectRef idx="0">
            <a:scrgbClr r="0" g="0" b="0"/>
          </a:effectRef>
          <a:fontRef idx="minor">
            <a:schemeClr val="lt1"/>
          </a:fontRef>
        </p:style>
        <p:txBody>
          <a:bodyPr/>
          <a:lstStyle/>
          <a:p>
            <a:r>
              <a:rPr lang="en-US" dirty="0"/>
              <a:t>Model-free RL</a:t>
            </a:r>
          </a:p>
        </p:txBody>
      </p:sp>
      <p:sp>
        <p:nvSpPr>
          <p:cNvPr id="3" name="Content Placeholder 2">
            <a:extLst>
              <a:ext uri="{FF2B5EF4-FFF2-40B4-BE49-F238E27FC236}">
                <a16:creationId xmlns:a16="http://schemas.microsoft.com/office/drawing/2014/main" id="{75386ED9-B3B0-4E7E-C9D8-36D605A9CED5}"/>
              </a:ext>
            </a:extLst>
          </p:cNvPr>
          <p:cNvSpPr>
            <a:spLocks noGrp="1"/>
          </p:cNvSpPr>
          <p:nvPr>
            <p:ph sz="half" idx="2"/>
          </p:nvPr>
        </p:nvSpPr>
        <p:spPr>
          <a:xfrm>
            <a:off x="839788" y="2142114"/>
            <a:ext cx="5157787" cy="1325563"/>
          </a:xfrm>
        </p:spPr>
        <p:style>
          <a:lnRef idx="2">
            <a:schemeClr val="accent2"/>
          </a:lnRef>
          <a:fillRef idx="1">
            <a:schemeClr val="lt1"/>
          </a:fillRef>
          <a:effectRef idx="0">
            <a:schemeClr val="accent2"/>
          </a:effectRef>
          <a:fontRef idx="minor">
            <a:schemeClr val="dk1"/>
          </a:fontRef>
        </p:style>
        <p:txBody>
          <a:bodyPr>
            <a:normAutofit fontScale="77500" lnSpcReduction="20000"/>
          </a:bodyPr>
          <a:lstStyle/>
          <a:p>
            <a:r>
              <a:rPr lang="en-US" dirty="0"/>
              <a:t>Requires knowledge of the MDP model.</a:t>
            </a:r>
          </a:p>
          <a:p>
            <a:r>
              <a:rPr lang="en-US" dirty="0"/>
              <a:t>Methods: Dynamic Programming, heuristic search</a:t>
            </a:r>
          </a:p>
          <a:p>
            <a:r>
              <a:rPr lang="en-US" dirty="0"/>
              <a:t>Use the known model to </a:t>
            </a:r>
            <a:r>
              <a:rPr lang="en-US" b="1" dirty="0"/>
              <a:t>plan</a:t>
            </a:r>
          </a:p>
        </p:txBody>
      </p:sp>
      <p:sp>
        <p:nvSpPr>
          <p:cNvPr id="6" name="Content Placeholder 5">
            <a:extLst>
              <a:ext uri="{FF2B5EF4-FFF2-40B4-BE49-F238E27FC236}">
                <a16:creationId xmlns:a16="http://schemas.microsoft.com/office/drawing/2014/main" id="{BD9DFBC9-5C98-B059-76C6-7C39C8A8AE32}"/>
              </a:ext>
            </a:extLst>
          </p:cNvPr>
          <p:cNvSpPr>
            <a:spLocks noGrp="1"/>
          </p:cNvSpPr>
          <p:nvPr>
            <p:ph sz="quarter" idx="4"/>
          </p:nvPr>
        </p:nvSpPr>
        <p:spPr>
          <a:xfrm>
            <a:off x="6172200" y="2142114"/>
            <a:ext cx="5183188" cy="1325563"/>
          </a:xfrm>
        </p:spPr>
        <p:style>
          <a:lnRef idx="2">
            <a:schemeClr val="accent3"/>
          </a:lnRef>
          <a:fillRef idx="1">
            <a:schemeClr val="lt1"/>
          </a:fillRef>
          <a:effectRef idx="0">
            <a:schemeClr val="accent3"/>
          </a:effectRef>
          <a:fontRef idx="minor">
            <a:schemeClr val="dk1"/>
          </a:fontRef>
        </p:style>
        <p:txBody>
          <a:bodyPr>
            <a:normAutofit fontScale="77500" lnSpcReduction="20000"/>
          </a:bodyPr>
          <a:lstStyle/>
          <a:p>
            <a:r>
              <a:rPr lang="en-US" dirty="0"/>
              <a:t>Model is unknown.</a:t>
            </a:r>
          </a:p>
          <a:p>
            <a:r>
              <a:rPr lang="en-US" dirty="0"/>
              <a:t>Methods: MC, TD</a:t>
            </a:r>
          </a:p>
          <a:p>
            <a:r>
              <a:rPr lang="en-US" b="1" dirty="0"/>
              <a:t>Learn</a:t>
            </a:r>
            <a:r>
              <a:rPr lang="en-US" dirty="0"/>
              <a:t> from interactions with the environment (sampling).</a:t>
            </a:r>
          </a:p>
        </p:txBody>
      </p:sp>
      <p:grpSp>
        <p:nvGrpSpPr>
          <p:cNvPr id="13" name="Group 12" descr="Diagram with labels: + use the MDP as a simulation model for Model-free RL.">
            <a:extLst>
              <a:ext uri="{FF2B5EF4-FFF2-40B4-BE49-F238E27FC236}">
                <a16:creationId xmlns:a16="http://schemas.microsoft.com/office/drawing/2014/main" id="{E82F68D9-8E69-A250-D35E-1231A1F5B17C}"/>
              </a:ext>
            </a:extLst>
          </p:cNvPr>
          <p:cNvGrpSpPr/>
          <p:nvPr/>
        </p:nvGrpSpPr>
        <p:grpSpPr>
          <a:xfrm>
            <a:off x="3118262" y="3594779"/>
            <a:ext cx="5758626" cy="806207"/>
            <a:chOff x="3118262" y="3594779"/>
            <a:chExt cx="5758626" cy="806207"/>
          </a:xfrm>
        </p:grpSpPr>
        <p:sp>
          <p:nvSpPr>
            <p:cNvPr id="8" name="TextBox 7">
              <a:extLst>
                <a:ext uri="{FF2B5EF4-FFF2-40B4-BE49-F238E27FC236}">
                  <a16:creationId xmlns:a16="http://schemas.microsoft.com/office/drawing/2014/main" id="{E4675E7B-A0EA-C8F4-0666-CCA5988ACAC1}"/>
                </a:ext>
              </a:extLst>
            </p:cNvPr>
            <p:cNvSpPr txBox="1"/>
            <p:nvPr/>
          </p:nvSpPr>
          <p:spPr>
            <a:xfrm>
              <a:off x="3118262" y="4031654"/>
              <a:ext cx="5758626"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 use the MDP as a simulation model for Model-free RL</a:t>
              </a:r>
            </a:p>
          </p:txBody>
        </p:sp>
        <p:cxnSp>
          <p:nvCxnSpPr>
            <p:cNvPr id="10" name="Straight Arrow Connector 9">
              <a:extLst>
                <a:ext uri="{FF2B5EF4-FFF2-40B4-BE49-F238E27FC236}">
                  <a16:creationId xmlns:a16="http://schemas.microsoft.com/office/drawing/2014/main" id="{2347AD2C-46E6-E6D8-9F53-949CED70E983}"/>
                </a:ext>
                <a:ext uri="{C183D7F6-B498-43B3-948B-1728B52AA6E4}">
                  <adec:decorative xmlns:adec="http://schemas.microsoft.com/office/drawing/2017/decorative" val="1"/>
                </a:ext>
              </a:extLst>
            </p:cNvPr>
            <p:cNvCxnSpPr/>
            <p:nvPr/>
          </p:nvCxnSpPr>
          <p:spPr>
            <a:xfrm>
              <a:off x="3762302" y="3594779"/>
              <a:ext cx="711976" cy="383908"/>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1" name="Straight Arrow Connector 10">
              <a:extLst>
                <a:ext uri="{FF2B5EF4-FFF2-40B4-BE49-F238E27FC236}">
                  <a16:creationId xmlns:a16="http://schemas.microsoft.com/office/drawing/2014/main" id="{3C91D920-DB4A-1FD1-3DF5-018FDCA5C225}"/>
                </a:ext>
                <a:ext uri="{C183D7F6-B498-43B3-948B-1728B52AA6E4}">
                  <adec:decorative xmlns:adec="http://schemas.microsoft.com/office/drawing/2017/decorative" val="1"/>
                </a:ext>
              </a:extLst>
            </p:cNvPr>
            <p:cNvCxnSpPr>
              <a:cxnSpLocks/>
            </p:cNvCxnSpPr>
            <p:nvPr/>
          </p:nvCxnSpPr>
          <p:spPr>
            <a:xfrm flipV="1">
              <a:off x="7005748" y="3660782"/>
              <a:ext cx="777122" cy="310924"/>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grpSp>
      <p:sp>
        <p:nvSpPr>
          <p:cNvPr id="7" name="Content Placeholder 2">
            <a:extLst>
              <a:ext uri="{FF2B5EF4-FFF2-40B4-BE49-F238E27FC236}">
                <a16:creationId xmlns:a16="http://schemas.microsoft.com/office/drawing/2014/main" id="{47549527-8988-50D5-4FD2-A4EACAA47452}"/>
              </a:ext>
            </a:extLst>
          </p:cNvPr>
          <p:cNvSpPr txBox="1">
            <a:spLocks/>
          </p:cNvSpPr>
          <p:nvPr/>
        </p:nvSpPr>
        <p:spPr>
          <a:xfrm>
            <a:off x="839788" y="4788384"/>
            <a:ext cx="10515600" cy="125479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All methods do the following:</a:t>
            </a:r>
          </a:p>
          <a:p>
            <a:pPr lvl="1"/>
            <a:r>
              <a:rPr lang="en-US" b="1" dirty="0"/>
              <a:t>Policy evaluation </a:t>
            </a:r>
            <a:r>
              <a:rPr lang="en-US" dirty="0"/>
              <a:t>(prediction): Compute a value function/policy.</a:t>
            </a:r>
          </a:p>
          <a:p>
            <a:pPr lvl="1"/>
            <a:r>
              <a:rPr lang="en-US" b="1" dirty="0"/>
              <a:t>Look ahead </a:t>
            </a:r>
            <a:r>
              <a:rPr lang="en-US" dirty="0"/>
              <a:t>to future events (rewards, states, actions) and compute a backed-up value to update an approximate value function.</a:t>
            </a:r>
          </a:p>
        </p:txBody>
      </p:sp>
    </p:spTree>
    <p:extLst>
      <p:ext uri="{BB962C8B-B14F-4D97-AF65-F5344CB8AC3E}">
        <p14:creationId xmlns:p14="http://schemas.microsoft.com/office/powerpoint/2010/main" val="312909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63D3F0-03CF-B1AF-8CA4-243B27B69D34}"/>
              </a:ext>
            </a:extLst>
          </p:cNvPr>
          <p:cNvSpPr>
            <a:spLocks noGrp="1"/>
          </p:cNvSpPr>
          <p:nvPr>
            <p:ph type="title"/>
          </p:nvPr>
        </p:nvSpPr>
        <p:spPr/>
        <p:txBody>
          <a:bodyPr/>
          <a:lstStyle/>
          <a:p>
            <a:r>
              <a:rPr lang="en-US" dirty="0"/>
              <a:t>What is a Model</a:t>
            </a:r>
          </a:p>
        </p:txBody>
      </p:sp>
      <mc:AlternateContent xmlns:mc="http://schemas.openxmlformats.org/markup-compatibility/2006" xmlns:a14="http://schemas.microsoft.com/office/drawing/2010/main">
        <mc:Choice Requires="a14">
          <p:sp>
            <p:nvSpPr>
              <p:cNvPr id="8" name="Content Placeholder 7" descr="Model of the environment: Anything the agent can use to predict the outcome of actions (e.g., next state and reward). Models can be:. Distribution models: Specify the complete distribution of all possible outcomes. For finite MDPs this is the function p (s prime,r | s,a). Used by dynamic programming methods for planning. Sample models: Simulate the real environment by producing one outcome for an action. The outcome needs to be a valid sample from the distribution model. Are typically easier to create. Can be used for MC and TD methods for learning. This is called trajectory sampling. Notes:. The real environment can be seen as a physically represented model with sequential sampling access. Model-free methods often use sample models when accessing the real environment is slow, expensive or dangerous">
                <a:extLst>
                  <a:ext uri="{FF2B5EF4-FFF2-40B4-BE49-F238E27FC236}">
                    <a16:creationId xmlns:a16="http://schemas.microsoft.com/office/drawing/2014/main" id="{D1E8B6AB-5A2F-3677-9E00-F7B344478115}"/>
                  </a:ext>
                </a:extLst>
              </p:cNvPr>
              <p:cNvSpPr>
                <a:spLocks noGrp="1"/>
              </p:cNvSpPr>
              <p:nvPr>
                <p:ph idx="1"/>
              </p:nvPr>
            </p:nvSpPr>
            <p:spPr>
              <a:xfrm>
                <a:off x="838200" y="1397331"/>
                <a:ext cx="10515600" cy="4438078"/>
              </a:xfrm>
            </p:spPr>
            <p:txBody>
              <a:bodyPr>
                <a:normAutofit fontScale="70000" lnSpcReduction="20000"/>
              </a:bodyPr>
              <a:lstStyle/>
              <a:p>
                <a:pPr marL="0" indent="0">
                  <a:buNone/>
                </a:pPr>
                <a:r>
                  <a:rPr lang="en-US" b="1" dirty="0"/>
                  <a:t>Model of the environment</a:t>
                </a:r>
                <a:r>
                  <a:rPr lang="en-US" dirty="0"/>
                  <a:t>: Anything the agent can use to predict the outcome of actions (e.g., next state and reward).</a:t>
                </a:r>
              </a:p>
              <a:p>
                <a:pPr lvl="1"/>
                <a:endParaRPr lang="en-US" dirty="0"/>
              </a:p>
              <a:p>
                <a:pPr marL="0" indent="0">
                  <a:buNone/>
                </a:pPr>
                <a:r>
                  <a:rPr lang="en-US" dirty="0"/>
                  <a:t>Models can be:</a:t>
                </a:r>
              </a:p>
              <a:p>
                <a:pPr lvl="1"/>
                <a:r>
                  <a:rPr lang="en-US" b="1" dirty="0"/>
                  <a:t>Distribution models</a:t>
                </a:r>
                <a:r>
                  <a:rPr lang="en-US" dirty="0"/>
                  <a:t>: Specify the complete distribution of all possible outcomes.</a:t>
                </a:r>
              </a:p>
              <a:p>
                <a:pPr lvl="2"/>
                <a:r>
                  <a:rPr lang="en-US" dirty="0"/>
                  <a:t>For finite MDPs this is the function </a:t>
                </a:r>
                <a14:m>
                  <m:oMath xmlns:m="http://schemas.openxmlformats.org/officeDocument/2006/math">
                    <m:r>
                      <a:rPr lang="en-US" i="1">
                        <a:latin typeface="Cambria Math" panose="02040503050406030204" pitchFamily="18" charset="0"/>
                      </a:rPr>
                      <m:t>𝑝</m:t>
                    </m:r>
                    <m:d>
                      <m:dPr>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 </m:t>
                        </m:r>
                      </m:e>
                    </m:d>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oMath>
                </a14:m>
                <a:r>
                  <a:rPr lang="en-US" dirty="0"/>
                  <a:t> </a:t>
                </a:r>
              </a:p>
              <a:p>
                <a:pPr lvl="2"/>
                <a:r>
                  <a:rPr lang="en-US" dirty="0"/>
                  <a:t>Used by dynamic programming methods for planning.</a:t>
                </a:r>
              </a:p>
              <a:p>
                <a:pPr marL="457200" lvl="1" indent="0">
                  <a:buNone/>
                </a:pPr>
                <a:endParaRPr lang="en-US" dirty="0"/>
              </a:p>
              <a:p>
                <a:pPr lvl="1"/>
                <a:r>
                  <a:rPr lang="en-US" b="1" dirty="0"/>
                  <a:t>Sample models</a:t>
                </a:r>
                <a:r>
                  <a:rPr lang="en-US" dirty="0"/>
                  <a:t>: Simulate the real environment by producing one outcome for an action. The outcome needs to be a valid sample from the distribution model.</a:t>
                </a:r>
              </a:p>
              <a:p>
                <a:pPr lvl="2"/>
                <a:r>
                  <a:rPr lang="en-US" dirty="0"/>
                  <a:t>Are typically easier to create.</a:t>
                </a:r>
              </a:p>
              <a:p>
                <a:pPr lvl="2"/>
                <a:r>
                  <a:rPr lang="en-US" dirty="0"/>
                  <a:t>Can be used for MC and TD methods for learning. This is called </a:t>
                </a:r>
                <a:r>
                  <a:rPr lang="en-US" b="1" dirty="0"/>
                  <a:t>trajectory sampling</a:t>
                </a:r>
                <a:r>
                  <a:rPr lang="en-US" dirty="0"/>
                  <a:t>.</a:t>
                </a:r>
              </a:p>
              <a:p>
                <a:pPr marL="0" indent="0">
                  <a:buNone/>
                </a:pPr>
                <a:endParaRPr lang="en-US" dirty="0"/>
              </a:p>
              <a:p>
                <a:pPr marL="0" indent="0">
                  <a:buNone/>
                </a:pPr>
                <a:r>
                  <a:rPr lang="en-US" b="1" dirty="0"/>
                  <a:t>Notes</a:t>
                </a:r>
                <a:r>
                  <a:rPr lang="en-US" dirty="0"/>
                  <a:t>:</a:t>
                </a:r>
              </a:p>
              <a:p>
                <a:pPr lvl="1"/>
                <a:r>
                  <a:rPr lang="en-US" dirty="0"/>
                  <a:t>The real environment can be seen as a physically represented model with sequential sampling access.</a:t>
                </a:r>
              </a:p>
              <a:p>
                <a:pPr lvl="1"/>
                <a:r>
                  <a:rPr lang="en-US" dirty="0"/>
                  <a:t>Model-free methods often use sample models when accessing the real environment is slow, expensive or dangerous. </a:t>
                </a:r>
              </a:p>
            </p:txBody>
          </p:sp>
        </mc:Choice>
        <mc:Fallback xmlns="">
          <p:sp>
            <p:nvSpPr>
              <p:cNvPr id="8" name="Content Placeholder 7" descr="Model of the environment: Anything the agent can use to predict the outcome of actions (e.g., next state and reward). Models can be:. Distribution models: Specify the complete distribution of all possible outcomes. For finite MDPs this is the function p (s prime,r | s,a). Used by dynamic programming methods for planning. Sample models: Simulate the real environment by producing one outcome for an action. The outcome needs to be a valid sample from the distribution model. Are typically easier to create. Can be used for MC and TD methods for learning. This is called trajectory sampling. Notes:. The real environment can be seen as a physically represented model with sequential sampling access. Model-free methods often use sample models when accessing the real environment is slow, expensive or dangerous">
                <a:extLst>
                  <a:ext uri="{FF2B5EF4-FFF2-40B4-BE49-F238E27FC236}">
                    <a16:creationId xmlns:a16="http://schemas.microsoft.com/office/drawing/2014/main" id="{D1E8B6AB-5A2F-3677-9E00-F7B344478115}"/>
                  </a:ext>
                </a:extLst>
              </p:cNvPr>
              <p:cNvSpPr>
                <a:spLocks noGrp="1" noRot="1" noChangeAspect="1" noMove="1" noResize="1" noEditPoints="1" noAdjustHandles="1" noChangeArrowheads="1" noChangeShapeType="1" noTextEdit="1"/>
              </p:cNvSpPr>
              <p:nvPr>
                <p:ph idx="1"/>
              </p:nvPr>
            </p:nvSpPr>
            <p:spPr>
              <a:xfrm>
                <a:off x="838200" y="1397331"/>
                <a:ext cx="10515600" cy="4438078"/>
              </a:xfrm>
              <a:blipFill>
                <a:blip r:embed="rId2"/>
                <a:stretch>
                  <a:fillRect l="-638" t="-2335" r="-69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097B3B91-268C-F9DD-CBA0-C6797B3B55BA}"/>
              </a:ext>
            </a:extLst>
          </p:cNvPr>
          <p:cNvSpPr txBox="1"/>
          <p:nvPr/>
        </p:nvSpPr>
        <p:spPr>
          <a:xfrm>
            <a:off x="3638986" y="5988972"/>
            <a:ext cx="4914028"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dirty="0"/>
              <a:t>Can we integrate learning and planning?</a:t>
            </a:r>
          </a:p>
        </p:txBody>
      </p:sp>
    </p:spTree>
    <p:extLst>
      <p:ext uri="{BB962C8B-B14F-4D97-AF65-F5344CB8AC3E}">
        <p14:creationId xmlns:p14="http://schemas.microsoft.com/office/powerpoint/2010/main" val="254287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13" end="1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3EEFEA-0015-8BCC-C791-B934FAEDBC09}"/>
              </a:ext>
            </a:extLst>
          </p:cNvPr>
          <p:cNvSpPr>
            <a:spLocks noGrp="1"/>
          </p:cNvSpPr>
          <p:nvPr>
            <p:ph type="title"/>
          </p:nvPr>
        </p:nvSpPr>
        <p:spPr/>
        <p:txBody>
          <a:bodyPr/>
          <a:lstStyle/>
          <a:p>
            <a:r>
              <a:rPr lang="en-US" dirty="0"/>
              <a:t>Dyna</a:t>
            </a:r>
          </a:p>
        </p:txBody>
      </p:sp>
      <p:sp>
        <p:nvSpPr>
          <p:cNvPr id="5" name="Text Placeholder 4">
            <a:extLst>
              <a:ext uri="{FF2B5EF4-FFF2-40B4-BE49-F238E27FC236}">
                <a16:creationId xmlns:a16="http://schemas.microsoft.com/office/drawing/2014/main" id="{27BC8F79-3E91-A277-FC6D-5703A7729627}"/>
              </a:ext>
            </a:extLst>
          </p:cNvPr>
          <p:cNvSpPr>
            <a:spLocks noGrp="1"/>
          </p:cNvSpPr>
          <p:nvPr>
            <p:ph type="body" idx="1"/>
          </p:nvPr>
        </p:nvSpPr>
        <p:spPr/>
        <p:txBody>
          <a:bodyPr/>
          <a:lstStyle/>
          <a:p>
            <a:r>
              <a:rPr lang="en-US" dirty="0"/>
              <a:t>Integrating Planning, Acting, and Learning</a:t>
            </a:r>
          </a:p>
        </p:txBody>
      </p:sp>
    </p:spTree>
    <p:extLst>
      <p:ext uri="{BB962C8B-B14F-4D97-AF65-F5344CB8AC3E}">
        <p14:creationId xmlns:p14="http://schemas.microsoft.com/office/powerpoint/2010/main" val="2665413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96584-F4DC-4CCF-DAD5-C08008400D03}"/>
              </a:ext>
            </a:extLst>
          </p:cNvPr>
          <p:cNvSpPr>
            <a:spLocks noGrp="1"/>
          </p:cNvSpPr>
          <p:nvPr>
            <p:ph type="title"/>
          </p:nvPr>
        </p:nvSpPr>
        <p:spPr/>
        <p:txBody>
          <a:bodyPr>
            <a:normAutofit/>
          </a:bodyPr>
          <a:lstStyle/>
          <a:p>
            <a:r>
              <a:rPr lang="en-US" dirty="0"/>
              <a:t>Integrating Planning, Acting, and Learning</a:t>
            </a:r>
          </a:p>
        </p:txBody>
      </p:sp>
      <mc:AlternateContent xmlns:mc="http://schemas.openxmlformats.org/markup-compatibility/2006">
        <mc:Choice xmlns:a14="http://schemas.microsoft.com/office/drawing/2010/main" Requires="a14">
          <p:sp>
            <p:nvSpPr>
              <p:cNvPr id="3" name="Content Placeholder 2" descr="Direct RL is model-free Learning:. Use sampled experience directly to improve the value function/policy. E.g., via one-step Q-learning. Model Learning and Planning:. Real experience is also used to learn a model. E.g., by recording for each S sub t,A sub t to R sub t plus 1, S sub t plus 1 to estimate p hat (S sub t plus 1,R sub t plus 1, given S sub t,A sub t). The model can be used for planning to improve the value function/policy. E.g., by sampling from the model to update the Q-values. Advantage: Model learning and planning makes the approach much more sample efficient. Experience is not just used once but retained in the model">
                <a:extLst>
                  <a:ext uri="{FF2B5EF4-FFF2-40B4-BE49-F238E27FC236}">
                    <a16:creationId xmlns:a16="http://schemas.microsoft.com/office/drawing/2014/main" id="{B972B9BF-6244-6E3F-DF65-DFA52504F8C0}"/>
                  </a:ext>
                </a:extLst>
              </p:cNvPr>
              <p:cNvSpPr>
                <a:spLocks noGrp="1"/>
              </p:cNvSpPr>
              <p:nvPr>
                <p:ph idx="1"/>
              </p:nvPr>
            </p:nvSpPr>
            <p:spPr>
              <a:xfrm>
                <a:off x="503151" y="1397332"/>
                <a:ext cx="6895810" cy="4486938"/>
              </a:xfrm>
            </p:spPr>
            <p:txBody>
              <a:bodyPr>
                <a:normAutofit fontScale="85000" lnSpcReduction="20000"/>
              </a:bodyPr>
              <a:lstStyle/>
              <a:p>
                <a:r>
                  <a:rPr lang="en-US" b="1" dirty="0"/>
                  <a:t>Direct RL is model-free Learning</a:t>
                </a:r>
                <a:r>
                  <a:rPr lang="en-US" dirty="0"/>
                  <a:t>: </a:t>
                </a:r>
              </a:p>
              <a:p>
                <a:pPr lvl="1"/>
                <a:r>
                  <a:rPr lang="en-US" dirty="0"/>
                  <a:t>Use sampled experience directly to </a:t>
                </a:r>
                <a:r>
                  <a:rPr lang="en-US" b="1" dirty="0"/>
                  <a:t>improve the value function/policy</a:t>
                </a:r>
                <a:r>
                  <a:rPr lang="en-US" dirty="0"/>
                  <a:t>. E.g., via one-step Q-learning.</a:t>
                </a:r>
              </a:p>
              <a:p>
                <a:endParaRPr lang="en-US" dirty="0"/>
              </a:p>
              <a:p>
                <a:r>
                  <a:rPr lang="en-US" b="1" dirty="0"/>
                  <a:t>Model Learning and Planning</a:t>
                </a:r>
                <a:r>
                  <a:rPr lang="en-US" dirty="0"/>
                  <a:t>: </a:t>
                </a:r>
              </a:p>
              <a:p>
                <a:pPr lvl="1"/>
                <a:r>
                  <a:rPr lang="en-US" dirty="0"/>
                  <a:t>Real experience is also used to </a:t>
                </a:r>
                <a:r>
                  <a:rPr lang="en-US" b="1" dirty="0"/>
                  <a:t>learn a model</a:t>
                </a:r>
                <a:r>
                  <a:rPr lang="en-US" dirty="0"/>
                  <a:t>. E.g., by recording for each </a:t>
                </a:r>
                <a:br>
                  <a:rPr lang="en-US" b="0" i="1" dirty="0">
                    <a:latin typeface="Cambria Math" panose="02040503050406030204" pitchFamily="18" charset="0"/>
                  </a:rPr>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dirty="0"/>
                  <a:t> to estimate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pPr lvl="1"/>
                <a:r>
                  <a:rPr lang="en-US" dirty="0"/>
                  <a:t>The model can be used for </a:t>
                </a:r>
                <a:r>
                  <a:rPr lang="en-US" b="1" dirty="0"/>
                  <a:t>planning</a:t>
                </a:r>
                <a:r>
                  <a:rPr lang="en-US" dirty="0"/>
                  <a:t> to improve the value function/policy. E.g., by sampling from the model to update the Q-values. </a:t>
                </a:r>
              </a:p>
              <a:p>
                <a:pPr lvl="1"/>
                <a:endParaRPr lang="en-US" dirty="0"/>
              </a:p>
              <a:p>
                <a:pPr marL="0" indent="0">
                  <a:buNone/>
                </a:pPr>
                <a:r>
                  <a:rPr lang="en-US" b="1" dirty="0"/>
                  <a:t>Advantage</a:t>
                </a:r>
                <a:r>
                  <a:rPr lang="en-US" dirty="0"/>
                  <a:t>: Model learning and planning makes the approach much more sample efficient. Experience is not just used once but retained in the model.</a:t>
                </a:r>
              </a:p>
            </p:txBody>
          </p:sp>
        </mc:Choice>
        <mc:Fallback>
          <p:sp>
            <p:nvSpPr>
              <p:cNvPr id="3" name="Content Placeholder 2" descr="Direct RL is model-free Learning:. Use sampled experience directly to improve the value function/policy. E.g., via one-step Q-learning. Model Learning and Planning:. Real experience is also used to learn a model. E.g., by recording for each S sub t,A sub t to R sub t plus 1, S sub t plus 1 to estimate p hat (S sub t plus 1,R sub t plus 1, given S sub t,A sub t). The model can be used for planning to improve the value function/policy. E.g., by sampling from the model to update the Q-values. Advantage: Model learning and planning makes the approach much more sample efficient. Experience is not just used once but retained in the model">
                <a:extLst>
                  <a:ext uri="{FF2B5EF4-FFF2-40B4-BE49-F238E27FC236}">
                    <a16:creationId xmlns:a16="http://schemas.microsoft.com/office/drawing/2014/main" id="{B972B9BF-6244-6E3F-DF65-DFA52504F8C0}"/>
                  </a:ext>
                </a:extLst>
              </p:cNvPr>
              <p:cNvSpPr>
                <a:spLocks noGrp="1" noRot="1" noChangeAspect="1" noMove="1" noResize="1" noEditPoints="1" noAdjustHandles="1" noChangeArrowheads="1" noChangeShapeType="1" noTextEdit="1"/>
              </p:cNvSpPr>
              <p:nvPr>
                <p:ph idx="1"/>
              </p:nvPr>
            </p:nvSpPr>
            <p:spPr>
              <a:xfrm>
                <a:off x="503151" y="1397332"/>
                <a:ext cx="6895810" cy="4486938"/>
              </a:xfrm>
              <a:blipFill>
                <a:blip r:embed="rId2"/>
                <a:stretch>
                  <a:fillRect l="-1287" t="-2817" r="-1654" b="-2535"/>
                </a:stretch>
              </a:blipFill>
            </p:spPr>
            <p:txBody>
              <a:bodyPr/>
              <a:lstStyle/>
              <a:p>
                <a:r>
                  <a:rPr lang="en-US">
                    <a:noFill/>
                  </a:rPr>
                  <a:t> </a:t>
                </a:r>
              </a:p>
            </p:txBody>
          </p:sp>
        </mc:Fallback>
      </mc:AlternateContent>
      <p:pic>
        <p:nvPicPr>
          <p:cNvPr id="5" name="Picture 4" descr="Dyna cycle (Sutton and Barto Figure 8.1): acting turns the value/policy into experience; experience improves the value/policy directly (direct RL) and is also used for model learning; the model is then used for planning, which improves the value/policy again.">
            <a:extLst>
              <a:ext uri="{FF2B5EF4-FFF2-40B4-BE49-F238E27FC236}">
                <a16:creationId xmlns:a16="http://schemas.microsoft.com/office/drawing/2014/main" id="{13EC5060-ED9D-A7CB-C624-3FD02CBD1E3A}"/>
              </a:ext>
            </a:extLst>
          </p:cNvPr>
          <p:cNvPicPr>
            <a:picLocks noChangeAspect="1"/>
          </p:cNvPicPr>
          <p:nvPr/>
        </p:nvPicPr>
        <p:blipFill>
          <a:blip r:embed="rId3"/>
          <a:stretch>
            <a:fillRect/>
          </a:stretch>
        </p:blipFill>
        <p:spPr>
          <a:xfrm>
            <a:off x="7398961" y="1720207"/>
            <a:ext cx="4326058" cy="3417586"/>
          </a:xfrm>
          <a:prstGeom prst="rect">
            <a:avLst/>
          </a:prstGeom>
        </p:spPr>
      </p:pic>
    </p:spTree>
    <p:extLst>
      <p:ext uri="{BB962C8B-B14F-4D97-AF65-F5344CB8AC3E}">
        <p14:creationId xmlns:p14="http://schemas.microsoft.com/office/powerpoint/2010/main" val="279190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5BE67-97CC-F251-532A-623A26478B86}"/>
              </a:ext>
            </a:extLst>
          </p:cNvPr>
          <p:cNvSpPr>
            <a:spLocks noGrp="1"/>
          </p:cNvSpPr>
          <p:nvPr>
            <p:ph type="title"/>
          </p:nvPr>
        </p:nvSpPr>
        <p:spPr/>
        <p:txBody>
          <a:bodyPr/>
          <a:lstStyle/>
          <a:p>
            <a:r>
              <a:rPr lang="en-US" dirty="0"/>
              <a:t>Alg. Tabular Dyna-Q</a:t>
            </a:r>
          </a:p>
        </p:txBody>
      </p:sp>
      <p:pic>
        <p:nvPicPr>
          <p:cNvPr id="12" name="Picture 11" descr="Dyna cycle (Sutton and Barto Figure 8.1): acting turns the value/policy into experience; experience improves the value/policy directly (direct RL) and is also used for model learning; the model is then used for planning, which improves the value/policy again.">
            <a:extLst>
              <a:ext uri="{FF2B5EF4-FFF2-40B4-BE49-F238E27FC236}">
                <a16:creationId xmlns:a16="http://schemas.microsoft.com/office/drawing/2014/main" id="{F592F7C4-E638-E7F0-C86E-4207F5C5A0A3}"/>
              </a:ext>
            </a:extLst>
          </p:cNvPr>
          <p:cNvPicPr>
            <a:picLocks noChangeAspect="1"/>
          </p:cNvPicPr>
          <p:nvPr/>
        </p:nvPicPr>
        <p:blipFill>
          <a:blip r:embed="rId2"/>
          <a:stretch>
            <a:fillRect/>
          </a:stretch>
        </p:blipFill>
        <p:spPr>
          <a:xfrm>
            <a:off x="7968343" y="399914"/>
            <a:ext cx="3977112" cy="3141919"/>
          </a:xfrm>
          <a:prstGeom prst="rect">
            <a:avLst/>
          </a:prstGeom>
        </p:spPr>
      </p:pic>
      <p:grpSp>
        <p:nvGrpSpPr>
          <p:cNvPr id="11" name="Group 10" descr="Algorithm box: Tabular Dyna-Q. Initialize Q(s, a) and Model(s, a) for all s in S and a in A(s). Loop forever: (a) S ← current (nonterminal) state; (b) A ← epsilon-greedy(S, Q); (c) Take action A; observe resultant reward, R, and state, S′; (d) Q(S, A) ← Q(S, A) + alpha [R + gamma max over a of Q(S′, a) − Q(S, A)]; (e) Model(S, A) ← R, S′ (assuming deterministic environment); (f) Loop repeat n times: S ← random previously observed state; A ← random action previously taken in S; R, S′ ← Model(S, A); Q(S, A) ← Q(S, A) + alpha [R + gamma max over a of Q(S′, a) − Q(S, A)]. Labels: Direct RL: Q-Learning; Improve Q using the model (Planning).">
            <a:extLst>
              <a:ext uri="{FF2B5EF4-FFF2-40B4-BE49-F238E27FC236}">
                <a16:creationId xmlns:a16="http://schemas.microsoft.com/office/drawing/2014/main" id="{4937AB9C-6AA5-A7EB-5688-445A6D78D962}"/>
              </a:ext>
            </a:extLst>
          </p:cNvPr>
          <p:cNvGrpSpPr>
            <a:grpSpLocks noChangeAspect="1"/>
          </p:cNvGrpSpPr>
          <p:nvPr/>
        </p:nvGrpSpPr>
        <p:grpSpPr>
          <a:xfrm>
            <a:off x="693614" y="2680969"/>
            <a:ext cx="10270766" cy="3558915"/>
            <a:chOff x="1027761" y="1690688"/>
            <a:chExt cx="12705267" cy="4550975"/>
          </a:xfrm>
        </p:grpSpPr>
        <p:pic>
          <p:nvPicPr>
            <p:cNvPr id="5" name="Picture 4" descr="Algorithm box: Tabular Dyna-Q. Initialize Q(s, a) and Model(s, a) for all s in S and a in A(s). Loop forever: (a) S ← current (nonterminal) state; (b) A ← epsilon-greedy(S, Q); (c) Take action A; observe resultant reward, R, and state, S′; (d) Q(S, A) ← Q(S, A) + alpha [R + gamma max over a of Q(S′, a) − Q(S, A)]; (e) Model(S, A) ← R, S′ (assuming deterministic environment); (f) Loop repeat n times: S ← random previously observed state; A ← random action previously taken in S; R, S′ ← Model(S, A); Q(S, A) ← Q(S, A) + alpha [R + gamma max over a of Q(S′, a) − Q(S, A)].">
              <a:extLst>
                <a:ext uri="{FF2B5EF4-FFF2-40B4-BE49-F238E27FC236}">
                  <a16:creationId xmlns:a16="http://schemas.microsoft.com/office/drawing/2014/main" id="{5CB7BD3E-BFBF-D93E-B3A8-87CE35EB3E73}"/>
                </a:ext>
              </a:extLst>
            </p:cNvPr>
            <p:cNvPicPr>
              <a:picLocks noChangeAspect="1"/>
            </p:cNvPicPr>
            <p:nvPr/>
          </p:nvPicPr>
          <p:blipFill>
            <a:blip r:embed="rId3"/>
            <a:stretch>
              <a:fillRect/>
            </a:stretch>
          </p:blipFill>
          <p:spPr>
            <a:xfrm>
              <a:off x="1027761" y="1690688"/>
              <a:ext cx="9799864" cy="4550975"/>
            </a:xfrm>
            <a:prstGeom prst="rect">
              <a:avLst/>
            </a:prstGeom>
          </p:spPr>
        </p:pic>
        <p:sp>
          <p:nvSpPr>
            <p:cNvPr id="8" name="Speech Bubble: Rectangle with Corners Rounded 7">
              <a:extLst>
                <a:ext uri="{FF2B5EF4-FFF2-40B4-BE49-F238E27FC236}">
                  <a16:creationId xmlns:a16="http://schemas.microsoft.com/office/drawing/2014/main" id="{43AABACC-352B-D6F3-1630-3C22810331E2}"/>
                </a:ext>
              </a:extLst>
            </p:cNvPr>
            <p:cNvSpPr/>
            <p:nvPr/>
          </p:nvSpPr>
          <p:spPr>
            <a:xfrm>
              <a:off x="8995399" y="3502535"/>
              <a:ext cx="2745523" cy="271041"/>
            </a:xfrm>
            <a:prstGeom prst="wedgeRoundRectCallout">
              <a:avLst>
                <a:gd name="adj1" fmla="val -76395"/>
                <a:gd name="adj2" fmla="val 14344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Direct RL: Q-Learning</a:t>
              </a:r>
            </a:p>
          </p:txBody>
        </p:sp>
        <p:sp>
          <p:nvSpPr>
            <p:cNvPr id="9" name="Right Brace 8">
              <a:extLst>
                <a:ext uri="{FF2B5EF4-FFF2-40B4-BE49-F238E27FC236}">
                  <a16:creationId xmlns:a16="http://schemas.microsoft.com/office/drawing/2014/main" id="{34714BA1-C236-3E36-3CE9-E93B07A696BD}"/>
                </a:ext>
                <a:ext uri="{C183D7F6-B498-43B3-948B-1728B52AA6E4}">
                  <adec:decorative xmlns:adec="http://schemas.microsoft.com/office/drawing/2017/decorative" val="1"/>
                </a:ext>
              </a:extLst>
            </p:cNvPr>
            <p:cNvSpPr/>
            <p:nvPr/>
          </p:nvSpPr>
          <p:spPr>
            <a:xfrm>
              <a:off x="8769872" y="4653329"/>
              <a:ext cx="416009" cy="125886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p>
          </p:txBody>
        </p:sp>
        <p:sp>
          <p:nvSpPr>
            <p:cNvPr id="10" name="TextBox 9">
              <a:extLst>
                <a:ext uri="{FF2B5EF4-FFF2-40B4-BE49-F238E27FC236}">
                  <a16:creationId xmlns:a16="http://schemas.microsoft.com/office/drawing/2014/main" id="{2168B176-252B-01A8-D5CF-A6F29DF4DCE4}"/>
                </a:ext>
              </a:extLst>
            </p:cNvPr>
            <p:cNvSpPr txBox="1"/>
            <p:nvPr/>
          </p:nvSpPr>
          <p:spPr>
            <a:xfrm>
              <a:off x="9233616" y="5066294"/>
              <a:ext cx="4499412" cy="432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sz="1600" dirty="0"/>
                <a:t>Improve Q using the model (Planning)</a:t>
              </a:r>
            </a:p>
          </p:txBody>
        </p:sp>
      </p:grpSp>
      <mc:AlternateContent xmlns:mc="http://schemas.openxmlformats.org/markup-compatibility/2006" xmlns:a14="http://schemas.microsoft.com/office/drawing/2010/main">
        <mc:Choice Requires="a14">
          <p:sp>
            <p:nvSpPr>
              <p:cNvPr id="3" name="Speech Bubble: Rectangle with Corners Rounded 2" descr="Model learning: learn p(s prime,r given s,a)">
                <a:extLst>
                  <a:ext uri="{FF2B5EF4-FFF2-40B4-BE49-F238E27FC236}">
                    <a16:creationId xmlns:a16="http://schemas.microsoft.com/office/drawing/2014/main" id="{8DF5D581-CEB0-AD06-59A9-C85B97349AB2}"/>
                  </a:ext>
                </a:extLst>
              </p:cNvPr>
              <p:cNvSpPr/>
              <p:nvPr/>
            </p:nvSpPr>
            <p:spPr>
              <a:xfrm>
                <a:off x="7134545" y="4567464"/>
                <a:ext cx="3419445" cy="338553"/>
              </a:xfrm>
              <a:prstGeom prst="wedgeRoundRectCallout">
                <a:avLst>
                  <a:gd name="adj1" fmla="val -57067"/>
                  <a:gd name="adj2" fmla="val -417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Model learning: learn </a:t>
                </a:r>
                <a14:m>
                  <m:oMath xmlns:m="http://schemas.openxmlformats.org/officeDocument/2006/math">
                    <m:r>
                      <a:rPr lang="en-US" sz="1600" b="0" i="1" smtClean="0">
                        <a:latin typeface="Cambria Math" panose="02040503050406030204" pitchFamily="18" charset="0"/>
                      </a:rPr>
                      <m:t>𝑝</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𝑠</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r>
                      <a:rPr lang="en-US" sz="1600" b="0" i="1" smtClean="0">
                        <a:latin typeface="Cambria Math" panose="02040503050406030204" pitchFamily="18" charset="0"/>
                      </a:rPr>
                      <m:t>𝑟</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oMath>
                </a14:m>
                <a:endParaRPr lang="en-US" sz="1600" dirty="0"/>
              </a:p>
            </p:txBody>
          </p:sp>
        </mc:Choice>
        <mc:Fallback xmlns="">
          <p:sp>
            <p:nvSpPr>
              <p:cNvPr id="3" name="Speech Bubble: Rectangle with Corners Rounded 2" descr="Model learning: learn p(s prime,r given s,a)">
                <a:extLst>
                  <a:ext uri="{FF2B5EF4-FFF2-40B4-BE49-F238E27FC236}">
                    <a16:creationId xmlns:a16="http://schemas.microsoft.com/office/drawing/2014/main" id="{8DF5D581-CEB0-AD06-59A9-C85B97349AB2}"/>
                  </a:ext>
                </a:extLst>
              </p:cNvPr>
              <p:cNvSpPr>
                <a:spLocks noRot="1" noChangeAspect="1" noMove="1" noResize="1" noEditPoints="1" noAdjustHandles="1" noChangeArrowheads="1" noChangeShapeType="1" noTextEdit="1"/>
              </p:cNvSpPr>
              <p:nvPr/>
            </p:nvSpPr>
            <p:spPr>
              <a:xfrm>
                <a:off x="7134545" y="4567464"/>
                <a:ext cx="3419445" cy="338553"/>
              </a:xfrm>
              <a:prstGeom prst="wedgeRoundRectCallout">
                <a:avLst>
                  <a:gd name="adj1" fmla="val -57067"/>
                  <a:gd name="adj2" fmla="val -4170"/>
                  <a:gd name="adj3" fmla="val 16667"/>
                </a:avLst>
              </a:prstGeom>
              <a:blipFill>
                <a:blip r:embed="rId4"/>
                <a:stretch>
                  <a:fillRect t="-1695" b="-18644"/>
                </a:stretch>
              </a:blipFill>
            </p:spPr>
            <p:txBody>
              <a:bodyPr/>
              <a:lstStyle/>
              <a:p>
                <a:r>
                  <a:rPr lang="en-US">
                    <a:noFill/>
                  </a:rPr>
                  <a:t> </a:t>
                </a:r>
              </a:p>
            </p:txBody>
          </p:sp>
        </mc:Fallback>
      </mc:AlternateContent>
    </p:spTree>
    <p:extLst>
      <p:ext uri="{BB962C8B-B14F-4D97-AF65-F5344CB8AC3E}">
        <p14:creationId xmlns:p14="http://schemas.microsoft.com/office/powerpoint/2010/main" val="1019483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C8AC25-EC4C-3842-F311-7347DBC1A71C}"/>
              </a:ext>
            </a:extLst>
          </p:cNvPr>
          <p:cNvSpPr>
            <a:spLocks noGrp="1"/>
          </p:cNvSpPr>
          <p:nvPr>
            <p:ph type="title"/>
          </p:nvPr>
        </p:nvSpPr>
        <p:spPr>
          <a:xfrm>
            <a:off x="838200" y="365126"/>
            <a:ext cx="10776774" cy="759072"/>
          </a:xfrm>
        </p:spPr>
        <p:txBody>
          <a:bodyPr/>
          <a:lstStyle/>
          <a:p>
            <a:r>
              <a:rPr lang="en-US" dirty="0"/>
              <a:t>The Effect of Planning</a:t>
            </a:r>
          </a:p>
        </p:txBody>
      </p:sp>
      <p:pic>
        <p:nvPicPr>
          <p:cNvPr id="2" name="Picture 1" descr="Dyna cycle (Sutton and Barto Figure 8.1): acting turns the value/policy into experience; experience improves the value/policy directly (direct RL) and is also used for model learning; the model is then used for planning, which improves the value/policy again.">
            <a:extLst>
              <a:ext uri="{FF2B5EF4-FFF2-40B4-BE49-F238E27FC236}">
                <a16:creationId xmlns:a16="http://schemas.microsoft.com/office/drawing/2014/main" id="{C1666A5B-CCA6-7A12-3D37-72BB0409CA5C}"/>
              </a:ext>
            </a:extLst>
          </p:cNvPr>
          <p:cNvPicPr>
            <a:picLocks noChangeAspect="1"/>
          </p:cNvPicPr>
          <p:nvPr/>
        </p:nvPicPr>
        <p:blipFill>
          <a:blip r:embed="rId2"/>
          <a:stretch>
            <a:fillRect/>
          </a:stretch>
        </p:blipFill>
        <p:spPr>
          <a:xfrm>
            <a:off x="9315449" y="185109"/>
            <a:ext cx="2597348" cy="2051905"/>
          </a:xfrm>
          <a:prstGeom prst="rect">
            <a:avLst/>
          </a:prstGeom>
        </p:spPr>
      </p:pic>
      <p:pic>
        <p:nvPicPr>
          <p:cNvPr id="4" name="Picture 3" descr="Dyna maze results (Sutton and Barto Figure 8.2). Inset: a 6 by 9 grid maze with start S on the left, goal G at the top right, a few gray wall blocks, and four possible actions, up, down, left and right. Line chart of steps per episode (14 to 800) against episodes (2 to 50): with 0 planning steps (direct RL only, blue) the agent needs hundreds of steps early on and takes about 30 episodes to settle near the optimum of 14 steps; with 5 planning steps (green) it reaches near-optimal paths within about 5 episodes; with 50 planning steps (red) within about 3 episodes.">
            <a:extLst>
              <a:ext uri="{FF2B5EF4-FFF2-40B4-BE49-F238E27FC236}">
                <a16:creationId xmlns:a16="http://schemas.microsoft.com/office/drawing/2014/main" id="{25CE6196-0C58-18A7-BA50-D3B376B607E3}"/>
              </a:ext>
            </a:extLst>
          </p:cNvPr>
          <p:cNvPicPr>
            <a:picLocks noChangeAspect="1"/>
          </p:cNvPicPr>
          <p:nvPr/>
        </p:nvPicPr>
        <p:blipFill>
          <a:blip r:embed="rId3"/>
          <a:stretch>
            <a:fillRect/>
          </a:stretch>
        </p:blipFill>
        <p:spPr>
          <a:xfrm>
            <a:off x="-408370" y="1660797"/>
            <a:ext cx="7086022" cy="4108300"/>
          </a:xfrm>
          <a:prstGeom prst="rect">
            <a:avLst/>
          </a:prstGeom>
        </p:spPr>
      </p:pic>
      <mc:AlternateContent xmlns:mc="http://schemas.openxmlformats.org/markup-compatibility/2006" xmlns:a14="http://schemas.microsoft.com/office/drawing/2010/main">
        <mc:Choice Requires="a14">
          <p:sp>
            <p:nvSpPr>
              <p:cNvPr id="6" name="Content Placeholder 5" descr="Benefit: Adding planning speeds learning by reusing sampled experience. Issues: Planning is a problem if the model is wrong:. Based on an insufficient number of samples. p -function approximation is not great. Environment changes. Luckily, Dyna quickly corrects overly optimistic predictions since they will be selected for the next real action in the direct RL step. For changing environments:. Keep exploring. Keep track of how out-of-date estimates are. I.e., for how long each action/state combination was not tried">
                <a:extLst>
                  <a:ext uri="{FF2B5EF4-FFF2-40B4-BE49-F238E27FC236}">
                    <a16:creationId xmlns:a16="http://schemas.microsoft.com/office/drawing/2014/main" id="{5C0268D5-3842-005A-9D87-7A037B2EC858}"/>
                  </a:ext>
                </a:extLst>
              </p:cNvPr>
              <p:cNvSpPr>
                <a:spLocks noGrp="1"/>
              </p:cNvSpPr>
              <p:nvPr>
                <p:ph idx="1"/>
              </p:nvPr>
            </p:nvSpPr>
            <p:spPr>
              <a:xfrm>
                <a:off x="6096000" y="2237014"/>
                <a:ext cx="5623420" cy="4221072"/>
              </a:xfrm>
            </p:spPr>
            <p:txBody>
              <a:bodyPr>
                <a:normAutofit fontScale="62500" lnSpcReduction="20000"/>
              </a:bodyPr>
              <a:lstStyle/>
              <a:p>
                <a:r>
                  <a:rPr lang="en-US" b="1" dirty="0"/>
                  <a:t>Benefit</a:t>
                </a:r>
                <a:r>
                  <a:rPr lang="en-US" dirty="0"/>
                  <a:t>: Adding planning speeds learning by reusing sampled experience.</a:t>
                </a:r>
              </a:p>
              <a:p>
                <a:endParaRPr lang="en-US" dirty="0"/>
              </a:p>
              <a:p>
                <a:r>
                  <a:rPr lang="en-US" b="1" dirty="0"/>
                  <a:t>Issues</a:t>
                </a:r>
                <a:r>
                  <a:rPr lang="en-US" dirty="0"/>
                  <a:t>: Planning is a problem if the model is wrong:</a:t>
                </a:r>
              </a:p>
              <a:p>
                <a:pPr lvl="1"/>
                <a:r>
                  <a:rPr lang="en-US" dirty="0"/>
                  <a:t>Based on an insufficient number of samples.</a:t>
                </a:r>
              </a:p>
              <a:p>
                <a:pPr lvl="1"/>
                <a14:m>
                  <m:oMath xmlns:m="http://schemas.openxmlformats.org/officeDocument/2006/math">
                    <m:r>
                      <a:rPr lang="en-US" b="0" i="1" smtClean="0">
                        <a:latin typeface="Cambria Math" panose="02040503050406030204" pitchFamily="18" charset="0"/>
                      </a:rPr>
                      <m:t>𝑝</m:t>
                    </m:r>
                  </m:oMath>
                </a14:m>
                <a:r>
                  <a:rPr lang="en-US" dirty="0"/>
                  <a:t>-function approximation is not great.</a:t>
                </a:r>
              </a:p>
              <a:p>
                <a:pPr lvl="1"/>
                <a:r>
                  <a:rPr lang="en-US" dirty="0"/>
                  <a:t>Environment changes.</a:t>
                </a:r>
              </a:p>
              <a:p>
                <a:endParaRPr lang="en-US" dirty="0"/>
              </a:p>
              <a:p>
                <a:r>
                  <a:rPr lang="en-US" dirty="0"/>
                  <a:t>Luckily, Dyna quickly corrects overly optimistic predictions since they will be selected for the next real action in the direct RL step.</a:t>
                </a:r>
              </a:p>
              <a:p>
                <a:endParaRPr lang="en-US" dirty="0"/>
              </a:p>
              <a:p>
                <a:r>
                  <a:rPr lang="en-US" dirty="0"/>
                  <a:t>For changing environments:</a:t>
                </a:r>
              </a:p>
              <a:p>
                <a:pPr lvl="1"/>
                <a:r>
                  <a:rPr lang="en-US" dirty="0"/>
                  <a:t>Keep exploring.</a:t>
                </a:r>
              </a:p>
              <a:p>
                <a:pPr lvl="1"/>
                <a:r>
                  <a:rPr lang="en-US" dirty="0"/>
                  <a:t>Keep track of how out-of-date estimates are. I.e., for how long each action/state combination was not tried.</a:t>
                </a:r>
              </a:p>
            </p:txBody>
          </p:sp>
        </mc:Choice>
        <mc:Fallback xmlns="">
          <p:sp>
            <p:nvSpPr>
              <p:cNvPr id="6" name="Content Placeholder 5" descr="Benefit: Adding planning speeds learning by reusing sampled experience. Issues: Planning is a problem if the model is wrong:. Based on an insufficient number of samples. p -function approximation is not great. Environment changes. Luckily, Dyna quickly corrects overly optimistic predictions since they will be selected for the next real action in the direct RL step. For changing environments:. Keep exploring. Keep track of how out-of-date estimates are. I.e., for how long each action/state combination was not tried">
                <a:extLst>
                  <a:ext uri="{FF2B5EF4-FFF2-40B4-BE49-F238E27FC236}">
                    <a16:creationId xmlns:a16="http://schemas.microsoft.com/office/drawing/2014/main" id="{5C0268D5-3842-005A-9D87-7A037B2EC858}"/>
                  </a:ext>
                </a:extLst>
              </p:cNvPr>
              <p:cNvSpPr>
                <a:spLocks noGrp="1" noRot="1" noChangeAspect="1" noMove="1" noResize="1" noEditPoints="1" noAdjustHandles="1" noChangeArrowheads="1" noChangeShapeType="1" noTextEdit="1"/>
              </p:cNvSpPr>
              <p:nvPr>
                <p:ph idx="1"/>
              </p:nvPr>
            </p:nvSpPr>
            <p:spPr>
              <a:xfrm>
                <a:off x="6096000" y="2237014"/>
                <a:ext cx="5623420" cy="4221072"/>
              </a:xfrm>
              <a:blipFill>
                <a:blip r:embed="rId4"/>
                <a:stretch>
                  <a:fillRect l="-651" t="-2312"/>
                </a:stretch>
              </a:blipFill>
            </p:spPr>
            <p:txBody>
              <a:bodyPr/>
              <a:lstStyle/>
              <a:p>
                <a:r>
                  <a:rPr lang="en-US">
                    <a:noFill/>
                  </a:rPr>
                  <a:t> </a:t>
                </a:r>
              </a:p>
            </p:txBody>
          </p:sp>
        </mc:Fallback>
      </mc:AlternateContent>
    </p:spTree>
    <p:extLst>
      <p:ext uri="{BB962C8B-B14F-4D97-AF65-F5344CB8AC3E}">
        <p14:creationId xmlns:p14="http://schemas.microsoft.com/office/powerpoint/2010/main" val="363699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74D2E0C-9397-0251-BE88-27DE9E96C6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8D0E66-448A-2B1F-DC4F-AFCD2FF3C554}"/>
              </a:ext>
            </a:extLst>
          </p:cNvPr>
          <p:cNvSpPr>
            <a:spLocks noGrp="1"/>
          </p:cNvSpPr>
          <p:nvPr>
            <p:ph type="title"/>
          </p:nvPr>
        </p:nvSpPr>
        <p:spPr/>
        <p:txBody>
          <a:bodyPr/>
          <a:lstStyle/>
          <a:p>
            <a:r>
              <a:rPr lang="en-US" dirty="0"/>
              <a:t>Sampling</a:t>
            </a:r>
          </a:p>
        </p:txBody>
      </p:sp>
      <p:sp>
        <p:nvSpPr>
          <p:cNvPr id="5" name="Text Placeholder 4">
            <a:extLst>
              <a:ext uri="{FF2B5EF4-FFF2-40B4-BE49-F238E27FC236}">
                <a16:creationId xmlns:a16="http://schemas.microsoft.com/office/drawing/2014/main" id="{7FDA9A14-34CA-9AC7-415D-3D9BB2C19DFA}"/>
              </a:ext>
            </a:extLst>
          </p:cNvPr>
          <p:cNvSpPr>
            <a:spLocks noGrp="1"/>
          </p:cNvSpPr>
          <p:nvPr>
            <p:ph type="body" idx="1"/>
          </p:nvPr>
        </p:nvSpPr>
        <p:spPr/>
        <p:txBody>
          <a:bodyPr/>
          <a:lstStyle/>
          <a:p>
            <a:r>
              <a:rPr lang="en-US" dirty="0"/>
              <a:t>Base updates on sampled experience</a:t>
            </a:r>
          </a:p>
        </p:txBody>
      </p:sp>
    </p:spTree>
    <p:extLst>
      <p:ext uri="{BB962C8B-B14F-4D97-AF65-F5344CB8AC3E}">
        <p14:creationId xmlns:p14="http://schemas.microsoft.com/office/powerpoint/2010/main" val="586579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859C-00DA-DABF-41E1-705430742721}"/>
              </a:ext>
            </a:extLst>
          </p:cNvPr>
          <p:cNvSpPr>
            <a:spLocks noGrp="1"/>
          </p:cNvSpPr>
          <p:nvPr>
            <p:ph type="title"/>
          </p:nvPr>
        </p:nvSpPr>
        <p:spPr>
          <a:xfrm>
            <a:off x="838200" y="365126"/>
            <a:ext cx="6466033" cy="759072"/>
          </a:xfrm>
        </p:spPr>
        <p:txBody>
          <a:bodyPr>
            <a:normAutofit fontScale="90000"/>
          </a:bodyPr>
          <a:lstStyle/>
          <a:p>
            <a:r>
              <a:rPr lang="en-US" dirty="0"/>
              <a:t>Expected vs. Sample Updates</a:t>
            </a:r>
          </a:p>
        </p:txBody>
      </p:sp>
      <mc:AlternateContent xmlns:mc="http://schemas.openxmlformats.org/markup-compatibility/2006" xmlns:a14="http://schemas.microsoft.com/office/drawing/2010/main">
        <mc:Choice Requires="a14">
          <p:sp>
            <p:nvSpPr>
              <p:cNvPr id="3" name="Content Placeholder 2" descr="Expected updates (DP) Q (s,a) gets the sum over s prime,r, of p (s prime,r given s,a) [r plus gamma max over a prime, of Q(s prime,a prime)]. Sample updates (on-step TD) Q (s,a) gets Q (s,a) plus alpha [R plus gamma max over a prime, of Q (s prime,a) minus Q(s,a)]. Sampling adds variance due to the sample error but is computationally much cheaper">
                <a:extLst>
                  <a:ext uri="{FF2B5EF4-FFF2-40B4-BE49-F238E27FC236}">
                    <a16:creationId xmlns:a16="http://schemas.microsoft.com/office/drawing/2014/main" id="{16DB3DD2-F232-A22F-AD76-91496286CEF6}"/>
                  </a:ext>
                </a:extLst>
              </p:cNvPr>
              <p:cNvSpPr>
                <a:spLocks noGrp="1"/>
              </p:cNvSpPr>
              <p:nvPr>
                <p:ph idx="1"/>
              </p:nvPr>
            </p:nvSpPr>
            <p:spPr>
              <a:xfrm>
                <a:off x="838200" y="1397330"/>
                <a:ext cx="6632643" cy="3872685"/>
              </a:xfrm>
            </p:spPr>
            <p:txBody>
              <a:bodyPr>
                <a:normAutofit fontScale="70000" lnSpcReduction="20000"/>
              </a:bodyPr>
              <a:lstStyle/>
              <a:p>
                <a:r>
                  <a:rPr lang="en-US" dirty="0"/>
                  <a:t>Expected updates (DP)</a:t>
                </a:r>
                <a:br>
                  <a:rPr lang="en-US" dirty="0"/>
                </a:br>
                <a:br>
                  <a:rPr lang="en-US" dirty="0"/>
                </a:br>
                <a14:m>
                  <m:oMath xmlns:m="http://schemas.openxmlformats.org/officeDocument/2006/math">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e>
                    </m:d>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𝑠</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𝑟</m:t>
                        </m:r>
                      </m:sub>
                      <m:sup/>
                      <m:e>
                        <m:r>
                          <a:rPr lang="en-US" sz="2400" b="0" i="1" smtClean="0">
                            <a:latin typeface="Cambria Math" panose="02040503050406030204" pitchFamily="18" charset="0"/>
                          </a:rPr>
                          <m:t>𝑝</m:t>
                        </m:r>
                        <m:d>
                          <m:dPr>
                            <m:ctrlPr>
                              <a:rPr lang="en-US" sz="2400" b="0" i="1" dirty="0" smtClean="0">
                                <a:latin typeface="Cambria Math" panose="02040503050406030204" pitchFamily="18" charset="0"/>
                              </a:rPr>
                            </m:ctrlPr>
                          </m:dPr>
                          <m:e>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𝑠</m:t>
                                </m:r>
                              </m:e>
                              <m:sup>
                                <m:r>
                                  <a:rPr lang="en-US" sz="2400" b="0" i="1" dirty="0" smtClean="0">
                                    <a:latin typeface="Cambria Math" panose="02040503050406030204" pitchFamily="18" charset="0"/>
                                  </a:rPr>
                                  <m:t>′</m:t>
                                </m:r>
                              </m:sup>
                            </m:sSup>
                            <m:r>
                              <a:rPr lang="en-US" sz="2400" b="0" i="1" dirty="0" smtClean="0">
                                <a:latin typeface="Cambria Math" panose="02040503050406030204" pitchFamily="18" charset="0"/>
                              </a:rPr>
                              <m:t>,</m:t>
                            </m:r>
                            <m:r>
                              <a:rPr lang="en-US" sz="2400" b="0" i="1" dirty="0" smtClean="0">
                                <a:latin typeface="Cambria Math" panose="02040503050406030204" pitchFamily="18" charset="0"/>
                              </a:rPr>
                              <m:t>𝑟</m:t>
                            </m:r>
                          </m:e>
                          <m:e>
                            <m:r>
                              <a:rPr lang="en-US" sz="2400" b="0" i="1" dirty="0" smtClean="0">
                                <a:latin typeface="Cambria Math" panose="02040503050406030204" pitchFamily="18" charset="0"/>
                              </a:rPr>
                              <m:t>𝑠</m:t>
                            </m:r>
                            <m:r>
                              <a:rPr lang="en-US" sz="2400" b="0" i="1" dirty="0" smtClean="0">
                                <a:latin typeface="Cambria Math" panose="02040503050406030204" pitchFamily="18" charset="0"/>
                              </a:rPr>
                              <m:t>,</m:t>
                            </m:r>
                            <m:r>
                              <a:rPr lang="en-US" sz="2400" b="0" i="1" dirty="0" smtClean="0">
                                <a:latin typeface="Cambria Math" panose="02040503050406030204" pitchFamily="18" charset="0"/>
                              </a:rPr>
                              <m:t>𝑎</m:t>
                            </m:r>
                          </m:e>
                        </m:d>
                        <m:d>
                          <m:dPr>
                            <m:begChr m:val="["/>
                            <m:endChr m:val="]"/>
                            <m:ctrlPr>
                              <a:rPr lang="en-US" sz="2400" i="1" dirty="0">
                                <a:latin typeface="Cambria Math" panose="02040503050406030204" pitchFamily="18" charset="0"/>
                              </a:rPr>
                            </m:ctrlPr>
                          </m:dPr>
                          <m:e>
                            <m:r>
                              <a:rPr lang="en-US" sz="2400" i="1" dirty="0">
                                <a:latin typeface="Cambria Math" panose="02040503050406030204" pitchFamily="18" charset="0"/>
                              </a:rPr>
                              <m:t>𝑟</m:t>
                            </m:r>
                            <m:r>
                              <a:rPr lang="en-US" sz="2400" i="1" dirty="0">
                                <a:latin typeface="Cambria Math" panose="02040503050406030204" pitchFamily="18" charset="0"/>
                              </a:rPr>
                              <m:t>+</m:t>
                            </m:r>
                            <m:r>
                              <a:rPr lang="en-US" sz="2400" i="1" dirty="0">
                                <a:latin typeface="Cambria Math" panose="02040503050406030204" pitchFamily="18" charset="0"/>
                              </a:rPr>
                              <m:t>𝛾</m:t>
                            </m:r>
                            <m:func>
                              <m:funcPr>
                                <m:ctrlPr>
                                  <a:rPr lang="en-US" sz="2400" i="1" dirty="0">
                                    <a:latin typeface="Cambria Math" panose="02040503050406030204" pitchFamily="18" charset="0"/>
                                  </a:rPr>
                                </m:ctrlPr>
                              </m:funcPr>
                              <m:fName>
                                <m:limLow>
                                  <m:limLowPr>
                                    <m:ctrlPr>
                                      <a:rPr lang="en-US" sz="2400" dirty="0">
                                        <a:latin typeface="Cambria Math" panose="02040503050406030204" pitchFamily="18" charset="0"/>
                                      </a:rPr>
                                    </m:ctrlPr>
                                  </m:limLowPr>
                                  <m:e>
                                    <m:r>
                                      <m:rPr>
                                        <m:sty m:val="p"/>
                                      </m:rPr>
                                      <a:rPr lang="en-US" sz="2400" dirty="0">
                                        <a:latin typeface="Cambria Math" panose="02040503050406030204" pitchFamily="18" charset="0"/>
                                      </a:rPr>
                                      <m:t>max</m:t>
                                    </m:r>
                                  </m:e>
                                  <m:lim>
                                    <m:sSup>
                                      <m:sSupPr>
                                        <m:ctrlPr>
                                          <a:rPr lang="en-US" sz="2400" i="1" dirty="0">
                                            <a:latin typeface="Cambria Math" panose="02040503050406030204" pitchFamily="18" charset="0"/>
                                          </a:rPr>
                                        </m:ctrlPr>
                                      </m:sSupPr>
                                      <m:e>
                                        <m:r>
                                          <a:rPr lang="en-US" sz="2400" i="1" dirty="0">
                                            <a:latin typeface="Cambria Math" panose="02040503050406030204" pitchFamily="18" charset="0"/>
                                          </a:rPr>
                                          <m:t>𝑎</m:t>
                                        </m:r>
                                      </m:e>
                                      <m:sup>
                                        <m:r>
                                          <a:rPr lang="en-US" sz="2400" i="1" dirty="0">
                                            <a:latin typeface="Cambria Math" panose="02040503050406030204" pitchFamily="18" charset="0"/>
                                          </a:rPr>
                                          <m:t>′</m:t>
                                        </m:r>
                                      </m:sup>
                                    </m:sSup>
                                  </m:lim>
                                </m:limLow>
                              </m:fName>
                              <m:e>
                                <m:r>
                                  <a:rPr lang="en-US" sz="2400" i="1" dirty="0">
                                    <a:latin typeface="Cambria Math" panose="02040503050406030204" pitchFamily="18" charset="0"/>
                                  </a:rPr>
                                  <m:t>𝑄</m:t>
                                </m:r>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𝑠</m:t>
                                    </m:r>
                                  </m:e>
                                  <m:sup>
                                    <m:r>
                                      <a:rPr lang="en-US" sz="2400" i="1" dirty="0">
                                        <a:latin typeface="Cambria Math" panose="02040503050406030204" pitchFamily="18" charset="0"/>
                                      </a:rPr>
                                      <m:t>′</m:t>
                                    </m:r>
                                  </m:sup>
                                </m:sSup>
                                <m:r>
                                  <a:rPr lang="en-US" sz="2400" i="1" dirty="0">
                                    <a:latin typeface="Cambria Math" panose="02040503050406030204" pitchFamily="18" charset="0"/>
                                  </a:rPr>
                                  <m:t>,</m:t>
                                </m:r>
                                <m:sSup>
                                  <m:sSupPr>
                                    <m:ctrlPr>
                                      <a:rPr lang="en-US" sz="2400" i="1" dirty="0">
                                        <a:latin typeface="Cambria Math" panose="02040503050406030204" pitchFamily="18" charset="0"/>
                                      </a:rPr>
                                    </m:ctrlPr>
                                  </m:sSupPr>
                                  <m:e>
                                    <m:r>
                                      <a:rPr lang="en-US" sz="2400" i="1" dirty="0">
                                        <a:latin typeface="Cambria Math" panose="02040503050406030204" pitchFamily="18" charset="0"/>
                                      </a:rPr>
                                      <m:t>𝑎</m:t>
                                    </m:r>
                                  </m:e>
                                  <m:sup>
                                    <m:r>
                                      <a:rPr lang="en-US" sz="2400" i="1" dirty="0">
                                        <a:latin typeface="Cambria Math" panose="02040503050406030204" pitchFamily="18" charset="0"/>
                                      </a:rPr>
                                      <m:t>′</m:t>
                                    </m:r>
                                  </m:sup>
                                </m:sSup>
                                <m:r>
                                  <a:rPr lang="en-US" sz="2400" i="1" dirty="0">
                                    <a:latin typeface="Cambria Math" panose="02040503050406030204" pitchFamily="18" charset="0"/>
                                  </a:rPr>
                                  <m:t>)</m:t>
                                </m:r>
                              </m:e>
                            </m:func>
                          </m:e>
                        </m:d>
                      </m:e>
                    </m:nary>
                  </m:oMath>
                </a14:m>
                <a:endParaRPr lang="en-US" dirty="0"/>
              </a:p>
              <a:p>
                <a:endParaRPr lang="en-US" dirty="0"/>
              </a:p>
              <a:p>
                <a:endParaRPr lang="en-US" dirty="0"/>
              </a:p>
              <a:p>
                <a:r>
                  <a:rPr lang="en-US" dirty="0"/>
                  <a:t>Sample updates (on-step TD)</a:t>
                </a:r>
                <a:br>
                  <a:rPr lang="en-US" dirty="0"/>
                </a:br>
                <a:br>
                  <a:rPr lang="en-US" dirty="0"/>
                </a:br>
                <a14:m>
                  <m:oMath xmlns:m="http://schemas.openxmlformats.org/officeDocument/2006/math">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e>
                    </m:d>
                    <m:r>
                      <a:rPr lang="en-US" sz="2400" b="0" i="1" smtClean="0">
                        <a:latin typeface="Cambria Math" panose="02040503050406030204" pitchFamily="18" charset="0"/>
                      </a:rPr>
                      <m:t>←</m:t>
                    </m:r>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e>
                    </m:d>
                    <m:r>
                      <a:rPr lang="en-US" sz="2400" b="0" i="1" smtClean="0">
                        <a:latin typeface="Cambria Math" panose="02040503050406030204" pitchFamily="18" charset="0"/>
                      </a:rPr>
                      <m:t>+</m:t>
                    </m:r>
                    <m:r>
                      <a:rPr lang="en-US" sz="2400" b="0" i="1" smtClean="0">
                        <a:latin typeface="Cambria Math" panose="02040503050406030204" pitchFamily="18" charset="0"/>
                      </a:rPr>
                      <m:t>𝛼</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𝑅</m:t>
                        </m:r>
                        <m:r>
                          <a:rPr lang="en-US" sz="2400" b="0" i="1" smtClean="0">
                            <a:latin typeface="Cambria Math" panose="02040503050406030204" pitchFamily="18" charset="0"/>
                          </a:rPr>
                          <m:t>+</m:t>
                        </m:r>
                        <m:r>
                          <a:rPr lang="en-US" sz="2400" b="0" i="1" smtClean="0">
                            <a:latin typeface="Cambria Math" panose="02040503050406030204" pitchFamily="18" charset="0"/>
                          </a:rPr>
                          <m:t>𝛾</m:t>
                        </m:r>
                        <m:func>
                          <m:funcPr>
                            <m:ctrlPr>
                              <a:rPr lang="en-US" sz="2400" b="0" i="1" smtClean="0">
                                <a:latin typeface="Cambria Math" panose="02040503050406030204" pitchFamily="18" charset="0"/>
                              </a:rPr>
                            </m:ctrlPr>
                          </m:funcPr>
                          <m:fName>
                            <m:limLow>
                              <m:limLowPr>
                                <m:ctrlPr>
                                  <a:rPr lang="en-US" sz="2400" b="0" i="0" smtClean="0">
                                    <a:latin typeface="Cambria Math" panose="02040503050406030204" pitchFamily="18" charset="0"/>
                                  </a:rPr>
                                </m:ctrlPr>
                              </m:limLowPr>
                              <m:e>
                                <m:r>
                                  <m:rPr>
                                    <m:sty m:val="p"/>
                                  </m:rPr>
                                  <a:rPr lang="en-US" sz="2400" b="0" i="0" smtClean="0">
                                    <a:latin typeface="Cambria Math" panose="02040503050406030204" pitchFamily="18" charset="0"/>
                                  </a:rPr>
                                  <m:t>max</m:t>
                                </m:r>
                              </m:e>
                              <m:lim>
                                <m:r>
                                  <a:rPr lang="en-US" sz="2400" b="0" i="1" smtClean="0">
                                    <a:latin typeface="Cambria Math" panose="02040503050406030204" pitchFamily="18" charset="0"/>
                                  </a:rPr>
                                  <m:t>𝑎</m:t>
                                </m:r>
                                <m:r>
                                  <a:rPr lang="en-US" sz="2400" b="0" i="1" smtClean="0">
                                    <a:latin typeface="Cambria Math" panose="02040503050406030204" pitchFamily="18" charset="0"/>
                                  </a:rPr>
                                  <m:t>′</m:t>
                                </m:r>
                              </m:lim>
                            </m:limLow>
                          </m:fName>
                          <m:e>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𝑠</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𝑎</m:t>
                                </m:r>
                              </m:e>
                            </m:d>
                            <m:r>
                              <a:rPr lang="en-US" sz="2400" b="0" i="1" smtClean="0">
                                <a:latin typeface="Cambria Math" panose="02040503050406030204" pitchFamily="18" charset="0"/>
                              </a:rPr>
                              <m:t>−</m:t>
                            </m:r>
                            <m:r>
                              <a:rPr lang="en-US" sz="2400" b="0" i="1" smtClean="0">
                                <a:latin typeface="Cambria Math" panose="02040503050406030204" pitchFamily="18" charset="0"/>
                              </a:rPr>
                              <m:t>𝑄</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m:t>
                            </m:r>
                          </m:e>
                        </m:func>
                      </m:e>
                    </m:d>
                  </m:oMath>
                </a14:m>
                <a:endParaRPr lang="en-US" dirty="0"/>
              </a:p>
              <a:p>
                <a:endParaRPr lang="en-US" dirty="0"/>
              </a:p>
              <a:p>
                <a:endParaRPr lang="en-US" dirty="0"/>
              </a:p>
              <a:p>
                <a:r>
                  <a:rPr lang="en-US" dirty="0"/>
                  <a:t>Sampling adds variance due to the sample error but is computationally much cheaper.</a:t>
                </a:r>
              </a:p>
            </p:txBody>
          </p:sp>
        </mc:Choice>
        <mc:Fallback xmlns="">
          <p:sp>
            <p:nvSpPr>
              <p:cNvPr id="3" name="Content Placeholder 2" descr="Expected updates (DP) Q (s,a) gets the sum over s prime,r, of p (s prime,r given s,a) [r plus gamma max over a prime, of Q(s prime,a prime)]. Sample updates (on-step TD) Q (s,a) gets Q (s,a) plus alpha [R plus gamma max over a prime, of Q (s prime,a) minus Q(s,a)]. Sampling adds variance due to the sample error but is computationally much cheaper">
                <a:extLst>
                  <a:ext uri="{FF2B5EF4-FFF2-40B4-BE49-F238E27FC236}">
                    <a16:creationId xmlns:a16="http://schemas.microsoft.com/office/drawing/2014/main" id="{16DB3DD2-F232-A22F-AD76-91496286CEF6}"/>
                  </a:ext>
                </a:extLst>
              </p:cNvPr>
              <p:cNvSpPr>
                <a:spLocks noGrp="1" noRot="1" noChangeAspect="1" noMove="1" noResize="1" noEditPoints="1" noAdjustHandles="1" noChangeArrowheads="1" noChangeShapeType="1" noTextEdit="1"/>
              </p:cNvSpPr>
              <p:nvPr>
                <p:ph idx="1"/>
              </p:nvPr>
            </p:nvSpPr>
            <p:spPr>
              <a:xfrm>
                <a:off x="838200" y="1397330"/>
                <a:ext cx="6632643" cy="3872685"/>
              </a:xfrm>
              <a:blipFill>
                <a:blip r:embed="rId3"/>
                <a:stretch>
                  <a:fillRect l="-827" t="-12893" b="-1730"/>
                </a:stretch>
              </a:blipFill>
            </p:spPr>
            <p:txBody>
              <a:bodyPr/>
              <a:lstStyle/>
              <a:p>
                <a:r>
                  <a:rPr lang="en-US">
                    <a:noFill/>
                  </a:rPr>
                  <a:t> </a:t>
                </a:r>
              </a:p>
            </p:txBody>
          </p:sp>
        </mc:Fallback>
      </mc:AlternateContent>
      <p:pic>
        <p:nvPicPr>
          <p:cNvPr id="5" name="Picture 4" descr="Table of backup diagrams (Sutton and Barto Figure 8.6). Rows: the value estimated, v pi(s), v star(s), q pi(s, a) and q star(s, a). Column 1, expected updates (DP): policy evaluation, value iteration (with a max over actions), q-policy evaluation and q-value iteration (with a max at the next state); each branches over every action and every next state. Column 2, sample updates (one-step TD): TD(0) for v pi (s, A, R, S′), no sample update for v star, Sarsa for q pi (s, a, R, S′, A′) and Q-learning for q star (s, a, R, S′, then a max over a′); each follows a single sampled path.">
            <a:extLst>
              <a:ext uri="{FF2B5EF4-FFF2-40B4-BE49-F238E27FC236}">
                <a16:creationId xmlns:a16="http://schemas.microsoft.com/office/drawing/2014/main" id="{D398651C-D732-C69E-3D6A-B222E9D993EA}"/>
              </a:ext>
            </a:extLst>
          </p:cNvPr>
          <p:cNvPicPr>
            <a:picLocks noChangeAspect="1"/>
          </p:cNvPicPr>
          <p:nvPr/>
        </p:nvPicPr>
        <p:blipFill>
          <a:blip r:embed="rId4"/>
          <a:stretch>
            <a:fillRect/>
          </a:stretch>
        </p:blipFill>
        <p:spPr>
          <a:xfrm>
            <a:off x="7674723" y="302003"/>
            <a:ext cx="4049567" cy="6253993"/>
          </a:xfrm>
          <a:prstGeom prst="rect">
            <a:avLst/>
          </a:prstGeom>
        </p:spPr>
      </p:pic>
    </p:spTree>
    <p:extLst>
      <p:ext uri="{BB962C8B-B14F-4D97-AF65-F5344CB8AC3E}">
        <p14:creationId xmlns:p14="http://schemas.microsoft.com/office/powerpoint/2010/main" val="2522533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6E25EF-48DC-A4AE-65BF-0EC0DC35F409}"/>
              </a:ext>
            </a:extLst>
          </p:cNvPr>
          <p:cNvSpPr>
            <a:spLocks noGrp="1"/>
          </p:cNvSpPr>
          <p:nvPr>
            <p:ph type="title"/>
          </p:nvPr>
        </p:nvSpPr>
        <p:spPr/>
        <p:txBody>
          <a:bodyPr/>
          <a:lstStyle/>
          <a:p>
            <a:r>
              <a:rPr lang="en-US" dirty="0"/>
              <a:t>Heuristic Search and </a:t>
            </a:r>
            <a:br>
              <a:rPr lang="en-US" dirty="0"/>
            </a:br>
            <a:r>
              <a:rPr lang="en-US" dirty="0"/>
              <a:t>Rollout Algorithms</a:t>
            </a:r>
          </a:p>
        </p:txBody>
      </p:sp>
      <p:sp>
        <p:nvSpPr>
          <p:cNvPr id="5" name="Text Placeholder 4">
            <a:extLst>
              <a:ext uri="{FF2B5EF4-FFF2-40B4-BE49-F238E27FC236}">
                <a16:creationId xmlns:a16="http://schemas.microsoft.com/office/drawing/2014/main" id="{66DAFEA0-2CFA-4384-CF4E-F3C845C837A7}"/>
              </a:ext>
            </a:extLst>
          </p:cNvPr>
          <p:cNvSpPr>
            <a:spLocks noGrp="1"/>
          </p:cNvSpPr>
          <p:nvPr>
            <p:ph type="body" idx="1"/>
          </p:nvPr>
        </p:nvSpPr>
        <p:spPr/>
        <p:txBody>
          <a:bodyPr/>
          <a:lstStyle/>
          <a:p>
            <a:r>
              <a:rPr lang="en-US" dirty="0"/>
              <a:t>Decision-time planning</a:t>
            </a:r>
          </a:p>
        </p:txBody>
      </p:sp>
    </p:spTree>
    <p:extLst>
      <p:ext uri="{BB962C8B-B14F-4D97-AF65-F5344CB8AC3E}">
        <p14:creationId xmlns:p14="http://schemas.microsoft.com/office/powerpoint/2010/main" val="682395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peech Bubble: Rectangle with Corners Rounded 7">
            <a:extLst>
              <a:ext uri="{FF2B5EF4-FFF2-40B4-BE49-F238E27FC236}">
                <a16:creationId xmlns:a16="http://schemas.microsoft.com/office/drawing/2014/main" id="{9CBFCEF7-963A-4187-6A15-D0E256203C8E}"/>
              </a:ext>
              <a:ext uri="{C183D7F6-B498-43B3-948B-1728B52AA6E4}">
                <adec:decorative xmlns:adec="http://schemas.microsoft.com/office/drawing/2017/decorative" val="1"/>
              </a:ext>
            </a:extLst>
          </p:cNvPr>
          <p:cNvSpPr/>
          <p:nvPr/>
        </p:nvSpPr>
        <p:spPr>
          <a:xfrm>
            <a:off x="8214611" y="5561579"/>
            <a:ext cx="3247086" cy="359863"/>
          </a:xfrm>
          <a:prstGeom prst="wedgeRoundRectCallout">
            <a:avLst>
              <a:gd name="adj1" fmla="val 37593"/>
              <a:gd name="adj2" fmla="val -38181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 Estimate leaf node values</a:t>
            </a:r>
          </a:p>
        </p:txBody>
      </p:sp>
      <p:sp>
        <p:nvSpPr>
          <p:cNvPr id="10" name="Arrow: Down 9">
            <a:extLst>
              <a:ext uri="{FF2B5EF4-FFF2-40B4-BE49-F238E27FC236}">
                <a16:creationId xmlns:a16="http://schemas.microsoft.com/office/drawing/2014/main" id="{E4EFD103-2544-1279-0631-58B4728E2AD2}"/>
              </a:ext>
              <a:ext uri="{C183D7F6-B498-43B3-948B-1728B52AA6E4}">
                <adec:decorative xmlns:adec="http://schemas.microsoft.com/office/drawing/2017/decorative" val="1"/>
              </a:ext>
            </a:extLst>
          </p:cNvPr>
          <p:cNvSpPr/>
          <p:nvPr/>
        </p:nvSpPr>
        <p:spPr>
          <a:xfrm flipV="1">
            <a:off x="11154283" y="2248525"/>
            <a:ext cx="781777" cy="27649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dirty="0"/>
              <a:t>3. backup</a:t>
            </a:r>
          </a:p>
        </p:txBody>
      </p:sp>
      <p:sp>
        <p:nvSpPr>
          <p:cNvPr id="11" name="Speech Bubble: Rectangle with Corners Rounded 10">
            <a:extLst>
              <a:ext uri="{FF2B5EF4-FFF2-40B4-BE49-F238E27FC236}">
                <a16:creationId xmlns:a16="http://schemas.microsoft.com/office/drawing/2014/main" id="{25F441F9-26AE-4857-0003-6C4FFDACE6EE}"/>
              </a:ext>
              <a:ext uri="{C183D7F6-B498-43B3-948B-1728B52AA6E4}">
                <adec:decorative xmlns:adec="http://schemas.microsoft.com/office/drawing/2017/decorative" val="1"/>
              </a:ext>
            </a:extLst>
          </p:cNvPr>
          <p:cNvSpPr/>
          <p:nvPr/>
        </p:nvSpPr>
        <p:spPr>
          <a:xfrm>
            <a:off x="7689758" y="901563"/>
            <a:ext cx="2938744" cy="665202"/>
          </a:xfrm>
          <a:prstGeom prst="wedgeRoundRectCallout">
            <a:avLst>
              <a:gd name="adj1" fmla="val -29245"/>
              <a:gd name="adj2" fmla="val 14164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 Pick best action leasing to largest Q-value</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54AD96-0F25-00BD-1813-50A2CBD3189F}"/>
                  </a:ext>
                  <a:ext uri="{C183D7F6-B498-43B3-948B-1728B52AA6E4}">
                    <adec:decorative xmlns:adec="http://schemas.microsoft.com/office/drawing/2017/decorative" val="1"/>
                  </a:ext>
                </a:extLst>
              </p:cNvPr>
              <p:cNvSpPr txBox="1"/>
              <p:nvPr/>
            </p:nvSpPr>
            <p:spPr>
              <a:xfrm>
                <a:off x="8829206" y="2149381"/>
                <a:ext cx="202368"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𝑅</m:t>
                      </m:r>
                    </m:oMath>
                  </m:oMathPara>
                </a14:m>
                <a:endParaRPr lang="en-US" dirty="0"/>
              </a:p>
            </p:txBody>
          </p:sp>
        </mc:Choice>
        <mc:Fallback>
          <p:sp>
            <p:nvSpPr>
              <p:cNvPr id="2" name="TextBox 1">
                <a:extLst>
                  <a:ext uri="{FF2B5EF4-FFF2-40B4-BE49-F238E27FC236}">
                    <a16:creationId xmlns:a16="http://schemas.microsoft.com/office/drawing/2014/main" id="{5A54AD96-0F25-00BD-1813-50A2CBD3189F}"/>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829206" y="2149381"/>
                <a:ext cx="202368" cy="369332"/>
              </a:xfrm>
              <a:prstGeom prst="rect">
                <a:avLst/>
              </a:prstGeom>
              <a:blipFill>
                <a:blip r:embed="rId2"/>
                <a:stretch>
                  <a:fillRect r="-4705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9B57E89-CCA6-FDBE-3927-B474DEB79AEE}"/>
                  </a:ext>
                  <a:ext uri="{C183D7F6-B498-43B3-948B-1728B52AA6E4}">
                    <adec:decorative xmlns:adec="http://schemas.microsoft.com/office/drawing/2017/decorative" val="1"/>
                  </a:ext>
                </a:extLst>
              </p:cNvPr>
              <p:cNvSpPr txBox="1"/>
              <p:nvPr/>
            </p:nvSpPr>
            <p:spPr>
              <a:xfrm>
                <a:off x="9918491" y="2518713"/>
                <a:ext cx="202368"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𝑅</m:t>
                      </m:r>
                    </m:oMath>
                  </m:oMathPara>
                </a14:m>
                <a:endParaRPr lang="en-US" dirty="0"/>
              </a:p>
            </p:txBody>
          </p:sp>
        </mc:Choice>
        <mc:Fallback>
          <p:sp>
            <p:nvSpPr>
              <p:cNvPr id="6" name="TextBox 5">
                <a:extLst>
                  <a:ext uri="{FF2B5EF4-FFF2-40B4-BE49-F238E27FC236}">
                    <a16:creationId xmlns:a16="http://schemas.microsoft.com/office/drawing/2014/main" id="{F9B57E89-CCA6-FDBE-3927-B474DEB79AEE}"/>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9918491" y="2518713"/>
                <a:ext cx="202368" cy="369332"/>
              </a:xfrm>
              <a:prstGeom prst="rect">
                <a:avLst/>
              </a:prstGeom>
              <a:blipFill>
                <a:blip r:embed="rId3"/>
                <a:stretch>
                  <a:fillRect r="-529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33EA472-B1A1-B839-4937-338ED139E14A}"/>
                  </a:ext>
                  <a:ext uri="{C183D7F6-B498-43B3-948B-1728B52AA6E4}">
                    <adec:decorative xmlns:adec="http://schemas.microsoft.com/office/drawing/2017/decorative" val="1"/>
                  </a:ext>
                </a:extLst>
              </p:cNvPr>
              <p:cNvSpPr txBox="1"/>
              <p:nvPr/>
            </p:nvSpPr>
            <p:spPr>
              <a:xfrm>
                <a:off x="10628502" y="2910721"/>
                <a:ext cx="202368"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𝑅</m:t>
                      </m:r>
                    </m:oMath>
                  </m:oMathPara>
                </a14:m>
                <a:endParaRPr lang="en-US" dirty="0"/>
              </a:p>
            </p:txBody>
          </p:sp>
        </mc:Choice>
        <mc:Fallback>
          <p:sp>
            <p:nvSpPr>
              <p:cNvPr id="9" name="TextBox 8">
                <a:extLst>
                  <a:ext uri="{FF2B5EF4-FFF2-40B4-BE49-F238E27FC236}">
                    <a16:creationId xmlns:a16="http://schemas.microsoft.com/office/drawing/2014/main" id="{433EA472-B1A1-B839-4937-338ED139E14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0628502" y="2910721"/>
                <a:ext cx="202368" cy="369332"/>
              </a:xfrm>
              <a:prstGeom prst="rect">
                <a:avLst/>
              </a:prstGeom>
              <a:blipFill>
                <a:blip r:embed="rId4"/>
                <a:stretch>
                  <a:fillRect r="-562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F654F0F7-FADF-FB82-93D5-74148073B8B6}"/>
                  </a:ext>
                  <a:ext uri="{C183D7F6-B498-43B3-948B-1728B52AA6E4}">
                    <adec:decorative xmlns:adec="http://schemas.microsoft.com/office/drawing/2017/decorative" val="1"/>
                  </a:ext>
                </a:extLst>
              </p:cNvPr>
              <p:cNvSpPr txBox="1"/>
              <p:nvPr/>
            </p:nvSpPr>
            <p:spPr>
              <a:xfrm>
                <a:off x="10951915" y="3363020"/>
                <a:ext cx="202368"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𝑅</m:t>
                      </m:r>
                    </m:oMath>
                  </m:oMathPara>
                </a14:m>
                <a:endParaRPr lang="en-US" dirty="0"/>
              </a:p>
            </p:txBody>
          </p:sp>
        </mc:Choice>
        <mc:Fallback>
          <p:sp>
            <p:nvSpPr>
              <p:cNvPr id="12" name="TextBox 11">
                <a:extLst>
                  <a:ext uri="{FF2B5EF4-FFF2-40B4-BE49-F238E27FC236}">
                    <a16:creationId xmlns:a16="http://schemas.microsoft.com/office/drawing/2014/main" id="{F654F0F7-FADF-FB82-93D5-74148073B8B6}"/>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0951915" y="3363020"/>
                <a:ext cx="202368" cy="369332"/>
              </a:xfrm>
              <a:prstGeom prst="rect">
                <a:avLst/>
              </a:prstGeom>
              <a:blipFill>
                <a:blip r:embed="rId5"/>
                <a:stretch>
                  <a:fillRect r="-529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2AB9A23-FBD3-DB90-9801-00E1D6F3D56C}"/>
                  </a:ext>
                  <a:ext uri="{C183D7F6-B498-43B3-948B-1728B52AA6E4}">
                    <adec:decorative xmlns:adec="http://schemas.microsoft.com/office/drawing/2017/decorative" val="1"/>
                  </a:ext>
                </a:extLst>
              </p:cNvPr>
              <p:cNvSpPr txBox="1"/>
              <p:nvPr/>
            </p:nvSpPr>
            <p:spPr>
              <a:xfrm>
                <a:off x="11053099" y="4057069"/>
                <a:ext cx="202368"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𝑄</m:t>
                      </m:r>
                    </m:oMath>
                  </m:oMathPara>
                </a14:m>
                <a:endParaRPr lang="en-US" dirty="0"/>
              </a:p>
            </p:txBody>
          </p:sp>
        </mc:Choice>
        <mc:Fallback>
          <p:sp>
            <p:nvSpPr>
              <p:cNvPr id="13" name="TextBox 12">
                <a:extLst>
                  <a:ext uri="{FF2B5EF4-FFF2-40B4-BE49-F238E27FC236}">
                    <a16:creationId xmlns:a16="http://schemas.microsoft.com/office/drawing/2014/main" id="{A2AB9A23-FBD3-DB90-9801-00E1D6F3D56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1053099" y="4057069"/>
                <a:ext cx="202368" cy="369332"/>
              </a:xfrm>
              <a:prstGeom prst="rect">
                <a:avLst/>
              </a:prstGeom>
              <a:blipFill>
                <a:blip r:embed="rId6"/>
                <a:stretch>
                  <a:fillRect l="-5882" r="-64706" b="-6667"/>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FD0F962-53D0-07DC-792F-6FB00B52DA93}"/>
              </a:ext>
              <a:ext uri="{C183D7F6-B498-43B3-948B-1728B52AA6E4}">
                <adec:decorative xmlns:adec="http://schemas.microsoft.com/office/drawing/2017/decorative" val="1"/>
              </a:ext>
            </a:extLst>
          </p:cNvPr>
          <p:cNvSpPr txBox="1"/>
          <p:nvPr/>
        </p:nvSpPr>
        <p:spPr>
          <a:xfrm>
            <a:off x="3238995" y="6217463"/>
            <a:ext cx="6593669"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b="1" dirty="0"/>
              <a:t>Note</a:t>
            </a:r>
            <a:r>
              <a:rPr lang="en-US" dirty="0"/>
              <a:t>: This is like heuristic (cut-off) min-max search for games.</a:t>
            </a:r>
          </a:p>
        </p:txBody>
      </p:sp>
      <p:sp>
        <p:nvSpPr>
          <p:cNvPr id="4" name="Title 3">
            <a:extLst>
              <a:ext uri="{FF2B5EF4-FFF2-40B4-BE49-F238E27FC236}">
                <a16:creationId xmlns:a16="http://schemas.microsoft.com/office/drawing/2014/main" id="{4540E156-9D3F-D3EF-4006-10719CAD3DE7}"/>
              </a:ext>
            </a:extLst>
          </p:cNvPr>
          <p:cNvSpPr>
            <a:spLocks noGrp="1"/>
          </p:cNvSpPr>
          <p:nvPr>
            <p:ph type="title"/>
          </p:nvPr>
        </p:nvSpPr>
        <p:spPr/>
        <p:txBody>
          <a:bodyPr/>
          <a:lstStyle/>
          <a:p>
            <a:r>
              <a:rPr lang="en-US" dirty="0"/>
              <a:t>Option 1: Heuristic Search</a:t>
            </a:r>
          </a:p>
        </p:txBody>
      </p:sp>
      <mc:AlternateContent xmlns:mc="http://schemas.openxmlformats.org/markup-compatibility/2006" xmlns:a14="http://schemas.microsoft.com/office/drawing/2010/main">
        <mc:Choice Requires="a14">
          <p:sp>
            <p:nvSpPr>
              <p:cNvPr id="5" name="Content Placeholder 4" descr="At decision time in state s :. Consider a large tree of possible continuations (trajectories of a given length) for the current state. Apply an approx. value function to the states in leaf nodes. Back values towards the current state (using max). Similar to n -step estimation, but it always uses the best and not the observed action. Choose the best next action for the current state">
                <a:extLst>
                  <a:ext uri="{FF2B5EF4-FFF2-40B4-BE49-F238E27FC236}">
                    <a16:creationId xmlns:a16="http://schemas.microsoft.com/office/drawing/2014/main" id="{19E62A12-5D57-D939-F926-D55F98DA3329}"/>
                  </a:ext>
                </a:extLst>
              </p:cNvPr>
              <p:cNvSpPr>
                <a:spLocks noGrp="1"/>
              </p:cNvSpPr>
              <p:nvPr>
                <p:ph idx="1"/>
              </p:nvPr>
            </p:nvSpPr>
            <p:spPr>
              <a:xfrm>
                <a:off x="838200" y="1397330"/>
                <a:ext cx="4656364" cy="4583745"/>
              </a:xfrm>
            </p:spPr>
            <p:txBody>
              <a:bodyPr>
                <a:normAutofit fontScale="70000" lnSpcReduction="20000"/>
              </a:bodyPr>
              <a:lstStyle/>
              <a:p>
                <a:pPr marL="0" indent="0">
                  <a:buNone/>
                </a:pPr>
                <a:r>
                  <a:rPr lang="en-US" dirty="0"/>
                  <a:t>At decision time in state </a:t>
                </a:r>
                <a14:m>
                  <m:oMath xmlns:m="http://schemas.openxmlformats.org/officeDocument/2006/math">
                    <m:r>
                      <a:rPr lang="en-US" b="0" i="1" smtClean="0">
                        <a:latin typeface="Cambria Math" panose="02040503050406030204" pitchFamily="18" charset="0"/>
                      </a:rPr>
                      <m:t>𝑠</m:t>
                    </m:r>
                  </m:oMath>
                </a14:m>
                <a:r>
                  <a:rPr lang="en-US" dirty="0"/>
                  <a:t>:</a:t>
                </a:r>
              </a:p>
              <a:p>
                <a:pPr marL="514350" indent="-514350">
                  <a:buFont typeface="+mj-lt"/>
                  <a:buAutoNum type="arabicPeriod"/>
                </a:pPr>
                <a:r>
                  <a:rPr lang="en-US" dirty="0"/>
                  <a:t>Consider a large tree of possible continuations (trajectories of a given length) for the current state.</a:t>
                </a:r>
              </a:p>
              <a:p>
                <a:pPr marL="514350" indent="-514350">
                  <a:buFont typeface="+mj-lt"/>
                  <a:buAutoNum type="arabicPeriod"/>
                </a:pPr>
                <a:endParaRPr lang="en-US" dirty="0"/>
              </a:p>
              <a:p>
                <a:pPr marL="514350" indent="-514350">
                  <a:buFont typeface="+mj-lt"/>
                  <a:buAutoNum type="arabicPeriod"/>
                </a:pPr>
                <a:r>
                  <a:rPr lang="en-US" dirty="0"/>
                  <a:t>Apply an approx. value function to the states in leaf nodes.</a:t>
                </a:r>
              </a:p>
              <a:p>
                <a:pPr marL="514350" indent="-514350">
                  <a:buFont typeface="+mj-lt"/>
                  <a:buAutoNum type="arabicPeriod"/>
                </a:pPr>
                <a:endParaRPr lang="en-US" dirty="0"/>
              </a:p>
              <a:p>
                <a:pPr marL="514350" indent="-514350">
                  <a:buFont typeface="+mj-lt"/>
                  <a:buAutoNum type="arabicPeriod"/>
                </a:pPr>
                <a:r>
                  <a:rPr lang="en-US" dirty="0"/>
                  <a:t>Back values towards the current state (using max). Similar to </a:t>
                </a:r>
                <a14:m>
                  <m:oMath xmlns:m="http://schemas.openxmlformats.org/officeDocument/2006/math">
                    <m:r>
                      <a:rPr lang="en-US" b="0" i="1" smtClean="0">
                        <a:latin typeface="Cambria Math" panose="02040503050406030204" pitchFamily="18" charset="0"/>
                      </a:rPr>
                      <m:t>𝑛</m:t>
                    </m:r>
                  </m:oMath>
                </a14:m>
                <a:r>
                  <a:rPr lang="en-US" dirty="0"/>
                  <a:t>-step estimation, but it always uses the best and not the observed action.</a:t>
                </a:r>
              </a:p>
              <a:p>
                <a:pPr marL="514350" indent="-514350">
                  <a:buFont typeface="+mj-lt"/>
                  <a:buAutoNum type="arabicPeriod"/>
                </a:pPr>
                <a:endParaRPr lang="en-US" dirty="0"/>
              </a:p>
              <a:p>
                <a:pPr marL="514350" indent="-514350">
                  <a:buFont typeface="+mj-lt"/>
                  <a:buAutoNum type="arabicPeriod"/>
                </a:pPr>
                <a:r>
                  <a:rPr lang="en-US" dirty="0"/>
                  <a:t>Choose the best next action for the current state.</a:t>
                </a:r>
              </a:p>
              <a:p>
                <a:pPr marL="514350" indent="-514350">
                  <a:buFont typeface="+mj-lt"/>
                  <a:buAutoNum type="arabicPeriod"/>
                </a:pPr>
                <a:endParaRPr lang="en-US" dirty="0"/>
              </a:p>
            </p:txBody>
          </p:sp>
        </mc:Choice>
        <mc:Fallback xmlns="">
          <p:sp>
            <p:nvSpPr>
              <p:cNvPr id="5" name="Content Placeholder 4" descr="At decision time in state s :. Consider a large tree of possible continuations (trajectories of a given length) for the current state. Apply an approx. value function to the states in leaf nodes. Back values towards the current state (using max). Similar to n -step estimation, but it always uses the best and not the observed action. Choose the best next action for the current state">
                <a:extLst>
                  <a:ext uri="{FF2B5EF4-FFF2-40B4-BE49-F238E27FC236}">
                    <a16:creationId xmlns:a16="http://schemas.microsoft.com/office/drawing/2014/main" id="{19E62A12-5D57-D939-F926-D55F98DA3329}"/>
                  </a:ext>
                </a:extLst>
              </p:cNvPr>
              <p:cNvSpPr>
                <a:spLocks noGrp="1" noRot="1" noChangeAspect="1" noMove="1" noResize="1" noEditPoints="1" noAdjustHandles="1" noChangeArrowheads="1" noChangeShapeType="1" noTextEdit="1"/>
              </p:cNvSpPr>
              <p:nvPr>
                <p:ph idx="1"/>
              </p:nvPr>
            </p:nvSpPr>
            <p:spPr>
              <a:xfrm>
                <a:off x="838200" y="1397330"/>
                <a:ext cx="4656364" cy="4583745"/>
              </a:xfrm>
              <a:blipFill>
                <a:blip r:embed="rId7"/>
                <a:stretch>
                  <a:fillRect l="-1442" t="-2261"/>
                </a:stretch>
              </a:blipFill>
            </p:spPr>
            <p:txBody>
              <a:bodyPr/>
              <a:lstStyle/>
              <a:p>
                <a:r>
                  <a:rPr lang="en-US">
                    <a:noFill/>
                  </a:rPr>
                  <a:t> </a:t>
                </a:r>
              </a:p>
            </p:txBody>
          </p:sp>
        </mc:Fallback>
      </mc:AlternateContent>
      <p:pic>
        <p:nvPicPr>
          <p:cNvPr id="7" name="Picture 6" descr="Heuristic search as a sequence of one-step updates (Sutton and Barto Figure 8.9): a game tree below the current state, with the backed-up part outlined in blue and numbered 1 to 10. Updates 1 and 2 back up leaf values into their parents, 3 combines them, 4 to 9 do the same in the right subtree, and 10 finally backs everything up to the root, so values flow from the leaves of the selected subtree up to the current state.">
            <a:extLst>
              <a:ext uri="{FF2B5EF4-FFF2-40B4-BE49-F238E27FC236}">
                <a16:creationId xmlns:a16="http://schemas.microsoft.com/office/drawing/2014/main" id="{3A6356EF-E592-3AC7-97BD-5A89144E7797}"/>
              </a:ext>
            </a:extLst>
          </p:cNvPr>
          <p:cNvPicPr>
            <a:picLocks noChangeAspect="1"/>
          </p:cNvPicPr>
          <p:nvPr/>
        </p:nvPicPr>
        <p:blipFill>
          <a:blip r:embed="rId8"/>
          <a:stretch>
            <a:fillRect/>
          </a:stretch>
        </p:blipFill>
        <p:spPr>
          <a:xfrm>
            <a:off x="5155917" y="2076147"/>
            <a:ext cx="6456730" cy="3213065"/>
          </a:xfrm>
          <a:prstGeom prst="rect">
            <a:avLst/>
          </a:prstGeom>
        </p:spPr>
      </p:pic>
    </p:spTree>
    <p:extLst>
      <p:ext uri="{BB962C8B-B14F-4D97-AF65-F5344CB8AC3E}">
        <p14:creationId xmlns:p14="http://schemas.microsoft.com/office/powerpoint/2010/main" val="286871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21C83-C1A9-FB6C-6458-7E7642296139}"/>
              </a:ext>
            </a:extLst>
          </p:cNvPr>
          <p:cNvSpPr>
            <a:spLocks noGrp="1"/>
          </p:cNvSpPr>
          <p:nvPr>
            <p:ph type="title"/>
          </p:nvPr>
        </p:nvSpPr>
        <p:spPr/>
        <p:txBody>
          <a:bodyPr>
            <a:normAutofit/>
          </a:bodyPr>
          <a:lstStyle/>
          <a:p>
            <a:r>
              <a:rPr lang="en-US" dirty="0"/>
              <a:t>Option 2: Rollout Algorithms</a:t>
            </a:r>
          </a:p>
        </p:txBody>
      </p:sp>
      <mc:AlternateContent xmlns:mc="http://schemas.openxmlformats.org/markup-compatibility/2006" xmlns:a14="http://schemas.microsoft.com/office/drawing/2010/main">
        <mc:Choice Requires="a14">
          <p:sp>
            <p:nvSpPr>
              <p:cNvPr id="3" name="Content Placeholder 2" descr="Start with an initial policy pi called the base policy. At decision time in state s :. Monte Carlo Policy Estimation: Use many simulated trajectories to approximate all state/action values q sub pi (s,a) for the current state s . Choose the best action a equals argmax over a, of q sub pi (s,a) according to the estimates. This is called the rollout policy. Properties:. If the base policy is reasonable (i.e., somewhat similar to the optimal policy), rollouts are locally optimal. Rollout policy is guaranteed to be at least as good as the base policy (in expectation). You get policy improvement without solving Bellman equations">
                <a:extLst>
                  <a:ext uri="{FF2B5EF4-FFF2-40B4-BE49-F238E27FC236}">
                    <a16:creationId xmlns:a16="http://schemas.microsoft.com/office/drawing/2014/main" id="{2CC82524-2F85-6F77-02EE-038ACB2CB2FC}"/>
                  </a:ext>
                </a:extLst>
              </p:cNvPr>
              <p:cNvSpPr>
                <a:spLocks noGrp="1"/>
              </p:cNvSpPr>
              <p:nvPr>
                <p:ph idx="1"/>
              </p:nvPr>
            </p:nvSpPr>
            <p:spPr/>
            <p:txBody>
              <a:bodyPr>
                <a:normAutofit fontScale="92500" lnSpcReduction="20000"/>
              </a:bodyPr>
              <a:lstStyle/>
              <a:p>
                <a:pPr marL="0" indent="0">
                  <a:buNone/>
                </a:pPr>
                <a:r>
                  <a:rPr lang="en-US" dirty="0"/>
                  <a:t>Start with an initial policy </a:t>
                </a:r>
                <a14:m>
                  <m:oMath xmlns:m="http://schemas.openxmlformats.org/officeDocument/2006/math">
                    <m:r>
                      <a:rPr lang="en-US" i="1">
                        <a:latin typeface="Cambria Math" panose="02040503050406030204" pitchFamily="18" charset="0"/>
                      </a:rPr>
                      <m:t>𝜋</m:t>
                    </m:r>
                  </m:oMath>
                </a14:m>
                <a:r>
                  <a:rPr lang="en-US" dirty="0"/>
                  <a:t> called the base policy.</a:t>
                </a:r>
              </a:p>
              <a:p>
                <a:pPr marL="0" indent="0">
                  <a:buNone/>
                </a:pPr>
                <a:r>
                  <a:rPr lang="en-US" dirty="0"/>
                  <a:t>At decision time in state </a:t>
                </a:r>
                <a14:m>
                  <m:oMath xmlns:m="http://schemas.openxmlformats.org/officeDocument/2006/math">
                    <m:r>
                      <a:rPr lang="en-US" b="0" i="1" smtClean="0">
                        <a:latin typeface="Cambria Math" panose="02040503050406030204" pitchFamily="18" charset="0"/>
                      </a:rPr>
                      <m:t>𝑠</m:t>
                    </m:r>
                  </m:oMath>
                </a14:m>
                <a:r>
                  <a:rPr lang="en-US" dirty="0"/>
                  <a:t>:</a:t>
                </a:r>
              </a:p>
              <a:p>
                <a:pPr marL="914400" lvl="1" indent="-457200">
                  <a:buFont typeface="+mj-lt"/>
                  <a:buAutoNum type="arabicPeriod"/>
                </a:pPr>
                <a:r>
                  <a:rPr lang="en-US" b="1" dirty="0"/>
                  <a:t>Monte Carlo Policy Estimation</a:t>
                </a:r>
                <a:r>
                  <a:rPr lang="en-US" dirty="0"/>
                  <a:t>: Use many simulated trajectories to approximate all state/action values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for the current state </a:t>
                </a:r>
                <a14:m>
                  <m:oMath xmlns:m="http://schemas.openxmlformats.org/officeDocument/2006/math">
                    <m:r>
                      <a:rPr lang="en-US" b="0" i="1" smtClean="0">
                        <a:latin typeface="Cambria Math" panose="02040503050406030204" pitchFamily="18" charset="0"/>
                      </a:rPr>
                      <m:t>𝑠</m:t>
                    </m:r>
                  </m:oMath>
                </a14:m>
                <a:r>
                  <a:rPr lang="en-US" dirty="0"/>
                  <a:t>.</a:t>
                </a:r>
              </a:p>
              <a:p>
                <a:pPr marL="914400" lvl="1" indent="-457200">
                  <a:buFont typeface="+mj-lt"/>
                  <a:buAutoNum type="arabicPeriod"/>
                </a:pPr>
                <a:r>
                  <a:rPr lang="en-US" b="1" dirty="0"/>
                  <a:t>Choose the best action </a:t>
                </a:r>
                <a14:m>
                  <m:oMath xmlns:m="http://schemas.openxmlformats.org/officeDocument/2006/math">
                    <m:r>
                      <a:rPr lang="en-US" b="0" i="1" smtClean="0">
                        <a:latin typeface="Cambria Math" panose="02040503050406030204" pitchFamily="18" charset="0"/>
                      </a:rPr>
                      <m:t>𝑎</m:t>
                    </m:r>
                    <m:r>
                      <a:rPr lang="en-US" b="0" i="0"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𝑎</m:t>
                            </m:r>
                          </m:lim>
                        </m:limLow>
                      </m:fName>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𝜋</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e>
                    </m:func>
                  </m:oMath>
                </a14:m>
                <a:r>
                  <a:rPr lang="en-US" b="0" dirty="0"/>
                  <a:t> according to the estimates. This is called the </a:t>
                </a:r>
                <a:r>
                  <a:rPr lang="en-US" b="1" dirty="0"/>
                  <a:t>rollout policy</a:t>
                </a:r>
                <a:r>
                  <a:rPr lang="en-US" b="0" dirty="0"/>
                  <a:t>.</a:t>
                </a:r>
              </a:p>
              <a:p>
                <a:pPr marL="914400" lvl="1" indent="-457200">
                  <a:buFont typeface="+mj-lt"/>
                  <a:buAutoNum type="arabicPeriod"/>
                </a:pPr>
                <a:endParaRPr lang="en-US" dirty="0"/>
              </a:p>
              <a:p>
                <a:pPr marL="0" indent="0">
                  <a:buNone/>
                </a:pPr>
                <a:r>
                  <a:rPr lang="en-US" b="1" dirty="0"/>
                  <a:t>Properties</a:t>
                </a:r>
                <a:r>
                  <a:rPr lang="en-US" dirty="0"/>
                  <a:t>:</a:t>
                </a:r>
              </a:p>
              <a:p>
                <a:r>
                  <a:rPr lang="en-US" dirty="0"/>
                  <a:t>If the base policy is reasonable (i.e., somewhat similar to the optimal policy), rollouts are locally optimal.</a:t>
                </a:r>
              </a:p>
              <a:p>
                <a:r>
                  <a:rPr lang="en-US" dirty="0"/>
                  <a:t>Rollout policy is guaranteed to be at least as good as the base policy (in expectation).</a:t>
                </a:r>
              </a:p>
              <a:p>
                <a:r>
                  <a:rPr lang="en-US" b="1" dirty="0"/>
                  <a:t>You get policy improvement without solving Bellman equations.</a:t>
                </a:r>
              </a:p>
              <a:p>
                <a:pPr marL="914400" lvl="1" indent="-457200">
                  <a:buFont typeface="+mj-lt"/>
                  <a:buAutoNum type="arabicPeriod"/>
                </a:pPr>
                <a:endParaRPr lang="en-US" b="1" dirty="0"/>
              </a:p>
              <a:p>
                <a:pPr marL="914400" lvl="1" indent="-457200">
                  <a:buFont typeface="+mj-lt"/>
                  <a:buAutoNum type="arabicPeriod"/>
                </a:pPr>
                <a:endParaRPr lang="en-US" dirty="0"/>
              </a:p>
              <a:p>
                <a:pPr marL="914400" lvl="1" indent="-457200">
                  <a:buFont typeface="+mj-lt"/>
                  <a:buAutoNum type="arabicPeriod"/>
                </a:pPr>
                <a:endParaRPr lang="en-US" dirty="0"/>
              </a:p>
            </p:txBody>
          </p:sp>
        </mc:Choice>
        <mc:Fallback xmlns="">
          <p:sp>
            <p:nvSpPr>
              <p:cNvPr id="3" name="Content Placeholder 2" descr="Start with an initial policy pi called the base policy. At decision time in state s :. Monte Carlo Policy Estimation: Use many simulated trajectories to approximate all state/action values q sub pi (s,a) for the current state s . Choose the best action a equals argmax over a, of q sub pi (s,a) according to the estimates. This is called the rollout policy. Properties:. If the base policy is reasonable (i.e., somewhat similar to the optimal policy), rollouts are locally optimal. Rollout policy is guaranteed to be at least as good as the base policy (in expectation). You get policy improvement without solving Bellman equations">
                <a:extLst>
                  <a:ext uri="{FF2B5EF4-FFF2-40B4-BE49-F238E27FC236}">
                    <a16:creationId xmlns:a16="http://schemas.microsoft.com/office/drawing/2014/main" id="{2CC82524-2F85-6F77-02EE-038ACB2CB2FC}"/>
                  </a:ext>
                </a:extLst>
              </p:cNvPr>
              <p:cNvSpPr>
                <a:spLocks noGrp="1" noRot="1" noChangeAspect="1" noMove="1" noResize="1" noEditPoints="1" noAdjustHandles="1" noChangeArrowheads="1" noChangeShapeType="1" noTextEdit="1"/>
              </p:cNvSpPr>
              <p:nvPr>
                <p:ph idx="1"/>
              </p:nvPr>
            </p:nvSpPr>
            <p:spPr>
              <a:blipFill>
                <a:blip r:embed="rId2"/>
                <a:stretch>
                  <a:fillRect l="-1043" t="-3189" r="-1217"/>
                </a:stretch>
              </a:blipFill>
            </p:spPr>
            <p:txBody>
              <a:bodyPr/>
              <a:lstStyle/>
              <a:p>
                <a:r>
                  <a:rPr lang="en-US">
                    <a:noFill/>
                  </a:rPr>
                  <a:t> </a:t>
                </a:r>
              </a:p>
            </p:txBody>
          </p:sp>
        </mc:Fallback>
      </mc:AlternateContent>
    </p:spTree>
    <p:extLst>
      <p:ext uri="{BB962C8B-B14F-4D97-AF65-F5344CB8AC3E}">
        <p14:creationId xmlns:p14="http://schemas.microsoft.com/office/powerpoint/2010/main" val="387547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468A3-760E-EC4A-9394-247656C37F0F}"/>
              </a:ext>
            </a:extLst>
          </p:cNvPr>
          <p:cNvSpPr>
            <a:spLocks noGrp="1"/>
          </p:cNvSpPr>
          <p:nvPr>
            <p:ph type="title"/>
          </p:nvPr>
        </p:nvSpPr>
        <p:spPr/>
        <p:txBody>
          <a:bodyPr>
            <a:normAutofit/>
          </a:bodyPr>
          <a:lstStyle/>
          <a:p>
            <a:r>
              <a:rPr lang="en-US" dirty="0"/>
              <a:t>Rollout Algorithm: Monte Carlo Tree Search</a:t>
            </a:r>
          </a:p>
        </p:txBody>
      </p:sp>
      <p:sp>
        <p:nvSpPr>
          <p:cNvPr id="3" name="Content Placeholder 2">
            <a:extLst>
              <a:ext uri="{FF2B5EF4-FFF2-40B4-BE49-F238E27FC236}">
                <a16:creationId xmlns:a16="http://schemas.microsoft.com/office/drawing/2014/main" id="{59C45C3E-18E2-0CBC-535D-7E0DD489F2F6}"/>
              </a:ext>
            </a:extLst>
          </p:cNvPr>
          <p:cNvSpPr>
            <a:spLocks noGrp="1"/>
          </p:cNvSpPr>
          <p:nvPr>
            <p:ph idx="1"/>
          </p:nvPr>
        </p:nvSpPr>
        <p:spPr>
          <a:xfrm>
            <a:off x="838200" y="1397330"/>
            <a:ext cx="5023757" cy="4779633"/>
          </a:xfrm>
        </p:spPr>
        <p:txBody>
          <a:bodyPr>
            <a:normAutofit fontScale="77500" lnSpcReduction="20000"/>
          </a:bodyPr>
          <a:lstStyle/>
          <a:p>
            <a:r>
              <a:rPr lang="en-US" dirty="0"/>
              <a:t>MCTS is a rollout algorithm that stores some intermediate estimates in a depth-limited tree structure. </a:t>
            </a:r>
          </a:p>
          <a:p>
            <a:pPr lvl="1"/>
            <a:r>
              <a:rPr lang="en-US" b="1" dirty="0"/>
              <a:t>Selection</a:t>
            </a:r>
            <a:r>
              <a:rPr lang="en-US" dirty="0"/>
              <a:t>: Pick the currently best leaf node (e.g., greedy, UCB).</a:t>
            </a:r>
          </a:p>
          <a:p>
            <a:pPr lvl="1"/>
            <a:r>
              <a:rPr lang="en-US" b="1" dirty="0"/>
              <a:t>Expansion</a:t>
            </a:r>
            <a:r>
              <a:rPr lang="en-US" dirty="0"/>
              <a:t>: Add new nodes, but keep the tree small enough.</a:t>
            </a:r>
          </a:p>
          <a:p>
            <a:pPr lvl="1"/>
            <a:r>
              <a:rPr lang="en-US" b="1" dirty="0"/>
              <a:t>Simulation</a:t>
            </a:r>
            <a:r>
              <a:rPr lang="en-US" dirty="0"/>
              <a:t>: From a selected node, simulate complete episode(s). </a:t>
            </a:r>
          </a:p>
          <a:p>
            <a:pPr lvl="1"/>
            <a:r>
              <a:rPr lang="en-US" b="1" dirty="0"/>
              <a:t>Backup</a:t>
            </a:r>
            <a:r>
              <a:rPr lang="en-US" dirty="0"/>
              <a:t>: update the tree with the result of the playout.</a:t>
            </a:r>
          </a:p>
          <a:p>
            <a:endParaRPr lang="en-US" dirty="0"/>
          </a:p>
          <a:p>
            <a:r>
              <a:rPr lang="en-US" b="1" dirty="0"/>
              <a:t>Advantage</a:t>
            </a:r>
            <a:r>
              <a:rPr lang="en-US" dirty="0"/>
              <a:t>: selection steers the simulation towards better trajectories. This avoids approximating the full value function.</a:t>
            </a:r>
          </a:p>
        </p:txBody>
      </p:sp>
      <p:pic>
        <p:nvPicPr>
          <p:cNvPr id="5" name="Picture 4" descr="Monte Carlo Tree Search (Sutton and Barto Figure 8.10): four steps in a loop labelled &quot;Repeat while time remains&quot;. Selection: starting at the root, the tree policy follows blue arrows down the existing tree to a leaf node. Expansion: one or more child nodes are added below that leaf. Simulation: from the new node, the rollout policy follows a dashed blue path to a terminal state (a triangle). Backup: red arrows carry the result of the simulation back up through the nodes visited by the tree policy to the root.">
            <a:extLst>
              <a:ext uri="{FF2B5EF4-FFF2-40B4-BE49-F238E27FC236}">
                <a16:creationId xmlns:a16="http://schemas.microsoft.com/office/drawing/2014/main" id="{1D29CDF0-6E54-CF31-4006-DA0CE95A62FC}"/>
              </a:ext>
            </a:extLst>
          </p:cNvPr>
          <p:cNvPicPr>
            <a:picLocks noChangeAspect="1"/>
          </p:cNvPicPr>
          <p:nvPr/>
        </p:nvPicPr>
        <p:blipFill>
          <a:blip r:embed="rId2"/>
          <a:stretch>
            <a:fillRect/>
          </a:stretch>
        </p:blipFill>
        <p:spPr>
          <a:xfrm>
            <a:off x="5636910" y="1224786"/>
            <a:ext cx="6086998" cy="3897773"/>
          </a:xfrm>
          <a:prstGeom prst="rect">
            <a:avLst/>
          </a:prstGeom>
        </p:spPr>
      </p:pic>
      <mc:AlternateContent xmlns:mc="http://schemas.openxmlformats.org/markup-compatibility/2006" xmlns:a14="http://schemas.microsoft.com/office/drawing/2010/main">
        <mc:Choice Requires="a14">
          <p:sp>
            <p:nvSpPr>
              <p:cNvPr id="8" name="Speech Bubble: Rectangle with Corners Rounded 7" descr="Stores estimated q(s,a) values">
                <a:extLst>
                  <a:ext uri="{FF2B5EF4-FFF2-40B4-BE49-F238E27FC236}">
                    <a16:creationId xmlns:a16="http://schemas.microsoft.com/office/drawing/2014/main" id="{C8435328-960F-3341-B5FD-2B3A09AB85A7}"/>
                  </a:ext>
                </a:extLst>
              </p:cNvPr>
              <p:cNvSpPr/>
              <p:nvPr/>
            </p:nvSpPr>
            <p:spPr>
              <a:xfrm>
                <a:off x="6254217" y="5018730"/>
                <a:ext cx="1221527" cy="816678"/>
              </a:xfrm>
              <a:prstGeom prst="wedgeRoundRectCallout">
                <a:avLst>
                  <a:gd name="adj1" fmla="val -21404"/>
                  <a:gd name="adj2" fmla="val -25630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Stores estimated </a:t>
                </a:r>
                <a14:m>
                  <m:oMath xmlns:m="http://schemas.openxmlformats.org/officeDocument/2006/math">
                    <m:r>
                      <a:rPr lang="en-US" sz="1400" b="0" i="1" smtClean="0">
                        <a:latin typeface="Cambria Math" panose="02040503050406030204" pitchFamily="18" charset="0"/>
                      </a:rPr>
                      <m:t>𝑞</m:t>
                    </m:r>
                    <m:r>
                      <a:rPr lang="en-US" sz="1400" i="1">
                        <a:latin typeface="Cambria Math" panose="02040503050406030204" pitchFamily="18" charset="0"/>
                      </a:rPr>
                      <m:t>(</m:t>
                    </m:r>
                    <m:r>
                      <a:rPr lang="en-US" sz="1400" i="1">
                        <a:latin typeface="Cambria Math" panose="02040503050406030204" pitchFamily="18" charset="0"/>
                      </a:rPr>
                      <m:t>𝑠</m:t>
                    </m:r>
                    <m:r>
                      <a:rPr lang="en-US" sz="1400" i="1">
                        <a:latin typeface="Cambria Math" panose="02040503050406030204" pitchFamily="18" charset="0"/>
                      </a:rPr>
                      <m:t>,</m:t>
                    </m:r>
                    <m:r>
                      <a:rPr lang="en-US" sz="1400" i="1">
                        <a:latin typeface="Cambria Math" panose="02040503050406030204" pitchFamily="18" charset="0"/>
                      </a:rPr>
                      <m:t>𝑎</m:t>
                    </m:r>
                    <m:r>
                      <a:rPr lang="en-US" sz="1400" i="1">
                        <a:latin typeface="Cambria Math" panose="02040503050406030204" pitchFamily="18" charset="0"/>
                      </a:rPr>
                      <m:t>)</m:t>
                    </m:r>
                  </m:oMath>
                </a14:m>
                <a:r>
                  <a:rPr lang="en-US" sz="1400" dirty="0"/>
                  <a:t> values</a:t>
                </a:r>
              </a:p>
            </p:txBody>
          </p:sp>
        </mc:Choice>
        <mc:Fallback xmlns="">
          <p:sp>
            <p:nvSpPr>
              <p:cNvPr id="8" name="Speech Bubble: Rectangle with Corners Rounded 7" descr="Stores estimated q(s,a) values">
                <a:extLst>
                  <a:ext uri="{FF2B5EF4-FFF2-40B4-BE49-F238E27FC236}">
                    <a16:creationId xmlns:a16="http://schemas.microsoft.com/office/drawing/2014/main" id="{C8435328-960F-3341-B5FD-2B3A09AB85A7}"/>
                  </a:ext>
                </a:extLst>
              </p:cNvPr>
              <p:cNvSpPr>
                <a:spLocks noRot="1" noChangeAspect="1" noMove="1" noResize="1" noEditPoints="1" noAdjustHandles="1" noChangeArrowheads="1" noChangeShapeType="1" noTextEdit="1"/>
              </p:cNvSpPr>
              <p:nvPr/>
            </p:nvSpPr>
            <p:spPr>
              <a:xfrm>
                <a:off x="6254217" y="5018730"/>
                <a:ext cx="1221527" cy="816678"/>
              </a:xfrm>
              <a:prstGeom prst="wedgeRoundRectCallout">
                <a:avLst>
                  <a:gd name="adj1" fmla="val -21404"/>
                  <a:gd name="adj2" fmla="val -256303"/>
                  <a:gd name="adj3" fmla="val 16667"/>
                </a:avLst>
              </a:prstGeom>
              <a:blipFill>
                <a:blip r:embed="rId3"/>
                <a:stretch>
                  <a:fillRect b="-448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3B5B0257-0AFD-5451-8182-1A7A8976312D}"/>
              </a:ext>
            </a:extLst>
          </p:cNvPr>
          <p:cNvSpPr txBox="1"/>
          <p:nvPr/>
        </p:nvSpPr>
        <p:spPr>
          <a:xfrm>
            <a:off x="783152" y="6176963"/>
            <a:ext cx="10942130"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dirty="0"/>
              <a:t>MTCS can be seen as an RL method that selectively approximates q-values useful for choosing good actions.</a:t>
            </a:r>
          </a:p>
        </p:txBody>
      </p:sp>
    </p:spTree>
    <p:extLst>
      <p:ext uri="{BB962C8B-B14F-4D97-AF65-F5344CB8AC3E}">
        <p14:creationId xmlns:p14="http://schemas.microsoft.com/office/powerpoint/2010/main" val="95991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D1012F4-36DF-FD35-6D3C-6566E015BBDB}"/>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96" r="26745" b="-2"/>
          <a:stretch>
            <a:fillRect/>
          </a:stretch>
        </p:blipFill>
        <p:spPr bwMode="auto">
          <a:xfrm>
            <a:off x="-1" y="-2"/>
            <a:ext cx="5410198" cy="6858002"/>
          </a:xfrm>
          <a:prstGeom prst="rect">
            <a:avLst/>
          </a:prstGeom>
          <a:noFill/>
          <a:extLst>
            <a:ext uri="{909E8E84-426E-40DD-AFC4-6F175D3DCCD1}">
              <a14:hiddenFill xmlns:a14="http://schemas.microsoft.com/office/drawing/2010/main">
                <a:solidFill>
                  <a:srgbClr val="FFFFFF"/>
                </a:solidFill>
              </a14:hiddenFill>
            </a:ext>
          </a:extLst>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52967B-B41E-CCE0-ED2B-9ED41646346E}"/>
              </a:ext>
            </a:extLst>
          </p:cNvPr>
          <p:cNvSpPr>
            <a:spLocks noGrp="1"/>
          </p:cNvSpPr>
          <p:nvPr>
            <p:ph type="title"/>
          </p:nvPr>
        </p:nvSpPr>
        <p:spPr>
          <a:xfrm>
            <a:off x="6115317" y="405685"/>
            <a:ext cx="5464968" cy="1559301"/>
          </a:xfrm>
        </p:spPr>
        <p:txBody>
          <a:bodyPr>
            <a:normAutofit/>
          </a:bodyPr>
          <a:lstStyle/>
          <a:p>
            <a:r>
              <a:rPr lang="en-US" sz="4000"/>
              <a:t>What you Should Know</a:t>
            </a:r>
          </a:p>
        </p:txBody>
      </p:sp>
      <p:sp>
        <p:nvSpPr>
          <p:cNvPr id="3" name="Content Placeholder 2">
            <a:extLst>
              <a:ext uri="{FF2B5EF4-FFF2-40B4-BE49-F238E27FC236}">
                <a16:creationId xmlns:a16="http://schemas.microsoft.com/office/drawing/2014/main" id="{CCB1B6DA-A372-993E-5FE0-1B16BA463B79}"/>
              </a:ext>
            </a:extLst>
          </p:cNvPr>
          <p:cNvSpPr>
            <a:spLocks noGrp="1"/>
          </p:cNvSpPr>
          <p:nvPr>
            <p:ph idx="1"/>
          </p:nvPr>
        </p:nvSpPr>
        <p:spPr>
          <a:xfrm>
            <a:off x="5723164" y="2457450"/>
            <a:ext cx="5951765" cy="4100748"/>
          </a:xfrm>
        </p:spPr>
        <p:txBody>
          <a:bodyPr anchor="ctr">
            <a:normAutofit lnSpcReduction="10000"/>
          </a:bodyPr>
          <a:lstStyle/>
          <a:p>
            <a:r>
              <a:rPr lang="en-US" sz="1600" dirty="0"/>
              <a:t>We can have different models of the environment. </a:t>
            </a:r>
          </a:p>
          <a:p>
            <a:pPr lvl="1"/>
            <a:r>
              <a:rPr lang="en-US" sz="1600" dirty="0"/>
              <a:t>A full </a:t>
            </a:r>
            <a:r>
              <a:rPr lang="en-US" sz="1600" b="1" dirty="0"/>
              <a:t>distribution model</a:t>
            </a:r>
          </a:p>
          <a:p>
            <a:pPr lvl="1"/>
            <a:r>
              <a:rPr lang="en-US" sz="1600" dirty="0"/>
              <a:t>A </a:t>
            </a:r>
            <a:r>
              <a:rPr lang="en-US" sz="1600" b="1" dirty="0"/>
              <a:t>sample model</a:t>
            </a:r>
          </a:p>
          <a:p>
            <a:endParaRPr lang="en-US" sz="1600" dirty="0"/>
          </a:p>
          <a:p>
            <a:pPr lvl="1"/>
            <a:r>
              <a:rPr lang="en-US" sz="1600" dirty="0"/>
              <a:t>DP (planning) requires a distribution model because it uses expected updates.</a:t>
            </a:r>
          </a:p>
          <a:p>
            <a:pPr lvl="1"/>
            <a:r>
              <a:rPr lang="en-US" sz="1600" dirty="0"/>
              <a:t>Model-free RL, like MC and TD, can use a sample model to perform sample updates.</a:t>
            </a:r>
          </a:p>
          <a:p>
            <a:pPr lvl="1"/>
            <a:r>
              <a:rPr lang="en-US" sz="1600" dirty="0"/>
              <a:t>Decision-time planning can also use a sample model. E.g., rollout algorithms sample trajectories.  </a:t>
            </a:r>
          </a:p>
          <a:p>
            <a:endParaRPr lang="en-US" sz="1600" dirty="0"/>
          </a:p>
          <a:p>
            <a:r>
              <a:rPr lang="en-US" sz="1600" dirty="0"/>
              <a:t>Planning and learning are related and try to estimate the same value function.</a:t>
            </a:r>
          </a:p>
          <a:p>
            <a:pPr lvl="1"/>
            <a:r>
              <a:rPr lang="en-US" sz="1600" b="1" dirty="0"/>
              <a:t>Learning</a:t>
            </a:r>
            <a:r>
              <a:rPr lang="en-US" sz="1600" dirty="0"/>
              <a:t>: Direct RL directly learns a value function</a:t>
            </a:r>
          </a:p>
          <a:p>
            <a:pPr lvl="1"/>
            <a:r>
              <a:rPr lang="en-US" sz="1600" b="1" dirty="0"/>
              <a:t>Planning</a:t>
            </a:r>
            <a:r>
              <a:rPr lang="en-US" sz="1600" dirty="0"/>
              <a:t>: We learn a model used to estimate the value function.</a:t>
            </a:r>
          </a:p>
          <a:p>
            <a:pPr lvl="1"/>
            <a:endParaRPr lang="en-US" sz="1200" dirty="0"/>
          </a:p>
        </p:txBody>
      </p:sp>
    </p:spTree>
    <p:extLst>
      <p:ext uri="{BB962C8B-B14F-4D97-AF65-F5344CB8AC3E}">
        <p14:creationId xmlns:p14="http://schemas.microsoft.com/office/powerpoint/2010/main" val="2533179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B29DCF-5823-DFE3-76A3-9921453D8F42}"/>
              </a:ext>
            </a:extLst>
          </p:cNvPr>
          <p:cNvSpPr>
            <a:spLocks noGrp="1"/>
          </p:cNvSpPr>
          <p:nvPr>
            <p:ph type="title"/>
          </p:nvPr>
        </p:nvSpPr>
        <p:spPr/>
        <p:txBody>
          <a:bodyPr/>
          <a:lstStyle/>
          <a:p>
            <a:r>
              <a:rPr lang="en-US" dirty="0"/>
              <a:t>Summary of Part I: </a:t>
            </a:r>
            <a:br>
              <a:rPr lang="en-US" dirty="0"/>
            </a:br>
            <a:r>
              <a:rPr lang="en-US" dirty="0"/>
              <a:t>Tabular Solution Methods</a:t>
            </a:r>
          </a:p>
        </p:txBody>
      </p:sp>
      <p:sp>
        <p:nvSpPr>
          <p:cNvPr id="5" name="Text Placeholder 4">
            <a:extLst>
              <a:ext uri="{FF2B5EF4-FFF2-40B4-BE49-F238E27FC236}">
                <a16:creationId xmlns:a16="http://schemas.microsoft.com/office/drawing/2014/main" id="{1C2D5D64-9B74-CBE4-593F-CD0BD612F90E}"/>
              </a:ext>
              <a:ext uri="{C183D7F6-B498-43B3-948B-1728B52AA6E4}">
                <adec:decorative xmlns:adec="http://schemas.microsoft.com/office/drawing/2017/decorative" val="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85184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4759B-BFB3-E9E3-B86B-928B804D5573}"/>
              </a:ext>
            </a:extLst>
          </p:cNvPr>
          <p:cNvSpPr>
            <a:spLocks noGrp="1"/>
          </p:cNvSpPr>
          <p:nvPr>
            <p:ph type="title"/>
          </p:nvPr>
        </p:nvSpPr>
        <p:spPr/>
        <p:txBody>
          <a:bodyPr/>
          <a:lstStyle/>
          <a:p>
            <a:r>
              <a:rPr lang="en-US" dirty="0"/>
              <a:t>Common Ideas</a:t>
            </a:r>
          </a:p>
        </p:txBody>
      </p:sp>
      <p:sp>
        <p:nvSpPr>
          <p:cNvPr id="3" name="Content Placeholder 2">
            <a:extLst>
              <a:ext uri="{FF2B5EF4-FFF2-40B4-BE49-F238E27FC236}">
                <a16:creationId xmlns:a16="http://schemas.microsoft.com/office/drawing/2014/main" id="{7AAB916F-83BD-942C-05F0-07CE48F74651}"/>
              </a:ext>
            </a:extLst>
          </p:cNvPr>
          <p:cNvSpPr>
            <a:spLocks noGrp="1"/>
          </p:cNvSpPr>
          <p:nvPr>
            <p:ph idx="1"/>
          </p:nvPr>
        </p:nvSpPr>
        <p:spPr>
          <a:xfrm>
            <a:off x="838200" y="1397331"/>
            <a:ext cx="7421380" cy="4163786"/>
          </a:xfrm>
        </p:spPr>
        <p:txBody>
          <a:bodyPr>
            <a:normAutofit fontScale="92500" lnSpcReduction="10000"/>
          </a:bodyPr>
          <a:lstStyle/>
          <a:p>
            <a:pPr marL="514350" indent="-514350">
              <a:buFont typeface="+mj-lt"/>
              <a:buAutoNum type="arabicPeriod"/>
            </a:pPr>
            <a:r>
              <a:rPr lang="en-US" b="1" dirty="0"/>
              <a:t>Policy Evaluation</a:t>
            </a:r>
            <a:r>
              <a:rPr lang="en-US" dirty="0"/>
              <a:t>: Estimate the value function by updates based on </a:t>
            </a:r>
            <a:r>
              <a:rPr lang="en-US" b="1" dirty="0"/>
              <a:t>backing up </a:t>
            </a:r>
            <a:r>
              <a:rPr lang="en-US" dirty="0"/>
              <a:t>values along actual or possible state trajectories.</a:t>
            </a:r>
          </a:p>
          <a:p>
            <a:pPr marL="514350" indent="-514350">
              <a:buFont typeface="+mj-lt"/>
              <a:buAutoNum type="arabicPeriod"/>
            </a:pPr>
            <a:endParaRPr lang="en-US" b="1" dirty="0"/>
          </a:p>
          <a:p>
            <a:pPr marL="514350" indent="-514350">
              <a:buFont typeface="+mj-lt"/>
              <a:buAutoNum type="arabicPeriod"/>
            </a:pPr>
            <a:r>
              <a:rPr lang="en-US" b="1" dirty="0"/>
              <a:t>Generalized policy iteration (GPI): </a:t>
            </a:r>
            <a:r>
              <a:rPr lang="en-US" dirty="0"/>
              <a:t>maintain an approx. value function and an approx. policy. Each is used to update the other. Converges due to the policy improvement theorem.</a:t>
            </a:r>
          </a:p>
          <a:p>
            <a:endParaRPr lang="en-US" dirty="0"/>
          </a:p>
          <a:p>
            <a:pPr marL="0" indent="0">
              <a:buNone/>
            </a:pPr>
            <a:r>
              <a:rPr lang="en-US" b="1" dirty="0"/>
              <a:t>Differences</a:t>
            </a:r>
            <a:r>
              <a:rPr lang="en-US" dirty="0"/>
              <a:t>: How to perform policy evaluation.</a:t>
            </a:r>
          </a:p>
          <a:p>
            <a:endParaRPr lang="en-US" dirty="0"/>
          </a:p>
        </p:txBody>
      </p:sp>
      <p:grpSp>
        <p:nvGrpSpPr>
          <p:cNvPr id="11" name="Group 10" descr="Generalized policy iteration: an evaluation arrow from pi to V, labelled V goes to v pi, and an improvement arrow from V back to pi, labelled pi goes to greedy(V). Dots below show the cycle repeating until it reaches pi star and v star, joined by two arrows because each is consistent with the other. Labels: GPI.">
            <a:extLst>
              <a:ext uri="{FF2B5EF4-FFF2-40B4-BE49-F238E27FC236}">
                <a16:creationId xmlns:a16="http://schemas.microsoft.com/office/drawing/2014/main" id="{3034BB89-D9AD-752C-0116-E0F49DEE26E2}"/>
              </a:ext>
            </a:extLst>
          </p:cNvPr>
          <p:cNvGrpSpPr/>
          <p:nvPr/>
        </p:nvGrpSpPr>
        <p:grpSpPr>
          <a:xfrm>
            <a:off x="8718878" y="951646"/>
            <a:ext cx="2751579" cy="4729856"/>
            <a:chOff x="8329133" y="558128"/>
            <a:chExt cx="2751579" cy="4729856"/>
          </a:xfrm>
        </p:grpSpPr>
        <p:pic>
          <p:nvPicPr>
            <p:cNvPr id="9" name="Picture 8" descr="Generalized policy iteration: an evaluation arrow from pi to V, labelled V goes to v pi, and an improvement arrow from V back to pi, labelled pi goes to greedy(V). Dots below show the cycle repeating until it reaches pi star and v star, joined by two arrows because each is consistent with the other.">
              <a:extLst>
                <a:ext uri="{FF2B5EF4-FFF2-40B4-BE49-F238E27FC236}">
                  <a16:creationId xmlns:a16="http://schemas.microsoft.com/office/drawing/2014/main" id="{6D7366F6-2509-4BE8-74F6-EEAFAB9B333B}"/>
                </a:ext>
              </a:extLst>
            </p:cNvPr>
            <p:cNvPicPr>
              <a:picLocks noChangeAspect="1"/>
            </p:cNvPicPr>
            <p:nvPr/>
          </p:nvPicPr>
          <p:blipFill>
            <a:blip r:embed="rId2"/>
            <a:stretch>
              <a:fillRect/>
            </a:stretch>
          </p:blipFill>
          <p:spPr>
            <a:xfrm>
              <a:off x="8329133" y="1124198"/>
              <a:ext cx="2751579" cy="4163786"/>
            </a:xfrm>
            <a:prstGeom prst="rect">
              <a:avLst/>
            </a:prstGeom>
          </p:spPr>
        </p:pic>
        <p:sp>
          <p:nvSpPr>
            <p:cNvPr id="10" name="TextBox 9">
              <a:extLst>
                <a:ext uri="{FF2B5EF4-FFF2-40B4-BE49-F238E27FC236}">
                  <a16:creationId xmlns:a16="http://schemas.microsoft.com/office/drawing/2014/main" id="{DF451D61-2411-6879-B37C-B7CD2548ECAE}"/>
                </a:ext>
              </a:extLst>
            </p:cNvPr>
            <p:cNvSpPr txBox="1"/>
            <p:nvPr/>
          </p:nvSpPr>
          <p:spPr>
            <a:xfrm>
              <a:off x="8709548" y="558128"/>
              <a:ext cx="1641021" cy="461665"/>
            </a:xfrm>
            <a:prstGeom prst="rect">
              <a:avLst/>
            </a:prstGeom>
            <a:noFill/>
          </p:spPr>
          <p:txBody>
            <a:bodyPr wrap="square" rtlCol="0">
              <a:spAutoFit/>
            </a:bodyPr>
            <a:lstStyle/>
            <a:p>
              <a:pPr algn="ctr"/>
              <a:r>
                <a:rPr lang="en-US" sz="2400" dirty="0"/>
                <a:t>GPI</a:t>
              </a:r>
            </a:p>
          </p:txBody>
        </p:sp>
      </p:grpSp>
    </p:spTree>
    <p:extLst>
      <p:ext uri="{BB962C8B-B14F-4D97-AF65-F5344CB8AC3E}">
        <p14:creationId xmlns:p14="http://schemas.microsoft.com/office/powerpoint/2010/main" val="4171309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2B106-F46F-71F6-E8A8-A93D086D6853}"/>
              </a:ext>
            </a:extLst>
          </p:cNvPr>
          <p:cNvSpPr>
            <a:spLocks noGrp="1"/>
          </p:cNvSpPr>
          <p:nvPr>
            <p:ph type="title"/>
          </p:nvPr>
        </p:nvSpPr>
        <p:spPr/>
        <p:txBody>
          <a:bodyPr>
            <a:normAutofit fontScale="90000"/>
          </a:bodyPr>
          <a:lstStyle/>
          <a:p>
            <a:r>
              <a:rPr lang="en-US" dirty="0"/>
              <a:t>Policy Evaluation: Update Depth vs. Update Width</a:t>
            </a:r>
          </a:p>
        </p:txBody>
      </p:sp>
      <p:grpSp>
        <p:nvGrpSpPr>
          <p:cNvPr id="10" name="Group 9" descr="Depth axis: downward arrows from one-step methods, to n-step methods, to full-return methods.">
            <a:extLst>
              <a:ext uri="{FF2B5EF4-FFF2-40B4-BE49-F238E27FC236}">
                <a16:creationId xmlns:a16="http://schemas.microsoft.com/office/drawing/2014/main" id="{5CA57B6F-AFA2-C742-A3A7-F8BFC16F658E}"/>
              </a:ext>
            </a:extLst>
          </p:cNvPr>
          <p:cNvGrpSpPr/>
          <p:nvPr/>
        </p:nvGrpSpPr>
        <p:grpSpPr>
          <a:xfrm>
            <a:off x="623171" y="1320484"/>
            <a:ext cx="2169697" cy="4000295"/>
            <a:chOff x="9600257" y="1309985"/>
            <a:chExt cx="2169697" cy="4000295"/>
          </a:xfrm>
        </p:grpSpPr>
        <p:sp>
          <p:nvSpPr>
            <p:cNvPr id="4" name="TextBox 3">
              <a:extLst>
                <a:ext uri="{FF2B5EF4-FFF2-40B4-BE49-F238E27FC236}">
                  <a16:creationId xmlns:a16="http://schemas.microsoft.com/office/drawing/2014/main" id="{211F3E45-0A95-EED3-B84E-EEFE207BB62B}"/>
                </a:ext>
              </a:extLst>
            </p:cNvPr>
            <p:cNvSpPr txBox="1"/>
            <p:nvPr/>
          </p:nvSpPr>
          <p:spPr>
            <a:xfrm>
              <a:off x="9658670" y="1309985"/>
              <a:ext cx="2052870" cy="646331"/>
            </a:xfrm>
            <a:prstGeom prst="rect">
              <a:avLst/>
            </a:prstGeom>
            <a:noFill/>
          </p:spPr>
          <p:txBody>
            <a:bodyPr wrap="none" rtlCol="0">
              <a:spAutoFit/>
            </a:bodyPr>
            <a:lstStyle/>
            <a:p>
              <a:pPr algn="ctr"/>
              <a:r>
                <a:rPr lang="en-US" b="1" dirty="0"/>
                <a:t>Depth</a:t>
              </a:r>
            </a:p>
            <a:p>
              <a:r>
                <a:rPr lang="en-US" dirty="0"/>
                <a:t>One-step methods</a:t>
              </a:r>
            </a:p>
          </p:txBody>
        </p:sp>
        <p:sp>
          <p:nvSpPr>
            <p:cNvPr id="6" name="TextBox 5">
              <a:extLst>
                <a:ext uri="{FF2B5EF4-FFF2-40B4-BE49-F238E27FC236}">
                  <a16:creationId xmlns:a16="http://schemas.microsoft.com/office/drawing/2014/main" id="{47377371-CF2F-F011-0779-F30E76BC4BB4}"/>
                </a:ext>
              </a:extLst>
            </p:cNvPr>
            <p:cNvSpPr txBox="1"/>
            <p:nvPr/>
          </p:nvSpPr>
          <p:spPr>
            <a:xfrm>
              <a:off x="9803742" y="3244334"/>
              <a:ext cx="1762727" cy="369332"/>
            </a:xfrm>
            <a:prstGeom prst="rect">
              <a:avLst/>
            </a:prstGeom>
            <a:noFill/>
          </p:spPr>
          <p:txBody>
            <a:bodyPr wrap="none" rtlCol="0">
              <a:spAutoFit/>
            </a:bodyPr>
            <a:lstStyle/>
            <a:p>
              <a:r>
                <a:rPr lang="en-US" dirty="0"/>
                <a:t>n-step methods</a:t>
              </a:r>
            </a:p>
          </p:txBody>
        </p:sp>
        <p:sp>
          <p:nvSpPr>
            <p:cNvPr id="7" name="TextBox 6">
              <a:extLst>
                <a:ext uri="{FF2B5EF4-FFF2-40B4-BE49-F238E27FC236}">
                  <a16:creationId xmlns:a16="http://schemas.microsoft.com/office/drawing/2014/main" id="{BCB11024-C75F-4F34-33B5-AF6E80BF33E8}"/>
                </a:ext>
              </a:extLst>
            </p:cNvPr>
            <p:cNvSpPr txBox="1"/>
            <p:nvPr/>
          </p:nvSpPr>
          <p:spPr>
            <a:xfrm>
              <a:off x="9600257" y="4940948"/>
              <a:ext cx="2169697" cy="369332"/>
            </a:xfrm>
            <a:prstGeom prst="rect">
              <a:avLst/>
            </a:prstGeom>
            <a:noFill/>
          </p:spPr>
          <p:txBody>
            <a:bodyPr wrap="none" rtlCol="0">
              <a:spAutoFit/>
            </a:bodyPr>
            <a:lstStyle/>
            <a:p>
              <a:r>
                <a:rPr lang="en-US" dirty="0"/>
                <a:t>Full-return methods</a:t>
              </a:r>
            </a:p>
          </p:txBody>
        </p:sp>
        <p:sp>
          <p:nvSpPr>
            <p:cNvPr id="8" name="Arrow: Down 7">
              <a:extLst>
                <a:ext uri="{FF2B5EF4-FFF2-40B4-BE49-F238E27FC236}">
                  <a16:creationId xmlns:a16="http://schemas.microsoft.com/office/drawing/2014/main" id="{14776485-2079-FEC2-09A9-7017DA2CC2F5}"/>
                </a:ext>
                <a:ext uri="{C183D7F6-B498-43B3-948B-1728B52AA6E4}">
                  <adec:decorative xmlns:adec="http://schemas.microsoft.com/office/drawing/2017/decorative" val="1"/>
                </a:ext>
              </a:extLst>
            </p:cNvPr>
            <p:cNvSpPr/>
            <p:nvPr/>
          </p:nvSpPr>
          <p:spPr>
            <a:xfrm>
              <a:off x="10378945" y="2081893"/>
              <a:ext cx="612321" cy="10368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41E61BFF-8CD8-FB08-066F-8BE63D8D46A9}"/>
                </a:ext>
                <a:ext uri="{C183D7F6-B498-43B3-948B-1728B52AA6E4}">
                  <adec:decorative xmlns:adec="http://schemas.microsoft.com/office/drawing/2017/decorative" val="1"/>
                </a:ext>
              </a:extLst>
            </p:cNvPr>
            <p:cNvSpPr/>
            <p:nvPr/>
          </p:nvSpPr>
          <p:spPr>
            <a:xfrm>
              <a:off x="10378945" y="3762766"/>
              <a:ext cx="612321" cy="10368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The space of update methods (Sutton and Barto Figure 8.11): a square whose horizontal axis is the width of update (sample to expected) and whose vertical axis is the depth, or length, of update (one step to full episode). The four corners show temporal-difference learning (narrow and shallow, top left), dynamic programming (wide and shallow, top right), Monte Carlo (narrow and deep, bottom left) and exhaustive search (wide and deep, bottom right), each with its backup diagram.">
            <a:extLst>
              <a:ext uri="{FF2B5EF4-FFF2-40B4-BE49-F238E27FC236}">
                <a16:creationId xmlns:a16="http://schemas.microsoft.com/office/drawing/2014/main" id="{48DB6AFE-8E14-4667-7D60-A58A0303A73E}"/>
              </a:ext>
            </a:extLst>
          </p:cNvPr>
          <p:cNvPicPr>
            <a:picLocks noChangeAspect="1"/>
          </p:cNvPicPr>
          <p:nvPr/>
        </p:nvPicPr>
        <p:blipFill>
          <a:blip r:embed="rId2"/>
          <a:stretch>
            <a:fillRect/>
          </a:stretch>
        </p:blipFill>
        <p:spPr>
          <a:xfrm>
            <a:off x="3126923" y="1210540"/>
            <a:ext cx="5383802" cy="5015409"/>
          </a:xfrm>
          <a:prstGeom prst="rect">
            <a:avLst/>
          </a:prstGeom>
        </p:spPr>
      </p:pic>
      <p:sp>
        <p:nvSpPr>
          <p:cNvPr id="18" name="TextBox 17">
            <a:extLst>
              <a:ext uri="{FF2B5EF4-FFF2-40B4-BE49-F238E27FC236}">
                <a16:creationId xmlns:a16="http://schemas.microsoft.com/office/drawing/2014/main" id="{4E74D7B6-C23A-AF2E-4548-1F2E9AF97501}"/>
              </a:ext>
            </a:extLst>
          </p:cNvPr>
          <p:cNvSpPr txBox="1"/>
          <p:nvPr/>
        </p:nvSpPr>
        <p:spPr>
          <a:xfrm>
            <a:off x="4235080" y="1683811"/>
            <a:ext cx="1531277" cy="523220"/>
          </a:xfrm>
          <a:prstGeom prst="rect">
            <a:avLst/>
          </a:prstGeom>
          <a:noFill/>
        </p:spPr>
        <p:txBody>
          <a:bodyPr wrap="square" rtlCol="0">
            <a:spAutoFit/>
          </a:bodyPr>
          <a:lstStyle/>
          <a:p>
            <a:r>
              <a:rPr lang="en-US" sz="1400" dirty="0"/>
              <a:t>one-step Sarsa</a:t>
            </a:r>
            <a:br>
              <a:rPr lang="en-US" sz="1400" dirty="0"/>
            </a:br>
            <a:r>
              <a:rPr lang="en-US" sz="1400" dirty="0"/>
              <a:t>Q-Learning</a:t>
            </a:r>
          </a:p>
        </p:txBody>
      </p:sp>
      <p:sp>
        <p:nvSpPr>
          <p:cNvPr id="19" name="TextBox 18">
            <a:extLst>
              <a:ext uri="{FF2B5EF4-FFF2-40B4-BE49-F238E27FC236}">
                <a16:creationId xmlns:a16="http://schemas.microsoft.com/office/drawing/2014/main" id="{5779370B-E9C9-008B-B236-A85F259625FE}"/>
              </a:ext>
            </a:extLst>
          </p:cNvPr>
          <p:cNvSpPr txBox="1"/>
          <p:nvPr/>
        </p:nvSpPr>
        <p:spPr>
          <a:xfrm>
            <a:off x="8438052" y="1580720"/>
            <a:ext cx="2564728" cy="307777"/>
          </a:xfrm>
          <a:prstGeom prst="rect">
            <a:avLst/>
          </a:prstGeom>
          <a:noFill/>
        </p:spPr>
        <p:txBody>
          <a:bodyPr wrap="square" rtlCol="0">
            <a:spAutoFit/>
          </a:bodyPr>
          <a:lstStyle/>
          <a:p>
            <a:r>
              <a:rPr lang="en-US" sz="1400" dirty="0"/>
              <a:t>+ Expected Sarsa</a:t>
            </a:r>
          </a:p>
        </p:txBody>
      </p:sp>
      <p:sp>
        <p:nvSpPr>
          <p:cNvPr id="24" name="Arrow: Down 23">
            <a:extLst>
              <a:ext uri="{FF2B5EF4-FFF2-40B4-BE49-F238E27FC236}">
                <a16:creationId xmlns:a16="http://schemas.microsoft.com/office/drawing/2014/main" id="{9460DE18-4C9A-6BA3-92A8-156AF432C6B4}"/>
              </a:ext>
            </a:extLst>
          </p:cNvPr>
          <p:cNvSpPr/>
          <p:nvPr/>
        </p:nvSpPr>
        <p:spPr>
          <a:xfrm flipV="1">
            <a:off x="2651452" y="2053157"/>
            <a:ext cx="679509" cy="2852096"/>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vert="vert" rtlCol="0" anchor="ctr"/>
          <a:lstStyle/>
          <a:p>
            <a:pPr algn="ctr"/>
            <a:r>
              <a:rPr lang="en-US" dirty="0"/>
              <a:t>Bias increases</a:t>
            </a:r>
          </a:p>
        </p:txBody>
      </p:sp>
      <p:sp>
        <p:nvSpPr>
          <p:cNvPr id="23" name="TextBox 22">
            <a:extLst>
              <a:ext uri="{FF2B5EF4-FFF2-40B4-BE49-F238E27FC236}">
                <a16:creationId xmlns:a16="http://schemas.microsoft.com/office/drawing/2014/main" id="{E0808173-01FB-4745-DD56-A2D88A5FE9FD}"/>
              </a:ext>
            </a:extLst>
          </p:cNvPr>
          <p:cNvSpPr txBox="1"/>
          <p:nvPr/>
        </p:nvSpPr>
        <p:spPr>
          <a:xfrm>
            <a:off x="8986196" y="2360586"/>
            <a:ext cx="2275530" cy="120032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Bias decreases the closer we get to the optimal value function.</a:t>
            </a:r>
          </a:p>
        </p:txBody>
      </p:sp>
      <p:grpSp>
        <p:nvGrpSpPr>
          <p:cNvPr id="22" name="Group 21" descr="Point in the chart labelled n-step Sarsa.">
            <a:extLst>
              <a:ext uri="{FF2B5EF4-FFF2-40B4-BE49-F238E27FC236}">
                <a16:creationId xmlns:a16="http://schemas.microsoft.com/office/drawing/2014/main" id="{AFABC249-B9C3-B83D-2555-FEAEA52E10A6}"/>
              </a:ext>
            </a:extLst>
          </p:cNvPr>
          <p:cNvGrpSpPr/>
          <p:nvPr/>
        </p:nvGrpSpPr>
        <p:grpSpPr>
          <a:xfrm>
            <a:off x="4130378" y="3100944"/>
            <a:ext cx="1583628" cy="307777"/>
            <a:chOff x="4130378" y="3100944"/>
            <a:chExt cx="1583628" cy="307777"/>
          </a:xfrm>
        </p:grpSpPr>
        <p:sp>
          <p:nvSpPr>
            <p:cNvPr id="20" name="Oval 19">
              <a:extLst>
                <a:ext uri="{FF2B5EF4-FFF2-40B4-BE49-F238E27FC236}">
                  <a16:creationId xmlns:a16="http://schemas.microsoft.com/office/drawing/2014/main" id="{A5FC1DEF-060E-DB48-CC65-B77A6C34CC20}"/>
                </a:ext>
                <a:ext uri="{C183D7F6-B498-43B3-948B-1728B52AA6E4}">
                  <adec:decorative xmlns:adec="http://schemas.microsoft.com/office/drawing/2017/decorative" val="1"/>
                </a:ext>
              </a:extLst>
            </p:cNvPr>
            <p:cNvSpPr/>
            <p:nvPr/>
          </p:nvSpPr>
          <p:spPr>
            <a:xfrm>
              <a:off x="4130378" y="3203521"/>
              <a:ext cx="104702" cy="102624"/>
            </a:xfrm>
            <a:prstGeom prst="ellipse">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F85C0057-A551-8186-D2E1-FC4CE09F09CD}"/>
                </a:ext>
              </a:extLst>
            </p:cNvPr>
            <p:cNvSpPr txBox="1"/>
            <p:nvPr/>
          </p:nvSpPr>
          <p:spPr>
            <a:xfrm>
              <a:off x="4182729" y="3100944"/>
              <a:ext cx="1531277" cy="307777"/>
            </a:xfrm>
            <a:prstGeom prst="rect">
              <a:avLst/>
            </a:prstGeom>
            <a:noFill/>
          </p:spPr>
          <p:txBody>
            <a:bodyPr wrap="square" rtlCol="0">
              <a:spAutoFit/>
            </a:bodyPr>
            <a:lstStyle/>
            <a:p>
              <a:r>
                <a:rPr lang="en-US" sz="1400" dirty="0"/>
                <a:t>n-step Sarsa</a:t>
              </a:r>
            </a:p>
          </p:txBody>
        </p:sp>
      </p:grpSp>
      <p:grpSp>
        <p:nvGrpSpPr>
          <p:cNvPr id="27" name="Group 26" descr="Point in the chart labelled Heuristic Search.">
            <a:extLst>
              <a:ext uri="{FF2B5EF4-FFF2-40B4-BE49-F238E27FC236}">
                <a16:creationId xmlns:a16="http://schemas.microsoft.com/office/drawing/2014/main" id="{7D1DE593-0B34-D530-BE33-148CB1599F39}"/>
              </a:ext>
            </a:extLst>
          </p:cNvPr>
          <p:cNvGrpSpPr/>
          <p:nvPr/>
        </p:nvGrpSpPr>
        <p:grpSpPr>
          <a:xfrm>
            <a:off x="5227038" y="3517291"/>
            <a:ext cx="1588797" cy="523220"/>
            <a:chOff x="5069641" y="3855268"/>
            <a:chExt cx="1588797" cy="523220"/>
          </a:xfrm>
        </p:grpSpPr>
        <p:sp>
          <p:nvSpPr>
            <p:cNvPr id="28" name="Oval 27">
              <a:extLst>
                <a:ext uri="{FF2B5EF4-FFF2-40B4-BE49-F238E27FC236}">
                  <a16:creationId xmlns:a16="http://schemas.microsoft.com/office/drawing/2014/main" id="{A9F37B31-30DD-6438-F97B-1D7F20C6B9DE}"/>
                </a:ext>
                <a:ext uri="{C183D7F6-B498-43B3-948B-1728B52AA6E4}">
                  <adec:decorative xmlns:adec="http://schemas.microsoft.com/office/drawing/2017/decorative" val="1"/>
                </a:ext>
              </a:extLst>
            </p:cNvPr>
            <p:cNvSpPr/>
            <p:nvPr/>
          </p:nvSpPr>
          <p:spPr>
            <a:xfrm>
              <a:off x="5069641" y="4071507"/>
              <a:ext cx="104702" cy="102624"/>
            </a:xfrm>
            <a:prstGeom prst="ellipse">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TextBox 28">
              <a:extLst>
                <a:ext uri="{FF2B5EF4-FFF2-40B4-BE49-F238E27FC236}">
                  <a16:creationId xmlns:a16="http://schemas.microsoft.com/office/drawing/2014/main" id="{D5F71844-0FD3-56FF-0936-594357BEDB8D}"/>
                </a:ext>
              </a:extLst>
            </p:cNvPr>
            <p:cNvSpPr txBox="1"/>
            <p:nvPr/>
          </p:nvSpPr>
          <p:spPr>
            <a:xfrm>
              <a:off x="5127161" y="3855268"/>
              <a:ext cx="1531277" cy="523220"/>
            </a:xfrm>
            <a:prstGeom prst="rect">
              <a:avLst/>
            </a:prstGeom>
            <a:noFill/>
          </p:spPr>
          <p:txBody>
            <a:bodyPr wrap="square" rtlCol="0">
              <a:spAutoFit/>
            </a:bodyPr>
            <a:lstStyle/>
            <a:p>
              <a:r>
                <a:rPr lang="en-US" sz="1400" dirty="0"/>
                <a:t>Heuristic</a:t>
              </a:r>
              <a:br>
                <a:rPr lang="en-US" sz="1400" dirty="0"/>
              </a:br>
              <a:r>
                <a:rPr lang="en-US" sz="1400" dirty="0"/>
                <a:t>Search</a:t>
              </a:r>
            </a:p>
          </p:txBody>
        </p:sp>
      </p:grpSp>
      <p:sp>
        <p:nvSpPr>
          <p:cNvPr id="25" name="TextBox 24">
            <a:extLst>
              <a:ext uri="{FF2B5EF4-FFF2-40B4-BE49-F238E27FC236}">
                <a16:creationId xmlns:a16="http://schemas.microsoft.com/office/drawing/2014/main" id="{09B2548B-E9B6-44AE-AA51-21FD905A4927}"/>
              </a:ext>
            </a:extLst>
          </p:cNvPr>
          <p:cNvSpPr txBox="1"/>
          <p:nvPr/>
        </p:nvSpPr>
        <p:spPr>
          <a:xfrm>
            <a:off x="8986196" y="3724748"/>
            <a:ext cx="2275530"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Variance decreases with sample size.</a:t>
            </a:r>
          </a:p>
        </p:txBody>
      </p:sp>
      <p:grpSp>
        <p:nvGrpSpPr>
          <p:cNvPr id="17" name="Group 16" descr="Point in the chart labelled Rollout Algorithms.">
            <a:extLst>
              <a:ext uri="{FF2B5EF4-FFF2-40B4-BE49-F238E27FC236}">
                <a16:creationId xmlns:a16="http://schemas.microsoft.com/office/drawing/2014/main" id="{5119C3A0-42FD-212B-5471-F32C75AA54ED}"/>
              </a:ext>
            </a:extLst>
          </p:cNvPr>
          <p:cNvGrpSpPr/>
          <p:nvPr/>
        </p:nvGrpSpPr>
        <p:grpSpPr>
          <a:xfrm>
            <a:off x="5227038" y="4647030"/>
            <a:ext cx="1588797" cy="523220"/>
            <a:chOff x="5069641" y="3855268"/>
            <a:chExt cx="1588797" cy="523220"/>
          </a:xfrm>
        </p:grpSpPr>
        <p:sp>
          <p:nvSpPr>
            <p:cNvPr id="15" name="Oval 14">
              <a:extLst>
                <a:ext uri="{FF2B5EF4-FFF2-40B4-BE49-F238E27FC236}">
                  <a16:creationId xmlns:a16="http://schemas.microsoft.com/office/drawing/2014/main" id="{1A7752DC-C919-21AB-695A-0B5E14D50DAF}"/>
                </a:ext>
                <a:ext uri="{C183D7F6-B498-43B3-948B-1728B52AA6E4}">
                  <adec:decorative xmlns:adec="http://schemas.microsoft.com/office/drawing/2017/decorative" val="1"/>
                </a:ext>
              </a:extLst>
            </p:cNvPr>
            <p:cNvSpPr/>
            <p:nvPr/>
          </p:nvSpPr>
          <p:spPr>
            <a:xfrm>
              <a:off x="5069641" y="4071507"/>
              <a:ext cx="104702" cy="102624"/>
            </a:xfrm>
            <a:prstGeom prst="ellipse">
              <a:avLst/>
            </a:prstGeom>
            <a:ln w="63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A2938DCA-3D73-EEA6-5D71-9C1852C94B98}"/>
                </a:ext>
              </a:extLst>
            </p:cNvPr>
            <p:cNvSpPr txBox="1"/>
            <p:nvPr/>
          </p:nvSpPr>
          <p:spPr>
            <a:xfrm>
              <a:off x="5127161" y="3855268"/>
              <a:ext cx="1531277" cy="523220"/>
            </a:xfrm>
            <a:prstGeom prst="rect">
              <a:avLst/>
            </a:prstGeom>
            <a:noFill/>
          </p:spPr>
          <p:txBody>
            <a:bodyPr wrap="square" rtlCol="0">
              <a:spAutoFit/>
            </a:bodyPr>
            <a:lstStyle/>
            <a:p>
              <a:r>
                <a:rPr lang="en-US" sz="1400" dirty="0"/>
                <a:t>Rollout Algorithms</a:t>
              </a:r>
            </a:p>
          </p:txBody>
        </p:sp>
      </p:grpSp>
      <p:sp>
        <p:nvSpPr>
          <p:cNvPr id="3" name="TextBox 2">
            <a:extLst>
              <a:ext uri="{FF2B5EF4-FFF2-40B4-BE49-F238E27FC236}">
                <a16:creationId xmlns:a16="http://schemas.microsoft.com/office/drawing/2014/main" id="{FEF398DD-AA03-FE12-13CC-F67E547F1FF6}"/>
              </a:ext>
            </a:extLst>
          </p:cNvPr>
          <p:cNvSpPr txBox="1"/>
          <p:nvPr/>
        </p:nvSpPr>
        <p:spPr>
          <a:xfrm>
            <a:off x="8986196" y="4797303"/>
            <a:ext cx="2275530" cy="92333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Each method is located somewhere  in this continuum.</a:t>
            </a:r>
          </a:p>
        </p:txBody>
      </p:sp>
      <p:sp>
        <p:nvSpPr>
          <p:cNvPr id="26" name="Arrow: Right 25">
            <a:extLst>
              <a:ext uri="{FF2B5EF4-FFF2-40B4-BE49-F238E27FC236}">
                <a16:creationId xmlns:a16="http://schemas.microsoft.com/office/drawing/2014/main" id="{9F10ED61-9697-A761-C38E-9B0931805EDB}"/>
              </a:ext>
            </a:extLst>
          </p:cNvPr>
          <p:cNvSpPr/>
          <p:nvPr/>
        </p:nvSpPr>
        <p:spPr>
          <a:xfrm flipH="1">
            <a:off x="4369599" y="5513480"/>
            <a:ext cx="2327944" cy="58695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Variance increases</a:t>
            </a:r>
          </a:p>
        </p:txBody>
      </p:sp>
      <p:grpSp>
        <p:nvGrpSpPr>
          <p:cNvPr id="14" name="Group 13" descr="Width axis: an arrow from Sampled trajectory to Consider all actions (use expectation or max).">
            <a:extLst>
              <a:ext uri="{FF2B5EF4-FFF2-40B4-BE49-F238E27FC236}">
                <a16:creationId xmlns:a16="http://schemas.microsoft.com/office/drawing/2014/main" id="{C4C207F5-CAC8-12B2-B67A-66F8D1C74980}"/>
              </a:ext>
            </a:extLst>
          </p:cNvPr>
          <p:cNvGrpSpPr/>
          <p:nvPr/>
        </p:nvGrpSpPr>
        <p:grpSpPr>
          <a:xfrm>
            <a:off x="2306541" y="6100430"/>
            <a:ext cx="6410689" cy="646331"/>
            <a:chOff x="2306541" y="6100430"/>
            <a:chExt cx="6410689" cy="646331"/>
          </a:xfrm>
        </p:grpSpPr>
        <p:sp>
          <p:nvSpPr>
            <p:cNvPr id="11" name="TextBox 10">
              <a:extLst>
                <a:ext uri="{FF2B5EF4-FFF2-40B4-BE49-F238E27FC236}">
                  <a16:creationId xmlns:a16="http://schemas.microsoft.com/office/drawing/2014/main" id="{0365FAD9-46E0-2ED7-7960-D6D32A45196B}"/>
                </a:ext>
              </a:extLst>
            </p:cNvPr>
            <p:cNvSpPr txBox="1"/>
            <p:nvPr/>
          </p:nvSpPr>
          <p:spPr>
            <a:xfrm>
              <a:off x="2306541" y="6232272"/>
              <a:ext cx="2815451" cy="369332"/>
            </a:xfrm>
            <a:prstGeom prst="rect">
              <a:avLst/>
            </a:prstGeom>
            <a:noFill/>
          </p:spPr>
          <p:txBody>
            <a:bodyPr wrap="none" rtlCol="0">
              <a:spAutoFit/>
            </a:bodyPr>
            <a:lstStyle/>
            <a:p>
              <a:r>
                <a:rPr lang="en-US" b="1" dirty="0"/>
                <a:t>Width</a:t>
              </a:r>
              <a:r>
                <a:rPr lang="en-US" dirty="0"/>
                <a:t>: Sampled trajectory</a:t>
              </a:r>
            </a:p>
          </p:txBody>
        </p:sp>
        <p:sp>
          <p:nvSpPr>
            <p:cNvPr id="12" name="TextBox 11">
              <a:extLst>
                <a:ext uri="{FF2B5EF4-FFF2-40B4-BE49-F238E27FC236}">
                  <a16:creationId xmlns:a16="http://schemas.microsoft.com/office/drawing/2014/main" id="{07793D0C-B4CF-EC6C-54B8-83A8347068BF}"/>
                </a:ext>
              </a:extLst>
            </p:cNvPr>
            <p:cNvSpPr txBox="1"/>
            <p:nvPr/>
          </p:nvSpPr>
          <p:spPr>
            <a:xfrm>
              <a:off x="6096000" y="6100430"/>
              <a:ext cx="2621230" cy="646331"/>
            </a:xfrm>
            <a:prstGeom prst="rect">
              <a:avLst/>
            </a:prstGeom>
            <a:noFill/>
          </p:spPr>
          <p:txBody>
            <a:bodyPr wrap="none" rtlCol="0">
              <a:spAutoFit/>
            </a:bodyPr>
            <a:lstStyle/>
            <a:p>
              <a:r>
                <a:rPr lang="en-US" dirty="0"/>
                <a:t>Consider all actions </a:t>
              </a:r>
              <a:br>
                <a:rPr lang="en-US" dirty="0"/>
              </a:br>
              <a:r>
                <a:rPr lang="en-US" dirty="0"/>
                <a:t>(use expectation or max)</a:t>
              </a:r>
            </a:p>
          </p:txBody>
        </p:sp>
        <p:sp>
          <p:nvSpPr>
            <p:cNvPr id="13" name="Arrow: Right 12">
              <a:extLst>
                <a:ext uri="{FF2B5EF4-FFF2-40B4-BE49-F238E27FC236}">
                  <a16:creationId xmlns:a16="http://schemas.microsoft.com/office/drawing/2014/main" id="{569A355E-8C8B-CA9F-BE38-4BCBB51D550C}"/>
                </a:ext>
                <a:ext uri="{C183D7F6-B498-43B3-948B-1728B52AA6E4}">
                  <adec:decorative xmlns:adec="http://schemas.microsoft.com/office/drawing/2017/decorative" val="1"/>
                </a:ext>
              </a:extLst>
            </p:cNvPr>
            <p:cNvSpPr/>
            <p:nvPr/>
          </p:nvSpPr>
          <p:spPr>
            <a:xfrm>
              <a:off x="5174343" y="6161314"/>
              <a:ext cx="718457" cy="5515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072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4" grpId="0" animBg="1"/>
      <p:bldP spid="23" grpId="0" animBg="1"/>
      <p:bldP spid="25" grpId="0" animBg="1"/>
      <p:bldP spid="3" grpId="0" animBg="1"/>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CFAD6-8953-D14F-C853-F13F480B14C5}"/>
              </a:ext>
            </a:extLst>
          </p:cNvPr>
          <p:cNvSpPr>
            <a:spLocks noGrp="1"/>
          </p:cNvSpPr>
          <p:nvPr>
            <p:ph type="title"/>
          </p:nvPr>
        </p:nvSpPr>
        <p:spPr/>
        <p:txBody>
          <a:bodyPr/>
          <a:lstStyle/>
          <a:p>
            <a:r>
              <a:rPr lang="en-US" dirty="0"/>
              <a:t>On-Policy vs. Off-Policy</a:t>
            </a:r>
          </a:p>
        </p:txBody>
      </p:sp>
      <p:sp>
        <p:nvSpPr>
          <p:cNvPr id="3" name="Content Placeholder 2">
            <a:extLst>
              <a:ext uri="{FF2B5EF4-FFF2-40B4-BE49-F238E27FC236}">
                <a16:creationId xmlns:a16="http://schemas.microsoft.com/office/drawing/2014/main" id="{A921F75A-ED78-4D7C-E025-9485BB9284FB}"/>
              </a:ext>
            </a:extLst>
          </p:cNvPr>
          <p:cNvSpPr>
            <a:spLocks noGrp="1"/>
          </p:cNvSpPr>
          <p:nvPr>
            <p:ph idx="1"/>
          </p:nvPr>
        </p:nvSpPr>
        <p:spPr/>
        <p:txBody>
          <a:bodyPr>
            <a:normAutofit fontScale="77500" lnSpcReduction="20000"/>
          </a:bodyPr>
          <a:lstStyle/>
          <a:p>
            <a:pPr marL="0" indent="0">
              <a:buNone/>
            </a:pPr>
            <a:r>
              <a:rPr lang="en-US" b="1" dirty="0"/>
              <a:t>On-Policy</a:t>
            </a:r>
            <a:r>
              <a:rPr lang="en-US" dirty="0"/>
              <a:t>: Evaluate or learn a policy that is used to sample data.</a:t>
            </a:r>
          </a:p>
          <a:p>
            <a:endParaRPr lang="en-US" dirty="0"/>
          </a:p>
          <a:p>
            <a:pPr marL="0" indent="0">
              <a:buNone/>
            </a:pPr>
            <a:r>
              <a:rPr lang="en-US" b="1" dirty="0"/>
              <a:t>Off-Policy</a:t>
            </a:r>
            <a:r>
              <a:rPr lang="en-US" dirty="0"/>
              <a:t>: Evaluate or learn a target policy different from the behavior policy.</a:t>
            </a:r>
          </a:p>
          <a:p>
            <a:pPr marL="0" indent="0">
              <a:buNone/>
            </a:pPr>
            <a:endParaRPr lang="en-US" dirty="0"/>
          </a:p>
          <a:p>
            <a:pPr marL="0" indent="0">
              <a:buNone/>
            </a:pPr>
            <a:endParaRPr lang="en-US" dirty="0"/>
          </a:p>
          <a:p>
            <a:pPr marL="0" indent="0">
              <a:buNone/>
            </a:pPr>
            <a:r>
              <a:rPr lang="en-US" b="1" dirty="0"/>
              <a:t>Off-Policy is useful because</a:t>
            </a:r>
            <a:r>
              <a:rPr lang="en-US" dirty="0"/>
              <a:t>:</a:t>
            </a:r>
          </a:p>
          <a:p>
            <a:pPr lvl="1"/>
            <a:r>
              <a:rPr lang="en-US" b="1" dirty="0"/>
              <a:t>Learn optimal policies </a:t>
            </a:r>
            <a:r>
              <a:rPr lang="en-US" dirty="0"/>
              <a:t>while using exploring behavior.</a:t>
            </a:r>
          </a:p>
          <a:p>
            <a:pPr lvl="1"/>
            <a:r>
              <a:rPr lang="en-US" b="1" dirty="0"/>
              <a:t>Reuse of data is possible</a:t>
            </a:r>
            <a:r>
              <a:rPr lang="en-US" dirty="0"/>
              <a:t>: offline, and batch RL on existing training data leads to better sample efficiency.</a:t>
            </a:r>
          </a:p>
          <a:p>
            <a:pPr marL="0" indent="0">
              <a:buNone/>
            </a:pPr>
            <a:endParaRPr lang="en-US" b="1" dirty="0"/>
          </a:p>
          <a:p>
            <a:pPr marL="0" indent="0">
              <a:buNone/>
            </a:pPr>
            <a:r>
              <a:rPr lang="en-US" b="1" dirty="0"/>
              <a:t>Off-Policy learning is harder because:</a:t>
            </a:r>
          </a:p>
          <a:p>
            <a:pPr lvl="1"/>
            <a:r>
              <a:rPr lang="en-US" b="1" dirty="0"/>
              <a:t>Requires distributional correction</a:t>
            </a:r>
            <a:r>
              <a:rPr lang="en-US" dirty="0"/>
              <a:t>: E.g., importance sampling which is not able to use all data when the behavioral policy is very different from the target policy.</a:t>
            </a:r>
          </a:p>
          <a:p>
            <a:pPr lvl="1"/>
            <a:r>
              <a:rPr lang="en-US" dirty="0"/>
              <a:t>May suffer from </a:t>
            </a:r>
            <a:r>
              <a:rPr lang="en-US" b="1" dirty="0"/>
              <a:t>high variance </a:t>
            </a:r>
            <a:r>
              <a:rPr lang="en-US" dirty="0"/>
              <a:t>caused by importance sampling.</a:t>
            </a:r>
          </a:p>
          <a:p>
            <a:pPr lvl="1"/>
            <a:r>
              <a:rPr lang="en-US" b="1" dirty="0"/>
              <a:t>Instability with non-linear function approximation: </a:t>
            </a:r>
            <a:r>
              <a:rPr lang="en-US" dirty="0"/>
              <a:t>This is a major issue for deep RL</a:t>
            </a:r>
          </a:p>
        </p:txBody>
      </p:sp>
    </p:spTree>
    <p:extLst>
      <p:ext uri="{BB962C8B-B14F-4D97-AF65-F5344CB8AC3E}">
        <p14:creationId xmlns:p14="http://schemas.microsoft.com/office/powerpoint/2010/main" val="386893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6C101-39C4-5534-A3ED-9D36AB8B7A7D}"/>
              </a:ext>
            </a:extLst>
          </p:cNvPr>
          <p:cNvSpPr>
            <a:spLocks noGrp="1"/>
          </p:cNvSpPr>
          <p:nvPr>
            <p:ph type="title"/>
          </p:nvPr>
        </p:nvSpPr>
        <p:spPr/>
        <p:txBody>
          <a:bodyPr/>
          <a:lstStyle/>
          <a:p>
            <a:r>
              <a:rPr lang="en-US" dirty="0"/>
              <a:t>Other Dimensions</a:t>
            </a:r>
          </a:p>
        </p:txBody>
      </p:sp>
      <mc:AlternateContent xmlns:mc="http://schemas.openxmlformats.org/markup-compatibility/2006" xmlns:a14="http://schemas.microsoft.com/office/drawing/2010/main">
        <mc:Choice Requires="a14">
          <p:sp>
            <p:nvSpPr>
              <p:cNvPr id="3" name="Content Placeholder 2" descr="Definition of return:. Episodic vs. continuing task. Discounted vs. undiscounted. Action values q vs. state values v. Exploration vs. exploitation: This is a trade-off. Many methods need exploration (covering behavior policies) for convergence. This is related to on s. off-policy learning. Synchronous vs. asynchronous updates: Are all states updated at once or one by one in some order?. Real vs. simulated experience: Are real experiences, simulations, or both used for updates?">
                <a:extLst>
                  <a:ext uri="{FF2B5EF4-FFF2-40B4-BE49-F238E27FC236}">
                    <a16:creationId xmlns:a16="http://schemas.microsoft.com/office/drawing/2014/main" id="{8CB60D31-9CD5-1596-21BF-AD897227AFBE}"/>
                  </a:ext>
                </a:extLst>
              </p:cNvPr>
              <p:cNvSpPr>
                <a:spLocks noGrp="1"/>
              </p:cNvSpPr>
              <p:nvPr>
                <p:ph idx="1"/>
              </p:nvPr>
            </p:nvSpPr>
            <p:spPr/>
            <p:txBody>
              <a:bodyPr>
                <a:normAutofit fontScale="77500" lnSpcReduction="20000"/>
              </a:bodyPr>
              <a:lstStyle/>
              <a:p>
                <a:r>
                  <a:rPr lang="en-US" b="1" dirty="0"/>
                  <a:t>Definition of return</a:t>
                </a:r>
                <a:r>
                  <a:rPr lang="en-US" dirty="0"/>
                  <a:t>: </a:t>
                </a:r>
              </a:p>
              <a:p>
                <a:pPr lvl="1"/>
                <a:r>
                  <a:rPr lang="en-US" dirty="0"/>
                  <a:t>Episodic vs. continuing task</a:t>
                </a:r>
              </a:p>
              <a:p>
                <a:pPr lvl="1"/>
                <a:r>
                  <a:rPr lang="en-US" dirty="0"/>
                  <a:t>Discounted vs. undiscounted</a:t>
                </a:r>
              </a:p>
              <a:p>
                <a:endParaRPr lang="en-US" b="1" dirty="0"/>
              </a:p>
              <a:p>
                <a:r>
                  <a:rPr lang="en-US" b="1" dirty="0"/>
                  <a:t>Action values </a:t>
                </a:r>
                <a14:m>
                  <m:oMath xmlns:m="http://schemas.openxmlformats.org/officeDocument/2006/math">
                    <m:r>
                      <a:rPr lang="en-US" i="1" dirty="0" smtClean="0">
                        <a:latin typeface="Cambria Math" panose="02040503050406030204" pitchFamily="18" charset="0"/>
                      </a:rPr>
                      <m:t>𝑞</m:t>
                    </m:r>
                  </m:oMath>
                </a14:m>
                <a:r>
                  <a:rPr lang="en-US" b="1" dirty="0"/>
                  <a:t> vs. state </a:t>
                </a:r>
                <a:r>
                  <a:rPr lang="en-US" b="1" dirty="0" err="1"/>
                  <a:t>values</a:t>
                </a:r>
                <a:r>
                  <a:rPr lang="en-US" b="1" dirty="0"/>
                  <a:t> </a:t>
                </a:r>
                <a14:m>
                  <m:oMath xmlns:m="http://schemas.openxmlformats.org/officeDocument/2006/math">
                    <m:r>
                      <a:rPr lang="en-US" b="0" i="1" smtClean="0">
                        <a:latin typeface="Cambria Math" panose="02040503050406030204" pitchFamily="18" charset="0"/>
                      </a:rPr>
                      <m:t>𝑣</m:t>
                    </m:r>
                  </m:oMath>
                </a14:m>
                <a:endParaRPr lang="en-US" dirty="0"/>
              </a:p>
              <a:p>
                <a:endParaRPr lang="en-US" b="1" dirty="0"/>
              </a:p>
              <a:p>
                <a:r>
                  <a:rPr lang="en-US" b="1" dirty="0"/>
                  <a:t>Exploration vs. exploitation</a:t>
                </a:r>
                <a:r>
                  <a:rPr lang="en-US" dirty="0"/>
                  <a:t>: This is a trade-off. Many methods need exploration (covering behavior policies) for convergence. This is related to on s. off-policy learning.</a:t>
                </a:r>
              </a:p>
              <a:p>
                <a:endParaRPr lang="en-US" b="1" dirty="0"/>
              </a:p>
              <a:p>
                <a:r>
                  <a:rPr lang="en-US" b="1" dirty="0"/>
                  <a:t>Synchronous vs. asynchronous updates</a:t>
                </a:r>
                <a:r>
                  <a:rPr lang="en-US" dirty="0"/>
                  <a:t>: Are all states updated at once or one by one in some order?</a:t>
                </a:r>
              </a:p>
              <a:p>
                <a:endParaRPr lang="en-US" b="1" dirty="0"/>
              </a:p>
              <a:p>
                <a:r>
                  <a:rPr lang="en-US" b="1" dirty="0"/>
                  <a:t>Real vs. simulated experience</a:t>
                </a:r>
                <a:r>
                  <a:rPr lang="en-US" dirty="0"/>
                  <a:t>: Are real experiences, simulations, or both used for updates?</a:t>
                </a:r>
              </a:p>
              <a:p>
                <a:endParaRPr lang="en-US" dirty="0"/>
              </a:p>
              <a:p>
                <a:endParaRPr lang="en-US" dirty="0"/>
              </a:p>
            </p:txBody>
          </p:sp>
        </mc:Choice>
        <mc:Fallback xmlns="">
          <p:sp>
            <p:nvSpPr>
              <p:cNvPr id="3" name="Content Placeholder 2" descr="Definition of return:. Episodic vs. continuing task. Discounted vs. undiscounted. Action values q vs. state values v. Exploration vs. exploitation: This is a trade-off. Many methods need exploration (covering behavior policies) for convergence. This is related to on s. off-policy learning. Synchronous vs. asynchronous updates: Are all states updated at once or one by one in some order?. Real vs. simulated experience: Are real experiences, simulations, or both used for updates?">
                <a:extLst>
                  <a:ext uri="{FF2B5EF4-FFF2-40B4-BE49-F238E27FC236}">
                    <a16:creationId xmlns:a16="http://schemas.microsoft.com/office/drawing/2014/main" id="{8CB60D31-9CD5-1596-21BF-AD897227AFBE}"/>
                  </a:ext>
                </a:extLst>
              </p:cNvPr>
              <p:cNvSpPr>
                <a:spLocks noGrp="1" noRot="1" noChangeAspect="1" noMove="1" noResize="1" noEditPoints="1" noAdjustHandles="1" noChangeArrowheads="1" noChangeShapeType="1" noTextEdit="1"/>
              </p:cNvSpPr>
              <p:nvPr>
                <p:ph idx="1"/>
              </p:nvPr>
            </p:nvSpPr>
            <p:spPr>
              <a:blipFill>
                <a:blip r:embed="rId2"/>
                <a:stretch>
                  <a:fillRect l="-696" t="-2551" b="-1276"/>
                </a:stretch>
              </a:blipFill>
            </p:spPr>
            <p:txBody>
              <a:bodyPr/>
              <a:lstStyle/>
              <a:p>
                <a:r>
                  <a:rPr lang="en-US">
                    <a:noFill/>
                  </a:rPr>
                  <a:t> </a:t>
                </a:r>
              </a:p>
            </p:txBody>
          </p:sp>
        </mc:Fallback>
      </mc:AlternateContent>
    </p:spTree>
    <p:extLst>
      <p:ext uri="{BB962C8B-B14F-4D97-AF65-F5344CB8AC3E}">
        <p14:creationId xmlns:p14="http://schemas.microsoft.com/office/powerpoint/2010/main" val="304771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7D7FF-0D60-8343-A797-3671E686ED24}"/>
              </a:ext>
            </a:extLst>
          </p:cNvPr>
          <p:cNvSpPr>
            <a:spLocks noGrp="1"/>
          </p:cNvSpPr>
          <p:nvPr>
            <p:ph type="title"/>
          </p:nvPr>
        </p:nvSpPr>
        <p:spPr/>
        <p:txBody>
          <a:bodyPr/>
          <a:lstStyle/>
          <a:p>
            <a:r>
              <a:rPr lang="en-US" dirty="0"/>
              <a:t>Relationship With Reflex Agents</a:t>
            </a:r>
          </a:p>
        </p:txBody>
      </p:sp>
      <p:sp>
        <p:nvSpPr>
          <p:cNvPr id="3" name="Content Placeholder 2">
            <a:extLst>
              <a:ext uri="{FF2B5EF4-FFF2-40B4-BE49-F238E27FC236}">
                <a16:creationId xmlns:a16="http://schemas.microsoft.com/office/drawing/2014/main" id="{9D419333-8620-3B90-7232-099721165507}"/>
              </a:ext>
            </a:extLst>
          </p:cNvPr>
          <p:cNvSpPr>
            <a:spLocks noGrp="1"/>
          </p:cNvSpPr>
          <p:nvPr>
            <p:ph idx="1"/>
          </p:nvPr>
        </p:nvSpPr>
        <p:spPr>
          <a:xfrm>
            <a:off x="838201" y="1397330"/>
            <a:ext cx="6252148" cy="4779633"/>
          </a:xfrm>
        </p:spPr>
        <p:txBody>
          <a:bodyPr>
            <a:normAutofit fontScale="55000" lnSpcReduction="20000"/>
          </a:bodyPr>
          <a:lstStyle/>
          <a:p>
            <a:r>
              <a:rPr lang="en-US" dirty="0"/>
              <a:t>Tabular methods create a policy that defines the action for each state.</a:t>
            </a:r>
          </a:p>
          <a:p>
            <a:r>
              <a:rPr lang="en-US" dirty="0"/>
              <a:t>We can implement this policy by a set of rules, one for each state.</a:t>
            </a:r>
          </a:p>
          <a:p>
            <a:r>
              <a:rPr lang="en-US" dirty="0"/>
              <a:t>The agent is </a:t>
            </a:r>
            <a:r>
              <a:rPr lang="en-US" b="1" dirty="0"/>
              <a:t>learning</a:t>
            </a:r>
            <a:r>
              <a:rPr lang="en-US" dirty="0"/>
              <a:t> because it improves the policy over time.</a:t>
            </a:r>
          </a:p>
          <a:p>
            <a:r>
              <a:rPr lang="en-US" dirty="0"/>
              <a:t>For episodic tasks, tabular RL implements a </a:t>
            </a:r>
            <a:r>
              <a:rPr lang="en-US" b="1" dirty="0"/>
              <a:t>learning</a:t>
            </a:r>
            <a:r>
              <a:rPr lang="en-US" dirty="0"/>
              <a:t> </a:t>
            </a:r>
            <a:r>
              <a:rPr lang="en-US" b="1" dirty="0"/>
              <a:t>reflex agent.</a:t>
            </a:r>
          </a:p>
          <a:p>
            <a:r>
              <a:rPr lang="en-US" dirty="0"/>
              <a:t>For continuous tasks, where the rewards express utility, we get a </a:t>
            </a:r>
            <a:r>
              <a:rPr lang="en-US" b="1" dirty="0"/>
              <a:t>learning</a:t>
            </a:r>
            <a:r>
              <a:rPr lang="en-US" dirty="0"/>
              <a:t> </a:t>
            </a:r>
            <a:r>
              <a:rPr lang="en-US" b="1" dirty="0"/>
              <a:t>utility-based agent</a:t>
            </a:r>
            <a:r>
              <a:rPr lang="en-US" dirty="0"/>
              <a:t>.</a:t>
            </a:r>
          </a:p>
          <a:p>
            <a:endParaRPr lang="en-US" b="1" dirty="0"/>
          </a:p>
          <a:p>
            <a:pPr marL="0" indent="0">
              <a:buNone/>
            </a:pPr>
            <a:r>
              <a:rPr lang="en-US" b="1" dirty="0"/>
              <a:t>Cases:</a:t>
            </a:r>
          </a:p>
          <a:p>
            <a:pPr marL="514350" indent="-514350">
              <a:buFont typeface="+mj-lt"/>
              <a:buAutoNum type="alphaLcParenR"/>
            </a:pPr>
            <a:r>
              <a:rPr lang="en-US" b="1" dirty="0"/>
              <a:t>Fully observable case:</a:t>
            </a:r>
          </a:p>
          <a:p>
            <a:pPr lvl="1"/>
            <a:r>
              <a:rPr lang="en-US" dirty="0"/>
              <a:t>DP uses the MDP for </a:t>
            </a:r>
            <a:r>
              <a:rPr lang="en-US" b="1" dirty="0"/>
              <a:t>planning</a:t>
            </a:r>
            <a:r>
              <a:rPr lang="en-US" dirty="0"/>
              <a:t> to create the optimal simple reflex agent.</a:t>
            </a:r>
          </a:p>
          <a:p>
            <a:pPr lvl="1"/>
            <a:r>
              <a:rPr lang="en-US" dirty="0"/>
              <a:t>Model-free RL </a:t>
            </a:r>
            <a:r>
              <a:rPr lang="en-US" b="1" dirty="0"/>
              <a:t>learns</a:t>
            </a:r>
            <a:r>
              <a:rPr lang="en-US" dirty="0"/>
              <a:t> a simple reflex agent.</a:t>
            </a:r>
          </a:p>
          <a:p>
            <a:pPr marL="514350" indent="-514350">
              <a:buFont typeface="+mj-lt"/>
              <a:buAutoNum type="alphaLcParenR"/>
            </a:pPr>
            <a:r>
              <a:rPr lang="en-US" b="1" dirty="0"/>
              <a:t>Partially observable case</a:t>
            </a:r>
            <a:r>
              <a:rPr lang="en-US" dirty="0"/>
              <a:t>: The agent constantly updates its agent state to approximate the environment state. The agent stores the agent state and uses it to decide on actions. It learns a </a:t>
            </a:r>
            <a:r>
              <a:rPr lang="en-US" b="1" dirty="0"/>
              <a:t>model-based reflex agent.</a:t>
            </a:r>
          </a:p>
        </p:txBody>
      </p:sp>
      <p:grpSp>
        <p:nvGrpSpPr>
          <p:cNvPr id="17" name="Group 16" descr="A general learning agent (Russell and Norvig): inside the agent, sensors feed the critic and the performance element. The critic compares what it senses against an external performance standard and sends feedback to the learning element. The learning element sends changes to the performance element and receives knowledge from it, and sets learning goals for the problem generator, which suggests exploratory actions to the performance element. The performance element drives the actuators, which act on the environment. Labels: Model-free RL as A Learning Agent; Source: Artificial Intelligence: A Modern Approach, Chapter 2; E.g., TD error; policy; Expected return; Update value func; Exploring behavior.">
            <a:extLst>
              <a:ext uri="{FF2B5EF4-FFF2-40B4-BE49-F238E27FC236}">
                <a16:creationId xmlns:a16="http://schemas.microsoft.com/office/drawing/2014/main" id="{828640CF-BEAF-75A2-FCE5-1B24B83B017E}"/>
              </a:ext>
            </a:extLst>
          </p:cNvPr>
          <p:cNvGrpSpPr/>
          <p:nvPr/>
        </p:nvGrpSpPr>
        <p:grpSpPr>
          <a:xfrm>
            <a:off x="7009998" y="1397330"/>
            <a:ext cx="4712275" cy="4015134"/>
            <a:chOff x="7009998" y="1397330"/>
            <a:chExt cx="4712275" cy="4015134"/>
          </a:xfrm>
        </p:grpSpPr>
        <p:pic>
          <p:nvPicPr>
            <p:cNvPr id="4" name="Picture 3" descr="A general learning agent (Russell and Norvig): inside the agent, sensors feed the critic and the performance element. The critic compares what it senses against an external performance standard and sends feedback to the learning element. The learning element sends changes to the performance element and receives knowledge from it, and sets learning goals for the problem generator, which suggests exploratory actions to the performance element. The performance element drives the actuators, which act on the environment.">
              <a:extLst>
                <a:ext uri="{FF2B5EF4-FFF2-40B4-BE49-F238E27FC236}">
                  <a16:creationId xmlns:a16="http://schemas.microsoft.com/office/drawing/2014/main" id="{05C53980-2E3E-DE8E-EA48-72A467EC0A2C}"/>
                </a:ext>
              </a:extLst>
            </p:cNvPr>
            <p:cNvPicPr>
              <a:picLocks noChangeAspect="1"/>
            </p:cNvPicPr>
            <p:nvPr/>
          </p:nvPicPr>
          <p:blipFill>
            <a:blip r:embed="rId2"/>
            <a:stretch>
              <a:fillRect/>
            </a:stretch>
          </p:blipFill>
          <p:spPr>
            <a:xfrm>
              <a:off x="7617457" y="2265575"/>
              <a:ext cx="4104816" cy="2831695"/>
            </a:xfrm>
            <a:prstGeom prst="rect">
              <a:avLst/>
            </a:prstGeom>
          </p:spPr>
        </p:pic>
        <p:sp>
          <p:nvSpPr>
            <p:cNvPr id="5" name="TextBox 4">
              <a:extLst>
                <a:ext uri="{FF2B5EF4-FFF2-40B4-BE49-F238E27FC236}">
                  <a16:creationId xmlns:a16="http://schemas.microsoft.com/office/drawing/2014/main" id="{1A1BA4D4-3742-5A38-083A-C33F0C5E6303}"/>
                </a:ext>
              </a:extLst>
            </p:cNvPr>
            <p:cNvSpPr txBox="1"/>
            <p:nvPr/>
          </p:nvSpPr>
          <p:spPr>
            <a:xfrm>
              <a:off x="8190166" y="1397330"/>
              <a:ext cx="2416029" cy="646331"/>
            </a:xfrm>
            <a:prstGeom prst="rect">
              <a:avLst/>
            </a:prstGeom>
            <a:noFill/>
          </p:spPr>
          <p:txBody>
            <a:bodyPr wrap="square" rtlCol="0">
              <a:spAutoFit/>
            </a:bodyPr>
            <a:lstStyle/>
            <a:p>
              <a:pPr algn="ctr"/>
              <a:r>
                <a:rPr lang="en-US" b="1" dirty="0"/>
                <a:t>Model-free RL as</a:t>
              </a:r>
              <a:br>
                <a:rPr lang="en-US" b="1" dirty="0"/>
              </a:br>
              <a:r>
                <a:rPr lang="en-US" b="1" dirty="0"/>
                <a:t> A Learning Agent</a:t>
              </a:r>
            </a:p>
          </p:txBody>
        </p:sp>
        <p:sp>
          <p:nvSpPr>
            <p:cNvPr id="6" name="TextBox 5">
              <a:extLst>
                <a:ext uri="{FF2B5EF4-FFF2-40B4-BE49-F238E27FC236}">
                  <a16:creationId xmlns:a16="http://schemas.microsoft.com/office/drawing/2014/main" id="{0534C613-BC3B-EC8F-625C-71F00396A41C}"/>
                </a:ext>
              </a:extLst>
            </p:cNvPr>
            <p:cNvSpPr txBox="1"/>
            <p:nvPr/>
          </p:nvSpPr>
          <p:spPr>
            <a:xfrm>
              <a:off x="7524925" y="5135465"/>
              <a:ext cx="4197348" cy="276999"/>
            </a:xfrm>
            <a:prstGeom prst="rect">
              <a:avLst/>
            </a:prstGeom>
            <a:noFill/>
          </p:spPr>
          <p:txBody>
            <a:bodyPr wrap="square" rtlCol="0">
              <a:spAutoFit/>
            </a:bodyPr>
            <a:lstStyle/>
            <a:p>
              <a:pPr algn="ctr"/>
              <a:r>
                <a:rPr lang="en-US" sz="1200" dirty="0"/>
                <a:t>Source: Artificial Intelligence: A Modern Approach, Chapter 2</a:t>
              </a:r>
            </a:p>
          </p:txBody>
        </p:sp>
        <p:sp>
          <p:nvSpPr>
            <p:cNvPr id="12" name="TextBox 11">
              <a:extLst>
                <a:ext uri="{FF2B5EF4-FFF2-40B4-BE49-F238E27FC236}">
                  <a16:creationId xmlns:a16="http://schemas.microsoft.com/office/drawing/2014/main" id="{7C4E5284-07B1-796A-FB24-F08E93A0FA77}"/>
                </a:ext>
              </a:extLst>
            </p:cNvPr>
            <p:cNvSpPr txBox="1"/>
            <p:nvPr/>
          </p:nvSpPr>
          <p:spPr>
            <a:xfrm>
              <a:off x="8579825" y="2982110"/>
              <a:ext cx="886376" cy="523220"/>
            </a:xfrm>
            <a:prstGeom prst="rect">
              <a:avLst/>
            </a:prstGeom>
            <a:noFill/>
          </p:spPr>
          <p:txBody>
            <a:bodyPr wrap="square" rtlCol="0">
              <a:spAutoFit/>
            </a:bodyPr>
            <a:lstStyle/>
            <a:p>
              <a:r>
                <a:rPr lang="en-US" sz="1400" b="1" dirty="0">
                  <a:solidFill>
                    <a:schemeClr val="accent3"/>
                  </a:solidFill>
                </a:rPr>
                <a:t>E.g., </a:t>
              </a:r>
              <a:br>
                <a:rPr lang="en-US" sz="1400" b="1" dirty="0">
                  <a:solidFill>
                    <a:schemeClr val="accent3"/>
                  </a:solidFill>
                </a:rPr>
              </a:br>
              <a:r>
                <a:rPr lang="en-US" sz="1400" b="1" dirty="0">
                  <a:solidFill>
                    <a:schemeClr val="accent3"/>
                  </a:solidFill>
                </a:rPr>
                <a:t>TD error</a:t>
              </a:r>
            </a:p>
          </p:txBody>
        </p:sp>
        <p:sp>
          <p:nvSpPr>
            <p:cNvPr id="13" name="Speech Bubble: Rectangle with Corners Rounded 12">
              <a:extLst>
                <a:ext uri="{FF2B5EF4-FFF2-40B4-BE49-F238E27FC236}">
                  <a16:creationId xmlns:a16="http://schemas.microsoft.com/office/drawing/2014/main" id="{1F1274E2-37F3-8CF3-654F-938B43186448}"/>
                </a:ext>
              </a:extLst>
            </p:cNvPr>
            <p:cNvSpPr/>
            <p:nvPr/>
          </p:nvSpPr>
          <p:spPr>
            <a:xfrm>
              <a:off x="10298852" y="3243720"/>
              <a:ext cx="750728" cy="251537"/>
            </a:xfrm>
            <a:prstGeom prst="wedgeRoundRectCallout">
              <a:avLst>
                <a:gd name="adj1" fmla="val -34810"/>
                <a:gd name="adj2" fmla="val 10421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policy</a:t>
              </a:r>
            </a:p>
          </p:txBody>
        </p:sp>
        <p:sp>
          <p:nvSpPr>
            <p:cNvPr id="14" name="Speech Bubble: Rectangle with Corners Rounded 13">
              <a:extLst>
                <a:ext uri="{FF2B5EF4-FFF2-40B4-BE49-F238E27FC236}">
                  <a16:creationId xmlns:a16="http://schemas.microsoft.com/office/drawing/2014/main" id="{E4C0C03E-F032-E997-1EFB-5027E8BCCECE}"/>
                </a:ext>
              </a:extLst>
            </p:cNvPr>
            <p:cNvSpPr/>
            <p:nvPr/>
          </p:nvSpPr>
          <p:spPr>
            <a:xfrm>
              <a:off x="9398181" y="2146936"/>
              <a:ext cx="1651399" cy="266841"/>
            </a:xfrm>
            <a:prstGeom prst="wedgeRoundRectCallout">
              <a:avLst>
                <a:gd name="adj1" fmla="val -60680"/>
                <a:gd name="adj2" fmla="val 31187"/>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Expected return</a:t>
              </a:r>
            </a:p>
          </p:txBody>
        </p:sp>
        <p:sp>
          <p:nvSpPr>
            <p:cNvPr id="15" name="Speech Bubble: Rectangle with Corners Rounded 14">
              <a:extLst>
                <a:ext uri="{FF2B5EF4-FFF2-40B4-BE49-F238E27FC236}">
                  <a16:creationId xmlns:a16="http://schemas.microsoft.com/office/drawing/2014/main" id="{21CB411E-164D-2FED-70AE-F42BEED7AEE3}"/>
                </a:ext>
              </a:extLst>
            </p:cNvPr>
            <p:cNvSpPr/>
            <p:nvPr/>
          </p:nvSpPr>
          <p:spPr>
            <a:xfrm>
              <a:off x="7009998" y="3843711"/>
              <a:ext cx="1122387" cy="421489"/>
            </a:xfrm>
            <a:prstGeom prst="wedgeRoundRectCallout">
              <a:avLst>
                <a:gd name="adj1" fmla="val 66862"/>
                <a:gd name="adj2" fmla="val -70173"/>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Update value </a:t>
              </a:r>
              <a:r>
                <a:rPr lang="en-US" sz="1400" dirty="0" err="1"/>
                <a:t>func</a:t>
              </a:r>
              <a:r>
                <a:rPr lang="en-US" sz="1400" dirty="0"/>
                <a:t>.</a:t>
              </a:r>
            </a:p>
          </p:txBody>
        </p:sp>
        <p:sp>
          <p:nvSpPr>
            <p:cNvPr id="16" name="Speech Bubble: Rectangle with Corners Rounded 15">
              <a:extLst>
                <a:ext uri="{FF2B5EF4-FFF2-40B4-BE49-F238E27FC236}">
                  <a16:creationId xmlns:a16="http://schemas.microsoft.com/office/drawing/2014/main" id="{743276A6-B236-4944-FAFA-86936D5013EA}"/>
                </a:ext>
              </a:extLst>
            </p:cNvPr>
            <p:cNvSpPr/>
            <p:nvPr/>
          </p:nvSpPr>
          <p:spPr>
            <a:xfrm>
              <a:off x="7009998" y="4303395"/>
              <a:ext cx="1122387" cy="421489"/>
            </a:xfrm>
            <a:prstGeom prst="wedgeRoundRectCallout">
              <a:avLst>
                <a:gd name="adj1" fmla="val 68197"/>
                <a:gd name="adj2" fmla="val 95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Exploring behavior</a:t>
              </a:r>
            </a:p>
          </p:txBody>
        </p:sp>
      </p:grpSp>
    </p:spTree>
    <p:extLst>
      <p:ext uri="{BB962C8B-B14F-4D97-AF65-F5344CB8AC3E}">
        <p14:creationId xmlns:p14="http://schemas.microsoft.com/office/powerpoint/2010/main" val="343920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A6DFC-1DF7-340A-8A49-67E7A508EC3C}"/>
              </a:ext>
            </a:extLst>
          </p:cNvPr>
          <p:cNvSpPr>
            <a:spLocks noGrp="1"/>
          </p:cNvSpPr>
          <p:nvPr>
            <p:ph type="title"/>
          </p:nvPr>
        </p:nvSpPr>
        <p:spPr/>
        <p:txBody>
          <a:bodyPr/>
          <a:lstStyle/>
          <a:p>
            <a:r>
              <a:rPr lang="en-US" dirty="0"/>
              <a:t>Issues with Tabular Methods</a:t>
            </a:r>
          </a:p>
        </p:txBody>
      </p:sp>
      <mc:AlternateContent xmlns:mc="http://schemas.openxmlformats.org/markup-compatibility/2006" xmlns:a14="http://schemas.microsoft.com/office/drawing/2010/main">
        <mc:Choice Requires="a14">
          <p:sp>
            <p:nvSpPr>
              <p:cNvPr id="3" name="Content Placeholder 2" descr="Tables need a lot of space. A complete table with Q -values has size O (the absolute value of S times the absolute value of A) The state space is typically extremely large, or even infinite, in continuous spaces. Two states may be very similar and therefore should have similar Q -values. Tabular methods cannot generalize across states since each table entry is independent. We need a lot of data to estimate all entries. In the next part of this course, we will talk about approximate solution methods to deal with these issues">
                <a:extLst>
                  <a:ext uri="{FF2B5EF4-FFF2-40B4-BE49-F238E27FC236}">
                    <a16:creationId xmlns:a16="http://schemas.microsoft.com/office/drawing/2014/main" id="{60A46212-D3F8-9478-4414-6401E13D0EB2}"/>
                  </a:ext>
                </a:extLst>
              </p:cNvPr>
              <p:cNvSpPr>
                <a:spLocks noGrp="1"/>
              </p:cNvSpPr>
              <p:nvPr>
                <p:ph idx="1"/>
              </p:nvPr>
            </p:nvSpPr>
            <p:spPr/>
            <p:txBody>
              <a:bodyPr>
                <a:normAutofit fontScale="92500" lnSpcReduction="10000"/>
              </a:bodyPr>
              <a:lstStyle/>
              <a:p>
                <a:pPr marL="514350" indent="-514350">
                  <a:spcBef>
                    <a:spcPts val="0"/>
                  </a:spcBef>
                  <a:buFont typeface="+mj-lt"/>
                  <a:buAutoNum type="arabicPeriod"/>
                </a:pPr>
                <a:r>
                  <a:rPr lang="en-US" dirty="0"/>
                  <a:t>Tables need a lot of </a:t>
                </a:r>
                <a:r>
                  <a:rPr lang="en-US" b="1" dirty="0"/>
                  <a:t>space</a:t>
                </a:r>
                <a:r>
                  <a:rPr lang="en-US" dirty="0"/>
                  <a:t>. A complete table with </a:t>
                </a:r>
                <a14:m>
                  <m:oMath xmlns:m="http://schemas.openxmlformats.org/officeDocument/2006/math">
                    <m:r>
                      <a:rPr lang="en-US" b="0" i="1" dirty="0" smtClean="0">
                        <a:latin typeface="Cambria Math" panose="02040503050406030204" pitchFamily="18" charset="0"/>
                      </a:rPr>
                      <m:t>𝑄</m:t>
                    </m:r>
                  </m:oMath>
                </a14:m>
                <a:r>
                  <a:rPr lang="en-US" dirty="0"/>
                  <a:t>-values has size</a:t>
                </a:r>
                <a:br>
                  <a:rPr lang="en-US" dirty="0"/>
                </a:b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𝒮</m:t>
                            </m:r>
                          </m:e>
                        </m:d>
                        <m:r>
                          <m:rPr>
                            <m:nor/>
                          </m:rPr>
                          <a:rPr lang="en-US" i="0" dirty="0"/>
                          <m:t> 	</m:t>
                        </m:r>
                        <m:r>
                          <a:rPr lang="en-US" b="0" i="1" dirty="0" smtClean="0">
                            <a:latin typeface="Cambria Math" panose="02040503050406030204" pitchFamily="18" charset="0"/>
                          </a:rPr>
                          <m:t>×</m:t>
                        </m:r>
                        <m:d>
                          <m:dPr>
                            <m:begChr m:val="|"/>
                            <m:endChr m:val="|"/>
                            <m:ctrlPr>
                              <a:rPr lang="en-US" i="1" dirty="0">
                                <a:latin typeface="Cambria Math" panose="02040503050406030204" pitchFamily="18" charset="0"/>
                                <a:ea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𝒜</m:t>
                            </m:r>
                          </m:e>
                        </m:d>
                      </m:e>
                    </m:d>
                  </m:oMath>
                </a14:m>
                <a:br>
                  <a:rPr lang="en-US" dirty="0"/>
                </a:br>
                <a:r>
                  <a:rPr lang="en-US" dirty="0"/>
                  <a:t>The state space is typically extremely large, or even infinite, in continuous spaces.</a:t>
                </a:r>
              </a:p>
              <a:p>
                <a:pPr marL="514350" indent="-514350">
                  <a:spcBef>
                    <a:spcPts val="0"/>
                  </a:spcBef>
                  <a:buFont typeface="+mj-lt"/>
                  <a:buAutoNum type="arabicPeriod"/>
                </a:pPr>
                <a:endParaRPr lang="en-US" dirty="0"/>
              </a:p>
              <a:p>
                <a:pPr marL="514350" indent="-514350">
                  <a:spcBef>
                    <a:spcPts val="0"/>
                  </a:spcBef>
                  <a:buFont typeface="+mj-lt"/>
                  <a:buAutoNum type="arabicPeriod"/>
                </a:pPr>
                <a:endParaRPr lang="en-US" dirty="0"/>
              </a:p>
              <a:p>
                <a:pPr marL="514350" indent="-514350">
                  <a:spcBef>
                    <a:spcPts val="0"/>
                  </a:spcBef>
                  <a:buFont typeface="+mj-lt"/>
                  <a:buAutoNum type="arabicPeriod"/>
                </a:pPr>
                <a:r>
                  <a:rPr lang="en-US" dirty="0"/>
                  <a:t>Two states may be very similar and therefore should have similar </a:t>
                </a:r>
                <a14:m>
                  <m:oMath xmlns:m="http://schemas.openxmlformats.org/officeDocument/2006/math">
                    <m:r>
                      <a:rPr lang="en-US" b="0" i="1" dirty="0" smtClean="0">
                        <a:latin typeface="Cambria Math" panose="02040503050406030204" pitchFamily="18" charset="0"/>
                      </a:rPr>
                      <m:t>𝑄</m:t>
                    </m:r>
                  </m:oMath>
                </a14:m>
                <a:r>
                  <a:rPr lang="en-US" dirty="0"/>
                  <a:t>-values. Tabular methods </a:t>
                </a:r>
                <a:r>
                  <a:rPr lang="en-US" b="1" dirty="0"/>
                  <a:t>cannot generalize across states</a:t>
                </a:r>
                <a:r>
                  <a:rPr lang="en-US" dirty="0"/>
                  <a:t> since each table entry is independent. We </a:t>
                </a:r>
                <a:r>
                  <a:rPr lang="en-US" b="1" dirty="0"/>
                  <a:t>need a lot of data </a:t>
                </a:r>
                <a:r>
                  <a:rPr lang="en-US" dirty="0"/>
                  <a:t>to estimate all entries.</a:t>
                </a:r>
              </a:p>
              <a:p>
                <a:pPr marL="0" indent="0">
                  <a:spcBef>
                    <a:spcPts val="0"/>
                  </a:spcBef>
                  <a:buNone/>
                </a:pPr>
                <a:endParaRPr lang="en-US" dirty="0"/>
              </a:p>
              <a:p>
                <a:pPr marL="514350" indent="-514350">
                  <a:spcBef>
                    <a:spcPts val="0"/>
                  </a:spcBef>
                  <a:buFont typeface="+mj-lt"/>
                  <a:buAutoNum type="arabicPeriod"/>
                </a:pPr>
                <a:endParaRPr lang="en-US" dirty="0"/>
              </a:p>
              <a:p>
                <a:pPr marL="0" indent="0">
                  <a:spcBef>
                    <a:spcPts val="0"/>
                  </a:spcBef>
                  <a:buNone/>
                </a:pPr>
                <a:r>
                  <a:rPr lang="en-US" dirty="0"/>
                  <a:t>In the next part of this course, we will talk about </a:t>
                </a:r>
                <a:r>
                  <a:rPr lang="en-US" b="1" dirty="0"/>
                  <a:t>approximate solution methods </a:t>
                </a:r>
                <a:r>
                  <a:rPr lang="en-US" dirty="0"/>
                  <a:t>to deal with these issues.</a:t>
                </a:r>
              </a:p>
            </p:txBody>
          </p:sp>
        </mc:Choice>
        <mc:Fallback xmlns="">
          <p:sp>
            <p:nvSpPr>
              <p:cNvPr id="3" name="Content Placeholder 2" descr="Tables need a lot of space. A complete table with Q -values has size O (the absolute value of S times the absolute value of A) The state space is typically extremely large, or even infinite, in continuous spaces. Two states may be very similar and therefore should have similar Q -values. Tabular methods cannot generalize across states since each table entry is independent. We need a lot of data to estimate all entries. In the next part of this course, we will talk about approximate solution methods to deal with these issues">
                <a:extLst>
                  <a:ext uri="{FF2B5EF4-FFF2-40B4-BE49-F238E27FC236}">
                    <a16:creationId xmlns:a16="http://schemas.microsoft.com/office/drawing/2014/main" id="{60A46212-D3F8-9478-4414-6401E13D0EB2}"/>
                  </a:ext>
                </a:extLst>
              </p:cNvPr>
              <p:cNvSpPr>
                <a:spLocks noGrp="1" noRot="1" noChangeAspect="1" noMove="1" noResize="1" noEditPoints="1" noAdjustHandles="1" noChangeArrowheads="1" noChangeShapeType="1" noTextEdit="1"/>
              </p:cNvSpPr>
              <p:nvPr>
                <p:ph idx="1"/>
              </p:nvPr>
            </p:nvSpPr>
            <p:spPr>
              <a:blipFill>
                <a:blip r:embed="rId2"/>
                <a:stretch>
                  <a:fillRect l="-1101" t="-2679"/>
                </a:stretch>
              </a:blipFill>
            </p:spPr>
            <p:txBody>
              <a:bodyPr/>
              <a:lstStyle/>
              <a:p>
                <a:r>
                  <a:rPr lang="en-US">
                    <a:noFill/>
                  </a:rPr>
                  <a:t> </a:t>
                </a:r>
              </a:p>
            </p:txBody>
          </p:sp>
        </mc:Fallback>
      </mc:AlternateContent>
    </p:spTree>
    <p:extLst>
      <p:ext uri="{BB962C8B-B14F-4D97-AF65-F5344CB8AC3E}">
        <p14:creationId xmlns:p14="http://schemas.microsoft.com/office/powerpoint/2010/main" val="189496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9077</TotalTime>
  <Words>2305</Words>
  <Application>Microsoft Macintosh PowerPoint</Application>
  <PresentationFormat>Widescreen</PresentationFormat>
  <Paragraphs>263</Paragraphs>
  <Slides>24</Slides>
  <Notes>0</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Calibri</vt:lpstr>
      <vt:lpstr>Cambria Math</vt:lpstr>
      <vt:lpstr>Office Theme</vt:lpstr>
      <vt:lpstr>Reinforcement Learning  Planning and Learning with Tabular Methods Sutton/Barto* Chapter 8</vt:lpstr>
      <vt:lpstr>Topics of this Course</vt:lpstr>
      <vt:lpstr>Summary of Notation</vt:lpstr>
      <vt:lpstr>Planning vs. Learning</vt:lpstr>
      <vt:lpstr>Planning vs. Learning </vt:lpstr>
      <vt:lpstr>What is a Model</vt:lpstr>
      <vt:lpstr>Dyna</vt:lpstr>
      <vt:lpstr>Integrating Planning, Acting, and Learning</vt:lpstr>
      <vt:lpstr>Alg. Tabular Dyna-Q</vt:lpstr>
      <vt:lpstr>The Effect of Planning</vt:lpstr>
      <vt:lpstr>Sampling</vt:lpstr>
      <vt:lpstr>Expected vs. Sample Updates</vt:lpstr>
      <vt:lpstr>Heuristic Search and  Rollout Algorithms</vt:lpstr>
      <vt:lpstr>Option 1: Heuristic Search</vt:lpstr>
      <vt:lpstr>Option 2: Rollout Algorithms</vt:lpstr>
      <vt:lpstr>Rollout Algorithm: Monte Carlo Tree Search</vt:lpstr>
      <vt:lpstr>What you Should Know</vt:lpstr>
      <vt:lpstr>Summary of Part I:  Tabular Solution Methods</vt:lpstr>
      <vt:lpstr>Common Ideas</vt:lpstr>
      <vt:lpstr>Policy Evaluation: Update Depth vs. Update Width</vt:lpstr>
      <vt:lpstr>On-Policy vs. Off-Policy</vt:lpstr>
      <vt:lpstr>Other Dimensions</vt:lpstr>
      <vt:lpstr>Relationship With Reflex Agents</vt:lpstr>
      <vt:lpstr>Issues with Tabular Methods</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Munoth, Prerna</cp:lastModifiedBy>
  <cp:revision>177</cp:revision>
  <dcterms:created xsi:type="dcterms:W3CDTF">2025-09-08T14:44:49Z</dcterms:created>
  <dcterms:modified xsi:type="dcterms:W3CDTF">2026-10-15T22:50:16Z</dcterms:modified>
</cp:coreProperties>
</file>