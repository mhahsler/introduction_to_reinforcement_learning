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80" r:id="rId4"/>
    <p:sldId id="393" r:id="rId5"/>
    <p:sldId id="385" r:id="rId6"/>
    <p:sldId id="386" r:id="rId7"/>
    <p:sldId id="392" r:id="rId8"/>
    <p:sldId id="388" r:id="rId9"/>
    <p:sldId id="389" r:id="rId10"/>
    <p:sldId id="390" r:id="rId11"/>
    <p:sldId id="394" r:id="rId12"/>
    <p:sldId id="391" r:id="rId13"/>
    <p:sldId id="396" r:id="rId14"/>
    <p:sldId id="398" r:id="rId15"/>
    <p:sldId id="399" r:id="rId16"/>
    <p:sldId id="400" r:id="rId17"/>
    <p:sldId id="402" r:id="rId18"/>
    <p:sldId id="403" r:id="rId19"/>
    <p:sldId id="404" r:id="rId20"/>
    <p:sldId id="405" r:id="rId21"/>
    <p:sldId id="406" r:id="rId22"/>
    <p:sldId id="407" r:id="rId23"/>
    <p:sldId id="479" r:id="rId24"/>
    <p:sldId id="40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80"/>
          </p14:sldIdLst>
        </p14:section>
        <p14:section name="Introduction" id="{175B7E81-9252-44C4-987D-BA1F14A88A5B}">
          <p14:sldIdLst>
            <p14:sldId id="393"/>
            <p14:sldId id="385"/>
            <p14:sldId id="386"/>
          </p14:sldIdLst>
        </p14:section>
        <p14:section name="Dyna" id="{75F464EC-0F8E-4CC2-8476-91103851FE06}">
          <p14:sldIdLst>
            <p14:sldId id="392"/>
            <p14:sldId id="388"/>
            <p14:sldId id="389"/>
            <p14:sldId id="390"/>
          </p14:sldIdLst>
        </p14:section>
        <p14:section name="Sampling" id="{9D014FB2-5D5A-464A-8C19-F3F7FC3F9627}">
          <p14:sldIdLst>
            <p14:sldId id="394"/>
            <p14:sldId id="391"/>
            <p14:sldId id="396"/>
            <p14:sldId id="398"/>
            <p14:sldId id="399"/>
            <p14:sldId id="400"/>
            <p14:sldId id="402"/>
          </p14:sldIdLst>
        </p14:section>
        <p14:section name="Summary of Tabular Solution Methods" id="{F4B514AC-6B74-4B49-94E0-2924F11DBE14}">
          <p14:sldIdLst>
            <p14:sldId id="403"/>
            <p14:sldId id="404"/>
            <p14:sldId id="405"/>
            <p14:sldId id="406"/>
            <p14:sldId id="407"/>
            <p14:sldId id="479"/>
            <p14:sldId id="4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Planning and Learning with Tabular Methods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8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b="1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 vs. 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3A1BA-CA5C-693B-FB3E-C368A66D7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 vs. Learning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AC215C-7DA6-48E2-7A2B-214A4A527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47322"/>
            <a:ext cx="5157787" cy="494791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86ED9-B3B0-4E7E-C9D8-36D605A9CE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142114"/>
            <a:ext cx="5157787" cy="1325563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77500" lnSpcReduction="20000"/>
          </a:bodyPr>
          <a:lstStyle/>
          <a:p>
            <a:r>
              <a:rPr lang="en-US" dirty="0"/>
              <a:t>Requires knowledge of the MDP model.</a:t>
            </a:r>
          </a:p>
          <a:p>
            <a:r>
              <a:rPr lang="en-US" dirty="0"/>
              <a:t>Methods: Dynamic Programming, heuristic search</a:t>
            </a:r>
          </a:p>
          <a:p>
            <a:r>
              <a:rPr lang="en-US" dirty="0"/>
              <a:t>Use the known model to </a:t>
            </a:r>
            <a:r>
              <a:rPr lang="en-US" b="1" dirty="0"/>
              <a:t>plan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7E8A69-3C51-CDFE-7A41-514AB48A4C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47322"/>
            <a:ext cx="5183188" cy="49479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9DFBC9-5C98-B059-76C6-7C39C8A8AE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142114"/>
            <a:ext cx="5183188" cy="1325563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77500" lnSpcReduction="20000"/>
          </a:bodyPr>
          <a:lstStyle/>
          <a:p>
            <a:r>
              <a:rPr lang="en-US" dirty="0"/>
              <a:t>Model is unknown.</a:t>
            </a:r>
          </a:p>
          <a:p>
            <a:r>
              <a:rPr lang="en-US" dirty="0"/>
              <a:t>Methods: MC, TD</a:t>
            </a:r>
          </a:p>
          <a:p>
            <a:r>
              <a:rPr lang="en-US" b="1" dirty="0"/>
              <a:t>Learn</a:t>
            </a:r>
            <a:r>
              <a:rPr lang="en-US" dirty="0"/>
              <a:t> from interactions with the environment (sampling).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7549527-8988-50D5-4FD2-A4EACAA47452}"/>
              </a:ext>
            </a:extLst>
          </p:cNvPr>
          <p:cNvSpPr txBox="1">
            <a:spLocks/>
          </p:cNvSpPr>
          <p:nvPr/>
        </p:nvSpPr>
        <p:spPr>
          <a:xfrm>
            <a:off x="839788" y="4788384"/>
            <a:ext cx="10515600" cy="12547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All methods do the following:</a:t>
            </a:r>
          </a:p>
          <a:p>
            <a:pPr lvl="1"/>
            <a:r>
              <a:rPr lang="en-US" b="1" dirty="0"/>
              <a:t>Policy evaluation </a:t>
            </a:r>
            <a:r>
              <a:rPr lang="en-US" dirty="0"/>
              <a:t>(prediction): Compute a value function/policy.</a:t>
            </a:r>
          </a:p>
          <a:p>
            <a:pPr lvl="1"/>
            <a:r>
              <a:rPr lang="en-US" b="1" dirty="0"/>
              <a:t>Look ahead </a:t>
            </a:r>
            <a:r>
              <a:rPr lang="en-US" dirty="0"/>
              <a:t>to future events (rewards, states, actions) and compute a backed-up value to update an approximate value function.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82F68D9-8E69-A250-D35E-1231A1F5B17C}"/>
              </a:ext>
            </a:extLst>
          </p:cNvPr>
          <p:cNvGrpSpPr/>
          <p:nvPr/>
        </p:nvGrpSpPr>
        <p:grpSpPr>
          <a:xfrm>
            <a:off x="3118262" y="3594779"/>
            <a:ext cx="5758626" cy="806207"/>
            <a:chOff x="3118262" y="3594779"/>
            <a:chExt cx="5758626" cy="80620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4675E7B-A0EA-C8F4-0666-CCA5988ACAC1}"/>
                </a:ext>
              </a:extLst>
            </p:cNvPr>
            <p:cNvSpPr txBox="1"/>
            <p:nvPr/>
          </p:nvSpPr>
          <p:spPr>
            <a:xfrm>
              <a:off x="3118262" y="4031654"/>
              <a:ext cx="5758626" cy="369332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+ use the MDP as a simulation model for Model-free RL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347AD2C-46E6-E6D8-9F53-949CED70E983}"/>
                </a:ext>
              </a:extLst>
            </p:cNvPr>
            <p:cNvCxnSpPr/>
            <p:nvPr/>
          </p:nvCxnSpPr>
          <p:spPr>
            <a:xfrm>
              <a:off x="3762302" y="3594779"/>
              <a:ext cx="711976" cy="38390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C91D920-DB4A-1FD1-3DF5-018FDCA5C2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05748" y="3660782"/>
              <a:ext cx="777122" cy="3109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909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E63D3F0-03CF-B1AF-8CA4-243B27B69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D1E8B6AB-5A2F-3677-9E00-F7B3444781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438078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Model of the environment</a:t>
                </a:r>
                <a:r>
                  <a:rPr lang="en-US" dirty="0"/>
                  <a:t>: Anything the agent can use to predict the outcome of actions (e.g., next state and reward).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Models can be:</a:t>
                </a:r>
              </a:p>
              <a:p>
                <a:pPr lvl="1"/>
                <a:r>
                  <a:rPr lang="en-US" b="1" dirty="0"/>
                  <a:t>Distribution models</a:t>
                </a:r>
                <a:r>
                  <a:rPr lang="en-US" dirty="0"/>
                  <a:t>: Specify the complete distribution of all possible outcomes.</a:t>
                </a:r>
              </a:p>
              <a:p>
                <a:pPr lvl="2"/>
                <a:r>
                  <a:rPr lang="en-US" dirty="0"/>
                  <a:t>For finite MDPs this is the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Used by dynamic programming methods for planning.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r>
                  <a:rPr lang="en-US" b="1" dirty="0"/>
                  <a:t>Sample models</a:t>
                </a:r>
                <a:r>
                  <a:rPr lang="en-US" dirty="0"/>
                  <a:t>: Simulate the real environment by producing one outcome for an action. The outcome needs to be a valid sample from the distribution model.</a:t>
                </a:r>
              </a:p>
              <a:p>
                <a:pPr lvl="2"/>
                <a:r>
                  <a:rPr lang="en-US" dirty="0"/>
                  <a:t>Are typically easier to create.</a:t>
                </a:r>
              </a:p>
              <a:p>
                <a:pPr lvl="2"/>
                <a:r>
                  <a:rPr lang="en-US" dirty="0"/>
                  <a:t>Can be used for MC and TD methods for learning. This is called </a:t>
                </a:r>
                <a:r>
                  <a:rPr lang="en-US" b="1" dirty="0"/>
                  <a:t>trajectory sampling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The real environment can be seen as a physically represented model with sequential sampling access.</a:t>
                </a:r>
              </a:p>
              <a:p>
                <a:pPr lvl="1"/>
                <a:r>
                  <a:rPr lang="en-US" dirty="0"/>
                  <a:t>Model-free methods often use sample models when accessing the real environment is slow, expensive or dangerous.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D1E8B6AB-5A2F-3677-9E00-F7B3444781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438078"/>
              </a:xfrm>
              <a:blipFill>
                <a:blip r:embed="rId2"/>
                <a:stretch>
                  <a:fillRect l="-638" t="-2335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97B3B91-268C-F9DD-CBA0-C6797B3B55BA}"/>
              </a:ext>
            </a:extLst>
          </p:cNvPr>
          <p:cNvSpPr txBox="1"/>
          <p:nvPr/>
        </p:nvSpPr>
        <p:spPr>
          <a:xfrm>
            <a:off x="3638986" y="5988972"/>
            <a:ext cx="4914028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Can we integrate learning and planning?</a:t>
            </a:r>
          </a:p>
        </p:txBody>
      </p:sp>
    </p:spTree>
    <p:extLst>
      <p:ext uri="{BB962C8B-B14F-4D97-AF65-F5344CB8AC3E}">
        <p14:creationId xmlns:p14="http://schemas.microsoft.com/office/powerpoint/2010/main" val="25428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A3EEFEA-0015-8BCC-C791-B934FAEDB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BC8F79-3E91-A277-FC6D-5703A7729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Integrating Planning, Acting, and Learning</a:t>
            </a:r>
          </a:p>
        </p:txBody>
      </p:sp>
    </p:spTree>
    <p:extLst>
      <p:ext uri="{BB962C8B-B14F-4D97-AF65-F5344CB8AC3E}">
        <p14:creationId xmlns:p14="http://schemas.microsoft.com/office/powerpoint/2010/main" val="2665413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EC5060-ED9D-A7CB-C624-3FD02CBD1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8961" y="1720207"/>
            <a:ext cx="4326058" cy="34175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596584-F4DC-4CCF-DAD5-C0800840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Integrating Planning, Acting, and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2B9BF-6244-6E3F-DF65-DFA52504F8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2"/>
                <a:ext cx="6895810" cy="448693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Direct RL is model-free Learning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Use sampled experience directly to </a:t>
                </a:r>
                <a:r>
                  <a:rPr lang="en-US" b="1" dirty="0"/>
                  <a:t>improve the value function/policy</a:t>
                </a:r>
                <a:r>
                  <a:rPr lang="en-US" dirty="0"/>
                  <a:t>. E.g., via one-step Q-learning.</a:t>
                </a:r>
              </a:p>
              <a:p>
                <a:endParaRPr lang="en-US" dirty="0"/>
              </a:p>
              <a:p>
                <a:r>
                  <a:rPr lang="en-US" b="1" dirty="0"/>
                  <a:t>Model Learning and Planning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Real experience is also used to </a:t>
                </a:r>
                <a:r>
                  <a:rPr lang="en-US" b="1" dirty="0"/>
                  <a:t>learn a model</a:t>
                </a:r>
                <a:r>
                  <a:rPr lang="en-US" dirty="0"/>
                  <a:t>. E.g., by recording for each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to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model can be used for </a:t>
                </a:r>
                <a:r>
                  <a:rPr lang="en-US" b="1" dirty="0"/>
                  <a:t>planning</a:t>
                </a:r>
                <a:r>
                  <a:rPr lang="en-US" dirty="0"/>
                  <a:t> to improve the value function/policy. E.g., by sampling from the model to update the Q-values. 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Advantage</a:t>
                </a:r>
                <a:r>
                  <a:rPr lang="en-US" dirty="0"/>
                  <a:t>: Model learning and planning makes the approach much more sample efficient. Experience is not just used once but retained in the model.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2B9BF-6244-6E3F-DF65-DFA52504F8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2"/>
                <a:ext cx="6895810" cy="4486938"/>
              </a:xfrm>
              <a:blipFill>
                <a:blip r:embed="rId3"/>
                <a:stretch>
                  <a:fillRect l="-1325" t="-2989" r="-1590" b="-25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190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5BE67-97CC-F251-532A-623A2647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Dyna-Q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592F7C4-E638-E7F0-C86E-4207F5C5A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8343" y="399914"/>
            <a:ext cx="3977112" cy="314191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4937AB9C-6AA5-A7EB-5688-445A6D78D962}"/>
              </a:ext>
            </a:extLst>
          </p:cNvPr>
          <p:cNvGrpSpPr>
            <a:grpSpLocks noChangeAspect="1"/>
          </p:cNvGrpSpPr>
          <p:nvPr/>
        </p:nvGrpSpPr>
        <p:grpSpPr>
          <a:xfrm>
            <a:off x="693614" y="2680969"/>
            <a:ext cx="10270766" cy="3558915"/>
            <a:chOff x="1027761" y="1690688"/>
            <a:chExt cx="12705267" cy="455097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CB7BD3E-BFBF-D93E-B3A8-87CE35EB3E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761" y="1690688"/>
              <a:ext cx="9799864" cy="4550975"/>
            </a:xfrm>
            <a:prstGeom prst="rect">
              <a:avLst/>
            </a:prstGeom>
          </p:spPr>
        </p:pic>
        <p:sp>
          <p:nvSpPr>
            <p:cNvPr id="8" name="Speech Bubble: Rectangle with Corners Rounded 7">
              <a:extLst>
                <a:ext uri="{FF2B5EF4-FFF2-40B4-BE49-F238E27FC236}">
                  <a16:creationId xmlns:a16="http://schemas.microsoft.com/office/drawing/2014/main" id="{43AABACC-352B-D6F3-1630-3C22810331E2}"/>
                </a:ext>
              </a:extLst>
            </p:cNvPr>
            <p:cNvSpPr/>
            <p:nvPr/>
          </p:nvSpPr>
          <p:spPr>
            <a:xfrm>
              <a:off x="8995399" y="3502535"/>
              <a:ext cx="2745523" cy="271041"/>
            </a:xfrm>
            <a:prstGeom prst="wedgeRoundRectCallout">
              <a:avLst>
                <a:gd name="adj1" fmla="val -76395"/>
                <a:gd name="adj2" fmla="val 143446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Direct RL: Q-Learning</a:t>
              </a:r>
            </a:p>
          </p:txBody>
        </p:sp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34714BA1-C236-3E36-3CE9-E93B07A696BD}"/>
                </a:ext>
              </a:extLst>
            </p:cNvPr>
            <p:cNvSpPr/>
            <p:nvPr/>
          </p:nvSpPr>
          <p:spPr>
            <a:xfrm>
              <a:off x="8769872" y="4653329"/>
              <a:ext cx="416009" cy="125886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168B176-252B-01A8-D5CF-A6F29DF4DCE4}"/>
                </a:ext>
              </a:extLst>
            </p:cNvPr>
            <p:cNvSpPr txBox="1"/>
            <p:nvPr/>
          </p:nvSpPr>
          <p:spPr>
            <a:xfrm>
              <a:off x="9233616" y="5066294"/>
              <a:ext cx="4499412" cy="43292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/>
                <a:t>Improve Q using the model (Planning)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8DF5D581-CEB0-AD06-59A9-C85B97349AB2}"/>
                  </a:ext>
                </a:extLst>
              </p:cNvPr>
              <p:cNvSpPr/>
              <p:nvPr/>
            </p:nvSpPr>
            <p:spPr>
              <a:xfrm>
                <a:off x="7134545" y="4567464"/>
                <a:ext cx="3419445" cy="338553"/>
              </a:xfrm>
              <a:prstGeom prst="wedgeRoundRectCallout">
                <a:avLst>
                  <a:gd name="adj1" fmla="val -57067"/>
                  <a:gd name="adj2" fmla="val -417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Model learning: learn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8DF5D581-CEB0-AD06-59A9-C85B97349A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4545" y="4567464"/>
                <a:ext cx="3419445" cy="338553"/>
              </a:xfrm>
              <a:prstGeom prst="wedgeRoundRectCallout">
                <a:avLst>
                  <a:gd name="adj1" fmla="val -57067"/>
                  <a:gd name="adj2" fmla="val -4170"/>
                  <a:gd name="adj3" fmla="val 16667"/>
                </a:avLst>
              </a:prstGeom>
              <a:blipFill>
                <a:blip r:embed="rId4"/>
                <a:stretch>
                  <a:fillRect t="-1695" b="-186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9483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5C8AC25-EC4C-3842-F311-7347DBC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776774" cy="759072"/>
          </a:xfrm>
        </p:spPr>
        <p:txBody>
          <a:bodyPr/>
          <a:lstStyle/>
          <a:p>
            <a:r>
              <a:rPr lang="en-US" dirty="0"/>
              <a:t>The Effect of Planning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CE6196-0C58-18A7-BA50-D3B376B60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370" y="1660797"/>
            <a:ext cx="7086022" cy="41083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C0268D5-3842-005A-9D87-7A037B2EC8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2237014"/>
                <a:ext cx="5623420" cy="4221072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b="1" dirty="0"/>
                  <a:t>Benefit</a:t>
                </a:r>
                <a:r>
                  <a:rPr lang="en-US" dirty="0"/>
                  <a:t>: Adding planning speeds learning by reusing sampled experience.</a:t>
                </a:r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 Planning is a problem if the model is wrong:</a:t>
                </a:r>
              </a:p>
              <a:p>
                <a:pPr lvl="1"/>
                <a:r>
                  <a:rPr lang="en-US" dirty="0"/>
                  <a:t>Based on an insufficient number of samples.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-function approximation is not great.</a:t>
                </a:r>
              </a:p>
              <a:p>
                <a:pPr lvl="1"/>
                <a:r>
                  <a:rPr lang="en-US" dirty="0"/>
                  <a:t>Environment changes.</a:t>
                </a:r>
              </a:p>
              <a:p>
                <a:endParaRPr lang="en-US" dirty="0"/>
              </a:p>
              <a:p>
                <a:r>
                  <a:rPr lang="en-US" dirty="0"/>
                  <a:t>Luckily, Dyna quickly corrects overly optimistic predictions since they will be selected for the next real action in the direct RL step.</a:t>
                </a:r>
              </a:p>
              <a:p>
                <a:endParaRPr lang="en-US" dirty="0"/>
              </a:p>
              <a:p>
                <a:r>
                  <a:rPr lang="en-US" dirty="0"/>
                  <a:t>For changing environments:</a:t>
                </a:r>
              </a:p>
              <a:p>
                <a:pPr lvl="1"/>
                <a:r>
                  <a:rPr lang="en-US" dirty="0"/>
                  <a:t>Keep exploring.</a:t>
                </a:r>
              </a:p>
              <a:p>
                <a:pPr lvl="1"/>
                <a:r>
                  <a:rPr lang="en-US" dirty="0"/>
                  <a:t>Keep track of how out-of-date estimates are. I.e., for how long each action/state combination was not tried.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C0268D5-3842-005A-9D87-7A037B2EC8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2237014"/>
                <a:ext cx="5623420" cy="4221072"/>
              </a:xfrm>
              <a:blipFill>
                <a:blip r:embed="rId3"/>
                <a:stretch>
                  <a:fillRect l="-651" t="-23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C1666A5B-CCA6-7A12-3D37-72BB0409C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5449" y="185109"/>
            <a:ext cx="2597348" cy="205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997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4D2E0C-9397-0251-BE88-27DE9E96C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8D0E66-448A-2B1F-DC4F-AFCD2FF3C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DA9A14-34CA-9AC7-415D-3D9BB2C1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updates on sampled experience</a:t>
            </a:r>
          </a:p>
        </p:txBody>
      </p:sp>
    </p:spTree>
    <p:extLst>
      <p:ext uri="{BB962C8B-B14F-4D97-AF65-F5344CB8AC3E}">
        <p14:creationId xmlns:p14="http://schemas.microsoft.com/office/powerpoint/2010/main" val="5865797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0859C-00DA-DABF-41E1-705430742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466033" cy="759072"/>
          </a:xfrm>
        </p:spPr>
        <p:txBody>
          <a:bodyPr>
            <a:normAutofit fontScale="90000"/>
          </a:bodyPr>
          <a:lstStyle/>
          <a:p>
            <a:r>
              <a:rPr lang="en-US" dirty="0"/>
              <a:t>Expected vs. Sample Updates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98651C-D732-C69E-3D6A-B222E9D9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723" y="302003"/>
            <a:ext cx="4049567" cy="62539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B3DD2-F232-A22F-AD76-91496286CE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632643" cy="3872685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Expected updates (DP)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←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/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func>
                              <m:func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sSup>
                                      <m:sSup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p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lim>
                                </m:limLow>
                              </m:fNam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Sample updates (on-step TD)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b="0" i="0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Sampling adds variance due to the sample error but is computationally much cheaper.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B3DD2-F232-A22F-AD76-91496286CE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632643" cy="3872685"/>
              </a:xfrm>
              <a:blipFill>
                <a:blip r:embed="rId3"/>
                <a:stretch>
                  <a:fillRect l="-827" t="-12893" b="-1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2533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6E25EF-48DC-A4AE-65BF-0EC0DC35F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Heuristic Search and </a:t>
            </a:r>
            <a:br>
              <a:rPr lang="en-US" dirty="0"/>
            </a:br>
            <a:r>
              <a:rPr lang="en-US" dirty="0"/>
              <a:t>Rollout Algorithms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DAFEA0-2CFA-4384-CF4E-F3C845C837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Decision-time planning</a:t>
            </a:r>
          </a:p>
        </p:txBody>
      </p:sp>
    </p:spTree>
    <p:extLst>
      <p:ext uri="{BB962C8B-B14F-4D97-AF65-F5344CB8AC3E}">
        <p14:creationId xmlns:p14="http://schemas.microsoft.com/office/powerpoint/2010/main" val="6823953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A6356EF-E592-3AC7-97BD-5A89144E77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5917" y="2076147"/>
            <a:ext cx="6456730" cy="3213065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540E156-9D3F-D3EF-4006-10719CAD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 1: Heuristic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E62A12-5D57-D939-F926-D55F98DA33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4656364" cy="458374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At decision time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Consider a large tree of possible continuations (trajectories of a given length) for the current state.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Apply an approx. value function to the states in leaf nodes.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Back values towards the current state (using max). Similar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estimation, but it always uses the best and not the observed action.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Choose the best next action for the current state.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E62A12-5D57-D939-F926-D55F98DA33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4656364" cy="4583745"/>
              </a:xfrm>
              <a:blipFill>
                <a:blip r:embed="rId3"/>
                <a:stretch>
                  <a:fillRect l="-1442" t="-2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9CBFCEF7-963A-4187-6A15-D0E256203C8E}"/>
              </a:ext>
            </a:extLst>
          </p:cNvPr>
          <p:cNvSpPr/>
          <p:nvPr/>
        </p:nvSpPr>
        <p:spPr>
          <a:xfrm>
            <a:off x="8214611" y="5561579"/>
            <a:ext cx="3247086" cy="359863"/>
          </a:xfrm>
          <a:prstGeom prst="wedgeRoundRectCallout">
            <a:avLst>
              <a:gd name="adj1" fmla="val 37593"/>
              <a:gd name="adj2" fmla="val -38181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2. Estimate leaf node values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E4EFD103-2544-1279-0631-58B4728E2AD2}"/>
              </a:ext>
            </a:extLst>
          </p:cNvPr>
          <p:cNvSpPr/>
          <p:nvPr/>
        </p:nvSpPr>
        <p:spPr>
          <a:xfrm flipV="1">
            <a:off x="11154283" y="2248525"/>
            <a:ext cx="781777" cy="276496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3. backup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25F441F9-26AE-4857-0003-6C4FFDACE6EE}"/>
              </a:ext>
            </a:extLst>
          </p:cNvPr>
          <p:cNvSpPr/>
          <p:nvPr/>
        </p:nvSpPr>
        <p:spPr>
          <a:xfrm>
            <a:off x="7689758" y="901563"/>
            <a:ext cx="2938744" cy="665202"/>
          </a:xfrm>
          <a:prstGeom prst="wedgeRoundRectCallout">
            <a:avLst>
              <a:gd name="adj1" fmla="val -29245"/>
              <a:gd name="adj2" fmla="val 14164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4. Pick best action leasing to largest Q-value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D0F962-53D0-07DC-792F-6FB00B52DA93}"/>
              </a:ext>
            </a:extLst>
          </p:cNvPr>
          <p:cNvSpPr txBox="1"/>
          <p:nvPr/>
        </p:nvSpPr>
        <p:spPr>
          <a:xfrm>
            <a:off x="3238995" y="6217463"/>
            <a:ext cx="6593669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This is like heuristic (cut-off) min-max search for games.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A54AD96-0F25-00BD-1813-50A2CBD3189F}"/>
                  </a:ext>
                </a:extLst>
              </p:cNvPr>
              <p:cNvSpPr txBox="1"/>
              <p:nvPr/>
            </p:nvSpPr>
            <p:spPr>
              <a:xfrm>
                <a:off x="8829206" y="2149381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A54AD96-0F25-00BD-1813-50A2CBD31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9206" y="2149381"/>
                <a:ext cx="202368" cy="369332"/>
              </a:xfrm>
              <a:prstGeom prst="rect">
                <a:avLst/>
              </a:prstGeom>
              <a:blipFill>
                <a:blip r:embed="rId4"/>
                <a:stretch>
                  <a:fillRect r="-5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9B57E89-CCA6-FDBE-3927-B474DEB79AEE}"/>
                  </a:ext>
                </a:extLst>
              </p:cNvPr>
              <p:cNvSpPr txBox="1"/>
              <p:nvPr/>
            </p:nvSpPr>
            <p:spPr>
              <a:xfrm>
                <a:off x="9918491" y="2518713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9B57E89-CCA6-FDBE-3927-B474DEB79A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8491" y="2518713"/>
                <a:ext cx="202368" cy="369332"/>
              </a:xfrm>
              <a:prstGeom prst="rect">
                <a:avLst/>
              </a:prstGeom>
              <a:blipFill>
                <a:blip r:embed="rId5"/>
                <a:stretch>
                  <a:fillRect r="-60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3EA472-B1A1-B839-4937-338ED139E14A}"/>
                  </a:ext>
                </a:extLst>
              </p:cNvPr>
              <p:cNvSpPr txBox="1"/>
              <p:nvPr/>
            </p:nvSpPr>
            <p:spPr>
              <a:xfrm>
                <a:off x="10628502" y="2910721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3EA472-B1A1-B839-4937-338ED139E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8502" y="2910721"/>
                <a:ext cx="202368" cy="369332"/>
              </a:xfrm>
              <a:prstGeom prst="rect">
                <a:avLst/>
              </a:prstGeom>
              <a:blipFill>
                <a:blip r:embed="rId6"/>
                <a:stretch>
                  <a:fillRect r="-5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54F0F7-FADF-FB82-93D5-74148073B8B6}"/>
                  </a:ext>
                </a:extLst>
              </p:cNvPr>
              <p:cNvSpPr txBox="1"/>
              <p:nvPr/>
            </p:nvSpPr>
            <p:spPr>
              <a:xfrm>
                <a:off x="10951915" y="3363020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54F0F7-FADF-FB82-93D5-74148073B8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1915" y="3363020"/>
                <a:ext cx="202368" cy="369332"/>
              </a:xfrm>
              <a:prstGeom prst="rect">
                <a:avLst/>
              </a:prstGeom>
              <a:blipFill>
                <a:blip r:embed="rId7"/>
                <a:stretch>
                  <a:fillRect r="-5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2AB9A23-FBD3-DB90-9801-00E1D6F3D56C}"/>
                  </a:ext>
                </a:extLst>
              </p:cNvPr>
              <p:cNvSpPr txBox="1"/>
              <p:nvPr/>
            </p:nvSpPr>
            <p:spPr>
              <a:xfrm>
                <a:off x="11053099" y="4057069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2AB9A23-FBD3-DB90-9801-00E1D6F3D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3099" y="4057069"/>
                <a:ext cx="202368" cy="369332"/>
              </a:xfrm>
              <a:prstGeom prst="rect">
                <a:avLst/>
              </a:prstGeom>
              <a:blipFill>
                <a:blip r:embed="rId8"/>
                <a:stretch>
                  <a:fillRect l="-6061" r="-75758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8713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21C83-C1A9-FB6C-6458-7E7642296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Option 2: Rollout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2524-2F85-6F77-02EE-038ACB2CB2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an initial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called the base policy.</a:t>
                </a:r>
              </a:p>
              <a:p>
                <a:pPr marL="0" indent="0">
                  <a:buNone/>
                </a:pPr>
                <a:r>
                  <a:rPr lang="en-US" dirty="0"/>
                  <a:t>At decision time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Monte Carlo Policy Estimation</a:t>
                </a:r>
                <a:r>
                  <a:rPr lang="en-US" dirty="0"/>
                  <a:t>: Use many simulated trajectories to approximate all state/action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Choose the best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b="0" dirty="0"/>
                  <a:t> according to the estimates. This is called the </a:t>
                </a:r>
                <a:r>
                  <a:rPr lang="en-US" b="1" dirty="0"/>
                  <a:t>rollout policy</a:t>
                </a:r>
                <a:r>
                  <a:rPr lang="en-US" b="0" dirty="0"/>
                  <a:t>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Properties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If the base policy is reasonable (i.e., somewhat similar to the optimal policy), rollouts are locally optimal.</a:t>
                </a:r>
              </a:p>
              <a:p>
                <a:r>
                  <a:rPr lang="en-US" dirty="0"/>
                  <a:t>Rollout policy is guaranteed to be at least as good as the base policy (in expectation).</a:t>
                </a:r>
              </a:p>
              <a:p>
                <a:r>
                  <a:rPr lang="en-US" b="1" dirty="0"/>
                  <a:t>You get policy improvement without solving Bellman equations.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1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2524-2F85-6F77-02EE-038ACB2CB2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189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5475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29CDF0-6E54-CF31-4006-DA0CE95A6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910" y="1224786"/>
            <a:ext cx="6086998" cy="38977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B9468A3-760E-EC4A-9394-247656C37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Rollout Algorithm: Monte Carlo Tree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45C3E-18E2-0CBC-535D-7E0DD489F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5023757" cy="477963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MCTS is a rollout algorithm that stores some intermediate estimates in a depth-limited tree structure. </a:t>
            </a:r>
          </a:p>
          <a:p>
            <a:pPr lvl="1"/>
            <a:r>
              <a:rPr lang="en-US" b="1" dirty="0"/>
              <a:t>Selection</a:t>
            </a:r>
            <a:r>
              <a:rPr lang="en-US" dirty="0"/>
              <a:t>: Pick the currently best leaf node (e.g., greedy, UCB).</a:t>
            </a:r>
          </a:p>
          <a:p>
            <a:pPr lvl="1"/>
            <a:r>
              <a:rPr lang="en-US" b="1" dirty="0"/>
              <a:t>Expansion</a:t>
            </a:r>
            <a:r>
              <a:rPr lang="en-US" dirty="0"/>
              <a:t>: Add new nodes, but keep the tree small enough.</a:t>
            </a:r>
          </a:p>
          <a:p>
            <a:pPr lvl="1"/>
            <a:r>
              <a:rPr lang="en-US" b="1" dirty="0"/>
              <a:t>Simulation</a:t>
            </a:r>
            <a:r>
              <a:rPr lang="en-US" dirty="0"/>
              <a:t>: From a selected node, simulate complete episode(s). </a:t>
            </a:r>
          </a:p>
          <a:p>
            <a:pPr lvl="1"/>
            <a:r>
              <a:rPr lang="en-US" b="1" dirty="0"/>
              <a:t>Backup</a:t>
            </a:r>
            <a:r>
              <a:rPr lang="en-US" dirty="0"/>
              <a:t>: update the tree with the result of the playout.</a:t>
            </a:r>
          </a:p>
          <a:p>
            <a:endParaRPr lang="en-US" dirty="0"/>
          </a:p>
          <a:p>
            <a:r>
              <a:rPr lang="en-US" b="1" dirty="0"/>
              <a:t>Advantage</a:t>
            </a:r>
            <a:r>
              <a:rPr lang="en-US" dirty="0"/>
              <a:t>: selection steers the simulation towards better trajectories. This avoids approximating the full value function.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8435328-960F-3341-B5FD-2B3A09AB85A7}"/>
                  </a:ext>
                </a:extLst>
              </p:cNvPr>
              <p:cNvSpPr/>
              <p:nvPr/>
            </p:nvSpPr>
            <p:spPr>
              <a:xfrm>
                <a:off x="6254217" y="5018730"/>
                <a:ext cx="1221527" cy="816678"/>
              </a:xfrm>
              <a:prstGeom prst="wedgeRoundRectCallout">
                <a:avLst>
                  <a:gd name="adj1" fmla="val -21404"/>
                  <a:gd name="adj2" fmla="val -25630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Stores estimated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values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8435328-960F-3341-B5FD-2B3A09AB85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217" y="5018730"/>
                <a:ext cx="1221527" cy="816678"/>
              </a:xfrm>
              <a:prstGeom prst="wedgeRoundRectCallout">
                <a:avLst>
                  <a:gd name="adj1" fmla="val -21404"/>
                  <a:gd name="adj2" fmla="val -256303"/>
                  <a:gd name="adj3" fmla="val 16667"/>
                </a:avLst>
              </a:prstGeom>
              <a:blipFill>
                <a:blip r:embed="rId3"/>
                <a:stretch>
                  <a:fillRect b="-4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B5B0257-0AFD-5451-8182-1A7A8976312D}"/>
              </a:ext>
            </a:extLst>
          </p:cNvPr>
          <p:cNvSpPr txBox="1"/>
          <p:nvPr/>
        </p:nvSpPr>
        <p:spPr>
          <a:xfrm>
            <a:off x="783152" y="6176963"/>
            <a:ext cx="10942130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MTCS can be seen as an RL method that selectively approximates q-values useful for choosing good actions.</a:t>
            </a:r>
          </a:p>
        </p:txBody>
      </p:sp>
    </p:spTree>
    <p:extLst>
      <p:ext uri="{BB962C8B-B14F-4D97-AF65-F5344CB8AC3E}">
        <p14:creationId xmlns:p14="http://schemas.microsoft.com/office/powerpoint/2010/main" val="959914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1012F4-36DF-FD35-6D3C-6566E015B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52967B-B41E-CCE0-ED2B-9ED416463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1B6DA-A372-993E-5FE0-1B16BA463B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3164" y="2457450"/>
            <a:ext cx="5951765" cy="4100748"/>
          </a:xfrm>
        </p:spPr>
        <p:txBody>
          <a:bodyPr anchor="ctr">
            <a:normAutofit lnSpcReduction="10000"/>
          </a:bodyPr>
          <a:lstStyle/>
          <a:p>
            <a:r>
              <a:rPr lang="en-US" sz="1600" dirty="0"/>
              <a:t>We can have different models of the environment. </a:t>
            </a:r>
          </a:p>
          <a:p>
            <a:pPr lvl="1"/>
            <a:r>
              <a:rPr lang="en-US" sz="1600" dirty="0"/>
              <a:t>A full </a:t>
            </a:r>
            <a:r>
              <a:rPr lang="en-US" sz="1600" b="1" dirty="0"/>
              <a:t>distribution model</a:t>
            </a:r>
          </a:p>
          <a:p>
            <a:pPr lvl="1"/>
            <a:r>
              <a:rPr lang="en-US" sz="1600" dirty="0"/>
              <a:t>A </a:t>
            </a:r>
            <a:r>
              <a:rPr lang="en-US" sz="1600" b="1" dirty="0"/>
              <a:t>sample model</a:t>
            </a:r>
          </a:p>
          <a:p>
            <a:endParaRPr lang="en-US" sz="1600" dirty="0"/>
          </a:p>
          <a:p>
            <a:pPr lvl="1"/>
            <a:r>
              <a:rPr lang="en-US" sz="1600" dirty="0"/>
              <a:t>DP (planning) requires a distribution model because it uses expected updates.</a:t>
            </a:r>
          </a:p>
          <a:p>
            <a:pPr lvl="1"/>
            <a:r>
              <a:rPr lang="en-US" sz="1600" dirty="0"/>
              <a:t>Model-free RL, like MC and TD, can use a sample model to perform sample updates.</a:t>
            </a:r>
          </a:p>
          <a:p>
            <a:pPr lvl="1"/>
            <a:r>
              <a:rPr lang="en-US" sz="1600" dirty="0"/>
              <a:t>Decision-time planning can also use a sample model. E.g., rollout algorithms sample trajectories.  </a:t>
            </a:r>
          </a:p>
          <a:p>
            <a:endParaRPr lang="en-US" sz="1600" dirty="0"/>
          </a:p>
          <a:p>
            <a:r>
              <a:rPr lang="en-US" sz="1600" dirty="0"/>
              <a:t>Planning and learning are related and try to estimate the same value function.</a:t>
            </a:r>
          </a:p>
          <a:p>
            <a:pPr lvl="1"/>
            <a:r>
              <a:rPr lang="en-US" sz="1600" b="1" dirty="0"/>
              <a:t>Learning</a:t>
            </a:r>
            <a:r>
              <a:rPr lang="en-US" sz="1600" dirty="0"/>
              <a:t>: Direct RL directly learns a value function</a:t>
            </a:r>
          </a:p>
          <a:p>
            <a:pPr lvl="1"/>
            <a:r>
              <a:rPr lang="en-US" sz="1600" b="1" dirty="0"/>
              <a:t>Planning</a:t>
            </a:r>
            <a:r>
              <a:rPr lang="en-US" sz="1600" dirty="0"/>
              <a:t>: We learn a model used to estimate the value function.</a:t>
            </a:r>
          </a:p>
          <a:p>
            <a:pPr lvl="1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533179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B29DCF-5823-DFE3-76A3-9921453D8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Part I: </a:t>
            </a:r>
            <a:br>
              <a:rPr lang="en-US" dirty="0"/>
            </a:br>
            <a:r>
              <a:rPr lang="en-US" dirty="0"/>
              <a:t>Tabular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2D5D64-9B74-CBE4-593F-CD0BD612F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1846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4759B-BFB3-E9E3-B86B-928B804D5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B916F-83BD-942C-05F0-07CE48F74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7421380" cy="416378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/>
              <a:t>Policy Evaluation</a:t>
            </a:r>
            <a:r>
              <a:rPr lang="en-US" dirty="0"/>
              <a:t>: Estimate the value function by updates based on </a:t>
            </a:r>
            <a:r>
              <a:rPr lang="en-US" b="1" dirty="0"/>
              <a:t>backing up </a:t>
            </a:r>
            <a:r>
              <a:rPr lang="en-US" dirty="0"/>
              <a:t>values along actual or possible state trajectories.</a:t>
            </a:r>
          </a:p>
          <a:p>
            <a:pPr marL="514350" indent="-514350">
              <a:buFont typeface="+mj-lt"/>
              <a:buAutoNum type="arabicPeriod"/>
            </a:pPr>
            <a:endParaRPr lang="en-US" b="1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Generalized policy iteration (GPI): </a:t>
            </a:r>
            <a:r>
              <a:rPr lang="en-US" dirty="0"/>
              <a:t>maintain an approx. value function and an approx. policy. Each is used to update the other. Converges due to the policy improvement theorem.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Differences</a:t>
            </a:r>
            <a:r>
              <a:rPr lang="en-US" dirty="0"/>
              <a:t>: How to perform policy evaluation.</a:t>
            </a:r>
          </a:p>
          <a:p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034BB89-D9AD-752C-0116-E0F49DEE26E2}"/>
              </a:ext>
            </a:extLst>
          </p:cNvPr>
          <p:cNvGrpSpPr/>
          <p:nvPr/>
        </p:nvGrpSpPr>
        <p:grpSpPr>
          <a:xfrm>
            <a:off x="8718878" y="951646"/>
            <a:ext cx="2751579" cy="4729856"/>
            <a:chOff x="8329133" y="558128"/>
            <a:chExt cx="2751579" cy="472985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D7366F6-2509-4BE8-74F6-EEAFAB9B3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29133" y="1124198"/>
              <a:ext cx="2751579" cy="4163786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51D61-2411-6879-B37C-B7CD2548ECAE}"/>
                </a:ext>
              </a:extLst>
            </p:cNvPr>
            <p:cNvSpPr txBox="1"/>
            <p:nvPr/>
          </p:nvSpPr>
          <p:spPr>
            <a:xfrm>
              <a:off x="8709548" y="558128"/>
              <a:ext cx="164102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GPI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13093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2B106-F46F-71F6-E8A8-A93D086D6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Policy Evaluation: Update Depth vs. Update Width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DB6AFE-8E14-4667-7D60-A58A0303A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923" y="1210540"/>
            <a:ext cx="5383802" cy="501540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CA57B6F-AFA2-C742-A3A7-F8BFC16F658E}"/>
              </a:ext>
            </a:extLst>
          </p:cNvPr>
          <p:cNvGrpSpPr/>
          <p:nvPr/>
        </p:nvGrpSpPr>
        <p:grpSpPr>
          <a:xfrm>
            <a:off x="623171" y="1320484"/>
            <a:ext cx="2169697" cy="4000295"/>
            <a:chOff x="9600257" y="1309985"/>
            <a:chExt cx="2169697" cy="400029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11F3E45-0A95-EED3-B84E-EEFE207BB62B}"/>
                </a:ext>
              </a:extLst>
            </p:cNvPr>
            <p:cNvSpPr txBox="1"/>
            <p:nvPr/>
          </p:nvSpPr>
          <p:spPr>
            <a:xfrm>
              <a:off x="9658670" y="1309985"/>
              <a:ext cx="205287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Depth</a:t>
              </a:r>
            </a:p>
            <a:p>
              <a:r>
                <a:rPr lang="en-US" dirty="0"/>
                <a:t>One-step methods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7377371-CF2F-F011-0779-F30E76BC4BB4}"/>
                </a:ext>
              </a:extLst>
            </p:cNvPr>
            <p:cNvSpPr txBox="1"/>
            <p:nvPr/>
          </p:nvSpPr>
          <p:spPr>
            <a:xfrm>
              <a:off x="9803742" y="3244334"/>
              <a:ext cx="17627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n-step methods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CB11024-C75F-4F34-33B5-AF6E80BF33E8}"/>
                </a:ext>
              </a:extLst>
            </p:cNvPr>
            <p:cNvSpPr txBox="1"/>
            <p:nvPr/>
          </p:nvSpPr>
          <p:spPr>
            <a:xfrm>
              <a:off x="9600257" y="4940948"/>
              <a:ext cx="21696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Full-return methods</a:t>
              </a:r>
            </a:p>
          </p:txBody>
        </p:sp>
        <p:sp>
          <p:nvSpPr>
            <p:cNvPr id="8" name="Arrow: Down 7">
              <a:extLst>
                <a:ext uri="{FF2B5EF4-FFF2-40B4-BE49-F238E27FC236}">
                  <a16:creationId xmlns:a16="http://schemas.microsoft.com/office/drawing/2014/main" id="{14776485-2079-FEC2-09A9-7017DA2CC2F5}"/>
                </a:ext>
              </a:extLst>
            </p:cNvPr>
            <p:cNvSpPr/>
            <p:nvPr/>
          </p:nvSpPr>
          <p:spPr>
            <a:xfrm>
              <a:off x="10378945" y="2081893"/>
              <a:ext cx="612321" cy="103686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Down 8">
              <a:extLst>
                <a:ext uri="{FF2B5EF4-FFF2-40B4-BE49-F238E27FC236}">
                  <a16:creationId xmlns:a16="http://schemas.microsoft.com/office/drawing/2014/main" id="{41E61BFF-8CD8-FB08-066F-8BE63D8D46A9}"/>
                </a:ext>
              </a:extLst>
            </p:cNvPr>
            <p:cNvSpPr/>
            <p:nvPr/>
          </p:nvSpPr>
          <p:spPr>
            <a:xfrm>
              <a:off x="10378945" y="3762766"/>
              <a:ext cx="612321" cy="103686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4C207F5-CAC8-12B2-B67A-66F8D1C74980}"/>
              </a:ext>
            </a:extLst>
          </p:cNvPr>
          <p:cNvGrpSpPr/>
          <p:nvPr/>
        </p:nvGrpSpPr>
        <p:grpSpPr>
          <a:xfrm>
            <a:off x="2306541" y="6100430"/>
            <a:ext cx="6410689" cy="646331"/>
            <a:chOff x="2306541" y="6100430"/>
            <a:chExt cx="6410689" cy="64633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365FAD9-46E0-2ED7-7960-D6D32A45196B}"/>
                </a:ext>
              </a:extLst>
            </p:cNvPr>
            <p:cNvSpPr txBox="1"/>
            <p:nvPr/>
          </p:nvSpPr>
          <p:spPr>
            <a:xfrm>
              <a:off x="2306541" y="6232272"/>
              <a:ext cx="28154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Width</a:t>
              </a:r>
              <a:r>
                <a:rPr lang="en-US" dirty="0"/>
                <a:t>: Sampled trajectory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7793D0C-B4CF-EC6C-54B8-83A8347068BF}"/>
                </a:ext>
              </a:extLst>
            </p:cNvPr>
            <p:cNvSpPr txBox="1"/>
            <p:nvPr/>
          </p:nvSpPr>
          <p:spPr>
            <a:xfrm>
              <a:off x="6096000" y="6100430"/>
              <a:ext cx="26212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Consider all actions </a:t>
              </a:r>
              <a:br>
                <a:rPr lang="en-US" dirty="0"/>
              </a:br>
              <a:r>
                <a:rPr lang="en-US" dirty="0"/>
                <a:t>(use expectation or max)</a:t>
              </a:r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569A355E-8C8B-CA9F-BE38-4BCBB51D550C}"/>
                </a:ext>
              </a:extLst>
            </p:cNvPr>
            <p:cNvSpPr/>
            <p:nvPr/>
          </p:nvSpPr>
          <p:spPr>
            <a:xfrm>
              <a:off x="5174343" y="6161314"/>
              <a:ext cx="718457" cy="551543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EF398DD-AA03-FE12-13CC-F67E547F1FF6}"/>
              </a:ext>
            </a:extLst>
          </p:cNvPr>
          <p:cNvSpPr txBox="1"/>
          <p:nvPr/>
        </p:nvSpPr>
        <p:spPr>
          <a:xfrm>
            <a:off x="9089814" y="2793168"/>
            <a:ext cx="2275530" cy="92333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Each method is located somewhere  in this continuum.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119C3A0-42FD-212B-5471-F32C75AA54ED}"/>
              </a:ext>
            </a:extLst>
          </p:cNvPr>
          <p:cNvGrpSpPr/>
          <p:nvPr/>
        </p:nvGrpSpPr>
        <p:grpSpPr>
          <a:xfrm>
            <a:off x="5227038" y="4670475"/>
            <a:ext cx="1588797" cy="523220"/>
            <a:chOff x="5069641" y="3855268"/>
            <a:chExt cx="1588797" cy="52322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A7752DC-C919-21AB-695A-0B5E14D50DAF}"/>
                </a:ext>
              </a:extLst>
            </p:cNvPr>
            <p:cNvSpPr/>
            <p:nvPr/>
          </p:nvSpPr>
          <p:spPr>
            <a:xfrm>
              <a:off x="5069641" y="4071507"/>
              <a:ext cx="104702" cy="102624"/>
            </a:xfrm>
            <a:prstGeom prst="ellipse">
              <a:avLst/>
            </a:prstGeom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2938DCA-3D73-EEA6-5D71-9C1852C94B98}"/>
                </a:ext>
              </a:extLst>
            </p:cNvPr>
            <p:cNvSpPr txBox="1"/>
            <p:nvPr/>
          </p:nvSpPr>
          <p:spPr>
            <a:xfrm>
              <a:off x="5127161" y="3855268"/>
              <a:ext cx="153127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Rollout Algorithms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E74D7B6-C23A-AF2E-4548-1F2E9AF97501}"/>
              </a:ext>
            </a:extLst>
          </p:cNvPr>
          <p:cNvSpPr txBox="1"/>
          <p:nvPr/>
        </p:nvSpPr>
        <p:spPr>
          <a:xfrm>
            <a:off x="4235081" y="1626887"/>
            <a:ext cx="15312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one-step Sarsa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79370B-E9C9-008B-B236-A85F259625FE}"/>
              </a:ext>
            </a:extLst>
          </p:cNvPr>
          <p:cNvSpPr txBox="1"/>
          <p:nvPr/>
        </p:nvSpPr>
        <p:spPr>
          <a:xfrm>
            <a:off x="8438052" y="1580720"/>
            <a:ext cx="2564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 Q-Learning, Expected Sarsa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FABC249-B9C3-B83D-2555-FEAEA52E10A6}"/>
              </a:ext>
            </a:extLst>
          </p:cNvPr>
          <p:cNvGrpSpPr/>
          <p:nvPr/>
        </p:nvGrpSpPr>
        <p:grpSpPr>
          <a:xfrm>
            <a:off x="4130378" y="3100944"/>
            <a:ext cx="1583628" cy="307777"/>
            <a:chOff x="4130378" y="3100944"/>
            <a:chExt cx="1583628" cy="307777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5FC1DEF-060E-DB48-CC65-B77A6C34CC20}"/>
                </a:ext>
              </a:extLst>
            </p:cNvPr>
            <p:cNvSpPr/>
            <p:nvPr/>
          </p:nvSpPr>
          <p:spPr>
            <a:xfrm>
              <a:off x="4130378" y="3203521"/>
              <a:ext cx="104702" cy="102624"/>
            </a:xfrm>
            <a:prstGeom prst="ellipse">
              <a:avLst/>
            </a:prstGeom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85C0057-A551-8186-D2E1-FC4CE09F09CD}"/>
                </a:ext>
              </a:extLst>
            </p:cNvPr>
            <p:cNvSpPr txBox="1"/>
            <p:nvPr/>
          </p:nvSpPr>
          <p:spPr>
            <a:xfrm>
              <a:off x="4182729" y="3100944"/>
              <a:ext cx="153127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n-step Sarsa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723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8" grpId="0"/>
      <p:bldP spid="1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CFAD6-8953-D14F-C853-F13F480B1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vs. Off-Policy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1F75A-ED78-4D7C-E025-9485BB928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On-Policy</a:t>
            </a:r>
            <a:r>
              <a:rPr lang="en-US" dirty="0"/>
              <a:t>: Evaluate or learn a policy that is used to sample data.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Off-Policy</a:t>
            </a:r>
            <a:r>
              <a:rPr lang="en-US" dirty="0"/>
              <a:t>: Evaluate or learn a target policy different from the behavior policy.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Off-Policy is useful because</a:t>
            </a:r>
            <a:r>
              <a:rPr lang="en-US" dirty="0"/>
              <a:t>:</a:t>
            </a:r>
          </a:p>
          <a:p>
            <a:pPr lvl="1"/>
            <a:r>
              <a:rPr lang="en-US" b="1" dirty="0"/>
              <a:t>Learn optimal policies </a:t>
            </a:r>
            <a:r>
              <a:rPr lang="en-US" dirty="0"/>
              <a:t>while using exploring behavior.</a:t>
            </a:r>
          </a:p>
          <a:p>
            <a:pPr lvl="1"/>
            <a:r>
              <a:rPr lang="en-US" b="1" dirty="0"/>
              <a:t>Reuse of data</a:t>
            </a:r>
            <a:r>
              <a:rPr lang="en-US" dirty="0"/>
              <a:t>: sample efficiency, offline, and batch RL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Off-Policy learning is harder because:</a:t>
            </a:r>
          </a:p>
          <a:p>
            <a:pPr lvl="1"/>
            <a:r>
              <a:rPr lang="en-US" b="1" dirty="0"/>
              <a:t>Requires distributional correction</a:t>
            </a:r>
            <a:r>
              <a:rPr lang="en-US" dirty="0"/>
              <a:t>: E.g., importance sampling</a:t>
            </a:r>
          </a:p>
          <a:p>
            <a:pPr lvl="1"/>
            <a:r>
              <a:rPr lang="en-US" dirty="0"/>
              <a:t>May suffer from high variance (due to importance sampling)</a:t>
            </a:r>
          </a:p>
          <a:p>
            <a:pPr lvl="1"/>
            <a:r>
              <a:rPr lang="en-US" b="1" dirty="0"/>
              <a:t>Instability with non-linear function approximation </a:t>
            </a:r>
            <a:r>
              <a:rPr lang="en-US" dirty="0"/>
              <a:t>(deep RL)</a:t>
            </a:r>
          </a:p>
        </p:txBody>
      </p:sp>
    </p:spTree>
    <p:extLst>
      <p:ext uri="{BB962C8B-B14F-4D97-AF65-F5344CB8AC3E}">
        <p14:creationId xmlns:p14="http://schemas.microsoft.com/office/powerpoint/2010/main" val="3868939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6C101-39C4-5534-A3ED-9D36AB8B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Dimensions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60D31-9CD5-1596-21BF-AD897227AF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Definition of return</a:t>
            </a:r>
            <a:r>
              <a:rPr lang="en-US" dirty="0"/>
              <a:t>: Episodic vs. continuing task; discounted vs. undiscounted.</a:t>
            </a:r>
          </a:p>
          <a:p>
            <a:r>
              <a:rPr lang="en-US" b="1" dirty="0"/>
              <a:t>Action values vs. state values</a:t>
            </a:r>
          </a:p>
          <a:p>
            <a:r>
              <a:rPr lang="en-US" b="1" dirty="0"/>
              <a:t>Exploration vs Exploitation</a:t>
            </a:r>
            <a:r>
              <a:rPr lang="en-US" dirty="0"/>
              <a:t>: This is a trade-off. Many methods need exploration (covering behavior policies) for convergence.</a:t>
            </a:r>
          </a:p>
          <a:p>
            <a:r>
              <a:rPr lang="en-US" b="1" dirty="0"/>
              <a:t>Synchronous vs. Asynchronous</a:t>
            </a:r>
            <a:r>
              <a:rPr lang="en-US" dirty="0"/>
              <a:t>: Are all states updated at once or one by one in some order?</a:t>
            </a:r>
          </a:p>
          <a:p>
            <a:r>
              <a:rPr lang="en-US" b="1" dirty="0"/>
              <a:t>Real vs. Simulated</a:t>
            </a:r>
            <a:r>
              <a:rPr lang="en-US" dirty="0"/>
              <a:t>: Are real experiences, simulations, or both used for updates?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710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7D7FF-0D60-8343-A797-3671E686E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 With Reflex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19333-8620-3B90-7232-099721165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97330"/>
            <a:ext cx="6252148" cy="477963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Tabular methods create a policy that defines the action for each state.</a:t>
            </a:r>
          </a:p>
          <a:p>
            <a:r>
              <a:rPr lang="en-US" dirty="0"/>
              <a:t>We can implement this policy by a set of rules, one for each state.</a:t>
            </a:r>
          </a:p>
          <a:p>
            <a:r>
              <a:rPr lang="en-US" dirty="0"/>
              <a:t>This means that tabular RL implements a </a:t>
            </a:r>
            <a:r>
              <a:rPr lang="en-US" b="1" dirty="0"/>
              <a:t>reflex agent.</a:t>
            </a:r>
          </a:p>
          <a:p>
            <a:r>
              <a:rPr lang="en-US" dirty="0"/>
              <a:t>If the rewards express utility, then optimizing the reflexes for maximizing the utility produces a </a:t>
            </a:r>
            <a:r>
              <a:rPr lang="en-US" b="1" dirty="0"/>
              <a:t>utility-based agent</a:t>
            </a:r>
            <a:r>
              <a:rPr lang="en-US" dirty="0"/>
              <a:t>.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b="1" dirty="0"/>
              <a:t>Cases:</a:t>
            </a:r>
          </a:p>
          <a:p>
            <a:pPr marL="514350" indent="-514350">
              <a:buFont typeface="+mj-lt"/>
              <a:buAutoNum type="alphaLcParenR"/>
            </a:pPr>
            <a:r>
              <a:rPr lang="en-US" b="1" dirty="0"/>
              <a:t>Fully observable case:</a:t>
            </a:r>
          </a:p>
          <a:p>
            <a:pPr lvl="1"/>
            <a:r>
              <a:rPr lang="en-US" dirty="0"/>
              <a:t>DP uses the MDP for planning to create a simple reflex agent.</a:t>
            </a:r>
          </a:p>
          <a:p>
            <a:pPr lvl="1"/>
            <a:r>
              <a:rPr lang="en-US" dirty="0"/>
              <a:t>Model-free RL implements a learning simple reflex agent.</a:t>
            </a:r>
          </a:p>
          <a:p>
            <a:pPr marL="514350" indent="-514350">
              <a:buFont typeface="+mj-lt"/>
              <a:buAutoNum type="alphaLcParenR"/>
            </a:pPr>
            <a:r>
              <a:rPr lang="en-US" b="1" dirty="0"/>
              <a:t>Partially observable case</a:t>
            </a:r>
            <a:r>
              <a:rPr lang="en-US" dirty="0"/>
              <a:t>: The agent constantly updates its agent state to approximate the environment state. The agent stores the agent state and uses it to decide on actions. It learns a </a:t>
            </a:r>
            <a:r>
              <a:rPr lang="en-US" b="1" dirty="0"/>
              <a:t>model-based reflex agent.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28640CF-BEAF-75A2-FCE5-1B24B83B017E}"/>
              </a:ext>
            </a:extLst>
          </p:cNvPr>
          <p:cNvGrpSpPr/>
          <p:nvPr/>
        </p:nvGrpSpPr>
        <p:grpSpPr>
          <a:xfrm>
            <a:off x="7009998" y="1397330"/>
            <a:ext cx="4712275" cy="4015134"/>
            <a:chOff x="7009998" y="1397330"/>
            <a:chExt cx="4712275" cy="4015134"/>
          </a:xfrm>
        </p:grpSpPr>
        <p:pic>
          <p:nvPicPr>
            <p:cNvPr id="4" name="Picture 3" descr="A figure showing that a learning agent adds a critic component, a learning element and a problem generator to the agent design.">
              <a:extLst>
                <a:ext uri="{FF2B5EF4-FFF2-40B4-BE49-F238E27FC236}">
                  <a16:creationId xmlns:a16="http://schemas.microsoft.com/office/drawing/2014/main" id="{05C53980-2E3E-DE8E-EA48-72A467EC0A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17457" y="2265575"/>
              <a:ext cx="4104816" cy="2831695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A1BA4D4-3742-5A38-083A-C33F0C5E6303}"/>
                </a:ext>
              </a:extLst>
            </p:cNvPr>
            <p:cNvSpPr txBox="1"/>
            <p:nvPr/>
          </p:nvSpPr>
          <p:spPr>
            <a:xfrm>
              <a:off x="8190166" y="1397330"/>
              <a:ext cx="241602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Model-free RL as</a:t>
              </a:r>
              <a:br>
                <a:rPr lang="en-US" b="1" dirty="0"/>
              </a:br>
              <a:r>
                <a:rPr lang="en-US" b="1" dirty="0"/>
                <a:t> A Learning Agent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534C613-BC3B-EC8F-625C-71F00396A41C}"/>
                </a:ext>
              </a:extLst>
            </p:cNvPr>
            <p:cNvSpPr txBox="1"/>
            <p:nvPr/>
          </p:nvSpPr>
          <p:spPr>
            <a:xfrm>
              <a:off x="7524925" y="5135465"/>
              <a:ext cx="41973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Source: Artificial Intelligence: A Modern Approach, Chapter 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C4E5284-07B1-796A-FB24-F08E93A0FA77}"/>
                </a:ext>
              </a:extLst>
            </p:cNvPr>
            <p:cNvSpPr txBox="1"/>
            <p:nvPr/>
          </p:nvSpPr>
          <p:spPr>
            <a:xfrm>
              <a:off x="8579825" y="2982110"/>
              <a:ext cx="88637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chemeClr val="accent3"/>
                  </a:solidFill>
                </a:rPr>
                <a:t>E.g., </a:t>
              </a:r>
              <a:br>
                <a:rPr lang="en-US" sz="1400" b="1" dirty="0">
                  <a:solidFill>
                    <a:schemeClr val="accent3"/>
                  </a:solidFill>
                </a:rPr>
              </a:br>
              <a:r>
                <a:rPr lang="en-US" sz="1400" b="1" dirty="0">
                  <a:solidFill>
                    <a:schemeClr val="accent3"/>
                  </a:solidFill>
                </a:rPr>
                <a:t>TD error</a:t>
              </a:r>
            </a:p>
          </p:txBody>
        </p:sp>
        <p:sp>
          <p:nvSpPr>
            <p:cNvPr id="13" name="Speech Bubble: Rectangle with Corners Rounded 12">
              <a:extLst>
                <a:ext uri="{FF2B5EF4-FFF2-40B4-BE49-F238E27FC236}">
                  <a16:creationId xmlns:a16="http://schemas.microsoft.com/office/drawing/2014/main" id="{1F1274E2-37F3-8CF3-654F-938B43186448}"/>
                </a:ext>
              </a:extLst>
            </p:cNvPr>
            <p:cNvSpPr/>
            <p:nvPr/>
          </p:nvSpPr>
          <p:spPr>
            <a:xfrm>
              <a:off x="10298852" y="3243720"/>
              <a:ext cx="750728" cy="251537"/>
            </a:xfrm>
            <a:prstGeom prst="wedgeRoundRectCallout">
              <a:avLst>
                <a:gd name="adj1" fmla="val -34810"/>
                <a:gd name="adj2" fmla="val 104216"/>
                <a:gd name="adj3" fmla="val 16667"/>
              </a:avLst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policy</a:t>
              </a:r>
            </a:p>
          </p:txBody>
        </p:sp>
        <p:sp>
          <p:nvSpPr>
            <p:cNvPr id="14" name="Speech Bubble: Rectangle with Corners Rounded 13">
              <a:extLst>
                <a:ext uri="{FF2B5EF4-FFF2-40B4-BE49-F238E27FC236}">
                  <a16:creationId xmlns:a16="http://schemas.microsoft.com/office/drawing/2014/main" id="{E4C0C03E-F032-E997-1EFB-5027E8BCCECE}"/>
                </a:ext>
              </a:extLst>
            </p:cNvPr>
            <p:cNvSpPr/>
            <p:nvPr/>
          </p:nvSpPr>
          <p:spPr>
            <a:xfrm>
              <a:off x="9398181" y="2146936"/>
              <a:ext cx="1651399" cy="266841"/>
            </a:xfrm>
            <a:prstGeom prst="wedgeRoundRectCallout">
              <a:avLst>
                <a:gd name="adj1" fmla="val -60680"/>
                <a:gd name="adj2" fmla="val 31187"/>
                <a:gd name="adj3" fmla="val 16667"/>
              </a:avLst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Expected return</a:t>
              </a:r>
            </a:p>
          </p:txBody>
        </p:sp>
        <p:sp>
          <p:nvSpPr>
            <p:cNvPr id="15" name="Speech Bubble: Rectangle with Corners Rounded 14">
              <a:extLst>
                <a:ext uri="{FF2B5EF4-FFF2-40B4-BE49-F238E27FC236}">
                  <a16:creationId xmlns:a16="http://schemas.microsoft.com/office/drawing/2014/main" id="{21CB411E-164D-2FED-70AE-F42BEED7AEE3}"/>
                </a:ext>
              </a:extLst>
            </p:cNvPr>
            <p:cNvSpPr/>
            <p:nvPr/>
          </p:nvSpPr>
          <p:spPr>
            <a:xfrm>
              <a:off x="7009998" y="3843711"/>
              <a:ext cx="1122387" cy="421489"/>
            </a:xfrm>
            <a:prstGeom prst="wedgeRoundRectCallout">
              <a:avLst>
                <a:gd name="adj1" fmla="val 66862"/>
                <a:gd name="adj2" fmla="val -70173"/>
                <a:gd name="adj3" fmla="val 16667"/>
              </a:avLst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Update value </a:t>
              </a:r>
              <a:r>
                <a:rPr lang="en-US" sz="1400" dirty="0" err="1"/>
                <a:t>func</a:t>
              </a:r>
              <a:r>
                <a:rPr lang="en-US" sz="1400" dirty="0"/>
                <a:t>.</a:t>
              </a:r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743276A6-B236-4944-FAFA-86936D5013EA}"/>
                </a:ext>
              </a:extLst>
            </p:cNvPr>
            <p:cNvSpPr/>
            <p:nvPr/>
          </p:nvSpPr>
          <p:spPr>
            <a:xfrm>
              <a:off x="7009998" y="4303395"/>
              <a:ext cx="1122387" cy="421489"/>
            </a:xfrm>
            <a:prstGeom prst="wedgeRoundRectCallout">
              <a:avLst>
                <a:gd name="adj1" fmla="val 68197"/>
                <a:gd name="adj2" fmla="val 956"/>
                <a:gd name="adj3" fmla="val 16667"/>
              </a:avLst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Exploring behavior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201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A6DFC-1DF7-340A-8A49-67E7A508E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Tabular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46212-D3F8-9478-4414-6401E13D0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Tables need a lot of </a:t>
                </a:r>
                <a:r>
                  <a:rPr lang="en-US" b="1" dirty="0"/>
                  <a:t>space</a:t>
                </a:r>
                <a:r>
                  <a:rPr lang="en-US" dirty="0"/>
                  <a:t>. A complete table with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has size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  <m:r>
                          <m:rPr>
                            <m:nor/>
                          </m:rPr>
                          <a:rPr lang="en-US" dirty="0"/>
                          <m:t> 	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×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e>
                        </m:d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The state space is typically extremely large, or even infinite, in continuous spaces.</a:t>
                </a:r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We need a lot of </a:t>
                </a:r>
                <a:r>
                  <a:rPr lang="en-US" b="1" dirty="0"/>
                  <a:t>data </a:t>
                </a:r>
                <a:r>
                  <a:rPr lang="en-US" dirty="0"/>
                  <a:t>to estimate all entries.</a:t>
                </a:r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Two states may be very similar and therefore should have similar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-values. Tabular methods </a:t>
                </a:r>
                <a:r>
                  <a:rPr lang="en-US" b="1" dirty="0"/>
                  <a:t>cannot generalize across states</a:t>
                </a:r>
                <a:r>
                  <a:rPr lang="en-US" dirty="0"/>
                  <a:t>.</a:t>
                </a:r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dirty="0"/>
                  <a:t>In the next part of this course, we will talk about </a:t>
                </a:r>
                <a:r>
                  <a:rPr lang="en-US" b="1" dirty="0"/>
                  <a:t>approximate solution methods </a:t>
                </a:r>
                <a:r>
                  <a:rPr lang="en-US" dirty="0"/>
                  <a:t>to deal with these issues.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46212-D3F8-9478-4414-6401E13D0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01"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4962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9041</TotalTime>
  <Words>2216</Words>
  <Application>Microsoft Office PowerPoint</Application>
  <PresentationFormat>Widescreen</PresentationFormat>
  <Paragraphs>252</Paragraphs>
  <Slides>24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Planning and Learning with Tabular Methods Sutton/Barto* Chapter 8</vt:lpstr>
      <vt:lpstr>Topics of this Course</vt:lpstr>
      <vt:lpstr>Summary of Notation</vt:lpstr>
      <vt:lpstr>Planning vs. Learning</vt:lpstr>
      <vt:lpstr>Planning vs. Learning</vt:lpstr>
      <vt:lpstr>What is a Model</vt:lpstr>
      <vt:lpstr>Dyna</vt:lpstr>
      <vt:lpstr>Integrating Planning, Acting, and Learning</vt:lpstr>
      <vt:lpstr>Alg. Tabular Dyna-Q</vt:lpstr>
      <vt:lpstr>The Effect of Planning</vt:lpstr>
      <vt:lpstr>Sampling</vt:lpstr>
      <vt:lpstr>Expected vs. Sample Updates</vt:lpstr>
      <vt:lpstr>Heuristic Search and  Rollout Algorithms</vt:lpstr>
      <vt:lpstr>Option 1: Heuristic Search</vt:lpstr>
      <vt:lpstr>Option 2: Rollout Algorithms</vt:lpstr>
      <vt:lpstr>Rollout Algorithm: Monte Carlo Tree Search</vt:lpstr>
      <vt:lpstr>What you Should Know</vt:lpstr>
      <vt:lpstr>Summary of Part I:  Tabular Solution Methods</vt:lpstr>
      <vt:lpstr>Common Ideas</vt:lpstr>
      <vt:lpstr>Policy Evaluation: Update Depth vs. Update Width</vt:lpstr>
      <vt:lpstr>On-Policy vs. Off-Policy</vt:lpstr>
      <vt:lpstr>Other Dimensions</vt:lpstr>
      <vt:lpstr>Relationship With Reflex Agents</vt:lpstr>
      <vt:lpstr>Issues with Tabular Methods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173</cp:revision>
  <dcterms:created xsi:type="dcterms:W3CDTF">2025-09-08T14:44:49Z</dcterms:created>
  <dcterms:modified xsi:type="dcterms:W3CDTF">2026-02-23T16:18:28Z</dcterms:modified>
</cp:coreProperties>
</file>