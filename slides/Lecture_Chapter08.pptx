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4" r:id="rId3"/>
    <p:sldId id="393" r:id="rId4"/>
    <p:sldId id="385" r:id="rId5"/>
    <p:sldId id="386" r:id="rId6"/>
    <p:sldId id="387" r:id="rId7"/>
    <p:sldId id="392" r:id="rId8"/>
    <p:sldId id="388" r:id="rId9"/>
    <p:sldId id="389" r:id="rId10"/>
    <p:sldId id="390" r:id="rId11"/>
    <p:sldId id="394" r:id="rId12"/>
    <p:sldId id="391" r:id="rId13"/>
    <p:sldId id="395" r:id="rId14"/>
    <p:sldId id="396" r:id="rId15"/>
    <p:sldId id="398" r:id="rId16"/>
    <p:sldId id="399" r:id="rId17"/>
    <p:sldId id="400" r:id="rId18"/>
    <p:sldId id="401" r:id="rId19"/>
    <p:sldId id="402" r:id="rId20"/>
    <p:sldId id="403" r:id="rId21"/>
    <p:sldId id="404" r:id="rId22"/>
    <p:sldId id="405" r:id="rId23"/>
    <p:sldId id="406" r:id="rId24"/>
    <p:sldId id="407" r:id="rId25"/>
    <p:sldId id="408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4"/>
            <p14:sldId id="393"/>
            <p14:sldId id="385"/>
            <p14:sldId id="386"/>
            <p14:sldId id="387"/>
            <p14:sldId id="392"/>
            <p14:sldId id="388"/>
            <p14:sldId id="389"/>
            <p14:sldId id="390"/>
            <p14:sldId id="394"/>
            <p14:sldId id="391"/>
            <p14:sldId id="395"/>
            <p14:sldId id="396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" y="3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Planning and Learning with Tabular Methods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8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 vs. 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3A1BA-CA5C-693B-FB3E-C368A66D7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 vs. Learning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AC215C-7DA6-48E2-7A2B-214A4A527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47322"/>
            <a:ext cx="5157787" cy="494791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86ED9-B3B0-4E7E-C9D8-36D605A9CE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142114"/>
            <a:ext cx="5157787" cy="1325563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77500" lnSpcReduction="20000"/>
          </a:bodyPr>
          <a:lstStyle/>
          <a:p>
            <a:r>
              <a:rPr lang="en-US" dirty="0"/>
              <a:t>Requires knowledge of the MDP model.</a:t>
            </a:r>
          </a:p>
          <a:p>
            <a:r>
              <a:rPr lang="en-US" dirty="0"/>
              <a:t>Methods: Dynamic Programming, heuristic search</a:t>
            </a:r>
          </a:p>
          <a:p>
            <a:r>
              <a:rPr lang="en-US" dirty="0"/>
              <a:t>Use the known model to </a:t>
            </a:r>
            <a:r>
              <a:rPr lang="en-US" b="1" dirty="0"/>
              <a:t>plan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7E8A69-3C51-CDFE-7A41-514AB48A4C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47322"/>
            <a:ext cx="5183188" cy="49479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9DFBC9-5C98-B059-76C6-7C39C8A8AE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142114"/>
            <a:ext cx="5183188" cy="1325563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77500" lnSpcReduction="20000"/>
          </a:bodyPr>
          <a:lstStyle/>
          <a:p>
            <a:r>
              <a:rPr lang="en-US" dirty="0"/>
              <a:t>Model is unknown.</a:t>
            </a:r>
          </a:p>
          <a:p>
            <a:r>
              <a:rPr lang="en-US" dirty="0"/>
              <a:t>Methods: MC, TD</a:t>
            </a:r>
          </a:p>
          <a:p>
            <a:r>
              <a:rPr lang="en-US" b="1" dirty="0"/>
              <a:t>Learn</a:t>
            </a:r>
            <a:r>
              <a:rPr lang="en-US" dirty="0"/>
              <a:t> from interactions with the environment (sampling).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7549527-8988-50D5-4FD2-A4EACAA47452}"/>
              </a:ext>
            </a:extLst>
          </p:cNvPr>
          <p:cNvSpPr txBox="1">
            <a:spLocks/>
          </p:cNvSpPr>
          <p:nvPr/>
        </p:nvSpPr>
        <p:spPr>
          <a:xfrm>
            <a:off x="839788" y="4013588"/>
            <a:ext cx="10515600" cy="2029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All methods:</a:t>
            </a:r>
          </a:p>
          <a:p>
            <a:pPr lvl="1"/>
            <a:r>
              <a:rPr lang="en-US" dirty="0"/>
              <a:t>Compute a value function</a:t>
            </a:r>
          </a:p>
          <a:p>
            <a:pPr lvl="1"/>
            <a:r>
              <a:rPr lang="en-US" dirty="0"/>
              <a:t>Look ahead to future events and compute a backed-up value to update an approximate value function.</a:t>
            </a:r>
          </a:p>
        </p:txBody>
      </p:sp>
    </p:spTree>
    <p:extLst>
      <p:ext uri="{BB962C8B-B14F-4D97-AF65-F5344CB8AC3E}">
        <p14:creationId xmlns:p14="http://schemas.microsoft.com/office/powerpoint/2010/main" val="3129097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E63D3F0-03CF-B1AF-8CA4-243B27B69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and Planning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1E8B6AB-5A2F-3677-9E00-F7B344478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Model of the environment:</a:t>
            </a:r>
          </a:p>
          <a:p>
            <a:pPr lvl="1"/>
            <a:r>
              <a:rPr lang="en-US" dirty="0"/>
              <a:t>Anything the agent can use to predict the outcome of actions (e.g., next state and reward)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Models can be:</a:t>
            </a:r>
          </a:p>
          <a:p>
            <a:pPr lvl="1"/>
            <a:r>
              <a:rPr lang="en-US" dirty="0"/>
              <a:t>Distribution models: produce a distribution of all possible outcomes</a:t>
            </a:r>
          </a:p>
          <a:p>
            <a:pPr lvl="1"/>
            <a:r>
              <a:rPr lang="en-US" dirty="0"/>
              <a:t>Sample models: produce (simulate) one sampled outcome for an action.</a:t>
            </a:r>
          </a:p>
        </p:txBody>
      </p:sp>
    </p:spTree>
    <p:extLst>
      <p:ext uri="{BB962C8B-B14F-4D97-AF65-F5344CB8AC3E}">
        <p14:creationId xmlns:p14="http://schemas.microsoft.com/office/powerpoint/2010/main" val="254287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84D4B-D586-AECD-DCC5-21B78148D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A52E1-AB49-3601-6079-6070D7449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27108"/>
            <a:ext cx="10515600" cy="3049855"/>
          </a:xfrm>
        </p:spPr>
        <p:txBody>
          <a:bodyPr/>
          <a:lstStyle/>
          <a:p>
            <a:r>
              <a:rPr lang="en-US" dirty="0"/>
              <a:t>Model-based: Simulated experience comes from the model. Can be done offline, which leads to planning.</a:t>
            </a:r>
          </a:p>
          <a:p>
            <a:r>
              <a:rPr lang="en-US" dirty="0"/>
              <a:t>Model-free: Simulated experience comes from real experience, leads to online learning.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DF59CF-1112-2E7F-77F4-1580DCD850D2}"/>
              </a:ext>
            </a:extLst>
          </p:cNvPr>
          <p:cNvGrpSpPr/>
          <p:nvPr/>
        </p:nvGrpSpPr>
        <p:grpSpPr>
          <a:xfrm>
            <a:off x="2003305" y="1622771"/>
            <a:ext cx="7844527" cy="646331"/>
            <a:chOff x="1235487" y="1664651"/>
            <a:chExt cx="7844527" cy="64633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132909C-4210-B7C6-6264-9E676B6DFC76}"/>
                </a:ext>
              </a:extLst>
            </p:cNvPr>
            <p:cNvSpPr txBox="1"/>
            <p:nvPr/>
          </p:nvSpPr>
          <p:spPr>
            <a:xfrm>
              <a:off x="1235487" y="1803150"/>
              <a:ext cx="1382070" cy="36933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model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89BE0CB-2A7D-C229-AFC9-5BF4719484EE}"/>
                </a:ext>
              </a:extLst>
            </p:cNvPr>
            <p:cNvSpPr txBox="1"/>
            <p:nvPr/>
          </p:nvSpPr>
          <p:spPr>
            <a:xfrm>
              <a:off x="7697944" y="1803150"/>
              <a:ext cx="1382070" cy="36933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policy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B4592D7-75C0-B204-9530-9D49D28A6898}"/>
                </a:ext>
              </a:extLst>
            </p:cNvPr>
            <p:cNvSpPr txBox="1"/>
            <p:nvPr/>
          </p:nvSpPr>
          <p:spPr>
            <a:xfrm>
              <a:off x="3426674" y="1664651"/>
              <a:ext cx="13820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simulated</a:t>
              </a:r>
              <a:br>
                <a:rPr lang="en-US" dirty="0"/>
              </a:br>
              <a:r>
                <a:rPr lang="en-US" dirty="0"/>
                <a:t>experience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1265DE1-41B7-CFF3-60D4-51B42E481940}"/>
                </a:ext>
              </a:extLst>
            </p:cNvPr>
            <p:cNvSpPr txBox="1"/>
            <p:nvPr/>
          </p:nvSpPr>
          <p:spPr>
            <a:xfrm>
              <a:off x="5737684" y="1803150"/>
              <a:ext cx="13820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values</a:t>
              </a:r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50978C13-3517-96D4-E8FB-71CEFFB206A1}"/>
                </a:ext>
              </a:extLst>
            </p:cNvPr>
            <p:cNvSpPr/>
            <p:nvPr/>
          </p:nvSpPr>
          <p:spPr>
            <a:xfrm>
              <a:off x="2889783" y="1803150"/>
              <a:ext cx="474651" cy="369332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74D235BE-819F-829F-C8A4-586EF9BB7720}"/>
                </a:ext>
              </a:extLst>
            </p:cNvPr>
            <p:cNvSpPr/>
            <p:nvPr/>
          </p:nvSpPr>
          <p:spPr>
            <a:xfrm>
              <a:off x="4829101" y="1803150"/>
              <a:ext cx="1144744" cy="369332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backups</a:t>
              </a:r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F33D33E5-31D8-D4FD-3571-3BACF9F6A284}"/>
                </a:ext>
              </a:extLst>
            </p:cNvPr>
            <p:cNvSpPr/>
            <p:nvPr/>
          </p:nvSpPr>
          <p:spPr>
            <a:xfrm>
              <a:off x="6888827" y="1812401"/>
              <a:ext cx="474651" cy="369332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493622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A3EEFEA-0015-8BCC-C791-B934FAEDB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BC8F79-3E91-A277-FC6D-5703A7729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Integrating Planning, Acting, and Learning</a:t>
            </a:r>
          </a:p>
        </p:txBody>
      </p:sp>
    </p:spTree>
    <p:extLst>
      <p:ext uri="{BB962C8B-B14F-4D97-AF65-F5344CB8AC3E}">
        <p14:creationId xmlns:p14="http://schemas.microsoft.com/office/powerpoint/2010/main" val="2665413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96584-F4DC-4CCF-DAD5-C0800840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Dyna: Integrating Planning, Acting, and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2B9BF-6244-6E3F-DF65-DFA52504F8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379278" cy="4779633"/>
              </a:xfrm>
            </p:spPr>
            <p:txBody>
              <a:bodyPr/>
              <a:lstStyle/>
              <a:p>
                <a:r>
                  <a:rPr lang="en-US" dirty="0"/>
                  <a:t>Model Learning: </a:t>
                </a:r>
              </a:p>
              <a:p>
                <a:pPr lvl="1"/>
                <a:r>
                  <a:rPr lang="en-US" dirty="0"/>
                  <a:t>Real experience is used to learn a model. E.g., by recording for each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 model can be used for planning to improve the value function/policy. E.g., by sampling from the model to update the Q-values. </a:t>
                </a:r>
              </a:p>
              <a:p>
                <a:r>
                  <a:rPr lang="en-US" dirty="0"/>
                  <a:t>Direct RL: </a:t>
                </a:r>
              </a:p>
              <a:p>
                <a:pPr lvl="1"/>
                <a:r>
                  <a:rPr lang="en-US" dirty="0"/>
                  <a:t>Use the experience directly to improve the value function/policy. E.g., via one-step Q-learning.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2B9BF-6244-6E3F-DF65-DFA52504F8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379278" cy="4779633"/>
              </a:xfrm>
              <a:blipFill>
                <a:blip r:embed="rId2"/>
                <a:stretch>
                  <a:fillRect l="-1721" t="-2168" r="-21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13EC5060-ED9D-A7CB-C624-3FD02CBD1E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961" y="1720207"/>
            <a:ext cx="4326058" cy="3417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906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5BE67-97CC-F251-532A-623A2647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Dyna-Q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592F7C4-E638-E7F0-C86E-4207F5C5A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8343" y="399914"/>
            <a:ext cx="3977112" cy="314191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4937AB9C-6AA5-A7EB-5688-445A6D78D962}"/>
              </a:ext>
            </a:extLst>
          </p:cNvPr>
          <p:cNvGrpSpPr>
            <a:grpSpLocks noChangeAspect="1"/>
          </p:cNvGrpSpPr>
          <p:nvPr/>
        </p:nvGrpSpPr>
        <p:grpSpPr>
          <a:xfrm>
            <a:off x="707573" y="2687949"/>
            <a:ext cx="7922078" cy="3558916"/>
            <a:chOff x="1045029" y="1690688"/>
            <a:chExt cx="9799864" cy="455097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CB7BD3E-BFBF-D93E-B3A8-87CE35EB3E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45029" y="1690688"/>
              <a:ext cx="9799864" cy="4550975"/>
            </a:xfrm>
            <a:prstGeom prst="rect">
              <a:avLst/>
            </a:prstGeom>
          </p:spPr>
        </p:pic>
        <p:sp>
          <p:nvSpPr>
            <p:cNvPr id="8" name="Speech Bubble: Rectangle with Corners Rounded 7">
              <a:extLst>
                <a:ext uri="{FF2B5EF4-FFF2-40B4-BE49-F238E27FC236}">
                  <a16:creationId xmlns:a16="http://schemas.microsoft.com/office/drawing/2014/main" id="{43AABACC-352B-D6F3-1630-3C22810331E2}"/>
                </a:ext>
              </a:extLst>
            </p:cNvPr>
            <p:cNvSpPr/>
            <p:nvPr/>
          </p:nvSpPr>
          <p:spPr>
            <a:xfrm>
              <a:off x="8899695" y="3652068"/>
              <a:ext cx="1577515" cy="314107"/>
            </a:xfrm>
            <a:prstGeom prst="wedgeRoundRectCallout">
              <a:avLst>
                <a:gd name="adj1" fmla="val -88975"/>
                <a:gd name="adj2" fmla="val 67702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Direct RL</a:t>
              </a:r>
            </a:p>
          </p:txBody>
        </p:sp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34714BA1-C236-3E36-3CE9-E93B07A696BD}"/>
                </a:ext>
              </a:extLst>
            </p:cNvPr>
            <p:cNvSpPr/>
            <p:nvPr/>
          </p:nvSpPr>
          <p:spPr>
            <a:xfrm>
              <a:off x="8753111" y="4153191"/>
              <a:ext cx="432770" cy="175899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168B176-252B-01A8-D5CF-A6F29DF4DCE4}"/>
                </a:ext>
              </a:extLst>
            </p:cNvPr>
            <p:cNvSpPr txBox="1"/>
            <p:nvPr/>
          </p:nvSpPr>
          <p:spPr>
            <a:xfrm>
              <a:off x="9248702" y="4432525"/>
              <a:ext cx="1291329" cy="137749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/>
                <a:t>Model learning and planning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19483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5C8AC25-EC4C-3842-F311-7347DBC1A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Effect of Planning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CE6196-0C58-18A7-BA50-D3B376B60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8172" y="2290268"/>
            <a:ext cx="7086022" cy="4108300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0268D5-3842-005A-9D87-7A037B2EC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788532"/>
            <a:ext cx="5623420" cy="547804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Planning is a problem if the model is wrong:</a:t>
            </a:r>
          </a:p>
          <a:p>
            <a:pPr lvl="1"/>
            <a:r>
              <a:rPr lang="en-US" dirty="0"/>
              <a:t>Based on an insufficient number of samples</a:t>
            </a:r>
          </a:p>
          <a:p>
            <a:pPr lvl="1"/>
            <a:r>
              <a:rPr lang="en-US" dirty="0"/>
              <a:t>Function approximation not great.</a:t>
            </a:r>
          </a:p>
          <a:p>
            <a:pPr lvl="1"/>
            <a:r>
              <a:rPr lang="en-US" dirty="0"/>
              <a:t> Environment changes</a:t>
            </a:r>
          </a:p>
          <a:p>
            <a:r>
              <a:rPr lang="en-US" dirty="0"/>
              <a:t>Dyna quickly corrects too optimistic predictions since they will be selected for the next real action.</a:t>
            </a:r>
          </a:p>
          <a:p>
            <a:r>
              <a:rPr lang="en-US" dirty="0"/>
              <a:t>For changing environments:</a:t>
            </a:r>
          </a:p>
          <a:p>
            <a:pPr lvl="1"/>
            <a:r>
              <a:rPr lang="en-US" dirty="0"/>
              <a:t>Keep exploring.</a:t>
            </a:r>
          </a:p>
          <a:p>
            <a:pPr lvl="1"/>
            <a:r>
              <a:rPr lang="en-US" dirty="0"/>
              <a:t>Keep track of long action/state combinations that were not tried.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DD7C64-C1A1-FB35-0D32-2A24236A5812}"/>
              </a:ext>
            </a:extLst>
          </p:cNvPr>
          <p:cNvSpPr txBox="1"/>
          <p:nvPr/>
        </p:nvSpPr>
        <p:spPr>
          <a:xfrm>
            <a:off x="914400" y="1585450"/>
            <a:ext cx="1795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Planning helps!</a:t>
            </a:r>
          </a:p>
        </p:txBody>
      </p:sp>
    </p:spTree>
    <p:extLst>
      <p:ext uri="{BB962C8B-B14F-4D97-AF65-F5344CB8AC3E}">
        <p14:creationId xmlns:p14="http://schemas.microsoft.com/office/powerpoint/2010/main" val="36369974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D2E0C-9397-0251-BE88-27DE9E96C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8D0E66-448A-2B1F-DC4F-AFCD2FF3C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DA9A14-34CA-9AC7-415D-3D9BB2C1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updates on sampled experience</a:t>
            </a:r>
          </a:p>
        </p:txBody>
      </p:sp>
    </p:spTree>
    <p:extLst>
      <p:ext uri="{BB962C8B-B14F-4D97-AF65-F5344CB8AC3E}">
        <p14:creationId xmlns:p14="http://schemas.microsoft.com/office/powerpoint/2010/main" val="5865797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0859C-00DA-DABF-41E1-705430742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466033" cy="759072"/>
          </a:xfrm>
        </p:spPr>
        <p:txBody>
          <a:bodyPr>
            <a:normAutofit fontScale="90000"/>
          </a:bodyPr>
          <a:lstStyle/>
          <a:p>
            <a:r>
              <a:rPr lang="en-US" dirty="0"/>
              <a:t>Expected vs. Sample Updates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98651C-D732-C69E-3D6A-B222E9D9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723" y="302003"/>
            <a:ext cx="4049567" cy="62539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B3DD2-F232-A22F-AD76-91496286CE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632643" cy="477963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Expected updates (DP)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←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/>
                      <m:e>
                        <m:acc>
                          <m:accPr>
                            <m:chr m:val="̂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  <m:d>
                          <m:d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func>
                              <m:func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sSup>
                                      <m:sSup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p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lim>
                                </m:limLow>
                              </m:fNam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Sample updates (on-step TD)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b="0" i="0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Sampling adds sample error but is computationally much cheaper.</a:t>
                </a:r>
              </a:p>
              <a:p>
                <a:endParaRPr lang="en-US" dirty="0"/>
              </a:p>
              <a:p>
                <a:r>
                  <a:rPr lang="en-US" dirty="0"/>
                  <a:t>Side note: If only one action is possible, they are the same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B3DD2-F232-A22F-AD76-91496286CE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632643" cy="4779633"/>
              </a:xfrm>
              <a:blipFill>
                <a:blip r:embed="rId3"/>
                <a:stretch>
                  <a:fillRect l="-1103" t="-13010" r="-1838" b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2533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9411D-BBDC-AF30-3190-3A23C8BCD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Trajectory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061D648-25D0-1C74-A02E-08D2F51FD3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DP sweeps through all states in each iteration. </a:t>
                </a:r>
                <a:br>
                  <a:rPr lang="en-US" dirty="0"/>
                </a:br>
                <a:r>
                  <a:rPr lang="en-US" dirty="0"/>
                  <a:t>Converges when action/state pairs are visited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times. </a:t>
                </a:r>
                <a:br>
                  <a:rPr lang="en-US" dirty="0"/>
                </a:br>
                <a:r>
                  <a:rPr lang="en-US" dirty="0"/>
                  <a:t>Issue: many states are only visited for bad policies!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Trajectory sampling</a:t>
                </a:r>
                <a:endParaRPr lang="en-US" dirty="0"/>
              </a:p>
              <a:p>
                <a:r>
                  <a:rPr lang="en-US" dirty="0"/>
                  <a:t>Sample trajectories using the current policy (= uses the on-policy distribution over the states). </a:t>
                </a:r>
                <a:br>
                  <a:rPr lang="en-US" dirty="0"/>
                </a:br>
                <a:r>
                  <a:rPr lang="en-US" dirty="0"/>
                  <a:t>Converges if it continues to explore (use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policy).</a:t>
                </a:r>
              </a:p>
              <a:p>
                <a:r>
                  <a:rPr lang="en-US" dirty="0"/>
                  <a:t>Use the samples as the experience input for any model-free method.</a:t>
                </a:r>
              </a:p>
              <a:p>
                <a:endParaRPr lang="en-US" dirty="0"/>
              </a:p>
              <a:p>
                <a:r>
                  <a:rPr lang="en-US" dirty="0"/>
                  <a:t>Note: This is similar to off-policy MC control with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behavior policy.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061D648-25D0-1C74-A02E-08D2F51FD3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551" b="-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15324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6E25EF-48DC-A4AE-65BF-0EC0DC35F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Heuristic Search and </a:t>
            </a:r>
            <a:br>
              <a:rPr lang="en-US" dirty="0"/>
            </a:br>
            <a:r>
              <a:rPr lang="en-US" dirty="0"/>
              <a:t>Rollout Algorithms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DAFEA0-2CFA-4384-CF4E-F3C845C837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Decision-time planning</a:t>
            </a:r>
          </a:p>
        </p:txBody>
      </p:sp>
    </p:spTree>
    <p:extLst>
      <p:ext uri="{BB962C8B-B14F-4D97-AF65-F5344CB8AC3E}">
        <p14:creationId xmlns:p14="http://schemas.microsoft.com/office/powerpoint/2010/main" val="6823953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A6356EF-E592-3AC7-97BD-5A89144E77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5917" y="2076147"/>
            <a:ext cx="6456730" cy="3213065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540E156-9D3F-D3EF-4006-10719CAD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Heuristic Search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9E62A12-5D57-D939-F926-D55F98DA33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656364" cy="477963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At decision time: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Consider a large tree of possible continuations (trajectories of a given length) for the current state.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Apply an approx. value function to the states in leaf nodes.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values towards the current state (using max).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Choose the best next action for the current state.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9CBFCEF7-963A-4187-6A15-D0E256203C8E}"/>
              </a:ext>
            </a:extLst>
          </p:cNvPr>
          <p:cNvSpPr/>
          <p:nvPr/>
        </p:nvSpPr>
        <p:spPr>
          <a:xfrm>
            <a:off x="5758626" y="5514378"/>
            <a:ext cx="2142906" cy="359863"/>
          </a:xfrm>
          <a:prstGeom prst="wedgeRoundRectCallout">
            <a:avLst>
              <a:gd name="adj1" fmla="val -21943"/>
              <a:gd name="adj2" fmla="val -38390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2. Estimate value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E4EFD103-2544-1279-0631-58B4728E2AD2}"/>
              </a:ext>
            </a:extLst>
          </p:cNvPr>
          <p:cNvSpPr/>
          <p:nvPr/>
        </p:nvSpPr>
        <p:spPr>
          <a:xfrm flipV="1">
            <a:off x="11154283" y="2910721"/>
            <a:ext cx="781777" cy="21027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3. backup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25F441F9-26AE-4857-0003-6C4FFDACE6EE}"/>
              </a:ext>
            </a:extLst>
          </p:cNvPr>
          <p:cNvSpPr/>
          <p:nvPr/>
        </p:nvSpPr>
        <p:spPr>
          <a:xfrm>
            <a:off x="7689758" y="1206901"/>
            <a:ext cx="2142906" cy="359863"/>
          </a:xfrm>
          <a:prstGeom prst="wedgeRoundRectCallout">
            <a:avLst>
              <a:gd name="adj1" fmla="val -41487"/>
              <a:gd name="adj2" fmla="val 23291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4. Pick best action</a:t>
            </a:r>
          </a:p>
        </p:txBody>
      </p:sp>
    </p:spTree>
    <p:extLst>
      <p:ext uri="{BB962C8B-B14F-4D97-AF65-F5344CB8AC3E}">
        <p14:creationId xmlns:p14="http://schemas.microsoft.com/office/powerpoint/2010/main" val="28687132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21C83-C1A9-FB6C-6458-7E7642296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Rollout Algorithms (Monte Carlo Estimates)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2524-2F85-6F77-02EE-038ACB2CB2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Use simulated trajectories to approximate all state/action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Simulation follows a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called the playout policy.</a:t>
                </a:r>
              </a:p>
              <a:p>
                <a:r>
                  <a:rPr lang="en-US" dirty="0"/>
                  <a:t>Choose the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greedily from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estimates.</a:t>
                </a:r>
              </a:p>
              <a:p>
                <a:r>
                  <a:rPr lang="en-US" dirty="0"/>
                  <a:t>A new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 </m:t>
                    </m:r>
                  </m:oMath>
                </a14:m>
                <a:r>
                  <a:rPr lang="en-US" dirty="0"/>
                  <a:t>that uses follows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and then follows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is has a good chance to improve 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(policy improvement theorem).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2524-2F85-6F77-02EE-038ACB2CB2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54759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29CDF0-6E54-CF31-4006-DA0CE95A6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910" y="1224786"/>
            <a:ext cx="6086998" cy="38977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B9468A3-760E-EC4A-9394-247656C37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Tree Search (MCTS)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45C3E-18E2-0CBC-535D-7E0DD489F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5023757" cy="477963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 rollout algorithm that stores some intermediate estimates in a depth-limited tree structure. </a:t>
            </a:r>
          </a:p>
          <a:p>
            <a:pPr lvl="1"/>
            <a:r>
              <a:rPr lang="en-US" dirty="0"/>
              <a:t>Selection: Pick the currently best leaf node (e.g., greedy, UCB).</a:t>
            </a:r>
          </a:p>
          <a:p>
            <a:pPr lvl="1"/>
            <a:r>
              <a:rPr lang="en-US" dirty="0"/>
              <a:t>Expansion: Add new nodes, but keep the tree small enough.</a:t>
            </a:r>
          </a:p>
          <a:p>
            <a:pPr lvl="1"/>
            <a:r>
              <a:rPr lang="en-US" dirty="0"/>
              <a:t>Simulation: From a selected node, simulate complete episode(s). </a:t>
            </a:r>
          </a:p>
          <a:p>
            <a:pPr lvl="1"/>
            <a:r>
              <a:rPr lang="en-US" dirty="0"/>
              <a:t>Backup: update the tree with the result of the playout.</a:t>
            </a:r>
          </a:p>
          <a:p>
            <a:endParaRPr lang="en-US" dirty="0"/>
          </a:p>
          <a:p>
            <a:r>
              <a:rPr lang="en-US" b="1" dirty="0"/>
              <a:t>Advantage</a:t>
            </a:r>
            <a:r>
              <a:rPr lang="en-US" dirty="0"/>
              <a:t>: selection steers the simulation towards better trajectories. This avoids trying to approximate the complete value function.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8435328-960F-3341-B5FD-2B3A09AB85A7}"/>
                  </a:ext>
                </a:extLst>
              </p:cNvPr>
              <p:cNvSpPr/>
              <p:nvPr/>
            </p:nvSpPr>
            <p:spPr>
              <a:xfrm>
                <a:off x="6254217" y="5018730"/>
                <a:ext cx="1221527" cy="816678"/>
              </a:xfrm>
              <a:prstGeom prst="wedgeRoundRectCallout">
                <a:avLst>
                  <a:gd name="adj1" fmla="val -21404"/>
                  <a:gd name="adj2" fmla="val -25630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Stores estimated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values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8435328-960F-3341-B5FD-2B3A09AB85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217" y="5018730"/>
                <a:ext cx="1221527" cy="816678"/>
              </a:xfrm>
              <a:prstGeom prst="wedgeRoundRectCallout">
                <a:avLst>
                  <a:gd name="adj1" fmla="val -21404"/>
                  <a:gd name="adj2" fmla="val -256303"/>
                  <a:gd name="adj3" fmla="val 16667"/>
                </a:avLst>
              </a:prstGeom>
              <a:blipFill>
                <a:blip r:embed="rId3"/>
                <a:stretch>
                  <a:fillRect b="-4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9140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6C1A847-B97D-1186-7912-8860BCCD6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509B4D-9FF9-9341-267D-144762D563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9725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2967B-B41E-CCE0-ED2B-9ED416463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1B6DA-A372-993E-5FE0-1B16BA463B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Planning requires a model of the environment. </a:t>
            </a:r>
          </a:p>
          <a:p>
            <a:pPr lvl="1"/>
            <a:r>
              <a:rPr lang="en-US" dirty="0"/>
              <a:t>Distribution model</a:t>
            </a:r>
          </a:p>
          <a:p>
            <a:pPr lvl="1"/>
            <a:r>
              <a:rPr lang="en-US" dirty="0"/>
              <a:t>Sample model</a:t>
            </a:r>
          </a:p>
          <a:p>
            <a:endParaRPr lang="en-US" dirty="0"/>
          </a:p>
          <a:p>
            <a:r>
              <a:rPr lang="en-US" dirty="0"/>
              <a:t>DP requires a distribution model because it uses expected updates.</a:t>
            </a:r>
          </a:p>
          <a:p>
            <a:r>
              <a:rPr lang="en-US" dirty="0"/>
              <a:t>RL models like TD can use a sample model to perform sample updates.</a:t>
            </a:r>
          </a:p>
          <a:p>
            <a:r>
              <a:rPr lang="en-US" dirty="0"/>
              <a:t>Decision-time planning can also use a sample model. E.g., rollout algorithms sample trajectories.  </a:t>
            </a:r>
          </a:p>
          <a:p>
            <a:endParaRPr lang="en-US" dirty="0"/>
          </a:p>
          <a:p>
            <a:r>
              <a:rPr lang="en-US" dirty="0"/>
              <a:t>Planning and learning are related: They try to estimate the same value function.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1798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B29DCF-5823-DFE3-76A3-9921453D8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Part 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2D5D64-9B74-CBE4-593F-CD0BD612F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Tabular solution methods</a:t>
            </a:r>
          </a:p>
        </p:txBody>
      </p:sp>
    </p:spTree>
    <p:extLst>
      <p:ext uri="{BB962C8B-B14F-4D97-AF65-F5344CB8AC3E}">
        <p14:creationId xmlns:p14="http://schemas.microsoft.com/office/powerpoint/2010/main" val="6851846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4759B-BFB3-E9E3-B86B-928B804D5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B916F-83BD-942C-05F0-07CE48F74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6730093" cy="477963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Estimate a value function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up along actual or possible state trajectories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Generalized policy iteration (GPI): maintain an approx. value function and an approx. policy. Each is used to update the other. Converges due to the policy improvement theorem.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034BB89-D9AD-752C-0116-E0F49DEE26E2}"/>
              </a:ext>
            </a:extLst>
          </p:cNvPr>
          <p:cNvGrpSpPr/>
          <p:nvPr/>
        </p:nvGrpSpPr>
        <p:grpSpPr>
          <a:xfrm>
            <a:off x="8329133" y="1064072"/>
            <a:ext cx="2751579" cy="4729856"/>
            <a:chOff x="8329133" y="558128"/>
            <a:chExt cx="2751579" cy="472985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D7366F6-2509-4BE8-74F6-EEAFAB9B3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29133" y="1124198"/>
              <a:ext cx="2751579" cy="4163786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51D61-2411-6879-B37C-B7CD2548ECAE}"/>
                </a:ext>
              </a:extLst>
            </p:cNvPr>
            <p:cNvSpPr txBox="1"/>
            <p:nvPr/>
          </p:nvSpPr>
          <p:spPr>
            <a:xfrm>
              <a:off x="8709548" y="558128"/>
              <a:ext cx="164102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GPI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13093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2B106-F46F-71F6-E8A8-A93D086D6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Depth vs. Update Width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DB6AFE-8E14-4667-7D60-A58A0303A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923" y="1210540"/>
            <a:ext cx="5383802" cy="501540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CA57B6F-AFA2-C742-A3A7-F8BFC16F658E}"/>
              </a:ext>
            </a:extLst>
          </p:cNvPr>
          <p:cNvGrpSpPr/>
          <p:nvPr/>
        </p:nvGrpSpPr>
        <p:grpSpPr>
          <a:xfrm>
            <a:off x="623171" y="1537220"/>
            <a:ext cx="2169697" cy="3783559"/>
            <a:chOff x="9600257" y="1526721"/>
            <a:chExt cx="2169697" cy="378355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11F3E45-0A95-EED3-B84E-EEFE207BB62B}"/>
                </a:ext>
              </a:extLst>
            </p:cNvPr>
            <p:cNvSpPr txBox="1"/>
            <p:nvPr/>
          </p:nvSpPr>
          <p:spPr>
            <a:xfrm>
              <a:off x="9658670" y="1526721"/>
              <a:ext cx="20528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One-step methods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7377371-CF2F-F011-0779-F30E76BC4BB4}"/>
                </a:ext>
              </a:extLst>
            </p:cNvPr>
            <p:cNvSpPr txBox="1"/>
            <p:nvPr/>
          </p:nvSpPr>
          <p:spPr>
            <a:xfrm>
              <a:off x="9803742" y="3244334"/>
              <a:ext cx="17627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n-step methods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CB11024-C75F-4F34-33B5-AF6E80BF33E8}"/>
                </a:ext>
              </a:extLst>
            </p:cNvPr>
            <p:cNvSpPr txBox="1"/>
            <p:nvPr/>
          </p:nvSpPr>
          <p:spPr>
            <a:xfrm>
              <a:off x="9600257" y="4940948"/>
              <a:ext cx="21696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Full-return methods</a:t>
              </a:r>
            </a:p>
          </p:txBody>
        </p:sp>
        <p:sp>
          <p:nvSpPr>
            <p:cNvPr id="8" name="Arrow: Down 7">
              <a:extLst>
                <a:ext uri="{FF2B5EF4-FFF2-40B4-BE49-F238E27FC236}">
                  <a16:creationId xmlns:a16="http://schemas.microsoft.com/office/drawing/2014/main" id="{14776485-2079-FEC2-09A9-7017DA2CC2F5}"/>
                </a:ext>
              </a:extLst>
            </p:cNvPr>
            <p:cNvSpPr/>
            <p:nvPr/>
          </p:nvSpPr>
          <p:spPr>
            <a:xfrm>
              <a:off x="10378945" y="2081893"/>
              <a:ext cx="612321" cy="103686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Down 8">
              <a:extLst>
                <a:ext uri="{FF2B5EF4-FFF2-40B4-BE49-F238E27FC236}">
                  <a16:creationId xmlns:a16="http://schemas.microsoft.com/office/drawing/2014/main" id="{41E61BFF-8CD8-FB08-066F-8BE63D8D46A9}"/>
                </a:ext>
              </a:extLst>
            </p:cNvPr>
            <p:cNvSpPr/>
            <p:nvPr/>
          </p:nvSpPr>
          <p:spPr>
            <a:xfrm>
              <a:off x="10378945" y="3762766"/>
              <a:ext cx="612321" cy="103686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4C207F5-CAC8-12B2-B67A-66F8D1C74980}"/>
              </a:ext>
            </a:extLst>
          </p:cNvPr>
          <p:cNvGrpSpPr/>
          <p:nvPr/>
        </p:nvGrpSpPr>
        <p:grpSpPr>
          <a:xfrm>
            <a:off x="2938556" y="6161314"/>
            <a:ext cx="5326628" cy="551543"/>
            <a:chOff x="2938556" y="6161314"/>
            <a:chExt cx="5326628" cy="551543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365FAD9-46E0-2ED7-7960-D6D32A45196B}"/>
                </a:ext>
              </a:extLst>
            </p:cNvPr>
            <p:cNvSpPr txBox="1"/>
            <p:nvPr/>
          </p:nvSpPr>
          <p:spPr>
            <a:xfrm>
              <a:off x="2938556" y="6252419"/>
              <a:ext cx="20748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Sampled trajectory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7793D0C-B4CF-EC6C-54B8-83A8347068BF}"/>
                </a:ext>
              </a:extLst>
            </p:cNvPr>
            <p:cNvSpPr txBox="1"/>
            <p:nvPr/>
          </p:nvSpPr>
          <p:spPr>
            <a:xfrm>
              <a:off x="6096000" y="6252419"/>
              <a:ext cx="21691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Consider all actions</a:t>
              </a:r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569A355E-8C8B-CA9F-BE38-4BCBB51D550C}"/>
                </a:ext>
              </a:extLst>
            </p:cNvPr>
            <p:cNvSpPr/>
            <p:nvPr/>
          </p:nvSpPr>
          <p:spPr>
            <a:xfrm>
              <a:off x="5174343" y="6161314"/>
              <a:ext cx="718457" cy="551543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07235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CFAD6-8953-D14F-C853-F13F480B1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vs. Off-Policy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1F75A-ED78-4D7C-E025-9485BB928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On-Policy: Learn the policy the agent is following</a:t>
            </a:r>
          </a:p>
          <a:p>
            <a:r>
              <a:rPr lang="en-US" dirty="0"/>
              <a:t>Off-Policy: Learn a target policy that is different from the followed (behavior) policy.  </a:t>
            </a:r>
          </a:p>
        </p:txBody>
      </p:sp>
    </p:spTree>
    <p:extLst>
      <p:ext uri="{BB962C8B-B14F-4D97-AF65-F5344CB8AC3E}">
        <p14:creationId xmlns:p14="http://schemas.microsoft.com/office/powerpoint/2010/main" val="38689392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6C101-39C4-5534-A3ED-9D36AB8B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Dimensions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60D31-9CD5-1596-21BF-AD897227AF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Definition of return: episodic vs. continuing task; discounted vs. undiscounted.</a:t>
            </a:r>
          </a:p>
          <a:p>
            <a:r>
              <a:rPr lang="en-US" dirty="0"/>
              <a:t>Action values vs. state values</a:t>
            </a:r>
          </a:p>
          <a:p>
            <a:r>
              <a:rPr lang="en-US" dirty="0"/>
              <a:t>Exploration vs Exploitation: How are actions selected to ensure a trade-off between exploration and exploitation? Many methods need exploration to converge.</a:t>
            </a:r>
          </a:p>
          <a:p>
            <a:r>
              <a:rPr lang="en-US" dirty="0"/>
              <a:t>Synchronous vs. Asynchronous: Are all states updated as once or on-by-one in some order?</a:t>
            </a:r>
          </a:p>
          <a:p>
            <a:r>
              <a:rPr lang="en-US" dirty="0"/>
              <a:t>Real vs. Simulated: Is real experience or simulations or both used for updates?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7100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A6DFC-1DF7-340A-8A49-67E7A508E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Tabular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46212-D3F8-9478-4414-6401E13D0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Tables need much space. A complete table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-values has size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  <m:r>
                          <m:rPr>
                            <m:nor/>
                          </m:rPr>
                          <a:rPr lang="en-US" dirty="0"/>
                          <m:t> 	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×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e>
                        </m:d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The state space size is typically extremely large or may even be infinite for continuous spaces.</a:t>
                </a:r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We need a lot of data to estimate all entries.</a:t>
                </a:r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Two states may be very similar and therefore should have similar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-values. Tabular methods do not take this into account.</a:t>
                </a:r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dirty="0"/>
                  <a:t>Next, we will talk about approximate solution methods to deal with </a:t>
                </a:r>
                <a:r>
                  <a:rPr lang="en-US"/>
                  <a:t>these issues.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46212-D3F8-9478-4414-6401E13D0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806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49626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8682</TotalTime>
  <Words>1612</Words>
  <Application>Microsoft Office PowerPoint</Application>
  <PresentationFormat>Widescreen</PresentationFormat>
  <Paragraphs>176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Planning and Learning with Tabular Methods Sutton/Barto* Chapter 8</vt:lpstr>
      <vt:lpstr>Summary of Notation</vt:lpstr>
      <vt:lpstr>Planning vs. Learning</vt:lpstr>
      <vt:lpstr>Planning vs. Learning</vt:lpstr>
      <vt:lpstr>Models and Planning</vt:lpstr>
      <vt:lpstr>General Approach</vt:lpstr>
      <vt:lpstr>Dyna</vt:lpstr>
      <vt:lpstr>Dyna: Integrating Planning, Acting, and Learning</vt:lpstr>
      <vt:lpstr>Alg. Tabular Dyna-Q</vt:lpstr>
      <vt:lpstr>The Effect of Planning</vt:lpstr>
      <vt:lpstr>Sampling</vt:lpstr>
      <vt:lpstr>Expected vs. Sample Updates</vt:lpstr>
      <vt:lpstr>Trajectory Sampling</vt:lpstr>
      <vt:lpstr>Heuristic Search and  Rollout Algorithms</vt:lpstr>
      <vt:lpstr>Heuristic Search</vt:lpstr>
      <vt:lpstr>Rollout Algorithms (Monte Carlo Estimates)</vt:lpstr>
      <vt:lpstr>Monte Carlo Tree Search (MCTS)</vt:lpstr>
      <vt:lpstr>Summary</vt:lpstr>
      <vt:lpstr>Summary</vt:lpstr>
      <vt:lpstr>Summary of Part I</vt:lpstr>
      <vt:lpstr>Common Ideas</vt:lpstr>
      <vt:lpstr>Update Depth vs. Update Width</vt:lpstr>
      <vt:lpstr>On-Policy vs. Off-Policy</vt:lpstr>
      <vt:lpstr>Other Dimensions</vt:lpstr>
      <vt:lpstr>Issues with Tabular Methods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164</cp:revision>
  <dcterms:created xsi:type="dcterms:W3CDTF">2025-09-08T14:44:49Z</dcterms:created>
  <dcterms:modified xsi:type="dcterms:W3CDTF">2025-11-29T19:04:32Z</dcterms:modified>
</cp:coreProperties>
</file>