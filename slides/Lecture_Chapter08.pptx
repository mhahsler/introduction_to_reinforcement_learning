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93" r:id="rId4"/>
    <p:sldId id="385" r:id="rId5"/>
    <p:sldId id="386" r:id="rId6"/>
    <p:sldId id="392" r:id="rId7"/>
    <p:sldId id="388" r:id="rId8"/>
    <p:sldId id="389" r:id="rId9"/>
    <p:sldId id="390" r:id="rId10"/>
    <p:sldId id="394" r:id="rId11"/>
    <p:sldId id="391" r:id="rId12"/>
    <p:sldId id="396" r:id="rId13"/>
    <p:sldId id="398" r:id="rId14"/>
    <p:sldId id="399" r:id="rId15"/>
    <p:sldId id="400" r:id="rId16"/>
    <p:sldId id="402" r:id="rId17"/>
    <p:sldId id="403" r:id="rId18"/>
    <p:sldId id="404" r:id="rId19"/>
    <p:sldId id="405" r:id="rId20"/>
    <p:sldId id="406" r:id="rId21"/>
    <p:sldId id="407" r:id="rId22"/>
    <p:sldId id="40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013588"/>
            <a:ext cx="10515600" cy="202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methods:</a:t>
            </a:r>
          </a:p>
          <a:p>
            <a:pPr lvl="1"/>
            <a:r>
              <a:rPr lang="en-US" dirty="0"/>
              <a:t>Compute a value function/policy.</a:t>
            </a:r>
          </a:p>
          <a:p>
            <a:pPr lvl="1"/>
            <a:r>
              <a:rPr lang="en-US" dirty="0"/>
              <a:t>Look ahead to future events and compute a backed-up value to update an approximate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trajectory sampling.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 or expensive. 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6895810" cy="471728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the experience directly to improve the value function/policy.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learn a model.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planning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Makes the approach much more sample efficient. Experience is not just used once but retained in the model.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6895810" cy="4717283"/>
              </a:xfrm>
              <a:blipFill>
                <a:blip r:embed="rId3"/>
                <a:stretch>
                  <a:fillRect l="-1502" t="-3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7922078" cy="3558916"/>
            <a:chOff x="1027761" y="1690688"/>
            <a:chExt cx="9799864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899695" y="3652068"/>
              <a:ext cx="1577515" cy="314107"/>
            </a:xfrm>
            <a:prstGeom prst="wedgeRoundRectCallout">
              <a:avLst>
                <a:gd name="adj1" fmla="val -88975"/>
                <a:gd name="adj2" fmla="val 67702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74609" y="5078516"/>
              <a:ext cx="1308546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Planning</a:t>
              </a: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8DF5D581-CEB0-AD06-59A9-C85B97349AB2}"/>
              </a:ext>
            </a:extLst>
          </p:cNvPr>
          <p:cNvSpPr/>
          <p:nvPr/>
        </p:nvSpPr>
        <p:spPr>
          <a:xfrm>
            <a:off x="7134546" y="4567465"/>
            <a:ext cx="2011202" cy="239484"/>
          </a:xfrm>
          <a:prstGeom prst="wedgeRoundRectCallout">
            <a:avLst>
              <a:gd name="adj1" fmla="val -65028"/>
              <a:gd name="adj2" fmla="val 123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Model learning</a:t>
            </a:r>
          </a:p>
        </p:txBody>
      </p:sp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268D5-3842-005A-9D87-7A037B2EC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396030"/>
            <a:ext cx="5623420" cy="4870545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Benefit</a:t>
            </a:r>
            <a:r>
              <a:rPr lang="en-US" dirty="0"/>
              <a:t>: Adding planning speeds learning by reusing sampled experience.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 Planning is a problem if the model is wrong:</a:t>
            </a:r>
          </a:p>
          <a:p>
            <a:pPr lvl="1"/>
            <a:r>
              <a:rPr lang="en-US" dirty="0"/>
              <a:t>Based on an insufficient number of samples.</a:t>
            </a:r>
          </a:p>
          <a:p>
            <a:pPr lvl="1"/>
            <a:r>
              <a:rPr lang="en-US" dirty="0"/>
              <a:t>Function approximation not great.</a:t>
            </a:r>
          </a:p>
          <a:p>
            <a:pPr lvl="1"/>
            <a:r>
              <a:rPr lang="en-US" dirty="0"/>
              <a:t>Environment changes</a:t>
            </a:r>
          </a:p>
          <a:p>
            <a:r>
              <a:rPr lang="en-US" dirty="0"/>
              <a:t>Dyna quickly corrects too optimistic predictions since they will be selected for the next real action.</a:t>
            </a:r>
          </a:p>
          <a:p>
            <a:endParaRPr lang="en-US" dirty="0"/>
          </a:p>
          <a:p>
            <a:r>
              <a:rPr lang="en-US" dirty="0"/>
              <a:t>For changing environments:</a:t>
            </a:r>
          </a:p>
          <a:p>
            <a:pPr lvl="1"/>
            <a:r>
              <a:rPr lang="en-US" dirty="0"/>
              <a:t>Keep exploring.</a:t>
            </a:r>
          </a:p>
          <a:p>
            <a:pPr lvl="1"/>
            <a:r>
              <a:rPr lang="en-US" dirty="0"/>
              <a:t>Keep track of long action/state combinations that were not tried.</a:t>
            </a:r>
          </a:p>
        </p:txBody>
      </p:sp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77963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779633"/>
              </a:xfrm>
              <a:blipFill>
                <a:blip r:embed="rId3"/>
                <a:stretch>
                  <a:fillRect l="-1835" t="-2551" r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5758626" y="5514378"/>
            <a:ext cx="2142906" cy="359863"/>
          </a:xfrm>
          <a:prstGeom prst="wedgeRoundRectCallout">
            <a:avLst>
              <a:gd name="adj1" fmla="val -21943"/>
              <a:gd name="adj2" fmla="val -3839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910721"/>
            <a:ext cx="781777" cy="21027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1206901"/>
            <a:ext cx="2142906" cy="359863"/>
          </a:xfrm>
          <a:prstGeom prst="wedgeRoundRectCallout">
            <a:avLst>
              <a:gd name="adj1" fmla="val -41487"/>
              <a:gd name="adj2" fmla="val 2329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427256" y="6217173"/>
            <a:ext cx="5723725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min-max search for games.</a:t>
            </a:r>
          </a:p>
        </p:txBody>
      </p:sp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Monte Carlo Policy Estimation: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rollout policy.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(e.g., a good heuristic),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</a:t>
                </a:r>
              </a:p>
              <a:p>
                <a:r>
                  <a:rPr lang="en-US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49"/>
            <a:ext cx="5951765" cy="4261757"/>
          </a:xfrm>
        </p:spPr>
        <p:txBody>
          <a:bodyPr anchor="ctr">
            <a:normAutofit/>
          </a:bodyPr>
          <a:lstStyle/>
          <a:p>
            <a:r>
              <a:rPr lang="en-US" sz="1600" dirty="0"/>
              <a:t>Planning requires a model of the environment. </a:t>
            </a:r>
          </a:p>
          <a:p>
            <a:pPr lvl="1"/>
            <a:r>
              <a:rPr lang="en-US" sz="1600" dirty="0"/>
              <a:t>Distribution model</a:t>
            </a:r>
          </a:p>
          <a:p>
            <a:pPr lvl="1"/>
            <a:r>
              <a:rPr lang="en-US" sz="1600" dirty="0"/>
              <a:t>Sample model</a:t>
            </a:r>
          </a:p>
          <a:p>
            <a:endParaRPr lang="en-US" sz="1600" dirty="0"/>
          </a:p>
          <a:p>
            <a:r>
              <a:rPr lang="en-US" sz="1600" dirty="0"/>
              <a:t>DP requires a distribution model because it uses expected updates.</a:t>
            </a:r>
          </a:p>
          <a:p>
            <a:r>
              <a:rPr lang="en-US" sz="1600" dirty="0"/>
              <a:t>Model-free RL, like TD, can use a sample model to perform sample updates.</a:t>
            </a:r>
          </a:p>
          <a:p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related: They try to estimate the same value function.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730093" cy="477963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Estimate a value function.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up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Generalized policy iteration (GPI): 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329133" y="1064072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537220"/>
            <a:ext cx="2169697" cy="3783559"/>
            <a:chOff x="9600257" y="1526721"/>
            <a:chExt cx="2169697" cy="378355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526721"/>
              <a:ext cx="2052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938556" y="6161314"/>
            <a:ext cx="5326628" cy="551543"/>
            <a:chOff x="2938556" y="6161314"/>
            <a:chExt cx="5326628" cy="55154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938556" y="6252419"/>
              <a:ext cx="2074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252419"/>
              <a:ext cx="2169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9089814" y="2793168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7752DC-C919-21AB-695A-0B5E14D50DAF}"/>
              </a:ext>
            </a:extLst>
          </p:cNvPr>
          <p:cNvSpPr/>
          <p:nvPr/>
        </p:nvSpPr>
        <p:spPr>
          <a:xfrm>
            <a:off x="5069641" y="4071507"/>
            <a:ext cx="104702" cy="102624"/>
          </a:xfrm>
          <a:prstGeom prst="ellipse">
            <a:avLst/>
          </a:prstGeom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938DCA-3D73-EEA6-5D71-9C1852C94B98}"/>
              </a:ext>
            </a:extLst>
          </p:cNvPr>
          <p:cNvSpPr txBox="1"/>
          <p:nvPr/>
        </p:nvSpPr>
        <p:spPr>
          <a:xfrm>
            <a:off x="5127161" y="3855268"/>
            <a:ext cx="15312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Rollout Algorithms</a:t>
            </a:r>
          </a:p>
        </p:txBody>
      </p: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Learn the policy the agent is following.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Learn a target policy that is different from the followed behavior policy.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Learn optimal policies while exploring</a:t>
            </a:r>
          </a:p>
          <a:p>
            <a:pPr lvl="1"/>
            <a:r>
              <a:rPr lang="en-US" dirty="0"/>
              <a:t>Reuse of data: sample efficiency, offline, and batch RL</a:t>
            </a:r>
          </a:p>
          <a:p>
            <a:pPr lvl="1"/>
            <a:r>
              <a:rPr lang="en-US" dirty="0"/>
              <a:t>Safe learning and exploration</a:t>
            </a:r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dirty="0"/>
              <a:t>Requires distributional correction: E.g., importance sampling</a:t>
            </a:r>
          </a:p>
          <a:p>
            <a:pPr lvl="1"/>
            <a:r>
              <a:rPr lang="en-US" dirty="0"/>
              <a:t>May suffer from high variance (due to importance sampling)</a:t>
            </a:r>
          </a:p>
          <a:p>
            <a:pPr lvl="1"/>
            <a:r>
              <a:rPr lang="en-US" dirty="0"/>
              <a:t>Instability with non-linear function approximation (deep RL)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60D31-9CD5-1596-21BF-AD897227A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Definition of return</a:t>
            </a:r>
            <a:r>
              <a:rPr lang="en-US" dirty="0"/>
              <a:t>: Episodic vs. continuing task; discounted vs. undiscounted.</a:t>
            </a:r>
          </a:p>
          <a:p>
            <a:r>
              <a:rPr lang="en-US" b="1" dirty="0"/>
              <a:t>Action values vs. state values</a:t>
            </a:r>
          </a:p>
          <a:p>
            <a:r>
              <a:rPr lang="en-US" b="1" dirty="0"/>
              <a:t>Exploration vs Exploitation</a:t>
            </a:r>
            <a:r>
              <a:rPr lang="en-US" dirty="0"/>
              <a:t>: This is a trade-off. Many methods need exploration for convergence.</a:t>
            </a:r>
          </a:p>
          <a:p>
            <a:r>
              <a:rPr lang="en-US" b="1" dirty="0"/>
              <a:t>Synchronous vs. Asynchronous</a:t>
            </a:r>
            <a:r>
              <a:rPr lang="en-US" dirty="0"/>
              <a:t>: Are all states updated at once or one by one in some order?</a:t>
            </a:r>
          </a:p>
          <a:p>
            <a:r>
              <a:rPr lang="en-US" b="1" dirty="0"/>
              <a:t>Real vs. Simulated</a:t>
            </a:r>
            <a:r>
              <a:rPr lang="en-US" dirty="0"/>
              <a:t>: Are real experiences, simulations, or both used for updates?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much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We need a lot of </a:t>
                </a:r>
                <a:r>
                  <a:rPr lang="en-US" b="1" dirty="0"/>
                  <a:t>data </a:t>
                </a:r>
                <a:r>
                  <a:rPr lang="en-US" dirty="0"/>
                  <a:t>to estimate all entries.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Next,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8834</TotalTime>
  <Words>1786</Words>
  <Application>Microsoft Office PowerPoint</Application>
  <PresentationFormat>Widescreen</PresentationFormat>
  <Paragraphs>200</Paragraphs>
  <Slides>22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Update Depth vs. Update Width</vt:lpstr>
      <vt:lpstr>On-Policy vs. Off-Policy</vt:lpstr>
      <vt:lpstr>Other Dimensions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167</cp:revision>
  <dcterms:created xsi:type="dcterms:W3CDTF">2025-09-08T14:44:49Z</dcterms:created>
  <dcterms:modified xsi:type="dcterms:W3CDTF">2026-02-05T20:54:01Z</dcterms:modified>
</cp:coreProperties>
</file>