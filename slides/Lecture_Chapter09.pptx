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313" r:id="rId3"/>
    <p:sldId id="479" r:id="rId4"/>
    <p:sldId id="393" r:id="rId5"/>
    <p:sldId id="394" r:id="rId6"/>
    <p:sldId id="420" r:id="rId7"/>
    <p:sldId id="395" r:id="rId8"/>
    <p:sldId id="396" r:id="rId9"/>
    <p:sldId id="397" r:id="rId10"/>
    <p:sldId id="398" r:id="rId11"/>
    <p:sldId id="399" r:id="rId12"/>
    <p:sldId id="400" r:id="rId13"/>
    <p:sldId id="401" r:id="rId14"/>
    <p:sldId id="405" r:id="rId15"/>
    <p:sldId id="403" r:id="rId16"/>
    <p:sldId id="402" r:id="rId17"/>
    <p:sldId id="404" r:id="rId18"/>
    <p:sldId id="406" r:id="rId19"/>
    <p:sldId id="407" r:id="rId20"/>
    <p:sldId id="409" r:id="rId21"/>
    <p:sldId id="480" r:id="rId22"/>
    <p:sldId id="481" r:id="rId23"/>
    <p:sldId id="413" r:id="rId24"/>
    <p:sldId id="417" r:id="rId25"/>
    <p:sldId id="418" r:id="rId26"/>
    <p:sldId id="412" r:id="rId27"/>
    <p:sldId id="482" r:id="rId28"/>
    <p:sldId id="485" r:id="rId29"/>
    <p:sldId id="483" r:id="rId30"/>
    <p:sldId id="410" r:id="rId31"/>
    <p:sldId id="411" r:id="rId32"/>
    <p:sldId id="414" r:id="rId33"/>
    <p:sldId id="421" r:id="rId34"/>
    <p:sldId id="484" r:id="rId35"/>
    <p:sldId id="415" r:id="rId36"/>
    <p:sldId id="422" r:id="rId37"/>
    <p:sldId id="42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diction" id="{83286E67-F0F0-421C-8F74-7B93ABA17FBF}">
          <p14:sldIdLst>
            <p14:sldId id="256"/>
            <p14:sldId id="313"/>
            <p14:sldId id="479"/>
          </p14:sldIdLst>
        </p14:section>
        <p14:section name="Introduction" id="{D9D937E3-D2F3-4C78-9AF6-32D6EE796C8D}">
          <p14:sldIdLst>
            <p14:sldId id="393"/>
            <p14:sldId id="394"/>
            <p14:sldId id="420"/>
            <p14:sldId id="395"/>
            <p14:sldId id="396"/>
            <p14:sldId id="397"/>
          </p14:sldIdLst>
        </p14:section>
        <p14:section name="Prediction: Gradient Methods" id="{EAA0CE26-54AA-4F09-BD7A-ECFC52DE3ABA}">
          <p14:sldIdLst>
            <p14:sldId id="398"/>
            <p14:sldId id="399"/>
            <p14:sldId id="400"/>
            <p14:sldId id="401"/>
            <p14:sldId id="405"/>
            <p14:sldId id="403"/>
            <p14:sldId id="402"/>
            <p14:sldId id="404"/>
          </p14:sldIdLst>
        </p14:section>
        <p14:section name="Linear Approximation Methods" id="{9B11E8D6-BFFA-4307-8A9C-339881B4B930}">
          <p14:sldIdLst>
            <p14:sldId id="406"/>
            <p14:sldId id="407"/>
            <p14:sldId id="409"/>
            <p14:sldId id="480"/>
            <p14:sldId id="481"/>
            <p14:sldId id="413"/>
            <p14:sldId id="417"/>
            <p14:sldId id="418"/>
            <p14:sldId id="412"/>
            <p14:sldId id="482"/>
            <p14:sldId id="485"/>
            <p14:sldId id="483"/>
          </p14:sldIdLst>
        </p14:section>
        <p14:section name="Non-Linear Approximation" id="{10B68F28-6DBA-44FD-8764-061354D77D32}">
          <p14:sldIdLst>
            <p14:sldId id="410"/>
            <p14:sldId id="411"/>
          </p14:sldIdLst>
        </p14:section>
        <p14:section name="Control with Approximation" id="{09883537-7828-4CF9-B6B6-B3ACB6856284}">
          <p14:sldIdLst>
            <p14:sldId id="414"/>
            <p14:sldId id="421"/>
            <p14:sldId id="484"/>
            <p14:sldId id="415"/>
            <p14:sldId id="422"/>
          </p14:sldIdLst>
        </p14:section>
        <p14:section name="Summary" id="{94AB0469-3691-476F-8BF6-D8643C9AFED4}">
          <p14:sldIdLst>
            <p14:sldId id="42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4599F94E-CEE6-441E-89CC-EB005ECD8F06}">
      <a14:m xmlns:a14="http://schemas.microsoft.com/office/drawing/2010/main">
        <m:mathPr xmlns:m="http://schemas.openxmlformats.org/officeDocument/2006/math">
          <m:brkBin m:val="before"/>
          <m:brkBinSub m:val="--"/>
        </m:mathPr>
      </a14:m>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95" autoAdjust="0"/>
    <p:restoredTop sz="94653"/>
  </p:normalViewPr>
  <p:slideViewPr>
    <p:cSldViewPr snapToGrid="0">
      <p:cViewPr varScale="1">
        <p:scale>
          <a:sx n="152" d="100"/>
          <a:sy n="152" d="100"/>
        </p:scale>
        <p:origin x="144" y="104"/>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87FC57-34F3-4A88-970B-010E7C0EC943}"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511844-9D4B-44EC-AD7B-A52B8DF8F904}" type="slidenum">
              <a:rPr lang="en-US" smtClean="0"/>
              <a:t>‹#›</a:t>
            </a:fld>
            <a:endParaRPr lang="en-US"/>
          </a:p>
        </p:txBody>
      </p:sp>
    </p:spTree>
    <p:extLst>
      <p:ext uri="{BB962C8B-B14F-4D97-AF65-F5344CB8AC3E}">
        <p14:creationId xmlns:p14="http://schemas.microsoft.com/office/powerpoint/2010/main" val="2112946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511844-9D4B-44EC-AD7B-A52B8DF8F904}" type="slidenum">
              <a:rPr lang="en-US" smtClean="0"/>
              <a:t>5</a:t>
            </a:fld>
            <a:endParaRPr lang="en-US"/>
          </a:p>
        </p:txBody>
      </p:sp>
    </p:spTree>
    <p:extLst>
      <p:ext uri="{BB962C8B-B14F-4D97-AF65-F5344CB8AC3E}">
        <p14:creationId xmlns:p14="http://schemas.microsoft.com/office/powerpoint/2010/main" val="464817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511844-9D4B-44EC-AD7B-A52B8DF8F904}" type="slidenum">
              <a:rPr lang="en-US" smtClean="0"/>
              <a:t>22</a:t>
            </a:fld>
            <a:endParaRPr lang="en-US"/>
          </a:p>
        </p:txBody>
      </p:sp>
    </p:spTree>
    <p:extLst>
      <p:ext uri="{BB962C8B-B14F-4D97-AF65-F5344CB8AC3E}">
        <p14:creationId xmlns:p14="http://schemas.microsoft.com/office/powerpoint/2010/main" val="3769750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5558-2701-D852-1A01-0BF39B58D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E150F4-19D6-3927-AF4C-79938CACB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C3DC3-6BE4-4AD5-BF83-83DBE6741D39}"/>
              </a:ext>
            </a:extLst>
          </p:cNvPr>
          <p:cNvSpPr>
            <a:spLocks noGrp="1"/>
          </p:cNvSpPr>
          <p:nvPr>
            <p:ph type="dt" sz="half" idx="10"/>
          </p:nvPr>
        </p:nvSpPr>
        <p:spPr/>
        <p:txBody>
          <a:bodyPr/>
          <a:lstStyle/>
          <a:p>
            <a:fld id="{3E22BF2E-04DA-469E-97C5-BB68A0368813}" type="datetimeFigureOut">
              <a:rPr lang="en-US" smtClean="0"/>
              <a:t>10/21/2026</a:t>
            </a:fld>
            <a:endParaRPr lang="en-US"/>
          </a:p>
        </p:txBody>
      </p:sp>
      <p:sp>
        <p:nvSpPr>
          <p:cNvPr id="5" name="Footer Placeholder 4">
            <a:extLst>
              <a:ext uri="{FF2B5EF4-FFF2-40B4-BE49-F238E27FC236}">
                <a16:creationId xmlns:a16="http://schemas.microsoft.com/office/drawing/2014/main" id="{4BCD0FF9-FEE5-7DEA-F2A0-04CD3C8E9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CCB2C-BF64-0CEB-C138-EC1E0FF17963}"/>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077380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A809-C199-A2CA-4B62-C11FD83604C0}"/>
              </a:ext>
            </a:extLst>
          </p:cNvPr>
          <p:cNvSpPr>
            <a:spLocks noGrp="1"/>
          </p:cNvSpPr>
          <p:nvPr>
            <p:ph type="title"/>
          </p:nvPr>
        </p:nvSpPr>
        <p:spPr>
          <a:xfrm>
            <a:off x="838200" y="365126"/>
            <a:ext cx="10515600" cy="7590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9ABD398-BC57-413F-4426-6AE62DCF0FF4}"/>
              </a:ext>
            </a:extLst>
          </p:cNvPr>
          <p:cNvSpPr>
            <a:spLocks noGrp="1"/>
          </p:cNvSpPr>
          <p:nvPr>
            <p:ph idx="1"/>
          </p:nvPr>
        </p:nvSpPr>
        <p:spPr>
          <a:xfrm>
            <a:off x="838200" y="1397330"/>
            <a:ext cx="10515600" cy="47796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009A95-DE70-5583-0BB6-25CA049AFAD6}"/>
              </a:ext>
            </a:extLst>
          </p:cNvPr>
          <p:cNvSpPr>
            <a:spLocks noGrp="1"/>
          </p:cNvSpPr>
          <p:nvPr>
            <p:ph type="dt" sz="half" idx="10"/>
          </p:nvPr>
        </p:nvSpPr>
        <p:spPr/>
        <p:txBody>
          <a:bodyPr/>
          <a:lstStyle/>
          <a:p>
            <a:fld id="{3E22BF2E-04DA-469E-97C5-BB68A0368813}" type="datetimeFigureOut">
              <a:rPr lang="en-US" smtClean="0"/>
              <a:t>10/21/2026</a:t>
            </a:fld>
            <a:endParaRPr lang="en-US"/>
          </a:p>
        </p:txBody>
      </p:sp>
      <p:sp>
        <p:nvSpPr>
          <p:cNvPr id="5" name="Footer Placeholder 4">
            <a:extLst>
              <a:ext uri="{FF2B5EF4-FFF2-40B4-BE49-F238E27FC236}">
                <a16:creationId xmlns:a16="http://schemas.microsoft.com/office/drawing/2014/main" id="{722F8C87-113F-3949-D291-E8101A072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CBE1-6776-590E-6A36-B274F6F6168A}"/>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42716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B990-0C44-FE72-89C1-7BAFB2C89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BF51AA-25F1-19ED-49F4-909710D8F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3394-E947-7BBC-4B4E-FC222CF9E355}"/>
              </a:ext>
            </a:extLst>
          </p:cNvPr>
          <p:cNvSpPr>
            <a:spLocks noGrp="1"/>
          </p:cNvSpPr>
          <p:nvPr>
            <p:ph type="dt" sz="half" idx="10"/>
          </p:nvPr>
        </p:nvSpPr>
        <p:spPr/>
        <p:txBody>
          <a:bodyPr/>
          <a:lstStyle/>
          <a:p>
            <a:fld id="{3E22BF2E-04DA-469E-97C5-BB68A0368813}" type="datetimeFigureOut">
              <a:rPr lang="en-US" smtClean="0"/>
              <a:t>10/21/2026</a:t>
            </a:fld>
            <a:endParaRPr lang="en-US"/>
          </a:p>
        </p:txBody>
      </p:sp>
      <p:sp>
        <p:nvSpPr>
          <p:cNvPr id="5" name="Footer Placeholder 4">
            <a:extLst>
              <a:ext uri="{FF2B5EF4-FFF2-40B4-BE49-F238E27FC236}">
                <a16:creationId xmlns:a16="http://schemas.microsoft.com/office/drawing/2014/main" id="{D0090F51-989A-F265-1B59-526B06EC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400B-F255-95CF-8BD8-3D8AE595A27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55833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C8DE-D8D3-04F9-7952-B3C9B444D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C6199-C068-6A1D-B9C6-37C04A922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B26636-1E6C-5A66-DCE9-40F0239C9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85DEA3-FC5C-77B6-8AEC-BF4A26C7605A}"/>
              </a:ext>
            </a:extLst>
          </p:cNvPr>
          <p:cNvSpPr>
            <a:spLocks noGrp="1"/>
          </p:cNvSpPr>
          <p:nvPr>
            <p:ph type="dt" sz="half" idx="10"/>
          </p:nvPr>
        </p:nvSpPr>
        <p:spPr/>
        <p:txBody>
          <a:bodyPr/>
          <a:lstStyle/>
          <a:p>
            <a:fld id="{3E22BF2E-04DA-469E-97C5-BB68A0368813}" type="datetimeFigureOut">
              <a:rPr lang="en-US" smtClean="0"/>
              <a:t>10/21/2026</a:t>
            </a:fld>
            <a:endParaRPr lang="en-US"/>
          </a:p>
        </p:txBody>
      </p:sp>
      <p:sp>
        <p:nvSpPr>
          <p:cNvPr id="6" name="Footer Placeholder 5">
            <a:extLst>
              <a:ext uri="{FF2B5EF4-FFF2-40B4-BE49-F238E27FC236}">
                <a16:creationId xmlns:a16="http://schemas.microsoft.com/office/drawing/2014/main" id="{50A2BAE8-516B-EE07-0EF8-4E37D353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D7F8D-0B8A-CA54-C5D1-DAFB9A21726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180953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762D-C67C-6FB4-D8AF-A2AEADD0B2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F3E59-5CAF-AE52-066A-662EAF232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A81-151A-F8B5-9A7D-43577F3F6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BDED1E-7743-9D82-5A8F-215AF2DB8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3FED4-7E43-512F-BDC2-AB5A6F6A9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71D6A-F625-133A-E751-2B967B94A668}"/>
              </a:ext>
            </a:extLst>
          </p:cNvPr>
          <p:cNvSpPr>
            <a:spLocks noGrp="1"/>
          </p:cNvSpPr>
          <p:nvPr>
            <p:ph type="dt" sz="half" idx="10"/>
          </p:nvPr>
        </p:nvSpPr>
        <p:spPr/>
        <p:txBody>
          <a:bodyPr/>
          <a:lstStyle/>
          <a:p>
            <a:fld id="{3E22BF2E-04DA-469E-97C5-BB68A0368813}" type="datetimeFigureOut">
              <a:rPr lang="en-US" smtClean="0"/>
              <a:t>10/21/2026</a:t>
            </a:fld>
            <a:endParaRPr lang="en-US"/>
          </a:p>
        </p:txBody>
      </p:sp>
      <p:sp>
        <p:nvSpPr>
          <p:cNvPr id="8" name="Footer Placeholder 7">
            <a:extLst>
              <a:ext uri="{FF2B5EF4-FFF2-40B4-BE49-F238E27FC236}">
                <a16:creationId xmlns:a16="http://schemas.microsoft.com/office/drawing/2014/main" id="{33256629-E601-1BA5-526C-36960EEBE0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65DDDF-B6D4-29FB-6B7F-C7017B4EABAD}"/>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49571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B25A-3F20-51F4-D136-F73B17683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F8609-CAA0-6678-FCA9-C0252974D715}"/>
              </a:ext>
            </a:extLst>
          </p:cNvPr>
          <p:cNvSpPr>
            <a:spLocks noGrp="1"/>
          </p:cNvSpPr>
          <p:nvPr>
            <p:ph type="dt" sz="half" idx="10"/>
          </p:nvPr>
        </p:nvSpPr>
        <p:spPr/>
        <p:txBody>
          <a:bodyPr/>
          <a:lstStyle/>
          <a:p>
            <a:fld id="{3E22BF2E-04DA-469E-97C5-BB68A0368813}" type="datetimeFigureOut">
              <a:rPr lang="en-US" smtClean="0"/>
              <a:t>10/21/2026</a:t>
            </a:fld>
            <a:endParaRPr lang="en-US"/>
          </a:p>
        </p:txBody>
      </p:sp>
      <p:sp>
        <p:nvSpPr>
          <p:cNvPr id="4" name="Footer Placeholder 3">
            <a:extLst>
              <a:ext uri="{FF2B5EF4-FFF2-40B4-BE49-F238E27FC236}">
                <a16:creationId xmlns:a16="http://schemas.microsoft.com/office/drawing/2014/main" id="{E911A081-E4EB-7E96-A0AA-2E4D49099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AC27-1467-337C-D636-190385E3976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95731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8C3DB-E47E-C122-D7BD-AAAC105B291A}"/>
              </a:ext>
            </a:extLst>
          </p:cNvPr>
          <p:cNvSpPr>
            <a:spLocks noGrp="1"/>
          </p:cNvSpPr>
          <p:nvPr>
            <p:ph type="dt" sz="half" idx="10"/>
          </p:nvPr>
        </p:nvSpPr>
        <p:spPr/>
        <p:txBody>
          <a:bodyPr/>
          <a:lstStyle/>
          <a:p>
            <a:fld id="{3E22BF2E-04DA-469E-97C5-BB68A0368813}" type="datetimeFigureOut">
              <a:rPr lang="en-US" smtClean="0"/>
              <a:t>10/21/2026</a:t>
            </a:fld>
            <a:endParaRPr lang="en-US"/>
          </a:p>
        </p:txBody>
      </p:sp>
      <p:sp>
        <p:nvSpPr>
          <p:cNvPr id="3" name="Footer Placeholder 2">
            <a:extLst>
              <a:ext uri="{FF2B5EF4-FFF2-40B4-BE49-F238E27FC236}">
                <a16:creationId xmlns:a16="http://schemas.microsoft.com/office/drawing/2014/main" id="{12194795-A7C6-B915-9849-6DDF9E556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BBD6E5-D6AC-7828-B9FA-162561BDB702}"/>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8758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DA5E-FB2F-65E3-9AC6-77E9E333A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88CA7-EDCF-7BC9-0D50-5F550487A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96387-78E1-111C-2860-362080259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170FC-BF4D-52B4-3D96-975E35B67EE0}"/>
              </a:ext>
            </a:extLst>
          </p:cNvPr>
          <p:cNvSpPr>
            <a:spLocks noGrp="1"/>
          </p:cNvSpPr>
          <p:nvPr>
            <p:ph type="dt" sz="half" idx="10"/>
          </p:nvPr>
        </p:nvSpPr>
        <p:spPr/>
        <p:txBody>
          <a:bodyPr/>
          <a:lstStyle/>
          <a:p>
            <a:fld id="{3E22BF2E-04DA-469E-97C5-BB68A0368813}" type="datetimeFigureOut">
              <a:rPr lang="en-US" smtClean="0"/>
              <a:t>10/21/2026</a:t>
            </a:fld>
            <a:endParaRPr lang="en-US"/>
          </a:p>
        </p:txBody>
      </p:sp>
      <p:sp>
        <p:nvSpPr>
          <p:cNvPr id="6" name="Footer Placeholder 5">
            <a:extLst>
              <a:ext uri="{FF2B5EF4-FFF2-40B4-BE49-F238E27FC236}">
                <a16:creationId xmlns:a16="http://schemas.microsoft.com/office/drawing/2014/main" id="{13EB24C2-CDEC-1D6D-42DB-F885EAF6C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CA044-7F46-1F0F-A966-A66706F2D13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7431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354-EE3F-C81F-2C98-42CA24F04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37B54A-0E38-1C0F-EA90-8D9A628CC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9108-1890-E2BF-7EA2-A2F28DEA6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68F02-6193-91DC-69E0-6CC09A2476EE}"/>
              </a:ext>
            </a:extLst>
          </p:cNvPr>
          <p:cNvSpPr>
            <a:spLocks noGrp="1"/>
          </p:cNvSpPr>
          <p:nvPr>
            <p:ph type="dt" sz="half" idx="10"/>
          </p:nvPr>
        </p:nvSpPr>
        <p:spPr/>
        <p:txBody>
          <a:bodyPr/>
          <a:lstStyle/>
          <a:p>
            <a:fld id="{3E22BF2E-04DA-469E-97C5-BB68A0368813}" type="datetimeFigureOut">
              <a:rPr lang="en-US" smtClean="0"/>
              <a:t>10/21/2026</a:t>
            </a:fld>
            <a:endParaRPr lang="en-US"/>
          </a:p>
        </p:txBody>
      </p:sp>
      <p:sp>
        <p:nvSpPr>
          <p:cNvPr id="6" name="Footer Placeholder 5">
            <a:extLst>
              <a:ext uri="{FF2B5EF4-FFF2-40B4-BE49-F238E27FC236}">
                <a16:creationId xmlns:a16="http://schemas.microsoft.com/office/drawing/2014/main" id="{2534B642-5606-ACB8-4ADF-6DDE8BE4B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9560E-8858-1CED-6B2E-1EF0F58F2FA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9475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A8BF-0F66-F00E-4527-03CBDE1E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8F7C1-32BC-0F71-0130-0DFB9C183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C7E0-3252-37DB-73A7-7F070748FFEC}"/>
              </a:ext>
            </a:extLst>
          </p:cNvPr>
          <p:cNvSpPr>
            <a:spLocks noGrp="1"/>
          </p:cNvSpPr>
          <p:nvPr>
            <p:ph type="dt" sz="half" idx="10"/>
          </p:nvPr>
        </p:nvSpPr>
        <p:spPr/>
        <p:txBody>
          <a:bodyPr/>
          <a:lstStyle/>
          <a:p>
            <a:fld id="{3E22BF2E-04DA-469E-97C5-BB68A0368813}" type="datetimeFigureOut">
              <a:rPr lang="en-US" smtClean="0"/>
              <a:t>10/21/2026</a:t>
            </a:fld>
            <a:endParaRPr lang="en-US"/>
          </a:p>
        </p:txBody>
      </p:sp>
      <p:sp>
        <p:nvSpPr>
          <p:cNvPr id="5" name="Footer Placeholder 4">
            <a:extLst>
              <a:ext uri="{FF2B5EF4-FFF2-40B4-BE49-F238E27FC236}">
                <a16:creationId xmlns:a16="http://schemas.microsoft.com/office/drawing/2014/main" id="{A676C5EE-EAD9-8D18-3741-930600D3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647D8-342D-AED5-3763-DD02F7C2A43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6508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0B639-7A1F-68FA-45DD-3196E2CB57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F4F1BB-B40D-E6E4-111B-122348C26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2DAFD-560D-9508-6F31-281EC974361A}"/>
              </a:ext>
            </a:extLst>
          </p:cNvPr>
          <p:cNvSpPr>
            <a:spLocks noGrp="1"/>
          </p:cNvSpPr>
          <p:nvPr>
            <p:ph type="dt" sz="half" idx="10"/>
          </p:nvPr>
        </p:nvSpPr>
        <p:spPr/>
        <p:txBody>
          <a:bodyPr/>
          <a:lstStyle/>
          <a:p>
            <a:fld id="{3E22BF2E-04DA-469E-97C5-BB68A0368813}" type="datetimeFigureOut">
              <a:rPr lang="en-US" smtClean="0"/>
              <a:t>10/21/2026</a:t>
            </a:fld>
            <a:endParaRPr lang="en-US"/>
          </a:p>
        </p:txBody>
      </p:sp>
      <p:sp>
        <p:nvSpPr>
          <p:cNvPr id="5" name="Footer Placeholder 4">
            <a:extLst>
              <a:ext uri="{FF2B5EF4-FFF2-40B4-BE49-F238E27FC236}">
                <a16:creationId xmlns:a16="http://schemas.microsoft.com/office/drawing/2014/main" id="{F90C6320-E161-CE4A-CBDD-27072D2A1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C3E81-2AD2-5FBE-B6F5-1512F3AF971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7058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46CF1-7E31-D1FD-63E0-29688510E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499997-F7F8-3FB5-F294-092654769C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6E-B485-AE94-5C91-D0E504CEB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2BF2E-04DA-469E-97C5-BB68A0368813}" type="datetimeFigureOut">
              <a:rPr lang="en-US" smtClean="0"/>
              <a:t>10/21/2026</a:t>
            </a:fld>
            <a:endParaRPr lang="en-US"/>
          </a:p>
        </p:txBody>
      </p:sp>
      <p:sp>
        <p:nvSpPr>
          <p:cNvPr id="5" name="Footer Placeholder 4">
            <a:extLst>
              <a:ext uri="{FF2B5EF4-FFF2-40B4-BE49-F238E27FC236}">
                <a16:creationId xmlns:a16="http://schemas.microsoft.com/office/drawing/2014/main" id="{4A3ECD47-D4F5-A47B-6CA1-E8E47C1C4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8C2B9-7B85-792D-492E-EE9D50875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362146-1680-4254-AA84-26EEDD41027B}" type="slidenum">
              <a:rPr lang="en-US" smtClean="0"/>
              <a:t>‹#›</a:t>
            </a:fld>
            <a:endParaRPr lang="en-US"/>
          </a:p>
        </p:txBody>
      </p:sp>
    </p:spTree>
    <p:extLst>
      <p:ext uri="{BB962C8B-B14F-4D97-AF65-F5344CB8AC3E}">
        <p14:creationId xmlns:p14="http://schemas.microsoft.com/office/powerpoint/2010/main" val="95873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creativecommons.org/licenses/by-nc-sa/4.0/"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70.png"/><Relationship Id="rId1" Type="http://schemas.openxmlformats.org/officeDocument/2006/relationships/slideLayout" Target="../slideLayouts/slideLayout2.xml"/><Relationship Id="rId5" Type="http://schemas.openxmlformats.org/officeDocument/2006/relationships/image" Target="../media/image110.png"/><Relationship Id="rId4" Type="http://schemas.openxmlformats.org/officeDocument/2006/relationships/image" Target="../media/image100.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6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70.png"/><Relationship Id="rId13" Type="http://schemas.openxmlformats.org/officeDocument/2006/relationships/image" Target="../media/image34.png"/><Relationship Id="rId3" Type="http://schemas.openxmlformats.org/officeDocument/2006/relationships/image" Target="../media/image32.png"/><Relationship Id="rId7" Type="http://schemas.openxmlformats.org/officeDocument/2006/relationships/image" Target="../media/image260.png"/><Relationship Id="rId12" Type="http://schemas.openxmlformats.org/officeDocument/2006/relationships/image" Target="../media/image291.png"/><Relationship Id="rId2" Type="http://schemas.openxmlformats.org/officeDocument/2006/relationships/image" Target="../media/image271.png"/><Relationship Id="rId1" Type="http://schemas.openxmlformats.org/officeDocument/2006/relationships/slideLayout" Target="../slideLayouts/slideLayout2.xml"/><Relationship Id="rId6" Type="http://schemas.openxmlformats.org/officeDocument/2006/relationships/image" Target="../media/image250.png"/><Relationship Id="rId11" Type="http://schemas.openxmlformats.org/officeDocument/2006/relationships/image" Target="../media/image33.png"/><Relationship Id="rId5" Type="http://schemas.openxmlformats.org/officeDocument/2006/relationships/image" Target="../media/image240.png"/><Relationship Id="rId10" Type="http://schemas.openxmlformats.org/officeDocument/2006/relationships/image" Target="../media/image320.png"/><Relationship Id="rId9" Type="http://schemas.openxmlformats.org/officeDocument/2006/relationships/image" Target="../media/image310.png"/><Relationship Id="rId14" Type="http://schemas.openxmlformats.org/officeDocument/2006/relationships/image" Target="../media/image33.gif"/></Relationships>
</file>

<file path=ppt/slides/_rels/slide24.xml.rels><?xml version="1.0" encoding="UTF-8" standalone="yes"?>
<Relationships xmlns="http://schemas.openxmlformats.org/package/2006/relationships"><Relationship Id="rId7" Type="http://schemas.openxmlformats.org/officeDocument/2006/relationships/image" Target="../media/image39.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6.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image" Target="../media/image740.png"/><Relationship Id="rId7" Type="http://schemas.openxmlformats.org/officeDocument/2006/relationships/image" Target="../media/image730.png"/><Relationship Id="rId1" Type="http://schemas.openxmlformats.org/officeDocument/2006/relationships/slideLayout" Target="../slideLayouts/slideLayout2.xml"/><Relationship Id="rId6" Type="http://schemas.openxmlformats.org/officeDocument/2006/relationships/image" Target="../media/image720.png"/><Relationship Id="rId9" Type="http://schemas.openxmlformats.org/officeDocument/2006/relationships/image" Target="../media/image75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B02EEF-8413-288E-566D-063A066A6CB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77" r="23298" b="3714"/>
          <a:stretch>
            <a:fillRect/>
          </a:stretch>
        </p:blipFill>
        <p:spPr bwMode="auto">
          <a:xfrm>
            <a:off x="3523485"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1EE42B-57B4-EB74-A37C-6675858E7D29}"/>
              </a:ext>
            </a:extLst>
          </p:cNvPr>
          <p:cNvSpPr>
            <a:spLocks noGrp="1"/>
          </p:cNvSpPr>
          <p:nvPr>
            <p:ph type="ctrTitle"/>
          </p:nvPr>
        </p:nvSpPr>
        <p:spPr>
          <a:xfrm>
            <a:off x="477981" y="1122363"/>
            <a:ext cx="4463968" cy="3204134"/>
          </a:xfrm>
        </p:spPr>
        <p:txBody>
          <a:bodyPr anchor="b">
            <a:noAutofit/>
          </a:bodyPr>
          <a:lstStyle/>
          <a:p>
            <a:pPr algn="l"/>
            <a:r>
              <a:rPr lang="en-US" sz="3600" dirty="0">
                <a:solidFill>
                  <a:schemeClr val="bg1"/>
                </a:solidFill>
              </a:rPr>
              <a:t>Reinforcement Learning</a:t>
            </a:r>
            <a:br>
              <a:rPr lang="en-US" sz="3600" dirty="0">
                <a:solidFill>
                  <a:schemeClr val="bg1"/>
                </a:solidFill>
              </a:rPr>
            </a:br>
            <a:br>
              <a:rPr lang="en-US" sz="3600" dirty="0">
                <a:solidFill>
                  <a:schemeClr val="bg1"/>
                </a:solidFill>
              </a:rPr>
            </a:br>
            <a:r>
              <a:rPr lang="en-US" sz="3600" dirty="0">
                <a:solidFill>
                  <a:schemeClr val="bg1"/>
                </a:solidFill>
              </a:rPr>
              <a:t>Prediction and Control with Approximation</a:t>
            </a:r>
            <a:br>
              <a:rPr lang="en-US" sz="2800" dirty="0">
                <a:solidFill>
                  <a:schemeClr val="bg1"/>
                </a:solidFill>
              </a:rPr>
            </a:br>
            <a:r>
              <a:rPr lang="en-US" sz="2000" dirty="0">
                <a:solidFill>
                  <a:schemeClr val="bg1"/>
                </a:solidFill>
              </a:rPr>
              <a:t>Sutton/Barto*</a:t>
            </a:r>
            <a:r>
              <a:rPr lang="en-US" sz="1800" dirty="0">
                <a:solidFill>
                  <a:schemeClr val="bg1"/>
                </a:solidFill>
              </a:rPr>
              <a:t> Chapter 9-11</a:t>
            </a:r>
          </a:p>
        </p:txBody>
      </p:sp>
      <p:pic>
        <p:nvPicPr>
          <p:cNvPr id="6" name="Picture 5">
            <a:extLst>
              <a:ext uri="{FF2B5EF4-FFF2-40B4-BE49-F238E27FC236}">
                <a16:creationId xmlns:a16="http://schemas.microsoft.com/office/drawing/2014/main" id="{8AD28C7D-14A3-CFEB-3DEC-2E01272844F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6072" y="145911"/>
            <a:ext cx="4182403" cy="1000945"/>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7FFF10C2-8C10-0E89-D285-D614C36EEE69}"/>
              </a:ext>
              <a:ext uri="{C183D7F6-B498-43B3-948B-1728B52AA6E4}">
                <adec:decorative xmlns:adec="http://schemas.microsoft.com/office/drawing/2017/decorative" val="1"/>
              </a:ext>
            </a:extLst>
          </p:cNvPr>
          <p:cNvSpPr>
            <a:spLocks noGrp="1"/>
          </p:cNvSpPr>
          <p:nvPr>
            <p:ph type="subTitle" idx="1"/>
          </p:nvPr>
        </p:nvSpPr>
        <p:spPr>
          <a:xfrm>
            <a:off x="477982" y="4868822"/>
            <a:ext cx="4169519" cy="1443894"/>
          </a:xfrm>
        </p:spPr>
        <p:txBody>
          <a:bodyPr>
            <a:normAutofit fontScale="92500"/>
          </a:bodyPr>
          <a:lstStyle/>
          <a:p>
            <a:pPr algn="l"/>
            <a:r>
              <a:rPr lang="en-US" sz="1700" dirty="0">
                <a:solidFill>
                  <a:schemeClr val="bg1"/>
                </a:solidFill>
              </a:rPr>
              <a:t>Michael Hahsler, SMU</a:t>
            </a:r>
          </a:p>
          <a:p>
            <a:pPr algn="l"/>
            <a:r>
              <a:rPr lang="en-US" sz="1300" dirty="0">
                <a:solidFill>
                  <a:schemeClr val="bg1"/>
                </a:solidFill>
              </a:rPr>
              <a:t>With figures from Sutton/Barto*</a:t>
            </a:r>
          </a:p>
          <a:p>
            <a:pPr algn="l"/>
            <a:endParaRPr lang="en-US" sz="1300" dirty="0">
              <a:solidFill>
                <a:schemeClr val="bg1"/>
              </a:solidFill>
            </a:endParaRPr>
          </a:p>
          <a:p>
            <a:pPr algn="l"/>
            <a:r>
              <a:rPr lang="en-US" sz="1300" dirty="0">
                <a:solidFill>
                  <a:schemeClr val="bg1"/>
                </a:solidFill>
              </a:rPr>
              <a:t>*Sutton and Barto, Reinforcement Learning: An Introduction, 2</a:t>
            </a:r>
            <a:r>
              <a:rPr lang="en-US" sz="1300" baseline="30000" dirty="0">
                <a:solidFill>
                  <a:schemeClr val="bg1"/>
                </a:solidFill>
              </a:rPr>
              <a:t>nd</a:t>
            </a:r>
            <a:r>
              <a:rPr lang="en-US" sz="1300" dirty="0">
                <a:solidFill>
                  <a:schemeClr val="bg1"/>
                </a:solidFill>
              </a:rPr>
              <a:t> edition, MIT Press, Cambridge, MA, 2018</a:t>
            </a:r>
          </a:p>
        </p:txBody>
      </p:sp>
      <p:grpSp>
        <p:nvGrpSpPr>
          <p:cNvPr id="7" name="Group 6">
            <a:extLst>
              <a:ext uri="{FF2B5EF4-FFF2-40B4-BE49-F238E27FC236}">
                <a16:creationId xmlns:a16="http://schemas.microsoft.com/office/drawing/2014/main" id="{DA1C6744-BD97-2C10-F393-A0B726F71E7A}"/>
              </a:ext>
              <a:ext uri="{C183D7F6-B498-43B3-948B-1728B52AA6E4}">
                <adec:decorative xmlns:adec="http://schemas.microsoft.com/office/drawing/2017/decorative" val="1"/>
              </a:ext>
            </a:extLst>
          </p:cNvPr>
          <p:cNvGrpSpPr/>
          <p:nvPr/>
        </p:nvGrpSpPr>
        <p:grpSpPr>
          <a:xfrm>
            <a:off x="10961015" y="4868822"/>
            <a:ext cx="1037459" cy="1303078"/>
            <a:chOff x="5248582" y="2401735"/>
            <a:chExt cx="1694835" cy="2054530"/>
          </a:xfrm>
        </p:grpSpPr>
        <p:pic>
          <p:nvPicPr>
            <p:cNvPr id="8" name="Picture 7">
              <a:extLst>
                <a:ext uri="{FF2B5EF4-FFF2-40B4-BE49-F238E27FC236}">
                  <a16:creationId xmlns:a16="http://schemas.microsoft.com/office/drawing/2014/main" id="{2F5FC233-1ACF-0EE9-5B1F-F0A29270EEC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48582" y="2401735"/>
              <a:ext cx="1694835" cy="2054530"/>
            </a:xfrm>
            <a:prstGeom prst="rect">
              <a:avLst/>
            </a:prstGeom>
          </p:spPr>
        </p:pic>
        <p:pic>
          <p:nvPicPr>
            <p:cNvPr id="9" name="Picture 8" descr="QR code linking to the online course material.">
              <a:extLst>
                <a:ext uri="{FF2B5EF4-FFF2-40B4-BE49-F238E27FC236}">
                  <a16:creationId xmlns:a16="http://schemas.microsoft.com/office/drawing/2014/main" id="{26CB3135-CE78-1137-FBA3-29AA8592D8FA}"/>
                </a:ext>
              </a:extLst>
            </p:cNvPr>
            <p:cNvPicPr>
              <a:picLocks noChangeAspect="1"/>
            </p:cNvPicPr>
            <p:nvPr/>
          </p:nvPicPr>
          <p:blipFill>
            <a:blip r:embed="rId5"/>
            <a:stretch>
              <a:fillRect/>
            </a:stretch>
          </p:blipFill>
          <p:spPr>
            <a:xfrm>
              <a:off x="5315643" y="2435129"/>
              <a:ext cx="1560711" cy="1560711"/>
            </a:xfrm>
            <a:prstGeom prst="rect">
              <a:avLst/>
            </a:prstGeom>
          </p:spPr>
        </p:pic>
      </p:grpSp>
      <p:pic>
        <p:nvPicPr>
          <p:cNvPr id="4" name="object 23">
            <a:hlinkClick r:id="rId6"/>
            <a:extLst>
              <a:ext uri="{FF2B5EF4-FFF2-40B4-BE49-F238E27FC236}">
                <a16:creationId xmlns:a16="http://schemas.microsoft.com/office/drawing/2014/main" id="{3CBD6548-3D4E-9A40-CA35-355261D4E92C}"/>
              </a:ext>
              <a:ext uri="{C183D7F6-B498-43B3-948B-1728B52AA6E4}">
                <adec:decorative xmlns:adec="http://schemas.microsoft.com/office/drawing/2017/decorative" val="1"/>
              </a:ext>
            </a:extLst>
          </p:cNvPr>
          <p:cNvPicPr/>
          <p:nvPr/>
        </p:nvPicPr>
        <p:blipFill>
          <a:blip r:embed="rId7" cstate="print"/>
          <a:stretch>
            <a:fillRect/>
          </a:stretch>
        </p:blipFill>
        <p:spPr>
          <a:xfrm>
            <a:off x="10961016" y="6265038"/>
            <a:ext cx="1037459" cy="383579"/>
          </a:xfrm>
          <a:prstGeom prst="rect">
            <a:avLst/>
          </a:prstGeom>
        </p:spPr>
      </p:pic>
    </p:spTree>
    <p:extLst>
      <p:ext uri="{BB962C8B-B14F-4D97-AF65-F5344CB8AC3E}">
        <p14:creationId xmlns:p14="http://schemas.microsoft.com/office/powerpoint/2010/main" val="385275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3493-2ED6-DF09-F569-7F3DCA81AB18}"/>
              </a:ext>
            </a:extLst>
          </p:cNvPr>
          <p:cNvSpPr>
            <a:spLocks noGrp="1"/>
          </p:cNvSpPr>
          <p:nvPr>
            <p:ph type="title"/>
          </p:nvPr>
        </p:nvSpPr>
        <p:spPr/>
        <p:txBody>
          <a:bodyPr/>
          <a:lstStyle/>
          <a:p>
            <a:r>
              <a:rPr lang="en-US" dirty="0"/>
              <a:t>Topics of this Course</a:t>
            </a:r>
          </a:p>
        </p:txBody>
      </p:sp>
      <p:sp>
        <p:nvSpPr>
          <p:cNvPr id="3" name="Content Placeholder 2">
            <a:extLst>
              <a:ext uri="{FF2B5EF4-FFF2-40B4-BE49-F238E27FC236}">
                <a16:creationId xmlns:a16="http://schemas.microsoft.com/office/drawing/2014/main" id="{8F95E019-92A5-79AC-D777-59B4926F61AA}"/>
              </a:ext>
            </a:extLst>
          </p:cNvPr>
          <p:cNvSpPr>
            <a:spLocks noGrp="1"/>
          </p:cNvSpPr>
          <p:nvPr>
            <p:ph idx="1"/>
          </p:nvPr>
        </p:nvSpPr>
        <p:spPr/>
        <p:txBody>
          <a:bodyPr>
            <a:normAutofit fontScale="85000" lnSpcReduction="20000"/>
          </a:bodyPr>
          <a:lstStyle/>
          <a:p>
            <a:r>
              <a:rPr lang="en-US" dirty="0"/>
              <a:t>Introduction to reinforcement learning</a:t>
            </a:r>
          </a:p>
          <a:p>
            <a:r>
              <a:rPr lang="en-US" dirty="0"/>
              <a:t>Markov decision processes</a:t>
            </a:r>
          </a:p>
          <a:p>
            <a:r>
              <a:rPr lang="en-US" dirty="0"/>
              <a:t>Part I: Tabular Methods</a:t>
            </a:r>
          </a:p>
          <a:p>
            <a:pPr lvl="1"/>
            <a:r>
              <a:rPr lang="en-US" dirty="0"/>
              <a:t>Dynamic programming</a:t>
            </a:r>
          </a:p>
          <a:p>
            <a:pPr lvl="1"/>
            <a:r>
              <a:rPr lang="en-US" dirty="0"/>
              <a:t>Monte Carlo methods</a:t>
            </a:r>
          </a:p>
          <a:p>
            <a:pPr lvl="1"/>
            <a:r>
              <a:rPr lang="en-US" dirty="0"/>
              <a:t>Temporal-difference learning</a:t>
            </a:r>
          </a:p>
          <a:p>
            <a:pPr lvl="1"/>
            <a:r>
              <a:rPr lang="en-US" dirty="0"/>
              <a:t>Multi-step bootstrapping</a:t>
            </a:r>
          </a:p>
          <a:p>
            <a:pPr lvl="1"/>
            <a:r>
              <a:rPr lang="en-US" dirty="0"/>
              <a:t>Planning and learning with tabular methods</a:t>
            </a:r>
          </a:p>
          <a:p>
            <a:r>
              <a:rPr lang="en-US" b="1" dirty="0"/>
              <a:t>Part II: Approximate Solution Methods</a:t>
            </a:r>
          </a:p>
          <a:p>
            <a:pPr lvl="1"/>
            <a:r>
              <a:rPr lang="en-US" b="1" dirty="0"/>
              <a:t>Prediction and Control using Approximation</a:t>
            </a:r>
          </a:p>
          <a:p>
            <a:pPr lvl="1"/>
            <a:r>
              <a:rPr lang="en-US" dirty="0"/>
              <a:t>Eligibility Traces</a:t>
            </a:r>
          </a:p>
          <a:p>
            <a:pPr lvl="1"/>
            <a:r>
              <a:rPr lang="en-US" dirty="0"/>
              <a:t>Policy Gradient Methods</a:t>
            </a:r>
          </a:p>
          <a:p>
            <a:r>
              <a:rPr lang="en-US" dirty="0"/>
              <a:t>Part III: Modern RL Methods</a:t>
            </a:r>
          </a:p>
          <a:p>
            <a:pPr lvl="1"/>
            <a:r>
              <a:rPr lang="en-US" dirty="0"/>
              <a:t>Deep Reinforcement Learning</a:t>
            </a:r>
          </a:p>
          <a:p>
            <a:pPr lvl="1"/>
            <a:r>
              <a:rPr lang="en-US" dirty="0"/>
              <a:t>Current Applications</a:t>
            </a:r>
          </a:p>
        </p:txBody>
      </p:sp>
    </p:spTree>
    <p:extLst>
      <p:ext uri="{BB962C8B-B14F-4D97-AF65-F5344CB8AC3E}">
        <p14:creationId xmlns:p14="http://schemas.microsoft.com/office/powerpoint/2010/main" val="365336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E1A2-75E3-3C9C-6C10-EE078C5AD54A}"/>
              </a:ext>
            </a:extLst>
          </p:cNvPr>
          <p:cNvSpPr>
            <a:spLocks noGrp="1"/>
          </p:cNvSpPr>
          <p:nvPr>
            <p:ph type="title"/>
          </p:nvPr>
        </p:nvSpPr>
        <p:spPr/>
        <p:txBody>
          <a:bodyPr/>
          <a:lstStyle/>
          <a:p>
            <a:r>
              <a:rPr lang="en-US" dirty="0"/>
              <a:t>Summary of Notation</a:t>
            </a:r>
          </a:p>
        </p:txBody>
      </p:sp>
      <mc:AlternateContent xmlns:mc="http://schemas.openxmlformats.org/markup-compatibility/2006" xmlns:a14="http://schemas.microsoft.com/office/drawing/2010/main">
        <mc:Choice Requires="a14">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p:nvPr/>
            </p:nvSpPr>
            <p:spPr>
              <a:xfrm>
                <a:off x="822820" y="1124198"/>
                <a:ext cx="5273179"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dirty="0"/>
                  <a:t>General</a:t>
                </a:r>
                <a:endParaRPr lang="en-US" sz="1200" dirty="0"/>
              </a:p>
              <a:p>
                <a14:m>
                  <m:oMath xmlns:m="http://schemas.openxmlformats.org/officeDocument/2006/math">
                    <m:r>
                      <a:rPr lang="en-US" sz="1200" i="1" dirty="0" smtClean="0">
                        <a:latin typeface="Cambria Math" panose="02040503050406030204" pitchFamily="18" charset="0"/>
                      </a:rPr>
                      <m:t>𝑋</m:t>
                    </m:r>
                  </m:oMath>
                </a14:m>
                <a:r>
                  <a:rPr lang="en-US" sz="1200" dirty="0"/>
                  <a:t>	capital letters: random variables</a:t>
                </a:r>
                <a:br>
                  <a:rPr lang="en-US" sz="1200" dirty="0"/>
                </a:br>
                <a14:m>
                  <m:oMath xmlns:m="http://schemas.openxmlformats.org/officeDocument/2006/math">
                    <m:r>
                      <a:rPr lang="en-US" sz="1200" b="0" i="1" smtClean="0">
                        <a:latin typeface="Cambria Math" panose="02040503050406030204" pitchFamily="18" charset="0"/>
                      </a:rPr>
                      <m:t>𝑥</m:t>
                    </m:r>
                    <m:r>
                      <a:rPr lang="en-US" sz="1200" b="0" i="0" smtClean="0">
                        <a:latin typeface="Cambria Math" panose="02040503050406030204" pitchFamily="18" charset="0"/>
                      </a:rPr>
                      <m:t>, </m:t>
                    </m:r>
                    <m:r>
                      <a:rPr lang="en-US" sz="1200" b="0" i="1" smtClean="0">
                        <a:latin typeface="Cambria Math" panose="02040503050406030204" pitchFamily="18" charset="0"/>
                      </a:rPr>
                      <m:t>𝑝</m:t>
                    </m:r>
                  </m:oMath>
                </a14:m>
                <a:r>
                  <a:rPr lang="en-US" sz="1200" dirty="0"/>
                  <a:t>	lower-case letters: realizations of random variables </a:t>
                </a:r>
                <a:br>
                  <a:rPr lang="en-US" sz="1200" dirty="0"/>
                </a:br>
                <a:r>
                  <a:rPr lang="en-US" sz="1200" dirty="0"/>
                  <a:t>	or scalar functions</a:t>
                </a:r>
              </a:p>
              <a:p>
                <a14:m>
                  <m:oMath xmlns:m="http://schemas.openxmlformats.org/officeDocument/2006/math">
                    <m:r>
                      <a:rPr lang="en-US" sz="1200" b="1" i="1" smtClean="0">
                        <a:latin typeface="Cambria Math" panose="02040503050406030204" pitchFamily="18" charset="0"/>
                      </a:rPr>
                      <m:t>𝒘</m:t>
                    </m:r>
                  </m:oMath>
                </a14:m>
                <a:r>
                  <a:rPr lang="en-US" sz="1200" dirty="0"/>
                  <a:t> 	Bold lower-case letters: real-valued vectors </a:t>
                </a:r>
                <a:br>
                  <a:rPr lang="en-US" sz="1200" dirty="0"/>
                </a:br>
                <a:r>
                  <a:rPr lang="en-US" sz="1200" dirty="0"/>
                  <a:t>	(even if random variables)</a:t>
                </a:r>
              </a:p>
              <a:p>
                <a14:m>
                  <m:oMath xmlns:m="http://schemas.openxmlformats.org/officeDocument/2006/math">
                    <m:r>
                      <a:rPr lang="en-US" sz="1200" b="1" i="1" smtClean="0">
                        <a:latin typeface="Cambria Math" panose="02040503050406030204" pitchFamily="18" charset="0"/>
                      </a:rPr>
                      <m:t>𝑾</m:t>
                    </m:r>
                  </m:oMath>
                </a14:m>
                <a:r>
                  <a:rPr lang="en-US" sz="1200" dirty="0"/>
                  <a:t>	bold capitals: matrices</a:t>
                </a:r>
              </a:p>
              <a:p>
                <a14:m>
                  <m:oMath xmlns:m="http://schemas.openxmlformats.org/officeDocument/2006/math">
                    <m:r>
                      <a:rPr lang="en-US" sz="1200" b="0" i="1" smtClean="0">
                        <a:latin typeface="Cambria Math" panose="02040503050406030204" pitchFamily="18" charset="0"/>
                      </a:rPr>
                      <m:t>𝛼</m:t>
                    </m:r>
                  </m:oMath>
                </a14:m>
                <a:r>
                  <a:rPr lang="en-US" sz="1200" dirty="0"/>
                  <a:t>	Greek letters: parameters (vectors if in bolt)</a:t>
                </a:r>
              </a:p>
              <a:p>
                <a14:m>
                  <m:oMath xmlns:m="http://schemas.openxmlformats.org/officeDocument/2006/math">
                    <m:r>
                      <m:rPr>
                        <m:sty m:val="p"/>
                      </m:rPr>
                      <a:rPr lang="en-US" sz="1200" i="1" dirty="0">
                        <a:latin typeface="Cambria Math" panose="02040503050406030204" pitchFamily="18" charset="0"/>
                      </a:rPr>
                      <m:t>Pr</m:t>
                    </m:r>
                    <m:r>
                      <a:rPr lang="en-US" sz="1200" i="1" dirty="0">
                        <a:latin typeface="Cambria Math" panose="02040503050406030204" pitchFamily="18" charset="0"/>
                      </a:rPr>
                      <m:t>⁡{</m:t>
                    </m:r>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𝑥</m:t>
                    </m:r>
                    <m:r>
                      <a:rPr lang="en-US" sz="1200" i="1" dirty="0">
                        <a:latin typeface="Cambria Math" panose="02040503050406030204" pitchFamily="18" charset="0"/>
                      </a:rPr>
                      <m:t>}</m:t>
                    </m:r>
                  </m:oMath>
                </a14:m>
                <a:r>
                  <a:rPr lang="en-US" sz="1200" dirty="0"/>
                  <a:t>	probability that a random variable </a:t>
                </a:r>
                <a14:m>
                  <m:oMath xmlns:m="http://schemas.openxmlformats.org/officeDocument/2006/math">
                    <m:r>
                      <a:rPr lang="en-US" sz="1200" i="1" dirty="0">
                        <a:latin typeface="Cambria Math" panose="02040503050406030204" pitchFamily="18" charset="0"/>
                      </a:rPr>
                      <m:t>𝑋</m:t>
                    </m:r>
                  </m:oMath>
                </a14:m>
                <a:r>
                  <a:rPr lang="en-US" sz="1200" dirty="0"/>
                  <a:t> takes on the value </a:t>
                </a:r>
                <a14:m>
                  <m:oMath xmlns:m="http://schemas.openxmlformats.org/officeDocument/2006/math">
                    <m:r>
                      <a:rPr lang="en-US" sz="1200" i="1" dirty="0">
                        <a:latin typeface="Cambria Math" panose="02040503050406030204" pitchFamily="18" charset="0"/>
                      </a:rPr>
                      <m:t>𝑥</m:t>
                    </m:r>
                  </m:oMath>
                </a14:m>
                <a:endParaRPr lang="en-US" sz="1200" dirty="0"/>
              </a:p>
              <a:p>
                <a14:m>
                  <m:oMath xmlns:m="http://schemas.openxmlformats.org/officeDocument/2006/math">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𝑝</m:t>
                    </m:r>
                  </m:oMath>
                </a14:m>
                <a:r>
                  <a:rPr lang="en-US" sz="1200" dirty="0"/>
                  <a:t>	random variable </a:t>
                </a:r>
                <a14:m>
                  <m:oMath xmlns:m="http://schemas.openxmlformats.org/officeDocument/2006/math">
                    <m:r>
                      <a:rPr lang="en-US" sz="1200" i="1" dirty="0">
                        <a:latin typeface="Cambria Math" panose="02040503050406030204" pitchFamily="18" charset="0"/>
                      </a:rPr>
                      <m:t>𝑋</m:t>
                    </m:r>
                  </m:oMath>
                </a14:m>
                <a:r>
                  <a:rPr lang="en-US" sz="1200" dirty="0"/>
                  <a:t> selected from distribution </a:t>
                </a:r>
                <a14:m>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m:rPr>
                        <m:sty m:val="p"/>
                      </m:rPr>
                      <a:rPr lang="en-US" sz="1200">
                        <a:latin typeface="Cambria Math" panose="02040503050406030204" pitchFamily="18" charset="0"/>
                      </a:rPr>
                      <m:t>Pr</m:t>
                    </m:r>
                    <m:r>
                      <a:rPr lang="en-US" sz="1200" i="1">
                        <a:latin typeface="Cambria Math" panose="02040503050406030204" pitchFamily="18" charset="0"/>
                      </a:rPr>
                      <m:t>⁡{</m:t>
                    </m:r>
                    <m:r>
                      <a:rPr lang="en-US" sz="1200" i="1">
                        <a:latin typeface="Cambria Math" panose="02040503050406030204" pitchFamily="18" charset="0"/>
                      </a:rPr>
                      <m:t>𝑋</m:t>
                    </m:r>
                    <m:r>
                      <a:rPr lang="en-US" sz="1200" i="1">
                        <a:latin typeface="Cambria Math" panose="02040503050406030204" pitchFamily="18" charset="0"/>
                      </a:rPr>
                      <m:t>=</m:t>
                    </m:r>
                    <m:r>
                      <a:rPr lang="en-US" sz="1200" i="1">
                        <a:latin typeface="Cambria Math" panose="02040503050406030204" pitchFamily="18" charset="0"/>
                      </a:rPr>
                      <m:t>𝑥</m:t>
                    </m:r>
                    <m:r>
                      <a:rPr lang="en-US" sz="1200" i="1">
                        <a:latin typeface="Cambria Math" panose="02040503050406030204" pitchFamily="18" charset="0"/>
                      </a:rPr>
                      <m:t>}</m:t>
                    </m:r>
                  </m:oMath>
                </a14:m>
                <a:endParaRPr lang="en-US" sz="1200" dirty="0"/>
              </a:p>
              <a:p>
                <a14:m>
                  <m:oMath xmlns:m="http://schemas.openxmlformats.org/officeDocument/2006/math">
                    <m:r>
                      <a:rPr lang="en-US" sz="1200" i="1">
                        <a:latin typeface="Cambria Math" panose="02040503050406030204" pitchFamily="18" charset="0"/>
                        <a:ea typeface="Cambria Math" panose="02040503050406030204" pitchFamily="18" charset="0"/>
                      </a:rPr>
                      <m:t>𝔼</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𝑋</m:t>
                    </m:r>
                    <m:r>
                      <a:rPr lang="en-US" sz="1200" i="1">
                        <a:latin typeface="Cambria Math" panose="02040503050406030204" pitchFamily="18" charset="0"/>
                        <a:ea typeface="Cambria Math" panose="02040503050406030204" pitchFamily="18" charset="0"/>
                      </a:rPr>
                      <m:t>]</m:t>
                    </m:r>
                  </m:oMath>
                </a14:m>
                <a:r>
                  <a:rPr lang="en-US" sz="1200" dirty="0"/>
                  <a:t>	expectation of a random variable </a:t>
                </a:r>
                <a14:m>
                  <m:oMath xmlns:m="http://schemas.openxmlformats.org/officeDocument/2006/math">
                    <m:r>
                      <a:rPr lang="en-US" sz="1200" i="1" dirty="0">
                        <a:latin typeface="Cambria Math" panose="02040503050406030204" pitchFamily="18" charset="0"/>
                      </a:rPr>
                      <m:t>𝑋</m:t>
                    </m:r>
                  </m:oMath>
                </a14:m>
                <a:r>
                  <a:rPr lang="en-US" sz="1200" dirty="0"/>
                  <a:t>, i.e., </a:t>
                </a:r>
                <a14:m>
                  <m:oMath xmlns:m="http://schemas.openxmlformats.org/officeDocument/2006/math">
                    <m:r>
                      <a:rPr lang="en-US" sz="1200" i="1">
                        <a:latin typeface="Cambria Math" panose="02040503050406030204" pitchFamily="18" charset="0"/>
                        <a:ea typeface="Cambria Math" panose="02040503050406030204" pitchFamily="18" charset="0"/>
                      </a:rPr>
                      <m:t>𝔼</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𝑋</m:t>
                        </m:r>
                      </m:e>
                    </m:d>
                    <m:r>
                      <a:rPr lang="en-US" sz="1200" i="1">
                        <a:latin typeface="Cambria Math" panose="02040503050406030204" pitchFamily="18" charset="0"/>
                        <a:ea typeface="Cambria Math" panose="02040503050406030204" pitchFamily="18" charset="0"/>
                      </a:rPr>
                      <m:t>=</m:t>
                    </m:r>
                    <m:nary>
                      <m:naryPr>
                        <m:chr m:val="∑"/>
                        <m:supHide m:val="on"/>
                        <m:ctrlPr>
                          <a:rPr lang="en-US" sz="1200" i="1">
                            <a:latin typeface="Cambria Math" panose="02040503050406030204" pitchFamily="18" charset="0"/>
                            <a:ea typeface="Cambria Math" panose="02040503050406030204" pitchFamily="18" charset="0"/>
                          </a:rPr>
                        </m:ctrlPr>
                      </m:naryPr>
                      <m:sub>
                        <m:r>
                          <a:rPr lang="en-US" sz="1200" i="1">
                            <a:latin typeface="Cambria Math" panose="02040503050406030204" pitchFamily="18" charset="0"/>
                            <a:ea typeface="Cambria Math" panose="02040503050406030204" pitchFamily="18" charset="0"/>
                          </a:rPr>
                          <m:t>𝑥</m:t>
                        </m:r>
                      </m:sub>
                      <m:sup/>
                      <m:e>
                        <m:r>
                          <a:rPr lang="en-US" sz="1200" i="1">
                            <a:latin typeface="Cambria Math" panose="02040503050406030204" pitchFamily="18" charset="0"/>
                            <a:ea typeface="Cambria Math" panose="02040503050406030204" pitchFamily="18" charset="0"/>
                          </a:rPr>
                          <m:t>𝑝</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r>
                          <a:rPr lang="en-US" sz="1200" i="1">
                            <a:latin typeface="Cambria Math" panose="02040503050406030204" pitchFamily="18" charset="0"/>
                            <a:ea typeface="Cambria Math" panose="02040503050406030204" pitchFamily="18" charset="0"/>
                          </a:rPr>
                          <m:t>𝑥</m:t>
                        </m:r>
                      </m:e>
                    </m:nary>
                  </m:oMath>
                </a14:m>
                <a:endParaRPr lang="en-US" sz="1200" dirty="0">
                  <a:ea typeface="Cambria Math" panose="02040503050406030204" pitchFamily="18" charset="0"/>
                </a:endParaRPr>
              </a:p>
              <a:p>
                <a14:m>
                  <m:oMath xmlns:m="http://schemas.openxmlformats.org/officeDocument/2006/math">
                    <m:sSub>
                      <m:sSubPr>
                        <m:ctrlPr>
                          <a:rPr lang="en-US" sz="1200" dirty="0">
                            <a:latin typeface="Cambria Math" panose="02040503050406030204" pitchFamily="18" charset="0"/>
                          </a:rPr>
                        </m:ctrlPr>
                      </m:sSubPr>
                      <m:e>
                        <m:r>
                          <m:rPr>
                            <m:sty m:val="p"/>
                          </m:rPr>
                          <a:rPr lang="en-US" sz="1200" dirty="0">
                            <a:latin typeface="Cambria Math" panose="02040503050406030204" pitchFamily="18" charset="0"/>
                          </a:rPr>
                          <m:t>argmax</m:t>
                        </m:r>
                      </m:e>
                      <m:sub>
                        <m:r>
                          <m:rPr>
                            <m:sty m:val="p"/>
                          </m:rPr>
                          <a:rPr lang="en-US" sz="1200" dirty="0">
                            <a:latin typeface="Cambria Math" panose="02040503050406030204" pitchFamily="18" charset="0"/>
                          </a:rPr>
                          <m:t>a</m:t>
                        </m:r>
                      </m:sub>
                    </m:sSub>
                    <m:r>
                      <a:rPr lang="en-US" sz="1200" dirty="0">
                        <a:latin typeface="Cambria Math" panose="02040503050406030204" pitchFamily="18" charset="0"/>
                      </a:rPr>
                      <m:t> </m:t>
                    </m:r>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a value of action </a:t>
                </a:r>
                <a14:m>
                  <m:oMath xmlns:m="http://schemas.openxmlformats.org/officeDocument/2006/math">
                    <m:r>
                      <a:rPr lang="en-US" sz="1200" i="1" dirty="0">
                        <a:latin typeface="Cambria Math" panose="02040503050406030204" pitchFamily="18" charset="0"/>
                      </a:rPr>
                      <m:t>𝑎</m:t>
                    </m:r>
                  </m:oMath>
                </a14:m>
                <a:r>
                  <a:rPr lang="en-US" sz="1200" dirty="0"/>
                  <a:t> at which </a:t>
                </a:r>
                <a14:m>
                  <m:oMath xmlns:m="http://schemas.openxmlformats.org/officeDocument/2006/math">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takes its maximal value</a:t>
                </a:r>
              </a:p>
            </p:txBody>
          </p:sp>
        </mc:Choice>
        <mc:Fallback xmlns="">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a:spLocks noRot="1" noChangeAspect="1" noMove="1" noResize="1" noEditPoints="1" noAdjustHandles="1" noChangeArrowheads="1" noChangeShapeType="1" noTextEdit="1"/>
              </p:cNvSpPr>
              <p:nvPr/>
            </p:nvSpPr>
            <p:spPr>
              <a:xfrm>
                <a:off x="822820" y="1124198"/>
                <a:ext cx="5273179" cy="2308324"/>
              </a:xfrm>
              <a:prstGeom prst="rect">
                <a:avLst/>
              </a:prstGeom>
              <a:blipFill>
                <a:blip r:embed="rId3"/>
                <a:stretch>
                  <a:fillRect b="-9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p:cNvSpPr>
              <p:nvPr>
                <p:ph idx="1"/>
              </p:nvPr>
            </p:nvSpPr>
            <p:spPr>
              <a:xfrm>
                <a:off x="822817" y="3545635"/>
                <a:ext cx="5273179" cy="1902124"/>
              </a:xfrm>
            </p:spPr>
            <p:style>
              <a:lnRef idx="2">
                <a:schemeClr val="accent2"/>
              </a:lnRef>
              <a:fillRef idx="1">
                <a:schemeClr val="lt1"/>
              </a:fillRef>
              <a:effectRef idx="0">
                <a:schemeClr val="accent2"/>
              </a:effectRef>
              <a:fontRef idx="minor">
                <a:schemeClr val="dk1"/>
              </a:fontRef>
            </p:style>
            <p:txBody>
              <a:bodyPr>
                <a:spAutoFit/>
              </a:bodyPr>
              <a:lstStyle/>
              <a:p>
                <a:pPr marL="0" indent="0">
                  <a:lnSpc>
                    <a:spcPct val="100000"/>
                  </a:lnSpc>
                  <a:spcBef>
                    <a:spcPts val="0"/>
                  </a:spcBef>
                  <a:buNone/>
                </a:pPr>
                <a:r>
                  <a:rPr lang="en-US" sz="1200" b="1" dirty="0"/>
                  <a:t>Value Function</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𝐺</m:t>
                        </m:r>
                      </m:e>
                      <m:sub>
                        <m:r>
                          <a:rPr lang="en-US" sz="1200" i="1" dirty="0">
                            <a:latin typeface="Cambria Math" panose="02040503050406030204" pitchFamily="18" charset="0"/>
                          </a:rPr>
                          <m:t>𝑡</m:t>
                        </m:r>
                      </m:sub>
                    </m:sSub>
                  </m:oMath>
                </a14:m>
                <a:r>
                  <a:rPr lang="en-US" sz="1200" dirty="0"/>
                  <a:t> 	return (cumulative reward) following time </a:t>
                </a:r>
                <a14:m>
                  <m:oMath xmlns:m="http://schemas.openxmlformats.org/officeDocument/2006/math">
                    <m:r>
                      <a:rPr lang="en-US" sz="1200" i="1" dirty="0">
                        <a:latin typeface="Cambria Math" panose="02040503050406030204" pitchFamily="18" charset="0"/>
                      </a:rPr>
                      <m:t>𝑡</m:t>
                    </m:r>
                  </m:oMath>
                </a14:m>
                <a:endParaRPr lang="en-US" sz="1200" dirty="0"/>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𝐺</m:t>
                        </m:r>
                      </m:e>
                      <m:sub>
                        <m:r>
                          <a:rPr lang="en-US" sz="1200" i="1" dirty="0">
                            <a:solidFill>
                              <a:schemeClr val="tx1"/>
                            </a:solidFill>
                            <a:latin typeface="Cambria Math" panose="02040503050406030204" pitchFamily="18" charset="0"/>
                          </a:rPr>
                          <m:t>𝑡</m:t>
                        </m:r>
                        <m:r>
                          <a:rPr lang="en-US" sz="1200" i="1" dirty="0">
                            <a:solidFill>
                              <a:schemeClr val="tx1"/>
                            </a:solidFill>
                            <a:latin typeface="Cambria Math" panose="02040503050406030204" pitchFamily="18" charset="0"/>
                          </a:rPr>
                          <m:t>:</m:t>
                        </m:r>
                        <m:r>
                          <a:rPr lang="en-US" sz="1200" i="1" dirty="0">
                            <a:solidFill>
                              <a:schemeClr val="tx1"/>
                            </a:solidFill>
                            <a:latin typeface="Cambria Math" panose="02040503050406030204" pitchFamily="18" charset="0"/>
                          </a:rPr>
                          <m:t>ℎ</m:t>
                        </m:r>
                      </m:sub>
                    </m:sSub>
                  </m:oMath>
                </a14:m>
                <a:r>
                  <a:rPr lang="en-US" sz="1200" dirty="0">
                    <a:solidFill>
                      <a:schemeClr val="tx1"/>
                    </a:solidFill>
                  </a:rPr>
                  <a:t>	return from </a:t>
                </a:r>
                <a14:m>
                  <m:oMath xmlns:m="http://schemas.openxmlformats.org/officeDocument/2006/math">
                    <m:r>
                      <a:rPr lang="en-US" sz="1200" i="1" dirty="0">
                        <a:solidFill>
                          <a:schemeClr val="tx1"/>
                        </a:solidFill>
                        <a:latin typeface="Cambria Math" panose="02040503050406030204" pitchFamily="18" charset="0"/>
                      </a:rPr>
                      <m:t>𝑡</m:t>
                    </m:r>
                  </m:oMath>
                </a14:m>
                <a:r>
                  <a:rPr lang="en-US" sz="1200" dirty="0">
                    <a:solidFill>
                      <a:schemeClr val="tx1"/>
                    </a:solidFill>
                  </a:rPr>
                  <a:t> to </a:t>
                </a:r>
                <a14:m>
                  <m:oMath xmlns:m="http://schemas.openxmlformats.org/officeDocument/2006/math">
                    <m:r>
                      <a:rPr lang="en-US" sz="1200" i="1" dirty="0">
                        <a:solidFill>
                          <a:schemeClr val="tx1"/>
                        </a:solidFill>
                        <a:latin typeface="Cambria Math" panose="02040503050406030204" pitchFamily="18" charset="0"/>
                      </a:rPr>
                      <m:t>ℎ</m:t>
                    </m:r>
                  </m:oMath>
                </a14:m>
                <a:r>
                  <a:rPr lang="en-US" sz="1200" dirty="0">
                    <a:solidFill>
                      <a:schemeClr val="tx1"/>
                    </a:solidFill>
                  </a:rPr>
                  <a:t> (discounted and corrected)</a:t>
                </a:r>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a:t>
                </a:r>
                <a14:m>
                  <m:oMath xmlns:m="http://schemas.openxmlformats.org/officeDocument/2006/math">
                    <m:r>
                      <a:rPr lang="en-US" sz="1200" i="1" dirty="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r>
                  <a:rPr lang="en-US" sz="1200" dirty="0"/>
                  <a:t> (expected return)</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s under the optimal policy</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endParaRPr lang="en-US" sz="1200" dirty="0"/>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the optimal policy</a:t>
                </a: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𝑉</m:t>
                    </m:r>
                    <m:r>
                      <a:rPr lang="en-US" sz="1200" i="1" dirty="0">
                        <a:solidFill>
                          <a:schemeClr val="tx1"/>
                        </a:solidFill>
                        <a:latin typeface="Cambria Math" panose="02040503050406030204" pitchFamily="18" charset="0"/>
                      </a:rPr>
                      <m:t>, </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𝑉</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state-value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r>
                      <a:rPr lang="en-US" sz="1200" i="1" dirty="0">
                        <a:solidFill>
                          <a:schemeClr val="tx1"/>
                        </a:solidFill>
                        <a:latin typeface="Cambria Math" panose="02040503050406030204" pitchFamily="18" charset="0"/>
                      </a:rPr>
                      <m:t> </m:t>
                    </m:r>
                  </m:oMath>
                </a14:m>
                <a:endParaRPr lang="en-US" sz="1200" dirty="0">
                  <a:solidFill>
                    <a:schemeClr val="tx1"/>
                  </a:solidFill>
                </a:endParaRP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𝑄</m:t>
                    </m:r>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𝑄</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action-value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𝑞</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oMath>
                </a14:m>
                <a:endParaRPr lang="en-US" sz="1200" dirty="0">
                  <a:solidFill>
                    <a:schemeClr val="tx1"/>
                  </a:solidFill>
                </a:endParaRPr>
              </a:p>
            </p:txBody>
          </p:sp>
        </mc:Choice>
        <mc:Fallback xmlns="">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noRot="1" noChangeAspect="1" noMove="1" noResize="1" noEditPoints="1" noAdjustHandles="1" noChangeArrowheads="1" noChangeShapeType="1" noTextEdit="1"/>
              </p:cNvSpPr>
              <p:nvPr>
                <p:ph idx="1"/>
              </p:nvPr>
            </p:nvSpPr>
            <p:spPr>
              <a:xfrm>
                <a:off x="822817" y="3545635"/>
                <a:ext cx="5273179" cy="1902124"/>
              </a:xfrm>
              <a:blipFill>
                <a:blip r:embed="rId2"/>
                <a:stretch>
                  <a:fillRect b="-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descr="Temporal Difference Learning. U sub t target for estimate at time t. delta sub t TD error">
                <a:extLst>
                  <a:ext uri="{FF2B5EF4-FFF2-40B4-BE49-F238E27FC236}">
                    <a16:creationId xmlns:a16="http://schemas.microsoft.com/office/drawing/2014/main" id="{4C5E539A-F9A7-F959-ACD3-4ADE5900F587}"/>
                  </a:ext>
                </a:extLst>
              </p:cNvPr>
              <p:cNvSpPr txBox="1">
                <a:spLocks/>
              </p:cNvSpPr>
              <p:nvPr/>
            </p:nvSpPr>
            <p:spPr>
              <a:xfrm>
                <a:off x="822817" y="5567468"/>
                <a:ext cx="5273179" cy="646331"/>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1200" b="1" dirty="0"/>
                  <a:t>Temporal Difference Learning</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𝑈</m:t>
                        </m:r>
                      </m:e>
                      <m:sub>
                        <m:r>
                          <a:rPr lang="en-US" sz="1200" i="1" dirty="0">
                            <a:solidFill>
                              <a:schemeClr val="tx1"/>
                            </a:solidFill>
                            <a:latin typeface="Cambria Math" panose="02040503050406030204" pitchFamily="18" charset="0"/>
                          </a:rPr>
                          <m:t>𝑡</m:t>
                        </m:r>
                      </m:sub>
                    </m:sSub>
                  </m:oMath>
                </a14:m>
                <a:r>
                  <a:rPr lang="en-US" sz="1200" dirty="0">
                    <a:solidFill>
                      <a:schemeClr val="tx1"/>
                    </a:solidFill>
                  </a:rPr>
                  <a:t>	target for estimate at time</a:t>
                </a:r>
                <a14:m>
                  <m:oMath xmlns:m="http://schemas.openxmlformats.org/officeDocument/2006/math">
                    <m:r>
                      <a:rPr lang="en-US" sz="1200" i="1" dirty="0">
                        <a:solidFill>
                          <a:schemeClr val="tx1"/>
                        </a:solidFill>
                        <a:latin typeface="Cambria Math" panose="02040503050406030204" pitchFamily="18" charset="0"/>
                      </a:rPr>
                      <m:t> </m:t>
                    </m:r>
                    <m:r>
                      <a:rPr lang="en-US" sz="1200" i="1" dirty="0">
                        <a:solidFill>
                          <a:schemeClr val="tx1"/>
                        </a:solidFill>
                        <a:latin typeface="Cambria Math" panose="02040503050406030204" pitchFamily="18" charset="0"/>
                      </a:rPr>
                      <m:t>𝑡</m:t>
                    </m:r>
                  </m:oMath>
                </a14:m>
                <a:endParaRPr lang="en-US" sz="1200" dirty="0">
                  <a:solidFill>
                    <a:schemeClr val="tx1"/>
                  </a:solidFill>
                </a:endParaRPr>
              </a:p>
              <a:p>
                <a:pPr marL="0" indent="0">
                  <a:lnSpc>
                    <a:spcPct val="100000"/>
                  </a:lnSpc>
                  <a:spcBef>
                    <a:spcPts val="0"/>
                  </a:spcBef>
                  <a:buNone/>
                </a:pPr>
                <a14:m>
                  <m:oMath xmlns:m="http://schemas.openxmlformats.org/officeDocument/2006/math">
                    <m:sSub>
                      <m:sSubPr>
                        <m:ctrlPr>
                          <a:rPr lang="en-US" sz="1200" b="0" i="1" dirty="0" smtClean="0">
                            <a:solidFill>
                              <a:schemeClr val="tx1"/>
                            </a:solidFill>
                            <a:latin typeface="Cambria Math" panose="02040503050406030204" pitchFamily="18" charset="0"/>
                          </a:rPr>
                        </m:ctrlPr>
                      </m:sSubPr>
                      <m:e>
                        <m:r>
                          <a:rPr lang="en-US" sz="1200" b="0" i="1" dirty="0" smtClean="0">
                            <a:solidFill>
                              <a:schemeClr val="tx1"/>
                            </a:solidFill>
                            <a:latin typeface="Cambria Math" panose="02040503050406030204" pitchFamily="18" charset="0"/>
                          </a:rPr>
                          <m:t>𝛿</m:t>
                        </m:r>
                      </m:e>
                      <m:sub>
                        <m:r>
                          <a:rPr lang="en-US" sz="1200" i="1" dirty="0">
                            <a:solidFill>
                              <a:schemeClr val="tx1"/>
                            </a:solidFill>
                            <a:latin typeface="Cambria Math" panose="02040503050406030204" pitchFamily="18" charset="0"/>
                          </a:rPr>
                          <m:t>𝑡</m:t>
                        </m:r>
                      </m:sub>
                    </m:sSub>
                  </m:oMath>
                </a14:m>
                <a:r>
                  <a:rPr lang="en-US" sz="1200" dirty="0">
                    <a:solidFill>
                      <a:schemeClr val="tx1"/>
                    </a:solidFill>
                  </a:rPr>
                  <a:t>	TD error</a:t>
                </a:r>
              </a:p>
            </p:txBody>
          </p:sp>
        </mc:Choice>
        <mc:Fallback xmlns="">
          <p:sp>
            <p:nvSpPr>
              <p:cNvPr id="4" name="Content Placeholder 2" descr="Temporal Difference Learning. U sub t target for estimate at time t. delta sub t TD error">
                <a:extLst>
                  <a:ext uri="{FF2B5EF4-FFF2-40B4-BE49-F238E27FC236}">
                    <a16:creationId xmlns:a16="http://schemas.microsoft.com/office/drawing/2014/main" id="{4C5E539A-F9A7-F959-ACD3-4ADE5900F587}"/>
                  </a:ext>
                </a:extLst>
              </p:cNvPr>
              <p:cNvSpPr txBox="1">
                <a:spLocks noRot="1" noChangeAspect="1" noMove="1" noResize="1" noEditPoints="1" noAdjustHandles="1" noChangeArrowheads="1" noChangeShapeType="1" noTextEdit="1"/>
              </p:cNvSpPr>
              <p:nvPr/>
            </p:nvSpPr>
            <p:spPr>
              <a:xfrm>
                <a:off x="822817" y="5567468"/>
                <a:ext cx="5273179" cy="646331"/>
              </a:xfrm>
              <a:prstGeom prst="rect">
                <a:avLst/>
              </a:prstGeom>
              <a:blipFill>
                <a:blip r:embed="rId5"/>
                <a:stretch>
                  <a:fillRect b="-4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p:cNvSpPr>
              <p:nvPr/>
            </p:nvSpPr>
            <p:spPr>
              <a:xfrm>
                <a:off x="6267338" y="1124198"/>
                <a:ext cx="5273179" cy="3693383"/>
              </a:xfrm>
              <a:prstGeom prst="rect">
                <a:avLst/>
              </a:prstGeom>
            </p:spPr>
            <p:style>
              <a:lnRef idx="2">
                <a:schemeClr val="accent2"/>
              </a:lnRef>
              <a:fillRef idx="1">
                <a:schemeClr val="lt1"/>
              </a:fillRef>
              <a:effectRef idx="0">
                <a:schemeClr val="accent2"/>
              </a:effectRef>
              <a:fontRef idx="minor">
                <a:schemeClr val="dk1"/>
              </a:fontRef>
            </p:style>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t>MDP</a:t>
                </a:r>
              </a:p>
              <a:p>
                <a:pPr marL="0" indent="0">
                  <a:spcBef>
                    <a:spcPts val="0"/>
                  </a:spcBef>
                  <a:buNone/>
                </a:pPr>
                <a14:m>
                  <m:oMath xmlns:m="http://schemas.openxmlformats.org/officeDocument/2006/math">
                    <m:r>
                      <a:rPr lang="en-US" sz="1200" i="1" dirty="0" smtClean="0">
                        <a:latin typeface="Cambria Math" panose="02040503050406030204" pitchFamily="18" charset="0"/>
                      </a:rPr>
                      <m:t>𝑠</m:t>
                    </m:r>
                    <m:r>
                      <a:rPr lang="en-US" sz="1200" i="1" dirty="0" smtClean="0">
                        <a:latin typeface="Cambria Math" panose="02040503050406030204" pitchFamily="18" charset="0"/>
                      </a:rPr>
                      <m:t>, </m:t>
                    </m:r>
                    <m:r>
                      <a:rPr lang="en-US" sz="1200" i="1" dirty="0" smtClean="0">
                        <a:latin typeface="Cambria Math" panose="02040503050406030204" pitchFamily="18" charset="0"/>
                      </a:rPr>
                      <m:t>𝑠</m:t>
                    </m:r>
                    <m:r>
                      <a:rPr lang="en-US" sz="1200" b="0" i="1" dirty="0" smtClean="0">
                        <a:latin typeface="Cambria Math" panose="02040503050406030204" pitchFamily="18" charset="0"/>
                      </a:rPr>
                      <m:t>′</m:t>
                    </m:r>
                  </m:oMath>
                </a14:m>
                <a:r>
                  <a:rPr lang="en-US" sz="1200" dirty="0"/>
                  <a:t> 	states</a:t>
                </a:r>
              </a:p>
              <a:p>
                <a:pPr marL="0" indent="0">
                  <a:spcBef>
                    <a:spcPts val="0"/>
                  </a:spcBef>
                  <a:buNone/>
                </a:pPr>
                <a14:m>
                  <m:oMath xmlns:m="http://schemas.openxmlformats.org/officeDocument/2006/math">
                    <m:r>
                      <a:rPr lang="en-US" sz="1200" i="1" dirty="0" smtClean="0">
                        <a:latin typeface="Cambria Math" panose="02040503050406030204" pitchFamily="18" charset="0"/>
                      </a:rPr>
                      <m:t>𝑎</m:t>
                    </m:r>
                  </m:oMath>
                </a14:m>
                <a:r>
                  <a:rPr lang="en-US" sz="1200" dirty="0"/>
                  <a:t> 	an action</a:t>
                </a:r>
              </a:p>
              <a:p>
                <a:pPr marL="0" indent="0">
                  <a:spcBef>
                    <a:spcPts val="0"/>
                  </a:spcBef>
                  <a:buNone/>
                </a:pPr>
                <a14:m>
                  <m:oMath xmlns:m="http://schemas.openxmlformats.org/officeDocument/2006/math">
                    <m:r>
                      <a:rPr lang="en-US" sz="1200" i="1" dirty="0" smtClean="0">
                        <a:latin typeface="Cambria Math" panose="02040503050406030204" pitchFamily="18" charset="0"/>
                      </a:rPr>
                      <m:t>𝑟</m:t>
                    </m:r>
                  </m:oMath>
                </a14:m>
                <a:r>
                  <a:rPr lang="en-US" sz="1200" dirty="0"/>
                  <a:t> 	a reward</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𝒮</m:t>
                    </m:r>
                  </m:oMath>
                </a14:m>
                <a:r>
                  <a:rPr lang="en-US" sz="1200" dirty="0"/>
                  <a:t> 	set of all (nonterminal) states, </a:t>
                </a:r>
                <a14:m>
                  <m:oMath xmlns:m="http://schemas.openxmlformats.org/officeDocument/2006/math">
                    <m:sSup>
                      <m:sSupPr>
                        <m:ctrlPr>
                          <a:rPr lang="en-US" sz="1200" i="1" dirty="0">
                            <a:latin typeface="Cambria Math" panose="02040503050406030204" pitchFamily="18" charset="0"/>
                            <a:ea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𝒮</m:t>
                        </m:r>
                      </m:e>
                      <m:sup>
                        <m:r>
                          <a:rPr lang="en-US" sz="1200" b="0" i="1" dirty="0" smtClean="0">
                            <a:latin typeface="Cambria Math" panose="02040503050406030204" pitchFamily="18" charset="0"/>
                            <a:ea typeface="Cambria Math" panose="02040503050406030204" pitchFamily="18" charset="0"/>
                          </a:rPr>
                          <m:t>+</m:t>
                        </m:r>
                      </m:sup>
                    </m:sSup>
                  </m:oMath>
                </a14:m>
                <a:r>
                  <a:rPr lang="en-US" sz="1200" dirty="0"/>
                  <a:t> are all states </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𝒜</m:t>
                    </m:r>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set of all actions available in state </a:t>
                </a:r>
                <a14:m>
                  <m:oMath xmlns:m="http://schemas.openxmlformats.org/officeDocument/2006/math">
                    <m:r>
                      <a:rPr lang="en-US" sz="1200" i="1" dirty="0" smtClean="0">
                        <a:latin typeface="Cambria Math" panose="02040503050406030204" pitchFamily="18" charset="0"/>
                      </a:rPr>
                      <m:t>𝑠</m:t>
                    </m:r>
                  </m:oMath>
                </a14:m>
                <a:endParaRPr lang="en-US" sz="1200" dirty="0"/>
              </a:p>
              <a:p>
                <a:pPr marL="0" indent="0">
                  <a:spcBef>
                    <a:spcPts val="0"/>
                  </a:spcBef>
                  <a:buNone/>
                </a:pPr>
                <a14:m>
                  <m:oMath xmlns:m="http://schemas.openxmlformats.org/officeDocument/2006/math">
                    <m:r>
                      <a:rPr lang="en-US" sz="1200" i="1">
                        <a:latin typeface="Cambria Math" panose="02040503050406030204" pitchFamily="18" charset="0"/>
                      </a:rPr>
                      <m:t>𝛾</m:t>
                    </m:r>
                  </m:oMath>
                </a14:m>
                <a:r>
                  <a:rPr lang="en-US" sz="1200" dirty="0"/>
                  <a:t> 	discount-rate parameter</a:t>
                </a: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𝑡</m:t>
                    </m:r>
                  </m:oMath>
                </a14:m>
                <a:r>
                  <a:rPr lang="en-US" sz="1200" dirty="0"/>
                  <a:t> 	discrete time step</a:t>
                </a:r>
              </a:p>
              <a:p>
                <a:pPr marL="0" indent="0">
                  <a:spcBef>
                    <a:spcPts val="0"/>
                  </a:spcBef>
                  <a:buNone/>
                </a:pPr>
                <a14:m>
                  <m:oMath xmlns:m="http://schemas.openxmlformats.org/officeDocument/2006/math">
                    <m:r>
                      <a:rPr lang="en-US" sz="1200" i="1" dirty="0" smtClean="0">
                        <a:latin typeface="Cambria Math" panose="02040503050406030204" pitchFamily="18" charset="0"/>
                      </a:rPr>
                      <m:t>𝑇</m:t>
                    </m:r>
                  </m:oMath>
                </a14:m>
                <a:r>
                  <a:rPr lang="en-US" sz="1200" dirty="0"/>
                  <a:t> 	final time step of an episode (a.k.a. horizon)</a:t>
                </a:r>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𝐴</m:t>
                        </m:r>
                      </m:e>
                      <m:sub>
                        <m:r>
                          <a:rPr lang="en-US" sz="1200" b="0" i="1" dirty="0" smtClean="0">
                            <a:latin typeface="Cambria Math" panose="02040503050406030204" pitchFamily="18" charset="0"/>
                          </a:rPr>
                          <m:t>𝑡</m:t>
                        </m:r>
                      </m:sub>
                    </m:sSub>
                  </m:oMath>
                </a14:m>
                <a:r>
                  <a:rPr lang="en-US" sz="1200" dirty="0"/>
                  <a:t> 	random variable for the action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𝑆</m:t>
                        </m:r>
                      </m:e>
                      <m:sub>
                        <m:r>
                          <a:rPr lang="en-US" sz="1200" b="0" i="1" dirty="0" smtClean="0">
                            <a:latin typeface="Cambria Math" panose="02040503050406030204" pitchFamily="18" charset="0"/>
                          </a:rPr>
                          <m:t>𝑡</m:t>
                        </m:r>
                      </m:sub>
                    </m:sSub>
                  </m:oMath>
                </a14:m>
                <a:r>
                  <a:rPr lang="en-US" sz="1200" dirty="0"/>
                  <a:t>	random variable for the state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𝑅</m:t>
                        </m:r>
                      </m:e>
                      <m:sub>
                        <m:r>
                          <a:rPr lang="en-US" sz="1200" b="0" i="1" dirty="0" smtClean="0">
                            <a:latin typeface="Cambria Math" panose="02040503050406030204" pitchFamily="18" charset="0"/>
                          </a:rPr>
                          <m:t>𝑡</m:t>
                        </m:r>
                      </m:sub>
                    </m:sSub>
                  </m:oMath>
                </a14:m>
                <a:r>
                  <a:rPr lang="en-US" sz="1200" dirty="0"/>
                  <a:t> 	random variable for the reward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r>
                          <a:rPr lang="en-US" sz="1200" b="0" i="1" dirty="0" smtClean="0">
                            <a:latin typeface="Cambria Math" panose="02040503050406030204" pitchFamily="18" charset="0"/>
                          </a:rPr>
                          <m:t>,</m:t>
                        </m:r>
                        <m:r>
                          <a:rPr lang="en-US" sz="1200" b="0" i="1" dirty="0" smtClean="0">
                            <a:latin typeface="Cambria Math" panose="02040503050406030204" pitchFamily="18" charset="0"/>
                          </a:rPr>
                          <m:t>𝑟</m:t>
                        </m:r>
                        <m:r>
                          <a:rPr lang="en-US" sz="1200" i="1" dirty="0">
                            <a:latin typeface="Cambria Math" panose="02040503050406030204" pitchFamily="18" charset="0"/>
                          </a:rPr>
                          <m:t> </m:t>
                        </m:r>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and receiving reward </a:t>
                </a:r>
                <a14:m>
                  <m:oMath xmlns:m="http://schemas.openxmlformats.org/officeDocument/2006/math">
                    <m:r>
                      <a:rPr lang="en-US" sz="1200" b="0" i="1" smtClean="0">
                        <a:latin typeface="Cambria Math" panose="02040503050406030204" pitchFamily="18" charset="0"/>
                      </a:rPr>
                      <m:t>𝑟</m:t>
                    </m:r>
                  </m:oMath>
                </a14:m>
                <a:r>
                  <a:rPr lang="en-US" sz="1200" dirty="0"/>
                  <a:t>, </a:t>
                </a:r>
                <a:br>
                  <a:rPr lang="en-US" sz="1200" dirty="0"/>
                </a:br>
                <a:r>
                  <a:rPr lang="en-US" sz="1200" dirty="0"/>
                  <a:t>	from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fom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b="0" i="1" smtClean="0">
                        <a:latin typeface="Cambria Math" panose="02040503050406030204" pitchFamily="18" charset="0"/>
                      </a:rPr>
                      <m:t>𝑟</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r>
                      <a:rPr lang="en-US" sz="1200" b="0" i="1" smtClean="0">
                        <a:latin typeface="Cambria Math" panose="02040503050406030204" pitchFamily="18" charset="0"/>
                      </a:rPr>
                      <m:t>𝑎</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after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b="0" dirty="0"/>
              </a:p>
              <a:p>
                <a:pPr marL="0" indent="0">
                  <a:lnSpc>
                    <a:spcPct val="100000"/>
                  </a:lnSpc>
                  <a:spcBef>
                    <a:spcPts val="0"/>
                  </a:spcBef>
                  <a:buNone/>
                </a:pPr>
                <a14:m>
                  <m:oMath xmlns:m="http://schemas.openxmlformats.org/officeDocument/2006/math">
                    <m:r>
                      <a:rPr lang="en-US" sz="1200" i="1">
                        <a:latin typeface="Cambria Math" panose="02040503050406030204" pitchFamily="18" charset="0"/>
                      </a:rPr>
                      <m:t>𝑟</m:t>
                    </m:r>
                    <m:r>
                      <a:rPr lang="en-US" sz="1200" i="1">
                        <a:latin typeface="Cambria Math" panose="02040503050406030204" pitchFamily="18" charset="0"/>
                      </a:rPr>
                      <m:t>(</m:t>
                    </m:r>
                    <m:r>
                      <a:rPr lang="en-US" sz="1200" i="1">
                        <a:latin typeface="Cambria Math" panose="02040503050406030204" pitchFamily="18" charset="0"/>
                      </a:rPr>
                      <m:t>𝑠</m:t>
                    </m:r>
                    <m:r>
                      <a:rPr lang="en-US" sz="1200" i="1">
                        <a:latin typeface="Cambria Math" panose="02040503050406030204" pitchFamily="18" charset="0"/>
                      </a:rPr>
                      <m:t>,</m:t>
                    </m:r>
                    <m:r>
                      <a:rPr lang="en-US" sz="1200" i="1">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to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𝑠</m:t>
                        </m:r>
                      </m:e>
                      <m:sup>
                        <m:r>
                          <a:rPr lang="en-US" sz="1200" b="0" i="1" smtClean="0">
                            <a:latin typeface="Cambria Math" panose="02040503050406030204" pitchFamily="18" charset="0"/>
                          </a:rPr>
                          <m:t>′</m:t>
                        </m:r>
                      </m:sup>
                    </m:sSup>
                  </m:oMath>
                </a14:m>
                <a:r>
                  <a:rPr lang="en-US" sz="1200" dirty="0"/>
                  <a:t> with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i="1" dirty="0">
                  <a:latin typeface="Cambria Math" panose="02040503050406030204" pitchFamily="18" charset="0"/>
                </a:endParaRPr>
              </a:p>
              <a:p>
                <a:pPr marL="0" indent="0">
                  <a:spcBef>
                    <a:spcPts val="0"/>
                  </a:spcBef>
                  <a:buNone/>
                </a:pP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a:latin typeface="Cambria Math" panose="02040503050406030204" pitchFamily="18" charset="0"/>
                      </a:rPr>
                      <m:t>𝜋</m:t>
                    </m:r>
                    <m:r>
                      <a:rPr lang="en-US" sz="1200" i="1" dirty="0">
                        <a:latin typeface="Cambria Math" panose="02040503050406030204" pitchFamily="18" charset="0"/>
                      </a:rPr>
                      <m:t>(</m:t>
                    </m:r>
                    <m:r>
                      <a:rPr lang="en-US" sz="1200" i="1" dirty="0" err="1">
                        <a:latin typeface="Cambria Math" panose="02040503050406030204" pitchFamily="18" charset="0"/>
                      </a:rPr>
                      <m:t>𝑎</m:t>
                    </m:r>
                    <m:r>
                      <a:rPr lang="en-US" sz="1200" i="1" dirty="0" err="1">
                        <a:latin typeface="Cambria Math" panose="02040503050406030204" pitchFamily="18" charset="0"/>
                      </a:rPr>
                      <m:t>|</m:t>
                    </m:r>
                    <m:r>
                      <a:rPr lang="en-US" sz="1200" i="1" dirty="0" err="1">
                        <a:latin typeface="Cambria Math" panose="02040503050406030204" pitchFamily="18" charset="0"/>
                      </a:rPr>
                      <m:t>𝑠</m:t>
                    </m:r>
                    <m:r>
                      <a:rPr lang="en-US" sz="1200" i="1" dirty="0">
                        <a:latin typeface="Cambria Math" panose="02040503050406030204" pitchFamily="18" charset="0"/>
                      </a:rPr>
                      <m:t>)</m:t>
                    </m:r>
                  </m:oMath>
                </a14:m>
                <a:r>
                  <a:rPr lang="en-US" sz="1200" dirty="0"/>
                  <a:t>	probability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a:latin typeface="Cambria Math" panose="02040503050406030204" pitchFamily="18" charset="0"/>
                      </a:rPr>
                      <m:t>𝑠</m:t>
                    </m:r>
                  </m:oMath>
                </a14:m>
                <a:r>
                  <a:rPr lang="en-US" sz="1200" dirty="0"/>
                  <a:t> under stochastic policy </a:t>
                </a:r>
                <a14:m>
                  <m:oMath xmlns:m="http://schemas.openxmlformats.org/officeDocument/2006/math">
                    <m:r>
                      <a:rPr lang="en-US" sz="1200" i="1" dirty="0">
                        <a:latin typeface="Cambria Math" panose="02040503050406030204" pitchFamily="18" charset="0"/>
                      </a:rPr>
                      <m:t>𝜋</m:t>
                    </m:r>
                  </m:oMath>
                </a14:m>
                <a:endParaRPr lang="en-US" sz="1200" dirty="0">
                  <a:ea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𝜋</m:t>
                    </m:r>
                    <m:r>
                      <a:rPr lang="en-US" sz="1200" i="1" dirty="0" smtClean="0">
                        <a:latin typeface="Cambria Math" panose="02040503050406030204" pitchFamily="18" charset="0"/>
                      </a:rPr>
                      <m:t>(</m:t>
                    </m:r>
                    <m:r>
                      <a:rPr lang="en-US" sz="1200" i="1" dirty="0" smtClean="0">
                        <a:latin typeface="Cambria Math" panose="02040503050406030204" pitchFamily="18" charset="0"/>
                      </a:rPr>
                      <m:t>𝑠</m:t>
                    </m:r>
                    <m:r>
                      <a:rPr lang="en-US" sz="1200" i="1" dirty="0" smtClean="0">
                        <a:latin typeface="Cambria Math" panose="02040503050406030204" pitchFamily="18" charset="0"/>
                      </a:rPr>
                      <m:t>)</m:t>
                    </m:r>
                  </m:oMath>
                </a14:m>
                <a:r>
                  <a:rPr lang="en-US" sz="1200" dirty="0"/>
                  <a:t>	action taken in state </a:t>
                </a:r>
                <a14:m>
                  <m:oMath xmlns:m="http://schemas.openxmlformats.org/officeDocument/2006/math">
                    <m:r>
                      <a:rPr lang="en-US" sz="1200" i="1" dirty="0" smtClean="0">
                        <a:latin typeface="Cambria Math" panose="02040503050406030204" pitchFamily="18" charset="0"/>
                      </a:rPr>
                      <m:t>𝑠</m:t>
                    </m:r>
                  </m:oMath>
                </a14:m>
                <a:r>
                  <a:rPr lang="en-US" sz="1200" dirty="0"/>
                  <a:t> under deterministic policy </a:t>
                </a:r>
                <a14:m>
                  <m:oMath xmlns:m="http://schemas.openxmlformats.org/officeDocument/2006/math">
                    <m:r>
                      <a:rPr lang="en-US" sz="1200" b="0" i="1" dirty="0" smtClean="0">
                        <a:latin typeface="Cambria Math" panose="02040503050406030204" pitchFamily="18" charset="0"/>
                      </a:rPr>
                      <m:t>𝜋</m:t>
                    </m:r>
                  </m:oMath>
                </a14:m>
                <a:endParaRPr lang="en-US" sz="1200" dirty="0"/>
              </a:p>
            </p:txBody>
          </p:sp>
        </mc:Choice>
        <mc:Fallback xmlns="">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noRot="1" noChangeAspect="1" noMove="1" noResize="1" noEditPoints="1" noAdjustHandles="1" noChangeArrowheads="1" noChangeShapeType="1" noTextEdit="1"/>
              </p:cNvSpPr>
              <p:nvPr/>
            </p:nvSpPr>
            <p:spPr>
              <a:xfrm>
                <a:off x="6267338" y="1124198"/>
                <a:ext cx="5273179" cy="3693383"/>
              </a:xfrm>
              <a:prstGeom prst="rect">
                <a:avLst/>
              </a:prstGeom>
              <a:blipFill>
                <a:blip r:embed="rId4"/>
                <a:stretch>
                  <a:fillRect t="-3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descr="Approximation. mu (s) on policy distribution (fraction of time spent in state). alpha step size (gradient descent learning rate). v hat (s, w) approximate value function q hat (s, a, w) approximate action-value function pi (a given s, theta) approximate policy. VE hat mean squared value error. gradient of f(x) gradient of function f evaluated at x">
                <a:extLst>
                  <a:ext uri="{FF2B5EF4-FFF2-40B4-BE49-F238E27FC236}">
                    <a16:creationId xmlns:a16="http://schemas.microsoft.com/office/drawing/2014/main" id="{9FA76CFB-B55E-EFC6-DA3D-BEB7A8763838}"/>
                  </a:ext>
                </a:extLst>
              </p:cNvPr>
              <p:cNvSpPr txBox="1">
                <a:spLocks/>
              </p:cNvSpPr>
              <p:nvPr/>
            </p:nvSpPr>
            <p:spPr>
              <a:xfrm>
                <a:off x="6267338" y="4942028"/>
                <a:ext cx="5273179" cy="1574534"/>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1200" b="1" dirty="0"/>
                  <a:t>Approximation</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r>
                      <a:rPr lang="en-US" sz="1200" b="0" i="1" dirty="0" smtClean="0">
                        <a:solidFill>
                          <a:schemeClr val="tx1"/>
                        </a:solidFill>
                        <a:latin typeface="Cambria Math" panose="02040503050406030204" pitchFamily="18" charset="0"/>
                      </a:rPr>
                      <m:t>𝜇</m:t>
                    </m:r>
                    <m:r>
                      <a:rPr lang="en-US" sz="1200" b="0" i="1" dirty="0" smtClean="0">
                        <a:solidFill>
                          <a:schemeClr val="tx1"/>
                        </a:solidFill>
                        <a:latin typeface="Cambria Math" panose="02040503050406030204" pitchFamily="18" charset="0"/>
                      </a:rPr>
                      <m:t>(</m:t>
                    </m:r>
                    <m:r>
                      <a:rPr lang="en-US" sz="1200" b="0" i="1" dirty="0" smtClean="0">
                        <a:solidFill>
                          <a:schemeClr val="tx1"/>
                        </a:solidFill>
                        <a:latin typeface="Cambria Math" panose="02040503050406030204" pitchFamily="18" charset="0"/>
                      </a:rPr>
                      <m:t>𝑠</m:t>
                    </m:r>
                    <m:r>
                      <a:rPr lang="en-US" sz="1200" b="0" i="1" dirty="0" smtClean="0">
                        <a:solidFill>
                          <a:schemeClr val="tx1"/>
                        </a:solidFill>
                        <a:latin typeface="Cambria Math" panose="02040503050406030204" pitchFamily="18" charset="0"/>
                      </a:rPr>
                      <m:t>)</m:t>
                    </m:r>
                  </m:oMath>
                </a14:m>
                <a:r>
                  <a:rPr lang="en-US" sz="1200" dirty="0">
                    <a:solidFill>
                      <a:schemeClr val="tx1"/>
                    </a:solidFill>
                  </a:rPr>
                  <a:t>	on policy distribution (fraction of time spent in state)</a:t>
                </a:r>
              </a:p>
              <a:p>
                <a:pPr marL="0" indent="0">
                  <a:lnSpc>
                    <a:spcPct val="100000"/>
                  </a:lnSpc>
                  <a:spcBef>
                    <a:spcPts val="0"/>
                  </a:spcBef>
                  <a:buNone/>
                </a:pPr>
                <a14:m>
                  <m:oMath xmlns:m="http://schemas.openxmlformats.org/officeDocument/2006/math">
                    <m:r>
                      <a:rPr lang="en-US" sz="1200" i="1" dirty="0" smtClean="0">
                        <a:solidFill>
                          <a:schemeClr val="tx1"/>
                        </a:solidFill>
                        <a:latin typeface="Cambria Math" panose="02040503050406030204" pitchFamily="18" charset="0"/>
                      </a:rPr>
                      <m:t>𝛼</m:t>
                    </m:r>
                  </m:oMath>
                </a14:m>
                <a:r>
                  <a:rPr lang="en-US" sz="1200" dirty="0">
                    <a:solidFill>
                      <a:schemeClr val="tx1"/>
                    </a:solidFill>
                  </a:rPr>
                  <a:t>	step size (gradient descent learning rate)</a:t>
                </a:r>
              </a:p>
              <a:p>
                <a:pPr marL="0" indent="0">
                  <a:lnSpc>
                    <a:spcPct val="100000"/>
                  </a:lnSpc>
                  <a:spcBef>
                    <a:spcPts val="0"/>
                  </a:spcBef>
                  <a:buNone/>
                </a:pPr>
                <a14:m>
                  <m:oMath xmlns:m="http://schemas.openxmlformats.org/officeDocument/2006/math">
                    <m:acc>
                      <m:accPr>
                        <m:chr m:val="̂"/>
                        <m:ctrlPr>
                          <a:rPr lang="en-US" sz="1200" b="0" i="1" dirty="0" smtClean="0">
                            <a:solidFill>
                              <a:schemeClr val="tx1"/>
                            </a:solidFill>
                            <a:latin typeface="Cambria Math" panose="02040503050406030204" pitchFamily="18" charset="0"/>
                          </a:rPr>
                        </m:ctrlPr>
                      </m:accPr>
                      <m:e>
                        <m:r>
                          <a:rPr lang="en-US" sz="1200" b="0" i="1" dirty="0" smtClean="0">
                            <a:solidFill>
                              <a:schemeClr val="tx1"/>
                            </a:solidFill>
                            <a:latin typeface="Cambria Math" panose="02040503050406030204" pitchFamily="18" charset="0"/>
                          </a:rPr>
                          <m:t>𝑣</m:t>
                        </m:r>
                      </m:e>
                    </m:acc>
                    <m:r>
                      <a:rPr lang="en-US" sz="1200" b="0" i="1" dirty="0" smtClean="0">
                        <a:latin typeface="Cambria Math" panose="02040503050406030204" pitchFamily="18" charset="0"/>
                      </a:rPr>
                      <m:t>(</m:t>
                    </m:r>
                    <m:r>
                      <a:rPr lang="en-US" sz="1200" b="0" i="1" dirty="0" smtClean="0">
                        <a:latin typeface="Cambria Math" panose="02040503050406030204" pitchFamily="18" charset="0"/>
                      </a:rPr>
                      <m:t>𝑠</m:t>
                    </m:r>
                    <m:r>
                      <a:rPr lang="en-US" sz="1200" b="0" i="1" dirty="0" smtClean="0">
                        <a:latin typeface="Cambria Math" panose="02040503050406030204" pitchFamily="18" charset="0"/>
                      </a:rPr>
                      <m:t>, </m:t>
                    </m:r>
                    <m:r>
                      <a:rPr lang="en-US" sz="1200" b="1" i="1" dirty="0" smtClean="0">
                        <a:solidFill>
                          <a:schemeClr val="tx1"/>
                        </a:solidFill>
                        <a:latin typeface="Cambria Math" panose="02040503050406030204" pitchFamily="18" charset="0"/>
                      </a:rPr>
                      <m:t>𝒘</m:t>
                    </m:r>
                    <m:r>
                      <a:rPr lang="en-US" sz="1200" b="0" i="1" dirty="0" smtClean="0">
                        <a:solidFill>
                          <a:schemeClr val="tx1"/>
                        </a:solidFill>
                        <a:latin typeface="Cambria Math" panose="02040503050406030204" pitchFamily="18" charset="0"/>
                      </a:rPr>
                      <m:t>)</m:t>
                    </m:r>
                  </m:oMath>
                </a14:m>
                <a:r>
                  <a:rPr lang="en-US" sz="1200" dirty="0">
                    <a:solidFill>
                      <a:schemeClr val="tx1"/>
                    </a:solidFill>
                  </a:rPr>
                  <a:t>	approximate value function</a:t>
                </a:r>
                <a:br>
                  <a:rPr lang="en-US" sz="1200" dirty="0">
                    <a:solidFill>
                      <a:schemeClr val="tx1"/>
                    </a:solidFill>
                  </a:rPr>
                </a:br>
                <a14:m>
                  <m:oMath xmlns:m="http://schemas.openxmlformats.org/officeDocument/2006/math">
                    <m:acc>
                      <m:accPr>
                        <m:chr m:val="̂"/>
                        <m:ctrlPr>
                          <a:rPr lang="en-US" sz="1200" b="0" i="1" dirty="0" smtClean="0">
                            <a:solidFill>
                              <a:schemeClr val="tx1"/>
                            </a:solidFill>
                            <a:latin typeface="Cambria Math" panose="02040503050406030204" pitchFamily="18" charset="0"/>
                          </a:rPr>
                        </m:ctrlPr>
                      </m:accPr>
                      <m:e>
                        <m:r>
                          <a:rPr lang="en-US" sz="1200" b="0" i="1" dirty="0" smtClean="0">
                            <a:solidFill>
                              <a:schemeClr val="tx1"/>
                            </a:solidFill>
                            <a:latin typeface="Cambria Math" panose="02040503050406030204" pitchFamily="18" charset="0"/>
                          </a:rPr>
                          <m:t>𝑞</m:t>
                        </m:r>
                      </m:e>
                    </m:acc>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b="0" i="1" dirty="0" smtClean="0">
                        <a:latin typeface="Cambria Math" panose="02040503050406030204" pitchFamily="18" charset="0"/>
                      </a:rPr>
                      <m:t>𝑎</m:t>
                    </m:r>
                    <m:r>
                      <a:rPr lang="en-US" sz="1200" b="0" i="1" dirty="0" smtClean="0">
                        <a:latin typeface="Cambria Math" panose="02040503050406030204" pitchFamily="18" charset="0"/>
                      </a:rPr>
                      <m:t>, </m:t>
                    </m:r>
                    <m:r>
                      <a:rPr lang="en-US" sz="1200" b="1" i="1" dirty="0">
                        <a:solidFill>
                          <a:schemeClr val="tx1"/>
                        </a:solidFill>
                        <a:latin typeface="Cambria Math" panose="02040503050406030204" pitchFamily="18" charset="0"/>
                      </a:rPr>
                      <m:t>𝒘</m:t>
                    </m:r>
                    <m:r>
                      <a:rPr lang="en-US" sz="1200" i="1" dirty="0">
                        <a:solidFill>
                          <a:schemeClr val="tx1"/>
                        </a:solidFill>
                        <a:latin typeface="Cambria Math" panose="02040503050406030204" pitchFamily="18" charset="0"/>
                      </a:rPr>
                      <m:t>)</m:t>
                    </m:r>
                  </m:oMath>
                </a14:m>
                <a:r>
                  <a:rPr lang="en-US" sz="1200" dirty="0">
                    <a:solidFill>
                      <a:schemeClr val="tx1"/>
                    </a:solidFill>
                  </a:rPr>
                  <a:t>	approximate action-value function</a:t>
                </a:r>
                <a:br>
                  <a:rPr lang="en-US" sz="1200" dirty="0">
                    <a:solidFill>
                      <a:schemeClr val="tx1"/>
                    </a:solidFill>
                  </a:rPr>
                </a:br>
                <a14:m>
                  <m:oMath xmlns:m="http://schemas.openxmlformats.org/officeDocument/2006/math">
                    <m:r>
                      <a:rPr lang="en-US" sz="1200" b="0" i="1" smtClean="0">
                        <a:solidFill>
                          <a:schemeClr val="tx1"/>
                        </a:solidFill>
                        <a:latin typeface="Cambria Math" panose="02040503050406030204" pitchFamily="18" charset="0"/>
                      </a:rPr>
                      <m:t>𝜋</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𝑎</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𝑠</m:t>
                    </m:r>
                    <m:r>
                      <a:rPr lang="en-US" sz="1200" b="0" i="1" smtClean="0">
                        <a:solidFill>
                          <a:schemeClr val="tx1"/>
                        </a:solidFill>
                        <a:latin typeface="Cambria Math" panose="02040503050406030204" pitchFamily="18" charset="0"/>
                      </a:rPr>
                      <m:t>,</m:t>
                    </m:r>
                    <m:r>
                      <a:rPr lang="en-US" sz="1200" b="1" i="1" smtClean="0">
                        <a:solidFill>
                          <a:schemeClr val="tx1"/>
                        </a:solidFill>
                        <a:latin typeface="Cambria Math" panose="02040503050406030204" pitchFamily="18" charset="0"/>
                      </a:rPr>
                      <m:t>𝜽</m:t>
                    </m:r>
                    <m:r>
                      <a:rPr lang="en-US" sz="1200" b="0" i="1" smtClean="0">
                        <a:solidFill>
                          <a:schemeClr val="tx1"/>
                        </a:solidFill>
                        <a:latin typeface="Cambria Math" panose="02040503050406030204" pitchFamily="18" charset="0"/>
                      </a:rPr>
                      <m:t>)</m:t>
                    </m:r>
                  </m:oMath>
                </a14:m>
                <a:r>
                  <a:rPr lang="en-US" sz="1200" dirty="0">
                    <a:solidFill>
                      <a:schemeClr val="tx1"/>
                    </a:solidFill>
                  </a:rPr>
                  <a:t>	approximate policy</a:t>
                </a:r>
              </a:p>
              <a:p>
                <a:pPr marL="0" indent="0">
                  <a:lnSpc>
                    <a:spcPct val="100000"/>
                  </a:lnSpc>
                  <a:spcBef>
                    <a:spcPts val="0"/>
                  </a:spcBef>
                  <a:buNone/>
                </a:pPr>
                <a14:m>
                  <m:oMath xmlns:m="http://schemas.openxmlformats.org/officeDocument/2006/math">
                    <m:acc>
                      <m:accPr>
                        <m:chr m:val="̂"/>
                        <m:ctrlPr>
                          <a:rPr lang="en-US" sz="1200" b="0" i="1" dirty="0" smtClean="0">
                            <a:solidFill>
                              <a:schemeClr val="tx1"/>
                            </a:solidFill>
                            <a:latin typeface="Cambria Math" panose="02040503050406030204" pitchFamily="18" charset="0"/>
                          </a:rPr>
                        </m:ctrlPr>
                      </m:accPr>
                      <m:e>
                        <m:r>
                          <a:rPr lang="en-US" sz="1200" b="0" i="1" dirty="0" smtClean="0">
                            <a:solidFill>
                              <a:schemeClr val="tx1"/>
                            </a:solidFill>
                            <a:latin typeface="Cambria Math" panose="02040503050406030204" pitchFamily="18" charset="0"/>
                          </a:rPr>
                          <m:t>𝑉𝐸</m:t>
                        </m:r>
                      </m:e>
                    </m:acc>
                  </m:oMath>
                </a14:m>
                <a:r>
                  <a:rPr lang="en-US" sz="1200" dirty="0">
                    <a:solidFill>
                      <a:schemeClr val="tx1"/>
                    </a:solidFill>
                  </a:rPr>
                  <a:t>	mean squared value error</a:t>
                </a:r>
              </a:p>
              <a:p>
                <a:pPr marL="0" indent="0">
                  <a:lnSpc>
                    <a:spcPct val="100000"/>
                  </a:lnSpc>
                  <a:spcBef>
                    <a:spcPts val="0"/>
                  </a:spcBef>
                  <a:buNone/>
                </a:pPr>
                <a14:m>
                  <m:oMath xmlns:m="http://schemas.openxmlformats.org/officeDocument/2006/math">
                    <m:r>
                      <m:rPr>
                        <m:sty m:val="p"/>
                      </m:rPr>
                      <a:rPr lang="en-US" sz="1200" i="1" dirty="0" smtClean="0">
                        <a:solidFill>
                          <a:schemeClr val="tx1"/>
                        </a:solidFill>
                        <a:latin typeface="Cambria Math" panose="02040503050406030204" pitchFamily="18" charset="0"/>
                        <a:ea typeface="Cambria Math" panose="02040503050406030204" pitchFamily="18" charset="0"/>
                      </a:rPr>
                      <m:t>∇</m:t>
                    </m:r>
                    <m:r>
                      <a:rPr lang="en-US" sz="1200" b="0" i="1" dirty="0" smtClean="0">
                        <a:solidFill>
                          <a:schemeClr val="tx1"/>
                        </a:solidFill>
                        <a:latin typeface="Cambria Math" panose="02040503050406030204" pitchFamily="18" charset="0"/>
                        <a:ea typeface="Cambria Math" panose="02040503050406030204" pitchFamily="18" charset="0"/>
                      </a:rPr>
                      <m:t>𝑓</m:t>
                    </m:r>
                    <m:r>
                      <a:rPr lang="en-US" sz="1200" b="0" i="1" dirty="0" smtClean="0">
                        <a:solidFill>
                          <a:schemeClr val="tx1"/>
                        </a:solidFill>
                        <a:latin typeface="Cambria Math" panose="02040503050406030204" pitchFamily="18" charset="0"/>
                        <a:ea typeface="Cambria Math" panose="02040503050406030204" pitchFamily="18" charset="0"/>
                      </a:rPr>
                      <m:t>(</m:t>
                    </m:r>
                    <m:r>
                      <a:rPr lang="en-US" sz="1200" b="0" i="1" dirty="0" smtClean="0">
                        <a:solidFill>
                          <a:schemeClr val="tx1"/>
                        </a:solidFill>
                        <a:latin typeface="Cambria Math" panose="02040503050406030204" pitchFamily="18" charset="0"/>
                        <a:ea typeface="Cambria Math" panose="02040503050406030204" pitchFamily="18" charset="0"/>
                      </a:rPr>
                      <m:t>𝑥</m:t>
                    </m:r>
                    <m:r>
                      <a:rPr lang="en-US" sz="1200" b="0" i="1" dirty="0" smtClean="0">
                        <a:solidFill>
                          <a:schemeClr val="tx1"/>
                        </a:solidFill>
                        <a:latin typeface="Cambria Math" panose="02040503050406030204" pitchFamily="18" charset="0"/>
                        <a:ea typeface="Cambria Math" panose="02040503050406030204" pitchFamily="18" charset="0"/>
                      </a:rPr>
                      <m:t>)</m:t>
                    </m:r>
                  </m:oMath>
                </a14:m>
                <a:r>
                  <a:rPr lang="en-US" sz="1200" dirty="0">
                    <a:solidFill>
                      <a:schemeClr val="tx1"/>
                    </a:solidFill>
                  </a:rPr>
                  <a:t>	gradient of function </a:t>
                </a:r>
                <a14:m>
                  <m:oMath xmlns:m="http://schemas.openxmlformats.org/officeDocument/2006/math">
                    <m:r>
                      <a:rPr lang="en-US" sz="1200" b="0" i="1" smtClean="0">
                        <a:solidFill>
                          <a:schemeClr val="tx1"/>
                        </a:solidFill>
                        <a:latin typeface="Cambria Math" panose="02040503050406030204" pitchFamily="18" charset="0"/>
                      </a:rPr>
                      <m:t>𝑓</m:t>
                    </m:r>
                  </m:oMath>
                </a14:m>
                <a:r>
                  <a:rPr lang="en-US" sz="1200" dirty="0">
                    <a:solidFill>
                      <a:schemeClr val="tx1"/>
                    </a:solidFill>
                  </a:rPr>
                  <a:t> evaluated at </a:t>
                </a:r>
                <a14:m>
                  <m:oMath xmlns:m="http://schemas.openxmlformats.org/officeDocument/2006/math">
                    <m:r>
                      <a:rPr lang="en-US" sz="1200" b="0" i="1" smtClean="0">
                        <a:solidFill>
                          <a:schemeClr val="tx1"/>
                        </a:solidFill>
                        <a:latin typeface="Cambria Math" panose="02040503050406030204" pitchFamily="18" charset="0"/>
                      </a:rPr>
                      <m:t>𝑥</m:t>
                    </m:r>
                  </m:oMath>
                </a14:m>
                <a:endParaRPr lang="en-US" sz="1200" dirty="0">
                  <a:solidFill>
                    <a:schemeClr val="tx1"/>
                  </a:solidFill>
                </a:endParaRPr>
              </a:p>
            </p:txBody>
          </p:sp>
        </mc:Choice>
        <mc:Fallback xmlns="">
          <p:sp>
            <p:nvSpPr>
              <p:cNvPr id="5" name="Content Placeholder 2" descr="Approximation. mu (s) on policy distribution (fraction of time spent in state). alpha step size (gradient descent learning rate). v hat (s, w) approximate value function q hat (s, a, w) approximate action-value function pi (a given s, theta) approximate policy. VE hat mean squared value error. gradient of f(x) gradient of function f evaluated at x">
                <a:extLst>
                  <a:ext uri="{FF2B5EF4-FFF2-40B4-BE49-F238E27FC236}">
                    <a16:creationId xmlns:a16="http://schemas.microsoft.com/office/drawing/2014/main" id="{9FA76CFB-B55E-EFC6-DA3D-BEB7A8763838}"/>
                  </a:ext>
                </a:extLst>
              </p:cNvPr>
              <p:cNvSpPr txBox="1">
                <a:spLocks noRot="1" noChangeAspect="1" noMove="1" noResize="1" noEditPoints="1" noAdjustHandles="1" noChangeArrowheads="1" noChangeShapeType="1" noTextEdit="1"/>
              </p:cNvSpPr>
              <p:nvPr/>
            </p:nvSpPr>
            <p:spPr>
              <a:xfrm>
                <a:off x="6267338" y="4942028"/>
                <a:ext cx="5273179" cy="1574534"/>
              </a:xfrm>
              <a:prstGeom prst="rect">
                <a:avLst/>
              </a:prstGeom>
              <a:blipFill>
                <a:blip r:embed="rId6"/>
                <a:stretch>
                  <a:fillRect b="-1533"/>
                </a:stretch>
              </a:blipFill>
            </p:spPr>
            <p:txBody>
              <a:bodyPr/>
              <a:lstStyle/>
              <a:p>
                <a:r>
                  <a:rPr lang="en-US">
                    <a:noFill/>
                  </a:rPr>
                  <a:t> </a:t>
                </a:r>
              </a:p>
            </p:txBody>
          </p:sp>
        </mc:Fallback>
      </mc:AlternateContent>
    </p:spTree>
    <p:extLst>
      <p:ext uri="{BB962C8B-B14F-4D97-AF65-F5344CB8AC3E}">
        <p14:creationId xmlns:p14="http://schemas.microsoft.com/office/powerpoint/2010/main" val="920694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A635E-AD98-14E6-86B7-6D189198F7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9E1014-11F3-5C77-4D51-18EDE91CBDDF}"/>
              </a:ext>
            </a:extLst>
          </p:cNvPr>
          <p:cNvSpPr>
            <a:spLocks noGrp="1"/>
          </p:cNvSpPr>
          <p:nvPr>
            <p:ph type="title"/>
          </p:nvPr>
        </p:nvSpPr>
        <p:spPr/>
        <p:txBody>
          <a:bodyPr/>
          <a:lstStyle/>
          <a:p>
            <a:r>
              <a:rPr lang="en-US" dirty="0"/>
              <a:t>Approximate Solution Methods</a:t>
            </a:r>
          </a:p>
        </p:txBody>
      </p:sp>
      <p:sp>
        <p:nvSpPr>
          <p:cNvPr id="5" name="Text Placeholder 4">
            <a:extLst>
              <a:ext uri="{FF2B5EF4-FFF2-40B4-BE49-F238E27FC236}">
                <a16:creationId xmlns:a16="http://schemas.microsoft.com/office/drawing/2014/main" id="{8230DEA1-85A2-8128-AB1F-6A511F14B1FC}"/>
              </a:ext>
            </a:extLst>
          </p:cNvPr>
          <p:cNvSpPr>
            <a:spLocks noGrp="1"/>
          </p:cNvSpPr>
          <p:nvPr>
            <p:ph type="body" idx="1"/>
          </p:nvPr>
        </p:nvSpPr>
        <p:spPr/>
        <p:txBody>
          <a:bodyPr/>
          <a:lstStyle/>
          <a:p>
            <a:r>
              <a:rPr lang="en-US" dirty="0"/>
              <a:t>Motivation and Definition</a:t>
            </a:r>
          </a:p>
        </p:txBody>
      </p:sp>
    </p:spTree>
    <p:extLst>
      <p:ext uri="{BB962C8B-B14F-4D97-AF65-F5344CB8AC3E}">
        <p14:creationId xmlns:p14="http://schemas.microsoft.com/office/powerpoint/2010/main" val="2459037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00E35E-EC62-B4C1-A770-AA1A7C6F84B5}"/>
              </a:ext>
            </a:extLst>
          </p:cNvPr>
          <p:cNvSpPr>
            <a:spLocks noGrp="1"/>
          </p:cNvSpPr>
          <p:nvPr>
            <p:ph type="title"/>
          </p:nvPr>
        </p:nvSpPr>
        <p:spPr/>
        <p:txBody>
          <a:bodyPr/>
          <a:lstStyle/>
          <a:p>
            <a:r>
              <a:rPr lang="en-US" dirty="0"/>
              <a:t>Motivation</a:t>
            </a:r>
          </a:p>
        </p:txBody>
      </p:sp>
      <mc:AlternateContent xmlns:mc="http://schemas.openxmlformats.org/markup-compatibility/2006">
        <mc:Choice xmlns:a14="http://schemas.microsoft.com/office/drawing/2010/main" Requires="a14">
          <p:sp>
            <p:nvSpPr>
              <p:cNvPr id="5" name="Content Placeholder 4" descr="Issue: Tabular methods do not scale for large state spaces. Space complexity: Memory needed for storing the value function with O(given S given) entries as a table. No Generalization: Many states will never be encountered during learning and therefore cannot be predicted. Idea: Try to find an approximate value function for policy pi :. v hat (s,w) is approximately v sub pi with w in the real numbers to the power d. Requirements:. The function needs to have a manageable number of parameters, the weight vector w. I.e., d is much less than given S given . The function can only depend on features of state s . The function needs to generalize, so states with similar features get a similar value. Note: Approximation functions do this automatically, since all states share the weight vector and will be affected by changes in the weights">
                <a:extLst>
                  <a:ext uri="{FF2B5EF4-FFF2-40B4-BE49-F238E27FC236}">
                    <a16:creationId xmlns:a16="http://schemas.microsoft.com/office/drawing/2014/main" id="{2CDE1EFF-EEB7-45A5-C0AF-4014AF66241B}"/>
                  </a:ext>
                </a:extLst>
              </p:cNvPr>
              <p:cNvSpPr>
                <a:spLocks noGrp="1"/>
              </p:cNvSpPr>
              <p:nvPr>
                <p:ph idx="1"/>
              </p:nvPr>
            </p:nvSpPr>
            <p:spPr>
              <a:xfrm>
                <a:off x="838200" y="1397331"/>
                <a:ext cx="8419051" cy="3883539"/>
              </a:xfrm>
            </p:spPr>
            <p:txBody>
              <a:bodyPr>
                <a:normAutofit fontScale="62500" lnSpcReduction="20000"/>
              </a:bodyPr>
              <a:lstStyle/>
              <a:p>
                <a:pPr marL="0" indent="0">
                  <a:buNone/>
                </a:pPr>
                <a:r>
                  <a:rPr lang="en-US" b="1" dirty="0"/>
                  <a:t>Issue</a:t>
                </a:r>
                <a:r>
                  <a:rPr lang="en-US" dirty="0"/>
                  <a:t>: Tabular methods do not scale for large state spaces.</a:t>
                </a:r>
              </a:p>
              <a:p>
                <a:pPr marL="914400" lvl="1" indent="-457200">
                  <a:buFont typeface="+mj-lt"/>
                  <a:buAutoNum type="alphaLcPeriod"/>
                </a:pPr>
                <a:r>
                  <a:rPr lang="en-US" b="1" dirty="0"/>
                  <a:t>Space complexity</a:t>
                </a:r>
                <a:r>
                  <a:rPr lang="en-US" dirty="0"/>
                  <a:t>: Memory needed for storing the value function with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r>
                      <a:rPr lang="en-US" b="0" i="1" smtClean="0">
                        <a:latin typeface="Cambria Math" panose="02040503050406030204" pitchFamily="18" charset="0"/>
                      </a:rPr>
                      <m:t>|)</m:t>
                    </m:r>
                  </m:oMath>
                </a14:m>
                <a:r>
                  <a:rPr lang="en-US" dirty="0"/>
                  <a:t> entries as a table.</a:t>
                </a:r>
              </a:p>
              <a:p>
                <a:pPr marL="914400" lvl="1" indent="-457200">
                  <a:buFont typeface="+mj-lt"/>
                  <a:buAutoNum type="alphaLcPeriod"/>
                </a:pPr>
                <a:r>
                  <a:rPr lang="en-US" b="1" dirty="0"/>
                  <a:t>No generalization</a:t>
                </a:r>
                <a:r>
                  <a:rPr lang="en-US" dirty="0"/>
                  <a:t>: State values are stored independently. Many states will never be encountered during learning and therefore cannot be predicted.</a:t>
                </a:r>
              </a:p>
              <a:p>
                <a:endParaRPr lang="en-US" dirty="0"/>
              </a:p>
              <a:p>
                <a:pPr marL="0" indent="0">
                  <a:buNone/>
                </a:pPr>
                <a:r>
                  <a:rPr lang="en-US" b="1" dirty="0"/>
                  <a:t>Idea</a:t>
                </a:r>
                <a:r>
                  <a:rPr lang="en-US" dirty="0"/>
                  <a:t>: Try to find an </a:t>
                </a:r>
                <a:r>
                  <a:rPr lang="en-US" b="1" dirty="0"/>
                  <a:t>approximate value function </a:t>
                </a:r>
                <a:r>
                  <a:rPr lang="en-US" dirty="0"/>
                  <a:t>for policy </a:t>
                </a:r>
                <a14:m>
                  <m:oMath xmlns:m="http://schemas.openxmlformats.org/officeDocument/2006/math">
                    <m:r>
                      <a:rPr lang="en-US" b="0" i="1" smtClean="0">
                        <a:latin typeface="Cambria Math" panose="02040503050406030204" pitchFamily="18" charset="0"/>
                      </a:rPr>
                      <m:t>𝜋</m:t>
                    </m:r>
                  </m:oMath>
                </a14:m>
                <a:r>
                  <a:rPr lang="en-US" dirty="0"/>
                  <a:t>:</a:t>
                </a:r>
              </a:p>
              <a:p>
                <a:pPr marL="0" indent="0">
                  <a:buNone/>
                </a:pPr>
                <a:br>
                  <a:rPr lang="en-US" dirty="0"/>
                </a:b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𝒘</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r>
                        <a:rPr lang="en-US" b="0" i="1" smtClean="0">
                          <a:latin typeface="Cambria Math" panose="02040503050406030204" pitchFamily="18" charset="0"/>
                        </a:rPr>
                        <m:t>    </m:t>
                      </m:r>
                      <m:r>
                        <m:rPr>
                          <m:nor/>
                        </m:rPr>
                        <a:rPr lang="en-US" b="0" i="0" smtClean="0">
                          <a:latin typeface="Cambria Math" panose="02040503050406030204" pitchFamily="18" charset="0"/>
                        </a:rPr>
                        <m:t>with </m:t>
                      </m:r>
                      <m:r>
                        <a:rPr lang="en-US" b="1" i="1" smtClean="0">
                          <a:latin typeface="Cambria Math" panose="02040503050406030204" pitchFamily="18" charset="0"/>
                        </a:rPr>
                        <m:t>  </m:t>
                      </m:r>
                      <m:r>
                        <a:rPr lang="en-US" b="1" i="1" dirty="0">
                          <a:latin typeface="Cambria Math" panose="02040503050406030204" pitchFamily="18" charset="0"/>
                        </a:rPr>
                        <m:t>𝒘</m:t>
                      </m:r>
                      <m:r>
                        <a:rPr lang="en-US" i="1" dirty="0">
                          <a:latin typeface="Cambria Math" panose="02040503050406030204" pitchFamily="18" charset="0"/>
                        </a:rPr>
                        <m:t>∈</m:t>
                      </m:r>
                      <m:sSup>
                        <m:sSupPr>
                          <m:ctrlPr>
                            <a:rPr lang="en-US" i="1" dirty="0">
                              <a:latin typeface="Cambria Math" panose="02040503050406030204" pitchFamily="18" charset="0"/>
                              <a:ea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i="1" dirty="0">
                              <a:latin typeface="Cambria Math" panose="02040503050406030204" pitchFamily="18" charset="0"/>
                              <a:ea typeface="Cambria Math" panose="02040503050406030204" pitchFamily="18" charset="0"/>
                            </a:rPr>
                            <m:t>𝑑</m:t>
                          </m:r>
                        </m:sup>
                      </m:sSup>
                    </m:oMath>
                  </m:oMathPara>
                </a14:m>
                <a:endParaRPr lang="en-US" dirty="0"/>
              </a:p>
              <a:p>
                <a:endParaRPr lang="en-US" dirty="0"/>
              </a:p>
              <a:p>
                <a:pPr marL="0" indent="0">
                  <a:buNone/>
                </a:pPr>
                <a:r>
                  <a:rPr lang="en-US" b="1" dirty="0"/>
                  <a:t>Requirements</a:t>
                </a:r>
                <a:r>
                  <a:rPr lang="en-US" dirty="0"/>
                  <a:t>:</a:t>
                </a:r>
              </a:p>
              <a:p>
                <a:pPr lvl="1"/>
                <a:r>
                  <a:rPr lang="en-US" dirty="0"/>
                  <a:t>The function needs to have a </a:t>
                </a:r>
                <a:r>
                  <a:rPr lang="en-US" b="1" dirty="0"/>
                  <a:t>manageable number of parameters, </a:t>
                </a:r>
                <a:r>
                  <a:rPr lang="en-US" dirty="0"/>
                  <a:t>the weight vector </a:t>
                </a:r>
                <a14:m>
                  <m:oMath xmlns:m="http://schemas.openxmlformats.org/officeDocument/2006/math">
                    <m:r>
                      <a:rPr lang="en-US" b="1" i="1" dirty="0" smtClean="0">
                        <a:latin typeface="Cambria Math" panose="02040503050406030204" pitchFamily="18" charset="0"/>
                      </a:rPr>
                      <m:t>𝒘</m:t>
                    </m:r>
                    <m:r>
                      <a:rPr lang="en-US" b="0" i="0" dirty="0" smtClean="0">
                        <a:latin typeface="Cambria Math" panose="02040503050406030204" pitchFamily="18" charset="0"/>
                      </a:rPr>
                      <m:t>. </m:t>
                    </m:r>
                  </m:oMath>
                </a14:m>
                <a:r>
                  <a:rPr lang="en-US" dirty="0"/>
                  <a:t>I.e., </a:t>
                </a:r>
                <a14:m>
                  <m:oMath xmlns:m="http://schemas.openxmlformats.org/officeDocument/2006/math">
                    <m:r>
                      <a:rPr lang="en-US" i="1">
                        <a:latin typeface="Cambria Math" panose="02040503050406030204" pitchFamily="18" charset="0"/>
                      </a:rPr>
                      <m:t>𝑑</m:t>
                    </m:r>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𝒮</m:t>
                    </m:r>
                    <m:r>
                      <a:rPr lang="en-US" i="1">
                        <a:latin typeface="Cambria Math" panose="02040503050406030204" pitchFamily="18" charset="0"/>
                      </a:rPr>
                      <m:t>|</m:t>
                    </m:r>
                  </m:oMath>
                </a14:m>
                <a:r>
                  <a:rPr lang="en-US" dirty="0"/>
                  <a:t>.</a:t>
                </a:r>
              </a:p>
              <a:p>
                <a:pPr lvl="1"/>
                <a:r>
                  <a:rPr lang="en-US" dirty="0"/>
                  <a:t>The function can only depend on </a:t>
                </a:r>
                <a:r>
                  <a:rPr lang="en-US" b="1" dirty="0"/>
                  <a:t>features of state </a:t>
                </a:r>
                <a14:m>
                  <m:oMath xmlns:m="http://schemas.openxmlformats.org/officeDocument/2006/math">
                    <m:r>
                      <a:rPr lang="en-US" b="1" i="1" smtClean="0">
                        <a:latin typeface="Cambria Math" panose="02040503050406030204" pitchFamily="18" charset="0"/>
                      </a:rPr>
                      <m:t>𝒔</m:t>
                    </m:r>
                  </m:oMath>
                </a14:m>
                <a:r>
                  <a:rPr lang="en-US" dirty="0"/>
                  <a:t>. </a:t>
                </a:r>
              </a:p>
              <a:p>
                <a:pPr lvl="1"/>
                <a:r>
                  <a:rPr lang="en-US" dirty="0"/>
                  <a:t>The function needs to </a:t>
                </a:r>
                <a:r>
                  <a:rPr lang="en-US" b="1" dirty="0"/>
                  <a:t>generalize</a:t>
                </a:r>
                <a:r>
                  <a:rPr lang="en-US" dirty="0"/>
                  <a:t>, so states with similar features get a similar value.</a:t>
                </a:r>
              </a:p>
            </p:txBody>
          </p:sp>
        </mc:Choice>
        <mc:Fallback>
          <p:sp>
            <p:nvSpPr>
              <p:cNvPr id="5" name="Content Placeholder 4" descr="Issue: Tabular methods do not scale for large state spaces. Space complexity: Memory needed for storing the value function with O(given S given) entries as a table. No Generalization: Many states will never be encountered during learning and therefore cannot be predicted. Idea: Try to find an approximate value function for policy pi :. v hat (s,w) is approximately v sub pi with w in the real numbers to the power d. Requirements:. The function needs to have a manageable number of parameters, the weight vector w. I.e., d is much less than given S given . The function can only depend on features of state s . The function needs to generalize, so states with similar features get a similar value. Note: Approximation functions do this automatically, since all states share the weight vector and will be affected by changes in the weights">
                <a:extLst>
                  <a:ext uri="{FF2B5EF4-FFF2-40B4-BE49-F238E27FC236}">
                    <a16:creationId xmlns:a16="http://schemas.microsoft.com/office/drawing/2014/main" id="{2CDE1EFF-EEB7-45A5-C0AF-4014AF66241B}"/>
                  </a:ext>
                </a:extLst>
              </p:cNvPr>
              <p:cNvSpPr>
                <a:spLocks noGrp="1" noRot="1" noChangeAspect="1" noMove="1" noResize="1" noEditPoints="1" noAdjustHandles="1" noChangeArrowheads="1" noChangeShapeType="1" noTextEdit="1"/>
              </p:cNvSpPr>
              <p:nvPr>
                <p:ph idx="1"/>
              </p:nvPr>
            </p:nvSpPr>
            <p:spPr>
              <a:xfrm>
                <a:off x="838200" y="1397331"/>
                <a:ext cx="8419051" cy="3883539"/>
              </a:xfrm>
              <a:blipFill>
                <a:blip r:embed="rId3"/>
                <a:stretch>
                  <a:fillRect l="-652" t="-2355"/>
                </a:stretch>
              </a:blipFill>
            </p:spPr>
            <p:txBody>
              <a:bodyPr/>
              <a:lstStyle/>
              <a:p>
                <a:r>
                  <a:rPr lang="en-US">
                    <a:noFill/>
                  </a:rPr>
                  <a:t> </a:t>
                </a:r>
              </a:p>
            </p:txBody>
          </p:sp>
        </mc:Fallback>
      </mc:AlternateContent>
      <p:sp>
        <p:nvSpPr>
          <p:cNvPr id="2" name="Speech Bubble: Rectangle with Corners Rounded 1">
            <a:extLst>
              <a:ext uri="{FF2B5EF4-FFF2-40B4-BE49-F238E27FC236}">
                <a16:creationId xmlns:a16="http://schemas.microsoft.com/office/drawing/2014/main" id="{EC25172D-33A3-AB11-C896-BA03368F6CBE}"/>
              </a:ext>
            </a:extLst>
          </p:cNvPr>
          <p:cNvSpPr/>
          <p:nvPr/>
        </p:nvSpPr>
        <p:spPr>
          <a:xfrm>
            <a:off x="1191236" y="5591264"/>
            <a:ext cx="3804408" cy="834704"/>
          </a:xfrm>
          <a:prstGeom prst="wedgeRoundRectCallout">
            <a:avLst>
              <a:gd name="adj1" fmla="val 25032"/>
              <a:gd name="adj2" fmla="val -11438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Approximation functions do this automatically, since all states share a small weight vector</a:t>
            </a:r>
          </a:p>
        </p:txBody>
      </p:sp>
      <p:sp>
        <p:nvSpPr>
          <p:cNvPr id="9" name="Speech Bubble: Rectangle with Corners Rounded 8">
            <a:extLst>
              <a:ext uri="{FF2B5EF4-FFF2-40B4-BE49-F238E27FC236}">
                <a16:creationId xmlns:a16="http://schemas.microsoft.com/office/drawing/2014/main" id="{BEA8FFD0-45E7-2DFF-4B1E-DD93572847CF}"/>
              </a:ext>
            </a:extLst>
          </p:cNvPr>
          <p:cNvSpPr/>
          <p:nvPr/>
        </p:nvSpPr>
        <p:spPr>
          <a:xfrm>
            <a:off x="5571688" y="5210735"/>
            <a:ext cx="3968944" cy="1215233"/>
          </a:xfrm>
          <a:prstGeom prst="wedgeRoundRectCallout">
            <a:avLst>
              <a:gd name="adj1" fmla="val -67250"/>
              <a:gd name="adj2" fmla="val 13386"/>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This implies that we cannot change individual state values, as we can in tabular methods! This may be a problem for </a:t>
            </a:r>
            <a:r>
              <a:rPr lang="en-US" sz="1600" b="1" dirty="0"/>
              <a:t>greedy policy improvement</a:t>
            </a:r>
            <a:r>
              <a:rPr lang="en-US" sz="1600" dirty="0"/>
              <a:t>! </a:t>
            </a:r>
          </a:p>
        </p:txBody>
      </p:sp>
      <p:sp>
        <p:nvSpPr>
          <p:cNvPr id="6" name="TextBox 5">
            <a:extLst>
              <a:ext uri="{FF2B5EF4-FFF2-40B4-BE49-F238E27FC236}">
                <a16:creationId xmlns:a16="http://schemas.microsoft.com/office/drawing/2014/main" id="{B86D6411-A9BF-4C0D-F704-64BCD93925A4}"/>
              </a:ext>
            </a:extLst>
          </p:cNvPr>
          <p:cNvSpPr txBox="1"/>
          <p:nvPr/>
        </p:nvSpPr>
        <p:spPr>
          <a:xfrm>
            <a:off x="9432049" y="878250"/>
            <a:ext cx="2381393" cy="369332"/>
          </a:xfrm>
          <a:prstGeom prst="rect">
            <a:avLst/>
          </a:prstGeom>
          <a:noFill/>
        </p:spPr>
        <p:txBody>
          <a:bodyPr wrap="square" rtlCol="0">
            <a:spAutoFit/>
          </a:bodyPr>
          <a:lstStyle/>
          <a:p>
            <a:pPr algn="ctr"/>
            <a:r>
              <a:rPr lang="en-US" dirty="0"/>
              <a:t>Value Function</a:t>
            </a:r>
          </a:p>
        </p:txBody>
      </p:sp>
      <mc:AlternateContent xmlns:mc="http://schemas.openxmlformats.org/markup-compatibility/2006">
        <mc:Choice xmlns:a14="http://schemas.microsoft.com/office/drawing/2010/main" Requires="a14">
          <p:graphicFrame>
            <p:nvGraphicFramePr>
              <p:cNvPr id="8" name="Table 7">
                <a:extLst>
                  <a:ext uri="{FF2B5EF4-FFF2-40B4-BE49-F238E27FC236}">
                    <a16:creationId xmlns:a16="http://schemas.microsoft.com/office/drawing/2014/main" id="{DA3EB6A7-1666-4447-DD8C-3E5A4FD59E4E}"/>
                  </a:ext>
                </a:extLst>
              </p:cNvPr>
              <p:cNvGraphicFramePr>
                <a:graphicFrameLocks noGrp="1"/>
              </p:cNvGraphicFramePr>
              <p:nvPr>
                <p:extLst>
                  <p:ext uri="{D42A27DB-BD31-4B8C-83A1-F6EECF244321}">
                    <p14:modId xmlns:p14="http://schemas.microsoft.com/office/powerpoint/2010/main" val="82288981"/>
                  </p:ext>
                </p:extLst>
              </p:nvPr>
            </p:nvGraphicFramePr>
            <p:xfrm>
              <a:off x="9540632" y="1278474"/>
              <a:ext cx="2141037" cy="1524000"/>
            </p:xfrm>
            <a:graphic>
              <a:graphicData uri="http://schemas.openxmlformats.org/drawingml/2006/table">
                <a:tbl>
                  <a:tblPr firstRow="1" bandRow="1">
                    <a:tableStyleId>{93296810-A885-4BE3-A3E7-6D5BEEA58F35}</a:tableStyleId>
                  </a:tblPr>
                  <a:tblGrid>
                    <a:gridCol w="590368">
                      <a:extLst>
                        <a:ext uri="{9D8B030D-6E8A-4147-A177-3AD203B41FA5}">
                          <a16:colId xmlns:a16="http://schemas.microsoft.com/office/drawing/2014/main" val="3711460689"/>
                        </a:ext>
                      </a:extLst>
                    </a:gridCol>
                    <a:gridCol w="1550669">
                      <a:extLst>
                        <a:ext uri="{9D8B030D-6E8A-4147-A177-3AD203B41FA5}">
                          <a16:colId xmlns:a16="http://schemas.microsoft.com/office/drawing/2014/main" val="2080107700"/>
                        </a:ext>
                      </a:extLst>
                    </a:gridCol>
                  </a:tblGrid>
                  <a:tr h="288751">
                    <a:tc>
                      <a:txBody>
                        <a:bodyPr/>
                        <a:lstStyle/>
                        <a:p>
                          <a:pPr/>
                          <a14:m>
                            <m:oMathPara xmlns:m="http://schemas.openxmlformats.org/officeDocument/2006/math">
                              <m:oMath>
                                <m:r>
                                  <a:rPr lang="en-US" sz="1400" dirty="0" smtClean="0">
                                    <a:latin typeface="Cambria Math" panose="02040503050406030204" pitchFamily="18" charset="0"/>
                                  </a:rPr>
                                  <m:t>𝑠</m:t>
                                </m:r>
                              </m:oMath>
                            </m:oMathPara>
                          </a14:m>
                          <a:endParaRPr lang="en-US" sz="1400" dirty="0"/>
                        </a:p>
                      </a:txBody>
                      <a:tcPr/>
                    </a:tc>
                    <a:tc>
                      <a:txBody>
                        <a:bodyPr/>
                        <a:lstStyle/>
                        <a:p>
                          <a:r>
                            <a:rPr lang="en-US" sz="1400" b="1" dirty="0"/>
                            <a:t>State Value </a:t>
                          </a:r>
                          <a14:m>
                            <m:oMath xmlns:m="http://schemas.openxmlformats.org/officeDocument/2006/math">
                              <m:r>
                                <a:rPr lang="en-US" sz="1400" b="1" i="1" dirty="0" smtClean="0">
                                  <a:latin typeface="Cambria Math" panose="02040503050406030204" pitchFamily="18" charset="0"/>
                                </a:rPr>
                                <m:t>𝑽</m:t>
                              </m:r>
                              <m:r>
                                <a:rPr lang="en-US" sz="1400" dirty="0" smtClean="0">
                                  <a:latin typeface="Cambria Math" panose="02040503050406030204" pitchFamily="18" charset="0"/>
                                </a:rPr>
                                <m:t>(</m:t>
                              </m:r>
                              <m:r>
                                <a:rPr lang="en-US" sz="1400" b="1" i="0" dirty="0" smtClean="0">
                                  <a:latin typeface="Cambria Math" panose="02040503050406030204" pitchFamily="18" charset="0"/>
                                </a:rPr>
                                <m:t>𝐬</m:t>
                              </m:r>
                              <m:r>
                                <a:rPr lang="en-US" sz="1400" dirty="0" smtClean="0">
                                  <a:latin typeface="Cambria Math" panose="02040503050406030204" pitchFamily="18" charset="0"/>
                                </a:rPr>
                                <m:t>)</m:t>
                              </m:r>
                            </m:oMath>
                          </a14:m>
                          <a:endParaRPr lang="en-US" sz="1400" dirty="0"/>
                        </a:p>
                      </a:txBody>
                      <a:tcPr/>
                    </a:tc>
                    <a:extLst>
                      <a:ext uri="{0D108BD9-81ED-4DB2-BD59-A6C34878D82A}">
                        <a16:rowId xmlns:a16="http://schemas.microsoft.com/office/drawing/2014/main" val="2008869826"/>
                      </a:ext>
                    </a:extLst>
                  </a:tr>
                  <a:tr h="288751">
                    <a:tc>
                      <a:txBody>
                        <a:bodyPr/>
                        <a:lstStyle/>
                        <a:p>
                          <a:r>
                            <a:rPr lang="en-US" sz="1400"/>
                            <a:t>(1,1)</a:t>
                          </a:r>
                          <a:endParaRPr lang="en-US" sz="1400" dirty="0"/>
                        </a:p>
                      </a:txBody>
                      <a:tcPr/>
                    </a:tc>
                    <a:tc>
                      <a:txBody>
                        <a:bodyPr/>
                        <a:lstStyle/>
                        <a:p>
                          <a:r>
                            <a:rPr lang="en-US" sz="1400"/>
                            <a:t>0.7453</a:t>
                          </a:r>
                          <a:endParaRPr lang="en-US" sz="1400" dirty="0"/>
                        </a:p>
                      </a:txBody>
                      <a:tcPr/>
                    </a:tc>
                    <a:extLst>
                      <a:ext uri="{0D108BD9-81ED-4DB2-BD59-A6C34878D82A}">
                        <a16:rowId xmlns:a16="http://schemas.microsoft.com/office/drawing/2014/main" val="524805492"/>
                      </a:ext>
                    </a:extLst>
                  </a:tr>
                  <a:tr h="288751">
                    <a:tc>
                      <a:txBody>
                        <a:bodyPr/>
                        <a:lstStyle/>
                        <a:p>
                          <a:r>
                            <a:rPr lang="en-US" sz="1400"/>
                            <a:t>(1,2)</a:t>
                          </a:r>
                          <a:endParaRPr lang="en-US" sz="1400" dirty="0"/>
                        </a:p>
                      </a:txBody>
                      <a:tcPr/>
                    </a:tc>
                    <a:tc>
                      <a:txBody>
                        <a:bodyPr/>
                        <a:lstStyle/>
                        <a:p>
                          <a:r>
                            <a:rPr lang="en-US" sz="1400"/>
                            <a:t>?</a:t>
                          </a:r>
                          <a:endParaRPr lang="en-US" sz="1400" dirty="0"/>
                        </a:p>
                      </a:txBody>
                      <a:tcPr/>
                    </a:tc>
                    <a:extLst>
                      <a:ext uri="{0D108BD9-81ED-4DB2-BD59-A6C34878D82A}">
                        <a16:rowId xmlns:a16="http://schemas.microsoft.com/office/drawing/2014/main" val="3725035416"/>
                      </a:ext>
                    </a:extLst>
                  </a:tr>
                  <a:tr h="288751">
                    <a:tc>
                      <a:txBody>
                        <a:bodyPr/>
                        <a:lstStyle/>
                        <a:p>
                          <a:r>
                            <a:rPr lang="en-US" sz="1400"/>
                            <a:t>(1,3)</a:t>
                          </a:r>
                          <a:endParaRPr lang="en-US" sz="1400" dirty="0"/>
                        </a:p>
                      </a:txBody>
                      <a:tcPr/>
                    </a:tc>
                    <a:tc>
                      <a:txBody>
                        <a:bodyPr/>
                        <a:lstStyle/>
                        <a:p>
                          <a:r>
                            <a:rPr lang="en-US" sz="1400" dirty="0"/>
                            <a:t>0.8016</a:t>
                          </a:r>
                        </a:p>
                      </a:txBody>
                      <a:tcPr/>
                    </a:tc>
                    <a:extLst>
                      <a:ext uri="{0D108BD9-81ED-4DB2-BD59-A6C34878D82A}">
                        <a16:rowId xmlns:a16="http://schemas.microsoft.com/office/drawing/2014/main" val="1524338055"/>
                      </a:ext>
                    </a:extLst>
                  </a:tr>
                  <a:tr h="288751">
                    <a:tc>
                      <a:txBody>
                        <a:bodyPr/>
                        <a:lstStyle/>
                        <a:p>
                          <a:r>
                            <a:rPr lang="en-US" sz="1400" dirty="0"/>
                            <a:t>…</a:t>
                          </a:r>
                        </a:p>
                      </a:txBody>
                      <a:tcPr/>
                    </a:tc>
                    <a:tc>
                      <a:txBody>
                        <a:bodyPr/>
                        <a:lstStyle/>
                        <a:p>
                          <a:r>
                            <a:rPr lang="en-US" sz="1400" dirty="0"/>
                            <a:t>…</a:t>
                          </a:r>
                        </a:p>
                      </a:txBody>
                      <a:tcPr/>
                    </a:tc>
                    <a:extLst>
                      <a:ext uri="{0D108BD9-81ED-4DB2-BD59-A6C34878D82A}">
                        <a16:rowId xmlns:a16="http://schemas.microsoft.com/office/drawing/2014/main" val="868402448"/>
                      </a:ext>
                    </a:extLst>
                  </a:tr>
                </a:tbl>
              </a:graphicData>
            </a:graphic>
          </p:graphicFrame>
        </mc:Choice>
        <mc:Fallback>
          <p:graphicFrame>
            <p:nvGraphicFramePr>
              <p:cNvPr id="8" name="Table 7">
                <a:extLst>
                  <a:ext uri="{FF2B5EF4-FFF2-40B4-BE49-F238E27FC236}">
                    <a16:creationId xmlns:a16="http://schemas.microsoft.com/office/drawing/2014/main" id="{DA3EB6A7-1666-4447-DD8C-3E5A4FD59E4E}"/>
                  </a:ext>
                </a:extLst>
              </p:cNvPr>
              <p:cNvGraphicFramePr>
                <a:graphicFrameLocks noGrp="1"/>
              </p:cNvGraphicFramePr>
              <p:nvPr>
                <p:extLst>
                  <p:ext uri="{D42A27DB-BD31-4B8C-83A1-F6EECF244321}">
                    <p14:modId xmlns:p14="http://schemas.microsoft.com/office/powerpoint/2010/main" val="82288981"/>
                  </p:ext>
                </p:extLst>
              </p:nvPr>
            </p:nvGraphicFramePr>
            <p:xfrm>
              <a:off x="9540632" y="1278474"/>
              <a:ext cx="2141037" cy="1524000"/>
            </p:xfrm>
            <a:graphic>
              <a:graphicData uri="http://schemas.openxmlformats.org/drawingml/2006/table">
                <a:tbl>
                  <a:tblPr firstRow="1" bandRow="1">
                    <a:tableStyleId>{93296810-A885-4BE3-A3E7-6D5BEEA58F35}</a:tableStyleId>
                  </a:tblPr>
                  <a:tblGrid>
                    <a:gridCol w="590368">
                      <a:extLst>
                        <a:ext uri="{9D8B030D-6E8A-4147-A177-3AD203B41FA5}">
                          <a16:colId xmlns:a16="http://schemas.microsoft.com/office/drawing/2014/main" val="3711460689"/>
                        </a:ext>
                      </a:extLst>
                    </a:gridCol>
                    <a:gridCol w="1550669">
                      <a:extLst>
                        <a:ext uri="{9D8B030D-6E8A-4147-A177-3AD203B41FA5}">
                          <a16:colId xmlns:a16="http://schemas.microsoft.com/office/drawing/2014/main" val="2080107700"/>
                        </a:ext>
                      </a:extLst>
                    </a:gridCol>
                  </a:tblGrid>
                  <a:tr h="304800">
                    <a:tc>
                      <a:txBody>
                        <a:bodyPr/>
                        <a:lstStyle/>
                        <a:p>
                          <a:endParaRPr lang="en-US"/>
                        </a:p>
                      </a:txBody>
                      <a:tcPr>
                        <a:blipFill>
                          <a:blip r:embed="rId4"/>
                          <a:stretch>
                            <a:fillRect l="-1031" t="-2000" r="-267010" b="-422000"/>
                          </a:stretch>
                        </a:blipFill>
                      </a:tcPr>
                    </a:tc>
                    <a:tc>
                      <a:txBody>
                        <a:bodyPr/>
                        <a:lstStyle/>
                        <a:p>
                          <a:endParaRPr lang="en-US"/>
                        </a:p>
                      </a:txBody>
                      <a:tcPr>
                        <a:blipFill>
                          <a:blip r:embed="rId4"/>
                          <a:stretch>
                            <a:fillRect l="-38431" t="-2000" r="-1569" b="-422000"/>
                          </a:stretch>
                        </a:blipFill>
                      </a:tcPr>
                    </a:tc>
                    <a:extLst>
                      <a:ext uri="{0D108BD9-81ED-4DB2-BD59-A6C34878D82A}">
                        <a16:rowId xmlns:a16="http://schemas.microsoft.com/office/drawing/2014/main" val="2008869826"/>
                      </a:ext>
                    </a:extLst>
                  </a:tr>
                  <a:tr h="304800">
                    <a:tc>
                      <a:txBody>
                        <a:bodyPr/>
                        <a:lstStyle/>
                        <a:p>
                          <a:r>
                            <a:rPr lang="en-US" sz="1400"/>
                            <a:t>(1,1)</a:t>
                          </a:r>
                          <a:endParaRPr lang="en-US" sz="1400" dirty="0"/>
                        </a:p>
                      </a:txBody>
                      <a:tcPr/>
                    </a:tc>
                    <a:tc>
                      <a:txBody>
                        <a:bodyPr/>
                        <a:lstStyle/>
                        <a:p>
                          <a:r>
                            <a:rPr lang="en-US" sz="1400"/>
                            <a:t>0.7453</a:t>
                          </a:r>
                          <a:endParaRPr lang="en-US" sz="1400" dirty="0"/>
                        </a:p>
                      </a:txBody>
                      <a:tcPr/>
                    </a:tc>
                    <a:extLst>
                      <a:ext uri="{0D108BD9-81ED-4DB2-BD59-A6C34878D82A}">
                        <a16:rowId xmlns:a16="http://schemas.microsoft.com/office/drawing/2014/main" val="524805492"/>
                      </a:ext>
                    </a:extLst>
                  </a:tr>
                  <a:tr h="304800">
                    <a:tc>
                      <a:txBody>
                        <a:bodyPr/>
                        <a:lstStyle/>
                        <a:p>
                          <a:r>
                            <a:rPr lang="en-US" sz="1400"/>
                            <a:t>(1,2)</a:t>
                          </a:r>
                          <a:endParaRPr lang="en-US" sz="1400" dirty="0"/>
                        </a:p>
                      </a:txBody>
                      <a:tcPr/>
                    </a:tc>
                    <a:tc>
                      <a:txBody>
                        <a:bodyPr/>
                        <a:lstStyle/>
                        <a:p>
                          <a:r>
                            <a:rPr lang="en-US" sz="1400"/>
                            <a:t>?</a:t>
                          </a:r>
                          <a:endParaRPr lang="en-US" sz="1400" dirty="0"/>
                        </a:p>
                      </a:txBody>
                      <a:tcPr/>
                    </a:tc>
                    <a:extLst>
                      <a:ext uri="{0D108BD9-81ED-4DB2-BD59-A6C34878D82A}">
                        <a16:rowId xmlns:a16="http://schemas.microsoft.com/office/drawing/2014/main" val="3725035416"/>
                      </a:ext>
                    </a:extLst>
                  </a:tr>
                  <a:tr h="304800">
                    <a:tc>
                      <a:txBody>
                        <a:bodyPr/>
                        <a:lstStyle/>
                        <a:p>
                          <a:r>
                            <a:rPr lang="en-US" sz="1400"/>
                            <a:t>(1,3)</a:t>
                          </a:r>
                          <a:endParaRPr lang="en-US" sz="1400" dirty="0"/>
                        </a:p>
                      </a:txBody>
                      <a:tcPr/>
                    </a:tc>
                    <a:tc>
                      <a:txBody>
                        <a:bodyPr/>
                        <a:lstStyle/>
                        <a:p>
                          <a:r>
                            <a:rPr lang="en-US" sz="1400" dirty="0"/>
                            <a:t>0.8016</a:t>
                          </a:r>
                        </a:p>
                      </a:txBody>
                      <a:tcPr/>
                    </a:tc>
                    <a:extLst>
                      <a:ext uri="{0D108BD9-81ED-4DB2-BD59-A6C34878D82A}">
                        <a16:rowId xmlns:a16="http://schemas.microsoft.com/office/drawing/2014/main" val="1524338055"/>
                      </a:ext>
                    </a:extLst>
                  </a:tr>
                  <a:tr h="304800">
                    <a:tc>
                      <a:txBody>
                        <a:bodyPr/>
                        <a:lstStyle/>
                        <a:p>
                          <a:r>
                            <a:rPr lang="en-US" sz="1400" dirty="0"/>
                            <a:t>…</a:t>
                          </a:r>
                        </a:p>
                      </a:txBody>
                      <a:tcPr/>
                    </a:tc>
                    <a:tc>
                      <a:txBody>
                        <a:bodyPr/>
                        <a:lstStyle/>
                        <a:p>
                          <a:r>
                            <a:rPr lang="en-US" sz="1400" dirty="0"/>
                            <a:t>…</a:t>
                          </a:r>
                        </a:p>
                      </a:txBody>
                      <a:tcPr/>
                    </a:tc>
                    <a:extLst>
                      <a:ext uri="{0D108BD9-81ED-4DB2-BD59-A6C34878D82A}">
                        <a16:rowId xmlns:a16="http://schemas.microsoft.com/office/drawing/2014/main" val="868402448"/>
                      </a:ext>
                    </a:extLst>
                  </a:tr>
                </a:tbl>
              </a:graphicData>
            </a:graphic>
          </p:graphicFrame>
        </mc:Fallback>
      </mc:AlternateContent>
    </p:spTree>
    <p:extLst>
      <p:ext uri="{BB962C8B-B14F-4D97-AF65-F5344CB8AC3E}">
        <p14:creationId xmlns:p14="http://schemas.microsoft.com/office/powerpoint/2010/main" val="3620330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8D89A-90D3-B6F7-65DB-547701E1532C}"/>
              </a:ext>
            </a:extLst>
          </p:cNvPr>
          <p:cNvSpPr>
            <a:spLocks noGrp="1"/>
          </p:cNvSpPr>
          <p:nvPr>
            <p:ph type="title"/>
          </p:nvPr>
        </p:nvSpPr>
        <p:spPr/>
        <p:txBody>
          <a:bodyPr/>
          <a:lstStyle/>
          <a:p>
            <a:r>
              <a:rPr lang="en-US" dirty="0"/>
              <a:t>Goals of Generalization in RL</a:t>
            </a:r>
          </a:p>
        </p:txBody>
      </p:sp>
      <p:sp>
        <p:nvSpPr>
          <p:cNvPr id="3" name="Content Placeholder 2">
            <a:extLst>
              <a:ext uri="{FF2B5EF4-FFF2-40B4-BE49-F238E27FC236}">
                <a16:creationId xmlns:a16="http://schemas.microsoft.com/office/drawing/2014/main" id="{82574287-6A85-1532-501D-5E35BC918CD7}"/>
              </a:ext>
            </a:extLst>
          </p:cNvPr>
          <p:cNvSpPr>
            <a:spLocks noGrp="1"/>
          </p:cNvSpPr>
          <p:nvPr>
            <p:ph idx="1"/>
          </p:nvPr>
        </p:nvSpPr>
        <p:spPr>
          <a:xfrm>
            <a:off x="838200" y="1326023"/>
            <a:ext cx="7928295" cy="4779633"/>
          </a:xfrm>
        </p:spPr>
        <p:txBody>
          <a:bodyPr>
            <a:normAutofit fontScale="92500" lnSpcReduction="10000"/>
          </a:bodyPr>
          <a:lstStyle/>
          <a:p>
            <a:r>
              <a:rPr lang="en-US" dirty="0"/>
              <a:t>In ML: </a:t>
            </a:r>
            <a:r>
              <a:rPr lang="en-US" b="1" dirty="0"/>
              <a:t>Can we make predictions for new data?</a:t>
            </a:r>
            <a:br>
              <a:rPr lang="en-US" b="1" dirty="0"/>
            </a:br>
            <a:r>
              <a:rPr lang="en-US" i="1" dirty="0"/>
              <a:t>“Generalization in machine learning is a model's ability to accurately predict outcomes or perform tasks on </a:t>
            </a:r>
            <a:r>
              <a:rPr lang="en-US" b="1" i="1" dirty="0"/>
              <a:t>new, unseen data</a:t>
            </a:r>
            <a:r>
              <a:rPr lang="en-US" i="1" dirty="0"/>
              <a:t>, having learned patterns only from a training dataset.”</a:t>
            </a:r>
          </a:p>
          <a:p>
            <a:pPr marL="514350" indent="-514350">
              <a:buFont typeface="+mj-lt"/>
              <a:buAutoNum type="alphaLcParenR"/>
            </a:pPr>
            <a:endParaRPr lang="en-US" dirty="0"/>
          </a:p>
          <a:p>
            <a:r>
              <a:rPr lang="en-US" dirty="0"/>
              <a:t>In RL we consider additional goals of generalization:</a:t>
            </a:r>
          </a:p>
          <a:p>
            <a:pPr marL="971550" lvl="1" indent="-514350">
              <a:buFont typeface="+mj-lt"/>
              <a:buAutoNum type="alphaLcParenR"/>
            </a:pPr>
            <a:r>
              <a:rPr lang="en-US" b="1" dirty="0"/>
              <a:t>How fast does the algorithm learn? </a:t>
            </a:r>
            <a:r>
              <a:rPr lang="en-US" dirty="0"/>
              <a:t>Does it perform well in an environment after gathering limited data (episodes)? (= </a:t>
            </a:r>
            <a:r>
              <a:rPr lang="en-US" b="1" dirty="0"/>
              <a:t>sample efficiency</a:t>
            </a:r>
            <a:r>
              <a:rPr lang="en-US" dirty="0"/>
              <a:t>)</a:t>
            </a:r>
          </a:p>
          <a:p>
            <a:pPr marL="971550" lvl="1" indent="-514350">
              <a:buFont typeface="+mj-lt"/>
              <a:buAutoNum type="alphaLcParenR"/>
            </a:pPr>
            <a:endParaRPr lang="en-US" dirty="0"/>
          </a:p>
          <a:p>
            <a:pPr marL="971550" lvl="1" indent="-514350">
              <a:buFont typeface="+mj-lt"/>
              <a:buAutoNum type="alphaLcParenR"/>
            </a:pPr>
            <a:r>
              <a:rPr lang="en-US" b="1" dirty="0"/>
              <a:t>Can the algorithm adapt to changes in the environment? </a:t>
            </a:r>
            <a:r>
              <a:rPr lang="en-US" dirty="0"/>
              <a:t>Does it generalize for new, but related environment? (~ </a:t>
            </a:r>
            <a:r>
              <a:rPr lang="en-US" b="1" dirty="0"/>
              <a:t>transfer learning</a:t>
            </a:r>
            <a:r>
              <a:rPr lang="en-US" dirty="0"/>
              <a:t>) </a:t>
            </a:r>
          </a:p>
          <a:p>
            <a:endParaRPr lang="en-US" dirty="0"/>
          </a:p>
        </p:txBody>
      </p:sp>
    </p:spTree>
    <p:extLst>
      <p:ext uri="{BB962C8B-B14F-4D97-AF65-F5344CB8AC3E}">
        <p14:creationId xmlns:p14="http://schemas.microsoft.com/office/powerpoint/2010/main" val="2958231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DDD93-C91F-3B07-9010-4D03C66DCED2}"/>
              </a:ext>
            </a:extLst>
          </p:cNvPr>
          <p:cNvSpPr>
            <a:spLocks noGrp="1"/>
          </p:cNvSpPr>
          <p:nvPr>
            <p:ph type="title"/>
          </p:nvPr>
        </p:nvSpPr>
        <p:spPr/>
        <p:txBody>
          <a:bodyPr>
            <a:normAutofit/>
          </a:bodyPr>
          <a:lstStyle/>
          <a:p>
            <a:r>
              <a:rPr lang="en-US" dirty="0"/>
              <a:t>Prediction: Value Function Approximation</a:t>
            </a:r>
          </a:p>
        </p:txBody>
      </p:sp>
      <mc:AlternateContent xmlns:mc="http://schemas.openxmlformats.org/markup-compatibility/2006">
        <mc:Choice xmlns:a14="http://schemas.microsoft.com/office/drawing/2010/main" Requires="a14">
          <p:sp>
            <p:nvSpPr>
              <p:cNvPr id="3" name="Content Placeholder 2" descr="Approach: Use function approximation (supervised learning). We need training data in the form of s maps to u where the target u is a “backed-up value” representing the desired value. Some options for training data S sub t maps to U :. MC: S sub t maps to G sub t. TD(0): S sub t maps to R sub t plus 1, plus gamma v hat (S sub t plus 1,w sub t). DP: S sub t maps to E sub pi [R sub t plus 1, plus gamma v hat (S sub t plus 1,w sub t)]">
                <a:extLst>
                  <a:ext uri="{FF2B5EF4-FFF2-40B4-BE49-F238E27FC236}">
                    <a16:creationId xmlns:a16="http://schemas.microsoft.com/office/drawing/2014/main" id="{DC945A54-7468-EEEB-5DC1-3FF613070C42}"/>
                  </a:ext>
                </a:extLst>
              </p:cNvPr>
              <p:cNvSpPr>
                <a:spLocks noGrp="1"/>
              </p:cNvSpPr>
              <p:nvPr>
                <p:ph idx="1"/>
              </p:nvPr>
            </p:nvSpPr>
            <p:spPr/>
            <p:txBody>
              <a:bodyPr>
                <a:normAutofit/>
              </a:bodyPr>
              <a:lstStyle/>
              <a:p>
                <a:pPr marL="0" indent="0">
                  <a:buNone/>
                </a:pPr>
                <a:r>
                  <a:rPr lang="en-US" b="1" dirty="0"/>
                  <a:t>Approach</a:t>
                </a:r>
                <a:r>
                  <a:rPr lang="en-US" dirty="0"/>
                  <a:t>: Use </a:t>
                </a:r>
                <a:r>
                  <a:rPr lang="en-US" b="1" dirty="0"/>
                  <a:t>function approximation </a:t>
                </a:r>
                <a:r>
                  <a:rPr lang="en-US" dirty="0"/>
                  <a:t>(supervised learning). </a:t>
                </a:r>
              </a:p>
              <a:p>
                <a:pPr lvl="1"/>
                <a:r>
                  <a:rPr lang="en-US" dirty="0"/>
                  <a:t>We need </a:t>
                </a:r>
                <a:r>
                  <a:rPr lang="en-US" b="1" dirty="0"/>
                  <a:t>training data </a:t>
                </a:r>
                <a:r>
                  <a:rPr lang="en-US" dirty="0"/>
                  <a:t>in the form of</a:t>
                </a:r>
                <a:br>
                  <a:rPr lang="en-US" dirty="0"/>
                </a:br>
                <a:br>
                  <a:rPr lang="en-US" dirty="0"/>
                </a:br>
                <a14:m>
                  <m:oMath xmlns:m="http://schemas.openxmlformats.org/officeDocument/2006/math">
                    <m:r>
                      <a:rPr lang="en-US" b="0" i="1" smtClean="0">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oMath>
                </a14:m>
                <a:br>
                  <a:rPr lang="en-US" b="0" dirty="0">
                    <a:ea typeface="Cambria Math" panose="02040503050406030204" pitchFamily="18" charset="0"/>
                  </a:rPr>
                </a:br>
                <a:br>
                  <a:rPr lang="en-US" b="0" dirty="0">
                    <a:ea typeface="Cambria Math" panose="02040503050406030204" pitchFamily="18" charset="0"/>
                  </a:rPr>
                </a:br>
                <a:r>
                  <a:rPr lang="en-US" dirty="0"/>
                  <a:t>where the target </a:t>
                </a:r>
                <a14:m>
                  <m:oMath xmlns:m="http://schemas.openxmlformats.org/officeDocument/2006/math">
                    <m:r>
                      <a:rPr lang="en-US" i="1">
                        <a:latin typeface="Cambria Math" panose="02040503050406030204" pitchFamily="18" charset="0"/>
                        <a:ea typeface="Cambria Math" panose="02040503050406030204" pitchFamily="18" charset="0"/>
                      </a:rPr>
                      <m:t>𝑢</m:t>
                    </m:r>
                  </m:oMath>
                </a14:m>
                <a:r>
                  <a:rPr lang="en-US" dirty="0"/>
                  <a:t> represents </a:t>
                </a:r>
                <a:r>
                  <a:rPr lang="en-US"/>
                  <a:t>a noisy sample </a:t>
                </a:r>
                <a:r>
                  <a:rPr lang="en-US" dirty="0"/>
                  <a:t>of the state value. </a:t>
                </a:r>
              </a:p>
              <a:p>
                <a:endParaRPr lang="en-US" dirty="0"/>
              </a:p>
              <a:p>
                <a:pPr marL="0" indent="0">
                  <a:buNone/>
                </a:pPr>
                <a:r>
                  <a:rPr lang="en-US" dirty="0"/>
                  <a:t>Some options for training data </a:t>
                </a:r>
                <a14:m>
                  <m:oMath xmlns:m="http://schemas.openxmlformats.org/officeDocument/2006/math">
                    <m:sSub>
                      <m:sSubPr>
                        <m:ctrlPr>
                          <a:rPr lang="en-US" b="0" i="0" smtClean="0">
                            <a:latin typeface="Cambria Math" panose="02040503050406030204" pitchFamily="18" charset="0"/>
                            <a:ea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S</m:t>
                        </m:r>
                      </m:e>
                      <m:sub>
                        <m:r>
                          <m:rPr>
                            <m:sty m:val="p"/>
                          </m:rPr>
                          <a:rPr lang="en-US" b="0" i="0" smtClean="0">
                            <a:latin typeface="Cambria Math" panose="02040503050406030204" pitchFamily="18" charset="0"/>
                            <a:ea typeface="Cambria Math" panose="02040503050406030204" pitchFamily="18" charset="0"/>
                          </a:rPr>
                          <m:t>t</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oMath>
                </a14:m>
                <a:r>
                  <a:rPr lang="en-US" dirty="0"/>
                  <a:t>:</a:t>
                </a:r>
              </a:p>
              <a:p>
                <a:pPr lvl="1"/>
                <a:r>
                  <a:rPr lang="en-US" dirty="0"/>
                  <a:t>MC:     </a:t>
                </a:r>
                <a14:m>
                  <m:oMath xmlns:m="http://schemas.openxmlformats.org/officeDocument/2006/math">
                    <m:sSub>
                      <m:sSubPr>
                        <m:ctrlPr>
                          <a:rPr lang="en-US">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S</m:t>
                        </m:r>
                      </m:e>
                      <m:sub>
                        <m:r>
                          <m:rPr>
                            <m:sty m:val="p"/>
                          </m:rPr>
                          <a:rPr lang="en-US">
                            <a:latin typeface="Cambria Math" panose="02040503050406030204" pitchFamily="18" charset="0"/>
                            <a:ea typeface="Cambria Math" panose="02040503050406030204" pitchFamily="18" charset="0"/>
                          </a:rPr>
                          <m:t>t</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𝐺</m:t>
                        </m:r>
                      </m:e>
                      <m:sub>
                        <m:r>
                          <a:rPr lang="en-US" b="0" i="1" smtClean="0">
                            <a:latin typeface="Cambria Math" panose="02040503050406030204" pitchFamily="18" charset="0"/>
                            <a:ea typeface="Cambria Math" panose="02040503050406030204" pitchFamily="18" charset="0"/>
                          </a:rPr>
                          <m:t>𝑡</m:t>
                        </m:r>
                      </m:sub>
                    </m:sSub>
                  </m:oMath>
                </a14:m>
                <a:endParaRPr lang="en-US" dirty="0"/>
              </a:p>
              <a:p>
                <a:pPr lvl="1"/>
                <a:r>
                  <a:rPr lang="en-US" dirty="0"/>
                  <a:t>TD(0): </a:t>
                </a:r>
                <a14:m>
                  <m:oMath xmlns:m="http://schemas.openxmlformats.org/officeDocument/2006/math">
                    <m:sSub>
                      <m:sSubPr>
                        <m:ctrlPr>
                          <a:rPr lang="en-US">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S</m:t>
                        </m:r>
                      </m:e>
                      <m:sub>
                        <m:r>
                          <m:rPr>
                            <m:sty m:val="p"/>
                          </m:rPr>
                          <a:rPr lang="en-US">
                            <a:latin typeface="Cambria Math" panose="02040503050406030204" pitchFamily="18" charset="0"/>
                            <a:ea typeface="Cambria Math" panose="02040503050406030204" pitchFamily="18" charset="0"/>
                          </a:rPr>
                          <m:t>t</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𝛾</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𝑣</m:t>
                        </m:r>
                      </m:e>
                    </m:acc>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m:rPr>
                                <m:sty m:val="p"/>
                              </m:rPr>
                              <a:rPr lang="en-US" b="0" i="0" smtClean="0">
                                <a:latin typeface="Cambria Math" panose="02040503050406030204" pitchFamily="18" charset="0"/>
                                <a:ea typeface="Cambria Math" panose="02040503050406030204" pitchFamily="18" charset="0"/>
                              </a:rPr>
                              <m:t>t</m:t>
                            </m:r>
                            <m:r>
                              <a:rPr lang="en-US" b="0" i="0" smtClean="0">
                                <a:latin typeface="Cambria Math" panose="02040503050406030204" pitchFamily="18" charset="0"/>
                                <a:ea typeface="Cambria Math" panose="02040503050406030204" pitchFamily="18" charset="0"/>
                              </a:rPr>
                              <m:t>+1</m:t>
                            </m:r>
                          </m:sub>
                        </m:sSub>
                        <m:r>
                          <a:rPr lang="en-US" b="0" i="0"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𝒘</m:t>
                            </m:r>
                          </m:e>
                          <m:sub>
                            <m:r>
                              <a:rPr lang="en-US" b="0" i="1" smtClean="0">
                                <a:latin typeface="Cambria Math" panose="02040503050406030204" pitchFamily="18" charset="0"/>
                                <a:ea typeface="Cambria Math" panose="02040503050406030204" pitchFamily="18" charset="0"/>
                              </a:rPr>
                              <m:t>𝑡</m:t>
                            </m:r>
                          </m:sub>
                        </m:sSub>
                      </m:e>
                    </m:d>
                  </m:oMath>
                </a14:m>
                <a:endParaRPr lang="en-US" b="0" dirty="0">
                  <a:ea typeface="Cambria Math" panose="02040503050406030204" pitchFamily="18" charset="0"/>
                </a:endParaRPr>
              </a:p>
              <a:p>
                <a:pPr lvl="1"/>
                <a:r>
                  <a:rPr lang="en-US" dirty="0"/>
                  <a:t>DP:      </a:t>
                </a:r>
                <a14:m>
                  <m:oMath xmlns:m="http://schemas.openxmlformats.org/officeDocument/2006/math">
                    <m:sSub>
                      <m:sSubPr>
                        <m:ctrlPr>
                          <a:rPr lang="en-US">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S</m:t>
                        </m:r>
                      </m:e>
                      <m:sub>
                        <m:r>
                          <m:rPr>
                            <m:sty m:val="p"/>
                          </m:rPr>
                          <a:rPr lang="en-US">
                            <a:latin typeface="Cambria Math" panose="02040503050406030204" pitchFamily="18" charset="0"/>
                            <a:ea typeface="Cambria Math" panose="02040503050406030204" pitchFamily="18" charset="0"/>
                          </a:rPr>
                          <m:t>t</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𝜋</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𝛾</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m:rPr>
                                <m:sty m:val="p"/>
                              </m:rPr>
                              <a:rPr lang="en-US">
                                <a:latin typeface="Cambria Math" panose="02040503050406030204" pitchFamily="18" charset="0"/>
                                <a:ea typeface="Cambria Math" panose="02040503050406030204" pitchFamily="18" charset="0"/>
                              </a:rPr>
                              <m:t>t</m:t>
                            </m:r>
                            <m:r>
                              <a:rPr lang="en-US">
                                <a:latin typeface="Cambria Math" panose="02040503050406030204" pitchFamily="18" charset="0"/>
                                <a:ea typeface="Cambria Math" panose="02040503050406030204" pitchFamily="18" charset="0"/>
                              </a:rPr>
                              <m:t>+1</m:t>
                            </m:r>
                          </m:sub>
                        </m:sSub>
                        <m:r>
                          <a:rPr lang="en-US">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𝒘</m:t>
                            </m:r>
                          </m:e>
                          <m:sub>
                            <m:r>
                              <a:rPr lang="en-US" i="1">
                                <a:latin typeface="Cambria Math" panose="02040503050406030204" pitchFamily="18" charset="0"/>
                                <a:ea typeface="Cambria Math" panose="02040503050406030204" pitchFamily="18" charset="0"/>
                              </a:rPr>
                              <m:t>𝑡</m:t>
                            </m:r>
                          </m:sub>
                        </m:sSub>
                      </m:e>
                    </m:d>
                    <m:r>
                      <a:rPr lang="en-US" b="0" i="1" smtClean="0">
                        <a:latin typeface="Cambria Math" panose="02040503050406030204" pitchFamily="18" charset="0"/>
                        <a:ea typeface="Cambria Math" panose="02040503050406030204" pitchFamily="18" charset="0"/>
                      </a:rPr>
                      <m:t>]</m:t>
                    </m:r>
                  </m:oMath>
                </a14:m>
                <a:endParaRPr lang="en-US" dirty="0"/>
              </a:p>
            </p:txBody>
          </p:sp>
        </mc:Choice>
        <mc:Fallback>
          <p:sp>
            <p:nvSpPr>
              <p:cNvPr id="3" name="Content Placeholder 2" descr="Approach: Use function approximation (supervised learning). We need training data in the form of s maps to u where the target u is a “backed-up value” representing the desired value. Some options for training data S sub t maps to U :. MC: S sub t maps to G sub t. TD(0): S sub t maps to R sub t plus 1, plus gamma v hat (S sub t plus 1,w sub t). DP: S sub t maps to E sub pi [R sub t plus 1, plus gamma v hat (S sub t plus 1,w sub t)]">
                <a:extLst>
                  <a:ext uri="{FF2B5EF4-FFF2-40B4-BE49-F238E27FC236}">
                    <a16:creationId xmlns:a16="http://schemas.microsoft.com/office/drawing/2014/main" id="{DC945A54-7468-EEEB-5DC1-3FF613070C42}"/>
                  </a:ext>
                </a:extLst>
              </p:cNvPr>
              <p:cNvSpPr>
                <a:spLocks noGrp="1" noRot="1" noChangeAspect="1" noMove="1" noResize="1" noEditPoints="1" noAdjustHandles="1" noChangeArrowheads="1" noChangeShapeType="1" noTextEdit="1"/>
              </p:cNvSpPr>
              <p:nvPr>
                <p:ph idx="1"/>
              </p:nvPr>
            </p:nvSpPr>
            <p:spPr>
              <a:blipFill>
                <a:blip r:embed="rId2"/>
                <a:stretch>
                  <a:fillRect l="-1217" t="-21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descr="Note: The subscript t for w indicates when the update happens during learning. The subscript is often dropped (we only keep track of the current w)">
                <a:extLst>
                  <a:ext uri="{FF2B5EF4-FFF2-40B4-BE49-F238E27FC236}">
                    <a16:creationId xmlns:a16="http://schemas.microsoft.com/office/drawing/2014/main" id="{8723F7C8-1C0F-59B3-0EF5-B4C87FC7D0DA}"/>
                  </a:ext>
                </a:extLst>
              </p:cNvPr>
              <p:cNvSpPr txBox="1"/>
              <p:nvPr/>
            </p:nvSpPr>
            <p:spPr>
              <a:xfrm>
                <a:off x="7990515" y="4702030"/>
                <a:ext cx="3305261" cy="9541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b="1" dirty="0"/>
                  <a:t>Note</a:t>
                </a:r>
                <a:r>
                  <a:rPr lang="en-US" sz="1400" dirty="0"/>
                  <a:t>: The subscript </a:t>
                </a:r>
                <a14:m>
                  <m:oMath xmlns:m="http://schemas.openxmlformats.org/officeDocument/2006/math">
                    <m:r>
                      <a:rPr lang="en-US" sz="1400" b="0" i="1" smtClean="0">
                        <a:latin typeface="Cambria Math" panose="02040503050406030204" pitchFamily="18" charset="0"/>
                      </a:rPr>
                      <m:t>𝑡</m:t>
                    </m:r>
                  </m:oMath>
                </a14:m>
                <a:r>
                  <a:rPr lang="en-US" sz="1400" dirty="0"/>
                  <a:t> for </a:t>
                </a:r>
                <a14:m>
                  <m:oMath xmlns:m="http://schemas.openxmlformats.org/officeDocument/2006/math">
                    <m:r>
                      <a:rPr lang="en-US" sz="1400" b="1" i="1" smtClean="0">
                        <a:latin typeface="Cambria Math" panose="02040503050406030204" pitchFamily="18" charset="0"/>
                      </a:rPr>
                      <m:t>𝒘</m:t>
                    </m:r>
                  </m:oMath>
                </a14:m>
                <a:r>
                  <a:rPr lang="en-US" sz="1400" b="1" dirty="0"/>
                  <a:t> </a:t>
                </a:r>
                <a:r>
                  <a:rPr lang="en-US" sz="1400" dirty="0"/>
                  <a:t>indicates when the update happens during learning. The subscript is often dropped (we only keep track of the current </a:t>
                </a:r>
                <a14:m>
                  <m:oMath xmlns:m="http://schemas.openxmlformats.org/officeDocument/2006/math">
                    <m:r>
                      <a:rPr lang="en-US" sz="1400" b="1" i="1" smtClean="0">
                        <a:latin typeface="Cambria Math" panose="02040503050406030204" pitchFamily="18" charset="0"/>
                      </a:rPr>
                      <m:t>𝒘</m:t>
                    </m:r>
                  </m:oMath>
                </a14:m>
                <a:r>
                  <a:rPr lang="en-US" sz="1400" dirty="0"/>
                  <a:t>)</a:t>
                </a:r>
                <a:endParaRPr lang="en-US" sz="1400" b="1" dirty="0"/>
              </a:p>
            </p:txBody>
          </p:sp>
        </mc:Choice>
        <mc:Fallback xmlns="">
          <p:sp>
            <p:nvSpPr>
              <p:cNvPr id="4" name="TextBox 3" descr="Note: The subscript t for w indicates when the update happens during learning. The subscript is often dropped (we only keep track of the current w)">
                <a:extLst>
                  <a:ext uri="{FF2B5EF4-FFF2-40B4-BE49-F238E27FC236}">
                    <a16:creationId xmlns:a16="http://schemas.microsoft.com/office/drawing/2014/main" id="{8723F7C8-1C0F-59B3-0EF5-B4C87FC7D0DA}"/>
                  </a:ext>
                </a:extLst>
              </p:cNvPr>
              <p:cNvSpPr txBox="1">
                <a:spLocks noRot="1" noChangeAspect="1" noMove="1" noResize="1" noEditPoints="1" noAdjustHandles="1" noChangeArrowheads="1" noChangeShapeType="1" noTextEdit="1"/>
              </p:cNvSpPr>
              <p:nvPr/>
            </p:nvSpPr>
            <p:spPr>
              <a:xfrm>
                <a:off x="7990515" y="4702030"/>
                <a:ext cx="3305261" cy="954107"/>
              </a:xfrm>
              <a:prstGeom prst="rect">
                <a:avLst/>
              </a:prstGeom>
              <a:blipFill>
                <a:blip r:embed="rId3"/>
                <a:stretch>
                  <a:fillRect l="-367" b="-4375"/>
                </a:stretch>
              </a:blipFill>
            </p:spPr>
            <p:txBody>
              <a:bodyPr/>
              <a:lstStyle/>
              <a:p>
                <a:r>
                  <a:rPr lang="en-US">
                    <a:noFill/>
                  </a:rPr>
                  <a:t> </a:t>
                </a:r>
              </a:p>
            </p:txBody>
          </p:sp>
        </mc:Fallback>
      </mc:AlternateContent>
    </p:spTree>
    <p:extLst>
      <p:ext uri="{BB962C8B-B14F-4D97-AF65-F5344CB8AC3E}">
        <p14:creationId xmlns:p14="http://schemas.microsoft.com/office/powerpoint/2010/main" val="137180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descr="Prediction Objective (VE bar)">
                <a:extLst>
                  <a:ext uri="{FF2B5EF4-FFF2-40B4-BE49-F238E27FC236}">
                    <a16:creationId xmlns:a16="http://schemas.microsoft.com/office/drawing/2014/main" id="{A6225E20-3603-3F96-2FC8-D6C1E6830E55}"/>
                  </a:ext>
                </a:extLst>
              </p:cNvPr>
              <p:cNvSpPr>
                <a:spLocks noGrp="1"/>
              </p:cNvSpPr>
              <p:nvPr>
                <p:ph type="title"/>
              </p:nvPr>
            </p:nvSpPr>
            <p:spPr/>
            <p:txBody>
              <a:bodyPr/>
              <a:lstStyle/>
              <a:p>
                <a:r>
                  <a:rPr lang="en-US" dirty="0"/>
                  <a:t>Prediction Objective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𝑉𝐸</m:t>
                        </m:r>
                      </m:e>
                    </m:acc>
                  </m:oMath>
                </a14:m>
                <a:r>
                  <a:rPr lang="en-US" dirty="0"/>
                  <a:t>)</a:t>
                </a:r>
              </a:p>
            </p:txBody>
          </p:sp>
        </mc:Choice>
        <mc:Fallback xmlns="">
          <p:sp>
            <p:nvSpPr>
              <p:cNvPr id="2" name="Title 1" descr="Prediction Objective (VE bar)">
                <a:extLst>
                  <a:ext uri="{FF2B5EF4-FFF2-40B4-BE49-F238E27FC236}">
                    <a16:creationId xmlns:a16="http://schemas.microsoft.com/office/drawing/2014/main" id="{A6225E20-3603-3F96-2FC8-D6C1E6830E55}"/>
                  </a:ext>
                </a:extLst>
              </p:cNvPr>
              <p:cNvSpPr>
                <a:spLocks noGrp="1" noRot="1" noChangeAspect="1" noMove="1" noResize="1" noEditPoints="1" noAdjustHandles="1" noChangeArrowheads="1" noChangeShapeType="1" noTextEdit="1"/>
              </p:cNvSpPr>
              <p:nvPr>
                <p:ph type="title"/>
              </p:nvPr>
            </p:nvSpPr>
            <p:spPr>
              <a:blipFill>
                <a:blip r:embed="rId2"/>
                <a:stretch>
                  <a:fillRect l="-2377" t="-19355" b="-362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Learning algorithm: Update the weights w to reduce the error for v hat (s,w) is approximately v sub pi. Note on generalization: Any change of w will also affect the prediction for other states and thus reduce or increase their error!. Prediction error for state s: the absolute value of v sub pi (s) minus v hat (s,w). To calculate the error over all states we need to define how much we care about each state. We use a state distribution function mu (s) is greater than or equal to 0; the sum over s, of mu (s) equals 1. mu (s) is typically the fraction of time spent in s when following pi . We obtain data by following a policy pi so samples already comes from this distribution. For continuous tasks, mu (s) is a stationary distribution called the on-policy distribution. For episodic tasks a near stationary distribution only exists for ergodic* MDPs with large horizons">
                <a:extLst>
                  <a:ext uri="{FF2B5EF4-FFF2-40B4-BE49-F238E27FC236}">
                    <a16:creationId xmlns:a16="http://schemas.microsoft.com/office/drawing/2014/main" id="{5011D2B2-B573-9A22-66E2-8A27E27D16CC}"/>
                  </a:ext>
                </a:extLst>
              </p:cNvPr>
              <p:cNvSpPr>
                <a:spLocks noGrp="1"/>
              </p:cNvSpPr>
              <p:nvPr>
                <p:ph idx="1"/>
              </p:nvPr>
            </p:nvSpPr>
            <p:spPr>
              <a:xfrm>
                <a:off x="838200" y="1162930"/>
                <a:ext cx="10515600" cy="3362932"/>
              </a:xfrm>
            </p:spPr>
            <p:txBody>
              <a:bodyPr>
                <a:normAutofit fontScale="70000" lnSpcReduction="20000"/>
              </a:bodyPr>
              <a:lstStyle/>
              <a:p>
                <a:r>
                  <a:rPr lang="en-US" b="1" dirty="0"/>
                  <a:t>Learning algorithm</a:t>
                </a:r>
                <a:r>
                  <a:rPr lang="en-US" dirty="0"/>
                  <a:t>: Update the weights </a:t>
                </a:r>
                <a14:m>
                  <m:oMath xmlns:m="http://schemas.openxmlformats.org/officeDocument/2006/math">
                    <m:r>
                      <a:rPr lang="en-US" b="1" i="1">
                        <a:latin typeface="Cambria Math" panose="02040503050406030204" pitchFamily="18" charset="0"/>
                        <a:ea typeface="Cambria Math" panose="02040503050406030204" pitchFamily="18" charset="0"/>
                      </a:rPr>
                      <m:t>𝒘</m:t>
                    </m:r>
                  </m:oMath>
                </a14:m>
                <a:r>
                  <a:rPr lang="en-US" dirty="0"/>
                  <a:t> to reduce the error for </a:t>
                </a:r>
                <a14:m>
                  <m:oMath xmlns:m="http://schemas.openxmlformats.org/officeDocument/2006/math">
                    <m:r>
                      <a:rPr lang="en-US" b="0" i="0"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𝒘</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r>
                      <a:rPr lang="en-US" i="1">
                        <a:latin typeface="Cambria Math" panose="02040503050406030204" pitchFamily="18" charset="0"/>
                      </a:rPr>
                      <m:t> </m:t>
                    </m:r>
                  </m:oMath>
                </a14:m>
                <a:endParaRPr lang="en-US" dirty="0"/>
              </a:p>
              <a:p>
                <a:r>
                  <a:rPr lang="en-US" b="1" dirty="0"/>
                  <a:t>Prediction error </a:t>
                </a:r>
                <a:r>
                  <a:rPr lang="en-US" dirty="0"/>
                  <a:t>for state s:                                                                                  </a:t>
                </a:r>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1" i="1" smtClean="0">
                            <a:latin typeface="Cambria Math" panose="02040503050406030204" pitchFamily="18" charset="0"/>
                          </a:rPr>
                          <m:t>𝒘</m:t>
                        </m:r>
                        <m:r>
                          <a:rPr lang="en-US" b="0" i="1" smtClean="0">
                            <a:latin typeface="Cambria Math" panose="02040503050406030204" pitchFamily="18" charset="0"/>
                          </a:rPr>
                          <m:t>)</m:t>
                        </m:r>
                      </m:e>
                    </m:d>
                  </m:oMath>
                </a14:m>
                <a:endParaRPr lang="en-US" dirty="0"/>
              </a:p>
              <a:p>
                <a:pPr marL="0" indent="0">
                  <a:buNone/>
                </a:pPr>
                <a:endParaRPr lang="en-US" dirty="0"/>
              </a:p>
              <a:p>
                <a:r>
                  <a:rPr lang="en-US" dirty="0"/>
                  <a:t>To calculate the error over all states we need to define how much we care about each state. We use a state distribution function</a:t>
                </a:r>
                <a:br>
                  <a:rPr lang="en-US" dirty="0"/>
                </a:br>
                <a:br>
                  <a:rPr lang="en-US" dirty="0"/>
                </a:br>
                <a14:m>
                  <m:oMath xmlns:m="http://schemas.openxmlformats.org/officeDocument/2006/math">
                    <m:r>
                      <a:rPr lang="en-US" b="0" i="1" smtClean="0">
                        <a:latin typeface="Cambria Math" panose="02040503050406030204" pitchFamily="18" charset="0"/>
                      </a:rPr>
                      <m:t>𝜇</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≥0;     </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sub>
                      <m:sup/>
                      <m:e>
                        <m:r>
                          <a:rPr lang="en-US" b="0" i="1" smtClean="0">
                            <a:latin typeface="Cambria Math" panose="02040503050406030204" pitchFamily="18" charset="0"/>
                          </a:rPr>
                          <m:t>𝜇</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e>
                    </m:nary>
                    <m:r>
                      <a:rPr lang="en-US" b="0" i="1" smtClean="0">
                        <a:latin typeface="Cambria Math" panose="02040503050406030204" pitchFamily="18" charset="0"/>
                      </a:rPr>
                      <m:t>=1</m:t>
                    </m:r>
                  </m:oMath>
                </a14:m>
                <a:endParaRPr lang="en-US" i="1" dirty="0">
                  <a:latin typeface="Cambria Math" panose="02040503050406030204" pitchFamily="18" charset="0"/>
                </a:endParaRPr>
              </a:p>
              <a:p>
                <a14:m>
                  <m:oMath xmlns:m="http://schemas.openxmlformats.org/officeDocument/2006/math">
                    <m:r>
                      <a:rPr lang="en-US" i="1">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𝑠</m:t>
                        </m:r>
                      </m:e>
                    </m:d>
                  </m:oMath>
                </a14:m>
                <a:r>
                  <a:rPr lang="en-US" dirty="0"/>
                  <a:t> is typically the fraction of time spent in </a:t>
                </a:r>
                <a14:m>
                  <m:oMath xmlns:m="http://schemas.openxmlformats.org/officeDocument/2006/math">
                    <m:r>
                      <a:rPr lang="en-US" i="1">
                        <a:latin typeface="Cambria Math" panose="02040503050406030204" pitchFamily="18" charset="0"/>
                      </a:rPr>
                      <m:t>𝑠</m:t>
                    </m:r>
                  </m:oMath>
                </a14:m>
                <a:r>
                  <a:rPr lang="en-US" dirty="0"/>
                  <a:t> when following </a:t>
                </a:r>
                <a14:m>
                  <m:oMath xmlns:m="http://schemas.openxmlformats.org/officeDocument/2006/math">
                    <m:r>
                      <a:rPr lang="en-US" i="1">
                        <a:latin typeface="Cambria Math" panose="02040503050406030204" pitchFamily="18" charset="0"/>
                      </a:rPr>
                      <m:t>𝜋</m:t>
                    </m:r>
                  </m:oMath>
                </a14:m>
                <a:r>
                  <a:rPr lang="en-US" dirty="0"/>
                  <a:t>. </a:t>
                </a:r>
                <a:br>
                  <a:rPr lang="en-US" dirty="0"/>
                </a:br>
                <a:r>
                  <a:rPr lang="en-US" dirty="0"/>
                  <a:t>We obtain data by following a policy </a:t>
                </a:r>
                <a14:m>
                  <m:oMath xmlns:m="http://schemas.openxmlformats.org/officeDocument/2006/math">
                    <m:r>
                      <a:rPr lang="en-US" i="1">
                        <a:latin typeface="Cambria Math" panose="02040503050406030204" pitchFamily="18" charset="0"/>
                      </a:rPr>
                      <m:t>𝜋</m:t>
                    </m:r>
                  </m:oMath>
                </a14:m>
                <a:r>
                  <a:rPr lang="en-US" dirty="0"/>
                  <a:t> so samples already comes from this distribution.</a:t>
                </a:r>
              </a:p>
              <a:p>
                <a:pPr lvl="1"/>
                <a:r>
                  <a:rPr lang="en-US" dirty="0"/>
                  <a:t>For continuous tasks, </a:t>
                </a:r>
                <a14:m>
                  <m:oMath xmlns:m="http://schemas.openxmlformats.org/officeDocument/2006/math">
                    <m:r>
                      <a:rPr lang="en-US" i="1">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𝑠</m:t>
                        </m:r>
                      </m:e>
                    </m:d>
                  </m:oMath>
                </a14:m>
                <a:r>
                  <a:rPr lang="en-US" dirty="0"/>
                  <a:t> is a stationary distribution called the on-policy distribution. </a:t>
                </a:r>
              </a:p>
              <a:p>
                <a:pPr lvl="1"/>
                <a:r>
                  <a:rPr lang="en-US" dirty="0"/>
                  <a:t>For episodic tasks a near stationary distribution only exists for ergodic</a:t>
                </a:r>
                <a:r>
                  <a:rPr lang="en-US" baseline="30000" dirty="0"/>
                  <a:t>*</a:t>
                </a:r>
                <a:r>
                  <a:rPr lang="en-US" dirty="0"/>
                  <a:t> MDPs with large horizons.</a:t>
                </a:r>
              </a:p>
              <a:p>
                <a:endParaRPr lang="en-US" baseline="-25000" dirty="0"/>
              </a:p>
              <a:p>
                <a:endParaRPr lang="en-US" b="0" i="1" dirty="0">
                  <a:latin typeface="Cambria Math" panose="02040503050406030204" pitchFamily="18" charset="0"/>
                </a:endParaRPr>
              </a:p>
            </p:txBody>
          </p:sp>
        </mc:Choice>
        <mc:Fallback xmlns="">
          <p:sp>
            <p:nvSpPr>
              <p:cNvPr id="3" name="Content Placeholder 2" descr="Learning algorithm: Update the weights w to reduce the error for v hat (s,w) is approximately v sub pi. Note on generalization: Any change of w will also affect the prediction for other states and thus reduce or increase their error!. Prediction error for state s: the absolute value of v sub pi (s) minus v hat (s,w). To calculate the error over all states we need to define how much we care about each state. We use a state distribution function mu (s) is greater than or equal to 0; the sum over s, of mu (s) equals 1. mu (s) is typically the fraction of time spent in s when following pi . We obtain data by following a policy pi so samples already comes from this distribution. For continuous tasks, mu (s) is a stationary distribution called the on-policy distribution. For episodic tasks a near stationary distribution only exists for ergodic* MDPs with large horizons">
                <a:extLst>
                  <a:ext uri="{FF2B5EF4-FFF2-40B4-BE49-F238E27FC236}">
                    <a16:creationId xmlns:a16="http://schemas.microsoft.com/office/drawing/2014/main" id="{5011D2B2-B573-9A22-66E2-8A27E27D16CC}"/>
                  </a:ext>
                </a:extLst>
              </p:cNvPr>
              <p:cNvSpPr>
                <a:spLocks noGrp="1" noRot="1" noChangeAspect="1" noMove="1" noResize="1" noEditPoints="1" noAdjustHandles="1" noChangeArrowheads="1" noChangeShapeType="1" noTextEdit="1"/>
              </p:cNvSpPr>
              <p:nvPr>
                <p:ph idx="1"/>
              </p:nvPr>
            </p:nvSpPr>
            <p:spPr>
              <a:xfrm>
                <a:off x="838200" y="1162930"/>
                <a:ext cx="10515600" cy="3362932"/>
              </a:xfrm>
              <a:blipFill>
                <a:blip r:embed="rId3"/>
                <a:stretch>
                  <a:fillRect l="-522" t="-3267" b="-139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descr="Definition: Mean square value error VE bar is defined as the sum over s in S, of mu (s) [v sub pi minus v hat (s,w)] squared">
                <a:extLst>
                  <a:ext uri="{FF2B5EF4-FFF2-40B4-BE49-F238E27FC236}">
                    <a16:creationId xmlns:a16="http://schemas.microsoft.com/office/drawing/2014/main" id="{B60AE832-3161-626E-1379-EADD13E60C4B}"/>
                  </a:ext>
                </a:extLst>
              </p:cNvPr>
              <p:cNvSpPr txBox="1"/>
              <p:nvPr/>
            </p:nvSpPr>
            <p:spPr>
              <a:xfrm>
                <a:off x="3172713" y="4582608"/>
                <a:ext cx="6096698" cy="131850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r>
                  <a:rPr lang="en-US" b="1" dirty="0"/>
                  <a:t>Definition: </a:t>
                </a:r>
                <a:r>
                  <a:rPr lang="en-US" dirty="0"/>
                  <a:t>Mean square value error</a:t>
                </a:r>
                <a:br>
                  <a:rPr lang="en-US" dirty="0"/>
                </a:br>
                <a:br>
                  <a:rPr lang="en-US" dirty="0"/>
                </a:b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𝑉𝐸</m:t>
                          </m:r>
                        </m:e>
                      </m:acc>
                      <m:r>
                        <a:rPr lang="en-US"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r>
                            <a:rPr lang="en-US" b="0" i="1" smtClean="0">
                              <a:latin typeface="Cambria Math" panose="02040503050406030204" pitchFamily="18" charset="0"/>
                              <a:ea typeface="Cambria Math" panose="02040503050406030204" pitchFamily="18" charset="0"/>
                            </a:rPr>
                            <m:t> </m:t>
                          </m:r>
                        </m:sub>
                        <m:sup/>
                        <m:e>
                          <m:r>
                            <a:rPr lang="en-US" b="0" i="1" smtClean="0">
                              <a:latin typeface="Cambria Math" panose="02040503050406030204" pitchFamily="18" charset="0"/>
                            </a:rPr>
                            <m:t>𝜇</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𝒘</m:t>
                                      </m:r>
                                    </m:e>
                                  </m:d>
                                </m:e>
                              </m:d>
                            </m:e>
                            <m:sup>
                              <m:r>
                                <a:rPr lang="en-US" b="0" i="1" smtClean="0">
                                  <a:latin typeface="Cambria Math" panose="02040503050406030204" pitchFamily="18" charset="0"/>
                                </a:rPr>
                                <m:t>2</m:t>
                              </m:r>
                            </m:sup>
                          </m:sSup>
                        </m:e>
                      </m:nary>
                    </m:oMath>
                  </m:oMathPara>
                </a14:m>
                <a:endParaRPr lang="en-US" dirty="0"/>
              </a:p>
            </p:txBody>
          </p:sp>
        </mc:Choice>
        <mc:Fallback xmlns="">
          <p:sp>
            <p:nvSpPr>
              <p:cNvPr id="5" name="TextBox 4" descr="Definition: Mean square value error VE bar is defined as the sum over s in S, of mu (s) [v sub pi minus v hat (s,w)] squared">
                <a:extLst>
                  <a:ext uri="{FF2B5EF4-FFF2-40B4-BE49-F238E27FC236}">
                    <a16:creationId xmlns:a16="http://schemas.microsoft.com/office/drawing/2014/main" id="{B60AE832-3161-626E-1379-EADD13E60C4B}"/>
                  </a:ext>
                </a:extLst>
              </p:cNvPr>
              <p:cNvSpPr txBox="1">
                <a:spLocks noRot="1" noChangeAspect="1" noMove="1" noResize="1" noEditPoints="1" noAdjustHandles="1" noChangeArrowheads="1" noChangeShapeType="1" noTextEdit="1"/>
              </p:cNvSpPr>
              <p:nvPr/>
            </p:nvSpPr>
            <p:spPr>
              <a:xfrm>
                <a:off x="3172713" y="4582608"/>
                <a:ext cx="6096698" cy="1318502"/>
              </a:xfrm>
              <a:prstGeom prst="rect">
                <a:avLst/>
              </a:prstGeom>
              <a:blipFill>
                <a:blip r:embed="rId4"/>
                <a:stretch>
                  <a:fillRect l="-697" t="-18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descr="*Ergodic: The Markov process when following pi is irreducible (all states are reachable) and aperiodic (does not get stuck)">
                <a:extLst>
                  <a:ext uri="{FF2B5EF4-FFF2-40B4-BE49-F238E27FC236}">
                    <a16:creationId xmlns:a16="http://schemas.microsoft.com/office/drawing/2014/main" id="{95FF9CD1-DC49-A6AF-FFC2-346163866CD0}"/>
                  </a:ext>
                </a:extLst>
              </p:cNvPr>
              <p:cNvSpPr txBox="1"/>
              <p:nvPr/>
            </p:nvSpPr>
            <p:spPr>
              <a:xfrm>
                <a:off x="956281" y="6185097"/>
                <a:ext cx="10114241" cy="307777"/>
              </a:xfrm>
              <a:prstGeom prst="rect">
                <a:avLst/>
              </a:prstGeom>
              <a:noFill/>
            </p:spPr>
            <p:txBody>
              <a:bodyPr wrap="square" rtlCol="0">
                <a:spAutoFit/>
              </a:bodyPr>
              <a:lstStyle/>
              <a:p>
                <a:r>
                  <a:rPr lang="en-US" sz="1400" baseline="30000" dirty="0"/>
                  <a:t>*</a:t>
                </a:r>
                <a:r>
                  <a:rPr lang="en-US" sz="1400" dirty="0"/>
                  <a:t>Ergodic: The Markov process when following </a:t>
                </a:r>
                <a14:m>
                  <m:oMath xmlns:m="http://schemas.openxmlformats.org/officeDocument/2006/math">
                    <m:r>
                      <a:rPr lang="en-US" sz="1400" b="0" i="1" smtClean="0">
                        <a:latin typeface="Cambria Math" panose="02040503050406030204" pitchFamily="18" charset="0"/>
                      </a:rPr>
                      <m:t>𝜋</m:t>
                    </m:r>
                  </m:oMath>
                </a14:m>
                <a:r>
                  <a:rPr lang="en-US" sz="1400" dirty="0"/>
                  <a:t> is irreducible (all states are reachable) and aperiodic (does not get stuck).</a:t>
                </a:r>
              </a:p>
            </p:txBody>
          </p:sp>
        </mc:Choice>
        <mc:Fallback xmlns="">
          <p:sp>
            <p:nvSpPr>
              <p:cNvPr id="4" name="TextBox 3" descr="*Ergodic: The Markov process when following pi is irreducible (all states are reachable) and aperiodic (does not get stuck)">
                <a:extLst>
                  <a:ext uri="{FF2B5EF4-FFF2-40B4-BE49-F238E27FC236}">
                    <a16:creationId xmlns:a16="http://schemas.microsoft.com/office/drawing/2014/main" id="{95FF9CD1-DC49-A6AF-FFC2-346163866CD0}"/>
                  </a:ext>
                </a:extLst>
              </p:cNvPr>
              <p:cNvSpPr txBox="1">
                <a:spLocks noRot="1" noChangeAspect="1" noMove="1" noResize="1" noEditPoints="1" noAdjustHandles="1" noChangeArrowheads="1" noChangeShapeType="1" noTextEdit="1"/>
              </p:cNvSpPr>
              <p:nvPr/>
            </p:nvSpPr>
            <p:spPr>
              <a:xfrm>
                <a:off x="956281" y="6185097"/>
                <a:ext cx="10114241" cy="307777"/>
              </a:xfrm>
              <a:prstGeom prst="rect">
                <a:avLst/>
              </a:prstGeom>
              <a:blipFill>
                <a:blip r:embed="rId5"/>
                <a:stretch>
                  <a:fillRect t="-4000" b="-20000"/>
                </a:stretch>
              </a:blipFill>
            </p:spPr>
            <p:txBody>
              <a:bodyPr/>
              <a:lstStyle/>
              <a:p>
                <a:r>
                  <a:rPr lang="en-US">
                    <a:noFill/>
                  </a:rPr>
                  <a:t> </a:t>
                </a:r>
              </a:p>
            </p:txBody>
          </p:sp>
        </mc:Fallback>
      </mc:AlternateContent>
      <p:sp>
        <p:nvSpPr>
          <p:cNvPr id="6" name="Speech Bubble: Rectangle with Corners Rounded 5">
            <a:extLst>
              <a:ext uri="{FF2B5EF4-FFF2-40B4-BE49-F238E27FC236}">
                <a16:creationId xmlns:a16="http://schemas.microsoft.com/office/drawing/2014/main" id="{C4A1D900-BB11-07B0-E2D8-31AC1D55EED5}"/>
              </a:ext>
            </a:extLst>
          </p:cNvPr>
          <p:cNvSpPr/>
          <p:nvPr/>
        </p:nvSpPr>
        <p:spPr>
          <a:xfrm>
            <a:off x="9615214" y="4809849"/>
            <a:ext cx="2400886" cy="1176997"/>
          </a:xfrm>
          <a:prstGeom prst="wedgeRoundRectCallout">
            <a:avLst>
              <a:gd name="adj1" fmla="val -121115"/>
              <a:gd name="adj2" fmla="val -1671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Remember</a:t>
            </a:r>
            <a:r>
              <a:rPr lang="en-US" sz="1200" dirty="0"/>
              <a:t>: Squared errors have useful mathematical and statistical properties that make learning and optimization easier and more effective.</a:t>
            </a:r>
          </a:p>
        </p:txBody>
      </p:sp>
    </p:spTree>
    <p:extLst>
      <p:ext uri="{BB962C8B-B14F-4D97-AF65-F5344CB8AC3E}">
        <p14:creationId xmlns:p14="http://schemas.microsoft.com/office/powerpoint/2010/main" val="414430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4" grpId="0"/>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D405-90D9-24C7-33C4-54C5D87B5324}"/>
              </a:ext>
            </a:extLst>
          </p:cNvPr>
          <p:cNvSpPr>
            <a:spLocks noGrp="1"/>
          </p:cNvSpPr>
          <p:nvPr>
            <p:ph type="title"/>
          </p:nvPr>
        </p:nvSpPr>
        <p:spPr/>
        <p:txBody>
          <a:bodyPr/>
          <a:lstStyle/>
          <a:p>
            <a:r>
              <a:rPr lang="en-US" dirty="0"/>
              <a:t>Learning Goal</a:t>
            </a:r>
          </a:p>
        </p:txBody>
      </p:sp>
      <mc:AlternateContent xmlns:mc="http://schemas.openxmlformats.org/markup-compatibility/2006" xmlns:a14="http://schemas.microsoft.com/office/drawing/2010/main">
        <mc:Choice Requires="a14">
          <p:sp>
            <p:nvSpPr>
              <p:cNvPr id="3" name="Content Placeholder 2" descr="Find the parameter vector w star that leads to the smallest error (the global optimum): VE bar (w star) is less than or equal to VE bar (w) for all w. Local optima: Often, we will only find a local optimum where the equation above only holds for w in a small neighborhood around w star . Note: Policies converge typically way before the value function converges so finding the global optimal value function may not be necessary. Convergence: Convergence to the global or a local optimum depends on the used approximation and the learning method. We will discuss this for each method. Bias: Different approximation methods have different bias (are not able to represent the true value function)">
                <a:extLst>
                  <a:ext uri="{FF2B5EF4-FFF2-40B4-BE49-F238E27FC236}">
                    <a16:creationId xmlns:a16="http://schemas.microsoft.com/office/drawing/2014/main" id="{CF9CFE80-0730-DB79-FA4E-3D388C1A58F9}"/>
                  </a:ext>
                </a:extLst>
              </p:cNvPr>
              <p:cNvSpPr>
                <a:spLocks noGrp="1"/>
              </p:cNvSpPr>
              <p:nvPr>
                <p:ph idx="1"/>
              </p:nvPr>
            </p:nvSpPr>
            <p:spPr/>
            <p:txBody>
              <a:bodyPr>
                <a:normAutofit fontScale="77500" lnSpcReduction="20000"/>
              </a:bodyPr>
              <a:lstStyle/>
              <a:p>
                <a:r>
                  <a:rPr lang="en-US" dirty="0"/>
                  <a:t>Find the parameter vector </a:t>
                </a:r>
                <a14:m>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𝒘</m:t>
                        </m:r>
                      </m:e>
                      <m:sup>
                        <m:r>
                          <a:rPr lang="en-US" i="1">
                            <a:latin typeface="Cambria Math" panose="02040503050406030204" pitchFamily="18" charset="0"/>
                          </a:rPr>
                          <m:t>∗</m:t>
                        </m:r>
                      </m:sup>
                    </m:sSup>
                  </m:oMath>
                </a14:m>
                <a:r>
                  <a:rPr lang="en-US" b="1" dirty="0"/>
                  <a:t> </a:t>
                </a:r>
                <a:r>
                  <a:rPr lang="en-US" dirty="0"/>
                  <a:t>that</a:t>
                </a:r>
                <a:r>
                  <a:rPr lang="en-US" b="1" dirty="0"/>
                  <a:t> </a:t>
                </a:r>
                <a:r>
                  <a:rPr lang="en-US" dirty="0"/>
                  <a:t>leads to the smallest error (the global optimum):</a:t>
                </a:r>
                <a:br>
                  <a:rPr lang="en-US" dirty="0"/>
                </a:br>
                <a:br>
                  <a:rPr lang="en-US" dirty="0"/>
                </a:b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𝑉𝐸</m:t>
                        </m:r>
                      </m:e>
                    </m:acc>
                    <m:d>
                      <m:dPr>
                        <m:ctrlPr>
                          <a:rPr lang="en-US" b="1" i="1">
                            <a:latin typeface="Cambria Math" panose="02040503050406030204" pitchFamily="18" charset="0"/>
                          </a:rPr>
                        </m:ctrlPr>
                      </m:dPr>
                      <m:e>
                        <m:sSup>
                          <m:sSupPr>
                            <m:ctrlPr>
                              <a:rPr lang="en-US" b="1" i="1">
                                <a:latin typeface="Cambria Math" panose="02040503050406030204" pitchFamily="18" charset="0"/>
                              </a:rPr>
                            </m:ctrlPr>
                          </m:sSupPr>
                          <m:e>
                            <m:r>
                              <a:rPr lang="en-US" b="1" i="1">
                                <a:latin typeface="Cambria Math" panose="02040503050406030204" pitchFamily="18" charset="0"/>
                              </a:rPr>
                              <m:t>𝒘</m:t>
                            </m:r>
                          </m:e>
                          <m:sup>
                            <m:r>
                              <a:rPr lang="en-US" i="1">
                                <a:latin typeface="Cambria Math" panose="02040503050406030204" pitchFamily="18" charset="0"/>
                              </a:rPr>
                              <m:t>∗</m:t>
                            </m:r>
                          </m:sup>
                        </m:sSup>
                      </m:e>
                    </m:d>
                    <m:r>
                      <a:rPr lang="en-US" b="1" i="1"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𝑉𝐸</m:t>
                        </m:r>
                      </m:e>
                    </m:acc>
                    <m:d>
                      <m:dPr>
                        <m:ctrlPr>
                          <a:rPr lang="en-US" b="1" i="1" smtClean="0">
                            <a:latin typeface="Cambria Math" panose="02040503050406030204" pitchFamily="18" charset="0"/>
                          </a:rPr>
                        </m:ctrlPr>
                      </m:dPr>
                      <m:e>
                        <m:r>
                          <a:rPr lang="en-US" b="1" i="1" smtClean="0">
                            <a:latin typeface="Cambria Math" panose="02040503050406030204" pitchFamily="18" charset="0"/>
                          </a:rPr>
                          <m:t>𝒘</m:t>
                        </m:r>
                      </m:e>
                    </m:d>
                    <m:r>
                      <a:rPr lang="en-US" b="1" i="1" smtClean="0">
                        <a:latin typeface="Cambria Math" panose="02040503050406030204" pitchFamily="18" charset="0"/>
                      </a:rPr>
                      <m:t>        </m:t>
                    </m:r>
                    <m:r>
                      <a:rPr lang="en-US" b="0" i="1" smtClean="0">
                        <a:latin typeface="Cambria Math" panose="02040503050406030204" pitchFamily="18" charset="0"/>
                      </a:rPr>
                      <m:t>∀</m:t>
                    </m:r>
                    <m:r>
                      <a:rPr lang="en-US" b="1" i="1" smtClean="0">
                        <a:latin typeface="Cambria Math" panose="02040503050406030204" pitchFamily="18" charset="0"/>
                      </a:rPr>
                      <m:t> </m:t>
                    </m:r>
                    <m:r>
                      <a:rPr lang="en-US" b="1" i="1" smtClean="0">
                        <a:latin typeface="Cambria Math" panose="02040503050406030204" pitchFamily="18" charset="0"/>
                      </a:rPr>
                      <m:t>𝒘</m:t>
                    </m:r>
                  </m:oMath>
                </a14:m>
                <a:endParaRPr lang="en-US" b="1" dirty="0"/>
              </a:p>
              <a:p>
                <a:endParaRPr lang="en-US" b="1" dirty="0"/>
              </a:p>
              <a:p>
                <a:endParaRPr lang="en-US" b="1" dirty="0"/>
              </a:p>
              <a:p>
                <a:r>
                  <a:rPr lang="en-US" b="1" dirty="0"/>
                  <a:t>Local optima</a:t>
                </a:r>
                <a:r>
                  <a:rPr lang="en-US" dirty="0"/>
                  <a:t>: Often, we will only find a local optimum where the equation above only holds for </a:t>
                </a:r>
                <a14:m>
                  <m:oMath xmlns:m="http://schemas.openxmlformats.org/officeDocument/2006/math">
                    <m:r>
                      <a:rPr lang="en-US" b="1" i="1" smtClean="0">
                        <a:latin typeface="Cambria Math" panose="02040503050406030204" pitchFamily="18" charset="0"/>
                      </a:rPr>
                      <m:t>𝒘</m:t>
                    </m:r>
                    <m:r>
                      <a:rPr lang="en-US" i="1">
                        <a:latin typeface="Cambria Math" panose="02040503050406030204" pitchFamily="18" charset="0"/>
                      </a:rPr>
                      <m:t> </m:t>
                    </m:r>
                  </m:oMath>
                </a14:m>
                <a:r>
                  <a:rPr lang="en-US" dirty="0"/>
                  <a:t>in a small neighborhood around </a:t>
                </a:r>
                <a14:m>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𝒘</m:t>
                        </m:r>
                      </m:e>
                      <m:sup>
                        <m:r>
                          <a:rPr lang="en-US" i="1">
                            <a:latin typeface="Cambria Math" panose="02040503050406030204" pitchFamily="18" charset="0"/>
                          </a:rPr>
                          <m:t>∗</m:t>
                        </m:r>
                      </m:sup>
                    </m:sSup>
                  </m:oMath>
                </a14:m>
                <a:r>
                  <a:rPr lang="en-US" dirty="0"/>
                  <a:t>. </a:t>
                </a:r>
                <a:br>
                  <a:rPr lang="en-US" dirty="0"/>
                </a:br>
                <a:br>
                  <a:rPr lang="en-US" dirty="0"/>
                </a:br>
                <a:r>
                  <a:rPr lang="en-US" b="1" dirty="0"/>
                  <a:t>Note</a:t>
                </a:r>
                <a:r>
                  <a:rPr lang="en-US" dirty="0"/>
                  <a:t>: Policies converge typically way before the value function converges, so finding the global optimal value function may not be necessary.</a:t>
                </a:r>
              </a:p>
              <a:p>
                <a:endParaRPr lang="en-US" dirty="0"/>
              </a:p>
              <a:p>
                <a:r>
                  <a:rPr lang="en-US" b="1" dirty="0"/>
                  <a:t>Convergence</a:t>
                </a:r>
                <a:r>
                  <a:rPr lang="en-US" dirty="0"/>
                  <a:t>: Convergence to the global or a local optimum depends on the used approximation and the learning method. We will discuss this for each method.</a:t>
                </a:r>
              </a:p>
              <a:p>
                <a:r>
                  <a:rPr lang="en-US" b="1" dirty="0"/>
                  <a:t>Bias</a:t>
                </a:r>
                <a:r>
                  <a:rPr lang="en-US" dirty="0"/>
                  <a:t>: Different approximation methods have different bias (=are not able to represent the true value function).</a:t>
                </a:r>
                <a:br>
                  <a:rPr lang="en-US" dirty="0"/>
                </a:br>
                <a:endParaRPr lang="en-US" dirty="0"/>
              </a:p>
            </p:txBody>
          </p:sp>
        </mc:Choice>
        <mc:Fallback xmlns="">
          <p:sp>
            <p:nvSpPr>
              <p:cNvPr id="3" name="Content Placeholder 2" descr="Find the parameter vector w star that leads to the smallest error (the global optimum): VE bar (w star) is less than or equal to VE bar (w) for all w. Local optima: Often, we will only find a local optimum where the equation above only holds for w in a small neighborhood around w star . Note: Policies converge typically way before the value function converges so finding the global optimal value function may not be necessary. Convergence: Convergence to the global or a local optimum depends on the used approximation and the learning method. We will discuss this for each method. Bias: Different approximation methods have different bias (are not able to represent the true value function)">
                <a:extLst>
                  <a:ext uri="{FF2B5EF4-FFF2-40B4-BE49-F238E27FC236}">
                    <a16:creationId xmlns:a16="http://schemas.microsoft.com/office/drawing/2014/main" id="{CF9CFE80-0730-DB79-FA4E-3D388C1A58F9}"/>
                  </a:ext>
                </a:extLst>
              </p:cNvPr>
              <p:cNvSpPr>
                <a:spLocks noGrp="1" noRot="1" noChangeAspect="1" noMove="1" noResize="1" noEditPoints="1" noAdjustHandles="1" noChangeArrowheads="1" noChangeShapeType="1" noTextEdit="1"/>
              </p:cNvSpPr>
              <p:nvPr>
                <p:ph idx="1"/>
              </p:nvPr>
            </p:nvSpPr>
            <p:spPr>
              <a:blipFill>
                <a:blip r:embed="rId2"/>
                <a:stretch>
                  <a:fillRect l="-696" t="-2551" r="-1101"/>
                </a:stretch>
              </a:blipFill>
            </p:spPr>
            <p:txBody>
              <a:bodyPr/>
              <a:lstStyle/>
              <a:p>
                <a:r>
                  <a:rPr lang="en-US">
                    <a:noFill/>
                  </a:rPr>
                  <a:t> </a:t>
                </a:r>
              </a:p>
            </p:txBody>
          </p:sp>
        </mc:Fallback>
      </mc:AlternateContent>
    </p:spTree>
    <p:extLst>
      <p:ext uri="{BB962C8B-B14F-4D97-AF65-F5344CB8AC3E}">
        <p14:creationId xmlns:p14="http://schemas.microsoft.com/office/powerpoint/2010/main" val="3691699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F2A783-50BF-C7E8-BE3C-FC01578518D2}"/>
              </a:ext>
            </a:extLst>
          </p:cNvPr>
          <p:cNvSpPr>
            <a:spLocks noGrp="1"/>
          </p:cNvSpPr>
          <p:nvPr>
            <p:ph type="title"/>
          </p:nvPr>
        </p:nvSpPr>
        <p:spPr/>
        <p:txBody>
          <a:bodyPr/>
          <a:lstStyle/>
          <a:p>
            <a:r>
              <a:rPr lang="en-US" dirty="0"/>
              <a:t>Gradient Methods for Prediction</a:t>
            </a:r>
          </a:p>
        </p:txBody>
      </p:sp>
      <p:sp>
        <p:nvSpPr>
          <p:cNvPr id="5" name="Text Placeholder 4">
            <a:extLst>
              <a:ext uri="{FF2B5EF4-FFF2-40B4-BE49-F238E27FC236}">
                <a16:creationId xmlns:a16="http://schemas.microsoft.com/office/drawing/2014/main" id="{A7EF6370-86D1-9264-5816-F21882AD1F8B}"/>
              </a:ext>
              <a:ext uri="{C183D7F6-B498-43B3-948B-1728B52AA6E4}">
                <adec:decorative xmlns:adec="http://schemas.microsoft.com/office/drawing/2017/decorative" val="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55007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4BBCF-186E-BC4F-CAA3-DBB46E3E57A9}"/>
              </a:ext>
            </a:extLst>
          </p:cNvPr>
          <p:cNvSpPr>
            <a:spLocks noGrp="1"/>
          </p:cNvSpPr>
          <p:nvPr>
            <p:ph type="title"/>
          </p:nvPr>
        </p:nvSpPr>
        <p:spPr/>
        <p:txBody>
          <a:bodyPr/>
          <a:lstStyle/>
          <a:p>
            <a:r>
              <a:rPr lang="en-US" dirty="0"/>
              <a:t>Gradient Learning Method</a:t>
            </a:r>
          </a:p>
        </p:txBody>
      </p:sp>
      <mc:AlternateContent xmlns:mc="http://schemas.openxmlformats.org/markup-compatibility/2006" xmlns:a14="http://schemas.microsoft.com/office/drawing/2010/main">
        <mc:Choice Requires="a14">
          <p:sp>
            <p:nvSpPr>
              <p:cNvPr id="3" name="Content Placeholder 2" descr="Setup. For a given policy pi, learn an approximation v hat (s,w) is approximately v sub pi. We use w is defined as (w sub 1,w sub 2, dot dot dot,w sub d) transpose. C hoose v hat (s,w) as a differentiable function of w for all s in S. Learning. We sample following pi, and observe at each discrete time step t equals 0, 1, 2, 3, dot dot dot a new example S sub t maps to v sub pi (S sub t) . Update w to reduce VE bar . I.e., make v hat (s,w) more similar to v sub pi . Note that the samples automatically follow the distribution mu for pi">
                <a:extLst>
                  <a:ext uri="{FF2B5EF4-FFF2-40B4-BE49-F238E27FC236}">
                    <a16:creationId xmlns:a16="http://schemas.microsoft.com/office/drawing/2014/main" id="{429671F6-58E1-5895-8D89-7778F6212AA2}"/>
                  </a:ext>
                </a:extLst>
              </p:cNvPr>
              <p:cNvSpPr>
                <a:spLocks noGrp="1"/>
              </p:cNvSpPr>
              <p:nvPr>
                <p:ph idx="1"/>
              </p:nvPr>
            </p:nvSpPr>
            <p:spPr>
              <a:xfrm>
                <a:off x="838200" y="1397330"/>
                <a:ext cx="10515600" cy="4164021"/>
              </a:xfrm>
            </p:spPr>
            <p:txBody>
              <a:bodyPr>
                <a:normAutofit fontScale="92500" lnSpcReduction="20000"/>
              </a:bodyPr>
              <a:lstStyle/>
              <a:p>
                <a:pPr marL="0" indent="0">
                  <a:buNone/>
                </a:pPr>
                <a:r>
                  <a:rPr lang="en-US" b="1" dirty="0"/>
                  <a:t>Setup</a:t>
                </a:r>
              </a:p>
              <a:p>
                <a:pPr lvl="1"/>
                <a:r>
                  <a:rPr lang="en-US" dirty="0"/>
                  <a:t>For a given policy </a:t>
                </a:r>
                <a14:m>
                  <m:oMath xmlns:m="http://schemas.openxmlformats.org/officeDocument/2006/math">
                    <m:r>
                      <a:rPr lang="en-US" b="0" i="1" smtClean="0">
                        <a:latin typeface="Cambria Math" panose="02040503050406030204" pitchFamily="18" charset="0"/>
                      </a:rPr>
                      <m:t>𝜋</m:t>
                    </m:r>
                  </m:oMath>
                </a14:m>
                <a:r>
                  <a:rPr lang="en-US" dirty="0"/>
                  <a:t>, learn an approximation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𝒘</m:t>
                        </m:r>
                      </m:e>
                    </m:d>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𝜋</m:t>
                        </m:r>
                      </m:sub>
                    </m:sSub>
                  </m:oMath>
                </a14:m>
                <a:endParaRPr lang="en-US" dirty="0"/>
              </a:p>
              <a:p>
                <a:pPr lvl="1"/>
                <a:r>
                  <a:rPr lang="en-US" dirty="0"/>
                  <a:t>We use </a:t>
                </a:r>
                <a14:m>
                  <m:oMath xmlns:m="http://schemas.openxmlformats.org/officeDocument/2006/math">
                    <m:r>
                      <a:rPr lang="en-US" b="1" i="1">
                        <a:latin typeface="Cambria Math" panose="02040503050406030204" pitchFamily="18" charset="0"/>
                      </a:rPr>
                      <m:t>𝒘</m:t>
                    </m:r>
                    <m:r>
                      <a:rPr lang="en-US" b="1" i="1">
                        <a:latin typeface="Cambria Math" panose="02040503050406030204" pitchFamily="18" charset="0"/>
                      </a:rPr>
                      <m:t>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𝑑</m:t>
                            </m:r>
                          </m:sub>
                        </m:sSub>
                      </m:e>
                    </m:d>
                  </m:oMath>
                </a14:m>
                <a:endParaRPr lang="en-US" dirty="0"/>
              </a:p>
              <a:p>
                <a:pPr lvl="1"/>
                <a:r>
                  <a:rPr lang="en-US" dirty="0"/>
                  <a:t>C</a:t>
                </a:r>
                <a14:m>
                  <m:oMath xmlns:m="http://schemas.openxmlformats.org/officeDocument/2006/math">
                    <m:r>
                      <m:rPr>
                        <m:sty m:val="p"/>
                      </m:rPr>
                      <a:rPr lang="en-US" b="0" i="0" smtClean="0">
                        <a:latin typeface="Cambria Math" panose="02040503050406030204" pitchFamily="18" charset="0"/>
                      </a:rPr>
                      <m:t>hoo</m:t>
                    </m:r>
                    <m:r>
                      <a:rPr lang="en-US" b="0" i="1" smtClean="0">
                        <a:latin typeface="Cambria Math" panose="02040503050406030204" pitchFamily="18" charset="0"/>
                      </a:rPr>
                      <m:t>𝑠𝑒</m:t>
                    </m:r>
                    <m:r>
                      <a:rPr lang="en-US" b="0" i="1"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𝒘</m:t>
                        </m:r>
                      </m:e>
                    </m:d>
                  </m:oMath>
                </a14:m>
                <a:r>
                  <a:rPr lang="en-US" dirty="0"/>
                  <a:t> as a </a:t>
                </a:r>
                <a:r>
                  <a:rPr lang="en-US" b="1" dirty="0"/>
                  <a:t>differentiable function </a:t>
                </a:r>
                <a:r>
                  <a:rPr lang="en-US" dirty="0"/>
                  <a:t>of </a:t>
                </a:r>
                <a14:m>
                  <m:oMath xmlns:m="http://schemas.openxmlformats.org/officeDocument/2006/math">
                    <m:r>
                      <a:rPr lang="en-US" b="1" i="1" smtClean="0">
                        <a:latin typeface="Cambria Math" panose="02040503050406030204" pitchFamily="18" charset="0"/>
                      </a:rPr>
                      <m:t>𝒘</m:t>
                    </m:r>
                  </m:oMath>
                </a14:m>
                <a:r>
                  <a:rPr lang="en-US" dirty="0"/>
                  <a:t> for all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oMath>
                </a14:m>
                <a:endParaRPr lang="en-US" b="0" dirty="0">
                  <a:ea typeface="Cambria Math" panose="02040503050406030204" pitchFamily="18" charset="0"/>
                </a:endParaRPr>
              </a:p>
              <a:p>
                <a:endParaRPr lang="en-US" dirty="0"/>
              </a:p>
              <a:p>
                <a:pPr marL="0" indent="0">
                  <a:buNone/>
                </a:pPr>
                <a:r>
                  <a:rPr lang="en-US" b="1" dirty="0"/>
                  <a:t>Learning</a:t>
                </a:r>
              </a:p>
              <a:p>
                <a:pPr lvl="1"/>
                <a:r>
                  <a:rPr lang="en-US" dirty="0"/>
                  <a:t>We sample following </a:t>
                </a:r>
                <a14:m>
                  <m:oMath xmlns:m="http://schemas.openxmlformats.org/officeDocument/2006/math">
                    <m:r>
                      <a:rPr lang="en-US" b="0" i="1" smtClean="0">
                        <a:latin typeface="Cambria Math" panose="02040503050406030204" pitchFamily="18" charset="0"/>
                      </a:rPr>
                      <m:t>𝜋</m:t>
                    </m:r>
                  </m:oMath>
                </a14:m>
                <a:r>
                  <a:rPr lang="en-US" dirty="0"/>
                  <a:t>, and observe at each discrete time step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=0, 1, 2, 3, … </m:t>
                    </m:r>
                  </m:oMath>
                </a14:m>
                <a:br>
                  <a:rPr lang="en-US" dirty="0"/>
                </a:br>
                <a:r>
                  <a:rPr lang="en-US" dirty="0"/>
                  <a:t>a new example </a:t>
                </a:r>
                <a:br>
                  <a:rPr lang="en-US" dirty="0"/>
                </a:br>
                <a:br>
                  <a:rPr lang="en-US" b="0" i="1" dirty="0">
                    <a:latin typeface="Cambria Math" panose="02040503050406030204" pitchFamily="18" charset="0"/>
                  </a:rPr>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𝜋</m:t>
                        </m:r>
                      </m:sub>
                    </m:sSub>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𝑡</m:t>
                            </m:r>
                          </m:sub>
                        </m:sSub>
                      </m:e>
                    </m:d>
                    <m:r>
                      <a:rPr lang="en-US" b="0" i="1" smtClean="0">
                        <a:latin typeface="Cambria Math" panose="02040503050406030204" pitchFamily="18" charset="0"/>
                        <a:ea typeface="Cambria Math" panose="02040503050406030204" pitchFamily="18" charset="0"/>
                      </a:rPr>
                      <m:t>.</m:t>
                    </m:r>
                  </m:oMath>
                </a14:m>
                <a:br>
                  <a:rPr lang="en-US" b="0" i="1" dirty="0">
                    <a:latin typeface="Cambria Math" panose="02040503050406030204" pitchFamily="18" charset="0"/>
                    <a:ea typeface="Cambria Math" panose="02040503050406030204" pitchFamily="18" charset="0"/>
                  </a:rPr>
                </a:br>
                <a:endParaRPr lang="en-US" dirty="0"/>
              </a:p>
              <a:p>
                <a:pPr lvl="1"/>
                <a:endParaRPr lang="en-US" dirty="0"/>
              </a:p>
              <a:p>
                <a:pPr lvl="1"/>
                <a:r>
                  <a:rPr lang="en-US" b="1" dirty="0"/>
                  <a:t>Update</a:t>
                </a:r>
                <a:r>
                  <a:rPr lang="en-US" dirty="0"/>
                  <a:t> </a:t>
                </a:r>
                <a14:m>
                  <m:oMath xmlns:m="http://schemas.openxmlformats.org/officeDocument/2006/math">
                    <m:r>
                      <a:rPr lang="en-US" b="1" i="1">
                        <a:latin typeface="Cambria Math" panose="02040503050406030204" pitchFamily="18" charset="0"/>
                      </a:rPr>
                      <m:t>𝒘</m:t>
                    </m:r>
                  </m:oMath>
                </a14:m>
                <a:r>
                  <a:rPr lang="en-US" dirty="0"/>
                  <a:t> to reduce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𝑉𝐸</m:t>
                        </m:r>
                      </m:e>
                    </m:acc>
                  </m:oMath>
                </a14:m>
                <a:r>
                  <a:rPr lang="en-US" dirty="0"/>
                  <a:t>. I.e., make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𝒘</m:t>
                        </m:r>
                      </m:e>
                    </m:d>
                  </m:oMath>
                </a14:m>
                <a:r>
                  <a:rPr lang="en-US" dirty="0"/>
                  <a:t> more similar to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𝜋</m:t>
                        </m:r>
                      </m:sub>
                    </m:sSub>
                  </m:oMath>
                </a14:m>
                <a:r>
                  <a:rPr lang="en-US" dirty="0"/>
                  <a:t>.</a:t>
                </a:r>
                <a:br>
                  <a:rPr lang="en-US" dirty="0"/>
                </a:br>
                <a:r>
                  <a:rPr lang="en-US" dirty="0"/>
                  <a:t>Note that the samples automatically follow the correct distribution </a:t>
                </a:r>
                <a14:m>
                  <m:oMath xmlns:m="http://schemas.openxmlformats.org/officeDocument/2006/math">
                    <m:r>
                      <a:rPr lang="en-US" b="0" i="1" smtClean="0">
                        <a:latin typeface="Cambria Math" panose="02040503050406030204" pitchFamily="18" charset="0"/>
                      </a:rPr>
                      <m:t>𝜇</m:t>
                    </m:r>
                  </m:oMath>
                </a14:m>
                <a:r>
                  <a:rPr lang="en-US" dirty="0"/>
                  <a:t> for </a:t>
                </a:r>
                <a14:m>
                  <m:oMath xmlns:m="http://schemas.openxmlformats.org/officeDocument/2006/math">
                    <m:r>
                      <a:rPr lang="en-US" b="0" i="1" smtClean="0">
                        <a:latin typeface="Cambria Math" panose="02040503050406030204" pitchFamily="18" charset="0"/>
                      </a:rPr>
                      <m:t>𝜋</m:t>
                    </m:r>
                  </m:oMath>
                </a14:m>
                <a:r>
                  <a:rPr lang="en-US" dirty="0"/>
                  <a:t>.</a:t>
                </a:r>
              </a:p>
              <a:p>
                <a:endParaRPr lang="en-US" dirty="0"/>
              </a:p>
            </p:txBody>
          </p:sp>
        </mc:Choice>
        <mc:Fallback xmlns="">
          <p:sp>
            <p:nvSpPr>
              <p:cNvPr id="3" name="Content Placeholder 2" descr="Setup. For a given policy pi, learn an approximation v hat (s,w) is approximately v sub pi. We use w is defined as (w sub 1,w sub 2, dot dot dot,w sub d) transpose. C hoose v hat (s,w) as a differentiable function of w for all s in S. Learning. We sample following pi, and observe at each discrete time step t equals 0, 1, 2, 3, dot dot dot a new example S sub t maps to v sub pi (S sub t) . Update w to reduce VE bar . I.e., make v hat (s,w) more similar to v sub pi . Note that the samples automatically follow the distribution mu for pi">
                <a:extLst>
                  <a:ext uri="{FF2B5EF4-FFF2-40B4-BE49-F238E27FC236}">
                    <a16:creationId xmlns:a16="http://schemas.microsoft.com/office/drawing/2014/main" id="{429671F6-58E1-5895-8D89-7778F6212AA2}"/>
                  </a:ext>
                </a:extLst>
              </p:cNvPr>
              <p:cNvSpPr>
                <a:spLocks noGrp="1" noRot="1" noChangeAspect="1" noMove="1" noResize="1" noEditPoints="1" noAdjustHandles="1" noChangeArrowheads="1" noChangeShapeType="1" noTextEdit="1"/>
              </p:cNvSpPr>
              <p:nvPr>
                <p:ph idx="1"/>
              </p:nvPr>
            </p:nvSpPr>
            <p:spPr>
              <a:xfrm>
                <a:off x="838200" y="1397330"/>
                <a:ext cx="10515600" cy="4164021"/>
              </a:xfrm>
              <a:blipFill>
                <a:blip r:embed="rId2"/>
                <a:stretch>
                  <a:fillRect l="-1043" t="-3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Speech Bubble: Rectangle with Corners Rounded 3" descr="For now, we assume that we can assess the correct v sub pi (S sub t)">
                <a:extLst>
                  <a:ext uri="{FF2B5EF4-FFF2-40B4-BE49-F238E27FC236}">
                    <a16:creationId xmlns:a16="http://schemas.microsoft.com/office/drawing/2014/main" id="{AB49CAFC-1028-608B-EC85-51F22C5CF030}"/>
                  </a:ext>
                </a:extLst>
              </p:cNvPr>
              <p:cNvSpPr/>
              <p:nvPr/>
            </p:nvSpPr>
            <p:spPr>
              <a:xfrm>
                <a:off x="7958528" y="3837482"/>
                <a:ext cx="3395272" cy="759072"/>
              </a:xfrm>
              <a:prstGeom prst="wedgeRoundRectCallout">
                <a:avLst>
                  <a:gd name="adj1" fmla="val -91983"/>
                  <a:gd name="adj2" fmla="val 325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For now, we assume that we can assess the correct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𝜋</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oMath>
                </a14:m>
                <a:endParaRPr lang="en-US" dirty="0"/>
              </a:p>
            </p:txBody>
          </p:sp>
        </mc:Choice>
        <mc:Fallback xmlns="">
          <p:sp>
            <p:nvSpPr>
              <p:cNvPr id="4" name="Speech Bubble: Rectangle with Corners Rounded 3" descr="For now, we assume that we can assess the correct v sub pi (S sub t)">
                <a:extLst>
                  <a:ext uri="{FF2B5EF4-FFF2-40B4-BE49-F238E27FC236}">
                    <a16:creationId xmlns:a16="http://schemas.microsoft.com/office/drawing/2014/main" id="{AB49CAFC-1028-608B-EC85-51F22C5CF030}"/>
                  </a:ext>
                </a:extLst>
              </p:cNvPr>
              <p:cNvSpPr>
                <a:spLocks noRot="1" noChangeAspect="1" noMove="1" noResize="1" noEditPoints="1" noAdjustHandles="1" noChangeArrowheads="1" noChangeShapeType="1" noTextEdit="1"/>
              </p:cNvSpPr>
              <p:nvPr/>
            </p:nvSpPr>
            <p:spPr>
              <a:xfrm>
                <a:off x="7958528" y="3837482"/>
                <a:ext cx="3395272" cy="759072"/>
              </a:xfrm>
              <a:prstGeom prst="wedgeRoundRectCallout">
                <a:avLst>
                  <a:gd name="adj1" fmla="val -91983"/>
                  <a:gd name="adj2" fmla="val 3255"/>
                  <a:gd name="adj3" fmla="val 16667"/>
                </a:avLst>
              </a:prstGeom>
              <a:blipFill>
                <a:blip r:embed="rId3"/>
                <a:stretch>
                  <a:fillRect b="-39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descr="Equation: VE bar is defined as the sum over s in S, of mu (s) [v sub pi minus v hat (s,w)] squared">
                <a:extLst>
                  <a:ext uri="{FF2B5EF4-FFF2-40B4-BE49-F238E27FC236}">
                    <a16:creationId xmlns:a16="http://schemas.microsoft.com/office/drawing/2014/main" id="{B382737A-0856-8EC8-DC5F-DBE97B7A043F}"/>
                  </a:ext>
                </a:extLst>
              </p:cNvPr>
              <p:cNvSpPr txBox="1"/>
              <p:nvPr/>
            </p:nvSpPr>
            <p:spPr>
              <a:xfrm>
                <a:off x="4090441" y="5535621"/>
                <a:ext cx="3419631" cy="76450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𝑉𝐸</m:t>
                          </m:r>
                        </m:e>
                      </m:acc>
                      <m:r>
                        <a:rPr lang="en-US"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r>
                            <a:rPr lang="en-US" b="0" i="1" smtClean="0">
                              <a:latin typeface="Cambria Math" panose="02040503050406030204" pitchFamily="18" charset="0"/>
                              <a:ea typeface="Cambria Math" panose="02040503050406030204" pitchFamily="18" charset="0"/>
                            </a:rPr>
                            <m:t> </m:t>
                          </m:r>
                        </m:sub>
                        <m:sup/>
                        <m:e>
                          <m:r>
                            <a:rPr lang="en-US" b="0" i="1" smtClean="0">
                              <a:latin typeface="Cambria Math" panose="02040503050406030204" pitchFamily="18" charset="0"/>
                            </a:rPr>
                            <m:t>𝜇</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𝒘</m:t>
                                      </m:r>
                                    </m:e>
                                  </m:d>
                                </m:e>
                              </m:d>
                            </m:e>
                            <m:sup>
                              <m:r>
                                <a:rPr lang="en-US" b="0" i="1" smtClean="0">
                                  <a:latin typeface="Cambria Math" panose="02040503050406030204" pitchFamily="18" charset="0"/>
                                </a:rPr>
                                <m:t>2</m:t>
                              </m:r>
                            </m:sup>
                          </m:sSup>
                        </m:e>
                      </m:nary>
                    </m:oMath>
                  </m:oMathPara>
                </a14:m>
                <a:endParaRPr lang="en-US" dirty="0"/>
              </a:p>
            </p:txBody>
          </p:sp>
        </mc:Choice>
        <mc:Fallback xmlns="">
          <p:sp>
            <p:nvSpPr>
              <p:cNvPr id="6" name="TextBox 5" descr="Equation: VE bar is defined as the sum over s in S, of mu (s) [v sub pi minus v hat (s,w)] squared">
                <a:extLst>
                  <a:ext uri="{FF2B5EF4-FFF2-40B4-BE49-F238E27FC236}">
                    <a16:creationId xmlns:a16="http://schemas.microsoft.com/office/drawing/2014/main" id="{B382737A-0856-8EC8-DC5F-DBE97B7A043F}"/>
                  </a:ext>
                </a:extLst>
              </p:cNvPr>
              <p:cNvSpPr txBox="1">
                <a:spLocks noRot="1" noChangeAspect="1" noMove="1" noResize="1" noEditPoints="1" noAdjustHandles="1" noChangeArrowheads="1" noChangeShapeType="1" noTextEdit="1"/>
              </p:cNvSpPr>
              <p:nvPr/>
            </p:nvSpPr>
            <p:spPr>
              <a:xfrm>
                <a:off x="4090441" y="5535621"/>
                <a:ext cx="3419631" cy="76450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6471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4791A-2065-2469-FCF2-F9E719EFE922}"/>
              </a:ext>
            </a:extLst>
          </p:cNvPr>
          <p:cNvSpPr>
            <a:spLocks noGrp="1"/>
          </p:cNvSpPr>
          <p:nvPr>
            <p:ph type="title"/>
          </p:nvPr>
        </p:nvSpPr>
        <p:spPr/>
        <p:txBody>
          <a:bodyPr/>
          <a:lstStyle/>
          <a:p>
            <a:r>
              <a:rPr lang="en-US" dirty="0"/>
              <a:t>SGD: Stochastic-Gradient Descend</a:t>
            </a:r>
          </a:p>
        </p:txBody>
      </p:sp>
      <mc:AlternateContent xmlns:mc="http://schemas.openxmlformats.org/markup-compatibility/2006" xmlns:a14="http://schemas.microsoft.com/office/drawing/2010/main">
        <mc:Choice Requires="a14">
          <p:sp>
            <p:nvSpPr>
              <p:cNvPr id="3" name="Content Placeholder 2" descr="Minimize VE bar is defined as the sum over s in S, of mu (s) [v sub pi minus v hat (s,w)] squared by moving w in the direction gradient of VE bar . Definition of the gradient: gradient of f (w) equals (the fraction partial f (w), over partial w sub 1, end fraction, the fraction partial f (w), over partial w sub 2, end fraction, dot dot dot, the fraction partial f (w), over partial w sub d, end fraction) transpose. Update for one observation: S sub t maps to v sub pi (S sub t). w sub t plus 1, equals w sub t minus 1 over 2 alpha gradient of [v sub pi (S sub t) minus v hat (S sub t,w sub t)] squared equals w sub t plus alpha [v sub pi (S sub t) minus v hat (S sub t,w sub t)] gradient of v hat (S sub t,w sub t). Important property of SGD: Only depends on the gradient of the loss function. Does not need the gradient of the unknown value function!. Stochastic: because update is on a single (randomly chosen) example for S sub t . This is why there is no sum in the update. Step size alpha : Since we update towards a sampled value and updates of w for one state will change the value for other states as well, we use many small updates (small value of alpha)">
                <a:extLst>
                  <a:ext uri="{FF2B5EF4-FFF2-40B4-BE49-F238E27FC236}">
                    <a16:creationId xmlns:a16="http://schemas.microsoft.com/office/drawing/2014/main" id="{841FE312-5C26-99AC-5278-403A56057DE9}"/>
                  </a:ext>
                </a:extLst>
              </p:cNvPr>
              <p:cNvSpPr>
                <a:spLocks noGrp="1"/>
              </p:cNvSpPr>
              <p:nvPr>
                <p:ph idx="1"/>
              </p:nvPr>
            </p:nvSpPr>
            <p:spPr>
              <a:xfrm>
                <a:off x="644980" y="1235487"/>
                <a:ext cx="7990742" cy="5010117"/>
              </a:xfrm>
            </p:spPr>
            <p:txBody>
              <a:bodyPr>
                <a:normAutofit fontScale="62500" lnSpcReduction="20000"/>
              </a:bodyPr>
              <a:lstStyle/>
              <a:p>
                <a:pPr marL="0" indent="0">
                  <a:buNone/>
                </a:pPr>
                <a:r>
                  <a:rPr lang="en-US" b="1" dirty="0"/>
                  <a:t>Minimize</a:t>
                </a:r>
                <a:r>
                  <a:rPr lang="en-US"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𝑉𝐸</m:t>
                        </m:r>
                      </m:e>
                    </m:acc>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𝒮</m:t>
                        </m:r>
                        <m:r>
                          <a:rPr lang="en-US" i="1">
                            <a:latin typeface="Cambria Math" panose="02040503050406030204" pitchFamily="18" charset="0"/>
                            <a:ea typeface="Cambria Math" panose="02040503050406030204" pitchFamily="18" charset="0"/>
                          </a:rPr>
                          <m:t> </m:t>
                        </m:r>
                      </m:sub>
                      <m:sup/>
                      <m:e>
                        <m:r>
                          <a:rPr lang="en-US" i="1">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𝑠</m:t>
                            </m:r>
                          </m:e>
                        </m:d>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𝒘</m:t>
                                    </m:r>
                                  </m:e>
                                </m:d>
                              </m:e>
                            </m:d>
                          </m:e>
                          <m:sup>
                            <m:r>
                              <a:rPr lang="en-US" i="1">
                                <a:latin typeface="Cambria Math" panose="02040503050406030204" pitchFamily="18" charset="0"/>
                              </a:rPr>
                              <m:t>2</m:t>
                            </m:r>
                          </m:sup>
                        </m:sSup>
                      </m:e>
                    </m:nary>
                  </m:oMath>
                </a14:m>
                <a:r>
                  <a:rPr lang="en-US" dirty="0"/>
                  <a:t> by moving </a:t>
                </a:r>
                <a14:m>
                  <m:oMath xmlns:m="http://schemas.openxmlformats.org/officeDocument/2006/math">
                    <m:r>
                      <a:rPr lang="en-US" b="1" i="1" smtClean="0">
                        <a:latin typeface="Cambria Math" panose="02040503050406030204" pitchFamily="18" charset="0"/>
                      </a:rPr>
                      <m:t>𝒘</m:t>
                    </m:r>
                  </m:oMath>
                </a14:m>
                <a:r>
                  <a:rPr lang="en-US" dirty="0"/>
                  <a:t> in the direction </a:t>
                </a:r>
                <a14:m>
                  <m:oMath xmlns:m="http://schemas.openxmlformats.org/officeDocument/2006/math">
                    <m:r>
                      <m:rPr>
                        <m:sty m:val="p"/>
                      </m:rP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𝑉𝐸</m:t>
                        </m:r>
                      </m:e>
                    </m:acc>
                  </m:oMath>
                </a14:m>
                <a:r>
                  <a:rPr lang="en-US" dirty="0"/>
                  <a:t>.</a:t>
                </a:r>
              </a:p>
              <a:p>
                <a:pPr marL="0" indent="0">
                  <a:buNone/>
                </a:pPr>
                <a:endParaRPr lang="en-US" dirty="0"/>
              </a:p>
              <a:p>
                <a:pPr marL="0" indent="0">
                  <a:buNone/>
                </a:pPr>
                <a:r>
                  <a:rPr lang="en-US" b="1" dirty="0"/>
                  <a:t>Definition</a:t>
                </a:r>
                <a:r>
                  <a:rPr lang="en-US" dirty="0"/>
                  <a:t> of the gradient: </a:t>
                </a:r>
                <a14:m>
                  <m:oMath xmlns:m="http://schemas.openxmlformats.org/officeDocument/2006/math">
                    <m:r>
                      <m:rPr>
                        <m:sty m:val="p"/>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𝑓</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𝒘</m:t>
                        </m:r>
                      </m:e>
                    </m:d>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𝑓</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𝒘</m:t>
                                    </m:r>
                                  </m:e>
                                </m:d>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i="1">
                                        <a:latin typeface="Cambria Math" panose="02040503050406030204" pitchFamily="18" charset="0"/>
                                        <a:ea typeface="Cambria Math" panose="02040503050406030204" pitchFamily="18" charset="0"/>
                                      </a:rPr>
                                      <m:t>1</m:t>
                                    </m:r>
                                  </m:sub>
                                </m:sSub>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𝑓</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𝒘</m:t>
                                    </m:r>
                                  </m:e>
                                </m:d>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i="1">
                                        <a:latin typeface="Cambria Math" panose="02040503050406030204" pitchFamily="18" charset="0"/>
                                        <a:ea typeface="Cambria Math" panose="02040503050406030204" pitchFamily="18" charset="0"/>
                                      </a:rPr>
                                      <m:t>2</m:t>
                                    </m:r>
                                  </m:sub>
                                </m:sSub>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𝑓</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𝒘</m:t>
                                    </m:r>
                                  </m:e>
                                </m:d>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i="1">
                                        <a:latin typeface="Cambria Math" panose="02040503050406030204" pitchFamily="18" charset="0"/>
                                        <a:ea typeface="Cambria Math" panose="02040503050406030204" pitchFamily="18" charset="0"/>
                                      </a:rPr>
                                      <m:t>𝑑</m:t>
                                    </m:r>
                                  </m:sub>
                                </m:sSub>
                              </m:den>
                            </m:f>
                          </m:e>
                        </m:d>
                      </m:e>
                      <m:sup>
                        <m:r>
                          <a:rPr lang="en-US" i="1">
                            <a:latin typeface="Cambria Math" panose="02040503050406030204" pitchFamily="18" charset="0"/>
                            <a:ea typeface="Cambria Math" panose="02040503050406030204" pitchFamily="18" charset="0"/>
                          </a:rPr>
                          <m:t>⊤</m:t>
                        </m:r>
                      </m:sup>
                    </m:sSup>
                  </m:oMath>
                </a14:m>
                <a:endParaRPr lang="en-US" dirty="0"/>
              </a:p>
              <a:p>
                <a:pPr marL="0" indent="0">
                  <a:buNone/>
                </a:pPr>
                <a:endParaRPr lang="en-US" b="1" dirty="0"/>
              </a:p>
              <a:p>
                <a:pPr marL="0" indent="0">
                  <a:buNone/>
                </a:pPr>
                <a:r>
                  <a:rPr lang="en-US" b="1" dirty="0"/>
                  <a:t>Update</a:t>
                </a:r>
                <a:r>
                  <a:rPr lang="en-US" dirty="0"/>
                  <a:t> for one observation:</a:t>
                </a:r>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oMath>
                </a14:m>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𝜋</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e>
                    </m:d>
                  </m:oMath>
                </a14:m>
                <a:br>
                  <a:rPr lang="en-US" dirty="0"/>
                </a:br>
                <a:endParaRPr lang="en-US" dirty="0"/>
              </a:p>
              <a:p>
                <a:pPr marL="0" indent="0" algn="ctr">
                  <a:buNone/>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m:rPr>
                          <m:aln/>
                        </m:rP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0" i="1" smtClean="0">
                              <a:latin typeface="Cambria Math" panose="02040503050406030204" pitchFamily="18" charset="0"/>
                            </a:rPr>
                            <m:t>𝑡</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𝛼</m:t>
                      </m:r>
                      <m:r>
                        <a:rPr lang="en-US" b="0" i="1" smtClean="0">
                          <a:latin typeface="Cambria Math" panose="02040503050406030204" pitchFamily="18" charset="0"/>
                        </a:rPr>
                        <m:t> </m:t>
                      </m:r>
                      <m:r>
                        <m:rPr>
                          <m:sty m:val="p"/>
                        </m:rP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𝜋</m:t>
                                  </m:r>
                                </m:sub>
                              </m:sSub>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𝑡</m:t>
                                      </m:r>
                                    </m:sub>
                                  </m:sSub>
                                </m:e>
                              </m:d>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𝑣</m:t>
                                  </m:r>
                                </m:e>
                              </m:acc>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𝒘</m:t>
                                      </m:r>
                                    </m:e>
                                    <m:sub>
                                      <m:r>
                                        <a:rPr lang="en-US" b="0" i="1" smtClean="0">
                                          <a:latin typeface="Cambria Math" panose="02040503050406030204" pitchFamily="18" charset="0"/>
                                          <a:ea typeface="Cambria Math" panose="02040503050406030204" pitchFamily="18" charset="0"/>
                                        </a:rPr>
                                        <m:t>𝑡</m:t>
                                      </m:r>
                                    </m:sub>
                                  </m:sSub>
                                </m:e>
                              </m:d>
                            </m:e>
                          </m:d>
                        </m:e>
                        <m:sup>
                          <m:r>
                            <a:rPr lang="en-US" b="0" i="1" smtClean="0">
                              <a:latin typeface="Cambria Math" panose="02040503050406030204" pitchFamily="18" charset="0"/>
                              <a:ea typeface="Cambria Math" panose="02040503050406030204" pitchFamily="18" charset="0"/>
                            </a:rPr>
                            <m:t>2</m:t>
                          </m:r>
                        </m:sup>
                      </m:sSup>
                    </m:oMath>
                  </m:oMathPara>
                </a14:m>
                <a:br>
                  <a:rPr lang="en-US" b="0" i="1" dirty="0">
                    <a:latin typeface="Cambria Math" panose="02040503050406030204" pitchFamily="18" charset="0"/>
                    <a:ea typeface="Cambria Math" panose="02040503050406030204" pitchFamily="18" charset="0"/>
                  </a:rPr>
                </a:br>
                <a14:m>
                  <m:oMath xmlns:m="http://schemas.openxmlformats.org/officeDocument/2006/math">
                    <m:r>
                      <a:rPr lang="en-US" b="0" i="1" smtClean="0">
                        <a:latin typeface="Cambria Math" panose="02040503050406030204" pitchFamily="18" charset="0"/>
                      </a:rPr>
                      <m:t>                         = </m:t>
                    </m:r>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i="1" smtClean="0">
                        <a:latin typeface="Cambria Math" panose="02040503050406030204" pitchFamily="18" charset="0"/>
                      </a:rPr>
                      <m:t>𝛼</m:t>
                    </m:r>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𝜋</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e>
                        </m:d>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𝒘</m:t>
                                </m:r>
                              </m:e>
                              <m:sub>
                                <m:r>
                                  <a:rPr lang="en-US" i="1">
                                    <a:latin typeface="Cambria Math" panose="02040503050406030204" pitchFamily="18" charset="0"/>
                                    <a:ea typeface="Cambria Math" panose="02040503050406030204" pitchFamily="18" charset="0"/>
                                  </a:rPr>
                                  <m:t>𝑡</m:t>
                                </m:r>
                              </m:sub>
                            </m:sSub>
                          </m:e>
                        </m:d>
                      </m:e>
                    </m:d>
                  </m:oMath>
                </a14:m>
                <a:r>
                  <a:rPr lang="en-US" dirty="0">
                    <a:ea typeface="Cambria Math" panose="02040503050406030204" pitchFamily="18" charset="0"/>
                  </a:rPr>
                  <a:t> </a:t>
                </a:r>
                <a14:m>
                  <m:oMath xmlns:m="http://schemas.openxmlformats.org/officeDocument/2006/math">
                    <m:r>
                      <m:rPr>
                        <m:sty m:val="p"/>
                      </m:rP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𝒘</m:t>
                            </m:r>
                          </m:e>
                          <m:sub>
                            <m:r>
                              <a:rPr lang="en-US" i="1">
                                <a:latin typeface="Cambria Math" panose="02040503050406030204" pitchFamily="18" charset="0"/>
                                <a:ea typeface="Cambria Math" panose="02040503050406030204" pitchFamily="18" charset="0"/>
                              </a:rPr>
                              <m:t>𝑡</m:t>
                            </m:r>
                          </m:sub>
                        </m:sSub>
                      </m:e>
                    </m:d>
                  </m:oMath>
                </a14:m>
                <a:endParaRPr lang="en-US" dirty="0"/>
              </a:p>
              <a:p>
                <a:endParaRPr lang="en-US" dirty="0"/>
              </a:p>
              <a:p>
                <a:r>
                  <a:rPr lang="en-US" b="1" dirty="0"/>
                  <a:t>Important property of SGD</a:t>
                </a:r>
                <a:r>
                  <a:rPr lang="en-US" dirty="0"/>
                  <a:t>: Only depends on the gradient of the approximation function. Does not need the gradient of the unknown value function!</a:t>
                </a:r>
                <a:endParaRPr lang="en-US" b="1" dirty="0"/>
              </a:p>
              <a:p>
                <a:r>
                  <a:rPr lang="en-US" b="1" dirty="0"/>
                  <a:t>Stochastic</a:t>
                </a:r>
                <a:r>
                  <a:rPr lang="en-US" dirty="0"/>
                  <a:t>: because update is on a single (randomly chosen) example for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oMath>
                </a14:m>
                <a:r>
                  <a:rPr lang="en-US" dirty="0"/>
                  <a:t>. </a:t>
                </a:r>
              </a:p>
              <a:p>
                <a:r>
                  <a:rPr lang="en-US" b="1" dirty="0"/>
                  <a:t>Step size </a:t>
                </a:r>
                <a14:m>
                  <m:oMath xmlns:m="http://schemas.openxmlformats.org/officeDocument/2006/math">
                    <m:r>
                      <a:rPr lang="en-US" b="1" i="1" smtClean="0">
                        <a:latin typeface="Cambria Math" panose="02040503050406030204" pitchFamily="18" charset="0"/>
                      </a:rPr>
                      <m:t>𝜶</m:t>
                    </m:r>
                  </m:oMath>
                </a14:m>
                <a:r>
                  <a:rPr lang="en-US" dirty="0"/>
                  <a:t>: Since we update towards a sampled value (sample variance!) and updates of </a:t>
                </a:r>
                <a14:m>
                  <m:oMath xmlns:m="http://schemas.openxmlformats.org/officeDocument/2006/math">
                    <m:r>
                      <a:rPr lang="en-US" b="1" i="1" dirty="0" smtClean="0">
                        <a:latin typeface="Cambria Math" panose="02040503050406030204" pitchFamily="18" charset="0"/>
                      </a:rPr>
                      <m:t>𝒘</m:t>
                    </m:r>
                  </m:oMath>
                </a14:m>
                <a:r>
                  <a:rPr lang="en-US" dirty="0"/>
                  <a:t> for one state will change the values for other states as well, we typically use many small updates (= a small value of </a:t>
                </a:r>
                <a14:m>
                  <m:oMath xmlns:m="http://schemas.openxmlformats.org/officeDocument/2006/math">
                    <m:r>
                      <a:rPr lang="en-US" i="1">
                        <a:latin typeface="Cambria Math" panose="02040503050406030204" pitchFamily="18" charset="0"/>
                      </a:rPr>
                      <m:t>𝛼</m:t>
                    </m:r>
                    <m:r>
                      <a:rPr lang="en-US" b="0" i="1" smtClean="0">
                        <a:latin typeface="Cambria Math" panose="02040503050406030204" pitchFamily="18" charset="0"/>
                      </a:rPr>
                      <m:t>).</m:t>
                    </m:r>
                  </m:oMath>
                </a14:m>
                <a:endParaRPr lang="en-US" dirty="0"/>
              </a:p>
            </p:txBody>
          </p:sp>
        </mc:Choice>
        <mc:Fallback xmlns="">
          <p:sp>
            <p:nvSpPr>
              <p:cNvPr id="3" name="Content Placeholder 2" descr="Minimize VE bar is defined as the sum over s in S, of mu (s) [v sub pi minus v hat (s,w)] squared by moving w in the direction gradient of VE bar . Definition of the gradient: gradient of f (w) equals (the fraction partial f (w), over partial w sub 1, end fraction, the fraction partial f (w), over partial w sub 2, end fraction, dot dot dot, the fraction partial f (w), over partial w sub d, end fraction) transpose. Update for one observation: S sub t maps to v sub pi (S sub t). w sub t plus 1, equals w sub t minus 1 over 2 alpha gradient of [v sub pi (S sub t) minus v hat (S sub t,w sub t)] squared equals w sub t plus alpha [v sub pi (S sub t) minus v hat (S sub t,w sub t)] gradient of v hat (S sub t,w sub t). Important property of SGD: Only depends on the gradient of the loss function. Does not need the gradient of the unknown value function!. Stochastic: because update is on a single (randomly chosen) example for S sub t . This is why there is no sum in the update. Step size alpha : Since we update towards a sampled value and updates of w for one state will change the value for other states as well, we use many small updates (small value of alpha)">
                <a:extLst>
                  <a:ext uri="{FF2B5EF4-FFF2-40B4-BE49-F238E27FC236}">
                    <a16:creationId xmlns:a16="http://schemas.microsoft.com/office/drawing/2014/main" id="{841FE312-5C26-99AC-5278-403A56057DE9}"/>
                  </a:ext>
                </a:extLst>
              </p:cNvPr>
              <p:cNvSpPr>
                <a:spLocks noGrp="1" noRot="1" noChangeAspect="1" noMove="1" noResize="1" noEditPoints="1" noAdjustHandles="1" noChangeArrowheads="1" noChangeShapeType="1" noTextEdit="1"/>
              </p:cNvSpPr>
              <p:nvPr>
                <p:ph idx="1"/>
              </p:nvPr>
            </p:nvSpPr>
            <p:spPr>
              <a:xfrm>
                <a:off x="644980" y="1235487"/>
                <a:ext cx="7990742" cy="5010117"/>
              </a:xfrm>
              <a:blipFill>
                <a:blip r:embed="rId2"/>
                <a:stretch>
                  <a:fillRect l="-686" t="-10219" r="-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Speech Bubble: Rectangle with Corners Rounded 3" descr="Applying the chain rule* shows that we only need the gradient of the approximation function. Notes: the sign changes and 1 over 2 was chosen for convenience">
                <a:extLst>
                  <a:ext uri="{FF2B5EF4-FFF2-40B4-BE49-F238E27FC236}">
                    <a16:creationId xmlns:a16="http://schemas.microsoft.com/office/drawing/2014/main" id="{BA5FC1EA-408E-750E-8302-14FB867FDECE}"/>
                  </a:ext>
                </a:extLst>
              </p:cNvPr>
              <p:cNvSpPr/>
              <p:nvPr/>
            </p:nvSpPr>
            <p:spPr>
              <a:xfrm>
                <a:off x="8621075" y="3379239"/>
                <a:ext cx="3215791" cy="1201925"/>
              </a:xfrm>
              <a:prstGeom prst="wedgeRoundRectCallout">
                <a:avLst>
                  <a:gd name="adj1" fmla="val -87712"/>
                  <a:gd name="adj2" fmla="val -9290"/>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Applying the chain rule* shows that we only need the gradient of the approximation function. </a:t>
                </a:r>
                <a:br>
                  <a:rPr lang="en-US" sz="1400" dirty="0"/>
                </a:br>
                <a:r>
                  <a:rPr lang="en-US" sz="1400" dirty="0"/>
                  <a:t>Note: the sign changes and  </a:t>
                </a:r>
                <a14:m>
                  <m:oMath xmlns:m="http://schemas.openxmlformats.org/officeDocument/2006/math">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den>
                    </m:f>
                  </m:oMath>
                </a14:m>
                <a:r>
                  <a:rPr lang="en-US" sz="1400" b="1" dirty="0"/>
                  <a:t> </a:t>
                </a:r>
                <a:r>
                  <a:rPr lang="en-US" sz="1400" dirty="0"/>
                  <a:t>was chosen for convenience.</a:t>
                </a:r>
              </a:p>
            </p:txBody>
          </p:sp>
        </mc:Choice>
        <mc:Fallback xmlns="">
          <p:sp>
            <p:nvSpPr>
              <p:cNvPr id="4" name="Speech Bubble: Rectangle with Corners Rounded 3" descr="Applying the chain rule* shows that we only need the gradient of the approximation function. Notes: the sign changes and 1 over 2 was chosen for convenience">
                <a:extLst>
                  <a:ext uri="{FF2B5EF4-FFF2-40B4-BE49-F238E27FC236}">
                    <a16:creationId xmlns:a16="http://schemas.microsoft.com/office/drawing/2014/main" id="{BA5FC1EA-408E-750E-8302-14FB867FDECE}"/>
                  </a:ext>
                </a:extLst>
              </p:cNvPr>
              <p:cNvSpPr>
                <a:spLocks noRot="1" noChangeAspect="1" noMove="1" noResize="1" noEditPoints="1" noAdjustHandles="1" noChangeArrowheads="1" noChangeShapeType="1" noTextEdit="1"/>
              </p:cNvSpPr>
              <p:nvPr/>
            </p:nvSpPr>
            <p:spPr>
              <a:xfrm>
                <a:off x="8621075" y="3379239"/>
                <a:ext cx="3215791" cy="1201925"/>
              </a:xfrm>
              <a:prstGeom prst="wedgeRoundRectCallout">
                <a:avLst>
                  <a:gd name="adj1" fmla="val -87712"/>
                  <a:gd name="adj2" fmla="val -9290"/>
                  <a:gd name="adj3" fmla="val 16667"/>
                </a:avLst>
              </a:prstGeom>
              <a:blipFill>
                <a:blip r:embed="rId3"/>
                <a:stretch>
                  <a:fillRect t="-1990" b="-5473"/>
                </a:stretch>
              </a:blipFill>
            </p:spPr>
            <p:txBody>
              <a:bodyPr/>
              <a:lstStyle/>
              <a:p>
                <a:r>
                  <a:rPr lang="en-US">
                    <a:noFill/>
                  </a:rPr>
                  <a:t> </a:t>
                </a:r>
              </a:p>
            </p:txBody>
          </p:sp>
        </mc:Fallback>
      </mc:AlternateContent>
      <p:grpSp>
        <p:nvGrpSpPr>
          <p:cNvPr id="15" name="Group 14" descr="Rainbow-coloured 3D surface plot of a bowl-shaped quadratic function of two variables, lowest (0) at the centre and rising to 2 at the corners of the square from −1 to 1. Labels: w sub 1; w sub 2; f; gradient of f (w).">
            <a:extLst>
              <a:ext uri="{FF2B5EF4-FFF2-40B4-BE49-F238E27FC236}">
                <a16:creationId xmlns:a16="http://schemas.microsoft.com/office/drawing/2014/main" id="{27A2F1BA-E1F0-0F40-5826-097EAD324210}"/>
              </a:ext>
            </a:extLst>
          </p:cNvPr>
          <p:cNvGrpSpPr/>
          <p:nvPr/>
        </p:nvGrpSpPr>
        <p:grpSpPr>
          <a:xfrm>
            <a:off x="8578744" y="1235487"/>
            <a:ext cx="3227386" cy="1991944"/>
            <a:chOff x="8608105" y="1015068"/>
            <a:chExt cx="3227386" cy="1991944"/>
          </a:xfrm>
        </p:grpSpPr>
        <p:pic>
          <p:nvPicPr>
            <p:cNvPr id="1026" name="Picture 2" descr="Rainbow-coloured 3D surface plot of a bowl-shaped quadratic function of two variables, lowest (0) at the centre and rising to 2 at the corners of the square from −1 to 1.">
              <a:extLst>
                <a:ext uri="{FF2B5EF4-FFF2-40B4-BE49-F238E27FC236}">
                  <a16:creationId xmlns:a16="http://schemas.microsoft.com/office/drawing/2014/main" id="{9DB133E6-6974-8668-496C-211BA8ECF0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5828" y="1015068"/>
              <a:ext cx="3169663" cy="199194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descr="Equation: w sub 1">
                  <a:extLst>
                    <a:ext uri="{FF2B5EF4-FFF2-40B4-BE49-F238E27FC236}">
                      <a16:creationId xmlns:a16="http://schemas.microsoft.com/office/drawing/2014/main" id="{D7CAA104-4550-BD6D-56DD-A22FA63743F8}"/>
                    </a:ext>
                  </a:extLst>
                </p:cNvPr>
                <p:cNvSpPr txBox="1"/>
                <p:nvPr/>
              </p:nvSpPr>
              <p:spPr>
                <a:xfrm>
                  <a:off x="9102055" y="2663505"/>
                  <a:ext cx="374910" cy="261610"/>
                </a:xfrm>
                <a:prstGeom prst="rect">
                  <a:avLst/>
                </a:prstGeom>
                <a:noFill/>
              </p:spPr>
              <p:txBody>
                <a:bodyPr wrap="none" rtlCol="0">
                  <a:spAutoFit/>
                </a:bodyPr>
                <a:lstStyle/>
                <a:p>
                  <a:pPr/>
                  <a14:m>
                    <m:oMathPara xmlns:m="http://schemas.openxmlformats.org/officeDocument/2006/math">
                      <m:o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𝑤</m:t>
                            </m:r>
                          </m:e>
                          <m:sub>
                            <m:r>
                              <a:rPr lang="en-US" sz="1100" b="0" i="1" smtClean="0">
                                <a:latin typeface="Cambria Math" panose="02040503050406030204" pitchFamily="18" charset="0"/>
                              </a:rPr>
                              <m:t>1</m:t>
                            </m:r>
                          </m:sub>
                        </m:sSub>
                      </m:oMath>
                    </m:oMathPara>
                  </a14:m>
                  <a:endParaRPr lang="en-US" sz="1100" dirty="0"/>
                </a:p>
              </p:txBody>
            </p:sp>
          </mc:Choice>
          <mc:Fallback xmlns="">
            <p:sp>
              <p:nvSpPr>
                <p:cNvPr id="7" name="TextBox 6" descr="Equation: w sub 1">
                  <a:extLst>
                    <a:ext uri="{FF2B5EF4-FFF2-40B4-BE49-F238E27FC236}">
                      <a16:creationId xmlns:a16="http://schemas.microsoft.com/office/drawing/2014/main" id="{D7CAA104-4550-BD6D-56DD-A22FA63743F8}"/>
                    </a:ext>
                  </a:extLst>
                </p:cNvPr>
                <p:cNvSpPr txBox="1">
                  <a:spLocks noRot="1" noChangeAspect="1" noMove="1" noResize="1" noEditPoints="1" noAdjustHandles="1" noChangeArrowheads="1" noChangeShapeType="1" noTextEdit="1"/>
                </p:cNvSpPr>
                <p:nvPr/>
              </p:nvSpPr>
              <p:spPr>
                <a:xfrm>
                  <a:off x="9102055" y="2663505"/>
                  <a:ext cx="374910" cy="2616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descr="Equation: w sub 2">
                  <a:extLst>
                    <a:ext uri="{FF2B5EF4-FFF2-40B4-BE49-F238E27FC236}">
                      <a16:creationId xmlns:a16="http://schemas.microsoft.com/office/drawing/2014/main" id="{CBC8F59E-37BC-8A67-5B3D-4B2F5FBFF36F}"/>
                    </a:ext>
                  </a:extLst>
                </p:cNvPr>
                <p:cNvSpPr txBox="1"/>
                <p:nvPr/>
              </p:nvSpPr>
              <p:spPr>
                <a:xfrm>
                  <a:off x="11091644" y="2706848"/>
                  <a:ext cx="378180" cy="261610"/>
                </a:xfrm>
                <a:prstGeom prst="rect">
                  <a:avLst/>
                </a:prstGeom>
                <a:noFill/>
              </p:spPr>
              <p:txBody>
                <a:bodyPr wrap="none" rtlCol="0">
                  <a:spAutoFit/>
                </a:bodyPr>
                <a:lstStyle/>
                <a:p>
                  <a:pPr/>
                  <a14:m>
                    <m:oMathPara xmlns:m="http://schemas.openxmlformats.org/officeDocument/2006/math">
                      <m:oMath>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𝑤</m:t>
                            </m:r>
                          </m:e>
                          <m:sub>
                            <m:r>
                              <a:rPr lang="en-US" sz="1100" b="0" i="1" smtClean="0">
                                <a:latin typeface="Cambria Math" panose="02040503050406030204" pitchFamily="18" charset="0"/>
                              </a:rPr>
                              <m:t>2</m:t>
                            </m:r>
                          </m:sub>
                        </m:sSub>
                      </m:oMath>
                    </m:oMathPara>
                  </a14:m>
                  <a:endParaRPr lang="en-US" sz="1100" dirty="0"/>
                </a:p>
              </p:txBody>
            </p:sp>
          </mc:Choice>
          <mc:Fallback xmlns="">
            <p:sp>
              <p:nvSpPr>
                <p:cNvPr id="8" name="TextBox 7" descr="Equation: w sub 2">
                  <a:extLst>
                    <a:ext uri="{FF2B5EF4-FFF2-40B4-BE49-F238E27FC236}">
                      <a16:creationId xmlns:a16="http://schemas.microsoft.com/office/drawing/2014/main" id="{CBC8F59E-37BC-8A67-5B3D-4B2F5FBFF36F}"/>
                    </a:ext>
                  </a:extLst>
                </p:cNvPr>
                <p:cNvSpPr txBox="1">
                  <a:spLocks noRot="1" noChangeAspect="1" noMove="1" noResize="1" noEditPoints="1" noAdjustHandles="1" noChangeArrowheads="1" noChangeShapeType="1" noTextEdit="1"/>
                </p:cNvSpPr>
                <p:nvPr/>
              </p:nvSpPr>
              <p:spPr>
                <a:xfrm>
                  <a:off x="11091644" y="2706848"/>
                  <a:ext cx="378180" cy="2616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descr="Equation: f">
                  <a:extLst>
                    <a:ext uri="{FF2B5EF4-FFF2-40B4-BE49-F238E27FC236}">
                      <a16:creationId xmlns:a16="http://schemas.microsoft.com/office/drawing/2014/main" id="{D4AC81AC-BB68-87B3-206F-FBBC280799AC}"/>
                    </a:ext>
                  </a:extLst>
                </p:cNvPr>
                <p:cNvSpPr txBox="1"/>
                <p:nvPr/>
              </p:nvSpPr>
              <p:spPr>
                <a:xfrm>
                  <a:off x="8608105" y="1143570"/>
                  <a:ext cx="681405" cy="261610"/>
                </a:xfrm>
                <a:prstGeom prst="rect">
                  <a:avLst/>
                </a:prstGeom>
                <a:noFill/>
              </p:spPr>
              <p:txBody>
                <a:bodyPr wrap="none" rtlCol="0">
                  <a:spAutoFit/>
                </a:bodyPr>
                <a:lstStyle/>
                <a:p>
                  <a:pPr/>
                  <a14:m>
                    <m:oMathPara xmlns:m="http://schemas.openxmlformats.org/officeDocument/2006/math">
                      <m:oMath>
                        <m:r>
                          <a:rPr lang="en-US" sz="1100" i="1" dirty="0" smtClean="0">
                            <a:latin typeface="Cambria Math" panose="02040503050406030204" pitchFamily="18" charset="0"/>
                          </a:rPr>
                          <m:t>𝑓</m:t>
                        </m:r>
                        <m:r>
                          <a:rPr lang="en-US" sz="1100" b="0" i="1" dirty="0" smtClean="0">
                            <a:latin typeface="Cambria Math" panose="02040503050406030204" pitchFamily="18" charset="0"/>
                          </a:rPr>
                          <m:t>=</m:t>
                        </m:r>
                        <m:acc>
                          <m:accPr>
                            <m:chr m:val="̅"/>
                            <m:ctrlPr>
                              <a:rPr lang="en-US" sz="1100" i="1">
                                <a:latin typeface="Cambria Math" panose="02040503050406030204" pitchFamily="18" charset="0"/>
                              </a:rPr>
                            </m:ctrlPr>
                          </m:accPr>
                          <m:e>
                            <m:r>
                              <a:rPr lang="en-US" sz="1100" i="1">
                                <a:latin typeface="Cambria Math" panose="02040503050406030204" pitchFamily="18" charset="0"/>
                              </a:rPr>
                              <m:t>𝑉𝐸</m:t>
                            </m:r>
                          </m:e>
                        </m:acc>
                      </m:oMath>
                    </m:oMathPara>
                  </a14:m>
                  <a:endParaRPr lang="en-US" sz="1100" dirty="0"/>
                </a:p>
              </p:txBody>
            </p:sp>
          </mc:Choice>
          <mc:Fallback xmlns="">
            <p:sp>
              <p:nvSpPr>
                <p:cNvPr id="11" name="TextBox 10" descr="Equation: f">
                  <a:extLst>
                    <a:ext uri="{FF2B5EF4-FFF2-40B4-BE49-F238E27FC236}">
                      <a16:creationId xmlns:a16="http://schemas.microsoft.com/office/drawing/2014/main" id="{D4AC81AC-BB68-87B3-206F-FBBC280799AC}"/>
                    </a:ext>
                  </a:extLst>
                </p:cNvPr>
                <p:cNvSpPr txBox="1">
                  <a:spLocks noRot="1" noChangeAspect="1" noMove="1" noResize="1" noEditPoints="1" noAdjustHandles="1" noChangeArrowheads="1" noChangeShapeType="1" noTextEdit="1"/>
                </p:cNvSpPr>
                <p:nvPr/>
              </p:nvSpPr>
              <p:spPr>
                <a:xfrm>
                  <a:off x="8608105" y="1143570"/>
                  <a:ext cx="681405" cy="261610"/>
                </a:xfrm>
                <a:prstGeom prst="rect">
                  <a:avLst/>
                </a:prstGeom>
                <a:blipFill>
                  <a:blip r:embed="rId7"/>
                  <a:stretch>
                    <a:fillRect b="-2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descr="Equation: gradient of f (w)">
                  <a:extLst>
                    <a:ext uri="{FF2B5EF4-FFF2-40B4-BE49-F238E27FC236}">
                      <a16:creationId xmlns:a16="http://schemas.microsoft.com/office/drawing/2014/main" id="{D8B93170-B8DD-FFC8-7FE1-BE9B397B92C0}"/>
                    </a:ext>
                  </a:extLst>
                </p:cNvPr>
                <p:cNvSpPr txBox="1"/>
                <p:nvPr/>
              </p:nvSpPr>
              <p:spPr>
                <a:xfrm>
                  <a:off x="10486029" y="1653913"/>
                  <a:ext cx="605615" cy="26161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pPr/>
                  <a14:m>
                    <m:oMathPara xmlns:m="http://schemas.openxmlformats.org/officeDocument/2006/math">
                      <m:oMath>
                        <m:r>
                          <m:rPr>
                            <m:sty m:val="p"/>
                          </m:rP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𝑓</m:t>
                        </m:r>
                        <m:d>
                          <m:dPr>
                            <m:ctrlPr>
                              <a:rPr lang="en-US" sz="1100" b="1" i="1">
                                <a:latin typeface="Cambria Math" panose="02040503050406030204" pitchFamily="18" charset="0"/>
                                <a:ea typeface="Cambria Math" panose="02040503050406030204" pitchFamily="18" charset="0"/>
                              </a:rPr>
                            </m:ctrlPr>
                          </m:dPr>
                          <m:e>
                            <m:r>
                              <a:rPr lang="en-US" sz="1100" b="1" i="1">
                                <a:latin typeface="Cambria Math" panose="02040503050406030204" pitchFamily="18" charset="0"/>
                                <a:ea typeface="Cambria Math" panose="02040503050406030204" pitchFamily="18" charset="0"/>
                              </a:rPr>
                              <m:t>𝒘</m:t>
                            </m:r>
                          </m:e>
                        </m:d>
                      </m:oMath>
                    </m:oMathPara>
                  </a14:m>
                  <a:endParaRPr lang="en-US" sz="1100" dirty="0"/>
                </a:p>
              </p:txBody>
            </p:sp>
          </mc:Choice>
          <mc:Fallback xmlns="">
            <p:sp>
              <p:nvSpPr>
                <p:cNvPr id="12" name="TextBox 11" descr="Equation: gradient of f (w)">
                  <a:extLst>
                    <a:ext uri="{FF2B5EF4-FFF2-40B4-BE49-F238E27FC236}">
                      <a16:creationId xmlns:a16="http://schemas.microsoft.com/office/drawing/2014/main" id="{D8B93170-B8DD-FFC8-7FE1-BE9B397B92C0}"/>
                    </a:ext>
                  </a:extLst>
                </p:cNvPr>
                <p:cNvSpPr txBox="1">
                  <a:spLocks noRot="1" noChangeAspect="1" noMove="1" noResize="1" noEditPoints="1" noAdjustHandles="1" noChangeArrowheads="1" noChangeShapeType="1" noTextEdit="1"/>
                </p:cNvSpPr>
                <p:nvPr/>
              </p:nvSpPr>
              <p:spPr>
                <a:xfrm>
                  <a:off x="10486029" y="1653913"/>
                  <a:ext cx="605615" cy="261610"/>
                </a:xfrm>
                <a:prstGeom prst="rect">
                  <a:avLst/>
                </a:prstGeom>
                <a:blipFill>
                  <a:blip r:embed="rId8"/>
                  <a:stretch>
                    <a:fillRect b="-4651"/>
                  </a:stretch>
                </a:blipFill>
                <a:ln>
                  <a:noFill/>
                </a:ln>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918AFD0D-1261-061C-9731-56427D17F16A}"/>
                </a:ext>
                <a:ext uri="{C183D7F6-B498-43B3-948B-1728B52AA6E4}">
                  <adec:decorative xmlns:adec="http://schemas.microsoft.com/office/drawing/2017/decorative" val="1"/>
                </a:ext>
              </a:extLst>
            </p:cNvPr>
            <p:cNvCxnSpPr/>
            <p:nvPr/>
          </p:nvCxnSpPr>
          <p:spPr>
            <a:xfrm flipH="1">
              <a:off x="10377182" y="1589714"/>
              <a:ext cx="71306" cy="2181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16" name="TextBox 15" descr="*Chain rule (of differentiation). h(x) equals z(y(x)). is equivalent to. h prime(x) equals z prime(y(x)) y prime(x)">
                <a:extLst>
                  <a:ext uri="{FF2B5EF4-FFF2-40B4-BE49-F238E27FC236}">
                    <a16:creationId xmlns:a16="http://schemas.microsoft.com/office/drawing/2014/main" id="{751B930F-43AF-8B6E-3F69-D8CF3DDE50A5}"/>
                  </a:ext>
                </a:extLst>
              </p:cNvPr>
              <p:cNvSpPr txBox="1"/>
              <p:nvPr/>
            </p:nvSpPr>
            <p:spPr>
              <a:xfrm>
                <a:off x="8635721" y="4776328"/>
                <a:ext cx="3215791" cy="1600438"/>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1400" b="1" dirty="0"/>
                  <a:t>*Chain rule </a:t>
                </a:r>
                <a:r>
                  <a:rPr lang="en-US" sz="1400" dirty="0"/>
                  <a:t>(of differentiation)</a:t>
                </a:r>
                <a:endParaRPr lang="en-US" sz="1400" b="1" dirty="0"/>
              </a:p>
              <a:p>
                <a:pPr/>
                <a14:m>
                  <m:oMathPara xmlns:m="http://schemas.openxmlformats.org/officeDocument/2006/math">
                    <m:oMath>
                      <m:r>
                        <a:rPr lang="en-US" sz="1400" i="1">
                          <a:latin typeface="Cambria Math" panose="02040503050406030204" pitchFamily="18" charset="0"/>
                        </a:rPr>
                        <m:t>ℎ</m:t>
                      </m:r>
                      <m:r>
                        <a:rPr lang="en-US" sz="1400" i="1">
                          <a:latin typeface="Cambria Math" panose="02040503050406030204" pitchFamily="18" charset="0"/>
                        </a:rPr>
                        <m:t>(</m:t>
                      </m:r>
                      <m:r>
                        <a:rPr lang="en-US" sz="1400" i="1">
                          <a:latin typeface="Cambria Math" panose="02040503050406030204" pitchFamily="18" charset="0"/>
                        </a:rPr>
                        <m:t>𝑥</m:t>
                      </m:r>
                      <m:r>
                        <a:rPr lang="en-US" sz="1400" i="1">
                          <a:latin typeface="Cambria Math" panose="02040503050406030204" pitchFamily="18" charset="0"/>
                        </a:rPr>
                        <m:t>)=</m:t>
                      </m:r>
                      <m:r>
                        <a:rPr lang="en-US" sz="1400" i="1">
                          <a:latin typeface="Cambria Math" panose="02040503050406030204" pitchFamily="18" charset="0"/>
                        </a:rPr>
                        <m:t>𝑧</m:t>
                      </m:r>
                      <m:r>
                        <a:rPr lang="en-US" sz="1400" i="1">
                          <a:latin typeface="Cambria Math" panose="02040503050406030204" pitchFamily="18" charset="0"/>
                        </a:rPr>
                        <m:t>(</m:t>
                      </m:r>
                      <m:r>
                        <a:rPr lang="en-US" sz="1400" i="1">
                          <a:latin typeface="Cambria Math" panose="02040503050406030204" pitchFamily="18" charset="0"/>
                        </a:rPr>
                        <m:t>𝑦</m:t>
                      </m:r>
                      <m:r>
                        <a:rPr lang="en-US" sz="1400" i="1">
                          <a:latin typeface="Cambria Math" panose="02040503050406030204" pitchFamily="18" charset="0"/>
                        </a:rPr>
                        <m:t>(</m:t>
                      </m:r>
                      <m:r>
                        <a:rPr lang="en-US" sz="1400" i="1">
                          <a:latin typeface="Cambria Math" panose="02040503050406030204" pitchFamily="18" charset="0"/>
                        </a:rPr>
                        <m:t>𝑥</m:t>
                      </m:r>
                      <m:r>
                        <a:rPr lang="en-US" sz="1400" i="1">
                          <a:latin typeface="Cambria Math" panose="02040503050406030204" pitchFamily="18" charset="0"/>
                        </a:rPr>
                        <m:t>))</m:t>
                      </m:r>
                    </m:oMath>
                  </m:oMathPara>
                </a14:m>
                <a:endParaRPr lang="en-US" sz="1400" dirty="0"/>
              </a:p>
              <a:p>
                <a:r>
                  <a:rPr lang="en-US" sz="1400" dirty="0"/>
                  <a:t>is equivalent to</a:t>
                </a:r>
              </a:p>
              <a:p>
                <a:pPr/>
                <a14:m>
                  <m:oMathPara xmlns:m="http://schemas.openxmlformats.org/officeDocument/2006/math">
                    <m:oMath>
                      <m:r>
                        <a:rPr lang="es-ES" sz="1400" i="1">
                          <a:latin typeface="Cambria Math" panose="02040503050406030204" pitchFamily="18" charset="0"/>
                        </a:rPr>
                        <m:t>ℎ</m:t>
                      </m:r>
                      <m:r>
                        <a:rPr lang="es-ES" sz="1400" i="1">
                          <a:latin typeface="Cambria Math" panose="02040503050406030204" pitchFamily="18" charset="0"/>
                        </a:rPr>
                        <m:t>′(</m:t>
                      </m:r>
                      <m:r>
                        <a:rPr lang="es-ES" sz="1400" i="1">
                          <a:latin typeface="Cambria Math" panose="02040503050406030204" pitchFamily="18" charset="0"/>
                        </a:rPr>
                        <m:t>𝑥</m:t>
                      </m:r>
                      <m:r>
                        <a:rPr lang="es-ES" sz="1400" i="1">
                          <a:latin typeface="Cambria Math" panose="02040503050406030204" pitchFamily="18" charset="0"/>
                        </a:rPr>
                        <m:t>) = </m:t>
                      </m:r>
                      <m:r>
                        <a:rPr lang="es-ES" sz="1400" i="1">
                          <a:latin typeface="Cambria Math" panose="02040503050406030204" pitchFamily="18" charset="0"/>
                        </a:rPr>
                        <m:t>𝑧</m:t>
                      </m:r>
                      <m:r>
                        <a:rPr lang="es-ES" sz="1400" i="1">
                          <a:latin typeface="Cambria Math" panose="02040503050406030204" pitchFamily="18" charset="0"/>
                        </a:rPr>
                        <m:t>′(</m:t>
                      </m:r>
                      <m:r>
                        <a:rPr lang="es-ES" sz="1400" i="1">
                          <a:latin typeface="Cambria Math" panose="02040503050406030204" pitchFamily="18" charset="0"/>
                        </a:rPr>
                        <m:t>𝑦</m:t>
                      </m:r>
                      <m:r>
                        <a:rPr lang="es-ES" sz="1400" i="1">
                          <a:latin typeface="Cambria Math" panose="02040503050406030204" pitchFamily="18" charset="0"/>
                        </a:rPr>
                        <m:t>(</m:t>
                      </m:r>
                      <m:r>
                        <a:rPr lang="es-ES" sz="1400" i="1">
                          <a:latin typeface="Cambria Math" panose="02040503050406030204" pitchFamily="18" charset="0"/>
                        </a:rPr>
                        <m:t>𝑥</m:t>
                      </m:r>
                      <m:r>
                        <a:rPr lang="es-ES" sz="1400" i="1">
                          <a:latin typeface="Cambria Math" panose="02040503050406030204" pitchFamily="18" charset="0"/>
                        </a:rPr>
                        <m:t>)) </m:t>
                      </m:r>
                      <m:r>
                        <a:rPr lang="es-ES" sz="1400" i="1">
                          <a:latin typeface="Cambria Math" panose="02040503050406030204" pitchFamily="18" charset="0"/>
                        </a:rPr>
                        <m:t>𝑦</m:t>
                      </m:r>
                      <m:r>
                        <a:rPr lang="es-ES" sz="1400" i="1">
                          <a:latin typeface="Cambria Math" panose="02040503050406030204" pitchFamily="18" charset="0"/>
                        </a:rPr>
                        <m:t>′(</m:t>
                      </m:r>
                      <m:r>
                        <a:rPr lang="es-ES" sz="1400" i="1">
                          <a:latin typeface="Cambria Math" panose="02040503050406030204" pitchFamily="18" charset="0"/>
                        </a:rPr>
                        <m:t>𝑥</m:t>
                      </m:r>
                      <m:r>
                        <a:rPr lang="es-ES" sz="1400" i="1">
                          <a:latin typeface="Cambria Math" panose="02040503050406030204" pitchFamily="18" charset="0"/>
                        </a:rPr>
                        <m:t>)</m:t>
                      </m:r>
                    </m:oMath>
                  </m:oMathPara>
                </a14:m>
                <a:endParaRPr lang="en-US" sz="1400" dirty="0"/>
              </a:p>
              <a:p>
                <a:br>
                  <a:rPr lang="en-US" sz="1400" dirty="0"/>
                </a:br>
                <a:r>
                  <a:rPr lang="en-US" sz="1400" dirty="0"/>
                  <a:t>Here </a:t>
                </a:r>
                <a14:m>
                  <m:oMath xmlns:m="http://schemas.openxmlformats.org/officeDocument/2006/math">
                    <m:r>
                      <a:rPr lang="en-US" sz="1400" b="0" i="1" smtClean="0">
                        <a:latin typeface="Cambria Math" panose="02040503050406030204" pitchFamily="18" charset="0"/>
                      </a:rPr>
                      <m:t>𝑥</m:t>
                    </m:r>
                  </m:oMath>
                </a14:m>
                <a:r>
                  <a:rPr lang="en-US" sz="1400" dirty="0"/>
                  <a:t> is the vector </a:t>
                </a:r>
                <a14:m>
                  <m:oMath xmlns:m="http://schemas.openxmlformats.org/officeDocument/2006/math">
                    <m:r>
                      <a:rPr lang="en-US" sz="1400" b="1" i="1" smtClean="0">
                        <a:latin typeface="Cambria Math" panose="02040503050406030204" pitchFamily="18" charset="0"/>
                      </a:rPr>
                      <m:t>𝒘</m:t>
                    </m:r>
                  </m:oMath>
                </a14:m>
                <a:r>
                  <a:rPr lang="en-US" sz="1400" dirty="0"/>
                  <a:t> and we have partial derivatives written as gradients.</a:t>
                </a:r>
              </a:p>
            </p:txBody>
          </p:sp>
        </mc:Choice>
        <mc:Fallback xmlns="">
          <p:sp>
            <p:nvSpPr>
              <p:cNvPr id="16" name="TextBox 15" descr="*Chain rule (of differentiation). h(x) equals z(y(x)). is equivalent to. h prime(x) equals z prime(y(x)) y prime(x)">
                <a:extLst>
                  <a:ext uri="{FF2B5EF4-FFF2-40B4-BE49-F238E27FC236}">
                    <a16:creationId xmlns:a16="http://schemas.microsoft.com/office/drawing/2014/main" id="{751B930F-43AF-8B6E-3F69-D8CF3DDE50A5}"/>
                  </a:ext>
                </a:extLst>
              </p:cNvPr>
              <p:cNvSpPr txBox="1">
                <a:spLocks noRot="1" noChangeAspect="1" noMove="1" noResize="1" noEditPoints="1" noAdjustHandles="1" noChangeArrowheads="1" noChangeShapeType="1" noTextEdit="1"/>
              </p:cNvSpPr>
              <p:nvPr/>
            </p:nvSpPr>
            <p:spPr>
              <a:xfrm>
                <a:off x="8635721" y="4776328"/>
                <a:ext cx="3215791" cy="1600438"/>
              </a:xfrm>
              <a:prstGeom prst="rect">
                <a:avLst/>
              </a:prstGeom>
              <a:blipFill>
                <a:blip r:embed="rId9"/>
                <a:stretch>
                  <a:fillRect l="-377" t="-377" b="-2264"/>
                </a:stretch>
              </a:blipFill>
            </p:spPr>
            <p:txBody>
              <a:bodyPr/>
              <a:lstStyle/>
              <a:p>
                <a:r>
                  <a:rPr lang="en-US">
                    <a:noFill/>
                  </a:rPr>
                  <a:t> </a:t>
                </a:r>
              </a:p>
            </p:txBody>
          </p:sp>
        </mc:Fallback>
      </mc:AlternateContent>
    </p:spTree>
    <p:extLst>
      <p:ext uri="{BB962C8B-B14F-4D97-AF65-F5344CB8AC3E}">
        <p14:creationId xmlns:p14="http://schemas.microsoft.com/office/powerpoint/2010/main" val="4026319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B4956-27FC-B8BE-1553-9FD6E78662E4}"/>
              </a:ext>
            </a:extLst>
          </p:cNvPr>
          <p:cNvSpPr>
            <a:spLocks noGrp="1"/>
          </p:cNvSpPr>
          <p:nvPr>
            <p:ph type="title"/>
          </p:nvPr>
        </p:nvSpPr>
        <p:spPr/>
        <p:txBody>
          <a:bodyPr>
            <a:normAutofit fontScale="90000"/>
          </a:bodyPr>
          <a:lstStyle/>
          <a:p>
            <a:br>
              <a:rPr lang="en-US" dirty="0"/>
            </a:br>
            <a:r>
              <a:rPr lang="en-US" dirty="0"/>
              <a:t>Step Size for SGD</a:t>
            </a:r>
          </a:p>
        </p:txBody>
      </p:sp>
      <mc:AlternateContent xmlns:mc="http://schemas.openxmlformats.org/markup-compatibility/2006" xmlns:a14="http://schemas.microsoft.com/office/drawing/2010/main">
        <mc:Choice Requires="a14">
          <p:sp>
            <p:nvSpPr>
              <p:cNvPr id="3" name="Content Placeholder 2" descr="SGD converges to a local optimum if the stochastic approximation criterion (Robbins–Monro conditions) is met: the sum over n equals 1 to infinity, of alpha sub n (a) equals infinity and the sum over n equals 1 to infinity, of alpha sub n, to the power 2, (a) is less than or equal to infinity. alpha sub n (a) … step size used after the n -th selection of action a. Popular choices for alpha :. Tabular MC uses alpha sub n (a) equals 1 over n which leads to sample averaging. Not appropriate for TD or approximation!. Constant alpha equals 1 divided by tau means a tabular estimate would approach to the mean target after tau experiences + keeps learning. How to choose alpha in practice. Typical values: 0.1, 0.01, 0.001. If learning diverges: reduce alpha by a factor of 10. If learning is too slow: increase alpha bey a factor of 2 to 5. Plot learning curve">
                <a:extLst>
                  <a:ext uri="{FF2B5EF4-FFF2-40B4-BE49-F238E27FC236}">
                    <a16:creationId xmlns:a16="http://schemas.microsoft.com/office/drawing/2014/main" id="{1D168661-07BB-DFA8-AD05-96A97DFC4345}"/>
                  </a:ext>
                </a:extLst>
              </p:cNvPr>
              <p:cNvSpPr>
                <a:spLocks noGrp="1"/>
              </p:cNvSpPr>
              <p:nvPr>
                <p:ph idx="1"/>
              </p:nvPr>
            </p:nvSpPr>
            <p:spPr>
              <a:xfrm>
                <a:off x="838200" y="1397330"/>
                <a:ext cx="10515600" cy="4980024"/>
              </a:xfrm>
            </p:spPr>
            <p:txBody>
              <a:bodyPr>
                <a:normAutofit fontScale="62500" lnSpcReduction="20000"/>
              </a:bodyPr>
              <a:lstStyle/>
              <a:p>
                <a:r>
                  <a:rPr lang="en-US" dirty="0"/>
                  <a:t>SGD converges to a </a:t>
                </a:r>
                <a:r>
                  <a:rPr lang="en-US" b="1" dirty="0"/>
                  <a:t>local optimum </a:t>
                </a:r>
                <a:r>
                  <a:rPr lang="en-US" dirty="0"/>
                  <a:t>if the </a:t>
                </a:r>
                <a:r>
                  <a:rPr lang="en-US" b="1" dirty="0"/>
                  <a:t>stochastic approximation criterion </a:t>
                </a:r>
                <a:r>
                  <a:rPr lang="en-US" dirty="0"/>
                  <a:t>(Robbins–Monro conditions) is met:</a:t>
                </a:r>
                <a:br>
                  <a:rPr lang="en-US" dirty="0"/>
                </a:br>
                <a:br>
                  <a:rPr lang="en-US" dirty="0"/>
                </a:br>
                <a14:m>
                  <m:oMath xmlns:m="http://schemas.openxmlformats.org/officeDocument/2006/math">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𝑛</m:t>
                        </m:r>
                        <m:r>
                          <a:rPr lang="en-US" b="0" i="1" smtClean="0">
                            <a:latin typeface="Cambria Math" panose="02040503050406030204" pitchFamily="18" charset="0"/>
                          </a:rPr>
                          <m:t>=1</m:t>
                        </m:r>
                      </m:sub>
                      <m:sup>
                        <m:r>
                          <a:rPr lang="en-US" b="0" i="1" smtClean="0">
                            <a:latin typeface="Cambria Math" panose="02040503050406030204" pitchFamily="18" charset="0"/>
                          </a:rPr>
                          <m:t>∞</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𝑛</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 </m:t>
                        </m:r>
                        <m:r>
                          <m:rPr>
                            <m:nor/>
                          </m:rPr>
                          <a:rPr lang="en-US" b="0" i="0" smtClean="0">
                            <a:latin typeface="Cambria Math" panose="02040503050406030204" pitchFamily="18" charset="0"/>
                          </a:rPr>
                          <m:t>     and</m:t>
                        </m:r>
                        <m:r>
                          <a:rPr lang="en-US" b="0" i="1" smtClean="0">
                            <a:latin typeface="Cambria Math" panose="02040503050406030204" pitchFamily="18" charset="0"/>
                          </a:rPr>
                          <m:t>    </m:t>
                        </m:r>
                      </m:e>
                    </m:nary>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=1</m:t>
                        </m:r>
                      </m:sub>
                      <m:sup>
                        <m:r>
                          <a:rPr lang="en-US" i="1">
                            <a:latin typeface="Cambria Math" panose="02040503050406030204" pitchFamily="18" charset="0"/>
                          </a:rPr>
                          <m:t>∞</m:t>
                        </m:r>
                      </m:sup>
                      <m:e>
                        <m:sSubSup>
                          <m:sSubSupPr>
                            <m:ctrlPr>
                              <a:rPr lang="en-US" i="1">
                                <a:latin typeface="Cambria Math" panose="02040503050406030204" pitchFamily="18" charset="0"/>
                              </a:rPr>
                            </m:ctrlPr>
                          </m:sSubSupPr>
                          <m:e>
                            <m:r>
                              <a:rPr lang="en-US" i="1">
                                <a:latin typeface="Cambria Math" panose="02040503050406030204" pitchFamily="18" charset="0"/>
                              </a:rPr>
                              <m:t>𝛼</m:t>
                            </m:r>
                          </m:e>
                          <m:sub>
                            <m:r>
                              <a:rPr lang="en-US" i="1">
                                <a:latin typeface="Cambria Math" panose="02040503050406030204" pitchFamily="18" charset="0"/>
                              </a:rPr>
                              <m:t>𝑛</m:t>
                            </m:r>
                          </m:sub>
                          <m:sup>
                            <m:r>
                              <a:rPr lang="en-US" b="0" i="1" smtClean="0">
                                <a:latin typeface="Cambria Math" panose="02040503050406030204" pitchFamily="18" charset="0"/>
                              </a:rPr>
                              <m:t>2</m:t>
                            </m:r>
                          </m:sup>
                        </m:sSubSup>
                        <m:d>
                          <m:dPr>
                            <m:ctrlPr>
                              <a:rPr lang="en-US" i="1">
                                <a:latin typeface="Cambria Math" panose="02040503050406030204" pitchFamily="18" charset="0"/>
                              </a:rPr>
                            </m:ctrlPr>
                          </m:dPr>
                          <m:e>
                            <m:r>
                              <a:rPr lang="en-US" i="1">
                                <a:latin typeface="Cambria Math" panose="02040503050406030204" pitchFamily="18" charset="0"/>
                              </a:rPr>
                              <m:t>𝑎</m:t>
                            </m:r>
                          </m:e>
                        </m:d>
                        <m:r>
                          <a:rPr lang="en-US" b="0" i="1" smtClean="0">
                            <a:latin typeface="Cambria Math" panose="02040503050406030204" pitchFamily="18" charset="0"/>
                          </a:rPr>
                          <m:t>≤ </m:t>
                        </m:r>
                        <m:r>
                          <a:rPr lang="en-US" i="1" smtClean="0">
                            <a:latin typeface="Cambria Math" panose="02040503050406030204" pitchFamily="18" charset="0"/>
                          </a:rPr>
                          <m:t>∞ </m:t>
                        </m:r>
                        <m:r>
                          <a:rPr lang="en-US" i="1">
                            <a:latin typeface="Cambria Math" panose="02040503050406030204" pitchFamily="18" charset="0"/>
                          </a:rPr>
                          <m:t> </m:t>
                        </m:r>
                      </m:e>
                    </m:nary>
                  </m:oMath>
                </a14:m>
                <a:endParaRPr lang="en-US" dirty="0"/>
              </a:p>
              <a:p>
                <a:endParaRPr lang="en-US" i="1" dirty="0">
                  <a:latin typeface="Cambria Math" panose="02040503050406030204" pitchFamily="18" charset="0"/>
                </a:endParaRPr>
              </a:p>
              <a:p>
                <a:pPr marL="457200" lvl="1"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𝑛</m:t>
                        </m:r>
                      </m:sub>
                    </m:sSub>
                    <m:d>
                      <m:dPr>
                        <m:ctrlPr>
                          <a:rPr lang="en-US" i="1">
                            <a:latin typeface="Cambria Math" panose="02040503050406030204" pitchFamily="18" charset="0"/>
                          </a:rPr>
                        </m:ctrlPr>
                      </m:dPr>
                      <m:e>
                        <m:r>
                          <a:rPr lang="en-US" i="1">
                            <a:latin typeface="Cambria Math" panose="02040503050406030204" pitchFamily="18" charset="0"/>
                          </a:rPr>
                          <m:t>𝑎</m:t>
                        </m:r>
                      </m:e>
                    </m:d>
                  </m:oMath>
                </a14:m>
                <a:r>
                  <a:rPr lang="en-US" dirty="0"/>
                  <a:t> … step size used after the </a:t>
                </a:r>
                <a14:m>
                  <m:oMath xmlns:m="http://schemas.openxmlformats.org/officeDocument/2006/math">
                    <m:r>
                      <a:rPr lang="en-US" b="0" i="1" smtClean="0">
                        <a:latin typeface="Cambria Math" panose="02040503050406030204" pitchFamily="18" charset="0"/>
                      </a:rPr>
                      <m:t>𝑛</m:t>
                    </m:r>
                  </m:oMath>
                </a14:m>
                <a:r>
                  <a:rPr lang="en-US" dirty="0"/>
                  <a:t>-</a:t>
                </a:r>
                <a:r>
                  <a:rPr lang="en-US" dirty="0" err="1"/>
                  <a:t>th</a:t>
                </a:r>
                <a:r>
                  <a:rPr lang="en-US" dirty="0"/>
                  <a:t> selection of action </a:t>
                </a:r>
                <a14:m>
                  <m:oMath xmlns:m="http://schemas.openxmlformats.org/officeDocument/2006/math">
                    <m:r>
                      <a:rPr lang="en-US" b="0" i="1" smtClean="0">
                        <a:latin typeface="Cambria Math" panose="02040503050406030204" pitchFamily="18" charset="0"/>
                      </a:rPr>
                      <m:t>𝑎</m:t>
                    </m:r>
                  </m:oMath>
                </a14:m>
                <a:endParaRPr lang="en-US" dirty="0"/>
              </a:p>
              <a:p>
                <a:endParaRPr lang="en-US" i="1" dirty="0">
                  <a:latin typeface="Cambria Math" panose="02040503050406030204" pitchFamily="18" charset="0"/>
                </a:endParaRPr>
              </a:p>
              <a:p>
                <a:r>
                  <a:rPr lang="en-US" b="1" dirty="0"/>
                  <a:t>Popular choices for </a:t>
                </a:r>
                <a14:m>
                  <m:oMath xmlns:m="http://schemas.openxmlformats.org/officeDocument/2006/math">
                    <m:r>
                      <a:rPr lang="en-US" b="1" i="1" smtClean="0">
                        <a:latin typeface="Cambria Math" panose="02040503050406030204" pitchFamily="18" charset="0"/>
                      </a:rPr>
                      <m:t>𝜶</m:t>
                    </m:r>
                  </m:oMath>
                </a14:m>
                <a:r>
                  <a:rPr lang="en-US" b="1" dirty="0"/>
                  <a:t>:</a:t>
                </a:r>
              </a:p>
              <a:p>
                <a:pPr lvl="1"/>
                <a:r>
                  <a:rPr lang="en-US" dirty="0"/>
                  <a:t>Tabular MC uses sample averaging which is equivalent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𝑛</m:t>
                        </m:r>
                      </m:sub>
                    </m:sSub>
                    <m:d>
                      <m:dPr>
                        <m:ctrlPr>
                          <a:rPr lang="en-US" i="1">
                            <a:latin typeface="Cambria Math" panose="02040503050406030204" pitchFamily="18" charset="0"/>
                          </a:rPr>
                        </m:ctrlPr>
                      </m:dPr>
                      <m:e>
                        <m:r>
                          <a:rPr lang="en-US" i="1">
                            <a:latin typeface="Cambria Math" panose="02040503050406030204" pitchFamily="18" charset="0"/>
                          </a:rPr>
                          <m:t>𝑎</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oMath>
                </a14:m>
                <a:r>
                  <a:rPr lang="en-US" dirty="0"/>
                  <a:t> .  </a:t>
                </a:r>
                <a:r>
                  <a:rPr lang="en-US" b="1" dirty="0"/>
                  <a:t>Not appropriate for TD or approximation</a:t>
                </a:r>
                <a:r>
                  <a:rPr lang="en-US" dirty="0"/>
                  <a:t>!</a:t>
                </a:r>
              </a:p>
              <a:p>
                <a:pPr lvl="1"/>
                <a:r>
                  <a:rPr lang="en-US" dirty="0"/>
                  <a:t>Constant </a:t>
                </a:r>
                <a14:m>
                  <m:oMath xmlns:m="http://schemas.openxmlformats.org/officeDocument/2006/math">
                    <m:r>
                      <a:rPr lang="en-US" b="0" i="1" smtClean="0">
                        <a:latin typeface="Cambria Math" panose="02040503050406030204" pitchFamily="18" charset="0"/>
                      </a:rPr>
                      <m:t>𝛼</m:t>
                    </m:r>
                    <m:r>
                      <a:rPr lang="en-US" i="1">
                        <a:latin typeface="Cambria Math" panose="02040503050406030204" pitchFamily="18" charset="0"/>
                      </a:rPr>
                      <m:t>=1/</m:t>
                    </m:r>
                    <m:r>
                      <a:rPr lang="en-US" i="1">
                        <a:latin typeface="Cambria Math" panose="02040503050406030204" pitchFamily="18" charset="0"/>
                      </a:rPr>
                      <m:t>𝜏</m:t>
                    </m:r>
                  </m:oMath>
                </a14:m>
                <a:r>
                  <a:rPr lang="en-US" dirty="0"/>
                  <a:t> means a tabular estimate would approach the mean target after </a:t>
                </a:r>
                <a14:m>
                  <m:oMath xmlns:m="http://schemas.openxmlformats.org/officeDocument/2006/math">
                    <m:r>
                      <a:rPr lang="en-US" i="1">
                        <a:latin typeface="Cambria Math" panose="02040503050406030204" pitchFamily="18" charset="0"/>
                      </a:rPr>
                      <m:t>𝜏</m:t>
                    </m:r>
                  </m:oMath>
                </a14:m>
                <a:r>
                  <a:rPr lang="en-US" dirty="0"/>
                  <a:t> experiences + keeps learning.</a:t>
                </a:r>
              </a:p>
              <a:p>
                <a:pPr lvl="1"/>
                <a:endParaRPr lang="en-US" dirty="0"/>
              </a:p>
              <a:p>
                <a:r>
                  <a:rPr lang="en-US" b="1" dirty="0"/>
                  <a:t>How to choose </a:t>
                </a:r>
                <a14:m>
                  <m:oMath xmlns:m="http://schemas.openxmlformats.org/officeDocument/2006/math">
                    <m:r>
                      <a:rPr lang="en-US" b="1" i="1" smtClean="0">
                        <a:latin typeface="Cambria Math" panose="02040503050406030204" pitchFamily="18" charset="0"/>
                      </a:rPr>
                      <m:t>𝜶</m:t>
                    </m:r>
                  </m:oMath>
                </a14:m>
                <a:r>
                  <a:rPr lang="en-US" b="1" dirty="0"/>
                  <a:t> in practice</a:t>
                </a:r>
              </a:p>
              <a:p>
                <a:pPr lvl="1"/>
                <a:r>
                  <a:rPr lang="en-US" dirty="0"/>
                  <a:t>Typical values: </a:t>
                </a:r>
                <a14:m>
                  <m:oMath xmlns:m="http://schemas.openxmlformats.org/officeDocument/2006/math">
                    <m:r>
                      <a:rPr lang="en-US" i="1" dirty="0" smtClean="0">
                        <a:latin typeface="Cambria Math" panose="02040503050406030204" pitchFamily="18" charset="0"/>
                      </a:rPr>
                      <m:t>0.1, 0.01, 0.001</m:t>
                    </m:r>
                  </m:oMath>
                </a14:m>
                <a:endParaRPr lang="en-US" dirty="0"/>
              </a:p>
              <a:p>
                <a:pPr lvl="1"/>
                <a:r>
                  <a:rPr lang="en-US" dirty="0"/>
                  <a:t>If learning diverges: reduce </a:t>
                </a:r>
                <a14:m>
                  <m:oMath xmlns:m="http://schemas.openxmlformats.org/officeDocument/2006/math">
                    <m:r>
                      <a:rPr lang="en-US" b="0" i="1" smtClean="0">
                        <a:latin typeface="Cambria Math" panose="02040503050406030204" pitchFamily="18" charset="0"/>
                      </a:rPr>
                      <m:t>𝛼</m:t>
                    </m:r>
                  </m:oMath>
                </a14:m>
                <a:r>
                  <a:rPr lang="en-US" dirty="0"/>
                  <a:t> by a factor of 10</a:t>
                </a:r>
              </a:p>
              <a:p>
                <a:pPr lvl="1"/>
                <a:r>
                  <a:rPr lang="en-US" dirty="0"/>
                  <a:t>If learning is too slow: increase </a:t>
                </a:r>
                <a14:m>
                  <m:oMath xmlns:m="http://schemas.openxmlformats.org/officeDocument/2006/math">
                    <m:r>
                      <a:rPr lang="en-US" b="0" i="1" smtClean="0">
                        <a:latin typeface="Cambria Math" panose="02040503050406030204" pitchFamily="18" charset="0"/>
                      </a:rPr>
                      <m:t>𝛼</m:t>
                    </m:r>
                  </m:oMath>
                </a14:m>
                <a:r>
                  <a:rPr lang="en-US" dirty="0"/>
                  <a:t> bey a factor of 2 to 5.</a:t>
                </a:r>
              </a:p>
              <a:p>
                <a:pPr lvl="1"/>
                <a:r>
                  <a:rPr lang="en-US" dirty="0"/>
                  <a:t>Plot learning curve.</a:t>
                </a:r>
              </a:p>
            </p:txBody>
          </p:sp>
        </mc:Choice>
        <mc:Fallback xmlns="">
          <p:sp>
            <p:nvSpPr>
              <p:cNvPr id="3" name="Content Placeholder 2" descr="SGD converges to a local optimum if the stochastic approximation criterion (Robbins–Monro conditions) is met: the sum over n equals 1 to infinity, of alpha sub n (a) equals infinity and the sum over n equals 1 to infinity, of alpha sub n, to the power 2, (a) is less than or equal to infinity. alpha sub n (a) … step size used after the n -th selection of action a. Popular choices for alpha :. Tabular MC uses alpha sub n (a) equals 1 over n which leads to sample averaging. Not appropriate for TD or approximation!. Constant alpha equals 1 divided by tau means a tabular estimate would approach to the mean target after tau experiences + keeps learning. How to choose alpha in practice. Typical values: 0.1, 0.01, 0.001. If learning diverges: reduce alpha by a factor of 10. If learning is too slow: increase alpha bey a factor of 2 to 5. Plot learning curve">
                <a:extLst>
                  <a:ext uri="{FF2B5EF4-FFF2-40B4-BE49-F238E27FC236}">
                    <a16:creationId xmlns:a16="http://schemas.microsoft.com/office/drawing/2014/main" id="{1D168661-07BB-DFA8-AD05-96A97DFC4345}"/>
                  </a:ext>
                </a:extLst>
              </p:cNvPr>
              <p:cNvSpPr>
                <a:spLocks noGrp="1" noRot="1" noChangeAspect="1" noMove="1" noResize="1" noEditPoints="1" noAdjustHandles="1" noChangeArrowheads="1" noChangeShapeType="1" noTextEdit="1"/>
              </p:cNvSpPr>
              <p:nvPr>
                <p:ph idx="1"/>
              </p:nvPr>
            </p:nvSpPr>
            <p:spPr>
              <a:xfrm>
                <a:off x="838200" y="1397330"/>
                <a:ext cx="10515600" cy="4980024"/>
              </a:xfrm>
              <a:blipFill>
                <a:blip r:embed="rId2"/>
                <a:stretch>
                  <a:fillRect l="-406" t="-9547"/>
                </a:stretch>
              </a:blipFill>
            </p:spPr>
            <p:txBody>
              <a:bodyPr/>
              <a:lstStyle/>
              <a:p>
                <a:r>
                  <a:rPr lang="en-US">
                    <a:noFill/>
                  </a:rPr>
                  <a:t> </a:t>
                </a:r>
              </a:p>
            </p:txBody>
          </p:sp>
        </mc:Fallback>
      </mc:AlternateContent>
      <p:sp>
        <p:nvSpPr>
          <p:cNvPr id="5" name="Speech Bubble: Rectangle with Corners Rounded 4">
            <a:extLst>
              <a:ext uri="{FF2B5EF4-FFF2-40B4-BE49-F238E27FC236}">
                <a16:creationId xmlns:a16="http://schemas.microsoft.com/office/drawing/2014/main" id="{CB080493-DE1F-1886-C258-BECEA4EBB212}"/>
              </a:ext>
            </a:extLst>
          </p:cNvPr>
          <p:cNvSpPr/>
          <p:nvPr/>
        </p:nvSpPr>
        <p:spPr>
          <a:xfrm>
            <a:off x="6149130" y="4492304"/>
            <a:ext cx="2940341" cy="536896"/>
          </a:xfrm>
          <a:prstGeom prst="wedgeRoundRectCallout">
            <a:avLst>
              <a:gd name="adj1" fmla="val -159257"/>
              <a:gd name="adj2" fmla="val -9094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 constant does not satisfy the stochastic approx. criterion.</a:t>
            </a:r>
          </a:p>
        </p:txBody>
      </p:sp>
    </p:spTree>
    <p:extLst>
      <p:ext uri="{BB962C8B-B14F-4D97-AF65-F5344CB8AC3E}">
        <p14:creationId xmlns:p14="http://schemas.microsoft.com/office/powerpoint/2010/main" val="223063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6FE9E-CB37-2E0D-D263-CE657F26374B}"/>
              </a:ext>
            </a:extLst>
          </p:cNvPr>
          <p:cNvSpPr>
            <a:spLocks noGrp="1"/>
          </p:cNvSpPr>
          <p:nvPr>
            <p:ph type="title"/>
          </p:nvPr>
        </p:nvSpPr>
        <p:spPr/>
        <p:txBody>
          <a:bodyPr/>
          <a:lstStyle/>
          <a:p>
            <a:r>
              <a:rPr lang="en-US" dirty="0"/>
              <a:t>Using a Target Estimate for SGD</a:t>
            </a:r>
          </a:p>
        </p:txBody>
      </p:sp>
      <mc:AlternateContent xmlns:mc="http://schemas.openxmlformats.org/markup-compatibility/2006" xmlns:a14="http://schemas.microsoft.com/office/drawing/2010/main">
        <mc:Choice Requires="a14">
          <p:sp>
            <p:nvSpPr>
              <p:cNvPr id="3" name="Content Placeholder 2" descr="Issue: We have assumed that we know the actual value of v sub pi (S sub t) for the update w sub t plus 1, equals w sub t plus alpha [v sub pi (S sub t) minus v hat (S sub t,w sub t)] gradient of v hat (S sub t,w sub t) but that is not the case in RL where we want to learn v sub pi . Solution: We can use any target estimate of the expected return U sub t instead w sub t plus 1, equals w sub t plus alpha [U sub t minus v hat (S sub t,w sub t)] gradient of v hat (S sub t,w sub t). SGD converges to a local optimum as long as U sub t is an unbiased estimate. I.e., E (U sub t given S sub t equals s) equals v sub pi (s) . Examples:. The Gradient Monte Carlo method uses the unbiased MC estimate U sub t equals G sub t">
                <a:extLst>
                  <a:ext uri="{FF2B5EF4-FFF2-40B4-BE49-F238E27FC236}">
                    <a16:creationId xmlns:a16="http://schemas.microsoft.com/office/drawing/2014/main" id="{C3CA6C95-A0E7-12A5-B281-567AF30BF918}"/>
                  </a:ext>
                </a:extLst>
              </p:cNvPr>
              <p:cNvSpPr>
                <a:spLocks noGrp="1"/>
              </p:cNvSpPr>
              <p:nvPr>
                <p:ph idx="1"/>
              </p:nvPr>
            </p:nvSpPr>
            <p:spPr>
              <a:xfrm>
                <a:off x="838200" y="1397330"/>
                <a:ext cx="10515600" cy="4951004"/>
              </a:xfrm>
            </p:spPr>
            <p:txBody>
              <a:bodyPr>
                <a:normAutofit fontScale="77500" lnSpcReduction="20000"/>
              </a:bodyPr>
              <a:lstStyle/>
              <a:p>
                <a:pPr marL="0" indent="0">
                  <a:buNone/>
                </a:pPr>
                <a:r>
                  <a:rPr lang="en-US" b="1" dirty="0"/>
                  <a:t>Issue</a:t>
                </a:r>
                <a:r>
                  <a:rPr lang="en-US" dirty="0"/>
                  <a:t>: We have assumed that we know the actual value of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𝜋</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e>
                    </m:d>
                  </m:oMath>
                </a14:m>
                <a:r>
                  <a:rPr lang="en-US" dirty="0"/>
                  <a:t> for the update</a:t>
                </a:r>
                <a:br>
                  <a:rPr lang="en-US" dirty="0"/>
                </a:br>
                <a:br>
                  <a:rPr lang="en-US" dirty="0"/>
                </a:br>
                <a14:m>
                  <m:oMathPara xmlns:m="http://schemas.openxmlformats.org/officeDocument/2006/math">
                    <m:oMath>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r>
                            <a:rPr lang="en-US" b="0" i="1" smtClean="0">
                              <a:latin typeface="Cambria Math" panose="02040503050406030204" pitchFamily="18" charset="0"/>
                            </a:rPr>
                            <m:t>+1</m:t>
                          </m:r>
                        </m:sub>
                      </m:sSub>
                      <m:r>
                        <a:rPr lang="en-US" i="1">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𝛼</m:t>
                      </m:r>
                      <m:d>
                        <m:dPr>
                          <m:begChr m:val="["/>
                          <m:endChr m:val="]"/>
                          <m:ctrlPr>
                            <a:rPr lang="en-US" i="1">
                              <a:solidFill>
                                <a:srgbClr val="FF0000"/>
                              </a:solidFill>
                              <a:latin typeface="Cambria Math" panose="02040503050406030204" pitchFamily="18" charset="0"/>
                              <a:ea typeface="Cambria Math" panose="02040503050406030204" pitchFamily="18" charset="0"/>
                            </a:rPr>
                          </m:ctrlPr>
                        </m:dPr>
                        <m:e>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𝑣</m:t>
                              </m:r>
                            </m:e>
                            <m:sub>
                              <m:r>
                                <a:rPr lang="en-US" i="1">
                                  <a:solidFill>
                                    <a:srgbClr val="FF0000"/>
                                  </a:solidFill>
                                  <a:latin typeface="Cambria Math" panose="02040503050406030204" pitchFamily="18" charset="0"/>
                                  <a:ea typeface="Cambria Math" panose="02040503050406030204" pitchFamily="18" charset="0"/>
                                </a:rPr>
                                <m:t>𝜋</m:t>
                              </m:r>
                            </m:sub>
                          </m:sSub>
                          <m:d>
                            <m:dPr>
                              <m:ctrlPr>
                                <a:rPr lang="en-US" i="1">
                                  <a:solidFill>
                                    <a:srgbClr val="FF0000"/>
                                  </a:solidFill>
                                  <a:latin typeface="Cambria Math" panose="02040503050406030204" pitchFamily="18" charset="0"/>
                                  <a:ea typeface="Cambria Math" panose="02040503050406030204" pitchFamily="18" charset="0"/>
                                </a:rPr>
                              </m:ctrlPr>
                            </m:dPr>
                            <m:e>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𝑆</m:t>
                                  </m:r>
                                </m:e>
                                <m:sub>
                                  <m:r>
                                    <a:rPr lang="en-US" i="1">
                                      <a:solidFill>
                                        <a:srgbClr val="FF0000"/>
                                      </a:solidFill>
                                      <a:latin typeface="Cambria Math" panose="02040503050406030204" pitchFamily="18" charset="0"/>
                                      <a:ea typeface="Cambria Math" panose="02040503050406030204" pitchFamily="18" charset="0"/>
                                    </a:rPr>
                                    <m:t>𝑡</m:t>
                                  </m:r>
                                </m:sub>
                              </m:sSub>
                            </m:e>
                          </m:d>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𝒘</m:t>
                                  </m:r>
                                </m:e>
                                <m:sub>
                                  <m:r>
                                    <a:rPr lang="en-US" i="1">
                                      <a:latin typeface="Cambria Math" panose="02040503050406030204" pitchFamily="18" charset="0"/>
                                      <a:ea typeface="Cambria Math" panose="02040503050406030204" pitchFamily="18" charset="0"/>
                                    </a:rPr>
                                    <m:t>𝑡</m:t>
                                  </m:r>
                                </m:sub>
                              </m:sSub>
                            </m:e>
                          </m:d>
                        </m:e>
                      </m:d>
                      <m:r>
                        <a:rPr lang="en-US" b="0" i="1" smtClean="0">
                          <a:latin typeface="Cambria Math" panose="02040503050406030204" pitchFamily="18" charset="0"/>
                          <a:ea typeface="Cambria Math" panose="02040503050406030204" pitchFamily="18" charset="0"/>
                        </a:rPr>
                        <m:t> </m:t>
                      </m:r>
                      <m:r>
                        <m:rPr>
                          <m:sty m:val="p"/>
                        </m:rP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𝒘</m:t>
                              </m:r>
                            </m:e>
                            <m:sub>
                              <m:r>
                                <a:rPr lang="en-US" i="1">
                                  <a:latin typeface="Cambria Math" panose="02040503050406030204" pitchFamily="18" charset="0"/>
                                  <a:ea typeface="Cambria Math" panose="02040503050406030204" pitchFamily="18" charset="0"/>
                                </a:rPr>
                                <m:t>𝑡</m:t>
                              </m:r>
                            </m:sub>
                          </m:sSub>
                        </m:e>
                      </m:d>
                    </m:oMath>
                  </m:oMathPara>
                </a14:m>
                <a:br>
                  <a:rPr lang="en-US" dirty="0"/>
                </a:br>
                <a:br>
                  <a:rPr lang="en-US" dirty="0"/>
                </a:br>
                <a:r>
                  <a:rPr lang="en-US" dirty="0"/>
                  <a:t>but that is not the case in RL where we want to learn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𝜋</m:t>
                        </m:r>
                      </m:sub>
                    </m:sSub>
                  </m:oMath>
                </a14:m>
                <a:r>
                  <a:rPr lang="en-US" dirty="0"/>
                  <a:t>.</a:t>
                </a:r>
              </a:p>
              <a:p>
                <a:endParaRPr lang="en-US" dirty="0"/>
              </a:p>
              <a:p>
                <a:pPr marL="0" indent="0">
                  <a:buNone/>
                </a:pPr>
                <a:r>
                  <a:rPr lang="en-US" b="1" dirty="0"/>
                  <a:t>Solution</a:t>
                </a:r>
                <a:r>
                  <a:rPr lang="en-US" dirty="0"/>
                  <a:t>: We can use any target estimate of the expected return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𝑡</m:t>
                        </m:r>
                      </m:sub>
                    </m:sSub>
                  </m:oMath>
                </a14:m>
                <a:r>
                  <a:rPr lang="en-US" dirty="0"/>
                  <a:t> instead</a:t>
                </a:r>
                <a:br>
                  <a:rPr lang="en-US" dirty="0"/>
                </a:br>
                <a:br>
                  <a:rPr lang="en-US" dirty="0"/>
                </a:br>
                <a14:m>
                  <m:oMathPara xmlns:m="http://schemas.openxmlformats.org/officeDocument/2006/math">
                    <m:oMath>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𝛼</m:t>
                      </m:r>
                      <m:d>
                        <m:dPr>
                          <m:begChr m:val="["/>
                          <m:endChr m:val="]"/>
                          <m:ctrlPr>
                            <a:rPr lang="en-US" i="1">
                              <a:solidFill>
                                <a:srgbClr val="FF0000"/>
                              </a:solidFill>
                              <a:latin typeface="Cambria Math" panose="02040503050406030204" pitchFamily="18" charset="0"/>
                              <a:ea typeface="Cambria Math" panose="02040503050406030204" pitchFamily="18" charset="0"/>
                            </a:rPr>
                          </m:ctrlPr>
                        </m:dPr>
                        <m:e>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𝑈</m:t>
                              </m:r>
                            </m:e>
                            <m:sub>
                              <m:r>
                                <a:rPr lang="en-US" i="1">
                                  <a:solidFill>
                                    <a:srgbClr val="FF0000"/>
                                  </a:solidFill>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𝒘</m:t>
                                  </m:r>
                                </m:e>
                                <m:sub>
                                  <m:r>
                                    <a:rPr lang="en-US" i="1">
                                      <a:latin typeface="Cambria Math" panose="02040503050406030204" pitchFamily="18" charset="0"/>
                                      <a:ea typeface="Cambria Math" panose="02040503050406030204" pitchFamily="18" charset="0"/>
                                    </a:rPr>
                                    <m:t>𝑡</m:t>
                                  </m:r>
                                </m:sub>
                              </m:sSub>
                            </m:e>
                          </m:d>
                        </m:e>
                      </m:d>
                      <m:r>
                        <a:rPr lang="en-US" b="0" i="1" smtClean="0">
                          <a:latin typeface="Cambria Math" panose="02040503050406030204" pitchFamily="18" charset="0"/>
                          <a:ea typeface="Cambria Math" panose="02040503050406030204" pitchFamily="18" charset="0"/>
                        </a:rPr>
                        <m:t> </m:t>
                      </m:r>
                      <m:r>
                        <m:rPr>
                          <m:sty m:val="p"/>
                        </m:rP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𝒘</m:t>
                              </m:r>
                            </m:e>
                            <m:sub>
                              <m:r>
                                <a:rPr lang="en-US" i="1">
                                  <a:latin typeface="Cambria Math" panose="02040503050406030204" pitchFamily="18" charset="0"/>
                                  <a:ea typeface="Cambria Math" panose="02040503050406030204" pitchFamily="18" charset="0"/>
                                </a:rPr>
                                <m:t>𝑡</m:t>
                              </m:r>
                            </m:sub>
                          </m:sSub>
                        </m:e>
                      </m:d>
                    </m:oMath>
                  </m:oMathPara>
                </a14:m>
                <a:br>
                  <a:rPr lang="en-US" dirty="0"/>
                </a:br>
                <a:endParaRPr lang="en-US" dirty="0"/>
              </a:p>
              <a:p>
                <a:endParaRPr lang="en-US" dirty="0"/>
              </a:p>
              <a:p>
                <a:pPr marL="0" indent="0">
                  <a:buNone/>
                </a:pPr>
                <a:r>
                  <a:rPr lang="en-US" dirty="0"/>
                  <a:t>SGD converges to a local optimum as long as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𝑡</m:t>
                        </m:r>
                      </m:sub>
                    </m:sSub>
                  </m:oMath>
                </a14:m>
                <a:r>
                  <a:rPr lang="en-US" dirty="0"/>
                  <a:t>  is an </a:t>
                </a:r>
                <a:r>
                  <a:rPr lang="en-US" b="1" dirty="0"/>
                  <a:t>unbiased estimate</a:t>
                </a:r>
                <a:r>
                  <a:rPr lang="en-US" dirty="0"/>
                  <a:t>. I.e., </a:t>
                </a:r>
                <a:br>
                  <a:rPr lang="en-US" dirty="0"/>
                </a:br>
                <a:br>
                  <a:rPr lang="en-US" dirty="0"/>
                </a:br>
                <a14:m>
                  <m:oMathPara xmlns:m="http://schemas.openxmlformats.org/officeDocument/2006/math">
                    <m:oMath>
                      <m:r>
                        <a:rPr lang="en-US" i="1">
                          <a:latin typeface="Cambria Math" panose="02040503050406030204" pitchFamily="18" charset="0"/>
                          <a:ea typeface="Cambria Math" panose="02040503050406030204" pitchFamily="18" charset="0"/>
                        </a:rPr>
                        <m:t>𝔼</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𝑈</m:t>
                              </m:r>
                            </m:e>
                            <m:sub>
                              <m:r>
                                <a:rPr lang="en-US" i="1">
                                  <a:latin typeface="Cambria Math" panose="02040503050406030204" pitchFamily="18" charset="0"/>
                                  <a:ea typeface="Cambria Math" panose="02040503050406030204" pitchFamily="18" charset="0"/>
                                </a:rPr>
                                <m:t>𝑡</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𝜋</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e>
                      </m:d>
                      <m:r>
                        <a:rPr lang="en-US" b="0" i="1" smtClean="0">
                          <a:latin typeface="Cambria Math" panose="02040503050406030204" pitchFamily="18" charset="0"/>
                          <a:ea typeface="Cambria Math" panose="02040503050406030204" pitchFamily="18" charset="0"/>
                        </a:rPr>
                        <m:t>.</m:t>
                      </m:r>
                    </m:oMath>
                  </m:oMathPara>
                </a14:m>
                <a:endParaRPr lang="en-US" dirty="0"/>
              </a:p>
              <a:p>
                <a:endParaRPr lang="en-US" dirty="0"/>
              </a:p>
              <a:p>
                <a:pPr marL="0" indent="0">
                  <a:buNone/>
                </a:pPr>
                <a:r>
                  <a:rPr lang="en-US" b="1" dirty="0"/>
                  <a:t>Examples</a:t>
                </a:r>
                <a:r>
                  <a:rPr lang="en-US" dirty="0"/>
                  <a:t>: </a:t>
                </a:r>
              </a:p>
              <a:p>
                <a:r>
                  <a:rPr lang="en-US" dirty="0"/>
                  <a:t>The Gradient Monte Carlo method uses the unbiased MC estimate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oMath>
                </a14:m>
                <a:endParaRPr lang="en-US" dirty="0"/>
              </a:p>
            </p:txBody>
          </p:sp>
        </mc:Choice>
        <mc:Fallback xmlns="">
          <p:sp>
            <p:nvSpPr>
              <p:cNvPr id="3" name="Content Placeholder 2" descr="Issue: We have assumed that we know the actual value of v sub pi (S sub t) for the update w sub t plus 1, equals w sub t plus alpha [v sub pi (S sub t) minus v hat (S sub t,w sub t)] gradient of v hat (S sub t,w sub t) but that is not the case in RL where we want to learn v sub pi . Solution: We can use any target estimate of the expected return U sub t instead w sub t plus 1, equals w sub t plus alpha [U sub t minus v hat (S sub t,w sub t)] gradient of v hat (S sub t,w sub t). SGD converges to a local optimum as long as U sub t is an unbiased estimate. I.e., E (U sub t given S sub t equals s) equals v sub pi (s) . Examples:. The Gradient Monte Carlo method uses the unbiased MC estimate U sub t equals G sub t">
                <a:extLst>
                  <a:ext uri="{FF2B5EF4-FFF2-40B4-BE49-F238E27FC236}">
                    <a16:creationId xmlns:a16="http://schemas.microsoft.com/office/drawing/2014/main" id="{C3CA6C95-A0E7-12A5-B281-567AF30BF918}"/>
                  </a:ext>
                </a:extLst>
              </p:cNvPr>
              <p:cNvSpPr>
                <a:spLocks noGrp="1" noRot="1" noChangeAspect="1" noMove="1" noResize="1" noEditPoints="1" noAdjustHandles="1" noChangeArrowheads="1" noChangeShapeType="1" noTextEdit="1"/>
              </p:cNvSpPr>
              <p:nvPr>
                <p:ph idx="1"/>
              </p:nvPr>
            </p:nvSpPr>
            <p:spPr>
              <a:xfrm>
                <a:off x="838200" y="1397330"/>
                <a:ext cx="10515600" cy="4951004"/>
              </a:xfrm>
              <a:blipFill>
                <a:blip r:embed="rId2"/>
                <a:stretch>
                  <a:fillRect l="-754" t="-2463"/>
                </a:stretch>
              </a:blipFill>
            </p:spPr>
            <p:txBody>
              <a:bodyPr/>
              <a:lstStyle/>
              <a:p>
                <a:r>
                  <a:rPr lang="en-US">
                    <a:noFill/>
                  </a:rPr>
                  <a:t> </a:t>
                </a:r>
              </a:p>
            </p:txBody>
          </p:sp>
        </mc:Fallback>
      </mc:AlternateContent>
    </p:spTree>
    <p:extLst>
      <p:ext uri="{BB962C8B-B14F-4D97-AF65-F5344CB8AC3E}">
        <p14:creationId xmlns:p14="http://schemas.microsoft.com/office/powerpoint/2010/main" val="2906293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D2905-E6EC-8819-EE56-53A4169153BE}"/>
              </a:ext>
            </a:extLst>
          </p:cNvPr>
          <p:cNvSpPr>
            <a:spLocks noGrp="1"/>
          </p:cNvSpPr>
          <p:nvPr>
            <p:ph type="title"/>
          </p:nvPr>
        </p:nvSpPr>
        <p:spPr/>
        <p:txBody>
          <a:bodyPr/>
          <a:lstStyle/>
          <a:p>
            <a:r>
              <a:rPr lang="en-US" dirty="0"/>
              <a:t>Gradient Monte Carlo Algorithm</a:t>
            </a:r>
          </a:p>
        </p:txBody>
      </p:sp>
      <p:pic>
        <p:nvPicPr>
          <p:cNvPr id="5" name="Picture 4" descr="Algorithm box: Gradient Monte Carlo Algorithm for Estimating v hat ≈ v pi. Input: the policy pi to be evaluated. Input: a differentiable function v hat: S × R^d → R. Algorithm parameter: step size alpha &gt; 0. Initialize value-function weights w in R^d arbitrarily (e.g., w = 0). Loop forever (for each episode): Generate an episode S_0, A_0, R_1, S_1, A_1, …, R_T, S_T using pi; Loop for each step of episode, t = 0, 1, …, T − 1: w ← w + alpha [G_t − v hat(S_t, w)] times the gradient of v hat(S_t, w).">
            <a:extLst>
              <a:ext uri="{FF2B5EF4-FFF2-40B4-BE49-F238E27FC236}">
                <a16:creationId xmlns:a16="http://schemas.microsoft.com/office/drawing/2014/main" id="{E7EDBCD4-F6F4-7E08-7AC0-D5D908315CCA}"/>
              </a:ext>
            </a:extLst>
          </p:cNvPr>
          <p:cNvPicPr>
            <a:picLocks noChangeAspect="1"/>
          </p:cNvPicPr>
          <p:nvPr/>
        </p:nvPicPr>
        <p:blipFill>
          <a:blip r:embed="rId2"/>
          <a:stretch>
            <a:fillRect/>
          </a:stretch>
        </p:blipFill>
        <p:spPr>
          <a:xfrm>
            <a:off x="838199" y="1124198"/>
            <a:ext cx="10515601" cy="3776234"/>
          </a:xfrm>
          <a:prstGeom prst="rect">
            <a:avLst/>
          </a:prstGeom>
        </p:spPr>
      </p:pic>
      <mc:AlternateContent xmlns:mc="http://schemas.openxmlformats.org/markup-compatibility/2006" xmlns:a14="http://schemas.microsoft.com/office/drawing/2010/main">
        <mc:Choice Requires="a14">
          <p:sp>
            <p:nvSpPr>
              <p:cNvPr id="7" name="TextBox 6" descr="Remember from MC: G sub t equals the sum over k equals 0 to T, of gamma to the power k R sub t plus k plus 1">
                <a:extLst>
                  <a:ext uri="{FF2B5EF4-FFF2-40B4-BE49-F238E27FC236}">
                    <a16:creationId xmlns:a16="http://schemas.microsoft.com/office/drawing/2014/main" id="{763EE823-2892-5E2B-9E19-4EDE0A4D1C0A}"/>
                  </a:ext>
                </a:extLst>
              </p:cNvPr>
              <p:cNvSpPr txBox="1"/>
              <p:nvPr/>
            </p:nvSpPr>
            <p:spPr>
              <a:xfrm>
                <a:off x="7766507" y="4484025"/>
                <a:ext cx="4140974" cy="1148456"/>
              </a:xfrm>
              <a:prstGeom prst="rect">
                <a:avLst/>
              </a:prstGeom>
              <a:ln>
                <a:headEnd type="none" w="med" len="med"/>
                <a:tailEnd type="none" w="med" len="med"/>
              </a:ln>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r>
                  <a:rPr lang="en-US" dirty="0"/>
                  <a:t>Remember from MC: </a:t>
                </a:r>
                <a:br>
                  <a:rPr lang="en-US" dirty="0"/>
                </a:b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𝑘</m:t>
                          </m:r>
                          <m:r>
                            <a:rPr lang="en-US" i="1">
                              <a:latin typeface="Cambria Math" panose="02040503050406030204" pitchFamily="18" charset="0"/>
                            </a:rPr>
                            <m:t>=0</m:t>
                          </m:r>
                        </m:sub>
                        <m:sup>
                          <m:r>
                            <a:rPr lang="en-US" i="1">
                              <a:latin typeface="Cambria Math" panose="02040503050406030204" pitchFamily="18" charset="0"/>
                            </a:rPr>
                            <m:t>𝑇</m:t>
                          </m:r>
                        </m:sup>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𝑘</m:t>
                              </m:r>
                            </m:sup>
                          </m:sSup>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+1</m:t>
                              </m:r>
                            </m:sub>
                          </m:sSub>
                        </m:e>
                      </m:nary>
                    </m:oMath>
                  </m:oMathPara>
                </a14:m>
                <a:endParaRPr lang="en-US" dirty="0"/>
              </a:p>
            </p:txBody>
          </p:sp>
        </mc:Choice>
        <mc:Fallback xmlns="">
          <p:sp>
            <p:nvSpPr>
              <p:cNvPr id="7" name="TextBox 6" descr="Remember from MC: G sub t equals the sum over k equals 0 to T, of gamma to the power k R sub t plus k plus 1">
                <a:extLst>
                  <a:ext uri="{FF2B5EF4-FFF2-40B4-BE49-F238E27FC236}">
                    <a16:creationId xmlns:a16="http://schemas.microsoft.com/office/drawing/2014/main" id="{763EE823-2892-5E2B-9E19-4EDE0A4D1C0A}"/>
                  </a:ext>
                </a:extLst>
              </p:cNvPr>
              <p:cNvSpPr txBox="1">
                <a:spLocks noRot="1" noChangeAspect="1" noMove="1" noResize="1" noEditPoints="1" noAdjustHandles="1" noChangeArrowheads="1" noChangeShapeType="1" noTextEdit="1"/>
              </p:cNvSpPr>
              <p:nvPr/>
            </p:nvSpPr>
            <p:spPr>
              <a:xfrm>
                <a:off x="7766507" y="4484025"/>
                <a:ext cx="4140974" cy="1148456"/>
              </a:xfrm>
              <a:prstGeom prst="rect">
                <a:avLst/>
              </a:prstGeom>
              <a:blipFill>
                <a:blip r:embed="rId3"/>
                <a:stretch>
                  <a:fillRect l="-1026" t="-2094"/>
                </a:stretch>
              </a:blipFill>
              <a:ln>
                <a:headEnd type="none" w="med" len="med"/>
                <a:tailEnd type="none" w="med" len="med"/>
              </a:ln>
            </p:spPr>
            <p:txBody>
              <a:bodyPr/>
              <a:lstStyle/>
              <a:p>
                <a:r>
                  <a:rPr lang="en-US">
                    <a:noFill/>
                  </a:rPr>
                  <a:t> </a:t>
                </a:r>
              </a:p>
            </p:txBody>
          </p:sp>
        </mc:Fallback>
      </mc:AlternateContent>
    </p:spTree>
    <p:extLst>
      <p:ext uri="{BB962C8B-B14F-4D97-AF65-F5344CB8AC3E}">
        <p14:creationId xmlns:p14="http://schemas.microsoft.com/office/powerpoint/2010/main" val="2387761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8EF1A-F8D2-3414-4EA2-D8E03871F8F3}"/>
              </a:ext>
            </a:extLst>
          </p:cNvPr>
          <p:cNvSpPr>
            <a:spLocks noGrp="1"/>
          </p:cNvSpPr>
          <p:nvPr>
            <p:ph type="title"/>
          </p:nvPr>
        </p:nvSpPr>
        <p:spPr/>
        <p:txBody>
          <a:bodyPr/>
          <a:lstStyle/>
          <a:p>
            <a:r>
              <a:rPr lang="en-US" dirty="0"/>
              <a:t>Bootstrapping and Semi-Gradient Methods</a:t>
            </a:r>
          </a:p>
        </p:txBody>
      </p:sp>
      <mc:AlternateContent xmlns:mc="http://schemas.openxmlformats.org/markup-compatibility/2006" xmlns:a14="http://schemas.microsoft.com/office/drawing/2010/main">
        <mc:Choice Requires="a14">
          <p:sp>
            <p:nvSpPr>
              <p:cNvPr id="3" name="Content Placeholder 2" descr="Issue:. To get the true gradient requires, the target has to be unbiased, fixed and only the prediction can depend on w . w sub t plus 1, equals w sub t plus alpha [U sub t minus v hat (S sub t,w sub t)] gradient of v hat (S sub t,w sub t). Gradient Monte Carlo Algorithm: Works since U sub t equals G sub t is the result of only sampled rewards which are independent of w . Bootstrapping methods (e.g., n -step TD): break this requirement because U sub t depends on the bootstrap estimate v hat (S sub t plus n,w) and thus the current value of w . This does not result in a true gradient, and convergence cannot be guaranteed. Semi-Gradient Methods:. If we use the approach with a biased target estimate, then this is called a semi-gradient method. Advantages:. Are usually faster learners. Often still converge (especially for linear approximators). TD can learn online">
                <a:extLst>
                  <a:ext uri="{FF2B5EF4-FFF2-40B4-BE49-F238E27FC236}">
                    <a16:creationId xmlns:a16="http://schemas.microsoft.com/office/drawing/2014/main" id="{EF5111B7-DA2B-3620-D5E7-614C6CD0E5D7}"/>
                  </a:ext>
                </a:extLst>
              </p:cNvPr>
              <p:cNvSpPr>
                <a:spLocks noGrp="1"/>
              </p:cNvSpPr>
              <p:nvPr>
                <p:ph idx="1"/>
              </p:nvPr>
            </p:nvSpPr>
            <p:spPr>
              <a:xfrm>
                <a:off x="838200" y="1397330"/>
                <a:ext cx="10515600" cy="4980985"/>
              </a:xfrm>
            </p:spPr>
            <p:txBody>
              <a:bodyPr>
                <a:normAutofit fontScale="62500" lnSpcReduction="20000"/>
              </a:bodyPr>
              <a:lstStyle/>
              <a:p>
                <a:pPr marL="0" indent="0">
                  <a:buNone/>
                </a:pPr>
                <a:r>
                  <a:rPr lang="en-US" b="1" dirty="0" err="1"/>
                  <a:t>Issue:</a:t>
                </a:r>
                <a:endParaRPr lang="en-US" b="1" dirty="0"/>
              </a:p>
              <a:p>
                <a:r>
                  <a:rPr lang="en-US" dirty="0"/>
                  <a:t>To get the true gradient requires, the target has to be </a:t>
                </a:r>
                <a:r>
                  <a:rPr lang="en-US" b="1" dirty="0"/>
                  <a:t>unbiased</a:t>
                </a:r>
                <a:r>
                  <a:rPr lang="en-US" dirty="0"/>
                  <a:t>, fixed and only the prediction can depend on </a:t>
                </a:r>
                <a14:m>
                  <m:oMath xmlns:m="http://schemas.openxmlformats.org/officeDocument/2006/math">
                    <m:r>
                      <a:rPr lang="en-US" b="1" i="1">
                        <a:latin typeface="Cambria Math" panose="02040503050406030204" pitchFamily="18" charset="0"/>
                      </a:rPr>
                      <m:t>𝒘</m:t>
                    </m:r>
                  </m:oMath>
                </a14:m>
                <a:r>
                  <a:rPr lang="en-US" dirty="0"/>
                  <a:t>.</a:t>
                </a:r>
                <a:br>
                  <a:rPr lang="en-US" dirty="0"/>
                </a:br>
                <a:br>
                  <a:rPr lang="en-US" dirty="0"/>
                </a:b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𝛼</m:t>
                    </m:r>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𝑈</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𝒘</m:t>
                                </m:r>
                              </m:e>
                              <m:sub>
                                <m:r>
                                  <a:rPr lang="en-US" i="1">
                                    <a:latin typeface="Cambria Math" panose="02040503050406030204" pitchFamily="18" charset="0"/>
                                    <a:ea typeface="Cambria Math" panose="02040503050406030204" pitchFamily="18" charset="0"/>
                                  </a:rPr>
                                  <m:t>𝑡</m:t>
                                </m:r>
                              </m:sub>
                            </m:sSub>
                          </m:e>
                        </m:d>
                      </m:e>
                    </m:d>
                    <m:r>
                      <a:rPr lang="en-US" i="1">
                        <a:latin typeface="Cambria Math" panose="02040503050406030204" pitchFamily="18" charset="0"/>
                        <a:ea typeface="Cambria Math" panose="02040503050406030204" pitchFamily="18" charset="0"/>
                      </a:rPr>
                      <m:t> </m:t>
                    </m:r>
                    <m:r>
                      <m:rPr>
                        <m:sty m:val="p"/>
                      </m:rP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𝒘</m:t>
                            </m:r>
                          </m:e>
                          <m:sub>
                            <m:r>
                              <a:rPr lang="en-US" i="1">
                                <a:latin typeface="Cambria Math" panose="02040503050406030204" pitchFamily="18" charset="0"/>
                                <a:ea typeface="Cambria Math" panose="02040503050406030204" pitchFamily="18" charset="0"/>
                              </a:rPr>
                              <m:t>𝑡</m:t>
                            </m:r>
                          </m:sub>
                        </m:sSub>
                      </m:e>
                    </m:d>
                  </m:oMath>
                </a14:m>
                <a:br>
                  <a:rPr lang="en-US" dirty="0"/>
                </a:br>
                <a:endParaRPr lang="en-US" dirty="0"/>
              </a:p>
              <a:p>
                <a:endParaRPr lang="en-US" b="1" dirty="0"/>
              </a:p>
              <a:p>
                <a:pPr marL="0" indent="0">
                  <a:buNone/>
                </a:pPr>
                <a:r>
                  <a:rPr lang="en-US" b="1" dirty="0"/>
                  <a:t>Gradient Monte Carlo Algorithm: </a:t>
                </a:r>
                <a:r>
                  <a:rPr lang="en-US" dirty="0"/>
                  <a:t>Works since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𝑡</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oMath>
                </a14:m>
                <a:r>
                  <a:rPr lang="en-US" i="1" dirty="0"/>
                  <a:t> </a:t>
                </a:r>
                <a:r>
                  <a:rPr lang="en-US" dirty="0"/>
                  <a:t>is the result of only sampled rewards which are independent of </a:t>
                </a:r>
                <a14:m>
                  <m:oMath xmlns:m="http://schemas.openxmlformats.org/officeDocument/2006/math">
                    <m:r>
                      <a:rPr lang="en-US" b="1" i="1">
                        <a:latin typeface="Cambria Math" panose="02040503050406030204" pitchFamily="18" charset="0"/>
                      </a:rPr>
                      <m:t>𝒘</m:t>
                    </m:r>
                  </m:oMath>
                </a14:m>
                <a:r>
                  <a:rPr lang="en-US" dirty="0"/>
                  <a:t>.</a:t>
                </a:r>
                <a:endParaRPr lang="en-US" b="1" dirty="0"/>
              </a:p>
              <a:p>
                <a:pPr marL="0" indent="0">
                  <a:buNone/>
                </a:pPr>
                <a:br>
                  <a:rPr lang="en-US" b="1" dirty="0"/>
                </a:br>
                <a:r>
                  <a:rPr lang="en-US" b="1" dirty="0"/>
                  <a:t>Bootstrapping </a:t>
                </a:r>
                <a:r>
                  <a:rPr lang="en-US" dirty="0"/>
                  <a:t>(e.g., </a:t>
                </a:r>
                <a14:m>
                  <m:oMath xmlns:m="http://schemas.openxmlformats.org/officeDocument/2006/math">
                    <m:r>
                      <a:rPr lang="en-US" i="1" dirty="0" smtClean="0">
                        <a:latin typeface="Cambria Math" panose="02040503050406030204" pitchFamily="18" charset="0"/>
                      </a:rPr>
                      <m:t>𝑛</m:t>
                    </m:r>
                  </m:oMath>
                </a14:m>
                <a:r>
                  <a:rPr lang="en-US" dirty="0"/>
                  <a:t>-step TD): breaks this requirement because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𝑡</m:t>
                        </m:r>
                      </m:sub>
                    </m:sSub>
                  </m:oMath>
                </a14:m>
                <a:r>
                  <a:rPr lang="en-US" dirty="0"/>
                  <a:t> depends on the </a:t>
                </a:r>
                <a:r>
                  <a:rPr lang="en-US" dirty="0" err="1"/>
                  <a:t>bootstraped</a:t>
                </a:r>
                <a:r>
                  <a:rPr lang="en-US" dirty="0"/>
                  <a:t> estimate </a:t>
                </a:r>
                <a14:m>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sub>
                        </m:sSub>
                        <m:r>
                          <a:rPr lang="en-US" i="1">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𝒘</m:t>
                        </m:r>
                      </m:e>
                    </m:d>
                  </m:oMath>
                </a14:m>
                <a:r>
                  <a:rPr lang="en-US" dirty="0"/>
                  <a:t> and thus the current value of </a:t>
                </a:r>
                <a14:m>
                  <m:oMath xmlns:m="http://schemas.openxmlformats.org/officeDocument/2006/math">
                    <m:r>
                      <a:rPr lang="en-US" b="1" i="1" smtClean="0">
                        <a:latin typeface="Cambria Math" panose="02040503050406030204" pitchFamily="18" charset="0"/>
                      </a:rPr>
                      <m:t>𝒘</m:t>
                    </m:r>
                  </m:oMath>
                </a14:m>
                <a:r>
                  <a:rPr lang="en-US" dirty="0"/>
                  <a:t>. </a:t>
                </a:r>
                <a:br>
                  <a:rPr lang="en-US" dirty="0"/>
                </a:br>
                <a:r>
                  <a:rPr lang="en-US" dirty="0"/>
                  <a:t>This does not result in a true gradient, and convergence cannot be guaranteed.</a:t>
                </a:r>
              </a:p>
              <a:p>
                <a:pPr marL="0" indent="0">
                  <a:buNone/>
                </a:pPr>
                <a:endParaRPr lang="en-US" b="1" dirty="0"/>
              </a:p>
              <a:p>
                <a:pPr marL="0" indent="0">
                  <a:buNone/>
                </a:pPr>
                <a:r>
                  <a:rPr lang="en-US" b="1" dirty="0"/>
                  <a:t>Semi-Gradient Methods:</a:t>
                </a:r>
              </a:p>
              <a:p>
                <a:r>
                  <a:rPr lang="en-US" dirty="0"/>
                  <a:t>If we use the approach with a biased target estimate, then this is called a semi-gradient method.</a:t>
                </a:r>
              </a:p>
              <a:p>
                <a:r>
                  <a:rPr lang="en-US" dirty="0"/>
                  <a:t>Advantages: </a:t>
                </a:r>
              </a:p>
              <a:p>
                <a:pPr lvl="1"/>
                <a:r>
                  <a:rPr lang="en-US" dirty="0"/>
                  <a:t>Are usually faster learners.</a:t>
                </a:r>
              </a:p>
              <a:p>
                <a:pPr lvl="1"/>
                <a:r>
                  <a:rPr lang="en-US" dirty="0"/>
                  <a:t>Often still converge (especially for linear approximators).</a:t>
                </a:r>
              </a:p>
              <a:p>
                <a:pPr lvl="1"/>
                <a:r>
                  <a:rPr lang="en-US" dirty="0"/>
                  <a:t>TD can learn online.</a:t>
                </a:r>
              </a:p>
            </p:txBody>
          </p:sp>
        </mc:Choice>
        <mc:Fallback xmlns="">
          <p:sp>
            <p:nvSpPr>
              <p:cNvPr id="3" name="Content Placeholder 2" descr="Issue:. To get the true gradient requires, the target has to be unbiased, fixed and only the prediction can depend on w . w sub t plus 1, equals w sub t plus alpha [U sub t minus v hat (S sub t,w sub t)] gradient of v hat (S sub t,w sub t). Gradient Monte Carlo Algorithm: Works since U sub t equals G sub t is the result of only sampled rewards which are independent of w . Bootstrapping methods (e.g., n -step TD): break this requirement because U sub t depends on the bootstrap estimate v hat (S sub t plus n,w) and thus the current value of w . This does not result in a true gradient, and convergence cannot be guaranteed. Semi-Gradient Methods:. If we use the approach with a biased target estimate, then this is called a semi-gradient method. Advantages:. Are usually faster learners. Often still converge (especially for linear approximators). TD can learn online">
                <a:extLst>
                  <a:ext uri="{FF2B5EF4-FFF2-40B4-BE49-F238E27FC236}">
                    <a16:creationId xmlns:a16="http://schemas.microsoft.com/office/drawing/2014/main" id="{EF5111B7-DA2B-3620-D5E7-614C6CD0E5D7}"/>
                  </a:ext>
                </a:extLst>
              </p:cNvPr>
              <p:cNvSpPr>
                <a:spLocks noGrp="1" noRot="1" noChangeAspect="1" noMove="1" noResize="1" noEditPoints="1" noAdjustHandles="1" noChangeArrowheads="1" noChangeShapeType="1" noTextEdit="1"/>
              </p:cNvSpPr>
              <p:nvPr>
                <p:ph idx="1"/>
              </p:nvPr>
            </p:nvSpPr>
            <p:spPr>
              <a:xfrm>
                <a:off x="838200" y="1397330"/>
                <a:ext cx="10515600" cy="4980985"/>
              </a:xfrm>
              <a:blipFill>
                <a:blip r:embed="rId2"/>
                <a:stretch>
                  <a:fillRect l="-522" t="-1836"/>
                </a:stretch>
              </a:blipFill>
            </p:spPr>
            <p:txBody>
              <a:bodyPr/>
              <a:lstStyle/>
              <a:p>
                <a:r>
                  <a:rPr lang="en-US">
                    <a:noFill/>
                  </a:rPr>
                  <a:t> </a:t>
                </a:r>
              </a:p>
            </p:txBody>
          </p:sp>
        </mc:Fallback>
      </mc:AlternateContent>
    </p:spTree>
    <p:extLst>
      <p:ext uri="{BB962C8B-B14F-4D97-AF65-F5344CB8AC3E}">
        <p14:creationId xmlns:p14="http://schemas.microsoft.com/office/powerpoint/2010/main" val="4063347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657E9-08FB-929F-E25C-9E12E8E38B86}"/>
              </a:ext>
            </a:extLst>
          </p:cNvPr>
          <p:cNvSpPr>
            <a:spLocks noGrp="1"/>
          </p:cNvSpPr>
          <p:nvPr>
            <p:ph type="title"/>
          </p:nvPr>
        </p:nvSpPr>
        <p:spPr/>
        <p:txBody>
          <a:bodyPr/>
          <a:lstStyle/>
          <a:p>
            <a:r>
              <a:rPr lang="en-US" dirty="0"/>
              <a:t>Semi-gradient TD(0)</a:t>
            </a:r>
          </a:p>
        </p:txBody>
      </p:sp>
      <p:pic>
        <p:nvPicPr>
          <p:cNvPr id="5" name="Picture 4" descr="Algorithm box: Semi-gradient TD(0) for estimating v hat ≈ v pi. Input: the policy pi to be evaluated. Input: a differentiable function v hat: S plus × R^d → R such that v hat(terminal, ·) = 0. Algorithm parameter: step size alpha &gt; 0. Initialize value-function weights w in R^d arbitrarily (e.g., w = 0). Loop for each episode: Initialize S; Loop for each step of episode: Choose A ~ pi(· | S); Take action A, observe R, S′; w ← w + alpha [R + gamma v hat(S′, w) − v hat(S, w)] times the gradient of v hat(S, w); S ← S′; until S is terminal.">
            <a:extLst>
              <a:ext uri="{FF2B5EF4-FFF2-40B4-BE49-F238E27FC236}">
                <a16:creationId xmlns:a16="http://schemas.microsoft.com/office/drawing/2014/main" id="{0FC398A0-3D5C-B42F-6A72-E3FFED218479}"/>
              </a:ext>
            </a:extLst>
          </p:cNvPr>
          <p:cNvPicPr>
            <a:picLocks noChangeAspect="1"/>
          </p:cNvPicPr>
          <p:nvPr/>
        </p:nvPicPr>
        <p:blipFill>
          <a:blip r:embed="rId2"/>
          <a:stretch>
            <a:fillRect/>
          </a:stretch>
        </p:blipFill>
        <p:spPr>
          <a:xfrm>
            <a:off x="838200" y="1195667"/>
            <a:ext cx="10515601" cy="5041835"/>
          </a:xfrm>
          <a:prstGeom prst="rect">
            <a:avLst/>
          </a:prstGeom>
        </p:spPr>
      </p:pic>
      <p:cxnSp>
        <p:nvCxnSpPr>
          <p:cNvPr id="7" name="Straight Connector 6">
            <a:extLst>
              <a:ext uri="{FF2B5EF4-FFF2-40B4-BE49-F238E27FC236}">
                <a16:creationId xmlns:a16="http://schemas.microsoft.com/office/drawing/2014/main" id="{BC98F6AF-8EC3-90BA-203C-644C9BAD6DB4}"/>
              </a:ext>
              <a:ext uri="{C183D7F6-B498-43B3-948B-1728B52AA6E4}">
                <adec:decorative xmlns:adec="http://schemas.microsoft.com/office/drawing/2017/decorative" val="1"/>
              </a:ext>
            </a:extLst>
          </p:cNvPr>
          <p:cNvCxnSpPr>
            <a:cxnSpLocks/>
          </p:cNvCxnSpPr>
          <p:nvPr/>
        </p:nvCxnSpPr>
        <p:spPr>
          <a:xfrm>
            <a:off x="3413294" y="5325856"/>
            <a:ext cx="1640337" cy="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Speech Bubble: Rectangle with Corners Rounded 8" descr="U sub t is a bootstrapped estimate and biased because it uses w . Convergence is not guaranteed!">
                <a:extLst>
                  <a:ext uri="{FF2B5EF4-FFF2-40B4-BE49-F238E27FC236}">
                    <a16:creationId xmlns:a16="http://schemas.microsoft.com/office/drawing/2014/main" id="{C622FEA7-28B7-FDAC-0622-559EAC7C3CE0}"/>
                  </a:ext>
                </a:extLst>
              </p:cNvPr>
              <p:cNvSpPr/>
              <p:nvPr/>
            </p:nvSpPr>
            <p:spPr>
              <a:xfrm>
                <a:off x="4802346" y="5598827"/>
                <a:ext cx="3951910" cy="894047"/>
              </a:xfrm>
              <a:prstGeom prst="wedgeRoundRectCallout">
                <a:avLst>
                  <a:gd name="adj1" fmla="val -57606"/>
                  <a:gd name="adj2" fmla="val -7463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𝑡</m:t>
                        </m:r>
                      </m:sub>
                    </m:sSub>
                  </m:oMath>
                </a14:m>
                <a:r>
                  <a:rPr lang="en-US" dirty="0"/>
                  <a:t> is a bootstrapped estimate and biased because it uses </a:t>
                </a:r>
                <a14:m>
                  <m:oMath xmlns:m="http://schemas.openxmlformats.org/officeDocument/2006/math">
                    <m:r>
                      <a:rPr lang="en-US" b="1" i="1" smtClean="0">
                        <a:latin typeface="Cambria Math" panose="02040503050406030204" pitchFamily="18" charset="0"/>
                      </a:rPr>
                      <m:t>𝒘</m:t>
                    </m:r>
                  </m:oMath>
                </a14:m>
                <a:r>
                  <a:rPr lang="en-US" dirty="0"/>
                  <a:t>. Convergence is not guaranteed!</a:t>
                </a:r>
              </a:p>
            </p:txBody>
          </p:sp>
        </mc:Choice>
        <mc:Fallback xmlns="">
          <p:sp>
            <p:nvSpPr>
              <p:cNvPr id="9" name="Speech Bubble: Rectangle with Corners Rounded 8" descr="U sub t is a bootstrapped estimate and biased because it uses w . Convergence is not guaranteed!">
                <a:extLst>
                  <a:ext uri="{FF2B5EF4-FFF2-40B4-BE49-F238E27FC236}">
                    <a16:creationId xmlns:a16="http://schemas.microsoft.com/office/drawing/2014/main" id="{C622FEA7-28B7-FDAC-0622-559EAC7C3CE0}"/>
                  </a:ext>
                </a:extLst>
              </p:cNvPr>
              <p:cNvSpPr>
                <a:spLocks noRot="1" noChangeAspect="1" noMove="1" noResize="1" noEditPoints="1" noAdjustHandles="1" noChangeArrowheads="1" noChangeShapeType="1" noTextEdit="1"/>
              </p:cNvSpPr>
              <p:nvPr/>
            </p:nvSpPr>
            <p:spPr>
              <a:xfrm>
                <a:off x="4802346" y="5598827"/>
                <a:ext cx="3951910" cy="894047"/>
              </a:xfrm>
              <a:prstGeom prst="wedgeRoundRectCallout">
                <a:avLst>
                  <a:gd name="adj1" fmla="val -57606"/>
                  <a:gd name="adj2" fmla="val -74638"/>
                  <a:gd name="adj3" fmla="val 16667"/>
                </a:avLst>
              </a:prstGeom>
              <a:blipFill>
                <a:blip r:embed="rId3"/>
                <a:stretch>
                  <a:fillRect b="-9043"/>
                </a:stretch>
              </a:blipFill>
            </p:spPr>
            <p:txBody>
              <a:bodyPr/>
              <a:lstStyle/>
              <a:p>
                <a:r>
                  <a:rPr lang="en-US">
                    <a:noFill/>
                  </a:rPr>
                  <a:t> </a:t>
                </a:r>
              </a:p>
            </p:txBody>
          </p:sp>
        </mc:Fallback>
      </mc:AlternateContent>
    </p:spTree>
    <p:extLst>
      <p:ext uri="{BB962C8B-B14F-4D97-AF65-F5344CB8AC3E}">
        <p14:creationId xmlns:p14="http://schemas.microsoft.com/office/powerpoint/2010/main" val="3819654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7A09B8-D05A-ACB1-E7C4-C0F943E2413B}"/>
              </a:ext>
            </a:extLst>
          </p:cNvPr>
          <p:cNvSpPr>
            <a:spLocks noGrp="1"/>
          </p:cNvSpPr>
          <p:nvPr>
            <p:ph type="title"/>
          </p:nvPr>
        </p:nvSpPr>
        <p:spPr/>
        <p:txBody>
          <a:bodyPr/>
          <a:lstStyle/>
          <a:p>
            <a:r>
              <a:rPr lang="en-US" dirty="0"/>
              <a:t>Linear Approximation Methods</a:t>
            </a:r>
          </a:p>
        </p:txBody>
      </p:sp>
      <mc:AlternateContent xmlns:mc="http://schemas.openxmlformats.org/markup-compatibility/2006" xmlns:a14="http://schemas.microsoft.com/office/drawing/2010/main">
        <mc:Choice Requires="a14">
          <p:sp>
            <p:nvSpPr>
              <p:cNvPr id="5" name="Text Placeholder 4" descr="The approximation function v hat (s,w)">
                <a:extLst>
                  <a:ext uri="{FF2B5EF4-FFF2-40B4-BE49-F238E27FC236}">
                    <a16:creationId xmlns:a16="http://schemas.microsoft.com/office/drawing/2014/main" id="{30D0F8F0-5C2B-42CF-9485-B7064784A25E}"/>
                  </a:ext>
                </a:extLst>
              </p:cNvPr>
              <p:cNvSpPr>
                <a:spLocks noGrp="1"/>
              </p:cNvSpPr>
              <p:nvPr>
                <p:ph type="body" idx="1"/>
              </p:nvPr>
            </p:nvSpPr>
            <p:spPr/>
            <p:txBody>
              <a:bodyPr/>
              <a:lstStyle/>
              <a:p>
                <a:r>
                  <a:rPr lang="en-US" dirty="0"/>
                  <a:t>The approximation function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𝒘</m:t>
                        </m:r>
                      </m:e>
                    </m:d>
                  </m:oMath>
                </a14:m>
                <a:endParaRPr lang="en-US" dirty="0"/>
              </a:p>
            </p:txBody>
          </p:sp>
        </mc:Choice>
        <mc:Fallback xmlns="">
          <p:sp>
            <p:nvSpPr>
              <p:cNvPr id="5" name="Text Placeholder 4" descr="The approximation function v hat (s,w)">
                <a:extLst>
                  <a:ext uri="{FF2B5EF4-FFF2-40B4-BE49-F238E27FC236}">
                    <a16:creationId xmlns:a16="http://schemas.microsoft.com/office/drawing/2014/main" id="{30D0F8F0-5C2B-42CF-9485-B7064784A25E}"/>
                  </a:ext>
                </a:extLst>
              </p:cNvPr>
              <p:cNvSpPr>
                <a:spLocks noGrp="1" noRot="1" noChangeAspect="1" noMove="1" noResize="1" noEditPoints="1" noAdjustHandles="1" noChangeArrowheads="1" noChangeShapeType="1" noTextEdit="1"/>
              </p:cNvSpPr>
              <p:nvPr>
                <p:ph type="body" idx="1"/>
              </p:nvPr>
            </p:nvSpPr>
            <p:spPr>
              <a:blipFill>
                <a:blip r:embed="rId2"/>
                <a:stretch>
                  <a:fillRect l="-870" t="-5285"/>
                </a:stretch>
              </a:blipFill>
            </p:spPr>
            <p:txBody>
              <a:bodyPr/>
              <a:lstStyle/>
              <a:p>
                <a:r>
                  <a:rPr lang="en-US">
                    <a:noFill/>
                  </a:rPr>
                  <a:t> </a:t>
                </a:r>
              </a:p>
            </p:txBody>
          </p:sp>
        </mc:Fallback>
      </mc:AlternateContent>
    </p:spTree>
    <p:extLst>
      <p:ext uri="{BB962C8B-B14F-4D97-AF65-F5344CB8AC3E}">
        <p14:creationId xmlns:p14="http://schemas.microsoft.com/office/powerpoint/2010/main" val="1958762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AA0BD-603E-A1B7-4289-5DDE156DC43A}"/>
              </a:ext>
            </a:extLst>
          </p:cNvPr>
          <p:cNvSpPr>
            <a:spLocks noGrp="1"/>
          </p:cNvSpPr>
          <p:nvPr>
            <p:ph type="title"/>
          </p:nvPr>
        </p:nvSpPr>
        <p:spPr/>
        <p:txBody>
          <a:bodyPr/>
          <a:lstStyle/>
          <a:p>
            <a:r>
              <a:rPr lang="en-US" dirty="0"/>
              <a:t>Linear Methods</a:t>
            </a:r>
          </a:p>
        </p:txBody>
      </p:sp>
      <mc:AlternateContent xmlns:mc="http://schemas.openxmlformats.org/markup-compatibility/2006" xmlns:a14="http://schemas.microsoft.com/office/drawing/2010/main">
        <mc:Choice Requires="a14">
          <p:sp>
            <p:nvSpPr>
              <p:cNvPr id="3" name="Content Placeholder 2" descr="Linear approximation of the state value by the inner product v hat (s,w) is defined as w transpose x (s) equals the sum over i equals 1 to d, of w sub i x sub i (s) x(s) … a state feature vector with x sub i :S to the real numbers (called basis function). SGD gradient: gradient of v hat (s,w) equals (the fraction partial v hat (s,w), over partial w sub 1, end fraction, the fraction partial v hat (s,w), over partial w sub 2, end fraction, dot dot dot, the fraction partial v hat (s,w), over partial w sub d, end fraction) transpose equals (x sub 1, x sub 2, dot dot dot,x sub d) transpose equals x (s) transpose. SGD update: w sub t plus 1, equals w sub t plus alpha [U sub t minus v hat (S sub t,w sub t)] x (S sub t). Advantages:. Simple math. Has only one optimum and is guaranteed to converge to the global minimum of VE bar if alpha is reduced following the stochastic approximation condition. Convergence guarantee also holds for bootstrapping methods like Semi-gradient TD(0)!">
                <a:extLst>
                  <a:ext uri="{FF2B5EF4-FFF2-40B4-BE49-F238E27FC236}">
                    <a16:creationId xmlns:a16="http://schemas.microsoft.com/office/drawing/2014/main" id="{2083189E-BE7C-267A-8E70-A48014366D8A}"/>
                  </a:ext>
                </a:extLst>
              </p:cNvPr>
              <p:cNvSpPr>
                <a:spLocks noGrp="1"/>
              </p:cNvSpPr>
              <p:nvPr>
                <p:ph idx="1"/>
              </p:nvPr>
            </p:nvSpPr>
            <p:spPr/>
            <p:txBody>
              <a:bodyPr>
                <a:normAutofit fontScale="77500" lnSpcReduction="20000"/>
              </a:bodyPr>
              <a:lstStyle/>
              <a:p>
                <a:r>
                  <a:rPr lang="en-US" dirty="0"/>
                  <a:t>Linear approximation of the state value by the inner product </a:t>
                </a:r>
                <a:br>
                  <a:rPr lang="en-US" dirty="0"/>
                </a:br>
                <a:br>
                  <a:rPr lang="en-US" dirty="0"/>
                </a:b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1" i="1" smtClean="0">
                            <a:latin typeface="Cambria Math" panose="02040503050406030204" pitchFamily="18" charset="0"/>
                          </a:rPr>
                          <m:t>𝒘</m:t>
                        </m:r>
                      </m:e>
                    </m:d>
                    <m:r>
                      <a:rPr lang="en-US" b="0"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𝒘</m:t>
                        </m:r>
                      </m:e>
                      <m:sup>
                        <m:r>
                          <a:rPr lang="en-US" b="1" i="1" smtClean="0">
                            <a:latin typeface="Cambria Math" panose="02040503050406030204" pitchFamily="18" charset="0"/>
                          </a:rPr>
                          <m:t>⊤</m:t>
                        </m:r>
                      </m:sup>
                    </m:sSup>
                    <m:r>
                      <a:rPr lang="en-US" b="1" i="1" smtClean="0">
                        <a:latin typeface="Cambria Math" panose="02040503050406030204" pitchFamily="18" charset="0"/>
                      </a:rPr>
                      <m:t>𝒙</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𝑑</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e>
                    </m:nary>
                  </m:oMath>
                </a14:m>
                <a:br>
                  <a:rPr lang="en-US" b="0" i="1" dirty="0">
                    <a:latin typeface="Cambria Math" panose="02040503050406030204" pitchFamily="18" charset="0"/>
                  </a:rPr>
                </a:br>
                <a:br>
                  <a:rPr lang="en-US" b="0" i="1" dirty="0">
                    <a:latin typeface="Cambria Math" panose="02040503050406030204" pitchFamily="18" charset="0"/>
                  </a:rPr>
                </a:br>
                <a:r>
                  <a:rPr lang="en-US" b="0" i="1" dirty="0">
                    <a:latin typeface="Cambria Math" panose="02040503050406030204" pitchFamily="18" charset="0"/>
                  </a:rPr>
                  <a:t>                 </a:t>
                </a:r>
                <a14:m>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a state feature vector with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ℝ</m:t>
                    </m:r>
                  </m:oMath>
                </a14:m>
                <a:r>
                  <a:rPr lang="en-US" dirty="0"/>
                  <a:t> (called basis function)</a:t>
                </a:r>
              </a:p>
              <a:p>
                <a:endParaRPr lang="en-US" dirty="0"/>
              </a:p>
              <a:p>
                <a:r>
                  <a:rPr lang="en-US" b="1" dirty="0"/>
                  <a:t>SGD gradient</a:t>
                </a:r>
                <a:r>
                  <a:rPr lang="en-US" dirty="0"/>
                  <a:t>: </a:t>
                </a:r>
                <a14:m>
                  <m:oMath xmlns:m="http://schemas.openxmlformats.org/officeDocument/2006/math">
                    <m:r>
                      <m:rPr>
                        <m:sty m:val="p"/>
                      </m:rPr>
                      <a:rPr lang="en-US" i="1"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𝒘</m:t>
                        </m:r>
                      </m:e>
                    </m:d>
                    <m:r>
                      <a:rPr lang="en-US" b="0" i="1" smtClean="0">
                        <a:latin typeface="Cambria Math" panose="02040503050406030204" pitchFamily="18" charset="0"/>
                      </a:rPr>
                      <m:t>=</m:t>
                    </m:r>
                    <m:sSup>
                      <m:sSupPr>
                        <m:ctrlPr>
                          <a:rPr lang="en-US" i="1" smtClean="0">
                            <a:latin typeface="Cambria Math" panose="02040503050406030204" pitchFamily="18" charset="0"/>
                            <a:ea typeface="Cambria Math" panose="02040503050406030204" pitchFamily="18" charset="0"/>
                          </a:rPr>
                        </m:ctrlPr>
                      </m:sSupPr>
                      <m:e>
                        <m:d>
                          <m:dPr>
                            <m:ctrlPr>
                              <a:rPr lang="en-US" i="1" smtClean="0">
                                <a:latin typeface="Cambria Math" panose="02040503050406030204" pitchFamily="18" charset="0"/>
                                <a:ea typeface="Cambria Math" panose="02040503050406030204" pitchFamily="18" charset="0"/>
                              </a:rPr>
                            </m:ctrlPr>
                          </m:dPr>
                          <m:e>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𝒘</m:t>
                                    </m:r>
                                  </m:e>
                                </m:d>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i="1">
                                        <a:latin typeface="Cambria Math" panose="02040503050406030204" pitchFamily="18" charset="0"/>
                                        <a:ea typeface="Cambria Math" panose="02040503050406030204" pitchFamily="18" charset="0"/>
                                      </a:rPr>
                                      <m:t>1</m:t>
                                    </m:r>
                                  </m:sub>
                                </m:sSub>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𝒘</m:t>
                                    </m:r>
                                  </m:e>
                                </m:d>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i="1">
                                        <a:latin typeface="Cambria Math" panose="02040503050406030204" pitchFamily="18" charset="0"/>
                                        <a:ea typeface="Cambria Math" panose="02040503050406030204" pitchFamily="18" charset="0"/>
                                      </a:rPr>
                                      <m:t>2</m:t>
                                    </m:r>
                                  </m:sub>
                                </m:sSub>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𝒘</m:t>
                                    </m:r>
                                  </m:e>
                                </m:d>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𝑤</m:t>
                                    </m:r>
                                  </m:e>
                                  <m:sub>
                                    <m:r>
                                      <a:rPr lang="en-US" i="1">
                                        <a:latin typeface="Cambria Math" panose="02040503050406030204" pitchFamily="18" charset="0"/>
                                        <a:ea typeface="Cambria Math" panose="02040503050406030204" pitchFamily="18" charset="0"/>
                                      </a:rPr>
                                      <m:t>𝑑</m:t>
                                    </m:r>
                                  </m:sub>
                                </m:sSub>
                              </m:den>
                            </m:f>
                          </m:e>
                        </m:d>
                      </m:e>
                      <m:sup>
                        <m:r>
                          <a:rPr lang="en-US" i="1">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𝑑</m:t>
                                </m:r>
                              </m:sub>
                            </m:sSub>
                          </m:e>
                        </m:d>
                      </m:e>
                      <m:sup>
                        <m:r>
                          <a:rPr lang="en-US" b="0" i="1" smtClean="0">
                            <a:latin typeface="Cambria Math" panose="02040503050406030204" pitchFamily="18" charset="0"/>
                            <a:ea typeface="Cambria Math" panose="02040503050406030204" pitchFamily="18" charset="0"/>
                          </a:rPr>
                          <m:t>⊤</m:t>
                        </m:r>
                      </m:sup>
                    </m:sSup>
                    <m:r>
                      <a:rPr lang="en-US" b="1" i="1" smtClean="0">
                        <a:latin typeface="Cambria Math" panose="02040503050406030204" pitchFamily="18" charset="0"/>
                        <a:ea typeface="Cambria Math" panose="02040503050406030204" pitchFamily="18" charset="0"/>
                      </a:rPr>
                      <m:t>=</m:t>
                    </m:r>
                    <m:r>
                      <a:rPr lang="en-US" b="1" i="1">
                        <a:latin typeface="Cambria Math" panose="02040503050406030204" pitchFamily="18" charset="0"/>
                      </a:rPr>
                      <m:t>𝒙</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𝑠</m:t>
                            </m:r>
                          </m:e>
                        </m:d>
                      </m:e>
                      <m:sup>
                        <m:r>
                          <a:rPr lang="en-US" b="0" i="1" smtClean="0">
                            <a:latin typeface="Cambria Math" panose="02040503050406030204" pitchFamily="18" charset="0"/>
                          </a:rPr>
                          <m:t>⊤</m:t>
                        </m:r>
                      </m:sup>
                    </m:sSup>
                  </m:oMath>
                </a14:m>
                <a:endParaRPr lang="en-US" dirty="0"/>
              </a:p>
              <a:p>
                <a:r>
                  <a:rPr lang="en-US" b="1" dirty="0"/>
                  <a:t>SGD update</a:t>
                </a:r>
                <a:r>
                  <a:rPr lang="en-US"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𝛼</m:t>
                    </m:r>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𝑈</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𝒘</m:t>
                                </m:r>
                              </m:e>
                              <m:sub>
                                <m:r>
                                  <a:rPr lang="en-US" i="1">
                                    <a:latin typeface="Cambria Math" panose="02040503050406030204" pitchFamily="18" charset="0"/>
                                    <a:ea typeface="Cambria Math" panose="02040503050406030204" pitchFamily="18" charset="0"/>
                                  </a:rPr>
                                  <m:t>𝑡</m:t>
                                </m:r>
                              </m:sub>
                            </m:sSub>
                          </m:e>
                        </m:d>
                      </m:e>
                    </m:d>
                    <m:r>
                      <a:rPr lang="en-US" b="1" i="1">
                        <a:latin typeface="Cambria Math" panose="02040503050406030204" pitchFamily="18" charset="0"/>
                      </a:rPr>
                      <m:t>𝒙</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e>
                    </m:d>
                  </m:oMath>
                </a14:m>
                <a:endParaRPr lang="en-US" dirty="0"/>
              </a:p>
              <a:p>
                <a:endParaRPr lang="en-US" dirty="0"/>
              </a:p>
              <a:p>
                <a:r>
                  <a:rPr lang="en-US" b="1" dirty="0"/>
                  <a:t>Advantages</a:t>
                </a:r>
                <a:r>
                  <a:rPr lang="en-US" dirty="0"/>
                  <a:t>:</a:t>
                </a:r>
              </a:p>
              <a:p>
                <a:pPr lvl="1"/>
                <a:r>
                  <a:rPr lang="en-US" dirty="0"/>
                  <a:t>Simple math.</a:t>
                </a:r>
              </a:p>
              <a:p>
                <a:pPr lvl="1"/>
                <a:r>
                  <a:rPr lang="en-US" dirty="0"/>
                  <a:t>Has only one optimum and is </a:t>
                </a:r>
                <a:r>
                  <a:rPr lang="en-US" b="1" dirty="0"/>
                  <a:t>guaranteed to converge </a:t>
                </a:r>
                <a:r>
                  <a:rPr lang="en-US" dirty="0"/>
                  <a:t>to the </a:t>
                </a:r>
                <a:r>
                  <a:rPr lang="en-US" b="1" dirty="0"/>
                  <a:t>global minimum </a:t>
                </a:r>
                <a:r>
                  <a:rPr lang="en-US" dirty="0"/>
                  <a:t>of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𝑉𝐸</m:t>
                        </m:r>
                      </m:e>
                    </m:acc>
                    <m:r>
                      <a:rPr lang="en-US" i="1">
                        <a:latin typeface="Cambria Math" panose="02040503050406030204" pitchFamily="18" charset="0"/>
                      </a:rPr>
                      <m:t> </m:t>
                    </m:r>
                  </m:oMath>
                </a14:m>
                <a:r>
                  <a:rPr lang="en-US" dirty="0"/>
                  <a:t>if </a:t>
                </a:r>
                <a14:m>
                  <m:oMath xmlns:m="http://schemas.openxmlformats.org/officeDocument/2006/math">
                    <m:r>
                      <a:rPr lang="en-US" b="0" i="1" smtClean="0">
                        <a:latin typeface="Cambria Math" panose="02040503050406030204" pitchFamily="18" charset="0"/>
                      </a:rPr>
                      <m:t>𝛼</m:t>
                    </m:r>
                  </m:oMath>
                </a14:m>
                <a:r>
                  <a:rPr lang="en-US" dirty="0"/>
                  <a:t> is reduced following the  stochastic approximation condition.</a:t>
                </a:r>
              </a:p>
              <a:p>
                <a:pPr lvl="1"/>
                <a:r>
                  <a:rPr lang="en-US" dirty="0"/>
                  <a:t>Convergence guarantee also holds for </a:t>
                </a:r>
                <a:r>
                  <a:rPr lang="en-US" b="1" dirty="0"/>
                  <a:t>bootstrapping</a:t>
                </a:r>
                <a:r>
                  <a:rPr lang="en-US" dirty="0"/>
                  <a:t> methods like Semi-gradient TD(0)!</a:t>
                </a:r>
              </a:p>
            </p:txBody>
          </p:sp>
        </mc:Choice>
        <mc:Fallback xmlns="">
          <p:sp>
            <p:nvSpPr>
              <p:cNvPr id="3" name="Content Placeholder 2" descr="Linear approximation of the state value by the inner product v hat (s,w) is defined as w transpose x (s) equals the sum over i equals 1 to d, of w sub i x sub i (s) x(s) … a state feature vector with x sub i :S to the real numbers (called basis function). SGD gradient: gradient of v hat (s,w) equals (the fraction partial v hat (s,w), over partial w sub 1, end fraction, the fraction partial v hat (s,w), over partial w sub 2, end fraction, dot dot dot, the fraction partial v hat (s,w), over partial w sub d, end fraction) transpose equals (x sub 1, x sub 2, dot dot dot,x sub d) transpose equals x (s) transpose. SGD update: w sub t plus 1, equals w sub t plus alpha [U sub t minus v hat (S sub t,w sub t)] x (S sub t). Advantages:. Simple math. Has only one optimum and is guaranteed to converge to the global minimum of VE bar if alpha is reduced following the stochastic approximation condition. Convergence guarantee also holds for bootstrapping methods like Semi-gradient TD(0)!">
                <a:extLst>
                  <a:ext uri="{FF2B5EF4-FFF2-40B4-BE49-F238E27FC236}">
                    <a16:creationId xmlns:a16="http://schemas.microsoft.com/office/drawing/2014/main" id="{2083189E-BE7C-267A-8E70-A48014366D8A}"/>
                  </a:ext>
                </a:extLst>
              </p:cNvPr>
              <p:cNvSpPr>
                <a:spLocks noGrp="1" noRot="1" noChangeAspect="1" noMove="1" noResize="1" noEditPoints="1" noAdjustHandles="1" noChangeArrowheads="1" noChangeShapeType="1" noTextEdit="1"/>
              </p:cNvSpPr>
              <p:nvPr>
                <p:ph idx="1"/>
              </p:nvPr>
            </p:nvSpPr>
            <p:spPr>
              <a:blipFill>
                <a:blip r:embed="rId2"/>
                <a:stretch>
                  <a:fillRect l="-696" t="-2551" b="-1531"/>
                </a:stretch>
              </a:blipFill>
            </p:spPr>
            <p:txBody>
              <a:bodyPr/>
              <a:lstStyle/>
              <a:p>
                <a:r>
                  <a:rPr lang="en-US">
                    <a:noFill/>
                  </a:rPr>
                  <a:t> </a:t>
                </a:r>
              </a:p>
            </p:txBody>
          </p:sp>
        </mc:Fallback>
      </mc:AlternateContent>
      <p:sp>
        <p:nvSpPr>
          <p:cNvPr id="4" name="Speech Bubble: Rectangle with Corners Rounded 3">
            <a:extLst>
              <a:ext uri="{FF2B5EF4-FFF2-40B4-BE49-F238E27FC236}">
                <a16:creationId xmlns:a16="http://schemas.microsoft.com/office/drawing/2014/main" id="{5D596E5E-8FC3-958A-237C-D0EA03C73879}"/>
              </a:ext>
            </a:extLst>
          </p:cNvPr>
          <p:cNvSpPr/>
          <p:nvPr/>
        </p:nvSpPr>
        <p:spPr>
          <a:xfrm>
            <a:off x="8710798" y="4383868"/>
            <a:ext cx="2408809" cy="697042"/>
          </a:xfrm>
          <a:prstGeom prst="wedgeRoundRectCallout">
            <a:avLst>
              <a:gd name="adj1" fmla="val -37421"/>
              <a:gd name="adj2" fmla="val 8533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These are extremely strong guarantees!</a:t>
            </a:r>
          </a:p>
        </p:txBody>
      </p:sp>
    </p:spTree>
    <p:extLst>
      <p:ext uri="{BB962C8B-B14F-4D97-AF65-F5344CB8AC3E}">
        <p14:creationId xmlns:p14="http://schemas.microsoft.com/office/powerpoint/2010/main" val="2108197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3B4D6-A3D5-E0FF-54DF-4643B6C4137A}"/>
              </a:ext>
            </a:extLst>
          </p:cNvPr>
          <p:cNvSpPr>
            <a:spLocks noGrp="1"/>
          </p:cNvSpPr>
          <p:nvPr>
            <p:ph type="title"/>
          </p:nvPr>
        </p:nvSpPr>
        <p:spPr/>
        <p:txBody>
          <a:bodyPr/>
          <a:lstStyle/>
          <a:p>
            <a:r>
              <a:rPr lang="en-US" dirty="0"/>
              <a:t>Feature Vector</a:t>
            </a:r>
          </a:p>
        </p:txBody>
      </p:sp>
      <mc:AlternateContent xmlns:mc="http://schemas.openxmlformats.org/markup-compatibility/2006" xmlns:a14="http://schemas.microsoft.com/office/drawing/2010/main">
        <mc:Choice Requires="a14">
          <p:sp>
            <p:nvSpPr>
              <p:cNvPr id="3" name="Content Placeholder 2" descr="Issue: How do we construct the state feature vector x(s) ?. Initial idea: If the factored state description consists of several numbers (e.g., x and y coordinates), then we can directly use them as the feature vector x (s) equals (s sub x, s sub y) . This leads to linear interpolation learned as a linear regression. Problems:. The value function may not depend linearly on the variables used in the state description. Linear regression cannot represent interactions between the variables">
                <a:extLst>
                  <a:ext uri="{FF2B5EF4-FFF2-40B4-BE49-F238E27FC236}">
                    <a16:creationId xmlns:a16="http://schemas.microsoft.com/office/drawing/2014/main" id="{43AA4273-07F2-A9DC-CBEB-728A9F627BE8}"/>
                  </a:ext>
                </a:extLst>
              </p:cNvPr>
              <p:cNvSpPr>
                <a:spLocks noGrp="1"/>
              </p:cNvSpPr>
              <p:nvPr>
                <p:ph idx="1"/>
              </p:nvPr>
            </p:nvSpPr>
            <p:spPr/>
            <p:txBody>
              <a:bodyPr>
                <a:normAutofit fontScale="92500" lnSpcReduction="10000"/>
              </a:bodyPr>
              <a:lstStyle/>
              <a:p>
                <a:r>
                  <a:rPr lang="en-US" b="1" dirty="0"/>
                  <a:t>Issue</a:t>
                </a:r>
                <a:r>
                  <a:rPr lang="en-US" dirty="0"/>
                  <a:t>: How do we construct the state feature vector </a:t>
                </a:r>
                <a14:m>
                  <m:oMath xmlns:m="http://schemas.openxmlformats.org/officeDocument/2006/math">
                    <m:r>
                      <a:rPr lang="en-US" b="1" i="1" smtClean="0">
                        <a:latin typeface="Cambria Math" panose="02040503050406030204" pitchFamily="18" charset="0"/>
                      </a:rPr>
                      <m:t>𝒙</m:t>
                    </m:r>
                    <m:r>
                      <a:rPr lang="en-US" i="1">
                        <a:latin typeface="Cambria Math" panose="02040503050406030204" pitchFamily="18" charset="0"/>
                      </a:rPr>
                      <m:t>(</m:t>
                    </m:r>
                    <m:r>
                      <a:rPr lang="en-US" i="1">
                        <a:latin typeface="Cambria Math" panose="02040503050406030204" pitchFamily="18" charset="0"/>
                      </a:rPr>
                      <m:t>𝑠</m:t>
                    </m:r>
                    <m:r>
                      <a:rPr lang="en-US" b="0" i="1" smtClean="0">
                        <a:latin typeface="Cambria Math" panose="02040503050406030204" pitchFamily="18" charset="0"/>
                      </a:rPr>
                      <m:t>)</m:t>
                    </m:r>
                  </m:oMath>
                </a14:m>
                <a:r>
                  <a:rPr lang="en-US" dirty="0"/>
                  <a:t>?</a:t>
                </a:r>
              </a:p>
              <a:p>
                <a:endParaRPr lang="en-US" b="1" dirty="0"/>
              </a:p>
              <a:p>
                <a:r>
                  <a:rPr lang="en-US" b="1" dirty="0"/>
                  <a:t>Initial idea</a:t>
                </a:r>
                <a:r>
                  <a:rPr lang="en-US" dirty="0"/>
                  <a:t>: If the factored state description consists of several numbers (e.g., x and y coordinates), then we can directly use them as the feature vector </a:t>
                </a:r>
                <a14:m>
                  <m:oMath xmlns:m="http://schemas.openxmlformats.org/officeDocument/2006/math">
                    <m:r>
                      <a:rPr lang="en-US" b="1" i="1">
                        <a:latin typeface="Cambria Math" panose="02040503050406030204" pitchFamily="18" charset="0"/>
                      </a:rPr>
                      <m:t>𝒙</m:t>
                    </m:r>
                    <m:d>
                      <m:dPr>
                        <m:ctrlPr>
                          <a:rPr lang="en-US" i="1">
                            <a:latin typeface="Cambria Math" panose="02040503050406030204" pitchFamily="18" charset="0"/>
                          </a:rPr>
                        </m:ctrlPr>
                      </m:dPr>
                      <m:e>
                        <m:r>
                          <a:rPr lang="en-US" i="1">
                            <a:latin typeface="Cambria Math" panose="02040503050406030204" pitchFamily="18" charset="0"/>
                          </a:rPr>
                          <m:t>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𝑥</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𝑦</m:t>
                        </m:r>
                      </m:sub>
                    </m:sSub>
                    <m:r>
                      <a:rPr lang="en-US" b="0" i="1" smtClean="0">
                        <a:latin typeface="Cambria Math" panose="02040503050406030204" pitchFamily="18" charset="0"/>
                      </a:rPr>
                      <m:t>)</m:t>
                    </m:r>
                  </m:oMath>
                </a14:m>
                <a:r>
                  <a:rPr lang="en-US" dirty="0"/>
                  <a:t>. </a:t>
                </a:r>
                <a:br>
                  <a:rPr lang="en-US" dirty="0"/>
                </a:br>
                <a:br>
                  <a:rPr lang="en-US" dirty="0"/>
                </a:br>
                <a:r>
                  <a:rPr lang="en-US" dirty="0"/>
                  <a:t>This leads to </a:t>
                </a:r>
                <a:r>
                  <a:rPr lang="en-US" b="1" dirty="0"/>
                  <a:t>linear</a:t>
                </a:r>
                <a:r>
                  <a:rPr lang="en-US" dirty="0"/>
                  <a:t> </a:t>
                </a:r>
                <a:r>
                  <a:rPr lang="en-US" b="1" dirty="0"/>
                  <a:t>interpolation </a:t>
                </a:r>
                <a:r>
                  <a:rPr lang="en-US" dirty="0"/>
                  <a:t>learned as a </a:t>
                </a:r>
                <a:r>
                  <a:rPr lang="en-US" b="1" dirty="0"/>
                  <a:t>linear regression.</a:t>
                </a:r>
              </a:p>
              <a:p>
                <a:endParaRPr lang="en-US" b="1" dirty="0"/>
              </a:p>
              <a:p>
                <a:r>
                  <a:rPr lang="en-US" b="1" dirty="0"/>
                  <a:t>Problems</a:t>
                </a:r>
                <a:r>
                  <a:rPr lang="en-US" dirty="0"/>
                  <a:t>: </a:t>
                </a:r>
              </a:p>
              <a:p>
                <a:pPr lvl="1"/>
                <a:r>
                  <a:rPr lang="en-US" dirty="0"/>
                  <a:t>The value function may not depend linearly on the variables used in the state description. </a:t>
                </a:r>
              </a:p>
              <a:p>
                <a:pPr lvl="1"/>
                <a:r>
                  <a:rPr lang="en-US" dirty="0"/>
                  <a:t>Linear regression cannot represent interactions between the variables.</a:t>
                </a:r>
              </a:p>
              <a:p>
                <a:pPr marL="0" indent="0">
                  <a:buNone/>
                </a:pPr>
                <a:endParaRPr lang="en-US" dirty="0"/>
              </a:p>
            </p:txBody>
          </p:sp>
        </mc:Choice>
        <mc:Fallback xmlns="">
          <p:sp>
            <p:nvSpPr>
              <p:cNvPr id="3" name="Content Placeholder 2" descr="Issue: How do we construct the state feature vector x(s) ?. Initial idea: If the factored state description consists of several numbers (e.g., x and y coordinates), then we can directly use them as the feature vector x (s) equals (s sub x, s sub y) . This leads to linear interpolation learned as a linear regression. Problems:. The value function may not depend linearly on the variables used in the state description. Linear regression cannot represent interactions between the variables">
                <a:extLst>
                  <a:ext uri="{FF2B5EF4-FFF2-40B4-BE49-F238E27FC236}">
                    <a16:creationId xmlns:a16="http://schemas.microsoft.com/office/drawing/2014/main" id="{43AA4273-07F2-A9DC-CBEB-728A9F627BE8}"/>
                  </a:ext>
                </a:extLst>
              </p:cNvPr>
              <p:cNvSpPr>
                <a:spLocks noGrp="1" noRot="1" noChangeAspect="1" noMove="1" noResize="1" noEditPoints="1" noAdjustHandles="1" noChangeArrowheads="1" noChangeShapeType="1" noTextEdit="1"/>
              </p:cNvSpPr>
              <p:nvPr>
                <p:ph idx="1"/>
              </p:nvPr>
            </p:nvSpPr>
            <p:spPr>
              <a:blipFill>
                <a:blip r:embed="rId2"/>
                <a:stretch>
                  <a:fillRect l="-928" t="-2551"/>
                </a:stretch>
              </a:blipFill>
            </p:spPr>
            <p:txBody>
              <a:bodyPr/>
              <a:lstStyle/>
              <a:p>
                <a:r>
                  <a:rPr lang="en-US">
                    <a:noFill/>
                  </a:rPr>
                  <a:t> </a:t>
                </a:r>
              </a:p>
            </p:txBody>
          </p:sp>
        </mc:Fallback>
      </mc:AlternateContent>
    </p:spTree>
    <p:extLst>
      <p:ext uri="{BB962C8B-B14F-4D97-AF65-F5344CB8AC3E}">
        <p14:creationId xmlns:p14="http://schemas.microsoft.com/office/powerpoint/2010/main" val="20710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24CA0-B808-45FE-B59E-061047DB41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46AD2-EED1-29EA-3A8B-33B78243A6A4}"/>
              </a:ext>
            </a:extLst>
          </p:cNvPr>
          <p:cNvSpPr>
            <a:spLocks noGrp="1"/>
          </p:cNvSpPr>
          <p:nvPr>
            <p:ph type="title"/>
          </p:nvPr>
        </p:nvSpPr>
        <p:spPr/>
        <p:txBody>
          <a:bodyPr>
            <a:normAutofit/>
          </a:bodyPr>
          <a:lstStyle/>
          <a:p>
            <a:r>
              <a:rPr lang="en-US" dirty="0"/>
              <a:t>Example: L-Maze with Linear Features</a:t>
            </a:r>
          </a:p>
        </p:txBody>
      </p:sp>
      <p:sp>
        <p:nvSpPr>
          <p:cNvPr id="10" name="TextBox 9">
            <a:extLst>
              <a:ext uri="{FF2B5EF4-FFF2-40B4-BE49-F238E27FC236}">
                <a16:creationId xmlns:a16="http://schemas.microsoft.com/office/drawing/2014/main" id="{48F159DB-0ACD-AFF4-9E19-467E4B0A81F1}"/>
              </a:ext>
            </a:extLst>
          </p:cNvPr>
          <p:cNvSpPr txBox="1"/>
          <p:nvPr/>
        </p:nvSpPr>
        <p:spPr>
          <a:xfrm>
            <a:off x="1220597" y="1211552"/>
            <a:ext cx="8829413" cy="369332"/>
          </a:xfrm>
          <a:prstGeom prst="rect">
            <a:avLst/>
          </a:prstGeom>
          <a:noFill/>
        </p:spPr>
        <p:txBody>
          <a:bodyPr wrap="square" rtlCol="0">
            <a:spAutoFit/>
          </a:bodyPr>
          <a:lstStyle/>
          <a:p>
            <a:pPr algn="ctr"/>
            <a:r>
              <a:rPr lang="en-US" dirty="0"/>
              <a:t>Semi-gradient Sarsa (see Control later) with linear features cannot solve the L-Maze</a:t>
            </a:r>
          </a:p>
        </p:txBody>
      </p:sp>
      <p:pic>
        <p:nvPicPr>
          <p:cNvPr id="4" name="Picture 3" descr="Heat map titled Value Function over the 10 by 10 L-maze (x and y from 0 to 9), learned with linear features, colour scale from −0.818 to 1.0. The values are almost flat, slightly higher toward the upper right, with straight, evenly spaced contour lines running diagonally: a linear function cannot represent the wall.">
            <a:extLst>
              <a:ext uri="{FF2B5EF4-FFF2-40B4-BE49-F238E27FC236}">
                <a16:creationId xmlns:a16="http://schemas.microsoft.com/office/drawing/2014/main" id="{9EA8ADD4-2C01-4341-D827-D48BA71E311D}"/>
              </a:ext>
            </a:extLst>
          </p:cNvPr>
          <p:cNvPicPr>
            <a:picLocks noChangeAspect="1"/>
          </p:cNvPicPr>
          <p:nvPr/>
        </p:nvPicPr>
        <p:blipFill>
          <a:blip r:embed="rId2"/>
          <a:stretch>
            <a:fillRect/>
          </a:stretch>
        </p:blipFill>
        <p:spPr>
          <a:xfrm>
            <a:off x="950111" y="1871905"/>
            <a:ext cx="5133975" cy="4143375"/>
          </a:xfrm>
          <a:prstGeom prst="rect">
            <a:avLst/>
          </a:prstGeom>
        </p:spPr>
      </p:pic>
      <p:pic>
        <p:nvPicPr>
          <p:cNvPr id="8" name="Picture 7" descr="Grid titled Found Path for the L-maze with linear features: a 10 by 10 grid with start S at (3, 2), goal G at (8, 8), and an L-shaped wall along row 6 from column 1 to 6 and down column 6 to row 1. The greedy path climbs diagonally from S up and to the right, (3, 3), (4, 3), (4, 4), (5, 4), (5, 5), and gets stuck in the inside corner of the wall without reaching G.">
            <a:extLst>
              <a:ext uri="{FF2B5EF4-FFF2-40B4-BE49-F238E27FC236}">
                <a16:creationId xmlns:a16="http://schemas.microsoft.com/office/drawing/2014/main" id="{30D48BFC-E186-4381-4FFE-D8887C3041EE}"/>
              </a:ext>
            </a:extLst>
          </p:cNvPr>
          <p:cNvPicPr>
            <a:picLocks noChangeAspect="1"/>
          </p:cNvPicPr>
          <p:nvPr/>
        </p:nvPicPr>
        <p:blipFill>
          <a:blip r:embed="rId3"/>
          <a:stretch>
            <a:fillRect/>
          </a:stretch>
        </p:blipFill>
        <p:spPr>
          <a:xfrm>
            <a:off x="6293417" y="1811943"/>
            <a:ext cx="4791075" cy="4143375"/>
          </a:xfrm>
          <a:prstGeom prst="rect">
            <a:avLst/>
          </a:prstGeom>
        </p:spPr>
      </p:pic>
    </p:spTree>
    <p:extLst>
      <p:ext uri="{BB962C8B-B14F-4D97-AF65-F5344CB8AC3E}">
        <p14:creationId xmlns:p14="http://schemas.microsoft.com/office/powerpoint/2010/main" val="4263864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808D1-8837-CCB1-E085-F54F15906A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D1A6B-6DB7-E864-D2D3-06A84D42660E}"/>
              </a:ext>
            </a:extLst>
          </p:cNvPr>
          <p:cNvSpPr>
            <a:spLocks noGrp="1"/>
          </p:cNvSpPr>
          <p:nvPr>
            <p:ph type="title"/>
          </p:nvPr>
        </p:nvSpPr>
        <p:spPr/>
        <p:txBody>
          <a:bodyPr/>
          <a:lstStyle/>
          <a:p>
            <a:r>
              <a:rPr lang="en-US" dirty="0"/>
              <a:t>Feature Construction</a:t>
            </a:r>
          </a:p>
        </p:txBody>
      </p:sp>
      <mc:AlternateContent xmlns:mc="http://schemas.openxmlformats.org/markup-compatibility/2006" xmlns:a14="http://schemas.microsoft.com/office/drawing/2010/main">
        <mc:Choice Requires="a14">
          <p:sp>
            <p:nvSpPr>
              <p:cNvPr id="3" name="Content Placeholder 2" descr="Idea: Use a more flexible, non-linear transform phi of the state description to construct state features. x (s) equals phi (s). We will focus on the most popular feature construction methods that work well for RL:. Fourier Basis: strong baseline; very efficient; strong guarantees. Tile Coding: coarse coding using tiles, local generalization, very computationally efficient. Other methods. One-Hot Features: exact representation; no generalization (equivalent to tabular RL). Coarse Coding using spherical reception fields. Polynomials Features: smooth global generalization. Radial Basis Functions: smooth local generalization">
                <a:extLst>
                  <a:ext uri="{FF2B5EF4-FFF2-40B4-BE49-F238E27FC236}">
                    <a16:creationId xmlns:a16="http://schemas.microsoft.com/office/drawing/2014/main" id="{CA3F8D59-91BD-8D3F-17EC-9451FBDC8E5C}"/>
                  </a:ext>
                </a:extLst>
              </p:cNvPr>
              <p:cNvSpPr>
                <a:spLocks noGrp="1"/>
              </p:cNvSpPr>
              <p:nvPr>
                <p:ph idx="1"/>
              </p:nvPr>
            </p:nvSpPr>
            <p:spPr/>
            <p:txBody>
              <a:bodyPr>
                <a:normAutofit fontScale="77500" lnSpcReduction="20000"/>
              </a:bodyPr>
              <a:lstStyle/>
              <a:p>
                <a:r>
                  <a:rPr lang="en-US" b="1" dirty="0"/>
                  <a:t>Idea</a:t>
                </a:r>
                <a:r>
                  <a:rPr lang="en-US" dirty="0"/>
                  <a:t>: Use a more flexible, non-linear transform </a:t>
                </a:r>
                <a14:m>
                  <m:oMath xmlns:m="http://schemas.openxmlformats.org/officeDocument/2006/math">
                    <m:r>
                      <a:rPr lang="en-US" b="0" i="1" smtClean="0">
                        <a:latin typeface="Cambria Math" panose="02040503050406030204" pitchFamily="18" charset="0"/>
                      </a:rPr>
                      <m:t>𝜙</m:t>
                    </m:r>
                  </m:oMath>
                </a14:m>
                <a:r>
                  <a:rPr lang="en-US" dirty="0"/>
                  <a:t> of the state description to construct state features.</a:t>
                </a:r>
                <a:br>
                  <a:rPr lang="en-US" dirty="0"/>
                </a:br>
                <a:br>
                  <a:rPr lang="en-US" dirty="0"/>
                </a:br>
                <a14:m>
                  <m:oMath xmlns:m="http://schemas.openxmlformats.org/officeDocument/2006/math">
                    <m:r>
                      <a:rPr lang="en-US" b="1" i="1" smtClean="0">
                        <a:latin typeface="Cambria Math" panose="02040503050406030204" pitchFamily="18" charset="0"/>
                      </a:rPr>
                      <m:t>𝒙</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br>
                  <a:rPr lang="en-US" dirty="0"/>
                </a:br>
                <a:br>
                  <a:rPr lang="en-US" dirty="0"/>
                </a:br>
                <a:endParaRPr lang="en-US" dirty="0"/>
              </a:p>
              <a:p>
                <a:r>
                  <a:rPr lang="en-US" dirty="0"/>
                  <a:t>We will focus on the most popular feature construction methods that work well for RL:</a:t>
                </a:r>
              </a:p>
              <a:p>
                <a:pPr lvl="1"/>
                <a:r>
                  <a:rPr lang="en-US" b="1" dirty="0"/>
                  <a:t>Fourier Basis:</a:t>
                </a:r>
                <a:r>
                  <a:rPr lang="en-US" dirty="0"/>
                  <a:t> strong baseline; very efficient; strong guarantees. </a:t>
                </a:r>
              </a:p>
              <a:p>
                <a:pPr lvl="1"/>
                <a:r>
                  <a:rPr lang="en-US" b="1" dirty="0"/>
                  <a:t>Tile Coding</a:t>
                </a:r>
                <a:r>
                  <a:rPr lang="en-US" dirty="0"/>
                  <a:t>: coarse coding using tiles, local generalization, very computationally efficient.</a:t>
                </a:r>
              </a:p>
              <a:p>
                <a:pPr marL="457200" lvl="1" indent="0">
                  <a:buNone/>
                </a:pPr>
                <a:endParaRPr lang="en-US" dirty="0"/>
              </a:p>
              <a:p>
                <a:r>
                  <a:rPr lang="en-US" dirty="0"/>
                  <a:t>Other methods</a:t>
                </a:r>
              </a:p>
              <a:p>
                <a:pPr lvl="1"/>
                <a:r>
                  <a:rPr lang="en-US" dirty="0"/>
                  <a:t>One-Hot Features: exact representation; no generalization (equivalent to tabular RL)</a:t>
                </a:r>
              </a:p>
              <a:p>
                <a:pPr lvl="1"/>
                <a:r>
                  <a:rPr lang="en-US" dirty="0"/>
                  <a:t>Coarse Coding using spherical reception fields</a:t>
                </a:r>
              </a:p>
              <a:p>
                <a:pPr lvl="1"/>
                <a:r>
                  <a:rPr lang="en-US" dirty="0"/>
                  <a:t>Polynomials Features: smooth global generalization.</a:t>
                </a:r>
              </a:p>
              <a:p>
                <a:pPr lvl="1"/>
                <a:r>
                  <a:rPr lang="en-US" dirty="0"/>
                  <a:t>Radial Basis Functions: smooth local generalization</a:t>
                </a:r>
              </a:p>
              <a:p>
                <a:pPr marL="0" indent="0">
                  <a:buNone/>
                </a:pPr>
                <a:endParaRPr lang="en-US" dirty="0"/>
              </a:p>
            </p:txBody>
          </p:sp>
        </mc:Choice>
        <mc:Fallback xmlns="">
          <p:sp>
            <p:nvSpPr>
              <p:cNvPr id="3" name="Content Placeholder 2" descr="Idea: Use a more flexible, non-linear transform phi of the state description to construct state features. x (s) equals phi (s). We will focus on the most popular feature construction methods that work well for RL:. Fourier Basis: strong baseline; very efficient; strong guarantees. Tile Coding: coarse coding using tiles, local generalization, very computationally efficient. Other methods. One-Hot Features: exact representation; no generalization (equivalent to tabular RL). Coarse Coding using spherical reception fields. Polynomials Features: smooth global generalization. Radial Basis Functions: smooth local generalization">
                <a:extLst>
                  <a:ext uri="{FF2B5EF4-FFF2-40B4-BE49-F238E27FC236}">
                    <a16:creationId xmlns:a16="http://schemas.microsoft.com/office/drawing/2014/main" id="{CA3F8D59-91BD-8D3F-17EC-9451FBDC8E5C}"/>
                  </a:ext>
                </a:extLst>
              </p:cNvPr>
              <p:cNvSpPr>
                <a:spLocks noGrp="1" noRot="1" noChangeAspect="1" noMove="1" noResize="1" noEditPoints="1" noAdjustHandles="1" noChangeArrowheads="1" noChangeShapeType="1" noTextEdit="1"/>
              </p:cNvSpPr>
              <p:nvPr>
                <p:ph idx="1"/>
              </p:nvPr>
            </p:nvSpPr>
            <p:spPr>
              <a:blipFill>
                <a:blip r:embed="rId3"/>
                <a:stretch>
                  <a:fillRect l="-696" t="-2551"/>
                </a:stretch>
              </a:blipFill>
            </p:spPr>
            <p:txBody>
              <a:bodyPr/>
              <a:lstStyle/>
              <a:p>
                <a:r>
                  <a:rPr lang="en-US">
                    <a:noFill/>
                  </a:rPr>
                  <a:t> </a:t>
                </a:r>
              </a:p>
            </p:txBody>
          </p:sp>
        </mc:Fallback>
      </mc:AlternateContent>
    </p:spTree>
    <p:extLst>
      <p:ext uri="{BB962C8B-B14F-4D97-AF65-F5344CB8AC3E}">
        <p14:creationId xmlns:p14="http://schemas.microsoft.com/office/powerpoint/2010/main" val="98292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D3E4E-A639-51E3-8016-984AF749385C}"/>
              </a:ext>
            </a:extLst>
          </p:cNvPr>
          <p:cNvSpPr>
            <a:spLocks noGrp="1"/>
          </p:cNvSpPr>
          <p:nvPr>
            <p:ph type="title"/>
          </p:nvPr>
        </p:nvSpPr>
        <p:spPr/>
        <p:txBody>
          <a:bodyPr/>
          <a:lstStyle/>
          <a:p>
            <a:r>
              <a:rPr lang="en-US" dirty="0"/>
              <a:t>Fourier Basis</a:t>
            </a:r>
          </a:p>
        </p:txBody>
      </p:sp>
      <mc:AlternateContent xmlns:mc="http://schemas.openxmlformats.org/markup-compatibility/2006" xmlns:a14="http://schemas.microsoft.com/office/drawing/2010/main">
        <mc:Choice Requires="a14">
          <p:sp>
            <p:nvSpPr>
              <p:cNvPr id="3" name="Content Placeholder 2" descr="A Fourier series (Fourier transform) represents a periodic function as a weighted sum of sine and cosine basis functions of increasing frequencies. State features are not periodic, so we consider only a single period, chosen so that we only need to use cosine basis functions. On dimensional case: state is represented by a single number s in [0,1] x sub i (s) equals cos of (i pi s) with i equals 0, dot dot dot,n where i is the frequency and n is the order of the Fourier basis function. Strong theoretical foundation: Fourier series can approximate any function">
                <a:extLst>
                  <a:ext uri="{FF2B5EF4-FFF2-40B4-BE49-F238E27FC236}">
                    <a16:creationId xmlns:a16="http://schemas.microsoft.com/office/drawing/2014/main" id="{C6811E52-042D-798C-3261-CCDB94EB6B4C}"/>
                  </a:ext>
                </a:extLst>
              </p:cNvPr>
              <p:cNvSpPr>
                <a:spLocks noGrp="1"/>
              </p:cNvSpPr>
              <p:nvPr>
                <p:ph idx="1"/>
              </p:nvPr>
            </p:nvSpPr>
            <p:spPr>
              <a:xfrm>
                <a:off x="838200" y="1161569"/>
                <a:ext cx="8579126" cy="2943670"/>
              </a:xfrm>
            </p:spPr>
            <p:txBody>
              <a:bodyPr>
                <a:normAutofit fontScale="62500" lnSpcReduction="20000"/>
              </a:bodyPr>
              <a:lstStyle/>
              <a:p>
                <a:r>
                  <a:rPr lang="en-US" dirty="0"/>
                  <a:t>A </a:t>
                </a:r>
                <a:r>
                  <a:rPr lang="en-US" b="1" dirty="0"/>
                  <a:t>Fourier series </a:t>
                </a:r>
                <a:r>
                  <a:rPr lang="en-US" dirty="0"/>
                  <a:t>(Fourier transform) represents a periodic function as a weighted sum of sine and cosine basis functions of increasing frequencies.</a:t>
                </a:r>
              </a:p>
              <a:p>
                <a:r>
                  <a:rPr lang="en-US" dirty="0"/>
                  <a:t>State features are not periodic, so we consider only a single period, chosen so that we only need to use cosine basis functions. </a:t>
                </a:r>
                <a:endParaRPr lang="en-US" b="1" dirty="0"/>
              </a:p>
              <a:p>
                <a:r>
                  <a:rPr lang="en-US" b="1" dirty="0"/>
                  <a:t>On dimensional case</a:t>
                </a:r>
                <a:r>
                  <a:rPr lang="en-US" dirty="0"/>
                  <a:t>: state is represented by a single number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oMath>
                </a14:m>
                <a:br>
                  <a:rPr lang="en-US" b="0" dirty="0"/>
                </a:br>
                <a:br>
                  <a:rPr lang="en-US" b="0"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𝜋</m:t>
                        </m:r>
                        <m:r>
                          <a:rPr lang="en-US" b="0" i="1" smtClean="0">
                            <a:latin typeface="Cambria Math" panose="02040503050406030204" pitchFamily="18" charset="0"/>
                          </a:rPr>
                          <m:t>𝑠</m:t>
                        </m:r>
                        <m:r>
                          <a:rPr lang="en-US" b="0" i="1" smtClean="0">
                            <a:latin typeface="Cambria Math" panose="02040503050406030204" pitchFamily="18" charset="0"/>
                          </a:rPr>
                          <m:t>)</m:t>
                        </m:r>
                      </m:e>
                    </m:func>
                  </m:oMath>
                </a14:m>
                <a:br>
                  <a:rPr lang="en-US" b="0" dirty="0"/>
                </a:br>
                <a:br>
                  <a:rPr lang="en-US" b="0" dirty="0"/>
                </a:br>
                <a:r>
                  <a:rPr lang="en-US" b="0" dirty="0"/>
                  <a:t>	with</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𝑖</m:t>
                    </m:r>
                    <m:r>
                      <a:rPr lang="en-US" i="1">
                        <a:latin typeface="Cambria Math" panose="02040503050406030204" pitchFamily="18" charset="0"/>
                      </a:rPr>
                      <m:t>=0,…,</m:t>
                    </m:r>
                    <m:r>
                      <a:rPr lang="en-US" i="1">
                        <a:latin typeface="Cambria Math" panose="02040503050406030204" pitchFamily="18" charset="0"/>
                      </a:rPr>
                      <m:t>𝑛</m:t>
                    </m:r>
                  </m:oMath>
                </a14:m>
                <a:r>
                  <a:rPr lang="en-US" dirty="0"/>
                  <a:t> where </a:t>
                </a:r>
                <a14:m>
                  <m:oMath xmlns:m="http://schemas.openxmlformats.org/officeDocument/2006/math">
                    <m:r>
                      <a:rPr lang="en-US" b="0" i="1" smtClean="0">
                        <a:latin typeface="Cambria Math" panose="02040503050406030204" pitchFamily="18" charset="0"/>
                      </a:rPr>
                      <m:t>𝑖</m:t>
                    </m:r>
                  </m:oMath>
                </a14:m>
                <a:r>
                  <a:rPr lang="en-US" dirty="0"/>
                  <a:t> is the frequency and </a:t>
                </a:r>
                <a14:m>
                  <m:oMath xmlns:m="http://schemas.openxmlformats.org/officeDocument/2006/math">
                    <m:r>
                      <a:rPr lang="en-US" b="0" i="1" smtClean="0">
                        <a:latin typeface="Cambria Math" panose="02040503050406030204" pitchFamily="18" charset="0"/>
                      </a:rPr>
                      <m:t>𝑛</m:t>
                    </m:r>
                  </m:oMath>
                </a14:m>
                <a:r>
                  <a:rPr lang="en-US" dirty="0"/>
                  <a:t> is the order of the Fourier basis function</a:t>
                </a:r>
              </a:p>
              <a:p>
                <a:r>
                  <a:rPr lang="en-US" dirty="0"/>
                  <a:t>Strong theoretical foundation: Fourier series can approximate any function.</a:t>
                </a:r>
                <a:endParaRPr lang="en-US" b="1" dirty="0"/>
              </a:p>
              <a:p>
                <a:pPr marL="0" indent="0">
                  <a:buNone/>
                </a:pPr>
                <a:endParaRPr lang="en-US" dirty="0"/>
              </a:p>
            </p:txBody>
          </p:sp>
        </mc:Choice>
        <mc:Fallback xmlns="">
          <p:sp>
            <p:nvSpPr>
              <p:cNvPr id="3" name="Content Placeholder 2" descr="A Fourier series (Fourier transform) represents a periodic function as a weighted sum of sine and cosine basis functions of increasing frequencies. State features are not periodic, so we consider only a single period, chosen so that we only need to use cosine basis functions. On dimensional case: state is represented by a single number s in [0,1] x sub i (s) equals cos of (i pi s) with i equals 0, dot dot dot,n where i is the frequency and n is the order of the Fourier basis function. Strong theoretical foundation: Fourier series can approximate any function">
                <a:extLst>
                  <a:ext uri="{FF2B5EF4-FFF2-40B4-BE49-F238E27FC236}">
                    <a16:creationId xmlns:a16="http://schemas.microsoft.com/office/drawing/2014/main" id="{C6811E52-042D-798C-3261-CCDB94EB6B4C}"/>
                  </a:ext>
                </a:extLst>
              </p:cNvPr>
              <p:cNvSpPr>
                <a:spLocks noGrp="1" noRot="1" noChangeAspect="1" noMove="1" noResize="1" noEditPoints="1" noAdjustHandles="1" noChangeArrowheads="1" noChangeShapeType="1" noTextEdit="1"/>
              </p:cNvSpPr>
              <p:nvPr>
                <p:ph idx="1"/>
              </p:nvPr>
            </p:nvSpPr>
            <p:spPr>
              <a:xfrm>
                <a:off x="838200" y="1161569"/>
                <a:ext cx="8579126" cy="2943670"/>
              </a:xfrm>
              <a:blipFill>
                <a:blip r:embed="rId2"/>
                <a:stretch>
                  <a:fillRect l="-498" t="-3320"/>
                </a:stretch>
              </a:blipFill>
            </p:spPr>
            <p:txBody>
              <a:bodyPr/>
              <a:lstStyle/>
              <a:p>
                <a:r>
                  <a:rPr lang="en-US">
                    <a:noFill/>
                  </a:rPr>
                  <a:t> </a:t>
                </a:r>
              </a:p>
            </p:txBody>
          </p:sp>
        </mc:Fallback>
      </mc:AlternateContent>
      <p:grpSp>
        <p:nvGrpSpPr>
          <p:cNvPr id="28" name="Group 27" descr="Four plots of one-dimensional Fourier cosine features on the interval 0 to 1, with frequency increasing from left to right: half a wave, one full wave, one and a half waves, and two waves. Labels: i equals 1; i equals 2; i equals 3; i equals 4; s; Example: Order-4 Fourier cosine basis creates 4 features plus the intercept for i equals 0 for linear approximation; x sub 1 (s); x (.2) equals (1, .9,.65, .35,. 1).">
            <a:extLst>
              <a:ext uri="{FF2B5EF4-FFF2-40B4-BE49-F238E27FC236}">
                <a16:creationId xmlns:a16="http://schemas.microsoft.com/office/drawing/2014/main" id="{969D3EEB-DF2C-E4E0-6C47-A07423C916CC}"/>
              </a:ext>
            </a:extLst>
          </p:cNvPr>
          <p:cNvGrpSpPr/>
          <p:nvPr/>
        </p:nvGrpSpPr>
        <p:grpSpPr>
          <a:xfrm>
            <a:off x="608001" y="4105239"/>
            <a:ext cx="10975998" cy="2423416"/>
            <a:chOff x="555214" y="4273987"/>
            <a:chExt cx="10975998" cy="2423416"/>
          </a:xfrm>
        </p:grpSpPr>
        <p:grpSp>
          <p:nvGrpSpPr>
            <p:cNvPr id="30" name="Group 29" descr="Four plots of one-dimensional Fourier cosine features on the interval 0 to 1, with frequency increasing from left to right: half a wave, one full wave, one and a half waves, and two waves. Labels: i equals 1; i equals 2; i equals 3; i equals 4; s; Example: Order-4 Fourier cosine basis creates 4 features plus the intercept for i equals 0 for linear approximation.">
              <a:extLst>
                <a:ext uri="{FF2B5EF4-FFF2-40B4-BE49-F238E27FC236}">
                  <a16:creationId xmlns:a16="http://schemas.microsoft.com/office/drawing/2014/main" id="{506EE23C-B5A9-DF31-8286-7EF0B31BE999}"/>
                </a:ext>
              </a:extLst>
            </p:cNvPr>
            <p:cNvGrpSpPr/>
            <p:nvPr/>
          </p:nvGrpSpPr>
          <p:grpSpPr>
            <a:xfrm>
              <a:off x="555214" y="4273987"/>
              <a:ext cx="10975998" cy="2198627"/>
              <a:chOff x="555214" y="4273987"/>
              <a:chExt cx="10975998" cy="2198627"/>
            </a:xfrm>
          </p:grpSpPr>
          <p:grpSp>
            <p:nvGrpSpPr>
              <p:cNvPr id="27" name="Group 26" descr="Four plots of one-dimensional Fourier cosine features on the interval 0 to 1, with frequency increasing from left to right: half a wave, one full wave, one and a half waves, and two waves. Labels: i equals 1; i equals 2; i equals 3; i equals 4; s.">
                <a:extLst>
                  <a:ext uri="{FF2B5EF4-FFF2-40B4-BE49-F238E27FC236}">
                    <a16:creationId xmlns:a16="http://schemas.microsoft.com/office/drawing/2014/main" id="{97505212-7A05-EF5F-595D-8F58C8B01957}"/>
                  </a:ext>
                </a:extLst>
              </p:cNvPr>
              <p:cNvGrpSpPr/>
              <p:nvPr/>
            </p:nvGrpSpPr>
            <p:grpSpPr>
              <a:xfrm>
                <a:off x="1403011" y="4774425"/>
                <a:ext cx="9702152" cy="1698189"/>
                <a:chOff x="940253" y="3816846"/>
                <a:chExt cx="10311493" cy="2432393"/>
              </a:xfrm>
            </p:grpSpPr>
            <p:grpSp>
              <p:nvGrpSpPr>
                <p:cNvPr id="14" name="Group 13" descr="Four plots of one-dimensional Fourier cosine features on the interval 0 to 1, with frequency increasing from left to right: half a wave, one full wave, one and a half waves, and two waves. Labels: i equals 1; i equals 2; i equals 3; i equals 4.">
                  <a:extLst>
                    <a:ext uri="{FF2B5EF4-FFF2-40B4-BE49-F238E27FC236}">
                      <a16:creationId xmlns:a16="http://schemas.microsoft.com/office/drawing/2014/main" id="{E28C3802-8BE9-3532-FD3E-63D4C67B7343}"/>
                    </a:ext>
                  </a:extLst>
                </p:cNvPr>
                <p:cNvGrpSpPr/>
                <p:nvPr/>
              </p:nvGrpSpPr>
              <p:grpSpPr>
                <a:xfrm>
                  <a:off x="940253" y="3816846"/>
                  <a:ext cx="10311493" cy="2316799"/>
                  <a:chOff x="940253" y="3816846"/>
                  <a:chExt cx="10311493" cy="2316799"/>
                </a:xfrm>
              </p:grpSpPr>
              <p:pic>
                <p:nvPicPr>
                  <p:cNvPr id="5" name="Picture 4" descr="Four plots of one-dimensional Fourier cosine features on the interval 0 to 1, with frequency increasing from left to right: half a wave, one full wave, one and a half waves, and two waves.">
                    <a:extLst>
                      <a:ext uri="{FF2B5EF4-FFF2-40B4-BE49-F238E27FC236}">
                        <a16:creationId xmlns:a16="http://schemas.microsoft.com/office/drawing/2014/main" id="{3B1C95FD-8690-42B1-E727-B2971459644A}"/>
                      </a:ext>
                    </a:extLst>
                  </p:cNvPr>
                  <p:cNvPicPr>
                    <a:picLocks noChangeAspect="1"/>
                  </p:cNvPicPr>
                  <p:nvPr/>
                </p:nvPicPr>
                <p:blipFill>
                  <a:blip r:embed="rId3"/>
                  <a:stretch>
                    <a:fillRect/>
                  </a:stretch>
                </p:blipFill>
                <p:spPr>
                  <a:xfrm>
                    <a:off x="940253" y="4001512"/>
                    <a:ext cx="10311493" cy="2132133"/>
                  </a:xfrm>
                  <a:prstGeom prst="rect">
                    <a:avLst/>
                  </a:prstGeom>
                </p:spPr>
              </p:pic>
              <mc:AlternateContent xmlns:mc="http://schemas.openxmlformats.org/markup-compatibility/2006" xmlns:a14="http://schemas.microsoft.com/office/drawing/2010/main">
                <mc:Choice Requires="a14">
                  <p:sp>
                    <p:nvSpPr>
                      <p:cNvPr id="6" name="TextBox 5" descr="Equation: i equals 1">
                        <a:extLst>
                          <a:ext uri="{FF2B5EF4-FFF2-40B4-BE49-F238E27FC236}">
                            <a16:creationId xmlns:a16="http://schemas.microsoft.com/office/drawing/2014/main" id="{080C96CF-121E-44DE-76C2-6C0CBBE9281C}"/>
                          </a:ext>
                        </a:extLst>
                      </p:cNvPr>
                      <p:cNvSpPr txBox="1"/>
                      <p:nvPr/>
                    </p:nvSpPr>
                    <p:spPr>
                      <a:xfrm>
                        <a:off x="1927021" y="3816846"/>
                        <a:ext cx="655916" cy="440843"/>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𝑖</m:t>
                              </m:r>
                              <m:r>
                                <a:rPr lang="en-US" sz="1400" b="0" i="1" smtClean="0">
                                  <a:latin typeface="Cambria Math" panose="02040503050406030204" pitchFamily="18" charset="0"/>
                                </a:rPr>
                                <m:t>=1</m:t>
                              </m:r>
                            </m:oMath>
                          </m:oMathPara>
                        </a14:m>
                        <a:endParaRPr lang="en-US" sz="1400" dirty="0"/>
                      </a:p>
                    </p:txBody>
                  </p:sp>
                </mc:Choice>
                <mc:Fallback xmlns="">
                  <p:sp>
                    <p:nvSpPr>
                      <p:cNvPr id="6" name="TextBox 5" descr="Equation: i equals 1">
                        <a:extLst>
                          <a:ext uri="{FF2B5EF4-FFF2-40B4-BE49-F238E27FC236}">
                            <a16:creationId xmlns:a16="http://schemas.microsoft.com/office/drawing/2014/main" id="{080C96CF-121E-44DE-76C2-6C0CBBE9281C}"/>
                          </a:ext>
                        </a:extLst>
                      </p:cNvPr>
                      <p:cNvSpPr txBox="1">
                        <a:spLocks noRot="1" noChangeAspect="1" noMove="1" noResize="1" noEditPoints="1" noAdjustHandles="1" noChangeArrowheads="1" noChangeShapeType="1" noTextEdit="1"/>
                      </p:cNvSpPr>
                      <p:nvPr/>
                    </p:nvSpPr>
                    <p:spPr>
                      <a:xfrm>
                        <a:off x="1927021" y="3816846"/>
                        <a:ext cx="655916" cy="44084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descr="Equation: i equals 2">
                        <a:extLst>
                          <a:ext uri="{FF2B5EF4-FFF2-40B4-BE49-F238E27FC236}">
                            <a16:creationId xmlns:a16="http://schemas.microsoft.com/office/drawing/2014/main" id="{74940EEB-2288-42CB-85C4-BCE6702B531D}"/>
                          </a:ext>
                        </a:extLst>
                      </p:cNvPr>
                      <p:cNvSpPr txBox="1"/>
                      <p:nvPr/>
                    </p:nvSpPr>
                    <p:spPr>
                      <a:xfrm>
                        <a:off x="4410792" y="3842266"/>
                        <a:ext cx="655916" cy="440843"/>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𝑖</m:t>
                              </m:r>
                              <m:r>
                                <a:rPr lang="en-US" sz="1400" b="0" i="1" smtClean="0">
                                  <a:latin typeface="Cambria Math" panose="02040503050406030204" pitchFamily="18" charset="0"/>
                                </a:rPr>
                                <m:t>=2</m:t>
                              </m:r>
                            </m:oMath>
                          </m:oMathPara>
                        </a14:m>
                        <a:endParaRPr lang="en-US" sz="1400" dirty="0"/>
                      </a:p>
                    </p:txBody>
                  </p:sp>
                </mc:Choice>
                <mc:Fallback xmlns="">
                  <p:sp>
                    <p:nvSpPr>
                      <p:cNvPr id="7" name="TextBox 6" descr="Equation: i equals 2">
                        <a:extLst>
                          <a:ext uri="{FF2B5EF4-FFF2-40B4-BE49-F238E27FC236}">
                            <a16:creationId xmlns:a16="http://schemas.microsoft.com/office/drawing/2014/main" id="{74940EEB-2288-42CB-85C4-BCE6702B531D}"/>
                          </a:ext>
                        </a:extLst>
                      </p:cNvPr>
                      <p:cNvSpPr txBox="1">
                        <a:spLocks noRot="1" noChangeAspect="1" noMove="1" noResize="1" noEditPoints="1" noAdjustHandles="1" noChangeArrowheads="1" noChangeShapeType="1" noTextEdit="1"/>
                      </p:cNvSpPr>
                      <p:nvPr/>
                    </p:nvSpPr>
                    <p:spPr>
                      <a:xfrm>
                        <a:off x="4410792" y="3842266"/>
                        <a:ext cx="655916" cy="44084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descr="Equation: i equals 3">
                        <a:extLst>
                          <a:ext uri="{FF2B5EF4-FFF2-40B4-BE49-F238E27FC236}">
                            <a16:creationId xmlns:a16="http://schemas.microsoft.com/office/drawing/2014/main" id="{1D751660-33C0-9273-76A8-F4F97BE80225}"/>
                          </a:ext>
                        </a:extLst>
                      </p:cNvPr>
                      <p:cNvSpPr txBox="1"/>
                      <p:nvPr/>
                    </p:nvSpPr>
                    <p:spPr>
                      <a:xfrm>
                        <a:off x="6894563" y="3842266"/>
                        <a:ext cx="655916" cy="440843"/>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𝑖</m:t>
                              </m:r>
                              <m:r>
                                <a:rPr lang="en-US" sz="1400" b="0" i="1" smtClean="0">
                                  <a:latin typeface="Cambria Math" panose="02040503050406030204" pitchFamily="18" charset="0"/>
                                </a:rPr>
                                <m:t>=3</m:t>
                              </m:r>
                            </m:oMath>
                          </m:oMathPara>
                        </a14:m>
                        <a:endParaRPr lang="en-US" sz="1400" dirty="0"/>
                      </a:p>
                    </p:txBody>
                  </p:sp>
                </mc:Choice>
                <mc:Fallback xmlns="">
                  <p:sp>
                    <p:nvSpPr>
                      <p:cNvPr id="8" name="TextBox 7" descr="Equation: i equals 3">
                        <a:extLst>
                          <a:ext uri="{FF2B5EF4-FFF2-40B4-BE49-F238E27FC236}">
                            <a16:creationId xmlns:a16="http://schemas.microsoft.com/office/drawing/2014/main" id="{1D751660-33C0-9273-76A8-F4F97BE80225}"/>
                          </a:ext>
                        </a:extLst>
                      </p:cNvPr>
                      <p:cNvSpPr txBox="1">
                        <a:spLocks noRot="1" noChangeAspect="1" noMove="1" noResize="1" noEditPoints="1" noAdjustHandles="1" noChangeArrowheads="1" noChangeShapeType="1" noTextEdit="1"/>
                      </p:cNvSpPr>
                      <p:nvPr/>
                    </p:nvSpPr>
                    <p:spPr>
                      <a:xfrm>
                        <a:off x="6894563" y="3842266"/>
                        <a:ext cx="655916" cy="44084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descr="Equation: i equals 4">
                        <a:extLst>
                          <a:ext uri="{FF2B5EF4-FFF2-40B4-BE49-F238E27FC236}">
                            <a16:creationId xmlns:a16="http://schemas.microsoft.com/office/drawing/2014/main" id="{6F1B4BF1-DC74-1988-A35B-B27BEB860718}"/>
                          </a:ext>
                        </a:extLst>
                      </p:cNvPr>
                      <p:cNvSpPr txBox="1"/>
                      <p:nvPr/>
                    </p:nvSpPr>
                    <p:spPr>
                      <a:xfrm>
                        <a:off x="9352822" y="3842266"/>
                        <a:ext cx="655916" cy="440843"/>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𝑖</m:t>
                              </m:r>
                              <m:r>
                                <a:rPr lang="en-US" sz="1400" b="0" i="1" smtClean="0">
                                  <a:latin typeface="Cambria Math" panose="02040503050406030204" pitchFamily="18" charset="0"/>
                                </a:rPr>
                                <m:t>=4</m:t>
                              </m:r>
                            </m:oMath>
                          </m:oMathPara>
                        </a14:m>
                        <a:endParaRPr lang="en-US" sz="1400" dirty="0"/>
                      </a:p>
                    </p:txBody>
                  </p:sp>
                </mc:Choice>
                <mc:Fallback xmlns="">
                  <p:sp>
                    <p:nvSpPr>
                      <p:cNvPr id="9" name="TextBox 8" descr="Equation: i equals 4">
                        <a:extLst>
                          <a:ext uri="{FF2B5EF4-FFF2-40B4-BE49-F238E27FC236}">
                            <a16:creationId xmlns:a16="http://schemas.microsoft.com/office/drawing/2014/main" id="{6F1B4BF1-DC74-1988-A35B-B27BEB860718}"/>
                          </a:ext>
                        </a:extLst>
                      </p:cNvPr>
                      <p:cNvSpPr txBox="1">
                        <a:spLocks noRot="1" noChangeAspect="1" noMove="1" noResize="1" noEditPoints="1" noAdjustHandles="1" noChangeArrowheads="1" noChangeShapeType="1" noTextEdit="1"/>
                      </p:cNvSpPr>
                      <p:nvPr/>
                    </p:nvSpPr>
                    <p:spPr>
                      <a:xfrm>
                        <a:off x="9352822" y="3842266"/>
                        <a:ext cx="655916" cy="440843"/>
                      </a:xfrm>
                      <a:prstGeom prst="rect">
                        <a:avLst/>
                      </a:prstGeom>
                      <a:blipFill>
                        <a:blip r:embed="rId8"/>
                        <a:stretch>
                          <a:fillRect/>
                        </a:stretch>
                      </a:blipFill>
                    </p:spPr>
                    <p:txBody>
                      <a:bodyPr/>
                      <a:lstStyle/>
                      <a:p>
                        <a:r>
                          <a:rPr lang="en-US">
                            <a:noFill/>
                          </a:rPr>
                          <a:t> </a:t>
                        </a:r>
                      </a:p>
                    </p:txBody>
                  </p:sp>
                </mc:Fallback>
              </mc:AlternateContent>
            </p:grpSp>
            <p:cxnSp>
              <p:nvCxnSpPr>
                <p:cNvPr id="17" name="Straight Connector 16">
                  <a:extLst>
                    <a:ext uri="{FF2B5EF4-FFF2-40B4-BE49-F238E27FC236}">
                      <a16:creationId xmlns:a16="http://schemas.microsoft.com/office/drawing/2014/main" id="{3866DA77-53C0-752D-ADC9-563106926B59}"/>
                    </a:ext>
                    <a:ext uri="{C183D7F6-B498-43B3-948B-1728B52AA6E4}">
                      <adec:decorative xmlns:adec="http://schemas.microsoft.com/office/drawing/2017/decorative" val="1"/>
                    </a:ext>
                  </a:extLst>
                </p:cNvPr>
                <p:cNvCxnSpPr/>
                <p:nvPr/>
              </p:nvCxnSpPr>
              <p:spPr>
                <a:xfrm>
                  <a:off x="1689197" y="4327695"/>
                  <a:ext cx="0" cy="1507713"/>
                </a:xfrm>
                <a:prstGeom prst="line">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79E0EE6-A05E-2FC8-DC10-89263EE369CF}"/>
                    </a:ext>
                    <a:ext uri="{C183D7F6-B498-43B3-948B-1728B52AA6E4}">
                      <adec:decorative xmlns:adec="http://schemas.microsoft.com/office/drawing/2017/decorative" val="1"/>
                    </a:ext>
                  </a:extLst>
                </p:cNvPr>
                <p:cNvCxnSpPr>
                  <a:cxnSpLocks/>
                </p:cNvCxnSpPr>
                <p:nvPr/>
              </p:nvCxnSpPr>
              <p:spPr>
                <a:xfrm>
                  <a:off x="4193909" y="4781405"/>
                  <a:ext cx="0" cy="1054003"/>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AF39E40D-4A5D-52AA-F276-4D237C0077F4}"/>
                    </a:ext>
                    <a:ext uri="{C183D7F6-B498-43B3-948B-1728B52AA6E4}">
                      <adec:decorative xmlns:adec="http://schemas.microsoft.com/office/drawing/2017/decorative" val="1"/>
                    </a:ext>
                  </a:extLst>
                </p:cNvPr>
                <p:cNvCxnSpPr>
                  <a:cxnSpLocks/>
                </p:cNvCxnSpPr>
                <p:nvPr/>
              </p:nvCxnSpPr>
              <p:spPr>
                <a:xfrm>
                  <a:off x="6698620" y="5275437"/>
                  <a:ext cx="0" cy="559971"/>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11E9E864-8136-5401-1AA3-C92C28B36EC2}"/>
                    </a:ext>
                    <a:ext uri="{C183D7F6-B498-43B3-948B-1728B52AA6E4}">
                      <adec:decorative xmlns:adec="http://schemas.microsoft.com/office/drawing/2017/decorative" val="1"/>
                    </a:ext>
                  </a:extLst>
                </p:cNvPr>
                <p:cNvCxnSpPr>
                  <a:cxnSpLocks/>
                </p:cNvCxnSpPr>
                <p:nvPr/>
              </p:nvCxnSpPr>
              <p:spPr>
                <a:xfrm>
                  <a:off x="9197515" y="5674864"/>
                  <a:ext cx="0" cy="160544"/>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descr="Equation: s">
                      <a:extLst>
                        <a:ext uri="{FF2B5EF4-FFF2-40B4-BE49-F238E27FC236}">
                          <a16:creationId xmlns:a16="http://schemas.microsoft.com/office/drawing/2014/main" id="{B575E85A-359F-ECA5-9366-AE1BB9BDA12D}"/>
                        </a:ext>
                      </a:extLst>
                    </p:cNvPr>
                    <p:cNvSpPr txBox="1"/>
                    <p:nvPr/>
                  </p:nvSpPr>
                  <p:spPr>
                    <a:xfrm>
                      <a:off x="1308142" y="5764313"/>
                      <a:ext cx="345574" cy="484926"/>
                    </a:xfrm>
                    <a:prstGeom prst="rect">
                      <a:avLst/>
                    </a:prstGeom>
                    <a:noFill/>
                  </p:spPr>
                  <p:txBody>
                    <a:bodyPr wrap="none" rtlCol="0">
                      <a:spAutoFit/>
                    </a:bodyPr>
                    <a:lstStyle/>
                    <a:p>
                      <a:pPr/>
                      <a14:m>
                        <m:oMathPara xmlns:m="http://schemas.openxmlformats.org/officeDocument/2006/math">
                          <m:oMath>
                            <m:r>
                              <a:rPr lang="en-US" sz="1600" b="0" i="1" smtClean="0">
                                <a:latin typeface="Cambria Math" panose="02040503050406030204" pitchFamily="18" charset="0"/>
                              </a:rPr>
                              <m:t>𝑠</m:t>
                            </m:r>
                          </m:oMath>
                        </m:oMathPara>
                      </a14:m>
                      <a:endParaRPr lang="en-US" sz="1600" dirty="0"/>
                    </a:p>
                  </p:txBody>
                </p:sp>
              </mc:Choice>
              <mc:Fallback xmlns="">
                <p:sp>
                  <p:nvSpPr>
                    <p:cNvPr id="24" name="TextBox 23" descr="Equation: s">
                      <a:extLst>
                        <a:ext uri="{FF2B5EF4-FFF2-40B4-BE49-F238E27FC236}">
                          <a16:creationId xmlns:a16="http://schemas.microsoft.com/office/drawing/2014/main" id="{B575E85A-359F-ECA5-9366-AE1BB9BDA12D}"/>
                        </a:ext>
                      </a:extLst>
                    </p:cNvPr>
                    <p:cNvSpPr txBox="1">
                      <a:spLocks noRot="1" noChangeAspect="1" noMove="1" noResize="1" noEditPoints="1" noAdjustHandles="1" noChangeArrowheads="1" noChangeShapeType="1" noTextEdit="1"/>
                    </p:cNvSpPr>
                    <p:nvPr/>
                  </p:nvSpPr>
                  <p:spPr>
                    <a:xfrm>
                      <a:off x="1308142" y="5764313"/>
                      <a:ext cx="345574" cy="484926"/>
                    </a:xfrm>
                    <a:prstGeom prst="rect">
                      <a:avLst/>
                    </a:prstGeom>
                    <a:blipFill>
                      <a:blip r:embed="rId9"/>
                      <a:stretch>
                        <a:fillRect/>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D4DD42E0-1896-C9C2-F00F-BD6D1136542E}"/>
                    </a:ext>
                    <a:ext uri="{C183D7F6-B498-43B3-948B-1728B52AA6E4}">
                      <adec:decorative xmlns:adec="http://schemas.microsoft.com/office/drawing/2017/decorative" val="1"/>
                    </a:ext>
                  </a:extLst>
                </p:cNvPr>
                <p:cNvCxnSpPr>
                  <a:cxnSpLocks/>
                </p:cNvCxnSpPr>
                <p:nvPr/>
              </p:nvCxnSpPr>
              <p:spPr>
                <a:xfrm>
                  <a:off x="1270388" y="5846770"/>
                  <a:ext cx="418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9" name="TextBox 28" descr="Example: Order-4 Fourier cosine basis creates 4 features plus the intercept for i equals 0 for linear approximation">
                    <a:extLst>
                      <a:ext uri="{FF2B5EF4-FFF2-40B4-BE49-F238E27FC236}">
                        <a16:creationId xmlns:a16="http://schemas.microsoft.com/office/drawing/2014/main" id="{7D635983-D050-D8D7-7557-F5169D4628E3}"/>
                      </a:ext>
                    </a:extLst>
                  </p:cNvPr>
                  <p:cNvSpPr txBox="1"/>
                  <p:nvPr/>
                </p:nvSpPr>
                <p:spPr>
                  <a:xfrm>
                    <a:off x="555214" y="4273987"/>
                    <a:ext cx="10975998" cy="369332"/>
                  </a:xfrm>
                  <a:prstGeom prst="rect">
                    <a:avLst/>
                  </a:prstGeom>
                  <a:noFill/>
                </p:spPr>
                <p:txBody>
                  <a:bodyPr wrap="square">
                    <a:spAutoFit/>
                  </a:bodyPr>
                  <a:lstStyle/>
                  <a:p>
                    <a:r>
                      <a:rPr lang="en-US" b="1" dirty="0"/>
                      <a:t>Example</a:t>
                    </a:r>
                    <a:r>
                      <a:rPr lang="en-US" dirty="0"/>
                      <a:t>: Order-4 Fourier cosine basis creates 4 features plus the intercept for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=0 </m:t>
                        </m:r>
                      </m:oMath>
                    </a14:m>
                    <a:r>
                      <a:rPr lang="en-US" dirty="0"/>
                      <a:t>for linear approximation.</a:t>
                    </a:r>
                  </a:p>
                </p:txBody>
              </p:sp>
            </mc:Choice>
            <mc:Fallback xmlns="">
              <p:sp>
                <p:nvSpPr>
                  <p:cNvPr id="29" name="TextBox 28" descr="Example: Order-4 Fourier cosine basis creates 4 features plus the intercept for i equals 0 for linear approximation">
                    <a:extLst>
                      <a:ext uri="{FF2B5EF4-FFF2-40B4-BE49-F238E27FC236}">
                        <a16:creationId xmlns:a16="http://schemas.microsoft.com/office/drawing/2014/main" id="{7D635983-D050-D8D7-7557-F5169D4628E3}"/>
                      </a:ext>
                    </a:extLst>
                  </p:cNvPr>
                  <p:cNvSpPr txBox="1">
                    <a:spLocks noRot="1" noChangeAspect="1" noMove="1" noResize="1" noEditPoints="1" noAdjustHandles="1" noChangeArrowheads="1" noChangeShapeType="1" noTextEdit="1"/>
                  </p:cNvSpPr>
                  <p:nvPr/>
                </p:nvSpPr>
                <p:spPr>
                  <a:xfrm>
                    <a:off x="555214" y="4273987"/>
                    <a:ext cx="10975998" cy="369332"/>
                  </a:xfrm>
                  <a:prstGeom prst="rect">
                    <a:avLst/>
                  </a:prstGeom>
                  <a:blipFill>
                    <a:blip r:embed="rId10"/>
                    <a:stretch>
                      <a:fillRect l="-500" t="-6557" b="-2623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5" name="TextBox 14" descr="Equation: x sub 1 (s)">
                  <a:extLst>
                    <a:ext uri="{FF2B5EF4-FFF2-40B4-BE49-F238E27FC236}">
                      <a16:creationId xmlns:a16="http://schemas.microsoft.com/office/drawing/2014/main" id="{FF7A3A9F-24AD-7EC9-98A9-9DDA975E5F02}"/>
                    </a:ext>
                  </a:extLst>
                </p:cNvPr>
                <p:cNvSpPr txBox="1"/>
                <p:nvPr/>
              </p:nvSpPr>
              <p:spPr>
                <a:xfrm>
                  <a:off x="2057706" y="5566251"/>
                  <a:ext cx="691924" cy="307777"/>
                </a:xfrm>
                <a:prstGeom prst="rect">
                  <a:avLst/>
                </a:prstGeom>
                <a:noFill/>
              </p:spPr>
              <p:txBody>
                <a:bodyPr wrap="square">
                  <a:spAutoFit/>
                </a:bodyPr>
                <a:lstStyle/>
                <a:p>
                  <a:pP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𝑠</m:t>
                            </m:r>
                          </m:e>
                        </m:d>
                      </m:oMath>
                    </m:oMathPara>
                  </a14:m>
                  <a:endParaRPr lang="en-US" sz="1400" dirty="0"/>
                </a:p>
              </p:txBody>
            </p:sp>
          </mc:Choice>
          <mc:Fallback xmlns="">
            <p:sp>
              <p:nvSpPr>
                <p:cNvPr id="15" name="TextBox 14" descr="Equation: x sub 1 (s)">
                  <a:extLst>
                    <a:ext uri="{FF2B5EF4-FFF2-40B4-BE49-F238E27FC236}">
                      <a16:creationId xmlns:a16="http://schemas.microsoft.com/office/drawing/2014/main" id="{FF7A3A9F-24AD-7EC9-98A9-9DDA975E5F02}"/>
                    </a:ext>
                  </a:extLst>
                </p:cNvPr>
                <p:cNvSpPr txBox="1">
                  <a:spLocks noRot="1" noChangeAspect="1" noMove="1" noResize="1" noEditPoints="1" noAdjustHandles="1" noChangeArrowheads="1" noChangeShapeType="1" noTextEdit="1"/>
                </p:cNvSpPr>
                <p:nvPr/>
              </p:nvSpPr>
              <p:spPr>
                <a:xfrm>
                  <a:off x="2057706" y="5566251"/>
                  <a:ext cx="691924" cy="307777"/>
                </a:xfrm>
                <a:prstGeom prst="rect">
                  <a:avLst/>
                </a:prstGeom>
                <a:blipFill>
                  <a:blip r:embed="rId11"/>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E9C0D353-A18F-D358-478D-9049A0E1C237}"/>
                </a:ext>
                <a:ext uri="{C183D7F6-B498-43B3-948B-1728B52AA6E4}">
                  <adec:decorative xmlns:adec="http://schemas.microsoft.com/office/drawing/2017/decorative" val="1"/>
                </a:ext>
              </a:extLst>
            </p:cNvPr>
            <p:cNvCxnSpPr>
              <a:cxnSpLocks/>
            </p:cNvCxnSpPr>
            <p:nvPr/>
          </p:nvCxnSpPr>
          <p:spPr>
            <a:xfrm>
              <a:off x="4070337" y="6191628"/>
              <a:ext cx="3940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ACC812F-AEFF-E345-9D42-29B26CC073CE}"/>
                </a:ext>
                <a:ext uri="{C183D7F6-B498-43B3-948B-1728B52AA6E4}">
                  <adec:decorative xmlns:adec="http://schemas.microsoft.com/office/drawing/2017/decorative" val="1"/>
                </a:ext>
              </a:extLst>
            </p:cNvPr>
            <p:cNvCxnSpPr>
              <a:cxnSpLocks/>
            </p:cNvCxnSpPr>
            <p:nvPr/>
          </p:nvCxnSpPr>
          <p:spPr>
            <a:xfrm>
              <a:off x="6427037" y="6209807"/>
              <a:ext cx="3940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E2BA4C85-A58D-76FE-B207-FF7306921EEE}"/>
                </a:ext>
                <a:ext uri="{C183D7F6-B498-43B3-948B-1728B52AA6E4}">
                  <adec:decorative xmlns:adec="http://schemas.microsoft.com/office/drawing/2017/decorative" val="1"/>
                </a:ext>
              </a:extLst>
            </p:cNvPr>
            <p:cNvCxnSpPr>
              <a:cxnSpLocks/>
            </p:cNvCxnSpPr>
            <p:nvPr/>
          </p:nvCxnSpPr>
          <p:spPr>
            <a:xfrm>
              <a:off x="8778263" y="6209807"/>
              <a:ext cx="3940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descr="Equation: x (.2) equals (1, .9,.65, .35,. 1)">
                  <a:extLst>
                    <a:ext uri="{FF2B5EF4-FFF2-40B4-BE49-F238E27FC236}">
                      <a16:creationId xmlns:a16="http://schemas.microsoft.com/office/drawing/2014/main" id="{FB522CFE-9B16-F8BC-FF09-9DD69CA05165}"/>
                    </a:ext>
                  </a:extLst>
                </p:cNvPr>
                <p:cNvSpPr txBox="1"/>
                <p:nvPr/>
              </p:nvSpPr>
              <p:spPr>
                <a:xfrm>
                  <a:off x="4464397" y="6358849"/>
                  <a:ext cx="2969416" cy="338554"/>
                </a:xfrm>
                <a:prstGeom prst="rect">
                  <a:avLst/>
                </a:prstGeom>
                <a:noFill/>
              </p:spPr>
              <p:txBody>
                <a:bodyPr wrap="square">
                  <a:spAutoFit/>
                </a:bodyPr>
                <a:lstStyle/>
                <a:p>
                  <a:pPr/>
                  <a14:m>
                    <m:oMathPara xmlns:m="http://schemas.openxmlformats.org/officeDocument/2006/math">
                      <m:oMath>
                        <m:r>
                          <a:rPr lang="en-US" sz="1600" b="1" i="1" smtClean="0">
                            <a:latin typeface="Cambria Math" panose="02040503050406030204" pitchFamily="18" charset="0"/>
                          </a:rPr>
                          <m:t>𝒙</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.2</m:t>
                            </m:r>
                          </m:e>
                        </m:d>
                        <m:r>
                          <a:rPr lang="en-US" sz="1600" b="0" i="1" smtClean="0">
                            <a:latin typeface="Cambria Math" panose="02040503050406030204" pitchFamily="18" charset="0"/>
                          </a:rPr>
                          <m:t>=</m:t>
                        </m:r>
                        <m:r>
                          <a:rPr lang="en-US" sz="1600" b="0" i="0" smtClean="0">
                            <a:latin typeface="Cambria Math" panose="02040503050406030204" pitchFamily="18" charset="0"/>
                          </a:rPr>
                          <m:t>(1, .9,.65, .35,. 1)</m:t>
                        </m:r>
                      </m:oMath>
                    </m:oMathPara>
                  </a14:m>
                  <a:endParaRPr lang="en-US" sz="1600" dirty="0"/>
                </a:p>
              </p:txBody>
            </p:sp>
          </mc:Choice>
          <mc:Fallback xmlns="">
            <p:sp>
              <p:nvSpPr>
                <p:cNvPr id="25" name="TextBox 24" descr="Equation: x (.2) equals (1, .9,.65, .35,. 1)">
                  <a:extLst>
                    <a:ext uri="{FF2B5EF4-FFF2-40B4-BE49-F238E27FC236}">
                      <a16:creationId xmlns:a16="http://schemas.microsoft.com/office/drawing/2014/main" id="{FB522CFE-9B16-F8BC-FF09-9DD69CA05165}"/>
                    </a:ext>
                  </a:extLst>
                </p:cNvPr>
                <p:cNvSpPr txBox="1">
                  <a:spLocks noRot="1" noChangeAspect="1" noMove="1" noResize="1" noEditPoints="1" noAdjustHandles="1" noChangeArrowheads="1" noChangeShapeType="1" noTextEdit="1"/>
                </p:cNvSpPr>
                <p:nvPr/>
              </p:nvSpPr>
              <p:spPr>
                <a:xfrm>
                  <a:off x="4464397" y="6358849"/>
                  <a:ext cx="2969416" cy="338554"/>
                </a:xfrm>
                <a:prstGeom prst="rect">
                  <a:avLst/>
                </a:prstGeom>
                <a:blipFill>
                  <a:blip r:embed="rId12"/>
                  <a:stretch>
                    <a:fillRect b="-892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0" name="Speech Bubble: Rectangle with Corners Rounded 9" descr="pi is 180° in radians">
                <a:extLst>
                  <a:ext uri="{FF2B5EF4-FFF2-40B4-BE49-F238E27FC236}">
                    <a16:creationId xmlns:a16="http://schemas.microsoft.com/office/drawing/2014/main" id="{C8AC6A20-B8CB-1187-C462-562359C18B3A}"/>
                  </a:ext>
                </a:extLst>
              </p:cNvPr>
              <p:cNvSpPr/>
              <p:nvPr/>
            </p:nvSpPr>
            <p:spPr>
              <a:xfrm>
                <a:off x="6437818" y="2529410"/>
                <a:ext cx="1698771" cy="365954"/>
              </a:xfrm>
              <a:prstGeom prst="wedgeRoundRectCallout">
                <a:avLst>
                  <a:gd name="adj1" fmla="val -80755"/>
                  <a:gd name="adj2" fmla="val -2461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1200" i="1" dirty="0">
                        <a:latin typeface="Cambria Math" panose="02040503050406030204" pitchFamily="18" charset="0"/>
                      </a:rPr>
                      <m:t>𝜋</m:t>
                    </m:r>
                  </m:oMath>
                </a14:m>
                <a:r>
                  <a:rPr lang="en-US" sz="1200" dirty="0"/>
                  <a:t> is 180° in radians</a:t>
                </a:r>
              </a:p>
            </p:txBody>
          </p:sp>
        </mc:Choice>
        <mc:Fallback xmlns="">
          <p:sp>
            <p:nvSpPr>
              <p:cNvPr id="10" name="Speech Bubble: Rectangle with Corners Rounded 9" descr="pi is 180° in radians">
                <a:extLst>
                  <a:ext uri="{FF2B5EF4-FFF2-40B4-BE49-F238E27FC236}">
                    <a16:creationId xmlns:a16="http://schemas.microsoft.com/office/drawing/2014/main" id="{C8AC6A20-B8CB-1187-C462-562359C18B3A}"/>
                  </a:ext>
                </a:extLst>
              </p:cNvPr>
              <p:cNvSpPr>
                <a:spLocks noRot="1" noChangeAspect="1" noMove="1" noResize="1" noEditPoints="1" noAdjustHandles="1" noChangeArrowheads="1" noChangeShapeType="1" noTextEdit="1"/>
              </p:cNvSpPr>
              <p:nvPr/>
            </p:nvSpPr>
            <p:spPr>
              <a:xfrm>
                <a:off x="6437818" y="2529410"/>
                <a:ext cx="1698771" cy="365954"/>
              </a:xfrm>
              <a:prstGeom prst="wedgeRoundRectCallout">
                <a:avLst>
                  <a:gd name="adj1" fmla="val -80755"/>
                  <a:gd name="adj2" fmla="val -24610"/>
                  <a:gd name="adj3" fmla="val 16667"/>
                </a:avLst>
              </a:prstGeom>
              <a:blipFill>
                <a:blip r:embed="rId13"/>
                <a:stretch>
                  <a:fillRect/>
                </a:stretch>
              </a:blipFill>
            </p:spPr>
            <p:txBody>
              <a:bodyPr/>
              <a:lstStyle/>
              <a:p>
                <a:r>
                  <a:rPr lang="en-US">
                    <a:noFill/>
                  </a:rPr>
                  <a:t> </a:t>
                </a:r>
              </a:p>
            </p:txBody>
          </p:sp>
        </mc:Fallback>
      </mc:AlternateContent>
      <p:grpSp>
        <p:nvGrpSpPr>
          <p:cNvPr id="13" name="Group 12" descr="A red curve approximating a square wave as a sum of a few Fourier harmonics: flat high and low sections with small ripples near the jumps. Labels: Source: Wikipedia; Example: Fourier Transform.">
            <a:extLst>
              <a:ext uri="{FF2B5EF4-FFF2-40B4-BE49-F238E27FC236}">
                <a16:creationId xmlns:a16="http://schemas.microsoft.com/office/drawing/2014/main" id="{38876022-5188-C8C5-E2FF-F9F27D5220A1}"/>
              </a:ext>
            </a:extLst>
          </p:cNvPr>
          <p:cNvGrpSpPr/>
          <p:nvPr/>
        </p:nvGrpSpPr>
        <p:grpSpPr>
          <a:xfrm>
            <a:off x="9287350" y="1161569"/>
            <a:ext cx="2654378" cy="2539225"/>
            <a:chOff x="9371240" y="792237"/>
            <a:chExt cx="2654378" cy="2539225"/>
          </a:xfrm>
        </p:grpSpPr>
        <p:pic>
          <p:nvPicPr>
            <p:cNvPr id="1028" name="Picture 4" descr="A red curve approximating a square wave as a sum of a few Fourier harmonics: flat high and low sections with small ripples near the jumps.">
              <a:extLst>
                <a:ext uri="{FF2B5EF4-FFF2-40B4-BE49-F238E27FC236}">
                  <a16:creationId xmlns:a16="http://schemas.microsoft.com/office/drawing/2014/main" id="{1E00C4C1-B0C6-8D46-6D83-4982BDA3257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501712" y="1016040"/>
              <a:ext cx="2381250" cy="1905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BEBFB7D-EF21-EEA1-D0B5-97D0785E5CE8}"/>
                </a:ext>
              </a:extLst>
            </p:cNvPr>
            <p:cNvSpPr txBox="1"/>
            <p:nvPr/>
          </p:nvSpPr>
          <p:spPr>
            <a:xfrm>
              <a:off x="9679818" y="3017680"/>
              <a:ext cx="2136913" cy="261610"/>
            </a:xfrm>
            <a:prstGeom prst="rect">
              <a:avLst/>
            </a:prstGeom>
            <a:noFill/>
          </p:spPr>
          <p:txBody>
            <a:bodyPr wrap="square" rtlCol="0">
              <a:spAutoFit/>
            </a:bodyPr>
            <a:lstStyle/>
            <a:p>
              <a:pPr algn="ctr"/>
              <a:r>
                <a:rPr lang="en-US" sz="1050" dirty="0"/>
                <a:t>Source: Wikipedia</a:t>
              </a:r>
            </a:p>
          </p:txBody>
        </p:sp>
        <p:sp>
          <p:nvSpPr>
            <p:cNvPr id="11" name="TextBox 10">
              <a:extLst>
                <a:ext uri="{FF2B5EF4-FFF2-40B4-BE49-F238E27FC236}">
                  <a16:creationId xmlns:a16="http://schemas.microsoft.com/office/drawing/2014/main" id="{4F1CDC3E-E49F-497B-6FDE-BA313756B65E}"/>
                </a:ext>
              </a:extLst>
            </p:cNvPr>
            <p:cNvSpPr txBox="1"/>
            <p:nvPr/>
          </p:nvSpPr>
          <p:spPr>
            <a:xfrm>
              <a:off x="9584743" y="861799"/>
              <a:ext cx="2136913" cy="261610"/>
            </a:xfrm>
            <a:prstGeom prst="rect">
              <a:avLst/>
            </a:prstGeom>
            <a:noFill/>
          </p:spPr>
          <p:txBody>
            <a:bodyPr wrap="square" rtlCol="0">
              <a:spAutoFit/>
            </a:bodyPr>
            <a:lstStyle/>
            <a:p>
              <a:pPr algn="ctr"/>
              <a:r>
                <a:rPr lang="en-US" sz="1050" b="1" dirty="0"/>
                <a:t>Example</a:t>
              </a:r>
              <a:r>
                <a:rPr lang="en-US" sz="1050" dirty="0"/>
                <a:t>: Fourier Transform</a:t>
              </a:r>
            </a:p>
          </p:txBody>
        </p:sp>
        <p:sp>
          <p:nvSpPr>
            <p:cNvPr id="12" name="Rectangle 11">
              <a:extLst>
                <a:ext uri="{FF2B5EF4-FFF2-40B4-BE49-F238E27FC236}">
                  <a16:creationId xmlns:a16="http://schemas.microsoft.com/office/drawing/2014/main" id="{6F1A2B57-5D62-E99D-69BF-688E1CEF2542}"/>
                </a:ext>
                <a:ext uri="{C183D7F6-B498-43B3-948B-1728B52AA6E4}">
                  <adec:decorative xmlns:adec="http://schemas.microsoft.com/office/drawing/2017/decorative" val="1"/>
                </a:ext>
              </a:extLst>
            </p:cNvPr>
            <p:cNvSpPr/>
            <p:nvPr/>
          </p:nvSpPr>
          <p:spPr>
            <a:xfrm>
              <a:off x="9371240" y="792237"/>
              <a:ext cx="2654378" cy="253922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3667195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CEB7D-CFA3-159A-1C70-D5C5DFF67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2E0558-D9C2-9029-7D1D-5171CC7B9321}"/>
              </a:ext>
            </a:extLst>
          </p:cNvPr>
          <p:cNvSpPr>
            <a:spLocks noGrp="1"/>
          </p:cNvSpPr>
          <p:nvPr>
            <p:ph type="title"/>
          </p:nvPr>
        </p:nvSpPr>
        <p:spPr/>
        <p:txBody>
          <a:bodyPr/>
          <a:lstStyle/>
          <a:p>
            <a:r>
              <a:rPr lang="en-US" dirty="0"/>
              <a:t>Multi-dimensional Fourier Basis</a:t>
            </a:r>
          </a:p>
        </p:txBody>
      </p:sp>
      <mc:AlternateContent xmlns:mc="http://schemas.openxmlformats.org/markup-compatibility/2006" xmlns:a14="http://schemas.microsoft.com/office/drawing/2010/main">
        <mc:Choice Requires="a14">
          <p:sp>
            <p:nvSpPr>
              <p:cNvPr id="3" name="Content Placeholder 2" descr="State is represented by the normalized features as vector s equals (s sub 1,s sub 2, dot dot dot,s sub k) in [0,1] to the power k. x sub i (s) equals cos of (pi s transpose c to the power i). where c to the power i equals (c sub 1, to the power i, dot dot dot,c sub k, to the power i) with c sub j, to the power i, in {0, dot dot dot,n} for j equals 1, dot dot dot,k and i equals 1, dot dot dot, (n plus 1) to the power k">
                <a:extLst>
                  <a:ext uri="{FF2B5EF4-FFF2-40B4-BE49-F238E27FC236}">
                    <a16:creationId xmlns:a16="http://schemas.microsoft.com/office/drawing/2014/main" id="{51D2685D-FDF9-514B-B9A0-346F0F6960BB}"/>
                  </a:ext>
                </a:extLst>
              </p:cNvPr>
              <p:cNvSpPr>
                <a:spLocks noGrp="1"/>
              </p:cNvSpPr>
              <p:nvPr>
                <p:ph idx="1"/>
              </p:nvPr>
            </p:nvSpPr>
            <p:spPr>
              <a:xfrm>
                <a:off x="838200" y="1179646"/>
                <a:ext cx="10515600" cy="1555396"/>
              </a:xfrm>
            </p:spPr>
            <p:txBody>
              <a:bodyPr>
                <a:normAutofit fontScale="62500" lnSpcReduction="20000"/>
              </a:bodyPr>
              <a:lstStyle/>
              <a:p>
                <a:r>
                  <a:rPr lang="en-US" dirty="0"/>
                  <a:t>State is represented by the normalized features as vector </a:t>
                </a:r>
                <a14:m>
                  <m:oMath xmlns:m="http://schemas.openxmlformats.org/officeDocument/2006/math">
                    <m:r>
                      <a:rPr lang="en-US" b="1" i="1" smtClean="0">
                        <a:latin typeface="Cambria Math" panose="02040503050406030204" pitchFamily="18" charset="0"/>
                      </a:rPr>
                      <m:t>𝒔</m:t>
                    </m:r>
                    <m:r>
                      <a:rPr lang="en-US" b="0" i="1" smtClean="0">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𝑘</m:t>
                            </m:r>
                          </m:sub>
                        </m:sSub>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e>
                      <m:sup>
                        <m:r>
                          <a:rPr lang="en-US" b="0" i="1" smtClean="0">
                            <a:latin typeface="Cambria Math" panose="02040503050406030204" pitchFamily="18" charset="0"/>
                          </a:rPr>
                          <m:t>𝑘</m:t>
                        </m:r>
                      </m:sup>
                    </m:sSup>
                  </m:oMath>
                </a14:m>
                <a:endParaRPr lang="en-US" dirty="0"/>
              </a:p>
              <a:p>
                <a:endParaRPr lang="en-US" b="0" i="1" dirty="0">
                  <a:latin typeface="Cambria Math" panose="02040503050406030204" pitchFamily="18" charset="0"/>
                </a:endParaRP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𝒔</m:t>
                          </m:r>
                        </m:e>
                      </m:d>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m:t>
                          </m:r>
                          <m:r>
                            <a:rPr lang="en-US" b="0" i="1" smtClean="0">
                              <a:latin typeface="Cambria Math" panose="02040503050406030204" pitchFamily="18" charset="0"/>
                            </a:rPr>
                            <m:t>𝜋</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𝒔</m:t>
                              </m:r>
                            </m:e>
                            <m:sup>
                              <m:r>
                                <a:rPr lang="en-US" b="0" i="1" smtClean="0">
                                  <a:latin typeface="Cambria Math" panose="02040503050406030204" pitchFamily="18" charset="0"/>
                                </a:rPr>
                                <m:t>⊤</m:t>
                              </m:r>
                            </m:sup>
                          </m:sSup>
                          <m:sSup>
                            <m:sSupPr>
                              <m:ctrlPr>
                                <a:rPr lang="en-US" b="1" i="1" smtClean="0">
                                  <a:latin typeface="Cambria Math" panose="02040503050406030204" pitchFamily="18" charset="0"/>
                                </a:rPr>
                              </m:ctrlPr>
                            </m:sSupPr>
                            <m:e>
                              <m:r>
                                <a:rPr lang="en-US" b="1" i="1" smtClean="0">
                                  <a:latin typeface="Cambria Math" panose="02040503050406030204" pitchFamily="18" charset="0"/>
                                </a:rPr>
                                <m:t>𝒄</m:t>
                              </m:r>
                            </m:e>
                            <m:sup>
                              <m:r>
                                <a:rPr lang="en-US" b="0" i="1" smtClean="0">
                                  <a:latin typeface="Cambria Math" panose="02040503050406030204" pitchFamily="18" charset="0"/>
                                </a:rPr>
                                <m:t>𝑖</m:t>
                              </m:r>
                            </m:sup>
                          </m:sSup>
                          <m:r>
                            <a:rPr lang="en-US" b="0" i="1" smtClean="0">
                              <a:latin typeface="Cambria Math" panose="02040503050406030204" pitchFamily="18" charset="0"/>
                            </a:rPr>
                            <m:t>)</m:t>
                          </m:r>
                        </m:e>
                      </m:func>
                    </m:oMath>
                  </m:oMathPara>
                </a14:m>
                <a:endParaRPr lang="en-US" b="0" dirty="0"/>
              </a:p>
              <a:p>
                <a:pPr marL="0" indent="0">
                  <a:buNone/>
                </a:pPr>
                <a:r>
                  <a:rPr lang="en-US" dirty="0"/>
                  <a:t>                  where </a:t>
                </a:r>
                <a14:m>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𝒄</m:t>
                        </m:r>
                      </m:e>
                      <m:sup>
                        <m:r>
                          <a:rPr lang="en-US" i="1">
                            <a:latin typeface="Cambria Math" panose="02040503050406030204" pitchFamily="18" charset="0"/>
                          </a:rPr>
                          <m:t>𝑖</m:t>
                        </m:r>
                      </m:sup>
                    </m:sSup>
                    <m:r>
                      <a:rPr lang="en-US" b="0" i="1" smtClean="0">
                        <a:latin typeface="Cambria Math" panose="02040503050406030204" pitchFamily="18" charset="0"/>
                      </a:rPr>
                      <m:t>=</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𝑐</m:t>
                            </m:r>
                          </m:e>
                          <m:sub>
                            <m:r>
                              <a:rPr lang="en-US" i="1">
                                <a:latin typeface="Cambria Math" panose="02040503050406030204" pitchFamily="18" charset="0"/>
                              </a:rPr>
                              <m:t>1</m:t>
                            </m:r>
                          </m:sub>
                          <m:sup>
                            <m:r>
                              <a:rPr lang="en-US" i="1">
                                <a:latin typeface="Cambria Math" panose="02040503050406030204" pitchFamily="18" charset="0"/>
                              </a:rPr>
                              <m:t>𝑖</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𝑐</m:t>
                            </m:r>
                          </m:e>
                          <m:sub>
                            <m:r>
                              <a:rPr lang="en-US" i="1">
                                <a:latin typeface="Cambria Math" panose="02040503050406030204" pitchFamily="18" charset="0"/>
                              </a:rPr>
                              <m:t>𝑘</m:t>
                            </m:r>
                          </m:sub>
                          <m:sup>
                            <m:r>
                              <a:rPr lang="en-US" i="1">
                                <a:latin typeface="Cambria Math" panose="02040503050406030204" pitchFamily="18" charset="0"/>
                              </a:rPr>
                              <m:t>𝑖</m:t>
                            </m:r>
                          </m:sup>
                        </m:sSubSup>
                      </m:e>
                    </m:d>
                  </m:oMath>
                </a14:m>
                <a:br>
                  <a:rPr lang="en-US" dirty="0"/>
                </a:br>
                <a:r>
                  <a:rPr lang="en-US" dirty="0"/>
                  <a:t>                  with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𝑐</m:t>
                        </m:r>
                      </m:e>
                      <m:sub>
                        <m:r>
                          <a:rPr lang="en-US" b="0" i="1" smtClean="0">
                            <a:latin typeface="Cambria Math" panose="02040503050406030204" pitchFamily="18" charset="0"/>
                          </a:rPr>
                          <m:t>𝑗</m:t>
                        </m:r>
                      </m:sub>
                      <m:sup>
                        <m:r>
                          <a:rPr lang="en-US" b="0" i="1" smtClean="0">
                            <a:latin typeface="Cambria Math" panose="02040503050406030204" pitchFamily="18" charset="0"/>
                          </a:rPr>
                          <m:t>𝑖</m:t>
                        </m:r>
                      </m:sup>
                    </m:sSubSup>
                    <m:r>
                      <a:rPr lang="en-US" b="0" i="1" smtClean="0">
                        <a:latin typeface="Cambria Math" panose="02040503050406030204" pitchFamily="18" charset="0"/>
                      </a:rPr>
                      <m:t>∈{0,…,</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for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=1,…,</m:t>
                    </m:r>
                    <m:r>
                      <a:rPr lang="en-US" b="0" i="1" smtClean="0">
                        <a:latin typeface="Cambria Math" panose="02040503050406030204" pitchFamily="18" charset="0"/>
                      </a:rPr>
                      <m:t>𝑘</m:t>
                    </m:r>
                  </m:oMath>
                </a14:m>
                <a:r>
                  <a:rPr lang="en-US" dirty="0"/>
                  <a:t> and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e>
                      <m:sup>
                        <m:r>
                          <a:rPr lang="en-US" b="0" i="1" smtClean="0">
                            <a:latin typeface="Cambria Math" panose="02040503050406030204" pitchFamily="18" charset="0"/>
                          </a:rPr>
                          <m:t>𝑘</m:t>
                        </m:r>
                      </m:sup>
                    </m:sSup>
                  </m:oMath>
                </a14:m>
                <a:endParaRPr lang="en-US" dirty="0"/>
              </a:p>
            </p:txBody>
          </p:sp>
        </mc:Choice>
        <mc:Fallback xmlns="">
          <p:sp>
            <p:nvSpPr>
              <p:cNvPr id="3" name="Content Placeholder 2" descr="State is represented by the normalized features as vector s equals (s sub 1,s sub 2, dot dot dot,s sub k) in [0,1] to the power k. x sub i (s) equals cos of (pi s transpose c to the power i). where c to the power i equals (c sub 1, to the power i, dot dot dot,c sub k, to the power i) with c sub j, to the power i, in {0, dot dot dot,n} for j equals 1, dot dot dot,k and i equals 1, dot dot dot, (n plus 1) to the power k">
                <a:extLst>
                  <a:ext uri="{FF2B5EF4-FFF2-40B4-BE49-F238E27FC236}">
                    <a16:creationId xmlns:a16="http://schemas.microsoft.com/office/drawing/2014/main" id="{51D2685D-FDF9-514B-B9A0-346F0F6960BB}"/>
                  </a:ext>
                </a:extLst>
              </p:cNvPr>
              <p:cNvSpPr>
                <a:spLocks noGrp="1" noRot="1" noChangeAspect="1" noMove="1" noResize="1" noEditPoints="1" noAdjustHandles="1" noChangeArrowheads="1" noChangeShapeType="1" noTextEdit="1"/>
              </p:cNvSpPr>
              <p:nvPr>
                <p:ph idx="1"/>
              </p:nvPr>
            </p:nvSpPr>
            <p:spPr>
              <a:xfrm>
                <a:off x="838200" y="1179646"/>
                <a:ext cx="10515600" cy="1555396"/>
              </a:xfrm>
              <a:blipFill>
                <a:blip r:embed="rId2"/>
                <a:stretch>
                  <a:fillRect l="-406" t="-62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descr="Example: 2-dimensional Fourier cosine features for 6 different c">
                <a:extLst>
                  <a:ext uri="{FF2B5EF4-FFF2-40B4-BE49-F238E27FC236}">
                    <a16:creationId xmlns:a16="http://schemas.microsoft.com/office/drawing/2014/main" id="{3335A2D5-4A82-0CDD-A592-03470B0C2F86}"/>
                  </a:ext>
                </a:extLst>
              </p:cNvPr>
              <p:cNvSpPr txBox="1"/>
              <p:nvPr/>
            </p:nvSpPr>
            <p:spPr>
              <a:xfrm>
                <a:off x="1641076" y="2922198"/>
                <a:ext cx="3483096" cy="646331"/>
              </a:xfrm>
              <a:prstGeom prst="rect">
                <a:avLst/>
              </a:prstGeom>
              <a:noFill/>
            </p:spPr>
            <p:txBody>
              <a:bodyPr wrap="square" rtlCol="0">
                <a:spAutoFit/>
              </a:bodyPr>
              <a:lstStyle/>
              <a:p>
                <a:r>
                  <a:rPr lang="en-US" dirty="0"/>
                  <a:t>Example: 2-dimensional Fourier cosine features for 6 different </a:t>
                </a:r>
                <a14:m>
                  <m:oMath xmlns:m="http://schemas.openxmlformats.org/officeDocument/2006/math">
                    <m:r>
                      <a:rPr lang="en-US" b="1" i="1" smtClean="0">
                        <a:latin typeface="Cambria Math" panose="02040503050406030204" pitchFamily="18" charset="0"/>
                      </a:rPr>
                      <m:t>𝒄</m:t>
                    </m:r>
                    <m:r>
                      <a:rPr lang="en-US" b="0" i="0" smtClean="0">
                        <a:latin typeface="Cambria Math" panose="02040503050406030204" pitchFamily="18" charset="0"/>
                      </a:rPr>
                      <m:t>.</m:t>
                    </m:r>
                  </m:oMath>
                </a14:m>
                <a:endParaRPr lang="en-US" b="1" dirty="0"/>
              </a:p>
            </p:txBody>
          </p:sp>
        </mc:Choice>
        <mc:Fallback xmlns="">
          <p:sp>
            <p:nvSpPr>
              <p:cNvPr id="5" name="TextBox 4" descr="Example: 2-dimensional Fourier cosine features for 6 different c">
                <a:extLst>
                  <a:ext uri="{FF2B5EF4-FFF2-40B4-BE49-F238E27FC236}">
                    <a16:creationId xmlns:a16="http://schemas.microsoft.com/office/drawing/2014/main" id="{3335A2D5-4A82-0CDD-A592-03470B0C2F86}"/>
                  </a:ext>
                </a:extLst>
              </p:cNvPr>
              <p:cNvSpPr txBox="1">
                <a:spLocks noRot="1" noChangeAspect="1" noMove="1" noResize="1" noEditPoints="1" noAdjustHandles="1" noChangeArrowheads="1" noChangeShapeType="1" noTextEdit="1"/>
              </p:cNvSpPr>
              <p:nvPr/>
            </p:nvSpPr>
            <p:spPr>
              <a:xfrm>
                <a:off x="1641076" y="2922198"/>
                <a:ext cx="3483096" cy="646331"/>
              </a:xfrm>
              <a:prstGeom prst="rect">
                <a:avLst/>
              </a:prstGeom>
              <a:blipFill>
                <a:blip r:embed="rId4"/>
                <a:stretch>
                  <a:fillRect l="-1399" t="-3774" b="-15094"/>
                </a:stretch>
              </a:blipFill>
            </p:spPr>
            <p:txBody>
              <a:bodyPr/>
              <a:lstStyle/>
              <a:p>
                <a:r>
                  <a:rPr lang="en-US">
                    <a:noFill/>
                  </a:rPr>
                  <a:t> </a:t>
                </a:r>
              </a:p>
            </p:txBody>
          </p:sp>
        </mc:Fallback>
      </mc:AlternateContent>
      <p:pic>
        <p:nvPicPr>
          <p:cNvPr id="4" name="Picture 3" descr="Sutton and Barto Figure 9.4: six square plots of two-dimensional Fourier cosine features over the unit square, shaded from black to white. c = (0, 1): a smooth gradient from top to bottom. c = (1, 0): a gradient from left to right. c = (1, 1): a diagonal gradient. c = (0, 5): five horizontal stripes. c = (2, 5): tilted stripes. c = (5, 2): steeper tilted stripes. Caption: A selection of six two-dimensional Fourier cosine features, each labeled by the vector c^i that defines it (s_1 is the horizontal axis, and c^i is shown with the index i omitted). After Konidaris et al. (2011).">
            <a:extLst>
              <a:ext uri="{FF2B5EF4-FFF2-40B4-BE49-F238E27FC236}">
                <a16:creationId xmlns:a16="http://schemas.microsoft.com/office/drawing/2014/main" id="{BD6AC598-B007-2E2D-CAE3-EEE732E2B42B}"/>
              </a:ext>
            </a:extLst>
          </p:cNvPr>
          <p:cNvPicPr>
            <a:picLocks noChangeAspect="1"/>
          </p:cNvPicPr>
          <p:nvPr/>
        </p:nvPicPr>
        <p:blipFill>
          <a:blip r:embed="rId5"/>
          <a:srcRect b="13414"/>
          <a:stretch>
            <a:fillRect/>
          </a:stretch>
        </p:blipFill>
        <p:spPr>
          <a:xfrm>
            <a:off x="5138743" y="2959586"/>
            <a:ext cx="6459944" cy="3601758"/>
          </a:xfrm>
          <a:prstGeom prst="rect">
            <a:avLst/>
          </a:prstGeom>
        </p:spPr>
      </p:pic>
      <p:sp>
        <p:nvSpPr>
          <p:cNvPr id="6" name="Speech Bubble: Rectangle with Corners Rounded 5">
            <a:extLst>
              <a:ext uri="{FF2B5EF4-FFF2-40B4-BE49-F238E27FC236}">
                <a16:creationId xmlns:a16="http://schemas.microsoft.com/office/drawing/2014/main" id="{C031356C-2FE2-7864-FB2C-A4E9C96E4C56}"/>
              </a:ext>
              <a:ext uri="{C183D7F6-B498-43B3-948B-1728B52AA6E4}">
                <adec:decorative xmlns:adec="http://schemas.microsoft.com/office/drawing/2017/decorative" val="1"/>
              </a:ext>
            </a:extLst>
          </p:cNvPr>
          <p:cNvSpPr/>
          <p:nvPr/>
        </p:nvSpPr>
        <p:spPr>
          <a:xfrm>
            <a:off x="8368715" y="2101026"/>
            <a:ext cx="1885129" cy="586333"/>
          </a:xfrm>
          <a:prstGeom prst="wedgeRoundRectCallout">
            <a:avLst>
              <a:gd name="adj1" fmla="val -43053"/>
              <a:gd name="adj2" fmla="val 9899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0 means it is constant in that dimension</a:t>
            </a:r>
          </a:p>
        </p:txBody>
      </p:sp>
      <p:sp>
        <p:nvSpPr>
          <p:cNvPr id="7" name="Speech Bubble: Rectangle with Corners Rounded 6">
            <a:extLst>
              <a:ext uri="{FF2B5EF4-FFF2-40B4-BE49-F238E27FC236}">
                <a16:creationId xmlns:a16="http://schemas.microsoft.com/office/drawing/2014/main" id="{9EF2EBAC-8345-B41A-EF70-BDDB9266812C}"/>
              </a:ext>
              <a:ext uri="{C183D7F6-B498-43B3-948B-1728B52AA6E4}">
                <adec:decorative xmlns:adec="http://schemas.microsoft.com/office/drawing/2017/decorative" val="1"/>
              </a:ext>
            </a:extLst>
          </p:cNvPr>
          <p:cNvSpPr/>
          <p:nvPr/>
        </p:nvSpPr>
        <p:spPr>
          <a:xfrm>
            <a:off x="10253844" y="1375090"/>
            <a:ext cx="1562390" cy="373636"/>
          </a:xfrm>
          <a:prstGeom prst="wedgeRoundRectCallout">
            <a:avLst>
              <a:gd name="adj1" fmla="val -31213"/>
              <a:gd name="adj2" fmla="val 37399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&gt;0 is the frequency</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BF9E33D-384F-C5F9-F7A6-093D384EC345}"/>
                  </a:ext>
                  <a:ext uri="{C183D7F6-B498-43B3-948B-1728B52AA6E4}">
                    <adec:decorative xmlns:adec="http://schemas.microsoft.com/office/drawing/2017/decorative" val="0"/>
                  </a:ext>
                </a:extLst>
              </p:cNvPr>
              <p:cNvSpPr txBox="1"/>
              <p:nvPr/>
            </p:nvSpPr>
            <p:spPr>
              <a:xfrm>
                <a:off x="1662385" y="3546028"/>
                <a:ext cx="3483096" cy="2246769"/>
              </a:xfrm>
              <a:prstGeom prst="rect">
                <a:avLst/>
              </a:prstGeom>
              <a:noFill/>
            </p:spPr>
            <p:txBody>
              <a:bodyPr wrap="square" rtlCol="0">
                <a:spAutoFit/>
              </a:bodyPr>
              <a:lstStyle/>
              <a:p>
                <a:pPr/>
                <a14:m>
                  <m:oMathPara xmlns:m="http://schemas.openxmlformats.org/officeDocument/2006/math">
                    <m:oMath>
                      <m:r>
                        <a:rPr lang="en-US" sz="1400" b="1" i="1" smtClean="0">
                          <a:latin typeface="Cambria Math" panose="02040503050406030204" pitchFamily="18" charset="0"/>
                        </a:rPr>
                        <m:t>𝒔</m:t>
                      </m:r>
                      <m:r>
                        <a:rPr lang="en-US" sz="1400" b="0" i="1" smtClean="0">
                          <a:latin typeface="Cambria Math" panose="02040503050406030204" pitchFamily="18" charset="0"/>
                        </a:rPr>
                        <m:t>=(.5,.8)</m:t>
                      </m:r>
                    </m:oMath>
                  </m:oMathPara>
                </a14:m>
                <a:endParaRPr lang="en-US" sz="1400" b="0" dirty="0"/>
              </a:p>
              <a:p>
                <a:endParaRPr lang="en-US" sz="1400" dirty="0"/>
              </a:p>
              <a:p>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b="0" i="1" smtClean="0">
                            <a:latin typeface="Cambria Math" panose="02040503050406030204" pitchFamily="18" charset="0"/>
                          </a:rPr>
                          <m:t>0</m:t>
                        </m:r>
                      </m:sub>
                    </m:sSub>
                    <m:r>
                      <a:rPr lang="en-US" sz="1400" i="1">
                        <a:latin typeface="Cambria Math" panose="02040503050406030204" pitchFamily="18" charset="0"/>
                      </a:rPr>
                      <m:t>(</m:t>
                    </m:r>
                    <m:r>
                      <a:rPr lang="en-US" sz="1400" b="1" i="1">
                        <a:latin typeface="Cambria Math" panose="02040503050406030204" pitchFamily="18" charset="0"/>
                      </a:rPr>
                      <m:t>𝒔</m:t>
                    </m:r>
                    <m:r>
                      <a:rPr lang="en-US" sz="1400" i="1">
                        <a:latin typeface="Cambria Math" panose="02040503050406030204" pitchFamily="18" charset="0"/>
                      </a:rPr>
                      <m:t>)</m:t>
                    </m:r>
                  </m:oMath>
                </a14:m>
                <a:r>
                  <a:rPr lang="en-US" sz="1400" dirty="0"/>
                  <a:t>= 1</a:t>
                </a:r>
                <a:endParaRPr lang="en-US" sz="1400" b="0" i="1" dirty="0">
                  <a:latin typeface="Cambria Math" panose="02040503050406030204" pitchFamily="18" charset="0"/>
                </a:endParaRPr>
              </a:p>
              <a:p>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r>
                      <a:rPr lang="en-US" sz="1400" b="1" i="1" smtClean="0">
                        <a:latin typeface="Cambria Math" panose="02040503050406030204" pitchFamily="18" charset="0"/>
                      </a:rPr>
                      <m:t>𝒔</m:t>
                    </m:r>
                    <m:r>
                      <a:rPr lang="en-US" sz="1400" b="0" i="1" smtClean="0">
                        <a:latin typeface="Cambria Math" panose="02040503050406030204" pitchFamily="18" charset="0"/>
                      </a:rPr>
                      <m:t>)</m:t>
                    </m:r>
                  </m:oMath>
                </a14:m>
                <a:r>
                  <a:rPr lang="en-US" sz="1400" dirty="0"/>
                  <a:t>= </a:t>
                </a:r>
                <a14:m>
                  <m:oMath xmlns:m="http://schemas.openxmlformats.org/officeDocument/2006/math">
                    <m:func>
                      <m:funcPr>
                        <m:ctrlPr>
                          <a:rPr lang="en-US" sz="1400">
                            <a:latin typeface="Cambria Math" panose="02040503050406030204" pitchFamily="18" charset="0"/>
                          </a:rPr>
                        </m:ctrlPr>
                      </m:funcPr>
                      <m:fName>
                        <m:r>
                          <m:rPr>
                            <m:sty m:val="p"/>
                          </m:rPr>
                          <a:rPr lang="en-US" sz="1400">
                            <a:latin typeface="Cambria Math" panose="02040503050406030204" pitchFamily="18" charset="0"/>
                          </a:rPr>
                          <m:t>cos</m:t>
                        </m:r>
                      </m:fName>
                      <m:e>
                        <m:r>
                          <a:rPr lang="en-US" sz="1400" i="1">
                            <a:latin typeface="Cambria Math" panose="02040503050406030204" pitchFamily="18" charset="0"/>
                          </a:rPr>
                          <m:t>(</m:t>
                        </m:r>
                        <m:r>
                          <a:rPr lang="en-US" sz="1400" i="1">
                            <a:latin typeface="Cambria Math" panose="02040503050406030204" pitchFamily="18" charset="0"/>
                          </a:rPr>
                          <m:t>𝜋</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 </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.5,.8</m:t>
                                </m:r>
                              </m:e>
                            </m:d>
                          </m:e>
                          <m:sup>
                            <m:r>
                              <a:rPr lang="en-US" sz="1400" b="0" i="1" smtClean="0">
                                <a:latin typeface="Cambria Math" panose="02040503050406030204" pitchFamily="18" charset="0"/>
                              </a:rPr>
                              <m:t>⊤</m:t>
                            </m:r>
                          </m:sup>
                        </m:sSup>
                        <m:r>
                          <a:rPr lang="en-US" sz="1400" b="0" i="1" smtClean="0">
                            <a:latin typeface="Cambria Math" panose="02040503050406030204" pitchFamily="18" charset="0"/>
                          </a:rPr>
                          <m:t>(0,1))</m:t>
                        </m:r>
                      </m:e>
                    </m:func>
                    <m:r>
                      <a:rPr lang="en-US" sz="1400" b="0" i="1" smtClean="0">
                        <a:latin typeface="Cambria Math" panose="02040503050406030204" pitchFamily="18" charset="0"/>
                      </a:rPr>
                      <m:t>=−.8</m:t>
                    </m:r>
                  </m:oMath>
                </a14:m>
                <a:r>
                  <a:rPr lang="en-US" sz="1400" dirty="0"/>
                  <a:t>  </a:t>
                </a:r>
              </a:p>
              <a:p>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b="0" i="1" smtClean="0">
                            <a:latin typeface="Cambria Math" panose="02040503050406030204" pitchFamily="18" charset="0"/>
                          </a:rPr>
                          <m:t>2</m:t>
                        </m:r>
                      </m:sub>
                    </m:sSub>
                    <m:r>
                      <a:rPr lang="en-US" sz="1400" i="1">
                        <a:latin typeface="Cambria Math" panose="02040503050406030204" pitchFamily="18" charset="0"/>
                      </a:rPr>
                      <m:t>(</m:t>
                    </m:r>
                    <m:r>
                      <a:rPr lang="en-US" sz="1400" b="1" i="1">
                        <a:latin typeface="Cambria Math" panose="02040503050406030204" pitchFamily="18" charset="0"/>
                      </a:rPr>
                      <m:t>𝒔</m:t>
                    </m:r>
                    <m:r>
                      <a:rPr lang="en-US" sz="1400" i="1">
                        <a:latin typeface="Cambria Math" panose="02040503050406030204" pitchFamily="18" charset="0"/>
                      </a:rPr>
                      <m:t>)</m:t>
                    </m:r>
                  </m:oMath>
                </a14:m>
                <a:r>
                  <a:rPr lang="en-US" sz="1400" dirty="0"/>
                  <a:t>= </a:t>
                </a:r>
                <a14:m>
                  <m:oMath xmlns:m="http://schemas.openxmlformats.org/officeDocument/2006/math">
                    <m:func>
                      <m:funcPr>
                        <m:ctrlPr>
                          <a:rPr lang="en-US" sz="1400">
                            <a:latin typeface="Cambria Math" panose="02040503050406030204" pitchFamily="18" charset="0"/>
                          </a:rPr>
                        </m:ctrlPr>
                      </m:funcPr>
                      <m:fName>
                        <m:r>
                          <m:rPr>
                            <m:sty m:val="p"/>
                          </m:rPr>
                          <a:rPr lang="en-US" sz="1400">
                            <a:latin typeface="Cambria Math" panose="02040503050406030204" pitchFamily="18" charset="0"/>
                          </a:rPr>
                          <m:t>cos</m:t>
                        </m:r>
                      </m:fName>
                      <m:e>
                        <m:r>
                          <a:rPr lang="en-US" sz="1400" i="1">
                            <a:latin typeface="Cambria Math" panose="02040503050406030204" pitchFamily="18" charset="0"/>
                          </a:rPr>
                          <m:t>(</m:t>
                        </m:r>
                        <m:r>
                          <a:rPr lang="en-US" sz="1400" i="1">
                            <a:latin typeface="Cambria Math" panose="02040503050406030204" pitchFamily="18" charset="0"/>
                          </a:rPr>
                          <m:t>𝜋</m:t>
                        </m:r>
                        <m:sSup>
                          <m:sSupPr>
                            <m:ctrlPr>
                              <a:rPr lang="en-US" sz="1400" i="1">
                                <a:latin typeface="Cambria Math" panose="02040503050406030204" pitchFamily="18" charset="0"/>
                              </a:rPr>
                            </m:ctrlPr>
                          </m:sSupPr>
                          <m:e>
                            <m:r>
                              <a:rPr lang="en-US" sz="1400" i="1">
                                <a:latin typeface="Cambria Math" panose="02040503050406030204" pitchFamily="18" charset="0"/>
                              </a:rPr>
                              <m:t> </m:t>
                            </m:r>
                            <m:d>
                              <m:dPr>
                                <m:ctrlPr>
                                  <a:rPr lang="en-US" sz="1400" i="1">
                                    <a:latin typeface="Cambria Math" panose="02040503050406030204" pitchFamily="18" charset="0"/>
                                  </a:rPr>
                                </m:ctrlPr>
                              </m:dPr>
                              <m:e>
                                <m:r>
                                  <a:rPr lang="en-US" sz="1400" i="1">
                                    <a:latin typeface="Cambria Math" panose="02040503050406030204" pitchFamily="18" charset="0"/>
                                  </a:rPr>
                                  <m:t>.5,.8</m:t>
                                </m:r>
                              </m:e>
                            </m:d>
                          </m:e>
                          <m:sup>
                            <m:r>
                              <a:rPr lang="en-US" sz="1400" i="1">
                                <a:latin typeface="Cambria Math" panose="02040503050406030204" pitchFamily="18" charset="0"/>
                              </a:rPr>
                              <m:t>⊤</m:t>
                            </m:r>
                          </m:sup>
                        </m:sSup>
                        <m:r>
                          <a:rPr lang="en-US" sz="1400" i="1">
                            <a:latin typeface="Cambria Math" panose="02040503050406030204" pitchFamily="18" charset="0"/>
                          </a:rPr>
                          <m:t>(</m:t>
                        </m:r>
                        <m:r>
                          <a:rPr lang="en-US" sz="1400" b="0" i="1" smtClean="0">
                            <a:latin typeface="Cambria Math" panose="02040503050406030204" pitchFamily="18" charset="0"/>
                          </a:rPr>
                          <m:t>1</m:t>
                        </m:r>
                        <m:r>
                          <a:rPr lang="en-US" sz="1400" i="1">
                            <a:latin typeface="Cambria Math" panose="02040503050406030204" pitchFamily="18" charset="0"/>
                          </a:rPr>
                          <m:t>,</m:t>
                        </m:r>
                        <m:r>
                          <a:rPr lang="en-US" sz="1400" b="0" i="1" smtClean="0">
                            <a:latin typeface="Cambria Math" panose="02040503050406030204" pitchFamily="18" charset="0"/>
                          </a:rPr>
                          <m:t>0</m:t>
                        </m:r>
                        <m:r>
                          <a:rPr lang="en-US" sz="1400" i="1">
                            <a:latin typeface="Cambria Math" panose="02040503050406030204" pitchFamily="18" charset="0"/>
                          </a:rPr>
                          <m:t>))</m:t>
                        </m:r>
                      </m:e>
                    </m:func>
                    <m:r>
                      <a:rPr lang="en-US" sz="1400" i="1">
                        <a:latin typeface="Cambria Math" panose="02040503050406030204" pitchFamily="18" charset="0"/>
                      </a:rPr>
                      <m:t>=</m:t>
                    </m:r>
                    <m:r>
                      <a:rPr lang="en-US" sz="1400" b="0" i="1" smtClean="0">
                        <a:latin typeface="Cambria Math" panose="02040503050406030204" pitchFamily="18" charset="0"/>
                      </a:rPr>
                      <m:t>    0</m:t>
                    </m:r>
                  </m:oMath>
                </a14:m>
                <a:endParaRPr lang="en-US" sz="1400" dirty="0"/>
              </a:p>
              <a:p>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b="0" i="1" smtClean="0">
                            <a:latin typeface="Cambria Math" panose="02040503050406030204" pitchFamily="18" charset="0"/>
                          </a:rPr>
                          <m:t>3</m:t>
                        </m:r>
                      </m:sub>
                    </m:sSub>
                    <m:r>
                      <a:rPr lang="en-US" sz="1400" i="1">
                        <a:latin typeface="Cambria Math" panose="02040503050406030204" pitchFamily="18" charset="0"/>
                      </a:rPr>
                      <m:t>(</m:t>
                    </m:r>
                    <m:r>
                      <a:rPr lang="en-US" sz="1400" b="1" i="1">
                        <a:latin typeface="Cambria Math" panose="02040503050406030204" pitchFamily="18" charset="0"/>
                      </a:rPr>
                      <m:t>𝒔</m:t>
                    </m:r>
                    <m:r>
                      <a:rPr lang="en-US" sz="1400" i="1">
                        <a:latin typeface="Cambria Math" panose="02040503050406030204" pitchFamily="18" charset="0"/>
                      </a:rPr>
                      <m:t>)</m:t>
                    </m:r>
                  </m:oMath>
                </a14:m>
                <a:r>
                  <a:rPr lang="en-US" sz="1400" dirty="0"/>
                  <a:t>= </a:t>
                </a:r>
                <a14:m>
                  <m:oMath xmlns:m="http://schemas.openxmlformats.org/officeDocument/2006/math">
                    <m:func>
                      <m:funcPr>
                        <m:ctrlPr>
                          <a:rPr lang="en-US" sz="1400">
                            <a:latin typeface="Cambria Math" panose="02040503050406030204" pitchFamily="18" charset="0"/>
                          </a:rPr>
                        </m:ctrlPr>
                      </m:funcPr>
                      <m:fName>
                        <m:r>
                          <m:rPr>
                            <m:sty m:val="p"/>
                          </m:rPr>
                          <a:rPr lang="en-US" sz="1400">
                            <a:latin typeface="Cambria Math" panose="02040503050406030204" pitchFamily="18" charset="0"/>
                          </a:rPr>
                          <m:t>cos</m:t>
                        </m:r>
                      </m:fName>
                      <m:e>
                        <m:r>
                          <a:rPr lang="en-US" sz="1400" i="1">
                            <a:latin typeface="Cambria Math" panose="02040503050406030204" pitchFamily="18" charset="0"/>
                          </a:rPr>
                          <m:t>(</m:t>
                        </m:r>
                        <m:r>
                          <a:rPr lang="en-US" sz="1400" i="1">
                            <a:latin typeface="Cambria Math" panose="02040503050406030204" pitchFamily="18" charset="0"/>
                          </a:rPr>
                          <m:t>𝜋</m:t>
                        </m:r>
                        <m:sSup>
                          <m:sSupPr>
                            <m:ctrlPr>
                              <a:rPr lang="en-US" sz="1400" i="1">
                                <a:latin typeface="Cambria Math" panose="02040503050406030204" pitchFamily="18" charset="0"/>
                              </a:rPr>
                            </m:ctrlPr>
                          </m:sSupPr>
                          <m:e>
                            <m:r>
                              <a:rPr lang="en-US" sz="1400" i="1">
                                <a:latin typeface="Cambria Math" panose="02040503050406030204" pitchFamily="18" charset="0"/>
                              </a:rPr>
                              <m:t> </m:t>
                            </m:r>
                            <m:d>
                              <m:dPr>
                                <m:ctrlPr>
                                  <a:rPr lang="en-US" sz="1400" i="1">
                                    <a:latin typeface="Cambria Math" panose="02040503050406030204" pitchFamily="18" charset="0"/>
                                  </a:rPr>
                                </m:ctrlPr>
                              </m:dPr>
                              <m:e>
                                <m:r>
                                  <a:rPr lang="en-US" sz="1400" i="1">
                                    <a:latin typeface="Cambria Math" panose="02040503050406030204" pitchFamily="18" charset="0"/>
                                  </a:rPr>
                                  <m:t>.5,.8</m:t>
                                </m:r>
                              </m:e>
                            </m:d>
                          </m:e>
                          <m:sup>
                            <m:r>
                              <a:rPr lang="en-US" sz="1400" i="1">
                                <a:latin typeface="Cambria Math" panose="02040503050406030204" pitchFamily="18" charset="0"/>
                              </a:rPr>
                              <m:t>⊤</m:t>
                            </m:r>
                          </m:sup>
                        </m:sSup>
                        <m:r>
                          <a:rPr lang="en-US" sz="1400" i="1">
                            <a:latin typeface="Cambria Math" panose="02040503050406030204" pitchFamily="18" charset="0"/>
                          </a:rPr>
                          <m:t>(</m:t>
                        </m:r>
                        <m:r>
                          <a:rPr lang="en-US" sz="1400" b="0" i="1" smtClean="0">
                            <a:latin typeface="Cambria Math" panose="02040503050406030204" pitchFamily="18" charset="0"/>
                          </a:rPr>
                          <m:t>1</m:t>
                        </m:r>
                        <m:r>
                          <a:rPr lang="en-US" sz="1400" i="1">
                            <a:latin typeface="Cambria Math" panose="02040503050406030204" pitchFamily="18" charset="0"/>
                          </a:rPr>
                          <m:t>,1))</m:t>
                        </m:r>
                      </m:e>
                    </m:func>
                    <m:r>
                      <a:rPr lang="en-US" sz="1400" i="1">
                        <a:latin typeface="Cambria Math" panose="02040503050406030204" pitchFamily="18" charset="0"/>
                      </a:rPr>
                      <m:t>=−.</m:t>
                    </m:r>
                    <m:r>
                      <a:rPr lang="en-US" sz="1400" b="0" i="1" smtClean="0">
                        <a:latin typeface="Cambria Math" panose="02040503050406030204" pitchFamily="18" charset="0"/>
                      </a:rPr>
                      <m:t>6</m:t>
                    </m:r>
                  </m:oMath>
                </a14:m>
                <a:endParaRPr lang="en-US" sz="1400" dirty="0"/>
              </a:p>
              <a:p>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b="0" i="1" smtClean="0">
                            <a:latin typeface="Cambria Math" panose="02040503050406030204" pitchFamily="18" charset="0"/>
                          </a:rPr>
                          <m:t>4</m:t>
                        </m:r>
                      </m:sub>
                    </m:sSub>
                    <m:r>
                      <a:rPr lang="en-US" sz="1400" i="1">
                        <a:latin typeface="Cambria Math" panose="02040503050406030204" pitchFamily="18" charset="0"/>
                      </a:rPr>
                      <m:t>(</m:t>
                    </m:r>
                    <m:r>
                      <a:rPr lang="en-US" sz="1400" b="1" i="1">
                        <a:latin typeface="Cambria Math" panose="02040503050406030204" pitchFamily="18" charset="0"/>
                      </a:rPr>
                      <m:t>𝒔</m:t>
                    </m:r>
                    <m:r>
                      <a:rPr lang="en-US" sz="1400" i="1">
                        <a:latin typeface="Cambria Math" panose="02040503050406030204" pitchFamily="18" charset="0"/>
                      </a:rPr>
                      <m:t>)</m:t>
                    </m:r>
                  </m:oMath>
                </a14:m>
                <a:r>
                  <a:rPr lang="en-US" sz="1400" dirty="0"/>
                  <a:t>= </a:t>
                </a:r>
                <a14:m>
                  <m:oMath xmlns:m="http://schemas.openxmlformats.org/officeDocument/2006/math">
                    <m:func>
                      <m:funcPr>
                        <m:ctrlPr>
                          <a:rPr lang="en-US" sz="1400">
                            <a:latin typeface="Cambria Math" panose="02040503050406030204" pitchFamily="18" charset="0"/>
                          </a:rPr>
                        </m:ctrlPr>
                      </m:funcPr>
                      <m:fName>
                        <m:r>
                          <m:rPr>
                            <m:sty m:val="p"/>
                          </m:rPr>
                          <a:rPr lang="en-US" sz="1400">
                            <a:latin typeface="Cambria Math" panose="02040503050406030204" pitchFamily="18" charset="0"/>
                          </a:rPr>
                          <m:t>cos</m:t>
                        </m:r>
                      </m:fName>
                      <m:e>
                        <m:r>
                          <a:rPr lang="en-US" sz="1400" i="1">
                            <a:latin typeface="Cambria Math" panose="02040503050406030204" pitchFamily="18" charset="0"/>
                          </a:rPr>
                          <m:t>(</m:t>
                        </m:r>
                        <m:r>
                          <a:rPr lang="en-US" sz="1400" i="1">
                            <a:latin typeface="Cambria Math" panose="02040503050406030204" pitchFamily="18" charset="0"/>
                          </a:rPr>
                          <m:t>𝜋</m:t>
                        </m:r>
                        <m:sSup>
                          <m:sSupPr>
                            <m:ctrlPr>
                              <a:rPr lang="en-US" sz="1400" i="1">
                                <a:latin typeface="Cambria Math" panose="02040503050406030204" pitchFamily="18" charset="0"/>
                              </a:rPr>
                            </m:ctrlPr>
                          </m:sSupPr>
                          <m:e>
                            <m:r>
                              <a:rPr lang="en-US" sz="1400" i="1">
                                <a:latin typeface="Cambria Math" panose="02040503050406030204" pitchFamily="18" charset="0"/>
                              </a:rPr>
                              <m:t> </m:t>
                            </m:r>
                            <m:d>
                              <m:dPr>
                                <m:ctrlPr>
                                  <a:rPr lang="en-US" sz="1400" i="1">
                                    <a:latin typeface="Cambria Math" panose="02040503050406030204" pitchFamily="18" charset="0"/>
                                  </a:rPr>
                                </m:ctrlPr>
                              </m:dPr>
                              <m:e>
                                <m:r>
                                  <a:rPr lang="en-US" sz="1400" i="1">
                                    <a:latin typeface="Cambria Math" panose="02040503050406030204" pitchFamily="18" charset="0"/>
                                  </a:rPr>
                                  <m:t>.5,.8</m:t>
                                </m:r>
                              </m:e>
                            </m:d>
                          </m:e>
                          <m:sup>
                            <m:r>
                              <a:rPr lang="en-US" sz="1400" i="1">
                                <a:latin typeface="Cambria Math" panose="02040503050406030204" pitchFamily="18" charset="0"/>
                              </a:rPr>
                              <m:t>⊤</m:t>
                            </m:r>
                          </m:sup>
                        </m:sSup>
                        <m:r>
                          <a:rPr lang="en-US" sz="1400" i="1">
                            <a:latin typeface="Cambria Math" panose="02040503050406030204" pitchFamily="18" charset="0"/>
                          </a:rPr>
                          <m:t>(0,</m:t>
                        </m:r>
                        <m:r>
                          <a:rPr lang="en-US" sz="1400" b="0" i="1" smtClean="0">
                            <a:latin typeface="Cambria Math" panose="02040503050406030204" pitchFamily="18" charset="0"/>
                          </a:rPr>
                          <m:t>5</m:t>
                        </m:r>
                        <m:r>
                          <a:rPr lang="en-US" sz="1400" i="1">
                            <a:latin typeface="Cambria Math" panose="02040503050406030204" pitchFamily="18" charset="0"/>
                          </a:rPr>
                          <m:t>))</m:t>
                        </m:r>
                      </m:e>
                    </m:func>
                    <m:r>
                      <a:rPr lang="en-US" sz="1400" i="1">
                        <a:latin typeface="Cambria Math" panose="02040503050406030204" pitchFamily="18" charset="0"/>
                      </a:rPr>
                      <m:t>=</m:t>
                    </m:r>
                    <m:r>
                      <a:rPr lang="en-US" sz="1400" b="0" i="1" smtClean="0">
                        <a:latin typeface="Cambria Math" panose="02040503050406030204" pitchFamily="18" charset="0"/>
                      </a:rPr>
                      <m:t>    1</m:t>
                    </m:r>
                  </m:oMath>
                </a14:m>
                <a:endParaRPr lang="en-US" sz="1400" dirty="0"/>
              </a:p>
              <a:p>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b="0" i="1" smtClean="0">
                            <a:latin typeface="Cambria Math" panose="02040503050406030204" pitchFamily="18" charset="0"/>
                          </a:rPr>
                          <m:t>5</m:t>
                        </m:r>
                      </m:sub>
                    </m:sSub>
                    <m:r>
                      <a:rPr lang="en-US" sz="1400" i="1">
                        <a:latin typeface="Cambria Math" panose="02040503050406030204" pitchFamily="18" charset="0"/>
                      </a:rPr>
                      <m:t>(</m:t>
                    </m:r>
                    <m:r>
                      <a:rPr lang="en-US" sz="1400" b="1" i="1">
                        <a:latin typeface="Cambria Math" panose="02040503050406030204" pitchFamily="18" charset="0"/>
                      </a:rPr>
                      <m:t>𝒔</m:t>
                    </m:r>
                    <m:r>
                      <a:rPr lang="en-US" sz="1400" i="1">
                        <a:latin typeface="Cambria Math" panose="02040503050406030204" pitchFamily="18" charset="0"/>
                      </a:rPr>
                      <m:t>)</m:t>
                    </m:r>
                  </m:oMath>
                </a14:m>
                <a:r>
                  <a:rPr lang="en-US" sz="1400" dirty="0"/>
                  <a:t>= </a:t>
                </a:r>
                <a14:m>
                  <m:oMath xmlns:m="http://schemas.openxmlformats.org/officeDocument/2006/math">
                    <m:func>
                      <m:funcPr>
                        <m:ctrlPr>
                          <a:rPr lang="en-US" sz="1400">
                            <a:latin typeface="Cambria Math" panose="02040503050406030204" pitchFamily="18" charset="0"/>
                          </a:rPr>
                        </m:ctrlPr>
                      </m:funcPr>
                      <m:fName>
                        <m:r>
                          <m:rPr>
                            <m:sty m:val="p"/>
                          </m:rPr>
                          <a:rPr lang="en-US" sz="1400">
                            <a:latin typeface="Cambria Math" panose="02040503050406030204" pitchFamily="18" charset="0"/>
                          </a:rPr>
                          <m:t>cos</m:t>
                        </m:r>
                      </m:fName>
                      <m:e>
                        <m:r>
                          <a:rPr lang="en-US" sz="1400" i="1">
                            <a:latin typeface="Cambria Math" panose="02040503050406030204" pitchFamily="18" charset="0"/>
                          </a:rPr>
                          <m:t>(</m:t>
                        </m:r>
                        <m:r>
                          <a:rPr lang="en-US" sz="1400" i="1">
                            <a:latin typeface="Cambria Math" panose="02040503050406030204" pitchFamily="18" charset="0"/>
                          </a:rPr>
                          <m:t>𝜋</m:t>
                        </m:r>
                        <m:sSup>
                          <m:sSupPr>
                            <m:ctrlPr>
                              <a:rPr lang="en-US" sz="1400" i="1">
                                <a:latin typeface="Cambria Math" panose="02040503050406030204" pitchFamily="18" charset="0"/>
                              </a:rPr>
                            </m:ctrlPr>
                          </m:sSupPr>
                          <m:e>
                            <m:r>
                              <a:rPr lang="en-US" sz="1400" i="1">
                                <a:latin typeface="Cambria Math" panose="02040503050406030204" pitchFamily="18" charset="0"/>
                              </a:rPr>
                              <m:t> </m:t>
                            </m:r>
                            <m:d>
                              <m:dPr>
                                <m:ctrlPr>
                                  <a:rPr lang="en-US" sz="1400" i="1">
                                    <a:latin typeface="Cambria Math" panose="02040503050406030204" pitchFamily="18" charset="0"/>
                                  </a:rPr>
                                </m:ctrlPr>
                              </m:dPr>
                              <m:e>
                                <m:r>
                                  <a:rPr lang="en-US" sz="1400" i="1">
                                    <a:latin typeface="Cambria Math" panose="02040503050406030204" pitchFamily="18" charset="0"/>
                                  </a:rPr>
                                  <m:t>.5,.8</m:t>
                                </m:r>
                              </m:e>
                            </m:d>
                          </m:e>
                          <m:sup>
                            <m:r>
                              <a:rPr lang="en-US" sz="1400" i="1">
                                <a:latin typeface="Cambria Math" panose="02040503050406030204" pitchFamily="18" charset="0"/>
                              </a:rPr>
                              <m:t>⊤</m:t>
                            </m:r>
                          </m:sup>
                        </m:sSup>
                        <m:r>
                          <a:rPr lang="en-US" sz="1400" i="1">
                            <a:latin typeface="Cambria Math" panose="02040503050406030204" pitchFamily="18" charset="0"/>
                          </a:rPr>
                          <m:t>(</m:t>
                        </m:r>
                        <m:r>
                          <a:rPr lang="en-US" sz="1400" b="0" i="1" smtClean="0">
                            <a:latin typeface="Cambria Math" panose="02040503050406030204" pitchFamily="18" charset="0"/>
                          </a:rPr>
                          <m:t>2</m:t>
                        </m:r>
                        <m:r>
                          <a:rPr lang="en-US" sz="1400" i="1">
                            <a:latin typeface="Cambria Math" panose="02040503050406030204" pitchFamily="18" charset="0"/>
                          </a:rPr>
                          <m:t>,</m:t>
                        </m:r>
                        <m:r>
                          <a:rPr lang="en-US" sz="1400" b="0" i="1" smtClean="0">
                            <a:latin typeface="Cambria Math" panose="02040503050406030204" pitchFamily="18" charset="0"/>
                          </a:rPr>
                          <m:t>5</m:t>
                        </m:r>
                        <m:r>
                          <a:rPr lang="en-US" sz="1400" i="1">
                            <a:latin typeface="Cambria Math" panose="02040503050406030204" pitchFamily="18" charset="0"/>
                          </a:rPr>
                          <m:t>))</m:t>
                        </m:r>
                      </m:e>
                    </m:func>
                    <m:r>
                      <a:rPr lang="en-US" sz="1400" i="1">
                        <a:latin typeface="Cambria Math" panose="02040503050406030204" pitchFamily="18" charset="0"/>
                      </a:rPr>
                      <m:t>=</m:t>
                    </m:r>
                    <m:r>
                      <a:rPr lang="en-US" sz="1400" b="0" i="1" smtClean="0">
                        <a:latin typeface="Cambria Math" panose="02040503050406030204" pitchFamily="18" charset="0"/>
                      </a:rPr>
                      <m:t> </m:t>
                    </m:r>
                    <m:r>
                      <a:rPr lang="en-US" sz="1400" i="1">
                        <a:latin typeface="Cambria Math" panose="02040503050406030204" pitchFamily="18" charset="0"/>
                      </a:rPr>
                      <m:t>−</m:t>
                    </m:r>
                    <m:r>
                      <a:rPr lang="en-US" sz="1400" b="0" i="1" smtClean="0">
                        <a:latin typeface="Cambria Math" panose="02040503050406030204" pitchFamily="18" charset="0"/>
                      </a:rPr>
                      <m:t>1</m:t>
                    </m:r>
                  </m:oMath>
                </a14:m>
                <a:br>
                  <a:rPr lang="en-US" sz="1400" dirty="0"/>
                </a:b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b="0" i="1" smtClean="0">
                            <a:latin typeface="Cambria Math" panose="02040503050406030204" pitchFamily="18" charset="0"/>
                          </a:rPr>
                          <m:t>6</m:t>
                        </m:r>
                      </m:sub>
                    </m:sSub>
                    <m:r>
                      <a:rPr lang="en-US" sz="1400" i="1">
                        <a:latin typeface="Cambria Math" panose="02040503050406030204" pitchFamily="18" charset="0"/>
                      </a:rPr>
                      <m:t>(</m:t>
                    </m:r>
                    <m:r>
                      <a:rPr lang="en-US" sz="1400" b="1" i="1">
                        <a:latin typeface="Cambria Math" panose="02040503050406030204" pitchFamily="18" charset="0"/>
                      </a:rPr>
                      <m:t>𝒔</m:t>
                    </m:r>
                    <m:r>
                      <a:rPr lang="en-US" sz="1400" i="1">
                        <a:latin typeface="Cambria Math" panose="02040503050406030204" pitchFamily="18" charset="0"/>
                      </a:rPr>
                      <m:t>)</m:t>
                    </m:r>
                  </m:oMath>
                </a14:m>
                <a:r>
                  <a:rPr lang="en-US" sz="1400" dirty="0"/>
                  <a:t>= </a:t>
                </a:r>
                <a14:m>
                  <m:oMath xmlns:m="http://schemas.openxmlformats.org/officeDocument/2006/math">
                    <m:func>
                      <m:funcPr>
                        <m:ctrlPr>
                          <a:rPr lang="en-US" sz="1400">
                            <a:latin typeface="Cambria Math" panose="02040503050406030204" pitchFamily="18" charset="0"/>
                          </a:rPr>
                        </m:ctrlPr>
                      </m:funcPr>
                      <m:fName>
                        <m:r>
                          <m:rPr>
                            <m:sty m:val="p"/>
                          </m:rPr>
                          <a:rPr lang="en-US" sz="1400">
                            <a:latin typeface="Cambria Math" panose="02040503050406030204" pitchFamily="18" charset="0"/>
                          </a:rPr>
                          <m:t>cos</m:t>
                        </m:r>
                      </m:fName>
                      <m:e>
                        <m:r>
                          <a:rPr lang="en-US" sz="1400" i="1">
                            <a:latin typeface="Cambria Math" panose="02040503050406030204" pitchFamily="18" charset="0"/>
                          </a:rPr>
                          <m:t>(</m:t>
                        </m:r>
                        <m:r>
                          <a:rPr lang="en-US" sz="1400" i="1">
                            <a:latin typeface="Cambria Math" panose="02040503050406030204" pitchFamily="18" charset="0"/>
                          </a:rPr>
                          <m:t>𝜋</m:t>
                        </m:r>
                        <m:sSup>
                          <m:sSupPr>
                            <m:ctrlPr>
                              <a:rPr lang="en-US" sz="1400" i="1">
                                <a:latin typeface="Cambria Math" panose="02040503050406030204" pitchFamily="18" charset="0"/>
                              </a:rPr>
                            </m:ctrlPr>
                          </m:sSupPr>
                          <m:e>
                            <m:r>
                              <a:rPr lang="en-US" sz="1400" i="1">
                                <a:latin typeface="Cambria Math" panose="02040503050406030204" pitchFamily="18" charset="0"/>
                              </a:rPr>
                              <m:t> </m:t>
                            </m:r>
                            <m:d>
                              <m:dPr>
                                <m:ctrlPr>
                                  <a:rPr lang="en-US" sz="1400" i="1">
                                    <a:latin typeface="Cambria Math" panose="02040503050406030204" pitchFamily="18" charset="0"/>
                                  </a:rPr>
                                </m:ctrlPr>
                              </m:dPr>
                              <m:e>
                                <m:r>
                                  <a:rPr lang="en-US" sz="1400" i="1">
                                    <a:latin typeface="Cambria Math" panose="02040503050406030204" pitchFamily="18" charset="0"/>
                                  </a:rPr>
                                  <m:t>.5,.8</m:t>
                                </m:r>
                              </m:e>
                            </m:d>
                          </m:e>
                          <m:sup>
                            <m:r>
                              <a:rPr lang="en-US" sz="1400" i="1">
                                <a:latin typeface="Cambria Math" panose="02040503050406030204" pitchFamily="18" charset="0"/>
                              </a:rPr>
                              <m:t>⊤</m:t>
                            </m:r>
                          </m:sup>
                        </m:sSup>
                        <m:r>
                          <a:rPr lang="en-US" sz="1400" i="1">
                            <a:latin typeface="Cambria Math" panose="02040503050406030204" pitchFamily="18" charset="0"/>
                          </a:rPr>
                          <m:t>(</m:t>
                        </m:r>
                        <m:r>
                          <a:rPr lang="en-US" sz="1400" b="0" i="1" smtClean="0">
                            <a:latin typeface="Cambria Math" panose="02040503050406030204" pitchFamily="18" charset="0"/>
                          </a:rPr>
                          <m:t>5</m:t>
                        </m:r>
                        <m:r>
                          <a:rPr lang="en-US" sz="1400" i="1">
                            <a:latin typeface="Cambria Math" panose="02040503050406030204" pitchFamily="18" charset="0"/>
                          </a:rPr>
                          <m:t>,</m:t>
                        </m:r>
                        <m:r>
                          <a:rPr lang="en-US" sz="1400" b="0" i="1" smtClean="0">
                            <a:latin typeface="Cambria Math" panose="02040503050406030204" pitchFamily="18" charset="0"/>
                          </a:rPr>
                          <m:t>2</m:t>
                        </m:r>
                        <m:r>
                          <a:rPr lang="en-US" sz="1400" i="1">
                            <a:latin typeface="Cambria Math" panose="02040503050406030204" pitchFamily="18" charset="0"/>
                          </a:rPr>
                          <m:t>))</m:t>
                        </m:r>
                      </m:e>
                    </m:func>
                    <m:r>
                      <a:rPr lang="en-US" sz="1400" i="1">
                        <a:latin typeface="Cambria Math" panose="02040503050406030204" pitchFamily="18" charset="0"/>
                      </a:rPr>
                      <m:t>=</m:t>
                    </m:r>
                    <m:r>
                      <a:rPr lang="en-US" sz="1400" b="0" i="0" smtClean="0">
                        <a:latin typeface="Cambria Math" panose="02040503050406030204" pitchFamily="18" charset="0"/>
                      </a:rPr>
                      <m:t>    1</m:t>
                    </m:r>
                  </m:oMath>
                </a14:m>
                <a:r>
                  <a:rPr lang="en-US" sz="1400" dirty="0"/>
                  <a:t>  </a:t>
                </a:r>
              </a:p>
              <a:p>
                <a:endParaRPr lang="en-US" sz="1400" dirty="0"/>
              </a:p>
            </p:txBody>
          </p:sp>
        </mc:Choice>
        <mc:Fallback xmlns="">
          <p:sp>
            <p:nvSpPr>
              <p:cNvPr id="41" name="TextBox 40">
                <a:extLst>
                  <a:ext uri="{FF2B5EF4-FFF2-40B4-BE49-F238E27FC236}">
                    <a16:creationId xmlns:a16="http://schemas.microsoft.com/office/drawing/2014/main" id="{FBF9E33D-384F-C5F9-F7A6-093D384EC345}"/>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1662385" y="3546028"/>
                <a:ext cx="3483096" cy="2246769"/>
              </a:xfrm>
              <a:prstGeom prst="rect">
                <a:avLst/>
              </a:prstGeom>
              <a:blipFill>
                <a:blip r:embed="rId6"/>
                <a:stretch>
                  <a:fillRect/>
                </a:stretch>
              </a:blipFill>
            </p:spPr>
            <p:txBody>
              <a:bodyPr/>
              <a:lstStyle/>
              <a:p>
                <a:r>
                  <a:rPr lang="en-US">
                    <a:noFill/>
                  </a:rPr>
                  <a:t> </a:t>
                </a:r>
              </a:p>
            </p:txBody>
          </p:sp>
        </mc:Fallback>
      </mc:AlternateContent>
      <p:grpSp>
        <p:nvGrpSpPr>
          <p:cNvPr id="45" name="Group 44" descr="Dashed orange guide lines marking the example state s = (.5, .8) on each of the six feature plots.">
            <a:extLst>
              <a:ext uri="{FF2B5EF4-FFF2-40B4-BE49-F238E27FC236}">
                <a16:creationId xmlns:a16="http://schemas.microsoft.com/office/drawing/2014/main" id="{DA81357C-FC4F-172C-ADFA-6EB1780ABEA7}"/>
              </a:ext>
            </a:extLst>
          </p:cNvPr>
          <p:cNvGrpSpPr/>
          <p:nvPr/>
        </p:nvGrpSpPr>
        <p:grpSpPr>
          <a:xfrm>
            <a:off x="4951787" y="3340471"/>
            <a:ext cx="5619708" cy="2979085"/>
            <a:chOff x="4951787" y="3340471"/>
            <a:chExt cx="5619708" cy="2979085"/>
          </a:xfrm>
        </p:grpSpPr>
        <p:grpSp>
          <p:nvGrpSpPr>
            <p:cNvPr id="42" name="Group 41">
              <a:extLst>
                <a:ext uri="{FF2B5EF4-FFF2-40B4-BE49-F238E27FC236}">
                  <a16:creationId xmlns:a16="http://schemas.microsoft.com/office/drawing/2014/main" id="{AF19D8E4-7428-461A-EA29-A617584B4011}"/>
                </a:ext>
                <a:ext uri="{C183D7F6-B498-43B3-948B-1728B52AA6E4}">
                  <adec:decorative xmlns:adec="http://schemas.microsoft.com/office/drawing/2017/decorative" val="1"/>
                </a:ext>
              </a:extLst>
            </p:cNvPr>
            <p:cNvGrpSpPr/>
            <p:nvPr/>
          </p:nvGrpSpPr>
          <p:grpSpPr>
            <a:xfrm>
              <a:off x="5214160" y="3435503"/>
              <a:ext cx="5357335" cy="2884053"/>
              <a:chOff x="5214160" y="3435503"/>
              <a:chExt cx="5357335" cy="2884053"/>
            </a:xfrm>
          </p:grpSpPr>
          <p:grpSp>
            <p:nvGrpSpPr>
              <p:cNvPr id="20" name="Group 19">
                <a:extLst>
                  <a:ext uri="{FF2B5EF4-FFF2-40B4-BE49-F238E27FC236}">
                    <a16:creationId xmlns:a16="http://schemas.microsoft.com/office/drawing/2014/main" id="{3C5C89D3-EE63-5400-C3FE-8BA2A82CD652}"/>
                  </a:ext>
                  <a:ext uri="{C183D7F6-B498-43B3-948B-1728B52AA6E4}">
                    <adec:decorative xmlns:adec="http://schemas.microsoft.com/office/drawing/2017/decorative" val="1"/>
                  </a:ext>
                </a:extLst>
              </p:cNvPr>
              <p:cNvGrpSpPr/>
              <p:nvPr/>
            </p:nvGrpSpPr>
            <p:grpSpPr>
              <a:xfrm>
                <a:off x="5214160" y="3471277"/>
                <a:ext cx="971154" cy="1139312"/>
                <a:chOff x="5208608" y="3429000"/>
                <a:chExt cx="971154" cy="1139312"/>
              </a:xfrm>
            </p:grpSpPr>
            <p:sp>
              <p:nvSpPr>
                <p:cNvPr id="8" name="Oval 7">
                  <a:extLst>
                    <a:ext uri="{FF2B5EF4-FFF2-40B4-BE49-F238E27FC236}">
                      <a16:creationId xmlns:a16="http://schemas.microsoft.com/office/drawing/2014/main" id="{D061184B-88A1-E299-C8DF-FE3409235A74}"/>
                    </a:ext>
                    <a:ext uri="{C183D7F6-B498-43B3-948B-1728B52AA6E4}">
                      <adec:decorative xmlns:adec="http://schemas.microsoft.com/office/drawing/2017/decorative" val="1"/>
                    </a:ext>
                  </a:extLst>
                </p:cNvPr>
                <p:cNvSpPr/>
                <p:nvPr/>
              </p:nvSpPr>
              <p:spPr>
                <a:xfrm>
                  <a:off x="6096000" y="3429000"/>
                  <a:ext cx="83762" cy="71547"/>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45A6221F-D38E-F79C-45AA-22C883F4D933}"/>
                    </a:ext>
                    <a:ext uri="{C183D7F6-B498-43B3-948B-1728B52AA6E4}">
                      <adec:decorative xmlns:adec="http://schemas.microsoft.com/office/drawing/2017/decorative" val="1"/>
                    </a:ext>
                  </a:extLst>
                </p:cNvPr>
                <p:cNvCxnSpPr>
                  <a:cxnSpLocks/>
                  <a:stCxn id="8" idx="2"/>
                </p:cNvCxnSpPr>
                <p:nvPr/>
              </p:nvCxnSpPr>
              <p:spPr>
                <a:xfrm flipH="1">
                  <a:off x="5208608" y="3464774"/>
                  <a:ext cx="887392"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A30D3973-9B73-5DA6-5531-0C47BF34B4BA}"/>
                    </a:ext>
                    <a:ext uri="{C183D7F6-B498-43B3-948B-1728B52AA6E4}">
                      <adec:decorative xmlns:adec="http://schemas.microsoft.com/office/drawing/2017/decorative" val="1"/>
                    </a:ext>
                  </a:extLst>
                </p:cNvPr>
                <p:cNvCxnSpPr>
                  <a:cxnSpLocks/>
                  <a:stCxn id="8" idx="4"/>
                </p:cNvCxnSpPr>
                <p:nvPr/>
              </p:nvCxnSpPr>
              <p:spPr>
                <a:xfrm>
                  <a:off x="6137881" y="3500547"/>
                  <a:ext cx="0" cy="1067765"/>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21" name="Group 20">
                <a:extLst>
                  <a:ext uri="{FF2B5EF4-FFF2-40B4-BE49-F238E27FC236}">
                    <a16:creationId xmlns:a16="http://schemas.microsoft.com/office/drawing/2014/main" id="{0CDB7F58-6E8C-3365-5CB0-2EC8C57473C1}"/>
                  </a:ext>
                  <a:ext uri="{C183D7F6-B498-43B3-948B-1728B52AA6E4}">
                    <adec:decorative xmlns:adec="http://schemas.microsoft.com/office/drawing/2017/decorative" val="1"/>
                  </a:ext>
                </a:extLst>
              </p:cNvPr>
              <p:cNvGrpSpPr/>
              <p:nvPr/>
            </p:nvGrpSpPr>
            <p:grpSpPr>
              <a:xfrm>
                <a:off x="7453542" y="3471277"/>
                <a:ext cx="971154" cy="1139312"/>
                <a:chOff x="5208608" y="3429000"/>
                <a:chExt cx="971154" cy="1139312"/>
              </a:xfrm>
            </p:grpSpPr>
            <p:sp>
              <p:nvSpPr>
                <p:cNvPr id="22" name="Oval 21">
                  <a:extLst>
                    <a:ext uri="{FF2B5EF4-FFF2-40B4-BE49-F238E27FC236}">
                      <a16:creationId xmlns:a16="http://schemas.microsoft.com/office/drawing/2014/main" id="{F783979E-E824-02C0-49CD-6DDE1C8AF319}"/>
                    </a:ext>
                    <a:ext uri="{C183D7F6-B498-43B3-948B-1728B52AA6E4}">
                      <adec:decorative xmlns:adec="http://schemas.microsoft.com/office/drawing/2017/decorative" val="1"/>
                    </a:ext>
                  </a:extLst>
                </p:cNvPr>
                <p:cNvSpPr/>
                <p:nvPr/>
              </p:nvSpPr>
              <p:spPr>
                <a:xfrm>
                  <a:off x="6096000" y="3429000"/>
                  <a:ext cx="83762" cy="71547"/>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7CEDDF26-B3E0-CEEE-04A5-07F0DF5B0AD3}"/>
                    </a:ext>
                    <a:ext uri="{C183D7F6-B498-43B3-948B-1728B52AA6E4}">
                      <adec:decorative xmlns:adec="http://schemas.microsoft.com/office/drawing/2017/decorative" val="1"/>
                    </a:ext>
                  </a:extLst>
                </p:cNvPr>
                <p:cNvCxnSpPr>
                  <a:cxnSpLocks/>
                  <a:stCxn id="22" idx="2"/>
                </p:cNvCxnSpPr>
                <p:nvPr/>
              </p:nvCxnSpPr>
              <p:spPr>
                <a:xfrm flipH="1">
                  <a:off x="5208608" y="3464774"/>
                  <a:ext cx="887392"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62807F95-C422-6F10-5149-ECE8552EFDD0}"/>
                    </a:ext>
                    <a:ext uri="{C183D7F6-B498-43B3-948B-1728B52AA6E4}">
                      <adec:decorative xmlns:adec="http://schemas.microsoft.com/office/drawing/2017/decorative" val="1"/>
                    </a:ext>
                  </a:extLst>
                </p:cNvPr>
                <p:cNvCxnSpPr>
                  <a:cxnSpLocks/>
                  <a:stCxn id="22" idx="4"/>
                </p:cNvCxnSpPr>
                <p:nvPr/>
              </p:nvCxnSpPr>
              <p:spPr>
                <a:xfrm>
                  <a:off x="6137881" y="3500547"/>
                  <a:ext cx="0" cy="1067765"/>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25" name="Group 24">
                <a:extLst>
                  <a:ext uri="{FF2B5EF4-FFF2-40B4-BE49-F238E27FC236}">
                    <a16:creationId xmlns:a16="http://schemas.microsoft.com/office/drawing/2014/main" id="{427BED36-7845-BE4B-09E4-12E436E10DDB}"/>
                  </a:ext>
                  <a:ext uri="{C183D7F6-B498-43B3-948B-1728B52AA6E4}">
                    <adec:decorative xmlns:adec="http://schemas.microsoft.com/office/drawing/2017/decorative" val="1"/>
                  </a:ext>
                </a:extLst>
              </p:cNvPr>
              <p:cNvGrpSpPr/>
              <p:nvPr/>
            </p:nvGrpSpPr>
            <p:grpSpPr>
              <a:xfrm>
                <a:off x="9600341" y="3435503"/>
                <a:ext cx="971154" cy="1139312"/>
                <a:chOff x="5208608" y="3429000"/>
                <a:chExt cx="971154" cy="1139312"/>
              </a:xfrm>
            </p:grpSpPr>
            <p:sp>
              <p:nvSpPr>
                <p:cNvPr id="26" name="Oval 25">
                  <a:extLst>
                    <a:ext uri="{FF2B5EF4-FFF2-40B4-BE49-F238E27FC236}">
                      <a16:creationId xmlns:a16="http://schemas.microsoft.com/office/drawing/2014/main" id="{E835DC91-5805-8DAE-BB63-1B8CC6FFA2E8}"/>
                    </a:ext>
                    <a:ext uri="{C183D7F6-B498-43B3-948B-1728B52AA6E4}">
                      <adec:decorative xmlns:adec="http://schemas.microsoft.com/office/drawing/2017/decorative" val="1"/>
                    </a:ext>
                  </a:extLst>
                </p:cNvPr>
                <p:cNvSpPr/>
                <p:nvPr/>
              </p:nvSpPr>
              <p:spPr>
                <a:xfrm>
                  <a:off x="6096000" y="3429000"/>
                  <a:ext cx="83762" cy="71547"/>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87902F9A-2E37-0013-93A1-1BA57B02D809}"/>
                    </a:ext>
                    <a:ext uri="{C183D7F6-B498-43B3-948B-1728B52AA6E4}">
                      <adec:decorative xmlns:adec="http://schemas.microsoft.com/office/drawing/2017/decorative" val="1"/>
                    </a:ext>
                  </a:extLst>
                </p:cNvPr>
                <p:cNvCxnSpPr>
                  <a:cxnSpLocks/>
                  <a:stCxn id="26" idx="2"/>
                </p:cNvCxnSpPr>
                <p:nvPr/>
              </p:nvCxnSpPr>
              <p:spPr>
                <a:xfrm flipH="1">
                  <a:off x="5208608" y="3464774"/>
                  <a:ext cx="887392"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Connector 27">
                  <a:extLst>
                    <a:ext uri="{FF2B5EF4-FFF2-40B4-BE49-F238E27FC236}">
                      <a16:creationId xmlns:a16="http://schemas.microsoft.com/office/drawing/2014/main" id="{3E0E8A7F-053D-9019-516F-DBB49D1C0221}"/>
                    </a:ext>
                    <a:ext uri="{C183D7F6-B498-43B3-948B-1728B52AA6E4}">
                      <adec:decorative xmlns:adec="http://schemas.microsoft.com/office/drawing/2017/decorative" val="1"/>
                    </a:ext>
                  </a:extLst>
                </p:cNvPr>
                <p:cNvCxnSpPr>
                  <a:cxnSpLocks/>
                  <a:stCxn id="26" idx="4"/>
                </p:cNvCxnSpPr>
                <p:nvPr/>
              </p:nvCxnSpPr>
              <p:spPr>
                <a:xfrm>
                  <a:off x="6137881" y="3500547"/>
                  <a:ext cx="0" cy="1067765"/>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29" name="Group 28">
                <a:extLst>
                  <a:ext uri="{FF2B5EF4-FFF2-40B4-BE49-F238E27FC236}">
                    <a16:creationId xmlns:a16="http://schemas.microsoft.com/office/drawing/2014/main" id="{E4442C98-44C1-BF57-8865-72B0CB62549A}"/>
                  </a:ext>
                  <a:ext uri="{C183D7F6-B498-43B3-948B-1728B52AA6E4}">
                    <adec:decorative xmlns:adec="http://schemas.microsoft.com/office/drawing/2017/decorative" val="1"/>
                  </a:ext>
                </a:extLst>
              </p:cNvPr>
              <p:cNvGrpSpPr/>
              <p:nvPr/>
            </p:nvGrpSpPr>
            <p:grpSpPr>
              <a:xfrm>
                <a:off x="5225236" y="5108698"/>
                <a:ext cx="971154" cy="1139312"/>
                <a:chOff x="5208608" y="3429000"/>
                <a:chExt cx="971154" cy="1139312"/>
              </a:xfrm>
            </p:grpSpPr>
            <p:sp>
              <p:nvSpPr>
                <p:cNvPr id="30" name="Oval 29">
                  <a:extLst>
                    <a:ext uri="{FF2B5EF4-FFF2-40B4-BE49-F238E27FC236}">
                      <a16:creationId xmlns:a16="http://schemas.microsoft.com/office/drawing/2014/main" id="{436D42EB-ADFE-2D9E-08A6-7E7D030C239F}"/>
                    </a:ext>
                    <a:ext uri="{C183D7F6-B498-43B3-948B-1728B52AA6E4}">
                      <adec:decorative xmlns:adec="http://schemas.microsoft.com/office/drawing/2017/decorative" val="1"/>
                    </a:ext>
                  </a:extLst>
                </p:cNvPr>
                <p:cNvSpPr/>
                <p:nvPr/>
              </p:nvSpPr>
              <p:spPr>
                <a:xfrm>
                  <a:off x="6096000" y="3429000"/>
                  <a:ext cx="83762" cy="71547"/>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8D7ACAC0-06A0-E0E4-6B3D-131B1E3D75F2}"/>
                    </a:ext>
                    <a:ext uri="{C183D7F6-B498-43B3-948B-1728B52AA6E4}">
                      <adec:decorative xmlns:adec="http://schemas.microsoft.com/office/drawing/2017/decorative" val="1"/>
                    </a:ext>
                  </a:extLst>
                </p:cNvPr>
                <p:cNvCxnSpPr>
                  <a:cxnSpLocks/>
                  <a:stCxn id="30" idx="2"/>
                </p:cNvCxnSpPr>
                <p:nvPr/>
              </p:nvCxnSpPr>
              <p:spPr>
                <a:xfrm flipH="1">
                  <a:off x="5208608" y="3464774"/>
                  <a:ext cx="887392"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2" name="Straight Connector 31">
                  <a:extLst>
                    <a:ext uri="{FF2B5EF4-FFF2-40B4-BE49-F238E27FC236}">
                      <a16:creationId xmlns:a16="http://schemas.microsoft.com/office/drawing/2014/main" id="{78DF8B15-B0F6-1D5E-7A47-8160A1A082D7}"/>
                    </a:ext>
                    <a:ext uri="{C183D7F6-B498-43B3-948B-1728B52AA6E4}">
                      <adec:decorative xmlns:adec="http://schemas.microsoft.com/office/drawing/2017/decorative" val="1"/>
                    </a:ext>
                  </a:extLst>
                </p:cNvPr>
                <p:cNvCxnSpPr>
                  <a:cxnSpLocks/>
                  <a:stCxn id="30" idx="4"/>
                </p:cNvCxnSpPr>
                <p:nvPr/>
              </p:nvCxnSpPr>
              <p:spPr>
                <a:xfrm>
                  <a:off x="6137881" y="3500547"/>
                  <a:ext cx="0" cy="1067765"/>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33" name="Group 32">
                <a:extLst>
                  <a:ext uri="{FF2B5EF4-FFF2-40B4-BE49-F238E27FC236}">
                    <a16:creationId xmlns:a16="http://schemas.microsoft.com/office/drawing/2014/main" id="{9F03424E-3BD9-8378-A7BD-3B2F0FF173AE}"/>
                  </a:ext>
                  <a:ext uri="{C183D7F6-B498-43B3-948B-1728B52AA6E4}">
                    <adec:decorative xmlns:adec="http://schemas.microsoft.com/office/drawing/2017/decorative" val="1"/>
                  </a:ext>
                </a:extLst>
              </p:cNvPr>
              <p:cNvGrpSpPr/>
              <p:nvPr/>
            </p:nvGrpSpPr>
            <p:grpSpPr>
              <a:xfrm>
                <a:off x="7419867" y="5144471"/>
                <a:ext cx="971154" cy="1139312"/>
                <a:chOff x="5208608" y="3429000"/>
                <a:chExt cx="971154" cy="1139312"/>
              </a:xfrm>
            </p:grpSpPr>
            <p:sp>
              <p:nvSpPr>
                <p:cNvPr id="34" name="Oval 33">
                  <a:extLst>
                    <a:ext uri="{FF2B5EF4-FFF2-40B4-BE49-F238E27FC236}">
                      <a16:creationId xmlns:a16="http://schemas.microsoft.com/office/drawing/2014/main" id="{A154AFFE-5CA3-DC57-DF01-16FFEFC4FCD7}"/>
                    </a:ext>
                    <a:ext uri="{C183D7F6-B498-43B3-948B-1728B52AA6E4}">
                      <adec:decorative xmlns:adec="http://schemas.microsoft.com/office/drawing/2017/decorative" val="1"/>
                    </a:ext>
                  </a:extLst>
                </p:cNvPr>
                <p:cNvSpPr/>
                <p:nvPr/>
              </p:nvSpPr>
              <p:spPr>
                <a:xfrm>
                  <a:off x="6096000" y="3429000"/>
                  <a:ext cx="83762" cy="71547"/>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9627EDBE-6E64-4526-8387-169CFC8CE096}"/>
                    </a:ext>
                    <a:ext uri="{C183D7F6-B498-43B3-948B-1728B52AA6E4}">
                      <adec:decorative xmlns:adec="http://schemas.microsoft.com/office/drawing/2017/decorative" val="1"/>
                    </a:ext>
                  </a:extLst>
                </p:cNvPr>
                <p:cNvCxnSpPr>
                  <a:cxnSpLocks/>
                  <a:stCxn id="34" idx="2"/>
                </p:cNvCxnSpPr>
                <p:nvPr/>
              </p:nvCxnSpPr>
              <p:spPr>
                <a:xfrm flipH="1">
                  <a:off x="5208608" y="3464774"/>
                  <a:ext cx="887392"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Straight Connector 35">
                  <a:extLst>
                    <a:ext uri="{FF2B5EF4-FFF2-40B4-BE49-F238E27FC236}">
                      <a16:creationId xmlns:a16="http://schemas.microsoft.com/office/drawing/2014/main" id="{9076703A-BA47-1A0C-6439-319CEF6CAEFD}"/>
                    </a:ext>
                    <a:ext uri="{C183D7F6-B498-43B3-948B-1728B52AA6E4}">
                      <adec:decorative xmlns:adec="http://schemas.microsoft.com/office/drawing/2017/decorative" val="1"/>
                    </a:ext>
                  </a:extLst>
                </p:cNvPr>
                <p:cNvCxnSpPr>
                  <a:cxnSpLocks/>
                  <a:stCxn id="34" idx="4"/>
                </p:cNvCxnSpPr>
                <p:nvPr/>
              </p:nvCxnSpPr>
              <p:spPr>
                <a:xfrm>
                  <a:off x="6137881" y="3500547"/>
                  <a:ext cx="0" cy="1067765"/>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37" name="Group 36">
                <a:extLst>
                  <a:ext uri="{FF2B5EF4-FFF2-40B4-BE49-F238E27FC236}">
                    <a16:creationId xmlns:a16="http://schemas.microsoft.com/office/drawing/2014/main" id="{F946C286-CAA1-6F10-661C-99C69BFF24E9}"/>
                  </a:ext>
                  <a:ext uri="{C183D7F6-B498-43B3-948B-1728B52AA6E4}">
                    <adec:decorative xmlns:adec="http://schemas.microsoft.com/office/drawing/2017/decorative" val="1"/>
                  </a:ext>
                </a:extLst>
              </p:cNvPr>
              <p:cNvGrpSpPr/>
              <p:nvPr/>
            </p:nvGrpSpPr>
            <p:grpSpPr>
              <a:xfrm>
                <a:off x="9568886" y="5180244"/>
                <a:ext cx="971154" cy="1139312"/>
                <a:chOff x="5208608" y="3429000"/>
                <a:chExt cx="971154" cy="1139312"/>
              </a:xfrm>
            </p:grpSpPr>
            <p:sp>
              <p:nvSpPr>
                <p:cNvPr id="38" name="Oval 37">
                  <a:extLst>
                    <a:ext uri="{FF2B5EF4-FFF2-40B4-BE49-F238E27FC236}">
                      <a16:creationId xmlns:a16="http://schemas.microsoft.com/office/drawing/2014/main" id="{BC8131D1-EA3A-531D-E4AF-5CD673DD30A9}"/>
                    </a:ext>
                    <a:ext uri="{C183D7F6-B498-43B3-948B-1728B52AA6E4}">
                      <adec:decorative xmlns:adec="http://schemas.microsoft.com/office/drawing/2017/decorative" val="1"/>
                    </a:ext>
                  </a:extLst>
                </p:cNvPr>
                <p:cNvSpPr/>
                <p:nvPr/>
              </p:nvSpPr>
              <p:spPr>
                <a:xfrm>
                  <a:off x="6096000" y="3429000"/>
                  <a:ext cx="83762" cy="71547"/>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2805BD08-337C-3FC0-7512-5D1EF17067F2}"/>
                    </a:ext>
                    <a:ext uri="{C183D7F6-B498-43B3-948B-1728B52AA6E4}">
                      <adec:decorative xmlns:adec="http://schemas.microsoft.com/office/drawing/2017/decorative" val="1"/>
                    </a:ext>
                  </a:extLst>
                </p:cNvPr>
                <p:cNvCxnSpPr>
                  <a:cxnSpLocks/>
                  <a:stCxn id="38" idx="2"/>
                </p:cNvCxnSpPr>
                <p:nvPr/>
              </p:nvCxnSpPr>
              <p:spPr>
                <a:xfrm flipH="1">
                  <a:off x="5208608" y="3464774"/>
                  <a:ext cx="887392"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0" name="Straight Connector 39">
                  <a:extLst>
                    <a:ext uri="{FF2B5EF4-FFF2-40B4-BE49-F238E27FC236}">
                      <a16:creationId xmlns:a16="http://schemas.microsoft.com/office/drawing/2014/main" id="{72A6609B-DEB9-7B57-7EA4-D74C690F5E52}"/>
                    </a:ext>
                    <a:ext uri="{C183D7F6-B498-43B3-948B-1728B52AA6E4}">
                      <adec:decorative xmlns:adec="http://schemas.microsoft.com/office/drawing/2017/decorative" val="1"/>
                    </a:ext>
                  </a:extLst>
                </p:cNvPr>
                <p:cNvCxnSpPr>
                  <a:cxnSpLocks/>
                  <a:stCxn id="38" idx="4"/>
                </p:cNvCxnSpPr>
                <p:nvPr/>
              </p:nvCxnSpPr>
              <p:spPr>
                <a:xfrm>
                  <a:off x="6137881" y="3500547"/>
                  <a:ext cx="0" cy="1067765"/>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sp>
          <p:nvSpPr>
            <p:cNvPr id="43" name="TextBox 42">
              <a:extLst>
                <a:ext uri="{FF2B5EF4-FFF2-40B4-BE49-F238E27FC236}">
                  <a16:creationId xmlns:a16="http://schemas.microsoft.com/office/drawing/2014/main" id="{2E1B44F5-5DFC-EE45-5E4C-A06ED1778595}"/>
                </a:ext>
              </a:extLst>
            </p:cNvPr>
            <p:cNvSpPr txBox="1"/>
            <p:nvPr/>
          </p:nvSpPr>
          <p:spPr>
            <a:xfrm>
              <a:off x="6048568" y="4479784"/>
              <a:ext cx="373912" cy="261610"/>
            </a:xfrm>
            <a:prstGeom prst="rect">
              <a:avLst/>
            </a:prstGeom>
            <a:noFill/>
          </p:spPr>
          <p:txBody>
            <a:bodyPr wrap="square" rtlCol="0">
              <a:spAutoFit/>
            </a:bodyPr>
            <a:lstStyle/>
            <a:p>
              <a:r>
                <a:rPr lang="en-US" sz="1100" dirty="0"/>
                <a:t>.5</a:t>
              </a:r>
            </a:p>
          </p:txBody>
        </p:sp>
        <p:sp>
          <p:nvSpPr>
            <p:cNvPr id="44" name="TextBox 43">
              <a:extLst>
                <a:ext uri="{FF2B5EF4-FFF2-40B4-BE49-F238E27FC236}">
                  <a16:creationId xmlns:a16="http://schemas.microsoft.com/office/drawing/2014/main" id="{C4FDB532-1688-4720-2C29-A41D304823FF}"/>
                </a:ext>
              </a:extLst>
            </p:cNvPr>
            <p:cNvSpPr txBox="1"/>
            <p:nvPr/>
          </p:nvSpPr>
          <p:spPr>
            <a:xfrm>
              <a:off x="4951787" y="3340471"/>
              <a:ext cx="373912" cy="261610"/>
            </a:xfrm>
            <a:prstGeom prst="rect">
              <a:avLst/>
            </a:prstGeom>
            <a:noFill/>
          </p:spPr>
          <p:txBody>
            <a:bodyPr wrap="square" rtlCol="0">
              <a:spAutoFit/>
            </a:bodyPr>
            <a:lstStyle/>
            <a:p>
              <a:r>
                <a:rPr lang="en-US" sz="1100" dirty="0"/>
                <a:t>.8</a:t>
              </a:r>
            </a:p>
          </p:txBody>
        </p:sp>
      </p:grpSp>
      <mc:AlternateContent xmlns:mc="http://schemas.openxmlformats.org/markup-compatibility/2006" xmlns:a14="http://schemas.microsoft.com/office/drawing/2010/main">
        <mc:Choice Requires="a14">
          <p:sp>
            <p:nvSpPr>
              <p:cNvPr id="46" name="Speech Bubble: Rectangle with Corners Rounded 45">
                <a:extLst>
                  <a:ext uri="{FF2B5EF4-FFF2-40B4-BE49-F238E27FC236}">
                    <a16:creationId xmlns:a16="http://schemas.microsoft.com/office/drawing/2014/main" id="{88A2569C-E5D9-8705-BCC9-DDB51EC74D15}"/>
                  </a:ext>
                  <a:ext uri="{C183D7F6-B498-43B3-948B-1728B52AA6E4}">
                    <adec:decorative xmlns:adec="http://schemas.microsoft.com/office/drawing/2017/decorative" val="1"/>
                  </a:ext>
                </a:extLst>
              </p:cNvPr>
              <p:cNvSpPr/>
              <p:nvPr/>
            </p:nvSpPr>
            <p:spPr>
              <a:xfrm>
                <a:off x="359107" y="5816281"/>
                <a:ext cx="4530045" cy="1006549"/>
              </a:xfrm>
              <a:prstGeom prst="wedgeRoundRectCallout">
                <a:avLst>
                  <a:gd name="adj1" fmla="val -6644"/>
                  <a:gd name="adj2" fmla="val -7764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a:pPr>
                <a:r>
                  <a:rPr lang="en-US" sz="1400" dirty="0"/>
                  <a:t>Features are a combination of both state components, representing interactions.</a:t>
                </a:r>
              </a:p>
              <a:p>
                <a:pPr marL="342900" indent="-342900">
                  <a:buFont typeface="+mj-lt"/>
                  <a:buAutoNum type="arabicPeriod"/>
                </a:pPr>
                <a:r>
                  <a:rPr lang="en-US" sz="1400" dirty="0"/>
                  <a:t>Select only the best features.</a:t>
                </a:r>
              </a:p>
              <a:p>
                <a:pPr marL="342900" indent="-342900">
                  <a:buFont typeface="+mj-lt"/>
                  <a:buAutoNum type="arabicPeriod"/>
                </a:pPr>
                <a:r>
                  <a:rPr lang="en-US" sz="1400" dirty="0"/>
                  <a:t>We can use a different </a:t>
                </a:r>
                <a14:m>
                  <m:oMath xmlns:m="http://schemas.openxmlformats.org/officeDocument/2006/math">
                    <m:r>
                      <a:rPr lang="en-US" sz="1400" b="0" i="1" smtClean="0">
                        <a:latin typeface="Cambria Math" panose="02040503050406030204" pitchFamily="18" charset="0"/>
                      </a:rPr>
                      <m:t>𝛼</m:t>
                    </m:r>
                  </m:oMath>
                </a14:m>
                <a:r>
                  <a:rPr lang="en-US" sz="1400" dirty="0"/>
                  <a:t> for each feature.</a:t>
                </a:r>
              </a:p>
            </p:txBody>
          </p:sp>
        </mc:Choice>
        <mc:Fallback xmlns="">
          <p:sp>
            <p:nvSpPr>
              <p:cNvPr id="46" name="Speech Bubble: Rectangle with Corners Rounded 45">
                <a:extLst>
                  <a:ext uri="{FF2B5EF4-FFF2-40B4-BE49-F238E27FC236}">
                    <a16:creationId xmlns:a16="http://schemas.microsoft.com/office/drawing/2014/main" id="{88A2569C-E5D9-8705-BCC9-DDB51EC74D15}"/>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359107" y="5816281"/>
                <a:ext cx="4530045" cy="1006549"/>
              </a:xfrm>
              <a:prstGeom prst="wedgeRoundRectCallout">
                <a:avLst>
                  <a:gd name="adj1" fmla="val -6644"/>
                  <a:gd name="adj2" fmla="val -77642"/>
                  <a:gd name="adj3" fmla="val 16667"/>
                </a:avLst>
              </a:prstGeom>
              <a:blipFill>
                <a:blip r:embed="rId7"/>
                <a:stretch>
                  <a:fillRect b="-952"/>
                </a:stretch>
              </a:blipFill>
            </p:spPr>
            <p:txBody>
              <a:bodyPr/>
              <a:lstStyle/>
              <a:p>
                <a:r>
                  <a:rPr lang="en-US">
                    <a:noFill/>
                  </a:rPr>
                  <a:t> </a:t>
                </a:r>
              </a:p>
            </p:txBody>
          </p:sp>
        </mc:Fallback>
      </mc:AlternateContent>
    </p:spTree>
    <p:extLst>
      <p:ext uri="{BB962C8B-B14F-4D97-AF65-F5344CB8AC3E}">
        <p14:creationId xmlns:p14="http://schemas.microsoft.com/office/powerpoint/2010/main" val="334816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D8218-FC1E-7DC2-0BDB-85F80555BFB8}"/>
              </a:ext>
            </a:extLst>
          </p:cNvPr>
          <p:cNvSpPr>
            <a:spLocks noGrp="1"/>
          </p:cNvSpPr>
          <p:nvPr>
            <p:ph type="title"/>
          </p:nvPr>
        </p:nvSpPr>
        <p:spPr/>
        <p:txBody>
          <a:bodyPr>
            <a:normAutofit fontScale="90000"/>
          </a:bodyPr>
          <a:lstStyle/>
          <a:p>
            <a:r>
              <a:rPr lang="en-US" dirty="0"/>
              <a:t>Example: L-Maze with Order-2 Fourier Features</a:t>
            </a:r>
          </a:p>
        </p:txBody>
      </p:sp>
      <p:sp>
        <p:nvSpPr>
          <p:cNvPr id="10" name="TextBox 9">
            <a:extLst>
              <a:ext uri="{FF2B5EF4-FFF2-40B4-BE49-F238E27FC236}">
                <a16:creationId xmlns:a16="http://schemas.microsoft.com/office/drawing/2014/main" id="{CFBCC4E1-4F2F-E15D-7AB2-C89EEE7462C6}"/>
              </a:ext>
            </a:extLst>
          </p:cNvPr>
          <p:cNvSpPr txBox="1"/>
          <p:nvPr/>
        </p:nvSpPr>
        <p:spPr>
          <a:xfrm>
            <a:off x="1921078" y="1229066"/>
            <a:ext cx="7466203" cy="369332"/>
          </a:xfrm>
          <a:prstGeom prst="rect">
            <a:avLst/>
          </a:prstGeom>
          <a:noFill/>
        </p:spPr>
        <p:txBody>
          <a:bodyPr wrap="square" rtlCol="0">
            <a:spAutoFit/>
          </a:bodyPr>
          <a:lstStyle/>
          <a:p>
            <a:pPr algn="ctr"/>
            <a:r>
              <a:rPr lang="en-US" dirty="0"/>
              <a:t>Semi-gradient Sarsa with order-2 Fourier Features can solve the L-Maze</a:t>
            </a:r>
          </a:p>
        </p:txBody>
      </p:sp>
      <p:pic>
        <p:nvPicPr>
          <p:cNvPr id="5" name="Picture 4" descr="Heat map titled Value Function over the L-maze, learned with order-2 Fourier features, colour scale from −0.9 to 0.9. Values are highest (dark red) in the upper right near the goal and fall off toward a low, pale region around (3, 3) inside the L, with curved contour lines that bend around the wall.">
            <a:extLst>
              <a:ext uri="{FF2B5EF4-FFF2-40B4-BE49-F238E27FC236}">
                <a16:creationId xmlns:a16="http://schemas.microsoft.com/office/drawing/2014/main" id="{4D337F39-86C8-E0E0-ED9A-B7AA898B5D4F}"/>
              </a:ext>
            </a:extLst>
          </p:cNvPr>
          <p:cNvPicPr>
            <a:picLocks noChangeAspect="1"/>
          </p:cNvPicPr>
          <p:nvPr/>
        </p:nvPicPr>
        <p:blipFill>
          <a:blip r:embed="rId2"/>
          <a:stretch>
            <a:fillRect/>
          </a:stretch>
        </p:blipFill>
        <p:spPr>
          <a:xfrm>
            <a:off x="838200" y="1797904"/>
            <a:ext cx="5133975" cy="4143375"/>
          </a:xfrm>
          <a:prstGeom prst="rect">
            <a:avLst/>
          </a:prstGeom>
        </p:spPr>
      </p:pic>
      <p:pic>
        <p:nvPicPr>
          <p:cNvPr id="7" name="Picture 6" descr="Grid titled Found Path for the L-maze with order-2 Fourier features: from S at (3, 2) the path goes down to row 0, right along the bottom row under the wall to column 8, and then straight up column 8 to the goal G at (8, 8). The maze is solved.">
            <a:extLst>
              <a:ext uri="{FF2B5EF4-FFF2-40B4-BE49-F238E27FC236}">
                <a16:creationId xmlns:a16="http://schemas.microsoft.com/office/drawing/2014/main" id="{72621229-6986-1F7F-41FE-03F1D4D641BF}"/>
              </a:ext>
            </a:extLst>
          </p:cNvPr>
          <p:cNvPicPr>
            <a:picLocks noChangeAspect="1"/>
          </p:cNvPicPr>
          <p:nvPr/>
        </p:nvPicPr>
        <p:blipFill>
          <a:blip r:embed="rId3"/>
          <a:stretch>
            <a:fillRect/>
          </a:stretch>
        </p:blipFill>
        <p:spPr>
          <a:xfrm>
            <a:off x="6196462" y="1703266"/>
            <a:ext cx="4791075" cy="4143375"/>
          </a:xfrm>
          <a:prstGeom prst="rect">
            <a:avLst/>
          </a:prstGeom>
        </p:spPr>
      </p:pic>
    </p:spTree>
    <p:extLst>
      <p:ext uri="{BB962C8B-B14F-4D97-AF65-F5344CB8AC3E}">
        <p14:creationId xmlns:p14="http://schemas.microsoft.com/office/powerpoint/2010/main" val="1363274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61EEA-C033-3A7C-6BEF-3B05BF654469}"/>
              </a:ext>
            </a:extLst>
          </p:cNvPr>
          <p:cNvSpPr>
            <a:spLocks noGrp="1"/>
          </p:cNvSpPr>
          <p:nvPr>
            <p:ph type="title"/>
          </p:nvPr>
        </p:nvSpPr>
        <p:spPr/>
        <p:txBody>
          <a:bodyPr/>
          <a:lstStyle/>
          <a:p>
            <a:r>
              <a:rPr lang="en-US" dirty="0"/>
              <a:t>Tile Coding</a:t>
            </a:r>
          </a:p>
        </p:txBody>
      </p:sp>
      <mc:AlternateContent xmlns:mc="http://schemas.openxmlformats.org/markup-compatibility/2006" xmlns:a14="http://schemas.microsoft.com/office/drawing/2010/main">
        <mc:Choice Requires="a14">
          <p:sp>
            <p:nvSpPr>
              <p:cNvPr id="3" name="Content Placeholder 2" descr="Partition the space using several overlapping grids. Represent the state by the “active” tiles in the grids. Similar states will share active tiles. Leads to a local generalization. alpha is typically chosen to be small since a change will also affect neighboring states. Popular: alpha equals the fraction 1, over 10 #tilings, end fraction">
                <a:extLst>
                  <a:ext uri="{FF2B5EF4-FFF2-40B4-BE49-F238E27FC236}">
                    <a16:creationId xmlns:a16="http://schemas.microsoft.com/office/drawing/2014/main" id="{FBFD9809-8770-2E37-A840-29088246A6D3}"/>
                  </a:ext>
                </a:extLst>
              </p:cNvPr>
              <p:cNvSpPr>
                <a:spLocks noGrp="1"/>
              </p:cNvSpPr>
              <p:nvPr>
                <p:ph idx="1"/>
              </p:nvPr>
            </p:nvSpPr>
            <p:spPr>
              <a:xfrm>
                <a:off x="838200" y="1124198"/>
                <a:ext cx="10515600" cy="1571760"/>
              </a:xfrm>
            </p:spPr>
            <p:txBody>
              <a:bodyPr>
                <a:normAutofit fontScale="55000" lnSpcReduction="20000"/>
              </a:bodyPr>
              <a:lstStyle/>
              <a:p>
                <a:r>
                  <a:rPr lang="en-US" dirty="0"/>
                  <a:t>Partition the space using several </a:t>
                </a:r>
                <a:r>
                  <a:rPr lang="en-US" b="1" dirty="0"/>
                  <a:t>overlapping grids</a:t>
                </a:r>
                <a:r>
                  <a:rPr lang="en-US" dirty="0"/>
                  <a:t>.</a:t>
                </a:r>
              </a:p>
              <a:p>
                <a:r>
                  <a:rPr lang="en-US" dirty="0"/>
                  <a:t>Represent the state by the </a:t>
                </a:r>
                <a:r>
                  <a:rPr lang="en-US" b="1" dirty="0"/>
                  <a:t>“active” tiles </a:t>
                </a:r>
                <a:r>
                  <a:rPr lang="en-US" dirty="0"/>
                  <a:t>in the grids as a vector </a:t>
                </a:r>
                <a14:m>
                  <m:oMath xmlns:m="http://schemas.openxmlformats.org/officeDocument/2006/math">
                    <m:r>
                      <a:rPr lang="en-US" b="1" i="1" smtClean="0">
                        <a:latin typeface="Cambria Math" panose="02040503050406030204" pitchFamily="18" charset="0"/>
                      </a:rPr>
                      <m:t>𝒙</m:t>
                    </m:r>
                  </m:oMath>
                </a14:m>
                <a:r>
                  <a:rPr lang="en-US" b="1" dirty="0"/>
                  <a:t> </a:t>
                </a:r>
                <a:r>
                  <a:rPr lang="en-US" dirty="0"/>
                  <a:t>with 1 for all active tiles and 0 for all others.</a:t>
                </a:r>
                <a:endParaRPr lang="en-US" b="1" dirty="0"/>
              </a:p>
              <a:p>
                <a:r>
                  <a:rPr lang="en-US" b="1" dirty="0"/>
                  <a:t>Similar states will share active tiles</a:t>
                </a:r>
                <a:r>
                  <a:rPr lang="en-US" dirty="0"/>
                  <a:t>. Leads to a local generalization.</a:t>
                </a:r>
              </a:p>
              <a:p>
                <a14:m>
                  <m:oMath xmlns:m="http://schemas.openxmlformats.org/officeDocument/2006/math">
                    <m:r>
                      <a:rPr lang="en-US" b="0" i="1" smtClean="0">
                        <a:latin typeface="Cambria Math" panose="02040503050406030204" pitchFamily="18" charset="0"/>
                      </a:rPr>
                      <m:t>𝛼</m:t>
                    </m:r>
                  </m:oMath>
                </a14:m>
                <a:r>
                  <a:rPr lang="en-US" dirty="0"/>
                  <a:t> is typically chosen to be small since a change will also affect neighboring states. </a:t>
                </a:r>
                <a:br>
                  <a:rPr lang="en-US" dirty="0"/>
                </a:br>
                <a:br>
                  <a:rPr lang="en-US" dirty="0"/>
                </a:br>
                <a:r>
                  <a:rPr lang="en-US" dirty="0"/>
                  <a:t>Popular: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10 </m:t>
                        </m:r>
                        <m:r>
                          <m:rPr>
                            <m:nor/>
                          </m:rPr>
                          <a:rPr lang="en-US" b="0" i="0" smtClean="0">
                            <a:latin typeface="Cambria Math" panose="02040503050406030204" pitchFamily="18" charset="0"/>
                          </a:rPr>
                          <m:t>#tilings</m:t>
                        </m:r>
                      </m:den>
                    </m:f>
                  </m:oMath>
                </a14:m>
                <a:endParaRPr lang="en-US" dirty="0"/>
              </a:p>
              <a:p>
                <a:pPr marL="0" indent="0">
                  <a:buNone/>
                </a:pPr>
                <a:endParaRPr lang="en-US" dirty="0"/>
              </a:p>
            </p:txBody>
          </p:sp>
        </mc:Choice>
        <mc:Fallback xmlns="">
          <p:sp>
            <p:nvSpPr>
              <p:cNvPr id="3" name="Content Placeholder 2" descr="Partition the space using several overlapping grids. Represent the state by the “active” tiles in the grids. Similar states will share active tiles. Leads to a local generalization. alpha is typically chosen to be small since a change will also affect neighboring states. Popular: alpha equals the fraction 1, over 10 #tilings, end fraction">
                <a:extLst>
                  <a:ext uri="{FF2B5EF4-FFF2-40B4-BE49-F238E27FC236}">
                    <a16:creationId xmlns:a16="http://schemas.microsoft.com/office/drawing/2014/main" id="{FBFD9809-8770-2E37-A840-29088246A6D3}"/>
                  </a:ext>
                </a:extLst>
              </p:cNvPr>
              <p:cNvSpPr>
                <a:spLocks noGrp="1" noRot="1" noChangeAspect="1" noMove="1" noResize="1" noEditPoints="1" noAdjustHandles="1" noChangeArrowheads="1" noChangeShapeType="1" noTextEdit="1"/>
              </p:cNvSpPr>
              <p:nvPr>
                <p:ph idx="1"/>
              </p:nvPr>
            </p:nvSpPr>
            <p:spPr>
              <a:xfrm>
                <a:off x="838200" y="1124198"/>
                <a:ext cx="10515600" cy="1571760"/>
              </a:xfrm>
              <a:blipFill>
                <a:blip r:embed="rId2"/>
                <a:stretch>
                  <a:fillRect l="-174" t="-3876" b="-1938"/>
                </a:stretch>
              </a:blipFill>
            </p:spPr>
            <p:txBody>
              <a:bodyPr/>
              <a:lstStyle/>
              <a:p>
                <a:r>
                  <a:rPr lang="en-US">
                    <a:noFill/>
                  </a:rPr>
                  <a:t> </a:t>
                </a:r>
              </a:p>
            </p:txBody>
          </p:sp>
        </mc:Fallback>
      </mc:AlternateContent>
      <p:grpSp>
        <p:nvGrpSpPr>
          <p:cNvPr id="11" name="Group 10" descr="Tile coding (Sutton and Barto Figure 9.9). Left: a continuous 2D state space covered by one grid, Tiling 1, with a point in state space to be represented. Right: four overlapping tilings (Tiling 1 blue, Tiling 2 orange, Tiling 3 red, Tiling 4 green), each offset slightly from the others. The point falls into exactly one tile of each tiling, highlighted with a thick outline: these four active tiles, or features, overlap the point and are used to represent it. Labels: Example:. State has two components. 4 4 times 4 overlapping tilings give 64 squares. State features: 60 0s and only the four active tiles have a 1; 0; 1.">
            <a:extLst>
              <a:ext uri="{FF2B5EF4-FFF2-40B4-BE49-F238E27FC236}">
                <a16:creationId xmlns:a16="http://schemas.microsoft.com/office/drawing/2014/main" id="{D437D3AF-9CD5-44B6-815F-6BBB79164F9B}"/>
              </a:ext>
            </a:extLst>
          </p:cNvPr>
          <p:cNvGrpSpPr/>
          <p:nvPr/>
        </p:nvGrpSpPr>
        <p:grpSpPr>
          <a:xfrm>
            <a:off x="838199" y="2913888"/>
            <a:ext cx="10825636" cy="2819914"/>
            <a:chOff x="838199" y="2913888"/>
            <a:chExt cx="10825636" cy="2819914"/>
          </a:xfrm>
        </p:grpSpPr>
        <p:pic>
          <p:nvPicPr>
            <p:cNvPr id="5" name="Picture 4" descr="Tile coding (Sutton and Barto Figure 9.9). Left: a continuous 2D state space covered by one grid, Tiling 1, with a point in state space to be represented. Right: four overlapping tilings (Tiling 1 blue, Tiling 2 orange, Tiling 3 red, Tiling 4 green), each offset slightly from the others. The point falls into exactly one tile of each tiling, highlighted with a thick outline: these four active tiles, or features, overlap the point and are used to represent it.">
              <a:extLst>
                <a:ext uri="{FF2B5EF4-FFF2-40B4-BE49-F238E27FC236}">
                  <a16:creationId xmlns:a16="http://schemas.microsoft.com/office/drawing/2014/main" id="{AD66987A-C1A2-C925-E70B-BB4DA616A482}"/>
                </a:ext>
              </a:extLst>
            </p:cNvPr>
            <p:cNvPicPr>
              <a:picLocks noChangeAspect="1"/>
            </p:cNvPicPr>
            <p:nvPr/>
          </p:nvPicPr>
          <p:blipFill>
            <a:blip r:embed="rId3"/>
            <a:stretch>
              <a:fillRect/>
            </a:stretch>
          </p:blipFill>
          <p:spPr>
            <a:xfrm>
              <a:off x="4299097" y="2913888"/>
              <a:ext cx="7279757" cy="2661807"/>
            </a:xfrm>
            <a:prstGeom prst="rect">
              <a:avLst/>
            </a:prstGeom>
          </p:spPr>
        </p:pic>
        <mc:AlternateContent xmlns:mc="http://schemas.openxmlformats.org/markup-compatibility/2006" xmlns:a14="http://schemas.microsoft.com/office/drawing/2010/main">
          <mc:Choice Requires="a14">
            <p:sp>
              <p:nvSpPr>
                <p:cNvPr id="6" name="TextBox 5" descr="Example:. State has two components. 4 4 times 4 overlapping tilings give 64 squares. State features: 60 0s and only the four active tiles have a 1">
                  <a:extLst>
                    <a:ext uri="{FF2B5EF4-FFF2-40B4-BE49-F238E27FC236}">
                      <a16:creationId xmlns:a16="http://schemas.microsoft.com/office/drawing/2014/main" id="{E82E76E1-445B-0C86-262C-5EA0DD4E509D}"/>
                    </a:ext>
                  </a:extLst>
                </p:cNvPr>
                <p:cNvSpPr txBox="1"/>
                <p:nvPr/>
              </p:nvSpPr>
              <p:spPr>
                <a:xfrm>
                  <a:off x="936550" y="2961327"/>
                  <a:ext cx="3308498" cy="2554545"/>
                </a:xfrm>
                <a:prstGeom prst="rect">
                  <a:avLst/>
                </a:prstGeom>
                <a:noFill/>
              </p:spPr>
              <p:txBody>
                <a:bodyPr wrap="square" rtlCol="0">
                  <a:spAutoFit/>
                </a:bodyPr>
                <a:lstStyle/>
                <a:p>
                  <a:r>
                    <a:rPr lang="en-US" sz="2000" b="1" dirty="0"/>
                    <a:t>Example</a:t>
                  </a:r>
                  <a:r>
                    <a:rPr lang="en-US" sz="2000" dirty="0"/>
                    <a:t>: </a:t>
                  </a:r>
                </a:p>
                <a:p>
                  <a:pPr marL="285750" indent="-285750">
                    <a:buFont typeface="Arial" panose="020B0604020202020204" pitchFamily="34" charset="0"/>
                    <a:buChar char="•"/>
                  </a:pPr>
                  <a:r>
                    <a:rPr lang="en-US" sz="2000" dirty="0"/>
                    <a:t>State has two components.</a:t>
                  </a:r>
                </a:p>
                <a:p>
                  <a:pPr marL="285750" indent="-285750">
                    <a:buFont typeface="Arial" panose="020B0604020202020204" pitchFamily="34" charset="0"/>
                    <a:buChar char="•"/>
                  </a:pPr>
                  <a:r>
                    <a:rPr lang="en-US" sz="2000" dirty="0"/>
                    <a:t>4  </a:t>
                  </a:r>
                  <a14:m>
                    <m:oMath xmlns:m="http://schemas.openxmlformats.org/officeDocument/2006/math">
                      <m:r>
                        <a:rPr lang="en-US" sz="2000" b="0" i="1" smtClean="0">
                          <a:latin typeface="Cambria Math" panose="02040503050406030204" pitchFamily="18" charset="0"/>
                        </a:rPr>
                        <m:t>4×4</m:t>
                      </m:r>
                    </m:oMath>
                  </a14:m>
                  <a:r>
                    <a:rPr lang="en-US" sz="2000" dirty="0"/>
                    <a:t> overlapping </a:t>
                  </a:r>
                  <a:r>
                    <a:rPr lang="en-US" sz="2000" dirty="0" err="1"/>
                    <a:t>tilings</a:t>
                  </a:r>
                  <a:r>
                    <a:rPr lang="en-US" sz="2000" dirty="0"/>
                    <a:t> give 64 squares.</a:t>
                  </a:r>
                </a:p>
                <a:p>
                  <a:pPr marL="285750" indent="-285750">
                    <a:buFont typeface="Arial" panose="020B0604020202020204" pitchFamily="34" charset="0"/>
                    <a:buChar char="•"/>
                  </a:pPr>
                  <a:r>
                    <a:rPr lang="en-US" sz="2000" dirty="0"/>
                    <a:t>State features: 60 0s and only the four active tiles have a 1</a:t>
                  </a:r>
                </a:p>
              </p:txBody>
            </p:sp>
          </mc:Choice>
          <mc:Fallback xmlns="">
            <p:sp>
              <p:nvSpPr>
                <p:cNvPr id="6" name="TextBox 5" descr="Example:. State has two components. 4 4 times 4 overlapping tilings give 64 squares. State features: 60 0s and only the four active tiles have a 1">
                  <a:extLst>
                    <a:ext uri="{FF2B5EF4-FFF2-40B4-BE49-F238E27FC236}">
                      <a16:creationId xmlns:a16="http://schemas.microsoft.com/office/drawing/2014/main" id="{E82E76E1-445B-0C86-262C-5EA0DD4E509D}"/>
                    </a:ext>
                  </a:extLst>
                </p:cNvPr>
                <p:cNvSpPr txBox="1">
                  <a:spLocks noRot="1" noChangeAspect="1" noMove="1" noResize="1" noEditPoints="1" noAdjustHandles="1" noChangeArrowheads="1" noChangeShapeType="1" noTextEdit="1"/>
                </p:cNvSpPr>
                <p:nvPr/>
              </p:nvSpPr>
              <p:spPr>
                <a:xfrm>
                  <a:off x="936550" y="2961327"/>
                  <a:ext cx="3308498" cy="2554545"/>
                </a:xfrm>
                <a:prstGeom prst="rect">
                  <a:avLst/>
                </a:prstGeom>
                <a:blipFill>
                  <a:blip r:embed="rId4"/>
                  <a:stretch>
                    <a:fillRect l="-2030" t="-1432" b="-3341"/>
                  </a:stretch>
                </a:blipFill>
              </p:spPr>
              <p:txBody>
                <a:bodyPr/>
                <a:lstStyle/>
                <a:p>
                  <a:r>
                    <a:rPr lang="en-US">
                      <a:noFill/>
                    </a:rPr>
                    <a:t> </a:t>
                  </a:r>
                </a:p>
              </p:txBody>
            </p:sp>
          </mc:Fallback>
        </mc:AlternateContent>
        <p:grpSp>
          <p:nvGrpSpPr>
            <p:cNvPr id="40" name="Group 39">
              <a:extLst>
                <a:ext uri="{FF2B5EF4-FFF2-40B4-BE49-F238E27FC236}">
                  <a16:creationId xmlns:a16="http://schemas.microsoft.com/office/drawing/2014/main" id="{67A12649-C2C4-ED5F-5094-B6C4AD7830E1}"/>
                </a:ext>
                <a:ext uri="{C183D7F6-B498-43B3-948B-1728B52AA6E4}">
                  <adec:decorative xmlns:adec="http://schemas.microsoft.com/office/drawing/2017/decorative" val="1"/>
                </a:ext>
              </a:extLst>
            </p:cNvPr>
            <p:cNvGrpSpPr/>
            <p:nvPr/>
          </p:nvGrpSpPr>
          <p:grpSpPr>
            <a:xfrm>
              <a:off x="4479851" y="4381584"/>
              <a:ext cx="1253106" cy="603874"/>
              <a:chOff x="4442224" y="5428331"/>
              <a:chExt cx="1253106" cy="603874"/>
            </a:xfrm>
          </p:grpSpPr>
          <p:cxnSp>
            <p:nvCxnSpPr>
              <p:cNvPr id="8" name="Straight Connector 7">
                <a:extLst>
                  <a:ext uri="{FF2B5EF4-FFF2-40B4-BE49-F238E27FC236}">
                    <a16:creationId xmlns:a16="http://schemas.microsoft.com/office/drawing/2014/main" id="{C5E45CF6-7235-3CD1-7DE8-C6E0659A42AE}"/>
                  </a:ext>
                  <a:ext uri="{C183D7F6-B498-43B3-948B-1728B52AA6E4}">
                    <adec:decorative xmlns:adec="http://schemas.microsoft.com/office/drawing/2017/decorative" val="1"/>
                  </a:ext>
                </a:extLst>
              </p:cNvPr>
              <p:cNvCxnSpPr>
                <a:cxnSpLocks/>
              </p:cNvCxnSpPr>
              <p:nvPr/>
            </p:nvCxnSpPr>
            <p:spPr>
              <a:xfrm>
                <a:off x="5695330" y="5428331"/>
                <a:ext cx="0" cy="603874"/>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Straight Connector 6">
                <a:extLst>
                  <a:ext uri="{FF2B5EF4-FFF2-40B4-BE49-F238E27FC236}">
                    <a16:creationId xmlns:a16="http://schemas.microsoft.com/office/drawing/2014/main" id="{D1ADE3D4-6EA3-99E2-AB67-C986C31EB857}"/>
                  </a:ext>
                  <a:ext uri="{C183D7F6-B498-43B3-948B-1728B52AA6E4}">
                    <adec:decorative xmlns:adec="http://schemas.microsoft.com/office/drawing/2017/decorative" val="1"/>
                  </a:ext>
                </a:extLst>
              </p:cNvPr>
              <p:cNvCxnSpPr>
                <a:cxnSpLocks/>
              </p:cNvCxnSpPr>
              <p:nvPr/>
            </p:nvCxnSpPr>
            <p:spPr>
              <a:xfrm flipH="1">
                <a:off x="4442224" y="5428331"/>
                <a:ext cx="1253106"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39" name="Group 38" descr="Feature vector of one 4 by 4 tiling: 16 tiles, all 0 except the single active tile, which is 1.">
              <a:extLst>
                <a:ext uri="{FF2B5EF4-FFF2-40B4-BE49-F238E27FC236}">
                  <a16:creationId xmlns:a16="http://schemas.microsoft.com/office/drawing/2014/main" id="{C7F69C6B-93B1-2F6A-CDA0-FB2EBF5957B9}"/>
                </a:ext>
              </a:extLst>
            </p:cNvPr>
            <p:cNvGrpSpPr/>
            <p:nvPr/>
          </p:nvGrpSpPr>
          <p:grpSpPr>
            <a:xfrm>
              <a:off x="4382621" y="3166197"/>
              <a:ext cx="1548574" cy="1601735"/>
              <a:chOff x="4382621" y="3244007"/>
              <a:chExt cx="1548574" cy="1601735"/>
            </a:xfrm>
          </p:grpSpPr>
          <p:grpSp>
            <p:nvGrpSpPr>
              <p:cNvPr id="22" name="Group 21" descr="Row of four tile features: 0, 0, 0, 0.">
                <a:extLst>
                  <a:ext uri="{FF2B5EF4-FFF2-40B4-BE49-F238E27FC236}">
                    <a16:creationId xmlns:a16="http://schemas.microsoft.com/office/drawing/2014/main" id="{7752AD79-CCF2-693C-5120-EF04065CEDF9}"/>
                  </a:ext>
                </a:extLst>
              </p:cNvPr>
              <p:cNvGrpSpPr/>
              <p:nvPr/>
            </p:nvGrpSpPr>
            <p:grpSpPr>
              <a:xfrm>
                <a:off x="4414283" y="3685809"/>
                <a:ext cx="1516912" cy="268969"/>
                <a:chOff x="4414283" y="3685809"/>
                <a:chExt cx="1516912" cy="268969"/>
              </a:xfrm>
            </p:grpSpPr>
            <p:sp>
              <p:nvSpPr>
                <p:cNvPr id="17" name="TextBox 16">
                  <a:extLst>
                    <a:ext uri="{FF2B5EF4-FFF2-40B4-BE49-F238E27FC236}">
                      <a16:creationId xmlns:a16="http://schemas.microsoft.com/office/drawing/2014/main" id="{DD30F41D-0B59-96B0-2086-05FD5E0665BF}"/>
                    </a:ext>
                  </a:extLst>
                </p:cNvPr>
                <p:cNvSpPr txBox="1"/>
                <p:nvPr/>
              </p:nvSpPr>
              <p:spPr>
                <a:xfrm>
                  <a:off x="4414283" y="3693168"/>
                  <a:ext cx="145312" cy="261610"/>
                </a:xfrm>
                <a:prstGeom prst="rect">
                  <a:avLst/>
                </a:prstGeom>
                <a:noFill/>
              </p:spPr>
              <p:txBody>
                <a:bodyPr wrap="square" rtlCol="0">
                  <a:spAutoFit/>
                </a:bodyPr>
                <a:lstStyle/>
                <a:p>
                  <a:r>
                    <a:rPr lang="en-US" sz="1100" dirty="0">
                      <a:solidFill>
                        <a:schemeClr val="accent2"/>
                      </a:solidFill>
                    </a:rPr>
                    <a:t>0</a:t>
                  </a:r>
                </a:p>
              </p:txBody>
            </p:sp>
            <p:sp>
              <p:nvSpPr>
                <p:cNvPr id="18" name="TextBox 17">
                  <a:extLst>
                    <a:ext uri="{FF2B5EF4-FFF2-40B4-BE49-F238E27FC236}">
                      <a16:creationId xmlns:a16="http://schemas.microsoft.com/office/drawing/2014/main" id="{71FBB2C6-5931-2FAD-F938-FE1642874B61}"/>
                    </a:ext>
                  </a:extLst>
                </p:cNvPr>
                <p:cNvSpPr txBox="1"/>
                <p:nvPr/>
              </p:nvSpPr>
              <p:spPr>
                <a:xfrm>
                  <a:off x="4876799" y="3693168"/>
                  <a:ext cx="145312" cy="261610"/>
                </a:xfrm>
                <a:prstGeom prst="rect">
                  <a:avLst/>
                </a:prstGeom>
                <a:noFill/>
              </p:spPr>
              <p:txBody>
                <a:bodyPr wrap="square" rtlCol="0">
                  <a:spAutoFit/>
                </a:bodyPr>
                <a:lstStyle/>
                <a:p>
                  <a:r>
                    <a:rPr lang="en-US" sz="1100" dirty="0">
                      <a:solidFill>
                        <a:schemeClr val="accent2"/>
                      </a:solidFill>
                    </a:rPr>
                    <a:t>0</a:t>
                  </a:r>
                </a:p>
              </p:txBody>
            </p:sp>
            <p:sp>
              <p:nvSpPr>
                <p:cNvPr id="19" name="TextBox 18">
                  <a:extLst>
                    <a:ext uri="{FF2B5EF4-FFF2-40B4-BE49-F238E27FC236}">
                      <a16:creationId xmlns:a16="http://schemas.microsoft.com/office/drawing/2014/main" id="{3AB7C7A7-F7C6-8ABF-E4F6-630D483A8138}"/>
                    </a:ext>
                  </a:extLst>
                </p:cNvPr>
                <p:cNvSpPr txBox="1"/>
                <p:nvPr/>
              </p:nvSpPr>
              <p:spPr>
                <a:xfrm>
                  <a:off x="5310962" y="3685809"/>
                  <a:ext cx="145312" cy="261610"/>
                </a:xfrm>
                <a:prstGeom prst="rect">
                  <a:avLst/>
                </a:prstGeom>
                <a:noFill/>
              </p:spPr>
              <p:txBody>
                <a:bodyPr wrap="square" rtlCol="0">
                  <a:spAutoFit/>
                </a:bodyPr>
                <a:lstStyle/>
                <a:p>
                  <a:r>
                    <a:rPr lang="en-US" sz="1100" dirty="0">
                      <a:solidFill>
                        <a:schemeClr val="accent2"/>
                      </a:solidFill>
                    </a:rPr>
                    <a:t>0</a:t>
                  </a:r>
                </a:p>
              </p:txBody>
            </p:sp>
            <p:sp>
              <p:nvSpPr>
                <p:cNvPr id="20" name="TextBox 19">
                  <a:extLst>
                    <a:ext uri="{FF2B5EF4-FFF2-40B4-BE49-F238E27FC236}">
                      <a16:creationId xmlns:a16="http://schemas.microsoft.com/office/drawing/2014/main" id="{5E3262AC-24A6-C62A-08C6-BBEBA5DFDB2C}"/>
                    </a:ext>
                  </a:extLst>
                </p:cNvPr>
                <p:cNvSpPr txBox="1"/>
                <p:nvPr/>
              </p:nvSpPr>
              <p:spPr>
                <a:xfrm>
                  <a:off x="5785883" y="3693168"/>
                  <a:ext cx="145312" cy="261610"/>
                </a:xfrm>
                <a:prstGeom prst="rect">
                  <a:avLst/>
                </a:prstGeom>
                <a:noFill/>
              </p:spPr>
              <p:txBody>
                <a:bodyPr wrap="square" rtlCol="0">
                  <a:spAutoFit/>
                </a:bodyPr>
                <a:lstStyle/>
                <a:p>
                  <a:r>
                    <a:rPr lang="en-US" sz="1100" dirty="0">
                      <a:solidFill>
                        <a:schemeClr val="accent2"/>
                      </a:solidFill>
                    </a:rPr>
                    <a:t>0</a:t>
                  </a:r>
                </a:p>
              </p:txBody>
            </p:sp>
          </p:grpSp>
          <p:grpSp>
            <p:nvGrpSpPr>
              <p:cNvPr id="23" name="Group 22" descr="Row of four tile features: 0, 0, 1, 0.">
                <a:extLst>
                  <a:ext uri="{FF2B5EF4-FFF2-40B4-BE49-F238E27FC236}">
                    <a16:creationId xmlns:a16="http://schemas.microsoft.com/office/drawing/2014/main" id="{9B927CF8-AF38-CDF8-A9EF-EDEFC6BDA07E}"/>
                  </a:ext>
                </a:extLst>
              </p:cNvPr>
              <p:cNvGrpSpPr/>
              <p:nvPr/>
            </p:nvGrpSpPr>
            <p:grpSpPr>
              <a:xfrm>
                <a:off x="4414283" y="4105864"/>
                <a:ext cx="1516912" cy="268969"/>
                <a:chOff x="4414283" y="3685809"/>
                <a:chExt cx="1516912" cy="268969"/>
              </a:xfrm>
            </p:grpSpPr>
            <p:sp>
              <p:nvSpPr>
                <p:cNvPr id="24" name="TextBox 23">
                  <a:extLst>
                    <a:ext uri="{FF2B5EF4-FFF2-40B4-BE49-F238E27FC236}">
                      <a16:creationId xmlns:a16="http://schemas.microsoft.com/office/drawing/2014/main" id="{F6EEFEFE-7A14-E54F-9D20-88E0B74EA4AB}"/>
                    </a:ext>
                  </a:extLst>
                </p:cNvPr>
                <p:cNvSpPr txBox="1"/>
                <p:nvPr/>
              </p:nvSpPr>
              <p:spPr>
                <a:xfrm>
                  <a:off x="4414283" y="3693168"/>
                  <a:ext cx="145312" cy="261610"/>
                </a:xfrm>
                <a:prstGeom prst="rect">
                  <a:avLst/>
                </a:prstGeom>
                <a:noFill/>
              </p:spPr>
              <p:txBody>
                <a:bodyPr wrap="square" rtlCol="0">
                  <a:spAutoFit/>
                </a:bodyPr>
                <a:lstStyle/>
                <a:p>
                  <a:r>
                    <a:rPr lang="en-US" sz="1100" dirty="0">
                      <a:solidFill>
                        <a:schemeClr val="accent2"/>
                      </a:solidFill>
                    </a:rPr>
                    <a:t>0</a:t>
                  </a:r>
                </a:p>
              </p:txBody>
            </p:sp>
            <p:sp>
              <p:nvSpPr>
                <p:cNvPr id="25" name="TextBox 24">
                  <a:extLst>
                    <a:ext uri="{FF2B5EF4-FFF2-40B4-BE49-F238E27FC236}">
                      <a16:creationId xmlns:a16="http://schemas.microsoft.com/office/drawing/2014/main" id="{CAB2F481-5134-3AD1-8D30-78CA8E73AB46}"/>
                    </a:ext>
                  </a:extLst>
                </p:cNvPr>
                <p:cNvSpPr txBox="1"/>
                <p:nvPr/>
              </p:nvSpPr>
              <p:spPr>
                <a:xfrm>
                  <a:off x="4876799" y="3693168"/>
                  <a:ext cx="145312" cy="261610"/>
                </a:xfrm>
                <a:prstGeom prst="rect">
                  <a:avLst/>
                </a:prstGeom>
                <a:noFill/>
              </p:spPr>
              <p:txBody>
                <a:bodyPr wrap="square" rtlCol="0">
                  <a:spAutoFit/>
                </a:bodyPr>
                <a:lstStyle/>
                <a:p>
                  <a:r>
                    <a:rPr lang="en-US" sz="1100" dirty="0">
                      <a:solidFill>
                        <a:schemeClr val="accent2"/>
                      </a:solidFill>
                    </a:rPr>
                    <a:t>0</a:t>
                  </a:r>
                </a:p>
              </p:txBody>
            </p:sp>
            <p:sp>
              <p:nvSpPr>
                <p:cNvPr id="26" name="TextBox 25">
                  <a:extLst>
                    <a:ext uri="{FF2B5EF4-FFF2-40B4-BE49-F238E27FC236}">
                      <a16:creationId xmlns:a16="http://schemas.microsoft.com/office/drawing/2014/main" id="{C989634F-DCFC-FCEC-62BF-CEB7B663196E}"/>
                    </a:ext>
                  </a:extLst>
                </p:cNvPr>
                <p:cNvSpPr txBox="1"/>
                <p:nvPr/>
              </p:nvSpPr>
              <p:spPr>
                <a:xfrm>
                  <a:off x="5310962" y="3685809"/>
                  <a:ext cx="145312" cy="261610"/>
                </a:xfrm>
                <a:prstGeom prst="rect">
                  <a:avLst/>
                </a:prstGeom>
                <a:noFill/>
              </p:spPr>
              <p:txBody>
                <a:bodyPr wrap="square" rtlCol="0">
                  <a:spAutoFit/>
                </a:bodyPr>
                <a:lstStyle/>
                <a:p>
                  <a:r>
                    <a:rPr lang="en-US" sz="1100" b="1" dirty="0">
                      <a:solidFill>
                        <a:schemeClr val="accent2"/>
                      </a:solidFill>
                    </a:rPr>
                    <a:t>1</a:t>
                  </a:r>
                </a:p>
              </p:txBody>
            </p:sp>
            <p:sp>
              <p:nvSpPr>
                <p:cNvPr id="27" name="TextBox 26">
                  <a:extLst>
                    <a:ext uri="{FF2B5EF4-FFF2-40B4-BE49-F238E27FC236}">
                      <a16:creationId xmlns:a16="http://schemas.microsoft.com/office/drawing/2014/main" id="{35237276-F6DD-3DB4-120C-72057CEE1C74}"/>
                    </a:ext>
                  </a:extLst>
                </p:cNvPr>
                <p:cNvSpPr txBox="1"/>
                <p:nvPr/>
              </p:nvSpPr>
              <p:spPr>
                <a:xfrm>
                  <a:off x="5785883" y="3693168"/>
                  <a:ext cx="145312" cy="261610"/>
                </a:xfrm>
                <a:prstGeom prst="rect">
                  <a:avLst/>
                </a:prstGeom>
                <a:noFill/>
              </p:spPr>
              <p:txBody>
                <a:bodyPr wrap="square" rtlCol="0">
                  <a:spAutoFit/>
                </a:bodyPr>
                <a:lstStyle/>
                <a:p>
                  <a:r>
                    <a:rPr lang="en-US" sz="1100" dirty="0">
                      <a:solidFill>
                        <a:schemeClr val="accent2"/>
                      </a:solidFill>
                    </a:rPr>
                    <a:t>0</a:t>
                  </a:r>
                </a:p>
              </p:txBody>
            </p:sp>
          </p:grpSp>
          <p:grpSp>
            <p:nvGrpSpPr>
              <p:cNvPr id="28" name="Group 27" descr="Row of four tile features: 0, 0, 0, 0.">
                <a:extLst>
                  <a:ext uri="{FF2B5EF4-FFF2-40B4-BE49-F238E27FC236}">
                    <a16:creationId xmlns:a16="http://schemas.microsoft.com/office/drawing/2014/main" id="{EE4B4C3A-C9DE-6BCC-E353-0E9585FE87C7}"/>
                  </a:ext>
                </a:extLst>
              </p:cNvPr>
              <p:cNvGrpSpPr/>
              <p:nvPr/>
            </p:nvGrpSpPr>
            <p:grpSpPr>
              <a:xfrm>
                <a:off x="4382621" y="4576773"/>
                <a:ext cx="1516912" cy="268969"/>
                <a:chOff x="4414283" y="3685809"/>
                <a:chExt cx="1516912" cy="268969"/>
              </a:xfrm>
            </p:grpSpPr>
            <p:sp>
              <p:nvSpPr>
                <p:cNvPr id="29" name="TextBox 28">
                  <a:extLst>
                    <a:ext uri="{FF2B5EF4-FFF2-40B4-BE49-F238E27FC236}">
                      <a16:creationId xmlns:a16="http://schemas.microsoft.com/office/drawing/2014/main" id="{91547886-135D-9E0C-681F-41CA25C716EA}"/>
                    </a:ext>
                  </a:extLst>
                </p:cNvPr>
                <p:cNvSpPr txBox="1"/>
                <p:nvPr/>
              </p:nvSpPr>
              <p:spPr>
                <a:xfrm>
                  <a:off x="4414283" y="3693168"/>
                  <a:ext cx="145312" cy="261610"/>
                </a:xfrm>
                <a:prstGeom prst="rect">
                  <a:avLst/>
                </a:prstGeom>
                <a:noFill/>
              </p:spPr>
              <p:txBody>
                <a:bodyPr wrap="square" rtlCol="0">
                  <a:spAutoFit/>
                </a:bodyPr>
                <a:lstStyle/>
                <a:p>
                  <a:r>
                    <a:rPr lang="en-US" sz="1100" dirty="0">
                      <a:solidFill>
                        <a:schemeClr val="accent2"/>
                      </a:solidFill>
                    </a:rPr>
                    <a:t>0</a:t>
                  </a:r>
                </a:p>
              </p:txBody>
            </p:sp>
            <p:sp>
              <p:nvSpPr>
                <p:cNvPr id="30" name="TextBox 29">
                  <a:extLst>
                    <a:ext uri="{FF2B5EF4-FFF2-40B4-BE49-F238E27FC236}">
                      <a16:creationId xmlns:a16="http://schemas.microsoft.com/office/drawing/2014/main" id="{7E32D794-516D-E3FB-3973-FB912E8CE644}"/>
                    </a:ext>
                  </a:extLst>
                </p:cNvPr>
                <p:cNvSpPr txBox="1"/>
                <p:nvPr/>
              </p:nvSpPr>
              <p:spPr>
                <a:xfrm>
                  <a:off x="4876799" y="3693168"/>
                  <a:ext cx="145312" cy="261610"/>
                </a:xfrm>
                <a:prstGeom prst="rect">
                  <a:avLst/>
                </a:prstGeom>
                <a:noFill/>
              </p:spPr>
              <p:txBody>
                <a:bodyPr wrap="square" rtlCol="0">
                  <a:spAutoFit/>
                </a:bodyPr>
                <a:lstStyle/>
                <a:p>
                  <a:r>
                    <a:rPr lang="en-US" sz="1100" dirty="0">
                      <a:solidFill>
                        <a:schemeClr val="accent2"/>
                      </a:solidFill>
                    </a:rPr>
                    <a:t>0</a:t>
                  </a:r>
                </a:p>
              </p:txBody>
            </p:sp>
            <p:sp>
              <p:nvSpPr>
                <p:cNvPr id="31" name="TextBox 30">
                  <a:extLst>
                    <a:ext uri="{FF2B5EF4-FFF2-40B4-BE49-F238E27FC236}">
                      <a16:creationId xmlns:a16="http://schemas.microsoft.com/office/drawing/2014/main" id="{0EA4B7BB-CAEA-8B05-10B1-251225217D35}"/>
                    </a:ext>
                  </a:extLst>
                </p:cNvPr>
                <p:cNvSpPr txBox="1"/>
                <p:nvPr/>
              </p:nvSpPr>
              <p:spPr>
                <a:xfrm>
                  <a:off x="5310962" y="3685809"/>
                  <a:ext cx="145312" cy="261610"/>
                </a:xfrm>
                <a:prstGeom prst="rect">
                  <a:avLst/>
                </a:prstGeom>
                <a:noFill/>
              </p:spPr>
              <p:txBody>
                <a:bodyPr wrap="square" rtlCol="0">
                  <a:spAutoFit/>
                </a:bodyPr>
                <a:lstStyle/>
                <a:p>
                  <a:r>
                    <a:rPr lang="en-US" sz="1100" dirty="0">
                      <a:solidFill>
                        <a:schemeClr val="accent2"/>
                      </a:solidFill>
                    </a:rPr>
                    <a:t>0</a:t>
                  </a:r>
                </a:p>
              </p:txBody>
            </p:sp>
            <p:sp>
              <p:nvSpPr>
                <p:cNvPr id="32" name="TextBox 31">
                  <a:extLst>
                    <a:ext uri="{FF2B5EF4-FFF2-40B4-BE49-F238E27FC236}">
                      <a16:creationId xmlns:a16="http://schemas.microsoft.com/office/drawing/2014/main" id="{A1E2758A-527A-2EDE-0548-EDE57550686E}"/>
                    </a:ext>
                  </a:extLst>
                </p:cNvPr>
                <p:cNvSpPr txBox="1"/>
                <p:nvPr/>
              </p:nvSpPr>
              <p:spPr>
                <a:xfrm>
                  <a:off x="5785883" y="3693168"/>
                  <a:ext cx="145312" cy="261610"/>
                </a:xfrm>
                <a:prstGeom prst="rect">
                  <a:avLst/>
                </a:prstGeom>
                <a:noFill/>
              </p:spPr>
              <p:txBody>
                <a:bodyPr wrap="square" rtlCol="0">
                  <a:spAutoFit/>
                </a:bodyPr>
                <a:lstStyle/>
                <a:p>
                  <a:r>
                    <a:rPr lang="en-US" sz="1100" dirty="0">
                      <a:solidFill>
                        <a:schemeClr val="accent2"/>
                      </a:solidFill>
                    </a:rPr>
                    <a:t>0</a:t>
                  </a:r>
                </a:p>
              </p:txBody>
            </p:sp>
          </p:grpSp>
          <p:grpSp>
            <p:nvGrpSpPr>
              <p:cNvPr id="33" name="Group 32" descr="Row of four tile features: 0, 0, 0, 0.">
                <a:extLst>
                  <a:ext uri="{FF2B5EF4-FFF2-40B4-BE49-F238E27FC236}">
                    <a16:creationId xmlns:a16="http://schemas.microsoft.com/office/drawing/2014/main" id="{959E18F5-BC4F-0096-E7F1-99D143FB7D6F}"/>
                  </a:ext>
                </a:extLst>
              </p:cNvPr>
              <p:cNvGrpSpPr/>
              <p:nvPr/>
            </p:nvGrpSpPr>
            <p:grpSpPr>
              <a:xfrm>
                <a:off x="4403650" y="3244007"/>
                <a:ext cx="1516912" cy="268969"/>
                <a:chOff x="4414283" y="3685809"/>
                <a:chExt cx="1516912" cy="268969"/>
              </a:xfrm>
            </p:grpSpPr>
            <p:sp>
              <p:nvSpPr>
                <p:cNvPr id="34" name="TextBox 33">
                  <a:extLst>
                    <a:ext uri="{FF2B5EF4-FFF2-40B4-BE49-F238E27FC236}">
                      <a16:creationId xmlns:a16="http://schemas.microsoft.com/office/drawing/2014/main" id="{F9A9344C-3766-8050-5CDA-60FBC60ADFB5}"/>
                    </a:ext>
                  </a:extLst>
                </p:cNvPr>
                <p:cNvSpPr txBox="1"/>
                <p:nvPr/>
              </p:nvSpPr>
              <p:spPr>
                <a:xfrm>
                  <a:off x="4414283" y="3693168"/>
                  <a:ext cx="145312" cy="261610"/>
                </a:xfrm>
                <a:prstGeom prst="rect">
                  <a:avLst/>
                </a:prstGeom>
                <a:noFill/>
              </p:spPr>
              <p:txBody>
                <a:bodyPr wrap="square" rtlCol="0">
                  <a:spAutoFit/>
                </a:bodyPr>
                <a:lstStyle/>
                <a:p>
                  <a:r>
                    <a:rPr lang="en-US" sz="1100" dirty="0">
                      <a:solidFill>
                        <a:schemeClr val="accent2"/>
                      </a:solidFill>
                    </a:rPr>
                    <a:t>0</a:t>
                  </a:r>
                </a:p>
              </p:txBody>
            </p:sp>
            <p:sp>
              <p:nvSpPr>
                <p:cNvPr id="35" name="TextBox 34">
                  <a:extLst>
                    <a:ext uri="{FF2B5EF4-FFF2-40B4-BE49-F238E27FC236}">
                      <a16:creationId xmlns:a16="http://schemas.microsoft.com/office/drawing/2014/main" id="{6E9A0132-2099-5363-2A6D-48396ADEE3E1}"/>
                    </a:ext>
                  </a:extLst>
                </p:cNvPr>
                <p:cNvSpPr txBox="1"/>
                <p:nvPr/>
              </p:nvSpPr>
              <p:spPr>
                <a:xfrm>
                  <a:off x="4876799" y="3693168"/>
                  <a:ext cx="145312" cy="261610"/>
                </a:xfrm>
                <a:prstGeom prst="rect">
                  <a:avLst/>
                </a:prstGeom>
                <a:noFill/>
              </p:spPr>
              <p:txBody>
                <a:bodyPr wrap="square" rtlCol="0">
                  <a:spAutoFit/>
                </a:bodyPr>
                <a:lstStyle/>
                <a:p>
                  <a:r>
                    <a:rPr lang="en-US" sz="1100" dirty="0">
                      <a:solidFill>
                        <a:schemeClr val="accent2"/>
                      </a:solidFill>
                    </a:rPr>
                    <a:t>0</a:t>
                  </a:r>
                </a:p>
              </p:txBody>
            </p:sp>
            <p:sp>
              <p:nvSpPr>
                <p:cNvPr id="36" name="TextBox 35">
                  <a:extLst>
                    <a:ext uri="{FF2B5EF4-FFF2-40B4-BE49-F238E27FC236}">
                      <a16:creationId xmlns:a16="http://schemas.microsoft.com/office/drawing/2014/main" id="{3E926400-ADCA-23FE-2D72-7019F2656D5E}"/>
                    </a:ext>
                  </a:extLst>
                </p:cNvPr>
                <p:cNvSpPr txBox="1"/>
                <p:nvPr/>
              </p:nvSpPr>
              <p:spPr>
                <a:xfrm>
                  <a:off x="5310962" y="3685809"/>
                  <a:ext cx="145312" cy="261610"/>
                </a:xfrm>
                <a:prstGeom prst="rect">
                  <a:avLst/>
                </a:prstGeom>
                <a:noFill/>
              </p:spPr>
              <p:txBody>
                <a:bodyPr wrap="square" rtlCol="0">
                  <a:spAutoFit/>
                </a:bodyPr>
                <a:lstStyle/>
                <a:p>
                  <a:r>
                    <a:rPr lang="en-US" sz="1100" dirty="0">
                      <a:solidFill>
                        <a:schemeClr val="accent2"/>
                      </a:solidFill>
                    </a:rPr>
                    <a:t>0</a:t>
                  </a:r>
                </a:p>
              </p:txBody>
            </p:sp>
            <p:sp>
              <p:nvSpPr>
                <p:cNvPr id="37" name="TextBox 36">
                  <a:extLst>
                    <a:ext uri="{FF2B5EF4-FFF2-40B4-BE49-F238E27FC236}">
                      <a16:creationId xmlns:a16="http://schemas.microsoft.com/office/drawing/2014/main" id="{9720D94C-9BA9-9DCC-2303-4A63E6F842FB}"/>
                    </a:ext>
                  </a:extLst>
                </p:cNvPr>
                <p:cNvSpPr txBox="1"/>
                <p:nvPr/>
              </p:nvSpPr>
              <p:spPr>
                <a:xfrm>
                  <a:off x="5785883" y="3693168"/>
                  <a:ext cx="145312" cy="261610"/>
                </a:xfrm>
                <a:prstGeom prst="rect">
                  <a:avLst/>
                </a:prstGeom>
                <a:noFill/>
              </p:spPr>
              <p:txBody>
                <a:bodyPr wrap="square" rtlCol="0">
                  <a:spAutoFit/>
                </a:bodyPr>
                <a:lstStyle/>
                <a:p>
                  <a:r>
                    <a:rPr lang="en-US" sz="1100" dirty="0">
                      <a:solidFill>
                        <a:schemeClr val="accent2"/>
                      </a:solidFill>
                    </a:rPr>
                    <a:t>0</a:t>
                  </a:r>
                </a:p>
              </p:txBody>
            </p:sp>
          </p:grpSp>
        </p:grpSp>
        <p:sp>
          <p:nvSpPr>
            <p:cNvPr id="10" name="Rectangle 9">
              <a:extLst>
                <a:ext uri="{FF2B5EF4-FFF2-40B4-BE49-F238E27FC236}">
                  <a16:creationId xmlns:a16="http://schemas.microsoft.com/office/drawing/2014/main" id="{F4907E4A-8165-469A-2D7D-2A9F070FAF6B}"/>
                </a:ext>
                <a:ext uri="{C183D7F6-B498-43B3-948B-1728B52AA6E4}">
                  <adec:decorative xmlns:adec="http://schemas.microsoft.com/office/drawing/2017/decorative" val="1"/>
                </a:ext>
              </a:extLst>
            </p:cNvPr>
            <p:cNvSpPr/>
            <p:nvPr/>
          </p:nvSpPr>
          <p:spPr>
            <a:xfrm>
              <a:off x="838199" y="2913888"/>
              <a:ext cx="10825636" cy="2819914"/>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
        <p:nvSpPr>
          <p:cNvPr id="9" name="TextBox 8">
            <a:extLst>
              <a:ext uri="{FF2B5EF4-FFF2-40B4-BE49-F238E27FC236}">
                <a16:creationId xmlns:a16="http://schemas.microsoft.com/office/drawing/2014/main" id="{6C16D6BC-D653-3084-48E6-D30B7A3E47B8}"/>
              </a:ext>
            </a:extLst>
          </p:cNvPr>
          <p:cNvSpPr txBox="1"/>
          <p:nvPr/>
        </p:nvSpPr>
        <p:spPr>
          <a:xfrm>
            <a:off x="838199" y="5907977"/>
            <a:ext cx="10651131" cy="646331"/>
          </a:xfrm>
          <a:prstGeom prst="rect">
            <a:avLst/>
          </a:prstGeom>
          <a:noFill/>
        </p:spPr>
        <p:txBody>
          <a:bodyPr wrap="square">
            <a:spAutoFit/>
          </a:bodyPr>
          <a:lstStyle/>
          <a:p>
            <a:pPr marL="285750" indent="-285750">
              <a:buFont typeface="Arial" panose="020B0604020202020204" pitchFamily="34" charset="0"/>
              <a:buChar char="•"/>
            </a:pPr>
            <a:r>
              <a:rPr lang="en-US" b="1" dirty="0"/>
              <a:t>Issue</a:t>
            </a:r>
            <a:r>
              <a:rPr lang="en-US" dirty="0"/>
              <a:t>: High-dimensional state spaces lead to too long sparse feature vectors. Idea: Use index hash tables with limited capacity to focus on more frequently encountered states. </a:t>
            </a:r>
          </a:p>
        </p:txBody>
      </p:sp>
    </p:spTree>
    <p:extLst>
      <p:ext uri="{BB962C8B-B14F-4D97-AF65-F5344CB8AC3E}">
        <p14:creationId xmlns:p14="http://schemas.microsoft.com/office/powerpoint/2010/main" val="1160170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14A2D-1578-7476-D7A6-187BF2D3D1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6B23E-3A9D-87D2-B4D6-4F55B2044A65}"/>
              </a:ext>
            </a:extLst>
          </p:cNvPr>
          <p:cNvSpPr>
            <a:spLocks noGrp="1"/>
          </p:cNvSpPr>
          <p:nvPr>
            <p:ph type="title"/>
          </p:nvPr>
        </p:nvSpPr>
        <p:spPr/>
        <p:txBody>
          <a:bodyPr>
            <a:normAutofit/>
          </a:bodyPr>
          <a:lstStyle/>
          <a:p>
            <a:r>
              <a:rPr lang="en-US" dirty="0"/>
              <a:t>Example: L-Maze with Tile Coding</a:t>
            </a:r>
          </a:p>
        </p:txBody>
      </p:sp>
      <p:sp>
        <p:nvSpPr>
          <p:cNvPr id="10" name="TextBox 9">
            <a:extLst>
              <a:ext uri="{FF2B5EF4-FFF2-40B4-BE49-F238E27FC236}">
                <a16:creationId xmlns:a16="http://schemas.microsoft.com/office/drawing/2014/main" id="{4A558498-9506-9F88-1789-8BB02A9A5A63}"/>
              </a:ext>
            </a:extLst>
          </p:cNvPr>
          <p:cNvSpPr txBox="1"/>
          <p:nvPr/>
        </p:nvSpPr>
        <p:spPr>
          <a:xfrm>
            <a:off x="962025" y="1229066"/>
            <a:ext cx="10016456" cy="369332"/>
          </a:xfrm>
          <a:prstGeom prst="rect">
            <a:avLst/>
          </a:prstGeom>
          <a:noFill/>
        </p:spPr>
        <p:txBody>
          <a:bodyPr wrap="square" rtlCol="0">
            <a:spAutoFit/>
          </a:bodyPr>
          <a:lstStyle/>
          <a:p>
            <a:pPr algn="ctr"/>
            <a:r>
              <a:rPr lang="en-US" dirty="0"/>
              <a:t>Semi-gradient Sarsa with Tile Coding (4 </a:t>
            </a:r>
            <a:r>
              <a:rPr lang="en-US" dirty="0" err="1"/>
              <a:t>tilings</a:t>
            </a:r>
            <a:r>
              <a:rPr lang="en-US" dirty="0"/>
              <a:t>, 4 tiles per dimension) can solve the L-Maze</a:t>
            </a:r>
          </a:p>
        </p:txBody>
      </p:sp>
      <p:pic>
        <p:nvPicPr>
          <p:cNvPr id="4" name="Picture 3" descr="Heat map titled Value Function over the L-maze, learned with tile coding (4 tilings, 4 tiles per dimension), colour scale from −0.9 to 0.9. Values are near zero over the left part of the maze and rise in blocky, tile-shaped steps toward a dark red peak around (7, 8) next to the goal.">
            <a:extLst>
              <a:ext uri="{FF2B5EF4-FFF2-40B4-BE49-F238E27FC236}">
                <a16:creationId xmlns:a16="http://schemas.microsoft.com/office/drawing/2014/main" id="{FE08F3D6-8964-CAE2-4ADA-BAAE74BB05BD}"/>
              </a:ext>
            </a:extLst>
          </p:cNvPr>
          <p:cNvPicPr>
            <a:picLocks noChangeAspect="1"/>
          </p:cNvPicPr>
          <p:nvPr/>
        </p:nvPicPr>
        <p:blipFill>
          <a:blip r:embed="rId2"/>
          <a:stretch>
            <a:fillRect/>
          </a:stretch>
        </p:blipFill>
        <p:spPr>
          <a:xfrm>
            <a:off x="962025" y="1703266"/>
            <a:ext cx="5133975" cy="4143375"/>
          </a:xfrm>
          <a:prstGeom prst="rect">
            <a:avLst/>
          </a:prstGeom>
        </p:spPr>
      </p:pic>
      <p:pic>
        <p:nvPicPr>
          <p:cNvPr id="8" name="Picture 7" descr="Grid titled Found Path for the L-maze with tile coding: from S at (3, 2) the path goes down to row 0, right along the bottom to column 7, up column 7, then over to column 8 and up to the goal G at (8, 8). The maze is solved.">
            <a:extLst>
              <a:ext uri="{FF2B5EF4-FFF2-40B4-BE49-F238E27FC236}">
                <a16:creationId xmlns:a16="http://schemas.microsoft.com/office/drawing/2014/main" id="{51DFED3D-EFF1-6553-1DCD-D229508CD3A0}"/>
              </a:ext>
            </a:extLst>
          </p:cNvPr>
          <p:cNvPicPr>
            <a:picLocks noChangeAspect="1"/>
          </p:cNvPicPr>
          <p:nvPr/>
        </p:nvPicPr>
        <p:blipFill>
          <a:blip r:embed="rId3"/>
          <a:stretch>
            <a:fillRect/>
          </a:stretch>
        </p:blipFill>
        <p:spPr>
          <a:xfrm>
            <a:off x="6317718" y="1703266"/>
            <a:ext cx="4791075" cy="4143375"/>
          </a:xfrm>
          <a:prstGeom prst="rect">
            <a:avLst/>
          </a:prstGeom>
        </p:spPr>
      </p:pic>
      <p:sp>
        <p:nvSpPr>
          <p:cNvPr id="13" name="Rectangle 12">
            <a:extLst>
              <a:ext uri="{FF2B5EF4-FFF2-40B4-BE49-F238E27FC236}">
                <a16:creationId xmlns:a16="http://schemas.microsoft.com/office/drawing/2014/main" id="{6A5D3011-61ED-2F34-FB57-19C3D99CB1AA}"/>
              </a:ext>
              <a:ext uri="{C183D7F6-B498-43B3-948B-1728B52AA6E4}">
                <adec:decorative xmlns:adec="http://schemas.microsoft.com/office/drawing/2017/decorative" val="1"/>
              </a:ext>
            </a:extLst>
          </p:cNvPr>
          <p:cNvSpPr/>
          <p:nvPr/>
        </p:nvSpPr>
        <p:spPr>
          <a:xfrm>
            <a:off x="1445895" y="4335195"/>
            <a:ext cx="1022253" cy="961292"/>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7" name="Rectangle 6">
            <a:extLst>
              <a:ext uri="{FF2B5EF4-FFF2-40B4-BE49-F238E27FC236}">
                <a16:creationId xmlns:a16="http://schemas.microsoft.com/office/drawing/2014/main" id="{E94AC593-803B-989F-4D87-FCF5A79AE08B}"/>
              </a:ext>
              <a:ext uri="{C183D7F6-B498-43B3-948B-1728B52AA6E4}">
                <adec:decorative xmlns:adec="http://schemas.microsoft.com/office/drawing/2017/decorative" val="1"/>
              </a:ext>
            </a:extLst>
          </p:cNvPr>
          <p:cNvSpPr/>
          <p:nvPr/>
        </p:nvSpPr>
        <p:spPr>
          <a:xfrm>
            <a:off x="1247335" y="4562623"/>
            <a:ext cx="1022253" cy="961292"/>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14" name="Speech Bubble: Rectangle with Corners Rounded 13">
            <a:extLst>
              <a:ext uri="{FF2B5EF4-FFF2-40B4-BE49-F238E27FC236}">
                <a16:creationId xmlns:a16="http://schemas.microsoft.com/office/drawing/2014/main" id="{8CC8CCF1-F8F1-331B-B2FC-C34026341DC5}"/>
              </a:ext>
            </a:extLst>
          </p:cNvPr>
          <p:cNvSpPr/>
          <p:nvPr/>
        </p:nvSpPr>
        <p:spPr>
          <a:xfrm>
            <a:off x="1366178" y="5951509"/>
            <a:ext cx="1681822" cy="378953"/>
          </a:xfrm>
          <a:prstGeom prst="wedgeRoundRectCallout">
            <a:avLst>
              <a:gd name="adj1" fmla="val -25235"/>
              <a:gd name="adj2" fmla="val -222768"/>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Example tiles</a:t>
            </a:r>
          </a:p>
        </p:txBody>
      </p:sp>
    </p:spTree>
    <p:extLst>
      <p:ext uri="{BB962C8B-B14F-4D97-AF65-F5344CB8AC3E}">
        <p14:creationId xmlns:p14="http://schemas.microsoft.com/office/powerpoint/2010/main" val="42020418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5476B-93B8-200D-AFC4-FD5D82620F70}"/>
              </a:ext>
            </a:extLst>
          </p:cNvPr>
          <p:cNvSpPr>
            <a:spLocks noGrp="1"/>
          </p:cNvSpPr>
          <p:nvPr>
            <p:ph type="title"/>
          </p:nvPr>
        </p:nvSpPr>
        <p:spPr/>
        <p:txBody>
          <a:bodyPr>
            <a:normAutofit/>
          </a:bodyPr>
          <a:lstStyle/>
          <a:p>
            <a:r>
              <a:rPr lang="en-US" dirty="0"/>
              <a:t>Tabular RL as a Special Case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D94023-3844-D64E-09EE-AFC4A96E153F}"/>
                  </a:ext>
                </a:extLst>
              </p:cNvPr>
              <p:cNvSpPr>
                <a:spLocks noGrp="1"/>
              </p:cNvSpPr>
              <p:nvPr>
                <p:ph idx="1"/>
              </p:nvPr>
            </p:nvSpPr>
            <p:spPr>
              <a:xfrm>
                <a:off x="838200" y="1397330"/>
                <a:ext cx="6204045" cy="4779633"/>
              </a:xfrm>
            </p:spPr>
            <p:txBody>
              <a:bodyPr>
                <a:normAutofit fontScale="85000" lnSpcReduction="20000"/>
              </a:bodyPr>
              <a:lstStyle/>
              <a:p>
                <a:pPr marL="0" indent="0">
                  <a:buNone/>
                </a:pPr>
                <a:r>
                  <a:rPr lang="en-US" dirty="0"/>
                  <a:t>Tabular RL is a special case of Linear Approximation for a discrete state space.</a:t>
                </a:r>
              </a:p>
              <a:p>
                <a:endParaRPr lang="en-US" dirty="0"/>
              </a:p>
              <a:p>
                <a:r>
                  <a:rPr lang="en-US" b="1" dirty="0"/>
                  <a:t>State feature vector</a:t>
                </a:r>
                <a:r>
                  <a:rPr lang="en-US" dirty="0"/>
                  <a:t>: </a:t>
                </a:r>
                <a14:m>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 </m:t>
                    </m:r>
                  </m:oMath>
                </a14:m>
                <a:r>
                  <a:rPr lang="en-US" dirty="0"/>
                  <a:t>is a 1-hot encoding for the state.</a:t>
                </a:r>
              </a:p>
              <a:p>
                <a:r>
                  <a:rPr lang="en-US" b="1" dirty="0"/>
                  <a:t>Weight vector</a:t>
                </a:r>
                <a:r>
                  <a:rPr lang="en-US" dirty="0"/>
                  <a:t>: </a:t>
                </a:r>
                <a14:m>
                  <m:oMath xmlns:m="http://schemas.openxmlformats.org/officeDocument/2006/math">
                    <m:r>
                      <a:rPr lang="en-US" b="1" i="1" smtClean="0">
                        <a:latin typeface="Cambria Math" panose="02040503050406030204" pitchFamily="18" charset="0"/>
                      </a:rPr>
                      <m:t>𝒘</m:t>
                    </m:r>
                  </m:oMath>
                </a14:m>
                <a:r>
                  <a:rPr lang="en-US" b="1" dirty="0"/>
                  <a:t> </a:t>
                </a:r>
                <a:r>
                  <a:rPr lang="en-US" dirty="0"/>
                  <a:t>has 1 entry for each state.</a:t>
                </a:r>
              </a:p>
              <a:p>
                <a:endParaRPr lang="en-US" dirty="0"/>
              </a:p>
              <a:p>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𝒘</m:t>
                        </m:r>
                      </m:e>
                    </m:d>
                    <m:r>
                      <a:rPr lang="en-US" b="1" i="1" smtClean="0">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𝒘</m:t>
                        </m:r>
                      </m:e>
                      <m:sup>
                        <m:r>
                          <a:rPr lang="en-US" b="1" i="1">
                            <a:latin typeface="Cambria Math" panose="02040503050406030204" pitchFamily="18" charset="0"/>
                          </a:rPr>
                          <m:t>⊤</m:t>
                        </m:r>
                      </m:sup>
                    </m:sSup>
                    <m:r>
                      <a:rPr lang="en-US" b="1" i="1">
                        <a:latin typeface="Cambria Math" panose="02040503050406030204" pitchFamily="18" charset="0"/>
                      </a:rPr>
                      <m:t>𝒙</m:t>
                    </m:r>
                    <m:d>
                      <m:dPr>
                        <m:ctrlPr>
                          <a:rPr lang="en-US" i="1">
                            <a:latin typeface="Cambria Math" panose="02040503050406030204" pitchFamily="18" charset="0"/>
                          </a:rPr>
                        </m:ctrlPr>
                      </m:dPr>
                      <m:e>
                        <m:r>
                          <a:rPr lang="en-US" i="1">
                            <a:latin typeface="Cambria Math" panose="02040503050406030204" pitchFamily="18" charset="0"/>
                          </a:rPr>
                          <m:t>𝑠</m:t>
                        </m:r>
                      </m:e>
                    </m:d>
                  </m:oMath>
                </a14:m>
                <a:r>
                  <a:rPr lang="en-US" dirty="0"/>
                  <a:t> now always picks a single value from </a:t>
                </a:r>
                <a14:m>
                  <m:oMath xmlns:m="http://schemas.openxmlformats.org/officeDocument/2006/math">
                    <m:r>
                      <a:rPr lang="en-US" b="1" i="1" smtClean="0">
                        <a:latin typeface="Cambria Math" panose="02040503050406030204" pitchFamily="18" charset="0"/>
                      </a:rPr>
                      <m:t>𝒘</m:t>
                    </m:r>
                    <m:r>
                      <a:rPr lang="en-US" b="0" i="0" smtClean="0">
                        <a:latin typeface="Cambria Math" panose="02040503050406030204" pitchFamily="18" charset="0"/>
                      </a:rPr>
                      <m:t>.</m:t>
                    </m:r>
                  </m:oMath>
                </a14:m>
                <a:endParaRPr lang="en-US" dirty="0"/>
              </a:p>
              <a:p>
                <a:endParaRPr lang="en-US" dirty="0"/>
              </a:p>
              <a:p>
                <a:r>
                  <a:rPr lang="en-US" dirty="0"/>
                  <a:t>Consequences:</a:t>
                </a:r>
              </a:p>
              <a:p>
                <a:pPr lvl="1"/>
                <a14:m>
                  <m:oMath xmlns:m="http://schemas.openxmlformats.org/officeDocument/2006/math">
                    <m:r>
                      <a:rPr lang="en-US" b="1" i="1" smtClean="0">
                        <a:latin typeface="Cambria Math" panose="02040503050406030204" pitchFamily="18" charset="0"/>
                      </a:rPr>
                      <m:t>𝒘</m:t>
                    </m:r>
                  </m:oMath>
                </a14:m>
                <a:r>
                  <a:rPr lang="en-US" b="1" dirty="0"/>
                  <a:t> </a:t>
                </a:r>
                <a:r>
                  <a:rPr lang="en-US" dirty="0"/>
                  <a:t>is just </a:t>
                </a:r>
                <a14:m>
                  <m:oMath xmlns:m="http://schemas.openxmlformats.org/officeDocument/2006/math">
                    <m:r>
                      <a:rPr lang="en-US" b="0" i="1" smtClean="0">
                        <a:latin typeface="Cambria Math" panose="02040503050406030204" pitchFamily="18" charset="0"/>
                      </a:rPr>
                      <m:t>𝑉</m:t>
                    </m:r>
                  </m:oMath>
                </a14:m>
                <a:r>
                  <a:rPr lang="en-US" dirty="0"/>
                  <a:t> in our tabular methods.</a:t>
                </a:r>
              </a:p>
              <a:p>
                <a:pPr lvl="1"/>
                <a:r>
                  <a:rPr lang="en-US" dirty="0"/>
                  <a:t>No generalization</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E2D94023-3844-D64E-09EE-AFC4A96E153F}"/>
                  </a:ext>
                </a:extLst>
              </p:cNvPr>
              <p:cNvSpPr>
                <a:spLocks noGrp="1" noRot="1" noChangeAspect="1" noMove="1" noResize="1" noEditPoints="1" noAdjustHandles="1" noChangeArrowheads="1" noChangeShapeType="1" noTextEdit="1"/>
              </p:cNvSpPr>
              <p:nvPr>
                <p:ph idx="1"/>
              </p:nvPr>
            </p:nvSpPr>
            <p:spPr>
              <a:xfrm>
                <a:off x="838200" y="1397330"/>
                <a:ext cx="6204045" cy="4779633"/>
              </a:xfrm>
              <a:blipFill>
                <a:blip r:embed="rId2"/>
                <a:stretch>
                  <a:fillRect l="-1573" t="-2806" r="-1278"/>
                </a:stretch>
              </a:blipFill>
            </p:spPr>
            <p:txBody>
              <a:bodyPr/>
              <a:lstStyle/>
              <a:p>
                <a:r>
                  <a:rPr lang="en-US">
                    <a:noFill/>
                  </a:rPr>
                  <a:t> </a:t>
                </a:r>
              </a:p>
            </p:txBody>
          </p:sp>
        </mc:Fallback>
      </mc:AlternateContent>
      <p:grpSp>
        <p:nvGrpSpPr>
          <p:cNvPr id="8" name="Group 7" descr="A simple maze example to show the equivalence to tabular methods.">
            <a:extLst>
              <a:ext uri="{FF2B5EF4-FFF2-40B4-BE49-F238E27FC236}">
                <a16:creationId xmlns:a16="http://schemas.microsoft.com/office/drawing/2014/main" id="{B8B79CFE-5227-591B-309E-D0C8871346E3}"/>
              </a:ext>
            </a:extLst>
          </p:cNvPr>
          <p:cNvGrpSpPr/>
          <p:nvPr/>
        </p:nvGrpSpPr>
        <p:grpSpPr>
          <a:xfrm>
            <a:off x="7786557" y="1124198"/>
            <a:ext cx="3942019" cy="4744675"/>
            <a:chOff x="7786557" y="1124198"/>
            <a:chExt cx="3942019" cy="4744675"/>
          </a:xfrm>
        </p:grpSpPr>
        <p:pic>
          <p:nvPicPr>
            <p:cNvPr id="4" name="Picture 3">
              <a:extLst>
                <a:ext uri="{FF2B5EF4-FFF2-40B4-BE49-F238E27FC236}">
                  <a16:creationId xmlns:a16="http://schemas.microsoft.com/office/drawing/2014/main" id="{615E8526-F2F5-D312-A9EE-01AB110CD188}"/>
                </a:ext>
              </a:extLst>
            </p:cNvPr>
            <p:cNvPicPr>
              <a:picLocks noChangeAspect="1"/>
            </p:cNvPicPr>
            <p:nvPr/>
          </p:nvPicPr>
          <p:blipFill>
            <a:blip r:embed="rId3"/>
            <a:stretch>
              <a:fillRect/>
            </a:stretch>
          </p:blipFill>
          <p:spPr>
            <a:xfrm>
              <a:off x="7786557" y="1650846"/>
              <a:ext cx="3473726" cy="2701786"/>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F8698FB-EAF6-FD2F-962C-4D5389EB0A0B}"/>
                    </a:ext>
                  </a:extLst>
                </p:cNvPr>
                <p:cNvSpPr txBox="1"/>
                <p:nvPr/>
              </p:nvSpPr>
              <p:spPr>
                <a:xfrm>
                  <a:off x="7786557" y="4545434"/>
                  <a:ext cx="3942019" cy="1323439"/>
                </a:xfrm>
                <a:prstGeom prst="rect">
                  <a:avLst/>
                </a:prstGeom>
                <a:noFill/>
              </p:spPr>
              <p:txBody>
                <a:bodyPr wrap="square">
                  <a:spAutoFit/>
                </a:bodyPr>
                <a:lstStyle/>
                <a:p>
                  <a:pPr/>
                  <a14:m>
                    <m:oMathPara xmlns:m="http://schemas.openxmlformats.org/officeDocument/2006/math">
                      <m:oMathParaPr>
                        <m:jc m:val="left"/>
                      </m:oMathParaPr>
                      <m:oMath>
                        <m:r>
                          <a:rPr lang="en-US" sz="2000" b="1" i="1" smtClean="0">
                            <a:latin typeface="Cambria Math" panose="02040503050406030204" pitchFamily="18" charset="0"/>
                          </a:rPr>
                          <m:t>𝒙</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𝑠</m:t>
                            </m:r>
                            <m:r>
                              <a:rPr lang="en-US" sz="2000" b="0" i="1" smtClean="0">
                                <a:latin typeface="Cambria Math" panose="02040503050406030204" pitchFamily="18" charset="0"/>
                              </a:rPr>
                              <m:t>(0,0)</m:t>
                            </m:r>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1,0,0,0,0,0,0,0,0,0,0</m:t>
                            </m:r>
                          </m:e>
                        </m:d>
                      </m:oMath>
                    </m:oMathPara>
                  </a14:m>
                  <a:endParaRPr lang="en-US" sz="1400" b="0" dirty="0"/>
                </a:p>
                <a:p>
                  <a:pPr/>
                  <a14:m>
                    <m:oMathPara xmlns:m="http://schemas.openxmlformats.org/officeDocument/2006/math">
                      <m:oMathParaPr>
                        <m:jc m:val="left"/>
                      </m:oMathParaPr>
                      <m:oMath>
                        <m:r>
                          <a:rPr lang="en-US" sz="2000" b="1" i="1" smtClean="0">
                            <a:latin typeface="Cambria Math" panose="02040503050406030204" pitchFamily="18" charset="0"/>
                          </a:rPr>
                          <m:t>𝒘</m:t>
                        </m:r>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10</m:t>
                                </m:r>
                              </m:sub>
                            </m:sSub>
                          </m:e>
                        </m:d>
                      </m:oMath>
                    </m:oMathPara>
                  </a14:m>
                  <a:br>
                    <a:rPr lang="en-US" sz="2000" b="0" dirty="0"/>
                  </a:br>
                  <a:br>
                    <a:rPr lang="en-US" sz="2000" b="0" dirty="0"/>
                  </a:br>
                  <a14:m>
                    <m:oMathPara xmlns:m="http://schemas.openxmlformats.org/officeDocument/2006/math">
                      <m:oMathParaPr>
                        <m:jc m:val="left"/>
                      </m:oMathParaPr>
                      <m:oMath>
                        <m:acc>
                          <m:accPr>
                            <m:chr m:val="̂"/>
                            <m:ctrlPr>
                              <a:rPr lang="en-US" sz="2000" i="1">
                                <a:latin typeface="Cambria Math" panose="02040503050406030204" pitchFamily="18" charset="0"/>
                              </a:rPr>
                            </m:ctrlPr>
                          </m:accPr>
                          <m:e>
                            <m:r>
                              <a:rPr lang="en-US" sz="2000" i="1">
                                <a:latin typeface="Cambria Math" panose="02040503050406030204" pitchFamily="18" charset="0"/>
                              </a:rPr>
                              <m:t>𝑣</m:t>
                            </m:r>
                          </m:e>
                        </m:acc>
                        <m:d>
                          <m:dPr>
                            <m:ctrlPr>
                              <a:rPr lang="en-US" sz="2000" i="1">
                                <a:latin typeface="Cambria Math" panose="02040503050406030204" pitchFamily="18" charset="0"/>
                              </a:rPr>
                            </m:ctrlPr>
                          </m:dPr>
                          <m:e>
                            <m:r>
                              <a:rPr lang="en-US" sz="2000" i="1">
                                <a:latin typeface="Cambria Math" panose="02040503050406030204" pitchFamily="18" charset="0"/>
                              </a:rPr>
                              <m:t>𝑠</m:t>
                            </m:r>
                            <m:r>
                              <a:rPr lang="en-US" sz="2000" b="0" i="1" smtClean="0">
                                <a:latin typeface="Cambria Math" panose="02040503050406030204" pitchFamily="18" charset="0"/>
                              </a:rPr>
                              <m:t>(0,0)</m:t>
                            </m:r>
                            <m:r>
                              <a:rPr lang="en-US" sz="2000" i="1">
                                <a:latin typeface="Cambria Math" panose="02040503050406030204" pitchFamily="18" charset="0"/>
                              </a:rPr>
                              <m:t>,</m:t>
                            </m:r>
                            <m:r>
                              <a:rPr lang="en-US" sz="2000" b="1" i="1">
                                <a:latin typeface="Cambria Math" panose="02040503050406030204" pitchFamily="18" charset="0"/>
                              </a:rPr>
                              <m:t>𝒘</m:t>
                            </m:r>
                          </m:e>
                        </m:d>
                        <m:r>
                          <a:rPr lang="en-US" sz="2000" b="1" i="1">
                            <a:latin typeface="Cambria Math" panose="02040503050406030204" pitchFamily="18" charset="0"/>
                          </a:rPr>
                          <m:t>=</m:t>
                        </m:r>
                        <m:sSup>
                          <m:sSupPr>
                            <m:ctrlPr>
                              <a:rPr lang="en-US" sz="2000" b="1" i="1">
                                <a:latin typeface="Cambria Math" panose="02040503050406030204" pitchFamily="18" charset="0"/>
                              </a:rPr>
                            </m:ctrlPr>
                          </m:sSupPr>
                          <m:e>
                            <m:r>
                              <a:rPr lang="en-US" sz="2000" b="1" i="1">
                                <a:latin typeface="Cambria Math" panose="02040503050406030204" pitchFamily="18" charset="0"/>
                              </a:rPr>
                              <m:t>𝒘</m:t>
                            </m:r>
                          </m:e>
                          <m:sup>
                            <m:r>
                              <a:rPr lang="en-US" sz="2000" b="1" i="1">
                                <a:latin typeface="Cambria Math" panose="02040503050406030204" pitchFamily="18" charset="0"/>
                              </a:rPr>
                              <m:t>⊤</m:t>
                            </m:r>
                          </m:sup>
                        </m:sSup>
                        <m:r>
                          <a:rPr lang="en-US" sz="2000" b="1" i="1">
                            <a:latin typeface="Cambria Math" panose="02040503050406030204" pitchFamily="18" charset="0"/>
                          </a:rPr>
                          <m:t>𝒙</m:t>
                        </m:r>
                        <m:d>
                          <m:dPr>
                            <m:ctrlPr>
                              <a:rPr lang="en-US" sz="2000" i="1">
                                <a:latin typeface="Cambria Math" panose="02040503050406030204" pitchFamily="18" charset="0"/>
                              </a:rPr>
                            </m:ctrlPr>
                          </m:dPr>
                          <m:e>
                            <m:r>
                              <a:rPr lang="en-US" sz="2000" i="1">
                                <a:latin typeface="Cambria Math" panose="02040503050406030204" pitchFamily="18" charset="0"/>
                              </a:rPr>
                              <m:t>𝑠</m:t>
                            </m:r>
                            <m:r>
                              <a:rPr lang="en-US" sz="2000" b="0" i="1" smtClean="0">
                                <a:latin typeface="Cambria Math" panose="02040503050406030204" pitchFamily="18" charset="0"/>
                              </a:rPr>
                              <m:t>(0,0)</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𝑉</m:t>
                            </m:r>
                          </m:e>
                          <m:sub>
                            <m:r>
                              <a:rPr lang="en-US" sz="2000" b="0" i="1" smtClean="0">
                                <a:latin typeface="Cambria Math" panose="02040503050406030204" pitchFamily="18" charset="0"/>
                              </a:rPr>
                              <m:t>0</m:t>
                            </m:r>
                          </m:sub>
                        </m:sSub>
                      </m:oMath>
                    </m:oMathPara>
                  </a14:m>
                  <a:endParaRPr lang="en-US" sz="2000" b="0" dirty="0"/>
                </a:p>
              </p:txBody>
            </p:sp>
          </mc:Choice>
          <mc:Fallback xmlns="">
            <p:sp>
              <p:nvSpPr>
                <p:cNvPr id="6" name="TextBox 5">
                  <a:extLst>
                    <a:ext uri="{FF2B5EF4-FFF2-40B4-BE49-F238E27FC236}">
                      <a16:creationId xmlns:a16="http://schemas.microsoft.com/office/drawing/2014/main" id="{0F8698FB-EAF6-FD2F-962C-4D5389EB0A0B}"/>
                    </a:ext>
                  </a:extLst>
                </p:cNvPr>
                <p:cNvSpPr txBox="1">
                  <a:spLocks noRot="1" noChangeAspect="1" noMove="1" noResize="1" noEditPoints="1" noAdjustHandles="1" noChangeArrowheads="1" noChangeShapeType="1" noTextEdit="1"/>
                </p:cNvSpPr>
                <p:nvPr/>
              </p:nvSpPr>
              <p:spPr>
                <a:xfrm>
                  <a:off x="7786557" y="4545434"/>
                  <a:ext cx="3942019" cy="1323439"/>
                </a:xfrm>
                <a:prstGeom prst="rect">
                  <a:avLst/>
                </a:prstGeom>
                <a:blipFill>
                  <a:blip r:embed="rId4"/>
                  <a:stretch>
                    <a:fillRect b="-368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4B5CF3AB-B5DD-4B88-5213-24B3CEBE15B8}"/>
                </a:ext>
              </a:extLst>
            </p:cNvPr>
            <p:cNvSpPr txBox="1"/>
            <p:nvPr/>
          </p:nvSpPr>
          <p:spPr>
            <a:xfrm>
              <a:off x="7915701" y="1124198"/>
              <a:ext cx="1549021" cy="369332"/>
            </a:xfrm>
            <a:prstGeom prst="rect">
              <a:avLst/>
            </a:prstGeom>
            <a:noFill/>
          </p:spPr>
          <p:txBody>
            <a:bodyPr wrap="square" rtlCol="0">
              <a:spAutoFit/>
            </a:bodyPr>
            <a:lstStyle/>
            <a:p>
              <a:r>
                <a:rPr lang="en-US" dirty="0"/>
                <a:t>Example:</a:t>
              </a:r>
            </a:p>
          </p:txBody>
        </p:sp>
      </p:grpSp>
    </p:spTree>
    <p:extLst>
      <p:ext uri="{BB962C8B-B14F-4D97-AF65-F5344CB8AC3E}">
        <p14:creationId xmlns:p14="http://schemas.microsoft.com/office/powerpoint/2010/main" val="57929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DE7C5-DE21-E0E4-C7C7-7B5888EF3D67}"/>
              </a:ext>
            </a:extLst>
          </p:cNvPr>
          <p:cNvSpPr>
            <a:spLocks noGrp="1"/>
          </p:cNvSpPr>
          <p:nvPr>
            <p:ph type="title"/>
          </p:nvPr>
        </p:nvSpPr>
        <p:spPr/>
        <p:txBody>
          <a:bodyPr/>
          <a:lstStyle/>
          <a:p>
            <a:r>
              <a:rPr lang="en-US" dirty="0"/>
              <a:t>Partially Observable Environments</a:t>
            </a:r>
          </a:p>
        </p:txBody>
      </p:sp>
      <p:sp>
        <p:nvSpPr>
          <p:cNvPr id="3" name="Content Placeholder 2">
            <a:extLst>
              <a:ext uri="{FF2B5EF4-FFF2-40B4-BE49-F238E27FC236}">
                <a16:creationId xmlns:a16="http://schemas.microsoft.com/office/drawing/2014/main" id="{9D32DF0D-2EFB-FF05-D343-80D8EA27BD77}"/>
              </a:ext>
            </a:extLst>
          </p:cNvPr>
          <p:cNvSpPr>
            <a:spLocks noGrp="1"/>
          </p:cNvSpPr>
          <p:nvPr>
            <p:ph idx="1"/>
          </p:nvPr>
        </p:nvSpPr>
        <p:spPr/>
        <p:txBody>
          <a:bodyPr>
            <a:normAutofit fontScale="77500" lnSpcReduction="20000"/>
          </a:bodyPr>
          <a:lstStyle/>
          <a:p>
            <a:r>
              <a:rPr lang="en-US" dirty="0"/>
              <a:t>Observations may be incomplete or noisy.</a:t>
            </a:r>
          </a:p>
          <a:p>
            <a:endParaRPr lang="en-US" dirty="0"/>
          </a:p>
          <a:p>
            <a:r>
              <a:rPr lang="en-US" dirty="0"/>
              <a:t>Standard model</a:t>
            </a:r>
            <a:r>
              <a:rPr lang="en-US" b="1" dirty="0"/>
              <a:t>: POMDP</a:t>
            </a:r>
            <a:r>
              <a:rPr lang="en-US" dirty="0"/>
              <a:t> with belief states</a:t>
            </a:r>
          </a:p>
          <a:p>
            <a:pPr lvl="1"/>
            <a:r>
              <a:rPr lang="en-US" dirty="0"/>
              <a:t>A key feature is that it learns </a:t>
            </a:r>
            <a:r>
              <a:rPr lang="en-US" b="1" dirty="0"/>
              <a:t>hidden states </a:t>
            </a:r>
            <a:r>
              <a:rPr lang="en-US" dirty="0"/>
              <a:t>depending on the history of actions and observations.</a:t>
            </a:r>
          </a:p>
          <a:p>
            <a:pPr lvl="1"/>
            <a:r>
              <a:rPr lang="en-US" b="1" dirty="0"/>
              <a:t>Impractical</a:t>
            </a:r>
            <a:r>
              <a:rPr lang="en-US" dirty="0"/>
              <a:t> due to the size of the belief state space.</a:t>
            </a:r>
          </a:p>
          <a:p>
            <a:endParaRPr lang="en-US" dirty="0"/>
          </a:p>
          <a:p>
            <a:r>
              <a:rPr lang="en-US" dirty="0"/>
              <a:t>Practical approach for RL with approximation</a:t>
            </a:r>
          </a:p>
          <a:p>
            <a:pPr marL="971550" lvl="1" indent="-514350">
              <a:buFont typeface="+mj-lt"/>
              <a:buAutoNum type="arabicPeriod"/>
            </a:pPr>
            <a:r>
              <a:rPr lang="en-US" dirty="0"/>
              <a:t>Build a </a:t>
            </a:r>
            <a:r>
              <a:rPr lang="en-US" b="1" dirty="0"/>
              <a:t>compressed representation </a:t>
            </a:r>
            <a:r>
              <a:rPr lang="en-US" dirty="0"/>
              <a:t>with features from current observations and the observation history (E.g., observation stacking).</a:t>
            </a:r>
          </a:p>
          <a:p>
            <a:pPr marL="971550" lvl="1" indent="-514350">
              <a:buFont typeface="+mj-lt"/>
              <a:buAutoNum type="arabicPeriod"/>
            </a:pPr>
            <a:r>
              <a:rPr lang="en-US" b="1" dirty="0"/>
              <a:t>Use a (non) linear approximator </a:t>
            </a:r>
            <a:r>
              <a:rPr lang="en-US" dirty="0"/>
              <a:t>on those features to learn a value function or policy from the compressed representation.</a:t>
            </a:r>
          </a:p>
          <a:p>
            <a:pPr marL="971550" lvl="1" indent="-514350">
              <a:buFont typeface="+mj-lt"/>
              <a:buAutoNum type="arabicPeriod"/>
            </a:pPr>
            <a:endParaRPr lang="en-US" dirty="0"/>
          </a:p>
          <a:p>
            <a:r>
              <a:rPr lang="en-US" b="1" dirty="0"/>
              <a:t>Example</a:t>
            </a:r>
            <a:r>
              <a:rPr lang="en-US" dirty="0"/>
              <a:t>: Maze solver where the x and y coordinates are noisy. Using the observed coordinates from the last few steps (stacking them) helps average out random noise in the observations.</a:t>
            </a:r>
          </a:p>
        </p:txBody>
      </p:sp>
    </p:spTree>
    <p:extLst>
      <p:ext uri="{BB962C8B-B14F-4D97-AF65-F5344CB8AC3E}">
        <p14:creationId xmlns:p14="http://schemas.microsoft.com/office/powerpoint/2010/main" val="1605762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4F3D035-6970-410A-56D5-7B2461C3DB86}"/>
              </a:ext>
            </a:extLst>
          </p:cNvPr>
          <p:cNvSpPr>
            <a:spLocks noGrp="1"/>
          </p:cNvSpPr>
          <p:nvPr>
            <p:ph type="title"/>
          </p:nvPr>
        </p:nvSpPr>
        <p:spPr/>
        <p:txBody>
          <a:bodyPr/>
          <a:lstStyle/>
          <a:p>
            <a:r>
              <a:rPr lang="en-US" dirty="0"/>
              <a:t>Non-Linear Function Approximation</a:t>
            </a:r>
          </a:p>
        </p:txBody>
      </p:sp>
      <p:sp>
        <p:nvSpPr>
          <p:cNvPr id="5" name="Text Placeholder 4">
            <a:extLst>
              <a:ext uri="{FF2B5EF4-FFF2-40B4-BE49-F238E27FC236}">
                <a16:creationId xmlns:a16="http://schemas.microsoft.com/office/drawing/2014/main" id="{A0742DE7-913C-60BB-DF8E-B71A7E28A534}"/>
              </a:ext>
            </a:extLst>
          </p:cNvPr>
          <p:cNvSpPr>
            <a:spLocks noGrp="1"/>
          </p:cNvSpPr>
          <p:nvPr>
            <p:ph type="body" idx="1"/>
          </p:nvPr>
        </p:nvSpPr>
        <p:spPr/>
        <p:txBody>
          <a:bodyPr/>
          <a:lstStyle/>
          <a:p>
            <a:r>
              <a:rPr lang="en-US" dirty="0"/>
              <a:t>Artificial Neural Networks</a:t>
            </a:r>
          </a:p>
        </p:txBody>
      </p:sp>
    </p:spTree>
    <p:extLst>
      <p:ext uri="{BB962C8B-B14F-4D97-AF65-F5344CB8AC3E}">
        <p14:creationId xmlns:p14="http://schemas.microsoft.com/office/powerpoint/2010/main" val="36651022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6F5B2-EE01-E8E7-270B-299A360AD4D0}"/>
              </a:ext>
            </a:extLst>
          </p:cNvPr>
          <p:cNvSpPr>
            <a:spLocks noGrp="1"/>
          </p:cNvSpPr>
          <p:nvPr>
            <p:ph type="title"/>
          </p:nvPr>
        </p:nvSpPr>
        <p:spPr/>
        <p:txBody>
          <a:bodyPr/>
          <a:lstStyle/>
          <a:p>
            <a:r>
              <a:rPr lang="en-US" dirty="0"/>
              <a:t>Approximation with ANNs</a:t>
            </a:r>
          </a:p>
        </p:txBody>
      </p:sp>
      <p:sp>
        <p:nvSpPr>
          <p:cNvPr id="3" name="Content Placeholder 2">
            <a:extLst>
              <a:ext uri="{FF2B5EF4-FFF2-40B4-BE49-F238E27FC236}">
                <a16:creationId xmlns:a16="http://schemas.microsoft.com/office/drawing/2014/main" id="{F6D5F70F-2AC8-FACB-0836-8ACDFA070FF1}"/>
              </a:ext>
            </a:extLst>
          </p:cNvPr>
          <p:cNvSpPr>
            <a:spLocks noGrp="1"/>
          </p:cNvSpPr>
          <p:nvPr>
            <p:ph idx="1"/>
          </p:nvPr>
        </p:nvSpPr>
        <p:spPr>
          <a:xfrm>
            <a:off x="838200" y="1397330"/>
            <a:ext cx="7166773" cy="4779633"/>
          </a:xfrm>
        </p:spPr>
        <p:txBody>
          <a:bodyPr>
            <a:normAutofit fontScale="62500" lnSpcReduction="20000"/>
          </a:bodyPr>
          <a:lstStyle/>
          <a:p>
            <a:r>
              <a:rPr lang="en-US" dirty="0"/>
              <a:t>Uses simple networks with a single hidden layer or deep architectures to approximate the value function.</a:t>
            </a:r>
          </a:p>
          <a:p>
            <a:r>
              <a:rPr lang="en-US" dirty="0"/>
              <a:t>Methods:</a:t>
            </a:r>
          </a:p>
          <a:p>
            <a:pPr lvl="1"/>
            <a:r>
              <a:rPr lang="en-US" dirty="0"/>
              <a:t>Recurrent networks</a:t>
            </a:r>
          </a:p>
          <a:p>
            <a:pPr lvl="1"/>
            <a:r>
              <a:rPr lang="en-US" dirty="0"/>
              <a:t> Convolutional networks</a:t>
            </a:r>
          </a:p>
          <a:p>
            <a:pPr lvl="1"/>
            <a:r>
              <a:rPr lang="en-US" dirty="0"/>
              <a:t>Transformers</a:t>
            </a:r>
          </a:p>
          <a:p>
            <a:pPr lvl="1"/>
            <a:r>
              <a:rPr lang="en-US" dirty="0"/>
              <a:t>Regularization, dropout, weight sharing</a:t>
            </a:r>
          </a:p>
          <a:p>
            <a:pPr lvl="1"/>
            <a:r>
              <a:rPr lang="en-US" dirty="0"/>
              <a:t>Deep residual learning…</a:t>
            </a:r>
          </a:p>
          <a:p>
            <a:r>
              <a:rPr lang="en-US" dirty="0"/>
              <a:t>Networks are trained like linear models using SGD. For deep networks, this uses backpropagation.</a:t>
            </a:r>
          </a:p>
          <a:p>
            <a:r>
              <a:rPr lang="en-US" dirty="0"/>
              <a:t>ANNs are universal approximators, so they can learn any value function.</a:t>
            </a:r>
          </a:p>
          <a:p>
            <a:endParaRPr lang="en-US" dirty="0"/>
          </a:p>
          <a:p>
            <a:r>
              <a:rPr lang="en-US" dirty="0"/>
              <a:t>Issues due to nonlinearity: </a:t>
            </a:r>
          </a:p>
          <a:p>
            <a:pPr lvl="1"/>
            <a:r>
              <a:rPr lang="en-US" dirty="0"/>
              <a:t>Instability </a:t>
            </a:r>
          </a:p>
          <a:p>
            <a:pPr lvl="1"/>
            <a:r>
              <a:rPr lang="en-US" dirty="0"/>
              <a:t> Generally, no convergence guarantee. </a:t>
            </a:r>
          </a:p>
          <a:p>
            <a:pPr lvl="1"/>
            <a:endParaRPr lang="en-US" dirty="0"/>
          </a:p>
          <a:p>
            <a:r>
              <a:rPr lang="en-US" dirty="0"/>
              <a:t>More in Deep Reinforcement Learning (DRL).</a:t>
            </a:r>
          </a:p>
        </p:txBody>
      </p:sp>
      <p:grpSp>
        <p:nvGrpSpPr>
          <p:cNvPr id="5" name="Group 4" descr="Q-network: the state s enters a neural network (input layer S, hidden layers, output layer A) that outputs Q(s, a) for every action.">
            <a:extLst>
              <a:ext uri="{FF2B5EF4-FFF2-40B4-BE49-F238E27FC236}">
                <a16:creationId xmlns:a16="http://schemas.microsoft.com/office/drawing/2014/main" id="{0257D9AD-0CBD-4A1C-5DC3-AB0B9432D641}"/>
              </a:ext>
            </a:extLst>
          </p:cNvPr>
          <p:cNvGrpSpPr/>
          <p:nvPr/>
        </p:nvGrpSpPr>
        <p:grpSpPr>
          <a:xfrm>
            <a:off x="7276460" y="1226541"/>
            <a:ext cx="3920629" cy="2021412"/>
            <a:chOff x="1129787" y="3714030"/>
            <a:chExt cx="3920629" cy="2021412"/>
          </a:xfrm>
        </p:grpSpPr>
        <p:sp>
          <p:nvSpPr>
            <p:cNvPr id="7" name="TextBox 6">
              <a:extLst>
                <a:ext uri="{FF2B5EF4-FFF2-40B4-BE49-F238E27FC236}">
                  <a16:creationId xmlns:a16="http://schemas.microsoft.com/office/drawing/2014/main" id="{88F9D100-703C-DDBE-4B03-BEFD2675E182}"/>
                </a:ext>
                <a:ext uri="{C183D7F6-B498-43B3-948B-1728B52AA6E4}">
                  <adec:decorative xmlns:adec="http://schemas.microsoft.com/office/drawing/2017/decorative" val="0"/>
                </a:ext>
              </a:extLst>
            </p:cNvPr>
            <p:cNvSpPr txBox="1"/>
            <p:nvPr/>
          </p:nvSpPr>
          <p:spPr>
            <a:xfrm>
              <a:off x="1865224" y="5366110"/>
              <a:ext cx="1911973" cy="369332"/>
            </a:xfrm>
            <a:prstGeom prst="rect">
              <a:avLst/>
            </a:prstGeom>
            <a:noFill/>
          </p:spPr>
          <p:txBody>
            <a:bodyPr wrap="square" rtlCol="0">
              <a:spAutoFit/>
            </a:bodyPr>
            <a:lstStyle/>
            <a:p>
              <a:pPr algn="ctr"/>
              <a:r>
                <a:rPr lang="en-US" dirty="0"/>
                <a:t>Q-network</a:t>
              </a:r>
            </a:p>
          </p:txBody>
        </p:sp>
        <p:grpSp>
          <p:nvGrpSpPr>
            <p:cNvPr id="8" name="Group 7">
              <a:extLst>
                <a:ext uri="{FF2B5EF4-FFF2-40B4-BE49-F238E27FC236}">
                  <a16:creationId xmlns:a16="http://schemas.microsoft.com/office/drawing/2014/main" id="{271A9B85-1B4A-D529-9559-9A776B1E0331}"/>
                </a:ext>
                <a:ext uri="{C183D7F6-B498-43B3-948B-1728B52AA6E4}">
                  <adec:decorative xmlns:adec="http://schemas.microsoft.com/office/drawing/2017/decorative" val="1"/>
                </a:ext>
              </a:extLst>
            </p:cNvPr>
            <p:cNvGrpSpPr/>
            <p:nvPr/>
          </p:nvGrpSpPr>
          <p:grpSpPr>
            <a:xfrm>
              <a:off x="2124428" y="4079165"/>
              <a:ext cx="1295400" cy="1235724"/>
              <a:chOff x="4410942" y="4599774"/>
              <a:chExt cx="1577400" cy="1648626"/>
            </a:xfrm>
          </p:grpSpPr>
          <p:sp>
            <p:nvSpPr>
              <p:cNvPr id="16" name="Oval 15">
                <a:extLst>
                  <a:ext uri="{FF2B5EF4-FFF2-40B4-BE49-F238E27FC236}">
                    <a16:creationId xmlns:a16="http://schemas.microsoft.com/office/drawing/2014/main" id="{7FB21E2A-FC1F-C47C-298D-A8BE4E31C4B6}"/>
                  </a:ext>
                  <a:ext uri="{C183D7F6-B498-43B3-948B-1728B52AA6E4}">
                    <adec:decorative xmlns:adec="http://schemas.microsoft.com/office/drawing/2017/decorative" val="1"/>
                  </a:ext>
                </a:extLst>
              </p:cNvPr>
              <p:cNvSpPr/>
              <p:nvPr/>
            </p:nvSpPr>
            <p:spPr>
              <a:xfrm>
                <a:off x="4889892" y="4752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BAD4EA1-AE93-3F2B-EC3E-F51B2C66811C}"/>
                  </a:ext>
                  <a:ext uri="{C183D7F6-B498-43B3-948B-1728B52AA6E4}">
                    <adec:decorative xmlns:adec="http://schemas.microsoft.com/office/drawing/2017/decorative" val="1"/>
                  </a:ext>
                </a:extLst>
              </p:cNvPr>
              <p:cNvSpPr/>
              <p:nvPr/>
            </p:nvSpPr>
            <p:spPr>
              <a:xfrm>
                <a:off x="4889892" y="5007830"/>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3C39F9D-742D-29FD-62B5-DCCFB700DAFE}"/>
                  </a:ext>
                  <a:ext uri="{C183D7F6-B498-43B3-948B-1728B52AA6E4}">
                    <adec:decorative xmlns:adec="http://schemas.microsoft.com/office/drawing/2017/decorative" val="1"/>
                  </a:ext>
                </a:extLst>
              </p:cNvPr>
              <p:cNvSpPr/>
              <p:nvPr/>
            </p:nvSpPr>
            <p:spPr>
              <a:xfrm>
                <a:off x="4889892" y="52855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39BE8FB-3F89-4604-BFD7-75A85BD6D11C}"/>
                  </a:ext>
                  <a:ext uri="{C183D7F6-B498-43B3-948B-1728B52AA6E4}">
                    <adec:decorative xmlns:adec="http://schemas.microsoft.com/office/drawing/2017/decorative" val="1"/>
                  </a:ext>
                </a:extLst>
              </p:cNvPr>
              <p:cNvSpPr/>
              <p:nvPr/>
            </p:nvSpPr>
            <p:spPr>
              <a:xfrm>
                <a:off x="4889892" y="55903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4EC46C8-4F64-09FC-B2F0-A56DD6F92E13}"/>
                  </a:ext>
                  <a:ext uri="{C183D7F6-B498-43B3-948B-1728B52AA6E4}">
                    <adec:decorative xmlns:adec="http://schemas.microsoft.com/office/drawing/2017/decorative" val="1"/>
                  </a:ext>
                </a:extLst>
              </p:cNvPr>
              <p:cNvSpPr/>
              <p:nvPr/>
            </p:nvSpPr>
            <p:spPr>
              <a:xfrm>
                <a:off x="5347092" y="49045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C7B4CEF-D65D-35AC-4A87-5A2F28622CC6}"/>
                  </a:ext>
                  <a:ext uri="{C183D7F6-B498-43B3-948B-1728B52AA6E4}">
                    <adec:decorative xmlns:adec="http://schemas.microsoft.com/office/drawing/2017/decorative" val="1"/>
                  </a:ext>
                </a:extLst>
              </p:cNvPr>
              <p:cNvSpPr/>
              <p:nvPr/>
            </p:nvSpPr>
            <p:spPr>
              <a:xfrm>
                <a:off x="5347092" y="5133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0546C22-9126-A64F-1E08-4A0774EC5C52}"/>
                  </a:ext>
                  <a:ext uri="{C183D7F6-B498-43B3-948B-1728B52AA6E4}">
                    <adec:decorative xmlns:adec="http://schemas.microsoft.com/office/drawing/2017/decorative" val="1"/>
                  </a:ext>
                </a:extLst>
              </p:cNvPr>
              <p:cNvSpPr/>
              <p:nvPr/>
            </p:nvSpPr>
            <p:spPr>
              <a:xfrm>
                <a:off x="5347092" y="54379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9711B356-C322-9A0F-23AA-24070E83601E}"/>
                  </a:ext>
                  <a:ext uri="{C183D7F6-B498-43B3-948B-1728B52AA6E4}">
                    <adec:decorative xmlns:adec="http://schemas.microsoft.com/office/drawing/2017/decorative" val="1"/>
                  </a:ext>
                </a:extLst>
              </p:cNvPr>
              <p:cNvSpPr/>
              <p:nvPr/>
            </p:nvSpPr>
            <p:spPr>
              <a:xfrm>
                <a:off x="5835942" y="4752949"/>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321E1B89-F118-CEDE-1ACF-AE210F91AD89}"/>
                  </a:ext>
                  <a:ext uri="{C183D7F6-B498-43B3-948B-1728B52AA6E4}">
                    <adec:decorative xmlns:adec="http://schemas.microsoft.com/office/drawing/2017/decorative" val="1"/>
                  </a:ext>
                </a:extLst>
              </p:cNvPr>
              <p:cNvSpPr/>
              <p:nvPr/>
            </p:nvSpPr>
            <p:spPr>
              <a:xfrm>
                <a:off x="5835942" y="50306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F536921-5DB2-C484-80A6-5E9CF04774B8}"/>
                  </a:ext>
                  <a:ext uri="{C183D7F6-B498-43B3-948B-1728B52AA6E4}">
                    <adec:decorative xmlns:adec="http://schemas.microsoft.com/office/drawing/2017/decorative" val="1"/>
                  </a:ext>
                </a:extLst>
              </p:cNvPr>
              <p:cNvSpPr/>
              <p:nvPr/>
            </p:nvSpPr>
            <p:spPr>
              <a:xfrm>
                <a:off x="5835942" y="53354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76A5DB0-1825-8BF6-77D6-0FF244514DE9}"/>
                  </a:ext>
                  <a:ext uri="{C183D7F6-B498-43B3-948B-1728B52AA6E4}">
                    <adec:decorative xmlns:adec="http://schemas.microsoft.com/office/drawing/2017/decorative" val="1"/>
                  </a:ext>
                </a:extLst>
              </p:cNvPr>
              <p:cNvSpPr/>
              <p:nvPr/>
            </p:nvSpPr>
            <p:spPr>
              <a:xfrm>
                <a:off x="5835942" y="56402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60347EC-E155-6D6A-8B70-F0ED6F48A3E7}"/>
                  </a:ext>
                  <a:ext uri="{C183D7F6-B498-43B3-948B-1728B52AA6E4}">
                    <adec:decorative xmlns:adec="http://schemas.microsoft.com/office/drawing/2017/decorative" val="1"/>
                  </a:ext>
                </a:extLst>
              </p:cNvPr>
              <p:cNvSpPr/>
              <p:nvPr/>
            </p:nvSpPr>
            <p:spPr>
              <a:xfrm>
                <a:off x="4889892" y="5895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A82D0AB-4B22-7144-C127-03639736A49C}"/>
                  </a:ext>
                  <a:ext uri="{C183D7F6-B498-43B3-948B-1728B52AA6E4}">
                    <adec:decorative xmlns:adec="http://schemas.microsoft.com/office/drawing/2017/decorative" val="1"/>
                  </a:ext>
                </a:extLst>
              </p:cNvPr>
              <p:cNvSpPr/>
              <p:nvPr/>
            </p:nvSpPr>
            <p:spPr>
              <a:xfrm>
                <a:off x="5347092" y="5742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D2F65F11-4D6B-FB28-45ED-118C8249D263}"/>
                  </a:ext>
                  <a:ext uri="{C183D7F6-B498-43B3-948B-1728B52AA6E4}">
                    <adec:decorative xmlns:adec="http://schemas.microsoft.com/office/drawing/2017/decorative" val="1"/>
                  </a:ext>
                </a:extLst>
              </p:cNvPr>
              <p:cNvSpPr/>
              <p:nvPr/>
            </p:nvSpPr>
            <p:spPr>
              <a:xfrm>
                <a:off x="5835942" y="5945093"/>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27796F2B-63A7-0E97-6307-14CC5EC0C7EF}"/>
                  </a:ext>
                  <a:ext uri="{C183D7F6-B498-43B3-948B-1728B52AA6E4}">
                    <adec:decorative xmlns:adec="http://schemas.microsoft.com/office/drawing/2017/decorative" val="1"/>
                  </a:ext>
                </a:extLst>
              </p:cNvPr>
              <p:cNvCxnSpPr>
                <a:cxnSpLocks/>
                <a:stCxn id="16" idx="6"/>
                <a:endCxn id="20" idx="1"/>
              </p:cNvCxnSpPr>
              <p:nvPr/>
            </p:nvCxnSpPr>
            <p:spPr>
              <a:xfrm>
                <a:off x="5042292" y="4841902"/>
                <a:ext cx="327118" cy="889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1" name="Straight Connector 30">
                <a:extLst>
                  <a:ext uri="{FF2B5EF4-FFF2-40B4-BE49-F238E27FC236}">
                    <a16:creationId xmlns:a16="http://schemas.microsoft.com/office/drawing/2014/main" id="{C3F73F8A-57DC-A45F-80D1-597D8D1E7A7C}"/>
                  </a:ext>
                  <a:ext uri="{C183D7F6-B498-43B3-948B-1728B52AA6E4}">
                    <adec:decorative xmlns:adec="http://schemas.microsoft.com/office/drawing/2017/decorative" val="1"/>
                  </a:ext>
                </a:extLst>
              </p:cNvPr>
              <p:cNvCxnSpPr>
                <a:cxnSpLocks/>
                <a:stCxn id="17" idx="6"/>
                <a:endCxn id="20" idx="2"/>
              </p:cNvCxnSpPr>
              <p:nvPr/>
            </p:nvCxnSpPr>
            <p:spPr>
              <a:xfrm flipV="1">
                <a:off x="5042292" y="4994302"/>
                <a:ext cx="304800" cy="103256"/>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2" name="Straight Connector 31">
                <a:extLst>
                  <a:ext uri="{FF2B5EF4-FFF2-40B4-BE49-F238E27FC236}">
                    <a16:creationId xmlns:a16="http://schemas.microsoft.com/office/drawing/2014/main" id="{D5DB5C0F-C3BC-E7BF-2F36-26E6DF3833FB}"/>
                  </a:ext>
                  <a:ext uri="{C183D7F6-B498-43B3-948B-1728B52AA6E4}">
                    <adec:decorative xmlns:adec="http://schemas.microsoft.com/office/drawing/2017/decorative" val="1"/>
                  </a:ext>
                </a:extLst>
              </p:cNvPr>
              <p:cNvCxnSpPr>
                <a:cxnSpLocks/>
                <a:stCxn id="18" idx="6"/>
                <a:endCxn id="21" idx="2"/>
              </p:cNvCxnSpPr>
              <p:nvPr/>
            </p:nvCxnSpPr>
            <p:spPr>
              <a:xfrm flipV="1">
                <a:off x="5042292" y="52229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3" name="Straight Connector 32">
                <a:extLst>
                  <a:ext uri="{FF2B5EF4-FFF2-40B4-BE49-F238E27FC236}">
                    <a16:creationId xmlns:a16="http://schemas.microsoft.com/office/drawing/2014/main" id="{F39FF92C-6BBC-294B-AFCF-1E61772F3555}"/>
                  </a:ext>
                  <a:ext uri="{C183D7F6-B498-43B3-948B-1728B52AA6E4}">
                    <adec:decorative xmlns:adec="http://schemas.microsoft.com/office/drawing/2017/decorative" val="1"/>
                  </a:ext>
                </a:extLst>
              </p:cNvPr>
              <p:cNvCxnSpPr>
                <a:cxnSpLocks/>
                <a:stCxn id="17" idx="6"/>
                <a:endCxn id="21" idx="2"/>
              </p:cNvCxnSpPr>
              <p:nvPr/>
            </p:nvCxnSpPr>
            <p:spPr>
              <a:xfrm>
                <a:off x="5042292" y="5097558"/>
                <a:ext cx="304800" cy="1253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4" name="Straight Connector 33">
                <a:extLst>
                  <a:ext uri="{FF2B5EF4-FFF2-40B4-BE49-F238E27FC236}">
                    <a16:creationId xmlns:a16="http://schemas.microsoft.com/office/drawing/2014/main" id="{304B9364-CECA-C424-2C90-35A01CFD7A25}"/>
                  </a:ext>
                  <a:ext uri="{C183D7F6-B498-43B3-948B-1728B52AA6E4}">
                    <adec:decorative xmlns:adec="http://schemas.microsoft.com/office/drawing/2017/decorative" val="1"/>
                  </a:ext>
                </a:extLst>
              </p:cNvPr>
              <p:cNvCxnSpPr>
                <a:cxnSpLocks/>
                <a:stCxn id="19" idx="6"/>
                <a:endCxn id="22" idx="2"/>
              </p:cNvCxnSpPr>
              <p:nvPr/>
            </p:nvCxnSpPr>
            <p:spPr>
              <a:xfrm flipV="1">
                <a:off x="5042292" y="55277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5" name="Straight Connector 34">
                <a:extLst>
                  <a:ext uri="{FF2B5EF4-FFF2-40B4-BE49-F238E27FC236}">
                    <a16:creationId xmlns:a16="http://schemas.microsoft.com/office/drawing/2014/main" id="{BA59CCCC-0AE5-2C78-1EA0-C8E66CD0B57E}"/>
                  </a:ext>
                  <a:ext uri="{C183D7F6-B498-43B3-948B-1728B52AA6E4}">
                    <adec:decorative xmlns:adec="http://schemas.microsoft.com/office/drawing/2017/decorative" val="1"/>
                  </a:ext>
                </a:extLst>
              </p:cNvPr>
              <p:cNvCxnSpPr>
                <a:cxnSpLocks/>
                <a:stCxn id="18" idx="6"/>
                <a:endCxn id="22" idx="2"/>
              </p:cNvCxnSpPr>
              <p:nvPr/>
            </p:nvCxnSpPr>
            <p:spPr>
              <a:xfrm>
                <a:off x="5042293" y="5375303"/>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6" name="Straight Connector 35">
                <a:extLst>
                  <a:ext uri="{FF2B5EF4-FFF2-40B4-BE49-F238E27FC236}">
                    <a16:creationId xmlns:a16="http://schemas.microsoft.com/office/drawing/2014/main" id="{4A3D70BA-B5F3-FBDA-53EC-95B34536CA9D}"/>
                  </a:ext>
                  <a:ext uri="{C183D7F6-B498-43B3-948B-1728B52AA6E4}">
                    <adec:decorative xmlns:adec="http://schemas.microsoft.com/office/drawing/2017/decorative" val="1"/>
                  </a:ext>
                </a:extLst>
              </p:cNvPr>
              <p:cNvCxnSpPr>
                <a:cxnSpLocks/>
                <a:stCxn id="19" idx="6"/>
                <a:endCxn id="28" idx="2"/>
              </p:cNvCxnSpPr>
              <p:nvPr/>
            </p:nvCxnSpPr>
            <p:spPr>
              <a:xfrm>
                <a:off x="5042292" y="56801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7" name="Straight Connector 36">
                <a:extLst>
                  <a:ext uri="{FF2B5EF4-FFF2-40B4-BE49-F238E27FC236}">
                    <a16:creationId xmlns:a16="http://schemas.microsoft.com/office/drawing/2014/main" id="{34FC3790-1DF2-D828-D120-0BF4696D2466}"/>
                  </a:ext>
                  <a:ext uri="{C183D7F6-B498-43B3-948B-1728B52AA6E4}">
                    <adec:decorative xmlns:adec="http://schemas.microsoft.com/office/drawing/2017/decorative" val="1"/>
                  </a:ext>
                </a:extLst>
              </p:cNvPr>
              <p:cNvCxnSpPr>
                <a:cxnSpLocks/>
                <a:stCxn id="27" idx="6"/>
                <a:endCxn id="28" idx="2"/>
              </p:cNvCxnSpPr>
              <p:nvPr/>
            </p:nvCxnSpPr>
            <p:spPr>
              <a:xfrm flipV="1">
                <a:off x="5042292" y="5832502"/>
                <a:ext cx="30480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8" name="Straight Connector 37">
                <a:extLst>
                  <a:ext uri="{FF2B5EF4-FFF2-40B4-BE49-F238E27FC236}">
                    <a16:creationId xmlns:a16="http://schemas.microsoft.com/office/drawing/2014/main" id="{4B3FE80B-AAF9-65B2-6618-6FBA7687BD74}"/>
                  </a:ext>
                  <a:ext uri="{C183D7F6-B498-43B3-948B-1728B52AA6E4}">
                    <adec:decorative xmlns:adec="http://schemas.microsoft.com/office/drawing/2017/decorative" val="1"/>
                  </a:ext>
                </a:extLst>
              </p:cNvPr>
              <p:cNvCxnSpPr>
                <a:cxnSpLocks/>
                <a:stCxn id="27" idx="6"/>
                <a:endCxn id="22" idx="2"/>
              </p:cNvCxnSpPr>
              <p:nvPr/>
            </p:nvCxnSpPr>
            <p:spPr>
              <a:xfrm flipV="1">
                <a:off x="5042292" y="5527702"/>
                <a:ext cx="30480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39" name="Straight Connector 38">
                <a:extLst>
                  <a:ext uri="{FF2B5EF4-FFF2-40B4-BE49-F238E27FC236}">
                    <a16:creationId xmlns:a16="http://schemas.microsoft.com/office/drawing/2014/main" id="{60381267-2CEF-0E11-929C-DD78D5BF1536}"/>
                  </a:ext>
                  <a:ext uri="{C183D7F6-B498-43B3-948B-1728B52AA6E4}">
                    <adec:decorative xmlns:adec="http://schemas.microsoft.com/office/drawing/2017/decorative" val="1"/>
                  </a:ext>
                </a:extLst>
              </p:cNvPr>
              <p:cNvCxnSpPr>
                <a:cxnSpLocks/>
                <a:stCxn id="19" idx="6"/>
                <a:endCxn id="21" idx="3"/>
              </p:cNvCxnSpPr>
              <p:nvPr/>
            </p:nvCxnSpPr>
            <p:spPr>
              <a:xfrm flipV="1">
                <a:off x="5042292" y="5286349"/>
                <a:ext cx="327118" cy="3937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0" name="Straight Connector 39">
                <a:extLst>
                  <a:ext uri="{FF2B5EF4-FFF2-40B4-BE49-F238E27FC236}">
                    <a16:creationId xmlns:a16="http://schemas.microsoft.com/office/drawing/2014/main" id="{801AFF4B-B3F2-B01A-3B78-D854F556ACEC}"/>
                  </a:ext>
                  <a:ext uri="{C183D7F6-B498-43B3-948B-1728B52AA6E4}">
                    <adec:decorative xmlns:adec="http://schemas.microsoft.com/office/drawing/2017/decorative" val="1"/>
                  </a:ext>
                </a:extLst>
              </p:cNvPr>
              <p:cNvCxnSpPr>
                <a:cxnSpLocks/>
                <a:stCxn id="18" idx="6"/>
                <a:endCxn id="20" idx="3"/>
              </p:cNvCxnSpPr>
              <p:nvPr/>
            </p:nvCxnSpPr>
            <p:spPr>
              <a:xfrm flipV="1">
                <a:off x="5042292" y="5057749"/>
                <a:ext cx="327118" cy="3175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1" name="Straight Connector 40">
                <a:extLst>
                  <a:ext uri="{FF2B5EF4-FFF2-40B4-BE49-F238E27FC236}">
                    <a16:creationId xmlns:a16="http://schemas.microsoft.com/office/drawing/2014/main" id="{8559B934-D7F1-93EE-752D-3B2FFF4009A7}"/>
                  </a:ext>
                  <a:ext uri="{C183D7F6-B498-43B3-948B-1728B52AA6E4}">
                    <adec:decorative xmlns:adec="http://schemas.microsoft.com/office/drawing/2017/decorative" val="1"/>
                  </a:ext>
                </a:extLst>
              </p:cNvPr>
              <p:cNvCxnSpPr>
                <a:cxnSpLocks/>
                <a:stCxn id="16" idx="6"/>
                <a:endCxn id="21" idx="1"/>
              </p:cNvCxnSpPr>
              <p:nvPr/>
            </p:nvCxnSpPr>
            <p:spPr>
              <a:xfrm>
                <a:off x="5042292" y="4841902"/>
                <a:ext cx="327118" cy="317553"/>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2" name="Straight Connector 41">
                <a:extLst>
                  <a:ext uri="{FF2B5EF4-FFF2-40B4-BE49-F238E27FC236}">
                    <a16:creationId xmlns:a16="http://schemas.microsoft.com/office/drawing/2014/main" id="{EBB7651F-3179-6134-080A-D638453A6BF9}"/>
                  </a:ext>
                  <a:ext uri="{C183D7F6-B498-43B3-948B-1728B52AA6E4}">
                    <adec:decorative xmlns:adec="http://schemas.microsoft.com/office/drawing/2017/decorative" val="1"/>
                  </a:ext>
                </a:extLst>
              </p:cNvPr>
              <p:cNvCxnSpPr>
                <a:cxnSpLocks/>
                <a:stCxn id="18" idx="6"/>
                <a:endCxn id="28" idx="2"/>
              </p:cNvCxnSpPr>
              <p:nvPr/>
            </p:nvCxnSpPr>
            <p:spPr>
              <a:xfrm>
                <a:off x="5042292" y="5375302"/>
                <a:ext cx="30480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3" name="Straight Connector 42">
                <a:extLst>
                  <a:ext uri="{FF2B5EF4-FFF2-40B4-BE49-F238E27FC236}">
                    <a16:creationId xmlns:a16="http://schemas.microsoft.com/office/drawing/2014/main" id="{97768FA7-7107-9EE3-4CF5-BED604BA12B4}"/>
                  </a:ext>
                  <a:ext uri="{C183D7F6-B498-43B3-948B-1728B52AA6E4}">
                    <adec:decorative xmlns:adec="http://schemas.microsoft.com/office/drawing/2017/decorative" val="1"/>
                  </a:ext>
                </a:extLst>
              </p:cNvPr>
              <p:cNvCxnSpPr>
                <a:cxnSpLocks/>
                <a:stCxn id="20" idx="6"/>
                <a:endCxn id="23" idx="2"/>
              </p:cNvCxnSpPr>
              <p:nvPr/>
            </p:nvCxnSpPr>
            <p:spPr>
              <a:xfrm flipV="1">
                <a:off x="5499492" y="4842677"/>
                <a:ext cx="336450" cy="1516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4" name="Straight Connector 43">
                <a:extLst>
                  <a:ext uri="{FF2B5EF4-FFF2-40B4-BE49-F238E27FC236}">
                    <a16:creationId xmlns:a16="http://schemas.microsoft.com/office/drawing/2014/main" id="{095E9CCD-ABC3-13F9-ECC9-827AF855E2C0}"/>
                  </a:ext>
                  <a:ext uri="{C183D7F6-B498-43B3-948B-1728B52AA6E4}">
                    <adec:decorative xmlns:adec="http://schemas.microsoft.com/office/drawing/2017/decorative" val="1"/>
                  </a:ext>
                </a:extLst>
              </p:cNvPr>
              <p:cNvCxnSpPr>
                <a:cxnSpLocks/>
                <a:stCxn id="21" idx="6"/>
                <a:endCxn id="23" idx="2"/>
              </p:cNvCxnSpPr>
              <p:nvPr/>
            </p:nvCxnSpPr>
            <p:spPr>
              <a:xfrm flipV="1">
                <a:off x="5499492" y="4842677"/>
                <a:ext cx="336450" cy="3802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5" name="Straight Connector 44">
                <a:extLst>
                  <a:ext uri="{FF2B5EF4-FFF2-40B4-BE49-F238E27FC236}">
                    <a16:creationId xmlns:a16="http://schemas.microsoft.com/office/drawing/2014/main" id="{422BC3BC-0F09-E9C3-3E7B-7A68129217BF}"/>
                  </a:ext>
                  <a:ext uri="{C183D7F6-B498-43B3-948B-1728B52AA6E4}">
                    <adec:decorative xmlns:adec="http://schemas.microsoft.com/office/drawing/2017/decorative" val="1"/>
                  </a:ext>
                </a:extLst>
              </p:cNvPr>
              <p:cNvCxnSpPr>
                <a:cxnSpLocks/>
                <a:stCxn id="22" idx="6"/>
                <a:endCxn id="24" idx="2"/>
              </p:cNvCxnSpPr>
              <p:nvPr/>
            </p:nvCxnSpPr>
            <p:spPr>
              <a:xfrm flipV="1">
                <a:off x="5499492" y="5120421"/>
                <a:ext cx="336450" cy="4072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6" name="Straight Connector 45">
                <a:extLst>
                  <a:ext uri="{FF2B5EF4-FFF2-40B4-BE49-F238E27FC236}">
                    <a16:creationId xmlns:a16="http://schemas.microsoft.com/office/drawing/2014/main" id="{4CF7CFB2-1A13-84D6-B350-16A20A15ABE7}"/>
                  </a:ext>
                  <a:ext uri="{C183D7F6-B498-43B3-948B-1728B52AA6E4}">
                    <adec:decorative xmlns:adec="http://schemas.microsoft.com/office/drawing/2017/decorative" val="1"/>
                  </a:ext>
                </a:extLst>
              </p:cNvPr>
              <p:cNvCxnSpPr>
                <a:cxnSpLocks/>
                <a:stCxn id="28" idx="6"/>
                <a:endCxn id="25" idx="2"/>
              </p:cNvCxnSpPr>
              <p:nvPr/>
            </p:nvCxnSpPr>
            <p:spPr>
              <a:xfrm flipV="1">
                <a:off x="5499492" y="5425221"/>
                <a:ext cx="336450" cy="4072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7" name="Straight Connector 46">
                <a:extLst>
                  <a:ext uri="{FF2B5EF4-FFF2-40B4-BE49-F238E27FC236}">
                    <a16:creationId xmlns:a16="http://schemas.microsoft.com/office/drawing/2014/main" id="{08E1EA95-D224-CC1B-A05D-B02B7F97D75D}"/>
                  </a:ext>
                  <a:ext uri="{C183D7F6-B498-43B3-948B-1728B52AA6E4}">
                    <adec:decorative xmlns:adec="http://schemas.microsoft.com/office/drawing/2017/decorative" val="1"/>
                  </a:ext>
                </a:extLst>
              </p:cNvPr>
              <p:cNvCxnSpPr>
                <a:cxnSpLocks/>
                <a:stCxn id="28" idx="6"/>
                <a:endCxn id="29" idx="1"/>
              </p:cNvCxnSpPr>
              <p:nvPr/>
            </p:nvCxnSpPr>
            <p:spPr>
              <a:xfrm>
                <a:off x="5499492" y="5832502"/>
                <a:ext cx="358768" cy="138872"/>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8" name="Straight Connector 47">
                <a:extLst>
                  <a:ext uri="{FF2B5EF4-FFF2-40B4-BE49-F238E27FC236}">
                    <a16:creationId xmlns:a16="http://schemas.microsoft.com/office/drawing/2014/main" id="{0188BEB8-B6D3-254E-9973-3B815ECA03F5}"/>
                  </a:ext>
                  <a:ext uri="{C183D7F6-B498-43B3-948B-1728B52AA6E4}">
                    <adec:decorative xmlns:adec="http://schemas.microsoft.com/office/drawing/2017/decorative" val="1"/>
                  </a:ext>
                </a:extLst>
              </p:cNvPr>
              <p:cNvCxnSpPr>
                <a:cxnSpLocks/>
                <a:stCxn id="28" idx="6"/>
                <a:endCxn id="26" idx="2"/>
              </p:cNvCxnSpPr>
              <p:nvPr/>
            </p:nvCxnSpPr>
            <p:spPr>
              <a:xfrm flipV="1">
                <a:off x="5499492" y="5730021"/>
                <a:ext cx="336450" cy="1024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49" name="Straight Connector 48">
                <a:extLst>
                  <a:ext uri="{FF2B5EF4-FFF2-40B4-BE49-F238E27FC236}">
                    <a16:creationId xmlns:a16="http://schemas.microsoft.com/office/drawing/2014/main" id="{1D17DFB6-AA71-8F68-FF79-EC751F089E90}"/>
                  </a:ext>
                  <a:ext uri="{C183D7F6-B498-43B3-948B-1728B52AA6E4}">
                    <adec:decorative xmlns:adec="http://schemas.microsoft.com/office/drawing/2017/decorative" val="1"/>
                  </a:ext>
                </a:extLst>
              </p:cNvPr>
              <p:cNvCxnSpPr>
                <a:cxnSpLocks/>
                <a:stCxn id="22" idx="6"/>
                <a:endCxn id="25" idx="2"/>
              </p:cNvCxnSpPr>
              <p:nvPr/>
            </p:nvCxnSpPr>
            <p:spPr>
              <a:xfrm flipV="1">
                <a:off x="5499492" y="5425221"/>
                <a:ext cx="336450" cy="1024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0" name="Straight Connector 49">
                <a:extLst>
                  <a:ext uri="{FF2B5EF4-FFF2-40B4-BE49-F238E27FC236}">
                    <a16:creationId xmlns:a16="http://schemas.microsoft.com/office/drawing/2014/main" id="{78F68341-3125-C0C0-1673-D12F007B60CC}"/>
                  </a:ext>
                  <a:ext uri="{C183D7F6-B498-43B3-948B-1728B52AA6E4}">
                    <adec:decorative xmlns:adec="http://schemas.microsoft.com/office/drawing/2017/decorative" val="1"/>
                  </a:ext>
                </a:extLst>
              </p:cNvPr>
              <p:cNvCxnSpPr>
                <a:cxnSpLocks/>
                <a:stCxn id="20" idx="6"/>
                <a:endCxn id="24" idx="2"/>
              </p:cNvCxnSpPr>
              <p:nvPr/>
            </p:nvCxnSpPr>
            <p:spPr>
              <a:xfrm>
                <a:off x="5499493" y="4994303"/>
                <a:ext cx="336449" cy="1261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1" name="Straight Connector 50">
                <a:extLst>
                  <a:ext uri="{FF2B5EF4-FFF2-40B4-BE49-F238E27FC236}">
                    <a16:creationId xmlns:a16="http://schemas.microsoft.com/office/drawing/2014/main" id="{7A57FBA7-07FD-305A-4785-EA97B8F9368A}"/>
                  </a:ext>
                  <a:ext uri="{C183D7F6-B498-43B3-948B-1728B52AA6E4}">
                    <adec:decorative xmlns:adec="http://schemas.microsoft.com/office/drawing/2017/decorative" val="1"/>
                  </a:ext>
                </a:extLst>
              </p:cNvPr>
              <p:cNvCxnSpPr>
                <a:cxnSpLocks/>
                <a:stCxn id="21" idx="6"/>
                <a:endCxn id="25" idx="2"/>
              </p:cNvCxnSpPr>
              <p:nvPr/>
            </p:nvCxnSpPr>
            <p:spPr>
              <a:xfrm>
                <a:off x="5499492" y="5222902"/>
                <a:ext cx="336450" cy="2023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2" name="Straight Connector 51">
                <a:extLst>
                  <a:ext uri="{FF2B5EF4-FFF2-40B4-BE49-F238E27FC236}">
                    <a16:creationId xmlns:a16="http://schemas.microsoft.com/office/drawing/2014/main" id="{98003135-66B0-AD7D-0DA6-5196EE358797}"/>
                  </a:ext>
                  <a:ext uri="{C183D7F6-B498-43B3-948B-1728B52AA6E4}">
                    <adec:decorative xmlns:adec="http://schemas.microsoft.com/office/drawing/2017/decorative" val="1"/>
                  </a:ext>
                </a:extLst>
              </p:cNvPr>
              <p:cNvCxnSpPr>
                <a:cxnSpLocks/>
                <a:stCxn id="22" idx="6"/>
                <a:endCxn id="26" idx="2"/>
              </p:cNvCxnSpPr>
              <p:nvPr/>
            </p:nvCxnSpPr>
            <p:spPr>
              <a:xfrm>
                <a:off x="5499492" y="5527702"/>
                <a:ext cx="336450" cy="2023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3" name="Straight Connector 52">
                <a:extLst>
                  <a:ext uri="{FF2B5EF4-FFF2-40B4-BE49-F238E27FC236}">
                    <a16:creationId xmlns:a16="http://schemas.microsoft.com/office/drawing/2014/main" id="{6C7D412B-882B-04FD-338F-41824C21705E}"/>
                  </a:ext>
                  <a:ext uri="{C183D7F6-B498-43B3-948B-1728B52AA6E4}">
                    <adec:decorative xmlns:adec="http://schemas.microsoft.com/office/drawing/2017/decorative" val="1"/>
                  </a:ext>
                </a:extLst>
              </p:cNvPr>
              <p:cNvCxnSpPr>
                <a:cxnSpLocks/>
                <a:stCxn id="20" idx="6"/>
                <a:endCxn id="25" idx="2"/>
              </p:cNvCxnSpPr>
              <p:nvPr/>
            </p:nvCxnSpPr>
            <p:spPr>
              <a:xfrm>
                <a:off x="5499492" y="4994302"/>
                <a:ext cx="336450" cy="430919"/>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4" name="Straight Connector 53">
                <a:extLst>
                  <a:ext uri="{FF2B5EF4-FFF2-40B4-BE49-F238E27FC236}">
                    <a16:creationId xmlns:a16="http://schemas.microsoft.com/office/drawing/2014/main" id="{F55FE66B-71A4-C4B6-21FA-2A6C559C0915}"/>
                  </a:ext>
                  <a:ext uri="{C183D7F6-B498-43B3-948B-1728B52AA6E4}">
                    <adec:decorative xmlns:adec="http://schemas.microsoft.com/office/drawing/2017/decorative" val="1"/>
                  </a:ext>
                </a:extLst>
              </p:cNvPr>
              <p:cNvCxnSpPr>
                <a:cxnSpLocks/>
                <a:stCxn id="22" idx="6"/>
                <a:endCxn id="23" idx="2"/>
              </p:cNvCxnSpPr>
              <p:nvPr/>
            </p:nvCxnSpPr>
            <p:spPr>
              <a:xfrm flipV="1">
                <a:off x="5499492" y="4842677"/>
                <a:ext cx="336450" cy="685025"/>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5" name="Straight Connector 54">
                <a:extLst>
                  <a:ext uri="{FF2B5EF4-FFF2-40B4-BE49-F238E27FC236}">
                    <a16:creationId xmlns:a16="http://schemas.microsoft.com/office/drawing/2014/main" id="{E6E60BE8-2F9D-83F8-D75B-9A56A6804C1F}"/>
                  </a:ext>
                  <a:ext uri="{C183D7F6-B498-43B3-948B-1728B52AA6E4}">
                    <adec:decorative xmlns:adec="http://schemas.microsoft.com/office/drawing/2017/decorative" val="1"/>
                  </a:ext>
                </a:extLst>
              </p:cNvPr>
              <p:cNvCxnSpPr>
                <a:cxnSpLocks/>
                <a:stCxn id="22" idx="6"/>
                <a:endCxn id="29" idx="1"/>
              </p:cNvCxnSpPr>
              <p:nvPr/>
            </p:nvCxnSpPr>
            <p:spPr>
              <a:xfrm>
                <a:off x="5499492" y="5527702"/>
                <a:ext cx="358768" cy="443672"/>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56" name="Straight Connector 55">
                <a:extLst>
                  <a:ext uri="{FF2B5EF4-FFF2-40B4-BE49-F238E27FC236}">
                    <a16:creationId xmlns:a16="http://schemas.microsoft.com/office/drawing/2014/main" id="{50DCD506-4009-4481-F793-B6A53AE2C895}"/>
                  </a:ext>
                  <a:ext uri="{C183D7F6-B498-43B3-948B-1728B52AA6E4}">
                    <adec:decorative xmlns:adec="http://schemas.microsoft.com/office/drawing/2017/decorative" val="1"/>
                  </a:ext>
                </a:extLst>
              </p:cNvPr>
              <p:cNvCxnSpPr>
                <a:cxnSpLocks/>
                <a:stCxn id="28" idx="6"/>
                <a:endCxn id="24" idx="2"/>
              </p:cNvCxnSpPr>
              <p:nvPr/>
            </p:nvCxnSpPr>
            <p:spPr>
              <a:xfrm flipV="1">
                <a:off x="5499492" y="5120421"/>
                <a:ext cx="336450" cy="712081"/>
              </a:xfrm>
              <a:prstGeom prst="line">
                <a:avLst/>
              </a:prstGeom>
            </p:spPr>
            <p:style>
              <a:lnRef idx="2">
                <a:schemeClr val="accent6">
                  <a:shade val="15000"/>
                </a:schemeClr>
              </a:lnRef>
              <a:fillRef idx="1">
                <a:schemeClr val="accent6"/>
              </a:fillRef>
              <a:effectRef idx="0">
                <a:schemeClr val="accent6"/>
              </a:effectRef>
              <a:fontRef idx="minor">
                <a:schemeClr val="lt1"/>
              </a:fontRef>
            </p:style>
          </p:cxnSp>
          <p:sp>
            <p:nvSpPr>
              <p:cNvPr id="57" name="Oval 56">
                <a:extLst>
                  <a:ext uri="{FF2B5EF4-FFF2-40B4-BE49-F238E27FC236}">
                    <a16:creationId xmlns:a16="http://schemas.microsoft.com/office/drawing/2014/main" id="{00C28748-FF53-E351-27D0-0D444FD49688}"/>
                  </a:ext>
                  <a:ext uri="{C183D7F6-B498-43B3-948B-1728B52AA6E4}">
                    <adec:decorative xmlns:adec="http://schemas.microsoft.com/office/drawing/2017/decorative" val="1"/>
                  </a:ext>
                </a:extLst>
              </p:cNvPr>
              <p:cNvSpPr/>
              <p:nvPr/>
            </p:nvSpPr>
            <p:spPr>
              <a:xfrm>
                <a:off x="4410942" y="4599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4A8D2B5D-45F5-3DA8-8B01-D6A7AF787EC4}"/>
                  </a:ext>
                  <a:ext uri="{C183D7F6-B498-43B3-948B-1728B52AA6E4}">
                    <adec:decorative xmlns:adec="http://schemas.microsoft.com/office/drawing/2017/decorative" val="1"/>
                  </a:ext>
                </a:extLst>
              </p:cNvPr>
              <p:cNvSpPr/>
              <p:nvPr/>
            </p:nvSpPr>
            <p:spPr>
              <a:xfrm>
                <a:off x="4410942" y="4855430"/>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61340BA5-0FA4-2B48-A20F-446C4E67EFA9}"/>
                  </a:ext>
                  <a:ext uri="{C183D7F6-B498-43B3-948B-1728B52AA6E4}">
                    <adec:decorative xmlns:adec="http://schemas.microsoft.com/office/drawing/2017/decorative" val="1"/>
                  </a:ext>
                </a:extLst>
              </p:cNvPr>
              <p:cNvSpPr/>
              <p:nvPr/>
            </p:nvSpPr>
            <p:spPr>
              <a:xfrm>
                <a:off x="4410942" y="51331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01F66A9F-4E4A-C01B-AEE5-737E36093FA6}"/>
                  </a:ext>
                  <a:ext uri="{C183D7F6-B498-43B3-948B-1728B52AA6E4}">
                    <adec:decorative xmlns:adec="http://schemas.microsoft.com/office/drawing/2017/decorative" val="1"/>
                  </a:ext>
                </a:extLst>
              </p:cNvPr>
              <p:cNvSpPr/>
              <p:nvPr/>
            </p:nvSpPr>
            <p:spPr>
              <a:xfrm>
                <a:off x="4410942" y="54379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314720C6-6CE3-C5D5-F9DE-FABFCB0C5D7B}"/>
                  </a:ext>
                  <a:ext uri="{C183D7F6-B498-43B3-948B-1728B52AA6E4}">
                    <adec:decorative xmlns:adec="http://schemas.microsoft.com/office/drawing/2017/decorative" val="1"/>
                  </a:ext>
                </a:extLst>
              </p:cNvPr>
              <p:cNvSpPr/>
              <p:nvPr/>
            </p:nvSpPr>
            <p:spPr>
              <a:xfrm>
                <a:off x="4410942" y="574277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489773CD-21BD-3EE0-360D-51D67D8A5C6F}"/>
                  </a:ext>
                  <a:ext uri="{C183D7F6-B498-43B3-948B-1728B52AA6E4}">
                    <adec:decorative xmlns:adec="http://schemas.microsoft.com/office/drawing/2017/decorative" val="1"/>
                  </a:ext>
                </a:extLst>
              </p:cNvPr>
              <p:cNvSpPr/>
              <p:nvPr/>
            </p:nvSpPr>
            <p:spPr>
              <a:xfrm>
                <a:off x="4419600" y="6068944"/>
                <a:ext cx="152400" cy="1794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BB414F5E-8241-5027-4E23-4A12B53B57B8}"/>
                  </a:ext>
                  <a:ext uri="{C183D7F6-B498-43B3-948B-1728B52AA6E4}">
                    <adec:decorative xmlns:adec="http://schemas.microsoft.com/office/drawing/2017/decorative" val="1"/>
                  </a:ext>
                </a:extLst>
              </p:cNvPr>
              <p:cNvCxnSpPr>
                <a:cxnSpLocks/>
                <a:stCxn id="57" idx="6"/>
                <a:endCxn id="16" idx="2"/>
              </p:cNvCxnSpPr>
              <p:nvPr/>
            </p:nvCxnSpPr>
            <p:spPr>
              <a:xfrm>
                <a:off x="4563342" y="46895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4" name="Straight Connector 63">
                <a:extLst>
                  <a:ext uri="{FF2B5EF4-FFF2-40B4-BE49-F238E27FC236}">
                    <a16:creationId xmlns:a16="http://schemas.microsoft.com/office/drawing/2014/main" id="{D90444DD-A8C4-5857-E3B0-85BB598A7AFD}"/>
                  </a:ext>
                  <a:ext uri="{C183D7F6-B498-43B3-948B-1728B52AA6E4}">
                    <adec:decorative xmlns:adec="http://schemas.microsoft.com/office/drawing/2017/decorative" val="1"/>
                  </a:ext>
                </a:extLst>
              </p:cNvPr>
              <p:cNvCxnSpPr>
                <a:cxnSpLocks/>
                <a:stCxn id="58" idx="6"/>
                <a:endCxn id="17" idx="2"/>
              </p:cNvCxnSpPr>
              <p:nvPr/>
            </p:nvCxnSpPr>
            <p:spPr>
              <a:xfrm>
                <a:off x="4563342" y="4945158"/>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5" name="Straight Connector 64">
                <a:extLst>
                  <a:ext uri="{FF2B5EF4-FFF2-40B4-BE49-F238E27FC236}">
                    <a16:creationId xmlns:a16="http://schemas.microsoft.com/office/drawing/2014/main" id="{3BB81A97-E6EE-C92D-14E5-FD6C8F2B51EA}"/>
                  </a:ext>
                  <a:ext uri="{C183D7F6-B498-43B3-948B-1728B52AA6E4}">
                    <adec:decorative xmlns:adec="http://schemas.microsoft.com/office/drawing/2017/decorative" val="1"/>
                  </a:ext>
                </a:extLst>
              </p:cNvPr>
              <p:cNvCxnSpPr>
                <a:cxnSpLocks/>
                <a:stCxn id="59" idx="6"/>
                <a:endCxn id="18" idx="2"/>
              </p:cNvCxnSpPr>
              <p:nvPr/>
            </p:nvCxnSpPr>
            <p:spPr>
              <a:xfrm>
                <a:off x="4563342" y="52229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6" name="Straight Connector 65">
                <a:extLst>
                  <a:ext uri="{FF2B5EF4-FFF2-40B4-BE49-F238E27FC236}">
                    <a16:creationId xmlns:a16="http://schemas.microsoft.com/office/drawing/2014/main" id="{6F4BCBB8-7FBC-A678-BB24-8FDA8C2BD55D}"/>
                  </a:ext>
                  <a:ext uri="{C183D7F6-B498-43B3-948B-1728B52AA6E4}">
                    <adec:decorative xmlns:adec="http://schemas.microsoft.com/office/drawing/2017/decorative" val="1"/>
                  </a:ext>
                </a:extLst>
              </p:cNvPr>
              <p:cNvCxnSpPr>
                <a:cxnSpLocks/>
                <a:stCxn id="60" idx="6"/>
                <a:endCxn id="19" idx="2"/>
              </p:cNvCxnSpPr>
              <p:nvPr/>
            </p:nvCxnSpPr>
            <p:spPr>
              <a:xfrm>
                <a:off x="4563342" y="55277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7" name="Straight Connector 66">
                <a:extLst>
                  <a:ext uri="{FF2B5EF4-FFF2-40B4-BE49-F238E27FC236}">
                    <a16:creationId xmlns:a16="http://schemas.microsoft.com/office/drawing/2014/main" id="{A8852BA3-C2AC-80FC-4FED-933262B58AE3}"/>
                  </a:ext>
                  <a:ext uri="{C183D7F6-B498-43B3-948B-1728B52AA6E4}">
                    <adec:decorative xmlns:adec="http://schemas.microsoft.com/office/drawing/2017/decorative" val="1"/>
                  </a:ext>
                </a:extLst>
              </p:cNvPr>
              <p:cNvCxnSpPr>
                <a:cxnSpLocks/>
                <a:stCxn id="61" idx="6"/>
                <a:endCxn id="27" idx="2"/>
              </p:cNvCxnSpPr>
              <p:nvPr/>
            </p:nvCxnSpPr>
            <p:spPr>
              <a:xfrm>
                <a:off x="4563342" y="58325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8" name="Straight Connector 67">
                <a:extLst>
                  <a:ext uri="{FF2B5EF4-FFF2-40B4-BE49-F238E27FC236}">
                    <a16:creationId xmlns:a16="http://schemas.microsoft.com/office/drawing/2014/main" id="{FE1F15E3-558E-DB8C-B876-0F6075AEC866}"/>
                  </a:ext>
                  <a:ext uri="{C183D7F6-B498-43B3-948B-1728B52AA6E4}">
                    <adec:decorative xmlns:adec="http://schemas.microsoft.com/office/drawing/2017/decorative" val="1"/>
                  </a:ext>
                </a:extLst>
              </p:cNvPr>
              <p:cNvCxnSpPr>
                <a:cxnSpLocks/>
                <a:stCxn id="62" idx="6"/>
                <a:endCxn id="27" idx="2"/>
              </p:cNvCxnSpPr>
              <p:nvPr/>
            </p:nvCxnSpPr>
            <p:spPr>
              <a:xfrm flipV="1">
                <a:off x="4572000" y="5984902"/>
                <a:ext cx="317892" cy="17377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69" name="Straight Connector 68">
                <a:extLst>
                  <a:ext uri="{FF2B5EF4-FFF2-40B4-BE49-F238E27FC236}">
                    <a16:creationId xmlns:a16="http://schemas.microsoft.com/office/drawing/2014/main" id="{1FCA1830-B362-5F50-9E34-8813C17EDC6C}"/>
                  </a:ext>
                  <a:ext uri="{C183D7F6-B498-43B3-948B-1728B52AA6E4}">
                    <adec:decorative xmlns:adec="http://schemas.microsoft.com/office/drawing/2017/decorative" val="1"/>
                  </a:ext>
                </a:extLst>
              </p:cNvPr>
              <p:cNvCxnSpPr>
                <a:cxnSpLocks/>
                <a:stCxn id="61" idx="6"/>
                <a:endCxn id="19" idx="2"/>
              </p:cNvCxnSpPr>
              <p:nvPr/>
            </p:nvCxnSpPr>
            <p:spPr>
              <a:xfrm flipV="1">
                <a:off x="4563342" y="5680102"/>
                <a:ext cx="326550" cy="1524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0" name="Straight Connector 69">
                <a:extLst>
                  <a:ext uri="{FF2B5EF4-FFF2-40B4-BE49-F238E27FC236}">
                    <a16:creationId xmlns:a16="http://schemas.microsoft.com/office/drawing/2014/main" id="{1EF48651-4159-154A-6453-8B9938BDA8B4}"/>
                  </a:ext>
                  <a:ext uri="{C183D7F6-B498-43B3-948B-1728B52AA6E4}">
                    <adec:decorative xmlns:adec="http://schemas.microsoft.com/office/drawing/2017/decorative" val="1"/>
                  </a:ext>
                </a:extLst>
              </p:cNvPr>
              <p:cNvCxnSpPr>
                <a:cxnSpLocks/>
                <a:stCxn id="59" idx="6"/>
                <a:endCxn id="17" idx="2"/>
              </p:cNvCxnSpPr>
              <p:nvPr/>
            </p:nvCxnSpPr>
            <p:spPr>
              <a:xfrm flipV="1">
                <a:off x="4563342" y="5097558"/>
                <a:ext cx="326550" cy="1253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1" name="Straight Connector 70">
                <a:extLst>
                  <a:ext uri="{FF2B5EF4-FFF2-40B4-BE49-F238E27FC236}">
                    <a16:creationId xmlns:a16="http://schemas.microsoft.com/office/drawing/2014/main" id="{80448020-70A1-A910-082E-59929EA1FF25}"/>
                  </a:ext>
                  <a:ext uri="{C183D7F6-B498-43B3-948B-1728B52AA6E4}">
                    <adec:decorative xmlns:adec="http://schemas.microsoft.com/office/drawing/2017/decorative" val="1"/>
                  </a:ext>
                </a:extLst>
              </p:cNvPr>
              <p:cNvCxnSpPr>
                <a:cxnSpLocks/>
                <a:stCxn id="58" idx="6"/>
                <a:endCxn id="16" idx="2"/>
              </p:cNvCxnSpPr>
              <p:nvPr/>
            </p:nvCxnSpPr>
            <p:spPr>
              <a:xfrm flipV="1">
                <a:off x="4563342" y="4841902"/>
                <a:ext cx="326550" cy="103256"/>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2" name="Straight Connector 71">
                <a:extLst>
                  <a:ext uri="{FF2B5EF4-FFF2-40B4-BE49-F238E27FC236}">
                    <a16:creationId xmlns:a16="http://schemas.microsoft.com/office/drawing/2014/main" id="{7265FB6E-3B91-CCDD-D22A-D5C44BD12B6C}"/>
                  </a:ext>
                  <a:ext uri="{C183D7F6-B498-43B3-948B-1728B52AA6E4}">
                    <adec:decorative xmlns:adec="http://schemas.microsoft.com/office/drawing/2017/decorative" val="1"/>
                  </a:ext>
                </a:extLst>
              </p:cNvPr>
              <p:cNvCxnSpPr>
                <a:cxnSpLocks/>
                <a:stCxn id="60" idx="6"/>
                <a:endCxn id="27" idx="2"/>
              </p:cNvCxnSpPr>
              <p:nvPr/>
            </p:nvCxnSpPr>
            <p:spPr>
              <a:xfrm>
                <a:off x="4563342" y="5527702"/>
                <a:ext cx="32655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3" name="Straight Connector 72">
                <a:extLst>
                  <a:ext uri="{FF2B5EF4-FFF2-40B4-BE49-F238E27FC236}">
                    <a16:creationId xmlns:a16="http://schemas.microsoft.com/office/drawing/2014/main" id="{FA4F705C-5542-F763-441D-BFF2A498D292}"/>
                  </a:ext>
                  <a:ext uri="{C183D7F6-B498-43B3-948B-1728B52AA6E4}">
                    <adec:decorative xmlns:adec="http://schemas.microsoft.com/office/drawing/2017/decorative" val="1"/>
                  </a:ext>
                </a:extLst>
              </p:cNvPr>
              <p:cNvCxnSpPr>
                <a:cxnSpLocks/>
                <a:stCxn id="58" idx="6"/>
                <a:endCxn id="19" idx="2"/>
              </p:cNvCxnSpPr>
              <p:nvPr/>
            </p:nvCxnSpPr>
            <p:spPr>
              <a:xfrm>
                <a:off x="4563342" y="4945158"/>
                <a:ext cx="326550" cy="734944"/>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4" name="Straight Connector 73">
                <a:extLst>
                  <a:ext uri="{FF2B5EF4-FFF2-40B4-BE49-F238E27FC236}">
                    <a16:creationId xmlns:a16="http://schemas.microsoft.com/office/drawing/2014/main" id="{4DD1EE5A-DBDA-A435-A0FE-B0F46195C9FE}"/>
                  </a:ext>
                  <a:ext uri="{C183D7F6-B498-43B3-948B-1728B52AA6E4}">
                    <adec:decorative xmlns:adec="http://schemas.microsoft.com/office/drawing/2017/decorative" val="1"/>
                  </a:ext>
                </a:extLst>
              </p:cNvPr>
              <p:cNvCxnSpPr>
                <a:cxnSpLocks/>
                <a:stCxn id="60" idx="6"/>
                <a:endCxn id="16" idx="2"/>
              </p:cNvCxnSpPr>
              <p:nvPr/>
            </p:nvCxnSpPr>
            <p:spPr>
              <a:xfrm flipV="1">
                <a:off x="4563342" y="4841902"/>
                <a:ext cx="326550" cy="6858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5" name="Straight Connector 74">
                <a:extLst>
                  <a:ext uri="{FF2B5EF4-FFF2-40B4-BE49-F238E27FC236}">
                    <a16:creationId xmlns:a16="http://schemas.microsoft.com/office/drawing/2014/main" id="{F2CD7630-D715-77D3-4388-FEC10B362B3E}"/>
                  </a:ext>
                  <a:ext uri="{C183D7F6-B498-43B3-948B-1728B52AA6E4}">
                    <adec:decorative xmlns:adec="http://schemas.microsoft.com/office/drawing/2017/decorative" val="1"/>
                  </a:ext>
                </a:extLst>
              </p:cNvPr>
              <p:cNvCxnSpPr>
                <a:cxnSpLocks/>
                <a:stCxn id="62" idx="6"/>
                <a:endCxn id="19" idx="2"/>
              </p:cNvCxnSpPr>
              <p:nvPr/>
            </p:nvCxnSpPr>
            <p:spPr>
              <a:xfrm flipV="1">
                <a:off x="4572000" y="5680102"/>
                <a:ext cx="317892" cy="478570"/>
              </a:xfrm>
              <a:prstGeom prst="line">
                <a:avLst/>
              </a:prstGeom>
            </p:spPr>
            <p:style>
              <a:lnRef idx="2">
                <a:schemeClr val="accent6">
                  <a:shade val="15000"/>
                </a:schemeClr>
              </a:lnRef>
              <a:fillRef idx="1">
                <a:schemeClr val="accent6"/>
              </a:fillRef>
              <a:effectRef idx="0">
                <a:schemeClr val="accent6"/>
              </a:effectRef>
              <a:fontRef idx="minor">
                <a:schemeClr val="lt1"/>
              </a:fontRef>
            </p:style>
          </p:cxnSp>
          <p:cxnSp>
            <p:nvCxnSpPr>
              <p:cNvPr id="76" name="Straight Connector 75">
                <a:extLst>
                  <a:ext uri="{FF2B5EF4-FFF2-40B4-BE49-F238E27FC236}">
                    <a16:creationId xmlns:a16="http://schemas.microsoft.com/office/drawing/2014/main" id="{BD975B8D-9E37-8D2F-28BA-F3EDE1F7EE16}"/>
                  </a:ext>
                  <a:ext uri="{C183D7F6-B498-43B3-948B-1728B52AA6E4}">
                    <adec:decorative xmlns:adec="http://schemas.microsoft.com/office/drawing/2017/decorative" val="1"/>
                  </a:ext>
                </a:extLst>
              </p:cNvPr>
              <p:cNvCxnSpPr>
                <a:cxnSpLocks/>
                <a:stCxn id="61" idx="6"/>
                <a:endCxn id="18" idx="2"/>
              </p:cNvCxnSpPr>
              <p:nvPr/>
            </p:nvCxnSpPr>
            <p:spPr>
              <a:xfrm flipV="1">
                <a:off x="4563342" y="5375302"/>
                <a:ext cx="326550" cy="457200"/>
              </a:xfrm>
              <a:prstGeom prst="line">
                <a:avLst/>
              </a:prstGeom>
            </p:spPr>
            <p:style>
              <a:lnRef idx="2">
                <a:schemeClr val="accent6">
                  <a:shade val="15000"/>
                </a:schemeClr>
              </a:lnRef>
              <a:fillRef idx="1">
                <a:schemeClr val="accent6"/>
              </a:fillRef>
              <a:effectRef idx="0">
                <a:schemeClr val="accent6"/>
              </a:effectRef>
              <a:fontRef idx="minor">
                <a:schemeClr val="lt1"/>
              </a:fontRef>
            </p:style>
          </p:cxnSp>
        </p:grpSp>
        <p:sp>
          <p:nvSpPr>
            <p:cNvPr id="9" name="Arrow: Right 8">
              <a:extLst>
                <a:ext uri="{FF2B5EF4-FFF2-40B4-BE49-F238E27FC236}">
                  <a16:creationId xmlns:a16="http://schemas.microsoft.com/office/drawing/2014/main" id="{AF98EC6D-855B-0FE0-C4A7-C06D726E8163}"/>
                </a:ext>
                <a:ext uri="{C183D7F6-B498-43B3-948B-1728B52AA6E4}">
                  <adec:decorative xmlns:adec="http://schemas.microsoft.com/office/drawing/2017/decorative" val="1"/>
                </a:ext>
              </a:extLst>
            </p:cNvPr>
            <p:cNvSpPr/>
            <p:nvPr/>
          </p:nvSpPr>
          <p:spPr>
            <a:xfrm>
              <a:off x="1442560" y="4430327"/>
              <a:ext cx="425911" cy="533400"/>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descr="Equation: s">
                  <a:extLst>
                    <a:ext uri="{FF2B5EF4-FFF2-40B4-BE49-F238E27FC236}">
                      <a16:creationId xmlns:a16="http://schemas.microsoft.com/office/drawing/2014/main" id="{D5B92B9B-D738-DDDF-6386-B86A4D93CD90}"/>
                    </a:ext>
                  </a:extLst>
                </p:cNvPr>
                <p:cNvSpPr txBox="1"/>
                <p:nvPr/>
              </p:nvSpPr>
              <p:spPr>
                <a:xfrm>
                  <a:off x="1129787" y="4514865"/>
                  <a:ext cx="349711" cy="369332"/>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𝑠</m:t>
                        </m:r>
                      </m:oMath>
                    </m:oMathPara>
                  </a14:m>
                  <a:endParaRPr lang="en-US" dirty="0"/>
                </a:p>
              </p:txBody>
            </p:sp>
          </mc:Choice>
          <mc:Fallback xmlns="">
            <p:sp>
              <p:nvSpPr>
                <p:cNvPr id="194" name="TextBox 193">
                  <a:extLst>
                    <a:ext uri="{FF2B5EF4-FFF2-40B4-BE49-F238E27FC236}">
                      <a16:creationId xmlns:a16="http://schemas.microsoft.com/office/drawing/2014/main" id="{5FAAFD66-2140-E45A-471D-39F874312E32}"/>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129787" y="4514865"/>
                  <a:ext cx="349711" cy="369332"/>
                </a:xfrm>
                <a:prstGeom prst="rect">
                  <a:avLst/>
                </a:prstGeom>
                <a:blipFill>
                  <a:blip r:embed="rId6"/>
                  <a:stretch>
                    <a:fillRect/>
                  </a:stretch>
                </a:blipFill>
              </p:spPr>
              <p:txBody>
                <a:bodyPr/>
                <a:lstStyle/>
                <a:p>
                  <a:r>
                    <a:rPr lang="en-US">
                      <a:noFill/>
                    </a:rPr>
                    <a:t> </a:t>
                  </a:r>
                </a:p>
              </p:txBody>
            </p:sp>
          </mc:Fallback>
        </mc:AlternateContent>
        <p:sp>
          <p:nvSpPr>
            <p:cNvPr id="11" name="Arrow: Right 10">
              <a:extLst>
                <a:ext uri="{FF2B5EF4-FFF2-40B4-BE49-F238E27FC236}">
                  <a16:creationId xmlns:a16="http://schemas.microsoft.com/office/drawing/2014/main" id="{4F388507-8243-2023-9C95-1E027192755E}"/>
                </a:ext>
                <a:ext uri="{C183D7F6-B498-43B3-948B-1728B52AA6E4}">
                  <adec:decorative xmlns:adec="http://schemas.microsoft.com/office/drawing/2017/decorative" val="1"/>
                </a:ext>
              </a:extLst>
            </p:cNvPr>
            <p:cNvSpPr/>
            <p:nvPr/>
          </p:nvSpPr>
          <p:spPr>
            <a:xfrm>
              <a:off x="3810000" y="4491358"/>
              <a:ext cx="384215" cy="503703"/>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descr="Equation: Q(s, a)">
                  <a:extLst>
                    <a:ext uri="{FF2B5EF4-FFF2-40B4-BE49-F238E27FC236}">
                      <a16:creationId xmlns:a16="http://schemas.microsoft.com/office/drawing/2014/main" id="{D3E0B561-EBCC-0059-D5AC-D92389C66148}"/>
                    </a:ext>
                  </a:extLst>
                </p:cNvPr>
                <p:cNvSpPr txBox="1"/>
                <p:nvPr/>
              </p:nvSpPr>
              <p:spPr>
                <a:xfrm>
                  <a:off x="4125676" y="4556563"/>
                  <a:ext cx="924740" cy="369332"/>
                </a:xfrm>
                <a:prstGeom prst="rect">
                  <a:avLst/>
                </a:prstGeom>
                <a:noFill/>
              </p:spPr>
              <p:txBody>
                <a:bodyPr wrap="none" rtlCol="0">
                  <a:spAutoFit/>
                </a:bodyPr>
                <a:lstStyle/>
                <a:p>
                  <a:pPr/>
                  <a14:m>
                    <m:oMathPara xmlns:m="http://schemas.openxmlformats.org/officeDocument/2006/math">
                      <m:oMath>
                        <m:r>
                          <a:rPr lang="en-US" b="0" i="1" dirty="0" smtClean="0">
                            <a:latin typeface="Cambria Math" panose="02040503050406030204" pitchFamily="18" charset="0"/>
                          </a:rPr>
                          <m:t>𝑄</m:t>
                        </m:r>
                        <m:r>
                          <a:rPr lang="en-US" b="0"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 </m:t>
                        </m:r>
                        <m:r>
                          <a:rPr lang="en-US" i="1" dirty="0">
                            <a:latin typeface="Cambria Math" panose="02040503050406030204" pitchFamily="18" charset="0"/>
                          </a:rPr>
                          <m:t>𝑎</m:t>
                        </m:r>
                        <m:r>
                          <a:rPr lang="en-US" b="0" i="1" dirty="0" smtClean="0">
                            <a:latin typeface="Cambria Math" panose="02040503050406030204" pitchFamily="18" charset="0"/>
                          </a:rPr>
                          <m:t>)</m:t>
                        </m:r>
                      </m:oMath>
                    </m:oMathPara>
                  </a14:m>
                  <a:endParaRPr lang="en-US" dirty="0"/>
                </a:p>
              </p:txBody>
            </p:sp>
          </mc:Choice>
          <mc:Fallback xmlns="">
            <p:sp>
              <p:nvSpPr>
                <p:cNvPr id="196" name="TextBox 195">
                  <a:extLst>
                    <a:ext uri="{FF2B5EF4-FFF2-40B4-BE49-F238E27FC236}">
                      <a16:creationId xmlns:a16="http://schemas.microsoft.com/office/drawing/2014/main" id="{D64E343A-1D3A-216C-1B9D-C48B77179E88}"/>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4125676" y="4556563"/>
                  <a:ext cx="924740" cy="369332"/>
                </a:xfrm>
                <a:prstGeom prst="rect">
                  <a:avLst/>
                </a:prstGeom>
                <a:blipFill>
                  <a:blip r:embed="rId7"/>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descr="Equation: S">
                  <a:extLst>
                    <a:ext uri="{FF2B5EF4-FFF2-40B4-BE49-F238E27FC236}">
                      <a16:creationId xmlns:a16="http://schemas.microsoft.com/office/drawing/2014/main" id="{F255FDF8-7D33-04F7-B561-C50954518D66}"/>
                    </a:ext>
                  </a:extLst>
                </p:cNvPr>
                <p:cNvSpPr txBox="1"/>
                <p:nvPr/>
              </p:nvSpPr>
              <p:spPr>
                <a:xfrm>
                  <a:off x="1994915" y="3714030"/>
                  <a:ext cx="363881" cy="369332"/>
                </a:xfrm>
                <a:prstGeom prst="rect">
                  <a:avLst/>
                </a:prstGeom>
                <a:noFill/>
              </p:spPr>
              <p:txBody>
                <a:bodyPr wrap="none" rtlCol="0">
                  <a:spAutoFit/>
                </a:bodyPr>
                <a:lstStyle/>
                <a:p>
                  <a:pPr/>
                  <a14:m>
                    <m:oMathPara xmlns:m="http://schemas.openxmlformats.org/officeDocument/2006/math">
                      <m:oMath>
                        <m:r>
                          <a:rPr lang="en-US" b="0" i="1" dirty="0" smtClean="0">
                            <a:latin typeface="Cambria Math" panose="02040503050406030204" pitchFamily="18" charset="0"/>
                          </a:rPr>
                          <m:t>𝑆</m:t>
                        </m:r>
                      </m:oMath>
                    </m:oMathPara>
                  </a14:m>
                  <a:endParaRPr lang="en-US" dirty="0"/>
                </a:p>
              </p:txBody>
            </p:sp>
          </mc:Choice>
          <mc:Fallback xmlns="">
            <p:sp>
              <p:nvSpPr>
                <p:cNvPr id="197" name="TextBox 196">
                  <a:extLst>
                    <a:ext uri="{FF2B5EF4-FFF2-40B4-BE49-F238E27FC236}">
                      <a16:creationId xmlns:a16="http://schemas.microsoft.com/office/drawing/2014/main" id="{25BA0203-B417-18D9-5155-AC948C3DB147}"/>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994915" y="3714030"/>
                  <a:ext cx="36388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descr="Equation: A">
                  <a:extLst>
                    <a:ext uri="{FF2B5EF4-FFF2-40B4-BE49-F238E27FC236}">
                      <a16:creationId xmlns:a16="http://schemas.microsoft.com/office/drawing/2014/main" id="{2157799B-2D3B-C607-6CF1-8B0D8B6AB88C}"/>
                    </a:ext>
                  </a:extLst>
                </p:cNvPr>
                <p:cNvSpPr txBox="1"/>
                <p:nvPr/>
              </p:nvSpPr>
              <p:spPr>
                <a:xfrm>
                  <a:off x="3182394" y="3851318"/>
                  <a:ext cx="385683" cy="369332"/>
                </a:xfrm>
                <a:prstGeom prst="rect">
                  <a:avLst/>
                </a:prstGeom>
                <a:noFill/>
              </p:spPr>
              <p:txBody>
                <a:bodyPr wrap="none" rtlCol="0">
                  <a:spAutoFit/>
                </a:bodyPr>
                <a:lstStyle/>
                <a:p>
                  <a:pPr/>
                  <a14:m>
                    <m:oMathPara xmlns:m="http://schemas.openxmlformats.org/officeDocument/2006/math">
                      <m:oMath>
                        <m:r>
                          <a:rPr lang="en-US" b="0" i="1" dirty="0" smtClean="0">
                            <a:latin typeface="Cambria Math" panose="02040503050406030204" pitchFamily="18" charset="0"/>
                          </a:rPr>
                          <m:t>𝐴</m:t>
                        </m:r>
                      </m:oMath>
                    </m:oMathPara>
                  </a14:m>
                  <a:endParaRPr lang="en-US" dirty="0"/>
                </a:p>
              </p:txBody>
            </p:sp>
          </mc:Choice>
          <mc:Fallback xmlns="">
            <p:sp>
              <p:nvSpPr>
                <p:cNvPr id="198" name="TextBox 197">
                  <a:extLst>
                    <a:ext uri="{FF2B5EF4-FFF2-40B4-BE49-F238E27FC236}">
                      <a16:creationId xmlns:a16="http://schemas.microsoft.com/office/drawing/2014/main" id="{5F8BBD95-CC36-0F7B-4420-D48D811414FE}"/>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182394" y="3851318"/>
                  <a:ext cx="385683" cy="369332"/>
                </a:xfrm>
                <a:prstGeom prst="rect">
                  <a:avLst/>
                </a:prstGeom>
                <a:blipFill>
                  <a:blip r:embed="rId9"/>
                  <a:stretch>
                    <a:fillRect/>
                  </a:stretch>
                </a:blipFill>
              </p:spPr>
              <p:txBody>
                <a:bodyPr/>
                <a:lstStyle/>
                <a:p>
                  <a:r>
                    <a:rPr lang="en-US">
                      <a:noFill/>
                    </a:rPr>
                    <a:t> </a:t>
                  </a:r>
                </a:p>
              </p:txBody>
            </p:sp>
          </mc:Fallback>
        </mc:AlternateContent>
        <p:sp>
          <p:nvSpPr>
            <p:cNvPr id="15" name="Right Brace 14">
              <a:extLst>
                <a:ext uri="{FF2B5EF4-FFF2-40B4-BE49-F238E27FC236}">
                  <a16:creationId xmlns:a16="http://schemas.microsoft.com/office/drawing/2014/main" id="{2CB9A9E0-78D5-B59D-111A-5D705578C964}"/>
                </a:ext>
                <a:ext uri="{C183D7F6-B498-43B3-948B-1728B52AA6E4}">
                  <adec:decorative xmlns:adec="http://schemas.microsoft.com/office/drawing/2017/decorative" val="1"/>
                </a:ext>
              </a:extLst>
            </p:cNvPr>
            <p:cNvSpPr/>
            <p:nvPr/>
          </p:nvSpPr>
          <p:spPr>
            <a:xfrm>
              <a:off x="3515217" y="4209556"/>
              <a:ext cx="113460" cy="1038077"/>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4981079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182CA9-B2B3-3610-B1BD-640968AE75D6}"/>
              </a:ext>
            </a:extLst>
          </p:cNvPr>
          <p:cNvSpPr>
            <a:spLocks noGrp="1"/>
          </p:cNvSpPr>
          <p:nvPr>
            <p:ph type="title"/>
          </p:nvPr>
        </p:nvSpPr>
        <p:spPr/>
        <p:txBody>
          <a:bodyPr/>
          <a:lstStyle/>
          <a:p>
            <a:r>
              <a:rPr lang="en-US" dirty="0"/>
              <a:t>On-Policy Control with Approximation</a:t>
            </a:r>
          </a:p>
        </p:txBody>
      </p:sp>
      <p:sp>
        <p:nvSpPr>
          <p:cNvPr id="5" name="Text Placeholder 4">
            <a:extLst>
              <a:ext uri="{FF2B5EF4-FFF2-40B4-BE49-F238E27FC236}">
                <a16:creationId xmlns:a16="http://schemas.microsoft.com/office/drawing/2014/main" id="{199EDDEC-CF29-5DBC-259F-0192484A92B0}"/>
              </a:ext>
            </a:extLst>
          </p:cNvPr>
          <p:cNvSpPr>
            <a:spLocks noGrp="1"/>
          </p:cNvSpPr>
          <p:nvPr>
            <p:ph type="body" idx="1"/>
          </p:nvPr>
        </p:nvSpPr>
        <p:spPr/>
        <p:txBody>
          <a:bodyPr/>
          <a:lstStyle/>
          <a:p>
            <a:r>
              <a:rPr lang="en-US" dirty="0"/>
              <a:t>Semi-Gradient Sarsa</a:t>
            </a:r>
          </a:p>
        </p:txBody>
      </p:sp>
    </p:spTree>
    <p:extLst>
      <p:ext uri="{BB962C8B-B14F-4D97-AF65-F5344CB8AC3E}">
        <p14:creationId xmlns:p14="http://schemas.microsoft.com/office/powerpoint/2010/main" val="5875715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9C127B-86A4-4CC5-9EE1-A0FDA5771BE2}"/>
              </a:ext>
            </a:extLst>
          </p:cNvPr>
          <p:cNvSpPr>
            <a:spLocks noGrp="1"/>
          </p:cNvSpPr>
          <p:nvPr>
            <p:ph type="title"/>
          </p:nvPr>
        </p:nvSpPr>
        <p:spPr/>
        <p:txBody>
          <a:bodyPr/>
          <a:lstStyle/>
          <a:p>
            <a:r>
              <a:rPr lang="en-US" dirty="0"/>
              <a:t>Control Problem</a:t>
            </a:r>
          </a:p>
        </p:txBody>
      </p:sp>
      <mc:AlternateContent xmlns:mc="http://schemas.openxmlformats.org/markup-compatibility/2006" xmlns:a14="http://schemas.microsoft.com/office/drawing/2010/main">
        <mc:Choice Requires="a14">
          <p:sp>
            <p:nvSpPr>
              <p:cNvPr id="5" name="Content Placeholder 4" descr="Estimate a parametric approximation for value-action function. q hat (s,a,w) is approximately q sub star (s,a). Training data: S sub t,A sub t maps to U sub t. Update: w sub t plus 1, equals w sub t plus alpha [U sub t minus q hat (S sub t,A sub t, w sub t)] gradient of q hat (S sub t,A sub t,w sub t). U sub t can be any approximation:. MC: U sub t equals G sub t. 1-step TD: U sub t equals R sub t plus 1, plus gamma q hat (S sub t, A sub t,w sub t). …. Policy improvement: update policy with greedy action A star sub t plus 1 equals argmax over a, of q hat (S sub t plus 1,a, w sub t). For on-policy control, use a soft approximation to the greedy policy (e.g., epsilon -greedy)">
                <a:extLst>
                  <a:ext uri="{FF2B5EF4-FFF2-40B4-BE49-F238E27FC236}">
                    <a16:creationId xmlns:a16="http://schemas.microsoft.com/office/drawing/2014/main" id="{DF5B41B1-2FAA-67FF-A039-06F08FE693F6}"/>
                  </a:ext>
                </a:extLst>
              </p:cNvPr>
              <p:cNvSpPr>
                <a:spLocks noGrp="1"/>
              </p:cNvSpPr>
              <p:nvPr>
                <p:ph idx="1"/>
              </p:nvPr>
            </p:nvSpPr>
            <p:spPr/>
            <p:txBody>
              <a:bodyPr>
                <a:normAutofit fontScale="70000" lnSpcReduction="20000"/>
              </a:bodyPr>
              <a:lstStyle/>
              <a:p>
                <a:r>
                  <a:rPr lang="en-US" dirty="0"/>
                  <a:t>Estimate a parametric approximation for the value-action function.</a:t>
                </a:r>
                <a:br>
                  <a:rPr lang="en-US" dirty="0"/>
                </a:br>
                <a:br>
                  <a:rPr lang="en-US" dirty="0"/>
                </a:b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𝑠</m:t>
                        </m:r>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1" i="1" dirty="0" smtClean="0">
                            <a:latin typeface="Cambria Math" panose="02040503050406030204" pitchFamily="18" charset="0"/>
                          </a:rPr>
                          <m:t>𝒘</m:t>
                        </m:r>
                      </m:e>
                    </m:d>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𝑞</m:t>
                        </m:r>
                      </m:e>
                      <m:sub>
                        <m:r>
                          <a:rPr lang="en-US" b="0" i="1" dirty="0" smtClean="0">
                            <a:latin typeface="Cambria Math" panose="02040503050406030204" pitchFamily="18" charset="0"/>
                          </a:rPr>
                          <m:t>∗</m:t>
                        </m:r>
                      </m:sub>
                    </m:sSub>
                    <m:r>
                      <a:rPr lang="en-US" b="0" i="1" dirty="0" smtClean="0">
                        <a:latin typeface="Cambria Math" panose="02040503050406030204" pitchFamily="18" charset="0"/>
                      </a:rPr>
                      <m:t>(</m:t>
                    </m:r>
                    <m:r>
                      <a:rPr lang="en-US" b="0" i="1" dirty="0" smtClean="0">
                        <a:latin typeface="Cambria Math" panose="02040503050406030204" pitchFamily="18" charset="0"/>
                      </a:rPr>
                      <m:t>𝑠</m:t>
                    </m:r>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oMath>
                </a14:m>
                <a:endParaRPr lang="en-US" dirty="0"/>
              </a:p>
              <a:p>
                <a:endParaRPr lang="en-US" dirty="0"/>
              </a:p>
              <a:p>
                <a:r>
                  <a:rPr lang="en-US" b="1" dirty="0"/>
                  <a:t>Training data</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𝑈</m:t>
                        </m:r>
                      </m:e>
                      <m:sub>
                        <m:r>
                          <a:rPr lang="en-US" b="0" i="1" smtClean="0">
                            <a:latin typeface="Cambria Math" panose="02040503050406030204" pitchFamily="18" charset="0"/>
                            <a:ea typeface="Cambria Math" panose="02040503050406030204" pitchFamily="18" charset="0"/>
                          </a:rPr>
                          <m:t>𝑡</m:t>
                        </m:r>
                      </m:sub>
                    </m:sSub>
                  </m:oMath>
                </a14:m>
                <a:endParaRPr lang="en-US" dirty="0"/>
              </a:p>
              <a:p>
                <a:r>
                  <a:rPr lang="en-US" b="1" dirty="0"/>
                  <a:t>Update</a:t>
                </a:r>
                <a:r>
                  <a:rPr lang="en-US"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               </m:t>
                        </m:r>
                        <m:r>
                          <a:rPr lang="en-US" b="1" i="1">
                            <a:latin typeface="Cambria Math" panose="02040503050406030204" pitchFamily="18" charset="0"/>
                          </a:rPr>
                          <m:t>𝒘</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𝛼</m:t>
                    </m:r>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𝑈</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𝑞</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 </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𝒘</m:t>
                                </m:r>
                              </m:e>
                              <m:sub>
                                <m:r>
                                  <a:rPr lang="en-US" i="1">
                                    <a:latin typeface="Cambria Math" panose="02040503050406030204" pitchFamily="18" charset="0"/>
                                    <a:ea typeface="Cambria Math" panose="02040503050406030204" pitchFamily="18" charset="0"/>
                                  </a:rPr>
                                  <m:t>𝑡</m:t>
                                </m:r>
                              </m:sub>
                            </m:sSub>
                          </m:e>
                        </m:d>
                      </m:e>
                    </m:d>
                  </m:oMath>
                </a14:m>
                <a:r>
                  <a:rPr lang="en-US" dirty="0">
                    <a:ea typeface="Cambria Math" panose="02040503050406030204" pitchFamily="18" charset="0"/>
                  </a:rPr>
                  <a:t> </a:t>
                </a:r>
                <a14:m>
                  <m:oMath xmlns:m="http://schemas.openxmlformats.org/officeDocument/2006/math">
                    <m:r>
                      <m:rPr>
                        <m:sty m:val="p"/>
                      </m:rP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𝑞</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𝒘</m:t>
                            </m:r>
                          </m:e>
                          <m:sub>
                            <m:r>
                              <a:rPr lang="en-US" i="1">
                                <a:latin typeface="Cambria Math" panose="02040503050406030204" pitchFamily="18" charset="0"/>
                                <a:ea typeface="Cambria Math" panose="02040503050406030204" pitchFamily="18" charset="0"/>
                              </a:rPr>
                              <m:t>𝑡</m:t>
                            </m:r>
                          </m:sub>
                        </m:sSub>
                      </m:e>
                    </m:d>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𝑡</m:t>
                        </m:r>
                      </m:sub>
                    </m:sSub>
                  </m:oMath>
                </a14:m>
                <a:r>
                  <a:rPr lang="en-US" dirty="0"/>
                  <a:t> can be any approximation:</a:t>
                </a:r>
              </a:p>
              <a:p>
                <a:pPr lvl="2"/>
                <a:r>
                  <a:rPr lang="en-US" dirty="0"/>
                  <a:t>MC: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𝑡</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oMath>
                </a14:m>
                <a:endParaRPr lang="en-US" b="0" i="1" dirty="0"/>
              </a:p>
              <a:p>
                <a:pPr lvl="2"/>
                <a:r>
                  <a:rPr lang="en-US" dirty="0"/>
                  <a:t>1-step TD: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𝛾</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pPr lvl="2"/>
                <a:r>
                  <a:rPr lang="en-US" dirty="0"/>
                  <a:t>…</a:t>
                </a:r>
              </a:p>
              <a:p>
                <a:endParaRPr lang="en-US" dirty="0"/>
              </a:p>
              <a:p>
                <a:r>
                  <a:rPr lang="en-US" b="1" dirty="0"/>
                  <a:t>Policy improvement</a:t>
                </a:r>
                <a:r>
                  <a:rPr lang="en-US" dirty="0"/>
                  <a:t>: update policy with greedy action </a:t>
                </a:r>
                <a:br>
                  <a:rPr lang="en-US" b="0" i="1" dirty="0">
                    <a:latin typeface="Cambria Math" panose="02040503050406030204" pitchFamily="18" charset="0"/>
                  </a:rPr>
                </a:br>
                <a:br>
                  <a:rPr lang="en-US" b="0" i="1" dirty="0">
                    <a:latin typeface="Cambria Math" panose="02040503050406030204" pitchFamily="18" charset="0"/>
                  </a:rPr>
                </a:b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𝑡</m:t>
                        </m:r>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argmax</m:t>
                            </m:r>
                          </m:e>
                          <m:lim>
                            <m:r>
                              <a:rPr lang="en-US" b="0" i="1" smtClean="0">
                                <a:latin typeface="Cambria Math" panose="02040503050406030204" pitchFamily="18" charset="0"/>
                              </a:rPr>
                              <m:t>𝑎</m:t>
                            </m:r>
                          </m:lim>
                        </m:limLow>
                      </m:fName>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 </m:t>
                        </m:r>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𝒘</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e>
                    </m:func>
                  </m:oMath>
                </a14:m>
                <a:endParaRPr lang="en-US" dirty="0"/>
              </a:p>
              <a:p>
                <a:endParaRPr lang="en-US" dirty="0"/>
              </a:p>
              <a:p>
                <a:r>
                  <a:rPr lang="en-US" b="1" dirty="0"/>
                  <a:t>Exploration</a:t>
                </a:r>
                <a:r>
                  <a:rPr lang="en-US" dirty="0"/>
                  <a:t>: For on-policy control, use a soft approximation to the greedy policy (e.g., </a:t>
                </a:r>
                <a14:m>
                  <m:oMath xmlns:m="http://schemas.openxmlformats.org/officeDocument/2006/math">
                    <m:r>
                      <a:rPr lang="en-US" b="0" i="1" smtClean="0">
                        <a:latin typeface="Cambria Math" panose="02040503050406030204" pitchFamily="18" charset="0"/>
                      </a:rPr>
                      <m:t>𝜖</m:t>
                    </m:r>
                  </m:oMath>
                </a14:m>
                <a:r>
                  <a:rPr lang="en-US" dirty="0"/>
                  <a:t>-greedy).</a:t>
                </a:r>
              </a:p>
            </p:txBody>
          </p:sp>
        </mc:Choice>
        <mc:Fallback xmlns="">
          <p:sp>
            <p:nvSpPr>
              <p:cNvPr id="5" name="Content Placeholder 4" descr="Estimate a parametric approximation for value-action function. q hat (s,a,w) is approximately q sub star (s,a). Training data: S sub t,A sub t maps to U sub t. Update: w sub t plus 1, equals w sub t plus alpha [U sub t minus q hat (S sub t,A sub t, w sub t)] gradient of q hat (S sub t,A sub t,w sub t). U sub t can be any approximation:. MC: U sub t equals G sub t. 1-step TD: U sub t equals R sub t plus 1, plus gamma q hat (S sub t, A sub t,w sub t). …. Policy improvement: update policy with greedy action A star sub t plus 1 equals argmax over a, of q hat (S sub t plus 1,a, w sub t). For on-policy control, use a soft approximation to the greedy policy (e.g., epsilon -greedy)">
                <a:extLst>
                  <a:ext uri="{FF2B5EF4-FFF2-40B4-BE49-F238E27FC236}">
                    <a16:creationId xmlns:a16="http://schemas.microsoft.com/office/drawing/2014/main" id="{DF5B41B1-2FAA-67FF-A039-06F08FE693F6}"/>
                  </a:ext>
                </a:extLst>
              </p:cNvPr>
              <p:cNvSpPr>
                <a:spLocks noGrp="1" noRot="1" noChangeAspect="1" noMove="1" noResize="1" noEditPoints="1" noAdjustHandles="1" noChangeArrowheads="1" noChangeShapeType="1" noTextEdit="1"/>
              </p:cNvSpPr>
              <p:nvPr>
                <p:ph idx="1"/>
              </p:nvPr>
            </p:nvSpPr>
            <p:spPr>
              <a:blipFill>
                <a:blip r:embed="rId2"/>
                <a:stretch>
                  <a:fillRect l="-522" t="-2168" b="-1913"/>
                </a:stretch>
              </a:blipFill>
            </p:spPr>
            <p:txBody>
              <a:bodyPr/>
              <a:lstStyle/>
              <a:p>
                <a:r>
                  <a:rPr lang="en-US">
                    <a:noFill/>
                  </a:rPr>
                  <a:t> </a:t>
                </a:r>
              </a:p>
            </p:txBody>
          </p:sp>
        </mc:Fallback>
      </mc:AlternateContent>
      <p:sp>
        <p:nvSpPr>
          <p:cNvPr id="2" name="Speech Bubble: Rectangle with Corners Rounded 1">
            <a:extLst>
              <a:ext uri="{FF2B5EF4-FFF2-40B4-BE49-F238E27FC236}">
                <a16:creationId xmlns:a16="http://schemas.microsoft.com/office/drawing/2014/main" id="{743764ED-EDD8-EBDA-9B21-C73D010EE92B}"/>
              </a:ext>
            </a:extLst>
          </p:cNvPr>
          <p:cNvSpPr/>
          <p:nvPr/>
        </p:nvSpPr>
        <p:spPr>
          <a:xfrm>
            <a:off x="8816830" y="2613171"/>
            <a:ext cx="1484852" cy="608202"/>
          </a:xfrm>
          <a:prstGeom prst="wedgeRoundRectCallout">
            <a:avLst>
              <a:gd name="adj1" fmla="val -260946"/>
              <a:gd name="adj2" fmla="val -12163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We need state-action features!</a:t>
            </a:r>
          </a:p>
        </p:txBody>
      </p:sp>
    </p:spTree>
    <p:extLst>
      <p:ext uri="{BB962C8B-B14F-4D97-AF65-F5344CB8AC3E}">
        <p14:creationId xmlns:p14="http://schemas.microsoft.com/office/powerpoint/2010/main" val="2868951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99B3C-0397-11D2-6355-D1AF78CF478D}"/>
              </a:ext>
            </a:extLst>
          </p:cNvPr>
          <p:cNvSpPr>
            <a:spLocks noGrp="1"/>
          </p:cNvSpPr>
          <p:nvPr>
            <p:ph type="title"/>
          </p:nvPr>
        </p:nvSpPr>
        <p:spPr/>
        <p:txBody>
          <a:bodyPr/>
          <a:lstStyle/>
          <a:p>
            <a:r>
              <a:rPr lang="en-US" dirty="0"/>
              <a:t>State-Action Features</a:t>
            </a:r>
          </a:p>
        </p:txBody>
      </p:sp>
      <mc:AlternateContent xmlns:mc="http://schemas.openxmlformats.org/markup-compatibility/2006" xmlns:a14="http://schemas.microsoft.com/office/drawing/2010/main">
        <mc:Choice Requires="a14">
          <p:sp>
            <p:nvSpPr>
              <p:cNvPr id="3" name="Content Placeholder 2" descr="We need to learn to predict q hat (s,a,w) which should have a different value for each action. Geramifard et al. (2013)* suggest to have different state-feature weights for each action. Example: A state described by x and y and three actions, the weight vector would be w equals (w sub intercept, w sub x,action1, w sub y,action1, w sub x,action2, w sub y,action2, w sub x,action3, w sub y,action3). In the prediction/update, only the intercept and the weights belonging to the action are used">
                <a:extLst>
                  <a:ext uri="{FF2B5EF4-FFF2-40B4-BE49-F238E27FC236}">
                    <a16:creationId xmlns:a16="http://schemas.microsoft.com/office/drawing/2014/main" id="{715F4879-4D97-8E21-D252-963C52345972}"/>
                  </a:ext>
                </a:extLst>
              </p:cNvPr>
              <p:cNvSpPr>
                <a:spLocks noGrp="1"/>
              </p:cNvSpPr>
              <p:nvPr>
                <p:ph idx="1"/>
              </p:nvPr>
            </p:nvSpPr>
            <p:spPr/>
            <p:txBody>
              <a:bodyPr>
                <a:normAutofit fontScale="85000" lnSpcReduction="10000"/>
              </a:bodyPr>
              <a:lstStyle/>
              <a:p>
                <a:pPr marL="0" indent="0">
                  <a:buNone/>
                </a:pPr>
                <a:r>
                  <a:rPr lang="en-US" dirty="0"/>
                  <a:t>We need to learn to predict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𝑞</m:t>
                        </m:r>
                      </m:e>
                    </m:acc>
                    <m:d>
                      <m:dPr>
                        <m:ctrlPr>
                          <a:rPr lang="en-US" i="1" dirty="0">
                            <a:latin typeface="Cambria Math" panose="02040503050406030204" pitchFamily="18" charset="0"/>
                          </a:rPr>
                        </m:ctrlPr>
                      </m:dPr>
                      <m:e>
                        <m:r>
                          <a:rPr lang="en-US" i="1" dirty="0">
                            <a:latin typeface="Cambria Math" panose="02040503050406030204" pitchFamily="18" charset="0"/>
                          </a:rPr>
                          <m:t>𝑠</m:t>
                        </m:r>
                        <m:r>
                          <a:rPr lang="en-US" i="1" dirty="0">
                            <a:latin typeface="Cambria Math" panose="02040503050406030204" pitchFamily="18" charset="0"/>
                          </a:rPr>
                          <m:t>,</m:t>
                        </m:r>
                        <m:r>
                          <a:rPr lang="en-US" i="1" dirty="0">
                            <a:latin typeface="Cambria Math" panose="02040503050406030204" pitchFamily="18" charset="0"/>
                          </a:rPr>
                          <m:t>𝑎</m:t>
                        </m:r>
                        <m:r>
                          <a:rPr lang="en-US" i="1" dirty="0">
                            <a:latin typeface="Cambria Math" panose="02040503050406030204" pitchFamily="18" charset="0"/>
                          </a:rPr>
                          <m:t>,</m:t>
                        </m:r>
                        <m:r>
                          <a:rPr lang="en-US" b="1" i="1" dirty="0">
                            <a:latin typeface="Cambria Math" panose="02040503050406030204" pitchFamily="18" charset="0"/>
                          </a:rPr>
                          <m:t>𝒘</m:t>
                        </m:r>
                      </m:e>
                    </m:d>
                  </m:oMath>
                </a14:m>
                <a:r>
                  <a:rPr lang="en-US" dirty="0"/>
                  <a:t> which should have a different value for each action.</a:t>
                </a:r>
              </a:p>
              <a:p>
                <a:pPr marL="0" indent="0">
                  <a:buNone/>
                </a:pPr>
                <a:endParaRPr lang="en-US" dirty="0"/>
              </a:p>
              <a:p>
                <a:pPr marL="0" indent="0">
                  <a:buNone/>
                </a:pPr>
                <a:r>
                  <a:rPr lang="en-US" dirty="0" err="1"/>
                  <a:t>Geramifard</a:t>
                </a:r>
                <a:r>
                  <a:rPr lang="en-US" dirty="0"/>
                  <a:t> et al. (2013)* suggest having different state-feature weights for each action.</a:t>
                </a:r>
              </a:p>
              <a:p>
                <a:r>
                  <a:rPr lang="en-US" b="1" dirty="0"/>
                  <a:t>Example</a:t>
                </a:r>
                <a:r>
                  <a:rPr lang="en-US" dirty="0"/>
                  <a:t>: A state described by </a:t>
                </a:r>
                <a14:m>
                  <m:oMath xmlns:m="http://schemas.openxmlformats.org/officeDocument/2006/math">
                    <m:r>
                      <a:rPr lang="en-US" b="0" i="1" smtClean="0">
                        <a:latin typeface="Cambria Math" panose="02040503050406030204" pitchFamily="18" charset="0"/>
                      </a:rPr>
                      <m:t>𝑥</m:t>
                    </m:r>
                  </m:oMath>
                </a14:m>
                <a:r>
                  <a:rPr lang="en-US" dirty="0"/>
                  <a:t> and </a:t>
                </a:r>
                <a14:m>
                  <m:oMath xmlns:m="http://schemas.openxmlformats.org/officeDocument/2006/math">
                    <m:r>
                      <a:rPr lang="en-US" b="0" i="1" smtClean="0">
                        <a:latin typeface="Cambria Math" panose="02040503050406030204" pitchFamily="18" charset="0"/>
                      </a:rPr>
                      <m:t>𝑦</m:t>
                    </m:r>
                  </m:oMath>
                </a14:m>
                <a:r>
                  <a:rPr lang="en-US" dirty="0"/>
                  <a:t> + 3 actions would use </a:t>
                </a:r>
                <a:br>
                  <a:rPr lang="en-US" dirty="0"/>
                </a:br>
                <a:br>
                  <a:rPr lang="en-US" dirty="0"/>
                </a:br>
                <a14:m>
                  <m:oMath xmlns:m="http://schemas.openxmlformats.org/officeDocument/2006/math">
                    <m:r>
                      <a:rPr lang="en-US" b="1" i="1" smtClean="0">
                        <a:latin typeface="Cambria Math" panose="02040503050406030204" pitchFamily="18" charset="0"/>
                      </a:rPr>
                      <m:t>𝒘</m:t>
                    </m:r>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w</m:t>
                        </m:r>
                      </m:e>
                      <m:sub>
                        <m:r>
                          <m:rPr>
                            <m:sty m:val="p"/>
                          </m:rPr>
                          <a:rPr lang="en-US" b="0" i="0" smtClean="0">
                            <a:latin typeface="Cambria Math" panose="02040503050406030204" pitchFamily="18" charset="0"/>
                          </a:rPr>
                          <m:t>intercept</m:t>
                        </m:r>
                      </m:sub>
                    </m:sSub>
                    <m:r>
                      <a:rPr lang="en-US" b="0" i="0" smtClean="0">
                        <a:latin typeface="Cambria Math" panose="02040503050406030204" pitchFamily="18" charset="0"/>
                      </a:rPr>
                      <m:t>, </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w</m:t>
                        </m:r>
                      </m:e>
                      <m:sub>
                        <m:r>
                          <m:rPr>
                            <m:sty m:val="p"/>
                          </m:rPr>
                          <a:rPr lang="en-US" b="0" i="0" smtClean="0">
                            <a:latin typeface="Cambria Math" panose="02040503050406030204" pitchFamily="18" charset="0"/>
                          </a:rPr>
                          <m:t>x</m:t>
                        </m:r>
                        <m:r>
                          <a:rPr lang="en-US" b="0" i="0" smtClean="0">
                            <a:latin typeface="Cambria Math" panose="02040503050406030204" pitchFamily="18" charset="0"/>
                          </a:rPr>
                          <m:t>,</m:t>
                        </m:r>
                        <m:r>
                          <m:rPr>
                            <m:sty m:val="p"/>
                          </m:rPr>
                          <a:rPr lang="en-US" b="0" i="0" smtClean="0">
                            <a:latin typeface="Cambria Math" panose="02040503050406030204" pitchFamily="18" charset="0"/>
                          </a:rPr>
                          <m:t>action</m:t>
                        </m:r>
                        <m:r>
                          <a:rPr lang="en-US" b="0" i="0" smtClean="0">
                            <a:latin typeface="Cambria Math" panose="02040503050406030204" pitchFamily="18" charset="0"/>
                          </a:rPr>
                          <m:t>1, </m:t>
                        </m:r>
                      </m:sub>
                    </m:sSub>
                    <m:sSub>
                      <m:sSubPr>
                        <m:ctrlPr>
                          <a:rPr lang="en-US">
                            <a:latin typeface="Cambria Math" panose="02040503050406030204" pitchFamily="18" charset="0"/>
                          </a:rPr>
                        </m:ctrlPr>
                      </m:sSubPr>
                      <m:e>
                        <m:r>
                          <m:rPr>
                            <m:sty m:val="p"/>
                          </m:rPr>
                          <a:rPr lang="en-US">
                            <a:latin typeface="Cambria Math" panose="02040503050406030204" pitchFamily="18" charset="0"/>
                          </a:rPr>
                          <m:t>w</m:t>
                        </m:r>
                      </m:e>
                      <m:sub>
                        <m:r>
                          <m:rPr>
                            <m:sty m:val="p"/>
                          </m:rPr>
                          <a:rPr lang="en-US" b="0" i="0" smtClean="0">
                            <a:latin typeface="Cambria Math" panose="02040503050406030204" pitchFamily="18" charset="0"/>
                          </a:rPr>
                          <m:t>y</m:t>
                        </m:r>
                        <m:r>
                          <a:rPr lang="en-US">
                            <a:latin typeface="Cambria Math" panose="02040503050406030204" pitchFamily="18" charset="0"/>
                          </a:rPr>
                          <m:t>,</m:t>
                        </m:r>
                        <m:r>
                          <m:rPr>
                            <m:sty m:val="p"/>
                          </m:rPr>
                          <a:rPr lang="en-US">
                            <a:latin typeface="Cambria Math" panose="02040503050406030204" pitchFamily="18" charset="0"/>
                          </a:rPr>
                          <m:t>action</m:t>
                        </m:r>
                        <m:r>
                          <a:rPr lang="en-US">
                            <a:latin typeface="Cambria Math" panose="02040503050406030204" pitchFamily="18" charset="0"/>
                          </a:rPr>
                          <m:t>1, </m:t>
                        </m:r>
                      </m:sub>
                    </m:sSub>
                    <m:sSub>
                      <m:sSubPr>
                        <m:ctrlPr>
                          <a:rPr lang="en-US">
                            <a:latin typeface="Cambria Math" panose="02040503050406030204" pitchFamily="18" charset="0"/>
                          </a:rPr>
                        </m:ctrlPr>
                      </m:sSubPr>
                      <m:e>
                        <m:r>
                          <m:rPr>
                            <m:sty m:val="p"/>
                          </m:rPr>
                          <a:rPr lang="en-US">
                            <a:latin typeface="Cambria Math" panose="02040503050406030204" pitchFamily="18" charset="0"/>
                          </a:rPr>
                          <m:t>w</m:t>
                        </m:r>
                      </m:e>
                      <m:sub>
                        <m:r>
                          <m:rPr>
                            <m:sty m:val="p"/>
                          </m:rPr>
                          <a:rPr lang="en-US">
                            <a:latin typeface="Cambria Math" panose="02040503050406030204" pitchFamily="18" charset="0"/>
                          </a:rPr>
                          <m:t>x</m:t>
                        </m:r>
                        <m:r>
                          <a:rPr lang="en-US">
                            <a:latin typeface="Cambria Math" panose="02040503050406030204" pitchFamily="18" charset="0"/>
                          </a:rPr>
                          <m:t>,</m:t>
                        </m:r>
                        <m:r>
                          <m:rPr>
                            <m:sty m:val="p"/>
                          </m:rPr>
                          <a:rPr lang="en-US">
                            <a:latin typeface="Cambria Math" panose="02040503050406030204" pitchFamily="18" charset="0"/>
                          </a:rPr>
                          <m:t>action</m:t>
                        </m:r>
                        <m:r>
                          <a:rPr lang="en-US" b="0" i="0" smtClean="0">
                            <a:latin typeface="Cambria Math" panose="02040503050406030204" pitchFamily="18" charset="0"/>
                          </a:rPr>
                          <m:t>2</m:t>
                        </m:r>
                        <m:r>
                          <a:rPr lang="en-US">
                            <a:latin typeface="Cambria Math" panose="02040503050406030204" pitchFamily="18" charset="0"/>
                          </a:rPr>
                          <m:t>, </m:t>
                        </m:r>
                      </m:sub>
                    </m:sSub>
                    <m:sSub>
                      <m:sSubPr>
                        <m:ctrlPr>
                          <a:rPr lang="en-US">
                            <a:latin typeface="Cambria Math" panose="02040503050406030204" pitchFamily="18" charset="0"/>
                          </a:rPr>
                        </m:ctrlPr>
                      </m:sSubPr>
                      <m:e>
                        <m:r>
                          <m:rPr>
                            <m:sty m:val="p"/>
                          </m:rPr>
                          <a:rPr lang="en-US">
                            <a:latin typeface="Cambria Math" panose="02040503050406030204" pitchFamily="18" charset="0"/>
                          </a:rPr>
                          <m:t>w</m:t>
                        </m:r>
                      </m:e>
                      <m:sub>
                        <m:r>
                          <m:rPr>
                            <m:sty m:val="p"/>
                          </m:rPr>
                          <a:rPr lang="en-US" b="0" i="0" smtClean="0">
                            <a:latin typeface="Cambria Math" panose="02040503050406030204" pitchFamily="18" charset="0"/>
                          </a:rPr>
                          <m:t>y</m:t>
                        </m:r>
                        <m:r>
                          <a:rPr lang="en-US">
                            <a:latin typeface="Cambria Math" panose="02040503050406030204" pitchFamily="18" charset="0"/>
                          </a:rPr>
                          <m:t>,</m:t>
                        </m:r>
                        <m:r>
                          <m:rPr>
                            <m:sty m:val="p"/>
                          </m:rPr>
                          <a:rPr lang="en-US">
                            <a:latin typeface="Cambria Math" panose="02040503050406030204" pitchFamily="18" charset="0"/>
                          </a:rPr>
                          <m:t>action</m:t>
                        </m:r>
                        <m:r>
                          <a:rPr lang="en-US" b="0" i="0" smtClean="0">
                            <a:latin typeface="Cambria Math" panose="02040503050406030204" pitchFamily="18" charset="0"/>
                          </a:rPr>
                          <m:t>2</m:t>
                        </m:r>
                        <m:r>
                          <a:rPr lang="en-US">
                            <a:latin typeface="Cambria Math" panose="02040503050406030204" pitchFamily="18" charset="0"/>
                          </a:rPr>
                          <m:t>, </m:t>
                        </m:r>
                      </m:sub>
                    </m:sSub>
                    <m:sSub>
                      <m:sSubPr>
                        <m:ctrlPr>
                          <a:rPr lang="en-US">
                            <a:latin typeface="Cambria Math" panose="02040503050406030204" pitchFamily="18" charset="0"/>
                          </a:rPr>
                        </m:ctrlPr>
                      </m:sSubPr>
                      <m:e>
                        <m:r>
                          <m:rPr>
                            <m:sty m:val="p"/>
                          </m:rPr>
                          <a:rPr lang="en-US">
                            <a:latin typeface="Cambria Math" panose="02040503050406030204" pitchFamily="18" charset="0"/>
                          </a:rPr>
                          <m:t>w</m:t>
                        </m:r>
                      </m:e>
                      <m:sub>
                        <m:r>
                          <m:rPr>
                            <m:sty m:val="p"/>
                          </m:rPr>
                          <a:rPr lang="en-US">
                            <a:latin typeface="Cambria Math" panose="02040503050406030204" pitchFamily="18" charset="0"/>
                          </a:rPr>
                          <m:t>x</m:t>
                        </m:r>
                        <m:r>
                          <a:rPr lang="en-US">
                            <a:latin typeface="Cambria Math" panose="02040503050406030204" pitchFamily="18" charset="0"/>
                          </a:rPr>
                          <m:t>,</m:t>
                        </m:r>
                        <m:r>
                          <m:rPr>
                            <m:sty m:val="p"/>
                          </m:rPr>
                          <a:rPr lang="en-US">
                            <a:latin typeface="Cambria Math" panose="02040503050406030204" pitchFamily="18" charset="0"/>
                          </a:rPr>
                          <m:t>action</m:t>
                        </m:r>
                        <m:r>
                          <a:rPr lang="en-US" b="0" i="0" smtClean="0">
                            <a:latin typeface="Cambria Math" panose="02040503050406030204" pitchFamily="18" charset="0"/>
                          </a:rPr>
                          <m:t>3</m:t>
                        </m:r>
                        <m:r>
                          <a:rPr lang="en-US">
                            <a:latin typeface="Cambria Math" panose="02040503050406030204" pitchFamily="18" charset="0"/>
                          </a:rPr>
                          <m:t>, </m:t>
                        </m:r>
                      </m:sub>
                    </m:sSub>
                    <m:sSub>
                      <m:sSubPr>
                        <m:ctrlPr>
                          <a:rPr lang="en-US">
                            <a:latin typeface="Cambria Math" panose="02040503050406030204" pitchFamily="18" charset="0"/>
                          </a:rPr>
                        </m:ctrlPr>
                      </m:sSubPr>
                      <m:e>
                        <m:r>
                          <m:rPr>
                            <m:sty m:val="p"/>
                          </m:rPr>
                          <a:rPr lang="en-US">
                            <a:latin typeface="Cambria Math" panose="02040503050406030204" pitchFamily="18" charset="0"/>
                          </a:rPr>
                          <m:t>w</m:t>
                        </m:r>
                      </m:e>
                      <m:sub>
                        <m:r>
                          <m:rPr>
                            <m:sty m:val="p"/>
                          </m:rPr>
                          <a:rPr lang="en-US" b="0" i="0" smtClean="0">
                            <a:latin typeface="Cambria Math" panose="02040503050406030204" pitchFamily="18" charset="0"/>
                          </a:rPr>
                          <m:t>y</m:t>
                        </m:r>
                        <m:r>
                          <a:rPr lang="en-US">
                            <a:latin typeface="Cambria Math" panose="02040503050406030204" pitchFamily="18" charset="0"/>
                          </a:rPr>
                          <m:t>,</m:t>
                        </m:r>
                        <m:r>
                          <m:rPr>
                            <m:sty m:val="p"/>
                          </m:rPr>
                          <a:rPr lang="en-US">
                            <a:latin typeface="Cambria Math" panose="02040503050406030204" pitchFamily="18" charset="0"/>
                          </a:rPr>
                          <m:t>action</m:t>
                        </m:r>
                        <m:r>
                          <a:rPr lang="en-US" b="0" i="0" smtClean="0">
                            <a:latin typeface="Cambria Math" panose="02040503050406030204" pitchFamily="18" charset="0"/>
                          </a:rPr>
                          <m:t>3</m:t>
                        </m:r>
                      </m:sub>
                    </m:sSub>
                    <m:r>
                      <a:rPr lang="en-US" b="0" i="0" smtClean="0">
                        <a:latin typeface="Cambria Math" panose="02040503050406030204" pitchFamily="18" charset="0"/>
                      </a:rPr>
                      <m:t>)</m:t>
                    </m:r>
                  </m:oMath>
                </a14:m>
                <a:br>
                  <a:rPr lang="en-US" dirty="0"/>
                </a:br>
                <a:endParaRPr lang="en-US" dirty="0"/>
              </a:p>
              <a:p>
                <a:pPr marL="0" indent="0">
                  <a:buNone/>
                </a:pPr>
                <a:endParaRPr lang="en-US" dirty="0"/>
              </a:p>
              <a:p>
                <a:r>
                  <a:rPr lang="en-US" dirty="0"/>
                  <a:t>For prediction/update, only the intercept and the weights belonging to the action are used.</a:t>
                </a:r>
              </a:p>
            </p:txBody>
          </p:sp>
        </mc:Choice>
        <mc:Fallback xmlns="">
          <p:sp>
            <p:nvSpPr>
              <p:cNvPr id="3" name="Content Placeholder 2" descr="We need to learn to predict q hat (s,a,w) which should have a different value for each action. Geramifard et al. (2013)* suggest to have different state-feature weights for each action. Example: A state described by x and y and three actions, the weight vector would be w equals (w sub intercept, w sub x,action1, w sub y,action1, w sub x,action2, w sub y,action2, w sub x,action3, w sub y,action3). In the prediction/update, only the intercept and the weights belonging to the action are used">
                <a:extLst>
                  <a:ext uri="{FF2B5EF4-FFF2-40B4-BE49-F238E27FC236}">
                    <a16:creationId xmlns:a16="http://schemas.microsoft.com/office/drawing/2014/main" id="{715F4879-4D97-8E21-D252-963C52345972}"/>
                  </a:ext>
                </a:extLst>
              </p:cNvPr>
              <p:cNvSpPr>
                <a:spLocks noGrp="1" noRot="1" noChangeAspect="1" noMove="1" noResize="1" noEditPoints="1" noAdjustHandles="1" noChangeArrowheads="1" noChangeShapeType="1" noTextEdit="1"/>
              </p:cNvSpPr>
              <p:nvPr>
                <p:ph idx="1"/>
              </p:nvPr>
            </p:nvSpPr>
            <p:spPr>
              <a:blipFill>
                <a:blip r:embed="rId2"/>
                <a:stretch>
                  <a:fillRect l="-928" t="-2296"/>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098B0CDD-5EF7-42CA-4049-17719876723E}"/>
              </a:ext>
            </a:extLst>
          </p:cNvPr>
          <p:cNvSpPr txBox="1"/>
          <p:nvPr/>
        </p:nvSpPr>
        <p:spPr>
          <a:xfrm>
            <a:off x="758504" y="6090407"/>
            <a:ext cx="10595296" cy="523220"/>
          </a:xfrm>
          <a:prstGeom prst="rect">
            <a:avLst/>
          </a:prstGeom>
          <a:noFill/>
        </p:spPr>
        <p:txBody>
          <a:bodyPr wrap="square" rtlCol="0">
            <a:spAutoFit/>
          </a:bodyPr>
          <a:lstStyle/>
          <a:p>
            <a:r>
              <a:rPr lang="en-US" sz="1400" dirty="0"/>
              <a:t>*Alborz </a:t>
            </a:r>
            <a:r>
              <a:rPr lang="en-US" sz="1400" dirty="0" err="1"/>
              <a:t>Geramifard</a:t>
            </a:r>
            <a:r>
              <a:rPr lang="en-US" sz="1400" dirty="0"/>
              <a:t>, Stefanie </a:t>
            </a:r>
            <a:r>
              <a:rPr lang="en-US" sz="1400" dirty="0" err="1"/>
              <a:t>Tellex</a:t>
            </a:r>
            <a:r>
              <a:rPr lang="en-US" sz="1400" dirty="0"/>
              <a:t>, and Thomas J. Walsh. A Tutorial on Linear Function Approximators for Dynamic Programming and Reinforcement Learning, Foundations and Trends in Machine Learning, Vol. 6, No. 4 (2013) 375–454 </a:t>
            </a:r>
          </a:p>
        </p:txBody>
      </p:sp>
    </p:spTree>
    <p:extLst>
      <p:ext uri="{BB962C8B-B14F-4D97-AF65-F5344CB8AC3E}">
        <p14:creationId xmlns:p14="http://schemas.microsoft.com/office/powerpoint/2010/main" val="14302979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7BBAE3-1454-E6F7-DE64-4F54666FFD0D}"/>
              </a:ext>
            </a:extLst>
          </p:cNvPr>
          <p:cNvSpPr>
            <a:spLocks noGrp="1"/>
          </p:cNvSpPr>
          <p:nvPr>
            <p:ph type="title"/>
          </p:nvPr>
        </p:nvSpPr>
        <p:spPr/>
        <p:txBody>
          <a:bodyPr/>
          <a:lstStyle/>
          <a:p>
            <a:r>
              <a:rPr lang="en-US" dirty="0"/>
              <a:t>Episodic Semi-gradient Sarsa</a:t>
            </a:r>
          </a:p>
        </p:txBody>
      </p:sp>
      <p:pic>
        <p:nvPicPr>
          <p:cNvPr id="2" name="Picture 1" descr="Algorithm box: Semi-gradient TD(0) for estimating v hat ≈ v pi. Input: the policy pi to be evaluated. Input: a differentiable function v hat: S plus × R^d → R such that v hat(terminal, ·) = 0. Algorithm parameter: step size alpha &gt; 0. Initialize value-function weights w in R^d arbitrarily (e.g., w = 0). Loop for each episode: Initialize S; Loop for each step of episode: Choose A ~ pi(· | S); Take action A, observe R, S′; w ← w + alpha [R + gamma v hat(S′, w) − v hat(S, w)] times the gradient of v hat(S, w); S ← S′; until S is terminal.">
            <a:extLst>
              <a:ext uri="{FF2B5EF4-FFF2-40B4-BE49-F238E27FC236}">
                <a16:creationId xmlns:a16="http://schemas.microsoft.com/office/drawing/2014/main" id="{3193575F-E8F9-5F2D-1974-DE55A1327E88}"/>
              </a:ext>
            </a:extLst>
          </p:cNvPr>
          <p:cNvPicPr>
            <a:picLocks noChangeAspect="1"/>
          </p:cNvPicPr>
          <p:nvPr/>
        </p:nvPicPr>
        <p:blipFill>
          <a:blip r:embed="rId2"/>
          <a:stretch>
            <a:fillRect/>
          </a:stretch>
        </p:blipFill>
        <p:spPr>
          <a:xfrm>
            <a:off x="92279" y="1065548"/>
            <a:ext cx="7943487" cy="3808603"/>
          </a:xfrm>
          <a:prstGeom prst="rect">
            <a:avLst/>
          </a:prstGeom>
        </p:spPr>
      </p:pic>
      <p:pic>
        <p:nvPicPr>
          <p:cNvPr id="7" name="Picture 6" descr="Algorithm box: Episodic Semi-gradient Sarsa for Estimating q hat ≈ q star. Input: a differentiable action-value function parameterization q hat: S × A × R^d → R. Algorithm parameters: step size alpha &gt; 0, small epsilon &gt; 0. Initialize value-function weights w in R^d arbitrarily (e.g., w = 0). Loop for each episode: S, A ← initial state and action of episode (e.g., epsilon-greedy); Loop for each step of episode: Take action A, observe R, S′; If S′ is terminal: w ← w + alpha [R − q hat(S, A, w)] times the gradient of q hat(S, A, w); Go to next episode. Choose A′ as a function of q hat(S′, ·, w) (e.g., epsilon-greedy); w ← w + alpha [R + gamma q hat(S′, A′, w) − q hat(S, A, w)] times the gradient of q hat(S, A, w); S ← S′; A ← A′.">
            <a:extLst>
              <a:ext uri="{FF2B5EF4-FFF2-40B4-BE49-F238E27FC236}">
                <a16:creationId xmlns:a16="http://schemas.microsoft.com/office/drawing/2014/main" id="{1DA48653-5D6C-7EF0-B7C4-A8F581FE1A54}"/>
              </a:ext>
            </a:extLst>
          </p:cNvPr>
          <p:cNvPicPr>
            <a:picLocks noChangeAspect="1"/>
          </p:cNvPicPr>
          <p:nvPr/>
        </p:nvPicPr>
        <p:blipFill>
          <a:blip r:embed="rId3"/>
          <a:srcRect l="2041" t="1717"/>
          <a:stretch>
            <a:fillRect/>
          </a:stretch>
        </p:blipFill>
        <p:spPr>
          <a:xfrm>
            <a:off x="3447875" y="2093257"/>
            <a:ext cx="8651846" cy="4638907"/>
          </a:xfrm>
          <a:prstGeom prst="rect">
            <a:avLst/>
          </a:prstGeom>
        </p:spPr>
      </p:pic>
      <p:sp>
        <p:nvSpPr>
          <p:cNvPr id="9" name="Arrow: Right 8">
            <a:extLst>
              <a:ext uri="{FF2B5EF4-FFF2-40B4-BE49-F238E27FC236}">
                <a16:creationId xmlns:a16="http://schemas.microsoft.com/office/drawing/2014/main" id="{56C5154D-4D1E-F9B2-DAE2-2A9F1475F6A5}"/>
              </a:ext>
              <a:ext uri="{C183D7F6-B498-43B3-948B-1728B52AA6E4}">
                <adec:decorative xmlns:adec="http://schemas.microsoft.com/office/drawing/2017/decorative" val="1"/>
              </a:ext>
            </a:extLst>
          </p:cNvPr>
          <p:cNvSpPr/>
          <p:nvPr/>
        </p:nvSpPr>
        <p:spPr>
          <a:xfrm>
            <a:off x="2975548" y="3260361"/>
            <a:ext cx="614596" cy="5696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19ABAE24-325C-3516-E8B7-56FE6C1F323D}"/>
              </a:ext>
              <a:ext uri="{C183D7F6-B498-43B3-948B-1728B52AA6E4}">
                <adec:decorative xmlns:adec="http://schemas.microsoft.com/office/drawing/2017/decorative" val="1"/>
              </a:ext>
            </a:extLst>
          </p:cNvPr>
          <p:cNvCxnSpPr/>
          <p:nvPr/>
        </p:nvCxnSpPr>
        <p:spPr>
          <a:xfrm>
            <a:off x="2565243" y="4189682"/>
            <a:ext cx="679508"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6" name="Straight Connector 5">
            <a:extLst>
              <a:ext uri="{FF2B5EF4-FFF2-40B4-BE49-F238E27FC236}">
                <a16:creationId xmlns:a16="http://schemas.microsoft.com/office/drawing/2014/main" id="{9246A066-BD10-513C-EF26-FA8D503A0BAB}"/>
              </a:ext>
              <a:ext uri="{C183D7F6-B498-43B3-948B-1728B52AA6E4}">
                <adec:decorative xmlns:adec="http://schemas.microsoft.com/office/drawing/2017/decorative" val="1"/>
              </a:ext>
            </a:extLst>
          </p:cNvPr>
          <p:cNvCxnSpPr>
            <a:cxnSpLocks/>
          </p:cNvCxnSpPr>
          <p:nvPr/>
        </p:nvCxnSpPr>
        <p:spPr>
          <a:xfrm>
            <a:off x="6088505" y="5943531"/>
            <a:ext cx="1136754" cy="0"/>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2011604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3EA18-53CF-7A68-0335-2A665302D9E5}"/>
              </a:ext>
            </a:extLst>
          </p:cNvPr>
          <p:cNvSpPr>
            <a:spLocks noGrp="1"/>
          </p:cNvSpPr>
          <p:nvPr>
            <p:ph type="title"/>
          </p:nvPr>
        </p:nvSpPr>
        <p:spPr/>
        <p:txBody>
          <a:bodyPr/>
          <a:lstStyle/>
          <a:p>
            <a:r>
              <a:rPr lang="en-US" dirty="0"/>
              <a:t>Considerations for Continuing Tasks</a:t>
            </a:r>
          </a:p>
        </p:txBody>
      </p:sp>
      <mc:AlternateContent xmlns:mc="http://schemas.openxmlformats.org/markup-compatibility/2006" xmlns:a14="http://schemas.microsoft.com/office/drawing/2010/main">
        <mc:Choice Requires="a14">
          <p:sp>
            <p:nvSpPr>
              <p:cNvPr id="3" name="Content Placeholder 2" descr="Discounting vs. Average Reward. Discounted rewards (gamma -returns) are used for tabular methods because returns for each state are separately identified and averaged. G sub t equals R sub t plus 1, plus gamma R sub t plus 2, plus gamma squared R sub t plus 3, plus dot dot dot. With approximation, returns are shared (generalized) between states and it is often better to focus on the long-run average reward per time step. r (pi) equals lim over T to infinity, of 1 over T the sum over t equals 1 to T, of R sub t. Differential Returns. It is often helpful to use differences between the immediate rewards and the average reward given policy pi . G sub t equals the sum over k equals 1 to infinity, of (R sub t plus k plus 1, minus r (pi)). This leads to a differential value function">
                <a:extLst>
                  <a:ext uri="{FF2B5EF4-FFF2-40B4-BE49-F238E27FC236}">
                    <a16:creationId xmlns:a16="http://schemas.microsoft.com/office/drawing/2014/main" id="{0C30AAAA-FA41-809A-C5AC-E6A61E335C30}"/>
                  </a:ext>
                </a:extLst>
              </p:cNvPr>
              <p:cNvSpPr>
                <a:spLocks noGrp="1"/>
              </p:cNvSpPr>
              <p:nvPr>
                <p:ph idx="1"/>
              </p:nvPr>
            </p:nvSpPr>
            <p:spPr/>
            <p:txBody>
              <a:bodyPr>
                <a:normAutofit fontScale="62500" lnSpcReduction="20000"/>
              </a:bodyPr>
              <a:lstStyle/>
              <a:p>
                <a:pPr marL="0" indent="0">
                  <a:buNone/>
                </a:pPr>
                <a:r>
                  <a:rPr lang="en-US" b="1" dirty="0"/>
                  <a:t>Discounting vs. Average Reward</a:t>
                </a:r>
              </a:p>
              <a:p>
                <a:r>
                  <a:rPr lang="en-US" dirty="0"/>
                  <a:t>Discounted rewards (</a:t>
                </a:r>
                <a14:m>
                  <m:oMath xmlns:m="http://schemas.openxmlformats.org/officeDocument/2006/math">
                    <m:r>
                      <a:rPr lang="en-US" b="0" i="1" smtClean="0">
                        <a:latin typeface="Cambria Math" panose="02040503050406030204" pitchFamily="18" charset="0"/>
                      </a:rPr>
                      <m:t>𝛾</m:t>
                    </m:r>
                  </m:oMath>
                </a14:m>
                <a:r>
                  <a:rPr lang="en-US" dirty="0"/>
                  <a:t>-returns) are used for tabular methods because returns for each state are separately identified and averaged. </a:t>
                </a:r>
                <a:br>
                  <a:rPr lang="en-US"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𝛾</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+2</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b="0" i="1" smtClean="0">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+3</m:t>
                        </m:r>
                      </m:sub>
                    </m:sSub>
                    <m:r>
                      <a:rPr lang="en-US" b="0" i="1" smtClean="0">
                        <a:latin typeface="Cambria Math" panose="02040503050406030204" pitchFamily="18" charset="0"/>
                      </a:rPr>
                      <m:t>+…</m:t>
                    </m:r>
                  </m:oMath>
                </a14:m>
                <a:endParaRPr lang="en-US" dirty="0"/>
              </a:p>
              <a:p>
                <a:endParaRPr lang="en-US" dirty="0"/>
              </a:p>
              <a:p>
                <a:r>
                  <a:rPr lang="en-US" dirty="0"/>
                  <a:t>With approximation, returns are shared between states and it is often better to focus on the long-run </a:t>
                </a:r>
                <a:r>
                  <a:rPr lang="en-US" b="1" dirty="0"/>
                  <a:t>average reward of a policy </a:t>
                </a:r>
                <a:r>
                  <a:rPr lang="en-US" dirty="0"/>
                  <a:t>per time step.</a:t>
                </a:r>
                <a:br>
                  <a:rPr lang="en-US" dirty="0"/>
                </a:br>
                <a:br>
                  <a:rPr lang="en-US" dirty="0"/>
                </a:br>
                <a14:m>
                  <m:oMath xmlns:m="http://schemas.openxmlformats.org/officeDocument/2006/math">
                    <m:r>
                      <a:rPr lang="en-US" b="0" i="1" smtClean="0">
                        <a:latin typeface="Cambria Math" panose="02040503050406030204" pitchFamily="18" charset="0"/>
                      </a:rPr>
                      <m:t>𝑟</m:t>
                    </m:r>
                    <m:d>
                      <m:dPr>
                        <m:ctrlPr>
                          <a:rPr lang="en-US" b="0" i="1" smtClean="0">
                            <a:latin typeface="Cambria Math" panose="02040503050406030204" pitchFamily="18" charset="0"/>
                          </a:rPr>
                        </m:ctrlPr>
                      </m:dPr>
                      <m:e>
                        <m:r>
                          <a:rPr lang="en-US" b="0" i="1" smtClean="0">
                            <a:latin typeface="Cambria Math" panose="02040503050406030204" pitchFamily="18" charset="0"/>
                          </a:rPr>
                          <m:t>𝜋</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𝑇</m:t>
                            </m:r>
                            <m:r>
                              <a:rPr lang="en-US" b="0" i="1" smtClean="0">
                                <a:latin typeface="Cambria Math" panose="02040503050406030204" pitchFamily="18" charset="0"/>
                              </a:rPr>
                              <m:t>→∞</m:t>
                            </m:r>
                          </m:lim>
                        </m:limLow>
                      </m:fName>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𝑇</m:t>
                            </m:r>
                          </m:den>
                        </m:f>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𝑡</m:t>
                            </m:r>
                            <m:r>
                              <a:rPr lang="en-US" b="0" i="1" smtClean="0">
                                <a:latin typeface="Cambria Math" panose="02040503050406030204" pitchFamily="18" charset="0"/>
                              </a:rPr>
                              <m:t>=1</m:t>
                            </m:r>
                          </m:sub>
                          <m:sup>
                            <m:r>
                              <a:rPr lang="en-US" b="0" i="1" smtClean="0">
                                <a:latin typeface="Cambria Math" panose="02040503050406030204" pitchFamily="18" charset="0"/>
                              </a:rPr>
                              <m:t>𝑇</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sub>
                            </m:sSub>
                          </m:e>
                        </m:nary>
                      </m:e>
                    </m:func>
                  </m:oMath>
                </a14:m>
                <a:endParaRPr lang="en-US" dirty="0"/>
              </a:p>
              <a:p>
                <a:endParaRPr lang="en-US" dirty="0"/>
              </a:p>
              <a:p>
                <a:pPr marL="0" indent="0">
                  <a:buNone/>
                </a:pPr>
                <a:r>
                  <a:rPr lang="en-US" b="1" dirty="0"/>
                  <a:t>Differential Returns</a:t>
                </a:r>
              </a:p>
              <a:p>
                <a:r>
                  <a:rPr lang="en-US" dirty="0"/>
                  <a:t>It is often helpful to use differences between the immediate rewards and the average reward given policy </a:t>
                </a:r>
                <a14:m>
                  <m:oMath xmlns:m="http://schemas.openxmlformats.org/officeDocument/2006/math">
                    <m:r>
                      <a:rPr lang="en-US" b="0" i="1" smtClean="0">
                        <a:latin typeface="Cambria Math" panose="02040503050406030204" pitchFamily="18" charset="0"/>
                      </a:rPr>
                      <m:t>𝜋</m:t>
                    </m:r>
                  </m:oMath>
                </a14:m>
                <a:r>
                  <a:rPr lang="en-US" dirty="0"/>
                  <a:t>.</a:t>
                </a:r>
                <a:br>
                  <a:rPr lang="en-US" dirty="0"/>
                </a:br>
                <a:br>
                  <a:rPr lang="en-US" dirty="0"/>
                </a:b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G</m:t>
                        </m:r>
                      </m:e>
                      <m:sub>
                        <m:r>
                          <m:rPr>
                            <m:sty m:val="p"/>
                          </m:rPr>
                          <a:rPr lang="en-US" b="0" i="0" smtClean="0">
                            <a:latin typeface="Cambria Math" panose="02040503050406030204" pitchFamily="18" charset="0"/>
                          </a:rPr>
                          <m:t>t</m:t>
                        </m:r>
                      </m:sub>
                    </m:sSub>
                    <m:r>
                      <a:rPr lang="en-US" b="0" i="0" smtClean="0">
                        <a:latin typeface="Cambria Math" panose="02040503050406030204" pitchFamily="18" charset="0"/>
                      </a:rPr>
                      <m:t>=</m:t>
                    </m:r>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m:t>
                        </m:r>
                      </m:sup>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𝑟</m:t>
                            </m:r>
                            <m:d>
                              <m:dPr>
                                <m:ctrlPr>
                                  <a:rPr lang="en-US" i="1">
                                    <a:latin typeface="Cambria Math" panose="02040503050406030204" pitchFamily="18" charset="0"/>
                                  </a:rPr>
                                </m:ctrlPr>
                              </m:dPr>
                              <m:e>
                                <m:r>
                                  <a:rPr lang="en-US" i="1">
                                    <a:latin typeface="Cambria Math" panose="02040503050406030204" pitchFamily="18" charset="0"/>
                                  </a:rPr>
                                  <m:t>𝜋</m:t>
                                </m:r>
                              </m:e>
                            </m:d>
                          </m:e>
                        </m:d>
                      </m:e>
                    </m:nary>
                  </m:oMath>
                </a14:m>
                <a:endParaRPr lang="en-US" dirty="0"/>
              </a:p>
              <a:p>
                <a:r>
                  <a:rPr lang="en-US" dirty="0"/>
                  <a:t>Subtracting </a:t>
                </a:r>
                <a14:m>
                  <m:oMath xmlns:m="http://schemas.openxmlformats.org/officeDocument/2006/math">
                    <m:r>
                      <a:rPr lang="en-US" i="1">
                        <a:latin typeface="Cambria Math" panose="02040503050406030204" pitchFamily="18" charset="0"/>
                      </a:rPr>
                      <m:t>𝑟</m:t>
                    </m:r>
                    <m:d>
                      <m:dPr>
                        <m:ctrlPr>
                          <a:rPr lang="en-US" i="1">
                            <a:latin typeface="Cambria Math" panose="02040503050406030204" pitchFamily="18" charset="0"/>
                          </a:rPr>
                        </m:ctrlPr>
                      </m:dPr>
                      <m:e>
                        <m:r>
                          <a:rPr lang="en-US" i="1">
                            <a:latin typeface="Cambria Math" panose="02040503050406030204" pitchFamily="18" charset="0"/>
                          </a:rPr>
                          <m:t>𝜋</m:t>
                        </m:r>
                      </m:e>
                    </m:d>
                    <m:r>
                      <a:rPr lang="en-US" i="1">
                        <a:latin typeface="Cambria Math" panose="02040503050406030204" pitchFamily="18" charset="0"/>
                      </a:rPr>
                      <m:t> </m:t>
                    </m:r>
                  </m:oMath>
                </a14:m>
                <a:r>
                  <a:rPr lang="en-US" dirty="0"/>
                  <a:t>makes sure that the infinite sum does not diverge.</a:t>
                </a:r>
              </a:p>
              <a:p>
                <a:r>
                  <a:rPr lang="en-US" dirty="0"/>
                  <a:t>Differential returns lead to differential value functions. </a:t>
                </a:r>
              </a:p>
            </p:txBody>
          </p:sp>
        </mc:Choice>
        <mc:Fallback xmlns="">
          <p:sp>
            <p:nvSpPr>
              <p:cNvPr id="3" name="Content Placeholder 2" descr="Discounting vs. Average Reward. Discounted rewards (gamma -returns) are used for tabular methods because returns for each state are separately identified and averaged. G sub t equals R sub t plus 1, plus gamma R sub t plus 2, plus gamma squared R sub t plus 3, plus dot dot dot. With approximation, returns are shared (generalized) between states and it is often better to focus on the long-run average reward per time step. r (pi) equals lim over T to infinity, of 1 over T the sum over t equals 1 to T, of R sub t. Differential Returns. It is often helpful to use differences between the immediate rewards and the average reward given policy pi . G sub t equals the sum over k equals 1 to infinity, of (R sub t plus k plus 1, minus r (pi)). This leads to a differential value function">
                <a:extLst>
                  <a:ext uri="{FF2B5EF4-FFF2-40B4-BE49-F238E27FC236}">
                    <a16:creationId xmlns:a16="http://schemas.microsoft.com/office/drawing/2014/main" id="{0C30AAAA-FA41-809A-C5AC-E6A61E335C30}"/>
                  </a:ext>
                </a:extLst>
              </p:cNvPr>
              <p:cNvSpPr>
                <a:spLocks noGrp="1" noRot="1" noChangeAspect="1" noMove="1" noResize="1" noEditPoints="1" noAdjustHandles="1" noChangeArrowheads="1" noChangeShapeType="1" noTextEdit="1"/>
              </p:cNvSpPr>
              <p:nvPr>
                <p:ph idx="1"/>
              </p:nvPr>
            </p:nvSpPr>
            <p:spPr>
              <a:blipFill>
                <a:blip r:embed="rId2"/>
                <a:stretch>
                  <a:fillRect l="-522" t="-1913" b="-17474"/>
                </a:stretch>
              </a:blipFill>
            </p:spPr>
            <p:txBody>
              <a:bodyPr/>
              <a:lstStyle/>
              <a:p>
                <a:r>
                  <a:rPr lang="en-US">
                    <a:noFill/>
                  </a:rPr>
                  <a:t> </a:t>
                </a:r>
              </a:p>
            </p:txBody>
          </p:sp>
        </mc:Fallback>
      </mc:AlternateContent>
      <p:sp>
        <p:nvSpPr>
          <p:cNvPr id="4" name="Speech Bubble: Rectangle with Corners Rounded 3">
            <a:extLst>
              <a:ext uri="{FF2B5EF4-FFF2-40B4-BE49-F238E27FC236}">
                <a16:creationId xmlns:a16="http://schemas.microsoft.com/office/drawing/2014/main" id="{0F6DEFDC-C726-3B0D-3E63-A5F03C0A16E8}"/>
              </a:ext>
            </a:extLst>
          </p:cNvPr>
          <p:cNvSpPr/>
          <p:nvPr/>
        </p:nvSpPr>
        <p:spPr>
          <a:xfrm>
            <a:off x="8833757" y="3102429"/>
            <a:ext cx="2441122" cy="1110342"/>
          </a:xfrm>
          <a:prstGeom prst="wedgeRoundRectCallout">
            <a:avLst>
              <a:gd name="adj1" fmla="val -115555"/>
              <a:gd name="adj2" fmla="val -416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average reward  does not depend on the start state.</a:t>
            </a:r>
          </a:p>
        </p:txBody>
      </p:sp>
    </p:spTree>
    <p:extLst>
      <p:ext uri="{BB962C8B-B14F-4D97-AF65-F5344CB8AC3E}">
        <p14:creationId xmlns:p14="http://schemas.microsoft.com/office/powerpoint/2010/main" val="977719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52DFC2-AEEE-62B9-A8E6-BC79CBBA3E68}"/>
              </a:ext>
            </a:extLst>
          </p:cNvPr>
          <p:cNvSpPr>
            <a:spLocks noGrp="1"/>
          </p:cNvSpPr>
          <p:nvPr>
            <p:ph type="title"/>
          </p:nvPr>
        </p:nvSpPr>
        <p:spPr>
          <a:xfrm>
            <a:off x="5433934" y="365125"/>
            <a:ext cx="5919864" cy="1807305"/>
          </a:xfrm>
        </p:spPr>
        <p:txBody>
          <a:bodyPr>
            <a:normAutofit/>
          </a:bodyPr>
          <a:lstStyle/>
          <a:p>
            <a:r>
              <a:rPr lang="en-US" sz="4000" dirty="0"/>
              <a:t>What You should Know</a:t>
            </a:r>
          </a:p>
        </p:txBody>
      </p:sp>
      <p:pic>
        <p:nvPicPr>
          <p:cNvPr id="4" name="Picture 3">
            <a:extLst>
              <a:ext uri="{FF2B5EF4-FFF2-40B4-BE49-F238E27FC236}">
                <a16:creationId xmlns:a16="http://schemas.microsoft.com/office/drawing/2014/main" id="{906430D7-ABA0-57D9-90CF-7908FE47A102}"/>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158" r="23307" b="-1"/>
          <a:stretch>
            <a:fillRect/>
          </a:stretch>
        </p:blipFill>
        <p:spPr bwMode="auto">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Content Placeholder 2" descr="Approximate the value function using parametrized functions: v hat (s,w) or q hat (s,a,w). For linear approximation, we need to create features that take non-linearities and the interaction of state components into account. Popular are:. Fourier basis features. Tile coding. Use SGD or semi-gradient descent to learn w from samples by minimizing VE bar . The samples already follow the on-policy distribution mu (s) . Issue: Convergence. Biased target estimates?. Linear vs. non-linear approximation. choice of alpha">
                <a:extLst>
                  <a:ext uri="{FF2B5EF4-FFF2-40B4-BE49-F238E27FC236}">
                    <a16:creationId xmlns:a16="http://schemas.microsoft.com/office/drawing/2014/main" id="{609A1CBE-008E-3619-0BBC-A7F9B6DA6878}"/>
                  </a:ext>
                </a:extLst>
              </p:cNvPr>
              <p:cNvSpPr>
                <a:spLocks noGrp="1"/>
              </p:cNvSpPr>
              <p:nvPr>
                <p:ph idx="1"/>
              </p:nvPr>
            </p:nvSpPr>
            <p:spPr>
              <a:xfrm>
                <a:off x="5531370" y="1873770"/>
                <a:ext cx="5822428" cy="4303193"/>
              </a:xfrm>
            </p:spPr>
            <p:txBody>
              <a:bodyPr>
                <a:normAutofit fontScale="85000" lnSpcReduction="10000"/>
              </a:bodyPr>
              <a:lstStyle/>
              <a:p>
                <a:pPr algn="ctr"/>
                <a:r>
                  <a:rPr lang="en-US" sz="1700" dirty="0"/>
                  <a:t>Approximate the value function using parametrized functions: 	</a:t>
                </a:r>
                <a:br>
                  <a:rPr lang="en-US" sz="1700" dirty="0"/>
                </a:br>
                <a14:m>
                  <m:oMath xmlns:m="http://schemas.openxmlformats.org/officeDocument/2006/math">
                    <m:r>
                      <a:rPr lang="en-US" sz="1700" b="0" i="0" smtClean="0">
                        <a:latin typeface="Cambria Math" panose="02040503050406030204" pitchFamily="18" charset="0"/>
                      </a:rPr>
                      <m:t>             </m:t>
                    </m:r>
                  </m:oMath>
                </a14:m>
                <a:br>
                  <a:rPr lang="en-US" sz="1700" b="0" i="0" dirty="0">
                    <a:latin typeface="Cambria Math" panose="02040503050406030204" pitchFamily="18" charset="0"/>
                  </a:rPr>
                </a:br>
                <a14:m>
                  <m:oMath xmlns:m="http://schemas.openxmlformats.org/officeDocument/2006/math">
                    <m:acc>
                      <m:accPr>
                        <m:chr m:val="̂"/>
                        <m:ctrlPr>
                          <a:rPr lang="en-US" sz="1700" b="0" i="1">
                            <a:latin typeface="Cambria Math" panose="02040503050406030204" pitchFamily="18" charset="0"/>
                          </a:rPr>
                        </m:ctrlPr>
                      </m:accPr>
                      <m:e>
                        <m:r>
                          <a:rPr lang="en-US" sz="1700" b="0" i="1">
                            <a:latin typeface="Cambria Math" panose="02040503050406030204" pitchFamily="18" charset="0"/>
                          </a:rPr>
                          <m:t>𝑣</m:t>
                        </m:r>
                      </m:e>
                    </m:acc>
                    <m:d>
                      <m:dPr>
                        <m:ctrlPr>
                          <a:rPr lang="en-US" sz="1700" i="1">
                            <a:latin typeface="Cambria Math" panose="02040503050406030204" pitchFamily="18" charset="0"/>
                          </a:rPr>
                        </m:ctrlPr>
                      </m:dPr>
                      <m:e>
                        <m:r>
                          <a:rPr lang="en-US" sz="1700" i="1">
                            <a:latin typeface="Cambria Math" panose="02040503050406030204" pitchFamily="18" charset="0"/>
                          </a:rPr>
                          <m:t>𝑠</m:t>
                        </m:r>
                        <m:r>
                          <a:rPr lang="en-US" sz="1700" i="1">
                            <a:latin typeface="Cambria Math" panose="02040503050406030204" pitchFamily="18" charset="0"/>
                          </a:rPr>
                          <m:t>,</m:t>
                        </m:r>
                        <m:r>
                          <a:rPr lang="en-US" sz="1700" b="1" i="1">
                            <a:latin typeface="Cambria Math" panose="02040503050406030204" pitchFamily="18" charset="0"/>
                          </a:rPr>
                          <m:t>𝒘</m:t>
                        </m:r>
                      </m:e>
                    </m:d>
                  </m:oMath>
                </a14:m>
                <a:r>
                  <a:rPr lang="en-US" sz="1700" dirty="0"/>
                  <a:t>  or   </a:t>
                </a:r>
                <a14:m>
                  <m:oMath xmlns:m="http://schemas.openxmlformats.org/officeDocument/2006/math">
                    <m:acc>
                      <m:accPr>
                        <m:chr m:val="̂"/>
                        <m:ctrlPr>
                          <a:rPr lang="en-US" sz="1700" i="1">
                            <a:latin typeface="Cambria Math" panose="02040503050406030204" pitchFamily="18" charset="0"/>
                          </a:rPr>
                        </m:ctrlPr>
                      </m:accPr>
                      <m:e>
                        <m:r>
                          <a:rPr lang="en-US" sz="1700" i="1">
                            <a:latin typeface="Cambria Math" panose="02040503050406030204" pitchFamily="18" charset="0"/>
                          </a:rPr>
                          <m:t>𝑞</m:t>
                        </m:r>
                      </m:e>
                    </m:acc>
                    <m:d>
                      <m:dPr>
                        <m:ctrlPr>
                          <a:rPr lang="en-US" sz="1700" i="1">
                            <a:latin typeface="Cambria Math" panose="02040503050406030204" pitchFamily="18" charset="0"/>
                          </a:rPr>
                        </m:ctrlPr>
                      </m:dPr>
                      <m:e>
                        <m:r>
                          <a:rPr lang="en-US" sz="1700" i="1">
                            <a:latin typeface="Cambria Math" panose="02040503050406030204" pitchFamily="18" charset="0"/>
                          </a:rPr>
                          <m:t>𝑠</m:t>
                        </m:r>
                        <m:r>
                          <a:rPr lang="en-US" sz="1700" i="1">
                            <a:latin typeface="Cambria Math" panose="02040503050406030204" pitchFamily="18" charset="0"/>
                          </a:rPr>
                          <m:t>,</m:t>
                        </m:r>
                        <m:r>
                          <a:rPr lang="en-US" sz="1700" i="1">
                            <a:latin typeface="Cambria Math" panose="02040503050406030204" pitchFamily="18" charset="0"/>
                          </a:rPr>
                          <m:t>𝑎</m:t>
                        </m:r>
                        <m:r>
                          <a:rPr lang="en-US" sz="1700" i="1">
                            <a:latin typeface="Cambria Math" panose="02040503050406030204" pitchFamily="18" charset="0"/>
                          </a:rPr>
                          <m:t>,</m:t>
                        </m:r>
                        <m:r>
                          <a:rPr lang="en-US" sz="1700" b="1" i="1">
                            <a:latin typeface="Cambria Math" panose="02040503050406030204" pitchFamily="18" charset="0"/>
                          </a:rPr>
                          <m:t>𝒘</m:t>
                        </m:r>
                      </m:e>
                    </m:d>
                  </m:oMath>
                </a14:m>
                <a:endParaRPr lang="en-US" sz="1700" dirty="0"/>
              </a:p>
              <a:p>
                <a:endParaRPr lang="en-US" sz="1700" dirty="0"/>
              </a:p>
              <a:p>
                <a:r>
                  <a:rPr lang="en-US" sz="1700" dirty="0"/>
                  <a:t>For linear approximation, we need to create </a:t>
                </a:r>
                <a:r>
                  <a:rPr lang="en-US" sz="1700" b="1" dirty="0"/>
                  <a:t>features</a:t>
                </a:r>
                <a:r>
                  <a:rPr lang="en-US" sz="1700" dirty="0"/>
                  <a:t> that take non-linearities and the interaction of state components into account. Popular are: </a:t>
                </a:r>
              </a:p>
              <a:p>
                <a:pPr lvl="1"/>
                <a:r>
                  <a:rPr lang="en-US" sz="1700" dirty="0"/>
                  <a:t>Fourier basis features </a:t>
                </a:r>
              </a:p>
              <a:p>
                <a:pPr lvl="1"/>
                <a:r>
                  <a:rPr lang="en-US" sz="1700" dirty="0"/>
                  <a:t>Tile coding</a:t>
                </a:r>
              </a:p>
              <a:p>
                <a:endParaRPr lang="en-US" sz="1700" dirty="0"/>
              </a:p>
              <a:p>
                <a:r>
                  <a:rPr lang="en-US" sz="1700" dirty="0"/>
                  <a:t>Use </a:t>
                </a:r>
                <a:r>
                  <a:rPr lang="en-US" sz="1700" b="1" dirty="0"/>
                  <a:t>SGD or semi-gradient descent </a:t>
                </a:r>
                <a:r>
                  <a:rPr lang="en-US" sz="1700" dirty="0"/>
                  <a:t>to learn </a:t>
                </a:r>
                <a14:m>
                  <m:oMath xmlns:m="http://schemas.openxmlformats.org/officeDocument/2006/math">
                    <m:r>
                      <a:rPr lang="en-US" sz="1700" b="1" i="1">
                        <a:latin typeface="Cambria Math" panose="02040503050406030204" pitchFamily="18" charset="0"/>
                      </a:rPr>
                      <m:t>𝒘</m:t>
                    </m:r>
                  </m:oMath>
                </a14:m>
                <a:r>
                  <a:rPr lang="en-US" sz="1700" dirty="0"/>
                  <a:t> from samples by minimizing </a:t>
                </a:r>
                <a14:m>
                  <m:oMath xmlns:m="http://schemas.openxmlformats.org/officeDocument/2006/math">
                    <m:acc>
                      <m:accPr>
                        <m:chr m:val="̅"/>
                        <m:ctrlPr>
                          <a:rPr lang="en-US" sz="1800" i="1">
                            <a:latin typeface="Cambria Math" panose="02040503050406030204" pitchFamily="18" charset="0"/>
                          </a:rPr>
                        </m:ctrlPr>
                      </m:accPr>
                      <m:e>
                        <m:r>
                          <a:rPr lang="en-US" sz="1800" i="1">
                            <a:latin typeface="Cambria Math" panose="02040503050406030204" pitchFamily="18" charset="0"/>
                          </a:rPr>
                          <m:t>𝑉𝐸</m:t>
                        </m:r>
                      </m:e>
                    </m:acc>
                  </m:oMath>
                </a14:m>
                <a:r>
                  <a:rPr lang="en-US" sz="1700" dirty="0"/>
                  <a:t>. The samples already follow the on-policy distribution </a:t>
                </a:r>
                <a14:m>
                  <m:oMath xmlns:m="http://schemas.openxmlformats.org/officeDocument/2006/math">
                    <m:r>
                      <a:rPr lang="en-US" sz="1700" b="0" i="1" smtClean="0">
                        <a:latin typeface="Cambria Math" panose="02040503050406030204" pitchFamily="18" charset="0"/>
                      </a:rPr>
                      <m:t>𝜇</m:t>
                    </m:r>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𝑠</m:t>
                        </m:r>
                      </m:e>
                    </m:d>
                    <m:r>
                      <a:rPr lang="en-US" sz="1700" b="0" i="1" smtClean="0">
                        <a:latin typeface="Cambria Math" panose="02040503050406030204" pitchFamily="18" charset="0"/>
                      </a:rPr>
                      <m:t>.</m:t>
                    </m:r>
                  </m:oMath>
                </a14:m>
                <a:endParaRPr lang="en-US" sz="1700" dirty="0"/>
              </a:p>
              <a:p>
                <a:endParaRPr lang="en-US" sz="1700" dirty="0"/>
              </a:p>
              <a:p>
                <a:r>
                  <a:rPr lang="en-US" sz="1700" dirty="0"/>
                  <a:t>Issue: </a:t>
                </a:r>
                <a:r>
                  <a:rPr lang="en-US" sz="1700" b="1" dirty="0"/>
                  <a:t>Convergence</a:t>
                </a:r>
              </a:p>
              <a:p>
                <a:pPr lvl="1"/>
                <a:r>
                  <a:rPr lang="en-US" sz="1300" dirty="0"/>
                  <a:t>Biased target estimates?</a:t>
                </a:r>
              </a:p>
              <a:p>
                <a:pPr lvl="1"/>
                <a:r>
                  <a:rPr lang="en-US" sz="1300" dirty="0"/>
                  <a:t>Linear vs. non-linear approximation.</a:t>
                </a:r>
              </a:p>
              <a:p>
                <a:pPr lvl="1"/>
                <a:r>
                  <a:rPr lang="en-US" sz="1300" dirty="0"/>
                  <a:t>choice of </a:t>
                </a:r>
                <a14:m>
                  <m:oMath xmlns:m="http://schemas.openxmlformats.org/officeDocument/2006/math">
                    <m:r>
                      <a:rPr lang="en-US" sz="1300" b="0" i="1">
                        <a:latin typeface="Cambria Math" panose="02040503050406030204" pitchFamily="18" charset="0"/>
                      </a:rPr>
                      <m:t>𝛼</m:t>
                    </m:r>
                    <m:r>
                      <a:rPr lang="en-US" sz="1300" b="0" i="1" smtClean="0">
                        <a:latin typeface="Cambria Math" panose="02040503050406030204" pitchFamily="18" charset="0"/>
                      </a:rPr>
                      <m:t>.</m:t>
                    </m:r>
                  </m:oMath>
                </a14:m>
                <a:endParaRPr lang="en-US" sz="1300" dirty="0"/>
              </a:p>
            </p:txBody>
          </p:sp>
        </mc:Choice>
        <mc:Fallback xmlns="">
          <p:sp>
            <p:nvSpPr>
              <p:cNvPr id="3" name="Content Placeholder 2" descr="Approximate the value function using parametrized functions: v hat (s,w) or q hat (s,a,w). For linear approximation, we need to create features that take non-linearities and the interaction of state components into account. Popular are:. Fourier basis features. Tile coding. Use SGD or semi-gradient descent to learn w from samples by minimizing VE bar . The samples already follow the on-policy distribution mu (s) . Issue: Convergence. Biased target estimates?. Linear vs. non-linear approximation. choice of alpha">
                <a:extLst>
                  <a:ext uri="{FF2B5EF4-FFF2-40B4-BE49-F238E27FC236}">
                    <a16:creationId xmlns:a16="http://schemas.microsoft.com/office/drawing/2014/main" id="{609A1CBE-008E-3619-0BBC-A7F9B6DA6878}"/>
                  </a:ext>
                </a:extLst>
              </p:cNvPr>
              <p:cNvSpPr>
                <a:spLocks noGrp="1" noRot="1" noChangeAspect="1" noMove="1" noResize="1" noEditPoints="1" noAdjustHandles="1" noChangeArrowheads="1" noChangeShapeType="1" noTextEdit="1"/>
              </p:cNvSpPr>
              <p:nvPr>
                <p:ph idx="1"/>
              </p:nvPr>
            </p:nvSpPr>
            <p:spPr>
              <a:xfrm>
                <a:off x="5531370" y="1873770"/>
                <a:ext cx="5822428" cy="4303193"/>
              </a:xfrm>
              <a:blipFill>
                <a:blip r:embed="rId3"/>
                <a:stretch>
                  <a:fillRect l="-105" t="-992"/>
                </a:stretch>
              </a:blipFill>
            </p:spPr>
            <p:txBody>
              <a:bodyPr/>
              <a:lstStyle/>
              <a:p>
                <a:r>
                  <a:rPr lang="en-US">
                    <a:noFill/>
                  </a:rPr>
                  <a:t> </a:t>
                </a:r>
              </a:p>
            </p:txBody>
          </p:sp>
        </mc:Fallback>
      </mc:AlternateContent>
    </p:spTree>
    <p:extLst>
      <p:ext uri="{BB962C8B-B14F-4D97-AF65-F5344CB8AC3E}">
        <p14:creationId xmlns:p14="http://schemas.microsoft.com/office/powerpoint/2010/main" val="2931045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19808</TotalTime>
  <Words>3894</Words>
  <Application>Microsoft Office PowerPoint</Application>
  <PresentationFormat>Widescreen</PresentationFormat>
  <Paragraphs>409</Paragraphs>
  <Slides>37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Aptos Display</vt:lpstr>
      <vt:lpstr>Arial</vt:lpstr>
      <vt:lpstr>Calibri</vt:lpstr>
      <vt:lpstr>Cambria Math</vt:lpstr>
      <vt:lpstr>Office Theme</vt:lpstr>
      <vt:lpstr>Reinforcement Learning  Prediction and Control with Approximation Sutton/Barto* Chapter 9-11</vt:lpstr>
      <vt:lpstr>Topics of this Course</vt:lpstr>
      <vt:lpstr>Summary of Notation</vt:lpstr>
      <vt:lpstr>Approximate Solution Methods</vt:lpstr>
      <vt:lpstr>Motivation</vt:lpstr>
      <vt:lpstr>Goals of Generalization in RL</vt:lpstr>
      <vt:lpstr>Prediction: Value Function Approximation</vt:lpstr>
      <vt:lpstr>Prediction Objective ((VE) ̅)</vt:lpstr>
      <vt:lpstr>Learning Goal</vt:lpstr>
      <vt:lpstr>Gradient Methods for Prediction</vt:lpstr>
      <vt:lpstr>Gradient Learning Method</vt:lpstr>
      <vt:lpstr>SGD: Stochastic-Gradient Descend</vt:lpstr>
      <vt:lpstr> Step Size for SGD</vt:lpstr>
      <vt:lpstr>Using a Target Estimate for SGD</vt:lpstr>
      <vt:lpstr>Gradient Monte Carlo Algorithm</vt:lpstr>
      <vt:lpstr>Bootstrapping and Semi-Gradient Methods</vt:lpstr>
      <vt:lpstr>Semi-gradient TD(0)</vt:lpstr>
      <vt:lpstr>Linear Approximation Methods</vt:lpstr>
      <vt:lpstr>Linear Methods</vt:lpstr>
      <vt:lpstr>Feature Vector</vt:lpstr>
      <vt:lpstr>Example: L-Maze with Linear Features</vt:lpstr>
      <vt:lpstr>Feature Construction</vt:lpstr>
      <vt:lpstr>Fourier Basis</vt:lpstr>
      <vt:lpstr>Multi-dimensional Fourier Basis</vt:lpstr>
      <vt:lpstr>Example: L-Maze with Order-2 Fourier Features</vt:lpstr>
      <vt:lpstr>Tile Coding</vt:lpstr>
      <vt:lpstr>Example: L-Maze with Tile Coding</vt:lpstr>
      <vt:lpstr>Tabular RL as a Special Case</vt:lpstr>
      <vt:lpstr>Partially Observable Environments</vt:lpstr>
      <vt:lpstr>Non-Linear Function Approximation</vt:lpstr>
      <vt:lpstr>Approximation with ANNs</vt:lpstr>
      <vt:lpstr>On-Policy Control with Approximation</vt:lpstr>
      <vt:lpstr>Control Problem</vt:lpstr>
      <vt:lpstr>State-Action Features</vt:lpstr>
      <vt:lpstr>Episodic Semi-gradient Sarsa</vt:lpstr>
      <vt:lpstr>Considerations for Continuing Tasks</vt:lpstr>
      <vt:lpstr>What You should Know</vt:lpstr>
    </vt:vector>
  </TitlesOfParts>
  <Company>Southern Methodist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Hahsler, Michael</cp:lastModifiedBy>
  <cp:revision>240</cp:revision>
  <dcterms:created xsi:type="dcterms:W3CDTF">2025-09-08T14:44:49Z</dcterms:created>
  <dcterms:modified xsi:type="dcterms:W3CDTF">2026-10-21T13:59:31Z</dcterms:modified>
</cp:coreProperties>
</file>