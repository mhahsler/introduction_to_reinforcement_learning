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5"/>
  </p:notesMasterIdLst>
  <p:sldIdLst>
    <p:sldId id="256" r:id="rId2"/>
    <p:sldId id="313" r:id="rId3"/>
    <p:sldId id="479" r:id="rId4"/>
    <p:sldId id="393" r:id="rId5"/>
    <p:sldId id="394" r:id="rId6"/>
    <p:sldId id="395" r:id="rId7"/>
    <p:sldId id="396" r:id="rId8"/>
    <p:sldId id="397" r:id="rId9"/>
    <p:sldId id="398" r:id="rId10"/>
    <p:sldId id="399" r:id="rId11"/>
    <p:sldId id="400" r:id="rId12"/>
    <p:sldId id="401" r:id="rId13"/>
    <p:sldId id="405" r:id="rId14"/>
    <p:sldId id="403" r:id="rId15"/>
    <p:sldId id="402" r:id="rId16"/>
    <p:sldId id="404" r:id="rId17"/>
    <p:sldId id="406" r:id="rId18"/>
    <p:sldId id="407" r:id="rId19"/>
    <p:sldId id="409" r:id="rId20"/>
    <p:sldId id="480" r:id="rId21"/>
    <p:sldId id="481" r:id="rId22"/>
    <p:sldId id="413" r:id="rId23"/>
    <p:sldId id="417" r:id="rId24"/>
    <p:sldId id="418" r:id="rId25"/>
    <p:sldId id="412" r:id="rId26"/>
    <p:sldId id="482" r:id="rId27"/>
    <p:sldId id="410" r:id="rId28"/>
    <p:sldId id="411" r:id="rId29"/>
    <p:sldId id="414" r:id="rId30"/>
    <p:sldId id="421" r:id="rId31"/>
    <p:sldId id="415" r:id="rId32"/>
    <p:sldId id="422" r:id="rId33"/>
    <p:sldId id="424" r:id="rId3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83286E67-F0F0-421C-8F74-7B93ABA17FBF}">
          <p14:sldIdLst>
            <p14:sldId id="256"/>
            <p14:sldId id="313"/>
            <p14:sldId id="479"/>
          </p14:sldIdLst>
        </p14:section>
        <p14:section name="Introduction" id="{D9D937E3-D2F3-4C78-9AF6-32D6EE796C8D}">
          <p14:sldIdLst>
            <p14:sldId id="393"/>
            <p14:sldId id="394"/>
            <p14:sldId id="395"/>
            <p14:sldId id="396"/>
            <p14:sldId id="397"/>
          </p14:sldIdLst>
        </p14:section>
        <p14:section name="Prediction: Gradient Methods" id="{EAA0CE26-54AA-4F09-BD7A-ECFC52DE3ABA}">
          <p14:sldIdLst>
            <p14:sldId id="398"/>
            <p14:sldId id="399"/>
            <p14:sldId id="400"/>
            <p14:sldId id="401"/>
            <p14:sldId id="405"/>
            <p14:sldId id="403"/>
            <p14:sldId id="402"/>
            <p14:sldId id="404"/>
          </p14:sldIdLst>
        </p14:section>
        <p14:section name="Linear Approximation Methods" id="{9B11E8D6-BFFA-4307-8A9C-339881B4B930}">
          <p14:sldIdLst>
            <p14:sldId id="406"/>
            <p14:sldId id="407"/>
            <p14:sldId id="409"/>
            <p14:sldId id="480"/>
            <p14:sldId id="481"/>
            <p14:sldId id="413"/>
            <p14:sldId id="417"/>
            <p14:sldId id="418"/>
            <p14:sldId id="412"/>
            <p14:sldId id="482"/>
          </p14:sldIdLst>
        </p14:section>
        <p14:section name="Non-Linear Approximation" id="{10B68F28-6DBA-44FD-8764-061354D77D32}">
          <p14:sldIdLst>
            <p14:sldId id="410"/>
            <p14:sldId id="411"/>
          </p14:sldIdLst>
        </p14:section>
        <p14:section name="Control with Approximation" id="{09883537-7828-4CF9-B6B6-B3ACB6856284}">
          <p14:sldIdLst>
            <p14:sldId id="414"/>
            <p14:sldId id="421"/>
            <p14:sldId id="415"/>
            <p14:sldId id="422"/>
          </p14:sldIdLst>
        </p14:section>
        <p14:section name="Summary" id="{94AB0469-3691-476F-8BF6-D8643C9AFED4}">
          <p14:sldIdLst>
            <p14:sldId id="42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4599F94E-CEE6-441E-89CC-EB005ECD8F06}">
      <a14:m xmlns:a14="http://schemas.microsoft.com/office/drawing/2010/main">
        <m:mathPr xmlns:m="http://schemas.openxmlformats.org/officeDocument/2006/math">
          <m:brkBin m:val="before"/>
          <m:brkBinSub m:val="--"/>
        </m:mathPr>
      </a14:m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4056" autoAdjust="0"/>
    <p:restoredTop sz="94660"/>
  </p:normalViewPr>
  <p:slideViewPr>
    <p:cSldViewPr snapToGrid="0">
      <p:cViewPr varScale="1">
        <p:scale>
          <a:sx n="85" d="100"/>
          <a:sy n="85" d="100"/>
        </p:scale>
        <p:origin x="72" y="180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987FC57-34F3-4A88-970B-010E7C0EC943}" type="datetimeFigureOut">
              <a:rPr lang="en-US" smtClean="0"/>
              <a:t>3/26/2026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8511844-9D4B-44EC-AD7B-A52B8DF8F9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294613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8511844-9D4B-44EC-AD7B-A52B8DF8F904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481767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8511844-9D4B-44EC-AD7B-A52B8DF8F904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975013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8D5558-2701-D852-1A01-0BF39B58DE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0E150F4-19D6-3927-AF4C-79938CACB9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1C3DC3-6BE4-4AD5-BF83-83DBE6741D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3/26/2026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CD0FF9-FEE5-7DEA-F2A0-04CD3C8E9F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BCCB2C-BF64-0CEB-C138-EC1E0FF179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73802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3EA809-C199-A2CA-4B62-C11FD83604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5907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ABD398-BC57-413F-4426-6AE62DCF0F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7330"/>
            <a:ext cx="10515600" cy="477963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009A95-DE70-5583-0BB6-25CA049AFA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3/26/2026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2F8C87-113F-3949-D291-E8101A072B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68CBE1-6776-590E-6A36-B274F6F616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71652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37B990-0C44-FE72-89C1-7BAFB2C892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BF51AA-25F1-19ED-49F4-909710D8F4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6F3394-E947-7BBC-4B4E-FC222CF9E3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3/26/2026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090F51-989A-F265-1B59-526B06EC07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96400B-F255-95CF-8BD8-3D8AE595A2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83376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0DC8DE-D8D3-04F9-7952-B3C9B444DE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5C6199-C068-6A1D-B9C6-37C04A922F6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CB26636-1E6C-5A66-DCE9-40F0239C9A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485DEA3-FC5C-77B6-8AEC-BF4A26C760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3/26/2026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A2BAE8-516B-EE07-0EF8-4E37D353BE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F1D7F8D-0B8A-CA54-C5D1-DAFB9A2172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95358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37762D-C67C-6FB4-D8AF-A2AEADD0B2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6F3E59-5CAF-AE52-066A-662EAF232F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294A81-151A-F8B5-9A7D-43577F3F693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CBDED1E-7743-9D82-5A8F-215AF2DB838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3E3FED4-7E43-512F-BDC2-AB5A6F6A961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CE71D6A-F625-133A-E751-2B967B94A6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3/26/2026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3256629-E601-1BA5-526C-36960EEBE0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665DDDF-B6D4-29FB-6B7F-C7017B4EAB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57170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42B25A-3F20-51F4-D136-F73B176833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EFF8609-CAA0-6678-FCA9-C0252974D7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3/26/2026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911A081-E4EB-7E96-A0AA-2E4D490998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DD0AC27-1467-337C-D636-190385E397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73179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EC8C3DB-E47E-C122-D7BD-AAAC105B29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3/26/2026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2194795-A7C6-B915-9849-6DDF9E5561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BBD6E5-D6AC-7828-B9FA-162561BDB7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75874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CDDA5E-FB2F-65E3-9AC6-77E9E333A2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F88CA7-EDCF-7BC9-0D50-5F550487A7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7F96387-78E1-111C-2860-3620802599F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8A170FC-BF4D-52B4-3D96-975E35B67E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3/26/2026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3EB24C2-CDEC-1D6D-42DB-F885EAF6C2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9ACA044-7F46-1F0F-A966-A66706F2D1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31924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692354-EE3F-C81F-2C98-42CA24F042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B37B54A-0E38-1C0F-EA90-8D9A628CC2C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2DF9108-1890-E2BF-7EA2-A2F28DEA6C3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D668F02-6193-91DC-69E0-6CC09A2476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3/26/2026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534B642-5606-ACB8-4ADF-6DDE8BE4B5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F89560E-8858-1CED-6B2E-1EF0F58F2F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47570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5BA8BF-0F66-F00E-4527-03CBDE1E6F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548F7C1-32BC-0F71-0130-0DFB9C183A5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59C7E0-3252-37DB-73A7-7F070748FF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3/26/2026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76C5EE-EAD9-8D18-3741-930600D3BD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5647D8-342D-AED5-3763-DD02F7C2A4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8442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DD0B639-7A1F-68FA-45DD-3196E2CB572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CF4F1BB-B40D-E6E4-111B-122348C261F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52DAFD-560D-9508-6F31-281EC97436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3/26/2026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0C6320-E161-CE4A-CBDD-27072D2A15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4C3E81-2AD2-5FBE-B6F5-1512F3AF97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05800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C946CF1-7E31-D1FD-63E0-29688510ED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499997-F7F8-3FB5-F294-092654769C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FEC26E-B485-AE94-5C91-D0E504CEB56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E22BF2E-04DA-469E-97C5-BB68A0368813}" type="datetimeFigureOut">
              <a:rPr lang="en-US" smtClean="0"/>
              <a:t>3/26/2026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3ECD47-D4F5-A47B-6CA1-E8E47C1C43B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C8C2B9-7B85-792D-492E-EE9D50875A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87391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creativecommons.org/licenses/by-nc-sa/4.0/" TargetMode="External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0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30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0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0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0.png"/><Relationship Id="rId3" Type="http://schemas.openxmlformats.org/officeDocument/2006/relationships/image" Target="../media/image28.png"/><Relationship Id="rId7" Type="http://schemas.openxmlformats.org/officeDocument/2006/relationships/image" Target="../media/image260.png"/><Relationship Id="rId12" Type="http://schemas.openxmlformats.org/officeDocument/2006/relationships/image" Target="../media/image34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0.png"/><Relationship Id="rId11" Type="http://schemas.openxmlformats.org/officeDocument/2006/relationships/image" Target="../media/image33.png"/><Relationship Id="rId5" Type="http://schemas.openxmlformats.org/officeDocument/2006/relationships/image" Target="../media/image240.png"/><Relationship Id="rId10" Type="http://schemas.openxmlformats.org/officeDocument/2006/relationships/image" Target="../media/image32.png"/><Relationship Id="rId4" Type="http://schemas.openxmlformats.org/officeDocument/2006/relationships/image" Target="../media/image29.png"/><Relationship Id="rId9" Type="http://schemas.openxmlformats.org/officeDocument/2006/relationships/image" Target="../media/image31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7.png"/><Relationship Id="rId5" Type="http://schemas.openxmlformats.org/officeDocument/2006/relationships/image" Target="../media/image36.png"/><Relationship Id="rId4" Type="http://schemas.openxmlformats.org/officeDocument/2006/relationships/image" Target="../media/image340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90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740.png"/><Relationship Id="rId7" Type="http://schemas.openxmlformats.org/officeDocument/2006/relationships/image" Target="../media/image73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20.png"/><Relationship Id="rId9" Type="http://schemas.openxmlformats.org/officeDocument/2006/relationships/image" Target="../media/image750.png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671A8AE-40A1-4631-A6B8-581AFF0654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2B02EEF-8413-288E-566D-063A066A6C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377" r="23298" b="3714"/>
          <a:stretch>
            <a:fillRect/>
          </a:stretch>
        </p:blipFill>
        <p:spPr bwMode="auto">
          <a:xfrm>
            <a:off x="3523485" y="10"/>
            <a:ext cx="8668512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AB58EF07-17C2-48CF-ABB0-EEF1F17CB8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" y="0"/>
            <a:ext cx="9339206" cy="6858000"/>
          </a:xfrm>
          <a:prstGeom prst="rect">
            <a:avLst/>
          </a:prstGeom>
          <a:gradFill>
            <a:gsLst>
              <a:gs pos="58000">
                <a:schemeClr val="tx1"/>
              </a:gs>
              <a:gs pos="33000">
                <a:schemeClr val="tx1">
                  <a:alpha val="64000"/>
                </a:schemeClr>
              </a:gs>
              <a:gs pos="0">
                <a:schemeClr val="tx1">
                  <a:alpha val="0"/>
                </a:schemeClr>
              </a:gs>
              <a:gs pos="100000">
                <a:schemeClr val="tx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51EE42B-57B4-EB74-A37C-6675858E7D2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77981" y="1122363"/>
            <a:ext cx="4463968" cy="3204134"/>
          </a:xfrm>
        </p:spPr>
        <p:txBody>
          <a:bodyPr anchor="b">
            <a:noAutofit/>
          </a:bodyPr>
          <a:lstStyle/>
          <a:p>
            <a:pPr algn="l"/>
            <a:r>
              <a:rPr lang="en-US" sz="3600" dirty="0">
                <a:solidFill>
                  <a:schemeClr val="bg1"/>
                </a:solidFill>
              </a:rPr>
              <a:t>Reinforcement Learning</a:t>
            </a:r>
            <a:br>
              <a:rPr lang="en-US" sz="3600" dirty="0">
                <a:solidFill>
                  <a:schemeClr val="bg1"/>
                </a:solidFill>
              </a:rPr>
            </a:br>
            <a:br>
              <a:rPr lang="en-US" sz="3600" dirty="0">
                <a:solidFill>
                  <a:schemeClr val="bg1"/>
                </a:solidFill>
              </a:rPr>
            </a:br>
            <a:r>
              <a:rPr lang="en-US" sz="3600" dirty="0">
                <a:solidFill>
                  <a:schemeClr val="bg1"/>
                </a:solidFill>
              </a:rPr>
              <a:t>Prediction and Control with Approximation</a:t>
            </a:r>
            <a:br>
              <a:rPr lang="en-US" sz="2800" dirty="0">
                <a:solidFill>
                  <a:schemeClr val="bg1"/>
                </a:solidFill>
              </a:rPr>
            </a:br>
            <a:r>
              <a:rPr lang="en-US" sz="2000" dirty="0">
                <a:solidFill>
                  <a:schemeClr val="bg1"/>
                </a:solidFill>
              </a:rPr>
              <a:t>Sutton/Barto*</a:t>
            </a:r>
            <a:r>
              <a:rPr lang="en-US" sz="1800" dirty="0">
                <a:solidFill>
                  <a:schemeClr val="bg1"/>
                </a:solidFill>
              </a:rPr>
              <a:t> Chapter 9-11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FFF10C2-8C10-0E89-D285-D614C36EEE6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77982" y="4868822"/>
            <a:ext cx="4169519" cy="1443894"/>
          </a:xfrm>
        </p:spPr>
        <p:txBody>
          <a:bodyPr>
            <a:normAutofit fontScale="92500"/>
          </a:bodyPr>
          <a:lstStyle/>
          <a:p>
            <a:pPr algn="l"/>
            <a:r>
              <a:rPr lang="en-US" sz="1700" dirty="0">
                <a:solidFill>
                  <a:schemeClr val="bg1"/>
                </a:solidFill>
              </a:rPr>
              <a:t>Michael Hahsler, SMU</a:t>
            </a:r>
          </a:p>
          <a:p>
            <a:pPr algn="l"/>
            <a:r>
              <a:rPr lang="en-US" sz="1300" dirty="0">
                <a:solidFill>
                  <a:schemeClr val="bg1"/>
                </a:solidFill>
              </a:rPr>
              <a:t>With figures from Sutton/Barto*</a:t>
            </a:r>
          </a:p>
          <a:p>
            <a:pPr algn="l"/>
            <a:endParaRPr lang="en-US" sz="1300" dirty="0">
              <a:solidFill>
                <a:schemeClr val="bg1"/>
              </a:solidFill>
            </a:endParaRPr>
          </a:p>
          <a:p>
            <a:pPr algn="l"/>
            <a:r>
              <a:rPr lang="en-US" sz="1300" dirty="0">
                <a:solidFill>
                  <a:schemeClr val="bg1"/>
                </a:solidFill>
              </a:rPr>
              <a:t>*Sutton and Barto, Reinforcement Learning: An Introduction, 2</a:t>
            </a:r>
            <a:r>
              <a:rPr lang="en-US" sz="1300" baseline="30000" dirty="0">
                <a:solidFill>
                  <a:schemeClr val="bg1"/>
                </a:solidFill>
              </a:rPr>
              <a:t>nd</a:t>
            </a:r>
            <a:r>
              <a:rPr lang="en-US" sz="1300" dirty="0">
                <a:solidFill>
                  <a:schemeClr val="bg1"/>
                </a:solidFill>
              </a:rPr>
              <a:t> edition, MIT Press, Cambridge, MA, 2018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chemeClr val="tx1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4" name="object 23">
            <a:hlinkClick r:id="rId3"/>
            <a:extLst>
              <a:ext uri="{FF2B5EF4-FFF2-40B4-BE49-F238E27FC236}">
                <a16:creationId xmlns:a16="http://schemas.microsoft.com/office/drawing/2014/main" id="{3CBD6548-3D4E-9A40-CA35-355261D4E92C}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0961016" y="6265038"/>
            <a:ext cx="1037459" cy="38357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AD28C7D-14A3-CFEB-3DEC-2E01272844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16072" y="145911"/>
            <a:ext cx="4182403" cy="10009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527529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7A3493-2ED6-DF09-F569-7F3DCA81AB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Topics of this Course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95E019-92A5-79AC-D777-59B4926F61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Introduction to reinforcement learning</a:t>
            </a:r>
          </a:p>
          <a:p>
            <a:r>
              <a:rPr lang="en-US" dirty="0"/>
              <a:t>Markov decision processes</a:t>
            </a:r>
          </a:p>
          <a:p>
            <a:r>
              <a:rPr lang="en-US" dirty="0"/>
              <a:t>Part I: Tabular Methods</a:t>
            </a:r>
          </a:p>
          <a:p>
            <a:pPr lvl="1"/>
            <a:r>
              <a:rPr lang="en-US" dirty="0"/>
              <a:t>Dynamic programming</a:t>
            </a:r>
          </a:p>
          <a:p>
            <a:pPr lvl="1"/>
            <a:r>
              <a:rPr lang="en-US" dirty="0"/>
              <a:t>Monte Carlo methods</a:t>
            </a:r>
          </a:p>
          <a:p>
            <a:pPr lvl="1"/>
            <a:r>
              <a:rPr lang="en-US" dirty="0"/>
              <a:t>Temporal-difference learning</a:t>
            </a:r>
          </a:p>
          <a:p>
            <a:pPr lvl="1"/>
            <a:r>
              <a:rPr lang="en-US" dirty="0"/>
              <a:t>Multi-step bootstrapping</a:t>
            </a:r>
          </a:p>
          <a:p>
            <a:pPr lvl="1"/>
            <a:r>
              <a:rPr lang="en-US" dirty="0"/>
              <a:t>Planning and learning with tabular methods</a:t>
            </a:r>
          </a:p>
          <a:p>
            <a:r>
              <a:rPr lang="en-US" b="1" dirty="0"/>
              <a:t>Part II: Approximate Solution Methods</a:t>
            </a:r>
          </a:p>
          <a:p>
            <a:pPr lvl="1"/>
            <a:r>
              <a:rPr lang="en-US" b="1" dirty="0"/>
              <a:t>Prediction and Control using Approximation</a:t>
            </a:r>
          </a:p>
          <a:p>
            <a:pPr lvl="1"/>
            <a:r>
              <a:rPr lang="en-US" dirty="0"/>
              <a:t>Eligibility Traces</a:t>
            </a:r>
          </a:p>
          <a:p>
            <a:pPr lvl="1"/>
            <a:r>
              <a:rPr lang="en-US" dirty="0"/>
              <a:t>Policy Gradient Methods</a:t>
            </a:r>
          </a:p>
          <a:p>
            <a:r>
              <a:rPr lang="en-US" dirty="0"/>
              <a:t>Part III: Modern RL Methods</a:t>
            </a:r>
          </a:p>
          <a:p>
            <a:pPr lvl="1"/>
            <a:r>
              <a:rPr lang="en-US" dirty="0"/>
              <a:t>Deep Reinforcement Learning</a:t>
            </a:r>
          </a:p>
          <a:p>
            <a:pPr lvl="1"/>
            <a:r>
              <a:rPr lang="en-US" dirty="0"/>
              <a:t>Current Applications</a:t>
            </a:r>
          </a:p>
        </p:txBody>
      </p:sp>
    </p:spTree>
    <p:extLst>
      <p:ext uri="{BB962C8B-B14F-4D97-AF65-F5344CB8AC3E}">
        <p14:creationId xmlns:p14="http://schemas.microsoft.com/office/powerpoint/2010/main" val="36533675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A4E1A2-75E3-3C9C-6C10-EE078C5AD5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 of Notation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E69C9C-42B6-9B0F-9AE0-20D17703E4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22819" y="3700831"/>
                <a:ext cx="5273179" cy="1902124"/>
              </a:xfr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>
                <a:sp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en-US" sz="1200" b="1" dirty="0"/>
                  <a:t>Value Function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return (cumulative reward) following time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return from 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 to 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 (discounted and corrected)</a:t>
                </a:r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sz="1200" dirty="0"/>
                  <a:t> (expected return)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state s under the optimal policy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the optimal policy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array estimates of state-value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array estimates of action-value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E69C9C-42B6-9B0F-9AE0-20D17703E4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22819" y="3700831"/>
                <a:ext cx="5273179" cy="1902124"/>
              </a:xfrm>
              <a:blipFill>
                <a:blip r:embed="rId2"/>
                <a:stretch>
                  <a:fillRect b="-9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CD475E5-BE3B-5594-57DC-46A17411F2F9}"/>
                  </a:ext>
                </a:extLst>
              </p:cNvPr>
              <p:cNvSpPr txBox="1"/>
              <p:nvPr/>
            </p:nvSpPr>
            <p:spPr>
              <a:xfrm>
                <a:off x="822820" y="1124198"/>
                <a:ext cx="5273179" cy="2308324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r>
                  <a:rPr lang="en-US" sz="1200" b="1" dirty="0"/>
                  <a:t>General</a:t>
                </a:r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	capital letters: random variables</a:t>
                </a:r>
                <a:br>
                  <a:rPr lang="en-US" sz="1200" dirty="0"/>
                </a:b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b="0" i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1200" dirty="0"/>
                  <a:t>	lower-case letters: realizations of random variables </a:t>
                </a:r>
                <a:br>
                  <a:rPr lang="en-US" sz="1200" dirty="0"/>
                </a:br>
                <a:r>
                  <a:rPr lang="en-US" sz="1200" dirty="0"/>
                  <a:t>	or scalar functions</a:t>
                </a:r>
              </a:p>
              <a:p>
                <a14:m>
                  <m:oMath xmlns:m="http://schemas.openxmlformats.org/officeDocument/2006/math"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sz="1200" dirty="0"/>
                  <a:t> 	Bold lower-case letters: real-valued vectors </a:t>
                </a:r>
                <a:br>
                  <a:rPr lang="en-US" sz="1200" dirty="0"/>
                </a:br>
                <a:r>
                  <a:rPr lang="en-US" sz="1200" dirty="0"/>
                  <a:t>	(even if random variables)</a:t>
                </a:r>
              </a:p>
              <a:p>
                <a14:m>
                  <m:oMath xmlns:m="http://schemas.openxmlformats.org/officeDocument/2006/math"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𝑾</m:t>
                    </m:r>
                  </m:oMath>
                </a14:m>
                <a:r>
                  <a:rPr lang="en-US" sz="1200" dirty="0"/>
                  <a:t>	bold capitals: matrices</a:t>
                </a:r>
              </a:p>
              <a:p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sz="1200" dirty="0"/>
                  <a:t>	Greek letters: parameters (vectors if in bolt)</a:t>
                </a:r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200" i="1" dirty="0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⁡{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sz="1200" dirty="0"/>
                  <a:t>	probability that a 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 takes on the value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~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1200" dirty="0"/>
                  <a:t>	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 selected from distribution 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sz="1200" i="1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1200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⁡{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𝔼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[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𝑋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sz="1200" dirty="0"/>
                  <a:t>	expectation of a 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, i.e., 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𝔼</m:t>
                    </m:r>
                    <m:d>
                      <m:dPr>
                        <m:begChr m:val="["/>
                        <m:endChr m:val="]"/>
                        <m:ctrlP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sub>
                      <m:sup/>
                      <m:e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  <m:d>
                          <m:dPr>
                            <m:ctrlP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</m:nary>
                  </m:oMath>
                </a14:m>
                <a:endParaRPr lang="en-US" sz="1200" dirty="0">
                  <a:ea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200" dirty="0">
                            <a:latin typeface="Cambria Math" panose="02040503050406030204" pitchFamily="18" charset="0"/>
                          </a:rPr>
                          <m:t>argmax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200" dirty="0">
                            <a:latin typeface="Cambria Math" panose="02040503050406030204" pitchFamily="18" charset="0"/>
                          </a:rPr>
                          <m:t>a</m:t>
                        </m:r>
                      </m:sub>
                    </m:sSub>
                    <m:r>
                      <a:rPr lang="en-US" sz="1200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a value of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at which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takes its maximal value</a:t>
                </a: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CD475E5-BE3B-5594-57DC-46A17411F2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2820" y="1124198"/>
                <a:ext cx="5273179" cy="2308324"/>
              </a:xfrm>
              <a:prstGeom prst="rect">
                <a:avLst/>
              </a:prstGeom>
              <a:blipFill>
                <a:blip r:embed="rId3"/>
                <a:stretch>
                  <a:fillRect b="-94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6F45EA4F-65F9-5141-0B09-C395CF9CA7A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267338" y="1124198"/>
                <a:ext cx="5273179" cy="3693383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vert="horz" wrap="square" lIns="91440" tIns="45720" rIns="91440" bIns="45720" rtlCol="0">
                <a:sp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spcBef>
                    <a:spcPts val="0"/>
                  </a:spcBef>
                  <a:buNone/>
                </a:pPr>
                <a:r>
                  <a:rPr lang="en-US" sz="1200" b="1" dirty="0"/>
                  <a:t>MDP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	states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	an action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sz="1200" dirty="0"/>
                  <a:t> 	a reward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𝒮</m:t>
                    </m:r>
                  </m:oMath>
                </a14:m>
                <a:r>
                  <a:rPr lang="en-US" sz="1200" dirty="0"/>
                  <a:t> 	set of all (nonterminal) states,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2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</m:e>
                      <m:sup>
                        <m:r>
                          <a:rPr lang="en-US" sz="12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</m:sup>
                    </m:sSup>
                  </m:oMath>
                </a14:m>
                <a:r>
                  <a:rPr lang="en-US" sz="1200" dirty="0"/>
                  <a:t> are all states 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set of all actions available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lang="en-US" sz="1200" dirty="0"/>
                  <a:t> 	discount-rate parameter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200" dirty="0"/>
                  <a:t> 	discrete time step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sz="1200" dirty="0"/>
                  <a:t> 	final time step of an episode (a.k.a. horizon)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random variable for the action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	random variable for the state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random variable for the reward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endChr m:val="|"/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2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probability of transition to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and receiving reward 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sz="1200" dirty="0"/>
                  <a:t>, </a:t>
                </a:r>
                <a:br>
                  <a:rPr lang="en-US" sz="1200" dirty="0"/>
                </a:br>
                <a:r>
                  <a:rPr lang="en-US" sz="1200" dirty="0"/>
                  <a:t>	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endChr m:val="|"/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2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	probability of transition to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fom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expected immediate reward 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after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1200" b="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′)</m:t>
                    </m:r>
                  </m:oMath>
                </a14:m>
                <a:r>
                  <a:rPr lang="en-US" sz="1200" dirty="0"/>
                  <a:t>	expected immediate reward 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to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en-US" sz="1200" dirty="0"/>
                  <a:t> with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probability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stochastic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>
                  <a:ea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action taken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deterministic policy </a:t>
                </a:r>
                <a14:m>
                  <m:oMath xmlns:m="http://schemas.openxmlformats.org/officeDocument/2006/math"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/>
              </a:p>
            </p:txBody>
          </p:sp>
        </mc:Choice>
        <mc:Fallback xmlns="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6F45EA4F-65F9-5141-0B09-C395CF9CA7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67338" y="1124198"/>
                <a:ext cx="5273179" cy="3693383"/>
              </a:xfrm>
              <a:prstGeom prst="rect">
                <a:avLst/>
              </a:prstGeom>
              <a:blipFill>
                <a:blip r:embed="rId4"/>
                <a:stretch>
                  <a:fillRect t="-3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4C5E539A-F9A7-F959-ACD3-4ADE5900F587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267338" y="4947712"/>
                <a:ext cx="5273179" cy="646331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>
                <a:sp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Font typeface="Arial" panose="020B0604020202020204" pitchFamily="34" charset="0"/>
                  <a:buNone/>
                </a:pPr>
                <a:r>
                  <a:rPr lang="en-US" sz="1200" b="1" dirty="0"/>
                  <a:t>Temporal Difference Learning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target for estimate at time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𝛿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TD error</a:t>
                </a:r>
              </a:p>
            </p:txBody>
          </p:sp>
        </mc:Choice>
        <mc:Fallback xmlns="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4C5E539A-F9A7-F959-ACD3-4ADE5900F5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67338" y="4947712"/>
                <a:ext cx="5273179" cy="646331"/>
              </a:xfrm>
              <a:prstGeom prst="rect">
                <a:avLst/>
              </a:prstGeom>
              <a:blipFill>
                <a:blip r:embed="rId5"/>
                <a:stretch>
                  <a:fillRect b="-45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206940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8A635E-AD98-14E6-86B7-6D189198F7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19E1014-11F3-5C77-4D51-18EDE91CBD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Approximate Solution Methods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230DEA1-85A2-8128-AB1F-6A511F14B1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Motivation and Definition</a:t>
            </a:r>
          </a:p>
        </p:txBody>
      </p:sp>
    </p:spTree>
    <p:extLst>
      <p:ext uri="{BB962C8B-B14F-4D97-AF65-F5344CB8AC3E}">
        <p14:creationId xmlns:p14="http://schemas.microsoft.com/office/powerpoint/2010/main" val="245903796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300E35E-EC62-B4C1-A770-AA1A7C6F84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2CDE1EFF-EEB7-45A5-C0AF-4014AF66241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77500" lnSpcReduction="20000"/>
              </a:bodyPr>
              <a:lstStyle/>
              <a:p>
                <a:pPr marL="0" indent="0">
                  <a:buNone/>
                </a:pPr>
                <a:r>
                  <a:rPr lang="en-US" b="1" dirty="0"/>
                  <a:t>Issue</a:t>
                </a:r>
                <a:r>
                  <a:rPr lang="en-US" dirty="0"/>
                  <a:t>: Tabular methods do not scale for large state spaces.</a:t>
                </a:r>
              </a:p>
              <a:p>
                <a:pPr marL="914400" lvl="1" indent="-457200">
                  <a:buFont typeface="+mj-lt"/>
                  <a:buAutoNum type="alphaLcPeriod"/>
                </a:pPr>
                <a:r>
                  <a:rPr lang="en-US" b="1" dirty="0"/>
                  <a:t>Space complexity</a:t>
                </a:r>
                <a:r>
                  <a:rPr lang="en-US" dirty="0"/>
                  <a:t>: Memory needed for storing the value function with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(|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𝒮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|)</m:t>
                    </m:r>
                  </m:oMath>
                </a14:m>
                <a:r>
                  <a:rPr lang="en-US" dirty="0"/>
                  <a:t> entries as a table.</a:t>
                </a:r>
              </a:p>
              <a:p>
                <a:pPr marL="914400" lvl="1" indent="-457200">
                  <a:buFont typeface="+mj-lt"/>
                  <a:buAutoNum type="alphaLcPeriod"/>
                </a:pPr>
                <a:r>
                  <a:rPr lang="en-US" b="1" dirty="0"/>
                  <a:t>No Generalization</a:t>
                </a:r>
                <a:r>
                  <a:rPr lang="en-US" dirty="0"/>
                  <a:t>: Many states will never be encountered during learning and therefore cannot be predicted.</a:t>
                </a:r>
              </a:p>
              <a:p>
                <a:endParaRPr lang="en-US" dirty="0"/>
              </a:p>
              <a:p>
                <a:pPr marL="0" indent="0">
                  <a:buNone/>
                </a:pPr>
                <a:r>
                  <a:rPr lang="en-US" b="1" dirty="0"/>
                  <a:t>Idea</a:t>
                </a:r>
                <a:r>
                  <a:rPr lang="en-US" dirty="0"/>
                  <a:t>: Try to find an approximate value function for policy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:</a:t>
                </a:r>
              </a:p>
              <a:p>
                <a:pPr marL="0" indent="0">
                  <a:buNone/>
                </a:pPr>
                <a:br>
                  <a:rPr lang="en-US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</m:acc>
                      <m:d>
                        <m:dPr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1" i="1">
                              <a:latin typeface="Cambria Math" panose="02040503050406030204" pitchFamily="18" charset="0"/>
                            </a:rPr>
                            <m:t>𝒘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≈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   </m:t>
                      </m:r>
                      <m:r>
                        <m:rPr>
                          <m:nor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with</m:t>
                      </m:r>
                      <m:r>
                        <m:rPr>
                          <m:nor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  </m:t>
                      </m:r>
                      <m:r>
                        <a:rPr lang="en-US" b="1" i="1" dirty="0">
                          <a:latin typeface="Cambria Math" panose="02040503050406030204" pitchFamily="18" charset="0"/>
                        </a:rPr>
                        <m:t>𝒘</m:t>
                      </m:r>
                      <m:r>
                        <a:rPr lang="en-US" i="1" dirty="0">
                          <a:latin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lang="en-US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lang="en-US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pPr marL="0" indent="0">
                  <a:buNone/>
                </a:pPr>
                <a:r>
                  <a:rPr lang="en-US" b="1" dirty="0"/>
                  <a:t>Requirements</a:t>
                </a:r>
                <a:r>
                  <a:rPr lang="en-US" dirty="0"/>
                  <a:t>:</a:t>
                </a:r>
              </a:p>
              <a:p>
                <a:pPr lvl="1"/>
                <a:r>
                  <a:rPr lang="en-US" dirty="0"/>
                  <a:t>The function needs to have a </a:t>
                </a:r>
                <a:r>
                  <a:rPr lang="en-US" b="1" dirty="0"/>
                  <a:t>manageable number of parameters, </a:t>
                </a:r>
                <a:r>
                  <a:rPr lang="en-US" dirty="0"/>
                  <a:t>the weight vector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𝒘</m:t>
                    </m:r>
                    <m:r>
                      <a:rPr lang="en-US" b="0" i="0" dirty="0" smtClean="0">
                        <a:latin typeface="Cambria Math" panose="02040503050406030204" pitchFamily="18" charset="0"/>
                      </a:rPr>
                      <m:t>. </m:t>
                    </m:r>
                  </m:oMath>
                </a14:m>
                <a:r>
                  <a:rPr lang="en-US" dirty="0"/>
                  <a:t>I.e.,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≪ |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𝒮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|</m:t>
                    </m:r>
                  </m:oMath>
                </a14:m>
                <a:r>
                  <a:rPr lang="en-US" dirty="0"/>
                  <a:t>.</a:t>
                </a:r>
              </a:p>
              <a:p>
                <a:pPr lvl="1"/>
                <a:r>
                  <a:rPr lang="en-US" dirty="0"/>
                  <a:t>The function can only depend on </a:t>
                </a:r>
                <a:r>
                  <a:rPr lang="en-US" b="1" dirty="0"/>
                  <a:t>features of state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𝒔</m:t>
                    </m:r>
                  </m:oMath>
                </a14:m>
                <a:r>
                  <a:rPr lang="en-US" dirty="0"/>
                  <a:t>. </a:t>
                </a:r>
              </a:p>
              <a:p>
                <a:pPr lvl="1"/>
                <a:r>
                  <a:rPr lang="en-US" dirty="0"/>
                  <a:t>The function needs to </a:t>
                </a:r>
                <a:r>
                  <a:rPr lang="en-US" b="1" dirty="0"/>
                  <a:t>generalize</a:t>
                </a:r>
                <a:r>
                  <a:rPr lang="en-US" dirty="0"/>
                  <a:t>, so states with similar features get a similar value. </a:t>
                </a:r>
                <a:br>
                  <a:rPr lang="en-US" dirty="0"/>
                </a:br>
                <a:r>
                  <a:rPr lang="en-US" dirty="0"/>
                  <a:t>Note: Approximation functions do this automatically, since all states share the weight vector and will be affected by changes in the weights.</a:t>
                </a:r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2CDE1EFF-EEB7-45A5-C0AF-4014AF66241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754" t="-2551" b="-127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203306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CDDD93-C91F-3B07-9010-4D03C66DCE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Prediction: Value Function Approximation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C945A54-7468-EEEB-5DC1-3FF613070C4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b="1" dirty="0"/>
                  <a:t>Approach</a:t>
                </a:r>
                <a:r>
                  <a:rPr lang="en-US" dirty="0"/>
                  <a:t>: Use </a:t>
                </a:r>
                <a:r>
                  <a:rPr lang="en-US" b="1" dirty="0"/>
                  <a:t>function approximation </a:t>
                </a:r>
                <a:r>
                  <a:rPr lang="en-US" dirty="0"/>
                  <a:t>(supervised learning). </a:t>
                </a:r>
              </a:p>
              <a:p>
                <a:pPr lvl="1"/>
                <a:r>
                  <a:rPr lang="en-US" dirty="0"/>
                  <a:t>We need </a:t>
                </a:r>
                <a:r>
                  <a:rPr lang="en-US" b="1" dirty="0"/>
                  <a:t>training data </a:t>
                </a:r>
                <a:r>
                  <a:rPr lang="en-US" dirty="0"/>
                  <a:t>in the form of</a:t>
                </a:r>
                <a:br>
                  <a:rPr lang="en-US" dirty="0"/>
                </a:br>
                <a:br>
                  <a:rPr lang="en-US" dirty="0"/>
                </a:b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⟼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𝑢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</m:oMath>
                </a14:m>
                <a:br>
                  <a:rPr lang="en-US" b="0" dirty="0">
                    <a:ea typeface="Cambria Math" panose="02040503050406030204" pitchFamily="18" charset="0"/>
                  </a:rPr>
                </a:br>
                <a:br>
                  <a:rPr lang="en-US" b="0" dirty="0">
                    <a:ea typeface="Cambria Math" panose="02040503050406030204" pitchFamily="18" charset="0"/>
                  </a:rPr>
                </a:br>
                <a:r>
                  <a:rPr lang="en-US" dirty="0"/>
                  <a:t>where the target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en-US" dirty="0"/>
                  <a:t> is a “backed-up value” representing the desired value. </a:t>
                </a:r>
              </a:p>
              <a:p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Some options for training data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⟼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𝑈</m:t>
                    </m:r>
                  </m:oMath>
                </a14:m>
                <a:r>
                  <a:rPr lang="en-US" dirty="0"/>
                  <a:t>:</a:t>
                </a:r>
              </a:p>
              <a:p>
                <a:pPr lvl="1"/>
                <a:r>
                  <a:rPr lang="en-US" dirty="0"/>
                  <a:t>MC: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⟼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TD(0):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⟼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𝛾</m:t>
                    </m:r>
                    <m:acc>
                      <m:accPr>
                        <m:chr m:val="̂"/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𝑣</m:t>
                        </m:r>
                      </m:e>
                    </m:acc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t</m:t>
                            </m:r>
                            <m:r>
                              <a:rPr lang="en-US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a:rPr lang="en-US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𝒘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</m:oMath>
                </a14:m>
                <a:endParaRPr lang="en-US" b="0" dirty="0">
                  <a:ea typeface="Cambria Math" panose="02040503050406030204" pitchFamily="18" charset="0"/>
                </a:endParaRPr>
              </a:p>
              <a:p>
                <a:pPr lvl="1"/>
                <a:r>
                  <a:rPr lang="en-US" dirty="0"/>
                  <a:t>DP: 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⟼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𝔼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[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𝛾</m:t>
                    </m:r>
                    <m:acc>
                      <m:accPr>
                        <m:chr m:val="̂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𝑣</m:t>
                        </m:r>
                      </m:e>
                    </m:acc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t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a:rPr lang="en-US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𝒘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]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C945A54-7468-EEEB-5DC1-3FF613070C4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17" t="-216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723F7C8-1C0F-59B3-0EF5-B4C87FC7D0DA}"/>
                  </a:ext>
                </a:extLst>
              </p:cNvPr>
              <p:cNvSpPr txBox="1"/>
              <p:nvPr/>
            </p:nvSpPr>
            <p:spPr>
              <a:xfrm>
                <a:off x="7990515" y="4702030"/>
                <a:ext cx="3305261" cy="954107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r>
                  <a:rPr lang="en-US" sz="1400" b="1" dirty="0"/>
                  <a:t>Note</a:t>
                </a:r>
                <a:r>
                  <a:rPr lang="en-US" sz="1400" dirty="0"/>
                  <a:t>: The subscript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400" dirty="0"/>
                  <a:t> for </a:t>
                </a:r>
                <a14:m>
                  <m:oMath xmlns:m="http://schemas.openxmlformats.org/officeDocument/2006/math">
                    <m:r>
                      <a:rPr lang="en-US" sz="1400" b="1" i="1" smtClean="0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sz="1400" b="1" dirty="0"/>
                  <a:t> </a:t>
                </a:r>
                <a:r>
                  <a:rPr lang="en-US" sz="1400" dirty="0"/>
                  <a:t>indicates when the update happens during learning. The subscript is often dropped (we only keep track of the current </a:t>
                </a:r>
                <a14:m>
                  <m:oMath xmlns:m="http://schemas.openxmlformats.org/officeDocument/2006/math">
                    <m:r>
                      <a:rPr lang="en-US" sz="1400" b="1" i="1" smtClean="0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sz="1400" dirty="0"/>
                  <a:t>)</a:t>
                </a:r>
                <a:endParaRPr lang="en-US" sz="1400" b="1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723F7C8-1C0F-59B3-0EF5-B4C87FC7D0D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90515" y="4702030"/>
                <a:ext cx="3305261" cy="954107"/>
              </a:xfrm>
              <a:prstGeom prst="rect">
                <a:avLst/>
              </a:prstGeom>
              <a:blipFill>
                <a:blip r:embed="rId3"/>
                <a:stretch>
                  <a:fillRect l="-367" b="-43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718041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A6225E20-3603-3F96-2FC8-D6C1E6830E55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/>
                  <a:t>Prediction Objective (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𝑉𝐸</m:t>
                        </m:r>
                      </m:e>
                    </m:acc>
                  </m:oMath>
                </a14:m>
                <a:r>
                  <a:rPr lang="en-US" dirty="0"/>
                  <a:t>)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A6225E20-3603-3F96-2FC8-D6C1E6830E5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 t="-19355" b="-362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011D2B2-B573-9A22-66E2-8A27E27D16C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162930"/>
                <a:ext cx="10515600" cy="3362932"/>
              </a:xfrm>
            </p:spPr>
            <p:txBody>
              <a:bodyPr>
                <a:normAutofit fontScale="55000" lnSpcReduction="20000"/>
              </a:bodyPr>
              <a:lstStyle/>
              <a:p>
                <a:r>
                  <a:rPr lang="en-US" b="1" dirty="0"/>
                  <a:t>Learning algorithm</a:t>
                </a:r>
                <a:r>
                  <a:rPr lang="en-US" dirty="0"/>
                  <a:t>: Update the weights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dirty="0"/>
                  <a:t> to reduce the error for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acc>
                    <m:d>
                      <m:d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≈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dirty="0"/>
              </a:p>
              <a:p>
                <a:r>
                  <a:rPr lang="en-US" b="1" dirty="0"/>
                  <a:t>Note on generalization</a:t>
                </a:r>
                <a:r>
                  <a:rPr lang="en-US" dirty="0"/>
                  <a:t>: Any change of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𝒘</m:t>
                    </m:r>
                    <m:r>
                      <a:rPr lang="en-US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will also affect the prediction for other states and thus reduce or increase their error!</a:t>
                </a:r>
              </a:p>
              <a:p>
                <a:r>
                  <a:rPr lang="en-US" b="1" dirty="0"/>
                  <a:t>Prediction error </a:t>
                </a:r>
                <a:r>
                  <a:rPr lang="en-US" dirty="0"/>
                  <a:t>for state s:                                                 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)−</m:t>
                        </m:r>
                        <m:acc>
                          <m:accPr>
                            <m:chr m:val="̂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</m:acc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𝒘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r>
                  <a:rPr lang="en-US" dirty="0"/>
                  <a:t>To calculate the error over all states we need to define how much we care about each state. We use a state distribution function</a:t>
                </a:r>
                <a:br>
                  <a:rPr lang="en-US" dirty="0"/>
                </a:br>
                <a:br>
                  <a:rPr lang="en-US" dirty="0"/>
                </a:b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𝜇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≥0;     </m:t>
                    </m:r>
                    <m:nary>
                      <m:naryPr>
                        <m:chr m:val="∑"/>
                        <m:supHide m:val="on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  <m:sup/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𝜇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</m:e>
                    </m:nary>
                    <m:r>
                      <a:rPr lang="en-US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𝜇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r>
                  <a:rPr lang="en-US" dirty="0"/>
                  <a:t> is typically the fraction of time spent in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dirty="0"/>
                  <a:t> when following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. We obtain data by following a policy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 so samples already comes from this distribution.</a:t>
                </a:r>
              </a:p>
              <a:p>
                <a:pPr lvl="1"/>
                <a:r>
                  <a:rPr lang="en-US" dirty="0"/>
                  <a:t>For continuous tasks,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𝜇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r>
                  <a:rPr lang="en-US" dirty="0"/>
                  <a:t> is a stationary distribution called the on-policy distribution. </a:t>
                </a:r>
              </a:p>
              <a:p>
                <a:pPr lvl="1"/>
                <a:r>
                  <a:rPr lang="en-US" dirty="0"/>
                  <a:t>For episodic tasks a near stationary distribution only exists for ergodic</a:t>
                </a:r>
                <a:r>
                  <a:rPr lang="en-US" baseline="30000" dirty="0"/>
                  <a:t>*</a:t>
                </a:r>
                <a:r>
                  <a:rPr lang="en-US" dirty="0"/>
                  <a:t> MDPs with large horizons.</a:t>
                </a:r>
              </a:p>
              <a:p>
                <a:endParaRPr lang="en-US" baseline="-25000" dirty="0"/>
              </a:p>
              <a:p>
                <a:endParaRPr lang="en-US" b="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011D2B2-B573-9A22-66E2-8A27E27D16C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162930"/>
                <a:ext cx="10515600" cy="3362932"/>
              </a:xfrm>
              <a:blipFill>
                <a:blip r:embed="rId3"/>
                <a:stretch>
                  <a:fillRect l="-174" t="-1815" b="-16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60AE832-3161-626E-1379-EADD13E60C4B}"/>
                  </a:ext>
                </a:extLst>
              </p:cNvPr>
              <p:cNvSpPr txBox="1"/>
              <p:nvPr/>
            </p:nvSpPr>
            <p:spPr>
              <a:xfrm>
                <a:off x="3172713" y="4582608"/>
                <a:ext cx="6096698" cy="1318502"/>
              </a:xfrm>
              <a:prstGeom prst="rect">
                <a:avLst/>
              </a:prstGeom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wrap="square">
                <a:spAutoFit/>
              </a:bodyPr>
              <a:lstStyle/>
              <a:p>
                <a:pPr/>
                <a:r>
                  <a:rPr lang="en-US" b="1" dirty="0"/>
                  <a:t>Definition: </a:t>
                </a:r>
                <a:r>
                  <a:rPr lang="en-US" dirty="0"/>
                  <a:t>Mean square value error</a:t>
                </a:r>
                <a:br>
                  <a:rPr lang="en-US" dirty="0"/>
                </a:br>
                <a:br>
                  <a:rPr lang="en-US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̅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𝑉𝐸</m:t>
                          </m:r>
                        </m:e>
                      </m:acc>
                      <m:r>
                        <a:rPr lang="en-US" i="1" smtClean="0">
                          <a:latin typeface="Cambria Math" panose="02040503050406030204" pitchFamily="18" charset="0"/>
                        </a:rPr>
                        <m:t>≝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𝒮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</m:sub>
                        <m:sup/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𝜇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𝑣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𝜋</m:t>
                                      </m:r>
                                    </m:sub>
                                  </m:s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acc>
                                    <m:accPr>
                                      <m:chr m:val="̂"/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𝑣</m:t>
                                      </m:r>
                                    </m:e>
                                  </m:acc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US" b="1" i="1">
                                          <a:latin typeface="Cambria Math" panose="02040503050406030204" pitchFamily="18" charset="0"/>
                                        </a:rPr>
                                        <m:t>𝒘</m:t>
                                      </m:r>
                                    </m:e>
                                  </m:d>
                                </m:e>
                              </m:d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60AE832-3161-626E-1379-EADD13E60C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72713" y="4582608"/>
                <a:ext cx="6096698" cy="1318502"/>
              </a:xfrm>
              <a:prstGeom prst="rect">
                <a:avLst/>
              </a:prstGeom>
              <a:blipFill>
                <a:blip r:embed="rId4"/>
                <a:stretch>
                  <a:fillRect l="-697" t="-18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95FF9CD1-DC49-A6AF-FFC2-346163866CD0}"/>
                  </a:ext>
                </a:extLst>
              </p:cNvPr>
              <p:cNvSpPr txBox="1"/>
              <p:nvPr/>
            </p:nvSpPr>
            <p:spPr>
              <a:xfrm>
                <a:off x="956281" y="6185097"/>
                <a:ext cx="10114241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400" baseline="30000" dirty="0"/>
                  <a:t>*</a:t>
                </a:r>
                <a:r>
                  <a:rPr lang="en-US" sz="1400" dirty="0"/>
                  <a:t>Ergodic: The Markov process when following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sz="1400" dirty="0"/>
                  <a:t> is irreducible (all states are reachable) and aperiodic (does not get stuck).</a:t>
                </a: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95FF9CD1-DC49-A6AF-FFC2-346163866C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6281" y="6185097"/>
                <a:ext cx="10114241" cy="307777"/>
              </a:xfrm>
              <a:prstGeom prst="rect">
                <a:avLst/>
              </a:prstGeom>
              <a:blipFill>
                <a:blip r:embed="rId5"/>
                <a:stretch>
                  <a:fillRect t="-4000" b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Speech Bubble: Rectangle with Corners Rounded 5">
            <a:extLst>
              <a:ext uri="{FF2B5EF4-FFF2-40B4-BE49-F238E27FC236}">
                <a16:creationId xmlns:a16="http://schemas.microsoft.com/office/drawing/2014/main" id="{C4A1D900-BB11-07B0-E2D8-31AC1D55EED5}"/>
              </a:ext>
            </a:extLst>
          </p:cNvPr>
          <p:cNvSpPr/>
          <p:nvPr/>
        </p:nvSpPr>
        <p:spPr>
          <a:xfrm>
            <a:off x="9500382" y="4468837"/>
            <a:ext cx="2400886" cy="1176997"/>
          </a:xfrm>
          <a:prstGeom prst="wedgeRoundRectCallout">
            <a:avLst>
              <a:gd name="adj1" fmla="val -118735"/>
              <a:gd name="adj2" fmla="val 34611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/>
              <a:t>Remember</a:t>
            </a:r>
            <a:r>
              <a:rPr lang="en-US" sz="1200" dirty="0"/>
              <a:t>: Squared errors useful mathematical and statistical properties that make learning and optimization easier and more effective.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DBB76A8-1014-AF99-CD8E-82278A692321}"/>
              </a:ext>
            </a:extLst>
          </p:cNvPr>
          <p:cNvSpPr txBox="1"/>
          <p:nvPr/>
        </p:nvSpPr>
        <p:spPr>
          <a:xfrm>
            <a:off x="9978705" y="3888297"/>
            <a:ext cx="1263635" cy="369332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/>
              <a:t>See Code</a:t>
            </a:r>
          </a:p>
        </p:txBody>
      </p:sp>
    </p:spTree>
    <p:extLst>
      <p:ext uri="{BB962C8B-B14F-4D97-AF65-F5344CB8AC3E}">
        <p14:creationId xmlns:p14="http://schemas.microsoft.com/office/powerpoint/2010/main" val="4144306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4" grpId="0"/>
      <p:bldP spid="6" grpId="0" animBg="1"/>
      <p:bldP spid="7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CCD405-90D9-24C7-33C4-54C5D87B53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Learning Goal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F9CFE80-0730-DB79-FA4E-3D388C1A58F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77500" lnSpcReduction="20000"/>
              </a:bodyPr>
              <a:lstStyle/>
              <a:p>
                <a:r>
                  <a:rPr lang="en-US" dirty="0"/>
                  <a:t>Find the parameter vector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that</a:t>
                </a:r>
                <a:r>
                  <a:rPr lang="en-US" b="1" dirty="0"/>
                  <a:t> </a:t>
                </a:r>
                <a:r>
                  <a:rPr lang="en-US" dirty="0"/>
                  <a:t>leads to the smallest error (the global optimum):</a:t>
                </a:r>
                <a:br>
                  <a:rPr lang="en-US" dirty="0"/>
                </a:br>
                <a:br>
                  <a:rPr lang="en-US" dirty="0"/>
                </a:b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𝑉𝐸</m:t>
                        </m:r>
                      </m:e>
                    </m:acc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𝒘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</m:e>
                    </m:d>
                    <m:r>
                      <a:rPr lang="en-US" b="1" i="1" smtClean="0">
                        <a:latin typeface="Cambria Math" panose="02040503050406030204" pitchFamily="18" charset="0"/>
                      </a:rPr>
                      <m:t>≤ </m:t>
                    </m:r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𝑉𝐸</m:t>
                        </m:r>
                      </m:e>
                    </m:acc>
                    <m:d>
                      <m:d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</m:d>
                    <m:r>
                      <a:rPr lang="en-US" b="1" i="1" smtClean="0">
                        <a:latin typeface="Cambria Math" panose="02040503050406030204" pitchFamily="18" charset="0"/>
                      </a:rPr>
                      <m:t>       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∀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endParaRPr lang="en-US" b="1" dirty="0"/>
              </a:p>
              <a:p>
                <a:endParaRPr lang="en-US" b="1" dirty="0"/>
              </a:p>
              <a:p>
                <a:endParaRPr lang="en-US" b="1" dirty="0"/>
              </a:p>
              <a:p>
                <a:r>
                  <a:rPr lang="en-US" b="1" dirty="0"/>
                  <a:t>Local optima</a:t>
                </a:r>
                <a:r>
                  <a:rPr lang="en-US" dirty="0"/>
                  <a:t>: Often, we will only find a local optimum where the equation above only holds for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𝒘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in a small neighborhood around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dirty="0"/>
                  <a:t>. </a:t>
                </a:r>
                <a:br>
                  <a:rPr lang="en-US" dirty="0"/>
                </a:br>
                <a:br>
                  <a:rPr lang="en-US" dirty="0"/>
                </a:br>
                <a:r>
                  <a:rPr lang="en-US" b="1" dirty="0"/>
                  <a:t>Note</a:t>
                </a:r>
                <a:r>
                  <a:rPr lang="en-US" dirty="0"/>
                  <a:t>: Policies converge typically way before the value function converges so finding the global optimal value function may not be necessary.</a:t>
                </a:r>
              </a:p>
              <a:p>
                <a:endParaRPr lang="en-US" dirty="0"/>
              </a:p>
              <a:p>
                <a:r>
                  <a:rPr lang="en-US" b="1" dirty="0"/>
                  <a:t>Convergence</a:t>
                </a:r>
                <a:r>
                  <a:rPr lang="en-US" dirty="0"/>
                  <a:t>: Convergence to the global or a local optimum depends on the used approximation and the learning method. We will discuss this for each method.</a:t>
                </a:r>
              </a:p>
              <a:p>
                <a:r>
                  <a:rPr lang="en-US" b="1" dirty="0"/>
                  <a:t>Bias</a:t>
                </a:r>
                <a:r>
                  <a:rPr lang="en-US" dirty="0"/>
                  <a:t>: Different approximation methods have different bias (are not able to represent the true value function).</a:t>
                </a:r>
                <a:br>
                  <a:rPr lang="en-US" dirty="0"/>
                </a:b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F9CFE80-0730-DB79-FA4E-3D388C1A58F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96" t="-2551" r="-58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916993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4F2A783-50BF-C7E8-BE3C-FC01578518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Gradient Methods for Prediction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7EF6370-86D1-9264-5816-F21882AD1F8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5500769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B4BBCF-186E-BC4F-CAA3-DBB46E3E57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Gradient Learning Method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29671F6-58E1-5895-8D89-7778F6212AA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0"/>
                <a:ext cx="10515600" cy="4164021"/>
              </a:xfrm>
            </p:spPr>
            <p:txBody>
              <a:bodyPr>
                <a:normAutofit fontScale="92500" lnSpcReduction="20000"/>
              </a:bodyPr>
              <a:lstStyle/>
              <a:p>
                <a:pPr marL="0" indent="0">
                  <a:buNone/>
                </a:pPr>
                <a:r>
                  <a:rPr lang="en-US" b="1" dirty="0"/>
                  <a:t>Setup</a:t>
                </a:r>
              </a:p>
              <a:p>
                <a:pPr lvl="1"/>
                <a:r>
                  <a:rPr lang="en-US" dirty="0"/>
                  <a:t>For a given policy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, learn an approximation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acc>
                    <m:d>
                      <m:d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≈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We use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𝒘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≝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,…,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⊤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C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hoo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𝑠𝑒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acc>
                      <m:accPr>
                        <m:chr m:val="̂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acc>
                    <m:d>
                      <m:d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</m:d>
                  </m:oMath>
                </a14:m>
                <a:r>
                  <a:rPr lang="en-US" dirty="0"/>
                  <a:t> as a </a:t>
                </a:r>
                <a:r>
                  <a:rPr lang="en-US" b="1" dirty="0"/>
                  <a:t>differentiable function </a:t>
                </a:r>
                <a:r>
                  <a:rPr lang="en-US" dirty="0"/>
                  <a:t>of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dirty="0"/>
                  <a:t> for all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𝒮</m:t>
                    </m:r>
                  </m:oMath>
                </a14:m>
                <a:endParaRPr lang="en-US" b="0" dirty="0">
                  <a:ea typeface="Cambria Math" panose="02040503050406030204" pitchFamily="18" charset="0"/>
                </a:endParaRPr>
              </a:p>
              <a:p>
                <a:endParaRPr lang="en-US" dirty="0"/>
              </a:p>
              <a:p>
                <a:pPr marL="0" indent="0">
                  <a:buNone/>
                </a:pPr>
                <a:r>
                  <a:rPr lang="en-US" b="1" dirty="0"/>
                  <a:t>Learning</a:t>
                </a:r>
              </a:p>
              <a:p>
                <a:pPr lvl="1"/>
                <a:r>
                  <a:rPr lang="en-US" dirty="0"/>
                  <a:t>We sample following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, and observe at each discrete time step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=0, 1, 2, 3, …</m:t>
                    </m:r>
                    <m:r>
                      <a:rPr lang="en-US" b="1" i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br>
                  <a:rPr lang="en-US" dirty="0"/>
                </a:br>
                <a:r>
                  <a:rPr lang="en-US" dirty="0"/>
                  <a:t>a new example </a:t>
                </a:r>
                <a:br>
                  <a:rPr lang="en-US" dirty="0"/>
                </a:br>
                <a:br>
                  <a:rPr lang="en-US" b="0" i="1" dirty="0">
                    <a:latin typeface="Cambria Math" panose="02040503050406030204" pitchFamily="18" charset="0"/>
                  </a:rPr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↦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.</m:t>
                    </m:r>
                  </m:oMath>
                </a14:m>
                <a:br>
                  <a:rPr lang="en-US" b="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</a:br>
                <a:endParaRPr lang="en-US" dirty="0"/>
              </a:p>
              <a:p>
                <a:pPr lvl="1"/>
                <a:endParaRPr lang="en-US" dirty="0"/>
              </a:p>
              <a:p>
                <a:pPr lvl="1"/>
                <a:r>
                  <a:rPr lang="en-US" b="1" dirty="0"/>
                  <a:t>Update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dirty="0"/>
                  <a:t> to reduce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𝑉𝐸</m:t>
                        </m:r>
                      </m:e>
                    </m:acc>
                  </m:oMath>
                </a14:m>
                <a:r>
                  <a:rPr lang="en-US" dirty="0"/>
                  <a:t>. I.e., make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acc>
                    <m:d>
                      <m:d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</m:d>
                  </m:oMath>
                </a14:m>
                <a:r>
                  <a:rPr lang="en-US" dirty="0"/>
                  <a:t> more similar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r>
                  <a:rPr lang="en-US" dirty="0"/>
                  <a:t>.</a:t>
                </a:r>
                <a:br>
                  <a:rPr lang="en-US" dirty="0"/>
                </a:br>
                <a:r>
                  <a:rPr lang="en-US" dirty="0"/>
                  <a:t>Note that the samples automatically follow the distribution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en-US" dirty="0"/>
                  <a:t> for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29671F6-58E1-5895-8D89-7778F6212AA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0"/>
                <a:ext cx="10515600" cy="4164021"/>
              </a:xfrm>
              <a:blipFill>
                <a:blip r:embed="rId2"/>
                <a:stretch>
                  <a:fillRect l="-1043" t="-366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Speech Bubble: Rectangle with Corners Rounded 3">
                <a:extLst>
                  <a:ext uri="{FF2B5EF4-FFF2-40B4-BE49-F238E27FC236}">
                    <a16:creationId xmlns:a16="http://schemas.microsoft.com/office/drawing/2014/main" id="{AB49CAFC-1028-608B-EC85-51F22C5CF030}"/>
                  </a:ext>
                </a:extLst>
              </p:cNvPr>
              <p:cNvSpPr/>
              <p:nvPr/>
            </p:nvSpPr>
            <p:spPr>
              <a:xfrm>
                <a:off x="7958528" y="3837482"/>
                <a:ext cx="3395272" cy="759072"/>
              </a:xfrm>
              <a:prstGeom prst="wedgeRoundRectCallout">
                <a:avLst>
                  <a:gd name="adj1" fmla="val -91983"/>
                  <a:gd name="adj2" fmla="val 3255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For now, we assume that we can assess the correct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4" name="Speech Bubble: Rectangle with Corners Rounded 3">
                <a:extLst>
                  <a:ext uri="{FF2B5EF4-FFF2-40B4-BE49-F238E27FC236}">
                    <a16:creationId xmlns:a16="http://schemas.microsoft.com/office/drawing/2014/main" id="{AB49CAFC-1028-608B-EC85-51F22C5CF03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58528" y="3837482"/>
                <a:ext cx="3395272" cy="759072"/>
              </a:xfrm>
              <a:prstGeom prst="wedgeRoundRectCallout">
                <a:avLst>
                  <a:gd name="adj1" fmla="val -91983"/>
                  <a:gd name="adj2" fmla="val 3255"/>
                  <a:gd name="adj3" fmla="val 16667"/>
                </a:avLst>
              </a:prstGeom>
              <a:blipFill>
                <a:blip r:embed="rId3"/>
                <a:stretch>
                  <a:fillRect b="-3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382737A-0856-8EC8-DC5F-DBE97B7A043F}"/>
                  </a:ext>
                </a:extLst>
              </p:cNvPr>
              <p:cNvSpPr txBox="1"/>
              <p:nvPr/>
            </p:nvSpPr>
            <p:spPr>
              <a:xfrm>
                <a:off x="4090441" y="5535621"/>
                <a:ext cx="3419631" cy="764505"/>
              </a:xfrm>
              <a:prstGeom prst="rect">
                <a:avLst/>
              </a:prstGeom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̅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𝑉𝐸</m:t>
                          </m:r>
                        </m:e>
                      </m:acc>
                      <m:r>
                        <a:rPr lang="en-US" i="1" smtClean="0">
                          <a:latin typeface="Cambria Math" panose="02040503050406030204" pitchFamily="18" charset="0"/>
                        </a:rPr>
                        <m:t>≝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𝒮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</m:sub>
                        <m:sup/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𝜇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𝑣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𝜋</m:t>
                                      </m:r>
                                    </m:sub>
                                  </m:s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acc>
                                    <m:accPr>
                                      <m:chr m:val="̂"/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𝑣</m:t>
                                      </m:r>
                                    </m:e>
                                  </m:acc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US" b="1" i="1">
                                          <a:latin typeface="Cambria Math" panose="02040503050406030204" pitchFamily="18" charset="0"/>
                                        </a:rPr>
                                        <m:t>𝒘</m:t>
                                      </m:r>
                                    </m:e>
                                  </m:d>
                                </m:e>
                              </m:d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382737A-0856-8EC8-DC5F-DBE97B7A04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90441" y="5535621"/>
                <a:ext cx="3419631" cy="76450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647152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6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41FE312-5C26-99AC-5278-403A56057DE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35487"/>
                <a:ext cx="10515600" cy="5045391"/>
              </a:xfrm>
            </p:spPr>
            <p:txBody>
              <a:bodyPr>
                <a:normAutofit fontScale="77500" lnSpcReduction="20000"/>
              </a:bodyPr>
              <a:lstStyle/>
              <a:p>
                <a:pPr marL="0" indent="0">
                  <a:buNone/>
                </a:pPr>
                <a:r>
                  <a:rPr lang="en-US" b="1" dirty="0"/>
                  <a:t>Minimize</a:t>
                </a:r>
                <a:r>
                  <a:rPr lang="en-US" dirty="0"/>
                  <a:t>: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𝑉𝐸</m:t>
                        </m:r>
                      </m:e>
                    </m:acc>
                    <m:r>
                      <a:rPr lang="en-US" i="1">
                        <a:latin typeface="Cambria Math" panose="02040503050406030204" pitchFamily="18" charset="0"/>
                      </a:rPr>
                      <m:t>≝</m:t>
                    </m:r>
                    <m:nary>
                      <m:naryPr>
                        <m:chr m:val="∑"/>
                        <m:supHide m:val="on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∈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</m:sub>
                      <m:sup/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𝜇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begChr m:val="["/>
                                <m:endChr m:val="]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𝑣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𝜋</m:t>
                                    </m:r>
                                  </m:sub>
                                </m:s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acc>
                                  <m:accPr>
                                    <m:chr m:val="̂"/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𝑣</m:t>
                                    </m:r>
                                  </m:e>
                                </m:acc>
                                <m:d>
                                  <m:d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b="1" i="1">
                                        <a:latin typeface="Cambria Math" panose="02040503050406030204" pitchFamily="18" charset="0"/>
                                      </a:rPr>
                                      <m:t>𝒘</m:t>
                                    </m:r>
                                  </m:e>
                                </m:d>
                              </m:e>
                            </m:d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nary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b="1" dirty="0"/>
              </a:p>
              <a:p>
                <a:pPr marL="0" indent="0">
                  <a:buNone/>
                </a:pPr>
                <a:r>
                  <a:rPr lang="en-US" b="1" dirty="0"/>
                  <a:t>Update</a:t>
                </a:r>
                <a:r>
                  <a:rPr lang="en-US" dirty="0"/>
                  <a:t>: For one</a:t>
                </a:r>
                <a:r>
                  <a:rPr lang="en-US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, we change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dirty="0"/>
                  <a:t> to reduce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𝑉𝐸</m:t>
                        </m:r>
                      </m:e>
                    </m:acc>
                  </m:oMath>
                </a14:m>
                <a:r>
                  <a:rPr lang="en-US" dirty="0"/>
                  <a:t> 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𝒘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m:rPr>
                          <m:aln/>
                        </m:rP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𝒘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∇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acc>
                                <m:accPr>
                                  <m:chr m:val="̂"/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</m:acc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1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𝒘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br>
                  <a:rPr lang="en-US" b="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</a:b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                         =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𝛼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𝜋</m:t>
                            </m:r>
                          </m:sub>
                        </m:sSub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𝑆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e>
                        </m:d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acc>
                          <m:accPr>
                            <m:chr m:val="̂"/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𝑣</m:t>
                            </m:r>
                          </m:e>
                        </m:acc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𝑆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𝒘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e>
                        </m:d>
                      </m:e>
                    </m:d>
                  </m:oMath>
                </a14:m>
                <a:r>
                  <a:rPr lang="en-US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∇</m:t>
                    </m:r>
                  </m:oMath>
                </a14:m>
                <a:r>
                  <a:rPr lang="en-US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𝑣</m:t>
                        </m:r>
                      </m:e>
                    </m:acc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𝒘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∇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𝒘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𝜕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𝑓</m:t>
                                  </m:r>
                                  <m:d>
                                    <m:d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𝑤</m:t>
                                      </m:r>
                                    </m:e>
                                  </m:d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𝜕</m:t>
                                  </m:r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𝑤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f>
                                <m:f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𝜕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𝑓</m:t>
                                  </m:r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𝑤</m:t>
                                      </m:r>
                                    </m:e>
                                  </m:d>
                                </m:num>
                                <m:den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𝜕</m:t>
                                  </m:r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𝑤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,…,</m:t>
                              </m:r>
                              <m:f>
                                <m:f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𝜕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𝑓</m:t>
                                  </m:r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𝑤</m:t>
                                      </m:r>
                                    </m:e>
                                  </m:d>
                                </m:num>
                                <m:den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𝜕</m:t>
                                  </m:r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𝑤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𝑑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d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⊤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  <a:p>
                <a:r>
                  <a:rPr lang="en-US" b="1" dirty="0"/>
                  <a:t>Stochastic</a:t>
                </a:r>
                <a:r>
                  <a:rPr lang="en-US" dirty="0"/>
                  <a:t>: because update is on a single (randomly chosen) example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.</a:t>
                </a:r>
              </a:p>
              <a:p>
                <a:r>
                  <a:rPr lang="en-US" b="1" dirty="0"/>
                  <a:t>Step size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𝜶</m:t>
                    </m:r>
                  </m:oMath>
                </a14:m>
                <a:r>
                  <a:rPr lang="en-US" dirty="0"/>
                  <a:t>: Since we update towards a sampled value and updates of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dirty="0"/>
                  <a:t> for one state will change the value for other states as well, we use many small updates (small value of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).</m:t>
                    </m:r>
                  </m:oMath>
                </a14:m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41FE312-5C26-99AC-5278-403A56057DE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35487"/>
                <a:ext cx="10515600" cy="5045391"/>
              </a:xfrm>
              <a:blipFill>
                <a:blip r:embed="rId2"/>
                <a:stretch>
                  <a:fillRect l="-754" t="-1257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itle 1">
            <a:extLst>
              <a:ext uri="{FF2B5EF4-FFF2-40B4-BE49-F238E27FC236}">
                <a16:creationId xmlns:a16="http://schemas.microsoft.com/office/drawing/2014/main" id="{5C24791A-2065-2469-FCF2-F9E719EFE9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SGD: Stochastic-Gradient Descend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Speech Bubble: Rectangle with Corners Rounded 5">
                <a:extLst>
                  <a:ext uri="{FF2B5EF4-FFF2-40B4-BE49-F238E27FC236}">
                    <a16:creationId xmlns:a16="http://schemas.microsoft.com/office/drawing/2014/main" id="{739989E6-5A55-C21A-86FA-282AE61529FA}"/>
                  </a:ext>
                </a:extLst>
              </p:cNvPr>
              <p:cNvSpPr/>
              <p:nvPr/>
            </p:nvSpPr>
            <p:spPr>
              <a:xfrm>
                <a:off x="9583748" y="715662"/>
                <a:ext cx="2498896" cy="1039650"/>
              </a:xfrm>
              <a:prstGeom prst="wedgeRoundRectCallout">
                <a:avLst>
                  <a:gd name="adj1" fmla="val -88796"/>
                  <a:gd name="adj2" fmla="val 131331"/>
                  <a:gd name="adj3" fmla="val 16667"/>
                </a:avLst>
              </a:prstGeom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Gradient of the squared error for the example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↦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.</a:t>
                </a:r>
              </a:p>
            </p:txBody>
          </p:sp>
        </mc:Choice>
        <mc:Fallback>
          <p:sp>
            <p:nvSpPr>
              <p:cNvPr id="6" name="Speech Bubble: Rectangle with Corners Rounded 5">
                <a:extLst>
                  <a:ext uri="{FF2B5EF4-FFF2-40B4-BE49-F238E27FC236}">
                    <a16:creationId xmlns:a16="http://schemas.microsoft.com/office/drawing/2014/main" id="{739989E6-5A55-C21A-86FA-282AE61529F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83748" y="715662"/>
                <a:ext cx="2498896" cy="1039650"/>
              </a:xfrm>
              <a:prstGeom prst="wedgeRoundRectCallout">
                <a:avLst>
                  <a:gd name="adj1" fmla="val -88796"/>
                  <a:gd name="adj2" fmla="val 131331"/>
                  <a:gd name="adj3" fmla="val 16667"/>
                </a:avLst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Rectangle 8">
            <a:extLst>
              <a:ext uri="{FF2B5EF4-FFF2-40B4-BE49-F238E27FC236}">
                <a16:creationId xmlns:a16="http://schemas.microsoft.com/office/drawing/2014/main" id="{C4F1ECF5-079F-37F0-8938-06EDE4B9A314}"/>
              </a:ext>
            </a:extLst>
          </p:cNvPr>
          <p:cNvSpPr/>
          <p:nvPr/>
        </p:nvSpPr>
        <p:spPr>
          <a:xfrm>
            <a:off x="5730705" y="2330586"/>
            <a:ext cx="2826962" cy="419594"/>
          </a:xfrm>
          <a:prstGeom prst="rect">
            <a:avLst/>
          </a:prstGeom>
          <a:noFill/>
          <a:ln w="9525" cap="flat" cmpd="sng" algn="ctr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Speech Bubble: Rectangle with Corners Rounded 9">
                <a:extLst>
                  <a:ext uri="{FF2B5EF4-FFF2-40B4-BE49-F238E27FC236}">
                    <a16:creationId xmlns:a16="http://schemas.microsoft.com/office/drawing/2014/main" id="{AFF6DCB0-4965-FDB7-9EF0-10B824BF7C4E}"/>
                  </a:ext>
                </a:extLst>
              </p:cNvPr>
              <p:cNvSpPr/>
              <p:nvPr/>
            </p:nvSpPr>
            <p:spPr>
              <a:xfrm>
                <a:off x="1001650" y="3429000"/>
                <a:ext cx="1881153" cy="837606"/>
              </a:xfrm>
              <a:prstGeom prst="wedgeRoundRectCallout">
                <a:avLst>
                  <a:gd name="adj1" fmla="val 95035"/>
                  <a:gd name="adj2" fmla="val 54474"/>
                  <a:gd name="adj3" fmla="val 16667"/>
                </a:avLst>
              </a:prstGeom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Gradient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</m:oMath>
                </a14:m>
                <a:r>
                  <a:rPr lang="en-US" dirty="0"/>
                  <a:t> with respect to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endParaRPr lang="en-US" b="1" dirty="0"/>
              </a:p>
            </p:txBody>
          </p:sp>
        </mc:Choice>
        <mc:Fallback xmlns="">
          <p:sp>
            <p:nvSpPr>
              <p:cNvPr id="10" name="Speech Bubble: Rectangle with Corners Rounded 9">
                <a:extLst>
                  <a:ext uri="{FF2B5EF4-FFF2-40B4-BE49-F238E27FC236}">
                    <a16:creationId xmlns:a16="http://schemas.microsoft.com/office/drawing/2014/main" id="{AFF6DCB0-4965-FDB7-9EF0-10B824BF7C4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1650" y="3429000"/>
                <a:ext cx="1881153" cy="837606"/>
              </a:xfrm>
              <a:prstGeom prst="wedgeRoundRectCallout">
                <a:avLst>
                  <a:gd name="adj1" fmla="val 95035"/>
                  <a:gd name="adj2" fmla="val 54474"/>
                  <a:gd name="adj3" fmla="val 16667"/>
                </a:avLst>
              </a:prstGeom>
              <a:blipFill>
                <a:blip r:embed="rId4"/>
                <a:stretch>
                  <a:fillRect t="-67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2631920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0B4956-27FC-B8BE-1553-9FD6E78662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br>
              <a:rPr lang="en-US" dirty="0"/>
            </a:br>
            <a:r>
              <a:rPr lang="en-US" dirty="0"/>
              <a:t>Step Size for SGD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D168661-07BB-DFA8-AD05-96A97DFC434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0"/>
                <a:ext cx="10515600" cy="4980024"/>
              </a:xfrm>
            </p:spPr>
            <p:txBody>
              <a:bodyPr>
                <a:normAutofit fontScale="62500" lnSpcReduction="20000"/>
              </a:bodyPr>
              <a:lstStyle/>
              <a:p>
                <a:r>
                  <a:rPr lang="en-US" dirty="0"/>
                  <a:t>SGD converges to a </a:t>
                </a:r>
                <a:r>
                  <a:rPr lang="en-US" b="1" dirty="0"/>
                  <a:t>local optimum </a:t>
                </a:r>
                <a:r>
                  <a:rPr lang="en-US" dirty="0"/>
                  <a:t>if the </a:t>
                </a:r>
                <a:r>
                  <a:rPr lang="en-US" b="1" dirty="0"/>
                  <a:t>stochastic approximation criterion </a:t>
                </a:r>
                <a:r>
                  <a:rPr lang="en-US" dirty="0"/>
                  <a:t>(Robbins–Monro conditions) is met:</a:t>
                </a:r>
                <a:br>
                  <a:rPr lang="en-US" dirty="0"/>
                </a:br>
                <a:br>
                  <a:rPr lang="en-US" dirty="0"/>
                </a:br>
                <a14:m>
                  <m:oMath xmlns:m="http://schemas.openxmlformats.org/officeDocument/2006/math">
                    <m:nary>
                      <m:naryPr>
                        <m:chr m:val="∑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∞</m:t>
                        </m:r>
                      </m:sup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</m:d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=∞ </m:t>
                        </m:r>
                        <m:r>
                          <m:rPr>
                            <m:nor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     </m:t>
                        </m:r>
                        <m:r>
                          <m:rPr>
                            <m:nor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and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   </m:t>
                        </m:r>
                      </m:e>
                    </m:nary>
                    <m:nary>
                      <m:naryPr>
                        <m:chr m:val="∑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∞</m:t>
                        </m:r>
                      </m:sup>
                      <m:e>
                        <m:sSubSup>
                          <m:sSub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d>
                          <m:d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</m:d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≤ 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∞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nary>
                  </m:oMath>
                </a14:m>
                <a:endParaRPr lang="en-US" dirty="0"/>
              </a:p>
              <a:p>
                <a:endParaRPr lang="en-US" i="1" dirty="0">
                  <a:latin typeface="Cambria Math" panose="02040503050406030204" pitchFamily="18" charset="0"/>
                </a:endParaRPr>
              </a:p>
              <a:p>
                <a:pPr marL="457200" lvl="1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</m:oMath>
                </a14:m>
                <a:r>
                  <a:rPr lang="en-US" dirty="0"/>
                  <a:t> … step size used after the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</a:t>
                </a:r>
                <a:r>
                  <a:rPr lang="en-US" dirty="0" err="1"/>
                  <a:t>th</a:t>
                </a:r>
                <a:r>
                  <a:rPr lang="en-US" dirty="0"/>
                  <a:t> selection of action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endParaRPr lang="en-US" dirty="0"/>
              </a:p>
              <a:p>
                <a:endParaRPr lang="en-US" i="1" dirty="0">
                  <a:latin typeface="Cambria Math" panose="02040503050406030204" pitchFamily="18" charset="0"/>
                </a:endParaRPr>
              </a:p>
              <a:p>
                <a:r>
                  <a:rPr lang="en-US" b="1" dirty="0"/>
                  <a:t>Popular choices for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𝜶</m:t>
                    </m:r>
                  </m:oMath>
                </a14:m>
                <a:r>
                  <a:rPr lang="en-US" b="1" dirty="0"/>
                  <a:t>:</a:t>
                </a:r>
              </a:p>
              <a:p>
                <a:pPr lvl="1"/>
                <a:r>
                  <a:rPr lang="en-US" dirty="0"/>
                  <a:t>Tabular MC uses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den>
                    </m:f>
                  </m:oMath>
                </a14:m>
                <a:r>
                  <a:rPr lang="en-US" dirty="0"/>
                  <a:t>   which leads to sample averaging.  Not appropriate for TD or approximation!</a:t>
                </a:r>
              </a:p>
              <a:p>
                <a:pPr lvl="1"/>
                <a:r>
                  <a:rPr lang="en-US" dirty="0"/>
                  <a:t>Constant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=1/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𝜏</m:t>
                    </m:r>
                  </m:oMath>
                </a14:m>
                <a:r>
                  <a:rPr lang="en-US" dirty="0"/>
                  <a:t> keeps learning and means a tabular estimate would approach to the mean target after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𝜏</m:t>
                    </m:r>
                  </m:oMath>
                </a14:m>
                <a:r>
                  <a:rPr lang="en-US" dirty="0"/>
                  <a:t> experiences.</a:t>
                </a:r>
              </a:p>
              <a:p>
                <a:pPr lvl="1"/>
                <a:r>
                  <a:rPr lang="en-US" dirty="0"/>
                  <a:t>For SGD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𝜏</m:t>
                        </m:r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begChr m:val="‖"/>
                                <m:endChr m:val="‖"/>
                                <m:ctrlP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</m:e>
                            </m:d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where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en-US" dirty="0"/>
                  <a:t> is a random feature vector chosen from the input vector distribution.</a:t>
                </a:r>
              </a:p>
              <a:p>
                <a:pPr lvl="1"/>
                <a:endParaRPr lang="en-US" dirty="0"/>
              </a:p>
              <a:p>
                <a:r>
                  <a:rPr lang="en-US" b="1" dirty="0"/>
                  <a:t>How to choose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𝜶</m:t>
                    </m:r>
                  </m:oMath>
                </a14:m>
                <a:r>
                  <a:rPr lang="en-US" b="1" dirty="0"/>
                  <a:t> in practice</a:t>
                </a:r>
              </a:p>
              <a:p>
                <a:pPr lvl="1"/>
                <a:r>
                  <a:rPr lang="en-US" dirty="0"/>
                  <a:t>Typical values: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0.1, 0.01, 0.001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If learning diverges: reduce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dirty="0"/>
                  <a:t> by a factor of 10</a:t>
                </a:r>
              </a:p>
              <a:p>
                <a:pPr lvl="1"/>
                <a:r>
                  <a:rPr lang="en-US" dirty="0"/>
                  <a:t>If learning is too slow: increase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dirty="0"/>
                  <a:t> bey a factor of 2 to 5.</a:t>
                </a:r>
              </a:p>
              <a:p>
                <a:pPr lvl="1"/>
                <a:r>
                  <a:rPr lang="en-US" dirty="0"/>
                  <a:t>Plot learning curve.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D168661-07BB-DFA8-AD05-96A97DFC434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0"/>
                <a:ext cx="10515600" cy="4980024"/>
              </a:xfrm>
              <a:blipFill>
                <a:blip r:embed="rId2"/>
                <a:stretch>
                  <a:fillRect l="-406" t="-95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peech Bubble: Rectangle with Corners Rounded 3">
            <a:extLst>
              <a:ext uri="{FF2B5EF4-FFF2-40B4-BE49-F238E27FC236}">
                <a16:creationId xmlns:a16="http://schemas.microsoft.com/office/drawing/2014/main" id="{C2741C91-B039-5B18-326F-F78C9583198F}"/>
              </a:ext>
            </a:extLst>
          </p:cNvPr>
          <p:cNvSpPr/>
          <p:nvPr/>
        </p:nvSpPr>
        <p:spPr>
          <a:xfrm>
            <a:off x="4593562" y="4867519"/>
            <a:ext cx="2570813" cy="292307"/>
          </a:xfrm>
          <a:prstGeom prst="wedgeRoundRectCallout">
            <a:avLst>
              <a:gd name="adj1" fmla="val -110029"/>
              <a:gd name="adj2" fmla="val -100079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To normalize the features</a:t>
            </a:r>
          </a:p>
        </p:txBody>
      </p:sp>
      <p:sp>
        <p:nvSpPr>
          <p:cNvPr id="5" name="Speech Bubble: Rectangle with Corners Rounded 4">
            <a:extLst>
              <a:ext uri="{FF2B5EF4-FFF2-40B4-BE49-F238E27FC236}">
                <a16:creationId xmlns:a16="http://schemas.microsoft.com/office/drawing/2014/main" id="{CB080493-DE1F-1886-C258-BECEA4EBB212}"/>
              </a:ext>
            </a:extLst>
          </p:cNvPr>
          <p:cNvSpPr/>
          <p:nvPr/>
        </p:nvSpPr>
        <p:spPr>
          <a:xfrm>
            <a:off x="8874177" y="2567065"/>
            <a:ext cx="2315980" cy="861935"/>
          </a:xfrm>
          <a:prstGeom prst="wedgeRoundRectCallout">
            <a:avLst>
              <a:gd name="adj1" fmla="val -65493"/>
              <a:gd name="adj2" fmla="val 88032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Only this satisfies the </a:t>
            </a:r>
            <a:r>
              <a:rPr lang="en-US" dirty="0" err="1"/>
              <a:t>stoch</a:t>
            </a:r>
            <a:r>
              <a:rPr lang="en-US" dirty="0"/>
              <a:t>. approx. criterion.</a:t>
            </a:r>
          </a:p>
        </p:txBody>
      </p:sp>
    </p:spTree>
    <p:extLst>
      <p:ext uri="{BB962C8B-B14F-4D97-AF65-F5344CB8AC3E}">
        <p14:creationId xmlns:p14="http://schemas.microsoft.com/office/powerpoint/2010/main" val="22306331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D6FE9E-CB37-2E0D-D263-CE657F2637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a Target Estimate for SGD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3CA6C95-A0E7-12A5-B281-567AF30BF91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0"/>
                <a:ext cx="10515600" cy="4951004"/>
              </a:xfrm>
            </p:spPr>
            <p:txBody>
              <a:bodyPr>
                <a:normAutofit fontScale="77500" lnSpcReduction="20000"/>
              </a:bodyPr>
              <a:lstStyle/>
              <a:p>
                <a:pPr marL="0" indent="0">
                  <a:buNone/>
                </a:pPr>
                <a:r>
                  <a:rPr lang="en-US" b="1" dirty="0"/>
                  <a:t>Issue</a:t>
                </a:r>
                <a:r>
                  <a:rPr lang="en-US" dirty="0"/>
                  <a:t>: We have assumed that we know the actual value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/>
                  <a:t> for the update</a:t>
                </a:r>
                <a:br>
                  <a:rPr lang="en-US" dirty="0"/>
                </a:br>
                <a:br>
                  <a:rPr lang="en-US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>
                              <a:latin typeface="Cambria Math" panose="02040503050406030204" pitchFamily="18" charset="0"/>
                            </a:rPr>
                            <m:t>𝒘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= 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>
                              <a:latin typeface="Cambria Math" panose="02040503050406030204" pitchFamily="18" charset="0"/>
                            </a:rPr>
                            <m:t>𝒘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𝛼</m:t>
                      </m:r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sub>
                          </m:sSub>
                          <m:d>
                            <m:dPr>
                              <m:ctrlPr>
                                <a:rPr lang="en-US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acc>
                            <m:accPr>
                              <m:chr m:val="̂"/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𝑣</m:t>
                              </m:r>
                            </m:e>
                          </m:acc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𝒘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∇</m:t>
                      </m:r>
                      <m:acc>
                        <m:accPr>
                          <m:chr m:val="̂"/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𝑣</m:t>
                          </m:r>
                        </m:e>
                      </m:acc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𝒘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br>
                  <a:rPr lang="en-US" dirty="0"/>
                </a:br>
                <a:br>
                  <a:rPr lang="en-US" dirty="0"/>
                </a:br>
                <a:r>
                  <a:rPr lang="en-US" dirty="0"/>
                  <a:t>but that is not the case in RL where we want to learn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r>
                  <a:rPr lang="en-US" dirty="0"/>
                  <a:t>.</a:t>
                </a:r>
              </a:p>
              <a:p>
                <a:endParaRPr lang="en-US" dirty="0"/>
              </a:p>
              <a:p>
                <a:pPr marL="0" indent="0">
                  <a:buNone/>
                </a:pPr>
                <a:r>
                  <a:rPr lang="en-US" b="1" dirty="0"/>
                  <a:t>Solution</a:t>
                </a:r>
                <a:r>
                  <a:rPr lang="en-US" dirty="0"/>
                  <a:t>: We can use any target estimate of the expected return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 instead</a:t>
                </a:r>
                <a:br>
                  <a:rPr lang="en-US" dirty="0"/>
                </a:br>
                <a:br>
                  <a:rPr lang="en-US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>
                              <a:latin typeface="Cambria Math" panose="02040503050406030204" pitchFamily="18" charset="0"/>
                            </a:rPr>
                            <m:t>𝒘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= 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>
                              <a:latin typeface="Cambria Math" panose="02040503050406030204" pitchFamily="18" charset="0"/>
                            </a:rPr>
                            <m:t>𝒘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𝛼</m:t>
                      </m:r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𝑈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acc>
                            <m:accPr>
                              <m:chr m:val="̂"/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𝑣</m:t>
                              </m:r>
                            </m:e>
                          </m:acc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𝒘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∇</m:t>
                      </m:r>
                      <m:acc>
                        <m:accPr>
                          <m:chr m:val="̂"/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𝑣</m:t>
                          </m:r>
                        </m:e>
                      </m:acc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𝒘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br>
                  <a:rPr lang="en-US" dirty="0"/>
                </a:br>
                <a:endParaRPr lang="en-US" dirty="0"/>
              </a:p>
              <a:p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SGD converges to a local optimum as long as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  is an </a:t>
                </a:r>
                <a:r>
                  <a:rPr lang="en-US" b="1" dirty="0"/>
                  <a:t>unbiased estimate</a:t>
                </a:r>
                <a:r>
                  <a:rPr lang="en-US" dirty="0"/>
                  <a:t>. I.e., </a:t>
                </a:r>
                <a:br>
                  <a:rPr lang="en-US" dirty="0"/>
                </a:br>
                <a:br>
                  <a:rPr lang="en-US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𝔼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𝑈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pPr marL="0" indent="0">
                  <a:buNone/>
                </a:pPr>
                <a:r>
                  <a:rPr lang="en-US" b="1" dirty="0"/>
                  <a:t>Examples</a:t>
                </a:r>
                <a:r>
                  <a:rPr lang="en-US" dirty="0"/>
                  <a:t>: </a:t>
                </a:r>
              </a:p>
              <a:p>
                <a:r>
                  <a:rPr lang="en-US" dirty="0"/>
                  <a:t>The Gradient Monte Carlo method uses the unbiased MC estimate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3CA6C95-A0E7-12A5-B281-567AF30BF91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0"/>
                <a:ext cx="10515600" cy="4951004"/>
              </a:xfrm>
              <a:blipFill>
                <a:blip r:embed="rId2"/>
                <a:stretch>
                  <a:fillRect l="-754" t="-24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062937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1D2905-E6EC-8819-EE56-53A4169153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Gradient Monte Carlo Algorithm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7EDBCD4-F6F4-7E08-7AC0-D5D908315C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199" y="1124198"/>
            <a:ext cx="10515601" cy="377623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63EE823-2892-5E2B-9E19-4EDE0A4D1C0A}"/>
                  </a:ext>
                </a:extLst>
              </p:cNvPr>
              <p:cNvSpPr txBox="1"/>
              <p:nvPr/>
            </p:nvSpPr>
            <p:spPr>
              <a:xfrm>
                <a:off x="7766507" y="4484025"/>
                <a:ext cx="4140974" cy="1148456"/>
              </a:xfrm>
              <a:prstGeom prst="rect">
                <a:avLst/>
              </a:prstGeom>
              <a:ln>
                <a:headEnd type="none" w="med" len="med"/>
                <a:tailEnd type="none" w="med" len="med"/>
              </a:ln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wrap="square">
                <a:spAutoFit/>
              </a:bodyPr>
              <a:lstStyle/>
              <a:p>
                <a:pPr/>
                <a:r>
                  <a:rPr lang="en-US" dirty="0"/>
                  <a:t>Remember from MC: </a:t>
                </a:r>
                <a:br>
                  <a:rPr lang="en-US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  <m:e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p>
                          </m:sSup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63EE823-2892-5E2B-9E19-4EDE0A4D1C0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66507" y="4484025"/>
                <a:ext cx="4140974" cy="1148456"/>
              </a:xfrm>
              <a:prstGeom prst="rect">
                <a:avLst/>
              </a:prstGeom>
              <a:blipFill>
                <a:blip r:embed="rId3"/>
                <a:stretch>
                  <a:fillRect l="-1026" t="-2094"/>
                </a:stretch>
              </a:blipFill>
              <a:ln>
                <a:headEnd type="none" w="med" len="med"/>
                <a:tailEnd type="none" w="med" len="med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8776117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78EF1A-F8D2-3414-4EA2-D8E03871F8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Bootstrapping and Semi-Gradient Methods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F5111B7-DA2B-3620-D5E7-614C6CD0E5D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0"/>
                <a:ext cx="10515600" cy="4980985"/>
              </a:xfrm>
            </p:spPr>
            <p:txBody>
              <a:bodyPr>
                <a:normAutofit fontScale="62500" lnSpcReduction="20000"/>
              </a:bodyPr>
              <a:lstStyle/>
              <a:p>
                <a:pPr marL="0" indent="0">
                  <a:buNone/>
                </a:pPr>
                <a:r>
                  <a:rPr lang="en-US" b="1" dirty="0" err="1"/>
                  <a:t>Issue:</a:t>
                </a:r>
                <a:endParaRPr lang="en-US" b="1" dirty="0"/>
              </a:p>
              <a:p>
                <a:r>
                  <a:rPr lang="en-US" dirty="0"/>
                  <a:t>To get the true gradient requires, the target has to be unbiased, fixed and only the prediction can depend on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dirty="0"/>
                  <a:t>.</a:t>
                </a:r>
                <a:br>
                  <a:rPr lang="en-US" dirty="0"/>
                </a:br>
                <a:br>
                  <a:rPr lang="en-US" dirty="0"/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𝛼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𝑈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acc>
                          <m:accPr>
                            <m:chr m:val="̂"/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𝑣</m:t>
                            </m:r>
                          </m:e>
                        </m:acc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𝑆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𝒘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e>
                        </m:d>
                      </m:e>
                    </m:d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∇</m:t>
                    </m:r>
                    <m:acc>
                      <m:accPr>
                        <m:chr m:val="̂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𝑣</m:t>
                        </m:r>
                      </m:e>
                    </m:acc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𝒘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</m:oMath>
                </a14:m>
                <a:br>
                  <a:rPr lang="en-US" dirty="0"/>
                </a:br>
                <a:endParaRPr lang="en-US" dirty="0"/>
              </a:p>
              <a:p>
                <a:endParaRPr lang="en-US" b="1" dirty="0"/>
              </a:p>
              <a:p>
                <a:pPr marL="0" indent="0">
                  <a:buNone/>
                </a:pPr>
                <a:r>
                  <a:rPr lang="en-US" b="1" dirty="0"/>
                  <a:t>Gradient Monte Carlo Algorithm: </a:t>
                </a:r>
                <a:r>
                  <a:rPr lang="en-US" dirty="0"/>
                  <a:t>Works since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0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i="1" dirty="0"/>
                  <a:t> </a:t>
                </a:r>
                <a:r>
                  <a:rPr lang="en-US" dirty="0"/>
                  <a:t>is the result of only sampled rewards which are independent of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dirty="0"/>
                  <a:t>.</a:t>
                </a:r>
                <a:endParaRPr lang="en-US" b="1" dirty="0"/>
              </a:p>
              <a:p>
                <a:pPr marL="0" indent="0">
                  <a:buNone/>
                </a:pPr>
                <a:br>
                  <a:rPr lang="en-US" b="1" dirty="0"/>
                </a:br>
                <a:r>
                  <a:rPr lang="en-US" b="1" dirty="0"/>
                  <a:t>Bootstrapping methods </a:t>
                </a:r>
                <a:r>
                  <a:rPr lang="en-US" dirty="0"/>
                  <a:t>(e.g.,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TD): break this requirement because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 depends on the bootstrap estimate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𝑣</m:t>
                        </m:r>
                      </m:e>
                    </m:acc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en-US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𝒘</m:t>
                        </m:r>
                      </m:e>
                    </m:d>
                  </m:oMath>
                </a14:m>
                <a:r>
                  <a:rPr lang="en-US" dirty="0"/>
                  <a:t> and thus the current value of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dirty="0"/>
                  <a:t>. </a:t>
                </a:r>
                <a:br>
                  <a:rPr lang="en-US" dirty="0"/>
                </a:br>
                <a:r>
                  <a:rPr lang="en-US" dirty="0"/>
                  <a:t>This does not result in a true gradient, and convergence cannot be guaranteed.</a:t>
                </a:r>
              </a:p>
              <a:p>
                <a:pPr marL="0" indent="0">
                  <a:buNone/>
                </a:pPr>
                <a:endParaRPr lang="en-US" b="1" dirty="0"/>
              </a:p>
              <a:p>
                <a:pPr marL="0" indent="0">
                  <a:buNone/>
                </a:pPr>
                <a:r>
                  <a:rPr lang="en-US" b="1" dirty="0"/>
                  <a:t>Semi-Gradient Methods:</a:t>
                </a:r>
              </a:p>
              <a:p>
                <a:r>
                  <a:rPr lang="en-US" dirty="0"/>
                  <a:t>If we use the approach with a biased target estimate, then this is called a semi-gradient method.</a:t>
                </a:r>
              </a:p>
              <a:p>
                <a:r>
                  <a:rPr lang="en-US" dirty="0"/>
                  <a:t>Advantages: </a:t>
                </a:r>
              </a:p>
              <a:p>
                <a:pPr lvl="1"/>
                <a:r>
                  <a:rPr lang="en-US" dirty="0"/>
                  <a:t>Are usually faster learners.</a:t>
                </a:r>
              </a:p>
              <a:p>
                <a:pPr lvl="1"/>
                <a:r>
                  <a:rPr lang="en-US" dirty="0"/>
                  <a:t>Often still converge (especially for linear approximators).</a:t>
                </a:r>
              </a:p>
              <a:p>
                <a:pPr lvl="1"/>
                <a:r>
                  <a:rPr lang="en-US" dirty="0"/>
                  <a:t>TD can learn online.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F5111B7-DA2B-3620-D5E7-614C6CD0E5D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0"/>
                <a:ext cx="10515600" cy="4980985"/>
              </a:xfrm>
              <a:blipFill>
                <a:blip r:embed="rId2"/>
                <a:stretch>
                  <a:fillRect l="-522" t="-18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633471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A657E9-08FB-929F-E25C-9E12E8E38B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Semi-gradient TD(0)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FC398A0-3D5C-B42F-6A72-E3FFED2184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195667"/>
            <a:ext cx="10515601" cy="5041835"/>
          </a:xfrm>
          <a:prstGeom prst="rect">
            <a:avLst/>
          </a:prstGeom>
        </p:spPr>
      </p:pic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BC98F6AF-8EC3-90BA-203C-644C9BAD6DB4}"/>
              </a:ext>
            </a:extLst>
          </p:cNvPr>
          <p:cNvCxnSpPr>
            <a:cxnSpLocks/>
          </p:cNvCxnSpPr>
          <p:nvPr/>
        </p:nvCxnSpPr>
        <p:spPr>
          <a:xfrm>
            <a:off x="3413294" y="5325856"/>
            <a:ext cx="1640337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Speech Bubble: Rectangle with Corners Rounded 8">
                <a:extLst>
                  <a:ext uri="{FF2B5EF4-FFF2-40B4-BE49-F238E27FC236}">
                    <a16:creationId xmlns:a16="http://schemas.microsoft.com/office/drawing/2014/main" id="{C622FEA7-28B7-FDAC-0622-559EAC7C3CE0}"/>
                  </a:ext>
                </a:extLst>
              </p:cNvPr>
              <p:cNvSpPr/>
              <p:nvPr/>
            </p:nvSpPr>
            <p:spPr>
              <a:xfrm>
                <a:off x="4802346" y="5598827"/>
                <a:ext cx="3951910" cy="894047"/>
              </a:xfrm>
              <a:prstGeom prst="wedgeRoundRectCallout">
                <a:avLst>
                  <a:gd name="adj1" fmla="val -57606"/>
                  <a:gd name="adj2" fmla="val -74638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 is a bootstrapped estimate and biased because it uses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dirty="0"/>
                  <a:t>. Convergence is not guaranteed!</a:t>
                </a:r>
              </a:p>
            </p:txBody>
          </p:sp>
        </mc:Choice>
        <mc:Fallback xmlns="">
          <p:sp>
            <p:nvSpPr>
              <p:cNvPr id="9" name="Speech Bubble: Rectangle with Corners Rounded 8">
                <a:extLst>
                  <a:ext uri="{FF2B5EF4-FFF2-40B4-BE49-F238E27FC236}">
                    <a16:creationId xmlns:a16="http://schemas.microsoft.com/office/drawing/2014/main" id="{C622FEA7-28B7-FDAC-0622-559EAC7C3CE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02346" y="5598827"/>
                <a:ext cx="3951910" cy="894047"/>
              </a:xfrm>
              <a:prstGeom prst="wedgeRoundRectCallout">
                <a:avLst>
                  <a:gd name="adj1" fmla="val -57606"/>
                  <a:gd name="adj2" fmla="val -74638"/>
                  <a:gd name="adj3" fmla="val 16667"/>
                </a:avLst>
              </a:prstGeom>
              <a:blipFill>
                <a:blip r:embed="rId3"/>
                <a:stretch>
                  <a:fillRect b="-9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1965478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C7A09B8-D05A-ACB1-E7C4-C0F943E241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Linear Approximation Methods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 Placeholder 4">
                <a:extLst>
                  <a:ext uri="{FF2B5EF4-FFF2-40B4-BE49-F238E27FC236}">
                    <a16:creationId xmlns:a16="http://schemas.microsoft.com/office/drawing/2014/main" id="{30D0F8F0-5C2B-42CF-9485-B7064784A25E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US" dirty="0"/>
                  <a:t>The approximation function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acc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</m:d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5" name="Text Placeholder 4">
                <a:extLst>
                  <a:ext uri="{FF2B5EF4-FFF2-40B4-BE49-F238E27FC236}">
                    <a16:creationId xmlns:a16="http://schemas.microsoft.com/office/drawing/2014/main" id="{30D0F8F0-5C2B-42CF-9485-B7064784A25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blipFill>
                <a:blip r:embed="rId2"/>
                <a:stretch>
                  <a:fillRect l="-870" t="-52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5876203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1AA0BD-603E-A1B7-4289-5DDE156DC4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Linear Methods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083189E-BE7C-267A-8E70-A48014366D8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77500" lnSpcReduction="20000"/>
              </a:bodyPr>
              <a:lstStyle/>
              <a:p>
                <a:r>
                  <a:rPr lang="en-US" dirty="0"/>
                  <a:t>Linear approximation of the state value by the inner product </a:t>
                </a:r>
                <a:br>
                  <a:rPr lang="en-US" dirty="0"/>
                </a:br>
                <a:br>
                  <a:rPr lang="en-US" dirty="0"/>
                </a:b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acc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≝</m:t>
                    </m:r>
                    <m:sSup>
                      <m:sSupPr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  <m:sup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⊤</m:t>
                        </m:r>
                      </m:sup>
                    </m:sSup>
                    <m:r>
                      <a:rPr lang="en-US" b="1" i="1" smtClean="0">
                        <a:latin typeface="Cambria Math" panose="02040503050406030204" pitchFamily="18" charset="0"/>
                      </a:rPr>
                      <m:t>𝒙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sup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</m:e>
                    </m:nary>
                  </m:oMath>
                </a14:m>
                <a:br>
                  <a:rPr lang="en-US" b="0" i="1" dirty="0">
                    <a:latin typeface="Cambria Math" panose="02040503050406030204" pitchFamily="18" charset="0"/>
                  </a:rPr>
                </a:br>
                <a:br>
                  <a:rPr lang="en-US" b="0" i="1" dirty="0">
                    <a:latin typeface="Cambria Math" panose="02040503050406030204" pitchFamily="18" charset="0"/>
                  </a:rPr>
                </a:br>
                <a:r>
                  <a:rPr lang="en-US" b="0" i="1" dirty="0">
                    <a:latin typeface="Cambria Math" panose="02040503050406030204" pitchFamily="18" charset="0"/>
                  </a:rPr>
                  <a:t>                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… feature vector with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𝒮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ℝ</m:t>
                    </m:r>
                  </m:oMath>
                </a14:m>
                <a:r>
                  <a:rPr lang="en-US" dirty="0"/>
                  <a:t> (called basis function)</a:t>
                </a:r>
              </a:p>
              <a:p>
                <a:endParaRPr lang="en-US" dirty="0"/>
              </a:p>
              <a:p>
                <a:r>
                  <a:rPr lang="en-US" b="1" dirty="0"/>
                  <a:t>Gradient</a:t>
                </a:r>
                <a:r>
                  <a:rPr lang="en-US" dirty="0"/>
                  <a:t>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∇</m:t>
                    </m:r>
                    <m:acc>
                      <m:accPr>
                        <m:chr m:val="̂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acc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𝒙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endParaRPr lang="en-US" dirty="0"/>
              </a:p>
              <a:p>
                <a:r>
                  <a:rPr lang="en-US" b="1" dirty="0"/>
                  <a:t>SGD update</a:t>
                </a:r>
                <a:r>
                  <a:rPr lang="en-US" dirty="0"/>
                  <a:t>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𝛼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𝑈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acc>
                          <m:accPr>
                            <m:chr m:val="̂"/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𝑣</m:t>
                            </m:r>
                          </m:e>
                        </m:acc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𝑆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𝒘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e>
                        </m:d>
                      </m:e>
                    </m:d>
                    <m:r>
                      <a:rPr lang="en-US" b="1" i="1">
                        <a:latin typeface="Cambria Math" panose="02040503050406030204" pitchFamily="18" charset="0"/>
                      </a:rPr>
                      <m:t>𝒙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</m:oMath>
                </a14:m>
                <a:endParaRPr lang="en-US" dirty="0"/>
              </a:p>
              <a:p>
                <a:endParaRPr lang="en-US" dirty="0"/>
              </a:p>
              <a:p>
                <a:r>
                  <a:rPr lang="en-US" b="1" dirty="0"/>
                  <a:t>Advantages</a:t>
                </a:r>
                <a:r>
                  <a:rPr lang="en-US" dirty="0"/>
                  <a:t>:</a:t>
                </a:r>
              </a:p>
              <a:p>
                <a:pPr lvl="1"/>
                <a:r>
                  <a:rPr lang="en-US" dirty="0"/>
                  <a:t>Simple math.</a:t>
                </a:r>
              </a:p>
              <a:p>
                <a:pPr lvl="1"/>
                <a:r>
                  <a:rPr lang="en-US" dirty="0"/>
                  <a:t>Has only one optimum and is </a:t>
                </a:r>
                <a:r>
                  <a:rPr lang="en-US" b="1" dirty="0"/>
                  <a:t>guaranteed to converge </a:t>
                </a:r>
                <a:r>
                  <a:rPr lang="en-US" dirty="0"/>
                  <a:t>to the </a:t>
                </a:r>
                <a:r>
                  <a:rPr lang="en-US" b="1" dirty="0"/>
                  <a:t>global minimum </a:t>
                </a:r>
                <a:r>
                  <a:rPr lang="en-US" dirty="0"/>
                  <a:t>of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𝑉𝐸</m:t>
                        </m:r>
                      </m:e>
                    </m:acc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if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dirty="0"/>
                  <a:t> is reduced following the  stochastic approximation condition.</a:t>
                </a:r>
              </a:p>
              <a:p>
                <a:pPr lvl="1"/>
                <a:r>
                  <a:rPr lang="en-US" dirty="0"/>
                  <a:t>Convergence guarantee also holds for </a:t>
                </a:r>
                <a:r>
                  <a:rPr lang="en-US" b="1" dirty="0"/>
                  <a:t>bootstrapping</a:t>
                </a:r>
                <a:r>
                  <a:rPr lang="en-US" dirty="0"/>
                  <a:t> methods like Semi-gradient TD(0)!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083189E-BE7C-267A-8E70-A48014366D8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96" t="-25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peech Bubble: Rectangle with Corners Rounded 3">
            <a:extLst>
              <a:ext uri="{FF2B5EF4-FFF2-40B4-BE49-F238E27FC236}">
                <a16:creationId xmlns:a16="http://schemas.microsoft.com/office/drawing/2014/main" id="{5D596E5E-8FC3-958A-237C-D0EA03C73879}"/>
              </a:ext>
            </a:extLst>
          </p:cNvPr>
          <p:cNvSpPr/>
          <p:nvPr/>
        </p:nvSpPr>
        <p:spPr>
          <a:xfrm>
            <a:off x="8731771" y="4144781"/>
            <a:ext cx="2196059" cy="697042"/>
          </a:xfrm>
          <a:prstGeom prst="wedgeRoundRectCallout">
            <a:avLst>
              <a:gd name="adj1" fmla="val -37421"/>
              <a:gd name="adj2" fmla="val 85335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This is an extremely strong guarantee!</a:t>
            </a:r>
          </a:p>
        </p:txBody>
      </p:sp>
    </p:spTree>
    <p:extLst>
      <p:ext uri="{BB962C8B-B14F-4D97-AF65-F5344CB8AC3E}">
        <p14:creationId xmlns:p14="http://schemas.microsoft.com/office/powerpoint/2010/main" val="21081970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D3B4D6-A3D5-E0FF-54DF-4643B6C413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Feature Vector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3AA4273-07F2-A9DC-CBEB-728A9F627BE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r>
                  <a:rPr lang="en-US" b="1" dirty="0"/>
                  <a:t>Issue</a:t>
                </a:r>
                <a:r>
                  <a:rPr lang="en-US" dirty="0"/>
                  <a:t>: How do we construct the feature vector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for a state?</a:t>
                </a:r>
              </a:p>
              <a:p>
                <a:endParaRPr lang="en-US" b="1" dirty="0"/>
              </a:p>
              <a:p>
                <a:r>
                  <a:rPr lang="en-US" b="1" dirty="0"/>
                  <a:t>Initial idea</a:t>
                </a:r>
                <a:r>
                  <a:rPr lang="en-US" dirty="0"/>
                  <a:t>: If the factored state description consists of several numbers (e.g., x and y coordinates), then we can directly use them as the feature vector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𝒙</m:t>
                    </m:r>
                    <m:d>
                      <m:d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. </a:t>
                </a:r>
                <a:br>
                  <a:rPr lang="en-US" dirty="0"/>
                </a:br>
                <a:br>
                  <a:rPr lang="en-US" dirty="0"/>
                </a:br>
                <a:r>
                  <a:rPr lang="en-US" dirty="0"/>
                  <a:t>This leads to </a:t>
                </a:r>
                <a:r>
                  <a:rPr lang="en-US" b="1" dirty="0"/>
                  <a:t>linear</a:t>
                </a:r>
                <a:r>
                  <a:rPr lang="en-US" dirty="0"/>
                  <a:t> </a:t>
                </a:r>
                <a:r>
                  <a:rPr lang="en-US" b="1" dirty="0"/>
                  <a:t>interpolation </a:t>
                </a:r>
                <a:r>
                  <a:rPr lang="en-US" dirty="0"/>
                  <a:t>learned as a </a:t>
                </a:r>
                <a:r>
                  <a:rPr lang="en-US" b="1" dirty="0"/>
                  <a:t>linear regression.</a:t>
                </a:r>
              </a:p>
              <a:p>
                <a:endParaRPr lang="en-US" b="1" dirty="0"/>
              </a:p>
              <a:p>
                <a:r>
                  <a:rPr lang="en-US" b="1" dirty="0"/>
                  <a:t>Problems</a:t>
                </a:r>
                <a:r>
                  <a:rPr lang="en-US" dirty="0"/>
                  <a:t>: </a:t>
                </a:r>
              </a:p>
              <a:p>
                <a:pPr lvl="1"/>
                <a:r>
                  <a:rPr lang="en-US" dirty="0"/>
                  <a:t>The value function may not depend linearly on the variables used in the state description. </a:t>
                </a:r>
              </a:p>
              <a:p>
                <a:pPr lvl="1"/>
                <a:r>
                  <a:rPr lang="en-US" dirty="0"/>
                  <a:t>Linear regression cannot represent interactions between the variables.</a:t>
                </a:r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3AA4273-07F2-A9DC-CBEB-728A9F627BE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806" r="-1623" b="-16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71060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924CA0-B808-45FE-B59E-061047DB41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B46AD2-EED1-29EA-3A8B-33B78243A6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Example: L-Maze with Linear Features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8F159DB-0ACD-AFF4-9E19-467E4B0A81F1}"/>
              </a:ext>
            </a:extLst>
          </p:cNvPr>
          <p:cNvSpPr txBox="1"/>
          <p:nvPr/>
        </p:nvSpPr>
        <p:spPr>
          <a:xfrm>
            <a:off x="1220597" y="1211552"/>
            <a:ext cx="88294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Semi-gradient Sarsa (see Control later) with linear features cannot solve the L-Maze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EA8ADD4-2C01-4341-D827-D48BA71E31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111" y="1871905"/>
            <a:ext cx="5133975" cy="414337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0D48BFC-E186-4381-4FFE-D8887C3041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3417" y="1811943"/>
            <a:ext cx="4791075" cy="4143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386434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3808D1-8837-CCB1-E085-F54F15906A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4D1A6B-6DB7-E864-D2D3-06A84D4266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Feature Construction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3F8D59-91BD-8D3F-17EC-9451FBDC8E5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b="1" dirty="0"/>
              <a:t>Idea</a:t>
            </a:r>
            <a:r>
              <a:rPr lang="en-US" dirty="0"/>
              <a:t>: Use a more flexible, non-linear transform of the state description to construct state features.</a:t>
            </a:r>
            <a:br>
              <a:rPr lang="en-US" dirty="0"/>
            </a:br>
            <a:endParaRPr lang="en-US" dirty="0"/>
          </a:p>
          <a:p>
            <a:r>
              <a:rPr lang="en-US" dirty="0"/>
              <a:t>We will focus on the most popular feature construction methods that work well for RL:</a:t>
            </a:r>
          </a:p>
          <a:p>
            <a:pPr lvl="1"/>
            <a:r>
              <a:rPr lang="en-US" b="1" dirty="0"/>
              <a:t>Fourier Basis:</a:t>
            </a:r>
            <a:r>
              <a:rPr lang="en-US" dirty="0"/>
              <a:t> strong baseline; very efficient; strong guarantees. </a:t>
            </a:r>
          </a:p>
          <a:p>
            <a:pPr lvl="1"/>
            <a:r>
              <a:rPr lang="en-US" b="1" dirty="0"/>
              <a:t>Tile Coding</a:t>
            </a:r>
            <a:r>
              <a:rPr lang="en-US" dirty="0"/>
              <a:t>: coarse coding using tiles, local generalization, very computationally efficient.</a:t>
            </a:r>
          </a:p>
          <a:p>
            <a:pPr marL="457200" lvl="1" indent="0">
              <a:buNone/>
            </a:pPr>
            <a:endParaRPr lang="en-US" dirty="0"/>
          </a:p>
          <a:p>
            <a:r>
              <a:rPr lang="en-US" dirty="0"/>
              <a:t>Other methods</a:t>
            </a:r>
          </a:p>
          <a:p>
            <a:pPr lvl="1"/>
            <a:r>
              <a:rPr lang="en-US" dirty="0"/>
              <a:t>One-Hot Features: exact representation; no generalization (equivalent to tabular RL)</a:t>
            </a:r>
          </a:p>
          <a:p>
            <a:pPr lvl="1"/>
            <a:r>
              <a:rPr lang="en-US" dirty="0"/>
              <a:t>Coarse Coding using spherical reception fields</a:t>
            </a:r>
          </a:p>
          <a:p>
            <a:pPr lvl="1"/>
            <a:r>
              <a:rPr lang="en-US" dirty="0"/>
              <a:t>Polynomials Features: smooth global generalization.</a:t>
            </a:r>
          </a:p>
          <a:p>
            <a:pPr lvl="1"/>
            <a:r>
              <a:rPr lang="en-US" dirty="0"/>
              <a:t>Radial Basis Functions: smooth local generalization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829201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DD3E4E-A639-51E3-8016-984AF74938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Fourier Basis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6811E52-042D-798C-3261-CCDB94EB6B4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161569"/>
                <a:ext cx="10515600" cy="2943670"/>
              </a:xfrm>
            </p:spPr>
            <p:txBody>
              <a:bodyPr>
                <a:normAutofit fontScale="62500" lnSpcReduction="20000"/>
              </a:bodyPr>
              <a:lstStyle/>
              <a:p>
                <a:r>
                  <a:rPr lang="en-US" dirty="0"/>
                  <a:t>A Fourier series (Fourier transform) represents a periodic function as a weighted sum of sine and cosine basis functions of increasing frequencies.</a:t>
                </a:r>
              </a:p>
              <a:p>
                <a:r>
                  <a:rPr lang="en-US" dirty="0"/>
                  <a:t>State features are not periodic, so we consider only a single period, chosen so we only need to use cosine basis functions. </a:t>
                </a:r>
              </a:p>
              <a:p>
                <a:r>
                  <a:rPr lang="en-US" dirty="0"/>
                  <a:t>Strong theoretical foundation: Fourier series can approximate any function.</a:t>
                </a:r>
                <a:endParaRPr lang="en-US" b="1" dirty="0"/>
              </a:p>
              <a:p>
                <a:pPr marL="0" indent="0">
                  <a:buNone/>
                </a:pPr>
                <a:endParaRPr lang="en-US" b="1" dirty="0"/>
              </a:p>
              <a:p>
                <a:pPr marL="0" indent="0">
                  <a:buNone/>
                </a:pPr>
                <a:r>
                  <a:rPr lang="en-US" b="1" dirty="0"/>
                  <a:t>On dimensional case</a:t>
                </a:r>
                <a:r>
                  <a:rPr lang="en-US" dirty="0"/>
                  <a:t>: state is represented by a single number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0,1</m:t>
                        </m:r>
                      </m:e>
                    </m:d>
                  </m:oMath>
                </a14:m>
                <a:br>
                  <a:rPr lang="en-US" b="0" dirty="0"/>
                </a:br>
                <a:br>
                  <a:rPr lang="en-US" b="0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en-US" b="0" dirty="0"/>
                  <a:t>	</a:t>
                </a:r>
                <a:br>
                  <a:rPr lang="en-US" b="0" dirty="0"/>
                </a:br>
                <a:r>
                  <a:rPr lang="en-US" b="0" dirty="0"/>
                  <a:t>	with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=0,…,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where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dirty="0"/>
                  <a:t> is the frequency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is the order of the Fourier basis function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6811E52-042D-798C-3261-CCDB94EB6B4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161569"/>
                <a:ext cx="10515600" cy="2943670"/>
              </a:xfrm>
              <a:blipFill>
                <a:blip r:embed="rId2"/>
                <a:stretch>
                  <a:fillRect l="-522" t="-3320" r="-812" b="-6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Rectangle: Rounded Corners 31">
                <a:extLst>
                  <a:ext uri="{FF2B5EF4-FFF2-40B4-BE49-F238E27FC236}">
                    <a16:creationId xmlns:a16="http://schemas.microsoft.com/office/drawing/2014/main" id="{7350A765-B62B-4ADE-CD38-637FA7EC305A}"/>
                  </a:ext>
                </a:extLst>
              </p:cNvPr>
              <p:cNvSpPr/>
              <p:nvPr/>
            </p:nvSpPr>
            <p:spPr>
              <a:xfrm>
                <a:off x="10014097" y="2543767"/>
                <a:ext cx="1339703" cy="878958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/>
                  <a:t>Note: </a:t>
                </a:r>
                <a14:m>
                  <m:oMath xmlns:m="http://schemas.openxmlformats.org/officeDocument/2006/math">
                    <m:r>
                      <a:rPr lang="en-US" sz="14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sz="1400" dirty="0"/>
                  <a:t> is 180° in radians</a:t>
                </a:r>
              </a:p>
            </p:txBody>
          </p:sp>
        </mc:Choice>
        <mc:Fallback xmlns="">
          <p:sp>
            <p:nvSpPr>
              <p:cNvPr id="32" name="Rectangle: Rounded Corners 31">
                <a:extLst>
                  <a:ext uri="{FF2B5EF4-FFF2-40B4-BE49-F238E27FC236}">
                    <a16:creationId xmlns:a16="http://schemas.microsoft.com/office/drawing/2014/main" id="{7350A765-B62B-4ADE-CD38-637FA7EC305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14097" y="2543767"/>
                <a:ext cx="1339703" cy="878958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8" name="Group 27">
            <a:extLst>
              <a:ext uri="{FF2B5EF4-FFF2-40B4-BE49-F238E27FC236}">
                <a16:creationId xmlns:a16="http://schemas.microsoft.com/office/drawing/2014/main" id="{969D3EEB-DF2C-E4E0-6C47-A07423C916CC}"/>
              </a:ext>
            </a:extLst>
          </p:cNvPr>
          <p:cNvGrpSpPr/>
          <p:nvPr/>
        </p:nvGrpSpPr>
        <p:grpSpPr>
          <a:xfrm>
            <a:off x="608001" y="4105239"/>
            <a:ext cx="10975998" cy="2454194"/>
            <a:chOff x="555214" y="4273987"/>
            <a:chExt cx="10975998" cy="245419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506EE23C-B5A9-DF31-8286-7EF0B31BE999}"/>
                </a:ext>
              </a:extLst>
            </p:cNvPr>
            <p:cNvGrpSpPr/>
            <p:nvPr/>
          </p:nvGrpSpPr>
          <p:grpSpPr>
            <a:xfrm>
              <a:off x="555214" y="4273987"/>
              <a:ext cx="10975998" cy="2198627"/>
              <a:chOff x="555214" y="4273987"/>
              <a:chExt cx="10975998" cy="2198627"/>
            </a:xfrm>
          </p:grpSpPr>
          <p:grpSp>
            <p:nvGrpSpPr>
              <p:cNvPr id="27" name="Group 26">
                <a:extLst>
                  <a:ext uri="{FF2B5EF4-FFF2-40B4-BE49-F238E27FC236}">
                    <a16:creationId xmlns:a16="http://schemas.microsoft.com/office/drawing/2014/main" id="{97505212-7A05-EF5F-595D-8F58C8B01957}"/>
                  </a:ext>
                </a:extLst>
              </p:cNvPr>
              <p:cNvGrpSpPr/>
              <p:nvPr/>
            </p:nvGrpSpPr>
            <p:grpSpPr>
              <a:xfrm>
                <a:off x="1403011" y="4774425"/>
                <a:ext cx="9702152" cy="1698189"/>
                <a:chOff x="940253" y="3816846"/>
                <a:chExt cx="10311493" cy="2432393"/>
              </a:xfrm>
            </p:grpSpPr>
            <p:grpSp>
              <p:nvGrpSpPr>
                <p:cNvPr id="14" name="Group 13">
                  <a:extLst>
                    <a:ext uri="{FF2B5EF4-FFF2-40B4-BE49-F238E27FC236}">
                      <a16:creationId xmlns:a16="http://schemas.microsoft.com/office/drawing/2014/main" id="{E28C3802-8BE9-3532-FD3E-63D4C67B7343}"/>
                    </a:ext>
                  </a:extLst>
                </p:cNvPr>
                <p:cNvGrpSpPr/>
                <p:nvPr/>
              </p:nvGrpSpPr>
              <p:grpSpPr>
                <a:xfrm>
                  <a:off x="940253" y="3816846"/>
                  <a:ext cx="10311493" cy="2316799"/>
                  <a:chOff x="940253" y="3816846"/>
                  <a:chExt cx="10311493" cy="2316799"/>
                </a:xfrm>
              </p:grpSpPr>
              <p:pic>
                <p:nvPicPr>
                  <p:cNvPr id="5" name="Picture 4">
                    <a:extLst>
                      <a:ext uri="{FF2B5EF4-FFF2-40B4-BE49-F238E27FC236}">
                        <a16:creationId xmlns:a16="http://schemas.microsoft.com/office/drawing/2014/main" id="{3B1C95FD-8690-42B1-E727-B2971459644A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4"/>
                  <a:stretch>
                    <a:fillRect/>
                  </a:stretch>
                </p:blipFill>
                <p:spPr>
                  <a:xfrm>
                    <a:off x="940253" y="4001512"/>
                    <a:ext cx="10311493" cy="2132133"/>
                  </a:xfrm>
                  <a:prstGeom prst="rect">
                    <a:avLst/>
                  </a:prstGeom>
                </p:spPr>
              </p:pic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6" name="TextBox 5">
                        <a:extLst>
                          <a:ext uri="{FF2B5EF4-FFF2-40B4-BE49-F238E27FC236}">
                            <a16:creationId xmlns:a16="http://schemas.microsoft.com/office/drawing/2014/main" id="{080C96CF-121E-44DE-76C2-6C0CBBE9281C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1927021" y="3816846"/>
                        <a:ext cx="655916" cy="440843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oMath>
                          </m:oMathPara>
                        </a14:m>
                        <a:endParaRPr lang="en-US" sz="1400" dirty="0"/>
                      </a:p>
                    </p:txBody>
                  </p:sp>
                </mc:Choice>
                <mc:Fallback xmlns="">
                  <p:sp>
                    <p:nvSpPr>
                      <p:cNvPr id="6" name="TextBox 5">
                        <a:extLst>
                          <a:ext uri="{FF2B5EF4-FFF2-40B4-BE49-F238E27FC236}">
                            <a16:creationId xmlns:a16="http://schemas.microsoft.com/office/drawing/2014/main" id="{080C96CF-121E-44DE-76C2-6C0CBBE9281C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1927021" y="3816846"/>
                        <a:ext cx="655916" cy="440843"/>
                      </a:xfrm>
                      <a:prstGeom prst="rect">
                        <a:avLst/>
                      </a:prstGeom>
                      <a:blipFill>
                        <a:blip r:embed="rId5"/>
                        <a:stretch>
                          <a:fillRect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7" name="TextBox 6">
                        <a:extLst>
                          <a:ext uri="{FF2B5EF4-FFF2-40B4-BE49-F238E27FC236}">
                            <a16:creationId xmlns:a16="http://schemas.microsoft.com/office/drawing/2014/main" id="{74940EEB-2288-42CB-85C4-BCE6702B531D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4410792" y="3842266"/>
                        <a:ext cx="655916" cy="440843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=2</m:t>
                              </m:r>
                            </m:oMath>
                          </m:oMathPara>
                        </a14:m>
                        <a:endParaRPr lang="en-US" sz="1400" dirty="0"/>
                      </a:p>
                    </p:txBody>
                  </p:sp>
                </mc:Choice>
                <mc:Fallback xmlns="">
                  <p:sp>
                    <p:nvSpPr>
                      <p:cNvPr id="7" name="TextBox 6">
                        <a:extLst>
                          <a:ext uri="{FF2B5EF4-FFF2-40B4-BE49-F238E27FC236}">
                            <a16:creationId xmlns:a16="http://schemas.microsoft.com/office/drawing/2014/main" id="{74940EEB-2288-42CB-85C4-BCE6702B531D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4410792" y="3842266"/>
                        <a:ext cx="655916" cy="440843"/>
                      </a:xfrm>
                      <a:prstGeom prst="rect">
                        <a:avLst/>
                      </a:prstGeom>
                      <a:blipFill>
                        <a:blip r:embed="rId6"/>
                        <a:stretch>
                          <a:fillRect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8" name="TextBox 7">
                        <a:extLst>
                          <a:ext uri="{FF2B5EF4-FFF2-40B4-BE49-F238E27FC236}">
                            <a16:creationId xmlns:a16="http://schemas.microsoft.com/office/drawing/2014/main" id="{1D751660-33C0-9273-76A8-F4F97BE80225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6894563" y="3842266"/>
                        <a:ext cx="655916" cy="440843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=3</m:t>
                              </m:r>
                            </m:oMath>
                          </m:oMathPara>
                        </a14:m>
                        <a:endParaRPr lang="en-US" sz="1400" dirty="0"/>
                      </a:p>
                    </p:txBody>
                  </p:sp>
                </mc:Choice>
                <mc:Fallback xmlns="">
                  <p:sp>
                    <p:nvSpPr>
                      <p:cNvPr id="8" name="TextBox 7">
                        <a:extLst>
                          <a:ext uri="{FF2B5EF4-FFF2-40B4-BE49-F238E27FC236}">
                            <a16:creationId xmlns:a16="http://schemas.microsoft.com/office/drawing/2014/main" id="{1D751660-33C0-9273-76A8-F4F97BE80225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6894563" y="3842266"/>
                        <a:ext cx="655916" cy="440843"/>
                      </a:xfrm>
                      <a:prstGeom prst="rect">
                        <a:avLst/>
                      </a:prstGeom>
                      <a:blipFill>
                        <a:blip r:embed="rId7"/>
                        <a:stretch>
                          <a:fillRect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9" name="TextBox 8">
                        <a:extLst>
                          <a:ext uri="{FF2B5EF4-FFF2-40B4-BE49-F238E27FC236}">
                            <a16:creationId xmlns:a16="http://schemas.microsoft.com/office/drawing/2014/main" id="{6F1B4BF1-DC74-1988-A35B-B27BEB860718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9352822" y="3842266"/>
                        <a:ext cx="655916" cy="440843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=4</m:t>
                              </m:r>
                            </m:oMath>
                          </m:oMathPara>
                        </a14:m>
                        <a:endParaRPr lang="en-US" sz="1400" dirty="0"/>
                      </a:p>
                    </p:txBody>
                  </p:sp>
                </mc:Choice>
                <mc:Fallback xmlns="">
                  <p:sp>
                    <p:nvSpPr>
                      <p:cNvPr id="9" name="TextBox 8">
                        <a:extLst>
                          <a:ext uri="{FF2B5EF4-FFF2-40B4-BE49-F238E27FC236}">
                            <a16:creationId xmlns:a16="http://schemas.microsoft.com/office/drawing/2014/main" id="{6F1B4BF1-DC74-1988-A35B-B27BEB860718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9352822" y="3842266"/>
                        <a:ext cx="655916" cy="440843"/>
                      </a:xfrm>
                      <a:prstGeom prst="rect">
                        <a:avLst/>
                      </a:prstGeom>
                      <a:blipFill>
                        <a:blip r:embed="rId8"/>
                        <a:stretch>
                          <a:fillRect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cxnSp>
              <p:nvCxnSpPr>
                <p:cNvPr id="17" name="Straight Connector 16">
                  <a:extLst>
                    <a:ext uri="{FF2B5EF4-FFF2-40B4-BE49-F238E27FC236}">
                      <a16:creationId xmlns:a16="http://schemas.microsoft.com/office/drawing/2014/main" id="{3866DA77-53C0-752D-ADC9-563106926B59}"/>
                    </a:ext>
                  </a:extLst>
                </p:cNvPr>
                <p:cNvCxnSpPr/>
                <p:nvPr/>
              </p:nvCxnSpPr>
              <p:spPr>
                <a:xfrm>
                  <a:off x="1689197" y="4327695"/>
                  <a:ext cx="0" cy="1507713"/>
                </a:xfrm>
                <a:prstGeom prst="line">
                  <a:avLst/>
                </a:prstGeom>
                <a:ln>
                  <a:headEnd type="triangle" w="med" len="med"/>
                  <a:tailEnd type="none" w="med" len="med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" name="Straight Connector 17">
                  <a:extLst>
                    <a:ext uri="{FF2B5EF4-FFF2-40B4-BE49-F238E27FC236}">
                      <a16:creationId xmlns:a16="http://schemas.microsoft.com/office/drawing/2014/main" id="{E79E0EE6-A05E-2FC8-DC10-89263EE369C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193909" y="4781405"/>
                  <a:ext cx="0" cy="1054003"/>
                </a:xfrm>
                <a:prstGeom prst="line">
                  <a:avLst/>
                </a:prstGeom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" name="Straight Connector 19">
                  <a:extLst>
                    <a:ext uri="{FF2B5EF4-FFF2-40B4-BE49-F238E27FC236}">
                      <a16:creationId xmlns:a16="http://schemas.microsoft.com/office/drawing/2014/main" id="{AF39E40D-4A5D-52AA-F276-4D237C0077F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698620" y="5275437"/>
                  <a:ext cx="0" cy="559971"/>
                </a:xfrm>
                <a:prstGeom prst="line">
                  <a:avLst/>
                </a:prstGeom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" name="Straight Connector 21">
                  <a:extLst>
                    <a:ext uri="{FF2B5EF4-FFF2-40B4-BE49-F238E27FC236}">
                      <a16:creationId xmlns:a16="http://schemas.microsoft.com/office/drawing/2014/main" id="{11E9E864-8136-5401-1AA3-C92C28B36EC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197515" y="5674864"/>
                  <a:ext cx="0" cy="160544"/>
                </a:xfrm>
                <a:prstGeom prst="line">
                  <a:avLst/>
                </a:prstGeom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4" name="TextBox 23">
                      <a:extLst>
                        <a:ext uri="{FF2B5EF4-FFF2-40B4-BE49-F238E27FC236}">
                          <a16:creationId xmlns:a16="http://schemas.microsoft.com/office/drawing/2014/main" id="{B575E85A-359F-ECA5-9366-AE1BB9BDA12D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308142" y="5764313"/>
                      <a:ext cx="345574" cy="484926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oMath>
                        </m:oMathPara>
                      </a14:m>
                      <a:endParaRPr lang="en-US" sz="1600" dirty="0"/>
                    </a:p>
                  </p:txBody>
                </p:sp>
              </mc:Choice>
              <mc:Fallback xmlns="">
                <p:sp>
                  <p:nvSpPr>
                    <p:cNvPr id="24" name="TextBox 23">
                      <a:extLst>
                        <a:ext uri="{FF2B5EF4-FFF2-40B4-BE49-F238E27FC236}">
                          <a16:creationId xmlns:a16="http://schemas.microsoft.com/office/drawing/2014/main" id="{B575E85A-359F-ECA5-9366-AE1BB9BDA12D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308142" y="5764313"/>
                      <a:ext cx="345574" cy="484926"/>
                    </a:xfrm>
                    <a:prstGeom prst="rect">
                      <a:avLst/>
                    </a:prstGeom>
                    <a:blipFill>
                      <a:blip r:embed="rId9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26" name="Straight Arrow Connector 25">
                  <a:extLst>
                    <a:ext uri="{FF2B5EF4-FFF2-40B4-BE49-F238E27FC236}">
                      <a16:creationId xmlns:a16="http://schemas.microsoft.com/office/drawing/2014/main" id="{D4DD42E0-1896-C9C2-F00F-BD6D1136542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270388" y="5846770"/>
                  <a:ext cx="418809" cy="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9" name="TextBox 28">
                    <a:extLst>
                      <a:ext uri="{FF2B5EF4-FFF2-40B4-BE49-F238E27FC236}">
                        <a16:creationId xmlns:a16="http://schemas.microsoft.com/office/drawing/2014/main" id="{7D635983-D050-D8D7-7557-F5169D4628E3}"/>
                      </a:ext>
                    </a:extLst>
                  </p:cNvPr>
                  <p:cNvSpPr txBox="1"/>
                  <p:nvPr/>
                </p:nvSpPr>
                <p:spPr>
                  <a:xfrm>
                    <a:off x="555214" y="4273987"/>
                    <a:ext cx="10975998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r>
                      <a:rPr lang="en-US" b="1" dirty="0"/>
                      <a:t>Example</a:t>
                    </a:r>
                    <a:r>
                      <a:rPr lang="en-US" dirty="0"/>
                      <a:t>: Order-4 Fourier cosine basis creates 4 features plus the intercept for </a:t>
                    </a:r>
                    <a14:m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=0 </m:t>
                        </m:r>
                      </m:oMath>
                    </a14:m>
                    <a:r>
                      <a:rPr lang="en-US" dirty="0"/>
                      <a:t>for linear approximation.</a:t>
                    </a:r>
                  </a:p>
                </p:txBody>
              </p:sp>
            </mc:Choice>
            <mc:Fallback xmlns="">
              <p:sp>
                <p:nvSpPr>
                  <p:cNvPr id="29" name="TextBox 28">
                    <a:extLst>
                      <a:ext uri="{FF2B5EF4-FFF2-40B4-BE49-F238E27FC236}">
                        <a16:creationId xmlns:a16="http://schemas.microsoft.com/office/drawing/2014/main" id="{7D635983-D050-D8D7-7557-F5169D4628E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55214" y="4273987"/>
                    <a:ext cx="10975998" cy="369332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 l="-500" t="-6557" b="-2623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FF7A3A9F-24AD-7EC9-98A9-9DDA975E5F02}"/>
                    </a:ext>
                  </a:extLst>
                </p:cNvPr>
                <p:cNvSpPr txBox="1"/>
                <p:nvPr/>
              </p:nvSpPr>
              <p:spPr>
                <a:xfrm>
                  <a:off x="2057706" y="5566251"/>
                  <a:ext cx="691924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d>
                          <m:dPr>
                            <m:ctrlP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FF7A3A9F-24AD-7EC9-98A9-9DDA975E5F0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57706" y="5566251"/>
                  <a:ext cx="691924" cy="307777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E9C0D353-A18F-D358-478D-9049A0E1C237}"/>
                </a:ext>
              </a:extLst>
            </p:cNvPr>
            <p:cNvCxnSpPr>
              <a:cxnSpLocks/>
            </p:cNvCxnSpPr>
            <p:nvPr/>
          </p:nvCxnSpPr>
          <p:spPr>
            <a:xfrm>
              <a:off x="4070337" y="6191628"/>
              <a:ext cx="39406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1ACC812F-AEFF-E345-9D42-29B26CC073CE}"/>
                </a:ext>
              </a:extLst>
            </p:cNvPr>
            <p:cNvCxnSpPr>
              <a:cxnSpLocks/>
            </p:cNvCxnSpPr>
            <p:nvPr/>
          </p:nvCxnSpPr>
          <p:spPr>
            <a:xfrm>
              <a:off x="6427037" y="6209807"/>
              <a:ext cx="39406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E2BA4C85-A58D-76FE-B207-FF7306921EEE}"/>
                </a:ext>
              </a:extLst>
            </p:cNvPr>
            <p:cNvCxnSpPr>
              <a:cxnSpLocks/>
            </p:cNvCxnSpPr>
            <p:nvPr/>
          </p:nvCxnSpPr>
          <p:spPr>
            <a:xfrm>
              <a:off x="8778263" y="6209807"/>
              <a:ext cx="39406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FB522CFE-9B16-F8BC-FF09-9DD69CA05165}"/>
                    </a:ext>
                  </a:extLst>
                </p:cNvPr>
                <p:cNvSpPr txBox="1"/>
                <p:nvPr/>
              </p:nvSpPr>
              <p:spPr>
                <a:xfrm>
                  <a:off x="4464397" y="6358849"/>
                  <a:ext cx="2969416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.2</m:t>
                            </m:r>
                          </m:e>
                        </m:d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(1, .9,.65, .35,. 1)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FB522CFE-9B16-F8BC-FF09-9DD69CA0516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64397" y="6358849"/>
                  <a:ext cx="2969416" cy="369332"/>
                </a:xfrm>
                <a:prstGeom prst="rect">
                  <a:avLst/>
                </a:prstGeom>
                <a:blipFill>
                  <a:blip r:embed="rId12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6671955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6CEB7D-CFA3-159A-1C70-D5C5DFF67E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2E0558-D9C2-9029-7D1D-5171CC7B93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Multi-dimensional Fourier Basis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D2685D-FDF9-514B-B9A0-346F0F6960B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179646"/>
                <a:ext cx="10515600" cy="1666944"/>
              </a:xfrm>
            </p:spPr>
            <p:txBody>
              <a:bodyPr>
                <a:normAutofit fontScale="70000" lnSpcReduction="20000"/>
              </a:bodyPr>
              <a:lstStyle/>
              <a:p>
                <a:r>
                  <a:rPr lang="en-US" dirty="0"/>
                  <a:t>State is represented by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 numbers: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𝒔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endParaRPr lang="en-US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𝒔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  <m:t>𝒔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⊤</m:t>
                              </m:r>
                            </m:sup>
                          </m:sSup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  <m:t>𝒄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p>
                          </m:s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en-US" b="0" dirty="0"/>
              </a:p>
              <a:p>
                <a:pPr marL="0" indent="0">
                  <a:buNone/>
                </a:pPr>
                <a:r>
                  <a:rPr lang="en-US" dirty="0"/>
                  <a:t>	where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p>
                        </m:sSubSup>
                        <m:r>
                          <a:rPr lang="en-US" i="1">
                            <a:latin typeface="Cambria Math" panose="02040503050406030204" pitchFamily="18" charset="0"/>
                          </a:rPr>
                          <m:t>,…,</m:t>
                        </m:r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p>
                        </m:sSubSup>
                      </m:e>
                    </m:d>
                  </m:oMath>
                </a14:m>
                <a:br>
                  <a:rPr lang="en-US" dirty="0"/>
                </a:br>
                <a:r>
                  <a:rPr lang="en-US" dirty="0"/>
                  <a:t>                  with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p>
                    </m:sSubSup>
                    <m:r>
                      <a:rPr lang="en-US" b="0" i="1" smtClean="0">
                        <a:latin typeface="Cambria Math" panose="02040503050406030204" pitchFamily="18" charset="0"/>
                      </a:rPr>
                      <m:t>∈{0,…,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dirty="0"/>
                  <a:t> for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𝑗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=1,…,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=1,…,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e>
                        </m:d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p>
                    </m:sSup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D2685D-FDF9-514B-B9A0-346F0F6960B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179646"/>
                <a:ext cx="10515600" cy="1666944"/>
              </a:xfrm>
              <a:blipFill>
                <a:blip r:embed="rId2"/>
                <a:stretch>
                  <a:fillRect l="-522" t="-6593" b="-36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BD6AC598-B007-2E2D-CAE3-EEE732E2B42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3414"/>
          <a:stretch>
            <a:fillRect/>
          </a:stretch>
        </p:blipFill>
        <p:spPr>
          <a:xfrm>
            <a:off x="5138743" y="2959586"/>
            <a:ext cx="6459944" cy="360175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335A2D5-4A82-0CDD-A592-03470B0C2F86}"/>
                  </a:ext>
                </a:extLst>
              </p:cNvPr>
              <p:cNvSpPr txBox="1"/>
              <p:nvPr/>
            </p:nvSpPr>
            <p:spPr>
              <a:xfrm>
                <a:off x="1641076" y="3014112"/>
                <a:ext cx="3483096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Example: 2-dimensional Fourier cosine features for 6 different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𝒄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b="1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335A2D5-4A82-0CDD-A592-03470B0C2F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41076" y="3014112"/>
                <a:ext cx="3483096" cy="646331"/>
              </a:xfrm>
              <a:prstGeom prst="rect">
                <a:avLst/>
              </a:prstGeom>
              <a:blipFill>
                <a:blip r:embed="rId4"/>
                <a:stretch>
                  <a:fillRect l="-1399" t="-3774" b="-1509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Speech Bubble: Rectangle with Corners Rounded 5">
            <a:extLst>
              <a:ext uri="{FF2B5EF4-FFF2-40B4-BE49-F238E27FC236}">
                <a16:creationId xmlns:a16="http://schemas.microsoft.com/office/drawing/2014/main" id="{C031356C-2FE2-7864-FB2C-A4E9C96E4C56}"/>
              </a:ext>
            </a:extLst>
          </p:cNvPr>
          <p:cNvSpPr/>
          <p:nvPr/>
        </p:nvSpPr>
        <p:spPr>
          <a:xfrm>
            <a:off x="8368715" y="2101026"/>
            <a:ext cx="1885129" cy="586333"/>
          </a:xfrm>
          <a:prstGeom prst="wedgeRoundRectCallout">
            <a:avLst>
              <a:gd name="adj1" fmla="val -43053"/>
              <a:gd name="adj2" fmla="val 98996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 means it is constant in that dimension</a:t>
            </a:r>
          </a:p>
        </p:txBody>
      </p:sp>
      <p:sp>
        <p:nvSpPr>
          <p:cNvPr id="7" name="Speech Bubble: Rectangle with Corners Rounded 6">
            <a:extLst>
              <a:ext uri="{FF2B5EF4-FFF2-40B4-BE49-F238E27FC236}">
                <a16:creationId xmlns:a16="http://schemas.microsoft.com/office/drawing/2014/main" id="{9EF2EBAC-8345-B41A-EF70-BDDB9266812C}"/>
              </a:ext>
            </a:extLst>
          </p:cNvPr>
          <p:cNvSpPr/>
          <p:nvPr/>
        </p:nvSpPr>
        <p:spPr>
          <a:xfrm>
            <a:off x="10253844" y="1375090"/>
            <a:ext cx="1562390" cy="373636"/>
          </a:xfrm>
          <a:prstGeom prst="wedgeRoundRectCallout">
            <a:avLst>
              <a:gd name="adj1" fmla="val -31213"/>
              <a:gd name="adj2" fmla="val 373998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&gt;0 is the frequency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FBF9E33D-384F-C5F9-F7A6-093D384EC345}"/>
                  </a:ext>
                </a:extLst>
              </p:cNvPr>
              <p:cNvSpPr txBox="1"/>
              <p:nvPr/>
            </p:nvSpPr>
            <p:spPr>
              <a:xfrm>
                <a:off x="1662385" y="3660443"/>
                <a:ext cx="3483096" cy="203132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1" i="1" smtClean="0">
                          <a:latin typeface="Cambria Math" panose="02040503050406030204" pitchFamily="18" charset="0"/>
                        </a:rPr>
                        <m:t>𝒔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=(.5,.8)</m:t>
                      </m:r>
                    </m:oMath>
                  </m:oMathPara>
                </a14:m>
                <a:endParaRPr lang="en-US" sz="1400" b="0" dirty="0"/>
              </a:p>
              <a:p>
                <a:endParaRPr lang="en-US" sz="1400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400" b="1" i="1" smtClean="0">
                        <a:latin typeface="Cambria Math" panose="02040503050406030204" pitchFamily="18" charset="0"/>
                      </a:rPr>
                      <m:t>𝒔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400" dirty="0"/>
                  <a:t>=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sz="1400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1400"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𝜋</m:t>
                        </m:r>
                        <m:sSup>
                          <m:sSupPr>
                            <m:ctrlP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d>
                              <m:dPr>
                                <m:ctrlPr>
                                  <a:rPr lang="en-US" sz="140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  <m:t>.5,.8</m:t>
                                </m:r>
                              </m:e>
                            </m:d>
                          </m:e>
                          <m:sup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⊤</m:t>
                            </m:r>
                          </m:sup>
                        </m:sSup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(0,1))</m:t>
                        </m:r>
                      </m:e>
                    </m:func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=−.8</m:t>
                    </m:r>
                  </m:oMath>
                </a14:m>
                <a:r>
                  <a:rPr lang="en-US" sz="1400" dirty="0"/>
                  <a:t>  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14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400" b="1" i="1">
                        <a:latin typeface="Cambria Math" panose="02040503050406030204" pitchFamily="18" charset="0"/>
                      </a:rPr>
                      <m:t>𝒔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400" dirty="0"/>
                  <a:t>=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sz="1400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1400"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𝜋</m:t>
                        </m:r>
                        <m:sSup>
                          <m:sSup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 </m:t>
                            </m:r>
                            <m:d>
                              <m:dPr>
                                <m:ctrlPr>
                                  <a:rPr lang="en-US" sz="14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.5,.8</m:t>
                                </m:r>
                              </m:e>
                            </m:d>
                          </m:e>
                          <m:sup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⊤</m:t>
                            </m:r>
                          </m:sup>
                        </m:sSup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))</m:t>
                        </m:r>
                      </m:e>
                    </m:func>
                    <m:r>
                      <a:rPr lang="en-US" sz="14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    0</m:t>
                    </m:r>
                  </m:oMath>
                </a14:m>
                <a:endParaRPr lang="en-US" sz="1400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US" sz="14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400" b="1" i="1">
                        <a:latin typeface="Cambria Math" panose="02040503050406030204" pitchFamily="18" charset="0"/>
                      </a:rPr>
                      <m:t>𝒔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400" dirty="0"/>
                  <a:t>=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sz="1400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1400"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𝜋</m:t>
                        </m:r>
                        <m:sSup>
                          <m:sSup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 </m:t>
                            </m:r>
                            <m:d>
                              <m:dPr>
                                <m:ctrlPr>
                                  <a:rPr lang="en-US" sz="14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.5,.8</m:t>
                                </m:r>
                              </m:e>
                            </m:d>
                          </m:e>
                          <m:sup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⊤</m:t>
                            </m:r>
                          </m:sup>
                        </m:sSup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,1))</m:t>
                        </m:r>
                      </m:e>
                    </m:func>
                    <m:r>
                      <a:rPr lang="en-US" sz="1400" i="1">
                        <a:latin typeface="Cambria Math" panose="02040503050406030204" pitchFamily="18" charset="0"/>
                      </a:rPr>
                      <m:t>=−.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6</m:t>
                    </m:r>
                  </m:oMath>
                </a14:m>
                <a:endParaRPr lang="en-US" sz="1400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  <m:r>
                      <a:rPr lang="en-US" sz="14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400" b="1" i="1">
                        <a:latin typeface="Cambria Math" panose="02040503050406030204" pitchFamily="18" charset="0"/>
                      </a:rPr>
                      <m:t>𝒔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400" dirty="0"/>
                  <a:t>=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sz="1400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1400"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𝜋</m:t>
                        </m:r>
                        <m:sSup>
                          <m:sSup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 </m:t>
                            </m:r>
                            <m:d>
                              <m:dPr>
                                <m:ctrlPr>
                                  <a:rPr lang="en-US" sz="14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.5,.8</m:t>
                                </m:r>
                              </m:e>
                            </m:d>
                          </m:e>
                          <m:sup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⊤</m:t>
                            </m:r>
                          </m:sup>
                        </m:sSup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(0,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5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))</m:t>
                        </m:r>
                      </m:e>
                    </m:func>
                    <m:r>
                      <a:rPr lang="en-US" sz="14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    1</m:t>
                    </m:r>
                  </m:oMath>
                </a14:m>
                <a:endParaRPr lang="en-US" sz="1400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sub>
                    </m:sSub>
                    <m:r>
                      <a:rPr lang="en-US" sz="14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400" b="1" i="1">
                        <a:latin typeface="Cambria Math" panose="02040503050406030204" pitchFamily="18" charset="0"/>
                      </a:rPr>
                      <m:t>𝒔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400" dirty="0"/>
                  <a:t>=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sz="1400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1400"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𝜋</m:t>
                        </m:r>
                        <m:sSup>
                          <m:sSup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 </m:t>
                            </m:r>
                            <m:d>
                              <m:dPr>
                                <m:ctrlPr>
                                  <a:rPr lang="en-US" sz="14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.5,.8</m:t>
                                </m:r>
                              </m:e>
                            </m:d>
                          </m:e>
                          <m:sup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⊤</m:t>
                            </m:r>
                          </m:sup>
                        </m:sSup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5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))</m:t>
                        </m:r>
                      </m:e>
                    </m:func>
                    <m:r>
                      <a:rPr lang="en-US" sz="14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br>
                  <a:rPr lang="en-US" sz="1400" dirty="0"/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en-US" sz="1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6</m:t>
                        </m:r>
                      </m:sub>
                    </m:sSub>
                    <m:r>
                      <a:rPr lang="en-US" sz="14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400" b="1" i="1">
                        <a:latin typeface="Cambria Math" panose="02040503050406030204" pitchFamily="18" charset="0"/>
                      </a:rPr>
                      <m:t>𝒔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400" dirty="0"/>
                  <a:t>=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sz="1400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1400"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𝜋</m:t>
                        </m:r>
                        <m:sSup>
                          <m:sSup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 </m:t>
                            </m:r>
                            <m:d>
                              <m:dPr>
                                <m:ctrlPr>
                                  <a:rPr lang="en-US" sz="14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.5,.8</m:t>
                                </m:r>
                              </m:e>
                            </m:d>
                          </m:e>
                          <m:sup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⊤</m:t>
                            </m:r>
                          </m:sup>
                        </m:sSup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5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))</m:t>
                        </m:r>
                      </m:e>
                    </m:func>
                    <m:r>
                      <a:rPr lang="en-US" sz="14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400" b="0" i="0" smtClean="0">
                        <a:latin typeface="Cambria Math" panose="02040503050406030204" pitchFamily="18" charset="0"/>
                      </a:rPr>
                      <m:t>    1</m:t>
                    </m:r>
                  </m:oMath>
                </a14:m>
                <a:r>
                  <a:rPr lang="en-US" sz="1400" dirty="0"/>
                  <a:t>  </a:t>
                </a:r>
              </a:p>
              <a:p>
                <a:endParaRPr lang="en-US" sz="1400" dirty="0"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FBF9E33D-384F-C5F9-F7A6-093D384EC3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62385" y="3660443"/>
                <a:ext cx="3483096" cy="203132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5" name="Group 44">
            <a:extLst>
              <a:ext uri="{FF2B5EF4-FFF2-40B4-BE49-F238E27FC236}">
                <a16:creationId xmlns:a16="http://schemas.microsoft.com/office/drawing/2014/main" id="{DA81357C-FC4F-172C-ADFA-6EB1780ABEA7}"/>
              </a:ext>
            </a:extLst>
          </p:cNvPr>
          <p:cNvGrpSpPr/>
          <p:nvPr/>
        </p:nvGrpSpPr>
        <p:grpSpPr>
          <a:xfrm>
            <a:off x="4951787" y="3340471"/>
            <a:ext cx="5619708" cy="2979085"/>
            <a:chOff x="4951787" y="3340471"/>
            <a:chExt cx="5619708" cy="2979085"/>
          </a:xfrm>
        </p:grpSpPr>
        <p:grpSp>
          <p:nvGrpSpPr>
            <p:cNvPr id="42" name="Group 41">
              <a:extLst>
                <a:ext uri="{FF2B5EF4-FFF2-40B4-BE49-F238E27FC236}">
                  <a16:creationId xmlns:a16="http://schemas.microsoft.com/office/drawing/2014/main" id="{AF19D8E4-7428-461A-EA29-A617584B4011}"/>
                </a:ext>
              </a:extLst>
            </p:cNvPr>
            <p:cNvGrpSpPr/>
            <p:nvPr/>
          </p:nvGrpSpPr>
          <p:grpSpPr>
            <a:xfrm>
              <a:off x="5214160" y="3435503"/>
              <a:ext cx="5357335" cy="2884053"/>
              <a:chOff x="5214160" y="3435503"/>
              <a:chExt cx="5357335" cy="2884053"/>
            </a:xfrm>
          </p:grpSpPr>
          <p:grpSp>
            <p:nvGrpSpPr>
              <p:cNvPr id="20" name="Group 19">
                <a:extLst>
                  <a:ext uri="{FF2B5EF4-FFF2-40B4-BE49-F238E27FC236}">
                    <a16:creationId xmlns:a16="http://schemas.microsoft.com/office/drawing/2014/main" id="{3C5C89D3-EE63-5400-C3FE-8BA2A82CD652}"/>
                  </a:ext>
                </a:extLst>
              </p:cNvPr>
              <p:cNvGrpSpPr/>
              <p:nvPr/>
            </p:nvGrpSpPr>
            <p:grpSpPr>
              <a:xfrm>
                <a:off x="5214160" y="3471277"/>
                <a:ext cx="971154" cy="1139312"/>
                <a:chOff x="5208608" y="3429000"/>
                <a:chExt cx="971154" cy="1139312"/>
              </a:xfrm>
            </p:grpSpPr>
            <p:sp>
              <p:nvSpPr>
                <p:cNvPr id="8" name="Oval 7">
                  <a:extLst>
                    <a:ext uri="{FF2B5EF4-FFF2-40B4-BE49-F238E27FC236}">
                      <a16:creationId xmlns:a16="http://schemas.microsoft.com/office/drawing/2014/main" id="{D061184B-88A1-E299-C8DF-FE3409235A74}"/>
                    </a:ext>
                  </a:extLst>
                </p:cNvPr>
                <p:cNvSpPr/>
                <p:nvPr/>
              </p:nvSpPr>
              <p:spPr>
                <a:xfrm>
                  <a:off x="6096000" y="3429000"/>
                  <a:ext cx="83762" cy="71547"/>
                </a:xfrm>
                <a:prstGeom prst="ellipse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10" name="Straight Connector 9">
                  <a:extLst>
                    <a:ext uri="{FF2B5EF4-FFF2-40B4-BE49-F238E27FC236}">
                      <a16:creationId xmlns:a16="http://schemas.microsoft.com/office/drawing/2014/main" id="{45A6221F-D38E-F79C-45AA-22C883F4D933}"/>
                    </a:ext>
                  </a:extLst>
                </p:cNvPr>
                <p:cNvCxnSpPr>
                  <a:cxnSpLocks/>
                  <a:stCxn id="8" idx="2"/>
                </p:cNvCxnSpPr>
                <p:nvPr/>
              </p:nvCxnSpPr>
              <p:spPr>
                <a:xfrm flipH="1">
                  <a:off x="5208608" y="3464774"/>
                  <a:ext cx="887392" cy="0"/>
                </a:xfrm>
                <a:prstGeom prst="line">
                  <a:avLst/>
                </a:prstGeom>
                <a:ln w="19050" cap="flat" cmpd="sng" algn="ctr">
                  <a:solidFill>
                    <a:schemeClr val="accent2"/>
                  </a:solidFill>
                  <a:prstDash val="dash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</p:cxnSp>
            <p:cxnSp>
              <p:nvCxnSpPr>
                <p:cNvPr id="16" name="Straight Connector 15">
                  <a:extLst>
                    <a:ext uri="{FF2B5EF4-FFF2-40B4-BE49-F238E27FC236}">
                      <a16:creationId xmlns:a16="http://schemas.microsoft.com/office/drawing/2014/main" id="{A30D3973-9B73-5DA6-5531-0C47BF34B4BA}"/>
                    </a:ext>
                  </a:extLst>
                </p:cNvPr>
                <p:cNvCxnSpPr>
                  <a:cxnSpLocks/>
                  <a:stCxn id="8" idx="4"/>
                </p:cNvCxnSpPr>
                <p:nvPr/>
              </p:nvCxnSpPr>
              <p:spPr>
                <a:xfrm>
                  <a:off x="6137881" y="3500547"/>
                  <a:ext cx="0" cy="1067765"/>
                </a:xfrm>
                <a:prstGeom prst="line">
                  <a:avLst/>
                </a:prstGeom>
                <a:ln w="19050" cap="flat" cmpd="sng" algn="ctr">
                  <a:solidFill>
                    <a:schemeClr val="accent2"/>
                  </a:solidFill>
                  <a:prstDash val="dash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1" name="Group 20">
                <a:extLst>
                  <a:ext uri="{FF2B5EF4-FFF2-40B4-BE49-F238E27FC236}">
                    <a16:creationId xmlns:a16="http://schemas.microsoft.com/office/drawing/2014/main" id="{0CDB7F58-6E8C-3365-5CB0-2EC8C57473C1}"/>
                  </a:ext>
                </a:extLst>
              </p:cNvPr>
              <p:cNvGrpSpPr/>
              <p:nvPr/>
            </p:nvGrpSpPr>
            <p:grpSpPr>
              <a:xfrm>
                <a:off x="7453542" y="3471277"/>
                <a:ext cx="971154" cy="1139312"/>
                <a:chOff x="5208608" y="3429000"/>
                <a:chExt cx="971154" cy="1139312"/>
              </a:xfrm>
            </p:grpSpPr>
            <p:sp>
              <p:nvSpPr>
                <p:cNvPr id="22" name="Oval 21">
                  <a:extLst>
                    <a:ext uri="{FF2B5EF4-FFF2-40B4-BE49-F238E27FC236}">
                      <a16:creationId xmlns:a16="http://schemas.microsoft.com/office/drawing/2014/main" id="{F783979E-E824-02C0-49CD-6DDE1C8AF319}"/>
                    </a:ext>
                  </a:extLst>
                </p:cNvPr>
                <p:cNvSpPr/>
                <p:nvPr/>
              </p:nvSpPr>
              <p:spPr>
                <a:xfrm>
                  <a:off x="6096000" y="3429000"/>
                  <a:ext cx="83762" cy="71547"/>
                </a:xfrm>
                <a:prstGeom prst="ellipse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23" name="Straight Connector 22">
                  <a:extLst>
                    <a:ext uri="{FF2B5EF4-FFF2-40B4-BE49-F238E27FC236}">
                      <a16:creationId xmlns:a16="http://schemas.microsoft.com/office/drawing/2014/main" id="{7CEDDF26-B3E0-CEEE-04A5-07F0DF5B0AD3}"/>
                    </a:ext>
                  </a:extLst>
                </p:cNvPr>
                <p:cNvCxnSpPr>
                  <a:cxnSpLocks/>
                  <a:stCxn id="22" idx="2"/>
                </p:cNvCxnSpPr>
                <p:nvPr/>
              </p:nvCxnSpPr>
              <p:spPr>
                <a:xfrm flipH="1">
                  <a:off x="5208608" y="3464774"/>
                  <a:ext cx="887392" cy="0"/>
                </a:xfrm>
                <a:prstGeom prst="line">
                  <a:avLst/>
                </a:prstGeom>
                <a:ln w="19050" cap="flat" cmpd="sng" algn="ctr">
                  <a:solidFill>
                    <a:schemeClr val="accent2"/>
                  </a:solidFill>
                  <a:prstDash val="dash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</p:cxnSp>
            <p:cxnSp>
              <p:nvCxnSpPr>
                <p:cNvPr id="24" name="Straight Connector 23">
                  <a:extLst>
                    <a:ext uri="{FF2B5EF4-FFF2-40B4-BE49-F238E27FC236}">
                      <a16:creationId xmlns:a16="http://schemas.microsoft.com/office/drawing/2014/main" id="{62807F95-C422-6F10-5149-ECE8552EFDD0}"/>
                    </a:ext>
                  </a:extLst>
                </p:cNvPr>
                <p:cNvCxnSpPr>
                  <a:cxnSpLocks/>
                  <a:stCxn id="22" idx="4"/>
                </p:cNvCxnSpPr>
                <p:nvPr/>
              </p:nvCxnSpPr>
              <p:spPr>
                <a:xfrm>
                  <a:off x="6137881" y="3500547"/>
                  <a:ext cx="0" cy="1067765"/>
                </a:xfrm>
                <a:prstGeom prst="line">
                  <a:avLst/>
                </a:prstGeom>
                <a:ln w="19050" cap="flat" cmpd="sng" algn="ctr">
                  <a:solidFill>
                    <a:schemeClr val="accent2"/>
                  </a:solidFill>
                  <a:prstDash val="dash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5" name="Group 24">
                <a:extLst>
                  <a:ext uri="{FF2B5EF4-FFF2-40B4-BE49-F238E27FC236}">
                    <a16:creationId xmlns:a16="http://schemas.microsoft.com/office/drawing/2014/main" id="{427BED36-7845-BE4B-09E4-12E436E10DDB}"/>
                  </a:ext>
                </a:extLst>
              </p:cNvPr>
              <p:cNvGrpSpPr/>
              <p:nvPr/>
            </p:nvGrpSpPr>
            <p:grpSpPr>
              <a:xfrm>
                <a:off x="9600341" y="3435503"/>
                <a:ext cx="971154" cy="1139312"/>
                <a:chOff x="5208608" y="3429000"/>
                <a:chExt cx="971154" cy="1139312"/>
              </a:xfrm>
            </p:grpSpPr>
            <p:sp>
              <p:nvSpPr>
                <p:cNvPr id="26" name="Oval 25">
                  <a:extLst>
                    <a:ext uri="{FF2B5EF4-FFF2-40B4-BE49-F238E27FC236}">
                      <a16:creationId xmlns:a16="http://schemas.microsoft.com/office/drawing/2014/main" id="{E835DC91-5805-8DAE-BB63-1B8CC6FFA2E8}"/>
                    </a:ext>
                  </a:extLst>
                </p:cNvPr>
                <p:cNvSpPr/>
                <p:nvPr/>
              </p:nvSpPr>
              <p:spPr>
                <a:xfrm>
                  <a:off x="6096000" y="3429000"/>
                  <a:ext cx="83762" cy="71547"/>
                </a:xfrm>
                <a:prstGeom prst="ellipse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27" name="Straight Connector 26">
                  <a:extLst>
                    <a:ext uri="{FF2B5EF4-FFF2-40B4-BE49-F238E27FC236}">
                      <a16:creationId xmlns:a16="http://schemas.microsoft.com/office/drawing/2014/main" id="{87902F9A-2E37-0013-93A1-1BA57B02D809}"/>
                    </a:ext>
                  </a:extLst>
                </p:cNvPr>
                <p:cNvCxnSpPr>
                  <a:cxnSpLocks/>
                  <a:stCxn id="26" idx="2"/>
                </p:cNvCxnSpPr>
                <p:nvPr/>
              </p:nvCxnSpPr>
              <p:spPr>
                <a:xfrm flipH="1">
                  <a:off x="5208608" y="3464774"/>
                  <a:ext cx="887392" cy="0"/>
                </a:xfrm>
                <a:prstGeom prst="line">
                  <a:avLst/>
                </a:prstGeom>
                <a:ln w="19050" cap="flat" cmpd="sng" algn="ctr">
                  <a:solidFill>
                    <a:schemeClr val="accent2"/>
                  </a:solidFill>
                  <a:prstDash val="dash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</p:cxnSp>
            <p:cxnSp>
              <p:nvCxnSpPr>
                <p:cNvPr id="28" name="Straight Connector 27">
                  <a:extLst>
                    <a:ext uri="{FF2B5EF4-FFF2-40B4-BE49-F238E27FC236}">
                      <a16:creationId xmlns:a16="http://schemas.microsoft.com/office/drawing/2014/main" id="{3E0E8A7F-053D-9019-516F-DBB49D1C0221}"/>
                    </a:ext>
                  </a:extLst>
                </p:cNvPr>
                <p:cNvCxnSpPr>
                  <a:cxnSpLocks/>
                  <a:stCxn id="26" idx="4"/>
                </p:cNvCxnSpPr>
                <p:nvPr/>
              </p:nvCxnSpPr>
              <p:spPr>
                <a:xfrm>
                  <a:off x="6137881" y="3500547"/>
                  <a:ext cx="0" cy="1067765"/>
                </a:xfrm>
                <a:prstGeom prst="line">
                  <a:avLst/>
                </a:prstGeom>
                <a:ln w="19050" cap="flat" cmpd="sng" algn="ctr">
                  <a:solidFill>
                    <a:schemeClr val="accent2"/>
                  </a:solidFill>
                  <a:prstDash val="dash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9" name="Group 28">
                <a:extLst>
                  <a:ext uri="{FF2B5EF4-FFF2-40B4-BE49-F238E27FC236}">
                    <a16:creationId xmlns:a16="http://schemas.microsoft.com/office/drawing/2014/main" id="{E4442C98-44C1-BF57-8865-72B0CB62549A}"/>
                  </a:ext>
                </a:extLst>
              </p:cNvPr>
              <p:cNvGrpSpPr/>
              <p:nvPr/>
            </p:nvGrpSpPr>
            <p:grpSpPr>
              <a:xfrm>
                <a:off x="5225236" y="5108698"/>
                <a:ext cx="971154" cy="1139312"/>
                <a:chOff x="5208608" y="3429000"/>
                <a:chExt cx="971154" cy="1139312"/>
              </a:xfrm>
            </p:grpSpPr>
            <p:sp>
              <p:nvSpPr>
                <p:cNvPr id="30" name="Oval 29">
                  <a:extLst>
                    <a:ext uri="{FF2B5EF4-FFF2-40B4-BE49-F238E27FC236}">
                      <a16:creationId xmlns:a16="http://schemas.microsoft.com/office/drawing/2014/main" id="{436D42EB-ADFE-2D9E-08A6-7E7D030C239F}"/>
                    </a:ext>
                  </a:extLst>
                </p:cNvPr>
                <p:cNvSpPr/>
                <p:nvPr/>
              </p:nvSpPr>
              <p:spPr>
                <a:xfrm>
                  <a:off x="6096000" y="3429000"/>
                  <a:ext cx="83762" cy="71547"/>
                </a:xfrm>
                <a:prstGeom prst="ellipse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31" name="Straight Connector 30">
                  <a:extLst>
                    <a:ext uri="{FF2B5EF4-FFF2-40B4-BE49-F238E27FC236}">
                      <a16:creationId xmlns:a16="http://schemas.microsoft.com/office/drawing/2014/main" id="{8D7ACAC0-06A0-E0E4-6B3D-131B1E3D75F2}"/>
                    </a:ext>
                  </a:extLst>
                </p:cNvPr>
                <p:cNvCxnSpPr>
                  <a:cxnSpLocks/>
                  <a:stCxn id="30" idx="2"/>
                </p:cNvCxnSpPr>
                <p:nvPr/>
              </p:nvCxnSpPr>
              <p:spPr>
                <a:xfrm flipH="1">
                  <a:off x="5208608" y="3464774"/>
                  <a:ext cx="887392" cy="0"/>
                </a:xfrm>
                <a:prstGeom prst="line">
                  <a:avLst/>
                </a:prstGeom>
                <a:ln w="19050" cap="flat" cmpd="sng" algn="ctr">
                  <a:solidFill>
                    <a:schemeClr val="accent2"/>
                  </a:solidFill>
                  <a:prstDash val="dash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</p:cxnSp>
            <p:cxnSp>
              <p:nvCxnSpPr>
                <p:cNvPr id="32" name="Straight Connector 31">
                  <a:extLst>
                    <a:ext uri="{FF2B5EF4-FFF2-40B4-BE49-F238E27FC236}">
                      <a16:creationId xmlns:a16="http://schemas.microsoft.com/office/drawing/2014/main" id="{78DF8B15-B0F6-1D5E-7A47-8160A1A082D7}"/>
                    </a:ext>
                  </a:extLst>
                </p:cNvPr>
                <p:cNvCxnSpPr>
                  <a:cxnSpLocks/>
                  <a:stCxn id="30" idx="4"/>
                </p:cNvCxnSpPr>
                <p:nvPr/>
              </p:nvCxnSpPr>
              <p:spPr>
                <a:xfrm>
                  <a:off x="6137881" y="3500547"/>
                  <a:ext cx="0" cy="1067765"/>
                </a:xfrm>
                <a:prstGeom prst="line">
                  <a:avLst/>
                </a:prstGeom>
                <a:ln w="19050" cap="flat" cmpd="sng" algn="ctr">
                  <a:solidFill>
                    <a:schemeClr val="accent2"/>
                  </a:solidFill>
                  <a:prstDash val="dash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33" name="Group 32">
                <a:extLst>
                  <a:ext uri="{FF2B5EF4-FFF2-40B4-BE49-F238E27FC236}">
                    <a16:creationId xmlns:a16="http://schemas.microsoft.com/office/drawing/2014/main" id="{9F03424E-3BD9-8378-A7BD-3B2F0FF173AE}"/>
                  </a:ext>
                </a:extLst>
              </p:cNvPr>
              <p:cNvGrpSpPr/>
              <p:nvPr/>
            </p:nvGrpSpPr>
            <p:grpSpPr>
              <a:xfrm>
                <a:off x="7419867" y="5144471"/>
                <a:ext cx="971154" cy="1139312"/>
                <a:chOff x="5208608" y="3429000"/>
                <a:chExt cx="971154" cy="1139312"/>
              </a:xfrm>
            </p:grpSpPr>
            <p:sp>
              <p:nvSpPr>
                <p:cNvPr id="34" name="Oval 33">
                  <a:extLst>
                    <a:ext uri="{FF2B5EF4-FFF2-40B4-BE49-F238E27FC236}">
                      <a16:creationId xmlns:a16="http://schemas.microsoft.com/office/drawing/2014/main" id="{A154AFFE-5CA3-DC57-DF01-16FFEFC4FCD7}"/>
                    </a:ext>
                  </a:extLst>
                </p:cNvPr>
                <p:cNvSpPr/>
                <p:nvPr/>
              </p:nvSpPr>
              <p:spPr>
                <a:xfrm>
                  <a:off x="6096000" y="3429000"/>
                  <a:ext cx="83762" cy="71547"/>
                </a:xfrm>
                <a:prstGeom prst="ellipse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35" name="Straight Connector 34">
                  <a:extLst>
                    <a:ext uri="{FF2B5EF4-FFF2-40B4-BE49-F238E27FC236}">
                      <a16:creationId xmlns:a16="http://schemas.microsoft.com/office/drawing/2014/main" id="{9627EDBE-6E64-4526-8387-169CFC8CE096}"/>
                    </a:ext>
                  </a:extLst>
                </p:cNvPr>
                <p:cNvCxnSpPr>
                  <a:cxnSpLocks/>
                  <a:stCxn id="34" idx="2"/>
                </p:cNvCxnSpPr>
                <p:nvPr/>
              </p:nvCxnSpPr>
              <p:spPr>
                <a:xfrm flipH="1">
                  <a:off x="5208608" y="3464774"/>
                  <a:ext cx="887392" cy="0"/>
                </a:xfrm>
                <a:prstGeom prst="line">
                  <a:avLst/>
                </a:prstGeom>
                <a:ln w="19050" cap="flat" cmpd="sng" algn="ctr">
                  <a:solidFill>
                    <a:schemeClr val="accent2"/>
                  </a:solidFill>
                  <a:prstDash val="dash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</p:cxnSp>
            <p:cxnSp>
              <p:nvCxnSpPr>
                <p:cNvPr id="36" name="Straight Connector 35">
                  <a:extLst>
                    <a:ext uri="{FF2B5EF4-FFF2-40B4-BE49-F238E27FC236}">
                      <a16:creationId xmlns:a16="http://schemas.microsoft.com/office/drawing/2014/main" id="{9076703A-BA47-1A0C-6439-319CEF6CAEFD}"/>
                    </a:ext>
                  </a:extLst>
                </p:cNvPr>
                <p:cNvCxnSpPr>
                  <a:cxnSpLocks/>
                  <a:stCxn id="34" idx="4"/>
                </p:cNvCxnSpPr>
                <p:nvPr/>
              </p:nvCxnSpPr>
              <p:spPr>
                <a:xfrm>
                  <a:off x="6137881" y="3500547"/>
                  <a:ext cx="0" cy="1067765"/>
                </a:xfrm>
                <a:prstGeom prst="line">
                  <a:avLst/>
                </a:prstGeom>
                <a:ln w="19050" cap="flat" cmpd="sng" algn="ctr">
                  <a:solidFill>
                    <a:schemeClr val="accent2"/>
                  </a:solidFill>
                  <a:prstDash val="dash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37" name="Group 36">
                <a:extLst>
                  <a:ext uri="{FF2B5EF4-FFF2-40B4-BE49-F238E27FC236}">
                    <a16:creationId xmlns:a16="http://schemas.microsoft.com/office/drawing/2014/main" id="{F946C286-CAA1-6F10-661C-99C69BFF24E9}"/>
                  </a:ext>
                </a:extLst>
              </p:cNvPr>
              <p:cNvGrpSpPr/>
              <p:nvPr/>
            </p:nvGrpSpPr>
            <p:grpSpPr>
              <a:xfrm>
                <a:off x="9568886" y="5180244"/>
                <a:ext cx="971154" cy="1139312"/>
                <a:chOff x="5208608" y="3429000"/>
                <a:chExt cx="971154" cy="1139312"/>
              </a:xfrm>
            </p:grpSpPr>
            <p:sp>
              <p:nvSpPr>
                <p:cNvPr id="38" name="Oval 37">
                  <a:extLst>
                    <a:ext uri="{FF2B5EF4-FFF2-40B4-BE49-F238E27FC236}">
                      <a16:creationId xmlns:a16="http://schemas.microsoft.com/office/drawing/2014/main" id="{BC8131D1-EA3A-531D-E4AF-5CD673DD30A9}"/>
                    </a:ext>
                  </a:extLst>
                </p:cNvPr>
                <p:cNvSpPr/>
                <p:nvPr/>
              </p:nvSpPr>
              <p:spPr>
                <a:xfrm>
                  <a:off x="6096000" y="3429000"/>
                  <a:ext cx="83762" cy="71547"/>
                </a:xfrm>
                <a:prstGeom prst="ellipse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39" name="Straight Connector 38">
                  <a:extLst>
                    <a:ext uri="{FF2B5EF4-FFF2-40B4-BE49-F238E27FC236}">
                      <a16:creationId xmlns:a16="http://schemas.microsoft.com/office/drawing/2014/main" id="{2805BD08-337C-3FC0-7512-5D1EF17067F2}"/>
                    </a:ext>
                  </a:extLst>
                </p:cNvPr>
                <p:cNvCxnSpPr>
                  <a:cxnSpLocks/>
                  <a:stCxn id="38" idx="2"/>
                </p:cNvCxnSpPr>
                <p:nvPr/>
              </p:nvCxnSpPr>
              <p:spPr>
                <a:xfrm flipH="1">
                  <a:off x="5208608" y="3464774"/>
                  <a:ext cx="887392" cy="0"/>
                </a:xfrm>
                <a:prstGeom prst="line">
                  <a:avLst/>
                </a:prstGeom>
                <a:ln w="19050" cap="flat" cmpd="sng" algn="ctr">
                  <a:solidFill>
                    <a:schemeClr val="accent2"/>
                  </a:solidFill>
                  <a:prstDash val="dash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</p:cxnSp>
            <p:cxnSp>
              <p:nvCxnSpPr>
                <p:cNvPr id="40" name="Straight Connector 39">
                  <a:extLst>
                    <a:ext uri="{FF2B5EF4-FFF2-40B4-BE49-F238E27FC236}">
                      <a16:creationId xmlns:a16="http://schemas.microsoft.com/office/drawing/2014/main" id="{72A6609B-DEB9-7B57-7EA4-D74C690F5E52}"/>
                    </a:ext>
                  </a:extLst>
                </p:cNvPr>
                <p:cNvCxnSpPr>
                  <a:cxnSpLocks/>
                  <a:stCxn id="38" idx="4"/>
                </p:cNvCxnSpPr>
                <p:nvPr/>
              </p:nvCxnSpPr>
              <p:spPr>
                <a:xfrm>
                  <a:off x="6137881" y="3500547"/>
                  <a:ext cx="0" cy="1067765"/>
                </a:xfrm>
                <a:prstGeom prst="line">
                  <a:avLst/>
                </a:prstGeom>
                <a:ln w="19050" cap="flat" cmpd="sng" algn="ctr">
                  <a:solidFill>
                    <a:schemeClr val="accent2"/>
                  </a:solidFill>
                  <a:prstDash val="dash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2E1B44F5-5DFC-EE45-5E4C-A06ED1778595}"/>
                </a:ext>
              </a:extLst>
            </p:cNvPr>
            <p:cNvSpPr txBox="1"/>
            <p:nvPr/>
          </p:nvSpPr>
          <p:spPr>
            <a:xfrm>
              <a:off x="6048568" y="4479784"/>
              <a:ext cx="37391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100" dirty="0"/>
                <a:t>.5</a:t>
              </a: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C4FDB532-1688-4720-2C29-A41D304823FF}"/>
                </a:ext>
              </a:extLst>
            </p:cNvPr>
            <p:cNvSpPr txBox="1"/>
            <p:nvPr/>
          </p:nvSpPr>
          <p:spPr>
            <a:xfrm>
              <a:off x="4951787" y="3340471"/>
              <a:ext cx="37391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100" dirty="0"/>
                <a:t>.8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6" name="Speech Bubble: Rectangle with Corners Rounded 45">
                <a:extLst>
                  <a:ext uri="{FF2B5EF4-FFF2-40B4-BE49-F238E27FC236}">
                    <a16:creationId xmlns:a16="http://schemas.microsoft.com/office/drawing/2014/main" id="{88A2569C-E5D9-8705-BCC9-DDB51EC74D15}"/>
                  </a:ext>
                </a:extLst>
              </p:cNvPr>
              <p:cNvSpPr/>
              <p:nvPr/>
            </p:nvSpPr>
            <p:spPr>
              <a:xfrm>
                <a:off x="359106" y="5741581"/>
                <a:ext cx="4530045" cy="1006549"/>
              </a:xfrm>
              <a:prstGeom prst="wedgeRoundRectCallout">
                <a:avLst>
                  <a:gd name="adj1" fmla="val -6644"/>
                  <a:gd name="adj2" fmla="val -77642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342900" indent="-342900">
                  <a:buFont typeface="+mj-lt"/>
                  <a:buAutoNum type="arabicPeriod"/>
                </a:pPr>
                <a:r>
                  <a:rPr lang="en-US" sz="1400" dirty="0"/>
                  <a:t>Features are a combination of both state components, representing interactions.</a:t>
                </a:r>
              </a:p>
              <a:p>
                <a:pPr marL="342900" indent="-342900">
                  <a:buFont typeface="+mj-lt"/>
                  <a:buAutoNum type="arabicPeriod"/>
                </a:pPr>
                <a:r>
                  <a:rPr lang="en-US" sz="1400" dirty="0"/>
                  <a:t>Select only the best features.</a:t>
                </a:r>
              </a:p>
              <a:p>
                <a:pPr marL="342900" indent="-342900">
                  <a:buFont typeface="+mj-lt"/>
                  <a:buAutoNum type="arabicPeriod"/>
                </a:pPr>
                <a:r>
                  <a:rPr lang="en-US" sz="1400" dirty="0"/>
                  <a:t>Use a different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sz="1400" dirty="0"/>
                  <a:t> for each feature.</a:t>
                </a:r>
              </a:p>
            </p:txBody>
          </p:sp>
        </mc:Choice>
        <mc:Fallback xmlns="">
          <p:sp>
            <p:nvSpPr>
              <p:cNvPr id="46" name="Speech Bubble: Rectangle with Corners Rounded 45">
                <a:extLst>
                  <a:ext uri="{FF2B5EF4-FFF2-40B4-BE49-F238E27FC236}">
                    <a16:creationId xmlns:a16="http://schemas.microsoft.com/office/drawing/2014/main" id="{88A2569C-E5D9-8705-BCC9-DDB51EC74D1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9106" y="5741581"/>
                <a:ext cx="4530045" cy="1006549"/>
              </a:xfrm>
              <a:prstGeom prst="wedgeRoundRectCallout">
                <a:avLst>
                  <a:gd name="adj1" fmla="val -6644"/>
                  <a:gd name="adj2" fmla="val -77642"/>
                  <a:gd name="adj3" fmla="val 16667"/>
                </a:avLst>
              </a:prstGeom>
              <a:blipFill>
                <a:blip r:embed="rId6"/>
                <a:stretch>
                  <a:fillRect b="-139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481699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1" grpId="0"/>
      <p:bldP spid="46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9D8218-FC1E-7DC2-0BDB-85F80555BF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Example: L-Maze with Order-2 Fourier Features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D337F39-86C8-E0E0-ED9A-B7AA898B5D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797904"/>
            <a:ext cx="5133975" cy="414337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2621229-6986-1F7F-41FE-03F1D4D641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6462" y="1703266"/>
            <a:ext cx="4791075" cy="4143375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CFBCC4E1-4F2F-E15D-7AB2-C89EEE7462C6}"/>
              </a:ext>
            </a:extLst>
          </p:cNvPr>
          <p:cNvSpPr txBox="1"/>
          <p:nvPr/>
        </p:nvSpPr>
        <p:spPr>
          <a:xfrm>
            <a:off x="1921078" y="1229066"/>
            <a:ext cx="746620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Semi-gradient Sarsa with order-2 Fourier Features can solve the L-Maze</a:t>
            </a:r>
          </a:p>
        </p:txBody>
      </p:sp>
    </p:spTree>
    <p:extLst>
      <p:ext uri="{BB962C8B-B14F-4D97-AF65-F5344CB8AC3E}">
        <p14:creationId xmlns:p14="http://schemas.microsoft.com/office/powerpoint/2010/main" val="136327438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C61EEA-C033-3A7C-6BEF-3B05BF6544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Tile Coding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BFD9809-8770-2E37-A840-29088246A6D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124198"/>
                <a:ext cx="10515600" cy="1783661"/>
              </a:xfrm>
            </p:spPr>
            <p:txBody>
              <a:bodyPr>
                <a:normAutofit fontScale="70000" lnSpcReduction="20000"/>
              </a:bodyPr>
              <a:lstStyle/>
              <a:p>
                <a:r>
                  <a:rPr lang="en-US" dirty="0"/>
                  <a:t>Partition the space using several overlapping grids.</a:t>
                </a:r>
              </a:p>
              <a:p>
                <a:r>
                  <a:rPr lang="en-US" dirty="0"/>
                  <a:t>Represent the state by the “active” tiles in the grids.</a:t>
                </a:r>
              </a:p>
              <a:p>
                <a:r>
                  <a:rPr lang="en-US" dirty="0"/>
                  <a:t>Similar states will share active tiles. Leads to a local generalization.</a:t>
                </a: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dirty="0"/>
                  <a:t> is typically chosen to be small since a change will also affect neighboring states. </a:t>
                </a:r>
                <a:br>
                  <a:rPr lang="en-US" dirty="0"/>
                </a:br>
                <a:r>
                  <a:rPr lang="en-US" dirty="0"/>
                  <a:t>Popular: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10 </m:t>
                        </m:r>
                        <m:r>
                          <m:rPr>
                            <m:nor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#</m:t>
                        </m:r>
                        <m:r>
                          <m:rPr>
                            <m:nor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tilings</m:t>
                        </m:r>
                      </m:den>
                    </m:f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BFD9809-8770-2E37-A840-29088246A6D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124198"/>
                <a:ext cx="10515600" cy="1783661"/>
              </a:xfrm>
              <a:blipFill>
                <a:blip r:embed="rId2"/>
                <a:stretch>
                  <a:fillRect l="-522" t="-580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AD66987A-C1A2-C925-E70B-BB4DA616A4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9097" y="3381561"/>
            <a:ext cx="7279757" cy="2661807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82E76E1-445B-0C86-262C-5EA0DD4E509D}"/>
                  </a:ext>
                </a:extLst>
              </p:cNvPr>
              <p:cNvSpPr txBox="1"/>
              <p:nvPr/>
            </p:nvSpPr>
            <p:spPr>
              <a:xfrm>
                <a:off x="936550" y="3429000"/>
                <a:ext cx="3308498" cy="255454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b="1" dirty="0"/>
                  <a:t>Example</a:t>
                </a:r>
                <a:r>
                  <a:rPr lang="en-US" sz="2000" dirty="0"/>
                  <a:t>: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000" dirty="0"/>
                  <a:t>State has two components.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000" dirty="0"/>
                  <a:t>4 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4×4</m:t>
                    </m:r>
                  </m:oMath>
                </a14:m>
                <a:r>
                  <a:rPr lang="en-US" sz="2000" dirty="0"/>
                  <a:t> overlapping </a:t>
                </a:r>
                <a:r>
                  <a:rPr lang="en-US" sz="2000" dirty="0" err="1"/>
                  <a:t>tilings</a:t>
                </a:r>
                <a:r>
                  <a:rPr lang="en-US" sz="2000" dirty="0"/>
                  <a:t> give 64 squares.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000" dirty="0"/>
                  <a:t>State features: 60 0s and only the four active tiles have a 1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82E76E1-445B-0C86-262C-5EA0DD4E50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6550" y="3429000"/>
                <a:ext cx="3308498" cy="2554545"/>
              </a:xfrm>
              <a:prstGeom prst="rect">
                <a:avLst/>
              </a:prstGeom>
              <a:blipFill>
                <a:blip r:embed="rId4"/>
                <a:stretch>
                  <a:fillRect l="-2030" t="-1432" b="-310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0" name="Group 39">
            <a:extLst>
              <a:ext uri="{FF2B5EF4-FFF2-40B4-BE49-F238E27FC236}">
                <a16:creationId xmlns:a16="http://schemas.microsoft.com/office/drawing/2014/main" id="{67A12649-C2C4-ED5F-5094-B6C4AD7830E1}"/>
              </a:ext>
            </a:extLst>
          </p:cNvPr>
          <p:cNvGrpSpPr/>
          <p:nvPr/>
        </p:nvGrpSpPr>
        <p:grpSpPr>
          <a:xfrm>
            <a:off x="4479851" y="4849257"/>
            <a:ext cx="1253106" cy="603874"/>
            <a:chOff x="4442224" y="5428331"/>
            <a:chExt cx="1253106" cy="603874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C5E45CF6-7235-3CD1-7DE8-C6E0659A42AE}"/>
                </a:ext>
              </a:extLst>
            </p:cNvPr>
            <p:cNvCxnSpPr>
              <a:cxnSpLocks/>
            </p:cNvCxnSpPr>
            <p:nvPr/>
          </p:nvCxnSpPr>
          <p:spPr>
            <a:xfrm>
              <a:off x="5695330" y="5428331"/>
              <a:ext cx="0" cy="603874"/>
            </a:xfrm>
            <a:prstGeom prst="line">
              <a:avLst/>
            </a:prstGeom>
            <a:ln w="19050" cap="flat" cmpd="sng" algn="ctr">
              <a:solidFill>
                <a:schemeClr val="accent2"/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D1ADE3D4-6EA3-99E2-AB67-C986C31EB85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442224" y="5428331"/>
              <a:ext cx="1253106" cy="0"/>
            </a:xfrm>
            <a:prstGeom prst="line">
              <a:avLst/>
            </a:prstGeom>
            <a:ln w="19050" cap="flat" cmpd="sng" algn="ctr">
              <a:solidFill>
                <a:schemeClr val="accent2"/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C7F69C6B-93B1-2F6A-CDA0-FB2EBF5957B9}"/>
              </a:ext>
            </a:extLst>
          </p:cNvPr>
          <p:cNvGrpSpPr/>
          <p:nvPr/>
        </p:nvGrpSpPr>
        <p:grpSpPr>
          <a:xfrm>
            <a:off x="4382621" y="3633870"/>
            <a:ext cx="1548574" cy="1601735"/>
            <a:chOff x="4382621" y="3244007"/>
            <a:chExt cx="1548574" cy="1601735"/>
          </a:xfrm>
        </p:grpSpPr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7752AD79-CCF2-693C-5120-EF04065CEDF9}"/>
                </a:ext>
              </a:extLst>
            </p:cNvPr>
            <p:cNvGrpSpPr/>
            <p:nvPr/>
          </p:nvGrpSpPr>
          <p:grpSpPr>
            <a:xfrm>
              <a:off x="4414283" y="3685809"/>
              <a:ext cx="1516912" cy="268969"/>
              <a:chOff x="4414283" y="3685809"/>
              <a:chExt cx="1516912" cy="268969"/>
            </a:xfrm>
          </p:grpSpPr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DD30F41D-0B59-96B0-2086-05FD5E0665BF}"/>
                  </a:ext>
                </a:extLst>
              </p:cNvPr>
              <p:cNvSpPr txBox="1"/>
              <p:nvPr/>
            </p:nvSpPr>
            <p:spPr>
              <a:xfrm>
                <a:off x="4414283" y="3693168"/>
                <a:ext cx="145312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100" dirty="0">
                    <a:solidFill>
                      <a:schemeClr val="accent2"/>
                    </a:solidFill>
                  </a:rPr>
                  <a:t>0</a:t>
                </a:r>
              </a:p>
            </p:txBody>
          </p: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71FBB2C6-5931-2FAD-F938-FE1642874B61}"/>
                  </a:ext>
                </a:extLst>
              </p:cNvPr>
              <p:cNvSpPr txBox="1"/>
              <p:nvPr/>
            </p:nvSpPr>
            <p:spPr>
              <a:xfrm>
                <a:off x="4876799" y="3693168"/>
                <a:ext cx="145312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100" dirty="0">
                    <a:solidFill>
                      <a:schemeClr val="accent2"/>
                    </a:solidFill>
                  </a:rPr>
                  <a:t>0</a:t>
                </a:r>
              </a:p>
            </p:txBody>
          </p: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3AB7C7A7-F7C6-8ABF-E4F6-630D483A8138}"/>
                  </a:ext>
                </a:extLst>
              </p:cNvPr>
              <p:cNvSpPr txBox="1"/>
              <p:nvPr/>
            </p:nvSpPr>
            <p:spPr>
              <a:xfrm>
                <a:off x="5310962" y="3685809"/>
                <a:ext cx="145312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100" dirty="0">
                    <a:solidFill>
                      <a:schemeClr val="accent2"/>
                    </a:solidFill>
                  </a:rPr>
                  <a:t>0</a:t>
                </a:r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5E3262AC-24A6-C62A-08C6-BBEBA5DFDB2C}"/>
                  </a:ext>
                </a:extLst>
              </p:cNvPr>
              <p:cNvSpPr txBox="1"/>
              <p:nvPr/>
            </p:nvSpPr>
            <p:spPr>
              <a:xfrm>
                <a:off x="5785883" y="3693168"/>
                <a:ext cx="145312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100" dirty="0">
                    <a:solidFill>
                      <a:schemeClr val="accent2"/>
                    </a:solidFill>
                  </a:rPr>
                  <a:t>0</a:t>
                </a:r>
              </a:p>
            </p:txBody>
          </p:sp>
        </p:grp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9B927CF8-AF38-CDF8-A9EF-EDEFC6BDA07E}"/>
                </a:ext>
              </a:extLst>
            </p:cNvPr>
            <p:cNvGrpSpPr/>
            <p:nvPr/>
          </p:nvGrpSpPr>
          <p:grpSpPr>
            <a:xfrm>
              <a:off x="4414283" y="4105864"/>
              <a:ext cx="1516912" cy="268969"/>
              <a:chOff x="4414283" y="3685809"/>
              <a:chExt cx="1516912" cy="268969"/>
            </a:xfrm>
          </p:grpSpPr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F6EEFEFE-7A14-E54F-9D20-88E0B74EA4AB}"/>
                  </a:ext>
                </a:extLst>
              </p:cNvPr>
              <p:cNvSpPr txBox="1"/>
              <p:nvPr/>
            </p:nvSpPr>
            <p:spPr>
              <a:xfrm>
                <a:off x="4414283" y="3693168"/>
                <a:ext cx="145312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100" dirty="0">
                    <a:solidFill>
                      <a:schemeClr val="accent2"/>
                    </a:solidFill>
                  </a:rPr>
                  <a:t>0</a:t>
                </a:r>
              </a:p>
            </p:txBody>
          </p: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CAB2F481-5134-3AD1-8D30-78CA8E73AB46}"/>
                  </a:ext>
                </a:extLst>
              </p:cNvPr>
              <p:cNvSpPr txBox="1"/>
              <p:nvPr/>
            </p:nvSpPr>
            <p:spPr>
              <a:xfrm>
                <a:off x="4876799" y="3693168"/>
                <a:ext cx="145312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100" dirty="0">
                    <a:solidFill>
                      <a:schemeClr val="accent2"/>
                    </a:solidFill>
                  </a:rPr>
                  <a:t>0</a:t>
                </a:r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C989634F-DCFC-FCEC-62BF-CEB7B663196E}"/>
                  </a:ext>
                </a:extLst>
              </p:cNvPr>
              <p:cNvSpPr txBox="1"/>
              <p:nvPr/>
            </p:nvSpPr>
            <p:spPr>
              <a:xfrm>
                <a:off x="5310962" y="3685809"/>
                <a:ext cx="145312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100" b="1" dirty="0">
                    <a:solidFill>
                      <a:schemeClr val="accent2"/>
                    </a:solidFill>
                  </a:rPr>
                  <a:t>1</a:t>
                </a:r>
              </a:p>
            </p:txBody>
          </p:sp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35237276-F6DD-3DB4-120C-72057CEE1C74}"/>
                  </a:ext>
                </a:extLst>
              </p:cNvPr>
              <p:cNvSpPr txBox="1"/>
              <p:nvPr/>
            </p:nvSpPr>
            <p:spPr>
              <a:xfrm>
                <a:off x="5785883" y="3693168"/>
                <a:ext cx="145312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100" dirty="0">
                    <a:solidFill>
                      <a:schemeClr val="accent2"/>
                    </a:solidFill>
                  </a:rPr>
                  <a:t>0</a:t>
                </a:r>
              </a:p>
            </p:txBody>
          </p:sp>
        </p:grp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EE4B4C3A-C9DE-6BCC-E353-0E9585FE87C7}"/>
                </a:ext>
              </a:extLst>
            </p:cNvPr>
            <p:cNvGrpSpPr/>
            <p:nvPr/>
          </p:nvGrpSpPr>
          <p:grpSpPr>
            <a:xfrm>
              <a:off x="4382621" y="4576773"/>
              <a:ext cx="1516912" cy="268969"/>
              <a:chOff x="4414283" y="3685809"/>
              <a:chExt cx="1516912" cy="268969"/>
            </a:xfrm>
          </p:grpSpPr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91547886-135D-9E0C-681F-41CA25C716EA}"/>
                  </a:ext>
                </a:extLst>
              </p:cNvPr>
              <p:cNvSpPr txBox="1"/>
              <p:nvPr/>
            </p:nvSpPr>
            <p:spPr>
              <a:xfrm>
                <a:off x="4414283" y="3693168"/>
                <a:ext cx="145312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100" dirty="0">
                    <a:solidFill>
                      <a:schemeClr val="accent2"/>
                    </a:solidFill>
                  </a:rPr>
                  <a:t>0</a:t>
                </a:r>
              </a:p>
            </p:txBody>
          </p:sp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7E32D794-516D-E3FB-3973-FB912E8CE644}"/>
                  </a:ext>
                </a:extLst>
              </p:cNvPr>
              <p:cNvSpPr txBox="1"/>
              <p:nvPr/>
            </p:nvSpPr>
            <p:spPr>
              <a:xfrm>
                <a:off x="4876799" y="3693168"/>
                <a:ext cx="145312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100" dirty="0">
                    <a:solidFill>
                      <a:schemeClr val="accent2"/>
                    </a:solidFill>
                  </a:rPr>
                  <a:t>0</a:t>
                </a:r>
              </a:p>
            </p:txBody>
          </p:sp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0EA4B7BB-CAEA-8B05-10B1-251225217D35}"/>
                  </a:ext>
                </a:extLst>
              </p:cNvPr>
              <p:cNvSpPr txBox="1"/>
              <p:nvPr/>
            </p:nvSpPr>
            <p:spPr>
              <a:xfrm>
                <a:off x="5310962" y="3685809"/>
                <a:ext cx="145312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100" dirty="0">
                    <a:solidFill>
                      <a:schemeClr val="accent2"/>
                    </a:solidFill>
                  </a:rPr>
                  <a:t>0</a:t>
                </a:r>
              </a:p>
            </p:txBody>
          </p:sp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A1E2758A-527A-2EDE-0548-EDE57550686E}"/>
                  </a:ext>
                </a:extLst>
              </p:cNvPr>
              <p:cNvSpPr txBox="1"/>
              <p:nvPr/>
            </p:nvSpPr>
            <p:spPr>
              <a:xfrm>
                <a:off x="5785883" y="3693168"/>
                <a:ext cx="145312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100" dirty="0">
                    <a:solidFill>
                      <a:schemeClr val="accent2"/>
                    </a:solidFill>
                  </a:rPr>
                  <a:t>0</a:t>
                </a:r>
              </a:p>
            </p:txBody>
          </p:sp>
        </p:grpSp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959E18F5-BC4F-0096-E7F1-99D143FB7D6F}"/>
                </a:ext>
              </a:extLst>
            </p:cNvPr>
            <p:cNvGrpSpPr/>
            <p:nvPr/>
          </p:nvGrpSpPr>
          <p:grpSpPr>
            <a:xfrm>
              <a:off x="4403650" y="3244007"/>
              <a:ext cx="1516912" cy="268969"/>
              <a:chOff x="4414283" y="3685809"/>
              <a:chExt cx="1516912" cy="268969"/>
            </a:xfrm>
          </p:grpSpPr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F9A9344C-3766-8050-5CDA-60FBC60ADFB5}"/>
                  </a:ext>
                </a:extLst>
              </p:cNvPr>
              <p:cNvSpPr txBox="1"/>
              <p:nvPr/>
            </p:nvSpPr>
            <p:spPr>
              <a:xfrm>
                <a:off x="4414283" y="3693168"/>
                <a:ext cx="145312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100" dirty="0">
                    <a:solidFill>
                      <a:schemeClr val="accent2"/>
                    </a:solidFill>
                  </a:rPr>
                  <a:t>0</a:t>
                </a:r>
              </a:p>
            </p:txBody>
          </p:sp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6E9A0132-2099-5363-2A6D-48396ADEE3E1}"/>
                  </a:ext>
                </a:extLst>
              </p:cNvPr>
              <p:cNvSpPr txBox="1"/>
              <p:nvPr/>
            </p:nvSpPr>
            <p:spPr>
              <a:xfrm>
                <a:off x="4876799" y="3693168"/>
                <a:ext cx="145312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100" dirty="0">
                    <a:solidFill>
                      <a:schemeClr val="accent2"/>
                    </a:solidFill>
                  </a:rPr>
                  <a:t>0</a:t>
                </a:r>
              </a:p>
            </p:txBody>
          </p:sp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3E926400-ADCA-23FE-2D72-7019F2656D5E}"/>
                  </a:ext>
                </a:extLst>
              </p:cNvPr>
              <p:cNvSpPr txBox="1"/>
              <p:nvPr/>
            </p:nvSpPr>
            <p:spPr>
              <a:xfrm>
                <a:off x="5310962" y="3685809"/>
                <a:ext cx="145312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100" dirty="0">
                    <a:solidFill>
                      <a:schemeClr val="accent2"/>
                    </a:solidFill>
                  </a:rPr>
                  <a:t>0</a:t>
                </a:r>
              </a:p>
            </p:txBody>
          </p:sp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9720D94C-9BA9-9DCC-2303-4A63E6F842FB}"/>
                  </a:ext>
                </a:extLst>
              </p:cNvPr>
              <p:cNvSpPr txBox="1"/>
              <p:nvPr/>
            </p:nvSpPr>
            <p:spPr>
              <a:xfrm>
                <a:off x="5785883" y="3693168"/>
                <a:ext cx="145312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100" dirty="0">
                    <a:solidFill>
                      <a:schemeClr val="accent2"/>
                    </a:solidFill>
                  </a:rPr>
                  <a:t>0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1601703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714A2D-1578-7476-D7A6-187BF2D3D1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36B23E-3A9D-87D2-B4D6-4F55B2044A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Example: L-Maze with Tile Coding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A558498-9506-9F88-1789-8BB02A9A5A63}"/>
              </a:ext>
            </a:extLst>
          </p:cNvPr>
          <p:cNvSpPr txBox="1"/>
          <p:nvPr/>
        </p:nvSpPr>
        <p:spPr>
          <a:xfrm>
            <a:off x="962025" y="1229066"/>
            <a:ext cx="100164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Semi-gradient Sarsa with Tile Coding (4 </a:t>
            </a:r>
            <a:r>
              <a:rPr lang="en-US" dirty="0" err="1"/>
              <a:t>tilings</a:t>
            </a:r>
            <a:r>
              <a:rPr lang="en-US" dirty="0"/>
              <a:t>, 4 tiles per dimension) can solve the L-Maze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E08F3D6-8964-CAE2-4ADA-BAAE74BB05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2025" y="1703266"/>
            <a:ext cx="5133975" cy="414337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1DFED3D-EFF1-6553-1DCD-D229508CD3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7718" y="1703266"/>
            <a:ext cx="4791075" cy="4143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204183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4F3D035-6970-410A-56D5-7B2461C3DB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Non-Linear Function Approximation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0742DE7-913C-60BB-DF8E-B71A7E28A53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Artificial Neural Networks</a:t>
            </a:r>
          </a:p>
        </p:txBody>
      </p:sp>
    </p:spTree>
    <p:extLst>
      <p:ext uri="{BB962C8B-B14F-4D97-AF65-F5344CB8AC3E}">
        <p14:creationId xmlns:p14="http://schemas.microsoft.com/office/powerpoint/2010/main" val="366510224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86F5B2-EE01-E8E7-270B-299A360AD4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Approximation with ANNs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D5F70F-2AC8-FACB-0836-8ACDFA07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7330"/>
            <a:ext cx="7166773" cy="4779633"/>
          </a:xfrm>
        </p:spPr>
        <p:txBody>
          <a:bodyPr>
            <a:normAutofit fontScale="62500" lnSpcReduction="20000"/>
          </a:bodyPr>
          <a:lstStyle/>
          <a:p>
            <a:r>
              <a:rPr lang="en-US" dirty="0"/>
              <a:t>Uses simple networks with a single hidden layer or deep architectures to approximate the value function.</a:t>
            </a:r>
          </a:p>
          <a:p>
            <a:r>
              <a:rPr lang="en-US" dirty="0"/>
              <a:t>Methods:</a:t>
            </a:r>
          </a:p>
          <a:p>
            <a:pPr lvl="1"/>
            <a:r>
              <a:rPr lang="en-US" dirty="0"/>
              <a:t>Recurrent networks</a:t>
            </a:r>
          </a:p>
          <a:p>
            <a:pPr lvl="1"/>
            <a:r>
              <a:rPr lang="en-US" dirty="0"/>
              <a:t>Convolution networks</a:t>
            </a:r>
          </a:p>
          <a:p>
            <a:pPr lvl="1"/>
            <a:r>
              <a:rPr lang="en-US" dirty="0"/>
              <a:t>Transformers</a:t>
            </a:r>
          </a:p>
          <a:p>
            <a:pPr lvl="1"/>
            <a:r>
              <a:rPr lang="en-US" dirty="0"/>
              <a:t>Regularization, dropout, weight sharing</a:t>
            </a:r>
          </a:p>
          <a:p>
            <a:pPr lvl="1"/>
            <a:r>
              <a:rPr lang="en-US" dirty="0"/>
              <a:t>Deep residual learning…</a:t>
            </a:r>
          </a:p>
          <a:p>
            <a:r>
              <a:rPr lang="en-US" dirty="0"/>
              <a:t>Networks are trained like linear models using SGD. For deep networks this uses backpropagation.</a:t>
            </a:r>
          </a:p>
          <a:p>
            <a:r>
              <a:rPr lang="en-US" dirty="0"/>
              <a:t>ANNs are non-linear universal approximators so they can learn any value function.</a:t>
            </a:r>
          </a:p>
          <a:p>
            <a:endParaRPr lang="en-US" dirty="0"/>
          </a:p>
          <a:p>
            <a:r>
              <a:rPr lang="en-US" dirty="0"/>
              <a:t>Issues due to nonlinearity: </a:t>
            </a:r>
          </a:p>
          <a:p>
            <a:pPr lvl="1"/>
            <a:r>
              <a:rPr lang="en-US" dirty="0"/>
              <a:t>Instability </a:t>
            </a:r>
          </a:p>
          <a:p>
            <a:pPr lvl="1"/>
            <a:r>
              <a:rPr lang="en-US" dirty="0"/>
              <a:t>Convergence is not guaranteed. </a:t>
            </a:r>
          </a:p>
          <a:p>
            <a:pPr lvl="1"/>
            <a:endParaRPr lang="en-US" dirty="0"/>
          </a:p>
          <a:p>
            <a:r>
              <a:rPr lang="en-US" dirty="0"/>
              <a:t>More in Deep Reinforcement Learning (DRL).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0257D9AD-0CBD-4A1C-5DC3-AB0B9432D6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8207189" y="1193884"/>
            <a:ext cx="3920629" cy="2021412"/>
            <a:chOff x="1129787" y="3714030"/>
            <a:chExt cx="3920629" cy="2021412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88F9D100-703C-DDBE-4B03-BEFD2675E182}"/>
                </a:ext>
                <a:ext uri="{C183D7F6-B498-43B3-948B-1728B52AA6E4}">
                  <adec:decorative xmlns:adec="http://schemas.microsoft.com/office/drawing/2017/decorative" val="0"/>
                </a:ext>
              </a:extLst>
            </p:cNvPr>
            <p:cNvSpPr txBox="1"/>
            <p:nvPr/>
          </p:nvSpPr>
          <p:spPr>
            <a:xfrm>
              <a:off x="1865224" y="5366110"/>
              <a:ext cx="191197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Q-network</a:t>
              </a:r>
            </a:p>
          </p:txBody>
        </p: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271A9B85-1B4A-D529-9559-9A776B1E033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2124428" y="4079165"/>
              <a:ext cx="1295400" cy="1235724"/>
              <a:chOff x="4410942" y="4599774"/>
              <a:chExt cx="1577400" cy="1648626"/>
            </a:xfrm>
          </p:grpSpPr>
          <p:sp>
            <p:nvSpPr>
              <p:cNvPr id="16" name="Oval 15">
                <a:extLst>
                  <a:ext uri="{FF2B5EF4-FFF2-40B4-BE49-F238E27FC236}">
                    <a16:creationId xmlns:a16="http://schemas.microsoft.com/office/drawing/2014/main" id="{7FB21E2A-FC1F-C47C-298D-A8BE4E31C4B6}"/>
                  </a:ext>
                </a:extLst>
              </p:cNvPr>
              <p:cNvSpPr/>
              <p:nvPr/>
            </p:nvSpPr>
            <p:spPr>
              <a:xfrm>
                <a:off x="4889892" y="4752174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" name="Oval 16">
                <a:extLst>
                  <a:ext uri="{FF2B5EF4-FFF2-40B4-BE49-F238E27FC236}">
                    <a16:creationId xmlns:a16="http://schemas.microsoft.com/office/drawing/2014/main" id="{3BAD4EA1-AE93-3F2B-EC3E-F51B2C66811C}"/>
                  </a:ext>
                </a:extLst>
              </p:cNvPr>
              <p:cNvSpPr/>
              <p:nvPr/>
            </p:nvSpPr>
            <p:spPr>
              <a:xfrm>
                <a:off x="4889892" y="5007830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E3C39F9D-742D-29FD-62B5-DCCFB700DAFE}"/>
                  </a:ext>
                </a:extLst>
              </p:cNvPr>
              <p:cNvSpPr/>
              <p:nvPr/>
            </p:nvSpPr>
            <p:spPr>
              <a:xfrm>
                <a:off x="4889892" y="5285574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639BE8FB-3F89-4604-BFD7-75A85BD6D11C}"/>
                  </a:ext>
                </a:extLst>
              </p:cNvPr>
              <p:cNvSpPr/>
              <p:nvPr/>
            </p:nvSpPr>
            <p:spPr>
              <a:xfrm>
                <a:off x="4889892" y="5590374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A4EC46C8-4F64-09FC-B2F0-A56DD6F92E13}"/>
                  </a:ext>
                </a:extLst>
              </p:cNvPr>
              <p:cNvSpPr/>
              <p:nvPr/>
            </p:nvSpPr>
            <p:spPr>
              <a:xfrm>
                <a:off x="5347092" y="4904574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EC7B4CEF-D65D-35AC-4A87-5A2F28622CC6}"/>
                  </a:ext>
                </a:extLst>
              </p:cNvPr>
              <p:cNvSpPr/>
              <p:nvPr/>
            </p:nvSpPr>
            <p:spPr>
              <a:xfrm>
                <a:off x="5347092" y="5133174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60546C22-9126-A64F-1E08-4A0774EC5C52}"/>
                  </a:ext>
                </a:extLst>
              </p:cNvPr>
              <p:cNvSpPr/>
              <p:nvPr/>
            </p:nvSpPr>
            <p:spPr>
              <a:xfrm>
                <a:off x="5347092" y="5437974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9711B356-C322-9A0F-23AA-24070E83601E}"/>
                  </a:ext>
                </a:extLst>
              </p:cNvPr>
              <p:cNvSpPr/>
              <p:nvPr/>
            </p:nvSpPr>
            <p:spPr>
              <a:xfrm>
                <a:off x="5835942" y="4752949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" name="Oval 23">
                <a:extLst>
                  <a:ext uri="{FF2B5EF4-FFF2-40B4-BE49-F238E27FC236}">
                    <a16:creationId xmlns:a16="http://schemas.microsoft.com/office/drawing/2014/main" id="{321E1B89-F118-CEDE-1ACF-AE210F91AD89}"/>
                  </a:ext>
                </a:extLst>
              </p:cNvPr>
              <p:cNvSpPr/>
              <p:nvPr/>
            </p:nvSpPr>
            <p:spPr>
              <a:xfrm>
                <a:off x="5835942" y="5030693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" name="Oval 24">
                <a:extLst>
                  <a:ext uri="{FF2B5EF4-FFF2-40B4-BE49-F238E27FC236}">
                    <a16:creationId xmlns:a16="http://schemas.microsoft.com/office/drawing/2014/main" id="{5F536921-5DB2-C484-80A6-5E9CF04774B8}"/>
                  </a:ext>
                </a:extLst>
              </p:cNvPr>
              <p:cNvSpPr/>
              <p:nvPr/>
            </p:nvSpPr>
            <p:spPr>
              <a:xfrm>
                <a:off x="5835942" y="5335493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" name="Oval 25">
                <a:extLst>
                  <a:ext uri="{FF2B5EF4-FFF2-40B4-BE49-F238E27FC236}">
                    <a16:creationId xmlns:a16="http://schemas.microsoft.com/office/drawing/2014/main" id="{476A5DB0-1825-8BF6-77D6-0FF244514DE9}"/>
                  </a:ext>
                </a:extLst>
              </p:cNvPr>
              <p:cNvSpPr/>
              <p:nvPr/>
            </p:nvSpPr>
            <p:spPr>
              <a:xfrm>
                <a:off x="5835942" y="5640293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7" name="Oval 26">
                <a:extLst>
                  <a:ext uri="{FF2B5EF4-FFF2-40B4-BE49-F238E27FC236}">
                    <a16:creationId xmlns:a16="http://schemas.microsoft.com/office/drawing/2014/main" id="{260347EC-E155-6D6A-8B70-F0ED6F48A3E7}"/>
                  </a:ext>
                </a:extLst>
              </p:cNvPr>
              <p:cNvSpPr/>
              <p:nvPr/>
            </p:nvSpPr>
            <p:spPr>
              <a:xfrm>
                <a:off x="4889892" y="5895174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" name="Oval 27">
                <a:extLst>
                  <a:ext uri="{FF2B5EF4-FFF2-40B4-BE49-F238E27FC236}">
                    <a16:creationId xmlns:a16="http://schemas.microsoft.com/office/drawing/2014/main" id="{8A82D0AB-4B22-7144-C127-03639736A49C}"/>
                  </a:ext>
                </a:extLst>
              </p:cNvPr>
              <p:cNvSpPr/>
              <p:nvPr/>
            </p:nvSpPr>
            <p:spPr>
              <a:xfrm>
                <a:off x="5347092" y="5742774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" name="Oval 28">
                <a:extLst>
                  <a:ext uri="{FF2B5EF4-FFF2-40B4-BE49-F238E27FC236}">
                    <a16:creationId xmlns:a16="http://schemas.microsoft.com/office/drawing/2014/main" id="{D2F65F11-4D6B-FB28-45ED-118C8249D263}"/>
                  </a:ext>
                </a:extLst>
              </p:cNvPr>
              <p:cNvSpPr/>
              <p:nvPr/>
            </p:nvSpPr>
            <p:spPr>
              <a:xfrm>
                <a:off x="5835942" y="5945093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27796F2B-63A7-0E97-6307-14CC5EC0C7EF}"/>
                  </a:ext>
                </a:extLst>
              </p:cNvPr>
              <p:cNvCxnSpPr>
                <a:cxnSpLocks/>
                <a:stCxn id="16" idx="6"/>
                <a:endCxn id="20" idx="1"/>
              </p:cNvCxnSpPr>
              <p:nvPr/>
            </p:nvCxnSpPr>
            <p:spPr>
              <a:xfrm>
                <a:off x="5042292" y="4841902"/>
                <a:ext cx="327118" cy="88953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31" name="Straight Connector 30">
                <a:extLst>
                  <a:ext uri="{FF2B5EF4-FFF2-40B4-BE49-F238E27FC236}">
                    <a16:creationId xmlns:a16="http://schemas.microsoft.com/office/drawing/2014/main" id="{C3F73F8A-57DC-A45F-80D1-597D8D1E7A7C}"/>
                  </a:ext>
                </a:extLst>
              </p:cNvPr>
              <p:cNvCxnSpPr>
                <a:cxnSpLocks/>
                <a:stCxn id="17" idx="6"/>
                <a:endCxn id="20" idx="2"/>
              </p:cNvCxnSpPr>
              <p:nvPr/>
            </p:nvCxnSpPr>
            <p:spPr>
              <a:xfrm flipV="1">
                <a:off x="5042292" y="4994302"/>
                <a:ext cx="304800" cy="103256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32" name="Straight Connector 31">
                <a:extLst>
                  <a:ext uri="{FF2B5EF4-FFF2-40B4-BE49-F238E27FC236}">
                    <a16:creationId xmlns:a16="http://schemas.microsoft.com/office/drawing/2014/main" id="{D5DB5C0F-C3BC-E7BF-2F36-26E6DF3833FB}"/>
                  </a:ext>
                </a:extLst>
              </p:cNvPr>
              <p:cNvCxnSpPr>
                <a:cxnSpLocks/>
                <a:stCxn id="18" idx="6"/>
                <a:endCxn id="21" idx="2"/>
              </p:cNvCxnSpPr>
              <p:nvPr/>
            </p:nvCxnSpPr>
            <p:spPr>
              <a:xfrm flipV="1">
                <a:off x="5042292" y="5222902"/>
                <a:ext cx="304800" cy="15240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33" name="Straight Connector 32">
                <a:extLst>
                  <a:ext uri="{FF2B5EF4-FFF2-40B4-BE49-F238E27FC236}">
                    <a16:creationId xmlns:a16="http://schemas.microsoft.com/office/drawing/2014/main" id="{F39FF92C-6BBC-294B-AFCF-1E61772F3555}"/>
                  </a:ext>
                </a:extLst>
              </p:cNvPr>
              <p:cNvCxnSpPr>
                <a:cxnSpLocks/>
                <a:stCxn id="17" idx="6"/>
                <a:endCxn id="21" idx="2"/>
              </p:cNvCxnSpPr>
              <p:nvPr/>
            </p:nvCxnSpPr>
            <p:spPr>
              <a:xfrm>
                <a:off x="5042292" y="5097558"/>
                <a:ext cx="304800" cy="125344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34" name="Straight Connector 33">
                <a:extLst>
                  <a:ext uri="{FF2B5EF4-FFF2-40B4-BE49-F238E27FC236}">
                    <a16:creationId xmlns:a16="http://schemas.microsoft.com/office/drawing/2014/main" id="{304B9364-CECA-C424-2C90-35A01CFD7A25}"/>
                  </a:ext>
                </a:extLst>
              </p:cNvPr>
              <p:cNvCxnSpPr>
                <a:cxnSpLocks/>
                <a:stCxn id="19" idx="6"/>
                <a:endCxn id="22" idx="2"/>
              </p:cNvCxnSpPr>
              <p:nvPr/>
            </p:nvCxnSpPr>
            <p:spPr>
              <a:xfrm flipV="1">
                <a:off x="5042292" y="5527702"/>
                <a:ext cx="304800" cy="15240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35" name="Straight Connector 34">
                <a:extLst>
                  <a:ext uri="{FF2B5EF4-FFF2-40B4-BE49-F238E27FC236}">
                    <a16:creationId xmlns:a16="http://schemas.microsoft.com/office/drawing/2014/main" id="{BA59CCCC-0AE5-2C78-1EA0-C8E66CD0B57E}"/>
                  </a:ext>
                </a:extLst>
              </p:cNvPr>
              <p:cNvCxnSpPr>
                <a:cxnSpLocks/>
                <a:stCxn id="18" idx="6"/>
                <a:endCxn id="22" idx="2"/>
              </p:cNvCxnSpPr>
              <p:nvPr/>
            </p:nvCxnSpPr>
            <p:spPr>
              <a:xfrm>
                <a:off x="5042293" y="5375303"/>
                <a:ext cx="304800" cy="15240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36" name="Straight Connector 35">
                <a:extLst>
                  <a:ext uri="{FF2B5EF4-FFF2-40B4-BE49-F238E27FC236}">
                    <a16:creationId xmlns:a16="http://schemas.microsoft.com/office/drawing/2014/main" id="{4A3D70BA-B5F3-FBDA-53EC-95B34536CA9D}"/>
                  </a:ext>
                </a:extLst>
              </p:cNvPr>
              <p:cNvCxnSpPr>
                <a:cxnSpLocks/>
                <a:stCxn id="19" idx="6"/>
                <a:endCxn id="28" idx="2"/>
              </p:cNvCxnSpPr>
              <p:nvPr/>
            </p:nvCxnSpPr>
            <p:spPr>
              <a:xfrm>
                <a:off x="5042292" y="5680102"/>
                <a:ext cx="304800" cy="15240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37" name="Straight Connector 36">
                <a:extLst>
                  <a:ext uri="{FF2B5EF4-FFF2-40B4-BE49-F238E27FC236}">
                    <a16:creationId xmlns:a16="http://schemas.microsoft.com/office/drawing/2014/main" id="{34FC3790-1DF2-D828-D120-0BF4696D2466}"/>
                  </a:ext>
                </a:extLst>
              </p:cNvPr>
              <p:cNvCxnSpPr>
                <a:cxnSpLocks/>
                <a:stCxn id="27" idx="6"/>
                <a:endCxn id="28" idx="2"/>
              </p:cNvCxnSpPr>
              <p:nvPr/>
            </p:nvCxnSpPr>
            <p:spPr>
              <a:xfrm flipV="1">
                <a:off x="5042292" y="5832502"/>
                <a:ext cx="304800" cy="15240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38" name="Straight Connector 37">
                <a:extLst>
                  <a:ext uri="{FF2B5EF4-FFF2-40B4-BE49-F238E27FC236}">
                    <a16:creationId xmlns:a16="http://schemas.microsoft.com/office/drawing/2014/main" id="{4B3FE80B-AAF9-65B2-6618-6FBA7687BD74}"/>
                  </a:ext>
                </a:extLst>
              </p:cNvPr>
              <p:cNvCxnSpPr>
                <a:cxnSpLocks/>
                <a:stCxn id="27" idx="6"/>
                <a:endCxn id="22" idx="2"/>
              </p:cNvCxnSpPr>
              <p:nvPr/>
            </p:nvCxnSpPr>
            <p:spPr>
              <a:xfrm flipV="1">
                <a:off x="5042292" y="5527702"/>
                <a:ext cx="304800" cy="45720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39" name="Straight Connector 38">
                <a:extLst>
                  <a:ext uri="{FF2B5EF4-FFF2-40B4-BE49-F238E27FC236}">
                    <a16:creationId xmlns:a16="http://schemas.microsoft.com/office/drawing/2014/main" id="{60381267-2CEF-0E11-929C-DD78D5BF1536}"/>
                  </a:ext>
                </a:extLst>
              </p:cNvPr>
              <p:cNvCxnSpPr>
                <a:cxnSpLocks/>
                <a:stCxn id="19" idx="6"/>
                <a:endCxn id="21" idx="3"/>
              </p:cNvCxnSpPr>
              <p:nvPr/>
            </p:nvCxnSpPr>
            <p:spPr>
              <a:xfrm flipV="1">
                <a:off x="5042292" y="5286349"/>
                <a:ext cx="327118" cy="393753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40" name="Straight Connector 39">
                <a:extLst>
                  <a:ext uri="{FF2B5EF4-FFF2-40B4-BE49-F238E27FC236}">
                    <a16:creationId xmlns:a16="http://schemas.microsoft.com/office/drawing/2014/main" id="{801AFF4B-B3F2-B01A-3B78-D854F556ACEC}"/>
                  </a:ext>
                </a:extLst>
              </p:cNvPr>
              <p:cNvCxnSpPr>
                <a:cxnSpLocks/>
                <a:stCxn id="18" idx="6"/>
                <a:endCxn id="20" idx="3"/>
              </p:cNvCxnSpPr>
              <p:nvPr/>
            </p:nvCxnSpPr>
            <p:spPr>
              <a:xfrm flipV="1">
                <a:off x="5042292" y="5057749"/>
                <a:ext cx="327118" cy="317553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41" name="Straight Connector 40">
                <a:extLst>
                  <a:ext uri="{FF2B5EF4-FFF2-40B4-BE49-F238E27FC236}">
                    <a16:creationId xmlns:a16="http://schemas.microsoft.com/office/drawing/2014/main" id="{8559B934-D7F1-93EE-752D-3B2FFF4009A7}"/>
                  </a:ext>
                </a:extLst>
              </p:cNvPr>
              <p:cNvCxnSpPr>
                <a:cxnSpLocks/>
                <a:stCxn id="16" idx="6"/>
                <a:endCxn id="21" idx="1"/>
              </p:cNvCxnSpPr>
              <p:nvPr/>
            </p:nvCxnSpPr>
            <p:spPr>
              <a:xfrm>
                <a:off x="5042292" y="4841902"/>
                <a:ext cx="327118" cy="317553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42" name="Straight Connector 41">
                <a:extLst>
                  <a:ext uri="{FF2B5EF4-FFF2-40B4-BE49-F238E27FC236}">
                    <a16:creationId xmlns:a16="http://schemas.microsoft.com/office/drawing/2014/main" id="{EBB7651F-3179-6134-080A-D638453A6BF9}"/>
                  </a:ext>
                </a:extLst>
              </p:cNvPr>
              <p:cNvCxnSpPr>
                <a:cxnSpLocks/>
                <a:stCxn id="18" idx="6"/>
                <a:endCxn id="28" idx="2"/>
              </p:cNvCxnSpPr>
              <p:nvPr/>
            </p:nvCxnSpPr>
            <p:spPr>
              <a:xfrm>
                <a:off x="5042292" y="5375302"/>
                <a:ext cx="304800" cy="45720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43" name="Straight Connector 42">
                <a:extLst>
                  <a:ext uri="{FF2B5EF4-FFF2-40B4-BE49-F238E27FC236}">
                    <a16:creationId xmlns:a16="http://schemas.microsoft.com/office/drawing/2014/main" id="{97768FA7-7107-9EE3-4CF5-BED604BA12B4}"/>
                  </a:ext>
                </a:extLst>
              </p:cNvPr>
              <p:cNvCxnSpPr>
                <a:cxnSpLocks/>
                <a:stCxn id="20" idx="6"/>
                <a:endCxn id="23" idx="2"/>
              </p:cNvCxnSpPr>
              <p:nvPr/>
            </p:nvCxnSpPr>
            <p:spPr>
              <a:xfrm flipV="1">
                <a:off x="5499492" y="4842677"/>
                <a:ext cx="336450" cy="151625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44" name="Straight Connector 43">
                <a:extLst>
                  <a:ext uri="{FF2B5EF4-FFF2-40B4-BE49-F238E27FC236}">
                    <a16:creationId xmlns:a16="http://schemas.microsoft.com/office/drawing/2014/main" id="{095E9CCD-ABC3-13F9-ECC9-827AF855E2C0}"/>
                  </a:ext>
                </a:extLst>
              </p:cNvPr>
              <p:cNvCxnSpPr>
                <a:cxnSpLocks/>
                <a:stCxn id="21" idx="6"/>
                <a:endCxn id="23" idx="2"/>
              </p:cNvCxnSpPr>
              <p:nvPr/>
            </p:nvCxnSpPr>
            <p:spPr>
              <a:xfrm flipV="1">
                <a:off x="5499492" y="4842677"/>
                <a:ext cx="336450" cy="380225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45" name="Straight Connector 44">
                <a:extLst>
                  <a:ext uri="{FF2B5EF4-FFF2-40B4-BE49-F238E27FC236}">
                    <a16:creationId xmlns:a16="http://schemas.microsoft.com/office/drawing/2014/main" id="{422BC3BC-0F09-E9C3-3E7B-7A68129217BF}"/>
                  </a:ext>
                </a:extLst>
              </p:cNvPr>
              <p:cNvCxnSpPr>
                <a:cxnSpLocks/>
                <a:stCxn id="22" idx="6"/>
                <a:endCxn id="24" idx="2"/>
              </p:cNvCxnSpPr>
              <p:nvPr/>
            </p:nvCxnSpPr>
            <p:spPr>
              <a:xfrm flipV="1">
                <a:off x="5499492" y="5120421"/>
                <a:ext cx="336450" cy="407281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46" name="Straight Connector 45">
                <a:extLst>
                  <a:ext uri="{FF2B5EF4-FFF2-40B4-BE49-F238E27FC236}">
                    <a16:creationId xmlns:a16="http://schemas.microsoft.com/office/drawing/2014/main" id="{4CF7CFB2-1A13-84D6-B350-16A20A15ABE7}"/>
                  </a:ext>
                </a:extLst>
              </p:cNvPr>
              <p:cNvCxnSpPr>
                <a:cxnSpLocks/>
                <a:stCxn id="28" idx="6"/>
                <a:endCxn id="25" idx="2"/>
              </p:cNvCxnSpPr>
              <p:nvPr/>
            </p:nvCxnSpPr>
            <p:spPr>
              <a:xfrm flipV="1">
                <a:off x="5499492" y="5425221"/>
                <a:ext cx="336450" cy="407281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47" name="Straight Connector 46">
                <a:extLst>
                  <a:ext uri="{FF2B5EF4-FFF2-40B4-BE49-F238E27FC236}">
                    <a16:creationId xmlns:a16="http://schemas.microsoft.com/office/drawing/2014/main" id="{08E1EA95-D224-CC1B-A05D-B02B7F97D75D}"/>
                  </a:ext>
                </a:extLst>
              </p:cNvPr>
              <p:cNvCxnSpPr>
                <a:cxnSpLocks/>
                <a:stCxn id="28" idx="6"/>
                <a:endCxn id="29" idx="1"/>
              </p:cNvCxnSpPr>
              <p:nvPr/>
            </p:nvCxnSpPr>
            <p:spPr>
              <a:xfrm>
                <a:off x="5499492" y="5832502"/>
                <a:ext cx="358768" cy="138872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48" name="Straight Connector 47">
                <a:extLst>
                  <a:ext uri="{FF2B5EF4-FFF2-40B4-BE49-F238E27FC236}">
                    <a16:creationId xmlns:a16="http://schemas.microsoft.com/office/drawing/2014/main" id="{0188BEB8-B6D3-254E-9973-3B815ECA03F5}"/>
                  </a:ext>
                </a:extLst>
              </p:cNvPr>
              <p:cNvCxnSpPr>
                <a:cxnSpLocks/>
                <a:stCxn id="28" idx="6"/>
                <a:endCxn id="26" idx="2"/>
              </p:cNvCxnSpPr>
              <p:nvPr/>
            </p:nvCxnSpPr>
            <p:spPr>
              <a:xfrm flipV="1">
                <a:off x="5499492" y="5730021"/>
                <a:ext cx="336450" cy="102481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49" name="Straight Connector 48">
                <a:extLst>
                  <a:ext uri="{FF2B5EF4-FFF2-40B4-BE49-F238E27FC236}">
                    <a16:creationId xmlns:a16="http://schemas.microsoft.com/office/drawing/2014/main" id="{1D17DFB6-AA71-8F68-FF79-EC751F089E90}"/>
                  </a:ext>
                </a:extLst>
              </p:cNvPr>
              <p:cNvCxnSpPr>
                <a:cxnSpLocks/>
                <a:stCxn id="22" idx="6"/>
                <a:endCxn id="25" idx="2"/>
              </p:cNvCxnSpPr>
              <p:nvPr/>
            </p:nvCxnSpPr>
            <p:spPr>
              <a:xfrm flipV="1">
                <a:off x="5499492" y="5425221"/>
                <a:ext cx="336450" cy="102481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50" name="Straight Connector 49">
                <a:extLst>
                  <a:ext uri="{FF2B5EF4-FFF2-40B4-BE49-F238E27FC236}">
                    <a16:creationId xmlns:a16="http://schemas.microsoft.com/office/drawing/2014/main" id="{78F68341-3125-C0C0-1673-D12F007B60CC}"/>
                  </a:ext>
                </a:extLst>
              </p:cNvPr>
              <p:cNvCxnSpPr>
                <a:cxnSpLocks/>
                <a:stCxn id="20" idx="6"/>
                <a:endCxn id="24" idx="2"/>
              </p:cNvCxnSpPr>
              <p:nvPr/>
            </p:nvCxnSpPr>
            <p:spPr>
              <a:xfrm>
                <a:off x="5499493" y="4994303"/>
                <a:ext cx="336449" cy="126119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51" name="Straight Connector 50">
                <a:extLst>
                  <a:ext uri="{FF2B5EF4-FFF2-40B4-BE49-F238E27FC236}">
                    <a16:creationId xmlns:a16="http://schemas.microsoft.com/office/drawing/2014/main" id="{7A57FBA7-07FD-305A-4785-EA97B8F9368A}"/>
                  </a:ext>
                </a:extLst>
              </p:cNvPr>
              <p:cNvCxnSpPr>
                <a:cxnSpLocks/>
                <a:stCxn id="21" idx="6"/>
                <a:endCxn id="25" idx="2"/>
              </p:cNvCxnSpPr>
              <p:nvPr/>
            </p:nvCxnSpPr>
            <p:spPr>
              <a:xfrm>
                <a:off x="5499492" y="5222902"/>
                <a:ext cx="336450" cy="202319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52" name="Straight Connector 51">
                <a:extLst>
                  <a:ext uri="{FF2B5EF4-FFF2-40B4-BE49-F238E27FC236}">
                    <a16:creationId xmlns:a16="http://schemas.microsoft.com/office/drawing/2014/main" id="{98003135-66B0-AD7D-0DA6-5196EE358797}"/>
                  </a:ext>
                </a:extLst>
              </p:cNvPr>
              <p:cNvCxnSpPr>
                <a:cxnSpLocks/>
                <a:stCxn id="22" idx="6"/>
                <a:endCxn id="26" idx="2"/>
              </p:cNvCxnSpPr>
              <p:nvPr/>
            </p:nvCxnSpPr>
            <p:spPr>
              <a:xfrm>
                <a:off x="5499492" y="5527702"/>
                <a:ext cx="336450" cy="202319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53" name="Straight Connector 52">
                <a:extLst>
                  <a:ext uri="{FF2B5EF4-FFF2-40B4-BE49-F238E27FC236}">
                    <a16:creationId xmlns:a16="http://schemas.microsoft.com/office/drawing/2014/main" id="{6C7D412B-882B-04FD-338F-41824C21705E}"/>
                  </a:ext>
                </a:extLst>
              </p:cNvPr>
              <p:cNvCxnSpPr>
                <a:cxnSpLocks/>
                <a:stCxn id="20" idx="6"/>
                <a:endCxn id="25" idx="2"/>
              </p:cNvCxnSpPr>
              <p:nvPr/>
            </p:nvCxnSpPr>
            <p:spPr>
              <a:xfrm>
                <a:off x="5499492" y="4994302"/>
                <a:ext cx="336450" cy="430919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54" name="Straight Connector 53">
                <a:extLst>
                  <a:ext uri="{FF2B5EF4-FFF2-40B4-BE49-F238E27FC236}">
                    <a16:creationId xmlns:a16="http://schemas.microsoft.com/office/drawing/2014/main" id="{F55FE66B-71A4-C4B6-21FA-2A6C559C0915}"/>
                  </a:ext>
                </a:extLst>
              </p:cNvPr>
              <p:cNvCxnSpPr>
                <a:cxnSpLocks/>
                <a:stCxn id="22" idx="6"/>
                <a:endCxn id="23" idx="2"/>
              </p:cNvCxnSpPr>
              <p:nvPr/>
            </p:nvCxnSpPr>
            <p:spPr>
              <a:xfrm flipV="1">
                <a:off x="5499492" y="4842677"/>
                <a:ext cx="336450" cy="685025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55" name="Straight Connector 54">
                <a:extLst>
                  <a:ext uri="{FF2B5EF4-FFF2-40B4-BE49-F238E27FC236}">
                    <a16:creationId xmlns:a16="http://schemas.microsoft.com/office/drawing/2014/main" id="{E6E60BE8-2F9D-83F8-D75B-9A56A6804C1F}"/>
                  </a:ext>
                </a:extLst>
              </p:cNvPr>
              <p:cNvCxnSpPr>
                <a:cxnSpLocks/>
                <a:stCxn id="22" idx="6"/>
                <a:endCxn id="29" idx="1"/>
              </p:cNvCxnSpPr>
              <p:nvPr/>
            </p:nvCxnSpPr>
            <p:spPr>
              <a:xfrm>
                <a:off x="5499492" y="5527702"/>
                <a:ext cx="358768" cy="443672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56" name="Straight Connector 55">
                <a:extLst>
                  <a:ext uri="{FF2B5EF4-FFF2-40B4-BE49-F238E27FC236}">
                    <a16:creationId xmlns:a16="http://schemas.microsoft.com/office/drawing/2014/main" id="{50DCD506-4009-4481-F793-B6A53AE2C895}"/>
                  </a:ext>
                </a:extLst>
              </p:cNvPr>
              <p:cNvCxnSpPr>
                <a:cxnSpLocks/>
                <a:stCxn id="28" idx="6"/>
                <a:endCxn id="24" idx="2"/>
              </p:cNvCxnSpPr>
              <p:nvPr/>
            </p:nvCxnSpPr>
            <p:spPr>
              <a:xfrm flipV="1">
                <a:off x="5499492" y="5120421"/>
                <a:ext cx="336450" cy="712081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sp>
            <p:nvSpPr>
              <p:cNvPr id="57" name="Oval 56">
                <a:extLst>
                  <a:ext uri="{FF2B5EF4-FFF2-40B4-BE49-F238E27FC236}">
                    <a16:creationId xmlns:a16="http://schemas.microsoft.com/office/drawing/2014/main" id="{00C28748-FF53-E351-27D0-0D444FD49688}"/>
                  </a:ext>
                </a:extLst>
              </p:cNvPr>
              <p:cNvSpPr/>
              <p:nvPr/>
            </p:nvSpPr>
            <p:spPr>
              <a:xfrm>
                <a:off x="4410942" y="4599774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8" name="Oval 57">
                <a:extLst>
                  <a:ext uri="{FF2B5EF4-FFF2-40B4-BE49-F238E27FC236}">
                    <a16:creationId xmlns:a16="http://schemas.microsoft.com/office/drawing/2014/main" id="{4A8D2B5D-45F5-3DA8-8B01-D6A7AF787EC4}"/>
                  </a:ext>
                </a:extLst>
              </p:cNvPr>
              <p:cNvSpPr/>
              <p:nvPr/>
            </p:nvSpPr>
            <p:spPr>
              <a:xfrm>
                <a:off x="4410942" y="4855430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9" name="Oval 58">
                <a:extLst>
                  <a:ext uri="{FF2B5EF4-FFF2-40B4-BE49-F238E27FC236}">
                    <a16:creationId xmlns:a16="http://schemas.microsoft.com/office/drawing/2014/main" id="{61340BA5-0FA4-2B48-A20F-446C4E67EFA9}"/>
                  </a:ext>
                </a:extLst>
              </p:cNvPr>
              <p:cNvSpPr/>
              <p:nvPr/>
            </p:nvSpPr>
            <p:spPr>
              <a:xfrm>
                <a:off x="4410942" y="5133174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0" name="Oval 59">
                <a:extLst>
                  <a:ext uri="{FF2B5EF4-FFF2-40B4-BE49-F238E27FC236}">
                    <a16:creationId xmlns:a16="http://schemas.microsoft.com/office/drawing/2014/main" id="{01F66A9F-4E4A-C01B-AEE5-737E36093FA6}"/>
                  </a:ext>
                </a:extLst>
              </p:cNvPr>
              <p:cNvSpPr/>
              <p:nvPr/>
            </p:nvSpPr>
            <p:spPr>
              <a:xfrm>
                <a:off x="4410942" y="5437974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1" name="Oval 60">
                <a:extLst>
                  <a:ext uri="{FF2B5EF4-FFF2-40B4-BE49-F238E27FC236}">
                    <a16:creationId xmlns:a16="http://schemas.microsoft.com/office/drawing/2014/main" id="{314720C6-6CE3-C5D5-F9DE-FABFCB0C5D7B}"/>
                  </a:ext>
                </a:extLst>
              </p:cNvPr>
              <p:cNvSpPr/>
              <p:nvPr/>
            </p:nvSpPr>
            <p:spPr>
              <a:xfrm>
                <a:off x="4410942" y="5742774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2" name="Oval 61">
                <a:extLst>
                  <a:ext uri="{FF2B5EF4-FFF2-40B4-BE49-F238E27FC236}">
                    <a16:creationId xmlns:a16="http://schemas.microsoft.com/office/drawing/2014/main" id="{489773CD-21BD-3EE0-360D-51D67D8A5C6F}"/>
                  </a:ext>
                </a:extLst>
              </p:cNvPr>
              <p:cNvSpPr/>
              <p:nvPr/>
            </p:nvSpPr>
            <p:spPr>
              <a:xfrm>
                <a:off x="4419600" y="6068944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63" name="Straight Connector 62">
                <a:extLst>
                  <a:ext uri="{FF2B5EF4-FFF2-40B4-BE49-F238E27FC236}">
                    <a16:creationId xmlns:a16="http://schemas.microsoft.com/office/drawing/2014/main" id="{BB414F5E-8241-5027-4E23-4A12B53B57B8}"/>
                  </a:ext>
                </a:extLst>
              </p:cNvPr>
              <p:cNvCxnSpPr>
                <a:cxnSpLocks/>
                <a:stCxn id="57" idx="6"/>
                <a:endCxn id="16" idx="2"/>
              </p:cNvCxnSpPr>
              <p:nvPr/>
            </p:nvCxnSpPr>
            <p:spPr>
              <a:xfrm>
                <a:off x="4563342" y="4689502"/>
                <a:ext cx="326550" cy="15240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64" name="Straight Connector 63">
                <a:extLst>
                  <a:ext uri="{FF2B5EF4-FFF2-40B4-BE49-F238E27FC236}">
                    <a16:creationId xmlns:a16="http://schemas.microsoft.com/office/drawing/2014/main" id="{D90444DD-A8C4-5857-E3B0-85BB598A7AFD}"/>
                  </a:ext>
                </a:extLst>
              </p:cNvPr>
              <p:cNvCxnSpPr>
                <a:cxnSpLocks/>
                <a:stCxn id="58" idx="6"/>
                <a:endCxn id="17" idx="2"/>
              </p:cNvCxnSpPr>
              <p:nvPr/>
            </p:nvCxnSpPr>
            <p:spPr>
              <a:xfrm>
                <a:off x="4563342" y="4945158"/>
                <a:ext cx="326550" cy="15240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65" name="Straight Connector 64">
                <a:extLst>
                  <a:ext uri="{FF2B5EF4-FFF2-40B4-BE49-F238E27FC236}">
                    <a16:creationId xmlns:a16="http://schemas.microsoft.com/office/drawing/2014/main" id="{3BB81A97-E6EE-C92D-14E5-FD6C8F2B51EA}"/>
                  </a:ext>
                </a:extLst>
              </p:cNvPr>
              <p:cNvCxnSpPr>
                <a:cxnSpLocks/>
                <a:stCxn id="59" idx="6"/>
                <a:endCxn id="18" idx="2"/>
              </p:cNvCxnSpPr>
              <p:nvPr/>
            </p:nvCxnSpPr>
            <p:spPr>
              <a:xfrm>
                <a:off x="4563342" y="5222902"/>
                <a:ext cx="326550" cy="15240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66" name="Straight Connector 65">
                <a:extLst>
                  <a:ext uri="{FF2B5EF4-FFF2-40B4-BE49-F238E27FC236}">
                    <a16:creationId xmlns:a16="http://schemas.microsoft.com/office/drawing/2014/main" id="{6F4BCBB8-7FBC-A678-BB24-8FDA8C2BD55D}"/>
                  </a:ext>
                </a:extLst>
              </p:cNvPr>
              <p:cNvCxnSpPr>
                <a:cxnSpLocks/>
                <a:stCxn id="60" idx="6"/>
                <a:endCxn id="19" idx="2"/>
              </p:cNvCxnSpPr>
              <p:nvPr/>
            </p:nvCxnSpPr>
            <p:spPr>
              <a:xfrm>
                <a:off x="4563342" y="5527702"/>
                <a:ext cx="326550" cy="15240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67" name="Straight Connector 66">
                <a:extLst>
                  <a:ext uri="{FF2B5EF4-FFF2-40B4-BE49-F238E27FC236}">
                    <a16:creationId xmlns:a16="http://schemas.microsoft.com/office/drawing/2014/main" id="{A8852BA3-C2AC-80FC-4FED-933262B58AE3}"/>
                  </a:ext>
                </a:extLst>
              </p:cNvPr>
              <p:cNvCxnSpPr>
                <a:cxnSpLocks/>
                <a:stCxn id="61" idx="6"/>
                <a:endCxn id="27" idx="2"/>
              </p:cNvCxnSpPr>
              <p:nvPr/>
            </p:nvCxnSpPr>
            <p:spPr>
              <a:xfrm>
                <a:off x="4563342" y="5832502"/>
                <a:ext cx="326550" cy="15240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68" name="Straight Connector 67">
                <a:extLst>
                  <a:ext uri="{FF2B5EF4-FFF2-40B4-BE49-F238E27FC236}">
                    <a16:creationId xmlns:a16="http://schemas.microsoft.com/office/drawing/2014/main" id="{FE1F15E3-558E-DB8C-B876-0F6075AEC866}"/>
                  </a:ext>
                </a:extLst>
              </p:cNvPr>
              <p:cNvCxnSpPr>
                <a:cxnSpLocks/>
                <a:stCxn id="62" idx="6"/>
                <a:endCxn id="27" idx="2"/>
              </p:cNvCxnSpPr>
              <p:nvPr/>
            </p:nvCxnSpPr>
            <p:spPr>
              <a:xfrm flipV="1">
                <a:off x="4572000" y="5984902"/>
                <a:ext cx="317892" cy="17377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69" name="Straight Connector 68">
                <a:extLst>
                  <a:ext uri="{FF2B5EF4-FFF2-40B4-BE49-F238E27FC236}">
                    <a16:creationId xmlns:a16="http://schemas.microsoft.com/office/drawing/2014/main" id="{1FCA1830-B362-5F50-9E34-8813C17EDC6C}"/>
                  </a:ext>
                </a:extLst>
              </p:cNvPr>
              <p:cNvCxnSpPr>
                <a:cxnSpLocks/>
                <a:stCxn id="61" idx="6"/>
                <a:endCxn id="19" idx="2"/>
              </p:cNvCxnSpPr>
              <p:nvPr/>
            </p:nvCxnSpPr>
            <p:spPr>
              <a:xfrm flipV="1">
                <a:off x="4563342" y="5680102"/>
                <a:ext cx="326550" cy="15240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70" name="Straight Connector 69">
                <a:extLst>
                  <a:ext uri="{FF2B5EF4-FFF2-40B4-BE49-F238E27FC236}">
                    <a16:creationId xmlns:a16="http://schemas.microsoft.com/office/drawing/2014/main" id="{1EF48651-4159-154A-6453-8B9938BDA8B4}"/>
                  </a:ext>
                </a:extLst>
              </p:cNvPr>
              <p:cNvCxnSpPr>
                <a:cxnSpLocks/>
                <a:stCxn id="59" idx="6"/>
                <a:endCxn id="17" idx="2"/>
              </p:cNvCxnSpPr>
              <p:nvPr/>
            </p:nvCxnSpPr>
            <p:spPr>
              <a:xfrm flipV="1">
                <a:off x="4563342" y="5097558"/>
                <a:ext cx="326550" cy="125344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71" name="Straight Connector 70">
                <a:extLst>
                  <a:ext uri="{FF2B5EF4-FFF2-40B4-BE49-F238E27FC236}">
                    <a16:creationId xmlns:a16="http://schemas.microsoft.com/office/drawing/2014/main" id="{80448020-70A1-A910-082E-59929EA1FF25}"/>
                  </a:ext>
                </a:extLst>
              </p:cNvPr>
              <p:cNvCxnSpPr>
                <a:cxnSpLocks/>
                <a:stCxn id="58" idx="6"/>
                <a:endCxn id="16" idx="2"/>
              </p:cNvCxnSpPr>
              <p:nvPr/>
            </p:nvCxnSpPr>
            <p:spPr>
              <a:xfrm flipV="1">
                <a:off x="4563342" y="4841902"/>
                <a:ext cx="326550" cy="103256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72" name="Straight Connector 71">
                <a:extLst>
                  <a:ext uri="{FF2B5EF4-FFF2-40B4-BE49-F238E27FC236}">
                    <a16:creationId xmlns:a16="http://schemas.microsoft.com/office/drawing/2014/main" id="{7265FB6E-3B91-CCDD-D22A-D5C44BD12B6C}"/>
                  </a:ext>
                </a:extLst>
              </p:cNvPr>
              <p:cNvCxnSpPr>
                <a:cxnSpLocks/>
                <a:stCxn id="60" idx="6"/>
                <a:endCxn id="27" idx="2"/>
              </p:cNvCxnSpPr>
              <p:nvPr/>
            </p:nvCxnSpPr>
            <p:spPr>
              <a:xfrm>
                <a:off x="4563342" y="5527702"/>
                <a:ext cx="326550" cy="45720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73" name="Straight Connector 72">
                <a:extLst>
                  <a:ext uri="{FF2B5EF4-FFF2-40B4-BE49-F238E27FC236}">
                    <a16:creationId xmlns:a16="http://schemas.microsoft.com/office/drawing/2014/main" id="{FA4F705C-5542-F763-441D-BFF2A498D292}"/>
                  </a:ext>
                </a:extLst>
              </p:cNvPr>
              <p:cNvCxnSpPr>
                <a:cxnSpLocks/>
                <a:stCxn id="58" idx="6"/>
                <a:endCxn id="19" idx="2"/>
              </p:cNvCxnSpPr>
              <p:nvPr/>
            </p:nvCxnSpPr>
            <p:spPr>
              <a:xfrm>
                <a:off x="4563342" y="4945158"/>
                <a:ext cx="326550" cy="734944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74" name="Straight Connector 73">
                <a:extLst>
                  <a:ext uri="{FF2B5EF4-FFF2-40B4-BE49-F238E27FC236}">
                    <a16:creationId xmlns:a16="http://schemas.microsoft.com/office/drawing/2014/main" id="{4DD1EE5A-DBDA-A435-A0FE-B0F46195C9FE}"/>
                  </a:ext>
                </a:extLst>
              </p:cNvPr>
              <p:cNvCxnSpPr>
                <a:cxnSpLocks/>
                <a:stCxn id="60" idx="6"/>
                <a:endCxn id="16" idx="2"/>
              </p:cNvCxnSpPr>
              <p:nvPr/>
            </p:nvCxnSpPr>
            <p:spPr>
              <a:xfrm flipV="1">
                <a:off x="4563342" y="4841902"/>
                <a:ext cx="326550" cy="68580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75" name="Straight Connector 74">
                <a:extLst>
                  <a:ext uri="{FF2B5EF4-FFF2-40B4-BE49-F238E27FC236}">
                    <a16:creationId xmlns:a16="http://schemas.microsoft.com/office/drawing/2014/main" id="{F2CD7630-D715-77D3-4388-FEC10B362B3E}"/>
                  </a:ext>
                </a:extLst>
              </p:cNvPr>
              <p:cNvCxnSpPr>
                <a:cxnSpLocks/>
                <a:stCxn id="62" idx="6"/>
                <a:endCxn id="19" idx="2"/>
              </p:cNvCxnSpPr>
              <p:nvPr/>
            </p:nvCxnSpPr>
            <p:spPr>
              <a:xfrm flipV="1">
                <a:off x="4572000" y="5680102"/>
                <a:ext cx="317892" cy="47857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76" name="Straight Connector 75">
                <a:extLst>
                  <a:ext uri="{FF2B5EF4-FFF2-40B4-BE49-F238E27FC236}">
                    <a16:creationId xmlns:a16="http://schemas.microsoft.com/office/drawing/2014/main" id="{BD975B8D-9E37-8D2F-28BA-F3EDE1F7EE16}"/>
                  </a:ext>
                </a:extLst>
              </p:cNvPr>
              <p:cNvCxnSpPr>
                <a:cxnSpLocks/>
                <a:stCxn id="61" idx="6"/>
                <a:endCxn id="18" idx="2"/>
              </p:cNvCxnSpPr>
              <p:nvPr/>
            </p:nvCxnSpPr>
            <p:spPr>
              <a:xfrm flipV="1">
                <a:off x="4563342" y="5375302"/>
                <a:ext cx="326550" cy="45720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</p:grpSp>
        <p:sp>
          <p:nvSpPr>
            <p:cNvPr id="9" name="Arrow: Right 8">
              <a:extLst>
                <a:ext uri="{FF2B5EF4-FFF2-40B4-BE49-F238E27FC236}">
                  <a16:creationId xmlns:a16="http://schemas.microsoft.com/office/drawing/2014/main" id="{AF98EC6D-855B-0FE0-C4A7-C06D726E816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442560" y="4430327"/>
              <a:ext cx="425911" cy="533400"/>
            </a:xfrm>
            <a:prstGeom prst="rightArrow">
              <a:avLst/>
            </a:prstGeom>
          </p:spPr>
          <p:style>
            <a:lnRef idx="3">
              <a:schemeClr val="lt1"/>
            </a:lnRef>
            <a:fillRef idx="1">
              <a:schemeClr val="accent6"/>
            </a:fillRef>
            <a:effectRef idx="1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D5B92B9B-D738-DDDF-6386-B86A4D93CD90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/>
                <p:nvPr/>
              </p:nvSpPr>
              <p:spPr>
                <a:xfrm>
                  <a:off x="1129787" y="4514865"/>
                  <a:ext cx="34971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94" name="TextBox 193">
                  <a:extLst>
                    <a:ext uri="{FF2B5EF4-FFF2-40B4-BE49-F238E27FC236}">
                      <a16:creationId xmlns:a16="http://schemas.microsoft.com/office/drawing/2014/main" id="{5FAAFD66-2140-E45A-471D-39F874312E32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29787" y="4514865"/>
                  <a:ext cx="349711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1" name="Arrow: Right 10">
              <a:extLst>
                <a:ext uri="{FF2B5EF4-FFF2-40B4-BE49-F238E27FC236}">
                  <a16:creationId xmlns:a16="http://schemas.microsoft.com/office/drawing/2014/main" id="{4F388507-8243-2023-9C95-1E027192755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810000" y="4491358"/>
              <a:ext cx="384215" cy="503703"/>
            </a:xfrm>
            <a:prstGeom prst="rightArrow">
              <a:avLst/>
            </a:prstGeom>
          </p:spPr>
          <p:style>
            <a:lnRef idx="3">
              <a:schemeClr val="lt1"/>
            </a:lnRef>
            <a:fillRef idx="1">
              <a:schemeClr val="accent6"/>
            </a:fillRef>
            <a:effectRef idx="1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D3E0B561-EBCC-0059-D5AC-D92389C66148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/>
                <p:nvPr/>
              </p:nvSpPr>
              <p:spPr>
                <a:xfrm>
                  <a:off x="4125676" y="4556563"/>
                  <a:ext cx="92474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𝑄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96" name="TextBox 195">
                  <a:extLst>
                    <a:ext uri="{FF2B5EF4-FFF2-40B4-BE49-F238E27FC236}">
                      <a16:creationId xmlns:a16="http://schemas.microsoft.com/office/drawing/2014/main" id="{D64E343A-1D3A-216C-1B9D-C48B77179E88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25676" y="4556563"/>
                  <a:ext cx="924740" cy="369332"/>
                </a:xfrm>
                <a:prstGeom prst="rect">
                  <a:avLst/>
                </a:prstGeom>
                <a:blipFill>
                  <a:blip r:embed="rId7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F255FDF8-7D33-04F7-B561-C50954518D66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/>
                <p:nvPr/>
              </p:nvSpPr>
              <p:spPr>
                <a:xfrm>
                  <a:off x="1994915" y="3714030"/>
                  <a:ext cx="36388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𝑆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97" name="TextBox 196">
                  <a:extLst>
                    <a:ext uri="{FF2B5EF4-FFF2-40B4-BE49-F238E27FC236}">
                      <a16:creationId xmlns:a16="http://schemas.microsoft.com/office/drawing/2014/main" id="{25BA0203-B417-18D9-5155-AC948C3DB147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94915" y="3714030"/>
                  <a:ext cx="363881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2157799B-2D3B-C607-6CF1-8B0D8B6AB88C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/>
                <p:nvPr/>
              </p:nvSpPr>
              <p:spPr>
                <a:xfrm>
                  <a:off x="3182394" y="3851318"/>
                  <a:ext cx="385683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𝐴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98" name="TextBox 197">
                  <a:extLst>
                    <a:ext uri="{FF2B5EF4-FFF2-40B4-BE49-F238E27FC236}">
                      <a16:creationId xmlns:a16="http://schemas.microsoft.com/office/drawing/2014/main" id="{5F8BBD95-CC36-0F7B-4420-D48D811414FE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82394" y="3851318"/>
                  <a:ext cx="385683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5" name="Right Brace 14">
              <a:extLst>
                <a:ext uri="{FF2B5EF4-FFF2-40B4-BE49-F238E27FC236}">
                  <a16:creationId xmlns:a16="http://schemas.microsoft.com/office/drawing/2014/main" id="{2CB9A9E0-78D5-B59D-111A-5D705578C96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515217" y="4209556"/>
              <a:ext cx="113460" cy="1038077"/>
            </a:xfrm>
            <a:prstGeom prst="rightBrace">
              <a:avLst/>
            </a:prstGeom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49810790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E182CA9-B2B3-3610-B1BD-640968AE75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On-Policy Control with Approximation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99EDDEC-CF29-5DBC-259F-0192484A92B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757150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89C127B-86A4-4CC5-9EE1-A0FDA5771B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Control Problem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DF5B41B1-2FAA-67FF-A039-06F08FE693F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77500" lnSpcReduction="20000"/>
              </a:bodyPr>
              <a:lstStyle/>
              <a:p>
                <a:r>
                  <a:rPr lang="en-US" dirty="0"/>
                  <a:t>Estimate a parametric approximation for value-action function.</a:t>
                </a:r>
                <a:br>
                  <a:rPr lang="en-US" dirty="0"/>
                </a:br>
                <a:br>
                  <a:rPr lang="en-US" dirty="0"/>
                </a:b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</m:acc>
                    <m:d>
                      <m:d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</m:d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≈</m:t>
                    </m:r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endParaRPr lang="en-US" dirty="0"/>
              </a:p>
              <a:p>
                <a:r>
                  <a:rPr lang="en-US" b="1" dirty="0"/>
                  <a:t>Training data</a:t>
                </a:r>
                <a:r>
                  <a:rPr lang="en-US" dirty="0"/>
                  <a:t>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                            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↦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endParaRPr lang="en-US" dirty="0"/>
              </a:p>
              <a:p>
                <a:r>
                  <a:rPr lang="en-US" b="1" dirty="0"/>
                  <a:t>Update</a:t>
                </a:r>
                <a:r>
                  <a:rPr lang="en-US" dirty="0"/>
                  <a:t>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               </m:t>
                        </m:r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𝛼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𝑈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acc>
                          <m:accPr>
                            <m:chr m:val="̂"/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𝑞</m:t>
                            </m:r>
                          </m:e>
                        </m:acc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𝑆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𝐴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 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𝒘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e>
                        </m:d>
                      </m:e>
                    </m:d>
                  </m:oMath>
                </a14:m>
                <a:r>
                  <a:rPr lang="en-US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∇</m:t>
                    </m:r>
                  </m:oMath>
                </a14:m>
                <a:r>
                  <a:rPr lang="en-US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𝑞</m:t>
                        </m:r>
                      </m:e>
                    </m:acc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𝒘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</m:oMath>
                </a14:m>
                <a:endParaRPr lang="en-US" dirty="0"/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 can be any approximation:</a:t>
                </a:r>
              </a:p>
              <a:p>
                <a:pPr lvl="2"/>
                <a:r>
                  <a:rPr lang="en-US" dirty="0"/>
                  <a:t>MC: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endParaRPr lang="en-US" b="0" i="1" dirty="0"/>
              </a:p>
              <a:p>
                <a:pPr lvl="2"/>
                <a:r>
                  <a:rPr lang="en-US" dirty="0"/>
                  <a:t>1-step TD: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𝛾</m:t>
                    </m:r>
                    <m:acc>
                      <m:accPr>
                        <m:chr m:val="̂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endParaRPr lang="en-US" dirty="0"/>
              </a:p>
              <a:p>
                <a:r>
                  <a:rPr lang="en-US" b="1" dirty="0"/>
                  <a:t>Policy improvement</a:t>
                </a:r>
                <a:r>
                  <a:rPr lang="en-US" dirty="0"/>
                  <a:t>: update policy with greedy action </a:t>
                </a:r>
                <a:br>
                  <a:rPr lang="en-US" b="0" i="1" dirty="0">
                    <a:latin typeface="Cambria Math" panose="02040503050406030204" pitchFamily="18" charset="0"/>
                  </a:rPr>
                </a:br>
                <a:br>
                  <a:rPr lang="en-US" b="0" i="1" dirty="0">
                    <a:latin typeface="Cambria Math" panose="02040503050406030204" pitchFamily="18" charset="0"/>
                  </a:rPr>
                </a:br>
                <a14:m>
                  <m:oMath xmlns:m="http://schemas.openxmlformats.org/officeDocument/2006/math"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argmax</m:t>
                            </m:r>
                          </m:e>
                          <m:li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lim>
                        </m:limLow>
                      </m:fName>
                      <m:e>
                        <m:acc>
                          <m:accPr>
                            <m:chr m:val="̂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</m:acc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 dirty="0" smtClean="0">
                                <a:latin typeface="Cambria Math" panose="02040503050406030204" pitchFamily="18" charset="0"/>
                              </a:rPr>
                              <m:t>𝒘</m:t>
                            </m:r>
                          </m:e>
                          <m:sub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</m:oMath>
                </a14:m>
                <a:endParaRPr lang="en-US" dirty="0"/>
              </a:p>
              <a:p>
                <a:r>
                  <a:rPr lang="en-US" dirty="0"/>
                  <a:t>For on-policy control, use a soft approximation to the greedy policy (e.g.,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-greedy).</a:t>
                </a:r>
              </a:p>
            </p:txBody>
          </p:sp>
        </mc:Choice>
        <mc:Fallback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DF5B41B1-2FAA-67FF-A039-06F08FE693F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96" t="-25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689516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37BBAE3-1454-E6F7-DE64-4F54666FFD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Episodic Semi-gradient Sarsa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3193575F-E8F9-5F2D-1974-DE55A1327E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279" y="1065548"/>
            <a:ext cx="7943487" cy="380860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DA48653-5D6C-7EF0-B7C4-A8F581FE1A5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041" t="1717"/>
          <a:stretch>
            <a:fillRect/>
          </a:stretch>
        </p:blipFill>
        <p:spPr>
          <a:xfrm>
            <a:off x="3447875" y="2093257"/>
            <a:ext cx="8651846" cy="4638907"/>
          </a:xfrm>
          <a:prstGeom prst="rect">
            <a:avLst/>
          </a:prstGeom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19ABAE24-325C-3516-E8B7-56FE6C1F323D}"/>
              </a:ext>
            </a:extLst>
          </p:cNvPr>
          <p:cNvCxnSpPr/>
          <p:nvPr/>
        </p:nvCxnSpPr>
        <p:spPr>
          <a:xfrm>
            <a:off x="2565243" y="4189682"/>
            <a:ext cx="679508" cy="0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9246A066-BD10-513C-EF26-FA8D503A0BAB}"/>
              </a:ext>
            </a:extLst>
          </p:cNvPr>
          <p:cNvCxnSpPr>
            <a:cxnSpLocks/>
          </p:cNvCxnSpPr>
          <p:nvPr/>
        </p:nvCxnSpPr>
        <p:spPr>
          <a:xfrm>
            <a:off x="6088505" y="5943531"/>
            <a:ext cx="1136754" cy="0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9" name="Arrow: Right 8">
            <a:extLst>
              <a:ext uri="{FF2B5EF4-FFF2-40B4-BE49-F238E27FC236}">
                <a16:creationId xmlns:a16="http://schemas.microsoft.com/office/drawing/2014/main" id="{56C5154D-4D1E-F9B2-DAE2-2A9F1475F6A5}"/>
              </a:ext>
            </a:extLst>
          </p:cNvPr>
          <p:cNvSpPr/>
          <p:nvPr/>
        </p:nvSpPr>
        <p:spPr>
          <a:xfrm>
            <a:off x="2975548" y="3260361"/>
            <a:ext cx="614596" cy="56962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116046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43EA18-53CF-7A68-0335-2A665302D9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Considerations for Continuing Tasks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C30AAAA-FA41-809A-C5AC-E6A61E335C3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70000" lnSpcReduction="20000"/>
              </a:bodyPr>
              <a:lstStyle/>
              <a:p>
                <a:pPr marL="0" indent="0">
                  <a:buNone/>
                </a:pPr>
                <a:r>
                  <a:rPr lang="en-US" b="1" dirty="0"/>
                  <a:t>Discounting vs. Average Reward</a:t>
                </a:r>
              </a:p>
              <a:p>
                <a:r>
                  <a:rPr lang="en-US" dirty="0"/>
                  <a:t>Discounted rewards (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lang="en-US" dirty="0"/>
                  <a:t>-returns) are used for tabular methods because returns for each state are separately identified and averaged. </a:t>
                </a:r>
                <a:br>
                  <a:rPr lang="en-US" dirty="0"/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𝛾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+2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+3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+…</m:t>
                    </m:r>
                  </m:oMath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With approximation, returns are shared (generalized) between states and it is often better to focus on the long-run </a:t>
                </a:r>
                <a:r>
                  <a:rPr lang="en-US" b="1" dirty="0"/>
                  <a:t>average reward </a:t>
                </a:r>
                <a:r>
                  <a:rPr lang="en-US" dirty="0"/>
                  <a:t>per time step.</a:t>
                </a:r>
                <a:br>
                  <a:rPr lang="en-US" dirty="0"/>
                </a:br>
                <a:br>
                  <a:rPr lang="en-US" dirty="0"/>
                </a:b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𝑟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lim</m:t>
                            </m:r>
                          </m:e>
                          <m:li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→∞</m:t>
                            </m:r>
                          </m:lim>
                        </m:limLow>
                      </m:fName>
                      <m:e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den>
                        </m:f>
                        <m:nary>
                          <m:naryPr>
                            <m:chr m:val="∑"/>
                            <m:limLoc m:val="subSup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5"/>
                              </m:rP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=1</m:t>
                            </m:r>
                          </m:sub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p>
                          <m: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e>
                        </m:nary>
                      </m:e>
                    </m:func>
                  </m:oMath>
                </a14:m>
                <a:endParaRPr lang="en-US" dirty="0"/>
              </a:p>
              <a:p>
                <a:endParaRPr lang="en-US" dirty="0"/>
              </a:p>
              <a:p>
                <a:pPr marL="0" indent="0">
                  <a:buNone/>
                </a:pPr>
                <a:r>
                  <a:rPr lang="en-US" b="1" dirty="0"/>
                  <a:t>Differential Returns</a:t>
                </a:r>
              </a:p>
              <a:p>
                <a:r>
                  <a:rPr lang="en-US" dirty="0"/>
                  <a:t>It is often helpful to use differences between the reward and the average returns known as differential returns indicating how much better (or worse) each reward is than average:</a:t>
                </a:r>
                <a:br>
                  <a:rPr lang="en-US" dirty="0"/>
                </a:br>
                <a:br>
                  <a:rPr lang="en-US" dirty="0"/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en-US" b="0" i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G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b="0" i="0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=0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</m:e>
                    </m:nary>
                    <m:r>
                      <a:rPr lang="en-US" i="1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C30AAAA-FA41-809A-C5AC-E6A61E335C3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38" t="-2168" r="-290" b="-284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777194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79BB35BC-D5C2-4C8B-A22A-A71E619191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B52DFC2-AEEE-62B9-A8E6-BC79CBBA3E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33934" y="365125"/>
            <a:ext cx="5919864" cy="1807305"/>
          </a:xfrm>
        </p:spPr>
        <p:txBody>
          <a:bodyPr>
            <a:normAutofit/>
          </a:bodyPr>
          <a:lstStyle/>
          <a:p>
            <a:r>
              <a:rPr lang="en-US" sz="4000" dirty="0"/>
              <a:t>What You should Know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06430D7-ABA0-57D9-90CF-7908FE47A1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158" r="23307" b="-1"/>
          <a:stretch>
            <a:fillRect/>
          </a:stretch>
        </p:blipFill>
        <p:spPr bwMode="auto">
          <a:xfrm>
            <a:off x="20" y="10"/>
            <a:ext cx="6116549" cy="6857990"/>
          </a:xfrm>
          <a:custGeom>
            <a:avLst/>
            <a:gdLst/>
            <a:ahLst/>
            <a:cxnLst/>
            <a:rect l="l" t="t" r="r" b="b"/>
            <a:pathLst>
              <a:path w="6116569" h="6879321">
                <a:moveTo>
                  <a:pt x="0" y="0"/>
                </a:moveTo>
                <a:lnTo>
                  <a:pt x="2935851" y="0"/>
                </a:lnTo>
                <a:cubicBezTo>
                  <a:pt x="3035710" y="10660"/>
                  <a:pt x="3138421" y="17767"/>
                  <a:pt x="3238280" y="31980"/>
                </a:cubicBezTo>
                <a:cubicBezTo>
                  <a:pt x="3817462" y="106602"/>
                  <a:pt x="3127009" y="277163"/>
                  <a:pt x="3660541" y="550772"/>
                </a:cubicBezTo>
                <a:cubicBezTo>
                  <a:pt x="3706191" y="575645"/>
                  <a:pt x="3757546" y="579199"/>
                  <a:pt x="3808902" y="589860"/>
                </a:cubicBezTo>
                <a:cubicBezTo>
                  <a:pt x="4008620" y="625393"/>
                  <a:pt x="4211192" y="618286"/>
                  <a:pt x="4413762" y="625393"/>
                </a:cubicBezTo>
                <a:cubicBezTo>
                  <a:pt x="4465118" y="628946"/>
                  <a:pt x="4525033" y="625393"/>
                  <a:pt x="4567830" y="721333"/>
                </a:cubicBezTo>
                <a:cubicBezTo>
                  <a:pt x="4425175" y="724888"/>
                  <a:pt x="4305344" y="731994"/>
                  <a:pt x="4171247" y="792401"/>
                </a:cubicBezTo>
                <a:cubicBezTo>
                  <a:pt x="4239722" y="859916"/>
                  <a:pt x="4322462" y="795955"/>
                  <a:pt x="4376671" y="842148"/>
                </a:cubicBezTo>
                <a:cubicBezTo>
                  <a:pt x="4428027" y="888342"/>
                  <a:pt x="4470824" y="891896"/>
                  <a:pt x="4527887" y="813722"/>
                </a:cubicBezTo>
                <a:cubicBezTo>
                  <a:pt x="4556417" y="774634"/>
                  <a:pt x="4604920" y="778187"/>
                  <a:pt x="4633452" y="799508"/>
                </a:cubicBezTo>
                <a:cubicBezTo>
                  <a:pt x="4781813" y="913216"/>
                  <a:pt x="4778960" y="909662"/>
                  <a:pt x="4947293" y="870576"/>
                </a:cubicBezTo>
                <a:cubicBezTo>
                  <a:pt x="5055712" y="845701"/>
                  <a:pt x="5166983" y="806615"/>
                  <a:pt x="5263988" y="820828"/>
                </a:cubicBezTo>
                <a:cubicBezTo>
                  <a:pt x="5275401" y="867022"/>
                  <a:pt x="5263988" y="888342"/>
                  <a:pt x="5249723" y="895449"/>
                </a:cubicBezTo>
                <a:cubicBezTo>
                  <a:pt x="5021475" y="1005604"/>
                  <a:pt x="4975825" y="1122864"/>
                  <a:pt x="4744723" y="1197485"/>
                </a:cubicBezTo>
                <a:cubicBezTo>
                  <a:pt x="4724751" y="1268552"/>
                  <a:pt x="4807491" y="1275660"/>
                  <a:pt x="4767548" y="1346727"/>
                </a:cubicBezTo>
                <a:cubicBezTo>
                  <a:pt x="4693367" y="1407134"/>
                  <a:pt x="4610627" y="1346727"/>
                  <a:pt x="4539299" y="1421348"/>
                </a:cubicBezTo>
                <a:cubicBezTo>
                  <a:pt x="4550712" y="1471094"/>
                  <a:pt x="4610627" y="1432008"/>
                  <a:pt x="4607773" y="1485309"/>
                </a:cubicBezTo>
                <a:cubicBezTo>
                  <a:pt x="4604920" y="1517288"/>
                  <a:pt x="4593508" y="1527948"/>
                  <a:pt x="4579242" y="1535055"/>
                </a:cubicBezTo>
                <a:cubicBezTo>
                  <a:pt x="4776107" y="1538608"/>
                  <a:pt x="5383820" y="1574142"/>
                  <a:pt x="5278255" y="1609676"/>
                </a:cubicBezTo>
                <a:cubicBezTo>
                  <a:pt x="5418057" y="1698511"/>
                  <a:pt x="5623481" y="1609676"/>
                  <a:pt x="5771843" y="1630997"/>
                </a:cubicBezTo>
                <a:cubicBezTo>
                  <a:pt x="5925911" y="1652316"/>
                  <a:pt x="6171278" y="1719830"/>
                  <a:pt x="6105656" y="1748257"/>
                </a:cubicBezTo>
                <a:cubicBezTo>
                  <a:pt x="6031475" y="1780238"/>
                  <a:pt x="5766136" y="2146235"/>
                  <a:pt x="5691955" y="2167555"/>
                </a:cubicBezTo>
                <a:cubicBezTo>
                  <a:pt x="5606362" y="2188875"/>
                  <a:pt x="5589243" y="2217302"/>
                  <a:pt x="5475118" y="2348776"/>
                </a:cubicBezTo>
                <a:cubicBezTo>
                  <a:pt x="5398085" y="2437610"/>
                  <a:pt x="5709074" y="2238623"/>
                  <a:pt x="5826051" y="2291922"/>
                </a:cubicBezTo>
                <a:cubicBezTo>
                  <a:pt x="5868848" y="2309690"/>
                  <a:pt x="5552153" y="2554872"/>
                  <a:pt x="5552153" y="2597513"/>
                </a:cubicBezTo>
                <a:cubicBezTo>
                  <a:pt x="5549300" y="2640153"/>
                  <a:pt x="5577831" y="2647260"/>
                  <a:pt x="5603508" y="2647260"/>
                </a:cubicBezTo>
                <a:cubicBezTo>
                  <a:pt x="5660571" y="2647260"/>
                  <a:pt x="5640599" y="2686346"/>
                  <a:pt x="5700515" y="2679240"/>
                </a:cubicBezTo>
                <a:cubicBezTo>
                  <a:pt x="5523622" y="2800055"/>
                  <a:pt x="5418057" y="2778734"/>
                  <a:pt x="5246870" y="2888889"/>
                </a:cubicBezTo>
                <a:cubicBezTo>
                  <a:pt x="5164130" y="2942189"/>
                  <a:pt x="4921615" y="3119857"/>
                  <a:pt x="4836022" y="3169605"/>
                </a:cubicBezTo>
                <a:cubicBezTo>
                  <a:pt x="4801785" y="3187371"/>
                  <a:pt x="4758988" y="3173158"/>
                  <a:pt x="4736163" y="3233565"/>
                </a:cubicBezTo>
                <a:cubicBezTo>
                  <a:pt x="4770400" y="3279759"/>
                  <a:pt x="4816050" y="3254885"/>
                  <a:pt x="4853141" y="3233565"/>
                </a:cubicBezTo>
                <a:cubicBezTo>
                  <a:pt x="4944440" y="3176711"/>
                  <a:pt x="4935881" y="3190925"/>
                  <a:pt x="4944440" y="3226459"/>
                </a:cubicBezTo>
                <a:cubicBezTo>
                  <a:pt x="4972972" y="3350827"/>
                  <a:pt x="5044300" y="3308186"/>
                  <a:pt x="5109921" y="3283313"/>
                </a:cubicBezTo>
                <a:cubicBezTo>
                  <a:pt x="5303932" y="3208692"/>
                  <a:pt x="5500797" y="3215799"/>
                  <a:pt x="5694809" y="3141178"/>
                </a:cubicBezTo>
                <a:cubicBezTo>
                  <a:pt x="5714781" y="3134070"/>
                  <a:pt x="5612068" y="3283313"/>
                  <a:pt x="5566419" y="3301079"/>
                </a:cubicBezTo>
                <a:cubicBezTo>
                  <a:pt x="5515063" y="3322399"/>
                  <a:pt x="5452294" y="3311739"/>
                  <a:pt x="5415203" y="3397020"/>
                </a:cubicBezTo>
                <a:cubicBezTo>
                  <a:pt x="5477972" y="3414787"/>
                  <a:pt x="5552153" y="3372147"/>
                  <a:pt x="5612068" y="3432554"/>
                </a:cubicBezTo>
                <a:cubicBezTo>
                  <a:pt x="5469413" y="3528494"/>
                  <a:pt x="5329610" y="3535601"/>
                  <a:pt x="5206927" y="3599562"/>
                </a:cubicBezTo>
                <a:cubicBezTo>
                  <a:pt x="5192661" y="3706163"/>
                  <a:pt x="5272548" y="3663523"/>
                  <a:pt x="5301079" y="3723930"/>
                </a:cubicBezTo>
                <a:cubicBezTo>
                  <a:pt x="5072830" y="3844745"/>
                  <a:pt x="4564977" y="4232062"/>
                  <a:pt x="4507915" y="4306683"/>
                </a:cubicBezTo>
                <a:cubicBezTo>
                  <a:pt x="4390937" y="4463031"/>
                  <a:pt x="3900202" y="4562525"/>
                  <a:pt x="3982942" y="4587399"/>
                </a:cubicBezTo>
                <a:cubicBezTo>
                  <a:pt x="4051417" y="4608719"/>
                  <a:pt x="4119891" y="4587399"/>
                  <a:pt x="4185513" y="4541205"/>
                </a:cubicBezTo>
                <a:cubicBezTo>
                  <a:pt x="4291078" y="4466584"/>
                  <a:pt x="5010062" y="4523438"/>
                  <a:pt x="5212633" y="4455924"/>
                </a:cubicBezTo>
                <a:cubicBezTo>
                  <a:pt x="5241164" y="4445264"/>
                  <a:pt x="5283960" y="4409730"/>
                  <a:pt x="5312492" y="4473691"/>
                </a:cubicBezTo>
                <a:cubicBezTo>
                  <a:pt x="5098508" y="4704659"/>
                  <a:pt x="4833169" y="4654913"/>
                  <a:pt x="4596361" y="4818368"/>
                </a:cubicBezTo>
                <a:cubicBezTo>
                  <a:pt x="4684807" y="4917861"/>
                  <a:pt x="4776107" y="4907202"/>
                  <a:pt x="4873113" y="4885882"/>
                </a:cubicBezTo>
                <a:cubicBezTo>
                  <a:pt x="4895938" y="4878775"/>
                  <a:pt x="4930175" y="4871668"/>
                  <a:pt x="4935881" y="4914309"/>
                </a:cubicBezTo>
                <a:cubicBezTo>
                  <a:pt x="4941587" y="4967609"/>
                  <a:pt x="4898790" y="4978270"/>
                  <a:pt x="4873113" y="5003143"/>
                </a:cubicBezTo>
                <a:cubicBezTo>
                  <a:pt x="4833169" y="5038676"/>
                  <a:pt x="4773254" y="4999590"/>
                  <a:pt x="4721898" y="5095530"/>
                </a:cubicBezTo>
                <a:cubicBezTo>
                  <a:pt x="4873113" y="5067104"/>
                  <a:pt x="4998650" y="5020910"/>
                  <a:pt x="5132745" y="4949842"/>
                </a:cubicBezTo>
                <a:cubicBezTo>
                  <a:pt x="5121333" y="5006696"/>
                  <a:pt x="5081390" y="5035123"/>
                  <a:pt x="5101362" y="5081317"/>
                </a:cubicBezTo>
                <a:cubicBezTo>
                  <a:pt x="5118480" y="5116850"/>
                  <a:pt x="5164130" y="5131063"/>
                  <a:pt x="5138452" y="5198578"/>
                </a:cubicBezTo>
                <a:cubicBezTo>
                  <a:pt x="5067125" y="5273199"/>
                  <a:pt x="4967265" y="5258986"/>
                  <a:pt x="4904497" y="5362033"/>
                </a:cubicBezTo>
                <a:cubicBezTo>
                  <a:pt x="4818903" y="5507721"/>
                  <a:pt x="4684807" y="5564575"/>
                  <a:pt x="4579242" y="5674729"/>
                </a:cubicBezTo>
                <a:cubicBezTo>
                  <a:pt x="4545005" y="5713816"/>
                  <a:pt x="4313903" y="5841738"/>
                  <a:pt x="4253988" y="5884379"/>
                </a:cubicBezTo>
                <a:cubicBezTo>
                  <a:pt x="4168395" y="5944786"/>
                  <a:pt x="4071389" y="5966106"/>
                  <a:pt x="3985795" y="6069153"/>
                </a:cubicBezTo>
                <a:cubicBezTo>
                  <a:pt x="4065682" y="6086921"/>
                  <a:pt x="4134157" y="5990979"/>
                  <a:pt x="4231163" y="6030066"/>
                </a:cubicBezTo>
                <a:cubicBezTo>
                  <a:pt x="4074242" y="6133114"/>
                  <a:pt x="3931586" y="6182861"/>
                  <a:pt x="3814609" y="6317889"/>
                </a:cubicBezTo>
                <a:cubicBezTo>
                  <a:pt x="3800343" y="6335656"/>
                  <a:pt x="3771812" y="6332102"/>
                  <a:pt x="3751840" y="6339209"/>
                </a:cubicBezTo>
                <a:cubicBezTo>
                  <a:pt x="3529298" y="6406723"/>
                  <a:pt x="3309608" y="6467130"/>
                  <a:pt x="3089919" y="6563071"/>
                </a:cubicBezTo>
                <a:cubicBezTo>
                  <a:pt x="3041416" y="6584392"/>
                  <a:pt x="2955823" y="6595052"/>
                  <a:pt x="2961529" y="6662566"/>
                </a:cubicBezTo>
                <a:cubicBezTo>
                  <a:pt x="2972941" y="6765613"/>
                  <a:pt x="3055681" y="6687439"/>
                  <a:pt x="3107038" y="6673226"/>
                </a:cubicBezTo>
                <a:cubicBezTo>
                  <a:pt x="3269664" y="6634138"/>
                  <a:pt x="3432292" y="6570178"/>
                  <a:pt x="3594919" y="6591499"/>
                </a:cubicBezTo>
                <a:cubicBezTo>
                  <a:pt x="3483648" y="6637693"/>
                  <a:pt x="3372376" y="6680332"/>
                  <a:pt x="3261106" y="6726527"/>
                </a:cubicBezTo>
                <a:cubicBezTo>
                  <a:pt x="3386642" y="6705206"/>
                  <a:pt x="3495061" y="6786934"/>
                  <a:pt x="3620597" y="6740740"/>
                </a:cubicBezTo>
                <a:cubicBezTo>
                  <a:pt x="3660541" y="6726527"/>
                  <a:pt x="3700484" y="6765613"/>
                  <a:pt x="3703337" y="6826020"/>
                </a:cubicBezTo>
                <a:cubicBezTo>
                  <a:pt x="3706191" y="6847340"/>
                  <a:pt x="3700484" y="6865108"/>
                  <a:pt x="3689072" y="6879321"/>
                </a:cubicBezTo>
                <a:lnTo>
                  <a:pt x="0" y="6879321"/>
                </a:ln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09A1CBE-008E-3619-0BBC-A7F9B6DA687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531370" y="1873770"/>
                <a:ext cx="5822428" cy="4303193"/>
              </a:xfrm>
            </p:spPr>
            <p:txBody>
              <a:bodyPr>
                <a:normAutofit fontScale="92500" lnSpcReduction="10000"/>
              </a:bodyPr>
              <a:lstStyle/>
              <a:p>
                <a:pPr algn="ctr"/>
                <a:r>
                  <a:rPr lang="en-US" sz="1700" dirty="0"/>
                  <a:t>Approximate the value function using parametrized functions: 	</a:t>
                </a:r>
                <a:br>
                  <a:rPr lang="en-US" sz="1700" dirty="0"/>
                </a:br>
                <a14:m>
                  <m:oMath xmlns:m="http://schemas.openxmlformats.org/officeDocument/2006/math">
                    <m:r>
                      <a:rPr lang="en-US" sz="1700" b="0" i="0" smtClean="0">
                        <a:latin typeface="Cambria Math" panose="02040503050406030204" pitchFamily="18" charset="0"/>
                      </a:rPr>
                      <m:t>             </m:t>
                    </m:r>
                  </m:oMath>
                </a14:m>
                <a:br>
                  <a:rPr lang="en-US" sz="1700" b="0" i="0" dirty="0">
                    <a:latin typeface="Cambria Math" panose="02040503050406030204" pitchFamily="18" charset="0"/>
                  </a:rPr>
                </a:b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sz="17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1700" b="0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acc>
                    <m:d>
                      <m:dPr>
                        <m:ctrlPr>
                          <a:rPr lang="en-US" sz="17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700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sz="17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700" b="1" i="1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</m:d>
                  </m:oMath>
                </a14:m>
                <a:r>
                  <a:rPr lang="en-US" sz="1700" dirty="0"/>
                  <a:t>  or  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sz="17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1700" i="1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</m:acc>
                    <m:d>
                      <m:dPr>
                        <m:ctrlPr>
                          <a:rPr lang="en-US" sz="17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700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sz="17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700" i="1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sz="17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700" b="1" i="1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</m:d>
                  </m:oMath>
                </a14:m>
                <a:endParaRPr lang="en-US" sz="1700" dirty="0"/>
              </a:p>
              <a:p>
                <a:endParaRPr lang="en-US" sz="1700" dirty="0"/>
              </a:p>
              <a:p>
                <a:r>
                  <a:rPr lang="en-US" sz="1700" dirty="0"/>
                  <a:t>We need to create </a:t>
                </a:r>
                <a:r>
                  <a:rPr lang="en-US" sz="1700" b="1" dirty="0"/>
                  <a:t>features</a:t>
                </a:r>
                <a:r>
                  <a:rPr lang="en-US" sz="1700" dirty="0"/>
                  <a:t> that take the interaction of state components into account. Popular are: </a:t>
                </a:r>
              </a:p>
              <a:p>
                <a:pPr lvl="1"/>
                <a:r>
                  <a:rPr lang="en-US" sz="1700" dirty="0"/>
                  <a:t>Fourier basis features </a:t>
                </a:r>
              </a:p>
              <a:p>
                <a:pPr lvl="1"/>
                <a:r>
                  <a:rPr lang="en-US" sz="1700" dirty="0"/>
                  <a:t>Tile coding</a:t>
                </a:r>
              </a:p>
              <a:p>
                <a:endParaRPr lang="en-US" sz="1700" dirty="0"/>
              </a:p>
              <a:p>
                <a:r>
                  <a:rPr lang="en-US" sz="1700" dirty="0"/>
                  <a:t>Use </a:t>
                </a:r>
                <a:r>
                  <a:rPr lang="en-US" sz="1700" b="1" dirty="0"/>
                  <a:t>SGD or semi-gradient descent </a:t>
                </a:r>
                <a:r>
                  <a:rPr lang="en-US" sz="1700" dirty="0"/>
                  <a:t>to learn </a:t>
                </a:r>
                <a14:m>
                  <m:oMath xmlns:m="http://schemas.openxmlformats.org/officeDocument/2006/math">
                    <m:r>
                      <a:rPr lang="en-US" sz="1700" b="1" i="1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sz="1700" dirty="0"/>
                  <a:t> from samples by minimizing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𝑉𝐸</m:t>
                        </m:r>
                      </m:e>
                    </m:acc>
                  </m:oMath>
                </a14:m>
                <a:r>
                  <a:rPr lang="en-US" sz="1700" dirty="0"/>
                  <a:t>. The samples already follow the on-policy distribution </a:t>
                </a:r>
                <a14:m>
                  <m:oMath xmlns:m="http://schemas.openxmlformats.org/officeDocument/2006/math">
                    <m:r>
                      <a:rPr lang="en-US" sz="1700" b="0" i="1" smtClean="0">
                        <a:latin typeface="Cambria Math" panose="02040503050406030204" pitchFamily="18" charset="0"/>
                      </a:rPr>
                      <m:t>𝜇</m:t>
                    </m:r>
                    <m:d>
                      <m:dPr>
                        <m:ctrlPr>
                          <a:rPr lang="en-US" sz="17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7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sz="1700" b="0" i="1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1700" dirty="0"/>
              </a:p>
              <a:p>
                <a:r>
                  <a:rPr lang="en-US" sz="1700" dirty="0"/>
                  <a:t>Issue: </a:t>
                </a:r>
                <a:r>
                  <a:rPr lang="en-US" sz="1700" b="1" dirty="0"/>
                  <a:t>Convergence</a:t>
                </a:r>
              </a:p>
              <a:p>
                <a:pPr lvl="1"/>
                <a:r>
                  <a:rPr lang="en-US" sz="1300" dirty="0"/>
                  <a:t>Biased target estimates?</a:t>
                </a:r>
              </a:p>
              <a:p>
                <a:pPr lvl="1"/>
                <a:r>
                  <a:rPr lang="en-US" sz="1300" dirty="0"/>
                  <a:t>Linear vs. non-linear approximation.</a:t>
                </a:r>
              </a:p>
              <a:p>
                <a:pPr lvl="1"/>
                <a:r>
                  <a:rPr lang="en-US" sz="1300" dirty="0"/>
                  <a:t>choice of </a:t>
                </a:r>
                <a14:m>
                  <m:oMath xmlns:m="http://schemas.openxmlformats.org/officeDocument/2006/math">
                    <m:r>
                      <a:rPr lang="en-US" sz="1300" b="0" i="1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sz="1300" b="0" i="1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1300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09A1CBE-008E-3619-0BBC-A7F9B6DA687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531370" y="1873770"/>
                <a:ext cx="5822428" cy="4303193"/>
              </a:xfrm>
              <a:blipFill>
                <a:blip r:embed="rId3"/>
                <a:stretch>
                  <a:fillRect l="-419" t="-1416" r="-12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310459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19534</TotalTime>
  <Words>3143</Words>
  <Application>Microsoft Office PowerPoint</Application>
  <PresentationFormat>Widescreen</PresentationFormat>
  <Paragraphs>333</Paragraphs>
  <Slides>33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9" baseType="lpstr">
      <vt:lpstr>Aptos</vt:lpstr>
      <vt:lpstr>Aptos Display</vt:lpstr>
      <vt:lpstr>Arial</vt:lpstr>
      <vt:lpstr>Calibri</vt:lpstr>
      <vt:lpstr>Cambria Math</vt:lpstr>
      <vt:lpstr>Office Theme</vt:lpstr>
      <vt:lpstr>Reinforcement Learning  Prediction and Control with Approximation Sutton/Barto* Chapter 9-11</vt:lpstr>
      <vt:lpstr>Topics of this Course</vt:lpstr>
      <vt:lpstr>Summary of Notation</vt:lpstr>
      <vt:lpstr>Approximate Solution Methods</vt:lpstr>
      <vt:lpstr>Motivation</vt:lpstr>
      <vt:lpstr>Prediction: Value Function Approximation</vt:lpstr>
      <vt:lpstr>Prediction Objective ((VE) ̅)</vt:lpstr>
      <vt:lpstr>Learning Goal</vt:lpstr>
      <vt:lpstr>Gradient Methods for Prediction</vt:lpstr>
      <vt:lpstr>Gradient Learning Method</vt:lpstr>
      <vt:lpstr>SGD: Stochastic-Gradient Descend</vt:lpstr>
      <vt:lpstr> Step Size for SGD</vt:lpstr>
      <vt:lpstr>Using a Target Estimate for SGD</vt:lpstr>
      <vt:lpstr>Gradient Monte Carlo Algorithm</vt:lpstr>
      <vt:lpstr>Bootstrapping and Semi-Gradient Methods</vt:lpstr>
      <vt:lpstr>Semi-gradient TD(0)</vt:lpstr>
      <vt:lpstr>Linear Approximation Methods</vt:lpstr>
      <vt:lpstr>Linear Methods</vt:lpstr>
      <vt:lpstr>Feature Vector</vt:lpstr>
      <vt:lpstr>Example: L-Maze with Linear Features</vt:lpstr>
      <vt:lpstr>Feature Construction</vt:lpstr>
      <vt:lpstr>Fourier Basis</vt:lpstr>
      <vt:lpstr>Multi-dimensional Fourier Basis</vt:lpstr>
      <vt:lpstr>Example: L-Maze with Order-2 Fourier Features</vt:lpstr>
      <vt:lpstr>Tile Coding</vt:lpstr>
      <vt:lpstr>Example: L-Maze with Tile Coding</vt:lpstr>
      <vt:lpstr>Non-Linear Function Approximation</vt:lpstr>
      <vt:lpstr>Approximation with ANNs</vt:lpstr>
      <vt:lpstr>On-Policy Control with Approximation</vt:lpstr>
      <vt:lpstr>Control Problem</vt:lpstr>
      <vt:lpstr>Episodic Semi-gradient Sarsa</vt:lpstr>
      <vt:lpstr>Considerations for Continuing Tasks</vt:lpstr>
      <vt:lpstr>What You should Know</vt:lpstr>
    </vt:vector>
  </TitlesOfParts>
  <Company>Southern Methodist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Hahsler, Michael</dc:creator>
  <cp:lastModifiedBy>Hahsler, Michael</cp:lastModifiedBy>
  <cp:revision>218</cp:revision>
  <dcterms:created xsi:type="dcterms:W3CDTF">2025-09-08T14:44:49Z</dcterms:created>
  <dcterms:modified xsi:type="dcterms:W3CDTF">2026-03-26T21:41:54Z</dcterms:modified>
</cp:coreProperties>
</file>