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13" r:id="rId3"/>
    <p:sldId id="479" r:id="rId4"/>
    <p:sldId id="393" r:id="rId5"/>
    <p:sldId id="394" r:id="rId6"/>
    <p:sldId id="420" r:id="rId7"/>
    <p:sldId id="395" r:id="rId8"/>
    <p:sldId id="491" r:id="rId9"/>
    <p:sldId id="396" r:id="rId10"/>
    <p:sldId id="486" r:id="rId11"/>
    <p:sldId id="398" r:id="rId12"/>
    <p:sldId id="397" r:id="rId13"/>
    <p:sldId id="399" r:id="rId14"/>
    <p:sldId id="400" r:id="rId15"/>
    <p:sldId id="401" r:id="rId16"/>
    <p:sldId id="405" r:id="rId17"/>
    <p:sldId id="403" r:id="rId18"/>
    <p:sldId id="402" r:id="rId19"/>
    <p:sldId id="404" r:id="rId20"/>
    <p:sldId id="489" r:id="rId21"/>
    <p:sldId id="406" r:id="rId22"/>
    <p:sldId id="407" r:id="rId23"/>
    <p:sldId id="409" r:id="rId24"/>
    <p:sldId id="487" r:id="rId25"/>
    <p:sldId id="480" r:id="rId26"/>
    <p:sldId id="481" r:id="rId27"/>
    <p:sldId id="413" r:id="rId28"/>
    <p:sldId id="417" r:id="rId29"/>
    <p:sldId id="418" r:id="rId30"/>
    <p:sldId id="412" r:id="rId31"/>
    <p:sldId id="482" r:id="rId32"/>
    <p:sldId id="485" r:id="rId33"/>
    <p:sldId id="410" r:id="rId34"/>
    <p:sldId id="411" r:id="rId35"/>
    <p:sldId id="414" r:id="rId36"/>
    <p:sldId id="421" r:id="rId37"/>
    <p:sldId id="484" r:id="rId38"/>
    <p:sldId id="415" r:id="rId39"/>
    <p:sldId id="488" r:id="rId40"/>
    <p:sldId id="490" r:id="rId41"/>
    <p:sldId id="492" r:id="rId42"/>
    <p:sldId id="483" r:id="rId43"/>
    <p:sldId id="422" r:id="rId44"/>
    <p:sldId id="424"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491"/>
            <p14:sldId id="396"/>
            <p14:sldId id="486"/>
          </p14:sldIdLst>
        </p14:section>
        <p14:section name="Prediction: Gradient Methods" id="{EAA0CE26-54AA-4F09-BD7A-ECFC52DE3ABA}">
          <p14:sldIdLst>
            <p14:sldId id="398"/>
            <p14:sldId id="397"/>
            <p14:sldId id="399"/>
            <p14:sldId id="400"/>
            <p14:sldId id="401"/>
            <p14:sldId id="405"/>
            <p14:sldId id="403"/>
            <p14:sldId id="402"/>
            <p14:sldId id="404"/>
            <p14:sldId id="489"/>
          </p14:sldIdLst>
        </p14:section>
        <p14:section name="Linear Function Approximation" id="{9B11E8D6-BFFA-4307-8A9C-339881B4B930}">
          <p14:sldIdLst>
            <p14:sldId id="406"/>
            <p14:sldId id="407"/>
            <p14:sldId id="409"/>
            <p14:sldId id="487"/>
            <p14:sldId id="480"/>
          </p14:sldIdLst>
        </p14:section>
        <p14:section name="Feature Construction" id="{9679DDC5-60E3-4D8D-8F53-D329753842FC}">
          <p14:sldIdLst>
            <p14:sldId id="481"/>
            <p14:sldId id="413"/>
            <p14:sldId id="417"/>
            <p14:sldId id="418"/>
            <p14:sldId id="412"/>
            <p14:sldId id="482"/>
            <p14:sldId id="485"/>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88"/>
          </p14:sldIdLst>
        </p14:section>
        <p14:section name="More Considerations" id="{06BAE7B2-545D-413D-A43D-E17AA5077CBB}">
          <p14:sldIdLst>
            <p14:sldId id="490"/>
            <p14:sldId id="492"/>
            <p14:sldId id="483"/>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585" autoAdjust="0"/>
    <p:restoredTop sz="94653"/>
  </p:normalViewPr>
  <p:slideViewPr>
    <p:cSldViewPr snapToGrid="0">
      <p:cViewPr varScale="1">
        <p:scale>
          <a:sx n="134" d="100"/>
          <a:sy n="134" d="100"/>
        </p:scale>
        <p:origin x="104" y="496"/>
      </p:cViewPr>
      <p:guideLst/>
    </p:cSldViewPr>
  </p:slideViewPr>
  <p:notesTextViewPr>
    <p:cViewPr>
      <p:scale>
        <a:sx n="3" d="2"/>
        <a:sy n="3" d="2"/>
      </p:scale>
      <p:origin x="0" y="0"/>
    </p:cViewPr>
  </p:notesTextViewPr>
  <p:sorterViewPr>
    <p:cViewPr>
      <p:scale>
        <a:sx n="100" d="100"/>
        <a:sy n="100" d="100"/>
      </p:scale>
      <p:origin x="0" y="-835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10/26/2026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dirty="0"/>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dirty="0"/>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26</a:t>
            </a:fld>
            <a:endParaRPr lang="en-US" dirty="0"/>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20.png"/></Relationships>
</file>

<file path=ppt/slides/_rels/slide10.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50.png"/><Relationship Id="rId4" Type="http://schemas.openxmlformats.org/officeDocument/2006/relationships/image" Target="../media/image140.png"/></Relationships>
</file>

<file path=ppt/slides/_rels/slide1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0.png"/><Relationship Id="rId7" Type="http://schemas.openxmlformats.org/officeDocument/2006/relationships/image" Target="../media/image20.png"/><Relationship Id="rId2" Type="http://schemas.openxmlformats.org/officeDocument/2006/relationships/image" Target="../media/image161.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0.png"/><Relationship Id="rId3" Type="http://schemas.openxmlformats.org/officeDocument/2006/relationships/image" Target="../media/image39.png"/><Relationship Id="rId7" Type="http://schemas.openxmlformats.org/officeDocument/2006/relationships/image" Target="../media/image260.png"/><Relationship Id="rId12" Type="http://schemas.openxmlformats.org/officeDocument/2006/relationships/image" Target="../media/image350.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0.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40.gif"/></Relationships>
</file>

<file path=ppt/slides/_rels/slide28.xml.rels><?xml version="1.0" encoding="UTF-8" standalone="yes"?>
<Relationships xmlns="http://schemas.openxmlformats.org/package/2006/relationships"><Relationship Id="rId7" Type="http://schemas.openxmlformats.org/officeDocument/2006/relationships/image" Target="../media/image390.png"/><Relationship Id="rId2" Type="http://schemas.openxmlformats.org/officeDocument/2006/relationships/image" Target="../media/image360.png"/><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41.png"/><Relationship Id="rId4" Type="http://schemas.openxmlformats.org/officeDocument/2006/relationships/image" Target="../media/image370.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20.png"/><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1.png"/></Relationships>
</file>

<file path=ppt/slides/_rels/slide39.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Function Approximation</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xmlns:a14="http://schemas.microsoft.com/office/drawing/2010/main">
        <mc:Choice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8419051" cy="3883539"/>
              </a:xfrm>
            </p:spPr>
            <p:txBody>
              <a:bodyPr>
                <a:normAutofit fontScale="625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State values are stored independently.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xmlns="">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8419051" cy="3883539"/>
              </a:xfrm>
              <a:blipFill>
                <a:blip r:embed="rId3"/>
                <a:stretch>
                  <a:fillRect l="-652" t="-235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210735"/>
            <a:ext cx="3968944" cy="1215233"/>
          </a:xfrm>
          <a:prstGeom prst="wedgeRoundRectCallout">
            <a:avLst>
              <a:gd name="adj1" fmla="val -67250"/>
              <a:gd name="adj2" fmla="val 1338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This implies that we cannot change individual state values, as we can in tabular methods! This may be a problem for </a:t>
            </a:r>
            <a:r>
              <a:rPr lang="en-US" sz="1600" b="1" dirty="0"/>
              <a:t>greedy policy improvement</a:t>
            </a:r>
            <a:r>
              <a:rPr lang="en-US" sz="1600" dirty="0"/>
              <a:t>! </a:t>
            </a:r>
          </a:p>
        </p:txBody>
      </p:sp>
      <p:sp>
        <p:nvSpPr>
          <p:cNvPr id="6" name="TextBox 5">
            <a:extLst>
              <a:ext uri="{FF2B5EF4-FFF2-40B4-BE49-F238E27FC236}">
                <a16:creationId xmlns:a16="http://schemas.microsoft.com/office/drawing/2014/main" id="{B86D6411-A9BF-4C0D-F704-64BCD93925A4}"/>
              </a:ext>
            </a:extLst>
          </p:cNvPr>
          <p:cNvSpPr txBox="1"/>
          <p:nvPr/>
        </p:nvSpPr>
        <p:spPr>
          <a:xfrm>
            <a:off x="9432049" y="878250"/>
            <a:ext cx="2381393"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288751">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288751">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288751">
                    <a:tc>
                      <a:txBody>
                        <a:bodyPr/>
                        <a:lstStyle/>
                        <a:p>
                          <a:r>
                            <a:rPr lang="en-US" sz="1400" dirty="0"/>
                            <a:t>(1,2)</a:t>
                          </a:r>
                        </a:p>
                      </a:txBody>
                      <a:tcPr/>
                    </a:tc>
                    <a:tc>
                      <a:txBody>
                        <a:bodyPr/>
                        <a:lstStyle/>
                        <a:p>
                          <a:r>
                            <a:rPr lang="en-US" sz="1400" dirty="0"/>
                            <a:t>?</a:t>
                          </a:r>
                        </a:p>
                      </a:txBody>
                      <a:tcPr/>
                    </a:tc>
                    <a:extLst>
                      <a:ext uri="{0D108BD9-81ED-4DB2-BD59-A6C34878D82A}">
                        <a16:rowId xmlns:a16="http://schemas.microsoft.com/office/drawing/2014/main" val="3725035416"/>
                      </a:ext>
                    </a:extLst>
                  </a:tr>
                  <a:tr h="288751">
                    <a:tc>
                      <a:txBody>
                        <a:bodyPr/>
                        <a:lstStyle/>
                        <a:p>
                          <a:r>
                            <a:rPr lang="en-US" sz="1400" dirty="0"/>
                            <a:t>(1,3)</a:t>
                          </a:r>
                        </a:p>
                      </a:txBody>
                      <a:tcPr/>
                    </a:tc>
                    <a:tc>
                      <a:txBody>
                        <a:bodyPr/>
                        <a:lstStyle/>
                        <a:p>
                          <a:r>
                            <a:rPr lang="en-US" sz="1400" dirty="0"/>
                            <a:t>0.8016</a:t>
                          </a:r>
                        </a:p>
                      </a:txBody>
                      <a:tcPr/>
                    </a:tc>
                    <a:extLst>
                      <a:ext uri="{0D108BD9-81ED-4DB2-BD59-A6C34878D82A}">
                        <a16:rowId xmlns:a16="http://schemas.microsoft.com/office/drawing/2014/main" val="1524338055"/>
                      </a:ext>
                    </a:extLst>
                  </a:tr>
                  <a:tr h="288751">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304800">
                    <a:tc>
                      <a:txBody>
                        <a:bodyPr/>
                        <a:lstStyle/>
                        <a:p>
                          <a:endParaRPr lang="en-US"/>
                        </a:p>
                      </a:txBody>
                      <a:tcPr>
                        <a:blipFill>
                          <a:blip r:embed="rId4"/>
                          <a:stretch>
                            <a:fillRect l="-1031" t="-2000" r="-267010" b="-422000"/>
                          </a:stretch>
                        </a:blipFill>
                      </a:tcPr>
                    </a:tc>
                    <a:tc>
                      <a:txBody>
                        <a:bodyPr/>
                        <a:lstStyle/>
                        <a:p>
                          <a:endParaRPr lang="en-US"/>
                        </a:p>
                      </a:txBody>
                      <a:tcPr>
                        <a:blipFill>
                          <a:blip r:embed="rId4"/>
                          <a:stretch>
                            <a:fillRect l="-38431" t="-2000" r="-1569" b="-422000"/>
                          </a:stretch>
                        </a:blipFill>
                      </a:tcPr>
                    </a:tc>
                    <a:extLst>
                      <a:ext uri="{0D108BD9-81ED-4DB2-BD59-A6C34878D82A}">
                        <a16:rowId xmlns:a16="http://schemas.microsoft.com/office/drawing/2014/main" val="2008869826"/>
                      </a:ext>
                    </a:extLst>
                  </a:tr>
                  <a:tr h="304800">
                    <a:tc>
                      <a:txBody>
                        <a:bodyPr/>
                        <a:lstStyle/>
                        <a:p>
                          <a:r>
                            <a:rPr lang="en-US" sz="1400"/>
                            <a:t>(1,1)</a:t>
                          </a:r>
                          <a:endParaRPr lang="en-US" sz="1400" dirty="0"/>
                        </a:p>
                      </a:txBody>
                      <a:tcPr/>
                    </a:tc>
                    <a:tc>
                      <a:txBody>
                        <a:bodyPr/>
                        <a:lstStyle/>
                        <a:p>
                          <a:r>
                            <a:rPr lang="en-US" sz="1400"/>
                            <a:t>0.7453</a:t>
                          </a:r>
                          <a:endParaRPr lang="en-US" sz="1400" dirty="0"/>
                        </a:p>
                      </a:txBody>
                      <a:tcPr/>
                    </a:tc>
                    <a:extLst>
                      <a:ext uri="{0D108BD9-81ED-4DB2-BD59-A6C34878D82A}">
                        <a16:rowId xmlns:a16="http://schemas.microsoft.com/office/drawing/2014/main" val="524805492"/>
                      </a:ext>
                    </a:extLst>
                  </a:tr>
                  <a:tr h="304800">
                    <a:tc>
                      <a:txBody>
                        <a:bodyPr/>
                        <a:lstStyle/>
                        <a:p>
                          <a:r>
                            <a:rPr lang="en-US" sz="1400"/>
                            <a:t>(1,2)</a:t>
                          </a:r>
                          <a:endParaRPr lang="en-US" sz="1400" dirty="0"/>
                        </a:p>
                      </a:txBody>
                      <a:tcPr/>
                    </a:tc>
                    <a:tc>
                      <a:txBody>
                        <a:bodyPr/>
                        <a:lstStyle/>
                        <a:p>
                          <a:r>
                            <a:rPr lang="en-US" sz="1400"/>
                            <a:t>?</a:t>
                          </a:r>
                          <a:endParaRPr lang="en-US" sz="1400" dirty="0"/>
                        </a:p>
                      </a:txBody>
                      <a:tcPr/>
                    </a:tc>
                    <a:extLst>
                      <a:ext uri="{0D108BD9-81ED-4DB2-BD59-A6C34878D82A}">
                        <a16:rowId xmlns:a16="http://schemas.microsoft.com/office/drawing/2014/main" val="3725035416"/>
                      </a:ext>
                    </a:extLst>
                  </a:tr>
                  <a:tr h="304800">
                    <a:tc>
                      <a:txBody>
                        <a:bodyPr/>
                        <a:lstStyle/>
                        <a:p>
                          <a:r>
                            <a:rPr lang="en-US" sz="1400"/>
                            <a:t>(1,3)</a:t>
                          </a:r>
                          <a:endParaRPr lang="en-US" sz="1400" dirty="0"/>
                        </a:p>
                      </a:txBody>
                      <a:tcPr/>
                    </a:tc>
                    <a:tc>
                      <a:txBody>
                        <a:bodyPr/>
                        <a:lstStyle/>
                        <a:p>
                          <a:r>
                            <a:rPr lang="en-US" sz="1400" dirty="0"/>
                            <a:t>0.8016</a:t>
                          </a:r>
                        </a:p>
                      </a:txBody>
                      <a:tcPr/>
                    </a:tc>
                    <a:extLst>
                      <a:ext uri="{0D108BD9-81ED-4DB2-BD59-A6C34878D82A}">
                        <a16:rowId xmlns:a16="http://schemas.microsoft.com/office/drawing/2014/main" val="1524338055"/>
                      </a:ext>
                    </a:extLst>
                  </a:tr>
                  <a:tr h="30480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a:xfrm>
            <a:off x="838200" y="1326023"/>
            <a:ext cx="7928295" cy="4779633"/>
          </a:xfrm>
        </p:spPr>
        <p:txBody>
          <a:bodyPr>
            <a:normAutofit fontScale="92500" lnSpcReduction="10000"/>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fixed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gathering limited data (episodes)?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to a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to learn </a:t>
                </a:r>
                <a14:m>
                  <m:oMath xmlns:m="http://schemas.openxmlformats.org/officeDocument/2006/math">
                    <m:r>
                      <a:rPr lang="en-US" b="1" i="1" smtClean="0">
                        <a:latin typeface="Cambria Math" panose="02040503050406030204" pitchFamily="18" charset="0"/>
                      </a:rPr>
                      <m:t>𝒘</m:t>
                    </m:r>
                  </m:oMath>
                </a14:m>
                <a:r>
                  <a:rPr lang="en-US" dirty="0"/>
                  <a:t> for a given policy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endParaRPr lang="en-US" dirty="0"/>
              </a:p>
              <a:p>
                <a:pPr marL="0" indent="0">
                  <a:buNone/>
                </a:pPr>
                <a:endParaRPr lang="en-US" dirty="0"/>
              </a:p>
              <a:p>
                <a:pPr marL="0" indent="0">
                  <a:buNone/>
                </a:pPr>
                <a:r>
                  <a:rPr lang="en-US" dirty="0"/>
                  <a:t>We need:</a:t>
                </a:r>
              </a:p>
              <a:p>
                <a:pPr lvl="1"/>
                <a:r>
                  <a:rPr lang="en-US" dirty="0"/>
                  <a:t>Training data </a:t>
                </a:r>
              </a:p>
              <a:p>
                <a:pPr lvl="1"/>
                <a:r>
                  <a:rPr lang="en-US" dirty="0"/>
                  <a:t>An objective/loss function</a:t>
                </a:r>
              </a:p>
              <a:p>
                <a:pPr lvl="1"/>
                <a:r>
                  <a:rPr lang="en-US" dirty="0"/>
                  <a:t>An optimizer</a:t>
                </a:r>
              </a:p>
              <a:p>
                <a:pPr lvl="1"/>
                <a:r>
                  <a:rPr lang="en-US" dirty="0"/>
                  <a:t>A value function approximator</a:t>
                </a:r>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2FE39-5AB9-4474-0587-8E2A39B61C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1BA641-3127-4549-0550-EFE1B7E63F7C}"/>
              </a:ext>
            </a:extLst>
          </p:cNvPr>
          <p:cNvSpPr>
            <a:spLocks noGrp="1"/>
          </p:cNvSpPr>
          <p:nvPr>
            <p:ph type="title"/>
          </p:nvPr>
        </p:nvSpPr>
        <p:spPr/>
        <p:txBody>
          <a:bodyPr>
            <a:normAutofit/>
          </a:bodyPr>
          <a:lstStyle/>
          <a:p>
            <a:r>
              <a:rPr lang="en-US" dirty="0"/>
              <a:t>Training Data</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0D7458E8-FD3A-0976-FBF1-9AD0C5C122B6}"/>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represents a noisy sample of the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2D32B1D3-DADE-F5FF-FD8B-FC261D93AB39}"/>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323670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endParaRPr lang="en-US" dirty="0"/>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70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r>
                      <a:rPr lang="en-US" b="0" i="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a:t>
                </a:r>
                <a:br>
                  <a:rPr lang="en-US" dirty="0"/>
                </a:br>
                <a:r>
                  <a:rPr lang="en-US" dirty="0"/>
                  <a:t>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522" t="-3267" b="-13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615214" y="4809849"/>
            <a:ext cx="2400886" cy="1176997"/>
          </a:xfrm>
          <a:prstGeom prst="wedgeRoundRectCallout">
            <a:avLst>
              <a:gd name="adj1" fmla="val -121115"/>
              <a:gd name="adj2" fmla="val -1671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have useful mathematical and statistical properties that make learning and optimization easier and more effective.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a:bodyPr>
          <a:lstStyle/>
          <a:p>
            <a:r>
              <a:rPr lang="en-US" b="1" dirty="0"/>
              <a:t>Code example</a:t>
            </a:r>
            <a:r>
              <a:rPr lang="en-US" dirty="0"/>
              <a:t>: On-Policy State Distribution</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r>
                  <a:rPr lang="en-US" dirty="0"/>
                  <a:t>How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p:txBody>
          </p:sp>
        </mc:Choice>
        <mc:Fallback xmlns="">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9550076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xmlns:a14="http://schemas.microsoft.com/office/drawing/2010/main">
        <mc:Choice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77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Issues of interest:</a:t>
                </a:r>
              </a:p>
              <a:p>
                <a:pPr lvl="1"/>
                <a:r>
                  <a:rPr lang="en-US" b="1" dirty="0"/>
                  <a:t>Convergence</a:t>
                </a:r>
                <a:r>
                  <a:rPr lang="en-US" dirty="0"/>
                  <a:t>: Convergence to the global or a local optimum depends on the used approximation and the learning method. We will discuss this for each method.</a:t>
                </a:r>
              </a:p>
              <a:p>
                <a:pPr lvl="1"/>
                <a:r>
                  <a:rPr lang="en-US" b="1" dirty="0"/>
                  <a:t>Bias</a:t>
                </a:r>
                <a:r>
                  <a:rPr lang="en-US" dirty="0"/>
                  <a:t>: Different approximation methods have different bias (=are not able to represent the true value function).</a:t>
                </a:r>
              </a:p>
            </p:txBody>
          </p:sp>
        </mc:Choice>
        <mc:Fallback xmlns="">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696" t="-2551" r="-1101"/>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xmlns:a14="http://schemas.microsoft.com/office/drawing/2010/main">
        <mc:Choice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1"/>
                <a:ext cx="10515600" cy="3831162"/>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e>
                      <m:sup>
                        <m:r>
                          <a:rPr lang="en-US" i="1">
                            <a:latin typeface="Cambria Math" panose="02040503050406030204" pitchFamily="18" charset="0"/>
                            <a:ea typeface="Cambria Math" panose="02040503050406030204" pitchFamily="18" charset="0"/>
                          </a:rPr>
                          <m:t>⊤</m:t>
                        </m:r>
                      </m:sup>
                    </m:sSup>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r>
                  <a:rPr lang="en-US" b="0" dirty="0">
                    <a:ea typeface="Cambria Math" panose="02040503050406030204" pitchFamily="18" charset="0"/>
                  </a:rPr>
                  <a:t> so it has a gradient</a:t>
                </a:r>
              </a:p>
              <a:p>
                <a:endParaRPr lang="en-US" dirty="0"/>
              </a:p>
              <a:p>
                <a:pPr marL="0" indent="0">
                  <a:buNone/>
                </a:pPr>
                <a:r>
                  <a:rPr lang="en-US" b="1" dirty="0"/>
                  <a:t>Learning</a:t>
                </a:r>
              </a:p>
              <a:p>
                <a:pPr lvl="1"/>
                <a:r>
                  <a:rPr lang="en-US" b="1" dirty="0"/>
                  <a:t>Sample following </a:t>
                </a:r>
                <a14:m>
                  <m:oMath xmlns:m="http://schemas.openxmlformats.org/officeDocument/2006/math">
                    <m:r>
                      <a:rPr lang="en-US" b="1" i="1" smtClean="0">
                        <a:latin typeface="Cambria Math" panose="02040503050406030204" pitchFamily="18" charset="0"/>
                      </a:rPr>
                      <m:t>𝝅</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p:txBody>
          </p:sp>
        </mc:Choice>
        <mc:Fallback xmlns="">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1"/>
                <a:ext cx="10515600" cy="3831162"/>
              </a:xfrm>
              <a:blipFill>
                <a:blip r:embed="rId2"/>
                <a:stretch>
                  <a:fillRect l="-1043" t="-3975" r="-174" b="-2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8013946" y="3879045"/>
                <a:ext cx="3395272" cy="900773"/>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a fixed, unbiased estimate of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8013946" y="3879045"/>
                <a:ext cx="3395272" cy="900773"/>
              </a:xfrm>
              <a:prstGeom prst="wedgeRoundRectCallout">
                <a:avLst>
                  <a:gd name="adj1" fmla="val -91983"/>
                  <a:gd name="adj2" fmla="val 3255"/>
                  <a:gd name="adj3" fmla="val 16667"/>
                </a:avLst>
              </a:prstGeom>
              <a:blipFill>
                <a:blip r:embed="rId3"/>
                <a:stretch>
                  <a:fillRect t="-2649" b="-105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202982" y="5228493"/>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202982" y="5228493"/>
                <a:ext cx="3419631" cy="76450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3B1E1C6A-40C8-F4CD-A82A-2A03026219FB}"/>
                  </a:ext>
                </a:extLst>
              </p:cNvPr>
              <p:cNvSpPr/>
              <p:nvPr/>
            </p:nvSpPr>
            <p:spPr>
              <a:xfrm>
                <a:off x="7958528" y="5460669"/>
                <a:ext cx="3755036" cy="896064"/>
              </a:xfrm>
              <a:prstGeom prst="wedgeRoundRectCallout">
                <a:avLst>
                  <a:gd name="adj1" fmla="val -61614"/>
                  <a:gd name="adj2" fmla="val -2356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that the samples automatically follow the correct state distribution </a:t>
                </a:r>
                <a14:m>
                  <m:oMath xmlns:m="http://schemas.openxmlformats.org/officeDocument/2006/math">
                    <m:r>
                      <a:rPr lang="en-US" i="1">
                        <a:latin typeface="Cambria Math" panose="02040503050406030204" pitchFamily="18" charset="0"/>
                      </a:rPr>
                      <m:t>𝜇</m:t>
                    </m:r>
                  </m:oMath>
                </a14:m>
                <a:r>
                  <a:rPr lang="en-US" dirty="0"/>
                  <a:t> for </a:t>
                </a:r>
                <a14:m>
                  <m:oMath xmlns:m="http://schemas.openxmlformats.org/officeDocument/2006/math">
                    <m:r>
                      <a:rPr lang="en-US" i="1">
                        <a:latin typeface="Cambria Math" panose="02040503050406030204" pitchFamily="18" charset="0"/>
                      </a:rPr>
                      <m:t>𝜋</m:t>
                    </m:r>
                  </m:oMath>
                </a14:m>
                <a:endParaRPr lang="en-US" dirty="0"/>
              </a:p>
            </p:txBody>
          </p:sp>
        </mc:Choice>
        <mc:Fallback xmlns="">
          <p:sp>
            <p:nvSpPr>
              <p:cNvPr id="5" name="Speech Bubble: Rectangle with Corners Rounded 4">
                <a:extLst>
                  <a:ext uri="{FF2B5EF4-FFF2-40B4-BE49-F238E27FC236}">
                    <a16:creationId xmlns:a16="http://schemas.microsoft.com/office/drawing/2014/main" id="{3B1E1C6A-40C8-F4CD-A82A-2A03026219FB}"/>
                  </a:ext>
                </a:extLst>
              </p:cNvPr>
              <p:cNvSpPr>
                <a:spLocks noRot="1" noChangeAspect="1" noMove="1" noResize="1" noEditPoints="1" noAdjustHandles="1" noChangeArrowheads="1" noChangeShapeType="1" noTextEdit="1"/>
              </p:cNvSpPr>
              <p:nvPr/>
            </p:nvSpPr>
            <p:spPr>
              <a:xfrm>
                <a:off x="7958528" y="5460669"/>
                <a:ext cx="3755036" cy="896064"/>
              </a:xfrm>
              <a:prstGeom prst="wedgeRoundRectCallout">
                <a:avLst>
                  <a:gd name="adj1" fmla="val -61614"/>
                  <a:gd name="adj2" fmla="val -23563"/>
                  <a:gd name="adj3" fmla="val 16667"/>
                </a:avLst>
              </a:prstGeom>
              <a:blipFill>
                <a:blip r:embed="rId5"/>
                <a:stretch>
                  <a:fillRect t="-3333" b="-10667"/>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xmlns:a14="http://schemas.microsoft.com/office/drawing/2010/main">
        <mc:Choice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644980" y="1235487"/>
                <a:ext cx="7990742"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Gradient</a:t>
                </a:r>
                <a:r>
                  <a:rPr lang="en-US" dirty="0"/>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approximation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a:t>
                </a:r>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(sample variance!)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values for other states as well, we typically use many small updates (= a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xmlns="">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644980" y="1235487"/>
                <a:ext cx="7990742" cy="5010117"/>
              </a:xfrm>
              <a:blipFill>
                <a:blip r:embed="rId2"/>
                <a:stretch>
                  <a:fillRect l="-686" t="-10219" r="-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578744" y="1235487"/>
            <a:ext cx="3227386" cy="1991944"/>
            <a:chOff x="8608105" y="1015068"/>
            <a:chExt cx="3227386"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08105" y="1143570"/>
                  <a:ext cx="681405"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r>
                          <a:rPr lang="en-US" sz="1100" b="0" i="1" dirty="0" smtClean="0">
                            <a:latin typeface="Cambria Math" panose="02040503050406030204" pitchFamily="18" charset="0"/>
                          </a:rPr>
                          <m:t>=</m:t>
                        </m:r>
                        <m:acc>
                          <m:accPr>
                            <m:chr m:val="̅"/>
                            <m:ctrlPr>
                              <a:rPr lang="en-US" sz="1100" i="1">
                                <a:latin typeface="Cambria Math" panose="02040503050406030204" pitchFamily="18" charset="0"/>
                              </a:rPr>
                            </m:ctrlPr>
                          </m:accPr>
                          <m:e>
                            <m:r>
                              <a:rPr lang="en-US" sz="1100" i="1">
                                <a:latin typeface="Cambria Math" panose="02040503050406030204" pitchFamily="18" charset="0"/>
                              </a:rPr>
                              <m:t>𝑉𝐸</m:t>
                            </m:r>
                          </m:e>
                        </m:acc>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08105" y="1143570"/>
                  <a:ext cx="681405"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635721" y="4776328"/>
                <a:ext cx="3215791" cy="160043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a:p>
                <a:br>
                  <a:rPr lang="en-US" sz="1400" dirty="0"/>
                </a:br>
                <a:r>
                  <a:rPr lang="en-US" sz="1400" dirty="0"/>
                  <a:t>Here </a:t>
                </a:r>
                <a14:m>
                  <m:oMath xmlns:m="http://schemas.openxmlformats.org/officeDocument/2006/math">
                    <m:r>
                      <a:rPr lang="en-US" sz="1400" b="0" i="1" smtClean="0">
                        <a:latin typeface="Cambria Math" panose="02040503050406030204" pitchFamily="18" charset="0"/>
                      </a:rPr>
                      <m:t>𝑥</m:t>
                    </m:r>
                  </m:oMath>
                </a14:m>
                <a:r>
                  <a:rPr lang="en-US" sz="1400" dirty="0"/>
                  <a:t> is the vector </a:t>
                </a:r>
                <a14:m>
                  <m:oMath xmlns:m="http://schemas.openxmlformats.org/officeDocument/2006/math">
                    <m:r>
                      <a:rPr lang="en-US" sz="1400" b="1" i="1" smtClean="0">
                        <a:latin typeface="Cambria Math" panose="02040503050406030204" pitchFamily="18" charset="0"/>
                      </a:rPr>
                      <m:t>𝒘</m:t>
                    </m:r>
                  </m:oMath>
                </a14:m>
                <a:r>
                  <a:rPr lang="en-US" sz="1400" dirty="0"/>
                  <a:t> and we have partial derivatives written as gradients.</a:t>
                </a:r>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635721" y="4776328"/>
                <a:ext cx="3215791" cy="1600438"/>
              </a:xfrm>
              <a:prstGeom prst="rect">
                <a:avLst/>
              </a:prstGeom>
              <a:blipFill>
                <a:blip r:embed="rId9"/>
                <a:stretch>
                  <a:fillRect l="-377" t="-377" b="-2264"/>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xmlns:a14="http://schemas.microsoft.com/office/drawing/2010/main">
        <mc:Choice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b="0" i="1" smtClean="0">
                                <a:latin typeface="Cambria Math" panose="02040503050406030204" pitchFamily="18" charset="0"/>
                              </a:rPr>
                              <m:t>𝑡</m:t>
                            </m:r>
                          </m:sub>
                          <m:sup>
                            <m:r>
                              <a:rPr lang="en-US" b="0" i="1" smtClean="0">
                                <a:latin typeface="Cambria Math" panose="02040503050406030204" pitchFamily="18" charset="0"/>
                              </a:rPr>
                              <m:t>2</m:t>
                            </m:r>
                          </m:sup>
                        </m:sSub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oMath>
                </a14:m>
                <a:r>
                  <a:rPr lang="en-US" dirty="0"/>
                  <a:t> … step size used for action </a:t>
                </a:r>
                <a14:m>
                  <m:oMath xmlns:m="http://schemas.openxmlformats.org/officeDocument/2006/math">
                    <m:r>
                      <a:rPr lang="en-US" b="0" i="1" smtClean="0">
                        <a:latin typeface="Cambria Math" panose="02040503050406030204" pitchFamily="18" charset="0"/>
                      </a:rPr>
                      <m:t>𝑎</m:t>
                    </m:r>
                  </m:oMath>
                </a14:m>
                <a:r>
                  <a:rPr lang="en-US" dirty="0"/>
                  <a:t> in state </a:t>
                </a:r>
                <a14:m>
                  <m:oMath xmlns:m="http://schemas.openxmlformats.org/officeDocument/2006/math">
                    <m:r>
                      <a:rPr lang="en-US" b="0" i="1" smtClean="0">
                        <a:latin typeface="Cambria Math" panose="02040503050406030204" pitchFamily="18" charset="0"/>
                      </a:rPr>
                      <m:t>𝑠</m:t>
                    </m:r>
                  </m:oMath>
                </a14:m>
                <a:r>
                  <a:rPr lang="en-US" dirty="0"/>
                  <a:t> at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sample averaging which is equivalent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den>
                    </m:f>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a14:m>
                <a:r>
                  <a:rPr lang="en-US" dirty="0"/>
                  <a:t> is how often the action was chosen in that state.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xmlns="">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733024" y="4723658"/>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00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a:t>
                </a:r>
                <a:r>
                  <a:rPr lang="en-US" b="1" dirty="0"/>
                  <a:t>local optimum </a:t>
                </a:r>
                <a:r>
                  <a:rPr lang="en-US" dirty="0"/>
                  <a:t>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p>
              <a:p>
                <a:pPr lvl="1"/>
                <a:r>
                  <a:rPr lang="en-US" b="1" dirty="0"/>
                  <a:t>unbiased estimate</a:t>
                </a:r>
                <a:r>
                  <a:rPr lang="en-US" dirty="0"/>
                  <a:t>. I.e.,  </a:t>
                </a:r>
                <a14:m>
                  <m:oMath xmlns:m="http://schemas.openxmlformats.org/officeDocument/2006/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endParaRPr lang="en-US" dirty="0">
                  <a:ea typeface="Cambria Math" panose="02040503050406030204" pitchFamily="18" charset="0"/>
                </a:endParaRPr>
              </a:p>
              <a:p>
                <a:pPr lvl="1"/>
                <a:r>
                  <a:rPr lang="en-US" dirty="0"/>
                  <a:t>we use decreasing </a:t>
                </a:r>
                <a14:m>
                  <m:oMath xmlns:m="http://schemas.openxmlformats.org/officeDocument/2006/math">
                    <m:r>
                      <a:rPr lang="en-US" b="0" i="1" smtClean="0">
                        <a:latin typeface="Cambria Math" panose="02040503050406030204" pitchFamily="18" charset="0"/>
                      </a:rPr>
                      <m:t>𝛼</m:t>
                    </m:r>
                  </m:oMath>
                </a14:m>
                <a:endParaRPr lang="en-US" dirty="0"/>
              </a:p>
              <a:p>
                <a:pPr lvl="1"/>
                <a:r>
                  <a:rPr lang="en-US" dirty="0"/>
                  <a:t>local gradient domination holds (e.g., linear approximation)</a:t>
                </a:r>
              </a:p>
              <a:p>
                <a:endParaRPr lang="en-US" dirty="0"/>
              </a:p>
              <a:p>
                <a:pPr marL="0" indent="0">
                  <a:buNone/>
                </a:pPr>
                <a:r>
                  <a:rPr lang="en-US" b="1" dirty="0"/>
                  <a:t>Examples</a:t>
                </a:r>
                <a:r>
                  <a:rPr lang="en-US" dirty="0"/>
                  <a:t>: </a:t>
                </a:r>
              </a:p>
              <a:p>
                <a:r>
                  <a:rPr lang="en-US" dirty="0"/>
                  <a:t>The Gradient Monte Carlo method uses the </a:t>
                </a:r>
                <a:r>
                  <a:rPr lang="en-US" b="1" dirty="0"/>
                  <a:t>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638" t="-2094"/>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4" name="Content Placeholder 4">
            <a:extLst>
              <a:ext uri="{FF2B5EF4-FFF2-40B4-BE49-F238E27FC236}">
                <a16:creationId xmlns:a16="http://schemas.microsoft.com/office/drawing/2014/main" id="{1BA72D0C-F5B3-19BC-A1EA-6BBF153DF411}"/>
              </a:ext>
              <a:ext uri="{C183D7F6-B498-43B3-948B-1728B52AA6E4}">
                <adec:decorative xmlns:adec="http://schemas.microsoft.com/office/drawing/2017/decorative" val="1"/>
              </a:ext>
            </a:extLst>
          </p:cNvPr>
          <p:cNvPicPr>
            <a:picLocks noChangeAspect="1"/>
          </p:cNvPicPr>
          <p:nvPr/>
        </p:nvPicPr>
        <p:blipFill>
          <a:blip r:embed="rId2"/>
          <a:srcRect t="3245"/>
          <a:stretch>
            <a:fillRect/>
          </a:stretch>
        </p:blipFill>
        <p:spPr>
          <a:xfrm>
            <a:off x="63539" y="1043939"/>
            <a:ext cx="7808892" cy="3419323"/>
          </a:xfrm>
          <a:prstGeom prst="rect">
            <a:avLst/>
          </a:prstGeom>
        </p:spPr>
      </p:pic>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3"/>
          <a:srcRect l="1232" t="3497"/>
          <a:stretch>
            <a:fillRect/>
          </a:stretch>
        </p:blipFill>
        <p:spPr>
          <a:xfrm>
            <a:off x="2763179" y="2951067"/>
            <a:ext cx="9248101" cy="3244904"/>
          </a:xfrm>
          <a:prstGeom prst="rect">
            <a:avLst/>
          </a:prstGeom>
        </p:spPr>
      </p:pic>
      <p:sp>
        <p:nvSpPr>
          <p:cNvPr id="12" name="Arrow: Right 11">
            <a:extLst>
              <a:ext uri="{FF2B5EF4-FFF2-40B4-BE49-F238E27FC236}">
                <a16:creationId xmlns:a16="http://schemas.microsoft.com/office/drawing/2014/main" id="{C4DE7663-5E4B-AC32-ADBE-B4554096C31D}"/>
              </a:ext>
              <a:ext uri="{C183D7F6-B498-43B3-948B-1728B52AA6E4}">
                <adec:decorative xmlns:adec="http://schemas.microsoft.com/office/drawing/2017/decorative" val="1"/>
              </a:ext>
            </a:extLst>
          </p:cNvPr>
          <p:cNvSpPr/>
          <p:nvPr/>
        </p:nvSpPr>
        <p:spPr>
          <a:xfrm>
            <a:off x="2376575" y="3488705"/>
            <a:ext cx="605118" cy="833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CC65EA1D-AA8B-FB1E-98C7-C232827DA172}"/>
              </a:ext>
              <a:ext uri="{C183D7F6-B498-43B3-948B-1728B52AA6E4}">
                <adec:decorative xmlns:adec="http://schemas.microsoft.com/office/drawing/2017/decorative" val="1"/>
              </a:ext>
            </a:extLst>
          </p:cNvPr>
          <p:cNvSpPr/>
          <p:nvPr/>
        </p:nvSpPr>
        <p:spPr>
          <a:xfrm>
            <a:off x="6297324" y="3711266"/>
            <a:ext cx="177815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Rectangle 9">
            <a:extLst>
              <a:ext uri="{FF2B5EF4-FFF2-40B4-BE49-F238E27FC236}">
                <a16:creationId xmlns:a16="http://schemas.microsoft.com/office/drawing/2014/main" id="{A504EF24-2FA4-80A3-733C-545D1F0C8324}"/>
              </a:ext>
              <a:ext uri="{C183D7F6-B498-43B3-948B-1728B52AA6E4}">
                <adec:decorative xmlns:adec="http://schemas.microsoft.com/office/drawing/2017/decorative" val="1"/>
              </a:ext>
            </a:extLst>
          </p:cNvPr>
          <p:cNvSpPr/>
          <p:nvPr/>
        </p:nvSpPr>
        <p:spPr>
          <a:xfrm>
            <a:off x="3627634" y="5608646"/>
            <a:ext cx="391937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AA6987B-D319-0DFB-6CF3-AE9E77CE3883}"/>
                  </a:ext>
                </a:extLst>
              </p:cNvPr>
              <p:cNvSpPr txBox="1"/>
              <p:nvPr/>
            </p:nvSpPr>
            <p:spPr>
              <a:xfrm>
                <a:off x="8833596" y="5556849"/>
                <a:ext cx="3112314" cy="9360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r>
                  <a:rPr lang="en-US" sz="1600" dirty="0"/>
                  <a:t>Minimizes: </a:t>
                </a:r>
                <a:br>
                  <a:rPr lang="en-US" sz="1600" i="1" dirty="0">
                    <a:latin typeface="Cambria Math" panose="02040503050406030204" pitchFamily="18" charset="0"/>
                  </a:rPr>
                </a:br>
                <a14:m>
                  <m:oMathPara xmlns:m="http://schemas.openxmlformats.org/officeDocument/2006/math">
                    <m:oMath>
                      <m:acc>
                        <m:accPr>
                          <m:chr m:val="̅"/>
                          <m:ctrlPr>
                            <a:rPr lang="en-US" sz="1600" i="1">
                              <a:latin typeface="Cambria Math" panose="02040503050406030204" pitchFamily="18" charset="0"/>
                            </a:rPr>
                          </m:ctrlPr>
                        </m:accPr>
                        <m:e>
                          <m:r>
                            <a:rPr lang="en-US" sz="1600" i="1">
                              <a:latin typeface="Cambria Math" panose="02040503050406030204" pitchFamily="18" charset="0"/>
                            </a:rPr>
                            <m:t>𝑉𝐸</m:t>
                          </m:r>
                        </m:e>
                      </m:acc>
                      <m:r>
                        <a:rPr lang="en-US" sz="1600" i="1">
                          <a:latin typeface="Cambria Math" panose="02040503050406030204" pitchFamily="18" charset="0"/>
                        </a:rPr>
                        <m:t>≝</m:t>
                      </m:r>
                      <m:nary>
                        <m:naryPr>
                          <m:chr m:val="∑"/>
                          <m:supHide m:val="on"/>
                          <m:ctrlPr>
                            <a:rPr lang="en-US" sz="1600" i="1">
                              <a:latin typeface="Cambria Math" panose="02040503050406030204" pitchFamily="18" charset="0"/>
                            </a:rPr>
                          </m:ctrlPr>
                        </m:naryPr>
                        <m:sub>
                          <m:r>
                            <a:rPr lang="en-US" sz="1600" i="1">
                              <a:latin typeface="Cambria Math" panose="02040503050406030204" pitchFamily="18" charset="0"/>
                            </a:rPr>
                            <m:t>𝑠</m:t>
                          </m:r>
                          <m:r>
                            <a:rPr lang="en-US" sz="1600" i="1">
                              <a:latin typeface="Cambria Math" panose="02040503050406030204" pitchFamily="18" charset="0"/>
                            </a:rPr>
                            <m:t>∈</m:t>
                          </m:r>
                          <m:r>
                            <a:rPr lang="en-US" sz="1600" i="1">
                              <a:latin typeface="Cambria Math" panose="02040503050406030204" pitchFamily="18" charset="0"/>
                              <a:ea typeface="Cambria Math" panose="02040503050406030204" pitchFamily="18" charset="0"/>
                            </a:rPr>
                            <m:t>𝒮</m:t>
                          </m:r>
                          <m:r>
                            <a:rPr lang="en-US" sz="1600" i="1">
                              <a:latin typeface="Cambria Math" panose="02040503050406030204" pitchFamily="18" charset="0"/>
                              <a:ea typeface="Cambria Math" panose="02040503050406030204" pitchFamily="18" charset="0"/>
                            </a:rPr>
                            <m:t> </m:t>
                          </m:r>
                        </m:sub>
                        <m:sup/>
                        <m:e>
                          <m:r>
                            <a:rPr lang="en-US" sz="1600" i="1">
                              <a:latin typeface="Cambria Math" panose="02040503050406030204" pitchFamily="18" charset="0"/>
                            </a:rPr>
                            <m:t>𝜇</m:t>
                          </m:r>
                          <m:d>
                            <m:dPr>
                              <m:ctrlPr>
                                <a:rPr lang="en-US" sz="1600" i="1">
                                  <a:latin typeface="Cambria Math" panose="02040503050406030204" pitchFamily="18" charset="0"/>
                                </a:rPr>
                              </m:ctrlPr>
                            </m:dPr>
                            <m:e>
                              <m:r>
                                <a:rPr lang="en-US" sz="1600" i="1">
                                  <a:latin typeface="Cambria Math" panose="02040503050406030204" pitchFamily="18" charset="0"/>
                                </a:rPr>
                                <m:t>𝑠</m:t>
                              </m:r>
                            </m:e>
                          </m:d>
                          <m:sSup>
                            <m:sSupPr>
                              <m:ctrlPr>
                                <a:rPr lang="en-US" sz="1600" i="1">
                                  <a:latin typeface="Cambria Math" panose="02040503050406030204" pitchFamily="18" charset="0"/>
                                </a:rPr>
                              </m:ctrlPr>
                            </m:sSup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r>
                                    <a:rPr lang="en-US" sz="1600" i="1">
                                      <a:latin typeface="Cambria Math" panose="02040503050406030204" pitchFamily="18" charset="0"/>
                                    </a:rPr>
                                    <m:t>𝑠</m:t>
                                  </m:r>
                                  <m:r>
                                    <a:rPr lang="en-US" sz="1600" i="1">
                                      <a:latin typeface="Cambria Math" panose="02040503050406030204" pitchFamily="18" charset="0"/>
                                    </a:rPr>
                                    <m:t>)−</m:t>
                                  </m:r>
                                  <m:acc>
                                    <m:accPr>
                                      <m:chr m:val="̂"/>
                                      <m:ctrlPr>
                                        <a:rPr lang="en-US" sz="1600" i="1">
                                          <a:latin typeface="Cambria Math" panose="02040503050406030204" pitchFamily="18" charset="0"/>
                                        </a:rPr>
                                      </m:ctrlPr>
                                    </m:accPr>
                                    <m:e>
                                      <m:r>
                                        <a:rPr lang="en-US" sz="1600" i="1">
                                          <a:latin typeface="Cambria Math" panose="02040503050406030204" pitchFamily="18" charset="0"/>
                                        </a:rPr>
                                        <m:t>𝑣</m:t>
                                      </m:r>
                                    </m:e>
                                  </m:acc>
                                  <m:d>
                                    <m:dPr>
                                      <m:ctrlPr>
                                        <a:rPr lang="en-US" sz="1600" i="1">
                                          <a:latin typeface="Cambria Math" panose="02040503050406030204" pitchFamily="18" charset="0"/>
                                        </a:rPr>
                                      </m:ctrlPr>
                                    </m:dPr>
                                    <m:e>
                                      <m:r>
                                        <a:rPr lang="en-US" sz="1600" i="1">
                                          <a:latin typeface="Cambria Math" panose="02040503050406030204" pitchFamily="18" charset="0"/>
                                        </a:rPr>
                                        <m:t>𝑠</m:t>
                                      </m:r>
                                      <m:r>
                                        <a:rPr lang="en-US" sz="1600" i="1">
                                          <a:latin typeface="Cambria Math" panose="02040503050406030204" pitchFamily="18" charset="0"/>
                                        </a:rPr>
                                        <m:t>,</m:t>
                                      </m:r>
                                      <m:r>
                                        <a:rPr lang="en-US" sz="1600" b="1" i="1">
                                          <a:latin typeface="Cambria Math" panose="02040503050406030204" pitchFamily="18" charset="0"/>
                                        </a:rPr>
                                        <m:t>𝒘</m:t>
                                      </m:r>
                                    </m:e>
                                  </m:d>
                                </m:e>
                              </m:d>
                            </m:e>
                            <m:sup>
                              <m:r>
                                <a:rPr lang="en-US" sz="1600" i="1">
                                  <a:latin typeface="Cambria Math" panose="02040503050406030204" pitchFamily="18" charset="0"/>
                                </a:rPr>
                                <m:t>2</m:t>
                              </m:r>
                            </m:sup>
                          </m:sSup>
                        </m:e>
                      </m:nary>
                    </m:oMath>
                  </m:oMathPara>
                </a14:m>
                <a:endParaRPr lang="en-US" sz="1600" dirty="0"/>
              </a:p>
            </p:txBody>
          </p:sp>
        </mc:Choice>
        <mc:Fallback xmlns="">
          <p:sp>
            <p:nvSpPr>
              <p:cNvPr id="3" name="TextBox 2">
                <a:extLst>
                  <a:ext uri="{FF2B5EF4-FFF2-40B4-BE49-F238E27FC236}">
                    <a16:creationId xmlns:a16="http://schemas.microsoft.com/office/drawing/2014/main" id="{FAA6987B-D319-0DFB-6CF3-AE9E77CE3883}"/>
                  </a:ext>
                </a:extLst>
              </p:cNvPr>
              <p:cNvSpPr txBox="1">
                <a:spLocks noRot="1" noChangeAspect="1" noMove="1" noResize="1" noEditPoints="1" noAdjustHandles="1" noChangeArrowheads="1" noChangeShapeType="1" noTextEdit="1"/>
              </p:cNvSpPr>
              <p:nvPr/>
            </p:nvSpPr>
            <p:spPr>
              <a:xfrm>
                <a:off x="8833596" y="5556849"/>
                <a:ext cx="3112314" cy="936025"/>
              </a:xfrm>
              <a:prstGeom prst="rect">
                <a:avLst/>
              </a:prstGeom>
              <a:blipFill>
                <a:blip r:embed="rId4"/>
                <a:stretch>
                  <a:fillRect l="-778" t="-1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752F8F1F-0025-F7E8-E9BD-C9EA29E80BA6}"/>
                  </a:ext>
                </a:extLst>
              </p:cNvPr>
              <p:cNvSpPr/>
              <p:nvPr/>
            </p:nvSpPr>
            <p:spPr>
              <a:xfrm>
                <a:off x="197765" y="4593578"/>
                <a:ext cx="2525086" cy="2030135"/>
              </a:xfrm>
              <a:prstGeom prst="wedgeRoundRectCallout">
                <a:avLst>
                  <a:gd name="adj1" fmla="val 83320"/>
                  <a:gd name="adj2" fmla="val 1105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a:p>
                <a:endParaRPr lang="en-US" dirty="0"/>
              </a:p>
              <a:p>
                <a:r>
                  <a:rPr lang="en-US" dirty="0"/>
                  <a:t>+ does not need first visit.</a:t>
                </a:r>
              </a:p>
            </p:txBody>
          </p:sp>
        </mc:Choice>
        <mc:Fallback xmlns="">
          <p:sp>
            <p:nvSpPr>
              <p:cNvPr id="6" name="Speech Bubble: Rectangle with Corners Rounded 5">
                <a:extLst>
                  <a:ext uri="{FF2B5EF4-FFF2-40B4-BE49-F238E27FC236}">
                    <a16:creationId xmlns:a16="http://schemas.microsoft.com/office/drawing/2014/main" id="{752F8F1F-0025-F7E8-E9BD-C9EA29E80BA6}"/>
                  </a:ext>
                </a:extLst>
              </p:cNvPr>
              <p:cNvSpPr>
                <a:spLocks noRot="1" noChangeAspect="1" noMove="1" noResize="1" noEditPoints="1" noAdjustHandles="1" noChangeArrowheads="1" noChangeShapeType="1" noTextEdit="1"/>
              </p:cNvSpPr>
              <p:nvPr/>
            </p:nvSpPr>
            <p:spPr>
              <a:xfrm>
                <a:off x="197765" y="4593578"/>
                <a:ext cx="2525086" cy="2030135"/>
              </a:xfrm>
              <a:prstGeom prst="wedgeRoundRectCallout">
                <a:avLst>
                  <a:gd name="adj1" fmla="val 83320"/>
                  <a:gd name="adj2" fmla="val 11054"/>
                  <a:gd name="adj3" fmla="val 16667"/>
                </a:avLst>
              </a:prstGeom>
              <a:blipFill>
                <a:blip r:embed="rId5"/>
                <a:stretch>
                  <a:fillRect b="-2381"/>
                </a:stretch>
              </a:blipFill>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xmlns:a14="http://schemas.microsoft.com/office/drawing/2010/main">
        <mc:Choice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62500" lnSpcReduction="20000"/>
              </a:bodyPr>
              <a:lstStyle/>
              <a:p>
                <a:r>
                  <a:rPr lang="en-US" b="1" dirty="0"/>
                  <a:t>Issue: </a:t>
                </a:r>
                <a:r>
                  <a:rPr lang="en-US" dirty="0"/>
                  <a:t>To get the true gradient requires, an </a:t>
                </a:r>
                <a:r>
                  <a:rPr lang="en-US" b="1" dirty="0"/>
                  <a:t>unbiased </a:t>
                </a:r>
                <a:r>
                  <a:rPr lang="en-US" dirty="0"/>
                  <a:t>target estimate that is </a:t>
                </a:r>
                <a:r>
                  <a:rPr lang="en-US" b="1" dirty="0"/>
                  <a:t>fixed</a:t>
                </a:r>
                <a:r>
                  <a:rPr lang="en-US" dirty="0"/>
                  <a:t> (i.e., does not change with </a:t>
                </a:r>
                <a14:m>
                  <m:oMath xmlns:m="http://schemas.openxmlformats.org/officeDocument/2006/math">
                    <m:r>
                      <a:rPr lang="en-US" b="1" i="1">
                        <a:latin typeface="Cambria Math" panose="02040503050406030204" pitchFamily="18" charset="0"/>
                      </a:rPr>
                      <m:t>𝒘</m:t>
                    </m:r>
                    <m:r>
                      <a:rPr lang="en-US" b="1" i="1" smtClean="0">
                        <a:latin typeface="Cambria Math" panose="02040503050406030204" pitchFamily="18" charset="0"/>
                      </a:rPr>
                      <m:t>).</m:t>
                    </m:r>
                  </m:oMath>
                </a14:m>
                <a:r>
                  <a:rPr lang="en-US" dirty="0"/>
                  <a:t> </a:t>
                </a:r>
                <a:br>
                  <a:rPr lang="en-US" dirty="0"/>
                </a:br>
                <a:br>
                  <a:rPr lang="en-US" dirty="0"/>
                </a:b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solidFill>
                                  <a:srgbClr val="FF0000"/>
                                </a:solidFill>
                                <a:latin typeface="Cambria Math" panose="02040503050406030204" pitchFamily="18" charset="0"/>
                                <a:ea typeface="Cambria Math" panose="02040503050406030204" pitchFamily="18" charset="0"/>
                              </a:rPr>
                            </m:ctrlPr>
                          </m:accPr>
                          <m:e>
                            <m:r>
                              <a:rPr lang="en-US" i="1">
                                <a:solidFill>
                                  <a:srgbClr val="FF0000"/>
                                </a:solidFill>
                                <a:latin typeface="Cambria Math" panose="02040503050406030204" pitchFamily="18" charset="0"/>
                                <a:ea typeface="Cambria Math" panose="02040503050406030204" pitchFamily="18" charset="0"/>
                              </a:rPr>
                              <m:t>𝑣</m:t>
                            </m:r>
                          </m:e>
                        </m:acc>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r>
                              <a:rPr lang="en-US" i="1">
                                <a:solidFill>
                                  <a:srgbClr val="FF0000"/>
                                </a:solidFill>
                                <a:latin typeface="Cambria Math" panose="02040503050406030204" pitchFamily="18" charset="0"/>
                                <a:ea typeface="Cambria Math" panose="02040503050406030204" pitchFamily="18" charset="0"/>
                              </a:rPr>
                              <m:t>,</m:t>
                            </m:r>
                            <m:sSub>
                              <m:sSubPr>
                                <m:ctrlPr>
                                  <a:rPr lang="en-US" b="1" i="1">
                                    <a:solidFill>
                                      <a:srgbClr val="FF0000"/>
                                    </a:solidFill>
                                    <a:latin typeface="Cambria Math" panose="02040503050406030204" pitchFamily="18" charset="0"/>
                                    <a:ea typeface="Cambria Math" panose="02040503050406030204" pitchFamily="18" charset="0"/>
                                  </a:rPr>
                                </m:ctrlPr>
                              </m:sSubPr>
                              <m:e>
                                <m:r>
                                  <a:rPr lang="en-US" b="1" i="1">
                                    <a:solidFill>
                                      <a:srgbClr val="FF0000"/>
                                    </a:solidFill>
                                    <a:latin typeface="Cambria Math" panose="02040503050406030204" pitchFamily="18" charset="0"/>
                                    <a:ea typeface="Cambria Math" panose="02040503050406030204" pitchFamily="18" charset="0"/>
                                  </a:rPr>
                                  <m:t>𝒘</m:t>
                                </m:r>
                              </m:e>
                              <m:sub>
                                <m:r>
                                  <a:rPr lang="en-US" i="1">
                                    <a:solidFill>
                                      <a:srgbClr val="FF0000"/>
                                    </a:solidFill>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endParaRPr lang="en-US" b="1" dirty="0"/>
              </a:p>
              <a:p>
                <a:r>
                  <a:rPr lang="en-US" b="1" dirty="0"/>
                  <a:t>Bootstrapping</a:t>
                </a:r>
                <a:br>
                  <a:rPr lang="en-US" dirty="0"/>
                </a:b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solidFill>
                              <a:srgbClr val="FF0000"/>
                            </a:solidFill>
                            <a:latin typeface="Cambria Math" panose="02040503050406030204" pitchFamily="18" charset="0"/>
                            <a:ea typeface="Cambria Math" panose="02040503050406030204" pitchFamily="18" charset="0"/>
                          </a:rPr>
                        </m:ctrlPr>
                      </m:accPr>
                      <m:e>
                        <m:r>
                          <a:rPr lang="en-US" i="1">
                            <a:solidFill>
                              <a:srgbClr val="FF0000"/>
                            </a:solidFill>
                            <a:latin typeface="Cambria Math" panose="02040503050406030204" pitchFamily="18" charset="0"/>
                            <a:ea typeface="Cambria Math" panose="02040503050406030204" pitchFamily="18" charset="0"/>
                          </a:rPr>
                          <m:t>𝑣</m:t>
                        </m:r>
                      </m:e>
                    </m:acc>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m:rPr>
                                <m:sty m:val="p"/>
                              </m:rPr>
                              <a:rPr lang="en-US">
                                <a:solidFill>
                                  <a:srgbClr val="FF0000"/>
                                </a:solidFill>
                                <a:latin typeface="Cambria Math" panose="02040503050406030204" pitchFamily="18" charset="0"/>
                                <a:ea typeface="Cambria Math" panose="02040503050406030204" pitchFamily="18" charset="0"/>
                              </a:rPr>
                              <m:t>t</m:t>
                            </m:r>
                            <m:r>
                              <a:rPr lang="en-US">
                                <a:solidFill>
                                  <a:srgbClr val="FF0000"/>
                                </a:solidFill>
                                <a:latin typeface="Cambria Math" panose="02040503050406030204" pitchFamily="18" charset="0"/>
                                <a:ea typeface="Cambria Math" panose="02040503050406030204" pitchFamily="18" charset="0"/>
                              </a:rPr>
                              <m:t>+1</m:t>
                            </m:r>
                          </m:sub>
                        </m:sSub>
                        <m:r>
                          <a:rPr lang="en-US">
                            <a:solidFill>
                              <a:srgbClr val="FF0000"/>
                            </a:solidFill>
                            <a:latin typeface="Cambria Math" panose="02040503050406030204" pitchFamily="18" charset="0"/>
                            <a:ea typeface="Cambria Math" panose="02040503050406030204" pitchFamily="18" charset="0"/>
                          </a:rPr>
                          <m:t>,</m:t>
                        </m:r>
                        <m:sSub>
                          <m:sSubPr>
                            <m:ctrlPr>
                              <a:rPr lang="en-US" b="1" i="1">
                                <a:solidFill>
                                  <a:srgbClr val="FF0000"/>
                                </a:solidFill>
                                <a:latin typeface="Cambria Math" panose="02040503050406030204" pitchFamily="18" charset="0"/>
                                <a:ea typeface="Cambria Math" panose="02040503050406030204" pitchFamily="18" charset="0"/>
                              </a:rPr>
                            </m:ctrlPr>
                          </m:sSubPr>
                          <m:e>
                            <m:r>
                              <a:rPr lang="en-US" b="1" i="1">
                                <a:solidFill>
                                  <a:srgbClr val="FF0000"/>
                                </a:solidFill>
                                <a:latin typeface="Cambria Math" panose="02040503050406030204" pitchFamily="18" charset="0"/>
                                <a:ea typeface="Cambria Math" panose="02040503050406030204" pitchFamily="18" charset="0"/>
                              </a:rPr>
                              <m:t>𝒘</m:t>
                            </m:r>
                          </m:e>
                          <m:sub>
                            <m:r>
                              <a:rPr lang="en-US" i="1">
                                <a:solidFill>
                                  <a:srgbClr val="FF0000"/>
                                </a:solidFill>
                                <a:latin typeface="Cambria Math" panose="02040503050406030204" pitchFamily="18" charset="0"/>
                                <a:ea typeface="Cambria Math" panose="02040503050406030204" pitchFamily="18" charset="0"/>
                              </a:rPr>
                              <m:t>𝑡</m:t>
                            </m:r>
                          </m:sub>
                        </m:sSub>
                      </m:e>
                    </m:d>
                  </m:oMath>
                </a14:m>
                <a:br>
                  <a:rPr lang="en-US" dirty="0">
                    <a:ea typeface="Cambria Math" panose="02040503050406030204" pitchFamily="18" charset="0"/>
                  </a:rPr>
                </a:br>
                <a:br>
                  <a:rPr lang="en-US" dirty="0">
                    <a:ea typeface="Cambria Math" panose="02040503050406030204" pitchFamily="18" charset="0"/>
                  </a:rPr>
                </a:br>
                <a:r>
                  <a:rPr lang="en-US" dirty="0"/>
                  <a:t>breaks this requirement and leads to the gradient being systematically off:</a:t>
                </a:r>
              </a:p>
              <a:p>
                <a:pPr lvl="1"/>
                <a:r>
                  <a:rPr lang="en-US" dirty="0"/>
                  <a:t>Bootstrapped target value is biased towards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i="1" dirty="0">
                  <a:latin typeface="Cambria Math" panose="02040503050406030204" pitchFamily="18" charset="0"/>
                </a:endParaRPr>
              </a:p>
              <a:p>
                <a:pPr lvl="1"/>
                <a:r>
                  <a:rPr lang="en-US" dirty="0"/>
                  <a:t>Target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now on </a:t>
                </a:r>
                <a14:m>
                  <m:oMath xmlns:m="http://schemas.openxmlformats.org/officeDocument/2006/math">
                    <m:r>
                      <a:rPr lang="en-US" b="1" i="1">
                        <a:latin typeface="Cambria Math" panose="02040503050406030204" pitchFamily="18" charset="0"/>
                      </a:rPr>
                      <m:t>𝒘</m:t>
                    </m:r>
                  </m:oMath>
                </a14:m>
                <a:r>
                  <a:rPr lang="en-US" dirty="0">
                    <a:ea typeface="Cambria Math" panose="02040503050406030204" pitchFamily="18" charset="0"/>
                  </a:rPr>
                  <a:t> but its 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1" i="1">
                        <a:latin typeface="Cambria Math" panose="02040503050406030204" pitchFamily="18" charset="0"/>
                        <a:ea typeface="Cambria Math" panose="02040503050406030204" pitchFamily="18" charset="0"/>
                      </a:rPr>
                      <m:t> </m:t>
                    </m:r>
                  </m:oMath>
                </a14:m>
                <a:r>
                  <a:rPr lang="en-US" dirty="0">
                    <a:ea typeface="Cambria Math" panose="02040503050406030204" pitchFamily="18" charset="0"/>
                  </a:rPr>
                  <a:t>is missing in the update.</a:t>
                </a:r>
              </a:p>
              <a:p>
                <a:pPr lvl="1"/>
                <a:r>
                  <a:rPr lang="en-US" dirty="0">
                    <a:ea typeface="Cambria Math" panose="02040503050406030204" pitchFamily="18" charset="0"/>
                  </a:rPr>
                  <a:t>Creates convergence issues.</a:t>
                </a:r>
              </a:p>
              <a:p>
                <a:pPr marL="0" indent="0">
                  <a:buNone/>
                </a:pPr>
                <a:endParaRPr lang="en-US" b="1" dirty="0"/>
              </a:p>
              <a:p>
                <a:pPr marL="0" indent="0">
                  <a:buNone/>
                </a:pPr>
                <a:r>
                  <a:rPr lang="en-US" b="1" dirty="0"/>
                  <a:t>Semi-Gradient Methods:</a:t>
                </a:r>
              </a:p>
              <a:p>
                <a:r>
                  <a:rPr lang="en-US" dirty="0"/>
                  <a:t>If biased target estimates are used, then this is called a semi-gradient method.</a:t>
                </a:r>
              </a:p>
              <a:p>
                <a:r>
                  <a:rPr lang="en-US" dirty="0"/>
                  <a:t>Advantages: </a:t>
                </a:r>
              </a:p>
              <a:p>
                <a:pPr lvl="1"/>
                <a:r>
                  <a:rPr lang="en-US" dirty="0"/>
                  <a:t>Lower variance of TD estimates leads to faster learning.</a:t>
                </a:r>
              </a:p>
              <a:p>
                <a:pPr lvl="1"/>
                <a:r>
                  <a:rPr lang="en-US" dirty="0"/>
                  <a:t>TD can learn online.</a:t>
                </a:r>
              </a:p>
              <a:p>
                <a:pPr lvl="1"/>
                <a:r>
                  <a:rPr lang="en-US" dirty="0"/>
                  <a:t>Often still converge: Especially for linear approximators or by using stabilization tricks. </a:t>
                </a:r>
              </a:p>
            </p:txBody>
          </p:sp>
        </mc:Choice>
        <mc:Fallback xmlns="">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522" t="-1836"/>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3" name="Content Placeholder 4">
            <a:extLst>
              <a:ext uri="{FF2B5EF4-FFF2-40B4-BE49-F238E27FC236}">
                <a16:creationId xmlns:a16="http://schemas.microsoft.com/office/drawing/2014/main" id="{24761836-9264-8716-8852-134CF43107EA}"/>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247196" y="1124198"/>
            <a:ext cx="7810209" cy="3497737"/>
          </a:xfrm>
          <a:prstGeom prst="rect">
            <a:avLst/>
          </a:prstGeom>
        </p:spPr>
      </p:pic>
      <p:grpSp>
        <p:nvGrpSpPr>
          <p:cNvPr id="11" name="Group 10"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57F41E3B-1C2C-3E0F-F049-5EB17E5AEA59}"/>
              </a:ext>
            </a:extLst>
          </p:cNvPr>
          <p:cNvGrpSpPr/>
          <p:nvPr/>
        </p:nvGrpSpPr>
        <p:grpSpPr>
          <a:xfrm>
            <a:off x="2782874" y="2111189"/>
            <a:ext cx="9161930" cy="4321296"/>
            <a:chOff x="2782874" y="2111189"/>
            <a:chExt cx="9161930" cy="4321296"/>
          </a:xfrm>
        </p:grpSpPr>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3"/>
            <a:srcRect l="801" t="2416"/>
            <a:stretch>
              <a:fillRect/>
            </a:stretch>
          </p:blipFill>
          <p:spPr>
            <a:xfrm>
              <a:off x="2782874" y="2111189"/>
              <a:ext cx="9161930" cy="4321296"/>
            </a:xfrm>
            <a:prstGeom prst="rect">
              <a:avLst/>
            </a:prstGeom>
          </p:spPr>
        </p:pic>
        <p:sp>
          <p:nvSpPr>
            <p:cNvPr id="6" name="Rectangle 5">
              <a:extLst>
                <a:ext uri="{FF2B5EF4-FFF2-40B4-BE49-F238E27FC236}">
                  <a16:creationId xmlns:a16="http://schemas.microsoft.com/office/drawing/2014/main" id="{02ED8844-ED2B-696B-4E67-2810F967CAC7}"/>
                </a:ext>
              </a:extLst>
            </p:cNvPr>
            <p:cNvSpPr/>
            <p:nvPr/>
          </p:nvSpPr>
          <p:spPr>
            <a:xfrm>
              <a:off x="3591485" y="5316045"/>
              <a:ext cx="500903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Rectangle 9">
              <a:extLst>
                <a:ext uri="{FF2B5EF4-FFF2-40B4-BE49-F238E27FC236}">
                  <a16:creationId xmlns:a16="http://schemas.microsoft.com/office/drawing/2014/main" id="{D481E52A-8757-18A1-4333-BBB1047742F3}"/>
                </a:ext>
              </a:extLst>
            </p:cNvPr>
            <p:cNvSpPr/>
            <p:nvPr/>
          </p:nvSpPr>
          <p:spPr>
            <a:xfrm>
              <a:off x="6344770" y="2873066"/>
              <a:ext cx="177815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grp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346532" y="4880206"/>
                <a:ext cx="2337006" cy="1483111"/>
              </a:xfrm>
              <a:prstGeom prst="wedgeRoundRectCallout">
                <a:avLst>
                  <a:gd name="adj1" fmla="val 85701"/>
                  <a:gd name="adj2" fmla="val -827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biased bootstrap estimate and depends on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346532" y="4880206"/>
                <a:ext cx="2337006" cy="1483111"/>
              </a:xfrm>
              <a:prstGeom prst="wedgeRoundRectCallout">
                <a:avLst>
                  <a:gd name="adj1" fmla="val 85701"/>
                  <a:gd name="adj2" fmla="val -8273"/>
                  <a:gd name="adj3" fmla="val 16667"/>
                </a:avLst>
              </a:prstGeom>
              <a:blipFill>
                <a:blip r:embed="rId4"/>
                <a:stretch>
                  <a:fillRect t="-813" b="-5285"/>
                </a:stretch>
              </a:blipFill>
            </p:spPr>
            <p:txBody>
              <a:bodyPr/>
              <a:lstStyle/>
              <a:p>
                <a:r>
                  <a:rPr lang="en-US">
                    <a:noFill/>
                  </a:rPr>
                  <a:t> </a:t>
                </a:r>
              </a:p>
            </p:txBody>
          </p:sp>
        </mc:Fallback>
      </mc:AlternateContent>
      <p:sp>
        <p:nvSpPr>
          <p:cNvPr id="4" name="Arrow: Right 3">
            <a:extLst>
              <a:ext uri="{FF2B5EF4-FFF2-40B4-BE49-F238E27FC236}">
                <a16:creationId xmlns:a16="http://schemas.microsoft.com/office/drawing/2014/main" id="{5EBD22A0-9CB5-0AD7-E9D9-785663D0E81C}"/>
              </a:ext>
              <a:ext uri="{C183D7F6-B498-43B3-948B-1728B52AA6E4}">
                <adec:decorative xmlns:adec="http://schemas.microsoft.com/office/drawing/2017/decorative" val="1"/>
              </a:ext>
            </a:extLst>
          </p:cNvPr>
          <p:cNvSpPr/>
          <p:nvPr/>
        </p:nvSpPr>
        <p:spPr>
          <a:xfrm>
            <a:off x="2333064" y="2689411"/>
            <a:ext cx="605118" cy="833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825A126-497B-AEAE-E99F-5C76AAC4AFEC}"/>
                  </a:ext>
                </a:extLst>
              </p:cNvPr>
              <p:cNvSpPr txBox="1"/>
              <p:nvPr/>
            </p:nvSpPr>
            <p:spPr>
              <a:xfrm>
                <a:off x="8832490" y="5695395"/>
                <a:ext cx="3112314" cy="9360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r>
                  <a:rPr lang="en-US" sz="1600" dirty="0"/>
                  <a:t>Minimizes: </a:t>
                </a:r>
                <a:br>
                  <a:rPr lang="en-US" sz="1600" i="1" dirty="0">
                    <a:latin typeface="Cambria Math" panose="02040503050406030204" pitchFamily="18" charset="0"/>
                  </a:rPr>
                </a:br>
                <a14:m>
                  <m:oMathPara xmlns:m="http://schemas.openxmlformats.org/officeDocument/2006/math">
                    <m:oMath>
                      <m:acc>
                        <m:accPr>
                          <m:chr m:val="̅"/>
                          <m:ctrlPr>
                            <a:rPr lang="en-US" sz="1600" i="1">
                              <a:latin typeface="Cambria Math" panose="02040503050406030204" pitchFamily="18" charset="0"/>
                            </a:rPr>
                          </m:ctrlPr>
                        </m:accPr>
                        <m:e>
                          <m:r>
                            <a:rPr lang="en-US" sz="1600" i="1">
                              <a:latin typeface="Cambria Math" panose="02040503050406030204" pitchFamily="18" charset="0"/>
                            </a:rPr>
                            <m:t>𝑉𝐸</m:t>
                          </m:r>
                        </m:e>
                      </m:acc>
                      <m:r>
                        <a:rPr lang="en-US" sz="1600" i="1">
                          <a:latin typeface="Cambria Math" panose="02040503050406030204" pitchFamily="18" charset="0"/>
                        </a:rPr>
                        <m:t>≝</m:t>
                      </m:r>
                      <m:nary>
                        <m:naryPr>
                          <m:chr m:val="∑"/>
                          <m:supHide m:val="on"/>
                          <m:ctrlPr>
                            <a:rPr lang="en-US" sz="1600" i="1">
                              <a:latin typeface="Cambria Math" panose="02040503050406030204" pitchFamily="18" charset="0"/>
                            </a:rPr>
                          </m:ctrlPr>
                        </m:naryPr>
                        <m:sub>
                          <m:r>
                            <a:rPr lang="en-US" sz="1600" i="1">
                              <a:latin typeface="Cambria Math" panose="02040503050406030204" pitchFamily="18" charset="0"/>
                            </a:rPr>
                            <m:t>𝑠</m:t>
                          </m:r>
                          <m:r>
                            <a:rPr lang="en-US" sz="1600" i="1">
                              <a:latin typeface="Cambria Math" panose="02040503050406030204" pitchFamily="18" charset="0"/>
                            </a:rPr>
                            <m:t>∈</m:t>
                          </m:r>
                          <m:r>
                            <a:rPr lang="en-US" sz="1600" i="1">
                              <a:latin typeface="Cambria Math" panose="02040503050406030204" pitchFamily="18" charset="0"/>
                              <a:ea typeface="Cambria Math" panose="02040503050406030204" pitchFamily="18" charset="0"/>
                            </a:rPr>
                            <m:t>𝒮</m:t>
                          </m:r>
                          <m:r>
                            <a:rPr lang="en-US" sz="1600" i="1">
                              <a:latin typeface="Cambria Math" panose="02040503050406030204" pitchFamily="18" charset="0"/>
                              <a:ea typeface="Cambria Math" panose="02040503050406030204" pitchFamily="18" charset="0"/>
                            </a:rPr>
                            <m:t> </m:t>
                          </m:r>
                        </m:sub>
                        <m:sup/>
                        <m:e>
                          <m:r>
                            <a:rPr lang="en-US" sz="1600" i="1">
                              <a:latin typeface="Cambria Math" panose="02040503050406030204" pitchFamily="18" charset="0"/>
                            </a:rPr>
                            <m:t>𝜇</m:t>
                          </m:r>
                          <m:d>
                            <m:dPr>
                              <m:ctrlPr>
                                <a:rPr lang="en-US" sz="1600" i="1">
                                  <a:latin typeface="Cambria Math" panose="02040503050406030204" pitchFamily="18" charset="0"/>
                                </a:rPr>
                              </m:ctrlPr>
                            </m:dPr>
                            <m:e>
                              <m:r>
                                <a:rPr lang="en-US" sz="1600" i="1">
                                  <a:latin typeface="Cambria Math" panose="02040503050406030204" pitchFamily="18" charset="0"/>
                                </a:rPr>
                                <m:t>𝑠</m:t>
                              </m:r>
                            </m:e>
                          </m:d>
                          <m:sSup>
                            <m:sSupPr>
                              <m:ctrlPr>
                                <a:rPr lang="en-US" sz="1600" i="1">
                                  <a:latin typeface="Cambria Math" panose="02040503050406030204" pitchFamily="18" charset="0"/>
                                </a:rPr>
                              </m:ctrlPr>
                            </m:sSup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r>
                                    <a:rPr lang="en-US" sz="1600" i="1">
                                      <a:latin typeface="Cambria Math" panose="02040503050406030204" pitchFamily="18" charset="0"/>
                                    </a:rPr>
                                    <m:t>𝑠</m:t>
                                  </m:r>
                                  <m:r>
                                    <a:rPr lang="en-US" sz="1600" i="1">
                                      <a:latin typeface="Cambria Math" panose="02040503050406030204" pitchFamily="18" charset="0"/>
                                    </a:rPr>
                                    <m:t>)−</m:t>
                                  </m:r>
                                  <m:acc>
                                    <m:accPr>
                                      <m:chr m:val="̂"/>
                                      <m:ctrlPr>
                                        <a:rPr lang="en-US" sz="1600" i="1">
                                          <a:latin typeface="Cambria Math" panose="02040503050406030204" pitchFamily="18" charset="0"/>
                                        </a:rPr>
                                      </m:ctrlPr>
                                    </m:accPr>
                                    <m:e>
                                      <m:r>
                                        <a:rPr lang="en-US" sz="1600" i="1">
                                          <a:latin typeface="Cambria Math" panose="02040503050406030204" pitchFamily="18" charset="0"/>
                                        </a:rPr>
                                        <m:t>𝑣</m:t>
                                      </m:r>
                                    </m:e>
                                  </m:acc>
                                  <m:d>
                                    <m:dPr>
                                      <m:ctrlPr>
                                        <a:rPr lang="en-US" sz="1600" i="1">
                                          <a:latin typeface="Cambria Math" panose="02040503050406030204" pitchFamily="18" charset="0"/>
                                        </a:rPr>
                                      </m:ctrlPr>
                                    </m:dPr>
                                    <m:e>
                                      <m:r>
                                        <a:rPr lang="en-US" sz="1600" i="1">
                                          <a:latin typeface="Cambria Math" panose="02040503050406030204" pitchFamily="18" charset="0"/>
                                        </a:rPr>
                                        <m:t>𝑠</m:t>
                                      </m:r>
                                      <m:r>
                                        <a:rPr lang="en-US" sz="1600" i="1">
                                          <a:latin typeface="Cambria Math" panose="02040503050406030204" pitchFamily="18" charset="0"/>
                                        </a:rPr>
                                        <m:t>,</m:t>
                                      </m:r>
                                      <m:r>
                                        <a:rPr lang="en-US" sz="1600" b="1" i="1">
                                          <a:latin typeface="Cambria Math" panose="02040503050406030204" pitchFamily="18" charset="0"/>
                                        </a:rPr>
                                        <m:t>𝒘</m:t>
                                      </m:r>
                                    </m:e>
                                  </m:d>
                                </m:e>
                              </m:d>
                            </m:e>
                            <m:sup>
                              <m:r>
                                <a:rPr lang="en-US" sz="1600" i="1">
                                  <a:latin typeface="Cambria Math" panose="02040503050406030204" pitchFamily="18" charset="0"/>
                                </a:rPr>
                                <m:t>2</m:t>
                              </m:r>
                            </m:sup>
                          </m:sSup>
                        </m:e>
                      </m:nary>
                    </m:oMath>
                  </m:oMathPara>
                </a14:m>
                <a:endParaRPr lang="en-US" sz="1600" dirty="0"/>
              </a:p>
            </p:txBody>
          </p:sp>
        </mc:Choice>
        <mc:Fallback xmlns="">
          <p:sp>
            <p:nvSpPr>
              <p:cNvPr id="15" name="TextBox 14">
                <a:extLst>
                  <a:ext uri="{FF2B5EF4-FFF2-40B4-BE49-F238E27FC236}">
                    <a16:creationId xmlns:a16="http://schemas.microsoft.com/office/drawing/2014/main" id="{C825A126-497B-AEAE-E99F-5C76AAC4AFEC}"/>
                  </a:ext>
                </a:extLst>
              </p:cNvPr>
              <p:cNvSpPr txBox="1">
                <a:spLocks noRot="1" noChangeAspect="1" noMove="1" noResize="1" noEditPoints="1" noAdjustHandles="1" noChangeArrowheads="1" noChangeShapeType="1" noTextEdit="1"/>
              </p:cNvSpPr>
              <p:nvPr/>
            </p:nvSpPr>
            <p:spPr>
              <a:xfrm>
                <a:off x="8832490" y="5695395"/>
                <a:ext cx="3112314" cy="936025"/>
              </a:xfrm>
              <a:prstGeom prst="rect">
                <a:avLst/>
              </a:prstGeom>
              <a:blipFill>
                <a:blip r:embed="rId5"/>
                <a:stretch>
                  <a:fillRect l="-975" t="-1274"/>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5CF24-49A3-63D0-E858-C4FAAF1039A8}"/>
              </a:ext>
            </a:extLst>
          </p:cNvPr>
          <p:cNvSpPr>
            <a:spLocks noGrp="1"/>
          </p:cNvSpPr>
          <p:nvPr>
            <p:ph type="title"/>
          </p:nvPr>
        </p:nvSpPr>
        <p:spPr/>
        <p:txBody>
          <a:bodyPr/>
          <a:lstStyle/>
          <a:p>
            <a:r>
              <a:rPr lang="en-US" dirty="0"/>
              <a:t>The Effect of Generalization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72847F-08E1-C3B0-0682-17285FE6DE4C}"/>
                  </a:ext>
                </a:extLst>
              </p:cNvPr>
              <p:cNvSpPr>
                <a:spLocks noGrp="1"/>
              </p:cNvSpPr>
              <p:nvPr>
                <p:ph idx="1"/>
              </p:nvPr>
            </p:nvSpPr>
            <p:spPr/>
            <p:txBody>
              <a:bodyPr/>
              <a:lstStyle/>
              <a:p>
                <a:pPr marL="0" indent="0">
                  <a:buNone/>
                </a:pPr>
                <a:r>
                  <a:rPr lang="en-US" b="1" dirty="0"/>
                  <a:t>Remember</a:t>
                </a:r>
                <a:r>
                  <a:rPr lang="en-US" dirty="0"/>
                  <a:t>: Prediction only follows the given </a:t>
                </a:r>
                <a14:m>
                  <m:oMath xmlns:m="http://schemas.openxmlformats.org/officeDocument/2006/math">
                    <m:r>
                      <a:rPr lang="en-US" b="0" i="1" smtClean="0">
                        <a:latin typeface="Cambria Math" panose="02040503050406030204" pitchFamily="18" charset="0"/>
                      </a:rPr>
                      <m:t>𝜋</m:t>
                    </m:r>
                  </m:oMath>
                </a14:m>
                <a:r>
                  <a:rPr lang="en-US" dirty="0"/>
                  <a:t>. It does not explore like control.</a:t>
                </a:r>
              </a:p>
              <a:p>
                <a:pPr marL="0" indent="0">
                  <a:buNone/>
                </a:pPr>
                <a:endParaRPr lang="en-US" b="1" dirty="0"/>
              </a:p>
              <a:p>
                <a:r>
                  <a:rPr lang="en-US" b="1" dirty="0"/>
                  <a:t>Tabular Methods do not generalize</a:t>
                </a:r>
                <a:r>
                  <a:rPr lang="en-US" dirty="0"/>
                  <a:t>:</a:t>
                </a:r>
                <a:r>
                  <a:rPr lang="en-US" b="1" dirty="0"/>
                  <a:t> </a:t>
                </a:r>
                <a:r>
                  <a:rPr lang="en-US" dirty="0"/>
                  <a:t>Monte Carlo Prediction and TD(0) only provide estimates for the states visited by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a:p>
                <a:r>
                  <a:rPr lang="en-US" b="1" dirty="0"/>
                  <a:t>Function approximation generalizes</a:t>
                </a:r>
                <a:r>
                  <a:rPr lang="en-US" dirty="0"/>
                  <a:t>: Provides estimates for more or all states, depending on the constructed features.</a:t>
                </a:r>
              </a:p>
              <a:p>
                <a:pPr lvl="1"/>
                <a:r>
                  <a:rPr lang="en-US" dirty="0"/>
                  <a:t>The approximation for states never visited may be bad.</a:t>
                </a:r>
              </a:p>
            </p:txBody>
          </p:sp>
        </mc:Choice>
        <mc:Fallback xmlns="">
          <p:sp>
            <p:nvSpPr>
              <p:cNvPr id="3" name="Content Placeholder 2">
                <a:extLst>
                  <a:ext uri="{FF2B5EF4-FFF2-40B4-BE49-F238E27FC236}">
                    <a16:creationId xmlns:a16="http://schemas.microsoft.com/office/drawing/2014/main" id="{5072847F-08E1-C3B0-0682-17285FE6DE4C}"/>
                  </a:ext>
                </a:extLst>
              </p:cNvPr>
              <p:cNvSpPr>
                <a:spLocks noGrp="1" noRot="1" noChangeAspect="1" noMove="1" noResize="1" noEditPoints="1" noAdjustHandles="1" noChangeArrowheads="1" noChangeShapeType="1" noTextEdit="1"/>
              </p:cNvSpPr>
              <p:nvPr>
                <p:ph idx="1"/>
              </p:nvPr>
            </p:nvSpPr>
            <p:spPr>
              <a:blipFill>
                <a:blip r:embed="rId2"/>
                <a:stretch>
                  <a:fillRect l="-1217" t="-2168" r="-116"/>
                </a:stretch>
              </a:blipFill>
            </p:spPr>
            <p:txBody>
              <a:bodyPr/>
              <a:lstStyle/>
              <a:p>
                <a:r>
                  <a:rPr lang="en-US">
                    <a:noFill/>
                  </a:rPr>
                  <a:t> </a:t>
                </a:r>
              </a:p>
            </p:txBody>
          </p:sp>
        </mc:Fallback>
      </mc:AlternateContent>
    </p:spTree>
    <p:extLst>
      <p:ext uri="{BB962C8B-B14F-4D97-AF65-F5344CB8AC3E}">
        <p14:creationId xmlns:p14="http://schemas.microsoft.com/office/powerpoint/2010/main" val="175016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Function Approximation</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Definition of a simple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Function Approximation Methods</a:t>
            </a:r>
          </a:p>
        </p:txBody>
      </p:sp>
      <mc:AlternateContent xmlns:mc="http://schemas.openxmlformats.org/markup-compatibility/2006" xmlns:a14="http://schemas.microsoft.com/office/drawing/2010/main">
        <mc:Choice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70000" lnSpcReduction="20000"/>
              </a:bodyPr>
              <a:lstStyle/>
              <a:p>
                <a:pPr>
                  <a:lnSpc>
                    <a:spcPct val="120000"/>
                  </a:lnSpc>
                </a:pPr>
                <a:r>
                  <a:rPr lang="en-US" dirty="0"/>
                  <a:t>Linear approximation of the state value by the inner product </a:t>
                </a: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i="1" dirty="0">
                    <a:latin typeface="Cambria Math" panose="02040503050406030204" pitchFamily="18" charset="0"/>
                  </a:rPr>
                </a:br>
                <a:r>
                  <a:rPr lang="en-US" dirty="0"/>
                  <a:t>where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𝑑</m:t>
                                </m:r>
                              </m:sub>
                            </m:sSub>
                            <m:d>
                              <m:dPr>
                                <m:ctrlPr>
                                  <a:rPr lang="en-US" i="1">
                                    <a:latin typeface="Cambria Math" panose="02040503050406030204" pitchFamily="18" charset="0"/>
                                  </a:rPr>
                                </m:ctrlPr>
                              </m:dPr>
                              <m:e>
                                <m:r>
                                  <a:rPr lang="en-US" i="1">
                                    <a:latin typeface="Cambria Math" panose="02040503050406030204" pitchFamily="18" charset="0"/>
                                  </a:rPr>
                                  <m:t>𝑠</m:t>
                                </m:r>
                              </m:e>
                            </m:d>
                          </m:e>
                        </m:d>
                      </m:e>
                      <m:sup>
                        <m:r>
                          <a:rPr lang="en-US" b="1" i="1">
                            <a:latin typeface="Cambria Math" panose="02040503050406030204" pitchFamily="18" charset="0"/>
                          </a:rPr>
                          <m:t>⊤</m:t>
                        </m:r>
                      </m:sup>
                    </m:sSup>
                  </m:oMath>
                </a14:m>
                <a:r>
                  <a:rPr lang="en-US" dirty="0"/>
                  <a:t>is the state feature vector </a:t>
                </a:r>
                <a:br>
                  <a:rPr lang="en-US" dirty="0"/>
                </a:br>
                <a:r>
                  <a:rPr lang="en-US" dirty="0"/>
                  <a:t>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a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Linearity creates a convex optimization problem. SGD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semi-gradient on-policy methods!</a:t>
                </a:r>
              </a:p>
            </p:txBody>
          </p:sp>
        </mc:Choice>
        <mc:Fallback xmlns="">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522" t="-638" b="-1658"/>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9450633" y="4460411"/>
            <a:ext cx="2408809" cy="697042"/>
          </a:xfrm>
          <a:prstGeom prst="wedgeRoundRectCallout">
            <a:avLst>
              <a:gd name="adj1" fmla="val -85172"/>
              <a:gd name="adj2" fmla="val 9476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xmlns:a14="http://schemas.microsoft.com/office/drawing/2010/main">
        <mc:Choice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e>
                        </m:d>
                      </m:e>
                      <m:sup>
                        <m:r>
                          <a:rPr lang="en-US" b="1" i="1">
                            <a:latin typeface="Cambria Math" panose="02040503050406030204" pitchFamily="18" charset="0"/>
                          </a:rPr>
                          <m:t>⊤</m:t>
                        </m:r>
                      </m:sup>
                    </m:sSup>
                  </m:oMath>
                </a14:m>
                <a:r>
                  <a:rPr lang="en-US" dirty="0"/>
                  <a:t>.  1 is used as an intercept.</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factored state description. </a:t>
                </a:r>
              </a:p>
              <a:p>
                <a:pPr lvl="1"/>
                <a:r>
                  <a:rPr lang="en-US" dirty="0"/>
                  <a:t>Linear models cannot represent interactions between variables.</a:t>
                </a:r>
              </a:p>
              <a:p>
                <a:pPr marL="0" indent="0">
                  <a:buNone/>
                </a:pPr>
                <a:endParaRPr lang="en-US" dirty="0"/>
              </a:p>
            </p:txBody>
          </p:sp>
        </mc:Choice>
        <mc:Fallback xmlns="">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52876-D1DB-2C5D-116E-657F7C675A4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E05803-3B19-77B2-F068-D850079A0325}"/>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TD(0) prediction with linear function approximation using linear features</a:t>
            </a:r>
          </a:p>
        </p:txBody>
      </p:sp>
      <p:sp>
        <p:nvSpPr>
          <p:cNvPr id="3" name="TextBox 2">
            <a:extLst>
              <a:ext uri="{FF2B5EF4-FFF2-40B4-BE49-F238E27FC236}">
                <a16:creationId xmlns:a16="http://schemas.microsoft.com/office/drawing/2014/main" id="{00EE2B4C-4014-9F11-C2A0-7892A3435753}"/>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6490018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
        <p:nvSpPr>
          <p:cNvPr id="3" name="TextBox 2">
            <a:extLst>
              <a:ext uri="{FF2B5EF4-FFF2-40B4-BE49-F238E27FC236}">
                <a16:creationId xmlns:a16="http://schemas.microsoft.com/office/drawing/2014/main" id="{B1219192-78ED-F60C-7F82-4BEC09A762B7}"/>
              </a:ext>
            </a:extLst>
          </p:cNvPr>
          <p:cNvSpPr txBox="1"/>
          <p:nvPr/>
        </p:nvSpPr>
        <p:spPr>
          <a:xfrm>
            <a:off x="3880235" y="6186377"/>
            <a:ext cx="462766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Linear features do not work for this problem!</a:t>
            </a:r>
          </a:p>
        </p:txBody>
      </p:sp>
    </p:spTree>
    <p:extLst>
      <p:ext uri="{BB962C8B-B14F-4D97-AF65-F5344CB8AC3E}">
        <p14:creationId xmlns:p14="http://schemas.microsoft.com/office/powerpoint/2010/main" val="42638643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receptor fields.</a:t>
                </a:r>
              </a:p>
              <a:p>
                <a:pPr lvl="1"/>
                <a:r>
                  <a:rPr lang="en-US" dirty="0"/>
                  <a:t>Polynomial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d>
                            <m:dPr>
                              <m:ctrlPr>
                                <a:rPr lang="en-US" sz="1600" b="0" i="0" smtClean="0">
                                  <a:latin typeface="Cambria Math" panose="02040503050406030204" pitchFamily="18" charset="0"/>
                                </a:rPr>
                              </m:ctrlPr>
                            </m:dPr>
                            <m:e>
                              <m:r>
                                <a:rPr lang="en-US" sz="1600" b="0" i="0" smtClean="0">
                                  <a:latin typeface="Cambria Math" panose="02040503050406030204" pitchFamily="18" charset="0"/>
                                </a:rPr>
                                <m:t>1, .9,.65, .35,. 1</m:t>
                              </m:r>
                            </m:e>
                          </m:d>
                        </m:e>
                        <m:sup>
                          <m:r>
                            <a:rPr lang="en-US" sz="1600" b="1" i="1">
                              <a:latin typeface="Cambria Math" panose="02040503050406030204" pitchFamily="18" charset="0"/>
                            </a:rPr>
                            <m:t>⊤</m:t>
                          </m:r>
                        </m:sup>
                      </m:sSup>
                    </m:oMath>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l="-821" t="-1786" b="-16071"/>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dirty="0"/>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r>
                              <a:rPr lang="en-US" b="0" i="1" smtClean="0">
                                <a:latin typeface="Cambria Math" panose="02040503050406030204" pitchFamily="18" charset="0"/>
                              </a:rPr>
                              <m:t> </m:t>
                            </m:r>
                          </m:sub>
                          <m:sup>
                            <m:r>
                              <a:rPr lang="en-US" i="1">
                                <a:latin typeface="Cambria Math" panose="02040503050406030204" pitchFamily="18" charset="0"/>
                              </a:rPr>
                              <m:t>𝑖</m:t>
                            </m:r>
                          </m:sup>
                        </m:sSubSup>
                      </m:e>
                    </m:d>
                  </m:oMath>
                </a14:m>
                <a:r>
                  <a:rPr lang="en-US" dirty="0"/>
                  <a:t> is a coefficient vector</a:t>
                </a:r>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550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 as a vector </a:t>
                </a:r>
                <a14:m>
                  <m:oMath xmlns:m="http://schemas.openxmlformats.org/officeDocument/2006/math">
                    <m:r>
                      <a:rPr lang="en-US" b="1" i="1" smtClean="0">
                        <a:latin typeface="Cambria Math" panose="02040503050406030204" pitchFamily="18" charset="0"/>
                      </a:rPr>
                      <m:t>𝒙</m:t>
                    </m:r>
                  </m:oMath>
                </a14:m>
                <a:r>
                  <a:rPr lang="en-US" b="1" dirty="0"/>
                  <a:t> </a:t>
                </a:r>
                <a:r>
                  <a:rPr lang="en-US" dirty="0"/>
                  <a:t>with 1 for all active tiles and 0 for all others.</a:t>
                </a:r>
                <a:endParaRPr lang="en-US" b="1" dirty="0"/>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174" t="-3876" b="-1938"/>
                </a:stretch>
              </a:blipFill>
            </p:spPr>
            <p:txBody>
              <a:bodyPr/>
              <a:lstStyle/>
              <a:p>
                <a:r>
                  <a:rPr lang="en-US">
                    <a:noFill/>
                  </a:rPr>
                  <a:t> </a:t>
                </a:r>
              </a:p>
            </p:txBody>
          </p:sp>
        </mc:Fallback>
      </mc:AlternateContent>
      <p:grpSp>
        <p:nvGrpSpPr>
          <p:cNvPr id="12" name="Group 11"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AA89BFBB-9DB9-5A8F-8F9B-1F216E59EA2B}"/>
              </a:ext>
            </a:extLst>
          </p:cNvPr>
          <p:cNvGrpSpPr/>
          <p:nvPr/>
        </p:nvGrpSpPr>
        <p:grpSpPr>
          <a:xfrm>
            <a:off x="838199" y="2913888"/>
            <a:ext cx="10825636" cy="2819914"/>
            <a:chOff x="838199" y="2913888"/>
            <a:chExt cx="10825636" cy="2819914"/>
          </a:xfrm>
        </p:grpSpPr>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tilings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grpSp>
        <p:sp>
          <p:nvSpPr>
            <p:cNvPr id="4" name="Rectangle 3">
              <a:extLst>
                <a:ext uri="{FF2B5EF4-FFF2-40B4-BE49-F238E27FC236}">
                  <a16:creationId xmlns:a16="http://schemas.microsoft.com/office/drawing/2014/main" id="{C607847D-3736-8D56-15F2-79760F1B9927}"/>
                </a:ext>
              </a:extLst>
            </p:cNvPr>
            <p:cNvSpPr/>
            <p:nvPr/>
          </p:nvSpPr>
          <p:spPr>
            <a:xfrm>
              <a:off x="5359044" y="4078908"/>
              <a:ext cx="469641" cy="484804"/>
            </a:xfrm>
            <a:prstGeom prst="rect">
              <a:avLst/>
            </a:prstGeom>
            <a:noFill/>
            <a:ln w="57150">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tilings,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dirty="0"/>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dirty="0"/>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5476B-93B8-200D-AFC4-FD5D82620F70}"/>
              </a:ext>
            </a:extLst>
          </p:cNvPr>
          <p:cNvSpPr>
            <a:spLocks noGrp="1"/>
          </p:cNvSpPr>
          <p:nvPr>
            <p:ph type="title"/>
          </p:nvPr>
        </p:nvSpPr>
        <p:spPr/>
        <p:txBody>
          <a:bodyPr>
            <a:normAutofit/>
          </a:bodyPr>
          <a:lstStyle/>
          <a:p>
            <a:r>
              <a:rPr lang="en-US" dirty="0"/>
              <a:t>Tabular RL as a Special Case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D94023-3844-D64E-09EE-AFC4A96E153F}"/>
                  </a:ext>
                </a:extLst>
              </p:cNvPr>
              <p:cNvSpPr>
                <a:spLocks noGrp="1"/>
              </p:cNvSpPr>
              <p:nvPr>
                <p:ph idx="1"/>
              </p:nvPr>
            </p:nvSpPr>
            <p:spPr>
              <a:xfrm>
                <a:off x="838200" y="1397330"/>
                <a:ext cx="6204045" cy="4779633"/>
              </a:xfrm>
            </p:spPr>
            <p:txBody>
              <a:bodyPr>
                <a:normAutofit fontScale="85000" lnSpcReduction="20000"/>
              </a:bodyPr>
              <a:lstStyle/>
              <a:p>
                <a:pPr marL="0" indent="0">
                  <a:buNone/>
                </a:pPr>
                <a:r>
                  <a:rPr lang="en-US" dirty="0"/>
                  <a:t>Tabular RL is a special case of Linear Approximation for a discrete state space.</a:t>
                </a:r>
              </a:p>
              <a:p>
                <a:endParaRPr lang="en-US" dirty="0"/>
              </a:p>
              <a:p>
                <a:r>
                  <a:rPr lang="en-US" b="1" dirty="0"/>
                  <a:t>State feature vector</a:t>
                </a:r>
                <a:r>
                  <a:rPr lang="en-US" dirty="0"/>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 </m:t>
                    </m:r>
                  </m:oMath>
                </a14:m>
                <a:r>
                  <a:rPr lang="en-US" dirty="0"/>
                  <a:t>is a one-hot encoding for the state.</a:t>
                </a:r>
              </a:p>
              <a:p>
                <a:r>
                  <a:rPr lang="en-US" b="1" dirty="0"/>
                  <a:t>Weight vector</a:t>
                </a:r>
                <a:r>
                  <a:rPr lang="en-US" dirty="0"/>
                  <a:t>: </a:t>
                </a:r>
                <a14:m>
                  <m:oMath xmlns:m="http://schemas.openxmlformats.org/officeDocument/2006/math">
                    <m:r>
                      <a:rPr lang="en-US" b="1" i="1" smtClean="0">
                        <a:latin typeface="Cambria Math" panose="02040503050406030204" pitchFamily="18" charset="0"/>
                      </a:rPr>
                      <m:t>𝒘</m:t>
                    </m:r>
                  </m:oMath>
                </a14:m>
                <a:r>
                  <a:rPr lang="en-US" b="1" dirty="0"/>
                  <a:t> </a:t>
                </a:r>
                <a:r>
                  <a:rPr lang="en-US" dirty="0"/>
                  <a:t>has 1 entry for each state.</a:t>
                </a:r>
              </a:p>
              <a:p>
                <a:endParaRPr lang="en-US" dirty="0"/>
              </a:p>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1"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b="1" i="1">
                            <a:latin typeface="Cambria Math" panose="02040503050406030204" pitchFamily="18" charset="0"/>
                          </a:rPr>
                          <m:t>⊤</m:t>
                        </m:r>
                      </m:sup>
                    </m:sSup>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now always picks a single value from </a:t>
                </a: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oMath>
                </a14:m>
                <a:endParaRPr lang="en-US" dirty="0"/>
              </a:p>
              <a:p>
                <a:endParaRPr lang="en-US" dirty="0"/>
              </a:p>
              <a:p>
                <a:r>
                  <a:rPr lang="en-US" dirty="0"/>
                  <a:t>Consequences:</a:t>
                </a:r>
              </a:p>
              <a:p>
                <a:pPr lvl="1"/>
                <a14:m>
                  <m:oMath xmlns:m="http://schemas.openxmlformats.org/officeDocument/2006/math">
                    <m:r>
                      <a:rPr lang="en-US" b="1" i="1" smtClean="0">
                        <a:latin typeface="Cambria Math" panose="02040503050406030204" pitchFamily="18" charset="0"/>
                      </a:rPr>
                      <m:t>𝒘</m:t>
                    </m:r>
                  </m:oMath>
                </a14:m>
                <a:r>
                  <a:rPr lang="en-US" b="1" dirty="0"/>
                  <a:t> </a:t>
                </a:r>
                <a:r>
                  <a:rPr lang="en-US" dirty="0"/>
                  <a:t>is just </a:t>
                </a:r>
                <a14:m>
                  <m:oMath xmlns:m="http://schemas.openxmlformats.org/officeDocument/2006/math">
                    <m:r>
                      <a:rPr lang="en-US" b="0" i="1" smtClean="0">
                        <a:latin typeface="Cambria Math" panose="02040503050406030204" pitchFamily="18" charset="0"/>
                      </a:rPr>
                      <m:t>𝑉</m:t>
                    </m:r>
                  </m:oMath>
                </a14:m>
                <a:r>
                  <a:rPr lang="en-US" dirty="0"/>
                  <a:t> in our tabular methods.</a:t>
                </a:r>
              </a:p>
              <a:p>
                <a:pPr lvl="1"/>
                <a:r>
                  <a:rPr lang="en-US" dirty="0"/>
                  <a:t>No generalization</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E2D94023-3844-D64E-09EE-AFC4A96E153F}"/>
                  </a:ext>
                </a:extLst>
              </p:cNvPr>
              <p:cNvSpPr>
                <a:spLocks noGrp="1" noRot="1" noChangeAspect="1" noMove="1" noResize="1" noEditPoints="1" noAdjustHandles="1" noChangeArrowheads="1" noChangeShapeType="1" noTextEdit="1"/>
              </p:cNvSpPr>
              <p:nvPr>
                <p:ph idx="1"/>
              </p:nvPr>
            </p:nvSpPr>
            <p:spPr>
              <a:xfrm>
                <a:off x="838200" y="1397330"/>
                <a:ext cx="6204045" cy="4779633"/>
              </a:xfrm>
              <a:blipFill>
                <a:blip r:embed="rId2"/>
                <a:stretch>
                  <a:fillRect l="-1573" t="-2806" r="-1278"/>
                </a:stretch>
              </a:blipFill>
            </p:spPr>
            <p:txBody>
              <a:bodyPr/>
              <a:lstStyle/>
              <a:p>
                <a:r>
                  <a:rPr lang="en-US">
                    <a:noFill/>
                  </a:rPr>
                  <a:t> </a:t>
                </a:r>
              </a:p>
            </p:txBody>
          </p:sp>
        </mc:Fallback>
      </mc:AlternateContent>
      <p:grpSp>
        <p:nvGrpSpPr>
          <p:cNvPr id="8" name="Group 7" descr="A simple maze example to show the equivalence to tabular methods.">
            <a:extLst>
              <a:ext uri="{FF2B5EF4-FFF2-40B4-BE49-F238E27FC236}">
                <a16:creationId xmlns:a16="http://schemas.microsoft.com/office/drawing/2014/main" id="{B8B79CFE-5227-591B-309E-D0C8871346E3}"/>
              </a:ext>
            </a:extLst>
          </p:cNvPr>
          <p:cNvGrpSpPr/>
          <p:nvPr/>
        </p:nvGrpSpPr>
        <p:grpSpPr>
          <a:xfrm>
            <a:off x="7624482" y="1124198"/>
            <a:ext cx="4229099" cy="4744675"/>
            <a:chOff x="7624482" y="1124198"/>
            <a:chExt cx="4229099" cy="4744675"/>
          </a:xfrm>
        </p:grpSpPr>
        <p:pic>
          <p:nvPicPr>
            <p:cNvPr id="4" name="Picture 3">
              <a:extLst>
                <a:ext uri="{FF2B5EF4-FFF2-40B4-BE49-F238E27FC236}">
                  <a16:creationId xmlns:a16="http://schemas.microsoft.com/office/drawing/2014/main" id="{615E8526-F2F5-D312-A9EE-01AB110CD188}"/>
                </a:ext>
              </a:extLst>
            </p:cNvPr>
            <p:cNvPicPr>
              <a:picLocks noChangeAspect="1"/>
            </p:cNvPicPr>
            <p:nvPr/>
          </p:nvPicPr>
          <p:blipFill>
            <a:blip r:embed="rId3"/>
            <a:stretch>
              <a:fillRect/>
            </a:stretch>
          </p:blipFill>
          <p:spPr>
            <a:xfrm>
              <a:off x="7786557" y="1650846"/>
              <a:ext cx="3473726" cy="2701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8698FB-EAF6-FD2F-962C-4D5389EB0A0B}"/>
                    </a:ext>
                  </a:extLst>
                </p:cNvPr>
                <p:cNvSpPr txBox="1"/>
                <p:nvPr/>
              </p:nvSpPr>
              <p:spPr>
                <a:xfrm>
                  <a:off x="7624482" y="4545434"/>
                  <a:ext cx="4229099" cy="1323439"/>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𝒙</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1,0,0,0,0,0,0,0,0,0,0</m:t>
                              </m:r>
                            </m:e>
                          </m:d>
                        </m:e>
                        <m:sup>
                          <m:r>
                            <a:rPr lang="en-US" sz="2000" b="1" i="1">
                              <a:latin typeface="Cambria Math" panose="02040503050406030204" pitchFamily="18" charset="0"/>
                            </a:rPr>
                            <m:t>⊤</m:t>
                          </m:r>
                        </m:sup>
                      </m:sSup>
                    </m:oMath>
                  </a14:m>
                  <a:endParaRPr lang="en-US" sz="1400" b="0" dirty="0"/>
                </a:p>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𝒘</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10</m:t>
                                  </m:r>
                                </m:sub>
                              </m:sSub>
                            </m:e>
                          </m:d>
                        </m:e>
                        <m:sup>
                          <m:r>
                            <a:rPr lang="en-US" sz="2000" b="1" i="1">
                              <a:latin typeface="Cambria Math" panose="02040503050406030204" pitchFamily="18" charset="0"/>
                            </a:rPr>
                            <m:t>⊤</m:t>
                          </m:r>
                        </m:sup>
                      </m:sSup>
                    </m:oMath>
                  </a14:m>
                  <a:br>
                    <a:rPr lang="en-US" sz="2000" b="0" dirty="0"/>
                  </a:br>
                  <a:br>
                    <a:rPr lang="en-US" sz="2000" b="0" dirty="0"/>
                  </a:br>
                  <a14:m>
                    <m:oMath xmlns:m="http://schemas.openxmlformats.org/officeDocument/2006/math">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r>
                            <a:rPr lang="en-US" sz="2000" i="1">
                              <a:latin typeface="Cambria Math" panose="02040503050406030204" pitchFamily="18" charset="0"/>
                            </a:rPr>
                            <m:t>,</m:t>
                          </m:r>
                          <m:r>
                            <a:rPr lang="en-US" sz="2000" b="1" i="1">
                              <a:latin typeface="Cambria Math" panose="02040503050406030204" pitchFamily="18" charset="0"/>
                            </a:rPr>
                            <m:t>𝒘</m:t>
                          </m:r>
                        </m:e>
                      </m:d>
                      <m:r>
                        <a:rPr lang="en-US" sz="2000" b="1" i="1">
                          <a:latin typeface="Cambria Math" panose="02040503050406030204" pitchFamily="18" charset="0"/>
                        </a:rPr>
                        <m:t>=</m:t>
                      </m:r>
                      <m:sSup>
                        <m:sSupPr>
                          <m:ctrlPr>
                            <a:rPr lang="en-US" sz="2000" b="1" i="1">
                              <a:latin typeface="Cambria Math" panose="02040503050406030204" pitchFamily="18" charset="0"/>
                            </a:rPr>
                          </m:ctrlPr>
                        </m:sSupPr>
                        <m:e>
                          <m:r>
                            <a:rPr lang="en-US" sz="2000" b="1" i="1">
                              <a:latin typeface="Cambria Math" panose="02040503050406030204" pitchFamily="18" charset="0"/>
                            </a:rPr>
                            <m:t>𝒘</m:t>
                          </m:r>
                        </m:e>
                        <m:sup>
                          <m:r>
                            <a:rPr lang="en-US" sz="2000" b="1" i="1">
                              <a:latin typeface="Cambria Math" panose="02040503050406030204" pitchFamily="18" charset="0"/>
                            </a:rPr>
                            <m:t>⊤</m:t>
                          </m:r>
                        </m:sup>
                      </m:sSup>
                      <m:r>
                        <a:rPr lang="en-US" sz="2000" b="1" i="1">
                          <a:latin typeface="Cambria Math" panose="02040503050406030204" pitchFamily="18" charset="0"/>
                        </a:rPr>
                        <m:t>𝒙</m:t>
                      </m:r>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a14:m>
                  <a:endParaRPr lang="en-US" sz="2000" b="0" dirty="0"/>
                </a:p>
              </p:txBody>
            </p:sp>
          </mc:Choice>
          <mc:Fallback xmlns="">
            <p:sp>
              <p:nvSpPr>
                <p:cNvPr id="6" name="TextBox 5">
                  <a:extLst>
                    <a:ext uri="{FF2B5EF4-FFF2-40B4-BE49-F238E27FC236}">
                      <a16:creationId xmlns:a16="http://schemas.microsoft.com/office/drawing/2014/main" id="{0F8698FB-EAF6-FD2F-962C-4D5389EB0A0B}"/>
                    </a:ext>
                  </a:extLst>
                </p:cNvPr>
                <p:cNvSpPr txBox="1">
                  <a:spLocks noRot="1" noChangeAspect="1" noMove="1" noResize="1" noEditPoints="1" noAdjustHandles="1" noChangeArrowheads="1" noChangeShapeType="1" noTextEdit="1"/>
                </p:cNvSpPr>
                <p:nvPr/>
              </p:nvSpPr>
              <p:spPr>
                <a:xfrm>
                  <a:off x="7624482" y="4545434"/>
                  <a:ext cx="4229099" cy="1323439"/>
                </a:xfrm>
                <a:prstGeom prst="rect">
                  <a:avLst/>
                </a:prstGeom>
                <a:blipFill>
                  <a:blip r:embed="rId4"/>
                  <a:stretch>
                    <a:fillRect l="-1299" t="-1843" b="-368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B5CF3AB-B5DD-4B88-5213-24B3CEBE15B8}"/>
                </a:ext>
              </a:extLst>
            </p:cNvPr>
            <p:cNvSpPr txBox="1"/>
            <p:nvPr/>
          </p:nvSpPr>
          <p:spPr>
            <a:xfrm>
              <a:off x="7915701" y="1124198"/>
              <a:ext cx="1549021" cy="369332"/>
            </a:xfrm>
            <a:prstGeom prst="rect">
              <a:avLst/>
            </a:prstGeom>
            <a:noFill/>
          </p:spPr>
          <p:txBody>
            <a:bodyPr wrap="square" rtlCol="0">
              <a:spAutoFit/>
            </a:bodyPr>
            <a:lstStyle/>
            <a:p>
              <a:r>
                <a:rPr lang="en-US" dirty="0"/>
                <a:t>Example:</a:t>
              </a:r>
            </a:p>
          </p:txBody>
        </p:sp>
      </p:grpSp>
    </p:spTree>
    <p:extLst>
      <p:ext uri="{BB962C8B-B14F-4D97-AF65-F5344CB8AC3E}">
        <p14:creationId xmlns:p14="http://schemas.microsoft.com/office/powerpoint/2010/main" val="5792991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 to approximate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a:extLst>
                  <a:ext uri="{FF2B5EF4-FFF2-40B4-BE49-F238E27FC236}">
                    <a16:creationId xmlns:a16="http://schemas.microsoft.com/office/drawing/2014/main" id="{A0742DE7-913C-60BB-DF8E-B71A7E28A534}"/>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6651022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1" y="1226541"/>
            <a:ext cx="6036804" cy="5266333"/>
          </a:xfrm>
        </p:spPr>
        <p:txBody>
          <a:bodyPr>
            <a:normAutofit fontScale="62500" lnSpcReduction="20000"/>
          </a:bodyPr>
          <a:lstStyle/>
          <a:p>
            <a:r>
              <a:rPr lang="en-US" dirty="0"/>
              <a:t>Uses artificial neural networks to approximate the value function.</a:t>
            </a:r>
          </a:p>
          <a:p>
            <a:r>
              <a:rPr lang="en-US" b="1" dirty="0"/>
              <a:t>Architecture choices</a:t>
            </a:r>
            <a:r>
              <a:rPr lang="en-US" dirty="0"/>
              <a:t>:</a:t>
            </a:r>
          </a:p>
          <a:p>
            <a:pPr lvl="1"/>
            <a:r>
              <a:rPr lang="en-US" dirty="0"/>
              <a:t>Single hidden-layer feedforward network (is a universal approximator)</a:t>
            </a:r>
          </a:p>
          <a:p>
            <a:pPr lvl="1"/>
            <a:r>
              <a:rPr lang="en-US" dirty="0"/>
              <a:t>Convolutional networks</a:t>
            </a:r>
          </a:p>
          <a:p>
            <a:pPr lvl="1"/>
            <a:r>
              <a:rPr lang="en-US" dirty="0"/>
              <a:t>Recurrent networks</a:t>
            </a:r>
          </a:p>
          <a:p>
            <a:pPr lvl="1"/>
            <a:r>
              <a:rPr lang="en-US" dirty="0"/>
              <a:t>Transformers</a:t>
            </a:r>
          </a:p>
          <a:p>
            <a:pPr lvl="1"/>
            <a:r>
              <a:rPr lang="en-US" dirty="0"/>
              <a:t>Deep residual learning…</a:t>
            </a:r>
          </a:p>
          <a:p>
            <a:pPr marL="457200" lvl="1" indent="0">
              <a:buNone/>
            </a:pPr>
            <a:br>
              <a:rPr lang="en-US" dirty="0"/>
            </a:br>
            <a:r>
              <a:rPr lang="en-US" dirty="0"/>
              <a:t>+ Regularization, dropout, weight sharing, …</a:t>
            </a:r>
          </a:p>
          <a:p>
            <a:pPr lvl="1"/>
            <a:endParaRPr lang="en-US" dirty="0"/>
          </a:p>
          <a:p>
            <a:r>
              <a:rPr lang="en-US" b="1" dirty="0"/>
              <a:t>Training</a:t>
            </a:r>
            <a:r>
              <a:rPr lang="en-US" dirty="0"/>
              <a:t>: Use gradient descent and backpropagation for deep networks.</a:t>
            </a:r>
          </a:p>
          <a:p>
            <a:r>
              <a:rPr lang="en-US" b="1" dirty="0"/>
              <a:t>Advantages</a:t>
            </a:r>
            <a:r>
              <a:rPr lang="en-US" dirty="0"/>
              <a:t>:</a:t>
            </a:r>
          </a:p>
          <a:p>
            <a:pPr lvl="1"/>
            <a:r>
              <a:rPr lang="en-US" dirty="0"/>
              <a:t>More flexible and powerful approximation. </a:t>
            </a:r>
          </a:p>
          <a:p>
            <a:pPr lvl="1"/>
            <a:r>
              <a:rPr lang="en-US" dirty="0"/>
              <a:t>End-to-end learning: Can learns feature construction.</a:t>
            </a:r>
          </a:p>
          <a:p>
            <a:r>
              <a:rPr lang="en-US" b="1" dirty="0"/>
              <a:t>Issues: </a:t>
            </a:r>
            <a:r>
              <a:rPr lang="en-US" dirty="0"/>
              <a:t>Nonlinearity</a:t>
            </a:r>
          </a:p>
          <a:p>
            <a:pPr lvl="1"/>
            <a:r>
              <a:rPr lang="en-US" dirty="0"/>
              <a:t>Leads to instability</a:t>
            </a:r>
          </a:p>
          <a:p>
            <a:pPr lvl="1"/>
            <a:r>
              <a:rPr lang="en-US" dirty="0"/>
              <a:t>Generally, no convergence guarantee</a:t>
            </a:r>
          </a:p>
          <a:p>
            <a:pPr lvl="1"/>
            <a:r>
              <a:rPr lang="en-US" dirty="0"/>
              <a:t>Convergence needs many tricks: experience replay, target networks, gradient clipping, …</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7276460" y="1226541"/>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dirty="0"/>
            </a:p>
          </p:txBody>
        </p:sp>
      </p:grpSp>
      <p:sp>
        <p:nvSpPr>
          <p:cNvPr id="6" name="TextBox 5">
            <a:extLst>
              <a:ext uri="{FF2B5EF4-FFF2-40B4-BE49-F238E27FC236}">
                <a16:creationId xmlns:a16="http://schemas.microsoft.com/office/drawing/2014/main" id="{2D8CF3CF-1210-4DD6-66BD-9391777159D8}"/>
              </a:ext>
            </a:extLst>
          </p:cNvPr>
          <p:cNvSpPr txBox="1"/>
          <p:nvPr/>
        </p:nvSpPr>
        <p:spPr>
          <a:xfrm>
            <a:off x="6919956" y="5575532"/>
            <a:ext cx="4766478" cy="83099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2400" dirty="0"/>
              <a:t>More when we talk about Deep Reinforcement Learning (DRL).</a:t>
            </a:r>
          </a:p>
        </p:txBody>
      </p:sp>
    </p:spTree>
    <p:extLst>
      <p:ext uri="{BB962C8B-B14F-4D97-AF65-F5344CB8AC3E}">
        <p14:creationId xmlns:p14="http://schemas.microsoft.com/office/powerpoint/2010/main" val="349810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3" end="13"/>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4" end="14"/>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5" end="15"/>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Function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xmlns:a14="http://schemas.microsoft.com/office/drawing/2010/main">
        <mc:Choice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the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target estimate:</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b="1" dirty="0"/>
                  <a:t>Exploration</a:t>
                </a:r>
                <a:r>
                  <a:rPr lang="en-US" dirty="0"/>
                  <a:t>: 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xmlns="">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b="-1913"/>
                </a:stretch>
              </a:blipFill>
            </p:spPr>
            <p:txBody>
              <a:bodyPr/>
              <a:lstStyle/>
              <a:p>
                <a:r>
                  <a:rPr lang="en-US">
                    <a:noFill/>
                  </a:rPr>
                  <a:t> </a:t>
                </a:r>
              </a:p>
            </p:txBody>
          </p:sp>
        </mc:Fallback>
      </mc:AlternateContent>
      <p:sp>
        <p:nvSpPr>
          <p:cNvPr id="3" name="Speech Bubble: Rectangle with Corners Rounded 2">
            <a:extLst>
              <a:ext uri="{FF2B5EF4-FFF2-40B4-BE49-F238E27FC236}">
                <a16:creationId xmlns:a16="http://schemas.microsoft.com/office/drawing/2014/main" id="{7815E3A0-D220-6DF0-66C3-2D98B4375431}"/>
              </a:ext>
            </a:extLst>
          </p:cNvPr>
          <p:cNvSpPr/>
          <p:nvPr/>
        </p:nvSpPr>
        <p:spPr>
          <a:xfrm>
            <a:off x="8426547" y="3268395"/>
            <a:ext cx="2968283" cy="839372"/>
          </a:xfrm>
          <a:prstGeom prst="wedgeRoundRectCallout">
            <a:avLst>
              <a:gd name="adj1" fmla="val -165153"/>
              <a:gd name="adj2" fmla="val 20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biased estimate does not give us the true gradient! This will lead to a </a:t>
            </a:r>
            <a:r>
              <a:rPr lang="en-US" sz="1400" b="1" dirty="0"/>
              <a:t>semi-gradient method</a:t>
            </a:r>
            <a:r>
              <a:rPr lang="en-US" sz="1400" dirty="0"/>
              <a:t>.</a:t>
            </a:r>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C1B2CB9B-9BA8-84DE-A2BC-5395ABECDB1E}"/>
                  </a:ext>
                </a:extLst>
              </p:cNvPr>
              <p:cNvSpPr/>
              <p:nvPr/>
            </p:nvSpPr>
            <p:spPr>
              <a:xfrm>
                <a:off x="8426547" y="4495862"/>
                <a:ext cx="2968282" cy="839371"/>
              </a:xfrm>
              <a:prstGeom prst="wedgeRoundRectCallout">
                <a:avLst>
                  <a:gd name="adj1" fmla="val -75161"/>
                  <a:gd name="adj2" fmla="val 93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update of </a:t>
                </a:r>
                <a14:m>
                  <m:oMath xmlns:m="http://schemas.openxmlformats.org/officeDocument/2006/math">
                    <m:r>
                      <a:rPr lang="en-US" sz="1400" b="1" i="1">
                        <a:latin typeface="Cambria Math" panose="02040503050406030204" pitchFamily="18" charset="0"/>
                      </a:rPr>
                      <m:t>𝒘</m:t>
                    </m:r>
                  </m:oMath>
                </a14:m>
                <a:r>
                  <a:rPr lang="en-US" sz="1400" dirty="0"/>
                  <a:t> may have changed </a:t>
                </a:r>
                <a14:m>
                  <m:oMath xmlns:m="http://schemas.openxmlformats.org/officeDocument/2006/math">
                    <m:acc>
                      <m:accPr>
                        <m:chr m:val="̂"/>
                        <m:ctrlPr>
                          <a:rPr lang="en-US" sz="1400" i="1">
                            <a:latin typeface="Cambria Math" panose="02040503050406030204" pitchFamily="18" charset="0"/>
                          </a:rPr>
                        </m:ctrlPr>
                      </m:accPr>
                      <m:e>
                        <m:r>
                          <a:rPr lang="en-US" sz="1400" i="1">
                            <a:latin typeface="Cambria Math" panose="02040503050406030204" pitchFamily="18" charset="0"/>
                          </a:rPr>
                          <m:t>𝑞</m:t>
                        </m:r>
                      </m:e>
                    </m:acc>
                  </m:oMath>
                </a14:m>
                <a:r>
                  <a:rPr lang="en-US" sz="1400" dirty="0"/>
                  <a:t> for several states and actions! May be an issue with improvement.</a:t>
                </a:r>
              </a:p>
            </p:txBody>
          </p:sp>
        </mc:Choice>
        <mc:Fallback xmlns="">
          <p:sp>
            <p:nvSpPr>
              <p:cNvPr id="6" name="Speech Bubble: Rectangle with Corners Rounded 5">
                <a:extLst>
                  <a:ext uri="{FF2B5EF4-FFF2-40B4-BE49-F238E27FC236}">
                    <a16:creationId xmlns:a16="http://schemas.microsoft.com/office/drawing/2014/main" id="{C1B2CB9B-9BA8-84DE-A2BC-5395ABECDB1E}"/>
                  </a:ext>
                </a:extLst>
              </p:cNvPr>
              <p:cNvSpPr>
                <a:spLocks noRot="1" noChangeAspect="1" noMove="1" noResize="1" noEditPoints="1" noAdjustHandles="1" noChangeArrowheads="1" noChangeShapeType="1" noTextEdit="1"/>
              </p:cNvSpPr>
              <p:nvPr/>
            </p:nvSpPr>
            <p:spPr>
              <a:xfrm>
                <a:off x="8426547" y="4495862"/>
                <a:ext cx="2968282" cy="839371"/>
              </a:xfrm>
              <a:prstGeom prst="wedgeRoundRectCallout">
                <a:avLst>
                  <a:gd name="adj1" fmla="val -75161"/>
                  <a:gd name="adj2" fmla="val 9379"/>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animBg="1"/>
      <p:bldP spid="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xmlns:a14="http://schemas.microsoft.com/office/drawing/2010/main">
        <mc:Choice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70000" lnSpcReduction="20000"/>
              </a:bodyPr>
              <a:lstStyle/>
              <a:p>
                <a:pPr marL="0" indent="0">
                  <a:buNone/>
                </a:pPr>
                <a:r>
                  <a:rPr lang="en-US" b="1" dirty="0"/>
                  <a:t>Issue</a:t>
                </a:r>
                <a:r>
                  <a:rPr lang="en-US" dirty="0"/>
                  <a:t>: 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pPr marL="0" indent="0">
                  <a:buNone/>
                </a:pPr>
                <a:endParaRPr lang="en-US" dirty="0"/>
              </a:p>
              <a:p>
                <a:pPr marL="0" indent="0">
                  <a:buNone/>
                </a:pPr>
                <a:r>
                  <a:rPr lang="en-US" dirty="0" err="1"/>
                  <a:t>Geramifard</a:t>
                </a:r>
                <a:r>
                  <a:rPr lang="en-US" dirty="0"/>
                  <a:t> et al. (2013)* suggest estimating values for each action separately:</a:t>
                </a:r>
              </a:p>
              <a:p>
                <a:r>
                  <a:rPr lang="en-US" dirty="0"/>
                  <a:t>Different state-feature weights for each action.</a:t>
                </a:r>
              </a:p>
              <a:p>
                <a:r>
                  <a:rPr lang="en-US" dirty="0"/>
                  <a:t>For prediction/update, only the intercept and the weights belonging to the action are used.</a:t>
                </a:r>
              </a:p>
              <a:p>
                <a:pPr marL="0" indent="0">
                  <a:buNone/>
                </a:pPr>
                <a:endParaRPr lang="en-US" b="1" dirty="0"/>
              </a:p>
              <a:p>
                <a:pPr marL="0" indent="0">
                  <a:buNone/>
                </a:pPr>
                <a:r>
                  <a:rPr lang="en-US" b="1" dirty="0"/>
                  <a:t>Example</a:t>
                </a:r>
                <a:r>
                  <a:rPr lang="en-US" dirty="0"/>
                  <a:t>: States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coordinates + 3 action</a:t>
                </a:r>
              </a:p>
              <a:p>
                <a:r>
                  <a:rPr lang="en-US" dirty="0"/>
                  <a:t>Weight vector</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e>
                        </m:d>
                      </m:e>
                      <m:sup>
                        <m:r>
                          <a:rPr lang="en-US" b="1" i="1">
                            <a:latin typeface="Cambria Math" panose="02040503050406030204" pitchFamily="18" charset="0"/>
                          </a:rPr>
                          <m:t>⊤</m:t>
                        </m:r>
                      </m:sup>
                    </m:sSup>
                  </m:oMath>
                </a14:m>
                <a:br>
                  <a:rPr lang="en-US" dirty="0"/>
                </a:br>
                <a:endParaRPr lang="en-US" dirty="0"/>
              </a:p>
              <a:p>
                <a:endParaRPr lang="en-US" dirty="0"/>
              </a:p>
              <a:p>
                <a:r>
                  <a:rPr lang="en-US" dirty="0"/>
                  <a:t>Example state-action feature vector for state (1,3) and action 2:</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1,</m:t>
                            </m:r>
                            <m:r>
                              <a:rPr lang="en-US" b="0" i="1" smtClean="0">
                                <a:latin typeface="Cambria Math" panose="02040503050406030204" pitchFamily="18" charset="0"/>
                              </a:rPr>
                              <m:t>𝑦</m:t>
                            </m:r>
                            <m:r>
                              <a:rPr lang="en-US" b="0" i="1" smtClean="0">
                                <a:latin typeface="Cambria Math" panose="02040503050406030204" pitchFamily="18" charset="0"/>
                              </a:rPr>
                              <m:t>=3, </m:t>
                            </m:r>
                            <m:r>
                              <m:rPr>
                                <m:nor/>
                              </m:rPr>
                              <a:rPr lang="en-US" b="0" i="0" smtClean="0">
                                <a:latin typeface="Cambria Math" panose="02040503050406030204" pitchFamily="18" charset="0"/>
                              </a:rPr>
                              <m:t>action</m:t>
                            </m:r>
                            <m:r>
                              <a:rPr lang="en-US" b="0" i="1" smtClean="0">
                                <a:latin typeface="Cambria Math" panose="02040503050406030204" pitchFamily="18" charset="0"/>
                              </a:rPr>
                              <m:t>2</m:t>
                            </m:r>
                          </m:e>
                        </m:d>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1,0,0,1,3,0,0</m:t>
                            </m:r>
                          </m:e>
                        </m:d>
                      </m:e>
                      <m:sup>
                        <m:r>
                          <a:rPr lang="en-US" b="1" i="1">
                            <a:latin typeface="Cambria Math" panose="02040503050406030204" pitchFamily="18" charset="0"/>
                          </a:rPr>
                          <m:t>⊤</m:t>
                        </m:r>
                      </m:sup>
                    </m:sSup>
                  </m:oMath>
                </a14:m>
                <a:endParaRPr lang="en-US" dirty="0"/>
              </a:p>
            </p:txBody>
          </p:sp>
        </mc:Choice>
        <mc:Fallback xmlns="">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3" name="Speech Bubble: Rectangle with Corners Rounded 2">
                <a:extLst>
                  <a:ext uri="{FF2B5EF4-FFF2-40B4-BE49-F238E27FC236}">
                    <a16:creationId xmlns:a16="http://schemas.microsoft.com/office/drawing/2014/main" id="{C389D129-8D15-AAF4-0D05-9E4C560E9C3E}"/>
                  </a:ext>
                </a:extLst>
              </p:cNvPr>
              <p:cNvSpPr/>
              <p:nvPr/>
            </p:nvSpPr>
            <p:spPr>
              <a:xfrm>
                <a:off x="6656882" y="6186550"/>
                <a:ext cx="3533720" cy="306310"/>
              </a:xfrm>
              <a:prstGeom prst="wedgeRoundRectCallout">
                <a:avLst>
                  <a:gd name="adj1" fmla="val -36345"/>
                  <a:gd name="adj2" fmla="val -12271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With features: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1" i="1" smtClean="0">
                        <a:latin typeface="Cambria Math" panose="02040503050406030204" pitchFamily="18" charset="0"/>
                      </a:rPr>
                      <m:t>𝒘</m:t>
                    </m:r>
                    <m:r>
                      <a:rPr lang="en-US" b="0" i="1" smtClean="0">
                        <a:latin typeface="Cambria Math" panose="02040503050406030204" pitchFamily="18" charset="0"/>
                      </a:rPr>
                      <m:t>))</m:t>
                    </m:r>
                  </m:oMath>
                </a14:m>
                <a:endParaRPr lang="en-US" dirty="0"/>
              </a:p>
            </p:txBody>
          </p:sp>
        </mc:Choice>
        <mc:Fallback xmlns="">
          <p:sp>
            <p:nvSpPr>
              <p:cNvPr id="3" name="Speech Bubble: Rectangle with Corners Rounded 2">
                <a:extLst>
                  <a:ext uri="{FF2B5EF4-FFF2-40B4-BE49-F238E27FC236}">
                    <a16:creationId xmlns:a16="http://schemas.microsoft.com/office/drawing/2014/main" id="{C389D129-8D15-AAF4-0D05-9E4C560E9C3E}"/>
                  </a:ext>
                </a:extLst>
              </p:cNvPr>
              <p:cNvSpPr>
                <a:spLocks noRot="1" noChangeAspect="1" noMove="1" noResize="1" noEditPoints="1" noAdjustHandles="1" noChangeArrowheads="1" noChangeShapeType="1" noTextEdit="1"/>
              </p:cNvSpPr>
              <p:nvPr/>
            </p:nvSpPr>
            <p:spPr>
              <a:xfrm>
                <a:off x="6656882" y="6186550"/>
                <a:ext cx="3533720" cy="306310"/>
              </a:xfrm>
              <a:prstGeom prst="wedgeRoundRectCallout">
                <a:avLst>
                  <a:gd name="adj1" fmla="val -36345"/>
                  <a:gd name="adj2" fmla="val -122717"/>
                  <a:gd name="adj3" fmla="val 16667"/>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D2F6960-1187-BD68-9E21-082BFDC3AB9C}"/>
                  </a:ext>
                </a:extLst>
              </p:cNvPr>
              <p:cNvSpPr/>
              <p:nvPr/>
            </p:nvSpPr>
            <p:spPr>
              <a:xfrm>
                <a:off x="9690547" y="4389408"/>
                <a:ext cx="2092910" cy="969485"/>
              </a:xfrm>
              <a:prstGeom prst="wedgeRoundRectCallout">
                <a:avLst>
                  <a:gd name="adj1" fmla="val -59259"/>
                  <a:gd name="adj2" fmla="val 8718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Gradient is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oMath>
                </a14:m>
                <a:r>
                  <a:rPr lang="en-US" dirty="0"/>
                  <a:t> for linear approximation</a:t>
                </a:r>
              </a:p>
            </p:txBody>
          </p:sp>
        </mc:Choice>
        <mc:Fallback xmlns="">
          <p:sp>
            <p:nvSpPr>
              <p:cNvPr id="10" name="Speech Bubble: Rectangle with Corners Rounded 9">
                <a:extLst>
                  <a:ext uri="{FF2B5EF4-FFF2-40B4-BE49-F238E27FC236}">
                    <a16:creationId xmlns:a16="http://schemas.microsoft.com/office/drawing/2014/main" id="{5D2F6960-1187-BD68-9E21-082BFDC3AB9C}"/>
                  </a:ext>
                </a:extLst>
              </p:cNvPr>
              <p:cNvSpPr>
                <a:spLocks noRot="1" noChangeAspect="1" noMove="1" noResize="1" noEditPoints="1" noAdjustHandles="1" noChangeArrowheads="1" noChangeShapeType="1" noTextEdit="1"/>
              </p:cNvSpPr>
              <p:nvPr/>
            </p:nvSpPr>
            <p:spPr>
              <a:xfrm>
                <a:off x="9690547" y="4389408"/>
                <a:ext cx="2092910" cy="969485"/>
              </a:xfrm>
              <a:prstGeom prst="wedgeRoundRectCallout">
                <a:avLst>
                  <a:gd name="adj1" fmla="val -59259"/>
                  <a:gd name="adj2" fmla="val 87183"/>
                  <a:gd name="adj3" fmla="val 16667"/>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011604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538A8-B726-BACF-1299-09852A44C4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2BE38BA-B943-CA3E-D574-004FEF596401}"/>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Sarsa(0) control with function approximation using linear features for a simple grid world</a:t>
            </a:r>
            <a:br>
              <a:rPr lang="en-US" dirty="0"/>
            </a:br>
            <a:r>
              <a:rPr lang="en-US" dirty="0"/>
              <a:t>+ Advanced Feature Construction</a:t>
            </a:r>
          </a:p>
        </p:txBody>
      </p:sp>
      <p:sp>
        <p:nvSpPr>
          <p:cNvPr id="3" name="TextBox 2">
            <a:extLst>
              <a:ext uri="{FF2B5EF4-FFF2-40B4-BE49-F238E27FC236}">
                <a16:creationId xmlns:a16="http://schemas.microsoft.com/office/drawing/2014/main" id="{B5BEF320-9D62-8FE9-B589-CE5BD61B7E8E}"/>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79857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BF923-7C32-D088-2E2E-B90727441D6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BAD077-2560-E89A-C06F-20ABCD75BB77}"/>
              </a:ext>
            </a:extLst>
          </p:cNvPr>
          <p:cNvSpPr>
            <a:spLocks noGrp="1"/>
          </p:cNvSpPr>
          <p:nvPr>
            <p:ph type="title"/>
          </p:nvPr>
        </p:nvSpPr>
        <p:spPr/>
        <p:txBody>
          <a:bodyPr/>
          <a:lstStyle/>
          <a:p>
            <a:r>
              <a:rPr lang="en-US" dirty="0"/>
              <a:t>Observability and </a:t>
            </a:r>
            <a:br>
              <a:rPr lang="en-US" dirty="0"/>
            </a:br>
            <a:r>
              <a:rPr lang="en-US" dirty="0"/>
              <a:t>Continuing Tasks</a:t>
            </a:r>
          </a:p>
        </p:txBody>
      </p:sp>
      <p:sp>
        <p:nvSpPr>
          <p:cNvPr id="5" name="Text Placeholder 4">
            <a:extLst>
              <a:ext uri="{FF2B5EF4-FFF2-40B4-BE49-F238E27FC236}">
                <a16:creationId xmlns:a16="http://schemas.microsoft.com/office/drawing/2014/main" id="{DC4B0F06-4C94-B7D8-F9E8-EC42067B3EC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375534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979F9-6DB1-F7AA-81CE-946906DB2BC1}"/>
              </a:ext>
            </a:extLst>
          </p:cNvPr>
          <p:cNvSpPr>
            <a:spLocks noGrp="1"/>
          </p:cNvSpPr>
          <p:nvPr>
            <p:ph type="title"/>
          </p:nvPr>
        </p:nvSpPr>
        <p:spPr/>
        <p:txBody>
          <a:bodyPr/>
          <a:lstStyle/>
          <a:p>
            <a:r>
              <a:rPr lang="en-US" dirty="0"/>
              <a:t>Off-Policy Learning with Approximation </a:t>
            </a:r>
          </a:p>
        </p:txBody>
      </p:sp>
      <p:sp>
        <p:nvSpPr>
          <p:cNvPr id="4" name="Content Placeholder 3">
            <a:extLst>
              <a:ext uri="{FF2B5EF4-FFF2-40B4-BE49-F238E27FC236}">
                <a16:creationId xmlns:a16="http://schemas.microsoft.com/office/drawing/2014/main" id="{F2D505CA-F78F-769A-E717-7B1B70F8C490}"/>
              </a:ext>
            </a:extLst>
          </p:cNvPr>
          <p:cNvSpPr>
            <a:spLocks noGrp="1"/>
          </p:cNvSpPr>
          <p:nvPr>
            <p:ph idx="1"/>
          </p:nvPr>
        </p:nvSpPr>
        <p:spPr>
          <a:xfrm>
            <a:off x="838200" y="1397330"/>
            <a:ext cx="10515600" cy="801723"/>
          </a:xfrm>
        </p:spPr>
        <p:txBody>
          <a:bodyPr>
            <a:normAutofit lnSpcReduction="10000"/>
          </a:bodyPr>
          <a:lstStyle/>
          <a:p>
            <a:r>
              <a:rPr lang="en-US" dirty="0"/>
              <a:t>Requires a method to correct for the behavior-target mismatch (e.g., importance sampling).</a:t>
            </a:r>
          </a:p>
        </p:txBody>
      </p:sp>
      <p:sp>
        <p:nvSpPr>
          <p:cNvPr id="5" name="TextBox 4">
            <a:extLst>
              <a:ext uri="{FF2B5EF4-FFF2-40B4-BE49-F238E27FC236}">
                <a16:creationId xmlns:a16="http://schemas.microsoft.com/office/drawing/2014/main" id="{1900734F-38EA-463A-11F0-608A1D0F2709}"/>
              </a:ext>
            </a:extLst>
          </p:cNvPr>
          <p:cNvSpPr txBox="1"/>
          <p:nvPr/>
        </p:nvSpPr>
        <p:spPr>
          <a:xfrm>
            <a:off x="1711354" y="2816134"/>
            <a:ext cx="8409963"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sz="2800" b="1" dirty="0"/>
              <a:t>The Deadly Triade</a:t>
            </a:r>
          </a:p>
          <a:p>
            <a:pPr algn="ctr"/>
            <a:endParaRPr lang="en-US" sz="2000" dirty="0"/>
          </a:p>
          <a:p>
            <a:pPr lvl="1" algn="ctr"/>
            <a:r>
              <a:rPr lang="en-US" sz="2000" dirty="0"/>
              <a:t>Function approximation + Bootstrapping + Off-Policy learning</a:t>
            </a:r>
          </a:p>
          <a:p>
            <a:pPr marL="685800" lvl="1" indent="-228600">
              <a:buFont typeface="Arial" panose="020B0604020202020204" pitchFamily="34" charset="0"/>
              <a:buChar char="•"/>
            </a:pPr>
            <a:endParaRPr lang="en-US" sz="2000" dirty="0"/>
          </a:p>
          <a:p>
            <a:pPr lvl="1"/>
            <a:r>
              <a:rPr lang="en-US" sz="2000" dirty="0"/>
              <a:t>All three components together lead to instability.</a:t>
            </a:r>
          </a:p>
        </p:txBody>
      </p:sp>
      <p:sp>
        <p:nvSpPr>
          <p:cNvPr id="6" name="Content Placeholder 3">
            <a:extLst>
              <a:ext uri="{FF2B5EF4-FFF2-40B4-BE49-F238E27FC236}">
                <a16:creationId xmlns:a16="http://schemas.microsoft.com/office/drawing/2014/main" id="{A7EBDD4A-21EC-5447-4204-E391ED8DA737}"/>
              </a:ext>
            </a:extLst>
          </p:cNvPr>
          <p:cNvSpPr txBox="1">
            <a:spLocks/>
          </p:cNvSpPr>
          <p:nvPr/>
        </p:nvSpPr>
        <p:spPr>
          <a:xfrm>
            <a:off x="838200" y="5334827"/>
            <a:ext cx="10515600" cy="80172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Some stable methods for linear approximation exist: </a:t>
            </a:r>
            <a:br>
              <a:rPr lang="en-US" dirty="0"/>
            </a:br>
            <a:r>
              <a:rPr lang="en-US" dirty="0"/>
              <a:t>Gradient TD (GDT), Emphatic-TD</a:t>
            </a:r>
          </a:p>
        </p:txBody>
      </p:sp>
    </p:spTree>
    <p:extLst>
      <p:ext uri="{BB962C8B-B14F-4D97-AF65-F5344CB8AC3E}">
        <p14:creationId xmlns:p14="http://schemas.microsoft.com/office/powerpoint/2010/main" val="2556496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normAutofit/>
          </a:bodyPr>
          <a:lstStyle/>
          <a:p>
            <a:r>
              <a:rPr lang="en-US" dirty="0"/>
              <a:t>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775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a:t>
            </a:r>
            <a:r>
              <a:rPr lang="en-US" b="1" dirty="0"/>
              <a:t>state estimation</a:t>
            </a:r>
            <a:r>
              <a:rPr lang="en-US" dirty="0"/>
              <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for RL with approximation</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 (E.g., observation stacking).</a:t>
            </a:r>
          </a:p>
          <a:p>
            <a:pPr marL="971550" lvl="1" indent="-514350">
              <a:buFont typeface="+mj-lt"/>
              <a:buAutoNum type="arabicPeriod"/>
            </a:pPr>
            <a:r>
              <a:rPr lang="en-US" b="1" dirty="0"/>
              <a:t>Use a (non) linear approximator</a:t>
            </a:r>
            <a:r>
              <a:rPr lang="en-US" dirty="0"/>
              <a:t> with those features to learn a value function or policy.</a:t>
            </a:r>
          </a:p>
          <a:p>
            <a:pPr marL="971550" lvl="1" indent="-514350">
              <a:buFont typeface="+mj-lt"/>
              <a:buAutoNum type="arabicPeriod"/>
            </a:pPr>
            <a:endParaRPr lang="en-US" dirty="0"/>
          </a:p>
          <a:p>
            <a:r>
              <a:rPr lang="en-US" b="1" dirty="0"/>
              <a:t>Example</a:t>
            </a:r>
            <a:r>
              <a:rPr lang="en-US" dirty="0"/>
              <a:t>: Maze solver where the x and y coordinates are noisy. Using the observed coordinates from the last few steps (stacking them) helps average out random noise in the observations.</a:t>
            </a:r>
          </a:p>
        </p:txBody>
      </p:sp>
    </p:spTree>
    <p:extLst>
      <p:ext uri="{BB962C8B-B14F-4D97-AF65-F5344CB8AC3E}">
        <p14:creationId xmlns:p14="http://schemas.microsoft.com/office/powerpoint/2010/main" val="1605762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between states and it is often better to focus on the long-run </a:t>
                </a:r>
                <a:r>
                  <a:rPr lang="en-US" b="1" dirty="0"/>
                  <a:t>average reward of a policy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Subtracting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r>
                      <a:rPr lang="en-US" i="1">
                        <a:latin typeface="Cambria Math" panose="02040503050406030204" pitchFamily="18" charset="0"/>
                      </a:rPr>
                      <m:t> </m:t>
                    </m:r>
                  </m:oMath>
                </a14:m>
                <a:r>
                  <a:rPr lang="en-US" dirty="0"/>
                  <a:t>makes sure that the infinite sum does not diverge.</a:t>
                </a:r>
              </a:p>
              <a:p>
                <a:r>
                  <a:rPr lang="en-US" dirty="0"/>
                  <a:t>Differential returns lead to differential value functions.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0F6DEFDC-C726-3B0D-3E63-A5F03C0A16E8}"/>
              </a:ext>
            </a:extLst>
          </p:cNvPr>
          <p:cNvSpPr/>
          <p:nvPr/>
        </p:nvSpPr>
        <p:spPr>
          <a:xfrm>
            <a:off x="8833757" y="3102429"/>
            <a:ext cx="2441122" cy="1110342"/>
          </a:xfrm>
          <a:prstGeom prst="wedgeRoundRectCallout">
            <a:avLst>
              <a:gd name="adj1" fmla="val -115555"/>
              <a:gd name="adj2" fmla="val -416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average reward  does not depend on the start state.</a:t>
            </a:r>
          </a:p>
        </p:txBody>
      </p:sp>
    </p:spTree>
    <p:extLst>
      <p:ext uri="{BB962C8B-B14F-4D97-AF65-F5344CB8AC3E}">
        <p14:creationId xmlns:p14="http://schemas.microsoft.com/office/powerpoint/2010/main" val="977719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549" y="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69" y="1723937"/>
                <a:ext cx="6019113" cy="4319675"/>
              </a:xfrm>
            </p:spPr>
            <p:txBody>
              <a:bodyPr>
                <a:noAutofit/>
              </a:bodyPr>
              <a:lstStyle/>
              <a:p>
                <a:r>
                  <a:rPr lang="en-US" sz="1600" dirty="0"/>
                  <a:t>Approximate the value function using parametrized functions: </a:t>
                </a:r>
                <a:br>
                  <a:rPr lang="en-US" sz="1600" dirty="0"/>
                </a:br>
                <a:r>
                  <a:rPr lang="en-US" sz="1600" dirty="0"/>
                  <a:t>                                       </a:t>
                </a:r>
                <a14:m>
                  <m:oMath xmlns:m="http://schemas.openxmlformats.org/officeDocument/2006/math">
                    <m:acc>
                      <m:accPr>
                        <m:chr m:val="̂"/>
                        <m:ctrlPr>
                          <a:rPr lang="en-US" sz="1600" b="0" i="1">
                            <a:latin typeface="Cambria Math" panose="02040503050406030204" pitchFamily="18" charset="0"/>
                          </a:rPr>
                        </m:ctrlPr>
                      </m:accPr>
                      <m:e>
                        <m:r>
                          <a:rPr lang="en-US" sz="1600" b="0" i="1">
                            <a:latin typeface="Cambria Math" panose="02040503050406030204" pitchFamily="18" charset="0"/>
                          </a:rPr>
                          <m:t>𝑣</m:t>
                        </m:r>
                      </m:e>
                    </m:acc>
                    <m:d>
                      <m:dPr>
                        <m:ctrlPr>
                          <a:rPr lang="en-US" sz="1600" i="1">
                            <a:latin typeface="Cambria Math" panose="02040503050406030204" pitchFamily="18" charset="0"/>
                          </a:rPr>
                        </m:ctrlPr>
                      </m:dPr>
                      <m:e>
                        <m:r>
                          <a:rPr lang="en-US" sz="1600" i="1">
                            <a:latin typeface="Cambria Math" panose="02040503050406030204" pitchFamily="18" charset="0"/>
                          </a:rPr>
                          <m:t>𝑠</m:t>
                        </m:r>
                        <m:r>
                          <a:rPr lang="en-US" sz="1600" i="1">
                            <a:latin typeface="Cambria Math" panose="02040503050406030204" pitchFamily="18" charset="0"/>
                          </a:rPr>
                          <m:t>,</m:t>
                        </m:r>
                        <m:r>
                          <a:rPr lang="en-US" sz="1600" b="1" i="1">
                            <a:latin typeface="Cambria Math" panose="02040503050406030204" pitchFamily="18" charset="0"/>
                          </a:rPr>
                          <m:t>𝒘</m:t>
                        </m:r>
                      </m:e>
                    </m:d>
                  </m:oMath>
                </a14:m>
                <a:r>
                  <a:rPr lang="en-US" sz="1600" dirty="0"/>
                  <a:t>  or   </a:t>
                </a:r>
                <a14:m>
                  <m:oMath xmlns:m="http://schemas.openxmlformats.org/officeDocument/2006/math">
                    <m:acc>
                      <m:accPr>
                        <m:chr m:val="̂"/>
                        <m:ctrlPr>
                          <a:rPr lang="en-US" sz="1600" i="1">
                            <a:latin typeface="Cambria Math" panose="02040503050406030204" pitchFamily="18" charset="0"/>
                          </a:rPr>
                        </m:ctrlPr>
                      </m:accPr>
                      <m:e>
                        <m:r>
                          <a:rPr lang="en-US" sz="1600" i="1">
                            <a:latin typeface="Cambria Math" panose="02040503050406030204" pitchFamily="18" charset="0"/>
                          </a:rPr>
                          <m:t>𝑞</m:t>
                        </m:r>
                      </m:e>
                    </m:acc>
                    <m:d>
                      <m:dPr>
                        <m:ctrlPr>
                          <a:rPr lang="en-US" sz="1600" i="1">
                            <a:latin typeface="Cambria Math" panose="02040503050406030204" pitchFamily="18" charset="0"/>
                          </a:rPr>
                        </m:ctrlPr>
                      </m:dPr>
                      <m:e>
                        <m:r>
                          <a:rPr lang="en-US" sz="1600" i="1">
                            <a:latin typeface="Cambria Math" panose="02040503050406030204" pitchFamily="18" charset="0"/>
                          </a:rPr>
                          <m:t>𝑠</m:t>
                        </m:r>
                        <m:r>
                          <a:rPr lang="en-US" sz="1600" i="1">
                            <a:latin typeface="Cambria Math" panose="02040503050406030204" pitchFamily="18" charset="0"/>
                          </a:rPr>
                          <m:t>,</m:t>
                        </m:r>
                        <m:r>
                          <a:rPr lang="en-US" sz="1600" i="1">
                            <a:latin typeface="Cambria Math" panose="02040503050406030204" pitchFamily="18" charset="0"/>
                          </a:rPr>
                          <m:t>𝑎</m:t>
                        </m:r>
                        <m:r>
                          <a:rPr lang="en-US" sz="1600" i="1">
                            <a:latin typeface="Cambria Math" panose="02040503050406030204" pitchFamily="18" charset="0"/>
                          </a:rPr>
                          <m:t>,</m:t>
                        </m:r>
                        <m:r>
                          <a:rPr lang="en-US" sz="1600" b="1" i="1">
                            <a:latin typeface="Cambria Math" panose="02040503050406030204" pitchFamily="18" charset="0"/>
                          </a:rPr>
                          <m:t>𝒘</m:t>
                        </m:r>
                      </m:e>
                    </m:d>
                  </m:oMath>
                </a14:m>
                <a:endParaRPr lang="en-US" sz="1600" dirty="0"/>
              </a:p>
              <a:p>
                <a:r>
                  <a:rPr lang="en-US" sz="1600" dirty="0"/>
                  <a:t>For linear approximation, we need to create </a:t>
                </a:r>
                <a:r>
                  <a:rPr lang="en-US" sz="1600" b="1" dirty="0"/>
                  <a:t>features</a:t>
                </a:r>
                <a:r>
                  <a:rPr lang="en-US" sz="1600" dirty="0"/>
                  <a:t> that take non-linearities and the interaction of state components into account. Popular are: </a:t>
                </a:r>
              </a:p>
              <a:p>
                <a:pPr lvl="1"/>
                <a:r>
                  <a:rPr lang="en-US" sz="1600" dirty="0"/>
                  <a:t>Fourier basis features </a:t>
                </a:r>
              </a:p>
              <a:p>
                <a:pPr lvl="1"/>
                <a:r>
                  <a:rPr lang="en-US" sz="1600" dirty="0"/>
                  <a:t>Tile coding</a:t>
                </a:r>
              </a:p>
              <a:p>
                <a:r>
                  <a:rPr lang="en-US" sz="1600" dirty="0"/>
                  <a:t>Use </a:t>
                </a:r>
                <a:r>
                  <a:rPr lang="en-US" sz="1600" b="1" dirty="0"/>
                  <a:t>SGD or semi-gradient descent </a:t>
                </a:r>
                <a:r>
                  <a:rPr lang="en-US" sz="1600" dirty="0"/>
                  <a:t>to learn </a:t>
                </a:r>
                <a14:m>
                  <m:oMath xmlns:m="http://schemas.openxmlformats.org/officeDocument/2006/math">
                    <m:r>
                      <a:rPr lang="en-US" sz="1600" b="1" i="1">
                        <a:latin typeface="Cambria Math" panose="02040503050406030204" pitchFamily="18" charset="0"/>
                      </a:rPr>
                      <m:t>𝒘</m:t>
                    </m:r>
                  </m:oMath>
                </a14:m>
                <a:r>
                  <a:rPr lang="en-US" sz="16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600" dirty="0"/>
                  <a:t>. The samples already follow the on-policy distribution </a:t>
                </a:r>
                <a14:m>
                  <m:oMath xmlns:m="http://schemas.openxmlformats.org/officeDocument/2006/math">
                    <m:r>
                      <a:rPr lang="en-US" sz="1600" b="0" i="1" smtClean="0">
                        <a:latin typeface="Cambria Math" panose="02040503050406030204" pitchFamily="18" charset="0"/>
                      </a:rPr>
                      <m:t>𝜇</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𝑠</m:t>
                        </m:r>
                      </m:e>
                    </m:d>
                    <m:r>
                      <a:rPr lang="en-US" sz="1600" b="0" i="1" smtClean="0">
                        <a:latin typeface="Cambria Math" panose="02040503050406030204" pitchFamily="18" charset="0"/>
                      </a:rPr>
                      <m:t>.</m:t>
                    </m:r>
                  </m:oMath>
                </a14:m>
                <a:endParaRPr lang="en-US" sz="1600" dirty="0"/>
              </a:p>
              <a:p>
                <a:r>
                  <a:rPr lang="en-US" sz="1600" dirty="0"/>
                  <a:t>Issue: </a:t>
                </a:r>
                <a:r>
                  <a:rPr lang="en-US" sz="1600" b="1" dirty="0"/>
                  <a:t>Convergence</a:t>
                </a:r>
              </a:p>
              <a:p>
                <a:pPr lvl="1"/>
                <a:r>
                  <a:rPr lang="en-US" sz="1200" dirty="0"/>
                  <a:t>Biased target estimates?</a:t>
                </a:r>
              </a:p>
              <a:p>
                <a:pPr lvl="1"/>
                <a:r>
                  <a:rPr lang="en-US" sz="1200" dirty="0"/>
                  <a:t>Linear vs. non-linear approximation.</a:t>
                </a:r>
              </a:p>
              <a:p>
                <a:pPr lvl="1"/>
                <a:r>
                  <a:rPr lang="en-US" sz="1200" dirty="0"/>
                  <a:t>choice of </a:t>
                </a:r>
                <a14:m>
                  <m:oMath xmlns:m="http://schemas.openxmlformats.org/officeDocument/2006/math">
                    <m:r>
                      <a:rPr lang="en-US" sz="1200" b="0" i="1">
                        <a:latin typeface="Cambria Math" panose="02040503050406030204" pitchFamily="18" charset="0"/>
                      </a:rPr>
                      <m:t>𝛼</m:t>
                    </m:r>
                    <m:r>
                      <a:rPr lang="en-US" sz="1200" b="0" i="1" smtClean="0">
                        <a:latin typeface="Cambria Math" panose="02040503050406030204" pitchFamily="18" charset="0"/>
                      </a:rPr>
                      <m:t>.</m:t>
                    </m:r>
                  </m:oMath>
                </a14:m>
                <a:endParaRPr lang="en-US" sz="1200" dirty="0"/>
              </a:p>
              <a:p>
                <a:r>
                  <a:rPr lang="en-US" sz="1600" b="1" dirty="0"/>
                  <a:t>The Deadly Triad</a:t>
                </a:r>
                <a:r>
                  <a:rPr lang="en-US" sz="1600" dirty="0"/>
                  <a:t>:  Function approximation + Bootstrapping + Off-Policy learning</a:t>
                </a:r>
              </a:p>
            </p:txBody>
          </p:sp>
        </mc:Choice>
        <mc:Fallback>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69" y="1723937"/>
                <a:ext cx="6019113" cy="4319675"/>
              </a:xfrm>
              <a:blipFill>
                <a:blip r:embed="rId3"/>
                <a:stretch>
                  <a:fillRect l="-405" t="-989" r="-202" b="-1271"/>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21364</TotalTime>
  <Words>4337</Words>
  <Application>Microsoft Office PowerPoint</Application>
  <PresentationFormat>Widescreen</PresentationFormat>
  <Paragraphs>459</Paragraphs>
  <Slides>44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Function Approximation</vt:lpstr>
      <vt:lpstr>Motivation</vt:lpstr>
      <vt:lpstr>Goals of Generalization in RL</vt:lpstr>
      <vt:lpstr>Prediction: Value Function Approximation</vt:lpstr>
      <vt:lpstr>Training Data</vt:lpstr>
      <vt:lpstr>Prediction Objective (VE) ̅</vt:lpstr>
      <vt:lpstr>Code example: On-Policy State Distribution</vt:lpstr>
      <vt:lpstr>Gradient Methods for Prediction</vt:lpstr>
      <vt:lpstr>Learning Goal</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The Effect of Generalization</vt:lpstr>
      <vt:lpstr>Linear Function Approximation</vt:lpstr>
      <vt:lpstr>Linear Function Approximation Methods</vt:lpstr>
      <vt:lpstr>Feature Vector</vt:lpstr>
      <vt:lpstr>Code example:  Semi-gradient TD(0) prediction with linear function approximation using linear features</vt:lpstr>
      <vt:lpstr>Example: L-Maze with Linear Features</vt:lpstr>
      <vt:lpstr>Feature Construction</vt:lpstr>
      <vt:lpstr>Fourier Basis</vt:lpstr>
      <vt:lpstr>Multi-dimensional Fourier Basis</vt:lpstr>
      <vt:lpstr>Example: L-Maze with Order-2 Fourier Features</vt:lpstr>
      <vt:lpstr>Tile Coding</vt:lpstr>
      <vt:lpstr>Example: L-Maze with Tile Coding</vt:lpstr>
      <vt:lpstr>Tabular RL as a Special Case</vt:lpstr>
      <vt:lpstr>Non-Linear Function Approximation</vt:lpstr>
      <vt:lpstr>Approximation with ANNs</vt:lpstr>
      <vt:lpstr>On-Policy Control with Function Approximation</vt:lpstr>
      <vt:lpstr>Control Problem</vt:lpstr>
      <vt:lpstr>State-Action Features</vt:lpstr>
      <vt:lpstr>Episodic Semi-gradient Sarsa</vt:lpstr>
      <vt:lpstr>Code example:  Semi-gradient Sarsa(0) control with function approximation using linear features for a simple grid world + Advanced Feature Construction</vt:lpstr>
      <vt:lpstr>Observability and  Continuing Tasks</vt:lpstr>
      <vt:lpstr>Off-Policy Learning with Approximation </vt:lpstr>
      <vt:lpstr>Partially Observable Environments</vt:lpstr>
      <vt:lpstr>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269</cp:revision>
  <dcterms:created xsi:type="dcterms:W3CDTF">2025-09-08T14:44:49Z</dcterms:created>
  <dcterms:modified xsi:type="dcterms:W3CDTF">2026-10-26T15:33:52Z</dcterms:modified>
</cp:coreProperties>
</file>