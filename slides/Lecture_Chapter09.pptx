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313" r:id="rId3"/>
    <p:sldId id="479" r:id="rId4"/>
    <p:sldId id="393" r:id="rId5"/>
    <p:sldId id="394" r:id="rId6"/>
    <p:sldId id="420" r:id="rId7"/>
    <p:sldId id="395" r:id="rId8"/>
    <p:sldId id="396" r:id="rId9"/>
    <p:sldId id="486" r:id="rId10"/>
    <p:sldId id="397" r:id="rId11"/>
    <p:sldId id="398" r:id="rId12"/>
    <p:sldId id="399" r:id="rId13"/>
    <p:sldId id="400" r:id="rId14"/>
    <p:sldId id="401" r:id="rId15"/>
    <p:sldId id="405" r:id="rId16"/>
    <p:sldId id="403" r:id="rId17"/>
    <p:sldId id="402" r:id="rId18"/>
    <p:sldId id="404" r:id="rId19"/>
    <p:sldId id="406" r:id="rId20"/>
    <p:sldId id="407" r:id="rId21"/>
    <p:sldId id="409" r:id="rId22"/>
    <p:sldId id="480" r:id="rId23"/>
    <p:sldId id="487" r:id="rId24"/>
    <p:sldId id="481" r:id="rId25"/>
    <p:sldId id="413" r:id="rId26"/>
    <p:sldId id="417" r:id="rId27"/>
    <p:sldId id="418" r:id="rId28"/>
    <p:sldId id="412" r:id="rId29"/>
    <p:sldId id="482" r:id="rId30"/>
    <p:sldId id="485" r:id="rId31"/>
    <p:sldId id="483" r:id="rId32"/>
    <p:sldId id="410" r:id="rId33"/>
    <p:sldId id="411" r:id="rId34"/>
    <p:sldId id="414" r:id="rId35"/>
    <p:sldId id="421" r:id="rId36"/>
    <p:sldId id="484" r:id="rId37"/>
    <p:sldId id="415" r:id="rId38"/>
    <p:sldId id="488" r:id="rId39"/>
    <p:sldId id="422" r:id="rId40"/>
    <p:sldId id="424"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486"/>
            <p14:sldId id="397"/>
          </p14:sldIdLst>
        </p14:section>
        <p14:section name="Prediction: Gradient Methods" id="{EAA0CE26-54AA-4F09-BD7A-ECFC52DE3ABA}">
          <p14:sldIdLst>
            <p14:sldId id="398"/>
            <p14:sldId id="399"/>
            <p14:sldId id="400"/>
            <p14:sldId id="401"/>
            <p14:sldId id="405"/>
            <p14:sldId id="403"/>
            <p14:sldId id="402"/>
            <p14:sldId id="404"/>
          </p14:sldIdLst>
        </p14:section>
        <p14:section name="Linear Approximation Methods" id="{9B11E8D6-BFFA-4307-8A9C-339881B4B930}">
          <p14:sldIdLst>
            <p14:sldId id="406"/>
            <p14:sldId id="407"/>
            <p14:sldId id="409"/>
            <p14:sldId id="480"/>
            <p14:sldId id="487"/>
            <p14:sldId id="481"/>
            <p14:sldId id="413"/>
            <p14:sldId id="417"/>
            <p14:sldId id="418"/>
            <p14:sldId id="412"/>
            <p14:sldId id="482"/>
            <p14:sldId id="485"/>
            <p14:sldId id="483"/>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88"/>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195" autoAdjust="0"/>
    <p:restoredTop sz="94653"/>
  </p:normalViewPr>
  <p:slideViewPr>
    <p:cSldViewPr snapToGrid="0">
      <p:cViewPr varScale="1">
        <p:scale>
          <a:sx n="114" d="100"/>
          <a:sy n="114" d="100"/>
        </p:scale>
        <p:origin x="125" y="67"/>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10/24/2026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24</a:t>
            </a:fld>
            <a:endParaRPr lang="en-US"/>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10/24/2026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5.png"/><Relationship Id="rId1" Type="http://schemas.openxmlformats.org/officeDocument/2006/relationships/slideLayout" Target="../slideLayouts/slideLayout2.xml"/><Relationship Id="rId5" Type="http://schemas.openxmlformats.org/officeDocument/2006/relationships/image" Target="../media/image150.png"/><Relationship Id="rId4" Type="http://schemas.openxmlformats.org/officeDocument/2006/relationships/image" Target="../media/image140.png"/></Relationships>
</file>

<file path=ppt/slides/_rels/slide13.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33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4.png"/><Relationship Id="rId7" Type="http://schemas.openxmlformats.org/officeDocument/2006/relationships/image" Target="../media/image260.png"/><Relationship Id="rId12" Type="http://schemas.openxmlformats.org/officeDocument/2006/relationships/image" Target="../media/image35.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6.gif"/></Relationships>
</file>

<file path=ppt/slides/_rels/slide26.xml.rels><?xml version="1.0" encoding="UTF-8" standalone="yes"?>
<Relationships xmlns="http://schemas.openxmlformats.org/package/2006/relationships"><Relationship Id="rId7" Type="http://schemas.openxmlformats.org/officeDocument/2006/relationships/image" Target="../media/image39.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38.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1.png"/></Relationships>
</file>

<file path=ppt/slides/_rels/slide3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Approximate Solution Methods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a:bodyPr>
          <a:lstStyle/>
          <a:p>
            <a:r>
              <a:rPr lang="en-US" b="1" dirty="0"/>
              <a:t>Code example</a:t>
            </a:r>
            <a:r>
              <a:rPr lang="en-US" dirty="0"/>
              <a:t>: On-Policy State Distribution</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62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Issues of interest:</a:t>
                </a:r>
              </a:p>
              <a:p>
                <a:pPr lvl="1"/>
                <a:r>
                  <a:rPr lang="en-US" b="1" dirty="0"/>
                  <a:t>Convergence</a:t>
                </a:r>
                <a:r>
                  <a:rPr lang="en-US" dirty="0"/>
                  <a:t>: Convergence to the global or a local optimum depends on the used approximation and the learning method. We will discuss this for each method.</a:t>
                </a:r>
              </a:p>
              <a:p>
                <a:pPr lvl="1"/>
                <a:r>
                  <a:rPr lang="en-US" b="1" dirty="0"/>
                  <a:t>Bias</a:t>
                </a:r>
                <a:r>
                  <a:rPr lang="en-US" dirty="0"/>
                  <a:t>: Different approximation methods have different bias (=are not able to represent the true value function).</a:t>
                </a:r>
              </a:p>
              <a:p>
                <a:pPr lvl="1"/>
                <a:endParaRPr lang="en-US" dirty="0"/>
              </a:p>
              <a:p>
                <a:r>
                  <a:rPr lang="en-US" dirty="0"/>
                  <a:t>We still need:</a:t>
                </a:r>
              </a:p>
              <a:p>
                <a:pPr marL="971550" lvl="1" indent="-514350">
                  <a:buFont typeface="+mj-lt"/>
                  <a:buAutoNum type="arabicPeriod"/>
                </a:pPr>
                <a:r>
                  <a:rPr lang="en-US" dirty="0"/>
                  <a:t>A method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a:p>
                <a:pPr marL="971550" lvl="1" indent="-514350">
                  <a:buFont typeface="+mj-lt"/>
                  <a:buAutoNum type="arabicPeriod"/>
                </a:pPr>
                <a:r>
                  <a:rPr lang="en-US" dirty="0"/>
                  <a:t>Define 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a:t>
                </a:r>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406" t="-1913" r="-406"/>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9" end="9"/>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10" end="1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r>
                  <a:rPr lang="en-US" dirty="0"/>
                  <a:t>How to find </a:t>
                </a:r>
                <a14:m>
                  <m:oMath xmlns:m="http://schemas.openxmlformats.org/officeDocument/2006/math">
                    <m:r>
                      <a:rPr lang="en-US" b="1" i="1">
                        <a:latin typeface="Cambria Math" panose="02040503050406030204" pitchFamily="18" charset="0"/>
                      </a:rPr>
                      <m:t>𝒘</m:t>
                    </m:r>
                  </m:oMath>
                </a14:m>
                <a:r>
                  <a:rPr lang="en-US" dirty="0"/>
                  <a:t> for the global or a local optimum</a:t>
                </a:r>
              </a:p>
            </p:txBody>
          </p:sp>
        </mc:Choice>
        <mc:Fallback xmlns="">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9550076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mc:Choice xmlns:a14="http://schemas.microsoft.com/office/drawing/2010/main"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e>
                      <m:sup>
                        <m:r>
                          <a:rPr lang="en-US" i="1">
                            <a:latin typeface="Cambria Math" panose="02040503050406030204" pitchFamily="18" charset="0"/>
                            <a:ea typeface="Cambria Math" panose="02040503050406030204" pitchFamily="18" charset="0"/>
                          </a:rPr>
                          <m:t>⊤</m:t>
                        </m:r>
                      </m:sup>
                    </m:sSup>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b="-23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xmlns="">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xmlns="">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xmlns:a14="http://schemas.microsoft.com/office/drawing/2010/main">
        <mc:Choice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xmlns="">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xmlns:a14="http://schemas.microsoft.com/office/drawing/2010/main">
        <mc:Choice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xmlns="">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xmlns:a14="http://schemas.microsoft.com/office/drawing/2010/main">
        <mc:Choice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a:t>
                </a:r>
                <a:r>
                  <a:rPr lang="en-US" b="1" dirty="0"/>
                  <a:t>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xmlns="">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2"/>
          <a:stretch>
            <a:fillRect/>
          </a:stretch>
        </p:blipFill>
        <p:spPr>
          <a:xfrm>
            <a:off x="838199" y="1124198"/>
            <a:ext cx="10515601" cy="3776234"/>
          </a:xfrm>
          <a:prstGeom prst="rect">
            <a:avLst/>
          </a:prstGeom>
        </p:spPr>
      </p:pic>
      <mc:AlternateContent xmlns:mc="http://schemas.openxmlformats.org/markup-compatibility/2006" xmlns:a14="http://schemas.microsoft.com/office/drawing/2010/main">
        <mc:Choice Requires="a14">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p:nvPr/>
            </p:nvSpPr>
            <p:spPr>
              <a:xfrm>
                <a:off x="7766507" y="4484025"/>
                <a:ext cx="4140974" cy="1148456"/>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p:txBody>
          </p:sp>
        </mc:Choice>
        <mc:Fallback xmlns="">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7766507" y="4484025"/>
                <a:ext cx="4140974" cy="1148456"/>
              </a:xfrm>
              <a:prstGeom prst="rect">
                <a:avLst/>
              </a:prstGeom>
              <a:blipFill>
                <a:blip r:embed="rId3"/>
                <a:stretch>
                  <a:fillRect l="-1026" t="-2094"/>
                </a:stretch>
              </a:blipFill>
              <a:ln>
                <a:headEnd type="none" w="med" len="med"/>
                <a:tailEnd type="none" w="med" len="med"/>
              </a:ln>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mc:Choice xmlns:a14="http://schemas.microsoft.com/office/drawing/2010/main"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70000" lnSpcReduction="20000"/>
              </a:bodyPr>
              <a:lstStyle/>
              <a:p>
                <a:pPr/>
                <a:r>
                  <a:rPr lang="en-US" b="1" dirty="0"/>
                  <a:t>Issue: </a:t>
                </a:r>
                <a:r>
                  <a:rPr lang="en-US" dirty="0"/>
                  <a:t>To get the true gradient requires, an </a:t>
                </a:r>
                <a:r>
                  <a:rPr lang="en-US" b="1" dirty="0"/>
                  <a:t>unbiased </a:t>
                </a:r>
                <a:r>
                  <a:rPr lang="en-US" dirty="0"/>
                  <a:t>target estimate that is </a:t>
                </a:r>
                <a:r>
                  <a:rPr lang="en-US" b="1" dirty="0"/>
                  <a:t>fixed</a:t>
                </a:r>
                <a:r>
                  <a:rPr lang="en-US" dirty="0"/>
                  <a:t> (i.e., does not change with </a:t>
                </a:r>
                <a14:m>
                  <m:oMath xmlns:m="http://schemas.openxmlformats.org/officeDocument/2006/math">
                    <m:r>
                      <a:rPr lang="en-US" b="1" i="1">
                        <a:latin typeface="Cambria Math" panose="02040503050406030204" pitchFamily="18" charset="0"/>
                      </a:rPr>
                      <m:t>𝒘</m:t>
                    </m:r>
                    <m:r>
                      <a:rPr lang="en-US" b="1" i="1" smtClean="0">
                        <a:latin typeface="Cambria Math" panose="02040503050406030204" pitchFamily="18" charset="0"/>
                      </a:rPr>
                      <m:t>)</m:t>
                    </m:r>
                    <m:r>
                      <a:rPr lang="en-US" b="1" i="1" smtClean="0">
                        <a:latin typeface="Cambria Math" panose="02040503050406030204" pitchFamily="18" charset="0"/>
                      </a:rPr>
                      <m:t>.</m:t>
                    </m:r>
                  </m:oMath>
                </a14:m>
                <a:r>
                  <a:rPr lang="en-US" dirty="0"/>
                  <a:t> </a:t>
                </a:r>
                <a:br>
                  <a:rPr lang="en-US" dirty="0"/>
                </a:br>
                <a:br>
                  <a:rPr lang="en-US" dirty="0"/>
                </a:b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endParaRPr lang="en-US" b="1" dirty="0"/>
              </a:p>
              <a:p>
                <a:pPr/>
                <a:r>
                  <a:rPr lang="en-US" b="1" dirty="0"/>
                  <a:t>Bootstrapping</a:t>
                </a:r>
                <a:br>
                  <a:rPr lang="en-US" dirty="0"/>
                </a:b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br>
                  <a:rPr lang="en-US" dirty="0">
                    <a:ea typeface="Cambria Math" panose="02040503050406030204" pitchFamily="18" charset="0"/>
                  </a:rPr>
                </a:br>
                <a:br>
                  <a:rPr lang="en-US" dirty="0">
                    <a:ea typeface="Cambria Math" panose="02040503050406030204" pitchFamily="18" charset="0"/>
                  </a:rPr>
                </a:br>
                <a:r>
                  <a:rPr lang="en-US" dirty="0"/>
                  <a:t>breaks this requirement and leads to the gradient being systematically off:</a:t>
                </a:r>
              </a:p>
              <a:p>
                <a:pPr lvl="1"/>
                <a:r>
                  <a:rPr lang="en-US" dirty="0"/>
                  <a:t>Bootstrapped target value is biased towards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i="1" dirty="0">
                  <a:latin typeface="Cambria Math" panose="02040503050406030204" pitchFamily="18" charset="0"/>
                </a:endParaRPr>
              </a:p>
              <a:p>
                <a:pPr lvl="1"/>
                <a:r>
                  <a:rPr lang="en-US" dirty="0"/>
                  <a:t>Target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now on </a:t>
                </a:r>
                <a14:m>
                  <m:oMath xmlns:m="http://schemas.openxmlformats.org/officeDocument/2006/math">
                    <m:r>
                      <a:rPr lang="en-US" b="1" i="1">
                        <a:latin typeface="Cambria Math" panose="02040503050406030204" pitchFamily="18" charset="0"/>
                      </a:rPr>
                      <m:t>𝒘</m:t>
                    </m:r>
                  </m:oMath>
                </a14:m>
                <a:r>
                  <a:rPr lang="en-US" dirty="0">
                    <a:ea typeface="Cambria Math" panose="02040503050406030204" pitchFamily="18" charset="0"/>
                  </a:rPr>
                  <a:t> but its gradient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1" i="1">
                        <a:latin typeface="Cambria Math" panose="02040503050406030204" pitchFamily="18" charset="0"/>
                        <a:ea typeface="Cambria Math" panose="02040503050406030204" pitchFamily="18" charset="0"/>
                      </a:rPr>
                      <m:t> </m:t>
                    </m:r>
                  </m:oMath>
                </a14:m>
                <a:r>
                  <a:rPr lang="en-US" dirty="0">
                    <a:ea typeface="Cambria Math" panose="02040503050406030204" pitchFamily="18" charset="0"/>
                  </a:rPr>
                  <a:t>is ignored in the update.</a:t>
                </a:r>
                <a:endParaRPr lang="en-US" b="1" dirty="0">
                  <a:ea typeface="Cambria Math" panose="02040503050406030204" pitchFamily="18" charset="0"/>
                </a:endParaRPr>
              </a:p>
              <a:p>
                <a:pPr marL="0" indent="0">
                  <a:buNone/>
                </a:pPr>
                <a:endParaRPr lang="en-US" b="1" dirty="0"/>
              </a:p>
              <a:p>
                <a:pPr marL="0" indent="0">
                  <a:buNone/>
                </a:pPr>
                <a:r>
                  <a:rPr lang="en-US" b="1" dirty="0"/>
                  <a:t>Semi-Gradient Methods:</a:t>
                </a:r>
              </a:p>
              <a:p>
                <a:r>
                  <a:rPr lang="en-US" dirty="0"/>
                  <a:t>If biased target estimates are used, then this is called a semi-gradient method.</a:t>
                </a:r>
              </a:p>
              <a:p>
                <a:r>
                  <a:rPr lang="en-US" dirty="0"/>
                  <a:t>Advantages: </a:t>
                </a:r>
              </a:p>
              <a:p>
                <a:pPr lvl="1"/>
                <a:r>
                  <a:rPr lang="en-US" dirty="0"/>
                  <a:t>Lower variance of TD estimates leads to faster learning.</a:t>
                </a:r>
              </a:p>
              <a:p>
                <a:pPr lvl="1"/>
                <a:r>
                  <a:rPr lang="en-US" dirty="0"/>
                  <a:t>TD can learn online.</a:t>
                </a:r>
              </a:p>
              <a:p>
                <a:pPr lvl="1"/>
                <a:r>
                  <a:rPr lang="en-US" dirty="0"/>
                  <a:t>Often still converge: Especially for linear approximators or by using stabilization tricks. </a:t>
                </a:r>
              </a:p>
            </p:txBody>
          </p:sp>
        </mc:Choice>
        <mc:Fallback>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638" t="-2081"/>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2"/>
          <a:stretch>
            <a:fillRect/>
          </a:stretch>
        </p:blipFill>
        <p:spPr>
          <a:xfrm>
            <a:off x="838200" y="1195667"/>
            <a:ext cx="10515601" cy="5041835"/>
          </a:xfrm>
          <a:prstGeom prst="rect">
            <a:avLst/>
          </a:prstGeom>
        </p:spPr>
      </p:pic>
      <p:cxnSp>
        <p:nvCxnSpPr>
          <p:cNvPr id="7" name="Straight Connector 6">
            <a:extLst>
              <a:ext uri="{FF2B5EF4-FFF2-40B4-BE49-F238E27FC236}">
                <a16:creationId xmlns:a16="http://schemas.microsoft.com/office/drawing/2014/main" id="{BC98F6AF-8EC3-90BA-203C-644C9BAD6DB4}"/>
              </a:ext>
              <a:ext uri="{C183D7F6-B498-43B3-948B-1728B52AA6E4}">
                <adec:decorative xmlns:adec="http://schemas.microsoft.com/office/drawing/2017/decorative" val="1"/>
              </a:ext>
            </a:extLst>
          </p:cNvPr>
          <p:cNvCxnSpPr>
            <a:cxnSpLocks/>
          </p:cNvCxnSpPr>
          <p:nvPr/>
        </p:nvCxnSpPr>
        <p:spPr>
          <a:xfrm>
            <a:off x="3413294" y="5325856"/>
            <a:ext cx="1640337"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4802346" y="5598828"/>
                <a:ext cx="4904362" cy="590958"/>
              </a:xfrm>
              <a:prstGeom prst="wedgeRoundRectCallout">
                <a:avLst>
                  <a:gd name="adj1" fmla="val -56745"/>
                  <a:gd name="adj2" fmla="val -8892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biased bootstrap estimate and depends on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4802346" y="5598828"/>
                <a:ext cx="4904362" cy="590958"/>
              </a:xfrm>
              <a:prstGeom prst="wedgeRoundRectCallout">
                <a:avLst>
                  <a:gd name="adj1" fmla="val -56745"/>
                  <a:gd name="adj2" fmla="val -88921"/>
                  <a:gd name="adj3" fmla="val 16667"/>
                </a:avLst>
              </a:prstGeom>
              <a:blipFill>
                <a:blip r:embed="rId3"/>
                <a:stretch>
                  <a:fillRect r="-229" b="-13669"/>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Approximation Methods</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Definition of a simple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Methods</a:t>
            </a:r>
          </a:p>
        </p:txBody>
      </p:sp>
      <mc:AlternateContent xmlns:mc="http://schemas.openxmlformats.org/markup-compatibility/2006">
        <mc:Choice xmlns:a14="http://schemas.microsoft.com/office/drawing/2010/main"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62500" lnSpcReduction="20000"/>
              </a:bodyPr>
              <a:lstStyle/>
              <a:p>
                <a:pPr>
                  <a:lnSpc>
                    <a:spcPct val="120000"/>
                  </a:lnSpc>
                </a:pPr>
                <a:r>
                  <a:rPr lang="en-US" dirty="0"/>
                  <a:t>Linear approximation of the state value by the inner product </a:t>
                </a: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i="1" dirty="0">
                    <a:latin typeface="Cambria Math" panose="02040503050406030204" pitchFamily="18" charset="0"/>
                  </a:rPr>
                </a:br>
                <a:r>
                  <a:rPr lang="en-US" dirty="0"/>
                  <a:t>where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0"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1</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2</m:t>
                                </m:r>
                              </m:sub>
                            </m:sSub>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𝑑</m:t>
                                </m:r>
                              </m:sub>
                            </m:sSub>
                            <m:d>
                              <m:dPr>
                                <m:ctrlPr>
                                  <a:rPr lang="en-US" i="1">
                                    <a:latin typeface="Cambria Math" panose="02040503050406030204" pitchFamily="18" charset="0"/>
                                  </a:rPr>
                                </m:ctrlPr>
                              </m:dPr>
                              <m:e>
                                <m:r>
                                  <a:rPr lang="en-US" i="1">
                                    <a:latin typeface="Cambria Math" panose="02040503050406030204" pitchFamily="18" charset="0"/>
                                  </a:rPr>
                                  <m:t>𝑠</m:t>
                                </m:r>
                              </m:e>
                            </m:d>
                          </m:e>
                        </m:d>
                      </m:e>
                      <m:sup>
                        <m:r>
                          <a:rPr lang="en-US" b="1" i="1">
                            <a:latin typeface="Cambria Math" panose="02040503050406030204" pitchFamily="18" charset="0"/>
                          </a:rPr>
                          <m:t>⊤</m:t>
                        </m:r>
                      </m:sup>
                    </m:sSup>
                  </m:oMath>
                </a14:m>
                <a:r>
                  <a:rPr lang="en-US" dirty="0"/>
                  <a:t>is the state feature vector </a:t>
                </a:r>
                <a:br>
                  <a:rPr lang="en-US" dirty="0"/>
                </a:br>
                <a:r>
                  <a:rPr lang="en-US" dirty="0"/>
                  <a:t>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Linearity creates a convex optimization problem. SGD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semi-gradient on-policy methods!</a:t>
                </a:r>
              </a:p>
            </p:txBody>
          </p:sp>
        </mc:Choice>
        <mc:Fallback>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406" t="-510"/>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213257" y="5739732"/>
            <a:ext cx="2408809" cy="697042"/>
          </a:xfrm>
          <a:prstGeom prst="wedgeRoundRectCallout">
            <a:avLst>
              <a:gd name="adj1" fmla="val -77336"/>
              <a:gd name="adj2" fmla="val -8636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mc:Choice xmlns:a14="http://schemas.microsoft.com/office/drawing/2010/main"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e>
                        </m:d>
                      </m:e>
                      <m:sup>
                        <m:r>
                          <a:rPr lang="en-US" b="1" i="1">
                            <a:latin typeface="Cambria Math" panose="02040503050406030204" pitchFamily="18" charset="0"/>
                          </a:rPr>
                          <m:t>⊤</m:t>
                        </m:r>
                      </m:sup>
                    </m:sSup>
                  </m:oMath>
                </a14:m>
                <a:r>
                  <a:rPr lang="en-US" dirty="0"/>
                  <a:t>. </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Tree>
    <p:extLst>
      <p:ext uri="{BB962C8B-B14F-4D97-AF65-F5344CB8AC3E}">
        <p14:creationId xmlns:p14="http://schemas.microsoft.com/office/powerpoint/2010/main" val="426386434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452876-D1DB-2C5D-116E-657F7C675A4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E05803-3B19-77B2-F068-D850079A0325}"/>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TD(0) prediction with approximation using linear features</a:t>
            </a:r>
          </a:p>
        </p:txBody>
      </p:sp>
      <p:sp>
        <p:nvSpPr>
          <p:cNvPr id="3" name="TextBox 2">
            <a:extLst>
              <a:ext uri="{FF2B5EF4-FFF2-40B4-BE49-F238E27FC236}">
                <a16:creationId xmlns:a16="http://schemas.microsoft.com/office/drawing/2014/main" id="{00EE2B4C-4014-9F11-C2A0-7892A343575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6490018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xmlns:a14="http://schemas.microsoft.com/office/drawing/2010/main">
        <mc:Choice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xmlns="">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sSup>
                        <m:sSupPr>
                          <m:ctrlPr>
                            <a:rPr lang="en-US" sz="1600" b="0" i="0" smtClean="0">
                              <a:latin typeface="Cambria Math" panose="02040503050406030204" pitchFamily="18" charset="0"/>
                            </a:rPr>
                          </m:ctrlPr>
                        </m:sSupPr>
                        <m:e>
                          <m:d>
                            <m:dPr>
                              <m:ctrlPr>
                                <a:rPr lang="en-US" sz="1600" b="0" i="0" smtClean="0">
                                  <a:latin typeface="Cambria Math" panose="02040503050406030204" pitchFamily="18" charset="0"/>
                                </a:rPr>
                              </m:ctrlPr>
                            </m:dPr>
                            <m:e>
                              <m:r>
                                <a:rPr lang="en-US" sz="1600" b="0" i="0" smtClean="0">
                                  <a:latin typeface="Cambria Math" panose="02040503050406030204" pitchFamily="18" charset="0"/>
                                </a:rPr>
                                <m:t>1, .9,.65, .35,. 1</m:t>
                              </m:r>
                            </m:e>
                          </m:d>
                        </m:e>
                        <m:sup>
                          <m:r>
                            <a:rPr lang="en-US" sz="1600" b="1" i="1">
                              <a:latin typeface="Cambria Math" panose="02040503050406030204" pitchFamily="18" charset="0"/>
                            </a:rPr>
                            <m:t>⊤</m:t>
                          </m:r>
                        </m:sup>
                      </m:sSup>
                    </m:oMath>
                  </a14:m>
                  <a:endParaRPr lang="en-US" sz="1600" dirty="0"/>
                </a:p>
              </p:txBody>
            </p:sp>
          </mc:Choice>
          <mc:Fallback>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l="-821" t="-1786" b="-1607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xmlns:a14="http://schemas.microsoft.com/office/drawing/2010/main">
        <mc:Choice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xmlns="">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a:t>
                    </a:r>
                    <a:r>
                      <a:rPr lang="en-US" sz="2000" dirty="0" err="1"/>
                      <a:t>tilings</a:t>
                    </a:r>
                    <a:r>
                      <a:rPr lang="en-US" sz="2000" dirty="0"/>
                      <a:t>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a:t>
            </a:r>
            <a:r>
              <a:rPr lang="en-US" dirty="0" err="1"/>
              <a:t>tilings</a:t>
            </a:r>
            <a:r>
              <a:rPr lang="en-US" dirty="0"/>
              <a:t>,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624482" y="1124198"/>
            <a:ext cx="4229099" cy="4744675"/>
            <a:chOff x="7624482" y="1124198"/>
            <a:chExt cx="422909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0F8698FB-EAF6-FD2F-962C-4D5389EB0A0B}"/>
                    </a:ext>
                  </a:extLst>
                </p:cNvPr>
                <p:cNvSpPr txBox="1"/>
                <p:nvPr/>
              </p:nvSpPr>
              <p:spPr>
                <a:xfrm>
                  <a:off x="7624482" y="4545434"/>
                  <a:ext cx="4229099" cy="1323439"/>
                </a:xfrm>
                <a:prstGeom prst="rect">
                  <a:avLst/>
                </a:prstGeom>
                <a:noFill/>
              </p:spPr>
              <p:txBody>
                <a:bodyPr wrap="square">
                  <a:spAutoFit/>
                </a:bodyPr>
                <a:lstStyle/>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e>
                        <m:sup>
                          <m:r>
                            <a:rPr lang="en-US" sz="2000" b="1" i="1">
                              <a:latin typeface="Cambria Math" panose="02040503050406030204" pitchFamily="18" charset="0"/>
                            </a:rPr>
                            <m:t>⊤</m:t>
                          </m:r>
                        </m:sup>
                      </m:sSup>
                    </m:oMath>
                  </a14:m>
                  <a:endParaRPr lang="en-US" sz="1400" b="0" dirty="0"/>
                </a:p>
                <a:p>
                  <a:pPr marL="228600" indent="-228600">
                    <a:buFont typeface="Arial" panose="020B0604020202020204" pitchFamily="34" charset="0"/>
                    <a:buChar char="•"/>
                  </a:pPr>
                  <a14:m>
                    <m:oMath xmlns:m="http://schemas.openxmlformats.org/officeDocument/2006/math">
                      <m:r>
                        <a:rPr lang="en-US" sz="2000" b="1" i="1" smtClean="0">
                          <a:latin typeface="Cambria Math" panose="02040503050406030204" pitchFamily="18" charset="0"/>
                        </a:rPr>
                        <m:t>𝒘</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e>
                        <m:sup>
                          <m:r>
                            <a:rPr lang="en-US" sz="2000" b="1" i="1">
                              <a:latin typeface="Cambria Math" panose="02040503050406030204" pitchFamily="18" charset="0"/>
                            </a:rPr>
                            <m:t>⊤</m:t>
                          </m:r>
                        </m:sup>
                      </m:sSup>
                    </m:oMath>
                  </a14:m>
                  <a:br>
                    <a:rPr lang="en-US" sz="2000" b="0" dirty="0"/>
                  </a:br>
                  <a:br>
                    <a:rPr lang="en-US" sz="2000" b="0" dirty="0"/>
                  </a:br>
                  <a14:m>
                    <m:oMath xmlns:m="http://schemas.openxmlformats.org/officeDocument/2006/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a14:m>
                  <a:endParaRPr lang="en-US" sz="2000" b="0" dirty="0"/>
                </a:p>
              </p:txBody>
            </p:sp>
          </mc:Choice>
          <mc:Fallback>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624482" y="4545434"/>
                  <a:ext cx="4229099" cy="1323439"/>
                </a:xfrm>
                <a:prstGeom prst="rect">
                  <a:avLst/>
                </a:prstGeom>
                <a:blipFill>
                  <a:blip r:embed="rId4"/>
                  <a:stretch>
                    <a:fillRect l="-1299" t="-1843"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fontScale="90000"/>
          </a:bodyPr>
          <a:lstStyle/>
          <a:p>
            <a:r>
              <a:rPr lang="en-US" dirty="0"/>
              <a:t>Practical Issue: 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 to approximate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a:extLst>
                  <a:ext uri="{FF2B5EF4-FFF2-40B4-BE49-F238E27FC236}">
                    <a16:creationId xmlns:a16="http://schemas.microsoft.com/office/drawing/2014/main" id="{A0742DE7-913C-60BB-DF8E-B71A7E28A534}"/>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36651022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6329047" cy="4965370"/>
          </a:xfrm>
        </p:spPr>
        <p:txBody>
          <a:bodyPr>
            <a:normAutofit fontScale="62500" lnSpcReduction="20000"/>
          </a:bodyPr>
          <a:lstStyle/>
          <a:p>
            <a:r>
              <a:rPr lang="en-US" dirty="0"/>
              <a:t>Uses simple networks with a single hidden layer or deep architectures to approximate the value function.</a:t>
            </a:r>
          </a:p>
          <a:p>
            <a:r>
              <a:rPr lang="en-US" dirty="0"/>
              <a:t>Architecture choices:</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dirty="0"/>
              <a:t>Training: Use SGD and backpropagation for deep networks.</a:t>
            </a:r>
          </a:p>
          <a:p>
            <a:endParaRPr lang="en-US" dirty="0"/>
          </a:p>
          <a:p>
            <a:r>
              <a:rPr lang="en-US" dirty="0"/>
              <a:t>Issues due to nonlinearity: </a:t>
            </a:r>
          </a:p>
          <a:p>
            <a:pPr lvl="1"/>
            <a:r>
              <a:rPr lang="en-US" dirty="0"/>
              <a:t>Instability </a:t>
            </a:r>
          </a:p>
          <a:p>
            <a:pPr lvl="1"/>
            <a:r>
              <a:rPr lang="en-US" dirty="0"/>
              <a:t>Generally, no convergence guarantee. </a:t>
            </a:r>
          </a:p>
          <a:p>
            <a:pPr lvl="1"/>
            <a:endParaRPr lang="en-US" dirty="0"/>
          </a:p>
          <a:p>
            <a:r>
              <a:rPr lang="en-US" dirty="0"/>
              <a:t>More in Deep Reinforcement Learning (DRL).</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xmlns:a14="http://schemas.microsoft.com/office/drawing/2010/main">
        <mc:Choice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xmlns="">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
        <p:nvSpPr>
          <p:cNvPr id="3" name="Speech Bubble: Rectangle with Corners Rounded 2">
            <a:extLst>
              <a:ext uri="{FF2B5EF4-FFF2-40B4-BE49-F238E27FC236}">
                <a16:creationId xmlns:a16="http://schemas.microsoft.com/office/drawing/2014/main" id="{7815E3A0-D220-6DF0-66C3-2D98B4375431}"/>
              </a:ext>
            </a:extLst>
          </p:cNvPr>
          <p:cNvSpPr/>
          <p:nvPr/>
        </p:nvSpPr>
        <p:spPr>
          <a:xfrm>
            <a:off x="8426547" y="3268395"/>
            <a:ext cx="2968283" cy="839372"/>
          </a:xfrm>
          <a:prstGeom prst="wedgeRoundRectCallout">
            <a:avLst>
              <a:gd name="adj1" fmla="val -165153"/>
              <a:gd name="adj2" fmla="val 2074"/>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biased estimate does not give us the true gradient! This will lead to a </a:t>
            </a:r>
            <a:r>
              <a:rPr lang="en-US" sz="1400" b="1" dirty="0"/>
              <a:t>semi-gradient method</a:t>
            </a:r>
            <a:r>
              <a:rPr lang="en-US" sz="1400" dirty="0"/>
              <a:t>.</a:t>
            </a:r>
          </a:p>
        </p:txBody>
      </p:sp>
      <mc:AlternateContent xmlns:mc="http://schemas.openxmlformats.org/markup-compatibility/2006" xmlns:a14="http://schemas.microsoft.com/office/drawing/2010/main">
        <mc:Choice Requires="a14">
          <p:sp>
            <p:nvSpPr>
              <p:cNvPr id="6" name="Speech Bubble: Rectangle with Corners Rounded 5">
                <a:extLst>
                  <a:ext uri="{FF2B5EF4-FFF2-40B4-BE49-F238E27FC236}">
                    <a16:creationId xmlns:a16="http://schemas.microsoft.com/office/drawing/2014/main" id="{C1B2CB9B-9BA8-84DE-A2BC-5395ABECDB1E}"/>
                  </a:ext>
                </a:extLst>
              </p:cNvPr>
              <p:cNvSpPr/>
              <p:nvPr/>
            </p:nvSpPr>
            <p:spPr>
              <a:xfrm>
                <a:off x="8426547" y="4495862"/>
                <a:ext cx="2968282" cy="839371"/>
              </a:xfrm>
              <a:prstGeom prst="wedgeRoundRectCallout">
                <a:avLst>
                  <a:gd name="adj1" fmla="val -75161"/>
                  <a:gd name="adj2" fmla="val 937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update of </a:t>
                </a:r>
                <a14:m>
                  <m:oMath xmlns:m="http://schemas.openxmlformats.org/officeDocument/2006/math">
                    <m:r>
                      <a:rPr lang="en-US" sz="1400" b="1" i="1">
                        <a:latin typeface="Cambria Math" panose="02040503050406030204" pitchFamily="18" charset="0"/>
                      </a:rPr>
                      <m:t>𝒘</m:t>
                    </m:r>
                  </m:oMath>
                </a14:m>
                <a:r>
                  <a:rPr lang="en-US" sz="1400" dirty="0"/>
                  <a:t> may have changed </a:t>
                </a:r>
                <a14:m>
                  <m:oMath xmlns:m="http://schemas.openxmlformats.org/officeDocument/2006/math">
                    <m:acc>
                      <m:accPr>
                        <m:chr m:val="̂"/>
                        <m:ctrlPr>
                          <a:rPr lang="en-US" sz="1400" i="1">
                            <a:latin typeface="Cambria Math" panose="02040503050406030204" pitchFamily="18" charset="0"/>
                          </a:rPr>
                        </m:ctrlPr>
                      </m:accPr>
                      <m:e>
                        <m:r>
                          <a:rPr lang="en-US" sz="1400" i="1">
                            <a:latin typeface="Cambria Math" panose="02040503050406030204" pitchFamily="18" charset="0"/>
                          </a:rPr>
                          <m:t>𝑞</m:t>
                        </m:r>
                      </m:e>
                    </m:acc>
                  </m:oMath>
                </a14:m>
                <a:r>
                  <a:rPr lang="en-US" sz="1400" dirty="0"/>
                  <a:t> for several states and actions! May be an issue with improvement.</a:t>
                </a:r>
              </a:p>
            </p:txBody>
          </p:sp>
        </mc:Choice>
        <mc:Fallback xmlns="">
          <p:sp>
            <p:nvSpPr>
              <p:cNvPr id="6" name="Speech Bubble: Rectangle with Corners Rounded 5">
                <a:extLst>
                  <a:ext uri="{FF2B5EF4-FFF2-40B4-BE49-F238E27FC236}">
                    <a16:creationId xmlns:a16="http://schemas.microsoft.com/office/drawing/2014/main" id="{C1B2CB9B-9BA8-84DE-A2BC-5395ABECDB1E}"/>
                  </a:ext>
                </a:extLst>
              </p:cNvPr>
              <p:cNvSpPr>
                <a:spLocks noRot="1" noChangeAspect="1" noMove="1" noResize="1" noEditPoints="1" noAdjustHandles="1" noChangeArrowheads="1" noChangeShapeType="1" noTextEdit="1"/>
              </p:cNvSpPr>
              <p:nvPr/>
            </p:nvSpPr>
            <p:spPr>
              <a:xfrm>
                <a:off x="8426547" y="4495862"/>
                <a:ext cx="2968282" cy="839371"/>
              </a:xfrm>
              <a:prstGeom prst="wedgeRoundRectCallout">
                <a:avLst>
                  <a:gd name="adj1" fmla="val -75161"/>
                  <a:gd name="adj2" fmla="val 9379"/>
                  <a:gd name="adj3" fmla="val 16667"/>
                </a:avLst>
              </a:prstGeom>
              <a:blipFill>
                <a:blip r:embed="rId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animBg="1"/>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mc:Choice xmlns:a14="http://schemas.microsoft.com/office/drawing/2010/main"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b="1" dirty="0"/>
                  <a:t>Issue</a:t>
                </a:r>
                <a:r>
                  <a:rPr lang="en-US" dirty="0"/>
                  <a:t>: 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estimating values for each action separately:</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p>
                      <m:sSupPr>
                        <m:ctrlPr>
                          <a:rPr lang="en-US" b="0" i="0"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e>
                        </m:d>
                      </m:e>
                      <m:sup>
                        <m:r>
                          <a:rPr lang="en-US" b="1" i="1">
                            <a:latin typeface="Cambria Math" panose="02040503050406030204" pitchFamily="18" charset="0"/>
                          </a:rPr>
                          <m:t>⊤</m:t>
                        </m:r>
                      </m:sup>
                    </m:sSup>
                  </m:oMath>
                </a14:m>
                <a:br>
                  <a:rPr lang="en-US" dirty="0"/>
                </a:br>
                <a:endParaRPr lang="en-US" dirty="0"/>
              </a:p>
              <a:p>
                <a:endParaRPr lang="en-US" dirty="0"/>
              </a:p>
              <a:p>
                <a:r>
                  <a:rPr lang="en-US" dirty="0"/>
                  <a:t>Example 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1,0,0,1,3,0,0</m:t>
                            </m:r>
                          </m:e>
                        </m:d>
                      </m:e>
                      <m:sup>
                        <m:r>
                          <a:rPr lang="en-US" b="1" i="1">
                            <a:latin typeface="Cambria Math" panose="02040503050406030204" pitchFamily="18" charset="0"/>
                          </a:rPr>
                          <m:t>⊤</m:t>
                        </m:r>
                      </m:sup>
                    </m:sSup>
                  </m:oMath>
                </a14:m>
                <a:endParaRPr lang="en-US" dirty="0"/>
              </a:p>
            </p:txBody>
          </p:sp>
        </mc:Choice>
        <mc:Fallback>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xmlns="">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xmlns="">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538A8-B726-BACF-1299-09852A44C4E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2BE38BA-B943-CA3E-D574-004FEF596401}"/>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t>
            </a:r>
            <a:br>
              <a:rPr lang="en-US" dirty="0"/>
            </a:br>
            <a:r>
              <a:rPr lang="en-US" dirty="0"/>
              <a:t>Semi-gradient Sarsa(0) control with approximation using linear features for a simple grid world</a:t>
            </a:r>
            <a:br>
              <a:rPr lang="en-US" dirty="0"/>
            </a:br>
            <a:r>
              <a:rPr lang="en-US" dirty="0"/>
              <a:t>+ Advanced Feature Construction</a:t>
            </a:r>
          </a:p>
        </p:txBody>
      </p:sp>
      <p:sp>
        <p:nvSpPr>
          <p:cNvPr id="3" name="TextBox 2">
            <a:extLst>
              <a:ext uri="{FF2B5EF4-FFF2-40B4-BE49-F238E27FC236}">
                <a16:creationId xmlns:a16="http://schemas.microsoft.com/office/drawing/2014/main" id="{B5BEF320-9D62-8FE9-B589-CE5BD61B7E8E}"/>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37985702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Considerations for 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20095</TotalTime>
  <Words>4114</Words>
  <Application>Microsoft Office PowerPoint</Application>
  <PresentationFormat>Widescreen</PresentationFormat>
  <Paragraphs>433</Paragraphs>
  <Slides>40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40</vt:i4>
      </vt:variant>
    </vt:vector>
  </HeadingPairs>
  <TitlesOfParts>
    <vt:vector size="46"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Approximate Solution Methods</vt:lpstr>
      <vt:lpstr>Motivation</vt:lpstr>
      <vt:lpstr>Goals of Generalization in RL</vt:lpstr>
      <vt:lpstr>Prediction: Value Function Approximation</vt:lpstr>
      <vt:lpstr>Prediction Objective ((VE) ̅)</vt:lpstr>
      <vt:lpstr>Code example: On-Policy State Distribution</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Linear Approximation Methods</vt:lpstr>
      <vt:lpstr>Linear Methods</vt:lpstr>
      <vt:lpstr>Feature Vector</vt:lpstr>
      <vt:lpstr>Example: L-Maze with Linear Features</vt:lpstr>
      <vt:lpstr>Code example:  Semi-gradient TD(0) prediction with approximation using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Practical Issue: Partially Observable Environments</vt:lpstr>
      <vt:lpstr>Non-Linear Function Approximation</vt:lpstr>
      <vt:lpstr>Approximation with ANNs</vt:lpstr>
      <vt:lpstr>On-Policy Control with Approximation</vt:lpstr>
      <vt:lpstr>Control Problem</vt:lpstr>
      <vt:lpstr>State-Action Features</vt:lpstr>
      <vt:lpstr>Episodic Semi-gradient Sarsa</vt:lpstr>
      <vt:lpstr>Code example:  Semi-gradient Sarsa(0) control with approximation using linear features for a simple grid world + Advanced Feature Construction</vt:lpstr>
      <vt:lpstr>Considerations for 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258</cp:revision>
  <dcterms:created xsi:type="dcterms:W3CDTF">2025-09-08T14:44:49Z</dcterms:created>
  <dcterms:modified xsi:type="dcterms:W3CDTF">2026-10-24T21:47:23Z</dcterms:modified>
</cp:coreProperties>
</file>