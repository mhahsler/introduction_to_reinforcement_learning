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9" r:id="rId4"/>
    <p:sldId id="393" r:id="rId5"/>
    <p:sldId id="394" r:id="rId6"/>
    <p:sldId id="420" r:id="rId7"/>
    <p:sldId id="395" r:id="rId8"/>
    <p:sldId id="396" r:id="rId9"/>
    <p:sldId id="397" r:id="rId10"/>
    <p:sldId id="398" r:id="rId11"/>
    <p:sldId id="399" r:id="rId12"/>
    <p:sldId id="400" r:id="rId13"/>
    <p:sldId id="401" r:id="rId14"/>
    <p:sldId id="405" r:id="rId15"/>
    <p:sldId id="403" r:id="rId16"/>
    <p:sldId id="402" r:id="rId17"/>
    <p:sldId id="404" r:id="rId18"/>
    <p:sldId id="406" r:id="rId19"/>
    <p:sldId id="407" r:id="rId20"/>
    <p:sldId id="409" r:id="rId21"/>
    <p:sldId id="480" r:id="rId22"/>
    <p:sldId id="481" r:id="rId23"/>
    <p:sldId id="413" r:id="rId24"/>
    <p:sldId id="417" r:id="rId25"/>
    <p:sldId id="418" r:id="rId26"/>
    <p:sldId id="412" r:id="rId27"/>
    <p:sldId id="482" r:id="rId28"/>
    <p:sldId id="483" r:id="rId29"/>
    <p:sldId id="410" r:id="rId30"/>
    <p:sldId id="411" r:id="rId31"/>
    <p:sldId id="414" r:id="rId32"/>
    <p:sldId id="421" r:id="rId33"/>
    <p:sldId id="484" r:id="rId34"/>
    <p:sldId id="415" r:id="rId35"/>
    <p:sldId id="422" r:id="rId36"/>
    <p:sldId id="424"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1"/>
            <p14:sldId id="413"/>
            <p14:sldId id="417"/>
            <p14:sldId id="418"/>
            <p14:sldId id="412"/>
            <p14:sldId id="482"/>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95" autoAdjust="0"/>
    <p:restoredTop sz="94653"/>
  </p:normalViewPr>
  <p:slideViewPr>
    <p:cSldViewPr snapToGrid="0">
      <p:cViewPr varScale="1">
        <p:scale>
          <a:sx n="152" d="100"/>
          <a:sy n="152" d="100"/>
        </p:scale>
        <p:origin x="144" y="10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22</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0.png"/></Relationships>
</file>

<file path=ppt/slides/_rels/slide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260.png"/><Relationship Id="rId12" Type="http://schemas.openxmlformats.org/officeDocument/2006/relationships/image" Target="../media/image291.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3.gif"/></Relationships>
</file>

<file path=ppt/slides/_rels/slide24.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6.pn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mc:Choice xmlns:a14="http://schemas.microsoft.com/office/drawing/2010/main"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10515600" cy="4193934"/>
              </a:xfrm>
            </p:spPr>
            <p:txBody>
              <a:bodyPr>
                <a:normAutofit fontScale="700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10515600" cy="4193934"/>
              </a:xfrm>
              <a:blipFill>
                <a:blip r:embed="rId3"/>
                <a:stretch>
                  <a:fillRect l="-638" t="-2471"/>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591264"/>
            <a:ext cx="3804408" cy="834704"/>
          </a:xfrm>
          <a:prstGeom prst="wedgeRoundRectCallout">
            <a:avLst>
              <a:gd name="adj1" fmla="val -67250"/>
              <a:gd name="adj2" fmla="val -2091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This implies that we cannot change individual state values like in tabular methods! </a:t>
            </a:r>
          </a:p>
        </p:txBody>
      </p:sp>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p:txBody>
          <a:bodyPr>
            <a:normAutofit/>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limited data is gathered?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for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mc:Choice xmlns:a14="http://schemas.microsoft.com/office/drawing/2010/main"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is a “backed-up value” representing the desired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b="-16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55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Note on generalization</a:t>
                </a:r>
                <a:r>
                  <a:rPr lang="en-US" dirty="0"/>
                  <a:t>: Any change of </a:t>
                </a:r>
                <a14:m>
                  <m:oMath xmlns:m="http://schemas.openxmlformats.org/officeDocument/2006/math">
                    <m:r>
                      <a:rPr lang="en-US" b="1" i="1">
                        <a:latin typeface="Cambria Math" panose="02040503050406030204" pitchFamily="18" charset="0"/>
                        <a:ea typeface="Cambria Math" panose="02040503050406030204" pitchFamily="18" charset="0"/>
                      </a:rPr>
                      <m:t>𝒘</m:t>
                    </m:r>
                    <m:r>
                      <a:rPr lang="en-US" b="1" i="1">
                        <a:latin typeface="Cambria Math" panose="02040503050406030204" pitchFamily="18" charset="0"/>
                        <a:ea typeface="Cambria Math" panose="02040503050406030204" pitchFamily="18" charset="0"/>
                      </a:rPr>
                      <m:t> </m:t>
                    </m:r>
                  </m:oMath>
                </a14:m>
                <a:r>
                  <a:rPr lang="en-US" dirty="0"/>
                  <a:t>will also affect the prediction for other states and thus reduce or increase their error!</a:t>
                </a:r>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174" t="-1815" b="-1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500382" y="4468837"/>
            <a:ext cx="2400886" cy="1176997"/>
          </a:xfrm>
          <a:prstGeom prst="wedgeRoundRectCallout">
            <a:avLst>
              <a:gd name="adj1" fmla="val -118735"/>
              <a:gd name="adj2" fmla="val 3461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useful mathematical and statistical properties that make learning and optimization easier and more effective.</a:t>
            </a:r>
          </a:p>
        </p:txBody>
      </p:sp>
      <p:sp>
        <p:nvSpPr>
          <p:cNvPr id="7" name="TextBox 6">
            <a:extLst>
              <a:ext uri="{FF2B5EF4-FFF2-40B4-BE49-F238E27FC236}">
                <a16:creationId xmlns:a16="http://schemas.microsoft.com/office/drawing/2014/main" id="{4DBB76A8-1014-AF99-CD8E-82278A692321}"/>
              </a:ext>
            </a:extLst>
          </p:cNvPr>
          <p:cNvSpPr txBox="1"/>
          <p:nvPr/>
        </p:nvSpPr>
        <p:spPr>
          <a:xfrm>
            <a:off x="9978705" y="3888297"/>
            <a:ext cx="1263635"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See Code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Convergence</a:t>
                </a:r>
                <a:r>
                  <a:rPr lang="en-US" dirty="0"/>
                  <a:t>: Convergence to the global or a local optimum depends on the used approximation and the learning method. We will discuss this for each method.</a:t>
                </a:r>
              </a:p>
              <a:p>
                <a:r>
                  <a:rPr lang="en-US" b="1" dirty="0"/>
                  <a:t>Bias</a:t>
                </a:r>
                <a:r>
                  <a:rPr lang="en-US" dirty="0"/>
                  <a:t>: Different approximation methods have different bias (are not able to represent the true value function).</a:t>
                </a:r>
                <a:br>
                  <a:rPr lang="en-US" dirty="0"/>
                </a:br>
                <a:endParaRPr lang="en-US" dirty="0"/>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55007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0"/>
                <a:ext cx="10515600" cy="4164021"/>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pPr lvl="1"/>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rPr>
                          <m:t>⊤</m:t>
                        </m:r>
                      </m:sup>
                    </m:sSup>
                    <m:r>
                      <a:rPr lang="en-US" i="1">
                        <a:latin typeface="Cambria Math" panose="02040503050406030204" pitchFamily="18" charset="0"/>
                        <a:ea typeface="Cambria Math" panose="02040503050406030204" pitchFamily="18" charset="0"/>
                      </a:rPr>
                      <m:t> </m:t>
                    </m:r>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b="0" dirty="0">
                  <a:ea typeface="Cambria Math" panose="02040503050406030204" pitchFamily="18" charset="0"/>
                </a:endParaRPr>
              </a:p>
              <a:p>
                <a:endParaRPr lang="en-US" dirty="0"/>
              </a:p>
              <a:p>
                <a:pPr marL="0" indent="0">
                  <a:buNone/>
                </a:pPr>
                <a:r>
                  <a:rPr lang="en-US" b="1" dirty="0"/>
                  <a:t>Learning</a:t>
                </a:r>
              </a:p>
              <a:p>
                <a:pPr lvl="1"/>
                <a:r>
                  <a:rPr lang="en-US" dirty="0"/>
                  <a:t>We sample following </a:t>
                </a:r>
                <a14:m>
                  <m:oMath xmlns:m="http://schemas.openxmlformats.org/officeDocument/2006/math">
                    <m:r>
                      <a:rPr lang="en-US" b="0" i="1" smtClean="0">
                        <a:latin typeface="Cambria Math" panose="02040503050406030204" pitchFamily="18" charset="0"/>
                      </a:rPr>
                      <m:t>𝜋</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br>
                  <a:rPr lang="en-US" dirty="0"/>
                </a:br>
                <a:r>
                  <a:rPr lang="en-US" dirty="0"/>
                  <a:t>Note that the samples automatically follow the distribution </a:t>
                </a:r>
                <a14:m>
                  <m:oMath xmlns:m="http://schemas.openxmlformats.org/officeDocument/2006/math">
                    <m:r>
                      <a:rPr lang="en-US" b="0" i="1" smtClean="0">
                        <a:latin typeface="Cambria Math" panose="02040503050406030204" pitchFamily="18" charset="0"/>
                      </a:rPr>
                      <m:t>𝜇</m:t>
                    </m:r>
                  </m:oMath>
                </a14:m>
                <a:r>
                  <a:rPr lang="en-US" dirty="0"/>
                  <a:t> for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0"/>
                <a:ext cx="10515600" cy="4164021"/>
              </a:xfrm>
              <a:blipFill>
                <a:blip r:embed="rId2"/>
                <a:stretch>
                  <a:fillRect l="-1043" t="-3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090441" y="5535621"/>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090441" y="5535621"/>
                <a:ext cx="3419631" cy="764505"/>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838200" y="1235487"/>
                <a:ext cx="7797521"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Definition</a:t>
                </a:r>
                <a:r>
                  <a:rPr lang="en-US" dirty="0"/>
                  <a:t> of the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loss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This is why there is no sum in the update.</a:t>
                </a:r>
                <a:endParaRPr lang="en-US" b="1" dirty="0"/>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 for other states as well, we use many small updates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838200" y="1235487"/>
                <a:ext cx="7797521" cy="5010117"/>
              </a:xfrm>
              <a:blipFill>
                <a:blip r:embed="rId2"/>
                <a:stretch>
                  <a:fillRect l="-704" t="-102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Notes: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636467" y="1235487"/>
            <a:ext cx="3169663" cy="1991944"/>
            <a:chOff x="8665828" y="1015068"/>
            <a:chExt cx="3169663"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65828" y="1211027"/>
                  <a:ext cx="294568"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65828" y="1211027"/>
                  <a:ext cx="294568"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724655" y="4776328"/>
                <a:ext cx="3023277" cy="954107"/>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724655" y="4776328"/>
                <a:ext cx="3023277" cy="954107"/>
              </a:xfrm>
              <a:prstGeom prst="rect">
                <a:avLst/>
              </a:prstGeom>
              <a:blipFill>
                <a:blip r:embed="rId9"/>
                <a:stretch>
                  <a:fillRect l="-401" t="-629" b="-629"/>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𝑛</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𝑛</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i="1">
                            <a:latin typeface="Cambria Math" panose="02040503050406030204" pitchFamily="18" charset="0"/>
                          </a:rPr>
                        </m:ctrlPr>
                      </m:naryPr>
                      <m:sub>
                        <m:r>
                          <a:rPr lang="en-US" i="1">
                            <a:latin typeface="Cambria Math" panose="02040503050406030204" pitchFamily="18" charset="0"/>
                          </a:rPr>
                          <m:t>𝑛</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𝑛</m:t>
                            </m:r>
                          </m:sub>
                          <m:sup>
                            <m:r>
                              <a:rPr lang="en-US" b="0" i="1" smtClean="0">
                                <a:latin typeface="Cambria Math" panose="02040503050406030204" pitchFamily="18" charset="0"/>
                              </a:rPr>
                              <m:t>2</m:t>
                            </m:r>
                          </m:sup>
                        </m:sSubSup>
                        <m:d>
                          <m:dPr>
                            <m:ctrlPr>
                              <a:rPr lang="en-US" i="1">
                                <a:latin typeface="Cambria Math" panose="02040503050406030204" pitchFamily="18" charset="0"/>
                              </a:rPr>
                            </m:ctrlPr>
                          </m:dPr>
                          <m:e>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i="1">
                            <a:latin typeface="Cambria Math" panose="02040503050406030204" pitchFamily="18" charset="0"/>
                          </a:rPr>
                          <m:t>𝑎</m:t>
                        </m:r>
                      </m:e>
                    </m:d>
                  </m:oMath>
                </a14:m>
                <a:r>
                  <a:rPr lang="en-US" dirty="0"/>
                  <a:t> … step size used after the </a:t>
                </a:r>
                <a14:m>
                  <m:oMath xmlns:m="http://schemas.openxmlformats.org/officeDocument/2006/math">
                    <m:r>
                      <a:rPr lang="en-US" b="0" i="1" smtClean="0">
                        <a:latin typeface="Cambria Math" panose="02040503050406030204" pitchFamily="18" charset="0"/>
                      </a:rPr>
                      <m:t>𝑛</m:t>
                    </m:r>
                  </m:oMath>
                </a14:m>
                <a:r>
                  <a:rPr lang="en-US" dirty="0"/>
                  <a:t>-</a:t>
                </a:r>
                <a:r>
                  <a:rPr lang="en-US" dirty="0" err="1"/>
                  <a:t>th</a:t>
                </a:r>
                <a:r>
                  <a:rPr lang="en-US" dirty="0"/>
                  <a:t> selection of action </a:t>
                </a:r>
                <a14:m>
                  <m:oMath xmlns:m="http://schemas.openxmlformats.org/officeDocument/2006/math">
                    <m:r>
                      <a:rPr lang="en-US" b="0" i="1" smtClean="0">
                        <a:latin typeface="Cambria Math" panose="02040503050406030204" pitchFamily="18" charset="0"/>
                      </a:rPr>
                      <m:t>𝑎</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𝛼</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t>   which leads to sample averaging.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to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149130" y="4492304"/>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75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local optimum 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r>
                  <a:rPr lang="en-US" b="1" dirty="0"/>
                  <a:t>unbiased estimate</a:t>
                </a:r>
                <a:r>
                  <a:rPr lang="en-US" dirty="0"/>
                  <a:t>. I.e., </a:t>
                </a:r>
                <a:br>
                  <a:rPr lang="en-US" dirty="0"/>
                </a:br>
                <a:br>
                  <a:rPr lang="en-US" dirty="0"/>
                </a:br>
                <a14:m>
                  <m:oMathPara xmlns:m="http://schemas.openxmlformats.org/officeDocument/2006/math">
                    <m:o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pPr marL="0" indent="0">
                  <a:buNone/>
                </a:pPr>
                <a:r>
                  <a:rPr lang="en-US" b="1" dirty="0"/>
                  <a:t>Examples</a:t>
                </a:r>
                <a:r>
                  <a:rPr lang="en-US" dirty="0"/>
                  <a:t>: </a:t>
                </a:r>
              </a:p>
              <a:p>
                <a:r>
                  <a:rPr lang="en-US" dirty="0"/>
                  <a:t>The Gradient Monte Carlo method uses the 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754" t="-2463"/>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62500" lnSpcReduction="20000"/>
              </a:bodyPr>
              <a:lstStyle/>
              <a:p>
                <a:pPr marL="0" indent="0">
                  <a:buNone/>
                </a:pPr>
                <a:r>
                  <a:rPr lang="en-US" b="1" dirty="0" err="1"/>
                  <a:t>Issue:</a:t>
                </a:r>
                <a:endParaRPr lang="en-US" b="1" dirty="0"/>
              </a:p>
              <a:p>
                <a:r>
                  <a:rPr lang="en-US" dirty="0"/>
                  <a:t>To get the true gradient requires, the target has to be unbiased, fixed and only the prediction can depend on </a:t>
                </a:r>
                <a14:m>
                  <m:oMath xmlns:m="http://schemas.openxmlformats.org/officeDocument/2006/math">
                    <m:r>
                      <a:rPr lang="en-US" b="1" i="1">
                        <a:latin typeface="Cambria Math" panose="02040503050406030204" pitchFamily="18" charset="0"/>
                      </a:rPr>
                      <m:t>𝒘</m:t>
                    </m:r>
                  </m:oMath>
                </a14:m>
                <a:r>
                  <a:rPr lang="en-US" dirty="0"/>
                  <a:t>.</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pPr marL="0" indent="0">
                  <a:buNone/>
                </a:pPr>
                <a:r>
                  <a:rPr lang="en-US" b="1" dirty="0"/>
                  <a:t>Gradient Monte Carlo Algorithm: </a:t>
                </a:r>
                <a:r>
                  <a:rPr lang="en-US" dirty="0"/>
                  <a:t>Works since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t> </a:t>
                </a:r>
                <a:r>
                  <a:rPr lang="en-US" dirty="0"/>
                  <a:t>is the result of only sampled rewards which are independent of </a:t>
                </a:r>
                <a14:m>
                  <m:oMath xmlns:m="http://schemas.openxmlformats.org/officeDocument/2006/math">
                    <m:r>
                      <a:rPr lang="en-US" b="1" i="1">
                        <a:latin typeface="Cambria Math" panose="02040503050406030204" pitchFamily="18" charset="0"/>
                      </a:rPr>
                      <m:t>𝒘</m:t>
                    </m:r>
                  </m:oMath>
                </a14:m>
                <a:r>
                  <a:rPr lang="en-US" dirty="0"/>
                  <a:t>.</a:t>
                </a:r>
                <a:endParaRPr lang="en-US" b="1" dirty="0"/>
              </a:p>
              <a:p>
                <a:pPr marL="0" indent="0">
                  <a:buNone/>
                </a:pPr>
                <a:br>
                  <a:rPr lang="en-US" b="1" dirty="0"/>
                </a:br>
                <a:r>
                  <a:rPr lang="en-US" b="1" dirty="0"/>
                  <a:t>Bootstrapping methods </a:t>
                </a:r>
                <a:r>
                  <a:rPr lang="en-US" dirty="0"/>
                  <a:t>(e.g., </a:t>
                </a:r>
                <a14:m>
                  <m:oMath xmlns:m="http://schemas.openxmlformats.org/officeDocument/2006/math">
                    <m:r>
                      <a:rPr lang="en-US" i="1" dirty="0" smtClean="0">
                        <a:latin typeface="Cambria Math" panose="02040503050406030204" pitchFamily="18" charset="0"/>
                      </a:rPr>
                      <m:t>𝑛</m:t>
                    </m:r>
                  </m:oMath>
                </a14:m>
                <a:r>
                  <a:rPr lang="en-US" dirty="0"/>
                  <a:t>-step TD): break this requirement because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on the bootstrap estimate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sub>
                        </m:sSub>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dirty="0"/>
                  <a:t> and thus the current value of </a:t>
                </a:r>
                <a14:m>
                  <m:oMath xmlns:m="http://schemas.openxmlformats.org/officeDocument/2006/math">
                    <m:r>
                      <a:rPr lang="en-US" b="1" i="1" smtClean="0">
                        <a:latin typeface="Cambria Math" panose="02040503050406030204" pitchFamily="18" charset="0"/>
                      </a:rPr>
                      <m:t>𝒘</m:t>
                    </m:r>
                  </m:oMath>
                </a14:m>
                <a:r>
                  <a:rPr lang="en-US" dirty="0"/>
                  <a:t>. </a:t>
                </a:r>
                <a:br>
                  <a:rPr lang="en-US" dirty="0"/>
                </a:br>
                <a:r>
                  <a:rPr lang="en-US" dirty="0"/>
                  <a:t>This does not result in a true gradient, and convergence cannot be guaranteed.</a:t>
                </a:r>
              </a:p>
              <a:p>
                <a:pPr marL="0" indent="0">
                  <a:buNone/>
                </a:pPr>
                <a:endParaRPr lang="en-US" b="1" dirty="0"/>
              </a:p>
              <a:p>
                <a:pPr marL="0" indent="0">
                  <a:buNone/>
                </a:pPr>
                <a:r>
                  <a:rPr lang="en-US" b="1" dirty="0"/>
                  <a:t>Semi-Gradient Methods:</a:t>
                </a:r>
              </a:p>
              <a:p>
                <a:r>
                  <a:rPr lang="en-US" dirty="0"/>
                  <a:t>If we use the approach with a biased target estimate, then this is called a semi-gradient method.</a:t>
                </a:r>
              </a:p>
              <a:p>
                <a:r>
                  <a:rPr lang="en-US" dirty="0"/>
                  <a:t>Advantages: </a:t>
                </a:r>
              </a:p>
              <a:p>
                <a:pPr lvl="1"/>
                <a:r>
                  <a:rPr lang="en-US" dirty="0"/>
                  <a:t>Are usually faster learners.</a:t>
                </a:r>
              </a:p>
              <a:p>
                <a:pPr lvl="1"/>
                <a:r>
                  <a:rPr lang="en-US" dirty="0"/>
                  <a:t>Often still converge (especially for linear approximators).</a:t>
                </a:r>
              </a:p>
              <a:p>
                <a:pPr lvl="1"/>
                <a:r>
                  <a:rPr lang="en-US" dirty="0"/>
                  <a:t>TD can learn online.</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522" t="-1836"/>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7"/>
                <a:ext cx="3951910" cy="894047"/>
              </a:xfrm>
              <a:prstGeom prst="wedgeRoundRectCallout">
                <a:avLst>
                  <a:gd name="adj1" fmla="val -57606"/>
                  <a:gd name="adj2" fmla="val -74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bootstrapped estimate and biased because it uses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7"/>
                <a:ext cx="3951910" cy="894047"/>
              </a:xfrm>
              <a:prstGeom prst="wedgeRoundRectCallout">
                <a:avLst>
                  <a:gd name="adj1" fmla="val -57606"/>
                  <a:gd name="adj2" fmla="val -74638"/>
                  <a:gd name="adj3" fmla="val 16667"/>
                </a:avLst>
              </a:prstGeom>
              <a:blipFill>
                <a:blip r:embed="rId3"/>
                <a:stretch>
                  <a:fillRect b="-9043"/>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7500" lnSpcReduction="20000"/>
              </a:bodyPr>
              <a:lstStyle/>
              <a:p>
                <a:r>
                  <a:rPr lang="en-US" dirty="0"/>
                  <a:t>Linear approximation of the state value by the inner product </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 state feature vector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Has only one optimum and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a:t>
                </a:r>
                <a:r>
                  <a:rPr lang="en-US" b="1" dirty="0"/>
                  <a:t>bootstrapping</a:t>
                </a:r>
                <a:r>
                  <a:rPr lang="en-US" dirty="0"/>
                  <a:t> methods like Semi-gradient TD(0)!</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696" t="-2551" b="-153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710798" y="4383868"/>
            <a:ext cx="2408809" cy="697042"/>
          </a:xfrm>
          <a:prstGeom prst="wedgeRoundRectCallout">
            <a:avLst>
              <a:gd name="adj1" fmla="val -37421"/>
              <a:gd name="adj2" fmla="val 853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r>
                      <a:rPr lang="en-US" b="0" i="1" smtClean="0">
                        <a:latin typeface="Cambria Math" panose="02040503050406030204" pitchFamily="18" charset="0"/>
                      </a:rPr>
                      <m:t>)</m:t>
                    </m:r>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state description. </a:t>
                </a:r>
              </a:p>
              <a:p>
                <a:pPr lvl="1"/>
                <a:r>
                  <a:rPr lang="en-US" dirty="0"/>
                  <a:t>Linear regression cannot represent interactions between the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reception fields</a:t>
                </a:r>
              </a:p>
              <a:p>
                <a:pPr lvl="1"/>
                <a:r>
                  <a:rPr lang="en-US" dirty="0"/>
                  <a:t>Polynomials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a14:m>
                    <m:oMathPara xmlns:m="http://schemas.openxmlformats.org/officeDocument/2006/math">
                      <m:o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r>
                          <a:rPr lang="en-US" sz="1600" b="0" i="0" smtClean="0">
                            <a:latin typeface="Cambria Math" panose="02040503050406030204" pitchFamily="18" charset="0"/>
                          </a:rPr>
                          <m:t>(1, .9,.65, .35,. 1)</m:t>
                        </m:r>
                      </m:oMath>
                    </m:oMathPara>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b="-89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sub>
                          <m:sup>
                            <m:r>
                              <a:rPr lang="en-US" i="1">
                                <a:latin typeface="Cambria Math" panose="02040503050406030204" pitchFamily="18" charset="0"/>
                              </a:rPr>
                              <m:t>𝑖</m:t>
                            </m:r>
                          </m:sup>
                        </m:sSubSup>
                      </m:e>
                    </m:d>
                  </m:oMath>
                </a14:m>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625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a:t>
                </a:r>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406" t="-5814" b="-4651"/>
                </a:stretch>
              </a:blipFill>
            </p:spPr>
            <p:txBody>
              <a:bodyPr/>
              <a:lstStyle/>
              <a:p>
                <a:r>
                  <a:rPr lang="en-US">
                    <a:noFill/>
                  </a:rPr>
                  <a:t> </a:t>
                </a:r>
              </a:p>
            </p:txBody>
          </p:sp>
        </mc:Fallback>
      </mc:AlternateContent>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850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that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RL</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a:t>
            </a:r>
          </a:p>
          <a:p>
            <a:pPr marL="971550" lvl="1" indent="-514350">
              <a:buFont typeface="+mj-lt"/>
              <a:buAutoNum type="arabicPeriod"/>
            </a:pPr>
            <a:r>
              <a:rPr lang="en-US" b="1" dirty="0"/>
              <a:t>Use a (non) linear approximator </a:t>
            </a:r>
            <a:r>
              <a:rPr lang="en-US" dirty="0"/>
              <a:t>on those features</a:t>
            </a:r>
          </a:p>
          <a:p>
            <a:pPr marL="971550" lvl="1" indent="-514350">
              <a:buFont typeface="+mj-lt"/>
              <a:buAutoNum type="arabicPeriod"/>
            </a:pPr>
            <a:r>
              <a:rPr lang="en-US" dirty="0"/>
              <a:t>Learn a value function or policy from the compressed representation.</a:t>
            </a:r>
          </a:p>
          <a:p>
            <a:pPr marL="971550" lvl="1" indent="-514350">
              <a:buFont typeface="+mj-lt"/>
              <a:buAutoNum type="arabicPeriod"/>
            </a:pPr>
            <a:endParaRPr lang="en-US" dirty="0"/>
          </a:p>
          <a:p>
            <a:r>
              <a:rPr lang="en-US" b="1" dirty="0"/>
              <a:t>Example</a:t>
            </a:r>
            <a:r>
              <a:rPr lang="en-US" dirty="0"/>
              <a:t>: Maze solver where the x and y coordinates are noisy. Using the change in coordinates for the last few steps helps.</a:t>
            </a:r>
          </a:p>
        </p:txBody>
      </p:sp>
    </p:spTree>
    <p:extLst>
      <p:ext uri="{BB962C8B-B14F-4D97-AF65-F5344CB8AC3E}">
        <p14:creationId xmlns:p14="http://schemas.microsoft.com/office/powerpoint/2010/main" val="1605762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a:t>
            </a:r>
          </a:p>
        </p:txBody>
      </p:sp>
    </p:spTree>
    <p:extLst>
      <p:ext uri="{BB962C8B-B14F-4D97-AF65-F5344CB8AC3E}">
        <p14:creationId xmlns:p14="http://schemas.microsoft.com/office/powerpoint/2010/main" val="36651022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7166773" cy="4779633"/>
          </a:xfrm>
        </p:spPr>
        <p:txBody>
          <a:bodyPr>
            <a:normAutofit fontScale="62500" lnSpcReduction="20000"/>
          </a:bodyPr>
          <a:lstStyle/>
          <a:p>
            <a:r>
              <a:rPr lang="en-US" dirty="0"/>
              <a:t>Uses simple networks with a single hidden layer or deep architectures to approximate the value function.</a:t>
            </a:r>
          </a:p>
          <a:p>
            <a:r>
              <a:rPr lang="en-US" dirty="0"/>
              <a:t>Methods:</a:t>
            </a:r>
          </a:p>
          <a:p>
            <a:pPr lvl="1"/>
            <a:r>
              <a:rPr lang="en-US" dirty="0"/>
              <a:t>Recurrent networks</a:t>
            </a:r>
          </a:p>
          <a:p>
            <a:pPr lvl="1"/>
            <a:r>
              <a:rPr lang="en-US" dirty="0"/>
              <a:t>Convolution networks</a:t>
            </a:r>
          </a:p>
          <a:p>
            <a:pPr lvl="1"/>
            <a:r>
              <a:rPr lang="en-US" dirty="0"/>
              <a:t>Transformers</a:t>
            </a:r>
          </a:p>
          <a:p>
            <a:pPr lvl="1"/>
            <a:r>
              <a:rPr lang="en-US" dirty="0"/>
              <a:t>Regularization, dropout, weight sharing</a:t>
            </a:r>
          </a:p>
          <a:p>
            <a:pPr lvl="1"/>
            <a:r>
              <a:rPr lang="en-US" dirty="0"/>
              <a:t>Deep residual learning…</a:t>
            </a:r>
          </a:p>
          <a:p>
            <a:r>
              <a:rPr lang="en-US" dirty="0"/>
              <a:t>Networks are trained like linear models using SGD. For deep networks this uses backpropagation.</a:t>
            </a:r>
          </a:p>
          <a:p>
            <a:r>
              <a:rPr lang="en-US" dirty="0"/>
              <a:t>ANNs are non-linear universal approximators so they can learn any value function.</a:t>
            </a:r>
          </a:p>
          <a:p>
            <a:endParaRPr lang="en-US" dirty="0"/>
          </a:p>
          <a:p>
            <a:r>
              <a:rPr lang="en-US" dirty="0"/>
              <a:t>Issues due to nonlinearity: </a:t>
            </a:r>
          </a:p>
          <a:p>
            <a:pPr lvl="1"/>
            <a:r>
              <a:rPr lang="en-US" dirty="0"/>
              <a:t>Instability </a:t>
            </a:r>
          </a:p>
          <a:p>
            <a:pPr lvl="1"/>
            <a:r>
              <a:rPr lang="en-US" dirty="0"/>
              <a:t>Convergence is not guaranteed.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8207189" y="1193884"/>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approximation:</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dirty="0"/>
                  <a:t>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743764ED-EDD8-EBDA-9B21-C73D010EE92B}"/>
              </a:ext>
            </a:extLst>
          </p:cNvPr>
          <p:cNvSpPr/>
          <p:nvPr/>
        </p:nvSpPr>
        <p:spPr>
          <a:xfrm>
            <a:off x="8816830" y="2613171"/>
            <a:ext cx="1484852" cy="608202"/>
          </a:xfrm>
          <a:prstGeom prst="wedgeRoundRectCallout">
            <a:avLst>
              <a:gd name="adj1" fmla="val -260946"/>
              <a:gd name="adj2" fmla="val -121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need state-action features!</a:t>
            </a:r>
          </a:p>
        </p:txBody>
      </p:sp>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85000" lnSpcReduction="10000"/>
              </a:bodyPr>
              <a:lstStyle/>
              <a:p>
                <a:r>
                  <a:rPr lang="en-US" dirty="0"/>
                  <a:t>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r>
                  <a:rPr lang="en-US" dirty="0" err="1"/>
                  <a:t>Geramifard</a:t>
                </a:r>
                <a:r>
                  <a:rPr lang="en-US" dirty="0"/>
                  <a:t> et al. (2013)* suggest to have different state-feature weights for each action.</a:t>
                </a:r>
              </a:p>
              <a:p>
                <a:r>
                  <a:rPr lang="en-US" b="1" dirty="0"/>
                  <a:t>Example</a:t>
                </a:r>
                <a:r>
                  <a:rPr lang="en-US" dirty="0"/>
                  <a:t>: A state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and three actions, the weight vector would be</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r>
                      <a:rPr lang="en-US" b="0" i="0" smtClean="0">
                        <a:latin typeface="Cambria Math" panose="02040503050406030204" pitchFamily="18" charset="0"/>
                      </a:rPr>
                      <m:t>)</m:t>
                    </m:r>
                  </m:oMath>
                </a14:m>
                <a:br>
                  <a:rPr lang="en-US" dirty="0"/>
                </a:br>
                <a:endParaRPr lang="en-US" dirty="0"/>
              </a:p>
              <a:p>
                <a:pPr marL="0" indent="0">
                  <a:buNone/>
                </a:pPr>
                <a:endParaRPr lang="en-US" dirty="0"/>
              </a:p>
              <a:p>
                <a:r>
                  <a:rPr lang="en-US" dirty="0"/>
                  <a:t>In the prediction/update, only the intercept and the weights belonging to the action are used.</a:t>
                </a:r>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812" t="-2296"/>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201160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(generalized) between states and it is often better to focus on the long-run </a:t>
                </a:r>
                <a:r>
                  <a:rPr lang="en-US" b="1" dirty="0"/>
                  <a:t>average reward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This leads to a differential value function.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Tree>
    <p:extLst>
      <p:ext uri="{BB962C8B-B14F-4D97-AF65-F5344CB8AC3E}">
        <p14:creationId xmlns:p14="http://schemas.microsoft.com/office/powerpoint/2010/main" val="977719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19704</TotalTime>
  <Words>3710</Words>
  <Application>Microsoft Office PowerPoint</Application>
  <PresentationFormat>Widescreen</PresentationFormat>
  <Paragraphs>383</Paragraphs>
  <Slides>36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234</cp:revision>
  <dcterms:created xsi:type="dcterms:W3CDTF">2025-09-08T14:44:49Z</dcterms:created>
  <dcterms:modified xsi:type="dcterms:W3CDTF">2026-10-19T13:59:21Z</dcterms:modified>
</cp:coreProperties>
</file>