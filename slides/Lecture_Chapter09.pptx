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313" r:id="rId3"/>
    <p:sldId id="479" r:id="rId4"/>
    <p:sldId id="393" r:id="rId5"/>
    <p:sldId id="394" r:id="rId6"/>
    <p:sldId id="395" r:id="rId7"/>
    <p:sldId id="396" r:id="rId8"/>
    <p:sldId id="397" r:id="rId9"/>
    <p:sldId id="398" r:id="rId10"/>
    <p:sldId id="399" r:id="rId11"/>
    <p:sldId id="400" r:id="rId12"/>
    <p:sldId id="401" r:id="rId13"/>
    <p:sldId id="405" r:id="rId14"/>
    <p:sldId id="403" r:id="rId15"/>
    <p:sldId id="402" r:id="rId16"/>
    <p:sldId id="404" r:id="rId17"/>
    <p:sldId id="406" r:id="rId18"/>
    <p:sldId id="407" r:id="rId19"/>
    <p:sldId id="409" r:id="rId20"/>
    <p:sldId id="480" r:id="rId21"/>
    <p:sldId id="481" r:id="rId22"/>
    <p:sldId id="413" r:id="rId23"/>
    <p:sldId id="417" r:id="rId24"/>
    <p:sldId id="418" r:id="rId25"/>
    <p:sldId id="412" r:id="rId26"/>
    <p:sldId id="410" r:id="rId27"/>
    <p:sldId id="411" r:id="rId28"/>
    <p:sldId id="414" r:id="rId29"/>
    <p:sldId id="421" r:id="rId30"/>
    <p:sldId id="415" r:id="rId31"/>
    <p:sldId id="422" r:id="rId32"/>
    <p:sldId id="423" r:id="rId33"/>
    <p:sldId id="424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15"/>
            <p14:sldId id="422"/>
            <p14:sldId id="423"/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2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8.png"/><Relationship Id="rId7" Type="http://schemas.openxmlformats.org/officeDocument/2006/relationships/image" Target="../media/image260.png"/><Relationship Id="rId12" Type="http://schemas.openxmlformats.org/officeDocument/2006/relationships/image" Target="../media/image3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4" Type="http://schemas.openxmlformats.org/officeDocument/2006/relationships/image" Target="../media/image29.png"/><Relationship Id="rId9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𝐰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</a:t>
                </a:r>
                <a:br>
                  <a:rPr lang="en-US" dirty="0"/>
                </a:b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58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5FF9CD1-DC49-A6AF-FFC2-346163866CD0}"/>
              </a:ext>
            </a:extLst>
          </p:cNvPr>
          <p:cNvSpPr txBox="1"/>
          <p:nvPr/>
        </p:nvSpPr>
        <p:spPr>
          <a:xfrm>
            <a:off x="956281" y="6185097"/>
            <a:ext cx="10114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30000" dirty="0"/>
              <a:t>*</a:t>
            </a:r>
            <a:r>
              <a:rPr lang="en-US" sz="1400" dirty="0"/>
              <a:t>Ergodic: The Markov process is irreducible (all states are reachable) and aperiodic (does not get stuck).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4" grpId="0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to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example that has been sampled stochastically.</a:t>
                </a:r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  <a:blipFill>
                <a:blip r:embed="rId2"/>
                <a:stretch>
                  <a:fillRect l="-754" t="-12576" b="-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/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the squared error for the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  <a:blipFill>
                <a:blip r:embed="rId3"/>
                <a:stretch>
                  <a:fillRect t="-5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4F1ECF5-079F-37F0-8938-06EDE4B9A314}"/>
              </a:ext>
            </a:extLst>
          </p:cNvPr>
          <p:cNvSpPr/>
          <p:nvPr/>
        </p:nvSpPr>
        <p:spPr>
          <a:xfrm>
            <a:off x="5730705" y="2330586"/>
            <a:ext cx="2826962" cy="419594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/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  <a:blipFill>
                <a:blip r:embed="rId4"/>
                <a:stretch>
                  <a:fillRect t="-6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Not appropriate for TD or approximation!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keeps learning and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experiences.</a:t>
                </a:r>
              </a:p>
              <a:p>
                <a:pPr lvl="1"/>
                <a:r>
                  <a:rPr lang="en-US" dirty="0"/>
                  <a:t>For SGD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a random feature vector chosen from the input vector distribution.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C2741C91-B039-5B18-326F-F78C9583198F}"/>
              </a:ext>
            </a:extLst>
          </p:cNvPr>
          <p:cNvSpPr/>
          <p:nvPr/>
        </p:nvSpPr>
        <p:spPr>
          <a:xfrm>
            <a:off x="4593562" y="4867519"/>
            <a:ext cx="2570813" cy="292307"/>
          </a:xfrm>
          <a:prstGeom prst="wedgeRoundRectCallout">
            <a:avLst>
              <a:gd name="adj1" fmla="val -110029"/>
              <a:gd name="adj2" fmla="val -1000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To normalize the features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8874177" y="2567065"/>
            <a:ext cx="2315980" cy="861935"/>
          </a:xfrm>
          <a:prstGeom prst="wedgeRoundRectCallout">
            <a:avLst>
              <a:gd name="adj1" fmla="val -65493"/>
              <a:gd name="adj2" fmla="val 880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this satisfies the </a:t>
            </a:r>
            <a:r>
              <a:rPr lang="en-US" dirty="0" err="1"/>
              <a:t>stoch</a:t>
            </a:r>
            <a:r>
              <a:rPr lang="en-US" dirty="0"/>
              <a:t>.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when we sample.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Issue:</a:t>
                </a:r>
              </a:p>
              <a:p>
                <a:r>
                  <a:rPr lang="en-US" dirty="0"/>
                  <a:t>To get the true gradient requires, the target has to be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</a:t>
                </a:r>
                <a:r>
                  <a:rPr lang="en-US" b="1" dirty="0"/>
                  <a:t> </a:t>
                </a:r>
                <a:r>
                  <a:rPr lang="en-US" dirty="0"/>
                  <a:t>Gradient Monte Carlo Algorithm has this property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result of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r>
                  <a:rPr lang="en-US" b="1" dirty="0"/>
                  <a:t>Bootstrapping</a:t>
                </a:r>
                <a:r>
                  <a:rPr lang="en-US" dirty="0"/>
                  <a:t> methods 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31771" y="4144781"/>
            <a:ext cx="219605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is an extremely strong guarantee!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2818700" y="1245930"/>
            <a:ext cx="566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201" y="1736993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0" y="1736992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10515600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Fourier series 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we only need to use cosine basis functions. 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10515600" cy="2943670"/>
              </a:xfrm>
              <a:blipFill>
                <a:blip r:embed="rId2"/>
                <a:stretch>
                  <a:fillRect l="-522" t="-3320" r="-812" b="-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/>
              <p:nvPr/>
            </p:nvSpPr>
            <p:spPr>
              <a:xfrm>
                <a:off x="10014097" y="2543767"/>
                <a:ext cx="1339703" cy="87895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180° in radians</a:t>
                </a:r>
              </a:p>
            </p:txBody>
          </p:sp>
        </mc:Choice>
        <mc:Fallback xmlns="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4097" y="2543767"/>
                <a:ext cx="1339703" cy="87895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54194"/>
            <a:chOff x="555214" y="4273987"/>
            <a:chExt cx="10975998" cy="245419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643" y="1715458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37" y="1736994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2818700" y="1245930"/>
            <a:ext cx="566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overlapping grids.</a:t>
                </a:r>
              </a:p>
              <a:p>
                <a:r>
                  <a:rPr lang="en-US" dirty="0"/>
                  <a:t>Represent the state by the “active” tiles in the grids.</a:t>
                </a:r>
              </a:p>
              <a:p>
                <a:r>
                  <a:rPr lang="en-US" dirty="0"/>
                  <a:t>Similar states will share active tiles.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Estimate a parametric approximation for value-action pairs.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Training data is now: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1"/>
                <a:r>
                  <a:rPr lang="en-US" dirty="0"/>
                  <a:t>MC’s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1"/>
                <a:r>
                  <a:rPr lang="en-US" dirty="0"/>
                  <a:t>1-step SARSA’s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n-step SARSA</a:t>
                </a:r>
              </a:p>
              <a:p>
                <a:r>
                  <a:rPr lang="en-US" dirty="0"/>
                  <a:t>Policy improvement: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813" y="1453707"/>
            <a:ext cx="8832112" cy="471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Discounting is used for tabular methods because returns for each state are separately identified and averaged. </a:t>
                </a:r>
              </a:p>
              <a:p>
                <a:r>
                  <a:rPr lang="en-US" dirty="0"/>
                  <a:t>With approximation, returns are shared between states and it is better to focus on average rewards instead of discounting.</a:t>
                </a:r>
              </a:p>
              <a:p>
                <a:r>
                  <a:rPr lang="en-US" dirty="0"/>
                  <a:t>It is often helpful to use differences between the reward and the  average returns known as differential returns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C6B8A3-7ED4-5685-3BE8-640126A4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66EC9-7756-561D-0729-0CFAAB4A8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5360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Approximate the value function using parametrized functions: 			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need to create features that take the interaction of state components into account. Popular are: </a:t>
                </a:r>
              </a:p>
              <a:p>
                <a:pPr lvl="1"/>
                <a:r>
                  <a:rPr lang="en-US" dirty="0"/>
                  <a:t>Fourier basis features </a:t>
                </a:r>
              </a:p>
              <a:p>
                <a:pPr lvl="1"/>
                <a:r>
                  <a:rPr lang="en-US" dirty="0"/>
                  <a:t>Tile coding.</a:t>
                </a:r>
              </a:p>
              <a:p>
                <a:endParaRPr lang="en-US"/>
              </a:p>
              <a:p>
                <a:r>
                  <a:rPr lang="en-US"/>
                  <a:t>Use </a:t>
                </a:r>
                <a:r>
                  <a:rPr lang="en-US" dirty="0"/>
                  <a:t>semi-gradient descent to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Issues are the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19468</TotalTime>
  <Words>3010</Words>
  <Application>Microsoft Office PowerPoint</Application>
  <PresentationFormat>Widescreen</PresentationFormat>
  <Paragraphs>324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Summary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215</cp:revision>
  <dcterms:created xsi:type="dcterms:W3CDTF">2025-09-08T14:44:49Z</dcterms:created>
  <dcterms:modified xsi:type="dcterms:W3CDTF">2026-03-23T15:36:12Z</dcterms:modified>
</cp:coreProperties>
</file>