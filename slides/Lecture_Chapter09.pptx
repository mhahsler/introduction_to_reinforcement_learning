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313" r:id="rId3"/>
    <p:sldId id="479" r:id="rId4"/>
    <p:sldId id="393" r:id="rId5"/>
    <p:sldId id="394" r:id="rId6"/>
    <p:sldId id="395" r:id="rId7"/>
    <p:sldId id="396" r:id="rId8"/>
    <p:sldId id="397" r:id="rId9"/>
    <p:sldId id="398" r:id="rId10"/>
    <p:sldId id="399" r:id="rId11"/>
    <p:sldId id="400" r:id="rId12"/>
    <p:sldId id="401" r:id="rId13"/>
    <p:sldId id="405" r:id="rId14"/>
    <p:sldId id="403" r:id="rId15"/>
    <p:sldId id="402" r:id="rId16"/>
    <p:sldId id="404" r:id="rId17"/>
    <p:sldId id="406" r:id="rId18"/>
    <p:sldId id="407" r:id="rId19"/>
    <p:sldId id="409" r:id="rId20"/>
    <p:sldId id="480" r:id="rId21"/>
    <p:sldId id="481" r:id="rId22"/>
    <p:sldId id="413" r:id="rId23"/>
    <p:sldId id="417" r:id="rId24"/>
    <p:sldId id="418" r:id="rId25"/>
    <p:sldId id="412" r:id="rId26"/>
    <p:sldId id="410" r:id="rId27"/>
    <p:sldId id="411" r:id="rId28"/>
    <p:sldId id="414" r:id="rId29"/>
    <p:sldId id="421" r:id="rId30"/>
    <p:sldId id="415" r:id="rId31"/>
    <p:sldId id="422" r:id="rId32"/>
    <p:sldId id="423" r:id="rId33"/>
    <p:sldId id="424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9"/>
          </p14:sldIdLst>
        </p14:section>
        <p14:section name="Introduction" id="{D9D937E3-D2F3-4C78-9AF6-32D6EE796C8D}">
          <p14:sldIdLst>
            <p14:sldId id="393"/>
            <p14:sldId id="394"/>
            <p14:sldId id="395"/>
            <p14:sldId id="396"/>
            <p14:sldId id="397"/>
          </p14:sldIdLst>
        </p14:section>
        <p14:section name="Prediction: Gradient Methods" id="{EAA0CE26-54AA-4F09-BD7A-ECFC52DE3ABA}">
          <p14:sldIdLst>
            <p14:sldId id="398"/>
            <p14:sldId id="399"/>
            <p14:sldId id="400"/>
            <p14:sldId id="401"/>
            <p14:sldId id="405"/>
            <p14:sldId id="403"/>
            <p14:sldId id="402"/>
            <p14:sldId id="404"/>
          </p14:sldIdLst>
        </p14:section>
        <p14:section name="Linear Approximation Methods" id="{9B11E8D6-BFFA-4307-8A9C-339881B4B930}">
          <p14:sldIdLst>
            <p14:sldId id="406"/>
            <p14:sldId id="407"/>
            <p14:sldId id="409"/>
            <p14:sldId id="480"/>
            <p14:sldId id="481"/>
            <p14:sldId id="413"/>
            <p14:sldId id="417"/>
            <p14:sldId id="418"/>
            <p14:sldId id="412"/>
          </p14:sldIdLst>
        </p14:section>
        <p14:section name="Non-Linear Approximation" id="{10B68F28-6DBA-44FD-8764-061354D77D32}">
          <p14:sldIdLst>
            <p14:sldId id="410"/>
            <p14:sldId id="411"/>
          </p14:sldIdLst>
        </p14:section>
        <p14:section name="Control with Approximation" id="{09883537-7828-4CF9-B6B6-B3ACB6856284}">
          <p14:sldIdLst>
            <p14:sldId id="414"/>
            <p14:sldId id="421"/>
            <p14:sldId id="415"/>
            <p14:sldId id="422"/>
            <p14:sldId id="423"/>
            <p14:sldId id="4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85" d="100"/>
          <a:sy n="85" d="100"/>
        </p:scale>
        <p:origin x="80" y="1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7FC57-34F3-4A88-970B-010E7C0EC94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511844-9D4B-44EC-AD7B-A52B8DF8F9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946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511844-9D4B-44EC-AD7B-A52B8DF8F90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8176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511844-9D4B-44EC-AD7B-A52B8DF8F90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750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3" Type="http://schemas.openxmlformats.org/officeDocument/2006/relationships/image" Target="../media/image28.png"/><Relationship Id="rId7" Type="http://schemas.openxmlformats.org/officeDocument/2006/relationships/image" Target="../media/image260.png"/><Relationship Id="rId12" Type="http://schemas.openxmlformats.org/officeDocument/2006/relationships/image" Target="../media/image3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11" Type="http://schemas.openxmlformats.org/officeDocument/2006/relationships/image" Target="../media/image33.png"/><Relationship Id="rId5" Type="http://schemas.openxmlformats.org/officeDocument/2006/relationships/image" Target="../media/image240.png"/><Relationship Id="rId10" Type="http://schemas.openxmlformats.org/officeDocument/2006/relationships/image" Target="../media/image32.png"/><Relationship Id="rId4" Type="http://schemas.openxmlformats.org/officeDocument/2006/relationships/image" Target="../media/image29.png"/><Relationship Id="rId9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0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7" Type="http://schemas.openxmlformats.org/officeDocument/2006/relationships/image" Target="../media/image7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9" Type="http://schemas.openxmlformats.org/officeDocument/2006/relationships/image" Target="../media/image750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Prediction and Control with Approximation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9-11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6072" y="145911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</a:p>
          <a:p>
            <a:pPr lvl="1"/>
            <a:r>
              <a:rPr lang="en-US" b="1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Approximate Solution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 and Definition</a:t>
            </a:r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00E35E-EC62-B4C1-A770-AA1A7C6F8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Tabular methods do not scale for large state spaces.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b="1" dirty="0"/>
                  <a:t>Space complexity</a:t>
                </a:r>
                <a:r>
                  <a:rPr lang="en-US" dirty="0"/>
                  <a:t>: Memory needed for storing the value function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|)</m:t>
                    </m:r>
                  </m:oMath>
                </a14:m>
                <a:r>
                  <a:rPr lang="en-US" dirty="0"/>
                  <a:t> entriesas a table.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b="1" dirty="0"/>
                  <a:t>No Generalization</a:t>
                </a:r>
                <a:r>
                  <a:rPr lang="en-US" dirty="0"/>
                  <a:t>: Many states will never be encountered during learning and therefore cannot be predicted.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Idea</a:t>
                </a:r>
                <a:r>
                  <a:rPr lang="en-US" dirty="0"/>
                  <a:t>: Try to find an approximate value function for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with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Requirements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The function needs to have a </a:t>
                </a:r>
                <a:r>
                  <a:rPr lang="en-US" b="1" dirty="0"/>
                  <a:t>manageable number of parameters </a:t>
                </a:r>
                <a:r>
                  <a:rPr lang="en-US" dirty="0"/>
                  <a:t>(weight vector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) and can be calculated from features of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 I.e.,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≪ 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The function needs to </a:t>
                </a:r>
                <a:r>
                  <a:rPr lang="en-US" b="1" dirty="0"/>
                  <a:t>generalize</a:t>
                </a:r>
                <a:r>
                  <a:rPr lang="en-US" dirty="0"/>
                  <a:t>, so states with similar features get a similar value. Approximation functions do this automatically, since all states share the weight vector and will be affected by changes in the weights.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54" t="-2551" r="-232" b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0330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DDD93-C91F-3B07-9010-4D03C66D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Prediction: Value Function Approximation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Approach</a:t>
                </a:r>
                <a:r>
                  <a:rPr lang="en-US" dirty="0"/>
                  <a:t>: Use </a:t>
                </a:r>
                <a:r>
                  <a:rPr lang="en-US" b="1" dirty="0"/>
                  <a:t>function approximation </a:t>
                </a:r>
                <a:r>
                  <a:rPr lang="en-US" dirty="0"/>
                  <a:t>(supervised learning). </a:t>
                </a:r>
              </a:p>
              <a:p>
                <a:pPr lvl="1"/>
                <a:r>
                  <a:rPr lang="en-US" dirty="0"/>
                  <a:t>We need </a:t>
                </a:r>
                <a:r>
                  <a:rPr lang="en-US" b="1" dirty="0"/>
                  <a:t>training data </a:t>
                </a:r>
                <a:r>
                  <a:rPr lang="en-US" dirty="0"/>
                  <a:t>in the form of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br>
                  <a:rPr lang="en-US" b="0" dirty="0">
                    <a:ea typeface="Cambria Math" panose="02040503050406030204" pitchFamily="18" charset="0"/>
                  </a:rPr>
                </a:br>
                <a:br>
                  <a:rPr lang="en-US" b="0" dirty="0">
                    <a:ea typeface="Cambria Math" panose="02040503050406030204" pitchFamily="18" charset="0"/>
                  </a:rPr>
                </a:br>
                <a:r>
                  <a:rPr lang="en-US" dirty="0"/>
                  <a:t>where the target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is a “backed-up value” representing the desired value. </a:t>
                </a:r>
              </a:p>
              <a:p>
                <a:pPr lvl="1"/>
                <a:r>
                  <a:rPr lang="en-US" dirty="0"/>
                  <a:t>The learning algorithm will update the weights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𝐰</m:t>
                    </m:r>
                  </m:oMath>
                </a14:m>
                <a:r>
                  <a:rPr lang="en-US" dirty="0"/>
                  <a:t> to reduce the prediction error.</a:t>
                </a:r>
                <a:br>
                  <a:rPr lang="en-US" dirty="0"/>
                </a:br>
                <a:r>
                  <a:rPr lang="en-US" dirty="0"/>
                  <a:t>Note: this change will also affect the prediction for other states!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Some options for training data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MC: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TD(0):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DP: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913" b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23F7C8-1C0F-59B3-0EF5-B4C87FC7D0DA}"/>
                  </a:ext>
                </a:extLst>
              </p:cNvPr>
              <p:cNvSpPr txBox="1"/>
              <p:nvPr/>
            </p:nvSpPr>
            <p:spPr>
              <a:xfrm>
                <a:off x="7990515" y="4702030"/>
                <a:ext cx="3305261" cy="95410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400" b="1" dirty="0"/>
                  <a:t>Note</a:t>
                </a:r>
                <a:r>
                  <a:rPr lang="en-US" sz="1400" dirty="0"/>
                  <a:t>: The subscript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00" dirty="0"/>
                  <a:t> for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400" b="1" dirty="0"/>
                  <a:t> </a:t>
                </a:r>
                <a:r>
                  <a:rPr lang="en-US" sz="1400" dirty="0"/>
                  <a:t>indicates when the update happens during learning. The subscript is often dropped (we only keep track of the current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400" dirty="0"/>
                  <a:t>)</a:t>
                </a:r>
                <a:endParaRPr lang="en-US" sz="14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23F7C8-1C0F-59B3-0EF5-B4C87FC7D0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0515" y="4702030"/>
                <a:ext cx="3305261" cy="954107"/>
              </a:xfrm>
              <a:prstGeom prst="rect">
                <a:avLst/>
              </a:prstGeom>
              <a:blipFill>
                <a:blip r:embed="rId3"/>
                <a:stretch>
                  <a:fillRect l="-367" b="-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1804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Prediction Objective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9355" b="-36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3128531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Prediction error for state s: </a:t>
                </a:r>
                <a:br>
                  <a:rPr lang="en-US" dirty="0"/>
                </a:b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To calculate the error over all states we need to define how much we care about each state. We use a state distribution function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				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≥0;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dirty="0"/>
                  <a:t>Since we will work with data obtained by following a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implicitly used as the fraction of time spent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For continuous tasks, this is a stationary distribution called the on-policy distribution. </a:t>
                </a:r>
              </a:p>
              <a:p>
                <a:pPr lvl="1"/>
                <a:r>
                  <a:rPr lang="en-US" dirty="0"/>
                  <a:t>For episodic tasks a near stationary distribution only exists for large horizons on ergodic</a:t>
                </a:r>
                <a:r>
                  <a:rPr lang="en-US" baseline="30000" dirty="0"/>
                  <a:t>*</a:t>
                </a:r>
                <a:r>
                  <a:rPr lang="en-US" dirty="0"/>
                  <a:t> MDPs.</a:t>
                </a:r>
              </a:p>
              <a:p>
                <a:endParaRPr lang="en-US" baseline="-25000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3128531"/>
              </a:xfrm>
              <a:blipFill>
                <a:blip r:embed="rId3"/>
                <a:stretch>
                  <a:fillRect l="-406" t="-29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60AE832-3161-626E-1379-EADD13E60C4B}"/>
                  </a:ext>
                </a:extLst>
              </p:cNvPr>
              <p:cNvSpPr txBox="1"/>
              <p:nvPr/>
            </p:nvSpPr>
            <p:spPr>
              <a:xfrm>
                <a:off x="3172713" y="4582608"/>
                <a:ext cx="6096698" cy="1318502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b="1" dirty="0"/>
                  <a:t>Definition: </a:t>
                </a:r>
                <a:r>
                  <a:rPr lang="en-US" dirty="0"/>
                  <a:t>Mean square value error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𝑉𝐸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60AE832-3161-626E-1379-EADD13E60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2713" y="4582608"/>
                <a:ext cx="6096698" cy="1318502"/>
              </a:xfrm>
              <a:prstGeom prst="rect">
                <a:avLst/>
              </a:prstGeom>
              <a:blipFill>
                <a:blip r:embed="rId4"/>
                <a:stretch>
                  <a:fillRect l="-697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5FF9CD1-DC49-A6AF-FFC2-346163866CD0}"/>
              </a:ext>
            </a:extLst>
          </p:cNvPr>
          <p:cNvSpPr txBox="1"/>
          <p:nvPr/>
        </p:nvSpPr>
        <p:spPr>
          <a:xfrm>
            <a:off x="956281" y="6185097"/>
            <a:ext cx="101142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aseline="30000" dirty="0"/>
              <a:t>*</a:t>
            </a:r>
            <a:r>
              <a:rPr lang="en-US" sz="1400" dirty="0"/>
              <a:t>Ergodic means: That a Markov process is irreducible and aperiodic.  </a:t>
            </a:r>
          </a:p>
        </p:txBody>
      </p:sp>
    </p:spTree>
    <p:extLst>
      <p:ext uri="{BB962C8B-B14F-4D97-AF65-F5344CB8AC3E}">
        <p14:creationId xmlns:p14="http://schemas.microsoft.com/office/powerpoint/2010/main" val="414430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CD405-90D9-24C7-33C4-54C5D87B5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Goal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Find the global optimum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≤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      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r>
                  <a:rPr lang="en-US" b="1" dirty="0"/>
                  <a:t>Local optima</a:t>
                </a:r>
                <a:r>
                  <a:rPr lang="en-US" dirty="0"/>
                  <a:t>: Often, we will only find a local optimum where the equation above only holds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in a small neighborhood around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b="1" dirty="0"/>
                  <a:t>Note</a:t>
                </a:r>
                <a:r>
                  <a:rPr lang="en-US" dirty="0"/>
                  <a:t>: Policies converge typically way before the value function converges so finding the global optimal value function may not be necessary.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638" b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16993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F2A783-50BF-C7E8-BE3C-FC0157851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Methods for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EF6370-86D1-9264-5816-F21882AD1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007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4BBCF-186E-BC4F-CAA3-DBB46E3E5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Learning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164021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Setup</a:t>
                </a:r>
              </a:p>
              <a:p>
                <a:pPr lvl="1"/>
                <a:r>
                  <a:rPr lang="en-US" dirty="0"/>
                  <a:t>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learn an approximation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use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hoo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as a </a:t>
                </a:r>
                <a:r>
                  <a:rPr lang="en-US" b="1" dirty="0"/>
                  <a:t>differentiable function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Learning</a:t>
                </a:r>
              </a:p>
              <a:p>
                <a:pPr lvl="1"/>
                <a:r>
                  <a:rPr lang="en-US" dirty="0"/>
                  <a:t>We sample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and observe at each discrete time step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=0, 1, 2, 3, …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 new example 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Update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 (i.e., make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more similar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).</a:t>
                </a:r>
                <a:br>
                  <a:rPr lang="en-US" dirty="0"/>
                </a:br>
                <a:r>
                  <a:rPr lang="en-US" dirty="0"/>
                  <a:t>Note that the samples automatically follow the distribution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164021"/>
              </a:xfrm>
              <a:blipFill>
                <a:blip r:embed="rId2"/>
                <a:stretch>
                  <a:fillRect l="-1043" t="-3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B49CAFC-1028-608B-EC85-51F22C5CF030}"/>
                  </a:ext>
                </a:extLst>
              </p:cNvPr>
              <p:cNvSpPr/>
              <p:nvPr/>
            </p:nvSpPr>
            <p:spPr>
              <a:xfrm>
                <a:off x="7958528" y="3837482"/>
                <a:ext cx="3395272" cy="759072"/>
              </a:xfrm>
              <a:prstGeom prst="wedgeRoundRectCallout">
                <a:avLst>
                  <a:gd name="adj1" fmla="val -91983"/>
                  <a:gd name="adj2" fmla="val 325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For now, we assume that we can assess the correct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B49CAFC-1028-608B-EC85-51F22C5CF0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8528" y="3837482"/>
                <a:ext cx="3395272" cy="759072"/>
              </a:xfrm>
              <a:prstGeom prst="wedgeRoundRectCallout">
                <a:avLst>
                  <a:gd name="adj1" fmla="val -91983"/>
                  <a:gd name="adj2" fmla="val 3255"/>
                  <a:gd name="adj3" fmla="val 16667"/>
                </a:avLst>
              </a:prstGeom>
              <a:blipFill>
                <a:blip r:embed="rId3"/>
                <a:stretch>
                  <a:fillRect b="-3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82737A-0856-8EC8-DC5F-DBE97B7A043F}"/>
                  </a:ext>
                </a:extLst>
              </p:cNvPr>
              <p:cNvSpPr txBox="1"/>
              <p:nvPr/>
            </p:nvSpPr>
            <p:spPr>
              <a:xfrm>
                <a:off x="4090441" y="5535621"/>
                <a:ext cx="3419631" cy="76450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𝑉𝐸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82737A-0856-8EC8-DC5F-DBE97B7A0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0441" y="5535621"/>
                <a:ext cx="3419631" cy="76450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4715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5487"/>
                <a:ext cx="10515600" cy="5045391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Minimize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Update</a:t>
                </a:r>
                <a:r>
                  <a:rPr lang="en-US" dirty="0"/>
                  <a:t> to change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                   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,…,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𝑑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b="1" dirty="0"/>
                  <a:t>Stochastic</a:t>
                </a:r>
                <a:r>
                  <a:rPr lang="en-US" dirty="0"/>
                  <a:t>: because update is on a single example that has been sampled stochastically.</a:t>
                </a:r>
              </a:p>
              <a:p>
                <a:r>
                  <a:rPr lang="en-US" b="1" dirty="0"/>
                  <a:t>Step size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dirty="0"/>
                  <a:t>: Since we update towards a sampled value and updates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one state will change the value for other states as well, we use many small updates (small value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5487"/>
                <a:ext cx="10515600" cy="5045391"/>
              </a:xfrm>
              <a:blipFill>
                <a:blip r:embed="rId2"/>
                <a:stretch>
                  <a:fillRect l="-754" t="-12576" b="-7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5C24791A-2065-2469-FCF2-F9E719EFE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Stochastic-gradient Descend (SGD)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739989E6-5A55-C21A-86FA-282AE61529FA}"/>
                  </a:ext>
                </a:extLst>
              </p:cNvPr>
              <p:cNvSpPr/>
              <p:nvPr/>
            </p:nvSpPr>
            <p:spPr>
              <a:xfrm>
                <a:off x="6924309" y="1374294"/>
                <a:ext cx="3252752" cy="572372"/>
              </a:xfrm>
              <a:prstGeom prst="wedgeRoundRectCallout">
                <a:avLst>
                  <a:gd name="adj1" fmla="val -44009"/>
                  <a:gd name="adj2" fmla="val 130793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Gradient of the squared error for the example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739989E6-5A55-C21A-86FA-282AE61529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4309" y="1374294"/>
                <a:ext cx="3252752" cy="572372"/>
              </a:xfrm>
              <a:prstGeom prst="wedgeRoundRectCallout">
                <a:avLst>
                  <a:gd name="adj1" fmla="val -44009"/>
                  <a:gd name="adj2" fmla="val 130793"/>
                  <a:gd name="adj3" fmla="val 16667"/>
                </a:avLst>
              </a:prstGeom>
              <a:blipFill>
                <a:blip r:embed="rId3"/>
                <a:stretch>
                  <a:fillRect t="-5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C4F1ECF5-079F-37F0-8938-06EDE4B9A314}"/>
              </a:ext>
            </a:extLst>
          </p:cNvPr>
          <p:cNvSpPr/>
          <p:nvPr/>
        </p:nvSpPr>
        <p:spPr>
          <a:xfrm>
            <a:off x="5730705" y="2330586"/>
            <a:ext cx="2826962" cy="419594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AFF6DCB0-4965-FDB7-9EF0-10B824BF7C4E}"/>
                  </a:ext>
                </a:extLst>
              </p:cNvPr>
              <p:cNvSpPr/>
              <p:nvPr/>
            </p:nvSpPr>
            <p:spPr>
              <a:xfrm>
                <a:off x="1001650" y="3429000"/>
                <a:ext cx="1881153" cy="837606"/>
              </a:xfrm>
              <a:prstGeom prst="wedgeRoundRectCallout">
                <a:avLst>
                  <a:gd name="adj1" fmla="val 95035"/>
                  <a:gd name="adj2" fmla="val 54474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Gradient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with respect 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AFF6DCB0-4965-FDB7-9EF0-10B824BF7C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50" y="3429000"/>
                <a:ext cx="1881153" cy="837606"/>
              </a:xfrm>
              <a:prstGeom prst="wedgeRoundRectCallout">
                <a:avLst>
                  <a:gd name="adj1" fmla="val 95035"/>
                  <a:gd name="adj2" fmla="val 54474"/>
                  <a:gd name="adj3" fmla="val 16667"/>
                </a:avLst>
              </a:prstGeom>
              <a:blipFill>
                <a:blip r:embed="rId4"/>
                <a:stretch>
                  <a:fillRect t="-67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6319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B4956-27FC-B8BE-1553-9FD6E7866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Step Size for SGD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SGD converges to a </a:t>
                </a:r>
                <a:r>
                  <a:rPr lang="en-US" b="1" dirty="0"/>
                  <a:t>local optimum </a:t>
                </a:r>
                <a:r>
                  <a:rPr lang="en-US" dirty="0"/>
                  <a:t>if the </a:t>
                </a:r>
                <a:r>
                  <a:rPr lang="en-US" b="1" dirty="0"/>
                  <a:t>stochastic approximation criterion </a:t>
                </a:r>
                <a:r>
                  <a:rPr lang="en-US" dirty="0"/>
                  <a:t>is met: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=∞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   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and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nary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 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∞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… step size used after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selection of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b="1" dirty="0"/>
                  <a:t>Popular choices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:</a:t>
                </a:r>
              </a:p>
              <a:p>
                <a:pPr lvl="1"/>
                <a:r>
                  <a:rPr lang="en-US" dirty="0"/>
                  <a:t>Tabular MC uses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dirty="0"/>
                  <a:t>    leads to sample averaging.  Not appropriate for TD or approximation!</a:t>
                </a:r>
              </a:p>
              <a:p>
                <a:pPr lvl="1"/>
                <a:r>
                  <a:rPr lang="en-US" dirty="0"/>
                  <a:t>Constant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1/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keeps learning and means a tabular estimate would approach to the mean target after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experiences.</a:t>
                </a:r>
              </a:p>
              <a:p>
                <a:pPr lvl="1"/>
                <a:r>
                  <a:rPr lang="en-US" dirty="0"/>
                  <a:t>For SGD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is a random feature vector chosen from the input vector distribution.</a:t>
                </a:r>
              </a:p>
              <a:p>
                <a:pPr lvl="1"/>
                <a:endParaRPr lang="en-US" dirty="0"/>
              </a:p>
              <a:p>
                <a:r>
                  <a:rPr lang="en-US" b="1" dirty="0"/>
                  <a:t>How to Choose in Practice</a:t>
                </a:r>
              </a:p>
              <a:p>
                <a:pPr lvl="1"/>
                <a:r>
                  <a:rPr lang="en-US" dirty="0"/>
                  <a:t>If learning diverges: reduce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by a factor of 10</a:t>
                </a:r>
              </a:p>
              <a:p>
                <a:pPr lvl="1"/>
                <a:r>
                  <a:rPr lang="en-US" dirty="0"/>
                  <a:t>If learning is too slow: increase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bey a factor of 2 to 5.</a:t>
                </a:r>
              </a:p>
              <a:p>
                <a:pPr lvl="1"/>
                <a:r>
                  <a:rPr lang="en-US" dirty="0"/>
                  <a:t>Plot learning curve.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5816" r="-580" b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C2741C91-B039-5B18-326F-F78C9583198F}"/>
              </a:ext>
            </a:extLst>
          </p:cNvPr>
          <p:cNvSpPr/>
          <p:nvPr/>
        </p:nvSpPr>
        <p:spPr>
          <a:xfrm>
            <a:off x="4579494" y="5041021"/>
            <a:ext cx="2570813" cy="292307"/>
          </a:xfrm>
          <a:prstGeom prst="wedgeRoundRectCallout">
            <a:avLst>
              <a:gd name="adj1" fmla="val -100544"/>
              <a:gd name="adj2" fmla="val -12895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To normalize the features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B080493-DE1F-1886-C258-BECEA4EBB212}"/>
              </a:ext>
            </a:extLst>
          </p:cNvPr>
          <p:cNvSpPr/>
          <p:nvPr/>
        </p:nvSpPr>
        <p:spPr>
          <a:xfrm>
            <a:off x="8874177" y="2567065"/>
            <a:ext cx="2315980" cy="861935"/>
          </a:xfrm>
          <a:prstGeom prst="wedgeRoundRectCallout">
            <a:avLst>
              <a:gd name="adj1" fmla="val -65493"/>
              <a:gd name="adj2" fmla="val 8803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Only this satisfies the </a:t>
            </a:r>
            <a:r>
              <a:rPr lang="en-US" dirty="0" err="1"/>
              <a:t>stoch</a:t>
            </a:r>
            <a:r>
              <a:rPr lang="en-US" dirty="0"/>
              <a:t>. approx. criterion.</a:t>
            </a:r>
          </a:p>
        </p:txBody>
      </p:sp>
    </p:spTree>
    <p:extLst>
      <p:ext uri="{BB962C8B-B14F-4D97-AF65-F5344CB8AC3E}">
        <p14:creationId xmlns:p14="http://schemas.microsoft.com/office/powerpoint/2010/main" val="2230633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6FE9E-CB37-2E0D-D263-CE657F263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 Target Estimate for SGD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5100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We have assumed that we know the actual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for the update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but that is not the case when we sample.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Solution</a:t>
                </a:r>
                <a:r>
                  <a:rPr lang="en-US" dirty="0"/>
                  <a:t>: We can use any target estimate of the expected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instead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SGD converges to a local optimum as long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 is an </a:t>
                </a:r>
                <a:r>
                  <a:rPr lang="en-US" b="1" dirty="0"/>
                  <a:t>unbiased estimate</a:t>
                </a:r>
                <a:r>
                  <a:rPr lang="en-US" dirty="0"/>
                  <a:t>. I.e.,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Example</a:t>
                </a:r>
                <a:r>
                  <a:rPr lang="en-US" dirty="0"/>
                  <a:t>: The Gradient Monte Carlo method uses the unbiased MC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51004"/>
              </a:xfrm>
              <a:blipFill>
                <a:blip r:embed="rId2"/>
                <a:stretch>
                  <a:fillRect l="-754" t="-24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6293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D2905-E6EC-8819-EE56-53A416915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Monte Carlo Algorithm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EDBCD4-F6F4-7E08-7AC0-D5D908315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124198"/>
            <a:ext cx="10515601" cy="377623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/>
              <p:nvPr/>
            </p:nvSpPr>
            <p:spPr>
              <a:xfrm>
                <a:off x="7766507" y="4484025"/>
                <a:ext cx="4140974" cy="1148456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dirty="0"/>
                  <a:t>Remember from MC: 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6507" y="4484025"/>
                <a:ext cx="4140974" cy="1148456"/>
              </a:xfrm>
              <a:prstGeom prst="rect">
                <a:avLst/>
              </a:prstGeom>
              <a:blipFill>
                <a:blip r:embed="rId3"/>
                <a:stretch>
                  <a:fillRect l="-1026" t="-2094"/>
                </a:stretch>
              </a:blipFill>
              <a:ln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7761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8EF1A-F8D2-3414-4EA2-D8E03871F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 and Semi-gradient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80985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Issue:</a:t>
                </a:r>
              </a:p>
              <a:p>
                <a:r>
                  <a:rPr lang="en-US" dirty="0"/>
                  <a:t>To get the true gradient requires, the target has to be fixed and only the prediction can depend on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br>
                  <a:rPr lang="en-US" dirty="0"/>
                </a:br>
                <a:endParaRPr lang="en-US" dirty="0"/>
              </a:p>
              <a:p>
                <a:endParaRPr lang="en-US" b="1" dirty="0"/>
              </a:p>
              <a:p>
                <a:r>
                  <a:rPr lang="en-US" dirty="0"/>
                  <a:t>The</a:t>
                </a:r>
                <a:r>
                  <a:rPr lang="en-US" b="1" dirty="0"/>
                  <a:t> </a:t>
                </a:r>
                <a:r>
                  <a:rPr lang="en-US" dirty="0"/>
                  <a:t>Gradient Monte Carlo Algorithm has this property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the result of sampled rewards which are independent of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  <a:endParaRPr lang="en-US" b="1" dirty="0"/>
              </a:p>
              <a:p>
                <a:r>
                  <a:rPr lang="en-US" b="1" dirty="0"/>
                  <a:t>Bootstrapping</a:t>
                </a:r>
                <a:r>
                  <a:rPr lang="en-US" dirty="0"/>
                  <a:t> methods (e.g.,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TD) break this requirement 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depends on the bootstrap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and thus the current value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r>
                  <a:rPr lang="en-US" dirty="0"/>
                  <a:t>This does not result in a true gradient and convergence cannot be guaranteed.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Semi-Gradient Methods:</a:t>
                </a:r>
              </a:p>
              <a:p>
                <a:r>
                  <a:rPr lang="en-US" dirty="0"/>
                  <a:t>If we still use the approach with a biased target estimate, then it is called a semi-gradient method.</a:t>
                </a:r>
              </a:p>
              <a:p>
                <a:r>
                  <a:rPr lang="en-US" dirty="0"/>
                  <a:t>Advantages: </a:t>
                </a:r>
              </a:p>
              <a:p>
                <a:pPr lvl="1"/>
                <a:r>
                  <a:rPr lang="en-US" dirty="0"/>
                  <a:t>Are usually faster learners.</a:t>
                </a:r>
              </a:p>
              <a:p>
                <a:pPr lvl="1"/>
                <a:r>
                  <a:rPr lang="en-US" dirty="0"/>
                  <a:t>Often still converge (especially for linear approximators).</a:t>
                </a:r>
              </a:p>
              <a:p>
                <a:pPr lvl="1"/>
                <a:r>
                  <a:rPr lang="en-US" dirty="0"/>
                  <a:t>TD can learn online and 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/>
                  <a:t> directly for the update.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80985"/>
              </a:xfrm>
              <a:blipFill>
                <a:blip r:embed="rId2"/>
                <a:stretch>
                  <a:fillRect l="-522" t="-1836" r="-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47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657E9-08FB-929F-E25C-9E12E8E3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Semi-gradient TD(0)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C398A0-3D5C-B42F-6A72-E3FFED218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95667"/>
            <a:ext cx="10515601" cy="504183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C98F6AF-8EC3-90BA-203C-644C9BAD6DB4}"/>
              </a:ext>
            </a:extLst>
          </p:cNvPr>
          <p:cNvCxnSpPr>
            <a:cxnSpLocks/>
          </p:cNvCxnSpPr>
          <p:nvPr/>
        </p:nvCxnSpPr>
        <p:spPr>
          <a:xfrm>
            <a:off x="3413294" y="5325856"/>
            <a:ext cx="16403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/>
              <p:nvPr/>
            </p:nvSpPr>
            <p:spPr>
              <a:xfrm>
                <a:off x="4802346" y="5598827"/>
                <a:ext cx="3951910" cy="894047"/>
              </a:xfrm>
              <a:prstGeom prst="wedgeRoundRectCallout">
                <a:avLst>
                  <a:gd name="adj1" fmla="val -57606"/>
                  <a:gd name="adj2" fmla="val -7463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a bootstrapped estimate and biased because it uses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 Convergence is not guaranteed!</a:t>
                </a:r>
              </a:p>
            </p:txBody>
          </p:sp>
        </mc:Choice>
        <mc:Fallback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2346" y="5598827"/>
                <a:ext cx="3951910" cy="894047"/>
              </a:xfrm>
              <a:prstGeom prst="wedgeRoundRectCallout">
                <a:avLst>
                  <a:gd name="adj1" fmla="val -57606"/>
                  <a:gd name="adj2" fmla="val -74638"/>
                  <a:gd name="adj3" fmla="val 16667"/>
                </a:avLst>
              </a:prstGeom>
              <a:blipFill>
                <a:blip r:embed="rId3"/>
                <a:stretch>
                  <a:fillRect b="-9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9654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7A09B8-D05A-ACB1-E7C4-C0F943E24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Approximation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D0F8F0-5C2B-42CF-9485-B7064784A2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87620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AA0BD-603E-A1B7-4289-5DDE156DC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Linear approximation of the state value by the inner product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</m:oMath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:r>
                  <a:rPr lang="en-US" b="0" i="1" dirty="0">
                    <a:latin typeface="Cambria Math" panose="02040503050406030204" pitchFamily="18" charset="0"/>
                  </a:rPr>
                  <a:t>                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… feature vector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 (called basis function)</a:t>
                </a:r>
              </a:p>
              <a:p>
                <a:endParaRPr lang="en-US" dirty="0"/>
              </a:p>
              <a:p>
                <a:r>
                  <a:rPr lang="en-US" b="1" dirty="0"/>
                  <a:t>Gradient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b="1" dirty="0"/>
                  <a:t>SGD update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Advantages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Simple math.</a:t>
                </a:r>
              </a:p>
              <a:p>
                <a:pPr lvl="1"/>
                <a:r>
                  <a:rPr lang="en-US" dirty="0"/>
                  <a:t>Has only one optimum and is </a:t>
                </a:r>
                <a:r>
                  <a:rPr lang="en-US" b="1" dirty="0"/>
                  <a:t>guaranteed to converge </a:t>
                </a:r>
                <a:r>
                  <a:rPr lang="en-US" dirty="0"/>
                  <a:t>to the </a:t>
                </a:r>
                <a:r>
                  <a:rPr lang="en-US" b="1" dirty="0"/>
                  <a:t>global minimum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reduced following the  stochastic approximation condition.</a:t>
                </a:r>
              </a:p>
              <a:p>
                <a:pPr lvl="1"/>
                <a:r>
                  <a:rPr lang="en-US" dirty="0"/>
                  <a:t>Convergence guarantee also holds for </a:t>
                </a:r>
                <a:r>
                  <a:rPr lang="en-US" b="1" dirty="0"/>
                  <a:t>bootstrapping</a:t>
                </a:r>
                <a:r>
                  <a:rPr lang="en-US" dirty="0"/>
                  <a:t> methods like Semi-gradient TD(0)!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D596E5E-8FC3-958A-237C-D0EA03C73879}"/>
              </a:ext>
            </a:extLst>
          </p:cNvPr>
          <p:cNvSpPr/>
          <p:nvPr/>
        </p:nvSpPr>
        <p:spPr>
          <a:xfrm>
            <a:off x="8731771" y="4144781"/>
            <a:ext cx="2196059" cy="697042"/>
          </a:xfrm>
          <a:prstGeom prst="wedgeRoundRectCallout">
            <a:avLst>
              <a:gd name="adj1" fmla="val -37421"/>
              <a:gd name="adj2" fmla="val 8533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This is an extremely strong guarantee!</a:t>
            </a:r>
          </a:p>
        </p:txBody>
      </p:sp>
    </p:spTree>
    <p:extLst>
      <p:ext uri="{BB962C8B-B14F-4D97-AF65-F5344CB8AC3E}">
        <p14:creationId xmlns:p14="http://schemas.microsoft.com/office/powerpoint/2010/main" val="2108197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3B4D6-A3D5-E0FF-54DF-4643B6C41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Vector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AA4273-07F2-A9DC-CBEB-728A9F627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How do we construct the feature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a state?</a:t>
                </a:r>
              </a:p>
              <a:p>
                <a:endParaRPr lang="en-US" b="1" dirty="0"/>
              </a:p>
              <a:p>
                <a:r>
                  <a:rPr lang="en-US" b="1" dirty="0"/>
                  <a:t>Initial idea</a:t>
                </a:r>
                <a:r>
                  <a:rPr lang="en-US" dirty="0"/>
                  <a:t>: If the factored state description consists of several numbers (e.g., x and y coordinates), then we can directly use them as the feature vector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dirty="0"/>
                  <a:t>This leads to </a:t>
                </a:r>
                <a:r>
                  <a:rPr lang="en-US" b="1" dirty="0"/>
                  <a:t>linear</a:t>
                </a:r>
                <a:r>
                  <a:rPr lang="en-US" dirty="0"/>
                  <a:t> </a:t>
                </a:r>
                <a:r>
                  <a:rPr lang="en-US" b="1" dirty="0"/>
                  <a:t>interpolation </a:t>
                </a:r>
                <a:r>
                  <a:rPr lang="en-US" dirty="0"/>
                  <a:t>learned as a </a:t>
                </a:r>
                <a:r>
                  <a:rPr lang="en-US" b="1" dirty="0"/>
                  <a:t>linear regression.</a:t>
                </a:r>
              </a:p>
              <a:p>
                <a:endParaRPr lang="en-US" b="1" dirty="0"/>
              </a:p>
              <a:p>
                <a:r>
                  <a:rPr lang="en-US" b="1" dirty="0"/>
                  <a:t>Problems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The value function may not depend linearly on the variables used in the state description. </a:t>
                </a:r>
              </a:p>
              <a:p>
                <a:pPr lvl="1"/>
                <a:r>
                  <a:rPr lang="en-US" dirty="0"/>
                  <a:t>Linear regression cannot represent interactions between the variables.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AA4273-07F2-A9DC-CBEB-728A9F627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 r="-16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1060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24CA0-B808-45FE-B59E-061047DB4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46AD2-EED1-29EA-3A8B-33B78243A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L-Maze with Linear Features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F159DB-0ACD-AFF4-9E19-467E4B0A81F1}"/>
              </a:ext>
            </a:extLst>
          </p:cNvPr>
          <p:cNvSpPr txBox="1"/>
          <p:nvPr/>
        </p:nvSpPr>
        <p:spPr>
          <a:xfrm>
            <a:off x="2818700" y="1245930"/>
            <a:ext cx="5663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cannot solve the L-Maze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A8ADD4-2C01-4341-D827-D48BA71E3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5201" y="1736993"/>
            <a:ext cx="5133975" cy="4143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D48BFC-E186-4381-4FFE-D8887C3041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40" y="1736992"/>
            <a:ext cx="4791075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8643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808D1-8837-CCB1-E085-F54F15906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D1A6B-6DB7-E864-D2D3-06A84D426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F8D59-91BD-8D3F-17EC-9451FBDC8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Idea</a:t>
            </a:r>
            <a:r>
              <a:rPr lang="en-US" dirty="0"/>
              <a:t>: Use a more flexible, non-linear transform of the state description to construct state features.</a:t>
            </a:r>
            <a:br>
              <a:rPr lang="en-US" dirty="0"/>
            </a:br>
            <a:endParaRPr lang="en-US" dirty="0"/>
          </a:p>
          <a:p>
            <a:r>
              <a:rPr lang="en-US" dirty="0"/>
              <a:t>We will focus on the most popular feature construction methods that work well for RL:</a:t>
            </a:r>
          </a:p>
          <a:p>
            <a:pPr lvl="1"/>
            <a:r>
              <a:rPr lang="en-US" b="1" dirty="0"/>
              <a:t>Fourier Basis:</a:t>
            </a:r>
            <a:r>
              <a:rPr lang="en-US" dirty="0"/>
              <a:t> strong baseline; very efficient; strong guarantees. </a:t>
            </a:r>
          </a:p>
          <a:p>
            <a:pPr lvl="1"/>
            <a:r>
              <a:rPr lang="en-US" b="1" dirty="0"/>
              <a:t>Tile Coding</a:t>
            </a:r>
            <a:r>
              <a:rPr lang="en-US" dirty="0"/>
              <a:t>: coarse coding using tiles, local generalization, very computationally efficient.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Other methods</a:t>
            </a:r>
          </a:p>
          <a:p>
            <a:pPr lvl="1"/>
            <a:r>
              <a:rPr lang="en-US" dirty="0"/>
              <a:t>One-Hot Features: exact representation; no generalization (equivalent to tabular RL)</a:t>
            </a:r>
          </a:p>
          <a:p>
            <a:pPr lvl="1"/>
            <a:r>
              <a:rPr lang="en-US" dirty="0"/>
              <a:t>Coarse Coding using spherical reception fields</a:t>
            </a:r>
          </a:p>
          <a:p>
            <a:pPr lvl="1"/>
            <a:r>
              <a:rPr lang="en-US" dirty="0"/>
              <a:t>Polynomials Features: smooth global generalization.</a:t>
            </a:r>
          </a:p>
          <a:p>
            <a:pPr lvl="1"/>
            <a:r>
              <a:rPr lang="en-US" dirty="0"/>
              <a:t>Radial Basis Functions: smooth local generalization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920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D3E4E-A639-51E3-8016-984AF7493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Fourier Basis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61569"/>
                <a:ext cx="10515600" cy="2943670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A Fourier series (Fourier transform) represents a periodic function as a weighted sum of sine and cosine basis functions of increasing frequencies.</a:t>
                </a:r>
              </a:p>
              <a:p>
                <a:r>
                  <a:rPr lang="en-US" dirty="0"/>
                  <a:t>State features are not periodic, so we consider only a single period, chosen so we only need to use cosine basis functions. </a:t>
                </a:r>
              </a:p>
              <a:p>
                <a:r>
                  <a:rPr lang="en-US" dirty="0"/>
                  <a:t>Strong theoretical foundation: Fourier series can approximate any function.</a:t>
                </a:r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On dimensional case</a:t>
                </a:r>
                <a:r>
                  <a:rPr lang="en-US" dirty="0"/>
                  <a:t>: state is represented by a single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br>
                  <a:rPr lang="en-US" b="0" dirty="0"/>
                </a:b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b="0" dirty="0"/>
                  <a:t>	</a:t>
                </a:r>
                <a:br>
                  <a:rPr lang="en-US" b="0" dirty="0"/>
                </a:br>
                <a:r>
                  <a:rPr lang="en-US" b="0" dirty="0"/>
                  <a:t>	with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is the frequency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the order of the Fourier basis function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61569"/>
                <a:ext cx="10515600" cy="2943670"/>
              </a:xfrm>
              <a:blipFill>
                <a:blip r:embed="rId2"/>
                <a:stretch>
                  <a:fillRect l="-522" t="-3320" r="-812" b="-6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7350A765-B62B-4ADE-CD38-637FA7EC305A}"/>
                  </a:ext>
                </a:extLst>
              </p:cNvPr>
              <p:cNvSpPr/>
              <p:nvPr/>
            </p:nvSpPr>
            <p:spPr>
              <a:xfrm>
                <a:off x="10014097" y="2543767"/>
                <a:ext cx="1339703" cy="87895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Note: </a:t>
                </a: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is 180° in radians</a:t>
                </a:r>
              </a:p>
            </p:txBody>
          </p:sp>
        </mc:Choice>
        <mc:Fallback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7350A765-B62B-4ADE-CD38-637FA7EC30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4097" y="2543767"/>
                <a:ext cx="1339703" cy="878958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969D3EEB-DF2C-E4E0-6C47-A07423C916CC}"/>
              </a:ext>
            </a:extLst>
          </p:cNvPr>
          <p:cNvGrpSpPr/>
          <p:nvPr/>
        </p:nvGrpSpPr>
        <p:grpSpPr>
          <a:xfrm>
            <a:off x="608001" y="4105239"/>
            <a:ext cx="10975998" cy="2454194"/>
            <a:chOff x="555214" y="4273987"/>
            <a:chExt cx="10975998" cy="245419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06EE23C-B5A9-DF31-8286-7EF0B31BE999}"/>
                </a:ext>
              </a:extLst>
            </p:cNvPr>
            <p:cNvGrpSpPr/>
            <p:nvPr/>
          </p:nvGrpSpPr>
          <p:grpSpPr>
            <a:xfrm>
              <a:off x="555214" y="4273987"/>
              <a:ext cx="10975998" cy="2198627"/>
              <a:chOff x="555214" y="4273987"/>
              <a:chExt cx="10975998" cy="2198627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97505212-7A05-EF5F-595D-8F58C8B01957}"/>
                  </a:ext>
                </a:extLst>
              </p:cNvPr>
              <p:cNvGrpSpPr/>
              <p:nvPr/>
            </p:nvGrpSpPr>
            <p:grpSpPr>
              <a:xfrm>
                <a:off x="1403011" y="4774425"/>
                <a:ext cx="9702152" cy="1698189"/>
                <a:chOff x="940253" y="3816846"/>
                <a:chExt cx="10311493" cy="2432393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E28C3802-8BE9-3532-FD3E-63D4C67B7343}"/>
                    </a:ext>
                  </a:extLst>
                </p:cNvPr>
                <p:cNvGrpSpPr/>
                <p:nvPr/>
              </p:nvGrpSpPr>
              <p:grpSpPr>
                <a:xfrm>
                  <a:off x="940253" y="3816846"/>
                  <a:ext cx="10311493" cy="2316799"/>
                  <a:chOff x="940253" y="3816846"/>
                  <a:chExt cx="10311493" cy="2316799"/>
                </a:xfrm>
              </p:grpSpPr>
              <p:pic>
                <p:nvPicPr>
                  <p:cNvPr id="5" name="Picture 4">
                    <a:extLst>
                      <a:ext uri="{FF2B5EF4-FFF2-40B4-BE49-F238E27FC236}">
                        <a16:creationId xmlns:a16="http://schemas.microsoft.com/office/drawing/2014/main" id="{3B1C95FD-8690-42B1-E727-B2971459644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940253" y="4001512"/>
                    <a:ext cx="10311493" cy="2132133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080C96CF-121E-44DE-76C2-6C0CBBE9281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927021" y="381684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080C96CF-121E-44DE-76C2-6C0CBBE9281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927021" y="381684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74940EEB-2288-42CB-85C4-BCE6702B531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10792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=2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74940EEB-2288-42CB-85C4-BCE6702B531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10792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1D751660-33C0-9273-76A8-F4F97BE8022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94563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=3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1D751660-33C0-9273-76A8-F4F97BE8022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94563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" name="TextBox 8">
                        <a:extLst>
                          <a:ext uri="{FF2B5EF4-FFF2-40B4-BE49-F238E27FC236}">
                            <a16:creationId xmlns:a16="http://schemas.microsoft.com/office/drawing/2014/main" id="{6F1B4BF1-DC74-1988-A35B-B27BEB86071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352822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=4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9" name="TextBox 8">
                        <a:extLst>
                          <a:ext uri="{FF2B5EF4-FFF2-40B4-BE49-F238E27FC236}">
                            <a16:creationId xmlns:a16="http://schemas.microsoft.com/office/drawing/2014/main" id="{6F1B4BF1-DC74-1988-A35B-B27BEB86071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352822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3866DA77-53C0-752D-ADC9-563106926B59}"/>
                    </a:ext>
                  </a:extLst>
                </p:cNvPr>
                <p:cNvCxnSpPr/>
                <p:nvPr/>
              </p:nvCxnSpPr>
              <p:spPr>
                <a:xfrm>
                  <a:off x="1689197" y="4327695"/>
                  <a:ext cx="0" cy="1507713"/>
                </a:xfrm>
                <a:prstGeom prst="line">
                  <a:avLst/>
                </a:prstGeom>
                <a:ln>
                  <a:headEnd type="triangle" w="med" len="med"/>
                  <a:tailEnd type="non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79E0EE6-A05E-2FC8-DC10-89263EE369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93909" y="4781405"/>
                  <a:ext cx="0" cy="1054003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AF39E40D-4A5D-52AA-F276-4D237C0077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698620" y="5275437"/>
                  <a:ext cx="0" cy="559971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11E9E864-8136-5401-1AA3-C92C28B36E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197515" y="5674864"/>
                  <a:ext cx="0" cy="160544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575E85A-359F-ECA5-9366-AE1BB9BDA1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308142" y="5764313"/>
                      <a:ext cx="345574" cy="48492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575E85A-359F-ECA5-9366-AE1BB9BDA12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308142" y="5764313"/>
                      <a:ext cx="345574" cy="484926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6" name="Straight Arrow Connector 25">
                  <a:extLst>
                    <a:ext uri="{FF2B5EF4-FFF2-40B4-BE49-F238E27FC236}">
                      <a16:creationId xmlns:a16="http://schemas.microsoft.com/office/drawing/2014/main" id="{D4DD42E0-1896-C9C2-F00F-BD6D113654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70388" y="5846770"/>
                  <a:ext cx="418809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7D635983-D050-D8D7-7557-F5169D4628E3}"/>
                      </a:ext>
                    </a:extLst>
                  </p:cNvPr>
                  <p:cNvSpPr txBox="1"/>
                  <p:nvPr/>
                </p:nvSpPr>
                <p:spPr>
                  <a:xfrm>
                    <a:off x="555214" y="4273987"/>
                    <a:ext cx="10975998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b="1" dirty="0"/>
                      <a:t>Example</a:t>
                    </a:r>
                    <a:r>
                      <a:rPr lang="en-US" dirty="0"/>
                      <a:t>: Order-4 Fourier cosine basis creates 4 features plus the intercept for </a:t>
                    </a:r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 </m:t>
                        </m:r>
                      </m:oMath>
                    </a14:m>
                    <a:r>
                      <a:rPr lang="en-US" dirty="0"/>
                      <a:t>for linear approximation.</a:t>
                    </a:r>
                  </a:p>
                </p:txBody>
              </p:sp>
            </mc:Choice>
            <mc:Fallback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7D635983-D050-D8D7-7557-F5169D4628E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5214" y="4273987"/>
                    <a:ext cx="10975998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500" t="-6557" b="-2623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F7A3A9F-24AD-7EC9-98A9-9DDA975E5F02}"/>
                    </a:ext>
                  </a:extLst>
                </p:cNvPr>
                <p:cNvSpPr txBox="1"/>
                <p:nvPr/>
              </p:nvSpPr>
              <p:spPr>
                <a:xfrm>
                  <a:off x="2057706" y="5566251"/>
                  <a:ext cx="69192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F7A3A9F-24AD-7EC9-98A9-9DDA975E5F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7706" y="5566251"/>
                  <a:ext cx="691924" cy="30777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9C0D353-A18F-D358-478D-9049A0E1C237}"/>
                </a:ext>
              </a:extLst>
            </p:cNvPr>
            <p:cNvCxnSpPr>
              <a:cxnSpLocks/>
            </p:cNvCxnSpPr>
            <p:nvPr/>
          </p:nvCxnSpPr>
          <p:spPr>
            <a:xfrm>
              <a:off x="4070337" y="6191628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ACC812F-AEFF-E345-9D42-29B26CC073CE}"/>
                </a:ext>
              </a:extLst>
            </p:cNvPr>
            <p:cNvCxnSpPr>
              <a:cxnSpLocks/>
            </p:cNvCxnSpPr>
            <p:nvPr/>
          </p:nvCxnSpPr>
          <p:spPr>
            <a:xfrm>
              <a:off x="6427037" y="6209807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E2BA4C85-A58D-76FE-B207-FF7306921EEE}"/>
                </a:ext>
              </a:extLst>
            </p:cNvPr>
            <p:cNvCxnSpPr>
              <a:cxnSpLocks/>
            </p:cNvCxnSpPr>
            <p:nvPr/>
          </p:nvCxnSpPr>
          <p:spPr>
            <a:xfrm>
              <a:off x="8778263" y="6209807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B522CFE-9B16-F8BC-FF09-9DD69CA05165}"/>
                    </a:ext>
                  </a:extLst>
                </p:cNvPr>
                <p:cNvSpPr txBox="1"/>
                <p:nvPr/>
              </p:nvSpPr>
              <p:spPr>
                <a:xfrm>
                  <a:off x="4464397" y="6358849"/>
                  <a:ext cx="296941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.2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(1, .9,.65, .35,. 1)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B522CFE-9B16-F8BC-FF09-9DD69CA051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4397" y="6358849"/>
                  <a:ext cx="2969416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667195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EB7D-CFA3-159A-1C70-D5C5DFF6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E0558-D9C2-9029-7D1D-5171CC7B9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Multi-dimensional Fourier Basis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9646"/>
                <a:ext cx="10515600" cy="1666944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State is represented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numbers: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</m:e>
                    </m:d>
                  </m:oMath>
                </a14:m>
                <a:br>
                  <a:rPr lang="en-US" dirty="0"/>
                </a:br>
                <a:r>
                  <a:rPr lang="en-US" dirty="0"/>
                  <a:t>                  with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∈{0,…,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9646"/>
                <a:ext cx="10515600" cy="1666944"/>
              </a:xfrm>
              <a:blipFill>
                <a:blip r:embed="rId2"/>
                <a:stretch>
                  <a:fillRect l="-522" t="-6593" b="-3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BD6AC598-B007-2E2D-CAE3-EEE732E2B4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414"/>
          <a:stretch>
            <a:fillRect/>
          </a:stretch>
        </p:blipFill>
        <p:spPr>
          <a:xfrm>
            <a:off x="5138743" y="2959586"/>
            <a:ext cx="6459944" cy="36017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/>
              <p:nvPr/>
            </p:nvSpPr>
            <p:spPr>
              <a:xfrm>
                <a:off x="1641076" y="3014112"/>
                <a:ext cx="348309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Example: 2-dimensional Fourier cosine features for 6 different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076" y="3014112"/>
                <a:ext cx="3483096" cy="646331"/>
              </a:xfrm>
              <a:prstGeom prst="rect">
                <a:avLst/>
              </a:prstGeom>
              <a:blipFill>
                <a:blip r:embed="rId4"/>
                <a:stretch>
                  <a:fillRect l="-1399" t="-3774" b="-15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031356C-2FE2-7864-FB2C-A4E9C96E4C56}"/>
              </a:ext>
            </a:extLst>
          </p:cNvPr>
          <p:cNvSpPr/>
          <p:nvPr/>
        </p:nvSpPr>
        <p:spPr>
          <a:xfrm>
            <a:off x="8368715" y="2101026"/>
            <a:ext cx="1885129" cy="586333"/>
          </a:xfrm>
          <a:prstGeom prst="wedgeRoundRectCallout">
            <a:avLst>
              <a:gd name="adj1" fmla="val -43053"/>
              <a:gd name="adj2" fmla="val 989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 means it is constant in that dimension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EF2EBAC-8345-B41A-EF70-BDDB9266812C}"/>
              </a:ext>
            </a:extLst>
          </p:cNvPr>
          <p:cNvSpPr/>
          <p:nvPr/>
        </p:nvSpPr>
        <p:spPr>
          <a:xfrm>
            <a:off x="10253844" y="1375090"/>
            <a:ext cx="1562390" cy="373636"/>
          </a:xfrm>
          <a:prstGeom prst="wedgeRoundRectCallout">
            <a:avLst>
              <a:gd name="adj1" fmla="val -31213"/>
              <a:gd name="adj2" fmla="val 37399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&gt;0 is the frequency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/>
              <p:nvPr/>
            </p:nvSpPr>
            <p:spPr>
              <a:xfrm>
                <a:off x="1662385" y="3660443"/>
                <a:ext cx="3483096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=(.5,.8)</m:t>
                      </m:r>
                    </m:oMath>
                  </m:oMathPara>
                </a14:m>
                <a:endParaRPr lang="en-US" sz="1400" b="0" dirty="0"/>
              </a:p>
              <a:p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(0,1))</m:t>
                        </m:r>
                      </m:e>
                    </m:func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=−.8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0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,1))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=−.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(0,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1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br>
                  <a:rPr lang="en-US" sz="14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    1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:endParaRPr lang="en-US" sz="14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2385" y="3660443"/>
                <a:ext cx="3483096" cy="20313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DA81357C-FC4F-172C-ADFA-6EB1780ABEA7}"/>
              </a:ext>
            </a:extLst>
          </p:cNvPr>
          <p:cNvGrpSpPr/>
          <p:nvPr/>
        </p:nvGrpSpPr>
        <p:grpSpPr>
          <a:xfrm>
            <a:off x="4951787" y="3340471"/>
            <a:ext cx="5619708" cy="2979085"/>
            <a:chOff x="4951787" y="3340471"/>
            <a:chExt cx="5619708" cy="2979085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AF19D8E4-7428-461A-EA29-A617584B4011}"/>
                </a:ext>
              </a:extLst>
            </p:cNvPr>
            <p:cNvGrpSpPr/>
            <p:nvPr/>
          </p:nvGrpSpPr>
          <p:grpSpPr>
            <a:xfrm>
              <a:off x="5214160" y="3435503"/>
              <a:ext cx="5357335" cy="2884053"/>
              <a:chOff x="5214160" y="3435503"/>
              <a:chExt cx="5357335" cy="288405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3C5C89D3-EE63-5400-C3FE-8BA2A82CD652}"/>
                  </a:ext>
                </a:extLst>
              </p:cNvPr>
              <p:cNvGrpSpPr/>
              <p:nvPr/>
            </p:nvGrpSpPr>
            <p:grpSpPr>
              <a:xfrm>
                <a:off x="5214160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D061184B-88A1-E299-C8DF-FE3409235A74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45A6221F-D38E-F79C-45AA-22C883F4D933}"/>
                    </a:ext>
                  </a:extLst>
                </p:cNvPr>
                <p:cNvCxnSpPr>
                  <a:cxnSpLocks/>
                  <a:stCxn id="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A30D3973-9B73-5DA6-5531-0C47BF34B4BA}"/>
                    </a:ext>
                  </a:extLst>
                </p:cNvPr>
                <p:cNvCxnSpPr>
                  <a:cxnSpLocks/>
                  <a:stCxn id="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0CDB7F58-6E8C-3365-5CB0-2EC8C57473C1}"/>
                  </a:ext>
                </a:extLst>
              </p:cNvPr>
              <p:cNvGrpSpPr/>
              <p:nvPr/>
            </p:nvGrpSpPr>
            <p:grpSpPr>
              <a:xfrm>
                <a:off x="7453542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F783979E-E824-02C0-49CD-6DDE1C8AF31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7CEDDF26-B3E0-CEEE-04A5-07F0DF5B0AD3}"/>
                    </a:ext>
                  </a:extLst>
                </p:cNvPr>
                <p:cNvCxnSpPr>
                  <a:cxnSpLocks/>
                  <a:stCxn id="22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2807F95-C422-6F10-5149-ECE8552EFDD0}"/>
                    </a:ext>
                  </a:extLst>
                </p:cNvPr>
                <p:cNvCxnSpPr>
                  <a:cxnSpLocks/>
                  <a:stCxn id="22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427BED36-7845-BE4B-09E4-12E436E10DDB}"/>
                  </a:ext>
                </a:extLst>
              </p:cNvPr>
              <p:cNvGrpSpPr/>
              <p:nvPr/>
            </p:nvGrpSpPr>
            <p:grpSpPr>
              <a:xfrm>
                <a:off x="9600341" y="3435503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E835DC91-5805-8DAE-BB63-1B8CC6FFA2E8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87902F9A-2E37-0013-93A1-1BA57B02D809}"/>
                    </a:ext>
                  </a:extLst>
                </p:cNvPr>
                <p:cNvCxnSpPr>
                  <a:cxnSpLocks/>
                  <a:stCxn id="26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3E0E8A7F-053D-9019-516F-DBB49D1C0221}"/>
                    </a:ext>
                  </a:extLst>
                </p:cNvPr>
                <p:cNvCxnSpPr>
                  <a:cxnSpLocks/>
                  <a:stCxn id="26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E4442C98-44C1-BF57-8865-72B0CB62549A}"/>
                  </a:ext>
                </a:extLst>
              </p:cNvPr>
              <p:cNvGrpSpPr/>
              <p:nvPr/>
            </p:nvGrpSpPr>
            <p:grpSpPr>
              <a:xfrm>
                <a:off x="5225236" y="5108698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436D42EB-ADFE-2D9E-08A6-7E7D030C239F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8D7ACAC0-06A0-E0E4-6B3D-131B1E3D75F2}"/>
                    </a:ext>
                  </a:extLst>
                </p:cNvPr>
                <p:cNvCxnSpPr>
                  <a:cxnSpLocks/>
                  <a:stCxn id="30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78DF8B15-B0F6-1D5E-7A47-8160A1A082D7}"/>
                    </a:ext>
                  </a:extLst>
                </p:cNvPr>
                <p:cNvCxnSpPr>
                  <a:cxnSpLocks/>
                  <a:stCxn id="30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9F03424E-3BD9-8378-A7BD-3B2F0FF173AE}"/>
                  </a:ext>
                </a:extLst>
              </p:cNvPr>
              <p:cNvGrpSpPr/>
              <p:nvPr/>
            </p:nvGrpSpPr>
            <p:grpSpPr>
              <a:xfrm>
                <a:off x="7419867" y="5144471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A154AFFE-5CA3-DC57-DF01-16FFEFC4FCD7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9627EDBE-6E64-4526-8387-169CFC8CE096}"/>
                    </a:ext>
                  </a:extLst>
                </p:cNvPr>
                <p:cNvCxnSpPr>
                  <a:cxnSpLocks/>
                  <a:stCxn id="34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9076703A-BA47-1A0C-6439-319CEF6CAEFD}"/>
                    </a:ext>
                  </a:extLst>
                </p:cNvPr>
                <p:cNvCxnSpPr>
                  <a:cxnSpLocks/>
                  <a:stCxn id="34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F946C286-CAA1-6F10-661C-99C69BFF24E9}"/>
                  </a:ext>
                </a:extLst>
              </p:cNvPr>
              <p:cNvGrpSpPr/>
              <p:nvPr/>
            </p:nvGrpSpPr>
            <p:grpSpPr>
              <a:xfrm>
                <a:off x="9568886" y="5180244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C8131D1-EA3A-531D-E4AF-5CD673DD30A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2805BD08-337C-3FC0-7512-5D1EF17067F2}"/>
                    </a:ext>
                  </a:extLst>
                </p:cNvPr>
                <p:cNvCxnSpPr>
                  <a:cxnSpLocks/>
                  <a:stCxn id="3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2A6609B-DEB9-7B57-7EA4-D74C690F5E52}"/>
                    </a:ext>
                  </a:extLst>
                </p:cNvPr>
                <p:cNvCxnSpPr>
                  <a:cxnSpLocks/>
                  <a:stCxn id="3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E1B44F5-5DFC-EE45-5E4C-A06ED1778595}"/>
                </a:ext>
              </a:extLst>
            </p:cNvPr>
            <p:cNvSpPr txBox="1"/>
            <p:nvPr/>
          </p:nvSpPr>
          <p:spPr>
            <a:xfrm>
              <a:off x="6048568" y="4479784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.5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4FDB532-1688-4720-2C29-A41D304823FF}"/>
                </a:ext>
              </a:extLst>
            </p:cNvPr>
            <p:cNvSpPr txBox="1"/>
            <p:nvPr/>
          </p:nvSpPr>
          <p:spPr>
            <a:xfrm>
              <a:off x="4951787" y="3340471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.8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/>
              <p:nvPr/>
            </p:nvSpPr>
            <p:spPr>
              <a:xfrm>
                <a:off x="359106" y="5741581"/>
                <a:ext cx="4530045" cy="1006549"/>
              </a:xfrm>
              <a:prstGeom prst="wedgeRoundRectCallout">
                <a:avLst>
                  <a:gd name="adj1" fmla="val -6644"/>
                  <a:gd name="adj2" fmla="val -7764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Features are a combination of both state components, representing interactions.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Select only the best features.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Use a different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400" dirty="0"/>
                  <a:t> for each feature.</a:t>
                </a:r>
              </a:p>
            </p:txBody>
          </p:sp>
        </mc:Choice>
        <mc:Fallback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106" y="5741581"/>
                <a:ext cx="4530045" cy="1006549"/>
              </a:xfrm>
              <a:prstGeom prst="wedgeRoundRectCallout">
                <a:avLst>
                  <a:gd name="adj1" fmla="val -6644"/>
                  <a:gd name="adj2" fmla="val -77642"/>
                  <a:gd name="adj3" fmla="val 16667"/>
                </a:avLst>
              </a:prstGeom>
              <a:blipFill>
                <a:blip r:embed="rId6"/>
                <a:stretch>
                  <a:fillRect b="-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8169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8218-FC1E-7DC2-0BDB-85F80555B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L-Maze with Order-2 Fourier Features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337F39-86C8-E0E0-ED9A-B7AA898B5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1643" y="1715458"/>
            <a:ext cx="5133975" cy="41433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621229-6986-1F7F-41FE-03F1D4D64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537" y="1736994"/>
            <a:ext cx="4791075" cy="41433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BCC4E1-4F2F-E15D-7AB2-C89EEE7462C6}"/>
              </a:ext>
            </a:extLst>
          </p:cNvPr>
          <p:cNvSpPr txBox="1"/>
          <p:nvPr/>
        </p:nvSpPr>
        <p:spPr>
          <a:xfrm>
            <a:off x="2818700" y="1245930"/>
            <a:ext cx="5663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can solve the L-Maze</a:t>
            </a:r>
          </a:p>
        </p:txBody>
      </p:sp>
    </p:spTree>
    <p:extLst>
      <p:ext uri="{BB962C8B-B14F-4D97-AF65-F5344CB8AC3E}">
        <p14:creationId xmlns:p14="http://schemas.microsoft.com/office/powerpoint/2010/main" val="13632743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1EEA-C033-3A7C-6BEF-3B05BF654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Tile Coding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4198"/>
                <a:ext cx="10515600" cy="1783661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Partition the space using several overlapping grids.</a:t>
                </a:r>
              </a:p>
              <a:p>
                <a:r>
                  <a:rPr lang="en-US" dirty="0"/>
                  <a:t>Represent the state by the “active” tiles in the grids.</a:t>
                </a:r>
              </a:p>
              <a:p>
                <a:r>
                  <a:rPr lang="en-US" dirty="0"/>
                  <a:t>Similar states will share active tiles. Leads to a local generalization.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typically chosen to be small since a change will also affect neighboring states. </a:t>
                </a:r>
                <a:br>
                  <a:rPr lang="en-US" dirty="0"/>
                </a:br>
                <a:r>
                  <a:rPr lang="en-US" dirty="0"/>
                  <a:t>Popular: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#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tilings</m:t>
                        </m:r>
                      </m:den>
                    </m:f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4198"/>
                <a:ext cx="10515600" cy="1783661"/>
              </a:xfrm>
              <a:blipFill>
                <a:blip r:embed="rId2"/>
                <a:stretch>
                  <a:fillRect l="-522" t="-58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66987A-C1A2-C925-E70B-BB4DA616A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097" y="3381561"/>
            <a:ext cx="7279757" cy="26618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2E76E1-445B-0C86-262C-5EA0DD4E509D}"/>
                  </a:ext>
                </a:extLst>
              </p:cNvPr>
              <p:cNvSpPr txBox="1"/>
              <p:nvPr/>
            </p:nvSpPr>
            <p:spPr>
              <a:xfrm>
                <a:off x="936550" y="3429000"/>
                <a:ext cx="3308498" cy="2554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Example</a:t>
                </a:r>
                <a:r>
                  <a:rPr lang="en-US" sz="2000" dirty="0"/>
                  <a:t>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State has two components.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4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4×4</m:t>
                    </m:r>
                  </m:oMath>
                </a14:m>
                <a:r>
                  <a:rPr lang="en-US" sz="2000" dirty="0"/>
                  <a:t> overlapping </a:t>
                </a:r>
                <a:r>
                  <a:rPr lang="en-US" sz="2000" dirty="0" err="1"/>
                  <a:t>tilings</a:t>
                </a:r>
                <a:r>
                  <a:rPr lang="en-US" sz="2000" dirty="0"/>
                  <a:t> give 64 squares.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State features: 60 0s and only the four active tiles have a 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2E76E1-445B-0C86-262C-5EA0DD4E50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550" y="3429000"/>
                <a:ext cx="3308498" cy="2554545"/>
              </a:xfrm>
              <a:prstGeom prst="rect">
                <a:avLst/>
              </a:prstGeom>
              <a:blipFill>
                <a:blip r:embed="rId4"/>
                <a:stretch>
                  <a:fillRect l="-2030" t="-1432" b="-3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67A12649-C2C4-ED5F-5094-B6C4AD7830E1}"/>
              </a:ext>
            </a:extLst>
          </p:cNvPr>
          <p:cNvGrpSpPr/>
          <p:nvPr/>
        </p:nvGrpSpPr>
        <p:grpSpPr>
          <a:xfrm>
            <a:off x="4479851" y="4849257"/>
            <a:ext cx="1253106" cy="603874"/>
            <a:chOff x="4442224" y="5428331"/>
            <a:chExt cx="1253106" cy="60387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5E45CF6-7235-3CD1-7DE8-C6E0659A42AE}"/>
                </a:ext>
              </a:extLst>
            </p:cNvPr>
            <p:cNvCxnSpPr>
              <a:cxnSpLocks/>
            </p:cNvCxnSpPr>
            <p:nvPr/>
          </p:nvCxnSpPr>
          <p:spPr>
            <a:xfrm>
              <a:off x="5695330" y="5428331"/>
              <a:ext cx="0" cy="603874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1ADE3D4-6EA3-99E2-AB67-C986C31EB8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42224" y="5428331"/>
              <a:ext cx="1253106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7F69C6B-93B1-2F6A-CDA0-FB2EBF5957B9}"/>
              </a:ext>
            </a:extLst>
          </p:cNvPr>
          <p:cNvGrpSpPr/>
          <p:nvPr/>
        </p:nvGrpSpPr>
        <p:grpSpPr>
          <a:xfrm>
            <a:off x="4382621" y="3633870"/>
            <a:ext cx="1548574" cy="1601735"/>
            <a:chOff x="4382621" y="3244007"/>
            <a:chExt cx="1548574" cy="160173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752AD79-CCF2-693C-5120-EF04065CEDF9}"/>
                </a:ext>
              </a:extLst>
            </p:cNvPr>
            <p:cNvGrpSpPr/>
            <p:nvPr/>
          </p:nvGrpSpPr>
          <p:grpSpPr>
            <a:xfrm>
              <a:off x="4414283" y="3685809"/>
              <a:ext cx="1516912" cy="268969"/>
              <a:chOff x="4414283" y="3685809"/>
              <a:chExt cx="1516912" cy="268969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D30F41D-0B59-96B0-2086-05FD5E0665BF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1FBB2C6-5931-2FAD-F938-FE1642874B61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AB7C7A7-F7C6-8ABF-E4F6-630D483A8138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E3262AC-24A6-C62A-08C6-BBEBA5DFDB2C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B927CF8-AF38-CDF8-A9EF-EDEFC6BDA07E}"/>
                </a:ext>
              </a:extLst>
            </p:cNvPr>
            <p:cNvGrpSpPr/>
            <p:nvPr/>
          </p:nvGrpSpPr>
          <p:grpSpPr>
            <a:xfrm>
              <a:off x="4414283" y="4105864"/>
              <a:ext cx="1516912" cy="268969"/>
              <a:chOff x="4414283" y="3685809"/>
              <a:chExt cx="1516912" cy="268969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6EEFEFE-7A14-E54F-9D20-88E0B74EA4AB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AB2F481-5134-3AD1-8D30-78CA8E73AB46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989634F-DCFC-FCEC-62BF-CEB7B663196E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b="1" dirty="0">
                    <a:solidFill>
                      <a:schemeClr val="accent2"/>
                    </a:solidFill>
                  </a:rPr>
                  <a:t>1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5237276-F6DD-3DB4-120C-72057CEE1C74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E4B4C3A-C9DE-6BCC-E353-0E9585FE87C7}"/>
                </a:ext>
              </a:extLst>
            </p:cNvPr>
            <p:cNvGrpSpPr/>
            <p:nvPr/>
          </p:nvGrpSpPr>
          <p:grpSpPr>
            <a:xfrm>
              <a:off x="4382621" y="4576773"/>
              <a:ext cx="1516912" cy="268969"/>
              <a:chOff x="4414283" y="3685809"/>
              <a:chExt cx="1516912" cy="268969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547886-135D-9E0C-681F-41CA25C716EA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E32D794-516D-E3FB-3973-FB912E8CE644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A4B7BB-CAEA-8B05-10B1-251225217D35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1E2758A-527A-2EDE-0548-EDE57550686E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959E18F5-BC4F-0096-E7F1-99D143FB7D6F}"/>
                </a:ext>
              </a:extLst>
            </p:cNvPr>
            <p:cNvGrpSpPr/>
            <p:nvPr/>
          </p:nvGrpSpPr>
          <p:grpSpPr>
            <a:xfrm>
              <a:off x="4403650" y="3244007"/>
              <a:ext cx="1516912" cy="268969"/>
              <a:chOff x="4414283" y="3685809"/>
              <a:chExt cx="1516912" cy="268969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9A9344C-3766-8050-5CDA-60FBC60ADFB5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E9A0132-2099-5363-2A6D-48396ADEE3E1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E926400-ADCA-23FE-2D72-7019F2656D5E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720D94C-9BA9-9DCC-2303-4A63E6F842FB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6017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F3D035-6970-410A-56D5-7B2461C3D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Non-Linear Function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742DE7-913C-60BB-DF8E-B71A7E28A5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Artificial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36651022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6F5B2-EE01-E8E7-270B-299A360AD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 with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5F70F-2AC8-FACB-0836-8ACDFA07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166773" cy="4779633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Uses simple networks with a single hidden layer or deep architectures to approximate the value function.</a:t>
            </a:r>
          </a:p>
          <a:p>
            <a:r>
              <a:rPr lang="en-US" dirty="0"/>
              <a:t>Methods:</a:t>
            </a:r>
          </a:p>
          <a:p>
            <a:pPr lvl="1"/>
            <a:r>
              <a:rPr lang="en-US" dirty="0"/>
              <a:t>Recurrent networks</a:t>
            </a:r>
          </a:p>
          <a:p>
            <a:pPr lvl="1"/>
            <a:r>
              <a:rPr lang="en-US" dirty="0"/>
              <a:t>Convolution networks</a:t>
            </a:r>
          </a:p>
          <a:p>
            <a:pPr lvl="1"/>
            <a:r>
              <a:rPr lang="en-US" dirty="0"/>
              <a:t>Transformers</a:t>
            </a:r>
          </a:p>
          <a:p>
            <a:pPr lvl="1"/>
            <a:r>
              <a:rPr lang="en-US" dirty="0"/>
              <a:t>Regularization, dropout, weight sharing</a:t>
            </a:r>
          </a:p>
          <a:p>
            <a:pPr lvl="1"/>
            <a:r>
              <a:rPr lang="en-US" dirty="0"/>
              <a:t>Deep residual learning…</a:t>
            </a:r>
          </a:p>
          <a:p>
            <a:r>
              <a:rPr lang="en-US" dirty="0"/>
              <a:t>Networks are trained like linear models using SGD. For deep networks this uses backpropagation.</a:t>
            </a:r>
          </a:p>
          <a:p>
            <a:r>
              <a:rPr lang="en-US" dirty="0"/>
              <a:t>ANNs are non-linear universal approximators so they can learn any value function.</a:t>
            </a:r>
          </a:p>
          <a:p>
            <a:endParaRPr lang="en-US" dirty="0"/>
          </a:p>
          <a:p>
            <a:r>
              <a:rPr lang="en-US" dirty="0"/>
              <a:t>Issues due to nonlinearity: </a:t>
            </a:r>
          </a:p>
          <a:p>
            <a:pPr lvl="1"/>
            <a:r>
              <a:rPr lang="en-US" dirty="0"/>
              <a:t>Instability </a:t>
            </a:r>
          </a:p>
          <a:p>
            <a:pPr lvl="1"/>
            <a:r>
              <a:rPr lang="en-US" dirty="0"/>
              <a:t>Convergence is not guaranteed. </a:t>
            </a:r>
          </a:p>
          <a:p>
            <a:pPr lvl="1"/>
            <a:endParaRPr lang="en-US" dirty="0"/>
          </a:p>
          <a:p>
            <a:r>
              <a:rPr lang="en-US" dirty="0"/>
              <a:t>More in Deep Reinforcement Learning (DRL).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57D9AD-0CBD-4A1C-5DC3-AB0B9432D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07189" y="1193884"/>
            <a:ext cx="3920629" cy="2021412"/>
            <a:chOff x="1129787" y="3714030"/>
            <a:chExt cx="3920629" cy="202141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8F9D100-703C-DDBE-4B03-BEFD2675E182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SpPr txBox="1"/>
            <p:nvPr/>
          </p:nvSpPr>
          <p:spPr>
            <a:xfrm>
              <a:off x="1865224" y="5366110"/>
              <a:ext cx="19119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Q-network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71A9B85-1B4A-D529-9559-9A776B1E03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2124428" y="4079165"/>
              <a:ext cx="1295400" cy="1235724"/>
              <a:chOff x="4410942" y="4599774"/>
              <a:chExt cx="1577400" cy="1648626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7FB21E2A-FC1F-C47C-298D-A8BE4E31C4B6}"/>
                  </a:ext>
                </a:extLst>
              </p:cNvPr>
              <p:cNvSpPr/>
              <p:nvPr/>
            </p:nvSpPr>
            <p:spPr>
              <a:xfrm>
                <a:off x="4889892" y="4752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BAD4EA1-AE93-3F2B-EC3E-F51B2C66811C}"/>
                  </a:ext>
                </a:extLst>
              </p:cNvPr>
              <p:cNvSpPr/>
              <p:nvPr/>
            </p:nvSpPr>
            <p:spPr>
              <a:xfrm>
                <a:off x="4889892" y="50078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E3C39F9D-742D-29FD-62B5-DCCFB700DAFE}"/>
                  </a:ext>
                </a:extLst>
              </p:cNvPr>
              <p:cNvSpPr/>
              <p:nvPr/>
            </p:nvSpPr>
            <p:spPr>
              <a:xfrm>
                <a:off x="4889892" y="5285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39BE8FB-3F89-4604-BFD7-75A85BD6D11C}"/>
                  </a:ext>
                </a:extLst>
              </p:cNvPr>
              <p:cNvSpPr/>
              <p:nvPr/>
            </p:nvSpPr>
            <p:spPr>
              <a:xfrm>
                <a:off x="4889892" y="55903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4EC46C8-4F64-09FC-B2F0-A56DD6F92E13}"/>
                  </a:ext>
                </a:extLst>
              </p:cNvPr>
              <p:cNvSpPr/>
              <p:nvPr/>
            </p:nvSpPr>
            <p:spPr>
              <a:xfrm>
                <a:off x="5347092" y="4904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EC7B4CEF-D65D-35AC-4A87-5A2F28622CC6}"/>
                  </a:ext>
                </a:extLst>
              </p:cNvPr>
              <p:cNvSpPr/>
              <p:nvPr/>
            </p:nvSpPr>
            <p:spPr>
              <a:xfrm>
                <a:off x="534709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0546C22-9126-A64F-1E08-4A0774EC5C52}"/>
                  </a:ext>
                </a:extLst>
              </p:cNvPr>
              <p:cNvSpPr/>
              <p:nvPr/>
            </p:nvSpPr>
            <p:spPr>
              <a:xfrm>
                <a:off x="534709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711B356-C322-9A0F-23AA-24070E83601E}"/>
                  </a:ext>
                </a:extLst>
              </p:cNvPr>
              <p:cNvSpPr/>
              <p:nvPr/>
            </p:nvSpPr>
            <p:spPr>
              <a:xfrm>
                <a:off x="5835942" y="4752949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321E1B89-F118-CEDE-1ACF-AE210F91AD89}"/>
                  </a:ext>
                </a:extLst>
              </p:cNvPr>
              <p:cNvSpPr/>
              <p:nvPr/>
            </p:nvSpPr>
            <p:spPr>
              <a:xfrm>
                <a:off x="5835942" y="50306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5F536921-5DB2-C484-80A6-5E9CF04774B8}"/>
                  </a:ext>
                </a:extLst>
              </p:cNvPr>
              <p:cNvSpPr/>
              <p:nvPr/>
            </p:nvSpPr>
            <p:spPr>
              <a:xfrm>
                <a:off x="5835942" y="53354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476A5DB0-1825-8BF6-77D6-0FF244514DE9}"/>
                  </a:ext>
                </a:extLst>
              </p:cNvPr>
              <p:cNvSpPr/>
              <p:nvPr/>
            </p:nvSpPr>
            <p:spPr>
              <a:xfrm>
                <a:off x="5835942" y="56402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260347EC-E155-6D6A-8B70-F0ED6F48A3E7}"/>
                  </a:ext>
                </a:extLst>
              </p:cNvPr>
              <p:cNvSpPr/>
              <p:nvPr/>
            </p:nvSpPr>
            <p:spPr>
              <a:xfrm>
                <a:off x="4889892" y="5895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A82D0AB-4B22-7144-C127-03639736A49C}"/>
                  </a:ext>
                </a:extLst>
              </p:cNvPr>
              <p:cNvSpPr/>
              <p:nvPr/>
            </p:nvSpPr>
            <p:spPr>
              <a:xfrm>
                <a:off x="534709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D2F65F11-4D6B-FB28-45ED-118C8249D263}"/>
                  </a:ext>
                </a:extLst>
              </p:cNvPr>
              <p:cNvSpPr/>
              <p:nvPr/>
            </p:nvSpPr>
            <p:spPr>
              <a:xfrm>
                <a:off x="5835942" y="59450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27796F2B-63A7-0E97-6307-14CC5EC0C7EF}"/>
                  </a:ext>
                </a:extLst>
              </p:cNvPr>
              <p:cNvCxnSpPr>
                <a:cxnSpLocks/>
                <a:stCxn id="16" idx="6"/>
                <a:endCxn id="20" idx="1"/>
              </p:cNvCxnSpPr>
              <p:nvPr/>
            </p:nvCxnSpPr>
            <p:spPr>
              <a:xfrm>
                <a:off x="5042292" y="4841902"/>
                <a:ext cx="327118" cy="889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C3F73F8A-57DC-A45F-80D1-597D8D1E7A7C}"/>
                  </a:ext>
                </a:extLst>
              </p:cNvPr>
              <p:cNvCxnSpPr>
                <a:cxnSpLocks/>
                <a:stCxn id="17" idx="6"/>
                <a:endCxn id="20" idx="2"/>
              </p:cNvCxnSpPr>
              <p:nvPr/>
            </p:nvCxnSpPr>
            <p:spPr>
              <a:xfrm flipV="1">
                <a:off x="5042292" y="4994302"/>
                <a:ext cx="30480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D5DB5C0F-C3BC-E7BF-2F36-26E6DF3833FB}"/>
                  </a:ext>
                </a:extLst>
              </p:cNvPr>
              <p:cNvCxnSpPr>
                <a:cxnSpLocks/>
                <a:stCxn id="18" idx="6"/>
                <a:endCxn id="21" idx="2"/>
              </p:cNvCxnSpPr>
              <p:nvPr/>
            </p:nvCxnSpPr>
            <p:spPr>
              <a:xfrm flipV="1">
                <a:off x="5042292" y="52229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F39FF92C-6BBC-294B-AFCF-1E61772F3555}"/>
                  </a:ext>
                </a:extLst>
              </p:cNvPr>
              <p:cNvCxnSpPr>
                <a:cxnSpLocks/>
                <a:stCxn id="17" idx="6"/>
                <a:endCxn id="21" idx="2"/>
              </p:cNvCxnSpPr>
              <p:nvPr/>
            </p:nvCxnSpPr>
            <p:spPr>
              <a:xfrm>
                <a:off x="5042292" y="5097558"/>
                <a:ext cx="30480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304B9364-CECA-C424-2C90-35A01CFD7A25}"/>
                  </a:ext>
                </a:extLst>
              </p:cNvPr>
              <p:cNvCxnSpPr>
                <a:cxnSpLocks/>
                <a:stCxn id="19" idx="6"/>
                <a:endCxn id="22" idx="2"/>
              </p:cNvCxnSpPr>
              <p:nvPr/>
            </p:nvCxnSpPr>
            <p:spPr>
              <a:xfrm flipV="1">
                <a:off x="5042292" y="55277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A59CCCC-0AE5-2C78-1EA0-C8E66CD0B57E}"/>
                  </a:ext>
                </a:extLst>
              </p:cNvPr>
              <p:cNvCxnSpPr>
                <a:cxnSpLocks/>
                <a:stCxn id="18" idx="6"/>
                <a:endCxn id="22" idx="2"/>
              </p:cNvCxnSpPr>
              <p:nvPr/>
            </p:nvCxnSpPr>
            <p:spPr>
              <a:xfrm>
                <a:off x="5042293" y="5375303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4A3D70BA-B5F3-FBDA-53EC-95B34536CA9D}"/>
                  </a:ext>
                </a:extLst>
              </p:cNvPr>
              <p:cNvCxnSpPr>
                <a:cxnSpLocks/>
                <a:stCxn id="19" idx="6"/>
                <a:endCxn id="28" idx="2"/>
              </p:cNvCxnSpPr>
              <p:nvPr/>
            </p:nvCxnSpPr>
            <p:spPr>
              <a:xfrm>
                <a:off x="5042292" y="56801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34FC3790-1DF2-D828-D120-0BF4696D2466}"/>
                  </a:ext>
                </a:extLst>
              </p:cNvPr>
              <p:cNvCxnSpPr>
                <a:cxnSpLocks/>
                <a:stCxn id="27" idx="6"/>
                <a:endCxn id="28" idx="2"/>
              </p:cNvCxnSpPr>
              <p:nvPr/>
            </p:nvCxnSpPr>
            <p:spPr>
              <a:xfrm flipV="1">
                <a:off x="5042292" y="58325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B3FE80B-AAF9-65B2-6618-6FBA7687BD74}"/>
                  </a:ext>
                </a:extLst>
              </p:cNvPr>
              <p:cNvCxnSpPr>
                <a:cxnSpLocks/>
                <a:stCxn id="27" idx="6"/>
                <a:endCxn id="22" idx="2"/>
              </p:cNvCxnSpPr>
              <p:nvPr/>
            </p:nvCxnSpPr>
            <p:spPr>
              <a:xfrm flipV="1">
                <a:off x="5042292" y="55277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60381267-2CEF-0E11-929C-DD78D5BF1536}"/>
                  </a:ext>
                </a:extLst>
              </p:cNvPr>
              <p:cNvCxnSpPr>
                <a:cxnSpLocks/>
                <a:stCxn id="19" idx="6"/>
                <a:endCxn id="21" idx="3"/>
              </p:cNvCxnSpPr>
              <p:nvPr/>
            </p:nvCxnSpPr>
            <p:spPr>
              <a:xfrm flipV="1">
                <a:off x="5042292" y="5286349"/>
                <a:ext cx="327118" cy="3937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01AFF4B-B3F2-B01A-3B78-D854F556ACEC}"/>
                  </a:ext>
                </a:extLst>
              </p:cNvPr>
              <p:cNvCxnSpPr>
                <a:cxnSpLocks/>
                <a:stCxn id="18" idx="6"/>
                <a:endCxn id="20" idx="3"/>
              </p:cNvCxnSpPr>
              <p:nvPr/>
            </p:nvCxnSpPr>
            <p:spPr>
              <a:xfrm flipV="1">
                <a:off x="5042292" y="5057749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559B934-D7F1-93EE-752D-3B2FFF4009A7}"/>
                  </a:ext>
                </a:extLst>
              </p:cNvPr>
              <p:cNvCxnSpPr>
                <a:cxnSpLocks/>
                <a:stCxn id="16" idx="6"/>
                <a:endCxn id="21" idx="1"/>
              </p:cNvCxnSpPr>
              <p:nvPr/>
            </p:nvCxnSpPr>
            <p:spPr>
              <a:xfrm>
                <a:off x="5042292" y="4841902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EBB7651F-3179-6134-080A-D638453A6BF9}"/>
                  </a:ext>
                </a:extLst>
              </p:cNvPr>
              <p:cNvCxnSpPr>
                <a:cxnSpLocks/>
                <a:stCxn id="18" idx="6"/>
                <a:endCxn id="28" idx="2"/>
              </p:cNvCxnSpPr>
              <p:nvPr/>
            </p:nvCxnSpPr>
            <p:spPr>
              <a:xfrm>
                <a:off x="5042292" y="53753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97768FA7-7107-9EE3-4CF5-BED604BA12B4}"/>
                  </a:ext>
                </a:extLst>
              </p:cNvPr>
              <p:cNvCxnSpPr>
                <a:cxnSpLocks/>
                <a:stCxn id="20" idx="6"/>
                <a:endCxn id="23" idx="2"/>
              </p:cNvCxnSpPr>
              <p:nvPr/>
            </p:nvCxnSpPr>
            <p:spPr>
              <a:xfrm flipV="1">
                <a:off x="5499492" y="4842677"/>
                <a:ext cx="336450" cy="1516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095E9CCD-ABC3-13F9-ECC9-827AF855E2C0}"/>
                  </a:ext>
                </a:extLst>
              </p:cNvPr>
              <p:cNvCxnSpPr>
                <a:cxnSpLocks/>
                <a:stCxn id="21" idx="6"/>
                <a:endCxn id="23" idx="2"/>
              </p:cNvCxnSpPr>
              <p:nvPr/>
            </p:nvCxnSpPr>
            <p:spPr>
              <a:xfrm flipV="1">
                <a:off x="5499492" y="4842677"/>
                <a:ext cx="336450" cy="3802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422BC3BC-0F09-E9C3-3E7B-7A68129217BF}"/>
                  </a:ext>
                </a:extLst>
              </p:cNvPr>
              <p:cNvCxnSpPr>
                <a:cxnSpLocks/>
                <a:stCxn id="22" idx="6"/>
                <a:endCxn id="24" idx="2"/>
              </p:cNvCxnSpPr>
              <p:nvPr/>
            </p:nvCxnSpPr>
            <p:spPr>
              <a:xfrm flipV="1">
                <a:off x="5499492" y="51204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4CF7CFB2-1A13-84D6-B350-16A20A15ABE7}"/>
                  </a:ext>
                </a:extLst>
              </p:cNvPr>
              <p:cNvCxnSpPr>
                <a:cxnSpLocks/>
                <a:stCxn id="28" idx="6"/>
                <a:endCxn id="25" idx="2"/>
              </p:cNvCxnSpPr>
              <p:nvPr/>
            </p:nvCxnSpPr>
            <p:spPr>
              <a:xfrm flipV="1">
                <a:off x="5499492" y="54252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08E1EA95-D224-CC1B-A05D-B02B7F97D75D}"/>
                  </a:ext>
                </a:extLst>
              </p:cNvPr>
              <p:cNvCxnSpPr>
                <a:cxnSpLocks/>
                <a:stCxn id="28" idx="6"/>
                <a:endCxn id="29" idx="1"/>
              </p:cNvCxnSpPr>
              <p:nvPr/>
            </p:nvCxnSpPr>
            <p:spPr>
              <a:xfrm>
                <a:off x="5499492" y="5832502"/>
                <a:ext cx="358768" cy="1388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0188BEB8-B6D3-254E-9973-3B815ECA03F5}"/>
                  </a:ext>
                </a:extLst>
              </p:cNvPr>
              <p:cNvCxnSpPr>
                <a:cxnSpLocks/>
                <a:stCxn id="28" idx="6"/>
                <a:endCxn id="26" idx="2"/>
              </p:cNvCxnSpPr>
              <p:nvPr/>
            </p:nvCxnSpPr>
            <p:spPr>
              <a:xfrm flipV="1">
                <a:off x="5499492" y="57300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1D17DFB6-AA71-8F68-FF79-EC751F089E90}"/>
                  </a:ext>
                </a:extLst>
              </p:cNvPr>
              <p:cNvCxnSpPr>
                <a:cxnSpLocks/>
                <a:stCxn id="22" idx="6"/>
                <a:endCxn id="25" idx="2"/>
              </p:cNvCxnSpPr>
              <p:nvPr/>
            </p:nvCxnSpPr>
            <p:spPr>
              <a:xfrm flipV="1">
                <a:off x="5499492" y="54252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78F68341-3125-C0C0-1673-D12F007B60CC}"/>
                  </a:ext>
                </a:extLst>
              </p:cNvPr>
              <p:cNvCxnSpPr>
                <a:cxnSpLocks/>
                <a:stCxn id="20" idx="6"/>
                <a:endCxn id="24" idx="2"/>
              </p:cNvCxnSpPr>
              <p:nvPr/>
            </p:nvCxnSpPr>
            <p:spPr>
              <a:xfrm>
                <a:off x="5499493" y="4994303"/>
                <a:ext cx="336449" cy="1261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7A57FBA7-07FD-305A-4785-EA97B8F9368A}"/>
                  </a:ext>
                </a:extLst>
              </p:cNvPr>
              <p:cNvCxnSpPr>
                <a:cxnSpLocks/>
                <a:stCxn id="21" idx="6"/>
                <a:endCxn id="25" idx="2"/>
              </p:cNvCxnSpPr>
              <p:nvPr/>
            </p:nvCxnSpPr>
            <p:spPr>
              <a:xfrm>
                <a:off x="5499492" y="52229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98003135-66B0-AD7D-0DA6-5196EE358797}"/>
                  </a:ext>
                </a:extLst>
              </p:cNvPr>
              <p:cNvCxnSpPr>
                <a:cxnSpLocks/>
                <a:stCxn id="22" idx="6"/>
                <a:endCxn id="26" idx="2"/>
              </p:cNvCxnSpPr>
              <p:nvPr/>
            </p:nvCxnSpPr>
            <p:spPr>
              <a:xfrm>
                <a:off x="5499492" y="55277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6C7D412B-882B-04FD-338F-41824C21705E}"/>
                  </a:ext>
                </a:extLst>
              </p:cNvPr>
              <p:cNvCxnSpPr>
                <a:cxnSpLocks/>
                <a:stCxn id="20" idx="6"/>
                <a:endCxn id="25" idx="2"/>
              </p:cNvCxnSpPr>
              <p:nvPr/>
            </p:nvCxnSpPr>
            <p:spPr>
              <a:xfrm>
                <a:off x="5499492" y="4994302"/>
                <a:ext cx="336450" cy="4309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F55FE66B-71A4-C4B6-21FA-2A6C559C0915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 flipV="1">
                <a:off x="5499492" y="4842677"/>
                <a:ext cx="336450" cy="6850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E6E60BE8-2F9D-83F8-D75B-9A56A6804C1F}"/>
                  </a:ext>
                </a:extLst>
              </p:cNvPr>
              <p:cNvCxnSpPr>
                <a:cxnSpLocks/>
                <a:stCxn id="22" idx="6"/>
                <a:endCxn id="29" idx="1"/>
              </p:cNvCxnSpPr>
              <p:nvPr/>
            </p:nvCxnSpPr>
            <p:spPr>
              <a:xfrm>
                <a:off x="5499492" y="5527702"/>
                <a:ext cx="358768" cy="4436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50DCD506-4009-4481-F793-B6A53AE2C895}"/>
                  </a:ext>
                </a:extLst>
              </p:cNvPr>
              <p:cNvCxnSpPr>
                <a:cxnSpLocks/>
                <a:stCxn id="28" idx="6"/>
                <a:endCxn id="24" idx="2"/>
              </p:cNvCxnSpPr>
              <p:nvPr/>
            </p:nvCxnSpPr>
            <p:spPr>
              <a:xfrm flipV="1">
                <a:off x="5499492" y="5120421"/>
                <a:ext cx="336450" cy="7120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00C28748-FF53-E351-27D0-0D444FD49688}"/>
                  </a:ext>
                </a:extLst>
              </p:cNvPr>
              <p:cNvSpPr/>
              <p:nvPr/>
            </p:nvSpPr>
            <p:spPr>
              <a:xfrm>
                <a:off x="4410942" y="4599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4A8D2B5D-45F5-3DA8-8B01-D6A7AF787EC4}"/>
                  </a:ext>
                </a:extLst>
              </p:cNvPr>
              <p:cNvSpPr/>
              <p:nvPr/>
            </p:nvSpPr>
            <p:spPr>
              <a:xfrm>
                <a:off x="4410942" y="48554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61340BA5-0FA4-2B48-A20F-446C4E67EFA9}"/>
                  </a:ext>
                </a:extLst>
              </p:cNvPr>
              <p:cNvSpPr/>
              <p:nvPr/>
            </p:nvSpPr>
            <p:spPr>
              <a:xfrm>
                <a:off x="441094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01F66A9F-4E4A-C01B-AEE5-737E36093FA6}"/>
                  </a:ext>
                </a:extLst>
              </p:cNvPr>
              <p:cNvSpPr/>
              <p:nvPr/>
            </p:nvSpPr>
            <p:spPr>
              <a:xfrm>
                <a:off x="441094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314720C6-6CE3-C5D5-F9DE-FABFCB0C5D7B}"/>
                  </a:ext>
                </a:extLst>
              </p:cNvPr>
              <p:cNvSpPr/>
              <p:nvPr/>
            </p:nvSpPr>
            <p:spPr>
              <a:xfrm>
                <a:off x="441094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489773CD-21BD-3EE0-360D-51D67D8A5C6F}"/>
                  </a:ext>
                </a:extLst>
              </p:cNvPr>
              <p:cNvSpPr/>
              <p:nvPr/>
            </p:nvSpPr>
            <p:spPr>
              <a:xfrm>
                <a:off x="4419600" y="606894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BB414F5E-8241-5027-4E23-4A12B53B57B8}"/>
                  </a:ext>
                </a:extLst>
              </p:cNvPr>
              <p:cNvCxnSpPr>
                <a:cxnSpLocks/>
                <a:stCxn id="57" idx="6"/>
                <a:endCxn id="16" idx="2"/>
              </p:cNvCxnSpPr>
              <p:nvPr/>
            </p:nvCxnSpPr>
            <p:spPr>
              <a:xfrm>
                <a:off x="4563342" y="4689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D90444DD-A8C4-5857-E3B0-85BB598A7AFD}"/>
                  </a:ext>
                </a:extLst>
              </p:cNvPr>
              <p:cNvCxnSpPr>
                <a:cxnSpLocks/>
                <a:stCxn id="58" idx="6"/>
                <a:endCxn id="17" idx="2"/>
              </p:cNvCxnSpPr>
              <p:nvPr/>
            </p:nvCxnSpPr>
            <p:spPr>
              <a:xfrm>
                <a:off x="4563342" y="4945158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3BB81A97-E6EE-C92D-14E5-FD6C8F2B51EA}"/>
                  </a:ext>
                </a:extLst>
              </p:cNvPr>
              <p:cNvCxnSpPr>
                <a:cxnSpLocks/>
                <a:stCxn id="59" idx="6"/>
                <a:endCxn id="18" idx="2"/>
              </p:cNvCxnSpPr>
              <p:nvPr/>
            </p:nvCxnSpPr>
            <p:spPr>
              <a:xfrm>
                <a:off x="4563342" y="52229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6F4BCBB8-7FBC-A678-BB24-8FDA8C2BD55D}"/>
                  </a:ext>
                </a:extLst>
              </p:cNvPr>
              <p:cNvCxnSpPr>
                <a:cxnSpLocks/>
                <a:stCxn id="60" idx="6"/>
                <a:endCxn id="19" idx="2"/>
              </p:cNvCxnSpPr>
              <p:nvPr/>
            </p:nvCxnSpPr>
            <p:spPr>
              <a:xfrm>
                <a:off x="4563342" y="55277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A8852BA3-C2AC-80FC-4FED-933262B58AE3}"/>
                  </a:ext>
                </a:extLst>
              </p:cNvPr>
              <p:cNvCxnSpPr>
                <a:cxnSpLocks/>
                <a:stCxn id="61" idx="6"/>
                <a:endCxn id="27" idx="2"/>
              </p:cNvCxnSpPr>
              <p:nvPr/>
            </p:nvCxnSpPr>
            <p:spPr>
              <a:xfrm>
                <a:off x="4563342" y="5832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FE1F15E3-558E-DB8C-B876-0F6075AEC866}"/>
                  </a:ext>
                </a:extLst>
              </p:cNvPr>
              <p:cNvCxnSpPr>
                <a:cxnSpLocks/>
                <a:stCxn id="62" idx="6"/>
                <a:endCxn id="27" idx="2"/>
              </p:cNvCxnSpPr>
              <p:nvPr/>
            </p:nvCxnSpPr>
            <p:spPr>
              <a:xfrm flipV="1">
                <a:off x="4572000" y="5984902"/>
                <a:ext cx="317892" cy="1737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1FCA1830-B362-5F50-9E34-8813C17EDC6C}"/>
                  </a:ext>
                </a:extLst>
              </p:cNvPr>
              <p:cNvCxnSpPr>
                <a:cxnSpLocks/>
                <a:stCxn id="61" idx="6"/>
                <a:endCxn id="19" idx="2"/>
              </p:cNvCxnSpPr>
              <p:nvPr/>
            </p:nvCxnSpPr>
            <p:spPr>
              <a:xfrm flipV="1">
                <a:off x="4563342" y="56801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1EF48651-4159-154A-6453-8B9938BDA8B4}"/>
                  </a:ext>
                </a:extLst>
              </p:cNvPr>
              <p:cNvCxnSpPr>
                <a:cxnSpLocks/>
                <a:stCxn id="59" idx="6"/>
                <a:endCxn id="17" idx="2"/>
              </p:cNvCxnSpPr>
              <p:nvPr/>
            </p:nvCxnSpPr>
            <p:spPr>
              <a:xfrm flipV="1">
                <a:off x="4563342" y="5097558"/>
                <a:ext cx="32655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80448020-70A1-A910-082E-59929EA1FF25}"/>
                  </a:ext>
                </a:extLst>
              </p:cNvPr>
              <p:cNvCxnSpPr>
                <a:cxnSpLocks/>
                <a:stCxn id="58" idx="6"/>
                <a:endCxn id="16" idx="2"/>
              </p:cNvCxnSpPr>
              <p:nvPr/>
            </p:nvCxnSpPr>
            <p:spPr>
              <a:xfrm flipV="1">
                <a:off x="4563342" y="4841902"/>
                <a:ext cx="32655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7265FB6E-3B91-CCDD-D22A-D5C44BD12B6C}"/>
                  </a:ext>
                </a:extLst>
              </p:cNvPr>
              <p:cNvCxnSpPr>
                <a:cxnSpLocks/>
                <a:stCxn id="60" idx="6"/>
                <a:endCxn id="27" idx="2"/>
              </p:cNvCxnSpPr>
              <p:nvPr/>
            </p:nvCxnSpPr>
            <p:spPr>
              <a:xfrm>
                <a:off x="4563342" y="55277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FA4F705C-5542-F763-441D-BFF2A498D292}"/>
                  </a:ext>
                </a:extLst>
              </p:cNvPr>
              <p:cNvCxnSpPr>
                <a:cxnSpLocks/>
                <a:stCxn id="58" idx="6"/>
                <a:endCxn id="19" idx="2"/>
              </p:cNvCxnSpPr>
              <p:nvPr/>
            </p:nvCxnSpPr>
            <p:spPr>
              <a:xfrm>
                <a:off x="4563342" y="4945158"/>
                <a:ext cx="326550" cy="7349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4DD1EE5A-DBDA-A435-A0FE-B0F46195C9FE}"/>
                  </a:ext>
                </a:extLst>
              </p:cNvPr>
              <p:cNvCxnSpPr>
                <a:cxnSpLocks/>
                <a:stCxn id="60" idx="6"/>
                <a:endCxn id="16" idx="2"/>
              </p:cNvCxnSpPr>
              <p:nvPr/>
            </p:nvCxnSpPr>
            <p:spPr>
              <a:xfrm flipV="1">
                <a:off x="4563342" y="4841902"/>
                <a:ext cx="326550" cy="6858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F2CD7630-D715-77D3-4388-FEC10B362B3E}"/>
                  </a:ext>
                </a:extLst>
              </p:cNvPr>
              <p:cNvCxnSpPr>
                <a:cxnSpLocks/>
                <a:stCxn id="62" idx="6"/>
                <a:endCxn id="19" idx="2"/>
              </p:cNvCxnSpPr>
              <p:nvPr/>
            </p:nvCxnSpPr>
            <p:spPr>
              <a:xfrm flipV="1">
                <a:off x="4572000" y="5680102"/>
                <a:ext cx="317892" cy="4785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BD975B8D-9E37-8D2F-28BA-F3EDE1F7EE16}"/>
                  </a:ext>
                </a:extLst>
              </p:cNvPr>
              <p:cNvCxnSpPr>
                <a:cxnSpLocks/>
                <a:stCxn id="61" idx="6"/>
                <a:endCxn id="18" idx="2"/>
              </p:cNvCxnSpPr>
              <p:nvPr/>
            </p:nvCxnSpPr>
            <p:spPr>
              <a:xfrm flipV="1">
                <a:off x="4563342" y="53753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</p:grp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AF98EC6D-855B-0FE0-C4A7-C06D726E81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42560" y="4430327"/>
              <a:ext cx="425911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5B92B9B-D738-DDDF-6386-B86A4D93CD9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5FAAFD66-2140-E45A-471D-39F874312E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4F388507-8243-2023-9C95-1E02719275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10000" y="4491358"/>
              <a:ext cx="384215" cy="503703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3E0B561-EBCC-0059-D5AC-D92389C6614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6" name="TextBox 195">
                  <a:extLst>
                    <a:ext uri="{FF2B5EF4-FFF2-40B4-BE49-F238E27FC236}">
                      <a16:creationId xmlns:a16="http://schemas.microsoft.com/office/drawing/2014/main" id="{D64E343A-1D3A-216C-1B9D-C48B77179E8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255FDF8-7D33-04F7-B561-C50954518D6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5BA0203-B417-18D9-5155-AC948C3DB14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157799B-2D3B-C607-6CF1-8B0D8B6AB88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5F8BBD95-CC36-0F7B-4420-D48D811414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2CB9A9E0-78D5-B59D-111A-5D705578C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15217" y="4209556"/>
              <a:ext cx="113460" cy="1038077"/>
            </a:xfrm>
            <a:prstGeom prst="rightBrac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981079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E182CA9-B2B3-3610-B1BD-640968AE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Control with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9EDDEC-CF29-5DBC-259F-0192484A9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5715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9C127B-86A4-4CC5-9EE1-A0FDA5771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Estimate a parametric approximation for value-action pairs.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Training data is now: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Update: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can be any approximation:</a:t>
                </a:r>
              </a:p>
              <a:p>
                <a:pPr lvl="1"/>
                <a:r>
                  <a:rPr lang="en-US" dirty="0"/>
                  <a:t>MC’s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b="0" i="1" dirty="0"/>
              </a:p>
              <a:p>
                <a:pPr lvl="1"/>
                <a:r>
                  <a:rPr lang="en-US" dirty="0"/>
                  <a:t>1-step SARSA’s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n-step SARSA</a:t>
                </a:r>
              </a:p>
              <a:p>
                <a:r>
                  <a:rPr lang="en-US" dirty="0"/>
                  <a:t>Policy improvement: update policy with greedy action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For on-policy control, use a soft approximation to the greedy policy (e.g.,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89516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37BBAE3-1454-E6F7-DE64-4F54666FF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Episodic Semi-gradient Sarsa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A48653-5D6C-7EF0-B7C4-A8F581FE1A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813" y="1453707"/>
            <a:ext cx="8832112" cy="4719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1604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3EA18-53CF-7A68-0335-2A665302D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Considerations for Continuing Tasks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Discounting is used for tabular methods because returns for each state are separately identified and averaged. </a:t>
                </a:r>
              </a:p>
              <a:p>
                <a:r>
                  <a:rPr lang="en-US" dirty="0"/>
                  <a:t>With approximation, returns are shared between states and it is better to focus on average rewards instead of discounting.</a:t>
                </a:r>
              </a:p>
              <a:p>
                <a:r>
                  <a:rPr lang="en-US" dirty="0"/>
                  <a:t>It is often helpful to use differences between the reward and the  average returns known as differential returns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77194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C6B8A3-7ED4-5685-3BE8-640126A45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366EC9-7756-561D-0729-0CFAAB4A80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5360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2DFC2-AEEE-62B9-A8E6-BC79CBBA3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Approximate the value function using parametrized functions: 					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We need to create features that take the interaction of state components into account. Popular are: </a:t>
                </a:r>
              </a:p>
              <a:p>
                <a:pPr lvl="1"/>
                <a:r>
                  <a:rPr lang="en-US" dirty="0"/>
                  <a:t>Fourier basis features </a:t>
                </a:r>
              </a:p>
              <a:p>
                <a:pPr lvl="1"/>
                <a:r>
                  <a:rPr lang="en-US" dirty="0"/>
                  <a:t>Tile coding.</a:t>
                </a:r>
              </a:p>
              <a:p>
                <a:endParaRPr lang="en-US"/>
              </a:p>
              <a:p>
                <a:r>
                  <a:rPr lang="en-US"/>
                  <a:t>Use </a:t>
                </a:r>
                <a:r>
                  <a:rPr lang="en-US" dirty="0"/>
                  <a:t>semi-gradient descent to learn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Issues are the choice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10459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19397</TotalTime>
  <Words>2892</Words>
  <Application>Microsoft Office PowerPoint</Application>
  <PresentationFormat>Widescreen</PresentationFormat>
  <Paragraphs>318</Paragraphs>
  <Slides>33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Prediction and Control with Approximation Sutton/Barto* Chapter 9-11</vt:lpstr>
      <vt:lpstr>Topics of this Course</vt:lpstr>
      <vt:lpstr>Summary of Notation</vt:lpstr>
      <vt:lpstr>Approximate Solution Methods</vt:lpstr>
      <vt:lpstr>Motivation</vt:lpstr>
      <vt:lpstr>Prediction: Value Function Approximation</vt:lpstr>
      <vt:lpstr>Prediction Objective ((VE) ̅)</vt:lpstr>
      <vt:lpstr>Learning Goal</vt:lpstr>
      <vt:lpstr>Gradient Methods for Prediction</vt:lpstr>
      <vt:lpstr>Gradient Learning Method</vt:lpstr>
      <vt:lpstr>Stochastic-gradient Descend (SGD)</vt:lpstr>
      <vt:lpstr> Step Size for SGD</vt:lpstr>
      <vt:lpstr>Using a Target Estimate for SGD</vt:lpstr>
      <vt:lpstr>Gradient Monte Carlo Algorithm</vt:lpstr>
      <vt:lpstr>Bootstrapping and Semi-gradient Methods</vt:lpstr>
      <vt:lpstr>Semi-gradient TD(0)</vt:lpstr>
      <vt:lpstr>Linear Approximation Methods</vt:lpstr>
      <vt:lpstr>Linear Methods</vt:lpstr>
      <vt:lpstr>Feature Vector</vt:lpstr>
      <vt:lpstr>Example: L-Maze with Linear Features</vt:lpstr>
      <vt:lpstr>Feature Construction</vt:lpstr>
      <vt:lpstr>Fourier Basis</vt:lpstr>
      <vt:lpstr>Multi-dimensional Fourier Basis</vt:lpstr>
      <vt:lpstr>Example: L-Maze with Order-2 Fourier Features</vt:lpstr>
      <vt:lpstr>Tile Coding</vt:lpstr>
      <vt:lpstr>Non-Linear Function Approximation</vt:lpstr>
      <vt:lpstr>Approximation with ANNs</vt:lpstr>
      <vt:lpstr>On-Policy Control with Approximation</vt:lpstr>
      <vt:lpstr>Control Problem</vt:lpstr>
      <vt:lpstr>Episodic Semi-gradient Sarsa</vt:lpstr>
      <vt:lpstr>Considerations for Continuing Tasks</vt:lpstr>
      <vt:lpstr>Summary</vt:lpstr>
      <vt:lpstr>Summary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211</cp:revision>
  <dcterms:created xsi:type="dcterms:W3CDTF">2025-09-08T14:44:49Z</dcterms:created>
  <dcterms:modified xsi:type="dcterms:W3CDTF">2026-02-26T21:47:15Z</dcterms:modified>
</cp:coreProperties>
</file>