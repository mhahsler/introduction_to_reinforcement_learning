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313" r:id="rId3"/>
    <p:sldId id="479" r:id="rId4"/>
    <p:sldId id="393" r:id="rId5"/>
    <p:sldId id="394" r:id="rId6"/>
    <p:sldId id="420" r:id="rId7"/>
    <p:sldId id="395" r:id="rId8"/>
    <p:sldId id="396" r:id="rId9"/>
    <p:sldId id="486" r:id="rId10"/>
    <p:sldId id="397" r:id="rId11"/>
    <p:sldId id="398" r:id="rId12"/>
    <p:sldId id="399" r:id="rId13"/>
    <p:sldId id="400" r:id="rId14"/>
    <p:sldId id="401" r:id="rId15"/>
    <p:sldId id="405" r:id="rId16"/>
    <p:sldId id="403" r:id="rId17"/>
    <p:sldId id="402" r:id="rId18"/>
    <p:sldId id="404" r:id="rId19"/>
    <p:sldId id="406" r:id="rId20"/>
    <p:sldId id="407" r:id="rId21"/>
    <p:sldId id="409" r:id="rId22"/>
    <p:sldId id="480" r:id="rId23"/>
    <p:sldId id="487" r:id="rId24"/>
    <p:sldId id="481" r:id="rId25"/>
    <p:sldId id="413" r:id="rId26"/>
    <p:sldId id="417" r:id="rId27"/>
    <p:sldId id="418" r:id="rId28"/>
    <p:sldId id="412" r:id="rId29"/>
    <p:sldId id="482" r:id="rId30"/>
    <p:sldId id="485" r:id="rId31"/>
    <p:sldId id="483" r:id="rId32"/>
    <p:sldId id="410" r:id="rId33"/>
    <p:sldId id="411" r:id="rId34"/>
    <p:sldId id="414" r:id="rId35"/>
    <p:sldId id="421" r:id="rId36"/>
    <p:sldId id="484" r:id="rId37"/>
    <p:sldId id="415" r:id="rId38"/>
    <p:sldId id="488" r:id="rId39"/>
    <p:sldId id="422" r:id="rId40"/>
    <p:sldId id="424"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48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7"/>
            <p14:sldId id="481"/>
            <p14:sldId id="413"/>
            <p14:sldId id="417"/>
            <p14:sldId id="418"/>
            <p14:sldId id="412"/>
            <p14:sldId id="482"/>
            <p14:sldId id="485"/>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195" autoAdjust="0"/>
    <p:restoredTop sz="94653"/>
  </p:normalViewPr>
  <p:slideViewPr>
    <p:cSldViewPr snapToGrid="0">
      <p:cViewPr varScale="1">
        <p:scale>
          <a:sx n="136" d="100"/>
          <a:sy n="136" d="100"/>
        </p:scale>
        <p:origin x="96" y="448"/>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24</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10/23/2026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1.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4.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5.gif"/></Relationships>
</file>

<file path=ppt/slides/_rels/slide26.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62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a:p>
                <a:pPr lvl="1"/>
                <a:endParaRPr lang="en-US" dirty="0"/>
              </a:p>
              <a:p>
                <a:r>
                  <a:rPr lang="en-US" dirty="0"/>
                  <a:t>We still need:</a:t>
                </a:r>
              </a:p>
              <a:p>
                <a:pPr marL="971550" lvl="1" indent="-514350">
                  <a:buFont typeface="+mj-lt"/>
                  <a:buAutoNum type="arabicPeriod"/>
                </a:pPr>
                <a:r>
                  <a:rPr lang="en-US" dirty="0"/>
                  <a:t>A method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a:p>
                <a:pPr marL="971550" lvl="1" indent="-514350">
                  <a:buFont typeface="+mj-lt"/>
                  <a:buAutoNum type="arabicPeriod"/>
                </a:pPr>
                <a:r>
                  <a:rPr lang="en-US" dirty="0"/>
                  <a:t>Define 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406" t="-1913" r="-406"/>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xmlns:a14="http://schemas.microsoft.com/office/drawing/2010/main">
        <mc:Choice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xmlns="">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xmlns:a14="http://schemas.microsoft.com/office/drawing/2010/main">
        <mc:Choice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70000" lnSpcReduction="20000"/>
              </a:bodyPr>
              <a:lstStyle/>
              <a:p>
                <a:pPr marL="0" indent="0">
                  <a:buNone/>
                </a:pPr>
                <a:r>
                  <a:rPr lang="en-US" b="1" dirty="0"/>
                  <a:t>Issue: </a:t>
                </a:r>
                <a:r>
                  <a:rPr lang="en-US" dirty="0"/>
                  <a:t>To get the true gradient requires, the target has to be </a:t>
                </a:r>
                <a:r>
                  <a:rPr lang="en-US" b="1" dirty="0"/>
                  <a:t>unbiased and independent of</a:t>
                </a:r>
                <a:r>
                  <a:rPr lang="en-US" dirty="0"/>
                  <a:t>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oMath>
                </a14:m>
                <a:r>
                  <a:rPr lang="en-US" dirty="0"/>
                  <a:t> </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b="1" dirty="0"/>
              </a:p>
              <a:p>
                <a:pPr marL="0" indent="0">
                  <a:buNone/>
                </a:pPr>
                <a:r>
                  <a:rPr lang="en-US" b="1" dirty="0"/>
                  <a:t>Bootstrapping</a:t>
                </a:r>
                <a:r>
                  <a:rPr lang="en-US" dirty="0"/>
                  <a:t>:</a:t>
                </a:r>
                <a:br>
                  <a:rPr lang="en-US" dirty="0"/>
                </a:b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b="1" dirty="0">
                    <a:ea typeface="Cambria Math" panose="02040503050406030204" pitchFamily="18" charset="0"/>
                  </a:rPr>
                  <a:t>, </a:t>
                </a:r>
                <a:r>
                  <a:rPr lang="en-US" dirty="0">
                    <a:ea typeface="Cambria Math" panose="02040503050406030204" pitchFamily="18" charset="0"/>
                  </a:rPr>
                  <a:t>so it affects the gradient</a:t>
                </a:r>
                <a:endParaRPr lang="en-US" b="1" dirty="0">
                  <a:ea typeface="Cambria Math" panose="02040503050406030204" pitchFamily="18" charset="0"/>
                </a:endParaRPr>
              </a:p>
              <a:p>
                <a:pPr marL="0" indent="0">
                  <a:buNone/>
                </a:pPr>
                <a:endParaRPr lang="en-US" b="1" dirty="0"/>
              </a:p>
              <a:p>
                <a:pPr marL="0" indent="0">
                  <a:buNone/>
                </a:pPr>
                <a:r>
                  <a:rPr lang="en-US" b="1" dirty="0"/>
                  <a:t>Semi-Gradient Methods:</a:t>
                </a:r>
              </a:p>
              <a:p>
                <a:r>
                  <a:rPr lang="en-US" dirty="0"/>
                  <a:t>If a biased target estimates are used, then this is called a semi-gradient method.</a:t>
                </a:r>
              </a:p>
              <a:p>
                <a:r>
                  <a:rPr lang="en-US" dirty="0"/>
                  <a:t>Advantages: </a:t>
                </a:r>
              </a:p>
              <a:p>
                <a:pPr lvl="1"/>
                <a:r>
                  <a:rPr lang="en-US" dirty="0"/>
                  <a:t>Usually learn faster.</a:t>
                </a:r>
              </a:p>
              <a:p>
                <a:pPr lvl="1"/>
                <a:r>
                  <a:rPr lang="en-US" dirty="0"/>
                  <a:t>Often still converge (especially for linear approximators).</a:t>
                </a:r>
              </a:p>
              <a:p>
                <a:pPr lvl="1"/>
                <a:r>
                  <a:rPr lang="en-US" dirty="0"/>
                  <a:t>TD can learn online.</a:t>
                </a:r>
              </a:p>
            </p:txBody>
          </p:sp>
        </mc:Choice>
        <mc:Fallback xmlns="">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638" t="-2081"/>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8"/>
                <a:ext cx="4904362" cy="590958"/>
              </a:xfrm>
              <a:prstGeom prst="wedgeRoundRectCallout">
                <a:avLst>
                  <a:gd name="adj1" fmla="val -56745"/>
                  <a:gd name="adj2" fmla="val -8892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8"/>
                <a:ext cx="4904362" cy="590958"/>
              </a:xfrm>
              <a:prstGeom prst="wedgeRoundRectCallout">
                <a:avLst>
                  <a:gd name="adj1" fmla="val -56745"/>
                  <a:gd name="adj2" fmla="val -88921"/>
                  <a:gd name="adj3" fmla="val 16667"/>
                </a:avLst>
              </a:prstGeom>
              <a:blipFill>
                <a:blip r:embed="rId3"/>
                <a:stretch>
                  <a:fillRect r="-229" b="-13669"/>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xmlns:a14="http://schemas.microsoft.com/office/drawing/2010/main">
        <mc:Choice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xmlns="">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xmlns:a14="http://schemas.microsoft.com/office/drawing/2010/main">
        <mc:Choice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xmlns="">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786557" y="1124198"/>
            <a:ext cx="3942019" cy="4744675"/>
            <a:chOff x="7786557" y="1124198"/>
            <a:chExt cx="394201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786557" y="4545434"/>
                  <a:ext cx="3942019" cy="1323439"/>
                </a:xfrm>
                <a:prstGeom prst="rect">
                  <a:avLst/>
                </a:prstGeom>
                <a:noFill/>
              </p:spPr>
              <p:txBody>
                <a:bodyPr wrap="square">
                  <a:spAutoFit/>
                </a:bodyPr>
                <a:lstStyle/>
                <a:p>
                  <a:pPr/>
                  <a14:m>
                    <m:oMathPara xmlns:m="http://schemas.openxmlformats.org/officeDocument/2006/math">
                      <m:oMathParaPr>
                        <m:jc m:val="left"/>
                      </m:oMathParaPr>
                      <m:o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oMath>
                    </m:oMathPara>
                  </a14:m>
                  <a:endParaRPr lang="en-US" sz="1400" b="0" dirty="0"/>
                </a:p>
                <a:p>
                  <a:pPr/>
                  <a14:m>
                    <m:oMathPara xmlns:m="http://schemas.openxmlformats.org/officeDocument/2006/math">
                      <m:oMathParaPr>
                        <m:jc m:val="left"/>
                      </m:oMathParaPr>
                      <m:oMath>
                        <m:r>
                          <a:rPr lang="en-US" sz="2000" b="1" i="1" smtClean="0">
                            <a:latin typeface="Cambria Math" panose="02040503050406030204" pitchFamily="18" charset="0"/>
                          </a:rPr>
                          <m:t>𝒘</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oMath>
                    </m:oMathPara>
                  </a14:m>
                  <a:br>
                    <a:rPr lang="en-US" sz="2000" b="0" dirty="0"/>
                  </a:br>
                  <a:br>
                    <a:rPr lang="en-US" sz="2000" b="0" dirty="0"/>
                  </a:br>
                  <a14:m>
                    <m:oMathPara xmlns:m="http://schemas.openxmlformats.org/officeDocument/2006/math">
                      <m:oMathParaPr>
                        <m:jc m:val="left"/>
                      </m:oMathParaPr>
                      <m:o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m:oMathPara>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786557" y="4545434"/>
                  <a:ext cx="3942019" cy="1323439"/>
                </a:xfrm>
                <a:prstGeom prst="rect">
                  <a:avLst/>
                </a:prstGeom>
                <a:blipFill>
                  <a:blip r:embed="rId4"/>
                  <a:stretch>
                    <a:fillRect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fontScale="90000"/>
          </a:bodyPr>
          <a:lstStyle/>
          <a:p>
            <a:r>
              <a:rPr lang="en-US" dirty="0"/>
              <a:t>Practical Issue: 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4965370"/>
          </a:xfrm>
        </p:spPr>
        <p:txBody>
          <a:bodyPr>
            <a:normAutofit fontScale="62500" lnSpcReduction="20000"/>
          </a:bodyPr>
          <a:lstStyle/>
          <a:p>
            <a:r>
              <a:rPr lang="en-US" dirty="0"/>
              <a:t>Uses simple networks with a single hidden layer or deep architectures to approximate the value function.</a:t>
            </a:r>
          </a:p>
          <a:p>
            <a:r>
              <a:rPr lang="en-US" dirty="0"/>
              <a:t>Architecture choices:</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dirty="0"/>
              <a:t>Training: Use SGD and backpropagation for deep networks.</a:t>
            </a:r>
          </a:p>
          <a:p>
            <a:endParaRPr lang="en-US" dirty="0"/>
          </a:p>
          <a:p>
            <a:r>
              <a:rPr lang="en-US" dirty="0"/>
              <a:t>Issues due to nonlinearity: </a:t>
            </a:r>
          </a:p>
          <a:p>
            <a:pPr lvl="1"/>
            <a:r>
              <a:rPr lang="en-US" dirty="0"/>
              <a:t>Instability </a:t>
            </a:r>
          </a:p>
          <a:p>
            <a:pPr lvl="1"/>
            <a:r>
              <a:rPr lang="en-US" dirty="0"/>
              <a:t>Generally, no convergence guarantee.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xmlns:a14="http://schemas.microsoft.com/office/drawing/2010/main">
        <mc:Choice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=(1,0,0,1,3,0,0)</m:t>
                    </m:r>
                  </m:oMath>
                </a14:m>
                <a:endParaRPr lang="en-US" dirty="0"/>
              </a:p>
            </p:txBody>
          </p:sp>
        </mc:Choice>
        <mc:Fallback xmlns="">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20053</TotalTime>
  <Words>4115</Words>
  <Application>Microsoft Office PowerPoint</Application>
  <PresentationFormat>Widescreen</PresentationFormat>
  <Paragraphs>433</Paragraphs>
  <Slides>40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Code example: on-Policy State Distribution</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Code example:  Semi-gradient TD(0) prediction with approximation using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Practical Issue: 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Code example:  Semi-gradient Sarsa(0) control with approximation using linear features for a simple grid world + Advanced Feature Construction</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254</cp:revision>
  <dcterms:created xsi:type="dcterms:W3CDTF">2025-09-08T14:44:49Z</dcterms:created>
  <dcterms:modified xsi:type="dcterms:W3CDTF">2026-10-23T15:43:35Z</dcterms:modified>
</cp:coreProperties>
</file>