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313" r:id="rId3"/>
    <p:sldId id="479" r:id="rId4"/>
    <p:sldId id="393" r:id="rId5"/>
    <p:sldId id="394" r:id="rId6"/>
    <p:sldId id="420" r:id="rId7"/>
    <p:sldId id="395" r:id="rId8"/>
    <p:sldId id="396" r:id="rId9"/>
    <p:sldId id="397" r:id="rId10"/>
    <p:sldId id="398" r:id="rId11"/>
    <p:sldId id="399" r:id="rId12"/>
    <p:sldId id="400" r:id="rId13"/>
    <p:sldId id="401" r:id="rId14"/>
    <p:sldId id="405" r:id="rId15"/>
    <p:sldId id="403" r:id="rId16"/>
    <p:sldId id="402" r:id="rId17"/>
    <p:sldId id="404" r:id="rId18"/>
    <p:sldId id="406" r:id="rId19"/>
    <p:sldId id="407" r:id="rId20"/>
    <p:sldId id="409" r:id="rId21"/>
    <p:sldId id="480" r:id="rId22"/>
    <p:sldId id="481" r:id="rId23"/>
    <p:sldId id="413" r:id="rId24"/>
    <p:sldId id="417" r:id="rId25"/>
    <p:sldId id="418" r:id="rId26"/>
    <p:sldId id="412" r:id="rId27"/>
    <p:sldId id="482" r:id="rId28"/>
    <p:sldId id="485" r:id="rId29"/>
    <p:sldId id="483" r:id="rId30"/>
    <p:sldId id="410" r:id="rId31"/>
    <p:sldId id="411" r:id="rId32"/>
    <p:sldId id="414" r:id="rId33"/>
    <p:sldId id="421" r:id="rId34"/>
    <p:sldId id="484" r:id="rId35"/>
    <p:sldId id="415" r:id="rId36"/>
    <p:sldId id="422" r:id="rId37"/>
    <p:sldId id="424"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396"/>
            <p14:sldId id="397"/>
          </p14:sldIdLst>
        </p14:section>
        <p14:section name="Prediction: Gradient Methods" id="{EAA0CE26-54AA-4F09-BD7A-ECFC52DE3ABA}">
          <p14:sldIdLst>
            <p14:sldId id="398"/>
            <p14:sldId id="399"/>
            <p14:sldId id="400"/>
            <p14:sldId id="401"/>
            <p14:sldId id="405"/>
            <p14:sldId id="403"/>
            <p14:sldId id="402"/>
            <p14:sldId id="404"/>
          </p14:sldIdLst>
        </p14:section>
        <p14:section name="Linear Approximation Methods" id="{9B11E8D6-BFFA-4307-8A9C-339881B4B930}">
          <p14:sldIdLst>
            <p14:sldId id="406"/>
            <p14:sldId id="407"/>
            <p14:sldId id="409"/>
            <p14:sldId id="480"/>
            <p14:sldId id="481"/>
            <p14:sldId id="413"/>
            <p14:sldId id="417"/>
            <p14:sldId id="418"/>
            <p14:sldId id="412"/>
            <p14:sldId id="482"/>
            <p14:sldId id="485"/>
            <p14:sldId id="483"/>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195" autoAdjust="0"/>
    <p:restoredTop sz="94653"/>
  </p:normalViewPr>
  <p:slideViewPr>
    <p:cSldViewPr snapToGrid="0">
      <p:cViewPr varScale="1">
        <p:scale>
          <a:sx n="136" d="100"/>
          <a:sy n="136" d="100"/>
        </p:scale>
        <p:origin x="96" y="448"/>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10/23/2026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dirty="0"/>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dirty="0"/>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22</a:t>
            </a:fld>
            <a:endParaRPr lang="en-US"/>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dirty="0"/>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70.pn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1.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0.png"/><Relationship Id="rId7" Type="http://schemas.openxmlformats.org/officeDocument/2006/relationships/image" Target="../media/image20.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0.png"/><Relationship Id="rId3" Type="http://schemas.openxmlformats.org/officeDocument/2006/relationships/image" Target="../media/image34.png"/><Relationship Id="rId7" Type="http://schemas.openxmlformats.org/officeDocument/2006/relationships/image" Target="../media/image260.png"/><Relationship Id="rId12" Type="http://schemas.openxmlformats.org/officeDocument/2006/relationships/image" Target="../media/image291.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0.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35.gif"/></Relationships>
</file>

<file path=ppt/slides/_rels/slide24.xml.rels><?xml version="1.0" encoding="UTF-8" standalone="yes"?>
<Relationships xmlns="http://schemas.openxmlformats.org/package/2006/relationships"><Relationship Id="rId7" Type="http://schemas.openxmlformats.org/officeDocument/2006/relationships/image" Target="../media/image39.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38.png"/><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1.png"/></Relationships>
</file>

<file path=ppt/slides/_rels/slide36.xml.rels><?xml version="1.0" encoding="UTF-8" standalone="yes"?>
<Relationships xmlns="http://schemas.openxmlformats.org/package/2006/relationships"><Relationship Id="rId2" Type="http://schemas.openxmlformats.org/officeDocument/2006/relationships/image" Target="../media/image53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Approximate Solution Methods</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xmlns:a14="http://schemas.microsoft.com/office/drawing/2010/main">
        <mc:Choice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a:xfrm>
                <a:off x="838200" y="1397331"/>
                <a:ext cx="8419051" cy="3883539"/>
              </a:xfrm>
            </p:spPr>
            <p:txBody>
              <a:bodyPr>
                <a:normAutofit fontScale="625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State values are stored independently. Many states will never be encountered during learning and therefore cannot be predicted.</a:t>
                </a:r>
              </a:p>
              <a:p>
                <a:endParaRPr lang="en-US" dirty="0"/>
              </a:p>
              <a:p>
                <a:pPr marL="0" indent="0">
                  <a:buNone/>
                </a:pPr>
                <a:r>
                  <a:rPr lang="en-US" b="1" dirty="0"/>
                  <a:t>Idea</a:t>
                </a:r>
                <a:r>
                  <a:rPr lang="en-US" dirty="0"/>
                  <a:t>: Try to find an </a:t>
                </a:r>
                <a:r>
                  <a:rPr lang="en-US" b="1" dirty="0"/>
                  <a:t>approximate value function </a:t>
                </a:r>
                <a:r>
                  <a:rPr lang="en-US" dirty="0"/>
                  <a:t>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a:t>
                </a:r>
              </a:p>
            </p:txBody>
          </p:sp>
        </mc:Choice>
        <mc:Fallback xmlns="">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xfrm>
                <a:off x="838200" y="1397331"/>
                <a:ext cx="8419051" cy="3883539"/>
              </a:xfrm>
              <a:blipFill>
                <a:blip r:embed="rId3"/>
                <a:stretch>
                  <a:fillRect l="-652" t="-2355"/>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EC25172D-33A3-AB11-C896-BA03368F6CBE}"/>
              </a:ext>
            </a:extLst>
          </p:cNvPr>
          <p:cNvSpPr/>
          <p:nvPr/>
        </p:nvSpPr>
        <p:spPr>
          <a:xfrm>
            <a:off x="1191236" y="5591264"/>
            <a:ext cx="3804408" cy="834704"/>
          </a:xfrm>
          <a:prstGeom prst="wedgeRoundRectCallout">
            <a:avLst>
              <a:gd name="adj1" fmla="val 25032"/>
              <a:gd name="adj2" fmla="val -1143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Approximation functions do this automatically, since all states share a small weight vector</a:t>
            </a:r>
          </a:p>
        </p:txBody>
      </p:sp>
      <p:sp>
        <p:nvSpPr>
          <p:cNvPr id="9" name="Speech Bubble: Rectangle with Corners Rounded 8">
            <a:extLst>
              <a:ext uri="{FF2B5EF4-FFF2-40B4-BE49-F238E27FC236}">
                <a16:creationId xmlns:a16="http://schemas.microsoft.com/office/drawing/2014/main" id="{BEA8FFD0-45E7-2DFF-4B1E-DD93572847CF}"/>
              </a:ext>
            </a:extLst>
          </p:cNvPr>
          <p:cNvSpPr/>
          <p:nvPr/>
        </p:nvSpPr>
        <p:spPr>
          <a:xfrm>
            <a:off x="5571688" y="5210735"/>
            <a:ext cx="3968944" cy="1215233"/>
          </a:xfrm>
          <a:prstGeom prst="wedgeRoundRectCallout">
            <a:avLst>
              <a:gd name="adj1" fmla="val -67250"/>
              <a:gd name="adj2" fmla="val 13386"/>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This implies that we cannot change individual state values, as we can in tabular methods! This may be a problem for </a:t>
            </a:r>
            <a:r>
              <a:rPr lang="en-US" sz="1600" b="1" dirty="0"/>
              <a:t>greedy policy improvement</a:t>
            </a:r>
            <a:r>
              <a:rPr lang="en-US" sz="1600" dirty="0"/>
              <a:t>! </a:t>
            </a:r>
          </a:p>
        </p:txBody>
      </p:sp>
      <p:sp>
        <p:nvSpPr>
          <p:cNvPr id="6" name="TextBox 5">
            <a:extLst>
              <a:ext uri="{FF2B5EF4-FFF2-40B4-BE49-F238E27FC236}">
                <a16:creationId xmlns:a16="http://schemas.microsoft.com/office/drawing/2014/main" id="{B86D6411-A9BF-4C0D-F704-64BCD93925A4}"/>
              </a:ext>
            </a:extLst>
          </p:cNvPr>
          <p:cNvSpPr txBox="1"/>
          <p:nvPr/>
        </p:nvSpPr>
        <p:spPr>
          <a:xfrm>
            <a:off x="9432049" y="878250"/>
            <a:ext cx="2381393"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288751">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288751">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288751">
                    <a:tc>
                      <a:txBody>
                        <a:bodyPr/>
                        <a:lstStyle/>
                        <a:p>
                          <a:r>
                            <a:rPr lang="en-US" sz="1400" dirty="0"/>
                            <a:t>(1,2)</a:t>
                          </a:r>
                        </a:p>
                      </a:txBody>
                      <a:tcPr/>
                    </a:tc>
                    <a:tc>
                      <a:txBody>
                        <a:bodyPr/>
                        <a:lstStyle/>
                        <a:p>
                          <a:r>
                            <a:rPr lang="en-US" sz="1400" dirty="0"/>
                            <a:t>?</a:t>
                          </a:r>
                        </a:p>
                      </a:txBody>
                      <a:tcPr/>
                    </a:tc>
                    <a:extLst>
                      <a:ext uri="{0D108BD9-81ED-4DB2-BD59-A6C34878D82A}">
                        <a16:rowId xmlns:a16="http://schemas.microsoft.com/office/drawing/2014/main" val="3725035416"/>
                      </a:ext>
                    </a:extLst>
                  </a:tr>
                  <a:tr h="288751">
                    <a:tc>
                      <a:txBody>
                        <a:bodyPr/>
                        <a:lstStyle/>
                        <a:p>
                          <a:r>
                            <a:rPr lang="en-US" sz="1400" dirty="0"/>
                            <a:t>(1,3)</a:t>
                          </a:r>
                        </a:p>
                      </a:txBody>
                      <a:tcPr/>
                    </a:tc>
                    <a:tc>
                      <a:txBody>
                        <a:bodyPr/>
                        <a:lstStyle/>
                        <a:p>
                          <a:r>
                            <a:rPr lang="en-US" sz="1400" dirty="0"/>
                            <a:t>0.8016</a:t>
                          </a:r>
                        </a:p>
                      </a:txBody>
                      <a:tcPr/>
                    </a:tc>
                    <a:extLst>
                      <a:ext uri="{0D108BD9-81ED-4DB2-BD59-A6C34878D82A}">
                        <a16:rowId xmlns:a16="http://schemas.microsoft.com/office/drawing/2014/main" val="1524338055"/>
                      </a:ext>
                    </a:extLst>
                  </a:tr>
                  <a:tr h="288751">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304800">
                    <a:tc>
                      <a:txBody>
                        <a:bodyPr/>
                        <a:lstStyle/>
                        <a:p>
                          <a:endParaRPr lang="en-US"/>
                        </a:p>
                      </a:txBody>
                      <a:tcPr>
                        <a:blipFill>
                          <a:blip r:embed="rId4"/>
                          <a:stretch>
                            <a:fillRect l="-1031" t="-2000" r="-267010" b="-422000"/>
                          </a:stretch>
                        </a:blipFill>
                      </a:tcPr>
                    </a:tc>
                    <a:tc>
                      <a:txBody>
                        <a:bodyPr/>
                        <a:lstStyle/>
                        <a:p>
                          <a:endParaRPr lang="en-US"/>
                        </a:p>
                      </a:txBody>
                      <a:tcPr>
                        <a:blipFill>
                          <a:blip r:embed="rId4"/>
                          <a:stretch>
                            <a:fillRect l="-38431" t="-2000" r="-1569" b="-422000"/>
                          </a:stretch>
                        </a:blipFill>
                      </a:tcPr>
                    </a:tc>
                    <a:extLst>
                      <a:ext uri="{0D108BD9-81ED-4DB2-BD59-A6C34878D82A}">
                        <a16:rowId xmlns:a16="http://schemas.microsoft.com/office/drawing/2014/main" val="2008869826"/>
                      </a:ext>
                    </a:extLst>
                  </a:tr>
                  <a:tr h="304800">
                    <a:tc>
                      <a:txBody>
                        <a:bodyPr/>
                        <a:lstStyle/>
                        <a:p>
                          <a:r>
                            <a:rPr lang="en-US" sz="1400"/>
                            <a:t>(1,1)</a:t>
                          </a:r>
                          <a:endParaRPr lang="en-US" sz="1400" dirty="0"/>
                        </a:p>
                      </a:txBody>
                      <a:tcPr/>
                    </a:tc>
                    <a:tc>
                      <a:txBody>
                        <a:bodyPr/>
                        <a:lstStyle/>
                        <a:p>
                          <a:r>
                            <a:rPr lang="en-US" sz="1400"/>
                            <a:t>0.7453</a:t>
                          </a:r>
                          <a:endParaRPr lang="en-US" sz="1400" dirty="0"/>
                        </a:p>
                      </a:txBody>
                      <a:tcPr/>
                    </a:tc>
                    <a:extLst>
                      <a:ext uri="{0D108BD9-81ED-4DB2-BD59-A6C34878D82A}">
                        <a16:rowId xmlns:a16="http://schemas.microsoft.com/office/drawing/2014/main" val="524805492"/>
                      </a:ext>
                    </a:extLst>
                  </a:tr>
                  <a:tr h="304800">
                    <a:tc>
                      <a:txBody>
                        <a:bodyPr/>
                        <a:lstStyle/>
                        <a:p>
                          <a:r>
                            <a:rPr lang="en-US" sz="1400"/>
                            <a:t>(1,2)</a:t>
                          </a:r>
                          <a:endParaRPr lang="en-US" sz="1400" dirty="0"/>
                        </a:p>
                      </a:txBody>
                      <a:tcPr/>
                    </a:tc>
                    <a:tc>
                      <a:txBody>
                        <a:bodyPr/>
                        <a:lstStyle/>
                        <a:p>
                          <a:r>
                            <a:rPr lang="en-US" sz="1400"/>
                            <a:t>?</a:t>
                          </a:r>
                          <a:endParaRPr lang="en-US" sz="1400" dirty="0"/>
                        </a:p>
                      </a:txBody>
                      <a:tcPr/>
                    </a:tc>
                    <a:extLst>
                      <a:ext uri="{0D108BD9-81ED-4DB2-BD59-A6C34878D82A}">
                        <a16:rowId xmlns:a16="http://schemas.microsoft.com/office/drawing/2014/main" val="3725035416"/>
                      </a:ext>
                    </a:extLst>
                  </a:tr>
                  <a:tr h="304800">
                    <a:tc>
                      <a:txBody>
                        <a:bodyPr/>
                        <a:lstStyle/>
                        <a:p>
                          <a:r>
                            <a:rPr lang="en-US" sz="1400"/>
                            <a:t>(1,3)</a:t>
                          </a:r>
                          <a:endParaRPr lang="en-US" sz="1400" dirty="0"/>
                        </a:p>
                      </a:txBody>
                      <a:tcPr/>
                    </a:tc>
                    <a:tc>
                      <a:txBody>
                        <a:bodyPr/>
                        <a:lstStyle/>
                        <a:p>
                          <a:r>
                            <a:rPr lang="en-US" sz="1400" dirty="0"/>
                            <a:t>0.8016</a:t>
                          </a:r>
                        </a:p>
                      </a:txBody>
                      <a:tcPr/>
                    </a:tc>
                    <a:extLst>
                      <a:ext uri="{0D108BD9-81ED-4DB2-BD59-A6C34878D82A}">
                        <a16:rowId xmlns:a16="http://schemas.microsoft.com/office/drawing/2014/main" val="1524338055"/>
                      </a:ext>
                    </a:extLst>
                  </a:tr>
                  <a:tr h="30480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a:xfrm>
            <a:off x="838200" y="1326023"/>
            <a:ext cx="7928295" cy="4779633"/>
          </a:xfrm>
        </p:spPr>
        <p:txBody>
          <a:bodyPr>
            <a:normAutofit fontScale="92500" lnSpcReduction="10000"/>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fixed training dataset.”</a:t>
            </a:r>
          </a:p>
          <a:p>
            <a:pPr marL="514350" indent="-514350">
              <a:buFont typeface="+mj-lt"/>
              <a:buAutoNum type="alphaLcParenR"/>
            </a:pPr>
            <a:endParaRPr lang="en-US" dirty="0"/>
          </a:p>
          <a:p>
            <a:r>
              <a:rPr lang="en-US" dirty="0"/>
              <a:t>In RL we consider additional goals of generalization:</a:t>
            </a:r>
          </a:p>
          <a:p>
            <a:pPr marL="971550" lvl="1" indent="-514350">
              <a:buFont typeface="+mj-lt"/>
              <a:buAutoNum type="alphaLcParenR"/>
            </a:pPr>
            <a:r>
              <a:rPr lang="en-US" b="1" dirty="0"/>
              <a:t>How fast does the algorithm learn? </a:t>
            </a:r>
            <a:r>
              <a:rPr lang="en-US" dirty="0"/>
              <a:t>Does it perform well in an environment after gathering limited data (episodes)?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to a new but related environment? (~ </a:t>
            </a:r>
            <a:r>
              <a:rPr lang="en-US" b="1" dirty="0"/>
              <a:t>transfer learning</a:t>
            </a:r>
            <a:r>
              <a:rPr lang="en-US" dirty="0"/>
              <a:t>) </a:t>
            </a:r>
          </a:p>
          <a:p>
            <a:endParaRPr lang="en-US" dirty="0"/>
          </a:p>
        </p:txBody>
      </p:sp>
    </p:spTree>
    <p:extLst>
      <p:ext uri="{BB962C8B-B14F-4D97-AF65-F5344CB8AC3E}">
        <p14:creationId xmlns:p14="http://schemas.microsoft.com/office/powerpoint/2010/main" val="2958231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represents a noisy sample of the state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a:t>
                </a:r>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70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r>
                      <a:rPr lang="en-US" b="0" i="0"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a:t>
                </a:r>
                <a:br>
                  <a:rPr lang="en-US" dirty="0"/>
                </a:br>
                <a:r>
                  <a:rPr lang="en-US" dirty="0"/>
                  <a:t>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xmlns="">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522" t="-3267" b="-13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615214" y="4809849"/>
            <a:ext cx="2400886" cy="1176997"/>
          </a:xfrm>
          <a:prstGeom prst="wedgeRoundRectCallout">
            <a:avLst>
              <a:gd name="adj1" fmla="val -121115"/>
              <a:gd name="adj2" fmla="val -1671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have useful mathematical and statistical properties that make learning and optimization easier and more effective.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mc:Choice xmlns:a14="http://schemas.microsoft.com/office/drawing/2010/main"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62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Issues of interest:</a:t>
                </a:r>
              </a:p>
              <a:p>
                <a:pPr lvl="1"/>
                <a:r>
                  <a:rPr lang="en-US" b="1" dirty="0"/>
                  <a:t>Convergence</a:t>
                </a:r>
                <a:r>
                  <a:rPr lang="en-US" dirty="0"/>
                  <a:t>: Convergence to the global or a local optimum depends on the used approximation and the learning method. We will discuss this for each method.</a:t>
                </a:r>
              </a:p>
              <a:p>
                <a:pPr lvl="1"/>
                <a:r>
                  <a:rPr lang="en-US" b="1" dirty="0"/>
                  <a:t>Bias</a:t>
                </a:r>
                <a:r>
                  <a:rPr lang="en-US" dirty="0"/>
                  <a:t>: Different approximation methods have different bias (=are not able to represent the true value function).</a:t>
                </a:r>
              </a:p>
              <a:p>
                <a:pPr lvl="1"/>
                <a:endParaRPr lang="en-US" dirty="0"/>
              </a:p>
              <a:p>
                <a:r>
                  <a:rPr lang="en-US" dirty="0"/>
                  <a:t>We still need:</a:t>
                </a:r>
              </a:p>
              <a:p>
                <a:pPr marL="971550" lvl="1" indent="-514350">
                  <a:buFont typeface="+mj-lt"/>
                  <a:buAutoNum type="arabicPeriod"/>
                </a:pPr>
                <a:r>
                  <a:rPr lang="en-US" dirty="0"/>
                  <a:t>A method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a:p>
                <a:pPr marL="971550" lvl="1" indent="-514350">
                  <a:buFont typeface="+mj-lt"/>
                  <a:buAutoNum type="arabicPeriod"/>
                </a:pPr>
                <a:r>
                  <a:rPr lang="en-US" dirty="0"/>
                  <a:t>Define the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a:t>
                </a:r>
              </a:p>
            </p:txBody>
          </p:sp>
        </mc:Choice>
        <mc:Fallback>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406" t="-1913" r="-406"/>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mc:AlternateContent xmlns:mc="http://schemas.openxmlformats.org/markup-compatibility/2006">
        <mc:Choice xmlns:a14="http://schemas.microsoft.com/office/drawing/2010/main" Requires="a14">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r>
                  <a:rPr lang="en-US" dirty="0"/>
                  <a:t>How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p:txBody>
          </p:sp>
        </mc:Choice>
        <mc:Fallback>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9550076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xmlns:a14="http://schemas.microsoft.com/office/drawing/2010/main">
        <mc:Choice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1"/>
                <a:ext cx="10515600" cy="3831162"/>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pPr lvl="1"/>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r>
                  <a:rPr lang="en-US" b="0" dirty="0">
                    <a:ea typeface="Cambria Math" panose="02040503050406030204" pitchFamily="18" charset="0"/>
                  </a:rPr>
                  <a:t> so it has a gradient</a:t>
                </a:r>
              </a:p>
              <a:p>
                <a:endParaRPr lang="en-US" dirty="0"/>
              </a:p>
              <a:p>
                <a:pPr marL="0" indent="0">
                  <a:buNone/>
                </a:pPr>
                <a:r>
                  <a:rPr lang="en-US" b="1" dirty="0"/>
                  <a:t>Learning</a:t>
                </a:r>
              </a:p>
              <a:p>
                <a:pPr lvl="1"/>
                <a:r>
                  <a:rPr lang="en-US" b="1" dirty="0"/>
                  <a:t>Sample following </a:t>
                </a:r>
                <a14:m>
                  <m:oMath xmlns:m="http://schemas.openxmlformats.org/officeDocument/2006/math">
                    <m:r>
                      <a:rPr lang="en-US" b="1" i="1" smtClean="0">
                        <a:latin typeface="Cambria Math" panose="02040503050406030204" pitchFamily="18" charset="0"/>
                      </a:rPr>
                      <m:t>𝝅</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p:txBody>
          </p:sp>
        </mc:Choice>
        <mc:Fallback xmlns="">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1"/>
                <a:ext cx="10515600" cy="3831162"/>
              </a:xfrm>
              <a:blipFill>
                <a:blip r:embed="rId2"/>
                <a:stretch>
                  <a:fillRect l="-1043" t="-3975" r="-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7958528" y="3837482"/>
                <a:ext cx="3395272" cy="759072"/>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7958528" y="3837482"/>
                <a:ext cx="3395272" cy="759072"/>
              </a:xfrm>
              <a:prstGeom prst="wedgeRoundRectCallout">
                <a:avLst>
                  <a:gd name="adj1" fmla="val -91983"/>
                  <a:gd name="adj2" fmla="val 3255"/>
                  <a:gd name="adj3" fmla="val 16667"/>
                </a:avLst>
              </a:prstGeom>
              <a:blipFill>
                <a:blip r:embed="rId3"/>
                <a:stretch>
                  <a:fillRect b="-3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202982" y="5228493"/>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202982" y="5228493"/>
                <a:ext cx="3419631" cy="76450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3B1E1C6A-40C8-F4CD-A82A-2A03026219FB}"/>
                  </a:ext>
                </a:extLst>
              </p:cNvPr>
              <p:cNvSpPr/>
              <p:nvPr/>
            </p:nvSpPr>
            <p:spPr>
              <a:xfrm>
                <a:off x="7958528" y="5460669"/>
                <a:ext cx="3755036" cy="896064"/>
              </a:xfrm>
              <a:prstGeom prst="wedgeRoundRectCallout">
                <a:avLst>
                  <a:gd name="adj1" fmla="val -61614"/>
                  <a:gd name="adj2" fmla="val -2356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that the samples automatically follow the correct state distribution </a:t>
                </a:r>
                <a14:m>
                  <m:oMath xmlns:m="http://schemas.openxmlformats.org/officeDocument/2006/math">
                    <m:r>
                      <a:rPr lang="en-US" i="1">
                        <a:latin typeface="Cambria Math" panose="02040503050406030204" pitchFamily="18" charset="0"/>
                      </a:rPr>
                      <m:t>𝜇</m:t>
                    </m:r>
                  </m:oMath>
                </a14:m>
                <a:r>
                  <a:rPr lang="en-US" dirty="0"/>
                  <a:t> for </a:t>
                </a:r>
                <a14:m>
                  <m:oMath xmlns:m="http://schemas.openxmlformats.org/officeDocument/2006/math">
                    <m:r>
                      <a:rPr lang="en-US" i="1">
                        <a:latin typeface="Cambria Math" panose="02040503050406030204" pitchFamily="18" charset="0"/>
                      </a:rPr>
                      <m:t>𝜋</m:t>
                    </m:r>
                  </m:oMath>
                </a14:m>
                <a:endParaRPr lang="en-US" dirty="0"/>
              </a:p>
            </p:txBody>
          </p:sp>
        </mc:Choice>
        <mc:Fallback xmlns="">
          <p:sp>
            <p:nvSpPr>
              <p:cNvPr id="5" name="Speech Bubble: Rectangle with Corners Rounded 4">
                <a:extLst>
                  <a:ext uri="{FF2B5EF4-FFF2-40B4-BE49-F238E27FC236}">
                    <a16:creationId xmlns:a16="http://schemas.microsoft.com/office/drawing/2014/main" id="{3B1E1C6A-40C8-F4CD-A82A-2A03026219FB}"/>
                  </a:ext>
                </a:extLst>
              </p:cNvPr>
              <p:cNvSpPr>
                <a:spLocks noRot="1" noChangeAspect="1" noMove="1" noResize="1" noEditPoints="1" noAdjustHandles="1" noChangeArrowheads="1" noChangeShapeType="1" noTextEdit="1"/>
              </p:cNvSpPr>
              <p:nvPr/>
            </p:nvSpPr>
            <p:spPr>
              <a:xfrm>
                <a:off x="7958528" y="5460669"/>
                <a:ext cx="3755036" cy="896064"/>
              </a:xfrm>
              <a:prstGeom prst="wedgeRoundRectCallout">
                <a:avLst>
                  <a:gd name="adj1" fmla="val -61614"/>
                  <a:gd name="adj2" fmla="val -23563"/>
                  <a:gd name="adj3" fmla="val 16667"/>
                </a:avLst>
              </a:prstGeom>
              <a:blipFill>
                <a:blip r:embed="rId5"/>
                <a:stretch>
                  <a:fillRect t="-3333" b="-10667"/>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xmlns:a14="http://schemas.microsoft.com/office/drawing/2010/main">
        <mc:Choice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644980" y="1235487"/>
                <a:ext cx="7990742"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Gradient</a:t>
                </a:r>
                <a:r>
                  <a:rPr lang="en-US" dirty="0"/>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approximation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a:t>
                </a:r>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(sample variance!)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values for other states as well, we typically use many small updates (= a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xmlns="">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644980" y="1235487"/>
                <a:ext cx="7990742" cy="5010117"/>
              </a:xfrm>
              <a:blipFill>
                <a:blip r:embed="rId2"/>
                <a:stretch>
                  <a:fillRect l="-686" t="-10219" r="-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xmlns="">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578744" y="1235487"/>
            <a:ext cx="3227386" cy="1991944"/>
            <a:chOff x="8608105" y="1015068"/>
            <a:chExt cx="3227386"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08105" y="1143570"/>
                  <a:ext cx="681405"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r>
                          <a:rPr lang="en-US" sz="1100" b="0" i="1" dirty="0" smtClean="0">
                            <a:latin typeface="Cambria Math" panose="02040503050406030204" pitchFamily="18" charset="0"/>
                          </a:rPr>
                          <m:t>=</m:t>
                        </m:r>
                        <m:acc>
                          <m:accPr>
                            <m:chr m:val="̅"/>
                            <m:ctrlPr>
                              <a:rPr lang="en-US" sz="1100" i="1">
                                <a:latin typeface="Cambria Math" panose="02040503050406030204" pitchFamily="18" charset="0"/>
                              </a:rPr>
                            </m:ctrlPr>
                          </m:accPr>
                          <m:e>
                            <m:r>
                              <a:rPr lang="en-US" sz="1100" i="1">
                                <a:latin typeface="Cambria Math" panose="02040503050406030204" pitchFamily="18" charset="0"/>
                              </a:rPr>
                              <m:t>𝑉𝐸</m:t>
                            </m:r>
                          </m:e>
                        </m:acc>
                      </m:oMath>
                    </m:oMathPara>
                  </a14:m>
                  <a:endParaRPr lang="en-US" sz="1100" dirty="0"/>
                </a:p>
              </p:txBody>
            </p:sp>
          </mc:Choice>
          <mc:Fallback xmlns="">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08105" y="1143570"/>
                  <a:ext cx="681405"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635721" y="4776328"/>
                <a:ext cx="3215791" cy="160043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a:p>
                <a:br>
                  <a:rPr lang="en-US" sz="1400" dirty="0"/>
                </a:br>
                <a:r>
                  <a:rPr lang="en-US" sz="1400" dirty="0"/>
                  <a:t>Here </a:t>
                </a:r>
                <a14:m>
                  <m:oMath xmlns:m="http://schemas.openxmlformats.org/officeDocument/2006/math">
                    <m:r>
                      <a:rPr lang="en-US" sz="1400" b="0" i="1" smtClean="0">
                        <a:latin typeface="Cambria Math" panose="02040503050406030204" pitchFamily="18" charset="0"/>
                      </a:rPr>
                      <m:t>𝑥</m:t>
                    </m:r>
                  </m:oMath>
                </a14:m>
                <a:r>
                  <a:rPr lang="en-US" sz="1400" dirty="0"/>
                  <a:t> is the vector </a:t>
                </a:r>
                <a14:m>
                  <m:oMath xmlns:m="http://schemas.openxmlformats.org/officeDocument/2006/math">
                    <m:r>
                      <a:rPr lang="en-US" sz="1400" b="1" i="1" smtClean="0">
                        <a:latin typeface="Cambria Math" panose="02040503050406030204" pitchFamily="18" charset="0"/>
                      </a:rPr>
                      <m:t>𝒘</m:t>
                    </m:r>
                  </m:oMath>
                </a14:m>
                <a:r>
                  <a:rPr lang="en-US" sz="1400" dirty="0"/>
                  <a:t> and we have partial derivatives written as gradients.</a:t>
                </a:r>
              </a:p>
            </p:txBody>
          </p:sp>
        </mc:Choice>
        <mc:Fallback xmlns="">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635721" y="4776328"/>
                <a:ext cx="3215791" cy="1600438"/>
              </a:xfrm>
              <a:prstGeom prst="rect">
                <a:avLst/>
              </a:prstGeom>
              <a:blipFill>
                <a:blip r:embed="rId9"/>
                <a:stretch>
                  <a:fillRect l="-377" t="-377" b="-2264"/>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xmlns:a14="http://schemas.microsoft.com/office/drawing/2010/main">
        <mc:Choice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b="0" i="1" smtClean="0">
                                <a:latin typeface="Cambria Math" panose="02040503050406030204" pitchFamily="18" charset="0"/>
                              </a:rPr>
                              <m:t>𝑡</m:t>
                            </m:r>
                          </m:sub>
                          <m:sup>
                            <m:r>
                              <a:rPr lang="en-US" b="0" i="1" smtClean="0">
                                <a:latin typeface="Cambria Math" panose="02040503050406030204" pitchFamily="18" charset="0"/>
                              </a:rPr>
                              <m:t>2</m:t>
                            </m:r>
                          </m:sup>
                        </m:sSub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oMath>
                </a14:m>
                <a:r>
                  <a:rPr lang="en-US" dirty="0"/>
                  <a:t> … step size used for action </a:t>
                </a:r>
                <a14:m>
                  <m:oMath xmlns:m="http://schemas.openxmlformats.org/officeDocument/2006/math">
                    <m:r>
                      <a:rPr lang="en-US" b="0" i="1" smtClean="0">
                        <a:latin typeface="Cambria Math" panose="02040503050406030204" pitchFamily="18" charset="0"/>
                      </a:rPr>
                      <m:t>𝑎</m:t>
                    </m:r>
                  </m:oMath>
                </a14:m>
                <a:r>
                  <a:rPr lang="en-US" dirty="0"/>
                  <a:t> in state </a:t>
                </a:r>
                <a14:m>
                  <m:oMath xmlns:m="http://schemas.openxmlformats.org/officeDocument/2006/math">
                    <m:r>
                      <a:rPr lang="en-US" b="0" i="1" smtClean="0">
                        <a:latin typeface="Cambria Math" panose="02040503050406030204" pitchFamily="18" charset="0"/>
                      </a:rPr>
                      <m:t>𝑠</m:t>
                    </m:r>
                  </m:oMath>
                </a14:m>
                <a:r>
                  <a:rPr lang="en-US" dirty="0"/>
                  <a:t> at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sample averaging which is equivalent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den>
                    </m:f>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a14:m>
                <a:r>
                  <a:rPr lang="en-US" dirty="0"/>
                  <a:t> is how often the action was chosen in that state.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xmlns="">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733024" y="4723658"/>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xmlns:a14="http://schemas.microsoft.com/office/drawing/2010/main">
        <mc:Choice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00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a:t>
                </a:r>
                <a:r>
                  <a:rPr lang="en-US" b="1" dirty="0"/>
                  <a:t>local optimum </a:t>
                </a:r>
                <a:r>
                  <a:rPr lang="en-US" dirty="0"/>
                  <a:t>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p>
              <a:p>
                <a:pPr lvl="1"/>
                <a:r>
                  <a:rPr lang="en-US" b="1" dirty="0"/>
                  <a:t>unbiased estimate</a:t>
                </a:r>
                <a:r>
                  <a:rPr lang="en-US" dirty="0"/>
                  <a:t>. I.e.,  </a:t>
                </a:r>
                <a14:m>
                  <m:oMath xmlns:m="http://schemas.openxmlformats.org/officeDocument/2006/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endParaRPr lang="en-US" dirty="0">
                  <a:ea typeface="Cambria Math" panose="02040503050406030204" pitchFamily="18" charset="0"/>
                </a:endParaRPr>
              </a:p>
              <a:p>
                <a:pPr lvl="1"/>
                <a:r>
                  <a:rPr lang="en-US" dirty="0"/>
                  <a:t>we use decreasing </a:t>
                </a:r>
                <a14:m>
                  <m:oMath xmlns:m="http://schemas.openxmlformats.org/officeDocument/2006/math">
                    <m:r>
                      <a:rPr lang="en-US" b="0" i="1" smtClean="0">
                        <a:latin typeface="Cambria Math" panose="02040503050406030204" pitchFamily="18" charset="0"/>
                      </a:rPr>
                      <m:t>𝛼</m:t>
                    </m:r>
                  </m:oMath>
                </a14:m>
                <a:endParaRPr lang="en-US" dirty="0"/>
              </a:p>
              <a:p>
                <a:pPr lvl="1"/>
                <a:r>
                  <a:rPr lang="en-US" dirty="0"/>
                  <a:t>local gradient domination holds (e.g., linear approximation)</a:t>
                </a:r>
              </a:p>
              <a:p>
                <a:endParaRPr lang="en-US" dirty="0"/>
              </a:p>
              <a:p>
                <a:pPr marL="0" indent="0">
                  <a:buNone/>
                </a:pPr>
                <a:r>
                  <a:rPr lang="en-US" b="1" dirty="0"/>
                  <a:t>Examples</a:t>
                </a:r>
                <a:r>
                  <a:rPr lang="en-US" dirty="0"/>
                  <a:t>: </a:t>
                </a:r>
              </a:p>
              <a:p>
                <a:r>
                  <a:rPr lang="en-US" dirty="0"/>
                  <a:t>The Gradient Monte Carlo method uses the 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xmlns="">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638" t="-2094"/>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2"/>
          <a:stretch>
            <a:fillRect/>
          </a:stretch>
        </p:blipFill>
        <p:spPr>
          <a:xfrm>
            <a:off x="838199" y="1124198"/>
            <a:ext cx="10515601" cy="3776234"/>
          </a:xfrm>
          <a:prstGeom prst="rect">
            <a:avLst/>
          </a:prstGeom>
        </p:spPr>
      </p:pic>
      <mc:AlternateContent xmlns:mc="http://schemas.openxmlformats.org/markup-compatibility/2006" xmlns:a14="http://schemas.microsoft.com/office/drawing/2010/main">
        <mc:Choice Requires="a14">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p:nvPr/>
            </p:nvSpPr>
            <p:spPr>
              <a:xfrm>
                <a:off x="7766507" y="4484025"/>
                <a:ext cx="4140974" cy="1148456"/>
              </a:xfrm>
              <a:prstGeom prst="rect">
                <a:avLst/>
              </a:prstGeom>
              <a:ln>
                <a:headEnd type="none" w="med" len="med"/>
                <a:tailEnd type="none" w="med" len="med"/>
              </a:ln>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p:txBody>
          </p:sp>
        </mc:Choice>
        <mc:Fallback xmlns="">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a:spLocks noRot="1" noChangeAspect="1" noMove="1" noResize="1" noEditPoints="1" noAdjustHandles="1" noChangeArrowheads="1" noChangeShapeType="1" noTextEdit="1"/>
              </p:cNvSpPr>
              <p:nvPr/>
            </p:nvSpPr>
            <p:spPr>
              <a:xfrm>
                <a:off x="7766507" y="4484025"/>
                <a:ext cx="4140974" cy="1148456"/>
              </a:xfrm>
              <a:prstGeom prst="rect">
                <a:avLst/>
              </a:prstGeom>
              <a:blipFill>
                <a:blip r:embed="rId3"/>
                <a:stretch>
                  <a:fillRect l="-1026" t="-2094"/>
                </a:stretch>
              </a:blipFill>
              <a:ln>
                <a:headEnd type="none" w="med" len="med"/>
                <a:tailEnd type="none" w="med" len="med"/>
              </a:ln>
            </p:spPr>
            <p:txBody>
              <a:bodyPr/>
              <a:lstStyle/>
              <a:p>
                <a:r>
                  <a:rPr lang="en-US">
                    <a:noFill/>
                  </a:rPr>
                  <a:t> </a:t>
                </a:r>
              </a:p>
            </p:txBody>
          </p:sp>
        </mc:Fallback>
      </mc:AlternateContent>
    </p:spTree>
    <p:extLst>
      <p:ext uri="{BB962C8B-B14F-4D97-AF65-F5344CB8AC3E}">
        <p14:creationId xmlns:p14="http://schemas.microsoft.com/office/powerpoint/2010/main" val="23877611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xmlns:a14="http://schemas.microsoft.com/office/drawing/2010/main">
        <mc:Choice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70000" lnSpcReduction="20000"/>
              </a:bodyPr>
              <a:lstStyle/>
              <a:p>
                <a:pPr marL="0" indent="0">
                  <a:buNone/>
                </a:pPr>
                <a:r>
                  <a:rPr lang="en-US" b="1" dirty="0"/>
                  <a:t>Issue: </a:t>
                </a:r>
                <a:r>
                  <a:rPr lang="en-US" dirty="0"/>
                  <a:t>To get the true gradient requires, the target has to be </a:t>
                </a:r>
                <a:r>
                  <a:rPr lang="en-US" b="1" dirty="0"/>
                  <a:t>unbiased</a:t>
                </a:r>
                <a:r>
                  <a:rPr lang="en-US" dirty="0"/>
                  <a:t>, fixed and only the prediction can depend on </a:t>
                </a:r>
                <a14:m>
                  <m:oMath xmlns:m="http://schemas.openxmlformats.org/officeDocument/2006/math">
                    <m:r>
                      <a:rPr lang="en-US" b="1" i="1">
                        <a:latin typeface="Cambria Math" panose="02040503050406030204" pitchFamily="18" charset="0"/>
                      </a:rPr>
                      <m:t>𝒘</m:t>
                    </m:r>
                  </m:oMath>
                </a14:m>
                <a:r>
                  <a:rPr lang="en-US" dirty="0"/>
                  <a:t>.</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b="1" dirty="0"/>
              </a:p>
              <a:p>
                <a:pPr marL="0" indent="0">
                  <a:buNone/>
                </a:pPr>
                <a:r>
                  <a:rPr lang="en-US" b="1" dirty="0"/>
                  <a:t>Gradient Monte Carlo Algorithm: </a:t>
                </a:r>
                <a:r>
                  <a:rPr lang="en-US" dirty="0"/>
                  <a:t>Works since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i="1" dirty="0"/>
                  <a:t> </a:t>
                </a:r>
                <a:r>
                  <a:rPr lang="en-US" dirty="0"/>
                  <a:t>is the result of only sampled rewards which are independent of </a:t>
                </a:r>
                <a14:m>
                  <m:oMath xmlns:m="http://schemas.openxmlformats.org/officeDocument/2006/math">
                    <m:r>
                      <a:rPr lang="en-US" b="1" i="1">
                        <a:latin typeface="Cambria Math" panose="02040503050406030204" pitchFamily="18" charset="0"/>
                      </a:rPr>
                      <m:t>𝒘</m:t>
                    </m:r>
                  </m:oMath>
                </a14:m>
                <a:r>
                  <a:rPr lang="en-US" dirty="0"/>
                  <a:t>.</a:t>
                </a:r>
                <a:endParaRPr lang="en-US" b="1" dirty="0"/>
              </a:p>
              <a:p>
                <a:pPr marL="0" indent="0">
                  <a:buNone/>
                </a:pPr>
                <a:br>
                  <a:rPr lang="en-US" b="1" dirty="0"/>
                </a:br>
                <a:r>
                  <a:rPr lang="en-US" b="1" dirty="0"/>
                  <a:t>Bootstrapping </a:t>
                </a:r>
                <a:r>
                  <a:rPr lang="en-US" dirty="0"/>
                  <a:t>(e.g., </a:t>
                </a:r>
                <a14:m>
                  <m:oMath xmlns:m="http://schemas.openxmlformats.org/officeDocument/2006/math">
                    <m:r>
                      <a:rPr lang="en-US" i="1" dirty="0" smtClean="0">
                        <a:latin typeface="Cambria Math" panose="02040503050406030204" pitchFamily="18" charset="0"/>
                      </a:rPr>
                      <m:t>𝑛</m:t>
                    </m:r>
                  </m:oMath>
                </a14:m>
                <a:r>
                  <a:rPr lang="en-US" dirty="0"/>
                  <a:t>-step TD): breaks this requirement because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on the bootstrapped estimate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sub>
                        </m:sSub>
                        <m:r>
                          <a:rPr lang="en-US" i="1">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oMath>
                </a14:m>
                <a:r>
                  <a:rPr lang="en-US" dirty="0"/>
                  <a:t> and thus the current value of </a:t>
                </a:r>
                <a14:m>
                  <m:oMath xmlns:m="http://schemas.openxmlformats.org/officeDocument/2006/math">
                    <m:r>
                      <a:rPr lang="en-US" b="1" i="1" smtClean="0">
                        <a:latin typeface="Cambria Math" panose="02040503050406030204" pitchFamily="18" charset="0"/>
                      </a:rPr>
                      <m:t>𝒘</m:t>
                    </m:r>
                  </m:oMath>
                </a14:m>
                <a:r>
                  <a:rPr lang="en-US" dirty="0"/>
                  <a:t>. </a:t>
                </a:r>
                <a:br>
                  <a:rPr lang="en-US" dirty="0"/>
                </a:br>
                <a:r>
                  <a:rPr lang="en-US" dirty="0"/>
                  <a:t>This does not result in a true gradient, and convergence cannot be guaranteed.</a:t>
                </a:r>
              </a:p>
              <a:p>
                <a:pPr marL="0" indent="0">
                  <a:buNone/>
                </a:pPr>
                <a:endParaRPr lang="en-US" b="1" dirty="0"/>
              </a:p>
              <a:p>
                <a:pPr marL="0" indent="0">
                  <a:buNone/>
                </a:pPr>
                <a:r>
                  <a:rPr lang="en-US" b="1" dirty="0"/>
                  <a:t>Semi-Gradient Methods:</a:t>
                </a:r>
              </a:p>
              <a:p>
                <a:r>
                  <a:rPr lang="en-US" dirty="0"/>
                  <a:t>If we a biased target estimate, then this is called a semi-gradient method.</a:t>
                </a:r>
              </a:p>
              <a:p>
                <a:r>
                  <a:rPr lang="en-US" dirty="0"/>
                  <a:t>Advantages: </a:t>
                </a:r>
              </a:p>
              <a:p>
                <a:pPr lvl="1"/>
                <a:r>
                  <a:rPr lang="en-US" dirty="0"/>
                  <a:t>Usually learn faster.</a:t>
                </a:r>
              </a:p>
              <a:p>
                <a:pPr lvl="1"/>
                <a:r>
                  <a:rPr lang="en-US" dirty="0"/>
                  <a:t>Often still converge (especially for linear approximators).</a:t>
                </a:r>
              </a:p>
              <a:p>
                <a:pPr lvl="1"/>
                <a:r>
                  <a:rPr lang="en-US" dirty="0"/>
                  <a:t>TD can learn online.</a:t>
                </a:r>
              </a:p>
            </p:txBody>
          </p:sp>
        </mc:Choice>
        <mc:Fallback xmlns="">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638" t="-2081" b="-734"/>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2"/>
          <a:stretch>
            <a:fillRect/>
          </a:stretch>
        </p:blipFill>
        <p:spPr>
          <a:xfrm>
            <a:off x="838200" y="1195667"/>
            <a:ext cx="10515601" cy="5041835"/>
          </a:xfrm>
          <a:prstGeom prst="rect">
            <a:avLst/>
          </a:prstGeom>
        </p:spPr>
      </p:pic>
      <p:cxnSp>
        <p:nvCxnSpPr>
          <p:cNvPr id="7" name="Straight Connector 6">
            <a:extLst>
              <a:ext uri="{FF2B5EF4-FFF2-40B4-BE49-F238E27FC236}">
                <a16:creationId xmlns:a16="http://schemas.microsoft.com/office/drawing/2014/main" id="{BC98F6AF-8EC3-90BA-203C-644C9BAD6DB4}"/>
              </a:ext>
              <a:ext uri="{C183D7F6-B498-43B3-948B-1728B52AA6E4}">
                <adec:decorative xmlns:adec="http://schemas.microsoft.com/office/drawing/2017/decorative" val="1"/>
              </a:ext>
            </a:extLst>
          </p:cNvPr>
          <p:cNvCxnSpPr>
            <a:cxnSpLocks/>
          </p:cNvCxnSpPr>
          <p:nvPr/>
        </p:nvCxnSpPr>
        <p:spPr>
          <a:xfrm>
            <a:off x="3413294" y="5325856"/>
            <a:ext cx="1640337"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4802346" y="5598827"/>
                <a:ext cx="3951910" cy="894047"/>
              </a:xfrm>
              <a:prstGeom prst="wedgeRoundRectCallout">
                <a:avLst>
                  <a:gd name="adj1" fmla="val -57606"/>
                  <a:gd name="adj2" fmla="val -7463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bootstrapped estimate and biased because it uses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xmlns="">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4802346" y="5598827"/>
                <a:ext cx="3951910" cy="894047"/>
              </a:xfrm>
              <a:prstGeom prst="wedgeRoundRectCallout">
                <a:avLst>
                  <a:gd name="adj1" fmla="val -57606"/>
                  <a:gd name="adj2" fmla="val -74638"/>
                  <a:gd name="adj3" fmla="val 16667"/>
                </a:avLst>
              </a:prstGeom>
              <a:blipFill>
                <a:blip r:embed="rId3"/>
                <a:stretch>
                  <a:fillRect b="-9043"/>
                </a:stretch>
              </a:blipFill>
            </p:spPr>
            <p:txBody>
              <a:bodyPr/>
              <a:lstStyle/>
              <a:p>
                <a:r>
                  <a:rPr lang="en-US">
                    <a:noFill/>
                  </a:rPr>
                  <a:t> </a:t>
                </a:r>
              </a:p>
            </p:txBody>
          </p:sp>
        </mc:Fallback>
      </mc:AlternateContent>
    </p:spTree>
    <p:extLst>
      <p:ext uri="{BB962C8B-B14F-4D97-AF65-F5344CB8AC3E}">
        <p14:creationId xmlns:p14="http://schemas.microsoft.com/office/powerpoint/2010/main" val="38196547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Approximation Methods</a:t>
            </a:r>
          </a:p>
        </p:txBody>
      </p:sp>
      <mc:AlternateContent xmlns:mc="http://schemas.openxmlformats.org/markup-compatibility/2006">
        <mc:Choice xmlns:a14="http://schemas.microsoft.com/office/drawing/2010/main"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Definition of a simple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Methods</a:t>
            </a:r>
          </a:p>
        </p:txBody>
      </p:sp>
      <mc:AlternateContent xmlns:mc="http://schemas.openxmlformats.org/markup-compatibility/2006" xmlns:a14="http://schemas.microsoft.com/office/drawing/2010/main">
        <mc:Choice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77500" lnSpcReduction="20000"/>
              </a:bodyPr>
              <a:lstStyle/>
              <a:p>
                <a:r>
                  <a:rPr lang="en-US" dirty="0"/>
                  <a:t>Linear approximation of the state value by the inner product </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b="0" i="1" dirty="0">
                    <a:latin typeface="Cambria Math" panose="02040503050406030204" pitchFamily="18" charset="0"/>
                  </a:rPr>
                </a:br>
                <a:br>
                  <a:rPr lang="en-US" b="0" i="1" dirty="0">
                    <a:latin typeface="Cambria Math" panose="02040503050406030204" pitchFamily="18" charset="0"/>
                  </a:rPr>
                </a:br>
                <a:r>
                  <a:rPr lang="en-US" b="0" i="1" dirty="0">
                    <a:latin typeface="Cambria Math" panose="02040503050406030204" pitchFamily="18" charset="0"/>
                  </a:rPr>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 state feature vector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d>
                          <m:dPr>
                            <m:ctrlPr>
                              <a:rPr lang="en-US" i="1" smtClean="0">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Has only one optimum and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a:t>
                </a:r>
                <a:r>
                  <a:rPr lang="en-US" b="1" dirty="0"/>
                  <a:t>bootstrapping</a:t>
                </a:r>
                <a:r>
                  <a:rPr lang="en-US" dirty="0"/>
                  <a:t> methods like Semi-gradient TD(0)!</a:t>
                </a:r>
              </a:p>
            </p:txBody>
          </p:sp>
        </mc:Choice>
        <mc:Fallback xmlns="">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696" t="-2551" b="-1531"/>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8710798" y="4383868"/>
            <a:ext cx="2408809" cy="697042"/>
          </a:xfrm>
          <a:prstGeom prst="wedgeRoundRectCallout">
            <a:avLst>
              <a:gd name="adj1" fmla="val -37421"/>
              <a:gd name="adj2" fmla="val 8533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xmlns:a14="http://schemas.microsoft.com/office/drawing/2010/main">
        <mc:Choice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r>
                      <a:rPr lang="en-US" b="0" i="1" smtClean="0">
                        <a:latin typeface="Cambria Math" panose="02040503050406030204" pitchFamily="18" charset="0"/>
                      </a:rPr>
                      <m:t>)</m:t>
                    </m:r>
                  </m:oMath>
                </a14:m>
                <a:r>
                  <a:rPr lang="en-US" dirty="0"/>
                  <a:t>. </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factored state description. </a:t>
                </a:r>
              </a:p>
              <a:p>
                <a:pPr lvl="1"/>
                <a:r>
                  <a:rPr lang="en-US" dirty="0"/>
                  <a:t>Linear models cannot represent interactions between variables.</a:t>
                </a:r>
              </a:p>
              <a:p>
                <a:pPr marL="0" indent="0">
                  <a:buNone/>
                </a:pPr>
                <a:endParaRPr lang="en-US" dirty="0"/>
              </a:p>
            </p:txBody>
          </p:sp>
        </mc:Choice>
        <mc:Fallback xmlns="">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r="-580"/>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Tree>
    <p:extLst>
      <p:ext uri="{BB962C8B-B14F-4D97-AF65-F5344CB8AC3E}">
        <p14:creationId xmlns:p14="http://schemas.microsoft.com/office/powerpoint/2010/main" val="42638643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xmlns:a14="http://schemas.microsoft.com/office/drawing/2010/main">
        <mc:Choice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receptor fields.</a:t>
                </a:r>
              </a:p>
              <a:p>
                <a:pPr lvl="1"/>
                <a:r>
                  <a:rPr lang="en-US" dirty="0"/>
                  <a:t>Polynomial Features: smooth global generalization.</a:t>
                </a:r>
              </a:p>
              <a:p>
                <a:pPr lvl="1"/>
                <a:r>
                  <a:rPr lang="en-US" dirty="0"/>
                  <a:t>Radial Basis Functions: smooth local generalization.</a:t>
                </a:r>
              </a:p>
              <a:p>
                <a:pPr marL="0" indent="0">
                  <a:buNone/>
                </a:pPr>
                <a:endParaRPr lang="en-US" dirty="0"/>
              </a:p>
            </p:txBody>
          </p:sp>
        </mc:Choice>
        <mc:Fallback xmlns="">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a14:m>
                    <m:oMathPara xmlns:m="http://schemas.openxmlformats.org/officeDocument/2006/math">
                      <m:o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r>
                          <a:rPr lang="en-US" sz="1600" b="0" i="0" smtClean="0">
                            <a:latin typeface="Cambria Math" panose="02040503050406030204" pitchFamily="18" charset="0"/>
                          </a:rPr>
                          <m:t>(1, .9,.65, .35,. 1)</m:t>
                        </m:r>
                      </m:oMath>
                    </m:oMathPara>
                  </a14:m>
                  <a:endParaRPr lang="en-US" sz="1600" dirty="0"/>
                </a:p>
              </p:txBody>
            </p:sp>
          </mc:Choice>
          <mc:Fallback xmlns="">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b="-8929"/>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xmlns:a14="http://schemas.microsoft.com/office/drawing/2010/main">
        <mc:Choice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r>
                              <a:rPr lang="en-US" b="0" i="1" smtClean="0">
                                <a:latin typeface="Cambria Math" panose="02040503050406030204" pitchFamily="18" charset="0"/>
                              </a:rPr>
                              <m:t> </m:t>
                            </m:r>
                          </m:sub>
                          <m:sup>
                            <m:r>
                              <a:rPr lang="en-US" i="1">
                                <a:latin typeface="Cambria Math" panose="02040503050406030204" pitchFamily="18" charset="0"/>
                              </a:rPr>
                              <m:t>𝑖</m:t>
                            </m:r>
                          </m:sup>
                        </m:sSubSup>
                      </m:e>
                    </m:d>
                  </m:oMath>
                </a14:m>
                <a:r>
                  <a:rPr lang="en-US" dirty="0"/>
                  <a:t> is a coefficient vector</a:t>
                </a:r>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xmlns="">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xmlns="">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xmlns:a14="http://schemas.microsoft.com/office/drawing/2010/main">
        <mc:Choice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xmlns="">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xmlns:a14="http://schemas.microsoft.com/office/drawing/2010/main">
        <mc:Choice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550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 as a vector </a:t>
                </a:r>
                <a14:m>
                  <m:oMath xmlns:m="http://schemas.openxmlformats.org/officeDocument/2006/math">
                    <m:r>
                      <a:rPr lang="en-US" b="1" i="1" smtClean="0">
                        <a:latin typeface="Cambria Math" panose="02040503050406030204" pitchFamily="18" charset="0"/>
                      </a:rPr>
                      <m:t>𝒙</m:t>
                    </m:r>
                  </m:oMath>
                </a14:m>
                <a:r>
                  <a:rPr lang="en-US" b="1" dirty="0"/>
                  <a:t> </a:t>
                </a:r>
                <a:r>
                  <a:rPr lang="en-US" dirty="0"/>
                  <a:t>with 1 for all active tiles and 0 for all others.</a:t>
                </a:r>
                <a:endParaRPr lang="en-US" b="1" dirty="0"/>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xmlns="">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174" t="-3876" b="-1938"/>
                </a:stretch>
              </a:blipFill>
            </p:spPr>
            <p:txBody>
              <a:bodyPr/>
              <a:lstStyle/>
              <a:p>
                <a:r>
                  <a:rPr lang="en-US">
                    <a:noFill/>
                  </a:rPr>
                  <a:t> </a:t>
                </a:r>
              </a:p>
            </p:txBody>
          </p:sp>
        </mc:Fallback>
      </mc:AlternateContent>
      <p:grpSp>
        <p:nvGrpSpPr>
          <p:cNvPr id="12" name="Group 11"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AA89BFBB-9DB9-5A8F-8F9B-1F216E59EA2B}"/>
              </a:ext>
            </a:extLst>
          </p:cNvPr>
          <p:cNvGrpSpPr/>
          <p:nvPr/>
        </p:nvGrpSpPr>
        <p:grpSpPr>
          <a:xfrm>
            <a:off x="838199" y="2913888"/>
            <a:ext cx="10825636" cy="2819914"/>
            <a:chOff x="838199" y="2913888"/>
            <a:chExt cx="10825636" cy="2819914"/>
          </a:xfrm>
        </p:grpSpPr>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a:t>
                    </a:r>
                    <a:r>
                      <a:rPr lang="en-US" sz="2000" dirty="0" err="1"/>
                      <a:t>tilings</a:t>
                    </a:r>
                    <a:r>
                      <a:rPr lang="en-US" sz="2000" dirty="0"/>
                      <a:t>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
          <p:nvSpPr>
            <p:cNvPr id="4" name="Rectangle 3">
              <a:extLst>
                <a:ext uri="{FF2B5EF4-FFF2-40B4-BE49-F238E27FC236}">
                  <a16:creationId xmlns:a16="http://schemas.microsoft.com/office/drawing/2014/main" id="{C607847D-3736-8D56-15F2-79760F1B9927}"/>
                </a:ext>
              </a:extLst>
            </p:cNvPr>
            <p:cNvSpPr/>
            <p:nvPr/>
          </p:nvSpPr>
          <p:spPr>
            <a:xfrm>
              <a:off x="5359044" y="4078908"/>
              <a:ext cx="469641" cy="484804"/>
            </a:xfrm>
            <a:prstGeom prst="rect">
              <a:avLst/>
            </a:prstGeom>
            <a:noFill/>
            <a:ln w="57150">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a:t>
            </a:r>
            <a:r>
              <a:rPr lang="en-US" dirty="0" err="1"/>
              <a:t>tilings</a:t>
            </a:r>
            <a:r>
              <a:rPr lang="en-US" dirty="0"/>
              <a:t>,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5476B-93B8-200D-AFC4-FD5D82620F70}"/>
              </a:ext>
            </a:extLst>
          </p:cNvPr>
          <p:cNvSpPr>
            <a:spLocks noGrp="1"/>
          </p:cNvSpPr>
          <p:nvPr>
            <p:ph type="title"/>
          </p:nvPr>
        </p:nvSpPr>
        <p:spPr/>
        <p:txBody>
          <a:bodyPr>
            <a:normAutofit/>
          </a:bodyPr>
          <a:lstStyle/>
          <a:p>
            <a:r>
              <a:rPr lang="en-US" dirty="0"/>
              <a:t>Tabular RL as a Special Case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D94023-3844-D64E-09EE-AFC4A96E153F}"/>
                  </a:ext>
                </a:extLst>
              </p:cNvPr>
              <p:cNvSpPr>
                <a:spLocks noGrp="1"/>
              </p:cNvSpPr>
              <p:nvPr>
                <p:ph idx="1"/>
              </p:nvPr>
            </p:nvSpPr>
            <p:spPr>
              <a:xfrm>
                <a:off x="838200" y="1397330"/>
                <a:ext cx="6204045" cy="4779633"/>
              </a:xfrm>
            </p:spPr>
            <p:txBody>
              <a:bodyPr>
                <a:normAutofit fontScale="85000" lnSpcReduction="20000"/>
              </a:bodyPr>
              <a:lstStyle/>
              <a:p>
                <a:pPr marL="0" indent="0">
                  <a:buNone/>
                </a:pPr>
                <a:r>
                  <a:rPr lang="en-US" dirty="0"/>
                  <a:t>Tabular RL is a special case of Linear Approximation for a discrete state space.</a:t>
                </a:r>
              </a:p>
              <a:p>
                <a:endParaRPr lang="en-US" dirty="0"/>
              </a:p>
              <a:p>
                <a:r>
                  <a:rPr lang="en-US" b="1" dirty="0"/>
                  <a:t>State feature vector</a:t>
                </a:r>
                <a:r>
                  <a:rPr lang="en-US" dirty="0"/>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 </m:t>
                    </m:r>
                  </m:oMath>
                </a14:m>
                <a:r>
                  <a:rPr lang="en-US" dirty="0"/>
                  <a:t>is a one-hot encoding for the state.</a:t>
                </a:r>
              </a:p>
              <a:p>
                <a:r>
                  <a:rPr lang="en-US" b="1" dirty="0"/>
                  <a:t>Weight vector</a:t>
                </a:r>
                <a:r>
                  <a:rPr lang="en-US" dirty="0"/>
                  <a:t>: </a:t>
                </a:r>
                <a14:m>
                  <m:oMath xmlns:m="http://schemas.openxmlformats.org/officeDocument/2006/math">
                    <m:r>
                      <a:rPr lang="en-US" b="1" i="1" smtClean="0">
                        <a:latin typeface="Cambria Math" panose="02040503050406030204" pitchFamily="18" charset="0"/>
                      </a:rPr>
                      <m:t>𝒘</m:t>
                    </m:r>
                  </m:oMath>
                </a14:m>
                <a:r>
                  <a:rPr lang="en-US" b="1" dirty="0"/>
                  <a:t> </a:t>
                </a:r>
                <a:r>
                  <a:rPr lang="en-US" dirty="0"/>
                  <a:t>has 1 entry for each state.</a:t>
                </a:r>
              </a:p>
              <a:p>
                <a:endParaRPr lang="en-US" dirty="0"/>
              </a:p>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1"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b="1" i="1">
                            <a:latin typeface="Cambria Math" panose="02040503050406030204" pitchFamily="18" charset="0"/>
                          </a:rPr>
                          <m:t>⊤</m:t>
                        </m:r>
                      </m:sup>
                    </m:sSup>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now always picks a single value from </a:t>
                </a: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oMath>
                </a14:m>
                <a:endParaRPr lang="en-US" dirty="0"/>
              </a:p>
              <a:p>
                <a:endParaRPr lang="en-US" dirty="0"/>
              </a:p>
              <a:p>
                <a:r>
                  <a:rPr lang="en-US" dirty="0"/>
                  <a:t>Consequences:</a:t>
                </a:r>
              </a:p>
              <a:p>
                <a:pPr lvl="1"/>
                <a14:m>
                  <m:oMath xmlns:m="http://schemas.openxmlformats.org/officeDocument/2006/math">
                    <m:r>
                      <a:rPr lang="en-US" b="1" i="1" smtClean="0">
                        <a:latin typeface="Cambria Math" panose="02040503050406030204" pitchFamily="18" charset="0"/>
                      </a:rPr>
                      <m:t>𝒘</m:t>
                    </m:r>
                  </m:oMath>
                </a14:m>
                <a:r>
                  <a:rPr lang="en-US" b="1" dirty="0"/>
                  <a:t> </a:t>
                </a:r>
                <a:r>
                  <a:rPr lang="en-US" dirty="0"/>
                  <a:t>is just </a:t>
                </a:r>
                <a14:m>
                  <m:oMath xmlns:m="http://schemas.openxmlformats.org/officeDocument/2006/math">
                    <m:r>
                      <a:rPr lang="en-US" b="0" i="1" smtClean="0">
                        <a:latin typeface="Cambria Math" panose="02040503050406030204" pitchFamily="18" charset="0"/>
                      </a:rPr>
                      <m:t>𝑉</m:t>
                    </m:r>
                  </m:oMath>
                </a14:m>
                <a:r>
                  <a:rPr lang="en-US" dirty="0"/>
                  <a:t> in our tabular methods.</a:t>
                </a:r>
              </a:p>
              <a:p>
                <a:pPr lvl="1"/>
                <a:r>
                  <a:rPr lang="en-US" dirty="0"/>
                  <a:t>No generalization</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E2D94023-3844-D64E-09EE-AFC4A96E153F}"/>
                  </a:ext>
                </a:extLst>
              </p:cNvPr>
              <p:cNvSpPr>
                <a:spLocks noGrp="1" noRot="1" noChangeAspect="1" noMove="1" noResize="1" noEditPoints="1" noAdjustHandles="1" noChangeArrowheads="1" noChangeShapeType="1" noTextEdit="1"/>
              </p:cNvSpPr>
              <p:nvPr>
                <p:ph idx="1"/>
              </p:nvPr>
            </p:nvSpPr>
            <p:spPr>
              <a:xfrm>
                <a:off x="838200" y="1397330"/>
                <a:ext cx="6204045" cy="4779633"/>
              </a:xfrm>
              <a:blipFill>
                <a:blip r:embed="rId2"/>
                <a:stretch>
                  <a:fillRect l="-1573" t="-2806" r="-1278"/>
                </a:stretch>
              </a:blipFill>
            </p:spPr>
            <p:txBody>
              <a:bodyPr/>
              <a:lstStyle/>
              <a:p>
                <a:r>
                  <a:rPr lang="en-US">
                    <a:noFill/>
                  </a:rPr>
                  <a:t> </a:t>
                </a:r>
              </a:p>
            </p:txBody>
          </p:sp>
        </mc:Fallback>
      </mc:AlternateContent>
      <p:grpSp>
        <p:nvGrpSpPr>
          <p:cNvPr id="8" name="Group 7" descr="A simple maze example to show the equivalence to tabular methods.">
            <a:extLst>
              <a:ext uri="{FF2B5EF4-FFF2-40B4-BE49-F238E27FC236}">
                <a16:creationId xmlns:a16="http://schemas.microsoft.com/office/drawing/2014/main" id="{B8B79CFE-5227-591B-309E-D0C8871346E3}"/>
              </a:ext>
            </a:extLst>
          </p:cNvPr>
          <p:cNvGrpSpPr/>
          <p:nvPr/>
        </p:nvGrpSpPr>
        <p:grpSpPr>
          <a:xfrm>
            <a:off x="7786557" y="1124198"/>
            <a:ext cx="3942019" cy="4744675"/>
            <a:chOff x="7786557" y="1124198"/>
            <a:chExt cx="3942019" cy="4744675"/>
          </a:xfrm>
        </p:grpSpPr>
        <p:pic>
          <p:nvPicPr>
            <p:cNvPr id="4" name="Picture 3">
              <a:extLst>
                <a:ext uri="{FF2B5EF4-FFF2-40B4-BE49-F238E27FC236}">
                  <a16:creationId xmlns:a16="http://schemas.microsoft.com/office/drawing/2014/main" id="{615E8526-F2F5-D312-A9EE-01AB110CD188}"/>
                </a:ext>
              </a:extLst>
            </p:cNvPr>
            <p:cNvPicPr>
              <a:picLocks noChangeAspect="1"/>
            </p:cNvPicPr>
            <p:nvPr/>
          </p:nvPicPr>
          <p:blipFill>
            <a:blip r:embed="rId3"/>
            <a:stretch>
              <a:fillRect/>
            </a:stretch>
          </p:blipFill>
          <p:spPr>
            <a:xfrm>
              <a:off x="7786557" y="1650846"/>
              <a:ext cx="3473726" cy="270178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F8698FB-EAF6-FD2F-962C-4D5389EB0A0B}"/>
                    </a:ext>
                  </a:extLst>
                </p:cNvPr>
                <p:cNvSpPr txBox="1"/>
                <p:nvPr/>
              </p:nvSpPr>
              <p:spPr>
                <a:xfrm>
                  <a:off x="7786557" y="4545434"/>
                  <a:ext cx="3942019" cy="1323439"/>
                </a:xfrm>
                <a:prstGeom prst="rect">
                  <a:avLst/>
                </a:prstGeom>
                <a:noFill/>
              </p:spPr>
              <p:txBody>
                <a:bodyPr wrap="square">
                  <a:spAutoFit/>
                </a:bodyPr>
                <a:lstStyle/>
                <a:p>
                  <a:pPr/>
                  <a14:m>
                    <m:oMathPara xmlns:m="http://schemas.openxmlformats.org/officeDocument/2006/math">
                      <m:oMathParaPr>
                        <m:jc m:val="left"/>
                      </m:oMathParaPr>
                      <m:oMath>
                        <m:r>
                          <a:rPr lang="en-US" sz="2000" b="1" i="1" smtClean="0">
                            <a:latin typeface="Cambria Math" panose="02040503050406030204" pitchFamily="18" charset="0"/>
                          </a:rPr>
                          <m:t>𝒙</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1,0,0,0,0,0,0,0,0,0,0</m:t>
                            </m:r>
                          </m:e>
                        </m:d>
                      </m:oMath>
                    </m:oMathPara>
                  </a14:m>
                  <a:endParaRPr lang="en-US" sz="1400" b="0" dirty="0"/>
                </a:p>
                <a:p>
                  <a:pPr/>
                  <a14:m>
                    <m:oMathPara xmlns:m="http://schemas.openxmlformats.org/officeDocument/2006/math">
                      <m:oMathParaPr>
                        <m:jc m:val="left"/>
                      </m:oMathParaPr>
                      <m:oMath>
                        <m:r>
                          <a:rPr lang="en-US" sz="2000" b="1" i="1" smtClean="0">
                            <a:latin typeface="Cambria Math" panose="02040503050406030204" pitchFamily="18" charset="0"/>
                          </a:rPr>
                          <m:t>𝒘</m:t>
                        </m:r>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10</m:t>
                                </m:r>
                              </m:sub>
                            </m:sSub>
                          </m:e>
                        </m:d>
                      </m:oMath>
                    </m:oMathPara>
                  </a14:m>
                  <a:br>
                    <a:rPr lang="en-US" sz="2000" b="0" dirty="0"/>
                  </a:br>
                  <a:br>
                    <a:rPr lang="en-US" sz="2000" b="0" dirty="0"/>
                  </a:br>
                  <a14:m>
                    <m:oMathPara xmlns:m="http://schemas.openxmlformats.org/officeDocument/2006/math">
                      <m:oMathParaPr>
                        <m:jc m:val="left"/>
                      </m:oMathParaPr>
                      <m:oMath>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r>
                              <a:rPr lang="en-US" sz="2000" i="1">
                                <a:latin typeface="Cambria Math" panose="02040503050406030204" pitchFamily="18" charset="0"/>
                              </a:rPr>
                              <m:t>,</m:t>
                            </m:r>
                            <m:r>
                              <a:rPr lang="en-US" sz="2000" b="1" i="1">
                                <a:latin typeface="Cambria Math" panose="02040503050406030204" pitchFamily="18" charset="0"/>
                              </a:rPr>
                              <m:t>𝒘</m:t>
                            </m:r>
                          </m:e>
                        </m:d>
                        <m:r>
                          <a:rPr lang="en-US" sz="2000" b="1" i="1">
                            <a:latin typeface="Cambria Math" panose="02040503050406030204" pitchFamily="18" charset="0"/>
                          </a:rPr>
                          <m:t>=</m:t>
                        </m:r>
                        <m:sSup>
                          <m:sSupPr>
                            <m:ctrlPr>
                              <a:rPr lang="en-US" sz="2000" b="1" i="1">
                                <a:latin typeface="Cambria Math" panose="02040503050406030204" pitchFamily="18" charset="0"/>
                              </a:rPr>
                            </m:ctrlPr>
                          </m:sSupPr>
                          <m:e>
                            <m:r>
                              <a:rPr lang="en-US" sz="2000" b="1" i="1">
                                <a:latin typeface="Cambria Math" panose="02040503050406030204" pitchFamily="18" charset="0"/>
                              </a:rPr>
                              <m:t>𝒘</m:t>
                            </m:r>
                          </m:e>
                          <m:sup>
                            <m:r>
                              <a:rPr lang="en-US" sz="2000" b="1" i="1">
                                <a:latin typeface="Cambria Math" panose="02040503050406030204" pitchFamily="18" charset="0"/>
                              </a:rPr>
                              <m:t>⊤</m:t>
                            </m:r>
                          </m:sup>
                        </m:sSup>
                        <m:r>
                          <a:rPr lang="en-US" sz="2000" b="1" i="1">
                            <a:latin typeface="Cambria Math" panose="02040503050406030204" pitchFamily="18" charset="0"/>
                          </a:rPr>
                          <m:t>𝒙</m:t>
                        </m:r>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m:oMathPara>
                  </a14:m>
                  <a:endParaRPr lang="en-US" sz="2000" b="0" dirty="0"/>
                </a:p>
              </p:txBody>
            </p:sp>
          </mc:Choice>
          <mc:Fallback xmlns="">
            <p:sp>
              <p:nvSpPr>
                <p:cNvPr id="6" name="TextBox 5">
                  <a:extLst>
                    <a:ext uri="{FF2B5EF4-FFF2-40B4-BE49-F238E27FC236}">
                      <a16:creationId xmlns:a16="http://schemas.microsoft.com/office/drawing/2014/main" id="{0F8698FB-EAF6-FD2F-962C-4D5389EB0A0B}"/>
                    </a:ext>
                  </a:extLst>
                </p:cNvPr>
                <p:cNvSpPr txBox="1">
                  <a:spLocks noRot="1" noChangeAspect="1" noMove="1" noResize="1" noEditPoints="1" noAdjustHandles="1" noChangeArrowheads="1" noChangeShapeType="1" noTextEdit="1"/>
                </p:cNvSpPr>
                <p:nvPr/>
              </p:nvSpPr>
              <p:spPr>
                <a:xfrm>
                  <a:off x="7786557" y="4545434"/>
                  <a:ext cx="3942019" cy="1323439"/>
                </a:xfrm>
                <a:prstGeom prst="rect">
                  <a:avLst/>
                </a:prstGeom>
                <a:blipFill>
                  <a:blip r:embed="rId4"/>
                  <a:stretch>
                    <a:fillRect b="-368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B5CF3AB-B5DD-4B88-5213-24B3CEBE15B8}"/>
                </a:ext>
              </a:extLst>
            </p:cNvPr>
            <p:cNvSpPr txBox="1"/>
            <p:nvPr/>
          </p:nvSpPr>
          <p:spPr>
            <a:xfrm>
              <a:off x="7915701" y="1124198"/>
              <a:ext cx="1549021" cy="369332"/>
            </a:xfrm>
            <a:prstGeom prst="rect">
              <a:avLst/>
            </a:prstGeom>
            <a:noFill/>
          </p:spPr>
          <p:txBody>
            <a:bodyPr wrap="square" rtlCol="0">
              <a:spAutoFit/>
            </a:bodyPr>
            <a:lstStyle/>
            <a:p>
              <a:r>
                <a:rPr lang="en-US" dirty="0"/>
                <a:t>Example:</a:t>
              </a:r>
            </a:p>
          </p:txBody>
        </p:sp>
      </p:grpSp>
    </p:spTree>
    <p:extLst>
      <p:ext uri="{BB962C8B-B14F-4D97-AF65-F5344CB8AC3E}">
        <p14:creationId xmlns:p14="http://schemas.microsoft.com/office/powerpoint/2010/main" val="5792991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normAutofit fontScale="90000"/>
          </a:bodyPr>
          <a:lstStyle/>
          <a:p>
            <a:r>
              <a:rPr lang="en-US" dirty="0"/>
              <a:t>Practical Issue: 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775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a:t>
            </a:r>
            <a:r>
              <a:rPr lang="en-US" b="1" dirty="0"/>
              <a:t>state estimation</a:t>
            </a:r>
            <a:r>
              <a:rPr lang="en-US" dirty="0"/>
              <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for RL with approximation</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 (E.g., observation stacking).</a:t>
            </a:r>
          </a:p>
          <a:p>
            <a:pPr marL="971550" lvl="1" indent="-514350">
              <a:buFont typeface="+mj-lt"/>
              <a:buAutoNum type="arabicPeriod"/>
            </a:pPr>
            <a:r>
              <a:rPr lang="en-US" b="1" dirty="0"/>
              <a:t>Use a (non) linear approximator</a:t>
            </a:r>
            <a:r>
              <a:rPr lang="en-US" dirty="0"/>
              <a:t> with those features to learn a value function or policy.</a:t>
            </a:r>
          </a:p>
          <a:p>
            <a:pPr marL="971550" lvl="1" indent="-514350">
              <a:buFont typeface="+mj-lt"/>
              <a:buAutoNum type="arabicPeriod"/>
            </a:pPr>
            <a:endParaRPr lang="en-US" dirty="0"/>
          </a:p>
          <a:p>
            <a:r>
              <a:rPr lang="en-US" b="1" dirty="0"/>
              <a:t>Example</a:t>
            </a:r>
            <a:r>
              <a:rPr lang="en-US" dirty="0"/>
              <a:t>: Maze solver where the x and y coordinates are noisy. Using the observed coordinates from the last few steps (stacking them) helps average out random noise in the observations.</a:t>
            </a:r>
          </a:p>
        </p:txBody>
      </p:sp>
    </p:spTree>
    <p:extLst>
      <p:ext uri="{BB962C8B-B14F-4D97-AF65-F5344CB8AC3E}">
        <p14:creationId xmlns:p14="http://schemas.microsoft.com/office/powerpoint/2010/main" val="16057624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mc:AlternateContent xmlns:mc="http://schemas.openxmlformats.org/markup-compatibility/2006">
        <mc:Choice xmlns:a14="http://schemas.microsoft.com/office/drawing/2010/main" Requires="a14">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 to approximate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p:sp>
            <p:nvSpPr>
              <p:cNvPr id="5" name="Text Placeholder 4">
                <a:extLst>
                  <a:ext uri="{FF2B5EF4-FFF2-40B4-BE49-F238E27FC236}">
                    <a16:creationId xmlns:a16="http://schemas.microsoft.com/office/drawing/2014/main" id="{A0742DE7-913C-60BB-DF8E-B71A7E28A534}"/>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665102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0" y="1397330"/>
            <a:ext cx="6329047" cy="4965370"/>
          </a:xfrm>
        </p:spPr>
        <p:txBody>
          <a:bodyPr>
            <a:normAutofit fontScale="62500" lnSpcReduction="20000"/>
          </a:bodyPr>
          <a:lstStyle/>
          <a:p>
            <a:r>
              <a:rPr lang="en-US" dirty="0"/>
              <a:t>Uses simple networks with a single hidden layer or deep architectures to approximate the value function.</a:t>
            </a:r>
          </a:p>
          <a:p>
            <a:r>
              <a:rPr lang="en-US" dirty="0"/>
              <a:t>Architecture choices:</a:t>
            </a:r>
          </a:p>
          <a:p>
            <a:pPr lvl="1"/>
            <a:r>
              <a:rPr lang="en-US" dirty="0"/>
              <a:t>Single hidden-layer feedforward network (is a universal approximator)</a:t>
            </a:r>
          </a:p>
          <a:p>
            <a:pPr lvl="1"/>
            <a:r>
              <a:rPr lang="en-US" dirty="0"/>
              <a:t>Convolutional networks</a:t>
            </a:r>
          </a:p>
          <a:p>
            <a:pPr lvl="1"/>
            <a:r>
              <a:rPr lang="en-US" dirty="0"/>
              <a:t>Recurrent networks</a:t>
            </a:r>
          </a:p>
          <a:p>
            <a:pPr lvl="1"/>
            <a:r>
              <a:rPr lang="en-US" dirty="0"/>
              <a:t>Transformers</a:t>
            </a:r>
          </a:p>
          <a:p>
            <a:pPr lvl="1"/>
            <a:r>
              <a:rPr lang="en-US" dirty="0"/>
              <a:t>Deep residual learning…</a:t>
            </a:r>
          </a:p>
          <a:p>
            <a:pPr marL="457200" lvl="1" indent="0">
              <a:buNone/>
            </a:pPr>
            <a:br>
              <a:rPr lang="en-US" dirty="0"/>
            </a:br>
            <a:r>
              <a:rPr lang="en-US" dirty="0"/>
              <a:t>+ Regularization, dropout, weight sharing, …</a:t>
            </a:r>
          </a:p>
          <a:p>
            <a:pPr lvl="1"/>
            <a:endParaRPr lang="en-US" dirty="0"/>
          </a:p>
          <a:p>
            <a:r>
              <a:rPr lang="en-US" dirty="0"/>
              <a:t>Training: Use SGD and backpropagation for deep networks.</a:t>
            </a:r>
          </a:p>
          <a:p>
            <a:endParaRPr lang="en-US" dirty="0"/>
          </a:p>
          <a:p>
            <a:r>
              <a:rPr lang="en-US" dirty="0"/>
              <a:t>Issues due to nonlinearity: </a:t>
            </a:r>
          </a:p>
          <a:p>
            <a:pPr lvl="1"/>
            <a:r>
              <a:rPr lang="en-US" dirty="0"/>
              <a:t>Instability </a:t>
            </a:r>
          </a:p>
          <a:p>
            <a:pPr lvl="1"/>
            <a:r>
              <a:rPr lang="en-US" dirty="0"/>
              <a:t>Generally, no convergence guarantee. </a:t>
            </a:r>
          </a:p>
          <a:p>
            <a:pPr lvl="1"/>
            <a:endParaRPr lang="en-US" dirty="0"/>
          </a:p>
          <a:p>
            <a:r>
              <a:rPr lang="en-US" dirty="0"/>
              <a:t>More in Deep Reinforcement Learning (DRL).</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7276460" y="1226541"/>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49810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xmlns:a14="http://schemas.microsoft.com/office/drawing/2010/main">
        <mc:Choice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the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target estimate:</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b="1" dirty="0"/>
                  <a:t>Exploration</a:t>
                </a:r>
                <a:r>
                  <a:rPr lang="en-US" dirty="0"/>
                  <a:t>: 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xmlns="">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b="-1913"/>
                </a:stretch>
              </a:blipFill>
            </p:spPr>
            <p:txBody>
              <a:bodyPr/>
              <a:lstStyle/>
              <a:p>
                <a:r>
                  <a:rPr lang="en-US">
                    <a:noFill/>
                  </a:rPr>
                  <a:t> </a:t>
                </a:r>
              </a:p>
            </p:txBody>
          </p:sp>
        </mc:Fallback>
      </mc:AlternateContent>
      <p:sp>
        <p:nvSpPr>
          <p:cNvPr id="3" name="Speech Bubble: Rectangle with Corners Rounded 2">
            <a:extLst>
              <a:ext uri="{FF2B5EF4-FFF2-40B4-BE49-F238E27FC236}">
                <a16:creationId xmlns:a16="http://schemas.microsoft.com/office/drawing/2014/main" id="{7815E3A0-D220-6DF0-66C3-2D98B4375431}"/>
              </a:ext>
            </a:extLst>
          </p:cNvPr>
          <p:cNvSpPr/>
          <p:nvPr/>
        </p:nvSpPr>
        <p:spPr>
          <a:xfrm>
            <a:off x="8426547" y="3268395"/>
            <a:ext cx="2968283" cy="839372"/>
          </a:xfrm>
          <a:prstGeom prst="wedgeRoundRectCallout">
            <a:avLst>
              <a:gd name="adj1" fmla="val -165153"/>
              <a:gd name="adj2" fmla="val 20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biased estimate does not give us the true gradient! This will lead to a </a:t>
            </a:r>
            <a:r>
              <a:rPr lang="en-US" sz="1400" b="1" dirty="0"/>
              <a:t>semi-gradient method</a:t>
            </a:r>
            <a:r>
              <a:rPr lang="en-US" sz="1400" dirty="0"/>
              <a:t>.</a:t>
            </a:r>
          </a:p>
        </p:txBody>
      </p:sp>
      <mc:AlternateContent xmlns:mc="http://schemas.openxmlformats.org/markup-compatibility/2006">
        <mc:Choice xmlns:a14="http://schemas.microsoft.com/office/drawing/2010/main" Requires="a14">
          <p:sp>
            <p:nvSpPr>
              <p:cNvPr id="6" name="Speech Bubble: Rectangle with Corners Rounded 5">
                <a:extLst>
                  <a:ext uri="{FF2B5EF4-FFF2-40B4-BE49-F238E27FC236}">
                    <a16:creationId xmlns:a16="http://schemas.microsoft.com/office/drawing/2014/main" id="{C1B2CB9B-9BA8-84DE-A2BC-5395ABECDB1E}"/>
                  </a:ext>
                </a:extLst>
              </p:cNvPr>
              <p:cNvSpPr/>
              <p:nvPr/>
            </p:nvSpPr>
            <p:spPr>
              <a:xfrm>
                <a:off x="8426547" y="4495862"/>
                <a:ext cx="2968282" cy="839371"/>
              </a:xfrm>
              <a:prstGeom prst="wedgeRoundRectCallout">
                <a:avLst>
                  <a:gd name="adj1" fmla="val -75161"/>
                  <a:gd name="adj2" fmla="val 937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update of </a:t>
                </a:r>
                <a14:m>
                  <m:oMath xmlns:m="http://schemas.openxmlformats.org/officeDocument/2006/math">
                    <m:r>
                      <a:rPr lang="en-US" sz="1400" b="1" i="1">
                        <a:latin typeface="Cambria Math" panose="02040503050406030204" pitchFamily="18" charset="0"/>
                      </a:rPr>
                      <m:t>𝒘</m:t>
                    </m:r>
                  </m:oMath>
                </a14:m>
                <a:r>
                  <a:rPr lang="en-US" sz="1400" dirty="0"/>
                  <a:t> may have changed </a:t>
                </a:r>
                <a14:m>
                  <m:oMath xmlns:m="http://schemas.openxmlformats.org/officeDocument/2006/math">
                    <m:acc>
                      <m:accPr>
                        <m:chr m:val="̂"/>
                        <m:ctrlPr>
                          <a:rPr lang="en-US" sz="1400" i="1">
                            <a:latin typeface="Cambria Math" panose="02040503050406030204" pitchFamily="18" charset="0"/>
                          </a:rPr>
                        </m:ctrlPr>
                      </m:accPr>
                      <m:e>
                        <m:r>
                          <a:rPr lang="en-US" sz="1400" i="1">
                            <a:latin typeface="Cambria Math" panose="02040503050406030204" pitchFamily="18" charset="0"/>
                          </a:rPr>
                          <m:t>𝑞</m:t>
                        </m:r>
                      </m:e>
                    </m:acc>
                  </m:oMath>
                </a14:m>
                <a:r>
                  <a:rPr lang="en-US" sz="1400" dirty="0"/>
                  <a:t> for several states and actions! May be an issue with improvement.</a:t>
                </a:r>
              </a:p>
            </p:txBody>
          </p:sp>
        </mc:Choice>
        <mc:Fallback>
          <p:sp>
            <p:nvSpPr>
              <p:cNvPr id="6" name="Speech Bubble: Rectangle with Corners Rounded 5">
                <a:extLst>
                  <a:ext uri="{FF2B5EF4-FFF2-40B4-BE49-F238E27FC236}">
                    <a16:creationId xmlns:a16="http://schemas.microsoft.com/office/drawing/2014/main" id="{C1B2CB9B-9BA8-84DE-A2BC-5395ABECDB1E}"/>
                  </a:ext>
                </a:extLst>
              </p:cNvPr>
              <p:cNvSpPr>
                <a:spLocks noRot="1" noChangeAspect="1" noMove="1" noResize="1" noEditPoints="1" noAdjustHandles="1" noChangeArrowheads="1" noChangeShapeType="1" noTextEdit="1"/>
              </p:cNvSpPr>
              <p:nvPr/>
            </p:nvSpPr>
            <p:spPr>
              <a:xfrm>
                <a:off x="8426547" y="4495862"/>
                <a:ext cx="2968282" cy="839371"/>
              </a:xfrm>
              <a:prstGeom prst="wedgeRoundRectCallout">
                <a:avLst>
                  <a:gd name="adj1" fmla="val -75161"/>
                  <a:gd name="adj2" fmla="val 9379"/>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animBg="1"/>
      <p:bldP spid="6"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mc:Choice xmlns:a14="http://schemas.microsoft.com/office/drawing/2010/main"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70000" lnSpcReduction="20000"/>
              </a:bodyPr>
              <a:lstStyle/>
              <a:p>
                <a:pPr marL="0" indent="0">
                  <a:buNone/>
                </a:pPr>
                <a:r>
                  <a:rPr lang="en-US" b="1" dirty="0"/>
                  <a:t>Issue</a:t>
                </a:r>
                <a:r>
                  <a:rPr lang="en-US" dirty="0"/>
                  <a:t>: 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pPr marL="0" indent="0">
                  <a:buNone/>
                </a:pPr>
                <a:endParaRPr lang="en-US" dirty="0"/>
              </a:p>
              <a:p>
                <a:pPr marL="0" indent="0">
                  <a:buNone/>
                </a:pPr>
                <a:r>
                  <a:rPr lang="en-US" dirty="0" err="1"/>
                  <a:t>Geramifard</a:t>
                </a:r>
                <a:r>
                  <a:rPr lang="en-US" dirty="0"/>
                  <a:t> et al. (2013)* suggest estimating values for each action separately:</a:t>
                </a:r>
              </a:p>
              <a:p>
                <a:r>
                  <a:rPr lang="en-US" dirty="0"/>
                  <a:t>Different state-feature weights for each action.</a:t>
                </a:r>
              </a:p>
              <a:p>
                <a:r>
                  <a:rPr lang="en-US" dirty="0"/>
                  <a:t>For prediction/update, only the intercept and the weights belonging to the action are used.</a:t>
                </a:r>
              </a:p>
              <a:p>
                <a:pPr marL="0" indent="0">
                  <a:buNone/>
                </a:pPr>
                <a:endParaRPr lang="en-US" b="1" dirty="0"/>
              </a:p>
              <a:p>
                <a:pPr marL="0" indent="0">
                  <a:buNone/>
                </a:pPr>
                <a:r>
                  <a:rPr lang="en-US" b="1" dirty="0"/>
                  <a:t>Example</a:t>
                </a:r>
                <a:r>
                  <a:rPr lang="en-US" dirty="0"/>
                  <a:t>: States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coordinates + 3 action</a:t>
                </a:r>
              </a:p>
              <a:p>
                <a:r>
                  <a:rPr lang="en-US" dirty="0"/>
                  <a:t>Weight vector</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r>
                      <a:rPr lang="en-US" b="0" i="0" smtClean="0">
                        <a:latin typeface="Cambria Math" panose="02040503050406030204" pitchFamily="18" charset="0"/>
                      </a:rPr>
                      <m:t>)</m:t>
                    </m:r>
                  </m:oMath>
                </a14:m>
                <a:br>
                  <a:rPr lang="en-US" dirty="0"/>
                </a:br>
                <a:endParaRPr lang="en-US" dirty="0"/>
              </a:p>
              <a:p>
                <a:endParaRPr lang="en-US" dirty="0"/>
              </a:p>
              <a:p>
                <a:r>
                  <a:rPr lang="en-US" dirty="0"/>
                  <a:t>Example state-action feature vector for state (1,3) and action 2:</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1,</m:t>
                            </m:r>
                            <m:r>
                              <a:rPr lang="en-US" b="0" i="1" smtClean="0">
                                <a:latin typeface="Cambria Math" panose="02040503050406030204" pitchFamily="18" charset="0"/>
                              </a:rPr>
                              <m:t>𝑦</m:t>
                            </m:r>
                            <m:r>
                              <a:rPr lang="en-US" b="0" i="1" smtClean="0">
                                <a:latin typeface="Cambria Math" panose="02040503050406030204" pitchFamily="18" charset="0"/>
                              </a:rPr>
                              <m:t>=3, </m:t>
                            </m:r>
                            <m:r>
                              <m:rPr>
                                <m:nor/>
                              </m:rPr>
                              <a:rPr lang="en-US" b="0" i="0" smtClean="0">
                                <a:latin typeface="Cambria Math" panose="02040503050406030204" pitchFamily="18" charset="0"/>
                              </a:rPr>
                              <m:t>action</m:t>
                            </m:r>
                            <m:r>
                              <a:rPr lang="en-US" b="0" i="1" smtClean="0">
                                <a:latin typeface="Cambria Math" panose="02040503050406030204" pitchFamily="18" charset="0"/>
                              </a:rPr>
                              <m:t>2</m:t>
                            </m:r>
                          </m:e>
                        </m:d>
                      </m:e>
                    </m:d>
                    <m:r>
                      <a:rPr lang="en-US" b="0" i="1" smtClean="0">
                        <a:latin typeface="Cambria Math" panose="02040503050406030204" pitchFamily="18" charset="0"/>
                      </a:rPr>
                      <m:t>=(1,0,0,1,3,0,0)</m:t>
                    </m:r>
                  </m:oMath>
                </a14:m>
                <a:endParaRPr lang="en-US" dirty="0"/>
              </a:p>
            </p:txBody>
          </p:sp>
        </mc:Choice>
        <mc:Fallback>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3" name="Speech Bubble: Rectangle with Corners Rounded 2">
                <a:extLst>
                  <a:ext uri="{FF2B5EF4-FFF2-40B4-BE49-F238E27FC236}">
                    <a16:creationId xmlns:a16="http://schemas.microsoft.com/office/drawing/2014/main" id="{C389D129-8D15-AAF4-0D05-9E4C560E9C3E}"/>
                  </a:ext>
                </a:extLst>
              </p:cNvPr>
              <p:cNvSpPr/>
              <p:nvPr/>
            </p:nvSpPr>
            <p:spPr>
              <a:xfrm>
                <a:off x="6656882" y="6186550"/>
                <a:ext cx="3533720" cy="306310"/>
              </a:xfrm>
              <a:prstGeom prst="wedgeRoundRectCallout">
                <a:avLst>
                  <a:gd name="adj1" fmla="val -36345"/>
                  <a:gd name="adj2" fmla="val -12271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With features: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r>
                      <a:rPr lang="en-US" b="0" i="1" smtClean="0">
                        <a:latin typeface="Cambria Math" panose="02040503050406030204" pitchFamily="18" charset="0"/>
                      </a:rPr>
                      <m:t>, </m:t>
                    </m:r>
                    <m:r>
                      <a:rPr lang="en-US" b="1" i="1" smtClean="0">
                        <a:latin typeface="Cambria Math" panose="02040503050406030204" pitchFamily="18" charset="0"/>
                      </a:rPr>
                      <m:t>𝒘</m:t>
                    </m:r>
                    <m:r>
                      <a:rPr lang="en-US" b="0" i="1" smtClean="0">
                        <a:latin typeface="Cambria Math" panose="02040503050406030204" pitchFamily="18" charset="0"/>
                      </a:rPr>
                      <m:t>))</m:t>
                    </m:r>
                  </m:oMath>
                </a14:m>
                <a:endParaRPr lang="en-US" dirty="0"/>
              </a:p>
            </p:txBody>
          </p:sp>
        </mc:Choice>
        <mc:Fallback xmlns="">
          <p:sp>
            <p:nvSpPr>
              <p:cNvPr id="3" name="Speech Bubble: Rectangle with Corners Rounded 2">
                <a:extLst>
                  <a:ext uri="{FF2B5EF4-FFF2-40B4-BE49-F238E27FC236}">
                    <a16:creationId xmlns:a16="http://schemas.microsoft.com/office/drawing/2014/main" id="{C389D129-8D15-AAF4-0D05-9E4C560E9C3E}"/>
                  </a:ext>
                </a:extLst>
              </p:cNvPr>
              <p:cNvSpPr>
                <a:spLocks noRot="1" noChangeAspect="1" noMove="1" noResize="1" noEditPoints="1" noAdjustHandles="1" noChangeArrowheads="1" noChangeShapeType="1" noTextEdit="1"/>
              </p:cNvSpPr>
              <p:nvPr/>
            </p:nvSpPr>
            <p:spPr>
              <a:xfrm>
                <a:off x="6656882" y="6186550"/>
                <a:ext cx="3533720" cy="306310"/>
              </a:xfrm>
              <a:prstGeom prst="wedgeRoundRectCallout">
                <a:avLst>
                  <a:gd name="adj1" fmla="val -36345"/>
                  <a:gd name="adj2" fmla="val -122717"/>
                  <a:gd name="adj3" fmla="val 16667"/>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D2F6960-1187-BD68-9E21-082BFDC3AB9C}"/>
                  </a:ext>
                </a:extLst>
              </p:cNvPr>
              <p:cNvSpPr/>
              <p:nvPr/>
            </p:nvSpPr>
            <p:spPr>
              <a:xfrm>
                <a:off x="9690547" y="4389408"/>
                <a:ext cx="2092910" cy="969485"/>
              </a:xfrm>
              <a:prstGeom prst="wedgeRoundRectCallout">
                <a:avLst>
                  <a:gd name="adj1" fmla="val -59259"/>
                  <a:gd name="adj2" fmla="val 8718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Gradient is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oMath>
                </a14:m>
                <a:r>
                  <a:rPr lang="en-US" dirty="0"/>
                  <a:t> for linear approximation</a:t>
                </a:r>
              </a:p>
            </p:txBody>
          </p:sp>
        </mc:Choice>
        <mc:Fallback xmlns="">
          <p:sp>
            <p:nvSpPr>
              <p:cNvPr id="10" name="Speech Bubble: Rectangle with Corners Rounded 9">
                <a:extLst>
                  <a:ext uri="{FF2B5EF4-FFF2-40B4-BE49-F238E27FC236}">
                    <a16:creationId xmlns:a16="http://schemas.microsoft.com/office/drawing/2014/main" id="{5D2F6960-1187-BD68-9E21-082BFDC3AB9C}"/>
                  </a:ext>
                </a:extLst>
              </p:cNvPr>
              <p:cNvSpPr>
                <a:spLocks noRot="1" noChangeAspect="1" noMove="1" noResize="1" noEditPoints="1" noAdjustHandles="1" noChangeArrowheads="1" noChangeShapeType="1" noTextEdit="1"/>
              </p:cNvSpPr>
              <p:nvPr/>
            </p:nvSpPr>
            <p:spPr>
              <a:xfrm>
                <a:off x="9690547" y="4389408"/>
                <a:ext cx="2092910" cy="969485"/>
              </a:xfrm>
              <a:prstGeom prst="wedgeRoundRectCallout">
                <a:avLst>
                  <a:gd name="adj1" fmla="val -59259"/>
                  <a:gd name="adj2" fmla="val 87183"/>
                  <a:gd name="adj3" fmla="val 16667"/>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01160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Considerations for Continuing Tasks</a:t>
            </a:r>
          </a:p>
        </p:txBody>
      </p:sp>
      <mc:AlternateContent xmlns:mc="http://schemas.openxmlformats.org/markup-compatibility/2006" xmlns:a14="http://schemas.microsoft.com/office/drawing/2010/main">
        <mc:Choice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between states and it is often better to focus on the long-run </a:t>
                </a:r>
                <a:r>
                  <a:rPr lang="en-US" b="1" dirty="0"/>
                  <a:t>average reward of a policy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Subtracting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r>
                      <a:rPr lang="en-US" i="1">
                        <a:latin typeface="Cambria Math" panose="02040503050406030204" pitchFamily="18" charset="0"/>
                      </a:rPr>
                      <m:t> </m:t>
                    </m:r>
                  </m:oMath>
                </a14:m>
                <a:r>
                  <a:rPr lang="en-US" dirty="0"/>
                  <a:t>makes sure that the infinite sum does not diverge.</a:t>
                </a:r>
              </a:p>
              <a:p>
                <a:r>
                  <a:rPr lang="en-US" dirty="0"/>
                  <a:t>Differential returns lead to differential value functions. </a:t>
                </a:r>
              </a:p>
            </p:txBody>
          </p:sp>
        </mc:Choice>
        <mc:Fallback xmlns="">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0F6DEFDC-C726-3B0D-3E63-A5F03C0A16E8}"/>
              </a:ext>
            </a:extLst>
          </p:cNvPr>
          <p:cNvSpPr/>
          <p:nvPr/>
        </p:nvSpPr>
        <p:spPr>
          <a:xfrm>
            <a:off x="8833757" y="3102429"/>
            <a:ext cx="2441122" cy="1110342"/>
          </a:xfrm>
          <a:prstGeom prst="wedgeRoundRectCallout">
            <a:avLst>
              <a:gd name="adj1" fmla="val -115555"/>
              <a:gd name="adj2" fmla="val -416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average reward  does not depend on the start state.</a:t>
            </a:r>
          </a:p>
        </p:txBody>
      </p:sp>
    </p:spTree>
    <p:extLst>
      <p:ext uri="{BB962C8B-B14F-4D97-AF65-F5344CB8AC3E}">
        <p14:creationId xmlns:p14="http://schemas.microsoft.com/office/powerpoint/2010/main" val="977719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 y="1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70" y="1873770"/>
                <a:ext cx="5822428" cy="4303193"/>
              </a:xfrm>
            </p:spPr>
            <p:txBody>
              <a:bodyPr>
                <a:normAutofit fontScale="85000" lnSpcReduction="10000"/>
              </a:bodyPr>
              <a:lstStyle/>
              <a:p>
                <a:pPr algn="ctr"/>
                <a:r>
                  <a:rPr lang="en-US" sz="1700" dirty="0"/>
                  <a:t>Approximate the value function using parametrized functions: 	</a:t>
                </a:r>
                <a:br>
                  <a:rPr lang="en-US" sz="1700" dirty="0"/>
                </a:br>
                <a14:m>
                  <m:oMath xmlns:m="http://schemas.openxmlformats.org/officeDocument/2006/math">
                    <m:r>
                      <a:rPr lang="en-US" sz="1700" b="0" i="0" smtClean="0">
                        <a:latin typeface="Cambria Math" panose="02040503050406030204" pitchFamily="18" charset="0"/>
                      </a:rPr>
                      <m:t>             </m:t>
                    </m:r>
                  </m:oMath>
                </a14:m>
                <a:br>
                  <a:rPr lang="en-US" sz="1700" b="0" i="0" dirty="0">
                    <a:latin typeface="Cambria Math" panose="02040503050406030204" pitchFamily="18" charset="0"/>
                  </a:rPr>
                </a:br>
                <a14:m>
                  <m:oMath xmlns:m="http://schemas.openxmlformats.org/officeDocument/2006/math">
                    <m:acc>
                      <m:accPr>
                        <m:chr m:val="̂"/>
                        <m:ctrlPr>
                          <a:rPr lang="en-US" sz="1700" b="0" i="1">
                            <a:latin typeface="Cambria Math" panose="02040503050406030204" pitchFamily="18" charset="0"/>
                          </a:rPr>
                        </m:ctrlPr>
                      </m:accPr>
                      <m:e>
                        <m:r>
                          <a:rPr lang="en-US" sz="1700" b="0" i="1">
                            <a:latin typeface="Cambria Math" panose="02040503050406030204" pitchFamily="18" charset="0"/>
                          </a:rPr>
                          <m:t>𝑣</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b="1" i="1">
                            <a:latin typeface="Cambria Math" panose="02040503050406030204" pitchFamily="18" charset="0"/>
                          </a:rPr>
                          <m:t>𝒘</m:t>
                        </m:r>
                      </m:e>
                    </m:d>
                  </m:oMath>
                </a14:m>
                <a:r>
                  <a:rPr lang="en-US" sz="1700" dirty="0"/>
                  <a:t>  or   </a:t>
                </a:r>
                <a14:m>
                  <m:oMath xmlns:m="http://schemas.openxmlformats.org/officeDocument/2006/math">
                    <m:acc>
                      <m:accPr>
                        <m:chr m:val="̂"/>
                        <m:ctrlPr>
                          <a:rPr lang="en-US" sz="1700" i="1">
                            <a:latin typeface="Cambria Math" panose="02040503050406030204" pitchFamily="18" charset="0"/>
                          </a:rPr>
                        </m:ctrlPr>
                      </m:accPr>
                      <m:e>
                        <m:r>
                          <a:rPr lang="en-US" sz="1700" i="1">
                            <a:latin typeface="Cambria Math" panose="02040503050406030204" pitchFamily="18" charset="0"/>
                          </a:rPr>
                          <m:t>𝑞</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i="1">
                            <a:latin typeface="Cambria Math" panose="02040503050406030204" pitchFamily="18" charset="0"/>
                          </a:rPr>
                          <m:t>𝑎</m:t>
                        </m:r>
                        <m:r>
                          <a:rPr lang="en-US" sz="1700" i="1">
                            <a:latin typeface="Cambria Math" panose="02040503050406030204" pitchFamily="18" charset="0"/>
                          </a:rPr>
                          <m:t>,</m:t>
                        </m:r>
                        <m:r>
                          <a:rPr lang="en-US" sz="1700" b="1" i="1">
                            <a:latin typeface="Cambria Math" panose="02040503050406030204" pitchFamily="18" charset="0"/>
                          </a:rPr>
                          <m:t>𝒘</m:t>
                        </m:r>
                      </m:e>
                    </m:d>
                  </m:oMath>
                </a14:m>
                <a:endParaRPr lang="en-US" sz="1700" dirty="0"/>
              </a:p>
              <a:p>
                <a:endParaRPr lang="en-US" sz="1700" dirty="0"/>
              </a:p>
              <a:p>
                <a:r>
                  <a:rPr lang="en-US" sz="1700" dirty="0"/>
                  <a:t>For linear approximation, we need to create </a:t>
                </a:r>
                <a:r>
                  <a:rPr lang="en-US" sz="1700" b="1" dirty="0"/>
                  <a:t>features</a:t>
                </a:r>
                <a:r>
                  <a:rPr lang="en-US" sz="1700" dirty="0"/>
                  <a:t> that take non-linearities and the interaction of state components into account. Popular are: </a:t>
                </a:r>
              </a:p>
              <a:p>
                <a:pPr lvl="1"/>
                <a:r>
                  <a:rPr lang="en-US" sz="1700" dirty="0"/>
                  <a:t>Fourier basis features </a:t>
                </a:r>
              </a:p>
              <a:p>
                <a:pPr lvl="1"/>
                <a:r>
                  <a:rPr lang="en-US" sz="1700" dirty="0"/>
                  <a:t>Tile coding</a:t>
                </a:r>
              </a:p>
              <a:p>
                <a:endParaRPr lang="en-US" sz="1700" dirty="0"/>
              </a:p>
              <a:p>
                <a:r>
                  <a:rPr lang="en-US" sz="1700" dirty="0"/>
                  <a:t>Use </a:t>
                </a:r>
                <a:r>
                  <a:rPr lang="en-US" sz="1700" b="1" dirty="0"/>
                  <a:t>SGD or semi-gradient descent </a:t>
                </a:r>
                <a:r>
                  <a:rPr lang="en-US" sz="1700" dirty="0"/>
                  <a:t>to learn </a:t>
                </a:r>
                <a14:m>
                  <m:oMath xmlns:m="http://schemas.openxmlformats.org/officeDocument/2006/math">
                    <m:r>
                      <a:rPr lang="en-US" sz="1700" b="1" i="1">
                        <a:latin typeface="Cambria Math" panose="02040503050406030204" pitchFamily="18" charset="0"/>
                      </a:rPr>
                      <m:t>𝒘</m:t>
                    </m:r>
                  </m:oMath>
                </a14:m>
                <a:r>
                  <a:rPr lang="en-US" sz="17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700" dirty="0"/>
                  <a:t>. The samples already follow the on-policy distribution </a:t>
                </a:r>
                <a14:m>
                  <m:oMath xmlns:m="http://schemas.openxmlformats.org/officeDocument/2006/math">
                    <m:r>
                      <a:rPr lang="en-US" sz="1700" b="0" i="1" smtClean="0">
                        <a:latin typeface="Cambria Math" panose="02040503050406030204" pitchFamily="18" charset="0"/>
                      </a:rPr>
                      <m:t>𝜇</m:t>
                    </m:r>
                    <m:d>
                      <m:dPr>
                        <m:ctrlPr>
                          <a:rPr lang="en-US" sz="1700" b="0" i="1" smtClean="0">
                            <a:latin typeface="Cambria Math" panose="02040503050406030204" pitchFamily="18" charset="0"/>
                          </a:rPr>
                        </m:ctrlPr>
                      </m:dPr>
                      <m:e>
                        <m:r>
                          <a:rPr lang="en-US" sz="1700" b="0" i="1" smtClean="0">
                            <a:latin typeface="Cambria Math" panose="02040503050406030204" pitchFamily="18" charset="0"/>
                          </a:rPr>
                          <m:t>𝑠</m:t>
                        </m:r>
                      </m:e>
                    </m:d>
                    <m:r>
                      <a:rPr lang="en-US" sz="1700" b="0" i="1" smtClean="0">
                        <a:latin typeface="Cambria Math" panose="02040503050406030204" pitchFamily="18" charset="0"/>
                      </a:rPr>
                      <m:t>.</m:t>
                    </m:r>
                  </m:oMath>
                </a14:m>
                <a:endParaRPr lang="en-US" sz="1700" dirty="0"/>
              </a:p>
              <a:p>
                <a:endParaRPr lang="en-US" sz="1700" dirty="0"/>
              </a:p>
              <a:p>
                <a:r>
                  <a:rPr lang="en-US" sz="1700" dirty="0"/>
                  <a:t>Issue: </a:t>
                </a:r>
                <a:r>
                  <a:rPr lang="en-US" sz="1700" b="1" dirty="0"/>
                  <a:t>Convergence</a:t>
                </a:r>
              </a:p>
              <a:p>
                <a:pPr lvl="1"/>
                <a:r>
                  <a:rPr lang="en-US" sz="1300" dirty="0"/>
                  <a:t>Biased target estimates?</a:t>
                </a:r>
              </a:p>
              <a:p>
                <a:pPr lvl="1"/>
                <a:r>
                  <a:rPr lang="en-US" sz="1300" dirty="0"/>
                  <a:t>Linear vs. non-linear approximation.</a:t>
                </a:r>
              </a:p>
              <a:p>
                <a:pPr lvl="1"/>
                <a:r>
                  <a:rPr lang="en-US" sz="1300" dirty="0"/>
                  <a:t>choice of </a:t>
                </a:r>
                <a14:m>
                  <m:oMath xmlns:m="http://schemas.openxmlformats.org/officeDocument/2006/math">
                    <m:r>
                      <a:rPr lang="en-US" sz="1300" b="0" i="1">
                        <a:latin typeface="Cambria Math" panose="02040503050406030204" pitchFamily="18" charset="0"/>
                      </a:rPr>
                      <m:t>𝛼</m:t>
                    </m:r>
                    <m:r>
                      <a:rPr lang="en-US" sz="1300" b="0" i="1" smtClean="0">
                        <a:latin typeface="Cambria Math" panose="02040503050406030204" pitchFamily="18" charset="0"/>
                      </a:rPr>
                      <m:t>.</m:t>
                    </m:r>
                  </m:oMath>
                </a14:m>
                <a:endParaRPr lang="en-US" sz="1300" dirty="0"/>
              </a:p>
            </p:txBody>
          </p:sp>
        </mc:Choice>
        <mc:Fallback xmlns="">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70" y="1873770"/>
                <a:ext cx="5822428" cy="4303193"/>
              </a:xfrm>
              <a:blipFill>
                <a:blip r:embed="rId3"/>
                <a:stretch>
                  <a:fillRect l="-105" t="-992"/>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19946</TotalTime>
  <Words>4047</Words>
  <Application>Microsoft Office PowerPoint</Application>
  <PresentationFormat>Widescreen</PresentationFormat>
  <Paragraphs>426</Paragraphs>
  <Slides>37</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Approximate Solution Methods</vt:lpstr>
      <vt:lpstr>Motivation</vt:lpstr>
      <vt:lpstr>Goals of Generalization in RL</vt:lpstr>
      <vt:lpstr>Prediction: Value Function Approximation</vt:lpstr>
      <vt:lpstr>Prediction Objective ((VE) ̅)</vt:lpstr>
      <vt:lpstr>Learning Goal</vt:lpstr>
      <vt:lpstr>Gradient Methods for Prediction</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Linear Approximation Methods</vt:lpstr>
      <vt:lpstr>Linear Methods</vt:lpstr>
      <vt:lpstr>Feature Vector</vt:lpstr>
      <vt:lpstr>Example: L-Maze with Linear Features</vt:lpstr>
      <vt:lpstr>Feature Construction</vt:lpstr>
      <vt:lpstr>Fourier Basis</vt:lpstr>
      <vt:lpstr>Multi-dimensional Fourier Basis</vt:lpstr>
      <vt:lpstr>Example: L-Maze with Order-2 Fourier Features</vt:lpstr>
      <vt:lpstr>Tile Coding</vt:lpstr>
      <vt:lpstr>Example: L-Maze with Tile Coding</vt:lpstr>
      <vt:lpstr>Tabular RL as a Special Case</vt:lpstr>
      <vt:lpstr>Practical Issue: Partially Observable Environments</vt:lpstr>
      <vt:lpstr>Non-Linear Function Approximation</vt:lpstr>
      <vt:lpstr>Approximation with ANNs</vt:lpstr>
      <vt:lpstr>On-Policy Control with Approximation</vt:lpstr>
      <vt:lpstr>Control Problem</vt:lpstr>
      <vt:lpstr>State-Action Features</vt:lpstr>
      <vt:lpstr>Episodic Semi-gradient Sarsa</vt:lpstr>
      <vt:lpstr>Considerations for 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250</cp:revision>
  <dcterms:created xsi:type="dcterms:W3CDTF">2025-09-08T14:44:49Z</dcterms:created>
  <dcterms:modified xsi:type="dcterms:W3CDTF">2026-10-23T13:54:42Z</dcterms:modified>
</cp:coreProperties>
</file>