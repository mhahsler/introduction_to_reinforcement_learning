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313" r:id="rId3"/>
    <p:sldId id="479" r:id="rId4"/>
    <p:sldId id="393" r:id="rId5"/>
    <p:sldId id="394" r:id="rId6"/>
    <p:sldId id="395" r:id="rId7"/>
    <p:sldId id="396" r:id="rId8"/>
    <p:sldId id="397" r:id="rId9"/>
    <p:sldId id="398" r:id="rId10"/>
    <p:sldId id="399" r:id="rId11"/>
    <p:sldId id="400" r:id="rId12"/>
    <p:sldId id="401" r:id="rId13"/>
    <p:sldId id="405" r:id="rId14"/>
    <p:sldId id="403" r:id="rId15"/>
    <p:sldId id="402" r:id="rId16"/>
    <p:sldId id="404" r:id="rId17"/>
    <p:sldId id="406" r:id="rId18"/>
    <p:sldId id="407" r:id="rId19"/>
    <p:sldId id="409" r:id="rId20"/>
    <p:sldId id="480" r:id="rId21"/>
    <p:sldId id="481" r:id="rId22"/>
    <p:sldId id="413" r:id="rId23"/>
    <p:sldId id="417" r:id="rId24"/>
    <p:sldId id="418" r:id="rId25"/>
    <p:sldId id="412" r:id="rId26"/>
    <p:sldId id="482" r:id="rId27"/>
    <p:sldId id="483" r:id="rId28"/>
    <p:sldId id="410" r:id="rId29"/>
    <p:sldId id="411" r:id="rId30"/>
    <p:sldId id="414" r:id="rId31"/>
    <p:sldId id="421" r:id="rId32"/>
    <p:sldId id="415" r:id="rId33"/>
    <p:sldId id="422" r:id="rId34"/>
    <p:sldId id="42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  <p14:sldId id="483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5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4.png"/><Relationship Id="rId3" Type="http://schemas.openxmlformats.org/officeDocument/2006/relationships/image" Target="../media/image28.png"/><Relationship Id="rId7" Type="http://schemas.openxmlformats.org/officeDocument/2006/relationships/image" Target="../media/image260.png"/><Relationship Id="rId12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9" Type="http://schemas.openxmlformats.org/officeDocument/2006/relationships/image" Target="../media/image31.png"/><Relationship Id="rId14" Type="http://schemas.openxmlformats.org/officeDocument/2006/relationships/image" Target="../media/image29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0.png"/><Relationship Id="rId4" Type="http://schemas.openxmlformats.org/officeDocument/2006/relationships/image" Target="../media/image3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: For one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we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10515600" cy="5045391"/>
              </a:xfrm>
              <a:blipFill>
                <a:blip r:embed="rId2"/>
                <a:stretch>
                  <a:fillRect l="-754" t="-1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/>
              <p:nvPr/>
            </p:nvSpPr>
            <p:spPr>
              <a:xfrm>
                <a:off x="9583748" y="715662"/>
                <a:ext cx="2498896" cy="1039650"/>
              </a:xfrm>
              <a:prstGeom prst="wedgeRoundRectCallout">
                <a:avLst>
                  <a:gd name="adj1" fmla="val -88796"/>
                  <a:gd name="adj2" fmla="val 131331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the squared error for the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748" y="715662"/>
                <a:ext cx="2498896" cy="1039650"/>
              </a:xfrm>
              <a:prstGeom prst="wedgeRoundRectCallout">
                <a:avLst>
                  <a:gd name="adj1" fmla="val -88796"/>
                  <a:gd name="adj2" fmla="val 13133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4F1ECF5-079F-37F0-8938-06EDE4B9A314}"/>
              </a:ext>
            </a:extLst>
          </p:cNvPr>
          <p:cNvSpPr/>
          <p:nvPr/>
        </p:nvSpPr>
        <p:spPr>
          <a:xfrm>
            <a:off x="5730705" y="2330586"/>
            <a:ext cx="2826962" cy="419594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/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  <a:blipFill>
                <a:blip r:embed="rId4"/>
                <a:stretch>
                  <a:fillRect t="-6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Not appropriate for TD or approximation!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keeps learning and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experiences.</a:t>
                </a:r>
              </a:p>
              <a:p>
                <a:pPr lvl="1"/>
                <a:r>
                  <a:rPr lang="en-US" dirty="0"/>
                  <a:t>For SGD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a random feature vector chosen from the input vector distribution.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C2741C91-B039-5B18-326F-F78C9583198F}"/>
              </a:ext>
            </a:extLst>
          </p:cNvPr>
          <p:cNvSpPr/>
          <p:nvPr/>
        </p:nvSpPr>
        <p:spPr>
          <a:xfrm>
            <a:off x="4593562" y="4867519"/>
            <a:ext cx="2570813" cy="292307"/>
          </a:xfrm>
          <a:prstGeom prst="wedgeRoundRectCallout">
            <a:avLst>
              <a:gd name="adj1" fmla="val -110029"/>
              <a:gd name="adj2" fmla="val -1000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To normalize the features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8874177" y="2567065"/>
            <a:ext cx="2315980" cy="861935"/>
          </a:xfrm>
          <a:prstGeom prst="wedgeRoundRectCallout">
            <a:avLst>
              <a:gd name="adj1" fmla="val -65493"/>
              <a:gd name="adj2" fmla="val 880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this satisfies the </a:t>
            </a:r>
            <a:r>
              <a:rPr lang="en-US" dirty="0" err="1"/>
              <a:t>stoch</a:t>
            </a:r>
            <a:r>
              <a:rPr lang="en-US" dirty="0"/>
              <a:t>.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31771" y="4144781"/>
            <a:ext cx="219605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is an extremely strong guarantee!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Fourier series </a:t>
                </a:r>
                <a:r>
                  <a:rPr lang="en-US" dirty="0"/>
                  <a:t>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that we only need to use cosine basis functions. </a:t>
                </a:r>
                <a:endParaRPr lang="en-US" b="1" dirty="0"/>
              </a:p>
              <a:p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  <a:blipFill>
                <a:blip r:embed="rId2"/>
                <a:stretch>
                  <a:fillRect l="-498" t="-3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23416"/>
            <a:chOff x="555214" y="4273987"/>
            <a:chExt cx="10975998" cy="242341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/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is 180° in radians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76022-5188-C8C5-E2FF-F9F27D5220A1}"/>
              </a:ext>
            </a:extLst>
          </p:cNvPr>
          <p:cNvGrpSpPr/>
          <p:nvPr/>
        </p:nvGrpSpPr>
        <p:grpSpPr>
          <a:xfrm>
            <a:off x="9287350" y="1161569"/>
            <a:ext cx="2654378" cy="2539225"/>
            <a:chOff x="9371240" y="792237"/>
            <a:chExt cx="2654378" cy="2539225"/>
          </a:xfrm>
        </p:grpSpPr>
        <p:pic>
          <p:nvPicPr>
            <p:cNvPr id="1028" name="Picture 4" descr="Function '&quot;`UNIQ--postMath-00000001-QINU`&quot;' (in red) is a Fourier series sum of 6 harmonically related sine waves (in blue). Its Fourier transform '&quot;`UNIQ--postMath-00000002-QINU`&quot;' is a frequency-domain representation that reveals the amplitudes of the summed sine waves.">
              <a:extLst>
                <a:ext uri="{FF2B5EF4-FFF2-40B4-BE49-F238E27FC236}">
                  <a16:creationId xmlns:a16="http://schemas.microsoft.com/office/drawing/2014/main" id="{1E00C4C1-B0C6-8D46-6D83-4982BDA325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01712" y="1016040"/>
              <a:ext cx="2381250" cy="1905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EBFB7D-EF21-EEA1-D0B5-97D0785E5CE8}"/>
                </a:ext>
              </a:extLst>
            </p:cNvPr>
            <p:cNvSpPr txBox="1"/>
            <p:nvPr/>
          </p:nvSpPr>
          <p:spPr>
            <a:xfrm>
              <a:off x="9679818" y="3017680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Source: Wikipedia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1CDC3E-E49F-497B-6FDE-BA313756B65E}"/>
                </a:ext>
              </a:extLst>
            </p:cNvPr>
            <p:cNvSpPr txBox="1"/>
            <p:nvPr/>
          </p:nvSpPr>
          <p:spPr>
            <a:xfrm>
              <a:off x="9584743" y="861799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Example</a:t>
              </a:r>
              <a:r>
                <a:rPr lang="en-US" sz="1050" dirty="0"/>
                <a:t>: Fourier Transform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1A2B57-5D62-E99D-69BF-688E1CEF2542}"/>
                </a:ext>
              </a:extLst>
            </p:cNvPr>
            <p:cNvSpPr/>
            <p:nvPr/>
          </p:nvSpPr>
          <p:spPr>
            <a:xfrm>
              <a:off x="9371240" y="792237"/>
              <a:ext cx="2654378" cy="253922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We can 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</a:t>
                </a:r>
                <a:r>
                  <a:rPr lang="en-US" b="1" dirty="0"/>
                  <a:t>overlapping grids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Represent the state by the </a:t>
                </a:r>
                <a:r>
                  <a:rPr lang="en-US" b="1" dirty="0"/>
                  <a:t>“active” tiles </a:t>
                </a:r>
                <a:r>
                  <a:rPr lang="en-US" dirty="0"/>
                  <a:t>in the grids.</a:t>
                </a:r>
              </a:p>
              <a:p>
                <a:r>
                  <a:rPr lang="en-US" b="1" dirty="0"/>
                  <a:t>Similar states will share active tiles</a:t>
                </a:r>
                <a:r>
                  <a:rPr lang="en-US" dirty="0"/>
                  <a:t>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94AC593-803B-989F-4D87-FCF5A79AE08B}"/>
              </a:ext>
            </a:extLst>
          </p:cNvPr>
          <p:cNvSpPr/>
          <p:nvPr/>
        </p:nvSpPr>
        <p:spPr>
          <a:xfrm>
            <a:off x="1247335" y="4562623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D3011-61ED-2F34-FB57-19C3D99CB1AA}"/>
              </a:ext>
            </a:extLst>
          </p:cNvPr>
          <p:cNvSpPr/>
          <p:nvPr/>
        </p:nvSpPr>
        <p:spPr>
          <a:xfrm>
            <a:off x="1445895" y="4335195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8CC8CCF1-F8F1-331B-B2FC-C34026341DC5}"/>
              </a:ext>
            </a:extLst>
          </p:cNvPr>
          <p:cNvSpPr/>
          <p:nvPr/>
        </p:nvSpPr>
        <p:spPr>
          <a:xfrm>
            <a:off x="1366178" y="5951509"/>
            <a:ext cx="1681822" cy="378953"/>
          </a:xfrm>
          <a:prstGeom prst="wedgeRoundRectCallout">
            <a:avLst>
              <a:gd name="adj1" fmla="val -25235"/>
              <a:gd name="adj2" fmla="val -222768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Example tiles</a:t>
            </a:r>
          </a:p>
        </p:txBody>
      </p:sp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DE7C5-DE21-E0E4-C7C7-7B5888EF3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Partially Observable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DF0D-2EFB-FF05-D343-80D8EA27B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Observations may be incomplete or noisy.</a:t>
            </a:r>
          </a:p>
          <a:p>
            <a:endParaRPr lang="en-US" dirty="0"/>
          </a:p>
          <a:p>
            <a:r>
              <a:rPr lang="en-US" dirty="0"/>
              <a:t>Standard model</a:t>
            </a:r>
            <a:r>
              <a:rPr lang="en-US" b="1" dirty="0"/>
              <a:t>: POMDP</a:t>
            </a:r>
            <a:r>
              <a:rPr lang="en-US" dirty="0"/>
              <a:t> with belief states</a:t>
            </a:r>
          </a:p>
          <a:p>
            <a:pPr lvl="1"/>
            <a:r>
              <a:rPr lang="en-US" dirty="0"/>
              <a:t>A key feature is that it learns </a:t>
            </a:r>
            <a:r>
              <a:rPr lang="en-US" b="1" dirty="0"/>
              <a:t>hidden states </a:t>
            </a:r>
            <a:r>
              <a:rPr lang="en-US" dirty="0"/>
              <a:t>depending on the history of actions and observations.</a:t>
            </a:r>
          </a:p>
          <a:p>
            <a:pPr lvl="1"/>
            <a:r>
              <a:rPr lang="en-US" b="1" dirty="0"/>
              <a:t>Impractical</a:t>
            </a:r>
            <a:r>
              <a:rPr lang="en-US" dirty="0"/>
              <a:t> due to the size of the belief state space.</a:t>
            </a:r>
          </a:p>
          <a:p>
            <a:endParaRPr lang="en-US" dirty="0"/>
          </a:p>
          <a:p>
            <a:r>
              <a:rPr lang="en-US" dirty="0"/>
              <a:t>Practical approach: RL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</a:t>
            </a:r>
            <a:r>
              <a:rPr lang="en-US" b="1" dirty="0"/>
              <a:t>compressed representation </a:t>
            </a:r>
            <a:r>
              <a:rPr lang="en-US" dirty="0"/>
              <a:t>with features from current observations and the observation history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Use a (non) linear approximator </a:t>
            </a:r>
            <a:r>
              <a:rPr lang="en-US" dirty="0"/>
              <a:t>on those features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Learn a value function or policy from the compressed representation.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Maze solver where the x and y coordinates are noisy. Using the change in coordinates for the last few steps helps.</a:t>
            </a:r>
          </a:p>
        </p:txBody>
      </p:sp>
    </p:spTree>
    <p:extLst>
      <p:ext uri="{BB962C8B-B14F-4D97-AF65-F5344CB8AC3E}">
        <p14:creationId xmlns:p14="http://schemas.microsoft.com/office/powerpoint/2010/main" val="16057624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Semi-Gradient Sarsa</a:t>
            </a:r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immediate rewards and the average reward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This leads to a differential value function.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 b="-17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850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For linear approximation, 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non-linearities and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105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19581</TotalTime>
  <Words>3261</Words>
  <Application>Microsoft Office PowerPoint</Application>
  <PresentationFormat>Widescreen</PresentationFormat>
  <Paragraphs>352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Partially Observable Environments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223</cp:revision>
  <dcterms:created xsi:type="dcterms:W3CDTF">2025-09-08T14:44:49Z</dcterms:created>
  <dcterms:modified xsi:type="dcterms:W3CDTF">2026-03-30T18:29:09Z</dcterms:modified>
</cp:coreProperties>
</file>