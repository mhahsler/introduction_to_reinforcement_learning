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313" r:id="rId3"/>
    <p:sldId id="479" r:id="rId4"/>
    <p:sldId id="393" r:id="rId5"/>
    <p:sldId id="394" r:id="rId6"/>
    <p:sldId id="395" r:id="rId7"/>
    <p:sldId id="396" r:id="rId8"/>
    <p:sldId id="397" r:id="rId9"/>
    <p:sldId id="398" r:id="rId10"/>
    <p:sldId id="399" r:id="rId11"/>
    <p:sldId id="400" r:id="rId12"/>
    <p:sldId id="401" r:id="rId13"/>
    <p:sldId id="405" r:id="rId14"/>
    <p:sldId id="403" r:id="rId15"/>
    <p:sldId id="402" r:id="rId16"/>
    <p:sldId id="404" r:id="rId17"/>
    <p:sldId id="406" r:id="rId18"/>
    <p:sldId id="407" r:id="rId19"/>
    <p:sldId id="409" r:id="rId20"/>
    <p:sldId id="480" r:id="rId21"/>
    <p:sldId id="481" r:id="rId22"/>
    <p:sldId id="413" r:id="rId23"/>
    <p:sldId id="417" r:id="rId24"/>
    <p:sldId id="418" r:id="rId25"/>
    <p:sldId id="412" r:id="rId26"/>
    <p:sldId id="482" r:id="rId27"/>
    <p:sldId id="410" r:id="rId28"/>
    <p:sldId id="411" r:id="rId29"/>
    <p:sldId id="414" r:id="rId30"/>
    <p:sldId id="421" r:id="rId31"/>
    <p:sldId id="415" r:id="rId32"/>
    <p:sldId id="422" r:id="rId33"/>
    <p:sldId id="424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D9D937E3-D2F3-4C78-9AF6-32D6EE796C8D}">
          <p14:sldIdLst>
            <p14:sldId id="393"/>
            <p14:sldId id="394"/>
            <p14:sldId id="395"/>
            <p14:sldId id="396"/>
            <p14:sldId id="397"/>
          </p14:sldIdLst>
        </p14:section>
        <p14:section name="Prediction: Gradient Methods" id="{EAA0CE26-54AA-4F09-BD7A-ECFC52DE3ABA}">
          <p14:sldIdLst>
            <p14:sldId id="398"/>
            <p14:sldId id="399"/>
            <p14:sldId id="400"/>
            <p14:sldId id="401"/>
            <p14:sldId id="405"/>
            <p14:sldId id="403"/>
            <p14:sldId id="402"/>
            <p14:sldId id="404"/>
          </p14:sldIdLst>
        </p14:section>
        <p14:section name="Linear Approximation Methods" id="{9B11E8D6-BFFA-4307-8A9C-339881B4B930}">
          <p14:sldIdLst>
            <p14:sldId id="406"/>
            <p14:sldId id="407"/>
            <p14:sldId id="409"/>
            <p14:sldId id="480"/>
            <p14:sldId id="481"/>
            <p14:sldId id="413"/>
            <p14:sldId id="417"/>
            <p14:sldId id="418"/>
            <p14:sldId id="412"/>
            <p14:sldId id="482"/>
          </p14:sldIdLst>
        </p14:section>
        <p14:section name="Non-Linear Approximation" id="{10B68F28-6DBA-44FD-8764-061354D77D32}">
          <p14:sldIdLst>
            <p14:sldId id="410"/>
            <p14:sldId id="411"/>
          </p14:sldIdLst>
        </p14:section>
        <p14:section name="Control with Approximation" id="{09883537-7828-4CF9-B6B6-B3ACB6856284}">
          <p14:sldIdLst>
            <p14:sldId id="414"/>
            <p14:sldId id="421"/>
            <p14:sldId id="415"/>
            <p14:sldId id="422"/>
          </p14:sldIdLst>
        </p14:section>
        <p14:section name="Summary" id="{94AB0469-3691-476F-8BF6-D8643C9AFED4}">
          <p14:sldIdLst>
            <p14:sldId id="4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56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104" y="4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7FC57-34F3-4A88-970B-010E7C0EC94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511844-9D4B-44EC-AD7B-A52B8DF8F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46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817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50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13" Type="http://schemas.openxmlformats.org/officeDocument/2006/relationships/image" Target="../media/image34.png"/><Relationship Id="rId3" Type="http://schemas.openxmlformats.org/officeDocument/2006/relationships/image" Target="../media/image28.png"/><Relationship Id="rId7" Type="http://schemas.openxmlformats.org/officeDocument/2006/relationships/image" Target="../media/image260.png"/><Relationship Id="rId12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3.png"/><Relationship Id="rId5" Type="http://schemas.openxmlformats.org/officeDocument/2006/relationships/image" Target="../media/image240.png"/><Relationship Id="rId10" Type="http://schemas.openxmlformats.org/officeDocument/2006/relationships/image" Target="../media/image32.png"/><Relationship Id="rId9" Type="http://schemas.openxmlformats.org/officeDocument/2006/relationships/image" Target="../media/image31.png"/><Relationship Id="rId14" Type="http://schemas.openxmlformats.org/officeDocument/2006/relationships/image" Target="../media/image35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0.png"/><Relationship Id="rId4" Type="http://schemas.openxmlformats.org/officeDocument/2006/relationships/image" Target="../media/image3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7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9" Type="http://schemas.openxmlformats.org/officeDocument/2006/relationships/image" Target="../media/image75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Prediction and Control with Approximation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9-11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6072" y="145911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b="1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Definition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00E35E-EC62-B4C1-A770-AA1A7C6F8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Tabular methods do not scale for large state spaces.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Space complexity</a:t>
                </a:r>
                <a:r>
                  <a:rPr lang="en-US" dirty="0"/>
                  <a:t>: Memory needed for storing the value function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entries as a table.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No Generalization</a:t>
                </a:r>
                <a:r>
                  <a:rPr lang="en-US" dirty="0"/>
                  <a:t>: Many states will never be encountered during learning and therefore cannot be predicted.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Try to find an approximate value function for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with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Requirements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function needs to have a </a:t>
                </a:r>
                <a:r>
                  <a:rPr lang="en-US" b="1" dirty="0"/>
                  <a:t>manageable number of parameters, </a:t>
                </a:r>
                <a:r>
                  <a:rPr lang="en-US" dirty="0"/>
                  <a:t>the weight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≪ 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The function can only depend on </a:t>
                </a:r>
                <a:r>
                  <a:rPr lang="en-US" b="1" dirty="0"/>
                  <a:t>features of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function needs to </a:t>
                </a:r>
                <a:r>
                  <a:rPr lang="en-US" b="1" dirty="0"/>
                  <a:t>generalize</a:t>
                </a:r>
                <a:r>
                  <a:rPr lang="en-US" dirty="0"/>
                  <a:t>, so states with similar features get a similar value. </a:t>
                </a:r>
                <a:br>
                  <a:rPr lang="en-US" dirty="0"/>
                </a:br>
                <a:r>
                  <a:rPr lang="en-US" dirty="0"/>
                  <a:t>Note: Approximation functions do this automatically, since all states share the weight vector and will be affected by changes in the weights.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54" t="-2551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3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DD93-C91F-3B07-9010-4D03C66D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Prediction: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Approach</a:t>
                </a:r>
                <a:r>
                  <a:rPr lang="en-US" dirty="0"/>
                  <a:t>: Use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(supervised learning). </a:t>
                </a:r>
              </a:p>
              <a:p>
                <a:pPr lvl="1"/>
                <a:r>
                  <a:rPr lang="en-US" dirty="0"/>
                  <a:t>We need </a:t>
                </a:r>
                <a:r>
                  <a:rPr lang="en-US" b="1" dirty="0"/>
                  <a:t>training data </a:t>
                </a:r>
                <a:r>
                  <a:rPr lang="en-US" dirty="0"/>
                  <a:t>in the form of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/>
                  <a:t>where the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a “backed-up value” representing the desired value.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Some options for training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MC: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TD(0):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DP: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/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Note</a:t>
                </a:r>
                <a:r>
                  <a:rPr lang="en-US" sz="1400" dirty="0"/>
                  <a:t>: The subscript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for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indicates when the update happens during learning. The subscript is often dropped (we only keep track of the current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dirty="0"/>
                  <a:t>)</a:t>
                </a:r>
                <a:endParaRPr lang="en-US" sz="14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  <a:blipFill>
                <a:blip r:embed="rId3"/>
                <a:stretch>
                  <a:fillRect l="-367" b="-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804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Prediction Objective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9355" b="-36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Learning algorithm</a:t>
                </a:r>
                <a:r>
                  <a:rPr lang="en-US" dirty="0"/>
                  <a:t>: Update the weights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the error for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Note on generalization</a:t>
                </a:r>
                <a:r>
                  <a:rPr lang="en-US" dirty="0"/>
                  <a:t>: Any change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will also affect the prediction for other states and thus reduce or increase their error!</a:t>
                </a:r>
              </a:p>
              <a:p>
                <a:r>
                  <a:rPr lang="en-US" b="1" dirty="0"/>
                  <a:t>Prediction error </a:t>
                </a:r>
                <a:r>
                  <a:rPr lang="en-US" dirty="0"/>
                  <a:t>for state s:        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)−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To calculate the error over all states we need to define how much we care about each state. We use a state distribution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≥0;  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typically the fraction of time spent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obtain data by following a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so samples already comes from this distribution.</a:t>
                </a:r>
              </a:p>
              <a:p>
                <a:pPr lvl="1"/>
                <a:r>
                  <a:rPr lang="en-US" dirty="0"/>
                  <a:t>For continuous tasks,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a stationary distribution called the on-policy distribution. </a:t>
                </a:r>
              </a:p>
              <a:p>
                <a:pPr lvl="1"/>
                <a:r>
                  <a:rPr lang="en-US" dirty="0"/>
                  <a:t>For episodic tasks a near stationary distribution only exists for ergodic</a:t>
                </a:r>
                <a:r>
                  <a:rPr lang="en-US" baseline="30000" dirty="0"/>
                  <a:t>*</a:t>
                </a:r>
                <a:r>
                  <a:rPr lang="en-US" dirty="0"/>
                  <a:t> MDPs with large horizons.</a:t>
                </a:r>
              </a:p>
              <a:p>
                <a:endParaRPr lang="en-US" baseline="-25000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  <a:blipFill>
                <a:blip r:embed="rId3"/>
                <a:stretch>
                  <a:fillRect l="-174" t="-1815" b="-1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/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b="1" dirty="0"/>
                  <a:t>Definition: </a:t>
                </a:r>
                <a:r>
                  <a:rPr lang="en-US" dirty="0"/>
                  <a:t>Mean square value error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  <a:blipFill>
                <a:blip r:embed="rId4"/>
                <a:stretch>
                  <a:fillRect l="-697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/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aseline="30000" dirty="0"/>
                  <a:t>*</a:t>
                </a:r>
                <a:r>
                  <a:rPr lang="en-US" sz="1400" dirty="0"/>
                  <a:t>Ergodic: The Markov process when following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irreducible (all states are reachable) and aperiodic (does not get stuck).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4A1D900-BB11-07B0-E2D8-31AC1D55EED5}"/>
              </a:ext>
            </a:extLst>
          </p:cNvPr>
          <p:cNvSpPr/>
          <p:nvPr/>
        </p:nvSpPr>
        <p:spPr>
          <a:xfrm>
            <a:off x="9500382" y="4468837"/>
            <a:ext cx="2400886" cy="1176997"/>
          </a:xfrm>
          <a:prstGeom prst="wedgeRoundRectCallout">
            <a:avLst>
              <a:gd name="adj1" fmla="val -118735"/>
              <a:gd name="adj2" fmla="val 3461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Remember</a:t>
            </a:r>
            <a:r>
              <a:rPr lang="en-US" sz="1200" dirty="0"/>
              <a:t>: Squared errors useful mathematical and statistical properties that make learning and optimization easier and more effective.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BB76A8-1014-AF99-CD8E-82278A692321}"/>
              </a:ext>
            </a:extLst>
          </p:cNvPr>
          <p:cNvSpPr txBox="1"/>
          <p:nvPr/>
        </p:nvSpPr>
        <p:spPr>
          <a:xfrm>
            <a:off x="9978705" y="3888297"/>
            <a:ext cx="1263635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See Code</a:t>
            </a:r>
          </a:p>
        </p:txBody>
      </p:sp>
    </p:spTree>
    <p:extLst>
      <p:ext uri="{BB962C8B-B14F-4D97-AF65-F5344CB8AC3E}">
        <p14:creationId xmlns:p14="http://schemas.microsoft.com/office/powerpoint/2010/main" val="41443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4" grpId="0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D405-90D9-24C7-33C4-54C5D87B5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Find the parameter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that</a:t>
                </a:r>
                <a:r>
                  <a:rPr lang="en-US" b="1" dirty="0"/>
                  <a:t> </a:t>
                </a:r>
                <a:r>
                  <a:rPr lang="en-US" dirty="0"/>
                  <a:t>leads to the smallest error (the global optimum):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≤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Local optima</a:t>
                </a:r>
                <a:r>
                  <a:rPr lang="en-US" dirty="0"/>
                  <a:t>: Often, we will only find a local optimum where the equation above only holds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a small neighborhood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Policies converge typically way before the value function converges so finding the global optimal value function may not be necessary.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Convergence to the global or a local optimum depends on the used approximation and the learning method. We will discuss this for each method.</a:t>
                </a:r>
              </a:p>
              <a:p>
                <a:r>
                  <a:rPr lang="en-US" b="1" dirty="0"/>
                  <a:t>Bias</a:t>
                </a:r>
                <a:r>
                  <a:rPr lang="en-US" dirty="0"/>
                  <a:t>: Different approximation methods have different bias (are not able to represent the true value function).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69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F2A783-50BF-C7E8-BE3C-FC0157851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Methods for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EF6370-86D1-9264-5816-F21882AD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007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4BBCF-186E-BC4F-CAA3-DBB46E3E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Learning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Setup</a:t>
                </a:r>
              </a:p>
              <a:p>
                <a:pPr lvl="1"/>
                <a:r>
                  <a:rPr lang="en-US" dirty="0"/>
                  <a:t>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learn an approximation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use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hoo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as a </a:t>
                </a:r>
                <a:r>
                  <a:rPr lang="en-US" b="1" dirty="0"/>
                  <a:t>differentiable function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Learning</a:t>
                </a:r>
              </a:p>
              <a:p>
                <a:pPr lvl="1"/>
                <a:r>
                  <a:rPr lang="en-US" dirty="0"/>
                  <a:t>We sample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and observe at each discrete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1, 2, 3, …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a new example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Update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 I.e., make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more similar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Note that the samples automatically follow the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  <a:blipFill>
                <a:blip r:embed="rId2"/>
                <a:stretch>
                  <a:fillRect l="-1043" t="-3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/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For now, we assume that we can assess the correct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  <a:blipFill>
                <a:blip r:embed="rId3"/>
                <a:stretch>
                  <a:fillRect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/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4715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5487"/>
                <a:ext cx="10515600" cy="5045391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Minimize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Update</a:t>
                </a:r>
                <a:r>
                  <a:rPr lang="en-US" dirty="0"/>
                  <a:t>: For one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, we change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   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Stochastic</a:t>
                </a:r>
                <a:r>
                  <a:rPr lang="en-US" dirty="0"/>
                  <a:t>: because update is on a single (randomly chosen) example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Step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dirty="0"/>
                  <a:t>: Since we update towards a sampled value and updates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one state will change the value for other states as well, we use many small updates (small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5487"/>
                <a:ext cx="10515600" cy="5045391"/>
              </a:xfrm>
              <a:blipFill>
                <a:blip r:embed="rId2"/>
                <a:stretch>
                  <a:fillRect l="-754" t="-1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C24791A-2065-2469-FCF2-F9E719EF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SGD: Stochastic-Gradient Descend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/>
              <p:nvPr/>
            </p:nvSpPr>
            <p:spPr>
              <a:xfrm>
                <a:off x="9583748" y="715662"/>
                <a:ext cx="2498896" cy="1039650"/>
              </a:xfrm>
              <a:prstGeom prst="wedgeRoundRectCallout">
                <a:avLst>
                  <a:gd name="adj1" fmla="val -88796"/>
                  <a:gd name="adj2" fmla="val 131331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the squared error for the example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3748" y="715662"/>
                <a:ext cx="2498896" cy="1039650"/>
              </a:xfrm>
              <a:prstGeom prst="wedgeRoundRectCallout">
                <a:avLst>
                  <a:gd name="adj1" fmla="val -88796"/>
                  <a:gd name="adj2" fmla="val 13133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4F1ECF5-079F-37F0-8938-06EDE4B9A314}"/>
              </a:ext>
            </a:extLst>
          </p:cNvPr>
          <p:cNvSpPr/>
          <p:nvPr/>
        </p:nvSpPr>
        <p:spPr>
          <a:xfrm>
            <a:off x="5730705" y="2330586"/>
            <a:ext cx="2826962" cy="419594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/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  <a:blipFill>
                <a:blip r:embed="rId4"/>
                <a:stretch>
                  <a:fillRect t="-67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3192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4956-27FC-B8BE-1553-9FD6E7866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SGD converges to a </a:t>
                </a:r>
                <a:r>
                  <a:rPr lang="en-US" b="1" dirty="0"/>
                  <a:t>local optimum </a:t>
                </a:r>
                <a:r>
                  <a:rPr lang="en-US" dirty="0"/>
                  <a:t>if the </a:t>
                </a:r>
                <a:r>
                  <a:rPr lang="en-US" b="1" dirty="0"/>
                  <a:t>stochastic approximation criterion </a:t>
                </a:r>
                <a:r>
                  <a:rPr lang="en-US" dirty="0"/>
                  <a:t>(Robbins–Monro conditions) is met: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… step size used after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selection of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Popular choices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:</a:t>
                </a:r>
              </a:p>
              <a:p>
                <a:pPr lvl="1"/>
                <a:r>
                  <a:rPr lang="en-US" dirty="0"/>
                  <a:t>Tabular MC 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  which leads to sample averaging.  Not appropriate for TD or approximation!</a:t>
                </a:r>
              </a:p>
              <a:p>
                <a:pPr lvl="1"/>
                <a:r>
                  <a:rPr lang="en-US" dirty="0"/>
                  <a:t>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keeps learning and means a tabular estimate would approach to the mean target after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experiences.</a:t>
                </a:r>
              </a:p>
              <a:p>
                <a:pPr lvl="1"/>
                <a:r>
                  <a:rPr lang="en-US" dirty="0"/>
                  <a:t>For SGD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is a random feature vector chosen from the input vector distribution.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How to choose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in practice</a:t>
                </a:r>
              </a:p>
              <a:p>
                <a:pPr lvl="1"/>
                <a:r>
                  <a:rPr lang="en-US" dirty="0"/>
                  <a:t>Typical values: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0.1, 0.01, 0.001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learning diverges: reduce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by a factor of 10</a:t>
                </a:r>
              </a:p>
              <a:p>
                <a:pPr lvl="1"/>
                <a:r>
                  <a:rPr lang="en-US" dirty="0"/>
                  <a:t>If learning is too slow: increase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bey a factor of 2 to 5.</a:t>
                </a:r>
              </a:p>
              <a:p>
                <a:pPr lvl="1"/>
                <a:r>
                  <a:rPr lang="en-US" dirty="0"/>
                  <a:t>Plot learning curve.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  <a:blipFill>
                <a:blip r:embed="rId2"/>
                <a:stretch>
                  <a:fillRect l="-406" t="-9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C2741C91-B039-5B18-326F-F78C9583198F}"/>
              </a:ext>
            </a:extLst>
          </p:cNvPr>
          <p:cNvSpPr/>
          <p:nvPr/>
        </p:nvSpPr>
        <p:spPr>
          <a:xfrm>
            <a:off x="4593562" y="4867519"/>
            <a:ext cx="2570813" cy="292307"/>
          </a:xfrm>
          <a:prstGeom prst="wedgeRoundRectCallout">
            <a:avLst>
              <a:gd name="adj1" fmla="val -110029"/>
              <a:gd name="adj2" fmla="val -1000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To normalize the features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B080493-DE1F-1886-C258-BECEA4EBB212}"/>
              </a:ext>
            </a:extLst>
          </p:cNvPr>
          <p:cNvSpPr/>
          <p:nvPr/>
        </p:nvSpPr>
        <p:spPr>
          <a:xfrm>
            <a:off x="8874177" y="2567065"/>
            <a:ext cx="2315980" cy="861935"/>
          </a:xfrm>
          <a:prstGeom prst="wedgeRoundRectCallout">
            <a:avLst>
              <a:gd name="adj1" fmla="val -65493"/>
              <a:gd name="adj2" fmla="val 880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Only this satisfies the </a:t>
            </a:r>
            <a:r>
              <a:rPr lang="en-US" dirty="0" err="1"/>
              <a:t>stoch</a:t>
            </a:r>
            <a:r>
              <a:rPr lang="en-US" dirty="0"/>
              <a:t>. approx. criterion.</a:t>
            </a:r>
          </a:p>
        </p:txBody>
      </p:sp>
    </p:spTree>
    <p:extLst>
      <p:ext uri="{BB962C8B-B14F-4D97-AF65-F5344CB8AC3E}">
        <p14:creationId xmlns:p14="http://schemas.microsoft.com/office/powerpoint/2010/main" val="2230633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FE9E-CB37-2E0D-D263-CE657F263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Target Estimate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We have assumed that we know the actual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the update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but that is not the case in RL where we want to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Solution</a:t>
                </a:r>
                <a:r>
                  <a:rPr lang="en-US" dirty="0"/>
                  <a:t>: We can use any target estimate of the expected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instead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SGD converges to a local optimum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is an </a:t>
                </a:r>
                <a:r>
                  <a:rPr lang="en-US" b="1" dirty="0"/>
                  <a:t>unbiased estimate</a:t>
                </a:r>
                <a:r>
                  <a:rPr lang="en-US" dirty="0"/>
                  <a:t>. I.e., 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Examples</a:t>
                </a:r>
                <a:r>
                  <a:rPr lang="en-US" dirty="0"/>
                  <a:t>: </a:t>
                </a:r>
              </a:p>
              <a:p>
                <a:r>
                  <a:rPr lang="en-US" dirty="0"/>
                  <a:t>The Gradient Monte Carlo method uses the unbiased MC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  <a:blipFill>
                <a:blip r:embed="rId2"/>
                <a:stretch>
                  <a:fillRect l="-754" t="-2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6293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2905-E6EC-8819-EE56-53A416915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Monte Carlo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DBCD4-F6F4-7E08-7AC0-D5D908315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124198"/>
            <a:ext cx="10515601" cy="37762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/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dirty="0"/>
                  <a:t>Remember from MC: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blipFill>
                <a:blip r:embed="rId3"/>
                <a:stretch>
                  <a:fillRect l="-1026" t="-2094"/>
                </a:stretch>
              </a:blipFill>
              <a:ln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7761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8EF1A-F8D2-3414-4EA2-D8E03871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and Semi-Gradient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 err="1"/>
                  <a:t>Issue:</a:t>
                </a:r>
                <a:endParaRPr lang="en-US" b="1" dirty="0"/>
              </a:p>
              <a:p>
                <a:r>
                  <a:rPr lang="en-US" dirty="0"/>
                  <a:t>To get the true gradient requires, the target has to be unbiased, fixed and only the prediction can depend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Gradient Monte Carlo Algorithm: </a:t>
                </a:r>
                <a:r>
                  <a:rPr lang="en-US" dirty="0"/>
                  <a:t>Works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is the result of only sampled rewards which are independent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br>
                  <a:rPr lang="en-US" b="1" dirty="0"/>
                </a:br>
                <a:r>
                  <a:rPr lang="en-US" b="1" dirty="0"/>
                  <a:t>Bootstrapping methods </a:t>
                </a:r>
                <a:r>
                  <a:rPr lang="en-US" dirty="0"/>
                  <a:t>(e.g.,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TD): break this requirement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depends on the bootstrap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and thus the current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This does not result in a true gradient, and convergence cannot be guaranteed.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Semi-Gradient Methods:</a:t>
                </a:r>
              </a:p>
              <a:p>
                <a:r>
                  <a:rPr lang="en-US" dirty="0"/>
                  <a:t>If we use the approach with a biased target estimate, then this is called a semi-gradient method.</a:t>
                </a:r>
              </a:p>
              <a:p>
                <a:r>
                  <a:rPr lang="en-US" dirty="0"/>
                  <a:t>Advantages: </a:t>
                </a:r>
              </a:p>
              <a:p>
                <a:pPr lvl="1"/>
                <a:r>
                  <a:rPr lang="en-US" dirty="0"/>
                  <a:t>Are usually faster learners.</a:t>
                </a:r>
              </a:p>
              <a:p>
                <a:pPr lvl="1"/>
                <a:r>
                  <a:rPr lang="en-US" dirty="0"/>
                  <a:t>Often still converge (especially for linear approximators).</a:t>
                </a:r>
              </a:p>
              <a:p>
                <a:pPr lvl="1"/>
                <a:r>
                  <a:rPr lang="en-US" dirty="0"/>
                  <a:t>TD can learn online.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  <a:blipFill>
                <a:blip r:embed="rId2"/>
                <a:stretch>
                  <a:fillRect l="-522" t="-1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7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57E9-08FB-929F-E25C-9E12E8E3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TD(0)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398A0-3D5C-B42F-6A72-E3FFED218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95667"/>
            <a:ext cx="10515601" cy="504183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98F6AF-8EC3-90BA-203C-644C9BAD6DB4}"/>
              </a:ext>
            </a:extLst>
          </p:cNvPr>
          <p:cNvCxnSpPr>
            <a:cxnSpLocks/>
          </p:cNvCxnSpPr>
          <p:nvPr/>
        </p:nvCxnSpPr>
        <p:spPr>
          <a:xfrm>
            <a:off x="3413294" y="5325856"/>
            <a:ext cx="16403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/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a bootstrapped estimate and biased because it uses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Convergence is not guaranteed!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  <a:blipFill>
                <a:blip r:embed="rId3"/>
                <a:stretch>
                  <a:fillRect b="-9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9654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7A09B8-D05A-ACB1-E7C4-C0F943E24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Approximation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The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8762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A0BD-603E-A1B7-4289-5DDE156D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Linear approximation of the state value by the inner product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</a:rPr>
                  <a:t>                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… feature vector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(called basis function)</a:t>
                </a:r>
              </a:p>
              <a:p>
                <a:endParaRPr lang="en-US" dirty="0"/>
              </a:p>
              <a:p>
                <a:r>
                  <a:rPr lang="en-US" b="1" dirty="0"/>
                  <a:t>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b="1" dirty="0"/>
                  <a:t>SGD 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Simple math.</a:t>
                </a:r>
              </a:p>
              <a:p>
                <a:pPr lvl="1"/>
                <a:r>
                  <a:rPr lang="en-US" dirty="0"/>
                  <a:t>Has only one optimum and is </a:t>
                </a:r>
                <a:r>
                  <a:rPr lang="en-US" b="1" dirty="0"/>
                  <a:t>guaranteed to converge </a:t>
                </a:r>
                <a:r>
                  <a:rPr lang="en-US" dirty="0"/>
                  <a:t>to the </a:t>
                </a:r>
                <a:r>
                  <a:rPr lang="en-US" b="1" dirty="0"/>
                  <a:t>global minimum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reduced following the  stochastic approximation condition.</a:t>
                </a:r>
              </a:p>
              <a:p>
                <a:pPr lvl="1"/>
                <a:r>
                  <a:rPr lang="en-US" dirty="0"/>
                  <a:t>Convergence guarantee also holds for </a:t>
                </a:r>
                <a:r>
                  <a:rPr lang="en-US" b="1" dirty="0"/>
                  <a:t>bootstrapping</a:t>
                </a:r>
                <a:r>
                  <a:rPr lang="en-US" dirty="0"/>
                  <a:t> methods like Semi-gradient TD(0)!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D596E5E-8FC3-958A-237C-D0EA03C73879}"/>
              </a:ext>
            </a:extLst>
          </p:cNvPr>
          <p:cNvSpPr/>
          <p:nvPr/>
        </p:nvSpPr>
        <p:spPr>
          <a:xfrm>
            <a:off x="8731771" y="4144781"/>
            <a:ext cx="2196059" cy="697042"/>
          </a:xfrm>
          <a:prstGeom prst="wedgeRoundRectCallout">
            <a:avLst>
              <a:gd name="adj1" fmla="val -37421"/>
              <a:gd name="adj2" fmla="val 8533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This is an extremely strong guarantee!</a:t>
            </a:r>
          </a:p>
        </p:txBody>
      </p:sp>
    </p:spTree>
    <p:extLst>
      <p:ext uri="{BB962C8B-B14F-4D97-AF65-F5344CB8AC3E}">
        <p14:creationId xmlns:p14="http://schemas.microsoft.com/office/powerpoint/2010/main" val="210819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3B4D6-A3D5-E0FF-54DF-4643B6C4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How do we construct the feature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state?</a:t>
                </a:r>
              </a:p>
              <a:p>
                <a:endParaRPr lang="en-US" b="1" dirty="0"/>
              </a:p>
              <a:p>
                <a:r>
                  <a:rPr lang="en-US" b="1" dirty="0"/>
                  <a:t>Initial idea</a:t>
                </a:r>
                <a:r>
                  <a:rPr lang="en-US" dirty="0"/>
                  <a:t>: If the factored state description consists of several numbers (e.g., x and y coordinates), then we can directly use them as the feature vector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This leads to </a:t>
                </a:r>
                <a:r>
                  <a:rPr lang="en-US" b="1" dirty="0"/>
                  <a:t>linear</a:t>
                </a:r>
                <a:r>
                  <a:rPr lang="en-US" dirty="0"/>
                  <a:t> </a:t>
                </a:r>
                <a:r>
                  <a:rPr lang="en-US" b="1" dirty="0"/>
                  <a:t>interpolation </a:t>
                </a:r>
                <a:r>
                  <a:rPr lang="en-US" dirty="0"/>
                  <a:t>learned as a </a:t>
                </a:r>
                <a:r>
                  <a:rPr lang="en-US" b="1" dirty="0"/>
                  <a:t>linear regression.</a:t>
                </a:r>
              </a:p>
              <a:p>
                <a:endParaRPr lang="en-US" b="1" dirty="0"/>
              </a:p>
              <a:p>
                <a:r>
                  <a:rPr lang="en-US" b="1" dirty="0"/>
                  <a:t>Problems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The value function may not depend linearly on the variables used in the state description. </a:t>
                </a:r>
              </a:p>
              <a:p>
                <a:pPr lvl="1"/>
                <a:r>
                  <a:rPr lang="en-US" dirty="0"/>
                  <a:t>Linear regression cannot represent interactions between the variables.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1623" b="-1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0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4CA0-B808-45FE-B59E-061047DB4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46AD2-EED1-29EA-3A8B-33B78243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Linear Features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F159DB-0ACD-AFF4-9E19-467E4B0A81F1}"/>
              </a:ext>
            </a:extLst>
          </p:cNvPr>
          <p:cNvSpPr txBox="1"/>
          <p:nvPr/>
        </p:nvSpPr>
        <p:spPr>
          <a:xfrm>
            <a:off x="1220597" y="1211552"/>
            <a:ext cx="8829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(see Control later) with linear features cannot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A8ADD4-2C01-4341-D827-D48BA71E3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1" y="1871905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D48BFC-E186-4381-4FFE-D8887C304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417" y="1811943"/>
            <a:ext cx="47910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64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808D1-8837-CCB1-E085-F54F15906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D1A6B-6DB7-E864-D2D3-06A84D426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F8D59-91BD-8D3F-17EC-9451FBDC8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Idea</a:t>
            </a:r>
            <a:r>
              <a:rPr lang="en-US" dirty="0"/>
              <a:t>: Use a more flexible, non-linear transform of the state description to construct state features.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will focus on the most popular feature construction methods that work well for RL:</a:t>
            </a:r>
          </a:p>
          <a:p>
            <a:pPr lvl="1"/>
            <a:r>
              <a:rPr lang="en-US" b="1" dirty="0"/>
              <a:t>Fourier Basis:</a:t>
            </a:r>
            <a:r>
              <a:rPr lang="en-US" dirty="0"/>
              <a:t> strong baseline; very efficient; strong guarantees. </a:t>
            </a:r>
          </a:p>
          <a:p>
            <a:pPr lvl="1"/>
            <a:r>
              <a:rPr lang="en-US" b="1" dirty="0"/>
              <a:t>Tile Coding</a:t>
            </a:r>
            <a:r>
              <a:rPr lang="en-US" dirty="0"/>
              <a:t>: coarse coding using tiles, local generalization, very computationally efficient.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Other methods</a:t>
            </a:r>
          </a:p>
          <a:p>
            <a:pPr lvl="1"/>
            <a:r>
              <a:rPr lang="en-US" dirty="0"/>
              <a:t>One-Hot Features: exact representation; no generalization (equivalent to tabular RL)</a:t>
            </a:r>
          </a:p>
          <a:p>
            <a:pPr lvl="1"/>
            <a:r>
              <a:rPr lang="en-US" dirty="0"/>
              <a:t>Coarse Coding using spherical reception fields</a:t>
            </a:r>
          </a:p>
          <a:p>
            <a:pPr lvl="1"/>
            <a:r>
              <a:rPr lang="en-US" dirty="0"/>
              <a:t>Polynomials Features: smooth global generalization.</a:t>
            </a:r>
          </a:p>
          <a:p>
            <a:pPr lvl="1"/>
            <a:r>
              <a:rPr lang="en-US" dirty="0"/>
              <a:t>Radial Basis Functions: smooth local generalization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92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D3E4E-A639-51E3-8016-984AF7493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Fourier Basis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</a:t>
                </a:r>
                <a:r>
                  <a:rPr lang="en-US" b="1" dirty="0"/>
                  <a:t>Fourier series </a:t>
                </a:r>
                <a:r>
                  <a:rPr lang="en-US" dirty="0"/>
                  <a:t>(Fourier transform) represents a periodic function as a weighted sum of sine and cosine basis functions of increasing frequencies.</a:t>
                </a:r>
              </a:p>
              <a:p>
                <a:r>
                  <a:rPr lang="en-US" dirty="0"/>
                  <a:t>State features are not periodic, so we consider only a single period, chosen so that we only need to use cosine basis functions. </a:t>
                </a:r>
                <a:endParaRPr lang="en-US" b="1" dirty="0"/>
              </a:p>
              <a:p>
                <a:r>
                  <a:rPr lang="en-US" b="1" dirty="0"/>
                  <a:t>On dimensional case</a:t>
                </a:r>
                <a:r>
                  <a:rPr lang="en-US" dirty="0"/>
                  <a:t>: state is represented by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:r>
                  <a:rPr lang="en-US" b="0" dirty="0"/>
                  <a:t>	with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frequency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the order of the Fourier basis function</a:t>
                </a:r>
              </a:p>
              <a:p>
                <a:r>
                  <a:rPr lang="en-US" dirty="0"/>
                  <a:t>Strong theoretical foundation: Fourier series can approximate any function.</a:t>
                </a:r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  <a:blipFill>
                <a:blip r:embed="rId2"/>
                <a:stretch>
                  <a:fillRect l="-498" t="-3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969D3EEB-DF2C-E4E0-6C47-A07423C916CC}"/>
              </a:ext>
            </a:extLst>
          </p:cNvPr>
          <p:cNvGrpSpPr/>
          <p:nvPr/>
        </p:nvGrpSpPr>
        <p:grpSpPr>
          <a:xfrm>
            <a:off x="608001" y="4105239"/>
            <a:ext cx="10975998" cy="2423416"/>
            <a:chOff x="555214" y="4273987"/>
            <a:chExt cx="10975998" cy="242341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06EE23C-B5A9-DF31-8286-7EF0B31BE999}"/>
                </a:ext>
              </a:extLst>
            </p:cNvPr>
            <p:cNvGrpSpPr/>
            <p:nvPr/>
          </p:nvGrpSpPr>
          <p:grpSpPr>
            <a:xfrm>
              <a:off x="555214" y="4273987"/>
              <a:ext cx="10975998" cy="2198627"/>
              <a:chOff x="555214" y="4273987"/>
              <a:chExt cx="10975998" cy="219862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7505212-7A05-EF5F-595D-8F58C8B01957}"/>
                  </a:ext>
                </a:extLst>
              </p:cNvPr>
              <p:cNvGrpSpPr/>
              <p:nvPr/>
            </p:nvGrpSpPr>
            <p:grpSpPr>
              <a:xfrm>
                <a:off x="1403011" y="4774425"/>
                <a:ext cx="9702152" cy="1698189"/>
                <a:chOff x="940253" y="3816846"/>
                <a:chExt cx="10311493" cy="2432393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E28C3802-8BE9-3532-FD3E-63D4C67B7343}"/>
                    </a:ext>
                  </a:extLst>
                </p:cNvPr>
                <p:cNvGrpSpPr/>
                <p:nvPr/>
              </p:nvGrpSpPr>
              <p:grpSpPr>
                <a:xfrm>
                  <a:off x="940253" y="3816846"/>
                  <a:ext cx="10311493" cy="2316799"/>
                  <a:chOff x="940253" y="3816846"/>
                  <a:chExt cx="10311493" cy="2316799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3B1C95FD-8690-42B1-E727-B297145964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40253" y="4001512"/>
                    <a:ext cx="10311493" cy="2132133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=4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3866DA77-53C0-752D-ADC9-563106926B59}"/>
                    </a:ext>
                  </a:extLst>
                </p:cNvPr>
                <p:cNvCxnSpPr/>
                <p:nvPr/>
              </p:nvCxnSpPr>
              <p:spPr>
                <a:xfrm>
                  <a:off x="1689197" y="4327695"/>
                  <a:ext cx="0" cy="1507713"/>
                </a:xfrm>
                <a:prstGeom prst="line">
                  <a:avLst/>
                </a:prstGeom>
                <a:ln>
                  <a:headEnd type="triangle" w="med" len="med"/>
                  <a:tailEnd type="non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79E0EE6-A05E-2FC8-DC10-89263EE369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93909" y="4781405"/>
                  <a:ext cx="0" cy="105400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F39E40D-4A5D-52AA-F276-4D237C0077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98620" y="5275437"/>
                  <a:ext cx="0" cy="55997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1E9E864-8136-5401-1AA3-C92C28B36E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7515" y="5674864"/>
                  <a:ext cx="0" cy="160544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D4DD42E0-1896-C9C2-F00F-BD6D113654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70388" y="5846770"/>
                  <a:ext cx="41880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/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b="1" dirty="0"/>
                      <a:t>Example</a:t>
                    </a:r>
                    <a:r>
                      <a:rPr lang="en-US" dirty="0"/>
                      <a:t>: Order-4 Fourier cosine basis creates 4 features plus the intercept for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 </m:t>
                        </m:r>
                      </m:oMath>
                    </a14:m>
                    <a:r>
                      <a:rPr lang="en-US" dirty="0"/>
                      <a:t>for linear approximation.</a:t>
                    </a: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500"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/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9C0D353-A18F-D358-478D-9049A0E1C237}"/>
                </a:ext>
              </a:extLst>
            </p:cNvPr>
            <p:cNvCxnSpPr>
              <a:cxnSpLocks/>
            </p:cNvCxnSpPr>
            <p:nvPr/>
          </p:nvCxnSpPr>
          <p:spPr>
            <a:xfrm>
              <a:off x="4070337" y="6191628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ACC812F-AEFF-E345-9D42-29B26CC073CE}"/>
                </a:ext>
              </a:extLst>
            </p:cNvPr>
            <p:cNvCxnSpPr>
              <a:cxnSpLocks/>
            </p:cNvCxnSpPr>
            <p:nvPr/>
          </p:nvCxnSpPr>
          <p:spPr>
            <a:xfrm>
              <a:off x="6427037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2BA4C85-A58D-76FE-B207-FF7306921EEE}"/>
                </a:ext>
              </a:extLst>
            </p:cNvPr>
            <p:cNvCxnSpPr>
              <a:cxnSpLocks/>
            </p:cNvCxnSpPr>
            <p:nvPr/>
          </p:nvCxnSpPr>
          <p:spPr>
            <a:xfrm>
              <a:off x="8778263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/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.2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(1, .9,.65, .35,. 1)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/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is 180° in radians</a:t>
                </a:r>
              </a:p>
            </p:txBody>
          </p:sp>
        </mc:Choice>
        <mc:Fallback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38876022-5188-C8C5-E2FF-F9F27D5220A1}"/>
              </a:ext>
            </a:extLst>
          </p:cNvPr>
          <p:cNvGrpSpPr/>
          <p:nvPr/>
        </p:nvGrpSpPr>
        <p:grpSpPr>
          <a:xfrm>
            <a:off x="9287350" y="1161569"/>
            <a:ext cx="2654378" cy="2539225"/>
            <a:chOff x="9371240" y="792237"/>
            <a:chExt cx="2654378" cy="2539225"/>
          </a:xfrm>
        </p:grpSpPr>
        <p:pic>
          <p:nvPicPr>
            <p:cNvPr id="1028" name="Picture 4" descr="Function '&quot;`UNIQ--postMath-00000001-QINU`&quot;' (in red) is a Fourier series sum of 6 harmonically related sine waves (in blue). Its Fourier transform '&quot;`UNIQ--postMath-00000002-QINU`&quot;' is a frequency-domain representation that reveals the amplitudes of the summed sine waves.">
              <a:extLst>
                <a:ext uri="{FF2B5EF4-FFF2-40B4-BE49-F238E27FC236}">
                  <a16:creationId xmlns:a16="http://schemas.microsoft.com/office/drawing/2014/main" id="{1E00C4C1-B0C6-8D46-6D83-4982BDA325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01712" y="1016040"/>
              <a:ext cx="2381250" cy="1905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BEBFB7D-EF21-EEA1-D0B5-97D0785E5CE8}"/>
                </a:ext>
              </a:extLst>
            </p:cNvPr>
            <p:cNvSpPr txBox="1"/>
            <p:nvPr/>
          </p:nvSpPr>
          <p:spPr>
            <a:xfrm>
              <a:off x="9679818" y="3017680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/>
                <a:t>Source: Wikipedia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1CDC3E-E49F-497B-6FDE-BA313756B65E}"/>
                </a:ext>
              </a:extLst>
            </p:cNvPr>
            <p:cNvSpPr txBox="1"/>
            <p:nvPr/>
          </p:nvSpPr>
          <p:spPr>
            <a:xfrm>
              <a:off x="9584743" y="861799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b="1" dirty="0"/>
                <a:t>Example</a:t>
              </a:r>
              <a:r>
                <a:rPr lang="en-US" sz="1050" dirty="0"/>
                <a:t>: Fourier Transform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1A2B57-5D62-E99D-69BF-688E1CEF2542}"/>
                </a:ext>
              </a:extLst>
            </p:cNvPr>
            <p:cNvSpPr/>
            <p:nvPr/>
          </p:nvSpPr>
          <p:spPr>
            <a:xfrm>
              <a:off x="9371240" y="792237"/>
              <a:ext cx="2654378" cy="253922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7195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EB7D-CFA3-159A-1C70-D5C5DFF6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E0558-D9C2-9029-7D1D-5171CC7B9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Multi-dimensional 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State is represented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numbers: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                 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∈{0,…,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  <a:blipFill>
                <a:blip r:embed="rId2"/>
                <a:stretch>
                  <a:fillRect l="-522" t="-6593" b="-3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D6AC598-B007-2E2D-CAE3-EEE732E2B4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414"/>
          <a:stretch>
            <a:fillRect/>
          </a:stretch>
        </p:blipFill>
        <p:spPr>
          <a:xfrm>
            <a:off x="5138743" y="2959586"/>
            <a:ext cx="6459944" cy="36017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/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Example: 2-dimensional Fourier cosine features for 6 different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blipFill>
                <a:blip r:embed="rId4"/>
                <a:stretch>
                  <a:fillRect l="-1399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031356C-2FE2-7864-FB2C-A4E9C96E4C56}"/>
              </a:ext>
            </a:extLst>
          </p:cNvPr>
          <p:cNvSpPr/>
          <p:nvPr/>
        </p:nvSpPr>
        <p:spPr>
          <a:xfrm>
            <a:off x="8368715" y="2101026"/>
            <a:ext cx="1885129" cy="586333"/>
          </a:xfrm>
          <a:prstGeom prst="wedgeRoundRectCallout">
            <a:avLst>
              <a:gd name="adj1" fmla="val -43053"/>
              <a:gd name="adj2" fmla="val 989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 means it is constant in that dimension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EF2EBAC-8345-B41A-EF70-BDDB9266812C}"/>
              </a:ext>
            </a:extLst>
          </p:cNvPr>
          <p:cNvSpPr/>
          <p:nvPr/>
        </p:nvSpPr>
        <p:spPr>
          <a:xfrm>
            <a:off x="10253844" y="1375090"/>
            <a:ext cx="1562390" cy="373636"/>
          </a:xfrm>
          <a:prstGeom prst="wedgeRoundRectCallout">
            <a:avLst>
              <a:gd name="adj1" fmla="val -31213"/>
              <a:gd name="adj2" fmla="val 37399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&gt;0 is the frequency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/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=(.5,.8)</m:t>
                      </m:r>
                    </m:oMath>
                  </m:oMathPara>
                </a14:m>
                <a:endParaRPr lang="en-US" sz="1400" b="0" dirty="0"/>
              </a:p>
              <a:p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(0,1))</m:t>
                        </m:r>
                      </m:e>
                    </m:func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=−.8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0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,1))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=−.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>
                  <a:rPr lang="en-US" sz="1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DA81357C-FC4F-172C-ADFA-6EB1780ABEA7}"/>
              </a:ext>
            </a:extLst>
          </p:cNvPr>
          <p:cNvGrpSpPr/>
          <p:nvPr/>
        </p:nvGrpSpPr>
        <p:grpSpPr>
          <a:xfrm>
            <a:off x="4951787" y="3340471"/>
            <a:ext cx="5619708" cy="2979085"/>
            <a:chOff x="4951787" y="3340471"/>
            <a:chExt cx="5619708" cy="297908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F19D8E4-7428-461A-EA29-A617584B4011}"/>
                </a:ext>
              </a:extLst>
            </p:cNvPr>
            <p:cNvGrpSpPr/>
            <p:nvPr/>
          </p:nvGrpSpPr>
          <p:grpSpPr>
            <a:xfrm>
              <a:off x="5214160" y="3435503"/>
              <a:ext cx="5357335" cy="2884053"/>
              <a:chOff x="5214160" y="3435503"/>
              <a:chExt cx="5357335" cy="288405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3C5C89D3-EE63-5400-C3FE-8BA2A82CD652}"/>
                  </a:ext>
                </a:extLst>
              </p:cNvPr>
              <p:cNvGrpSpPr/>
              <p:nvPr/>
            </p:nvGrpSpPr>
            <p:grpSpPr>
              <a:xfrm>
                <a:off x="5214160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061184B-88A1-E299-C8DF-FE3409235A74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5A6221F-D38E-F79C-45AA-22C883F4D933}"/>
                    </a:ext>
                  </a:extLst>
                </p:cNvPr>
                <p:cNvCxnSpPr>
                  <a:cxnSpLocks/>
                  <a:stCxn id="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A30D3973-9B73-5DA6-5531-0C47BF34B4BA}"/>
                    </a:ext>
                  </a:extLst>
                </p:cNvPr>
                <p:cNvCxnSpPr>
                  <a:cxnSpLocks/>
                  <a:stCxn id="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0CDB7F58-6E8C-3365-5CB0-2EC8C57473C1}"/>
                  </a:ext>
                </a:extLst>
              </p:cNvPr>
              <p:cNvGrpSpPr/>
              <p:nvPr/>
            </p:nvGrpSpPr>
            <p:grpSpPr>
              <a:xfrm>
                <a:off x="7453542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783979E-E824-02C0-49CD-6DDE1C8AF31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CEDDF26-B3E0-CEEE-04A5-07F0DF5B0AD3}"/>
                    </a:ext>
                  </a:extLst>
                </p:cNvPr>
                <p:cNvCxnSpPr>
                  <a:cxnSpLocks/>
                  <a:stCxn id="22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2807F95-C422-6F10-5149-ECE8552EFDD0}"/>
                    </a:ext>
                  </a:extLst>
                </p:cNvPr>
                <p:cNvCxnSpPr>
                  <a:cxnSpLocks/>
                  <a:stCxn id="22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427BED36-7845-BE4B-09E4-12E436E10DDB}"/>
                  </a:ext>
                </a:extLst>
              </p:cNvPr>
              <p:cNvGrpSpPr/>
              <p:nvPr/>
            </p:nvGrpSpPr>
            <p:grpSpPr>
              <a:xfrm>
                <a:off x="9600341" y="3435503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E835DC91-5805-8DAE-BB63-1B8CC6FFA2E8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7902F9A-2E37-0013-93A1-1BA57B02D809}"/>
                    </a:ext>
                  </a:extLst>
                </p:cNvPr>
                <p:cNvCxnSpPr>
                  <a:cxnSpLocks/>
                  <a:stCxn id="26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E0E8A7F-053D-9019-516F-DBB49D1C0221}"/>
                    </a:ext>
                  </a:extLst>
                </p:cNvPr>
                <p:cNvCxnSpPr>
                  <a:cxnSpLocks/>
                  <a:stCxn id="26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4442C98-44C1-BF57-8865-72B0CB62549A}"/>
                  </a:ext>
                </a:extLst>
              </p:cNvPr>
              <p:cNvGrpSpPr/>
              <p:nvPr/>
            </p:nvGrpSpPr>
            <p:grpSpPr>
              <a:xfrm>
                <a:off x="5225236" y="5108698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436D42EB-ADFE-2D9E-08A6-7E7D030C239F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8D7ACAC0-06A0-E0E4-6B3D-131B1E3D75F2}"/>
                    </a:ext>
                  </a:extLst>
                </p:cNvPr>
                <p:cNvCxnSpPr>
                  <a:cxnSpLocks/>
                  <a:stCxn id="30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78DF8B15-B0F6-1D5E-7A47-8160A1A082D7}"/>
                    </a:ext>
                  </a:extLst>
                </p:cNvPr>
                <p:cNvCxnSpPr>
                  <a:cxnSpLocks/>
                  <a:stCxn id="30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F03424E-3BD9-8378-A7BD-3B2F0FF173AE}"/>
                  </a:ext>
                </a:extLst>
              </p:cNvPr>
              <p:cNvGrpSpPr/>
              <p:nvPr/>
            </p:nvGrpSpPr>
            <p:grpSpPr>
              <a:xfrm>
                <a:off x="7419867" y="5144471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154AFFE-5CA3-DC57-DF01-16FFEFC4FCD7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9627EDBE-6E64-4526-8387-169CFC8CE096}"/>
                    </a:ext>
                  </a:extLst>
                </p:cNvPr>
                <p:cNvCxnSpPr>
                  <a:cxnSpLocks/>
                  <a:stCxn id="34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076703A-BA47-1A0C-6439-319CEF6CAEFD}"/>
                    </a:ext>
                  </a:extLst>
                </p:cNvPr>
                <p:cNvCxnSpPr>
                  <a:cxnSpLocks/>
                  <a:stCxn id="34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946C286-CAA1-6F10-661C-99C69BFF24E9}"/>
                  </a:ext>
                </a:extLst>
              </p:cNvPr>
              <p:cNvGrpSpPr/>
              <p:nvPr/>
            </p:nvGrpSpPr>
            <p:grpSpPr>
              <a:xfrm>
                <a:off x="9568886" y="5180244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C8131D1-EA3A-531D-E4AF-5CD673DD30A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2805BD08-337C-3FC0-7512-5D1EF17067F2}"/>
                    </a:ext>
                  </a:extLst>
                </p:cNvPr>
                <p:cNvCxnSpPr>
                  <a:cxnSpLocks/>
                  <a:stCxn id="3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2A6609B-DEB9-7B57-7EA4-D74C690F5E52}"/>
                    </a:ext>
                  </a:extLst>
                </p:cNvPr>
                <p:cNvCxnSpPr>
                  <a:cxnSpLocks/>
                  <a:stCxn id="3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E1B44F5-5DFC-EE45-5E4C-A06ED1778595}"/>
                </a:ext>
              </a:extLst>
            </p:cNvPr>
            <p:cNvSpPr txBox="1"/>
            <p:nvPr/>
          </p:nvSpPr>
          <p:spPr>
            <a:xfrm>
              <a:off x="6048568" y="4479784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.5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4FDB532-1688-4720-2C29-A41D304823FF}"/>
                </a:ext>
              </a:extLst>
            </p:cNvPr>
            <p:cNvSpPr txBox="1"/>
            <p:nvPr/>
          </p:nvSpPr>
          <p:spPr>
            <a:xfrm>
              <a:off x="4951787" y="3340471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.8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/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Features are a combination of both state components, representing interactions.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Select only the best features.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We can use a different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400" dirty="0"/>
                  <a:t> for each feature.</a:t>
                </a:r>
              </a:p>
            </p:txBody>
          </p:sp>
        </mc:Choice>
        <mc:Fallback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  <a:blipFill>
                <a:blip r:embed="rId6"/>
                <a:stretch>
                  <a:fillRect b="-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8169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8218-FC1E-7DC2-0BDB-85F80555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L-Maze with Order-2 Fourier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337F39-86C8-E0E0-ED9A-B7AA898B5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97904"/>
            <a:ext cx="5133975" cy="4143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621229-6986-1F7F-41FE-03F1D4D64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462" y="1703266"/>
            <a:ext cx="4791075" cy="4143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BCC4E1-4F2F-E15D-7AB2-C89EEE7462C6}"/>
              </a:ext>
            </a:extLst>
          </p:cNvPr>
          <p:cNvSpPr txBox="1"/>
          <p:nvPr/>
        </p:nvSpPr>
        <p:spPr>
          <a:xfrm>
            <a:off x="1921078" y="1229066"/>
            <a:ext cx="7466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order-2 Fourier Features can solve the L-Maze</a:t>
            </a:r>
          </a:p>
        </p:txBody>
      </p:sp>
    </p:spTree>
    <p:extLst>
      <p:ext uri="{BB962C8B-B14F-4D97-AF65-F5344CB8AC3E}">
        <p14:creationId xmlns:p14="http://schemas.microsoft.com/office/powerpoint/2010/main" val="13632743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1EEA-C033-3A7C-6BEF-3B05BF654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Tile Coding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Partition the space using several </a:t>
                </a:r>
                <a:r>
                  <a:rPr lang="en-US" b="1" dirty="0"/>
                  <a:t>overlapping grids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Represent the state by the </a:t>
                </a:r>
                <a:r>
                  <a:rPr lang="en-US" b="1" dirty="0"/>
                  <a:t>“active” tiles </a:t>
                </a:r>
                <a:r>
                  <a:rPr lang="en-US" dirty="0"/>
                  <a:t>in the grids.</a:t>
                </a:r>
              </a:p>
              <a:p>
                <a:r>
                  <a:rPr lang="en-US" b="1" dirty="0"/>
                  <a:t>Similar states will share active tiles</a:t>
                </a:r>
                <a:r>
                  <a:rPr lang="en-US" dirty="0"/>
                  <a:t>. Leads to a local generalization.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typically chosen to be small since a change will also affect neighboring states. </a:t>
                </a:r>
                <a:br>
                  <a:rPr lang="en-US" dirty="0"/>
                </a:br>
                <a:r>
                  <a:rPr lang="en-US" dirty="0"/>
                  <a:t>Popular: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tilings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  <a:blipFill>
                <a:blip r:embed="rId2"/>
                <a:stretch>
                  <a:fillRect l="-522" t="-5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66987A-C1A2-C925-E70B-BB4DA616A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7" y="3381561"/>
            <a:ext cx="7279757" cy="26618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/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Example</a:t>
                </a:r>
                <a:r>
                  <a:rPr lang="en-US" sz="2000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has two components.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4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4×4</m:t>
                    </m:r>
                  </m:oMath>
                </a14:m>
                <a:r>
                  <a:rPr lang="en-US" sz="2000" dirty="0"/>
                  <a:t> overlapping </a:t>
                </a:r>
                <a:r>
                  <a:rPr lang="en-US" sz="2000" dirty="0" err="1"/>
                  <a:t>tilings</a:t>
                </a:r>
                <a:r>
                  <a:rPr lang="en-US" sz="2000" dirty="0"/>
                  <a:t> give 64 squares.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features: 60 0s and only the four active tiles have a 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blipFill>
                <a:blip r:embed="rId4"/>
                <a:stretch>
                  <a:fillRect l="-2030" t="-1432" b="-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7A12649-C2C4-ED5F-5094-B6C4AD7830E1}"/>
              </a:ext>
            </a:extLst>
          </p:cNvPr>
          <p:cNvGrpSpPr/>
          <p:nvPr/>
        </p:nvGrpSpPr>
        <p:grpSpPr>
          <a:xfrm>
            <a:off x="4479851" y="4849257"/>
            <a:ext cx="1253106" cy="603874"/>
            <a:chOff x="4442224" y="5428331"/>
            <a:chExt cx="1253106" cy="60387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5E45CF6-7235-3CD1-7DE8-C6E0659A42AE}"/>
                </a:ext>
              </a:extLst>
            </p:cNvPr>
            <p:cNvCxnSpPr>
              <a:cxnSpLocks/>
            </p:cNvCxnSpPr>
            <p:nvPr/>
          </p:nvCxnSpPr>
          <p:spPr>
            <a:xfrm>
              <a:off x="5695330" y="5428331"/>
              <a:ext cx="0" cy="603874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1ADE3D4-6EA3-99E2-AB67-C986C31EB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2224" y="5428331"/>
              <a:ext cx="1253106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7F69C6B-93B1-2F6A-CDA0-FB2EBF5957B9}"/>
              </a:ext>
            </a:extLst>
          </p:cNvPr>
          <p:cNvGrpSpPr/>
          <p:nvPr/>
        </p:nvGrpSpPr>
        <p:grpSpPr>
          <a:xfrm>
            <a:off x="4382621" y="3633870"/>
            <a:ext cx="1548574" cy="1601735"/>
            <a:chOff x="4382621" y="3244007"/>
            <a:chExt cx="1548574" cy="160173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52AD79-CCF2-693C-5120-EF04065CEDF9}"/>
                </a:ext>
              </a:extLst>
            </p:cNvPr>
            <p:cNvGrpSpPr/>
            <p:nvPr/>
          </p:nvGrpSpPr>
          <p:grpSpPr>
            <a:xfrm>
              <a:off x="4414283" y="3685809"/>
              <a:ext cx="1516912" cy="268969"/>
              <a:chOff x="4414283" y="3685809"/>
              <a:chExt cx="1516912" cy="26896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30F41D-0B59-96B0-2086-05FD5E0665BF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FBB2C6-5931-2FAD-F938-FE1642874B6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AB7C7A7-F7C6-8ABF-E4F6-630D483A8138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E3262AC-24A6-C62A-08C6-BBEBA5DFDB2C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B927CF8-AF38-CDF8-A9EF-EDEFC6BDA07E}"/>
                </a:ext>
              </a:extLst>
            </p:cNvPr>
            <p:cNvGrpSpPr/>
            <p:nvPr/>
          </p:nvGrpSpPr>
          <p:grpSpPr>
            <a:xfrm>
              <a:off x="4414283" y="4105864"/>
              <a:ext cx="1516912" cy="268969"/>
              <a:chOff x="4414283" y="3685809"/>
              <a:chExt cx="1516912" cy="268969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6EEFEFE-7A14-E54F-9D20-88E0B74EA4AB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B2F481-5134-3AD1-8D30-78CA8E73AB46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89634F-DCFC-FCEC-62BF-CEB7B663196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dirty="0">
                    <a:solidFill>
                      <a:schemeClr val="accent2"/>
                    </a:solidFill>
                  </a:rPr>
                  <a:t>1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237276-F6DD-3DB4-120C-72057CEE1C74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E4B4C3A-C9DE-6BCC-E353-0E9585FE87C7}"/>
                </a:ext>
              </a:extLst>
            </p:cNvPr>
            <p:cNvGrpSpPr/>
            <p:nvPr/>
          </p:nvGrpSpPr>
          <p:grpSpPr>
            <a:xfrm>
              <a:off x="4382621" y="4576773"/>
              <a:ext cx="1516912" cy="268969"/>
              <a:chOff x="4414283" y="3685809"/>
              <a:chExt cx="1516912" cy="268969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547886-135D-9E0C-681F-41CA25C716EA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E32D794-516D-E3FB-3973-FB912E8CE644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A4B7BB-CAEA-8B05-10B1-251225217D35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2758A-527A-2EDE-0548-EDE57550686E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59E18F5-BC4F-0096-E7F1-99D143FB7D6F}"/>
                </a:ext>
              </a:extLst>
            </p:cNvPr>
            <p:cNvGrpSpPr/>
            <p:nvPr/>
          </p:nvGrpSpPr>
          <p:grpSpPr>
            <a:xfrm>
              <a:off x="4403650" y="3244007"/>
              <a:ext cx="1516912" cy="268969"/>
              <a:chOff x="4414283" y="3685809"/>
              <a:chExt cx="1516912" cy="2689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9A9344C-3766-8050-5CDA-60FBC60ADFB5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E9A0132-2099-5363-2A6D-48396ADEE3E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E926400-ADCA-23FE-2D72-7019F2656D5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20D94C-9BA9-9DCC-2303-4A63E6F842FB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017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4A2D-1578-7476-D7A6-187BF2D3D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B23E-3A9D-87D2-B4D6-4F55B204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Tile Coding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558498-9506-9F88-1789-8BB02A9A5A63}"/>
              </a:ext>
            </a:extLst>
          </p:cNvPr>
          <p:cNvSpPr txBox="1"/>
          <p:nvPr/>
        </p:nvSpPr>
        <p:spPr>
          <a:xfrm>
            <a:off x="962025" y="1229066"/>
            <a:ext cx="10016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Tile Coding (4 </a:t>
            </a:r>
            <a:r>
              <a:rPr lang="en-US" dirty="0" err="1"/>
              <a:t>tilings</a:t>
            </a:r>
            <a:r>
              <a:rPr lang="en-US" dirty="0"/>
              <a:t>, 4 tiles per dimension) can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08F3D6-8964-CAE2-4ADA-BAAE74BB0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1703266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DFED3D-EFF1-6553-1DCD-D229508CD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718" y="1703266"/>
            <a:ext cx="4791075" cy="414337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94AC593-803B-989F-4D87-FCF5A79AE08B}"/>
              </a:ext>
            </a:extLst>
          </p:cNvPr>
          <p:cNvSpPr/>
          <p:nvPr/>
        </p:nvSpPr>
        <p:spPr>
          <a:xfrm>
            <a:off x="1247335" y="4562623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5D3011-61ED-2F34-FB57-19C3D99CB1AA}"/>
              </a:ext>
            </a:extLst>
          </p:cNvPr>
          <p:cNvSpPr/>
          <p:nvPr/>
        </p:nvSpPr>
        <p:spPr>
          <a:xfrm>
            <a:off x="1445895" y="4335195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8CC8CCF1-F8F1-331B-B2FC-C34026341DC5}"/>
              </a:ext>
            </a:extLst>
          </p:cNvPr>
          <p:cNvSpPr/>
          <p:nvPr/>
        </p:nvSpPr>
        <p:spPr>
          <a:xfrm>
            <a:off x="1366178" y="5951509"/>
            <a:ext cx="1681822" cy="378953"/>
          </a:xfrm>
          <a:prstGeom prst="wedgeRoundRectCallout">
            <a:avLst>
              <a:gd name="adj1" fmla="val -25235"/>
              <a:gd name="adj2" fmla="val -222768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Example tiles</a:t>
            </a:r>
          </a:p>
        </p:txBody>
      </p:sp>
    </p:spTree>
    <p:extLst>
      <p:ext uri="{BB962C8B-B14F-4D97-AF65-F5344CB8AC3E}">
        <p14:creationId xmlns:p14="http://schemas.microsoft.com/office/powerpoint/2010/main" val="42020418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F3D035-6970-410A-56D5-7B2461C3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Function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42DE7-913C-60BB-DF8E-B71A7E28A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Artificial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6651022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F5B2-EE01-E8E7-270B-299A360A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 with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5F70F-2AC8-FACB-0836-8ACDFA07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166773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Uses simple networks with a single hidden layer or deep architectures to approximate the value function.</a:t>
            </a:r>
          </a:p>
          <a:p>
            <a:r>
              <a:rPr lang="en-US" dirty="0"/>
              <a:t>Methods:</a:t>
            </a:r>
          </a:p>
          <a:p>
            <a:pPr lvl="1"/>
            <a:r>
              <a:rPr lang="en-US" dirty="0"/>
              <a:t>Recurrent networks</a:t>
            </a:r>
          </a:p>
          <a:p>
            <a:pPr lvl="1"/>
            <a:r>
              <a:rPr lang="en-US" dirty="0"/>
              <a:t>Convolution networks</a:t>
            </a:r>
          </a:p>
          <a:p>
            <a:pPr lvl="1"/>
            <a:r>
              <a:rPr lang="en-US" dirty="0"/>
              <a:t>Transformers</a:t>
            </a:r>
          </a:p>
          <a:p>
            <a:pPr lvl="1"/>
            <a:r>
              <a:rPr lang="en-US" dirty="0"/>
              <a:t>Regularization, dropout, weight sharing</a:t>
            </a:r>
          </a:p>
          <a:p>
            <a:pPr lvl="1"/>
            <a:r>
              <a:rPr lang="en-US" dirty="0"/>
              <a:t>Deep residual learning…</a:t>
            </a:r>
          </a:p>
          <a:p>
            <a:r>
              <a:rPr lang="en-US" dirty="0"/>
              <a:t>Networks are trained like linear models using SGD. For deep networks this uses backpropagation.</a:t>
            </a:r>
          </a:p>
          <a:p>
            <a:r>
              <a:rPr lang="en-US" dirty="0"/>
              <a:t>ANNs are non-linear universal approximators so they can learn any value function.</a:t>
            </a:r>
          </a:p>
          <a:p>
            <a:endParaRPr lang="en-US" dirty="0"/>
          </a:p>
          <a:p>
            <a:r>
              <a:rPr lang="en-US" dirty="0"/>
              <a:t>Issues due to nonlinearity: </a:t>
            </a:r>
          </a:p>
          <a:p>
            <a:pPr lvl="1"/>
            <a:r>
              <a:rPr lang="en-US" dirty="0"/>
              <a:t>Instability </a:t>
            </a:r>
          </a:p>
          <a:p>
            <a:pPr lvl="1"/>
            <a:r>
              <a:rPr lang="en-US" dirty="0"/>
              <a:t>Convergence is not guaranteed. </a:t>
            </a:r>
          </a:p>
          <a:p>
            <a:pPr lvl="1"/>
            <a:endParaRPr lang="en-US" dirty="0"/>
          </a:p>
          <a:p>
            <a:r>
              <a:rPr lang="en-US" dirty="0"/>
              <a:t>More in Deep Reinforcement Learning (DRL).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57D9AD-0CBD-4A1C-5DC3-AB0B9432D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07189" y="1193884"/>
            <a:ext cx="3920629" cy="2021412"/>
            <a:chOff x="1129787" y="3714030"/>
            <a:chExt cx="3920629" cy="2021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F9D100-703C-DDBE-4B03-BEFD2675E182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Q-network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71A9B85-1B4A-D529-9559-9A776B1E0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B21E2A-FC1F-C47C-298D-A8BE4E31C4B6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BAD4EA1-AE93-3F2B-EC3E-F51B2C66811C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3C39F9D-742D-29FD-62B5-DCCFB700DAFE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39BE8FB-3F89-4604-BFD7-75A85BD6D11C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EC46C8-4F64-09FC-B2F0-A56DD6F92E13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C7B4CEF-D65D-35AC-4A87-5A2F28622CC6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0546C22-9126-A64F-1E08-4A0774EC5C52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711B356-C322-9A0F-23AA-24070E83601E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21E1B89-F118-CEDE-1ACF-AE210F91AD89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5F536921-5DB2-C484-80A6-5E9CF04774B8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76A5DB0-1825-8BF6-77D6-0FF244514DE9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260347EC-E155-6D6A-8B70-F0ED6F48A3E7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82D0AB-4B22-7144-C127-03639736A49C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2F65F11-4D6B-FB28-45ED-118C8249D263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7796F2B-63A7-0E97-6307-14CC5EC0C7EF}"/>
                  </a:ext>
                </a:extLst>
              </p:cNvPr>
              <p:cNvCxnSpPr>
                <a:cxnSpLocks/>
                <a:stCxn id="16" idx="6"/>
                <a:endCxn id="2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3F73F8A-57DC-A45F-80D1-597D8D1E7A7C}"/>
                  </a:ext>
                </a:extLst>
              </p:cNvPr>
              <p:cNvCxnSpPr>
                <a:cxnSpLocks/>
                <a:stCxn id="17" idx="6"/>
                <a:endCxn id="2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5DB5C0F-C3BC-E7BF-2F36-26E6DF3833FB}"/>
                  </a:ext>
                </a:extLst>
              </p:cNvPr>
              <p:cNvCxnSpPr>
                <a:cxnSpLocks/>
                <a:stCxn id="18" idx="6"/>
                <a:endCxn id="2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39FF92C-6BBC-294B-AFCF-1E61772F3555}"/>
                  </a:ext>
                </a:extLst>
              </p:cNvPr>
              <p:cNvCxnSpPr>
                <a:cxnSpLocks/>
                <a:stCxn id="17" idx="6"/>
                <a:endCxn id="2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304B9364-CECA-C424-2C90-35A01CFD7A25}"/>
                  </a:ext>
                </a:extLst>
              </p:cNvPr>
              <p:cNvCxnSpPr>
                <a:cxnSpLocks/>
                <a:stCxn id="19" idx="6"/>
                <a:endCxn id="2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A59CCCC-0AE5-2C78-1EA0-C8E66CD0B57E}"/>
                  </a:ext>
                </a:extLst>
              </p:cNvPr>
              <p:cNvCxnSpPr>
                <a:cxnSpLocks/>
                <a:stCxn id="18" idx="6"/>
                <a:endCxn id="2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4A3D70BA-B5F3-FBDA-53EC-95B34536CA9D}"/>
                  </a:ext>
                </a:extLst>
              </p:cNvPr>
              <p:cNvCxnSpPr>
                <a:cxnSpLocks/>
                <a:stCxn id="19" idx="6"/>
                <a:endCxn id="2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4FC3790-1DF2-D828-D120-0BF4696D2466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B3FE80B-AAF9-65B2-6618-6FBA7687BD74}"/>
                  </a:ext>
                </a:extLst>
              </p:cNvPr>
              <p:cNvCxnSpPr>
                <a:cxnSpLocks/>
                <a:stCxn id="27" idx="6"/>
                <a:endCxn id="2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0381267-2CEF-0E11-929C-DD78D5BF1536}"/>
                  </a:ext>
                </a:extLst>
              </p:cNvPr>
              <p:cNvCxnSpPr>
                <a:cxnSpLocks/>
                <a:stCxn id="19" idx="6"/>
                <a:endCxn id="2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01AFF4B-B3F2-B01A-3B78-D854F556ACEC}"/>
                  </a:ext>
                </a:extLst>
              </p:cNvPr>
              <p:cNvCxnSpPr>
                <a:cxnSpLocks/>
                <a:stCxn id="18" idx="6"/>
                <a:endCxn id="2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559B934-D7F1-93EE-752D-3B2FFF4009A7}"/>
                  </a:ext>
                </a:extLst>
              </p:cNvPr>
              <p:cNvCxnSpPr>
                <a:cxnSpLocks/>
                <a:stCxn id="16" idx="6"/>
                <a:endCxn id="2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BB7651F-3179-6134-080A-D638453A6BF9}"/>
                  </a:ext>
                </a:extLst>
              </p:cNvPr>
              <p:cNvCxnSpPr>
                <a:cxnSpLocks/>
                <a:stCxn id="18" idx="6"/>
                <a:endCxn id="2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97768FA7-7107-9EE3-4CF5-BED604BA12B4}"/>
                  </a:ext>
                </a:extLst>
              </p:cNvPr>
              <p:cNvCxnSpPr>
                <a:cxnSpLocks/>
                <a:stCxn id="20" idx="6"/>
                <a:endCxn id="2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95E9CCD-ABC3-13F9-ECC9-827AF855E2C0}"/>
                  </a:ext>
                </a:extLst>
              </p:cNvPr>
              <p:cNvCxnSpPr>
                <a:cxnSpLocks/>
                <a:stCxn id="21" idx="6"/>
                <a:endCxn id="2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422BC3BC-0F09-E9C3-3E7B-7A68129217BF}"/>
                  </a:ext>
                </a:extLst>
              </p:cNvPr>
              <p:cNvCxnSpPr>
                <a:cxnSpLocks/>
                <a:stCxn id="22" idx="6"/>
                <a:endCxn id="2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4CF7CFB2-1A13-84D6-B350-16A20A15ABE7}"/>
                  </a:ext>
                </a:extLst>
              </p:cNvPr>
              <p:cNvCxnSpPr>
                <a:cxnSpLocks/>
                <a:stCxn id="28" idx="6"/>
                <a:endCxn id="2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08E1EA95-D224-CC1B-A05D-B02B7F97D75D}"/>
                  </a:ext>
                </a:extLst>
              </p:cNvPr>
              <p:cNvCxnSpPr>
                <a:cxnSpLocks/>
                <a:stCxn id="28" idx="6"/>
                <a:endCxn id="2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188BEB8-B6D3-254E-9973-3B815ECA03F5}"/>
                  </a:ext>
                </a:extLst>
              </p:cNvPr>
              <p:cNvCxnSpPr>
                <a:cxnSpLocks/>
                <a:stCxn id="28" idx="6"/>
                <a:endCxn id="2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D17DFB6-AA71-8F68-FF79-EC751F089E90}"/>
                  </a:ext>
                </a:extLst>
              </p:cNvPr>
              <p:cNvCxnSpPr>
                <a:cxnSpLocks/>
                <a:stCxn id="22" idx="6"/>
                <a:endCxn id="2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78F68341-3125-C0C0-1673-D12F007B60CC}"/>
                  </a:ext>
                </a:extLst>
              </p:cNvPr>
              <p:cNvCxnSpPr>
                <a:cxnSpLocks/>
                <a:stCxn id="20" idx="6"/>
                <a:endCxn id="2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A57FBA7-07FD-305A-4785-EA97B8F9368A}"/>
                  </a:ext>
                </a:extLst>
              </p:cNvPr>
              <p:cNvCxnSpPr>
                <a:cxnSpLocks/>
                <a:stCxn id="21" idx="6"/>
                <a:endCxn id="2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98003135-66B0-AD7D-0DA6-5196EE358797}"/>
                  </a:ext>
                </a:extLst>
              </p:cNvPr>
              <p:cNvCxnSpPr>
                <a:cxnSpLocks/>
                <a:stCxn id="22" idx="6"/>
                <a:endCxn id="2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6C7D412B-882B-04FD-338F-41824C21705E}"/>
                  </a:ext>
                </a:extLst>
              </p:cNvPr>
              <p:cNvCxnSpPr>
                <a:cxnSpLocks/>
                <a:stCxn id="20" idx="6"/>
                <a:endCxn id="2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55FE66B-71A4-C4B6-21FA-2A6C559C0915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6E60BE8-2F9D-83F8-D75B-9A56A6804C1F}"/>
                  </a:ext>
                </a:extLst>
              </p:cNvPr>
              <p:cNvCxnSpPr>
                <a:cxnSpLocks/>
                <a:stCxn id="22" idx="6"/>
                <a:endCxn id="2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0DCD506-4009-4481-F793-B6A53AE2C895}"/>
                  </a:ext>
                </a:extLst>
              </p:cNvPr>
              <p:cNvCxnSpPr>
                <a:cxnSpLocks/>
                <a:stCxn id="28" idx="6"/>
                <a:endCxn id="2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00C28748-FF53-E351-27D0-0D444FD49688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4A8D2B5D-45F5-3DA8-8B01-D6A7AF787EC4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61340BA5-0FA4-2B48-A20F-446C4E67EFA9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1F66A9F-4E4A-C01B-AEE5-737E36093FA6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14720C6-6CE3-C5D5-F9DE-FABFCB0C5D7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89773CD-21BD-3EE0-360D-51D67D8A5C6F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BB414F5E-8241-5027-4E23-4A12B53B57B8}"/>
                  </a:ext>
                </a:extLst>
              </p:cNvPr>
              <p:cNvCxnSpPr>
                <a:cxnSpLocks/>
                <a:stCxn id="57" idx="6"/>
                <a:endCxn id="1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D90444DD-A8C4-5857-E3B0-85BB598A7AFD}"/>
                  </a:ext>
                </a:extLst>
              </p:cNvPr>
              <p:cNvCxnSpPr>
                <a:cxnSpLocks/>
                <a:stCxn id="58" idx="6"/>
                <a:endCxn id="1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3BB81A97-E6EE-C92D-14E5-FD6C8F2B51EA}"/>
                  </a:ext>
                </a:extLst>
              </p:cNvPr>
              <p:cNvCxnSpPr>
                <a:cxnSpLocks/>
                <a:stCxn id="59" idx="6"/>
                <a:endCxn id="1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F4BCBB8-7FBC-A678-BB24-8FDA8C2BD55D}"/>
                  </a:ext>
                </a:extLst>
              </p:cNvPr>
              <p:cNvCxnSpPr>
                <a:cxnSpLocks/>
                <a:stCxn id="60" idx="6"/>
                <a:endCxn id="1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8852BA3-C2AC-80FC-4FED-933262B58AE3}"/>
                  </a:ext>
                </a:extLst>
              </p:cNvPr>
              <p:cNvCxnSpPr>
                <a:cxnSpLocks/>
                <a:stCxn id="61" idx="6"/>
                <a:endCxn id="2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E1F15E3-558E-DB8C-B876-0F6075AEC866}"/>
                  </a:ext>
                </a:extLst>
              </p:cNvPr>
              <p:cNvCxnSpPr>
                <a:cxnSpLocks/>
                <a:stCxn id="62" idx="6"/>
                <a:endCxn id="2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1FCA1830-B362-5F50-9E34-8813C17EDC6C}"/>
                  </a:ext>
                </a:extLst>
              </p:cNvPr>
              <p:cNvCxnSpPr>
                <a:cxnSpLocks/>
                <a:stCxn id="61" idx="6"/>
                <a:endCxn id="1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EF48651-4159-154A-6453-8B9938BDA8B4}"/>
                  </a:ext>
                </a:extLst>
              </p:cNvPr>
              <p:cNvCxnSpPr>
                <a:cxnSpLocks/>
                <a:stCxn id="59" idx="6"/>
                <a:endCxn id="1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80448020-70A1-A910-082E-59929EA1FF25}"/>
                  </a:ext>
                </a:extLst>
              </p:cNvPr>
              <p:cNvCxnSpPr>
                <a:cxnSpLocks/>
                <a:stCxn id="58" idx="6"/>
                <a:endCxn id="1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265FB6E-3B91-CCDD-D22A-D5C44BD12B6C}"/>
                  </a:ext>
                </a:extLst>
              </p:cNvPr>
              <p:cNvCxnSpPr>
                <a:cxnSpLocks/>
                <a:stCxn id="60" idx="6"/>
                <a:endCxn id="2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FA4F705C-5542-F763-441D-BFF2A498D292}"/>
                  </a:ext>
                </a:extLst>
              </p:cNvPr>
              <p:cNvCxnSpPr>
                <a:cxnSpLocks/>
                <a:stCxn id="58" idx="6"/>
                <a:endCxn id="1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DD1EE5A-DBDA-A435-A0FE-B0F46195C9FE}"/>
                  </a:ext>
                </a:extLst>
              </p:cNvPr>
              <p:cNvCxnSpPr>
                <a:cxnSpLocks/>
                <a:stCxn id="60" idx="6"/>
                <a:endCxn id="1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F2CD7630-D715-77D3-4388-FEC10B362B3E}"/>
                  </a:ext>
                </a:extLst>
              </p:cNvPr>
              <p:cNvCxnSpPr>
                <a:cxnSpLocks/>
                <a:stCxn id="62" idx="6"/>
                <a:endCxn id="1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975B8D-9E37-8D2F-28BA-F3EDE1F7EE16}"/>
                  </a:ext>
                </a:extLst>
              </p:cNvPr>
              <p:cNvCxnSpPr>
                <a:cxnSpLocks/>
                <a:stCxn id="61" idx="6"/>
                <a:endCxn id="1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AF98EC6D-855B-0FE0-C4A7-C06D726E8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5B92B9B-D738-DDDF-6386-B86A4D93CD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4F388507-8243-2023-9C95-1E0271927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3E0B561-EBCC-0059-D5AC-D92389C661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255FDF8-7D33-04F7-B561-C50954518D6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157799B-2D3B-C607-6CF1-8B0D8B6AB88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2CB9A9E0-78D5-B59D-111A-5D705578C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81079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182CA9-B2B3-3610-B1BD-640968AE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Control with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EDDEC-CF29-5DBC-259F-0192484A9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Semi-Gradient Sarsa</a:t>
            </a:r>
          </a:p>
        </p:txBody>
      </p:sp>
    </p:spTree>
    <p:extLst>
      <p:ext uri="{BB962C8B-B14F-4D97-AF65-F5344CB8AC3E}">
        <p14:creationId xmlns:p14="http://schemas.microsoft.com/office/powerpoint/2010/main" val="5875715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9C127B-86A4-4CC5-9EE1-A0FDA57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Estimate a parametric approximation for value-action function.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Training data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                        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              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can be any approximation:</a:t>
                </a:r>
              </a:p>
              <a:p>
                <a:pPr lvl="2"/>
                <a:r>
                  <a:rPr lang="en-US" dirty="0"/>
                  <a:t>MC: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b="0" i="1" dirty="0"/>
              </a:p>
              <a:p>
                <a:pPr lvl="2"/>
                <a:r>
                  <a:rPr lang="en-US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…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update policy with greedy action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For on-policy control, use a soft approximation to the greedy policy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951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7BBAE3-1454-E6F7-DE64-4F54666FF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Semi-gradient Sarsa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93575F-E8F9-5F2D-1974-DE55A1327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79" y="1065548"/>
            <a:ext cx="7943487" cy="3808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A48653-5D6C-7EF0-B7C4-A8F581FE1A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1" t="1717"/>
          <a:stretch>
            <a:fillRect/>
          </a:stretch>
        </p:blipFill>
        <p:spPr>
          <a:xfrm>
            <a:off x="3447875" y="2093257"/>
            <a:ext cx="8651846" cy="4638907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ABAE24-325C-3516-E8B7-56FE6C1F323D}"/>
              </a:ext>
            </a:extLst>
          </p:cNvPr>
          <p:cNvCxnSpPr/>
          <p:nvPr/>
        </p:nvCxnSpPr>
        <p:spPr>
          <a:xfrm>
            <a:off x="2565243" y="4189682"/>
            <a:ext cx="67950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246A066-BD10-513C-EF26-FA8D503A0BAB}"/>
              </a:ext>
            </a:extLst>
          </p:cNvPr>
          <p:cNvCxnSpPr>
            <a:cxnSpLocks/>
          </p:cNvCxnSpPr>
          <p:nvPr/>
        </p:nvCxnSpPr>
        <p:spPr>
          <a:xfrm>
            <a:off x="6088505" y="5943531"/>
            <a:ext cx="113675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Arrow: Right 8">
            <a:extLst>
              <a:ext uri="{FF2B5EF4-FFF2-40B4-BE49-F238E27FC236}">
                <a16:creationId xmlns:a16="http://schemas.microsoft.com/office/drawing/2014/main" id="{56C5154D-4D1E-F9B2-DAE2-2A9F1475F6A5}"/>
              </a:ext>
            </a:extLst>
          </p:cNvPr>
          <p:cNvSpPr/>
          <p:nvPr/>
        </p:nvSpPr>
        <p:spPr>
          <a:xfrm>
            <a:off x="2975548" y="3260361"/>
            <a:ext cx="614596" cy="5696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604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A18-53CF-7A68-0335-2A665302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Continuing Tasks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Discounting vs. Average Reward</a:t>
                </a:r>
              </a:p>
              <a:p>
                <a:r>
                  <a:rPr lang="en-US" dirty="0"/>
                  <a:t>Discounted rewards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-returns) are used for tabular methods because returns for each state are separately identified and averaged.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With approximation, returns are shared (generalized) between states and it is often better to focus on the long-run </a:t>
                </a:r>
                <a:r>
                  <a:rPr lang="en-US" b="1" dirty="0"/>
                  <a:t>average reward </a:t>
                </a:r>
                <a:r>
                  <a:rPr lang="en-US" dirty="0"/>
                  <a:t>per time step.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Differential Returns</a:t>
                </a:r>
              </a:p>
              <a:p>
                <a:r>
                  <a:rPr lang="en-US" dirty="0"/>
                  <a:t>It is often helpful to use differences between the immediate rewards and the average reward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This leads to a differential value function.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913" b="-17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7194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9BB35BC-D5C2-4C8B-A22A-A71E61919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52DFC2-AEEE-62B9-A8E6-BC79CBBA3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3934" y="365125"/>
            <a:ext cx="5919864" cy="1807305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6430D7-ABA0-57D9-90CF-7908FE47A1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8" r="23307" b="-1"/>
          <a:stretch>
            <a:fillRect/>
          </a:stretch>
        </p:blipFill>
        <p:spPr bwMode="auto">
          <a:xfrm>
            <a:off x="20" y="10"/>
            <a:ext cx="6116549" cy="6857990"/>
          </a:xfrm>
          <a:custGeom>
            <a:avLst/>
            <a:gdLst/>
            <a:ahLst/>
            <a:cxnLst/>
            <a:rect l="l" t="t" r="r" b="b"/>
            <a:pathLst>
              <a:path w="6116569" h="6879321">
                <a:moveTo>
                  <a:pt x="0" y="0"/>
                </a:moveTo>
                <a:lnTo>
                  <a:pt x="2935851" y="0"/>
                </a:lnTo>
                <a:cubicBezTo>
                  <a:pt x="3035710" y="10660"/>
                  <a:pt x="3138421" y="17767"/>
                  <a:pt x="3238280" y="31980"/>
                </a:cubicBezTo>
                <a:cubicBezTo>
                  <a:pt x="3817462" y="106602"/>
                  <a:pt x="3127009" y="277163"/>
                  <a:pt x="3660541" y="550772"/>
                </a:cubicBezTo>
                <a:cubicBezTo>
                  <a:pt x="3706191" y="575645"/>
                  <a:pt x="3757546" y="579199"/>
                  <a:pt x="3808902" y="589860"/>
                </a:cubicBezTo>
                <a:cubicBezTo>
                  <a:pt x="4008620" y="625393"/>
                  <a:pt x="4211192" y="618286"/>
                  <a:pt x="4413762" y="625393"/>
                </a:cubicBezTo>
                <a:cubicBezTo>
                  <a:pt x="4465118" y="628946"/>
                  <a:pt x="4525033" y="625393"/>
                  <a:pt x="4567830" y="721333"/>
                </a:cubicBezTo>
                <a:cubicBezTo>
                  <a:pt x="4425175" y="724888"/>
                  <a:pt x="4305344" y="731994"/>
                  <a:pt x="4171247" y="792401"/>
                </a:cubicBezTo>
                <a:cubicBezTo>
                  <a:pt x="4239722" y="859916"/>
                  <a:pt x="4322462" y="795955"/>
                  <a:pt x="4376671" y="842148"/>
                </a:cubicBezTo>
                <a:cubicBezTo>
                  <a:pt x="4428027" y="888342"/>
                  <a:pt x="4470824" y="891896"/>
                  <a:pt x="4527887" y="813722"/>
                </a:cubicBezTo>
                <a:cubicBezTo>
                  <a:pt x="4556417" y="774634"/>
                  <a:pt x="4604920" y="778187"/>
                  <a:pt x="4633452" y="799508"/>
                </a:cubicBezTo>
                <a:cubicBezTo>
                  <a:pt x="4781813" y="913216"/>
                  <a:pt x="4778960" y="909662"/>
                  <a:pt x="4947293" y="870576"/>
                </a:cubicBezTo>
                <a:cubicBezTo>
                  <a:pt x="5055712" y="845701"/>
                  <a:pt x="5166983" y="806615"/>
                  <a:pt x="5263988" y="820828"/>
                </a:cubicBezTo>
                <a:cubicBezTo>
                  <a:pt x="5275401" y="867022"/>
                  <a:pt x="5263988" y="888342"/>
                  <a:pt x="5249723" y="895449"/>
                </a:cubicBezTo>
                <a:cubicBezTo>
                  <a:pt x="5021475" y="1005604"/>
                  <a:pt x="4975825" y="1122864"/>
                  <a:pt x="4744723" y="1197485"/>
                </a:cubicBezTo>
                <a:cubicBezTo>
                  <a:pt x="4724751" y="1268552"/>
                  <a:pt x="4807491" y="1275660"/>
                  <a:pt x="4767548" y="1346727"/>
                </a:cubicBezTo>
                <a:cubicBezTo>
                  <a:pt x="4693367" y="1407134"/>
                  <a:pt x="4610627" y="1346727"/>
                  <a:pt x="4539299" y="1421348"/>
                </a:cubicBezTo>
                <a:cubicBezTo>
                  <a:pt x="4550712" y="1471094"/>
                  <a:pt x="4610627" y="1432008"/>
                  <a:pt x="4607773" y="1485309"/>
                </a:cubicBezTo>
                <a:cubicBezTo>
                  <a:pt x="4604920" y="1517288"/>
                  <a:pt x="4593508" y="1527948"/>
                  <a:pt x="4579242" y="1535055"/>
                </a:cubicBezTo>
                <a:cubicBezTo>
                  <a:pt x="4776107" y="1538608"/>
                  <a:pt x="5383820" y="1574142"/>
                  <a:pt x="5278255" y="1609676"/>
                </a:cubicBezTo>
                <a:cubicBezTo>
                  <a:pt x="5418057" y="1698511"/>
                  <a:pt x="5623481" y="1609676"/>
                  <a:pt x="5771843" y="1630997"/>
                </a:cubicBezTo>
                <a:cubicBezTo>
                  <a:pt x="5925911" y="1652316"/>
                  <a:pt x="6171278" y="1719830"/>
                  <a:pt x="6105656" y="1748257"/>
                </a:cubicBezTo>
                <a:cubicBezTo>
                  <a:pt x="6031475" y="1780238"/>
                  <a:pt x="5766136" y="2146235"/>
                  <a:pt x="5691955" y="2167555"/>
                </a:cubicBezTo>
                <a:cubicBezTo>
                  <a:pt x="5606362" y="2188875"/>
                  <a:pt x="5589243" y="2217302"/>
                  <a:pt x="5475118" y="2348776"/>
                </a:cubicBezTo>
                <a:cubicBezTo>
                  <a:pt x="5398085" y="2437610"/>
                  <a:pt x="5709074" y="2238623"/>
                  <a:pt x="5826051" y="2291922"/>
                </a:cubicBezTo>
                <a:cubicBezTo>
                  <a:pt x="5868848" y="2309690"/>
                  <a:pt x="5552153" y="2554872"/>
                  <a:pt x="5552153" y="2597513"/>
                </a:cubicBezTo>
                <a:cubicBezTo>
                  <a:pt x="5549300" y="2640153"/>
                  <a:pt x="5577831" y="2647260"/>
                  <a:pt x="5603508" y="2647260"/>
                </a:cubicBezTo>
                <a:cubicBezTo>
                  <a:pt x="5660571" y="2647260"/>
                  <a:pt x="5640599" y="2686346"/>
                  <a:pt x="5700515" y="2679240"/>
                </a:cubicBezTo>
                <a:cubicBezTo>
                  <a:pt x="5523622" y="2800055"/>
                  <a:pt x="5418057" y="2778734"/>
                  <a:pt x="5246870" y="2888889"/>
                </a:cubicBezTo>
                <a:cubicBezTo>
                  <a:pt x="5164130" y="2942189"/>
                  <a:pt x="4921615" y="3119857"/>
                  <a:pt x="4836022" y="3169605"/>
                </a:cubicBezTo>
                <a:cubicBezTo>
                  <a:pt x="4801785" y="3187371"/>
                  <a:pt x="4758988" y="3173158"/>
                  <a:pt x="4736163" y="3233565"/>
                </a:cubicBezTo>
                <a:cubicBezTo>
                  <a:pt x="4770400" y="3279759"/>
                  <a:pt x="4816050" y="3254885"/>
                  <a:pt x="4853141" y="3233565"/>
                </a:cubicBezTo>
                <a:cubicBezTo>
                  <a:pt x="4944440" y="3176711"/>
                  <a:pt x="4935881" y="3190925"/>
                  <a:pt x="4944440" y="3226459"/>
                </a:cubicBezTo>
                <a:cubicBezTo>
                  <a:pt x="4972972" y="3350827"/>
                  <a:pt x="5044300" y="3308186"/>
                  <a:pt x="5109921" y="3283313"/>
                </a:cubicBezTo>
                <a:cubicBezTo>
                  <a:pt x="5303932" y="3208692"/>
                  <a:pt x="5500797" y="3215799"/>
                  <a:pt x="5694809" y="3141178"/>
                </a:cubicBezTo>
                <a:cubicBezTo>
                  <a:pt x="5714781" y="3134070"/>
                  <a:pt x="5612068" y="3283313"/>
                  <a:pt x="5566419" y="3301079"/>
                </a:cubicBezTo>
                <a:cubicBezTo>
                  <a:pt x="5515063" y="3322399"/>
                  <a:pt x="5452294" y="3311739"/>
                  <a:pt x="5415203" y="3397020"/>
                </a:cubicBezTo>
                <a:cubicBezTo>
                  <a:pt x="5477972" y="3414787"/>
                  <a:pt x="5552153" y="3372147"/>
                  <a:pt x="5612068" y="3432554"/>
                </a:cubicBezTo>
                <a:cubicBezTo>
                  <a:pt x="5469413" y="3528494"/>
                  <a:pt x="5329610" y="3535601"/>
                  <a:pt x="5206927" y="3599562"/>
                </a:cubicBezTo>
                <a:cubicBezTo>
                  <a:pt x="5192661" y="3706163"/>
                  <a:pt x="5272548" y="3663523"/>
                  <a:pt x="5301079" y="3723930"/>
                </a:cubicBezTo>
                <a:cubicBezTo>
                  <a:pt x="5072830" y="3844745"/>
                  <a:pt x="4564977" y="4232062"/>
                  <a:pt x="4507915" y="4306683"/>
                </a:cubicBezTo>
                <a:cubicBezTo>
                  <a:pt x="4390937" y="4463031"/>
                  <a:pt x="3900202" y="4562525"/>
                  <a:pt x="3982942" y="4587399"/>
                </a:cubicBezTo>
                <a:cubicBezTo>
                  <a:pt x="4051417" y="4608719"/>
                  <a:pt x="4119891" y="4587399"/>
                  <a:pt x="4185513" y="4541205"/>
                </a:cubicBezTo>
                <a:cubicBezTo>
                  <a:pt x="4291078" y="4466584"/>
                  <a:pt x="5010062" y="4523438"/>
                  <a:pt x="5212633" y="4455924"/>
                </a:cubicBezTo>
                <a:cubicBezTo>
                  <a:pt x="5241164" y="4445264"/>
                  <a:pt x="5283960" y="4409730"/>
                  <a:pt x="5312492" y="4473691"/>
                </a:cubicBezTo>
                <a:cubicBezTo>
                  <a:pt x="5098508" y="4704659"/>
                  <a:pt x="4833169" y="4654913"/>
                  <a:pt x="4596361" y="4818368"/>
                </a:cubicBezTo>
                <a:cubicBezTo>
                  <a:pt x="4684807" y="4917861"/>
                  <a:pt x="4776107" y="4907202"/>
                  <a:pt x="4873113" y="4885882"/>
                </a:cubicBezTo>
                <a:cubicBezTo>
                  <a:pt x="4895938" y="4878775"/>
                  <a:pt x="4930175" y="4871668"/>
                  <a:pt x="4935881" y="4914309"/>
                </a:cubicBezTo>
                <a:cubicBezTo>
                  <a:pt x="4941587" y="4967609"/>
                  <a:pt x="4898790" y="4978270"/>
                  <a:pt x="4873113" y="5003143"/>
                </a:cubicBezTo>
                <a:cubicBezTo>
                  <a:pt x="4833169" y="5038676"/>
                  <a:pt x="4773254" y="4999590"/>
                  <a:pt x="4721898" y="5095530"/>
                </a:cubicBezTo>
                <a:cubicBezTo>
                  <a:pt x="4873113" y="5067104"/>
                  <a:pt x="4998650" y="5020910"/>
                  <a:pt x="5132745" y="4949842"/>
                </a:cubicBezTo>
                <a:cubicBezTo>
                  <a:pt x="5121333" y="5006696"/>
                  <a:pt x="5081390" y="5035123"/>
                  <a:pt x="5101362" y="5081317"/>
                </a:cubicBezTo>
                <a:cubicBezTo>
                  <a:pt x="5118480" y="5116850"/>
                  <a:pt x="5164130" y="5131063"/>
                  <a:pt x="5138452" y="5198578"/>
                </a:cubicBezTo>
                <a:cubicBezTo>
                  <a:pt x="5067125" y="5273199"/>
                  <a:pt x="4967265" y="5258986"/>
                  <a:pt x="4904497" y="5362033"/>
                </a:cubicBezTo>
                <a:cubicBezTo>
                  <a:pt x="4818903" y="5507721"/>
                  <a:pt x="4684807" y="5564575"/>
                  <a:pt x="4579242" y="5674729"/>
                </a:cubicBezTo>
                <a:cubicBezTo>
                  <a:pt x="4545005" y="5713816"/>
                  <a:pt x="4313903" y="5841738"/>
                  <a:pt x="4253988" y="5884379"/>
                </a:cubicBezTo>
                <a:cubicBezTo>
                  <a:pt x="4168395" y="5944786"/>
                  <a:pt x="4071389" y="5966106"/>
                  <a:pt x="3985795" y="6069153"/>
                </a:cubicBezTo>
                <a:cubicBezTo>
                  <a:pt x="4065682" y="6086921"/>
                  <a:pt x="4134157" y="5990979"/>
                  <a:pt x="4231163" y="6030066"/>
                </a:cubicBezTo>
                <a:cubicBezTo>
                  <a:pt x="4074242" y="6133114"/>
                  <a:pt x="3931586" y="6182861"/>
                  <a:pt x="3814609" y="6317889"/>
                </a:cubicBezTo>
                <a:cubicBezTo>
                  <a:pt x="3800343" y="6335656"/>
                  <a:pt x="3771812" y="6332102"/>
                  <a:pt x="3751840" y="6339209"/>
                </a:cubicBezTo>
                <a:cubicBezTo>
                  <a:pt x="3529298" y="6406723"/>
                  <a:pt x="3309608" y="6467130"/>
                  <a:pt x="3089919" y="6563071"/>
                </a:cubicBezTo>
                <a:cubicBezTo>
                  <a:pt x="3041416" y="6584392"/>
                  <a:pt x="2955823" y="6595052"/>
                  <a:pt x="2961529" y="6662566"/>
                </a:cubicBezTo>
                <a:cubicBezTo>
                  <a:pt x="2972941" y="6765613"/>
                  <a:pt x="3055681" y="6687439"/>
                  <a:pt x="3107038" y="6673226"/>
                </a:cubicBezTo>
                <a:cubicBezTo>
                  <a:pt x="3269664" y="6634138"/>
                  <a:pt x="3432292" y="6570178"/>
                  <a:pt x="3594919" y="6591499"/>
                </a:cubicBezTo>
                <a:cubicBezTo>
                  <a:pt x="3483648" y="6637693"/>
                  <a:pt x="3372376" y="6680332"/>
                  <a:pt x="3261106" y="6726527"/>
                </a:cubicBezTo>
                <a:cubicBezTo>
                  <a:pt x="3386642" y="6705206"/>
                  <a:pt x="3495061" y="6786934"/>
                  <a:pt x="3620597" y="6740740"/>
                </a:cubicBezTo>
                <a:cubicBezTo>
                  <a:pt x="3660541" y="6726527"/>
                  <a:pt x="3700484" y="6765613"/>
                  <a:pt x="3703337" y="6826020"/>
                </a:cubicBezTo>
                <a:cubicBezTo>
                  <a:pt x="3706191" y="6847340"/>
                  <a:pt x="3700484" y="6865108"/>
                  <a:pt x="3689072" y="6879321"/>
                </a:cubicBezTo>
                <a:lnTo>
                  <a:pt x="0" y="6879321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</p:spPr>
            <p:txBody>
              <a:bodyPr>
                <a:normAutofit fontScale="85000" lnSpcReduction="10000"/>
              </a:bodyPr>
              <a:lstStyle/>
              <a:p>
                <a:pPr algn="ctr"/>
                <a:r>
                  <a:rPr lang="en-US" sz="1700" dirty="0"/>
                  <a:t>Approximate the value function using parametrized functions: 	</a:t>
                </a:r>
                <a:br>
                  <a:rPr lang="en-US" sz="1700" dirty="0"/>
                </a:br>
                <a14:m>
                  <m:oMath xmlns:m="http://schemas.openxmlformats.org/officeDocument/2006/math">
                    <m:r>
                      <a:rPr lang="en-US" sz="1700" b="0" i="0" smtClean="0">
                        <a:latin typeface="Cambria Math" panose="02040503050406030204" pitchFamily="18" charset="0"/>
                      </a:rPr>
                      <m:t>             </m:t>
                    </m:r>
                  </m:oMath>
                </a14:m>
                <a:br>
                  <a:rPr lang="en-US" sz="1700" b="0" i="0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sz="1700" dirty="0"/>
                  <a:t>  or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For linear approximation, we need to create </a:t>
                </a:r>
                <a:r>
                  <a:rPr lang="en-US" sz="1700" b="1" dirty="0"/>
                  <a:t>features</a:t>
                </a:r>
                <a:r>
                  <a:rPr lang="en-US" sz="1700" dirty="0"/>
                  <a:t> that take non-linearities and the interaction of state components into account. Popular are: </a:t>
                </a:r>
              </a:p>
              <a:p>
                <a:pPr lvl="1"/>
                <a:r>
                  <a:rPr lang="en-US" sz="1700" dirty="0"/>
                  <a:t>Fourier basis features </a:t>
                </a:r>
              </a:p>
              <a:p>
                <a:pPr lvl="1"/>
                <a:r>
                  <a:rPr lang="en-US" sz="1700" dirty="0"/>
                  <a:t>Tile coding</a:t>
                </a:r>
              </a:p>
              <a:p>
                <a:endParaRPr lang="en-US" sz="1700" dirty="0"/>
              </a:p>
              <a:p>
                <a:r>
                  <a:rPr lang="en-US" sz="1700" dirty="0"/>
                  <a:t>Use </a:t>
                </a:r>
                <a:r>
                  <a:rPr lang="en-US" sz="1700" b="1" dirty="0"/>
                  <a:t>SGD or semi-gradient descent </a:t>
                </a:r>
                <a:r>
                  <a:rPr lang="en-US" sz="1700" dirty="0"/>
                  <a:t>to learn </a:t>
                </a:r>
                <a14:m>
                  <m:oMath xmlns:m="http://schemas.openxmlformats.org/officeDocument/2006/math">
                    <m:r>
                      <a:rPr lang="en-US" sz="17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700" dirty="0"/>
                  <a:t> from samples by minimizing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700" dirty="0"/>
                  <a:t>. The samples already follow the on-policy distribution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Issue: </a:t>
                </a:r>
                <a:r>
                  <a:rPr lang="en-US" sz="1700" b="1" dirty="0"/>
                  <a:t>Convergence</a:t>
                </a:r>
              </a:p>
              <a:p>
                <a:pPr lvl="1"/>
                <a:r>
                  <a:rPr lang="en-US" sz="1300" dirty="0"/>
                  <a:t>Biased target estimates?</a:t>
                </a:r>
              </a:p>
              <a:p>
                <a:pPr lvl="1"/>
                <a:r>
                  <a:rPr lang="en-US" sz="1300" dirty="0"/>
                  <a:t>Linear vs. non-linear approximation.</a:t>
                </a:r>
              </a:p>
              <a:p>
                <a:pPr lvl="1"/>
                <a:r>
                  <a:rPr lang="en-US" sz="1300" dirty="0"/>
                  <a:t>choice of </a:t>
                </a:r>
                <a14:m>
                  <m:oMath xmlns:m="http://schemas.openxmlformats.org/officeDocument/2006/math">
                    <m:r>
                      <a:rPr lang="en-US" sz="1300" b="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3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  <a:blipFill>
                <a:blip r:embed="rId3"/>
                <a:stretch>
                  <a:fillRect l="-105" t="-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045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19570</TotalTime>
  <Words>3152</Words>
  <Application>Microsoft Office PowerPoint</Application>
  <PresentationFormat>Widescreen</PresentationFormat>
  <Paragraphs>339</Paragraphs>
  <Slides>33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Prediction and Control with Approximation Sutton/Barto* Chapter 9-11</vt:lpstr>
      <vt:lpstr>Topics of this Course</vt:lpstr>
      <vt:lpstr>Summary of Notation</vt:lpstr>
      <vt:lpstr>Approximate Solution Methods</vt:lpstr>
      <vt:lpstr>Motivation</vt:lpstr>
      <vt:lpstr>Prediction: Value Function Approximation</vt:lpstr>
      <vt:lpstr>Prediction Objective ((VE) ̅)</vt:lpstr>
      <vt:lpstr>Learning Goal</vt:lpstr>
      <vt:lpstr>Gradient Methods for Prediction</vt:lpstr>
      <vt:lpstr>Gradient Learning Method</vt:lpstr>
      <vt:lpstr>SGD: Stochastic-Gradient Descend</vt:lpstr>
      <vt:lpstr> Step Size for SGD</vt:lpstr>
      <vt:lpstr>Using a Target Estimate for SGD</vt:lpstr>
      <vt:lpstr>Gradient Monte Carlo Algorithm</vt:lpstr>
      <vt:lpstr>Bootstrapping and Semi-Gradient Methods</vt:lpstr>
      <vt:lpstr>Semi-gradient TD(0)</vt:lpstr>
      <vt:lpstr>Linear Approximation Methods</vt:lpstr>
      <vt:lpstr>Linear Methods</vt:lpstr>
      <vt:lpstr>Feature Vector</vt:lpstr>
      <vt:lpstr>Example: L-Maze with Linear Features</vt:lpstr>
      <vt:lpstr>Feature Construction</vt:lpstr>
      <vt:lpstr>Fourier Basis</vt:lpstr>
      <vt:lpstr>Multi-dimensional Fourier Basis</vt:lpstr>
      <vt:lpstr>Example: L-Maze with Order-2 Fourier Features</vt:lpstr>
      <vt:lpstr>Tile Coding</vt:lpstr>
      <vt:lpstr>Example: L-Maze with Tile Coding</vt:lpstr>
      <vt:lpstr>Non-Linear Function Approximation</vt:lpstr>
      <vt:lpstr>Approximation with ANNs</vt:lpstr>
      <vt:lpstr>On-Policy Control with Approximation</vt:lpstr>
      <vt:lpstr>Control Problem</vt:lpstr>
      <vt:lpstr>Episodic Semi-gradient Sarsa</vt:lpstr>
      <vt:lpstr>Considerations for Continuing Tasks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221</cp:revision>
  <dcterms:created xsi:type="dcterms:W3CDTF">2025-09-08T14:44:49Z</dcterms:created>
  <dcterms:modified xsi:type="dcterms:W3CDTF">2026-03-30T14:27:17Z</dcterms:modified>
</cp:coreProperties>
</file>