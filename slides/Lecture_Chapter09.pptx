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3" r:id="rId3"/>
    <p:sldId id="479" r:id="rId4"/>
    <p:sldId id="393" r:id="rId5"/>
    <p:sldId id="394" r:id="rId6"/>
    <p:sldId id="420" r:id="rId7"/>
    <p:sldId id="395" r:id="rId8"/>
    <p:sldId id="396" r:id="rId9"/>
    <p:sldId id="397" r:id="rId10"/>
    <p:sldId id="398" r:id="rId11"/>
    <p:sldId id="399" r:id="rId12"/>
    <p:sldId id="400" r:id="rId13"/>
    <p:sldId id="401" r:id="rId14"/>
    <p:sldId id="405" r:id="rId15"/>
    <p:sldId id="403" r:id="rId16"/>
    <p:sldId id="402" r:id="rId17"/>
    <p:sldId id="404" r:id="rId18"/>
    <p:sldId id="406" r:id="rId19"/>
    <p:sldId id="407" r:id="rId20"/>
    <p:sldId id="409" r:id="rId21"/>
    <p:sldId id="480" r:id="rId22"/>
    <p:sldId id="481" r:id="rId23"/>
    <p:sldId id="413" r:id="rId24"/>
    <p:sldId id="417" r:id="rId25"/>
    <p:sldId id="418" r:id="rId26"/>
    <p:sldId id="412" r:id="rId27"/>
    <p:sldId id="482" r:id="rId28"/>
    <p:sldId id="483" r:id="rId29"/>
    <p:sldId id="410" r:id="rId30"/>
    <p:sldId id="411" r:id="rId31"/>
    <p:sldId id="414" r:id="rId32"/>
    <p:sldId id="421" r:id="rId33"/>
    <p:sldId id="484" r:id="rId34"/>
    <p:sldId id="415" r:id="rId35"/>
    <p:sldId id="422" r:id="rId36"/>
    <p:sldId id="42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420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84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6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image" Target="../media/image260.png"/><Relationship Id="rId12" Type="http://schemas.openxmlformats.org/officeDocument/2006/relationships/image" Target="../media/image29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0.png"/><Relationship Id="rId9" Type="http://schemas.openxmlformats.org/officeDocument/2006/relationships/image" Target="../media/image310.png"/><Relationship Id="rId14" Type="http://schemas.openxmlformats.org/officeDocument/2006/relationships/image" Target="../media/image33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  <a:blipFill>
                <a:blip r:embed="rId6"/>
                <a:stretch>
                  <a:fillRect b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89A-90D3-B6F7-65DB-547701E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Generalization in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74287-6A85-1532-501D-5E35BC91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ML: </a:t>
            </a:r>
            <a:r>
              <a:rPr lang="en-US" b="1" dirty="0"/>
              <a:t>Can we make predictions for new data?</a:t>
            </a:r>
            <a:br>
              <a:rPr lang="en-US" b="1" dirty="0"/>
            </a:br>
            <a:r>
              <a:rPr lang="en-US" i="1" dirty="0"/>
              <a:t>“Generalization in machine learning is a model's ability to accurately predict outcomes or perform tasks on </a:t>
            </a:r>
            <a:r>
              <a:rPr lang="en-US" b="1" i="1" dirty="0"/>
              <a:t>new, unseen data</a:t>
            </a:r>
            <a:r>
              <a:rPr lang="en-US" i="1" dirty="0"/>
              <a:t>, having learned patterns only from a training dataset.”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r>
              <a:rPr lang="en-US" dirty="0"/>
              <a:t>In RL we consider different forms of generalization: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How fast does the algorithm learn? </a:t>
            </a:r>
            <a:r>
              <a:rPr lang="en-US" dirty="0"/>
              <a:t>Does it perform well in an environment after limited data is gathered? (= </a:t>
            </a:r>
            <a:r>
              <a:rPr lang="en-US" b="1" dirty="0"/>
              <a:t>sample efficiency</a:t>
            </a:r>
            <a:r>
              <a:rPr lang="en-US" dirty="0"/>
              <a:t>)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Can the algorithm adapt to changes in the environment? </a:t>
            </a:r>
            <a:r>
              <a:rPr lang="en-US" dirty="0"/>
              <a:t>Does it generalize for new, but related environment? (~ transfer learning)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231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by moving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 of the 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for one observation: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Important property of SGD</a:t>
                </a:r>
                <a:r>
                  <a:rPr lang="en-US" dirty="0"/>
                  <a:t>: Only depends on the gradient of the loss function. Does not need the gradient of the unknown value function!</a:t>
                </a:r>
                <a:endParaRPr lang="en-US" b="1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why there is no sum in the update.</a:t>
                </a:r>
                <a:endParaRPr lang="en-US" b="1" dirty="0"/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  <a:blipFill>
                <a:blip r:embed="rId2"/>
                <a:stretch>
                  <a:fillRect l="-704" t="-10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/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Applying the chain rule* shows that we only need the gradient of the approximation function. </a:t>
                </a:r>
                <a:br>
                  <a:rPr lang="en-US" sz="1400" dirty="0"/>
                </a:br>
                <a:r>
                  <a:rPr lang="en-US" sz="1400" dirty="0"/>
                  <a:t>Notes: the sign changes and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was chosen for convenience.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  <a:blipFill>
                <a:blip r:embed="rId3"/>
                <a:stretch>
                  <a:fillRect t="-1990" b="-5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7A2F1BA-E1F0-0F40-5826-097EAD324210}"/>
              </a:ext>
            </a:extLst>
          </p:cNvPr>
          <p:cNvGrpSpPr/>
          <p:nvPr/>
        </p:nvGrpSpPr>
        <p:grpSpPr>
          <a:xfrm>
            <a:off x="8636467" y="1235487"/>
            <a:ext cx="3169663" cy="1991944"/>
            <a:chOff x="8665828" y="1015068"/>
            <a:chExt cx="3169663" cy="1991944"/>
          </a:xfrm>
        </p:grpSpPr>
        <p:pic>
          <p:nvPicPr>
            <p:cNvPr id="1026" name="Picture 2" descr="image">
              <a:extLst>
                <a:ext uri="{FF2B5EF4-FFF2-40B4-BE49-F238E27FC236}">
                  <a16:creationId xmlns:a16="http://schemas.microsoft.com/office/drawing/2014/main" id="{9DB133E6-6974-8668-496C-211BA8ECF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828" y="1015068"/>
              <a:ext cx="3169663" cy="19919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/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/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/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/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8AFD0D-1261-061C-9731-56427D17F16A}"/>
                </a:ext>
              </a:extLst>
            </p:cNvPr>
            <p:cNvCxnSpPr/>
            <p:nvPr/>
          </p:nvCxnSpPr>
          <p:spPr>
            <a:xfrm flipH="1">
              <a:off x="10377182" y="1589714"/>
              <a:ext cx="71306" cy="2181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/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*Chain rule </a:t>
                </a:r>
                <a:r>
                  <a:rPr lang="en-US" sz="1400" dirty="0"/>
                  <a:t>(of differentiation)</a:t>
                </a:r>
                <a:endParaRPr lang="en-US" sz="14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400" dirty="0"/>
              </a:p>
              <a:p>
                <a:r>
                  <a:rPr lang="en-US" sz="1400" dirty="0"/>
                  <a:t>is equivalent to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  <a:blipFill>
                <a:blip r:embed="rId9"/>
                <a:stretch>
                  <a:fillRect l="-401" t="-629" b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</a:t>
                </a:r>
                <a:r>
                  <a:rPr lang="en-US" b="1" dirty="0"/>
                  <a:t>Not appropriate for TD or approximation</a:t>
                </a:r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 + keeps learning.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6149130" y="4492304"/>
            <a:ext cx="2940341" cy="536896"/>
          </a:xfrm>
          <a:prstGeom prst="wedgeRoundRectCallout">
            <a:avLst>
              <a:gd name="adj1" fmla="val -159257"/>
              <a:gd name="adj2" fmla="val -909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constant does not satisfy the stochastic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a state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SGD 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10798" y="4383868"/>
            <a:ext cx="240880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These are extremely strong guarantees!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state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F8D59-91BD-8D3F-17EC-9451FBDC8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a more flexible, non-linear transform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of the state description to construct state features.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We will focus on the most popular feature construction methods that work well for RL:</a:t>
                </a:r>
              </a:p>
              <a:p>
                <a:pPr lvl="1"/>
                <a:r>
                  <a:rPr lang="en-US" b="1" dirty="0"/>
                  <a:t>Fourier Basis:</a:t>
                </a:r>
                <a:r>
                  <a:rPr lang="en-US" dirty="0"/>
                  <a:t> strong baseline; very efficient; strong guarantees. </a:t>
                </a:r>
              </a:p>
              <a:p>
                <a:pPr lvl="1"/>
                <a:r>
                  <a:rPr lang="en-US" b="1" dirty="0"/>
                  <a:t>Tile Coding</a:t>
                </a:r>
                <a:r>
                  <a:rPr lang="en-US" dirty="0"/>
                  <a:t>: coarse coding using tiles, local generalization, very computationally efficient.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Other methods</a:t>
                </a:r>
              </a:p>
              <a:p>
                <a:pPr lvl="1"/>
                <a:r>
                  <a:rPr lang="en-US" dirty="0"/>
                  <a:t>One-Hot Features: exact representation; no generalization (equivalent to tabular RL)</a:t>
                </a:r>
              </a:p>
              <a:p>
                <a:pPr lvl="1"/>
                <a:r>
                  <a:rPr lang="en-US" dirty="0"/>
                  <a:t>Coarse Coding using spherical reception fields</a:t>
                </a:r>
              </a:p>
              <a:p>
                <a:pPr lvl="1"/>
                <a:r>
                  <a:rPr lang="en-US" dirty="0"/>
                  <a:t>Polynomials Features: smooth global generalization.</a:t>
                </a:r>
              </a:p>
              <a:p>
                <a:pPr lvl="1"/>
                <a:r>
                  <a:rPr lang="en-US" dirty="0"/>
                  <a:t>Radial Basis Functions: smooth local generalization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F8D59-91BD-8D3F-17EC-9451FBDC8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555396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State is represented by the normalized features as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                 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555396"/>
              </a:xfrm>
              <a:blipFill>
                <a:blip r:embed="rId2"/>
                <a:stretch>
                  <a:fillRect l="-406" t="-6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2922198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2922198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546028"/>
                <a:ext cx="34830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1</a:t>
                </a:r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546028"/>
                <a:ext cx="3483096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7" y="58162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7" y="58162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57176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571760"/>
              </a:xfrm>
              <a:blipFill>
                <a:blip r:embed="rId2"/>
                <a:stretch>
                  <a:fillRect l="-406" t="-5814"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C16D6BC-D653-3084-48E6-D30B7A3E47B8}"/>
              </a:ext>
            </a:extLst>
          </p:cNvPr>
          <p:cNvSpPr txBox="1"/>
          <p:nvPr/>
        </p:nvSpPr>
        <p:spPr>
          <a:xfrm>
            <a:off x="838199" y="5907977"/>
            <a:ext cx="106511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Issue</a:t>
            </a:r>
            <a:r>
              <a:rPr lang="en-US" dirty="0"/>
              <a:t>: High-dimensional state spaces lead to too long sparse feature vectors. Idea: Use index hash tables with limited capacity to focus on more frequently encountered states.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37D3AF-9CD5-44B6-815F-6BBB79164F9B}"/>
              </a:ext>
            </a:extLst>
          </p:cNvPr>
          <p:cNvGrpSpPr/>
          <p:nvPr/>
        </p:nvGrpSpPr>
        <p:grpSpPr>
          <a:xfrm>
            <a:off x="838199" y="2913888"/>
            <a:ext cx="10825636" cy="2819914"/>
            <a:chOff x="838199" y="2913888"/>
            <a:chExt cx="10825636" cy="281991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66987A-C1A2-C925-E70B-BB4DA616A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99097" y="2913888"/>
              <a:ext cx="7279757" cy="266180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82E76E1-445B-0C86-262C-5EA0DD4E509D}"/>
                    </a:ext>
                  </a:extLst>
                </p:cNvPr>
                <p:cNvSpPr txBox="1"/>
                <p:nvPr/>
              </p:nvSpPr>
              <p:spPr>
                <a:xfrm>
                  <a:off x="936550" y="2961327"/>
                  <a:ext cx="3308498" cy="25545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Example</a:t>
                  </a:r>
                  <a:r>
                    <a:rPr lang="en-US" sz="2000" dirty="0"/>
                    <a:t>: 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000" dirty="0"/>
                    <a:t>State has two components.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000" dirty="0"/>
                    <a:t>4 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4×4</m:t>
                      </m:r>
                    </m:oMath>
                  </a14:m>
                  <a:r>
                    <a:rPr lang="en-US" sz="2000" dirty="0"/>
                    <a:t> overlapping </a:t>
                  </a:r>
                  <a:r>
                    <a:rPr lang="en-US" sz="2000" dirty="0" err="1"/>
                    <a:t>tilings</a:t>
                  </a:r>
                  <a:r>
                    <a:rPr lang="en-US" sz="2000" dirty="0"/>
                    <a:t> give 64 squares.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2000" dirty="0"/>
                    <a:t>State features: 60 0s and only the four active tiles have a 1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82E76E1-445B-0C86-262C-5EA0DD4E5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550" y="2961327"/>
                  <a:ext cx="3308498" cy="2554545"/>
                </a:xfrm>
                <a:prstGeom prst="rect">
                  <a:avLst/>
                </a:prstGeom>
                <a:blipFill>
                  <a:blip r:embed="rId4"/>
                  <a:stretch>
                    <a:fillRect l="-2030" t="-1432" b="-33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7A12649-C2C4-ED5F-5094-B6C4AD7830E1}"/>
                </a:ext>
              </a:extLst>
            </p:cNvPr>
            <p:cNvGrpSpPr/>
            <p:nvPr/>
          </p:nvGrpSpPr>
          <p:grpSpPr>
            <a:xfrm>
              <a:off x="4479851" y="4381584"/>
              <a:ext cx="1253106" cy="603874"/>
              <a:chOff x="4442224" y="5428331"/>
              <a:chExt cx="1253106" cy="603874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5E45CF6-7235-3CD1-7DE8-C6E0659A42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5330" y="5428331"/>
                <a:ext cx="0" cy="603874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1ADE3D4-6EA3-99E2-AB67-C986C31EB8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42224" y="5428331"/>
                <a:ext cx="1253106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7F69C6B-93B1-2F6A-CDA0-FB2EBF5957B9}"/>
                </a:ext>
              </a:extLst>
            </p:cNvPr>
            <p:cNvGrpSpPr/>
            <p:nvPr/>
          </p:nvGrpSpPr>
          <p:grpSpPr>
            <a:xfrm>
              <a:off x="4382621" y="3166197"/>
              <a:ext cx="1548574" cy="1601735"/>
              <a:chOff x="4382621" y="3244007"/>
              <a:chExt cx="1548574" cy="1601735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752AD79-CCF2-693C-5120-EF04065CEDF9}"/>
                  </a:ext>
                </a:extLst>
              </p:cNvPr>
              <p:cNvGrpSpPr/>
              <p:nvPr/>
            </p:nvGrpSpPr>
            <p:grpSpPr>
              <a:xfrm>
                <a:off x="4414283" y="3685809"/>
                <a:ext cx="1516912" cy="268969"/>
                <a:chOff x="4414283" y="3685809"/>
                <a:chExt cx="1516912" cy="268969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D30F41D-0B59-96B0-2086-05FD5E0665BF}"/>
                    </a:ext>
                  </a:extLst>
                </p:cNvPr>
                <p:cNvSpPr txBox="1"/>
                <p:nvPr/>
              </p:nvSpPr>
              <p:spPr>
                <a:xfrm>
                  <a:off x="44142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1FBB2C6-5931-2FAD-F938-FE1642874B61}"/>
                    </a:ext>
                  </a:extLst>
                </p:cNvPr>
                <p:cNvSpPr txBox="1"/>
                <p:nvPr/>
              </p:nvSpPr>
              <p:spPr>
                <a:xfrm>
                  <a:off x="4876799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AB7C7A7-F7C6-8ABF-E4F6-630D483A8138}"/>
                    </a:ext>
                  </a:extLst>
                </p:cNvPr>
                <p:cNvSpPr txBox="1"/>
                <p:nvPr/>
              </p:nvSpPr>
              <p:spPr>
                <a:xfrm>
                  <a:off x="5310962" y="3685809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E3262AC-24A6-C62A-08C6-BBEBA5DFDB2C}"/>
                    </a:ext>
                  </a:extLst>
                </p:cNvPr>
                <p:cNvSpPr txBox="1"/>
                <p:nvPr/>
              </p:nvSpPr>
              <p:spPr>
                <a:xfrm>
                  <a:off x="57858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9B927CF8-AF38-CDF8-A9EF-EDEFC6BDA07E}"/>
                  </a:ext>
                </a:extLst>
              </p:cNvPr>
              <p:cNvGrpSpPr/>
              <p:nvPr/>
            </p:nvGrpSpPr>
            <p:grpSpPr>
              <a:xfrm>
                <a:off x="4414283" y="4105864"/>
                <a:ext cx="1516912" cy="268969"/>
                <a:chOff x="4414283" y="3685809"/>
                <a:chExt cx="1516912" cy="268969"/>
              </a:xfrm>
            </p:grpSpPr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6EEFEFE-7A14-E54F-9D20-88E0B74EA4AB}"/>
                    </a:ext>
                  </a:extLst>
                </p:cNvPr>
                <p:cNvSpPr txBox="1"/>
                <p:nvPr/>
              </p:nvSpPr>
              <p:spPr>
                <a:xfrm>
                  <a:off x="44142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AB2F481-5134-3AD1-8D30-78CA8E73AB46}"/>
                    </a:ext>
                  </a:extLst>
                </p:cNvPr>
                <p:cNvSpPr txBox="1"/>
                <p:nvPr/>
              </p:nvSpPr>
              <p:spPr>
                <a:xfrm>
                  <a:off x="4876799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989634F-DCFC-FCEC-62BF-CEB7B663196E}"/>
                    </a:ext>
                  </a:extLst>
                </p:cNvPr>
                <p:cNvSpPr txBox="1"/>
                <p:nvPr/>
              </p:nvSpPr>
              <p:spPr>
                <a:xfrm>
                  <a:off x="5310962" y="3685809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b="1" dirty="0">
                      <a:solidFill>
                        <a:schemeClr val="accent2"/>
                      </a:solidFill>
                    </a:rPr>
                    <a:t>1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5237276-F6DD-3DB4-120C-72057CEE1C74}"/>
                    </a:ext>
                  </a:extLst>
                </p:cNvPr>
                <p:cNvSpPr txBox="1"/>
                <p:nvPr/>
              </p:nvSpPr>
              <p:spPr>
                <a:xfrm>
                  <a:off x="57858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EE4B4C3A-C9DE-6BCC-E353-0E9585FE87C7}"/>
                  </a:ext>
                </a:extLst>
              </p:cNvPr>
              <p:cNvGrpSpPr/>
              <p:nvPr/>
            </p:nvGrpSpPr>
            <p:grpSpPr>
              <a:xfrm>
                <a:off x="4382621" y="4576773"/>
                <a:ext cx="1516912" cy="268969"/>
                <a:chOff x="4414283" y="3685809"/>
                <a:chExt cx="1516912" cy="268969"/>
              </a:xfrm>
            </p:grpSpPr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1547886-135D-9E0C-681F-41CA25C716EA}"/>
                    </a:ext>
                  </a:extLst>
                </p:cNvPr>
                <p:cNvSpPr txBox="1"/>
                <p:nvPr/>
              </p:nvSpPr>
              <p:spPr>
                <a:xfrm>
                  <a:off x="44142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E32D794-516D-E3FB-3973-FB912E8CE644}"/>
                    </a:ext>
                  </a:extLst>
                </p:cNvPr>
                <p:cNvSpPr txBox="1"/>
                <p:nvPr/>
              </p:nvSpPr>
              <p:spPr>
                <a:xfrm>
                  <a:off x="4876799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EA4B7BB-CAEA-8B05-10B1-251225217D35}"/>
                    </a:ext>
                  </a:extLst>
                </p:cNvPr>
                <p:cNvSpPr txBox="1"/>
                <p:nvPr/>
              </p:nvSpPr>
              <p:spPr>
                <a:xfrm>
                  <a:off x="5310962" y="3685809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E2758A-527A-2EDE-0548-EDE57550686E}"/>
                    </a:ext>
                  </a:extLst>
                </p:cNvPr>
                <p:cNvSpPr txBox="1"/>
                <p:nvPr/>
              </p:nvSpPr>
              <p:spPr>
                <a:xfrm>
                  <a:off x="57858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59E18F5-BC4F-0096-E7F1-99D143FB7D6F}"/>
                  </a:ext>
                </a:extLst>
              </p:cNvPr>
              <p:cNvGrpSpPr/>
              <p:nvPr/>
            </p:nvGrpSpPr>
            <p:grpSpPr>
              <a:xfrm>
                <a:off x="4403650" y="3244007"/>
                <a:ext cx="1516912" cy="268969"/>
                <a:chOff x="4414283" y="3685809"/>
                <a:chExt cx="1516912" cy="268969"/>
              </a:xfrm>
            </p:grpSpPr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9A9344C-3766-8050-5CDA-60FBC60ADFB5}"/>
                    </a:ext>
                  </a:extLst>
                </p:cNvPr>
                <p:cNvSpPr txBox="1"/>
                <p:nvPr/>
              </p:nvSpPr>
              <p:spPr>
                <a:xfrm>
                  <a:off x="44142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6E9A0132-2099-5363-2A6D-48396ADEE3E1}"/>
                    </a:ext>
                  </a:extLst>
                </p:cNvPr>
                <p:cNvSpPr txBox="1"/>
                <p:nvPr/>
              </p:nvSpPr>
              <p:spPr>
                <a:xfrm>
                  <a:off x="4876799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E926400-ADCA-23FE-2D72-7019F2656D5E}"/>
                    </a:ext>
                  </a:extLst>
                </p:cNvPr>
                <p:cNvSpPr txBox="1"/>
                <p:nvPr/>
              </p:nvSpPr>
              <p:spPr>
                <a:xfrm>
                  <a:off x="5310962" y="3685809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9720D94C-9BA9-9DCC-2303-4A63E6F842FB}"/>
                    </a:ext>
                  </a:extLst>
                </p:cNvPr>
                <p:cNvSpPr txBox="1"/>
                <p:nvPr/>
              </p:nvSpPr>
              <p:spPr>
                <a:xfrm>
                  <a:off x="5785883" y="3693168"/>
                  <a:ext cx="14531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</p:grp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4907E4A-8165-469A-2D7D-2A9F070FAF6B}"/>
                </a:ext>
              </a:extLst>
            </p:cNvPr>
            <p:cNvSpPr/>
            <p:nvPr/>
          </p:nvSpPr>
          <p:spPr>
            <a:xfrm>
              <a:off x="838199" y="2913888"/>
              <a:ext cx="10825636" cy="281991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743764ED-EDD8-EBDA-9B21-C73D010EE92B}"/>
              </a:ext>
            </a:extLst>
          </p:cNvPr>
          <p:cNvSpPr/>
          <p:nvPr/>
        </p:nvSpPr>
        <p:spPr>
          <a:xfrm>
            <a:off x="8816830" y="2613171"/>
            <a:ext cx="1484852" cy="608202"/>
          </a:xfrm>
          <a:prstGeom prst="wedgeRoundRectCallout">
            <a:avLst>
              <a:gd name="adj1" fmla="val -260946"/>
              <a:gd name="adj2" fmla="val -1216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need state-action features!</a:t>
            </a:r>
          </a:p>
        </p:txBody>
      </p:sp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99B3C-0397-11D2-6355-D1AF78CF4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State-Action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We need to learn to predict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which should have a different value for each action.</a:t>
                </a:r>
              </a:p>
              <a:p>
                <a:r>
                  <a:rPr lang="en-US" dirty="0" err="1"/>
                  <a:t>Geramifard</a:t>
                </a:r>
                <a:r>
                  <a:rPr lang="en-US" dirty="0"/>
                  <a:t> et al. (2013)* suggest to have different state-feature weights for each action.</a:t>
                </a:r>
              </a:p>
              <a:p>
                <a:r>
                  <a:rPr lang="en-US" b="1" dirty="0"/>
                  <a:t>Example</a:t>
                </a:r>
                <a:r>
                  <a:rPr lang="en-US" dirty="0"/>
                  <a:t>: A state described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three actions, the weight vector would be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intercept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In the prediction/update, only the intercept and the weights belonging to the action are used.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98B0CDD-5EF7-42CA-4049-17719876723E}"/>
              </a:ext>
            </a:extLst>
          </p:cNvPr>
          <p:cNvSpPr txBox="1"/>
          <p:nvPr/>
        </p:nvSpPr>
        <p:spPr>
          <a:xfrm>
            <a:off x="758504" y="6090407"/>
            <a:ext cx="10595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*Alborz </a:t>
            </a:r>
            <a:r>
              <a:rPr lang="en-US" sz="1400" dirty="0" err="1"/>
              <a:t>Geramifard</a:t>
            </a:r>
            <a:r>
              <a:rPr lang="en-US" sz="1400" dirty="0"/>
              <a:t>, Stefanie </a:t>
            </a:r>
            <a:r>
              <a:rPr lang="en-US" sz="1400" dirty="0" err="1"/>
              <a:t>Tellex</a:t>
            </a:r>
            <a:r>
              <a:rPr lang="en-US" sz="1400" dirty="0"/>
              <a:t>, and Thomas J. Walsh. A Tutorial on Linear Function Approximators for Dynamic Programming and Reinforcement Learning, Foundations and Trends in Machine Learning, Vol. 6, No. 4 (2013) 375–454 </a:t>
            </a:r>
          </a:p>
        </p:txBody>
      </p:sp>
    </p:spTree>
    <p:extLst>
      <p:ext uri="{BB962C8B-B14F-4D97-AF65-F5344CB8AC3E}">
        <p14:creationId xmlns:p14="http://schemas.microsoft.com/office/powerpoint/2010/main" val="14302979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19696</TotalTime>
  <Words>3707</Words>
  <Application>Microsoft Office PowerPoint</Application>
  <PresentationFormat>Widescreen</PresentationFormat>
  <Paragraphs>381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Goals of Generalization in RL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State-Action Features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231</cp:revision>
  <dcterms:created xsi:type="dcterms:W3CDTF">2025-09-08T14:44:49Z</dcterms:created>
  <dcterms:modified xsi:type="dcterms:W3CDTF">2026-05-31T19:16:35Z</dcterms:modified>
</cp:coreProperties>
</file>