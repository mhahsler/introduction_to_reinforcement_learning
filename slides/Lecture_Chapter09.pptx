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313" r:id="rId3"/>
    <p:sldId id="479" r:id="rId4"/>
    <p:sldId id="393" r:id="rId5"/>
    <p:sldId id="394" r:id="rId6"/>
    <p:sldId id="420" r:id="rId7"/>
    <p:sldId id="395" r:id="rId8"/>
    <p:sldId id="491" r:id="rId9"/>
    <p:sldId id="396" r:id="rId10"/>
    <p:sldId id="486" r:id="rId11"/>
    <p:sldId id="398" r:id="rId12"/>
    <p:sldId id="397" r:id="rId13"/>
    <p:sldId id="399" r:id="rId14"/>
    <p:sldId id="400" r:id="rId15"/>
    <p:sldId id="401" r:id="rId16"/>
    <p:sldId id="405" r:id="rId17"/>
    <p:sldId id="403" r:id="rId18"/>
    <p:sldId id="402" r:id="rId19"/>
    <p:sldId id="404" r:id="rId20"/>
    <p:sldId id="489" r:id="rId21"/>
    <p:sldId id="406" r:id="rId22"/>
    <p:sldId id="407" r:id="rId23"/>
    <p:sldId id="409" r:id="rId24"/>
    <p:sldId id="487" r:id="rId25"/>
    <p:sldId id="480" r:id="rId26"/>
    <p:sldId id="481" r:id="rId27"/>
    <p:sldId id="413" r:id="rId28"/>
    <p:sldId id="417" r:id="rId29"/>
    <p:sldId id="418" r:id="rId30"/>
    <p:sldId id="412" r:id="rId31"/>
    <p:sldId id="482" r:id="rId32"/>
    <p:sldId id="485" r:id="rId33"/>
    <p:sldId id="410" r:id="rId34"/>
    <p:sldId id="411" r:id="rId35"/>
    <p:sldId id="414" r:id="rId36"/>
    <p:sldId id="421" r:id="rId37"/>
    <p:sldId id="484" r:id="rId38"/>
    <p:sldId id="415" r:id="rId39"/>
    <p:sldId id="488" r:id="rId40"/>
    <p:sldId id="490" r:id="rId41"/>
    <p:sldId id="483" r:id="rId42"/>
    <p:sldId id="422" r:id="rId43"/>
    <p:sldId id="424"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491"/>
            <p14:sldId id="396"/>
            <p14:sldId id="486"/>
          </p14:sldIdLst>
        </p14:section>
        <p14:section name="Prediction: Gradient Methods" id="{EAA0CE26-54AA-4F09-BD7A-ECFC52DE3ABA}">
          <p14:sldIdLst>
            <p14:sldId id="398"/>
            <p14:sldId id="397"/>
            <p14:sldId id="399"/>
            <p14:sldId id="400"/>
            <p14:sldId id="401"/>
            <p14:sldId id="405"/>
            <p14:sldId id="403"/>
            <p14:sldId id="402"/>
            <p14:sldId id="404"/>
            <p14:sldId id="489"/>
          </p14:sldIdLst>
        </p14:section>
        <p14:section name="Linear Function Approximation" id="{9B11E8D6-BFFA-4307-8A9C-339881B4B930}">
          <p14:sldIdLst>
            <p14:sldId id="406"/>
            <p14:sldId id="407"/>
            <p14:sldId id="409"/>
            <p14:sldId id="487"/>
            <p14:sldId id="480"/>
          </p14:sldIdLst>
        </p14:section>
        <p14:section name="Feature Construction" id="{9679DDC5-60E3-4D8D-8F53-D329753842FC}">
          <p14:sldIdLst>
            <p14:sldId id="481"/>
            <p14:sldId id="413"/>
            <p14:sldId id="417"/>
            <p14:sldId id="418"/>
            <p14:sldId id="412"/>
            <p14:sldId id="482"/>
            <p14:sldId id="485"/>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Lst>
        </p14:section>
        <p14:section name="More Considerations" id="{06BAE7B2-545D-413D-A43D-E17AA5077CBB}">
          <p14:sldIdLst>
            <p14:sldId id="490"/>
            <p14:sldId id="483"/>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85" autoAdjust="0"/>
    <p:restoredTop sz="94653"/>
  </p:normalViewPr>
  <p:slideViewPr>
    <p:cSldViewPr snapToGrid="0">
      <p:cViewPr varScale="1">
        <p:scale>
          <a:sx n="138" d="100"/>
          <a:sy n="138" d="100"/>
        </p:scale>
        <p:origin x="96" y="404"/>
      </p:cViewPr>
      <p:guideLst/>
    </p:cSldViewPr>
  </p:slideViewPr>
  <p:notesTextViewPr>
    <p:cViewPr>
      <p:scale>
        <a:sx n="3" d="2"/>
        <a:sy n="3" d="2"/>
      </p:scale>
      <p:origin x="0" y="0"/>
    </p:cViewPr>
  </p:notesTextViewPr>
  <p:sorterViewPr>
    <p:cViewPr>
      <p:scale>
        <a:sx n="100" d="100"/>
        <a:sy n="100" d="100"/>
      </p:scale>
      <p:origin x="0" y="-83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26</a:t>
            </a:fld>
            <a:endParaRPr lang="en-US" dirty="0"/>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10/26/2026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0.png"/></Relationships>
</file>

<file path=ppt/slides/_rels/slide10.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40.png"/></Relationships>
</file>

<file path=ppt/slides/_rels/slide1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1.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9.png"/><Relationship Id="rId7" Type="http://schemas.openxmlformats.org/officeDocument/2006/relationships/image" Target="../media/image260.png"/><Relationship Id="rId12" Type="http://schemas.openxmlformats.org/officeDocument/2006/relationships/image" Target="../media/image350.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40.gif"/></Relationships>
</file>

<file path=ppt/slides/_rels/slide28.xml.rels><?xml version="1.0" encoding="UTF-8" standalone="yes"?>
<Relationships xmlns="http://schemas.openxmlformats.org/package/2006/relationships"><Relationship Id="rId7" Type="http://schemas.openxmlformats.org/officeDocument/2006/relationships/image" Target="../media/image390.png"/><Relationship Id="rId2" Type="http://schemas.openxmlformats.org/officeDocument/2006/relationships/image" Target="../media/image360.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41.png"/><Relationship Id="rId4" Type="http://schemas.openxmlformats.org/officeDocument/2006/relationships/image" Target="../media/image370.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20.png"/><Relationship Id="rId1" Type="http://schemas.openxmlformats.org/officeDocument/2006/relationships/slideLayout" Target="../slideLayouts/slideLayout2.xml"/><Relationship Id="rId4" Type="http://schemas.openxmlformats.org/officeDocument/2006/relationships/image" Target="../media/image440.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Function Approximation</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to learn </a:t>
                </a:r>
                <a14:m>
                  <m:oMath xmlns:m="http://schemas.openxmlformats.org/officeDocument/2006/math">
                    <m:r>
                      <a:rPr lang="en-US" b="1" i="1" smtClean="0">
                        <a:latin typeface="Cambria Math" panose="02040503050406030204" pitchFamily="18" charset="0"/>
                      </a:rPr>
                      <m:t>𝒘</m:t>
                    </m:r>
                  </m:oMath>
                </a14:m>
                <a:r>
                  <a:rPr lang="en-US" dirty="0"/>
                  <a:t> for a given policy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0" indent="0">
                  <a:buNone/>
                </a:pPr>
                <a:endParaRPr lang="en-US" dirty="0"/>
              </a:p>
              <a:p>
                <a:pPr marL="0" indent="0">
                  <a:buNone/>
                </a:pPr>
                <a:r>
                  <a:rPr lang="en-US" dirty="0"/>
                  <a:t>We need:</a:t>
                </a:r>
              </a:p>
              <a:p>
                <a:pPr lvl="1"/>
                <a:r>
                  <a:rPr lang="en-US" dirty="0"/>
                  <a:t>Training data </a:t>
                </a:r>
              </a:p>
              <a:p>
                <a:pPr lvl="1"/>
                <a:r>
                  <a:rPr lang="en-US" dirty="0"/>
                  <a:t>An objective/loss function</a:t>
                </a:r>
              </a:p>
              <a:p>
                <a:pPr lvl="1"/>
                <a:r>
                  <a:rPr lang="en-US" dirty="0"/>
                  <a:t>An optimizer</a:t>
                </a:r>
              </a:p>
              <a:p>
                <a:pPr lvl="1"/>
                <a:r>
                  <a:rPr lang="en-US" dirty="0"/>
                  <a:t>A value function approximator</a:t>
                </a:r>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2FE39-5AB9-4474-0587-8E2A39B61C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1BA641-3127-4549-0550-EFE1B7E63F7C}"/>
              </a:ext>
            </a:extLst>
          </p:cNvPr>
          <p:cNvSpPr>
            <a:spLocks noGrp="1"/>
          </p:cNvSpPr>
          <p:nvPr>
            <p:ph type="title"/>
          </p:nvPr>
        </p:nvSpPr>
        <p:spPr/>
        <p:txBody>
          <a:bodyPr>
            <a:normAutofit/>
          </a:bodyPr>
          <a:lstStyle/>
          <a:p>
            <a:r>
              <a:rPr lang="en-US" dirty="0"/>
              <a:t>Training Data</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0D7458E8-FD3A-0976-FBF1-9AD0C5C122B6}"/>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2D32B1D3-DADE-F5FF-FD8B-FC261D93AB39}"/>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323670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endParaRPr lang="en-US" dirty="0"/>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1101"/>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ea typeface="Cambria Math" panose="02040503050406030204" pitchFamily="18" charset="0"/>
                          </a:rPr>
                          <m:t>⊤</m:t>
                        </m:r>
                      </m:sup>
                    </m:sSup>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b="-2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8013946" y="3879045"/>
                <a:ext cx="3395272" cy="900773"/>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a fixed, unbiased estimate of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8013946" y="3879045"/>
                <a:ext cx="3395272" cy="900773"/>
              </a:xfrm>
              <a:prstGeom prst="wedgeRoundRectCallout">
                <a:avLst>
                  <a:gd name="adj1" fmla="val -91983"/>
                  <a:gd name="adj2" fmla="val 3255"/>
                  <a:gd name="adj3" fmla="val 16667"/>
                </a:avLst>
              </a:prstGeom>
              <a:blipFill>
                <a:blip r:embed="rId3"/>
                <a:stretch>
                  <a:fillRect t="-2649" b="-105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4" name="Content Placeholder 4">
            <a:extLst>
              <a:ext uri="{FF2B5EF4-FFF2-40B4-BE49-F238E27FC236}">
                <a16:creationId xmlns:a16="http://schemas.microsoft.com/office/drawing/2014/main" id="{1BA72D0C-F5B3-19BC-A1EA-6BBF153DF411}"/>
              </a:ext>
              <a:ext uri="{C183D7F6-B498-43B3-948B-1728B52AA6E4}">
                <adec:decorative xmlns:adec="http://schemas.microsoft.com/office/drawing/2017/decorative" val="1"/>
              </a:ext>
            </a:extLst>
          </p:cNvPr>
          <p:cNvPicPr>
            <a:picLocks noChangeAspect="1"/>
          </p:cNvPicPr>
          <p:nvPr/>
        </p:nvPicPr>
        <p:blipFill>
          <a:blip r:embed="rId2"/>
          <a:srcRect t="3245"/>
          <a:stretch>
            <a:fillRect/>
          </a:stretch>
        </p:blipFill>
        <p:spPr>
          <a:xfrm>
            <a:off x="63539" y="1043939"/>
            <a:ext cx="7808892" cy="3419323"/>
          </a:xfrm>
          <a:prstGeom prst="rect">
            <a:avLst/>
          </a:prstGeom>
        </p:spPr>
      </p:pic>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3"/>
          <a:srcRect l="1232" t="3497"/>
          <a:stretch>
            <a:fillRect/>
          </a:stretch>
        </p:blipFill>
        <p:spPr>
          <a:xfrm>
            <a:off x="2763179" y="2951067"/>
            <a:ext cx="9248101" cy="3244904"/>
          </a:xfrm>
          <a:prstGeom prst="rect">
            <a:avLst/>
          </a:prstGeom>
        </p:spPr>
      </p:pic>
      <p:sp>
        <p:nvSpPr>
          <p:cNvPr id="12" name="Arrow: Right 11">
            <a:extLst>
              <a:ext uri="{FF2B5EF4-FFF2-40B4-BE49-F238E27FC236}">
                <a16:creationId xmlns:a16="http://schemas.microsoft.com/office/drawing/2014/main" id="{C4DE7663-5E4B-AC32-ADBE-B4554096C31D}"/>
              </a:ext>
              <a:ext uri="{C183D7F6-B498-43B3-948B-1728B52AA6E4}">
                <adec:decorative xmlns:adec="http://schemas.microsoft.com/office/drawing/2017/decorative" val="1"/>
              </a:ext>
            </a:extLst>
          </p:cNvPr>
          <p:cNvSpPr/>
          <p:nvPr/>
        </p:nvSpPr>
        <p:spPr>
          <a:xfrm>
            <a:off x="2376575" y="3488705"/>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C65EA1D-AA8B-FB1E-98C7-C232827DA172}"/>
              </a:ext>
              <a:ext uri="{C183D7F6-B498-43B3-948B-1728B52AA6E4}">
                <adec:decorative xmlns:adec="http://schemas.microsoft.com/office/drawing/2017/decorative" val="1"/>
              </a:ext>
            </a:extLst>
          </p:cNvPr>
          <p:cNvSpPr/>
          <p:nvPr/>
        </p:nvSpPr>
        <p:spPr>
          <a:xfrm>
            <a:off x="6297324" y="37112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A504EF24-2FA4-80A3-733C-545D1F0C8324}"/>
              </a:ext>
              <a:ext uri="{C183D7F6-B498-43B3-948B-1728B52AA6E4}">
                <adec:decorative xmlns:adec="http://schemas.microsoft.com/office/drawing/2017/decorative" val="1"/>
              </a:ext>
            </a:extLst>
          </p:cNvPr>
          <p:cNvSpPr/>
          <p:nvPr/>
        </p:nvSpPr>
        <p:spPr>
          <a:xfrm>
            <a:off x="3627634" y="5608646"/>
            <a:ext cx="391937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A6987B-D319-0DFB-6CF3-AE9E77CE3883}"/>
                  </a:ext>
                </a:extLst>
              </p:cNvPr>
              <p:cNvSpPr txBox="1"/>
              <p:nvPr/>
            </p:nvSpPr>
            <p:spPr>
              <a:xfrm>
                <a:off x="8833596" y="5556849"/>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3" name="TextBox 2">
                <a:extLst>
                  <a:ext uri="{FF2B5EF4-FFF2-40B4-BE49-F238E27FC236}">
                    <a16:creationId xmlns:a16="http://schemas.microsoft.com/office/drawing/2014/main" id="{FAA6987B-D319-0DFB-6CF3-AE9E77CE3883}"/>
                  </a:ext>
                </a:extLst>
              </p:cNvPr>
              <p:cNvSpPr txBox="1">
                <a:spLocks noRot="1" noChangeAspect="1" noMove="1" noResize="1" noEditPoints="1" noAdjustHandles="1" noChangeArrowheads="1" noChangeShapeType="1" noTextEdit="1"/>
              </p:cNvSpPr>
              <p:nvPr/>
            </p:nvSpPr>
            <p:spPr>
              <a:xfrm>
                <a:off x="8833596" y="5556849"/>
                <a:ext cx="3112314" cy="936025"/>
              </a:xfrm>
              <a:prstGeom prst="rect">
                <a:avLst/>
              </a:prstGeom>
              <a:blipFill>
                <a:blip r:embed="rId4"/>
                <a:stretch>
                  <a:fillRect l="-778" t="-1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752F8F1F-0025-F7E8-E9BD-C9EA29E80BA6}"/>
                  </a:ext>
                </a:extLst>
              </p:cNvPr>
              <p:cNvSpPr/>
              <p:nvPr/>
            </p:nvSpPr>
            <p:spPr>
              <a:xfrm>
                <a:off x="197765" y="4593578"/>
                <a:ext cx="2525086" cy="2030135"/>
              </a:xfrm>
              <a:prstGeom prst="wedgeRoundRectCallout">
                <a:avLst>
                  <a:gd name="adj1" fmla="val 83320"/>
                  <a:gd name="adj2" fmla="val 1105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a:p>
                <a:endParaRPr lang="en-US" dirty="0"/>
              </a:p>
              <a:p>
                <a:r>
                  <a:rPr lang="en-US" dirty="0"/>
                  <a:t>+ does not need first visit.</a:t>
                </a:r>
              </a:p>
            </p:txBody>
          </p:sp>
        </mc:Choice>
        <mc:Fallback xmlns="">
          <p:sp>
            <p:nvSpPr>
              <p:cNvPr id="6" name="Speech Bubble: Rectangle with Corners Rounded 5">
                <a:extLst>
                  <a:ext uri="{FF2B5EF4-FFF2-40B4-BE49-F238E27FC236}">
                    <a16:creationId xmlns:a16="http://schemas.microsoft.com/office/drawing/2014/main" id="{752F8F1F-0025-F7E8-E9BD-C9EA29E80BA6}"/>
                  </a:ext>
                </a:extLst>
              </p:cNvPr>
              <p:cNvSpPr>
                <a:spLocks noRot="1" noChangeAspect="1" noMove="1" noResize="1" noEditPoints="1" noAdjustHandles="1" noChangeArrowheads="1" noChangeShapeType="1" noTextEdit="1"/>
              </p:cNvSpPr>
              <p:nvPr/>
            </p:nvSpPr>
            <p:spPr>
              <a:xfrm>
                <a:off x="197765" y="4593578"/>
                <a:ext cx="2525086" cy="2030135"/>
              </a:xfrm>
              <a:prstGeom prst="wedgeRoundRectCallout">
                <a:avLst>
                  <a:gd name="adj1" fmla="val 83320"/>
                  <a:gd name="adj2" fmla="val 11054"/>
                  <a:gd name="adj3" fmla="val 16667"/>
                </a:avLst>
              </a:prstGeom>
              <a:blipFill>
                <a:blip r:embed="rId5"/>
                <a:stretch>
                  <a:fillRect b="-2381"/>
                </a:stretch>
              </a:blipFill>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62500" lnSpcReduction="20000"/>
              </a:bodyPr>
              <a:lstStyle/>
              <a:p>
                <a:r>
                  <a:rPr lang="en-US" b="1" dirty="0"/>
                  <a:t>Issue: </a:t>
                </a:r>
                <a:r>
                  <a:rPr lang="en-US" dirty="0"/>
                  <a:t>To get the true gradient requires, an </a:t>
                </a:r>
                <a:r>
                  <a:rPr lang="en-US" b="1" dirty="0"/>
                  <a:t>unbiased </a:t>
                </a:r>
                <a:r>
                  <a:rPr lang="en-US" dirty="0"/>
                  <a:t>target estimate that is </a:t>
                </a:r>
                <a:r>
                  <a:rPr lang="en-US" b="1" dirty="0"/>
                  <a:t>fixed</a:t>
                </a:r>
                <a:r>
                  <a:rPr lang="en-US" dirty="0"/>
                  <a:t> (i.e., does not change with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oMath>
                </a14:m>
                <a:r>
                  <a:rPr lang="en-US" dirty="0"/>
                  <a:t> </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r>
                              <a:rPr lang="en-US" i="1">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r>
                  <a:rPr lang="en-US" b="1" dirty="0"/>
                  <a:t>Bootstrapping</a:t>
                </a:r>
                <a:br>
                  <a:rPr lang="en-US" dirty="0"/>
                </a:b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solidFill>
                              <a:srgbClr val="FF0000"/>
                            </a:solidFill>
                            <a:latin typeface="Cambria Math" panose="02040503050406030204" pitchFamily="18" charset="0"/>
                            <a:ea typeface="Cambria Math" panose="02040503050406030204" pitchFamily="18" charset="0"/>
                          </a:rPr>
                        </m:ctrlPr>
                      </m:accPr>
                      <m:e>
                        <m:r>
                          <a:rPr lang="en-US" i="1">
                            <a:solidFill>
                              <a:srgbClr val="FF0000"/>
                            </a:solidFill>
                            <a:latin typeface="Cambria Math" panose="02040503050406030204" pitchFamily="18" charset="0"/>
                            <a:ea typeface="Cambria Math" panose="02040503050406030204" pitchFamily="18" charset="0"/>
                          </a:rPr>
                          <m:t>𝑣</m:t>
                        </m:r>
                      </m:e>
                    </m:acc>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m:rPr>
                                <m:sty m:val="p"/>
                              </m:rPr>
                              <a:rPr lang="en-US">
                                <a:solidFill>
                                  <a:srgbClr val="FF0000"/>
                                </a:solidFill>
                                <a:latin typeface="Cambria Math" panose="02040503050406030204" pitchFamily="18" charset="0"/>
                                <a:ea typeface="Cambria Math" panose="02040503050406030204" pitchFamily="18" charset="0"/>
                              </a:rPr>
                              <m:t>t</m:t>
                            </m:r>
                            <m:r>
                              <a:rPr lang="en-US">
                                <a:solidFill>
                                  <a:srgbClr val="FF0000"/>
                                </a:solidFill>
                                <a:latin typeface="Cambria Math" panose="02040503050406030204" pitchFamily="18" charset="0"/>
                                <a:ea typeface="Cambria Math" panose="02040503050406030204" pitchFamily="18" charset="0"/>
                              </a:rPr>
                              <m:t>+1</m:t>
                            </m:r>
                          </m:sub>
                        </m:sSub>
                        <m:r>
                          <a:rPr lang="en-US">
                            <a:solidFill>
                              <a:srgbClr val="FF0000"/>
                            </a:solidFill>
                            <a:latin typeface="Cambria Math" panose="02040503050406030204" pitchFamily="18" charset="0"/>
                            <a:ea typeface="Cambria Math" panose="02040503050406030204" pitchFamily="18" charset="0"/>
                          </a:rPr>
                          <m:t>,</m:t>
                        </m:r>
                        <m:sSub>
                          <m:sSubPr>
                            <m:ctrlPr>
                              <a:rPr lang="en-US" b="1" i="1">
                                <a:solidFill>
                                  <a:srgbClr val="FF0000"/>
                                </a:solidFill>
                                <a:latin typeface="Cambria Math" panose="02040503050406030204" pitchFamily="18" charset="0"/>
                                <a:ea typeface="Cambria Math" panose="02040503050406030204" pitchFamily="18" charset="0"/>
                              </a:rPr>
                            </m:ctrlPr>
                          </m:sSubPr>
                          <m:e>
                            <m:r>
                              <a:rPr lang="en-US" b="1" i="1">
                                <a:solidFill>
                                  <a:srgbClr val="FF0000"/>
                                </a:solidFill>
                                <a:latin typeface="Cambria Math" panose="02040503050406030204" pitchFamily="18" charset="0"/>
                                <a:ea typeface="Cambria Math" panose="02040503050406030204" pitchFamily="18" charset="0"/>
                              </a:rPr>
                              <m:t>𝒘</m:t>
                            </m:r>
                          </m:e>
                          <m:sub>
                            <m:r>
                              <a:rPr lang="en-US" i="1">
                                <a:solidFill>
                                  <a:srgbClr val="FF0000"/>
                                </a:solidFill>
                                <a:latin typeface="Cambria Math" panose="02040503050406030204" pitchFamily="18" charset="0"/>
                                <a:ea typeface="Cambria Math" panose="02040503050406030204" pitchFamily="18" charset="0"/>
                              </a:rPr>
                              <m:t>𝑡</m:t>
                            </m:r>
                          </m:sub>
                        </m:sSub>
                      </m:e>
                    </m:d>
                  </m:oMath>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dirty="0">
                    <a:ea typeface="Cambria Math" panose="02040503050406030204" pitchFamily="18" charset="0"/>
                  </a:rPr>
                  <a:t> but its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1" i="1">
                        <a:latin typeface="Cambria Math" panose="02040503050406030204" pitchFamily="18" charset="0"/>
                        <a:ea typeface="Cambria Math" panose="02040503050406030204" pitchFamily="18" charset="0"/>
                      </a:rPr>
                      <m:t> </m:t>
                    </m:r>
                  </m:oMath>
                </a14:m>
                <a:r>
                  <a:rPr lang="en-US" dirty="0">
                    <a:ea typeface="Cambria Math" panose="02040503050406030204" pitchFamily="18" charset="0"/>
                  </a:rPr>
                  <a:t>is missing in the update.</a:t>
                </a:r>
              </a:p>
              <a:p>
                <a:pPr lvl="1"/>
                <a:r>
                  <a:rPr lang="en-US" dirty="0">
                    <a:ea typeface="Cambria Math" panose="02040503050406030204" pitchFamily="18" charset="0"/>
                  </a:rPr>
                  <a:t>Creates convergence issues.</a:t>
                </a:r>
              </a:p>
              <a:p>
                <a:pPr marL="0" indent="0">
                  <a:buNone/>
                </a:pPr>
                <a:endParaRPr lang="en-US" b="1" dirty="0"/>
              </a:p>
              <a:p>
                <a:pPr marL="0" indent="0">
                  <a:buNone/>
                </a:pPr>
                <a:r>
                  <a:rPr lang="en-US" b="1" dirty="0"/>
                  <a:t>Semi-Gradient Methods:</a:t>
                </a:r>
              </a:p>
              <a:p>
                <a:r>
                  <a:rPr lang="en-US" dirty="0"/>
                  <a:t>If biased target estimates are used, then this is called a semi-gradient method.</a:t>
                </a:r>
              </a:p>
              <a:p>
                <a:r>
                  <a:rPr lang="en-US" dirty="0"/>
                  <a:t>Advantages: </a:t>
                </a:r>
              </a:p>
              <a:p>
                <a:pPr lvl="1"/>
                <a:r>
                  <a:rPr lang="en-US" dirty="0"/>
                  <a:t>Lower variance of TD estimates leads to faster learning.</a:t>
                </a:r>
              </a:p>
              <a:p>
                <a:pPr lvl="1"/>
                <a:r>
                  <a:rPr lang="en-US" dirty="0"/>
                  <a:t>TD can learn online.</a:t>
                </a:r>
              </a:p>
              <a:p>
                <a:pPr lvl="1"/>
                <a:r>
                  <a:rPr lang="en-US" dirty="0"/>
                  <a:t>Often still converge: Especially for linear approximators or by using stabilization tricks. </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522" t="-1836"/>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3" name="Content Placeholder 4">
            <a:extLst>
              <a:ext uri="{FF2B5EF4-FFF2-40B4-BE49-F238E27FC236}">
                <a16:creationId xmlns:a16="http://schemas.microsoft.com/office/drawing/2014/main" id="{24761836-9264-8716-8852-134CF43107EA}"/>
              </a:ext>
              <a:ext uri="{C183D7F6-B498-43B3-948B-1728B52AA6E4}">
                <adec:decorative xmlns:adec="http://schemas.microsoft.com/office/drawing/2017/decorative" val="1"/>
              </a:ext>
            </a:extLst>
          </p:cNvPr>
          <p:cNvPicPr>
            <a:picLocks noGrp="1" noChangeAspect="1"/>
          </p:cNvPicPr>
          <p:nvPr>
            <p:ph idx="1"/>
          </p:nvPr>
        </p:nvPicPr>
        <p:blipFill>
          <a:blip r:embed="rId2"/>
          <a:stretch>
            <a:fillRect/>
          </a:stretch>
        </p:blipFill>
        <p:spPr>
          <a:xfrm>
            <a:off x="247196" y="1124198"/>
            <a:ext cx="7810209" cy="3497737"/>
          </a:xfrm>
          <a:prstGeom prst="rect">
            <a:avLst/>
          </a:prstGeom>
        </p:spPr>
      </p:pic>
      <p:grpSp>
        <p:nvGrpSpPr>
          <p:cNvPr id="11" name="Group 10"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57F41E3B-1C2C-3E0F-F049-5EB17E5AEA59}"/>
              </a:ext>
            </a:extLst>
          </p:cNvPr>
          <p:cNvGrpSpPr/>
          <p:nvPr/>
        </p:nvGrpSpPr>
        <p:grpSpPr>
          <a:xfrm>
            <a:off x="2782874" y="2111189"/>
            <a:ext cx="9161930" cy="4321296"/>
            <a:chOff x="2782874" y="2111189"/>
            <a:chExt cx="9161930" cy="4321296"/>
          </a:xfrm>
        </p:grpSpPr>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3"/>
            <a:srcRect l="801" t="2416"/>
            <a:stretch>
              <a:fillRect/>
            </a:stretch>
          </p:blipFill>
          <p:spPr>
            <a:xfrm>
              <a:off x="2782874" y="2111189"/>
              <a:ext cx="9161930" cy="4321296"/>
            </a:xfrm>
            <a:prstGeom prst="rect">
              <a:avLst/>
            </a:prstGeom>
          </p:spPr>
        </p:pic>
        <p:sp>
          <p:nvSpPr>
            <p:cNvPr id="6" name="Rectangle 5">
              <a:extLst>
                <a:ext uri="{FF2B5EF4-FFF2-40B4-BE49-F238E27FC236}">
                  <a16:creationId xmlns:a16="http://schemas.microsoft.com/office/drawing/2014/main" id="{02ED8844-ED2B-696B-4E67-2810F967CAC7}"/>
                </a:ext>
              </a:extLst>
            </p:cNvPr>
            <p:cNvSpPr/>
            <p:nvPr/>
          </p:nvSpPr>
          <p:spPr>
            <a:xfrm>
              <a:off x="3591485" y="5316045"/>
              <a:ext cx="500903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sp>
          <p:nvSpPr>
            <p:cNvPr id="10" name="Rectangle 9">
              <a:extLst>
                <a:ext uri="{FF2B5EF4-FFF2-40B4-BE49-F238E27FC236}">
                  <a16:creationId xmlns:a16="http://schemas.microsoft.com/office/drawing/2014/main" id="{D481E52A-8757-18A1-4333-BBB1047742F3}"/>
                </a:ext>
              </a:extLst>
            </p:cNvPr>
            <p:cNvSpPr/>
            <p:nvPr/>
          </p:nvSpPr>
          <p:spPr>
            <a:xfrm>
              <a:off x="6344770" y="2873066"/>
              <a:ext cx="1778150" cy="388596"/>
            </a:xfrm>
            <a:prstGeom prst="rect">
              <a:avLst/>
            </a:prstGeom>
            <a:noFill/>
            <a:ln w="1905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346532" y="4880206"/>
                <a:ext cx="2337006" cy="1483111"/>
              </a:xfrm>
              <a:prstGeom prst="wedgeRoundRectCallout">
                <a:avLst>
                  <a:gd name="adj1" fmla="val 85701"/>
                  <a:gd name="adj2" fmla="val -82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346532" y="4880206"/>
                <a:ext cx="2337006" cy="1483111"/>
              </a:xfrm>
              <a:prstGeom prst="wedgeRoundRectCallout">
                <a:avLst>
                  <a:gd name="adj1" fmla="val 85701"/>
                  <a:gd name="adj2" fmla="val -8273"/>
                  <a:gd name="adj3" fmla="val 16667"/>
                </a:avLst>
              </a:prstGeom>
              <a:blipFill>
                <a:blip r:embed="rId4"/>
                <a:stretch>
                  <a:fillRect t="-813" b="-5285"/>
                </a:stretch>
              </a:blipFill>
            </p:spPr>
            <p:txBody>
              <a:bodyPr/>
              <a:lstStyle/>
              <a:p>
                <a:r>
                  <a:rPr lang="en-US">
                    <a:noFill/>
                  </a:rPr>
                  <a:t> </a:t>
                </a:r>
              </a:p>
            </p:txBody>
          </p:sp>
        </mc:Fallback>
      </mc:AlternateContent>
      <p:sp>
        <p:nvSpPr>
          <p:cNvPr id="4" name="Arrow: Right 3">
            <a:extLst>
              <a:ext uri="{FF2B5EF4-FFF2-40B4-BE49-F238E27FC236}">
                <a16:creationId xmlns:a16="http://schemas.microsoft.com/office/drawing/2014/main" id="{5EBD22A0-9CB5-0AD7-E9D9-785663D0E81C}"/>
              </a:ext>
              <a:ext uri="{C183D7F6-B498-43B3-948B-1728B52AA6E4}">
                <adec:decorative xmlns:adec="http://schemas.microsoft.com/office/drawing/2017/decorative" val="1"/>
              </a:ext>
            </a:extLst>
          </p:cNvPr>
          <p:cNvSpPr/>
          <p:nvPr/>
        </p:nvSpPr>
        <p:spPr>
          <a:xfrm>
            <a:off x="2333064" y="2689411"/>
            <a:ext cx="605118" cy="83371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825A126-497B-AEAE-E99F-5C76AAC4AFEC}"/>
                  </a:ext>
                </a:extLst>
              </p:cNvPr>
              <p:cNvSpPr txBox="1"/>
              <p:nvPr/>
            </p:nvSpPr>
            <p:spPr>
              <a:xfrm>
                <a:off x="8832490" y="5695395"/>
                <a:ext cx="3112314" cy="9360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r>
                  <a:rPr lang="en-US" sz="1600" dirty="0"/>
                  <a:t>Minimizes: </a:t>
                </a:r>
                <a:br>
                  <a:rPr lang="en-US" sz="1600" i="1" dirty="0">
                    <a:latin typeface="Cambria Math" panose="02040503050406030204" pitchFamily="18" charset="0"/>
                  </a:rPr>
                </a:br>
                <a14:m>
                  <m:oMathPara xmlns:m="http://schemas.openxmlformats.org/officeDocument/2006/math">
                    <m:oMath>
                      <m:acc>
                        <m:accPr>
                          <m:chr m:val="̅"/>
                          <m:ctrlPr>
                            <a:rPr lang="en-US" sz="1600" i="1">
                              <a:latin typeface="Cambria Math" panose="02040503050406030204" pitchFamily="18" charset="0"/>
                            </a:rPr>
                          </m:ctrlPr>
                        </m:accPr>
                        <m:e>
                          <m:r>
                            <a:rPr lang="en-US" sz="1600" i="1">
                              <a:latin typeface="Cambria Math" panose="02040503050406030204" pitchFamily="18" charset="0"/>
                            </a:rPr>
                            <m:t>𝑉𝐸</m:t>
                          </m:r>
                        </m:e>
                      </m:acc>
                      <m:r>
                        <a:rPr lang="en-US" sz="1600" i="1">
                          <a:latin typeface="Cambria Math" panose="02040503050406030204" pitchFamily="18" charset="0"/>
                        </a:rPr>
                        <m:t>≝</m:t>
                      </m:r>
                      <m:nary>
                        <m:naryPr>
                          <m:chr m:val="∑"/>
                          <m:supHide m:val="on"/>
                          <m:ctrlPr>
                            <a:rPr lang="en-US" sz="1600" i="1">
                              <a:latin typeface="Cambria Math" panose="02040503050406030204" pitchFamily="18" charset="0"/>
                            </a:rPr>
                          </m:ctrlPr>
                        </m:naryPr>
                        <m:sub>
                          <m:r>
                            <a:rPr lang="en-US" sz="1600" i="1">
                              <a:latin typeface="Cambria Math" panose="02040503050406030204" pitchFamily="18" charset="0"/>
                            </a:rPr>
                            <m:t>𝑠</m:t>
                          </m:r>
                          <m:r>
                            <a:rPr lang="en-US" sz="1600" i="1">
                              <a:latin typeface="Cambria Math" panose="02040503050406030204" pitchFamily="18" charset="0"/>
                            </a:rPr>
                            <m:t>∈</m:t>
                          </m:r>
                          <m:r>
                            <a:rPr lang="en-US" sz="1600" i="1">
                              <a:latin typeface="Cambria Math" panose="02040503050406030204" pitchFamily="18" charset="0"/>
                              <a:ea typeface="Cambria Math" panose="02040503050406030204" pitchFamily="18" charset="0"/>
                            </a:rPr>
                            <m:t>𝒮</m:t>
                          </m:r>
                          <m:r>
                            <a:rPr lang="en-US" sz="1600" i="1">
                              <a:latin typeface="Cambria Math" panose="02040503050406030204" pitchFamily="18" charset="0"/>
                              <a:ea typeface="Cambria Math" panose="02040503050406030204" pitchFamily="18" charset="0"/>
                            </a:rPr>
                            <m:t> </m:t>
                          </m:r>
                        </m:sub>
                        <m:sup/>
                        <m:e>
                          <m:r>
                            <a:rPr lang="en-US" sz="1600" i="1">
                              <a:latin typeface="Cambria Math" panose="02040503050406030204" pitchFamily="18" charset="0"/>
                            </a:rPr>
                            <m:t>𝜇</m:t>
                          </m:r>
                          <m:d>
                            <m:dPr>
                              <m:ctrlPr>
                                <a:rPr lang="en-US" sz="1600" i="1">
                                  <a:latin typeface="Cambria Math" panose="02040503050406030204" pitchFamily="18" charset="0"/>
                                </a:rPr>
                              </m:ctrlPr>
                            </m:dPr>
                            <m:e>
                              <m:r>
                                <a:rPr lang="en-US" sz="1600" i="1">
                                  <a:latin typeface="Cambria Math" panose="02040503050406030204" pitchFamily="18" charset="0"/>
                                </a:rPr>
                                <m:t>𝑠</m:t>
                              </m:r>
                            </m:e>
                          </m:d>
                          <m:sSup>
                            <m:sSupPr>
                              <m:ctrlPr>
                                <a:rPr lang="en-US" sz="1600" i="1">
                                  <a:latin typeface="Cambria Math" panose="02040503050406030204" pitchFamily="18" charset="0"/>
                                </a:rPr>
                              </m:ctrlPr>
                            </m:sSup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𝑣</m:t>
                                      </m:r>
                                    </m:e>
                                    <m:sub>
                                      <m:r>
                                        <a:rPr lang="en-US" sz="1600" i="1">
                                          <a:latin typeface="Cambria Math" panose="02040503050406030204" pitchFamily="18" charset="0"/>
                                        </a:rPr>
                                        <m:t>𝜋</m:t>
                                      </m:r>
                                    </m:sub>
                                  </m:sSub>
                                  <m:r>
                                    <a:rPr lang="en-US" sz="1600" i="1">
                                      <a:latin typeface="Cambria Math" panose="02040503050406030204" pitchFamily="18" charset="0"/>
                                    </a:rPr>
                                    <m:t>(</m:t>
                                  </m:r>
                                  <m:r>
                                    <a:rPr lang="en-US" sz="1600" i="1">
                                      <a:latin typeface="Cambria Math" panose="02040503050406030204" pitchFamily="18" charset="0"/>
                                    </a:rPr>
                                    <m:t>𝑠</m:t>
                                  </m:r>
                                  <m:r>
                                    <a:rPr lang="en-US" sz="1600" i="1">
                                      <a:latin typeface="Cambria Math" panose="02040503050406030204" pitchFamily="18" charset="0"/>
                                    </a:rPr>
                                    <m:t>)−</m:t>
                                  </m:r>
                                  <m:acc>
                                    <m:accPr>
                                      <m:chr m:val="̂"/>
                                      <m:ctrlPr>
                                        <a:rPr lang="en-US" sz="1600" i="1">
                                          <a:latin typeface="Cambria Math" panose="02040503050406030204" pitchFamily="18" charset="0"/>
                                        </a:rPr>
                                      </m:ctrlPr>
                                    </m:accPr>
                                    <m:e>
                                      <m:r>
                                        <a:rPr lang="en-US" sz="1600" i="1">
                                          <a:latin typeface="Cambria Math" panose="02040503050406030204" pitchFamily="18" charset="0"/>
                                        </a:rPr>
                                        <m:t>𝑣</m:t>
                                      </m:r>
                                    </m:e>
                                  </m:acc>
                                  <m:d>
                                    <m:dPr>
                                      <m:ctrlPr>
                                        <a:rPr lang="en-US" sz="1600" i="1">
                                          <a:latin typeface="Cambria Math" panose="02040503050406030204" pitchFamily="18" charset="0"/>
                                        </a:rPr>
                                      </m:ctrlPr>
                                    </m:dPr>
                                    <m:e>
                                      <m:r>
                                        <a:rPr lang="en-US" sz="1600" i="1">
                                          <a:latin typeface="Cambria Math" panose="02040503050406030204" pitchFamily="18" charset="0"/>
                                        </a:rPr>
                                        <m:t>𝑠</m:t>
                                      </m:r>
                                      <m:r>
                                        <a:rPr lang="en-US" sz="1600" i="1">
                                          <a:latin typeface="Cambria Math" panose="02040503050406030204" pitchFamily="18" charset="0"/>
                                        </a:rPr>
                                        <m:t>,</m:t>
                                      </m:r>
                                      <m:r>
                                        <a:rPr lang="en-US" sz="1600" b="1" i="1">
                                          <a:latin typeface="Cambria Math" panose="02040503050406030204" pitchFamily="18" charset="0"/>
                                        </a:rPr>
                                        <m:t>𝒘</m:t>
                                      </m:r>
                                    </m:e>
                                  </m:d>
                                </m:e>
                              </m:d>
                            </m:e>
                            <m:sup>
                              <m:r>
                                <a:rPr lang="en-US" sz="1600" i="1">
                                  <a:latin typeface="Cambria Math" panose="02040503050406030204" pitchFamily="18" charset="0"/>
                                </a:rPr>
                                <m:t>2</m:t>
                              </m:r>
                            </m:sup>
                          </m:sSup>
                        </m:e>
                      </m:nary>
                    </m:oMath>
                  </m:oMathPara>
                </a14:m>
                <a:endParaRPr lang="en-US" sz="1600" dirty="0"/>
              </a:p>
            </p:txBody>
          </p:sp>
        </mc:Choice>
        <mc:Fallback xmlns="">
          <p:sp>
            <p:nvSpPr>
              <p:cNvPr id="15" name="TextBox 14">
                <a:extLst>
                  <a:ext uri="{FF2B5EF4-FFF2-40B4-BE49-F238E27FC236}">
                    <a16:creationId xmlns:a16="http://schemas.microsoft.com/office/drawing/2014/main" id="{C825A126-497B-AEAE-E99F-5C76AAC4AFEC}"/>
                  </a:ext>
                </a:extLst>
              </p:cNvPr>
              <p:cNvSpPr txBox="1">
                <a:spLocks noRot="1" noChangeAspect="1" noMove="1" noResize="1" noEditPoints="1" noAdjustHandles="1" noChangeArrowheads="1" noChangeShapeType="1" noTextEdit="1"/>
              </p:cNvSpPr>
              <p:nvPr/>
            </p:nvSpPr>
            <p:spPr>
              <a:xfrm>
                <a:off x="8832490" y="5695395"/>
                <a:ext cx="3112314" cy="936025"/>
              </a:xfrm>
              <a:prstGeom prst="rect">
                <a:avLst/>
              </a:prstGeom>
              <a:blipFill>
                <a:blip r:embed="rId5"/>
                <a:stretch>
                  <a:fillRect l="-975" t="-1274"/>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CF24-49A3-63D0-E858-C4FAAF1039A8}"/>
              </a:ext>
            </a:extLst>
          </p:cNvPr>
          <p:cNvSpPr>
            <a:spLocks noGrp="1"/>
          </p:cNvSpPr>
          <p:nvPr>
            <p:ph type="title"/>
          </p:nvPr>
        </p:nvSpPr>
        <p:spPr/>
        <p:txBody>
          <a:bodyPr/>
          <a:lstStyle/>
          <a:p>
            <a:r>
              <a:rPr lang="en-US" dirty="0"/>
              <a:t>The Effect of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72847F-08E1-C3B0-0682-17285FE6DE4C}"/>
                  </a:ext>
                </a:extLst>
              </p:cNvPr>
              <p:cNvSpPr>
                <a:spLocks noGrp="1"/>
              </p:cNvSpPr>
              <p:nvPr>
                <p:ph idx="1"/>
              </p:nvPr>
            </p:nvSpPr>
            <p:spPr/>
            <p:txBody>
              <a:bodyPr/>
              <a:lstStyle/>
              <a:p>
                <a:pPr marL="0" indent="0">
                  <a:buNone/>
                </a:pPr>
                <a:r>
                  <a:rPr lang="en-US" b="1" dirty="0"/>
                  <a:t>Remember</a:t>
                </a:r>
                <a:r>
                  <a:rPr lang="en-US" dirty="0"/>
                  <a:t>: Prediction only follows the given </a:t>
                </a:r>
                <a14:m>
                  <m:oMath xmlns:m="http://schemas.openxmlformats.org/officeDocument/2006/math">
                    <m:r>
                      <a:rPr lang="en-US" b="0" i="1" smtClean="0">
                        <a:latin typeface="Cambria Math" panose="02040503050406030204" pitchFamily="18" charset="0"/>
                      </a:rPr>
                      <m:t>𝜋</m:t>
                    </m:r>
                  </m:oMath>
                </a14:m>
                <a:r>
                  <a:rPr lang="en-US" dirty="0"/>
                  <a:t>. It does not explore like control.</a:t>
                </a:r>
              </a:p>
              <a:p>
                <a:pPr marL="0" indent="0">
                  <a:buNone/>
                </a:pPr>
                <a:endParaRPr lang="en-US" b="1" dirty="0"/>
              </a:p>
              <a:p>
                <a:r>
                  <a:rPr lang="en-US" b="1" dirty="0"/>
                  <a:t>Tabular Methods do not generalize</a:t>
                </a:r>
                <a:r>
                  <a:rPr lang="en-US" dirty="0"/>
                  <a:t>:</a:t>
                </a:r>
                <a:r>
                  <a:rPr lang="en-US" b="1" dirty="0"/>
                  <a:t> </a:t>
                </a:r>
                <a:r>
                  <a:rPr lang="en-US" dirty="0"/>
                  <a:t>Monte Carlo Prediction and TD(0) only provide estimates for the states visited by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Function approximation generalizes</a:t>
                </a:r>
                <a:r>
                  <a:rPr lang="en-US" dirty="0"/>
                  <a:t>: Provides estimates for more or all states, depending on the constructed features.</a:t>
                </a:r>
              </a:p>
              <a:p>
                <a:pPr lvl="1"/>
                <a:r>
                  <a:rPr lang="en-US" dirty="0"/>
                  <a:t>The approximation for states never visited may be bad.</a:t>
                </a:r>
              </a:p>
            </p:txBody>
          </p:sp>
        </mc:Choice>
        <mc:Fallback xmlns="">
          <p:sp>
            <p:nvSpPr>
              <p:cNvPr id="3" name="Content Placeholder 2">
                <a:extLst>
                  <a:ext uri="{FF2B5EF4-FFF2-40B4-BE49-F238E27FC236}">
                    <a16:creationId xmlns:a16="http://schemas.microsoft.com/office/drawing/2014/main" id="{5072847F-08E1-C3B0-0682-17285FE6DE4C}"/>
                  </a:ext>
                </a:extLst>
              </p:cNvPr>
              <p:cNvSpPr>
                <a:spLocks noGrp="1" noRot="1" noChangeAspect="1" noMove="1" noResize="1" noEditPoints="1" noAdjustHandles="1" noChangeArrowheads="1" noChangeShapeType="1" noTextEdit="1"/>
              </p:cNvSpPr>
              <p:nvPr>
                <p:ph idx="1"/>
              </p:nvPr>
            </p:nvSpPr>
            <p:spPr>
              <a:blipFill>
                <a:blip r:embed="rId2"/>
                <a:stretch>
                  <a:fillRect l="-1217" t="-2168" r="-116"/>
                </a:stretch>
              </a:blipFill>
            </p:spPr>
            <p:txBody>
              <a:bodyPr/>
              <a:lstStyle/>
              <a:p>
                <a:r>
                  <a:rPr lang="en-US">
                    <a:noFill/>
                  </a:rPr>
                  <a:t> </a:t>
                </a:r>
              </a:p>
            </p:txBody>
          </p:sp>
        </mc:Fallback>
      </mc:AlternateContent>
    </p:spTree>
    <p:extLst>
      <p:ext uri="{BB962C8B-B14F-4D97-AF65-F5344CB8AC3E}">
        <p14:creationId xmlns:p14="http://schemas.microsoft.com/office/powerpoint/2010/main" val="175016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Function Approximation</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Function Approximation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0000" lnSpcReduction="20000"/>
              </a:bodyPr>
              <a:lstStyle/>
              <a:p>
                <a:pPr>
                  <a:lnSpc>
                    <a:spcPct val="120000"/>
                  </a:lnSpc>
                </a:pPr>
                <a:r>
                  <a:rPr lang="en-US" dirty="0"/>
                  <a:t>Linear approximation of the state value by the inner product </a:t>
                </a: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i="1" dirty="0">
                    <a:latin typeface="Cambria Math" panose="02040503050406030204" pitchFamily="18" charset="0"/>
                  </a:rPr>
                </a:br>
                <a:r>
                  <a:rPr lang="en-US" dirty="0"/>
                  <a:t>where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𝑑</m:t>
                                </m:r>
                              </m:sub>
                            </m:sSub>
                            <m:d>
                              <m:dPr>
                                <m:ctrlPr>
                                  <a:rPr lang="en-US" i="1">
                                    <a:latin typeface="Cambria Math" panose="02040503050406030204" pitchFamily="18" charset="0"/>
                                  </a:rPr>
                                </m:ctrlPr>
                              </m:dPr>
                              <m:e>
                                <m:r>
                                  <a:rPr lang="en-US" i="1">
                                    <a:latin typeface="Cambria Math" panose="02040503050406030204" pitchFamily="18" charset="0"/>
                                  </a:rPr>
                                  <m:t>𝑠</m:t>
                                </m:r>
                              </m:e>
                            </m:d>
                          </m:e>
                        </m:d>
                      </m:e>
                      <m:sup>
                        <m:r>
                          <a:rPr lang="en-US" b="1" i="1">
                            <a:latin typeface="Cambria Math" panose="02040503050406030204" pitchFamily="18" charset="0"/>
                          </a:rPr>
                          <m:t>⊤</m:t>
                        </m:r>
                      </m:sup>
                    </m:sSup>
                  </m:oMath>
                </a14:m>
                <a:r>
                  <a:rPr lang="en-US" dirty="0"/>
                  <a:t>is the state feature vector </a:t>
                </a:r>
                <a:br>
                  <a:rPr lang="en-US" dirty="0"/>
                </a:br>
                <a:r>
                  <a:rPr lang="en-US" dirty="0"/>
                  <a:t>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a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Linearity creates a convex optimization problem. SGD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semi-gradient on-policy methods!</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522" t="-638" b="-1658"/>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9450633" y="4460411"/>
            <a:ext cx="2408809" cy="697042"/>
          </a:xfrm>
          <a:prstGeom prst="wedgeRoundRectCallout">
            <a:avLst>
              <a:gd name="adj1" fmla="val -85172"/>
              <a:gd name="adj2" fmla="val 9476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e>
                        </m:d>
                      </m:e>
                      <m:sup>
                        <m:r>
                          <a:rPr lang="en-US" b="1" i="1">
                            <a:latin typeface="Cambria Math" panose="02040503050406030204" pitchFamily="18" charset="0"/>
                          </a:rPr>
                          <m:t>⊤</m:t>
                        </m:r>
                      </m:sup>
                    </m:sSup>
                  </m:oMath>
                </a14:m>
                <a:r>
                  <a:rPr lang="en-US" dirty="0"/>
                  <a:t>.  1 is used as an intercept.</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linear function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
        <p:nvSpPr>
          <p:cNvPr id="3" name="TextBox 2">
            <a:extLst>
              <a:ext uri="{FF2B5EF4-FFF2-40B4-BE49-F238E27FC236}">
                <a16:creationId xmlns:a16="http://schemas.microsoft.com/office/drawing/2014/main" id="{B1219192-78ED-F60C-7F82-4BEC09A762B7}"/>
              </a:ext>
            </a:extLst>
          </p:cNvPr>
          <p:cNvSpPr txBox="1"/>
          <p:nvPr/>
        </p:nvSpPr>
        <p:spPr>
          <a:xfrm>
            <a:off x="3880235" y="6186377"/>
            <a:ext cx="462766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Linear features do not work for this problem!</a:t>
            </a:r>
          </a:p>
        </p:txBody>
      </p:sp>
    </p:spTree>
    <p:extLst>
      <p:ext uri="{BB962C8B-B14F-4D97-AF65-F5344CB8AC3E}">
        <p14:creationId xmlns:p14="http://schemas.microsoft.com/office/powerpoint/2010/main" val="4263864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d>
                            <m:dPr>
                              <m:ctrlPr>
                                <a:rPr lang="en-US" sz="1600" b="0" i="0" smtClean="0">
                                  <a:latin typeface="Cambria Math" panose="02040503050406030204" pitchFamily="18" charset="0"/>
                                </a:rPr>
                              </m:ctrlPr>
                            </m:dPr>
                            <m:e>
                              <m:r>
                                <a:rPr lang="en-US" sz="1600" b="0" i="0" smtClean="0">
                                  <a:latin typeface="Cambria Math" panose="02040503050406030204" pitchFamily="18" charset="0"/>
                                </a:rPr>
                                <m:t>1, .9,.65, .35,. 1</m:t>
                              </m:r>
                            </m:e>
                          </m:d>
                        </m:e>
                        <m:sup>
                          <m:r>
                            <a:rPr lang="en-US" sz="1600" b="1" i="1">
                              <a:latin typeface="Cambria Math" panose="02040503050406030204" pitchFamily="18" charset="0"/>
                            </a:rPr>
                            <m:t>⊤</m:t>
                          </m:r>
                        </m:sup>
                      </m:sSup>
                    </m:oMath>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l="-821" t="-1786" b="-1607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dirty="0"/>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tilings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dirty="0"/>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tilings,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dirty="0"/>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624482" y="1124198"/>
            <a:ext cx="4229099" cy="4744675"/>
            <a:chOff x="7624482" y="1124198"/>
            <a:chExt cx="422909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624482" y="4545434"/>
                  <a:ext cx="4229099" cy="1323439"/>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e>
                        <m:sup>
                          <m:r>
                            <a:rPr lang="en-US" sz="2000" b="1" i="1">
                              <a:latin typeface="Cambria Math" panose="02040503050406030204" pitchFamily="18" charset="0"/>
                            </a:rPr>
                            <m:t>⊤</m:t>
                          </m:r>
                        </m:sup>
                      </m:sSup>
                    </m:oMath>
                  </a14:m>
                  <a:endParaRPr lang="en-US" sz="1400" b="0" dirty="0"/>
                </a:p>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𝒘</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e>
                        <m:sup>
                          <m:r>
                            <a:rPr lang="en-US" sz="2000" b="1" i="1">
                              <a:latin typeface="Cambria Math" panose="02040503050406030204" pitchFamily="18" charset="0"/>
                            </a:rPr>
                            <m:t>⊤</m:t>
                          </m:r>
                        </m:sup>
                      </m:sSup>
                    </m:oMath>
                  </a14:m>
                  <a:br>
                    <a:rPr lang="en-US" sz="2000" b="0" dirty="0"/>
                  </a:br>
                  <a:br>
                    <a:rPr lang="en-US" sz="2000" b="0" dirty="0"/>
                  </a:b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624482" y="4545434"/>
                  <a:ext cx="4229099" cy="1323439"/>
                </a:xfrm>
                <a:prstGeom prst="rect">
                  <a:avLst/>
                </a:prstGeom>
                <a:blipFill>
                  <a:blip r:embed="rId4"/>
                  <a:stretch>
                    <a:fillRect l="-1299" t="-1843"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5095544"/>
          </a:xfrm>
        </p:spPr>
        <p:txBody>
          <a:bodyPr>
            <a:normAutofit fontScale="62500" lnSpcReduction="20000"/>
          </a:bodyPr>
          <a:lstStyle/>
          <a:p>
            <a:r>
              <a:rPr lang="en-US" dirty="0"/>
              <a:t>Uses artificial neural networks to approximate the value function.</a:t>
            </a:r>
          </a:p>
          <a:p>
            <a:r>
              <a:rPr lang="en-US" b="1" dirty="0"/>
              <a:t>Architecture choices</a:t>
            </a:r>
            <a:r>
              <a:rPr lang="en-US" dirty="0"/>
              <a:t>:</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b="1" dirty="0"/>
              <a:t>Training</a:t>
            </a:r>
            <a:r>
              <a:rPr lang="en-US" dirty="0"/>
              <a:t>: Use SGD and backpropagation for deep networks.</a:t>
            </a:r>
          </a:p>
          <a:p>
            <a:endParaRPr lang="en-US" dirty="0"/>
          </a:p>
          <a:p>
            <a:r>
              <a:rPr lang="en-US" b="1" dirty="0"/>
              <a:t>Advantages</a:t>
            </a:r>
            <a:r>
              <a:rPr lang="en-US" dirty="0"/>
              <a:t>:</a:t>
            </a:r>
          </a:p>
          <a:p>
            <a:pPr lvl="1"/>
            <a:r>
              <a:rPr lang="en-US" dirty="0"/>
              <a:t>More flexible and powerful approximation. </a:t>
            </a:r>
          </a:p>
          <a:p>
            <a:pPr lvl="1"/>
            <a:r>
              <a:rPr lang="en-US" dirty="0"/>
              <a:t>Learns feature construction.</a:t>
            </a:r>
          </a:p>
          <a:p>
            <a:r>
              <a:rPr lang="en-US" b="1" dirty="0"/>
              <a:t>Issues: </a:t>
            </a:r>
            <a:r>
              <a:rPr lang="en-US" dirty="0"/>
              <a:t>Nonlinearity leads to </a:t>
            </a:r>
          </a:p>
          <a:p>
            <a:pPr lvl="1"/>
            <a:r>
              <a:rPr lang="en-US" dirty="0"/>
              <a:t>Instability </a:t>
            </a:r>
          </a:p>
          <a:p>
            <a:pPr lvl="1"/>
            <a:r>
              <a:rPr lang="en-US" dirty="0"/>
              <a:t>Generally, no convergence guarantee. </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dirty="0"/>
            </a:p>
          </p:txBody>
        </p:sp>
      </p:grpSp>
      <p:sp>
        <p:nvSpPr>
          <p:cNvPr id="6" name="TextBox 5">
            <a:extLst>
              <a:ext uri="{FF2B5EF4-FFF2-40B4-BE49-F238E27FC236}">
                <a16:creationId xmlns:a16="http://schemas.microsoft.com/office/drawing/2014/main" id="{2D8CF3CF-1210-4DD6-66BD-9391777159D8}"/>
              </a:ext>
            </a:extLst>
          </p:cNvPr>
          <p:cNvSpPr txBox="1"/>
          <p:nvPr/>
        </p:nvSpPr>
        <p:spPr>
          <a:xfrm>
            <a:off x="6919956" y="5575532"/>
            <a:ext cx="4766478" cy="83099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400" dirty="0"/>
              <a:t>More when we talk about Deep Reinforcement Learning (DRL).</a:t>
            </a:r>
          </a:p>
        </p:txBody>
      </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Function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e>
                        </m:d>
                      </m:e>
                      <m:sup>
                        <m:r>
                          <a:rPr lang="en-US" b="1" i="1">
                            <a:latin typeface="Cambria Math" panose="02040503050406030204" pitchFamily="18" charset="0"/>
                          </a:rPr>
                          <m:t>⊤</m:t>
                        </m:r>
                      </m:sup>
                    </m:sSup>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1,0,0,1,3,0,0</m:t>
                            </m:r>
                          </m:e>
                        </m:d>
                      </m:e>
                      <m:sup>
                        <m:r>
                          <a:rPr lang="en-US" b="1" i="1">
                            <a:latin typeface="Cambria Math" panose="02040503050406030204" pitchFamily="18" charset="0"/>
                          </a:rPr>
                          <m:t>⊤</m:t>
                        </m:r>
                      </m:sup>
                    </m:sSup>
                  </m:oMath>
                </a14:m>
                <a:endParaRPr lang="en-US" dirty="0"/>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function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BF923-7C32-D088-2E2E-B90727441D6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BAD077-2560-E89A-C06F-20ABCD75BB77}"/>
              </a:ext>
            </a:extLst>
          </p:cNvPr>
          <p:cNvSpPr>
            <a:spLocks noGrp="1"/>
          </p:cNvSpPr>
          <p:nvPr>
            <p:ph type="title"/>
          </p:nvPr>
        </p:nvSpPr>
        <p:spPr/>
        <p:txBody>
          <a:bodyPr/>
          <a:lstStyle/>
          <a:p>
            <a:r>
              <a:rPr lang="en-US" dirty="0"/>
              <a:t>Observability and </a:t>
            </a:r>
            <a:br>
              <a:rPr lang="en-US" dirty="0"/>
            </a:br>
            <a:r>
              <a:rPr lang="en-US" dirty="0"/>
              <a:t>Continuing Tasks</a:t>
            </a:r>
          </a:p>
        </p:txBody>
      </p:sp>
      <p:sp>
        <p:nvSpPr>
          <p:cNvPr id="5" name="Text Placeholder 4">
            <a:extLst>
              <a:ext uri="{FF2B5EF4-FFF2-40B4-BE49-F238E27FC236}">
                <a16:creationId xmlns:a16="http://schemas.microsoft.com/office/drawing/2014/main" id="{DC4B0F06-4C94-B7D8-F9E8-EC42067B3EC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375534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a:bodyPr>
          <a:lstStyle/>
          <a:p>
            <a:r>
              <a:rPr lang="en-US" dirty="0"/>
              <a:t>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21344</TotalTime>
  <Words>4255</Words>
  <Application>Microsoft Office PowerPoint</Application>
  <PresentationFormat>Widescreen</PresentationFormat>
  <Paragraphs>453</Paragraphs>
  <Slides>43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Function Approximation</vt:lpstr>
      <vt:lpstr>Motivation</vt:lpstr>
      <vt:lpstr>Goals of Generalization in RL</vt:lpstr>
      <vt:lpstr>Prediction: Value Function Approximation</vt:lpstr>
      <vt:lpstr>Training Data</vt:lpstr>
      <vt:lpstr>Prediction Objective (VE) ̅</vt:lpstr>
      <vt:lpstr>Code example: On-Policy State Distribution</vt:lpstr>
      <vt:lpstr>Gradient Methods for Prediction</vt:lpstr>
      <vt:lpstr>Learning Goal</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The Effect of Generalization</vt:lpstr>
      <vt:lpstr>Linear Function Approximation</vt:lpstr>
      <vt:lpstr>Linear Function Approximation Methods</vt:lpstr>
      <vt:lpstr>Feature Vector</vt:lpstr>
      <vt:lpstr>Code example:  Semi-gradient TD(0) prediction with linear function approximation using linear features</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Non-Linear Function Approximation</vt:lpstr>
      <vt:lpstr>Approximation with ANNs</vt:lpstr>
      <vt:lpstr>On-Policy Control with Function Approximation</vt:lpstr>
      <vt:lpstr>Control Problem</vt:lpstr>
      <vt:lpstr>State-Action Features</vt:lpstr>
      <vt:lpstr>Episodic Semi-gradient Sarsa</vt:lpstr>
      <vt:lpstr>Code example:  Semi-gradient Sarsa(0) control with function approximation using linear features for a simple grid world + Advanced Feature Construction</vt:lpstr>
      <vt:lpstr>Observability and  Continuing Tasks</vt:lpstr>
      <vt:lpstr>Partially Observable Environments</vt:lpstr>
      <vt:lpstr>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266</cp:revision>
  <dcterms:created xsi:type="dcterms:W3CDTF">2025-09-08T14:44:49Z</dcterms:created>
  <dcterms:modified xsi:type="dcterms:W3CDTF">2026-10-26T13:56:58Z</dcterms:modified>
</cp:coreProperties>
</file>