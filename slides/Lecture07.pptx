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4" r:id="rId3"/>
    <p:sldId id="393" r:id="rId4"/>
    <p:sldId id="385" r:id="rId5"/>
    <p:sldId id="386" r:id="rId6"/>
    <p:sldId id="387" r:id="rId7"/>
    <p:sldId id="392" r:id="rId8"/>
    <p:sldId id="388" r:id="rId9"/>
    <p:sldId id="389" r:id="rId10"/>
    <p:sldId id="390" r:id="rId11"/>
    <p:sldId id="394" r:id="rId12"/>
    <p:sldId id="391" r:id="rId13"/>
    <p:sldId id="395" r:id="rId14"/>
    <p:sldId id="396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286E67-F0F0-421C-8F74-7B93ABA17FBF}">
          <p14:sldIdLst>
            <p14:sldId id="256"/>
            <p14:sldId id="384"/>
            <p14:sldId id="393"/>
            <p14:sldId id="385"/>
            <p14:sldId id="386"/>
            <p14:sldId id="387"/>
            <p14:sldId id="392"/>
            <p14:sldId id="388"/>
            <p14:sldId id="389"/>
            <p14:sldId id="390"/>
            <p14:sldId id="394"/>
            <p14:sldId id="391"/>
            <p14:sldId id="395"/>
            <p14:sldId id="396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23" autoAdjust="0"/>
    <p:restoredTop sz="94660"/>
  </p:normalViewPr>
  <p:slideViewPr>
    <p:cSldViewPr snapToGrid="0">
      <p:cViewPr varScale="1">
        <p:scale>
          <a:sx n="91" d="100"/>
          <a:sy n="91" d="100"/>
        </p:scale>
        <p:origin x="34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5558-2701-D852-1A01-0BF39B58D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50F4-19D6-3927-AF4C-79938CAC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3DC3-6BE4-4AD5-BF83-83DBE674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D0FF9-FEE5-7DEA-F2A0-04CD3C8E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CB2C-BF64-0CEB-C138-EC1E0FF1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A809-C199-A2CA-4B62-C11FD836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D398-BC57-413F-4426-6AE62DCF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10515600" cy="47796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9A95-DE70-5583-0BB6-25CA049A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8C87-113F-3949-D291-E8101A07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CBE1-6776-590E-6A36-B274F6F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B990-0C44-FE72-89C1-7BAFB2C8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F51AA-25F1-19ED-49F4-909710D8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3394-E947-7BBC-4B4E-FC222CF9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0F51-989A-F265-1B59-526B06EC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400B-F255-95CF-8BD8-3D8AE595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3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C8DE-D8D3-04F9-7952-B3C9B44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6199-C068-6A1D-B9C6-37C04A922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26636-1E6C-5A66-DCE9-40F0239C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5DEA3-FC5C-77B6-8AEC-BF4A26C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2BAE8-516B-EE07-0EF8-4E37D353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7F8D-0B8A-CA54-C5D1-DAFB9A21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762D-C67C-6FB4-D8AF-A2AEADD0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F3E59-5CAF-AE52-066A-662EAF23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4A81-151A-F8B5-9A7D-43577F3F6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DED1E-7743-9D82-5A8F-215AF2DB8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3FED4-7E43-512F-BDC2-AB5A6F6A9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71D6A-F625-133A-E751-2B967B94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56629-E601-1BA5-526C-36960EEB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5DDDF-B6D4-29FB-6B7F-C7017B4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B25A-3F20-51F4-D136-F73B1768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F8609-CAA0-6678-FCA9-C0252974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1A081-E4EB-7E96-A0AA-2E4D4909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0AC27-1467-337C-D636-190385E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8C3DB-E47E-C122-D7BD-AAAC105B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94795-A7C6-B915-9849-6DDF9E55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BD6E5-D6AC-7828-B9FA-162561B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8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DA5E-FB2F-65E3-9AC6-77E9E333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8CA7-EDCF-7BC9-0D50-5F550487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6387-78E1-111C-2860-362080259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170FC-BF4D-52B4-3D96-975E35B6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B24C2-CDEC-1D6D-42DB-F885EAF6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A044-7F46-1F0F-A966-A66706F2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354-EE3F-C81F-2C98-42CA24F0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7B54A-0E38-1C0F-EA90-8D9A628C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F9108-1890-E2BF-7EA2-A2F28DEA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8F02-6193-91DC-69E0-6CC09A24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4B642-5606-ACB8-4ADF-6DDE8BE4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560E-8858-1CED-6B2E-1EF0F58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5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A8BF-0F66-F00E-4527-03CBDE1E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F7C1-32BC-0F71-0130-0DFB9C183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C7E0-3252-37DB-73A7-7F070748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C5EE-EAD9-8D18-3741-930600D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47D8-342D-AED5-3763-DD02F7C2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4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0B639-7A1F-68FA-45DD-3196E2CB5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4F1BB-B40D-E6E4-111B-122348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AFD-560D-9508-6F31-281EC974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C6320-E161-CE4A-CBDD-27072D2A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3E81-2AD2-5FBE-B6F5-1512F3AF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46CF1-7E31-D1FD-63E0-29688510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99997-F7F8-3FB5-F294-09265476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C26E-B485-AE94-5C91-D0E504CE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BF2E-04DA-469E-97C5-BB68A036881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ECD47-D4F5-A47B-6CA1-E8E47C1C4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C2B9-7B85-792D-492E-EE9D50875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2EEF-8413-288E-566D-063A066A6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" r="23298" b="3714"/>
          <a:stretch>
            <a:fillRect/>
          </a:stretch>
        </p:blipFill>
        <p:spPr bwMode="auto">
          <a:xfrm>
            <a:off x="3653200" y="-18278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EE42B-57B4-EB74-A37C-6675858E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463968" cy="3204134"/>
          </a:xfrm>
        </p:spPr>
        <p:txBody>
          <a:bodyPr anchor="b"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Reinforcement Learning</a:t>
            </a: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Planning and Learning with Tabular Methods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Sutton/Barto*</a:t>
            </a:r>
            <a:r>
              <a:rPr lang="en-US" sz="1800" dirty="0">
                <a:solidFill>
                  <a:schemeClr val="bg1"/>
                </a:solidFill>
              </a:rPr>
              <a:t> Chapter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F10C2-8C10-0E89-D285-D614C36EE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868822"/>
            <a:ext cx="4169519" cy="1443894"/>
          </a:xfrm>
        </p:spPr>
        <p:txBody>
          <a:bodyPr>
            <a:normAutofit fontScale="92500"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</a:rPr>
              <a:t>Michael Hahsler, SMU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With figures from Sutton/Barto*</a:t>
            </a:r>
          </a:p>
          <a:p>
            <a:pPr algn="l"/>
            <a:endParaRPr lang="en-US" sz="1300" dirty="0">
              <a:solidFill>
                <a:schemeClr val="bg1"/>
              </a:solidFill>
            </a:endParaRP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*Sutton and Barto, Reinforcement Learning: An Introduction, 2</a:t>
            </a:r>
            <a:r>
              <a:rPr lang="en-US" sz="1300" baseline="30000" dirty="0">
                <a:solidFill>
                  <a:schemeClr val="bg1"/>
                </a:solidFill>
              </a:rPr>
              <a:t>nd</a:t>
            </a:r>
            <a:r>
              <a:rPr lang="en-US" sz="1300" dirty="0">
                <a:solidFill>
                  <a:schemeClr val="bg1"/>
                </a:solidFill>
              </a:rPr>
              <a:t> edition, MIT Press, Cambridge, MA, 2018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ject 23">
            <a:hlinkClick r:id="rId3"/>
            <a:extLst>
              <a:ext uri="{FF2B5EF4-FFF2-40B4-BE49-F238E27FC236}">
                <a16:creationId xmlns:a16="http://schemas.microsoft.com/office/drawing/2014/main" id="{3CBD6548-3D4E-9A40-CA35-355261D4E92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61016" y="6265038"/>
            <a:ext cx="1037459" cy="3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E1A2-75E3-3C9C-6C10-EE078C5A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1474" y="1140632"/>
                <a:ext cx="5273179" cy="2049857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b="1" dirty="0"/>
                  <a:t>Value Function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return (cumulative reward) following time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return from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(discounted and corrected)</a:t>
                </a:r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(expected return)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s under the optimal policy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the optimal policy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expected approximate action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target for estimate at time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1474" y="1140632"/>
                <a:ext cx="5273179" cy="2049857"/>
              </a:xfrm>
              <a:blipFill>
                <a:blip r:embed="rId2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D475E5-BE3B-5594-57DC-46A17411F2F9}"/>
                  </a:ext>
                </a:extLst>
              </p:cNvPr>
              <p:cNvSpPr txBox="1"/>
              <p:nvPr/>
            </p:nvSpPr>
            <p:spPr>
              <a:xfrm>
                <a:off x="822820" y="1124198"/>
                <a:ext cx="5273179" cy="230832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200" b="1" dirty="0"/>
                  <a:t>General</a:t>
                </a:r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	capital letters: random variables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lower-case letters: realizations of random variables </a:t>
                </a:r>
                <a:br>
                  <a:rPr lang="en-US" sz="1200" dirty="0"/>
                </a:br>
                <a:r>
                  <a:rPr lang="en-US" sz="1200" dirty="0"/>
                  <a:t>	or scalar functions</a:t>
                </a:r>
              </a:p>
              <a:p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1200" dirty="0"/>
                  <a:t> 	Bold lower-case letters: real-valued vectors </a:t>
                </a:r>
                <a:br>
                  <a:rPr lang="en-US" sz="1200" dirty="0"/>
                </a:br>
                <a:r>
                  <a:rPr lang="en-US" sz="1200" dirty="0"/>
                  <a:t>	(even if random variables)</a:t>
                </a:r>
              </a:p>
              <a:p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1200" dirty="0"/>
                  <a:t>	bold capitals: matrices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	Greek letters: parameters (vectors if in bolt)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/>
                  <a:t>	probability that a 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takes on the value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selected from distribution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/>
                  <a:t>	expectation of a 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, i.e.,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2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a value of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at which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takes its maximal value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D475E5-BE3B-5594-57DC-46A17411F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0" y="1124198"/>
                <a:ext cx="5273179" cy="2308324"/>
              </a:xfrm>
              <a:prstGeom prst="rect">
                <a:avLst/>
              </a:prstGeom>
              <a:blipFill>
                <a:blip r:embed="rId3"/>
                <a:stretch>
                  <a:fillRect b="-9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19" y="3570646"/>
                <a:ext cx="5273179" cy="298582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1200" b="1" dirty="0"/>
                  <a:t>MDP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	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	an action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 	a reward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200" dirty="0"/>
                  <a:t> 	set of all (nonterminal) states,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200" dirty="0"/>
                  <a:t> are all states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set of all actions available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 	discount-rate parameter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	discrete time step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/>
                  <a:t> 	final time step of an episode (a.k.a. horizon)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action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	random variable for the state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reward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transition to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and receiving reward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, </a:t>
                </a:r>
                <a:br>
                  <a:rPr lang="en-US" sz="1200" dirty="0"/>
                </a:br>
                <a:r>
                  <a:rPr lang="en-US" sz="1200" dirty="0"/>
                  <a:t>	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dirty="0"/>
                  <a:t>	expected immediate reward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after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stochastic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action taken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deterministic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19" y="3570646"/>
                <a:ext cx="5273179" cy="2985823"/>
              </a:xfrm>
              <a:prstGeom prst="rect">
                <a:avLst/>
              </a:prstGeom>
              <a:blipFill>
                <a:blip r:embed="rId4"/>
                <a:stretch>
                  <a:fillRect t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69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35E-AD98-14E6-86B7-6D189198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9E1014-11F3-5C77-4D51-18EDE91C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vs. Learning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0DEA1-85A2-8128-AB1F-6A511F14B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3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A1BA-CA5C-693B-FB3E-C368A66D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vs. Learning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C215C-7DA6-48E2-7A2B-214A4A52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47322"/>
            <a:ext cx="5157787" cy="494791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Model-based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86ED9-B3B0-4E7E-C9D8-36D605A9C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42114"/>
            <a:ext cx="5157787" cy="13255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/>
              <a:t>Requires knowledge of the MDP model.</a:t>
            </a:r>
          </a:p>
          <a:p>
            <a:r>
              <a:rPr lang="en-US" dirty="0"/>
              <a:t>Methods: Dynamic Programming, heuristic search</a:t>
            </a:r>
          </a:p>
          <a:p>
            <a:r>
              <a:rPr lang="en-US" dirty="0"/>
              <a:t>Use the known model to </a:t>
            </a:r>
            <a:r>
              <a:rPr lang="en-US" b="1" dirty="0"/>
              <a:t>plan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E8A69-3C51-CDFE-7A41-514AB48A4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47322"/>
            <a:ext cx="5183188" cy="494792"/>
          </a:xfr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Model-free RL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DFBC9-5C98-B059-76C6-7C39C8A8A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42114"/>
            <a:ext cx="5183188" cy="1325563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/>
              <a:t>Model is unknown.</a:t>
            </a:r>
          </a:p>
          <a:p>
            <a:r>
              <a:rPr lang="en-US" dirty="0"/>
              <a:t>Methods: MC, TD</a:t>
            </a:r>
          </a:p>
          <a:p>
            <a:r>
              <a:rPr lang="en-US" b="1" dirty="0"/>
              <a:t>Learn</a:t>
            </a:r>
            <a:r>
              <a:rPr lang="en-US" dirty="0"/>
              <a:t> from interactions with the environment (sampling).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549527-8988-50D5-4FD2-A4EACAA47452}"/>
              </a:ext>
            </a:extLst>
          </p:cNvPr>
          <p:cNvSpPr txBox="1">
            <a:spLocks/>
          </p:cNvSpPr>
          <p:nvPr/>
        </p:nvSpPr>
        <p:spPr>
          <a:xfrm>
            <a:off x="839788" y="4013588"/>
            <a:ext cx="10515600" cy="2029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All methods:</a:t>
            </a:r>
          </a:p>
          <a:p>
            <a:pPr lvl="1"/>
            <a:r>
              <a:rPr lang="en-US" dirty="0"/>
              <a:t>Compute a value function</a:t>
            </a:r>
          </a:p>
          <a:p>
            <a:pPr lvl="1"/>
            <a:r>
              <a:rPr lang="en-US" dirty="0"/>
              <a:t>Look ahead to future events and compute a backed-up value to update an approximate value function.</a:t>
            </a:r>
          </a:p>
        </p:txBody>
      </p:sp>
    </p:spTree>
    <p:extLst>
      <p:ext uri="{BB962C8B-B14F-4D97-AF65-F5344CB8AC3E}">
        <p14:creationId xmlns:p14="http://schemas.microsoft.com/office/powerpoint/2010/main" val="312909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63D3F0-03CF-B1AF-8CA4-243B27B69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Planning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E8B6AB-5A2F-3677-9E00-F7B34447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Model of the environment:</a:t>
            </a:r>
          </a:p>
          <a:p>
            <a:pPr lvl="1"/>
            <a:r>
              <a:rPr lang="en-US" dirty="0"/>
              <a:t>Anything the agent can use to predict the outcome of actions (e.g., next state and reward)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Models can be:</a:t>
            </a:r>
          </a:p>
          <a:p>
            <a:pPr lvl="1"/>
            <a:r>
              <a:rPr lang="en-US" dirty="0"/>
              <a:t>Distribution models: produce a distribution of all possible outcomes</a:t>
            </a:r>
          </a:p>
          <a:p>
            <a:pPr lvl="1"/>
            <a:r>
              <a:rPr lang="en-US" dirty="0"/>
              <a:t>Sample models: produce (simulate) one sampled outcome for an action.</a:t>
            </a:r>
          </a:p>
        </p:txBody>
      </p:sp>
    </p:spTree>
    <p:extLst>
      <p:ext uri="{BB962C8B-B14F-4D97-AF65-F5344CB8AC3E}">
        <p14:creationId xmlns:p14="http://schemas.microsoft.com/office/powerpoint/2010/main" val="25428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4D4B-D586-AECD-DCC5-21B78148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52E1-AB49-3601-6079-6070D7449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7108"/>
            <a:ext cx="10515600" cy="3049855"/>
          </a:xfrm>
        </p:spPr>
        <p:txBody>
          <a:bodyPr/>
          <a:lstStyle/>
          <a:p>
            <a:r>
              <a:rPr lang="en-US" dirty="0"/>
              <a:t>Model-based: Simulated experience comes from the model. Can be done offline, which leads to planning.</a:t>
            </a:r>
          </a:p>
          <a:p>
            <a:r>
              <a:rPr lang="en-US" dirty="0"/>
              <a:t>Model-free: Simulated experience comes from real experience, leads to online learning.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DF59CF-1112-2E7F-77F4-1580DCD850D2}"/>
              </a:ext>
            </a:extLst>
          </p:cNvPr>
          <p:cNvGrpSpPr/>
          <p:nvPr/>
        </p:nvGrpSpPr>
        <p:grpSpPr>
          <a:xfrm>
            <a:off x="2003305" y="1622771"/>
            <a:ext cx="7844527" cy="646331"/>
            <a:chOff x="1235487" y="1664651"/>
            <a:chExt cx="7844527" cy="6463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32909C-4210-B7C6-6264-9E676B6DFC76}"/>
                </a:ext>
              </a:extLst>
            </p:cNvPr>
            <p:cNvSpPr txBox="1"/>
            <p:nvPr/>
          </p:nvSpPr>
          <p:spPr>
            <a:xfrm>
              <a:off x="1235487" y="1803150"/>
              <a:ext cx="1382070" cy="36933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model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BE0CB-2A7D-C229-AFC9-5BF4719484EE}"/>
                </a:ext>
              </a:extLst>
            </p:cNvPr>
            <p:cNvSpPr txBox="1"/>
            <p:nvPr/>
          </p:nvSpPr>
          <p:spPr>
            <a:xfrm>
              <a:off x="7697944" y="1803150"/>
              <a:ext cx="1382070" cy="36933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policy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4592D7-75C0-B204-9530-9D49D28A6898}"/>
                </a:ext>
              </a:extLst>
            </p:cNvPr>
            <p:cNvSpPr txBox="1"/>
            <p:nvPr/>
          </p:nvSpPr>
          <p:spPr>
            <a:xfrm>
              <a:off x="3426674" y="1664651"/>
              <a:ext cx="1382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simulated</a:t>
              </a:r>
              <a:br>
                <a:rPr lang="en-US" dirty="0"/>
              </a:br>
              <a:r>
                <a:rPr lang="en-US" dirty="0"/>
                <a:t>experience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265DE1-41B7-CFF3-60D4-51B42E481940}"/>
                </a:ext>
              </a:extLst>
            </p:cNvPr>
            <p:cNvSpPr txBox="1"/>
            <p:nvPr/>
          </p:nvSpPr>
          <p:spPr>
            <a:xfrm>
              <a:off x="5737684" y="1803150"/>
              <a:ext cx="1382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values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50978C13-3517-96D4-E8FB-71CEFFB206A1}"/>
                </a:ext>
              </a:extLst>
            </p:cNvPr>
            <p:cNvSpPr/>
            <p:nvPr/>
          </p:nvSpPr>
          <p:spPr>
            <a:xfrm>
              <a:off x="2889783" y="1803150"/>
              <a:ext cx="474651" cy="3693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74D235BE-819F-829F-C8A4-586EF9BB7720}"/>
                </a:ext>
              </a:extLst>
            </p:cNvPr>
            <p:cNvSpPr/>
            <p:nvPr/>
          </p:nvSpPr>
          <p:spPr>
            <a:xfrm>
              <a:off x="4829101" y="1803150"/>
              <a:ext cx="1144744" cy="3693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backups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F33D33E5-31D8-D4FD-3571-3BACF9F6A284}"/>
                </a:ext>
              </a:extLst>
            </p:cNvPr>
            <p:cNvSpPr/>
            <p:nvPr/>
          </p:nvSpPr>
          <p:spPr>
            <a:xfrm>
              <a:off x="6888827" y="1812401"/>
              <a:ext cx="474651" cy="3693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936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3EEFEA-0015-8BCC-C791-B934FAED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C8F79-3E91-A277-FC6D-5703A7729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Integrating Planning, Acting, and Learning</a:t>
            </a:r>
          </a:p>
        </p:txBody>
      </p:sp>
    </p:spTree>
    <p:extLst>
      <p:ext uri="{BB962C8B-B14F-4D97-AF65-F5344CB8AC3E}">
        <p14:creationId xmlns:p14="http://schemas.microsoft.com/office/powerpoint/2010/main" val="266541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6584-F4DC-4CCF-DAD5-C0800840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Dyna: Integrating Planning, Acting, and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72B9BF-6244-6E3F-DF65-DFA52504F8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0"/>
                <a:ext cx="6379278" cy="4779633"/>
              </a:xfrm>
            </p:spPr>
            <p:txBody>
              <a:bodyPr/>
              <a:lstStyle/>
              <a:p>
                <a:r>
                  <a:rPr lang="en-US" dirty="0"/>
                  <a:t>Model Learning: </a:t>
                </a:r>
              </a:p>
              <a:p>
                <a:pPr lvl="1"/>
                <a:r>
                  <a:rPr lang="en-US" dirty="0"/>
                  <a:t>Real experience is used to learn a model. E.g., by recording for each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model can be used for planning to improve the value function/policy. E.g., by sampling from the model to update the Q-values. </a:t>
                </a:r>
              </a:p>
              <a:p>
                <a:r>
                  <a:rPr lang="en-US" dirty="0"/>
                  <a:t>Direct RL: </a:t>
                </a:r>
              </a:p>
              <a:p>
                <a:pPr lvl="1"/>
                <a:r>
                  <a:rPr lang="en-US" dirty="0"/>
                  <a:t>Use the experience directly to improve the value function/policy. E.g., via one-step Q-learning.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72B9BF-6244-6E3F-DF65-DFA52504F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0"/>
                <a:ext cx="6379278" cy="4779633"/>
              </a:xfrm>
              <a:blipFill>
                <a:blip r:embed="rId2"/>
                <a:stretch>
                  <a:fillRect l="-1721" t="-2168" r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3EC5060-ED9D-A7CB-C624-3FD02CBD1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961" y="1720207"/>
            <a:ext cx="4326058" cy="341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0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BE67-97CC-F251-532A-623A2647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Tabular Dyna-Q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92F7C4-E638-E7F0-C86E-4207F5C5A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43" y="399914"/>
            <a:ext cx="3977112" cy="314191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937AB9C-6AA5-A7EB-5688-445A6D78D962}"/>
              </a:ext>
            </a:extLst>
          </p:cNvPr>
          <p:cNvGrpSpPr>
            <a:grpSpLocks noChangeAspect="1"/>
          </p:cNvGrpSpPr>
          <p:nvPr/>
        </p:nvGrpSpPr>
        <p:grpSpPr>
          <a:xfrm>
            <a:off x="707573" y="2687949"/>
            <a:ext cx="7922078" cy="3558916"/>
            <a:chOff x="1045029" y="1690688"/>
            <a:chExt cx="9799864" cy="45509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B7BD3E-BFBF-D93E-B3A8-87CE35EB3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5029" y="1690688"/>
              <a:ext cx="9799864" cy="4550975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43AABACC-352B-D6F3-1630-3C22810331E2}"/>
                </a:ext>
              </a:extLst>
            </p:cNvPr>
            <p:cNvSpPr/>
            <p:nvPr/>
          </p:nvSpPr>
          <p:spPr>
            <a:xfrm>
              <a:off x="8899695" y="3652068"/>
              <a:ext cx="1577515" cy="314107"/>
            </a:xfrm>
            <a:prstGeom prst="wedgeRoundRectCallout">
              <a:avLst>
                <a:gd name="adj1" fmla="val -88975"/>
                <a:gd name="adj2" fmla="val 67702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Direct RL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34714BA1-C236-3E36-3CE9-E93B07A696BD}"/>
                </a:ext>
              </a:extLst>
            </p:cNvPr>
            <p:cNvSpPr/>
            <p:nvPr/>
          </p:nvSpPr>
          <p:spPr>
            <a:xfrm>
              <a:off x="8753111" y="4153191"/>
              <a:ext cx="432770" cy="175899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68B176-252B-01A8-D5CF-A6F29DF4DCE4}"/>
                </a:ext>
              </a:extLst>
            </p:cNvPr>
            <p:cNvSpPr txBox="1"/>
            <p:nvPr/>
          </p:nvSpPr>
          <p:spPr>
            <a:xfrm>
              <a:off x="9248702" y="4432525"/>
              <a:ext cx="1291329" cy="13774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/>
                <a:t>Model learning and planning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948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C8AC25-EC4C-3842-F311-7347DBC1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Planning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E6196-0C58-18A7-BA50-D3B376B60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8172" y="2290268"/>
            <a:ext cx="7086022" cy="41083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268D5-3842-005A-9D87-7A037B2EC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88532"/>
            <a:ext cx="5623420" cy="54780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Planning is a problem if the model is wrong:</a:t>
            </a:r>
          </a:p>
          <a:p>
            <a:pPr lvl="1"/>
            <a:r>
              <a:rPr lang="en-US" dirty="0"/>
              <a:t>Based on an insufficient number of samples</a:t>
            </a:r>
          </a:p>
          <a:p>
            <a:pPr lvl="1"/>
            <a:r>
              <a:rPr lang="en-US" dirty="0"/>
              <a:t>Function approximation not great.</a:t>
            </a:r>
          </a:p>
          <a:p>
            <a:pPr lvl="1"/>
            <a:r>
              <a:rPr lang="en-US" dirty="0"/>
              <a:t> Environment changes</a:t>
            </a:r>
          </a:p>
          <a:p>
            <a:r>
              <a:rPr lang="en-US" dirty="0"/>
              <a:t>Dyna quickly corrects too optimistic predictions since they will be selected for the next real action.</a:t>
            </a:r>
          </a:p>
          <a:p>
            <a:r>
              <a:rPr lang="en-US" dirty="0"/>
              <a:t>For changing environments:</a:t>
            </a:r>
          </a:p>
          <a:p>
            <a:pPr lvl="1"/>
            <a:r>
              <a:rPr lang="en-US" dirty="0"/>
              <a:t>Keep exploring.</a:t>
            </a:r>
          </a:p>
          <a:p>
            <a:pPr lvl="1"/>
            <a:r>
              <a:rPr lang="en-US" dirty="0"/>
              <a:t>Keep track of long action/state combinations that were not tried.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D7C64-C1A1-FB35-0D32-2A24236A5812}"/>
              </a:ext>
            </a:extLst>
          </p:cNvPr>
          <p:cNvSpPr txBox="1"/>
          <p:nvPr/>
        </p:nvSpPr>
        <p:spPr>
          <a:xfrm>
            <a:off x="914400" y="1585450"/>
            <a:ext cx="179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Planning helps!</a:t>
            </a:r>
          </a:p>
        </p:txBody>
      </p:sp>
    </p:spTree>
    <p:extLst>
      <p:ext uri="{BB962C8B-B14F-4D97-AF65-F5344CB8AC3E}">
        <p14:creationId xmlns:p14="http://schemas.microsoft.com/office/powerpoint/2010/main" val="3636997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2E0C-9397-0251-BE88-27DE9E96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8D0E66-448A-2B1F-DC4F-AFCD2FF3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A9A14-34CA-9AC7-415D-3D9BB2C19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updates on sampled experience</a:t>
            </a:r>
          </a:p>
        </p:txBody>
      </p:sp>
    </p:spTree>
    <p:extLst>
      <p:ext uri="{BB962C8B-B14F-4D97-AF65-F5344CB8AC3E}">
        <p14:creationId xmlns:p14="http://schemas.microsoft.com/office/powerpoint/2010/main" val="586579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859C-00DA-DABF-41E1-70543074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466033" cy="759072"/>
          </a:xfrm>
        </p:spPr>
        <p:txBody>
          <a:bodyPr>
            <a:normAutofit fontScale="90000"/>
          </a:bodyPr>
          <a:lstStyle/>
          <a:p>
            <a:r>
              <a:rPr lang="en-US" dirty="0"/>
              <a:t>Expected vs. Sample Updates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8651C-D732-C69E-3D6A-B222E9D99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723" y="302003"/>
            <a:ext cx="4049567" cy="6253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B3DD2-F232-A22F-AD76-91496286CE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0"/>
                <a:ext cx="6632643" cy="477963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Expected updates (DP)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func>
                              <m:func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dirty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sSup>
                                      <m:sSupPr>
                                        <m:ctrlPr>
                                          <a:rPr lang="en-US" sz="2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400" i="1" dirty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lim>
                                </m:limLow>
                              </m:fName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Sample updates (on-step TD)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Sampling adds sample error but is computationally much cheaper.</a:t>
                </a:r>
              </a:p>
              <a:p>
                <a:endParaRPr lang="en-US" dirty="0"/>
              </a:p>
              <a:p>
                <a:r>
                  <a:rPr lang="en-US" dirty="0"/>
                  <a:t>Side note: If only one action is possible, they are the same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B3DD2-F232-A22F-AD76-91496286C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0"/>
                <a:ext cx="6632643" cy="4779633"/>
              </a:xfrm>
              <a:blipFill>
                <a:blip r:embed="rId3"/>
                <a:stretch>
                  <a:fillRect l="-1103" t="-13010" r="-1838" b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53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411D-BBDC-AF30-3190-3A23C8BC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61D648-25D0-1C74-A02E-08D2F51FD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DP sweeps through all states in each iteration. </a:t>
                </a:r>
                <a:br>
                  <a:rPr lang="en-US" dirty="0"/>
                </a:br>
                <a:r>
                  <a:rPr lang="en-US" dirty="0"/>
                  <a:t>Converges when action/state pairs are visited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times. </a:t>
                </a:r>
                <a:br>
                  <a:rPr lang="en-US" dirty="0"/>
                </a:br>
                <a:r>
                  <a:rPr lang="en-US" dirty="0"/>
                  <a:t>Issue: many states are only visited for bad policies!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Trajectory sampling</a:t>
                </a:r>
                <a:endParaRPr lang="en-US" dirty="0"/>
              </a:p>
              <a:p>
                <a:r>
                  <a:rPr lang="en-US" dirty="0"/>
                  <a:t>Sample trajectories using the current policy (= uses the on-policy distribution over the states). </a:t>
                </a:r>
                <a:br>
                  <a:rPr lang="en-US" dirty="0"/>
                </a:br>
                <a:r>
                  <a:rPr lang="en-US" dirty="0"/>
                  <a:t>Converges if it continues to explore (use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policy).</a:t>
                </a:r>
              </a:p>
              <a:p>
                <a:r>
                  <a:rPr lang="en-US" dirty="0"/>
                  <a:t>Use the samples as the experience input for any model-free method.</a:t>
                </a:r>
              </a:p>
              <a:p>
                <a:endParaRPr lang="en-US" dirty="0"/>
              </a:p>
              <a:p>
                <a:r>
                  <a:rPr lang="en-US" dirty="0"/>
                  <a:t>Note: This is similar to off-policy MC control with 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behavior policy.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61D648-25D0-1C74-A02E-08D2F51FD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51" b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532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6E25EF-48DC-A4AE-65BF-0EC0DC35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Search and </a:t>
            </a:r>
            <a:br>
              <a:rPr lang="en-US" dirty="0"/>
            </a:br>
            <a:r>
              <a:rPr lang="en-US" dirty="0"/>
              <a:t>Rollout Algorithms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AFEA0-2CFA-4384-CF4E-F3C845C83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Decision-time planning</a:t>
            </a:r>
          </a:p>
        </p:txBody>
      </p:sp>
    </p:spTree>
    <p:extLst>
      <p:ext uri="{BB962C8B-B14F-4D97-AF65-F5344CB8AC3E}">
        <p14:creationId xmlns:p14="http://schemas.microsoft.com/office/powerpoint/2010/main" val="682395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6356EF-E592-3AC7-97BD-5A89144E7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917" y="2076147"/>
            <a:ext cx="6456730" cy="321306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540E156-9D3F-D3EF-4006-10719CAD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E62A12-5D57-D939-F926-D55F98DA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4656364" cy="47796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At decision time: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Consider a large tree of possible continuations (trajectories of a given length) for the current state.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an approx. value function to the states in leaf nodes.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Back values towards the current state (using max).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best next action for the current state.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CBFCEF7-963A-4187-6A15-D0E256203C8E}"/>
              </a:ext>
            </a:extLst>
          </p:cNvPr>
          <p:cNvSpPr/>
          <p:nvPr/>
        </p:nvSpPr>
        <p:spPr>
          <a:xfrm>
            <a:off x="5758626" y="5514378"/>
            <a:ext cx="2142906" cy="359863"/>
          </a:xfrm>
          <a:prstGeom prst="wedgeRoundRectCallout">
            <a:avLst>
              <a:gd name="adj1" fmla="val -21943"/>
              <a:gd name="adj2" fmla="val -38390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Estimate value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4EFD103-2544-1279-0631-58B4728E2AD2}"/>
              </a:ext>
            </a:extLst>
          </p:cNvPr>
          <p:cNvSpPr/>
          <p:nvPr/>
        </p:nvSpPr>
        <p:spPr>
          <a:xfrm flipV="1">
            <a:off x="11154283" y="2910721"/>
            <a:ext cx="781777" cy="21027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3. backup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5F441F9-26AE-4857-0003-6C4FFDACE6EE}"/>
              </a:ext>
            </a:extLst>
          </p:cNvPr>
          <p:cNvSpPr/>
          <p:nvPr/>
        </p:nvSpPr>
        <p:spPr>
          <a:xfrm>
            <a:off x="7689758" y="1206901"/>
            <a:ext cx="2142906" cy="359863"/>
          </a:xfrm>
          <a:prstGeom prst="wedgeRoundRectCallout">
            <a:avLst>
              <a:gd name="adj1" fmla="val -41487"/>
              <a:gd name="adj2" fmla="val 23291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Pick best action</a:t>
            </a:r>
          </a:p>
        </p:txBody>
      </p:sp>
    </p:spTree>
    <p:extLst>
      <p:ext uri="{BB962C8B-B14F-4D97-AF65-F5344CB8AC3E}">
        <p14:creationId xmlns:p14="http://schemas.microsoft.com/office/powerpoint/2010/main" val="2868713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1C83-C1A9-FB6C-6458-7E764229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Rollout Algorithms (Monte Carlo Estimates)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2524-2F85-6F77-02EE-038ACB2CB2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simulated trajectories to approximate all state/action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the current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Simulation follows a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called the playout policy.</a:t>
                </a:r>
              </a:p>
              <a:p>
                <a:r>
                  <a:rPr lang="en-US" dirty="0"/>
                  <a:t>Choose the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greedily from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estimates.</a:t>
                </a:r>
              </a:p>
              <a:p>
                <a:r>
                  <a:rPr lang="en-US" dirty="0"/>
                  <a:t>A new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dirty="0"/>
                  <a:t>that uses follows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and then follows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is has a good chance to improve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(policy improvement theorem).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82524-2F85-6F77-02EE-038ACB2CB2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475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29CDF0-6E54-CF31-4006-DA0CE95A6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910" y="1224786"/>
            <a:ext cx="6086998" cy="3897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9468A3-760E-EC4A-9394-247656C37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Tree Search (MCTS)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45C3E-18E2-0CBC-535D-7E0DD489F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5023757" cy="47796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rollout algorithm that stores some intermediate estimates in a depth-limited tree structure. </a:t>
            </a:r>
          </a:p>
          <a:p>
            <a:pPr lvl="1"/>
            <a:r>
              <a:rPr lang="en-US" dirty="0"/>
              <a:t>Selection: Pick the currently best leaf node (e.g., greedy, UCB).</a:t>
            </a:r>
          </a:p>
          <a:p>
            <a:pPr lvl="1"/>
            <a:r>
              <a:rPr lang="en-US" dirty="0"/>
              <a:t>Expansion: Add new nodes, but keep the tree small enough.</a:t>
            </a:r>
          </a:p>
          <a:p>
            <a:pPr lvl="1"/>
            <a:r>
              <a:rPr lang="en-US" dirty="0"/>
              <a:t>Simulation: From a selected node, simulate complete episode(s). </a:t>
            </a:r>
          </a:p>
          <a:p>
            <a:pPr lvl="1"/>
            <a:r>
              <a:rPr lang="en-US" dirty="0"/>
              <a:t>Backup: update the tree with the result of the playout.</a:t>
            </a:r>
          </a:p>
          <a:p>
            <a:endParaRPr lang="en-US" dirty="0"/>
          </a:p>
          <a:p>
            <a:r>
              <a:rPr lang="en-US" b="1" dirty="0"/>
              <a:t>Advantage</a:t>
            </a:r>
            <a:r>
              <a:rPr lang="en-US" dirty="0"/>
              <a:t>: selection steers the simulation towards better trajectories. This avoids trying to approximate the complete value function.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C8435328-960F-3341-B5FD-2B3A09AB85A7}"/>
                  </a:ext>
                </a:extLst>
              </p:cNvPr>
              <p:cNvSpPr/>
              <p:nvPr/>
            </p:nvSpPr>
            <p:spPr>
              <a:xfrm>
                <a:off x="6254217" y="5018730"/>
                <a:ext cx="1221527" cy="816678"/>
              </a:xfrm>
              <a:prstGeom prst="wedgeRoundRectCallout">
                <a:avLst>
                  <a:gd name="adj1" fmla="val -21404"/>
                  <a:gd name="adj2" fmla="val -256303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Stores estimated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values</a:t>
                </a:r>
              </a:p>
            </p:txBody>
          </p:sp>
        </mc:Choice>
        <mc:Fallback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C8435328-960F-3341-B5FD-2B3A09AB85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217" y="5018730"/>
                <a:ext cx="1221527" cy="816678"/>
              </a:xfrm>
              <a:prstGeom prst="wedgeRoundRectCallout">
                <a:avLst>
                  <a:gd name="adj1" fmla="val -21404"/>
                  <a:gd name="adj2" fmla="val -256303"/>
                  <a:gd name="adj3" fmla="val 16667"/>
                </a:avLst>
              </a:prstGeom>
              <a:blipFill>
                <a:blip r:embed="rId3"/>
                <a:stretch>
                  <a:fillRect b="-4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914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C1A847-B97D-1186-7912-8860BCCD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09B4D-9FF9-9341-267D-144762D56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72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967B-B41E-CCE0-ED2B-9ED41646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1B6DA-A372-993E-5FE0-1B16BA46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Planning requires a model of the environment. </a:t>
            </a:r>
          </a:p>
          <a:p>
            <a:pPr lvl="1"/>
            <a:r>
              <a:rPr lang="en-US" dirty="0"/>
              <a:t>Distribution model</a:t>
            </a:r>
          </a:p>
          <a:p>
            <a:pPr lvl="1"/>
            <a:r>
              <a:rPr lang="en-US" dirty="0"/>
              <a:t>Sample model</a:t>
            </a:r>
          </a:p>
          <a:p>
            <a:endParaRPr lang="en-US" dirty="0"/>
          </a:p>
          <a:p>
            <a:r>
              <a:rPr lang="en-US" dirty="0"/>
              <a:t>DP requires a distribution model because it uses expected updates.</a:t>
            </a:r>
          </a:p>
          <a:p>
            <a:r>
              <a:rPr lang="en-US" dirty="0"/>
              <a:t>RL models like TD can use a sample model to perform sample updates.</a:t>
            </a:r>
          </a:p>
          <a:p>
            <a:r>
              <a:rPr lang="en-US" dirty="0"/>
              <a:t>Decision-time planning can also use a sample model. E.g., rollout algorithms sample trajectories.  </a:t>
            </a:r>
          </a:p>
          <a:p>
            <a:endParaRPr lang="en-US" dirty="0"/>
          </a:p>
          <a:p>
            <a:r>
              <a:rPr lang="en-US" dirty="0"/>
              <a:t>Planning and learning are related: They try to estimate the same value function.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79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B29DCF-5823-DFE3-76A3-9921453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Part 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D5D64-9B74-CBE4-593F-CD0BD612F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Tabular solution methods</a:t>
            </a:r>
          </a:p>
        </p:txBody>
      </p:sp>
    </p:spTree>
    <p:extLst>
      <p:ext uri="{BB962C8B-B14F-4D97-AF65-F5344CB8AC3E}">
        <p14:creationId xmlns:p14="http://schemas.microsoft.com/office/powerpoint/2010/main" val="685184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759B-BFB3-E9E3-B86B-928B804D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916F-83BD-942C-05F0-07CE48F74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6730093" cy="477963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Estimate a value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Back up along actual or possible state trajectories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Generalized policy iteration (GPI): maintain an approx. value function and an approx. policy. Each is used to update the other. Converges due to the policy improvement theorem.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34BB89-D9AD-752C-0116-E0F49DEE26E2}"/>
              </a:ext>
            </a:extLst>
          </p:cNvPr>
          <p:cNvGrpSpPr/>
          <p:nvPr/>
        </p:nvGrpSpPr>
        <p:grpSpPr>
          <a:xfrm>
            <a:off x="8329133" y="1064072"/>
            <a:ext cx="2751579" cy="4729856"/>
            <a:chOff x="8329133" y="558128"/>
            <a:chExt cx="2751579" cy="472985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7366F6-2509-4BE8-74F6-EEAFAB9B3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9133" y="1124198"/>
              <a:ext cx="2751579" cy="416378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451D61-2411-6879-B37C-B7CD2548ECAE}"/>
                </a:ext>
              </a:extLst>
            </p:cNvPr>
            <p:cNvSpPr txBox="1"/>
            <p:nvPr/>
          </p:nvSpPr>
          <p:spPr>
            <a:xfrm>
              <a:off x="8709548" y="558128"/>
              <a:ext cx="1641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GPI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1309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B106-F46F-71F6-E8A8-A93D086D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Depth vs. Update Width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B6AFE-8E14-4667-7D60-A58A0303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923" y="1210540"/>
            <a:ext cx="5383802" cy="501540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CA57B6F-AFA2-C742-A3A7-F8BFC16F658E}"/>
              </a:ext>
            </a:extLst>
          </p:cNvPr>
          <p:cNvGrpSpPr/>
          <p:nvPr/>
        </p:nvGrpSpPr>
        <p:grpSpPr>
          <a:xfrm>
            <a:off x="623171" y="1537220"/>
            <a:ext cx="2169697" cy="3783559"/>
            <a:chOff x="9600257" y="1526721"/>
            <a:chExt cx="2169697" cy="378355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11F3E45-0A95-EED3-B84E-EEFE207BB62B}"/>
                </a:ext>
              </a:extLst>
            </p:cNvPr>
            <p:cNvSpPr txBox="1"/>
            <p:nvPr/>
          </p:nvSpPr>
          <p:spPr>
            <a:xfrm>
              <a:off x="9658670" y="1526721"/>
              <a:ext cx="2052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One-step methods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377371-CF2F-F011-0779-F30E76BC4BB4}"/>
                </a:ext>
              </a:extLst>
            </p:cNvPr>
            <p:cNvSpPr txBox="1"/>
            <p:nvPr/>
          </p:nvSpPr>
          <p:spPr>
            <a:xfrm>
              <a:off x="9803742" y="3244334"/>
              <a:ext cx="1762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n-step methods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B11024-C75F-4F34-33B5-AF6E80BF33E8}"/>
                </a:ext>
              </a:extLst>
            </p:cNvPr>
            <p:cNvSpPr txBox="1"/>
            <p:nvPr/>
          </p:nvSpPr>
          <p:spPr>
            <a:xfrm>
              <a:off x="9600257" y="4940948"/>
              <a:ext cx="2169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Full-return methods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14776485-2079-FEC2-09A9-7017DA2CC2F5}"/>
                </a:ext>
              </a:extLst>
            </p:cNvPr>
            <p:cNvSpPr/>
            <p:nvPr/>
          </p:nvSpPr>
          <p:spPr>
            <a:xfrm>
              <a:off x="10378945" y="2081893"/>
              <a:ext cx="612321" cy="103686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41E61BFF-8CD8-FB08-066F-8BE63D8D46A9}"/>
                </a:ext>
              </a:extLst>
            </p:cNvPr>
            <p:cNvSpPr/>
            <p:nvPr/>
          </p:nvSpPr>
          <p:spPr>
            <a:xfrm>
              <a:off x="10378945" y="3762766"/>
              <a:ext cx="612321" cy="103686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C207F5-CAC8-12B2-B67A-66F8D1C74980}"/>
              </a:ext>
            </a:extLst>
          </p:cNvPr>
          <p:cNvGrpSpPr/>
          <p:nvPr/>
        </p:nvGrpSpPr>
        <p:grpSpPr>
          <a:xfrm>
            <a:off x="2938556" y="6161314"/>
            <a:ext cx="5326628" cy="551543"/>
            <a:chOff x="2938556" y="6161314"/>
            <a:chExt cx="5326628" cy="55154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365FAD9-46E0-2ED7-7960-D6D32A45196B}"/>
                </a:ext>
              </a:extLst>
            </p:cNvPr>
            <p:cNvSpPr txBox="1"/>
            <p:nvPr/>
          </p:nvSpPr>
          <p:spPr>
            <a:xfrm>
              <a:off x="2938556" y="6252419"/>
              <a:ext cx="2074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Sampled trajectory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793D0C-B4CF-EC6C-54B8-83A8347068BF}"/>
                </a:ext>
              </a:extLst>
            </p:cNvPr>
            <p:cNvSpPr txBox="1"/>
            <p:nvPr/>
          </p:nvSpPr>
          <p:spPr>
            <a:xfrm>
              <a:off x="6096000" y="6252419"/>
              <a:ext cx="2169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Consider all actions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569A355E-8C8B-CA9F-BE38-4BCBB51D550C}"/>
                </a:ext>
              </a:extLst>
            </p:cNvPr>
            <p:cNvSpPr/>
            <p:nvPr/>
          </p:nvSpPr>
          <p:spPr>
            <a:xfrm>
              <a:off x="5174343" y="6161314"/>
              <a:ext cx="718457" cy="55154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723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FAD6-8953-D14F-C853-F13F480B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On-Policy vs. Off-Policy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1F75A-ED78-4D7C-E025-9485BB928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On-Policy: Learn the policy the agent is following</a:t>
            </a:r>
          </a:p>
          <a:p>
            <a:r>
              <a:rPr lang="en-US" dirty="0"/>
              <a:t>Off-Policy: Learn a target policy that is different from the followed (behavior) policy.  </a:t>
            </a:r>
          </a:p>
        </p:txBody>
      </p:sp>
    </p:spTree>
    <p:extLst>
      <p:ext uri="{BB962C8B-B14F-4D97-AF65-F5344CB8AC3E}">
        <p14:creationId xmlns:p14="http://schemas.microsoft.com/office/powerpoint/2010/main" val="3868939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C101-39C4-5534-A3ED-9D36AB8B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60D31-9CD5-1596-21BF-AD897227A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return: episodic vs. continuing task; discounted vs. undiscounted.</a:t>
            </a:r>
          </a:p>
          <a:p>
            <a:r>
              <a:rPr lang="en-US" dirty="0"/>
              <a:t>Action values vs. state values</a:t>
            </a:r>
          </a:p>
          <a:p>
            <a:r>
              <a:rPr lang="en-US" dirty="0"/>
              <a:t>Exploration vs Exploitation: How are actions selected to ensure a trade-off between exploration and exploitation? Many methods need exploration to converge.</a:t>
            </a:r>
          </a:p>
          <a:p>
            <a:r>
              <a:rPr lang="en-US" dirty="0"/>
              <a:t>Synchronous vs. Asynchronous: Are all states updated as once or on-by-one in some order?</a:t>
            </a:r>
          </a:p>
          <a:p>
            <a:r>
              <a:rPr lang="en-US" dirty="0"/>
              <a:t>Real vs. Simulated: Is real experience or simulations or both used for updates?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710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6DFC-1DF7-340A-8A49-67E7A508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Tabular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46212-D3F8-9478-4414-6401E13D0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Tables need much space. A complete table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-values has size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	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:r>
                  <a:rPr lang="en-US" dirty="0"/>
                  <a:t>The state space size is typically extremely large or may even be infinite for continuous spaces.</a:t>
                </a:r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We need a lot of data to estimate all entries.</a:t>
                </a:r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Two states may be very similar and therefore should have similar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-values. Tabular methods do not take this into account.</a:t>
                </a:r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Next, we will talk about approximate solution methods to deal with </a:t>
                </a:r>
                <a:r>
                  <a:rPr lang="en-US"/>
                  <a:t>these issues.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46212-D3F8-9478-4414-6401E13D0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6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96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8682</TotalTime>
  <Words>1612</Words>
  <Application>Microsoft Office PowerPoint</Application>
  <PresentationFormat>Widescreen</PresentationFormat>
  <Paragraphs>176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 Math</vt:lpstr>
      <vt:lpstr>Office Theme</vt:lpstr>
      <vt:lpstr>Reinforcement Learning  Planning and Learning with Tabular Methods Sutton/Barto* Chapter 8</vt:lpstr>
      <vt:lpstr>Summary of Notation</vt:lpstr>
      <vt:lpstr>Planning vs. Learning</vt:lpstr>
      <vt:lpstr>Planning vs. Learning</vt:lpstr>
      <vt:lpstr>Models and Planning</vt:lpstr>
      <vt:lpstr>General Approach</vt:lpstr>
      <vt:lpstr>Dyna</vt:lpstr>
      <vt:lpstr>Dyna: Integrating Planning, Acting, and Learning</vt:lpstr>
      <vt:lpstr>Alg. Tabular Dyna-Q</vt:lpstr>
      <vt:lpstr>The Effect of Planning</vt:lpstr>
      <vt:lpstr>Sampling</vt:lpstr>
      <vt:lpstr>Expected vs. Sample Updates</vt:lpstr>
      <vt:lpstr>Trajectory Sampling</vt:lpstr>
      <vt:lpstr>Heuristic Search and  Rollout Algorithms</vt:lpstr>
      <vt:lpstr>Heuristic Search</vt:lpstr>
      <vt:lpstr>Rollout Algorithms (Monte Carlo Estimates)</vt:lpstr>
      <vt:lpstr>Monte Carlo Tree Search (MCTS)</vt:lpstr>
      <vt:lpstr>Summary</vt:lpstr>
      <vt:lpstr>Summary</vt:lpstr>
      <vt:lpstr>Summary of Part I</vt:lpstr>
      <vt:lpstr>Common Ideas</vt:lpstr>
      <vt:lpstr>Update Depth vs. Update Width</vt:lpstr>
      <vt:lpstr>On-Policy vs. Off-Policy</vt:lpstr>
      <vt:lpstr>Other Dimensions</vt:lpstr>
      <vt:lpstr>Issues with Tabular Methods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163</cp:revision>
  <dcterms:created xsi:type="dcterms:W3CDTF">2025-09-08T14:44:49Z</dcterms:created>
  <dcterms:modified xsi:type="dcterms:W3CDTF">2025-11-06T20:21:30Z</dcterms:modified>
</cp:coreProperties>
</file>