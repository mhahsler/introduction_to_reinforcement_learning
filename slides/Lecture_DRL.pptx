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313" r:id="rId3"/>
    <p:sldId id="481" r:id="rId4"/>
    <p:sldId id="423" r:id="rId5"/>
    <p:sldId id="485" r:id="rId6"/>
    <p:sldId id="396" r:id="rId7"/>
    <p:sldId id="410" r:id="rId8"/>
    <p:sldId id="392" r:id="rId9"/>
    <p:sldId id="397" r:id="rId10"/>
    <p:sldId id="399" r:id="rId11"/>
    <p:sldId id="506" r:id="rId12"/>
    <p:sldId id="400" r:id="rId13"/>
    <p:sldId id="395" r:id="rId14"/>
    <p:sldId id="401" r:id="rId15"/>
    <p:sldId id="402" r:id="rId16"/>
    <p:sldId id="411" r:id="rId17"/>
    <p:sldId id="403" r:id="rId18"/>
    <p:sldId id="406" r:id="rId19"/>
    <p:sldId id="404" r:id="rId20"/>
    <p:sldId id="509" r:id="rId21"/>
    <p:sldId id="515" r:id="rId22"/>
    <p:sldId id="514" r:id="rId23"/>
    <p:sldId id="405" r:id="rId24"/>
    <p:sldId id="398" r:id="rId25"/>
    <p:sldId id="508" r:id="rId26"/>
    <p:sldId id="408" r:id="rId27"/>
    <p:sldId id="416" r:id="rId28"/>
    <p:sldId id="507" r:id="rId29"/>
    <p:sldId id="417" r:id="rId30"/>
    <p:sldId id="418" r:id="rId31"/>
    <p:sldId id="409" r:id="rId32"/>
    <p:sldId id="510" r:id="rId33"/>
    <p:sldId id="516" r:id="rId34"/>
    <p:sldId id="512" r:id="rId35"/>
    <p:sldId id="513" r:id="rId36"/>
    <p:sldId id="48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3286E67-F0F0-421C-8F74-7B93ABA17FBF}">
          <p14:sldIdLst>
            <p14:sldId id="256"/>
            <p14:sldId id="313"/>
            <p14:sldId id="481"/>
            <p14:sldId id="423"/>
            <p14:sldId id="485"/>
          </p14:sldIdLst>
        </p14:section>
        <p14:section name="Value-based DRL" id="{67578A7E-6414-4247-9957-ABC1634F1E3F}">
          <p14:sldIdLst>
            <p14:sldId id="396"/>
            <p14:sldId id="410"/>
            <p14:sldId id="392"/>
            <p14:sldId id="397"/>
            <p14:sldId id="399"/>
            <p14:sldId id="506"/>
            <p14:sldId id="400"/>
            <p14:sldId id="395"/>
            <p14:sldId id="401"/>
            <p14:sldId id="402"/>
            <p14:sldId id="411"/>
            <p14:sldId id="403"/>
            <p14:sldId id="406"/>
          </p14:sldIdLst>
        </p14:section>
        <p14:section name="Policy Gradient DRL" id="{3BF9B721-8978-4F01-B115-537709387F8D}">
          <p14:sldIdLst>
            <p14:sldId id="404"/>
            <p14:sldId id="509"/>
            <p14:sldId id="515"/>
            <p14:sldId id="514"/>
            <p14:sldId id="405"/>
            <p14:sldId id="398"/>
            <p14:sldId id="508"/>
            <p14:sldId id="408"/>
            <p14:sldId id="416"/>
            <p14:sldId id="507"/>
            <p14:sldId id="417"/>
            <p14:sldId id="418"/>
            <p14:sldId id="409"/>
            <p14:sldId id="510"/>
            <p14:sldId id="516"/>
          </p14:sldIdLst>
        </p14:section>
        <p14:section name="Summary" id="{0ED63193-8E22-4B70-8EA7-62BE54B80842}">
          <p14:sldIdLst>
            <p14:sldId id="512"/>
            <p14:sldId id="513"/>
            <p14:sldId id="4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32"/>
    <a:srgbClr val="196B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4599F94E-CEE6-441E-89CC-EB005ECD8F06}">
      <a14:m xmlns:a14="http://schemas.microsoft.com/office/drawing/2010/main">
        <m:mathPr xmlns:m="http://schemas.openxmlformats.org/officeDocument/2006/math">
          <m:brkBin m:val="before"/>
          <m:brkBinSub m:val="--"/>
        </m:mathPr>
      </a14:m>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59" autoAdjust="0"/>
    <p:restoredTop sz="94653"/>
  </p:normalViewPr>
  <p:slideViewPr>
    <p:cSldViewPr snapToGrid="0">
      <p:cViewPr varScale="1">
        <p:scale>
          <a:sx n="74" d="100"/>
          <a:sy n="74" d="100"/>
        </p:scale>
        <p:origin x="208" y="928"/>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F94D61-C2E8-430B-BB84-E5583A65AE6C}" type="datetimeFigureOut">
              <a:rPr lang="en-US" smtClean="0"/>
              <a:t>10/15/26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783448-A914-4ED0-AB4F-81B36D53B270}" type="slidenum">
              <a:rPr lang="en-US" smtClean="0"/>
              <a:t>‹#›</a:t>
            </a:fld>
            <a:endParaRPr lang="en-US"/>
          </a:p>
        </p:txBody>
      </p:sp>
    </p:spTree>
    <p:extLst>
      <p:ext uri="{BB962C8B-B14F-4D97-AF65-F5344CB8AC3E}">
        <p14:creationId xmlns:p14="http://schemas.microsoft.com/office/powerpoint/2010/main" val="186372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83448-A914-4ED0-AB4F-81B36D53B270}" type="slidenum">
              <a:rPr lang="en-US" smtClean="0"/>
              <a:t>27</a:t>
            </a:fld>
            <a:endParaRPr lang="en-US"/>
          </a:p>
        </p:txBody>
      </p:sp>
    </p:spTree>
    <p:extLst>
      <p:ext uri="{BB962C8B-B14F-4D97-AF65-F5344CB8AC3E}">
        <p14:creationId xmlns:p14="http://schemas.microsoft.com/office/powerpoint/2010/main" val="950778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5558-2701-D852-1A01-0BF39B58D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E150F4-19D6-3927-AF4C-79938CACB9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1C3DC3-6BE4-4AD5-BF83-83DBE6741D39}"/>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4BCD0FF9-FEE5-7DEA-F2A0-04CD3C8E9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CCB2C-BF64-0CEB-C138-EC1E0FF17963}"/>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077380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A809-C199-A2CA-4B62-C11FD83604C0}"/>
              </a:ext>
            </a:extLst>
          </p:cNvPr>
          <p:cNvSpPr>
            <a:spLocks noGrp="1"/>
          </p:cNvSpPr>
          <p:nvPr>
            <p:ph type="title"/>
          </p:nvPr>
        </p:nvSpPr>
        <p:spPr>
          <a:xfrm>
            <a:off x="838200" y="365126"/>
            <a:ext cx="10515600" cy="7590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9ABD398-BC57-413F-4426-6AE62DCF0FF4}"/>
              </a:ext>
            </a:extLst>
          </p:cNvPr>
          <p:cNvSpPr>
            <a:spLocks noGrp="1"/>
          </p:cNvSpPr>
          <p:nvPr>
            <p:ph idx="1"/>
          </p:nvPr>
        </p:nvSpPr>
        <p:spPr>
          <a:xfrm>
            <a:off x="838200" y="1397330"/>
            <a:ext cx="10515600" cy="47796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009A95-DE70-5583-0BB6-25CA049AFAD6}"/>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722F8C87-113F-3949-D291-E8101A072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8CBE1-6776-590E-6A36-B274F6F6168A}"/>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427165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B990-0C44-FE72-89C1-7BAFB2C89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BF51AA-25F1-19ED-49F4-909710D8F4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6F3394-E947-7BBC-4B4E-FC222CF9E355}"/>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D0090F51-989A-F265-1B59-526B06EC07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400B-F255-95CF-8BD8-3D8AE595A27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558337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C8DE-D8D3-04F9-7952-B3C9B444DE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5C6199-C068-6A1D-B9C6-37C04A922F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B26636-1E6C-5A66-DCE9-40F0239C9A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85DEA3-FC5C-77B6-8AEC-BF4A26C7605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50A2BAE8-516B-EE07-0EF8-4E37D353B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D7F8D-0B8A-CA54-C5D1-DAFB9A21726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1809535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762D-C67C-6FB4-D8AF-A2AEADD0B2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6F3E59-5CAF-AE52-066A-662EAF232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94A81-151A-F8B5-9A7D-43577F3F69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BDED1E-7743-9D82-5A8F-215AF2DB8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3FED4-7E43-512F-BDC2-AB5A6F6A9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71D6A-F625-133A-E751-2B967B94A668}"/>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8" name="Footer Placeholder 7">
            <a:extLst>
              <a:ext uri="{FF2B5EF4-FFF2-40B4-BE49-F238E27FC236}">
                <a16:creationId xmlns:a16="http://schemas.microsoft.com/office/drawing/2014/main" id="{33256629-E601-1BA5-526C-36960EEBE0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65DDDF-B6D4-29FB-6B7F-C7017B4EABAD}"/>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49571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2B25A-3F20-51F4-D136-F73B176833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FF8609-CAA0-6678-FCA9-C0252974D715}"/>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4" name="Footer Placeholder 3">
            <a:extLst>
              <a:ext uri="{FF2B5EF4-FFF2-40B4-BE49-F238E27FC236}">
                <a16:creationId xmlns:a16="http://schemas.microsoft.com/office/drawing/2014/main" id="{E911A081-E4EB-7E96-A0AA-2E4D490998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0AC27-1467-337C-D636-190385E3976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957317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C8C3DB-E47E-C122-D7BD-AAAC105B291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3" name="Footer Placeholder 2">
            <a:extLst>
              <a:ext uri="{FF2B5EF4-FFF2-40B4-BE49-F238E27FC236}">
                <a16:creationId xmlns:a16="http://schemas.microsoft.com/office/drawing/2014/main" id="{12194795-A7C6-B915-9849-6DDF9E5561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BBD6E5-D6AC-7828-B9FA-162561BDB702}"/>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8758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DA5E-FB2F-65E3-9AC6-77E9E333A2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F88CA7-EDCF-7BC9-0D50-5F550487A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F96387-78E1-111C-2860-362080259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A170FC-BF4D-52B4-3D96-975E35B67EE0}"/>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13EB24C2-CDEC-1D6D-42DB-F885EAF6C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CA044-7F46-1F0F-A966-A66706F2D13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74319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354-EE3F-C81F-2C98-42CA24F04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37B54A-0E38-1C0F-EA90-8D9A628CC2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DF9108-1890-E2BF-7EA2-A2F28DEA6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668F02-6193-91DC-69E0-6CC09A2476EE}"/>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2534B642-5606-ACB8-4ADF-6DDE8BE4B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9560E-8858-1CED-6B2E-1EF0F58F2FA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9475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A8BF-0F66-F00E-4527-03CBDE1E6F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8F7C1-32BC-0F71-0130-0DFB9C183A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C7E0-3252-37DB-73A7-7F070748FFEC}"/>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A676C5EE-EAD9-8D18-3741-930600D3B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647D8-342D-AED5-3763-DD02F7C2A43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65084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D0B639-7A1F-68FA-45DD-3196E2CB57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F4F1BB-B40D-E6E4-111B-122348C261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2DAFD-560D-9508-6F31-281EC974361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F90C6320-E161-CE4A-CBDD-27072D2A1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C3E81-2AD2-5FBE-B6F5-1512F3AF971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70580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46CF1-7E31-D1FD-63E0-29688510E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499997-F7F8-3FB5-F294-092654769C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EC26E-B485-AE94-5C91-D0E504CEB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4A3ECD47-D4F5-A47B-6CA1-E8E47C1C4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C8C2B9-7B85-792D-492E-EE9D50875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362146-1680-4254-AA84-26EEDD41027B}" type="slidenum">
              <a:rPr lang="en-US" smtClean="0"/>
              <a:t>‹#›</a:t>
            </a:fld>
            <a:endParaRPr lang="en-US"/>
          </a:p>
        </p:txBody>
      </p:sp>
    </p:spTree>
    <p:extLst>
      <p:ext uri="{BB962C8B-B14F-4D97-AF65-F5344CB8AC3E}">
        <p14:creationId xmlns:p14="http://schemas.microsoft.com/office/powerpoint/2010/main" val="958739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creativecommons.org/licenses/by-nc-sa/4.0/"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90.png"/><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3" Type="http://schemas.openxmlformats.org/officeDocument/2006/relationships/image" Target="../media/image1410.png"/><Relationship Id="rId8" Type="http://schemas.openxmlformats.org/officeDocument/2006/relationships/image" Target="../media/image740.png"/><Relationship Id="rId12" Type="http://schemas.openxmlformats.org/officeDocument/2006/relationships/image" Target="../media/image1310.png"/><Relationship Id="rId7" Type="http://schemas.openxmlformats.org/officeDocument/2006/relationships/image" Target="../media/image730.png"/><Relationship Id="rId2" Type="http://schemas.openxmlformats.org/officeDocument/2006/relationships/image" Target="../media/image18.png"/><Relationship Id="rId1" Type="http://schemas.openxmlformats.org/officeDocument/2006/relationships/slideLayout" Target="../slideLayouts/slideLayout2.xml"/><Relationship Id="rId11" Type="http://schemas.openxmlformats.org/officeDocument/2006/relationships/image" Target="../media/image1210.png"/><Relationship Id="rId6" Type="http://schemas.openxmlformats.org/officeDocument/2006/relationships/image" Target="../media/image720.png"/><Relationship Id="rId10" Type="http://schemas.openxmlformats.org/officeDocument/2006/relationships/image" Target="../media/image1110.png"/><Relationship Id="rId9" Type="http://schemas.openxmlformats.org/officeDocument/2006/relationships/image" Target="../media/image750.png"/></Relationships>
</file>

<file path=ppt/slides/_rels/slide13.xml.rels><?xml version="1.0" encoding="UTF-8" standalone="yes"?>
<Relationships xmlns="http://schemas.openxmlformats.org/package/2006/relationships"><Relationship Id="rId8" Type="http://schemas.openxmlformats.org/officeDocument/2006/relationships/image" Target="../media/image740.png"/><Relationship Id="rId12" Type="http://schemas.openxmlformats.org/officeDocument/2006/relationships/image" Target="../media/image19.png"/><Relationship Id="rId7" Type="http://schemas.openxmlformats.org/officeDocument/2006/relationships/image" Target="../media/image160.png"/><Relationship Id="rId2" Type="http://schemas.openxmlformats.org/officeDocument/2006/relationships/image" Target="../media/image161.png"/><Relationship Id="rId1" Type="http://schemas.openxmlformats.org/officeDocument/2006/relationships/slideLayout" Target="../slideLayouts/slideLayout2.xml"/><Relationship Id="rId6" Type="http://schemas.openxmlformats.org/officeDocument/2006/relationships/image" Target="../media/image720.png"/><Relationship Id="rId11" Type="http://schemas.openxmlformats.org/officeDocument/2006/relationships/image" Target="../media/image180.png"/><Relationship Id="rId10" Type="http://schemas.openxmlformats.org/officeDocument/2006/relationships/image" Target="../media/image170.png"/><Relationship Id="rId9" Type="http://schemas.openxmlformats.org/officeDocument/2006/relationships/image" Target="../media/image750.png"/></Relationships>
</file>

<file path=ppt/slides/_rels/slide14.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image" Target="../media/image291.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8" Type="http://schemas.openxmlformats.org/officeDocument/2006/relationships/image" Target="../media/image740.png"/><Relationship Id="rId7"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720.png"/><Relationship Id="rId10" Type="http://schemas.openxmlformats.org/officeDocument/2006/relationships/image" Target="../media/image37.png"/><Relationship Id="rId9" Type="http://schemas.openxmlformats.org/officeDocument/2006/relationships/image" Target="../media/image750.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0.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45.png"/><Relationship Id="rId7"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0.png"/></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0.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8" Type="http://schemas.openxmlformats.org/officeDocument/2006/relationships/image" Target="../media/image471.png"/><Relationship Id="rId3" Type="http://schemas.microsoft.com/office/2007/relationships/hdphoto" Target="../media/hdphoto1.wdp"/><Relationship Id="rId7" Type="http://schemas.openxmlformats.org/officeDocument/2006/relationships/image" Target="../media/image491.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481.png"/><Relationship Id="rId4" Type="http://schemas.openxmlformats.org/officeDocument/2006/relationships/hyperlink" Target="https://medium.com/@kswagat1979/advantage-actor-critic-a2c-models-ab188ddfcb72"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360.png"/><Relationship Id="rId133" Type="http://schemas.openxmlformats.org/officeDocument/2006/relationships/image" Target="../media/image55.png"/><Relationship Id="rId138" Type="http://schemas.openxmlformats.org/officeDocument/2006/relationships/image" Target="../media/image60.png"/><Relationship Id="rId141" Type="http://schemas.openxmlformats.org/officeDocument/2006/relationships/image" Target="../media/image63.png"/><Relationship Id="rId137" Type="http://schemas.openxmlformats.org/officeDocument/2006/relationships/image" Target="../media/image59.png"/><Relationship Id="rId129" Type="http://schemas.openxmlformats.org/officeDocument/2006/relationships/image" Target="../media/image480.png"/><Relationship Id="rId2" Type="http://schemas.openxmlformats.org/officeDocument/2006/relationships/image" Target="../media/image50.png"/><Relationship Id="rId132" Type="http://schemas.openxmlformats.org/officeDocument/2006/relationships/image" Target="../media/image490.png"/><Relationship Id="rId140" Type="http://schemas.openxmlformats.org/officeDocument/2006/relationships/image" Target="../media/image62.png"/><Relationship Id="rId1" Type="http://schemas.openxmlformats.org/officeDocument/2006/relationships/slideLayout" Target="../slideLayouts/slideLayout2.xml"/><Relationship Id="rId136" Type="http://schemas.openxmlformats.org/officeDocument/2006/relationships/image" Target="../media/image58.png"/><Relationship Id="rId6" Type="http://schemas.openxmlformats.org/officeDocument/2006/relationships/image" Target="../media/image53.png"/><Relationship Id="rId5" Type="http://schemas.openxmlformats.org/officeDocument/2006/relationships/image" Target="../media/image52.png"/><Relationship Id="rId135" Type="http://schemas.openxmlformats.org/officeDocument/2006/relationships/image" Target="../media/image57.png"/><Relationship Id="rId130" Type="http://schemas.openxmlformats.org/officeDocument/2006/relationships/image" Target="../media/image54.png"/><Relationship Id="rId134" Type="http://schemas.openxmlformats.org/officeDocument/2006/relationships/image" Target="../media/image56.png"/><Relationship Id="rId4" Type="http://schemas.openxmlformats.org/officeDocument/2006/relationships/image" Target="../media/image51.png"/><Relationship Id="rId139" Type="http://schemas.openxmlformats.org/officeDocument/2006/relationships/image" Target="../media/image61.png"/></Relationships>
</file>

<file path=ppt/slides/_rels/slide30.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B02EEF-8413-288E-566D-063A066A6CBC}"/>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77" r="23298" b="3714"/>
          <a:stretch>
            <a:fillRect/>
          </a:stretch>
        </p:blipFill>
        <p:spPr bwMode="auto">
          <a:xfrm>
            <a:off x="3531556" y="-1512"/>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1EE42B-57B4-EB74-A37C-6675858E7D29}"/>
              </a:ext>
            </a:extLst>
          </p:cNvPr>
          <p:cNvSpPr>
            <a:spLocks noGrp="1"/>
          </p:cNvSpPr>
          <p:nvPr>
            <p:ph type="ctrTitle"/>
          </p:nvPr>
        </p:nvSpPr>
        <p:spPr>
          <a:xfrm>
            <a:off x="477981" y="1351930"/>
            <a:ext cx="4073080" cy="3204134"/>
          </a:xfrm>
        </p:spPr>
        <p:txBody>
          <a:bodyPr anchor="b">
            <a:noAutofit/>
          </a:bodyPr>
          <a:lstStyle/>
          <a:p>
            <a:pPr algn="l"/>
            <a:r>
              <a:rPr lang="en-US" sz="3600" dirty="0">
                <a:solidFill>
                  <a:schemeClr val="bg1"/>
                </a:solidFill>
              </a:rPr>
              <a:t>Reinforcement Learning</a:t>
            </a:r>
            <a:br>
              <a:rPr lang="en-US" sz="3600" dirty="0">
                <a:solidFill>
                  <a:schemeClr val="bg1"/>
                </a:solidFill>
              </a:rPr>
            </a:br>
            <a:br>
              <a:rPr lang="en-US" sz="3600" dirty="0">
                <a:solidFill>
                  <a:schemeClr val="bg1"/>
                </a:solidFill>
              </a:rPr>
            </a:br>
            <a:r>
              <a:rPr lang="en-US" sz="3600" dirty="0">
                <a:solidFill>
                  <a:schemeClr val="bg1"/>
                </a:solidFill>
              </a:rPr>
              <a:t>Deep Reinforcement Learning</a:t>
            </a:r>
            <a:br>
              <a:rPr lang="en-US" sz="3600" dirty="0">
                <a:solidFill>
                  <a:schemeClr val="bg1"/>
                </a:solidFill>
              </a:rPr>
            </a:br>
            <a:r>
              <a:rPr lang="en-US" sz="1800" dirty="0">
                <a:solidFill>
                  <a:schemeClr val="bg1"/>
                </a:solidFill>
              </a:rPr>
              <a:t>Based on An Introduction to Deep Reinforcement Learning**</a:t>
            </a:r>
            <a:br>
              <a:rPr lang="en-US" sz="1800" dirty="0">
                <a:solidFill>
                  <a:schemeClr val="bg1"/>
                </a:solidFill>
              </a:rPr>
            </a:br>
            <a:br>
              <a:rPr lang="en-US" sz="1800" dirty="0">
                <a:solidFill>
                  <a:schemeClr val="bg1"/>
                </a:solidFill>
              </a:rPr>
            </a:br>
            <a:r>
              <a:rPr lang="en-US" sz="1800" dirty="0">
                <a:solidFill>
                  <a:schemeClr val="bg1"/>
                </a:solidFill>
              </a:rPr>
              <a:t>+ Sutton/Barto* Sections 9.7 and 15.7</a:t>
            </a:r>
          </a:p>
        </p:txBody>
      </p:sp>
      <p:pic>
        <p:nvPicPr>
          <p:cNvPr id="1028" name="Picture 4">
            <a:extLst>
              <a:ext uri="{FF2B5EF4-FFF2-40B4-BE49-F238E27FC236}">
                <a16:creationId xmlns:a16="http://schemas.microsoft.com/office/drawing/2014/main" id="{8AD28C7D-14A3-CFEB-3DEC-2E01272844F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7456" y="125210"/>
            <a:ext cx="4182403" cy="1000945"/>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7FFF10C2-8C10-0E89-D285-D614C36EEE69}"/>
              </a:ext>
              <a:ext uri="{C183D7F6-B498-43B3-948B-1728B52AA6E4}">
                <adec:decorative xmlns:adec="http://schemas.microsoft.com/office/drawing/2017/decorative" val="1"/>
              </a:ext>
            </a:extLst>
          </p:cNvPr>
          <p:cNvSpPr>
            <a:spLocks noGrp="1"/>
          </p:cNvSpPr>
          <p:nvPr>
            <p:ph type="subTitle" idx="1"/>
          </p:nvPr>
        </p:nvSpPr>
        <p:spPr>
          <a:xfrm>
            <a:off x="477981" y="4894586"/>
            <a:ext cx="4169519" cy="1443894"/>
          </a:xfrm>
        </p:spPr>
        <p:txBody>
          <a:bodyPr>
            <a:normAutofit fontScale="55000" lnSpcReduction="20000"/>
          </a:bodyPr>
          <a:lstStyle/>
          <a:p>
            <a:pPr algn="l"/>
            <a:r>
              <a:rPr lang="en-US" sz="2300" dirty="0">
                <a:solidFill>
                  <a:schemeClr val="bg1"/>
                </a:solidFill>
              </a:rPr>
              <a:t>Michael Hahsler, SMU</a:t>
            </a:r>
          </a:p>
          <a:p>
            <a:pPr algn="l"/>
            <a:endParaRPr lang="en-US" sz="1700" dirty="0">
              <a:solidFill>
                <a:schemeClr val="bg1"/>
              </a:solidFill>
            </a:endParaRPr>
          </a:p>
          <a:p>
            <a:pPr algn="l"/>
            <a:r>
              <a:rPr lang="en-US" sz="1800" dirty="0">
                <a:solidFill>
                  <a:schemeClr val="bg1"/>
                </a:solidFill>
              </a:rPr>
              <a:t>*Sutton and Barto, Reinforcement Learning: An Introduction, 2</a:t>
            </a:r>
            <a:r>
              <a:rPr lang="en-US" sz="1800" baseline="30000" dirty="0">
                <a:solidFill>
                  <a:schemeClr val="bg1"/>
                </a:solidFill>
              </a:rPr>
              <a:t>nd</a:t>
            </a:r>
            <a:r>
              <a:rPr lang="en-US" sz="1800" dirty="0">
                <a:solidFill>
                  <a:schemeClr val="bg1"/>
                </a:solidFill>
              </a:rPr>
              <a:t> edition, MIT Press, Cambridge, MA, 2018</a:t>
            </a:r>
            <a:endParaRPr lang="en-US" sz="1700" dirty="0">
              <a:solidFill>
                <a:schemeClr val="bg1"/>
              </a:solidFill>
            </a:endParaRPr>
          </a:p>
          <a:p>
            <a:pPr algn="l"/>
            <a:r>
              <a:rPr lang="en-US" sz="1700" dirty="0">
                <a:solidFill>
                  <a:schemeClr val="bg1"/>
                </a:solidFill>
              </a:rPr>
              <a:t>**Vincent François-Lavet, Peter Henderson, </a:t>
            </a:r>
            <a:r>
              <a:rPr lang="en-US" sz="1700" dirty="0" err="1">
                <a:solidFill>
                  <a:schemeClr val="bg1"/>
                </a:solidFill>
              </a:rPr>
              <a:t>Riashat</a:t>
            </a:r>
            <a:r>
              <a:rPr lang="en-US" sz="1700" dirty="0">
                <a:solidFill>
                  <a:schemeClr val="bg1"/>
                </a:solidFill>
              </a:rPr>
              <a:t> Islam, Marc G. Bellemare and Joelle Pineau (2018), “An Introduction to Deep Reinforcement Learning</a:t>
            </a:r>
            <a:r>
              <a:rPr lang="en-US" sz="1700" i="1" dirty="0">
                <a:solidFill>
                  <a:schemeClr val="bg1"/>
                </a:solidFill>
              </a:rPr>
              <a:t>”, Foundations and Trends in Machine Learning</a:t>
            </a:r>
            <a:r>
              <a:rPr lang="en-US" sz="1700" dirty="0">
                <a:solidFill>
                  <a:schemeClr val="bg1"/>
                </a:solidFill>
              </a:rPr>
              <a:t>: Vol. 11, No. 3-4. DOI: 10.1561/2200000071.</a:t>
            </a:r>
          </a:p>
        </p:txBody>
      </p:sp>
      <p:grpSp>
        <p:nvGrpSpPr>
          <p:cNvPr id="6" name="Group 5">
            <a:extLst>
              <a:ext uri="{FF2B5EF4-FFF2-40B4-BE49-F238E27FC236}">
                <a16:creationId xmlns:a16="http://schemas.microsoft.com/office/drawing/2014/main" id="{DA1C6744-BD97-2C10-F393-A0B726F71E7A}"/>
              </a:ext>
              <a:ext uri="{C183D7F6-B498-43B3-948B-1728B52AA6E4}">
                <adec:decorative xmlns:adec="http://schemas.microsoft.com/office/drawing/2017/decorative" val="1"/>
              </a:ext>
            </a:extLst>
          </p:cNvPr>
          <p:cNvGrpSpPr/>
          <p:nvPr/>
        </p:nvGrpSpPr>
        <p:grpSpPr>
          <a:xfrm>
            <a:off x="10961016" y="4854740"/>
            <a:ext cx="1037459" cy="1303078"/>
            <a:chOff x="5248582" y="2401735"/>
            <a:chExt cx="1694835" cy="2054530"/>
          </a:xfrm>
        </p:grpSpPr>
        <p:pic>
          <p:nvPicPr>
            <p:cNvPr id="7" name="Picture 6">
              <a:extLst>
                <a:ext uri="{FF2B5EF4-FFF2-40B4-BE49-F238E27FC236}">
                  <a16:creationId xmlns:a16="http://schemas.microsoft.com/office/drawing/2014/main" id="{2F5FC233-1ACF-0EE9-5B1F-F0A29270EEC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248582" y="2401735"/>
              <a:ext cx="1694835" cy="2054530"/>
            </a:xfrm>
            <a:prstGeom prst="rect">
              <a:avLst/>
            </a:prstGeom>
          </p:spPr>
        </p:pic>
        <p:pic>
          <p:nvPicPr>
            <p:cNvPr id="8" name="Picture 7" descr="QR code linking to the online course material.">
              <a:extLst>
                <a:ext uri="{FF2B5EF4-FFF2-40B4-BE49-F238E27FC236}">
                  <a16:creationId xmlns:a16="http://schemas.microsoft.com/office/drawing/2014/main" id="{26CB3135-CE78-1137-FBA3-29AA8592D8FA}"/>
                </a:ext>
              </a:extLst>
            </p:cNvPr>
            <p:cNvPicPr>
              <a:picLocks noChangeAspect="1"/>
            </p:cNvPicPr>
            <p:nvPr/>
          </p:nvPicPr>
          <p:blipFill>
            <a:blip r:embed="rId5"/>
            <a:stretch>
              <a:fillRect/>
            </a:stretch>
          </p:blipFill>
          <p:spPr>
            <a:xfrm>
              <a:off x="5315643" y="2435129"/>
              <a:ext cx="1560711" cy="1560711"/>
            </a:xfrm>
            <a:prstGeom prst="rect">
              <a:avLst/>
            </a:prstGeom>
          </p:spPr>
        </p:pic>
      </p:grpSp>
      <p:pic>
        <p:nvPicPr>
          <p:cNvPr id="4" name="object 23">
            <a:hlinkClick r:id="rId6"/>
            <a:extLst>
              <a:ext uri="{FF2B5EF4-FFF2-40B4-BE49-F238E27FC236}">
                <a16:creationId xmlns:a16="http://schemas.microsoft.com/office/drawing/2014/main" id="{3CBD6548-3D4E-9A40-CA35-355261D4E92C}"/>
              </a:ext>
              <a:ext uri="{C183D7F6-B498-43B3-948B-1728B52AA6E4}">
                <adec:decorative xmlns:adec="http://schemas.microsoft.com/office/drawing/2017/decorative" val="1"/>
              </a:ext>
            </a:extLst>
          </p:cNvPr>
          <p:cNvPicPr/>
          <p:nvPr/>
        </p:nvPicPr>
        <p:blipFill>
          <a:blip r:embed="rId7" cstate="print"/>
          <a:stretch>
            <a:fillRect/>
          </a:stretch>
        </p:blipFill>
        <p:spPr>
          <a:xfrm>
            <a:off x="10961016" y="6265038"/>
            <a:ext cx="1037459" cy="383579"/>
          </a:xfrm>
          <a:prstGeom prst="rect">
            <a:avLst/>
          </a:prstGeom>
        </p:spPr>
      </p:pic>
    </p:spTree>
    <p:extLst>
      <p:ext uri="{BB962C8B-B14F-4D97-AF65-F5344CB8AC3E}">
        <p14:creationId xmlns:p14="http://schemas.microsoft.com/office/powerpoint/2010/main" val="3852752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3493-2ED6-DF09-F569-7F3DCA81AB18}"/>
              </a:ext>
            </a:extLst>
          </p:cNvPr>
          <p:cNvSpPr>
            <a:spLocks noGrp="1"/>
          </p:cNvSpPr>
          <p:nvPr>
            <p:ph type="title"/>
          </p:nvPr>
        </p:nvSpPr>
        <p:spPr/>
        <p:txBody>
          <a:bodyPr/>
          <a:lstStyle/>
          <a:p>
            <a:r>
              <a:rPr lang="en-US" dirty="0"/>
              <a:t>Topics of this Course</a:t>
            </a:r>
          </a:p>
        </p:txBody>
      </p:sp>
      <p:sp>
        <p:nvSpPr>
          <p:cNvPr id="3" name="Content Placeholder 2">
            <a:extLst>
              <a:ext uri="{FF2B5EF4-FFF2-40B4-BE49-F238E27FC236}">
                <a16:creationId xmlns:a16="http://schemas.microsoft.com/office/drawing/2014/main" id="{8F95E019-92A5-79AC-D777-59B4926F61AA}"/>
              </a:ext>
            </a:extLst>
          </p:cNvPr>
          <p:cNvSpPr>
            <a:spLocks noGrp="1"/>
          </p:cNvSpPr>
          <p:nvPr>
            <p:ph idx="1"/>
          </p:nvPr>
        </p:nvSpPr>
        <p:spPr/>
        <p:txBody>
          <a:bodyPr>
            <a:normAutofit fontScale="70000" lnSpcReduction="20000"/>
          </a:bodyPr>
          <a:lstStyle/>
          <a:p>
            <a:r>
              <a:rPr lang="en-US" dirty="0"/>
              <a:t>Introduction to reinforcement learning</a:t>
            </a:r>
          </a:p>
          <a:p>
            <a:r>
              <a:rPr lang="en-US" dirty="0"/>
              <a:t>Markov decision processes</a:t>
            </a:r>
          </a:p>
          <a:p>
            <a:r>
              <a:rPr lang="en-US" dirty="0"/>
              <a:t>Part I: Tabular Methods</a:t>
            </a:r>
          </a:p>
          <a:p>
            <a:pPr lvl="1"/>
            <a:r>
              <a:rPr lang="en-US" dirty="0"/>
              <a:t>Dynamic programming</a:t>
            </a:r>
          </a:p>
          <a:p>
            <a:pPr lvl="1"/>
            <a:r>
              <a:rPr lang="en-US" dirty="0"/>
              <a:t>Monte Carlo methods</a:t>
            </a:r>
          </a:p>
          <a:p>
            <a:pPr lvl="1"/>
            <a:r>
              <a:rPr lang="en-US" dirty="0"/>
              <a:t>Temporal-difference learning</a:t>
            </a:r>
          </a:p>
          <a:p>
            <a:pPr lvl="1"/>
            <a:r>
              <a:rPr lang="en-US" dirty="0"/>
              <a:t>Multi-step bootstrapping</a:t>
            </a:r>
          </a:p>
          <a:p>
            <a:pPr lvl="1"/>
            <a:r>
              <a:rPr lang="en-US" dirty="0"/>
              <a:t>Planning and learning with tabular methods</a:t>
            </a:r>
          </a:p>
          <a:p>
            <a:r>
              <a:rPr lang="en-US" dirty="0"/>
              <a:t>Part II: Approximate Solution Methods</a:t>
            </a:r>
          </a:p>
          <a:p>
            <a:pPr lvl="1"/>
            <a:r>
              <a:rPr lang="en-US" dirty="0"/>
              <a:t>Prediction and Control using Approximation</a:t>
            </a:r>
          </a:p>
          <a:p>
            <a:pPr lvl="1"/>
            <a:r>
              <a:rPr lang="en-US" dirty="0"/>
              <a:t>Eligibility Traces</a:t>
            </a:r>
          </a:p>
          <a:p>
            <a:pPr lvl="1"/>
            <a:r>
              <a:rPr lang="en-US" dirty="0"/>
              <a:t>Policy Gradient Methods</a:t>
            </a:r>
          </a:p>
          <a:p>
            <a:r>
              <a:rPr lang="en-US" dirty="0"/>
              <a:t>Part III: Looking Deeper</a:t>
            </a:r>
          </a:p>
          <a:p>
            <a:pPr lvl="1"/>
            <a:r>
              <a:rPr lang="en-US" b="1" dirty="0"/>
              <a:t>Deep Reinforcement Learning</a:t>
            </a:r>
          </a:p>
          <a:p>
            <a:pPr lvl="1"/>
            <a:r>
              <a:rPr lang="en-US" dirty="0"/>
              <a:t>Partial Observability</a:t>
            </a:r>
          </a:p>
          <a:p>
            <a:pPr lvl="1"/>
            <a:r>
              <a:rPr lang="en-US" dirty="0"/>
              <a:t>Reward Engineering</a:t>
            </a:r>
          </a:p>
          <a:p>
            <a:pPr lvl="1"/>
            <a:r>
              <a:rPr lang="en-US" dirty="0"/>
              <a:t>Current Applications</a:t>
            </a:r>
          </a:p>
        </p:txBody>
      </p:sp>
    </p:spTree>
    <p:extLst>
      <p:ext uri="{BB962C8B-B14F-4D97-AF65-F5344CB8AC3E}">
        <p14:creationId xmlns:p14="http://schemas.microsoft.com/office/powerpoint/2010/main" val="3653367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4E1A2-75E3-3C9C-6C10-EE078C5AD54A}"/>
              </a:ext>
            </a:extLst>
          </p:cNvPr>
          <p:cNvSpPr>
            <a:spLocks noGrp="1"/>
          </p:cNvSpPr>
          <p:nvPr>
            <p:ph type="title"/>
          </p:nvPr>
        </p:nvSpPr>
        <p:spPr/>
        <p:txBody>
          <a:bodyPr/>
          <a:lstStyle/>
          <a:p>
            <a:r>
              <a:rPr lang="en-US" dirty="0"/>
              <a:t>Summary of Notation*</a:t>
            </a:r>
          </a:p>
        </p:txBody>
      </p:sp>
      <mc:AlternateContent xmlns:mc="http://schemas.openxmlformats.org/markup-compatibility/2006" xmlns:a14="http://schemas.microsoft.com/office/drawing/2010/main">
        <mc:Choice Requires="a14">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p:nvPr/>
            </p:nvSpPr>
            <p:spPr>
              <a:xfrm>
                <a:off x="822820" y="1124198"/>
                <a:ext cx="5273179"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b="1" dirty="0"/>
                  <a:t>General</a:t>
                </a:r>
                <a:endParaRPr lang="en-US" sz="1200" dirty="0"/>
              </a:p>
              <a:p>
                <a14:m>
                  <m:oMath xmlns:m="http://schemas.openxmlformats.org/officeDocument/2006/math">
                    <m:r>
                      <a:rPr lang="en-US" sz="1200" i="1" dirty="0" smtClean="0">
                        <a:latin typeface="Cambria Math" panose="02040503050406030204" pitchFamily="18" charset="0"/>
                      </a:rPr>
                      <m:t>𝑋</m:t>
                    </m:r>
                  </m:oMath>
                </a14:m>
                <a:r>
                  <a:rPr lang="en-US" sz="1200" dirty="0"/>
                  <a:t>	capital letters: random variables</a:t>
                </a:r>
                <a:br>
                  <a:rPr lang="en-US" sz="1200" dirty="0"/>
                </a:br>
                <a14:m>
                  <m:oMath xmlns:m="http://schemas.openxmlformats.org/officeDocument/2006/math">
                    <m:r>
                      <a:rPr lang="en-US" sz="1200" b="0" i="1" smtClean="0">
                        <a:latin typeface="Cambria Math" panose="02040503050406030204" pitchFamily="18" charset="0"/>
                      </a:rPr>
                      <m:t>𝑥</m:t>
                    </m:r>
                    <m:r>
                      <a:rPr lang="en-US" sz="1200" b="0" i="0" smtClean="0">
                        <a:latin typeface="Cambria Math" panose="02040503050406030204" pitchFamily="18" charset="0"/>
                      </a:rPr>
                      <m:t>, </m:t>
                    </m:r>
                    <m:r>
                      <a:rPr lang="en-US" sz="1200" b="0" i="1" smtClean="0">
                        <a:latin typeface="Cambria Math" panose="02040503050406030204" pitchFamily="18" charset="0"/>
                      </a:rPr>
                      <m:t>𝑝</m:t>
                    </m:r>
                  </m:oMath>
                </a14:m>
                <a:r>
                  <a:rPr lang="en-US" sz="1200" dirty="0"/>
                  <a:t>	lower-case letters: realizations of random variables </a:t>
                </a:r>
                <a:br>
                  <a:rPr lang="en-US" sz="1200" dirty="0"/>
                </a:br>
                <a:r>
                  <a:rPr lang="en-US" sz="1200" dirty="0"/>
                  <a:t>	or scalar functions</a:t>
                </a:r>
              </a:p>
              <a:p>
                <a14:m>
                  <m:oMath xmlns:m="http://schemas.openxmlformats.org/officeDocument/2006/math">
                    <m:r>
                      <a:rPr lang="en-US" sz="1200" b="1" i="1" smtClean="0">
                        <a:latin typeface="Cambria Math" panose="02040503050406030204" pitchFamily="18" charset="0"/>
                      </a:rPr>
                      <m:t>𝒘</m:t>
                    </m:r>
                  </m:oMath>
                </a14:m>
                <a:r>
                  <a:rPr lang="en-US" sz="1200" dirty="0"/>
                  <a:t> 	Bold lower-case letters: real-valued vectors </a:t>
                </a:r>
                <a:br>
                  <a:rPr lang="en-US" sz="1200" dirty="0"/>
                </a:br>
                <a:r>
                  <a:rPr lang="en-US" sz="1200" dirty="0"/>
                  <a:t>	(even if random variables)</a:t>
                </a:r>
              </a:p>
              <a:p>
                <a14:m>
                  <m:oMath xmlns:m="http://schemas.openxmlformats.org/officeDocument/2006/math">
                    <m:r>
                      <a:rPr lang="en-US" sz="1200" b="1" i="1" smtClean="0">
                        <a:latin typeface="Cambria Math" panose="02040503050406030204" pitchFamily="18" charset="0"/>
                      </a:rPr>
                      <m:t>𝑾</m:t>
                    </m:r>
                  </m:oMath>
                </a14:m>
                <a:r>
                  <a:rPr lang="en-US" sz="1200" dirty="0"/>
                  <a:t>	bold capitals: matrices</a:t>
                </a:r>
              </a:p>
              <a:p>
                <a14:m>
                  <m:oMath xmlns:m="http://schemas.openxmlformats.org/officeDocument/2006/math">
                    <m:r>
                      <a:rPr lang="en-US" sz="1200" b="0" i="1" smtClean="0">
                        <a:latin typeface="Cambria Math" panose="02040503050406030204" pitchFamily="18" charset="0"/>
                      </a:rPr>
                      <m:t>𝛼</m:t>
                    </m:r>
                  </m:oMath>
                </a14:m>
                <a:r>
                  <a:rPr lang="en-US" sz="1200" dirty="0"/>
                  <a:t>	Greek letters: parameters (vectors if in bolt)</a:t>
                </a:r>
              </a:p>
              <a:p>
                <a14:m>
                  <m:oMath xmlns:m="http://schemas.openxmlformats.org/officeDocument/2006/math">
                    <m:r>
                      <m:rPr>
                        <m:sty m:val="p"/>
                      </m:rPr>
                      <a:rPr lang="en-US" sz="1200" i="1" dirty="0">
                        <a:latin typeface="Cambria Math" panose="02040503050406030204" pitchFamily="18" charset="0"/>
                      </a:rPr>
                      <m:t>Pr</m:t>
                    </m:r>
                    <m:r>
                      <a:rPr lang="en-US" sz="1200" i="1" dirty="0">
                        <a:latin typeface="Cambria Math" panose="02040503050406030204" pitchFamily="18" charset="0"/>
                      </a:rPr>
                      <m:t>⁡{</m:t>
                    </m:r>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𝑥</m:t>
                    </m:r>
                    <m:r>
                      <a:rPr lang="en-US" sz="1200" i="1" dirty="0">
                        <a:latin typeface="Cambria Math" panose="02040503050406030204" pitchFamily="18" charset="0"/>
                      </a:rPr>
                      <m:t>}</m:t>
                    </m:r>
                  </m:oMath>
                </a14:m>
                <a:r>
                  <a:rPr lang="en-US" sz="1200" dirty="0"/>
                  <a:t>	probability that a random variable </a:t>
                </a:r>
                <a14:m>
                  <m:oMath xmlns:m="http://schemas.openxmlformats.org/officeDocument/2006/math">
                    <m:r>
                      <a:rPr lang="en-US" sz="1200" i="1" dirty="0">
                        <a:latin typeface="Cambria Math" panose="02040503050406030204" pitchFamily="18" charset="0"/>
                      </a:rPr>
                      <m:t>𝑋</m:t>
                    </m:r>
                  </m:oMath>
                </a14:m>
                <a:r>
                  <a:rPr lang="en-US" sz="1200" dirty="0"/>
                  <a:t> takes on the value </a:t>
                </a:r>
                <a14:m>
                  <m:oMath xmlns:m="http://schemas.openxmlformats.org/officeDocument/2006/math">
                    <m:r>
                      <a:rPr lang="en-US" sz="1200" i="1" dirty="0">
                        <a:latin typeface="Cambria Math" panose="02040503050406030204" pitchFamily="18" charset="0"/>
                      </a:rPr>
                      <m:t>𝑥</m:t>
                    </m:r>
                  </m:oMath>
                </a14:m>
                <a:endParaRPr lang="en-US" sz="1200" dirty="0"/>
              </a:p>
              <a:p>
                <a14:m>
                  <m:oMath xmlns:m="http://schemas.openxmlformats.org/officeDocument/2006/math">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𝑝</m:t>
                    </m:r>
                  </m:oMath>
                </a14:m>
                <a:r>
                  <a:rPr lang="en-US" sz="1200" dirty="0"/>
                  <a:t>	random variable </a:t>
                </a:r>
                <a14:m>
                  <m:oMath xmlns:m="http://schemas.openxmlformats.org/officeDocument/2006/math">
                    <m:r>
                      <a:rPr lang="en-US" sz="1200" i="1" dirty="0">
                        <a:latin typeface="Cambria Math" panose="02040503050406030204" pitchFamily="18" charset="0"/>
                      </a:rPr>
                      <m:t>𝑋</m:t>
                    </m:r>
                  </m:oMath>
                </a14:m>
                <a:r>
                  <a:rPr lang="en-US" sz="1200" dirty="0"/>
                  <a:t> selected from distribution </a:t>
                </a:r>
                <a14:m>
                  <m:oMath xmlns:m="http://schemas.openxmlformats.org/officeDocument/2006/math">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m:rPr>
                        <m:sty m:val="p"/>
                      </m:rPr>
                      <a:rPr lang="en-US" sz="1200">
                        <a:latin typeface="Cambria Math" panose="02040503050406030204" pitchFamily="18" charset="0"/>
                      </a:rPr>
                      <m:t>Pr</m:t>
                    </m:r>
                    <m:r>
                      <a:rPr lang="en-US" sz="1200" i="1">
                        <a:latin typeface="Cambria Math" panose="02040503050406030204" pitchFamily="18" charset="0"/>
                      </a:rPr>
                      <m:t>⁡{</m:t>
                    </m:r>
                    <m:r>
                      <a:rPr lang="en-US" sz="1200" i="1">
                        <a:latin typeface="Cambria Math" panose="02040503050406030204" pitchFamily="18" charset="0"/>
                      </a:rPr>
                      <m:t>𝑋</m:t>
                    </m:r>
                    <m:r>
                      <a:rPr lang="en-US" sz="1200" i="1">
                        <a:latin typeface="Cambria Math" panose="02040503050406030204" pitchFamily="18" charset="0"/>
                      </a:rPr>
                      <m:t>=</m:t>
                    </m:r>
                    <m:r>
                      <a:rPr lang="en-US" sz="1200" i="1">
                        <a:latin typeface="Cambria Math" panose="02040503050406030204" pitchFamily="18" charset="0"/>
                      </a:rPr>
                      <m:t>𝑥</m:t>
                    </m:r>
                    <m:r>
                      <a:rPr lang="en-US" sz="1200" i="1">
                        <a:latin typeface="Cambria Math" panose="02040503050406030204" pitchFamily="18" charset="0"/>
                      </a:rPr>
                      <m:t>}</m:t>
                    </m:r>
                  </m:oMath>
                </a14:m>
                <a:endParaRPr lang="en-US" sz="1200" dirty="0"/>
              </a:p>
              <a:p>
                <a14:m>
                  <m:oMath xmlns:m="http://schemas.openxmlformats.org/officeDocument/2006/math">
                    <m:r>
                      <a:rPr lang="en-US" sz="1200" i="1">
                        <a:latin typeface="Cambria Math" panose="02040503050406030204" pitchFamily="18" charset="0"/>
                        <a:ea typeface="Cambria Math" panose="02040503050406030204" pitchFamily="18" charset="0"/>
                      </a:rPr>
                      <m:t>𝔼</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𝑋</m:t>
                    </m:r>
                    <m:r>
                      <a:rPr lang="en-US" sz="1200" i="1">
                        <a:latin typeface="Cambria Math" panose="02040503050406030204" pitchFamily="18" charset="0"/>
                        <a:ea typeface="Cambria Math" panose="02040503050406030204" pitchFamily="18" charset="0"/>
                      </a:rPr>
                      <m:t>]</m:t>
                    </m:r>
                  </m:oMath>
                </a14:m>
                <a:r>
                  <a:rPr lang="en-US" sz="1200" dirty="0"/>
                  <a:t>	expectation of a random variable </a:t>
                </a:r>
                <a14:m>
                  <m:oMath xmlns:m="http://schemas.openxmlformats.org/officeDocument/2006/math">
                    <m:r>
                      <a:rPr lang="en-US" sz="1200" i="1" dirty="0">
                        <a:latin typeface="Cambria Math" panose="02040503050406030204" pitchFamily="18" charset="0"/>
                      </a:rPr>
                      <m:t>𝑋</m:t>
                    </m:r>
                  </m:oMath>
                </a14:m>
                <a:r>
                  <a:rPr lang="en-US" sz="1200" dirty="0"/>
                  <a:t>, i.e., </a:t>
                </a:r>
                <a14:m>
                  <m:oMath xmlns:m="http://schemas.openxmlformats.org/officeDocument/2006/math">
                    <m:r>
                      <a:rPr lang="en-US" sz="1200" i="1">
                        <a:latin typeface="Cambria Math" panose="02040503050406030204" pitchFamily="18" charset="0"/>
                        <a:ea typeface="Cambria Math" panose="02040503050406030204" pitchFamily="18" charset="0"/>
                      </a:rPr>
                      <m:t>𝔼</m:t>
                    </m:r>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𝑋</m:t>
                        </m:r>
                      </m:e>
                    </m:d>
                    <m:r>
                      <a:rPr lang="en-US" sz="1200" i="1">
                        <a:latin typeface="Cambria Math" panose="02040503050406030204" pitchFamily="18" charset="0"/>
                        <a:ea typeface="Cambria Math" panose="02040503050406030204" pitchFamily="18" charset="0"/>
                      </a:rPr>
                      <m:t>=</m:t>
                    </m:r>
                    <m:nary>
                      <m:naryPr>
                        <m:chr m:val="∑"/>
                        <m:supHide m:val="on"/>
                        <m:ctrlPr>
                          <a:rPr lang="en-US" sz="1200" i="1">
                            <a:latin typeface="Cambria Math" panose="02040503050406030204" pitchFamily="18" charset="0"/>
                            <a:ea typeface="Cambria Math" panose="02040503050406030204" pitchFamily="18" charset="0"/>
                          </a:rPr>
                        </m:ctrlPr>
                      </m:naryPr>
                      <m:sub>
                        <m:r>
                          <a:rPr lang="en-US" sz="1200" i="1">
                            <a:latin typeface="Cambria Math" panose="02040503050406030204" pitchFamily="18" charset="0"/>
                            <a:ea typeface="Cambria Math" panose="02040503050406030204" pitchFamily="18" charset="0"/>
                          </a:rPr>
                          <m:t>𝑥</m:t>
                        </m:r>
                      </m:sub>
                      <m:sup/>
                      <m:e>
                        <m:r>
                          <a:rPr lang="en-US" sz="1200" i="1">
                            <a:latin typeface="Cambria Math" panose="02040503050406030204" pitchFamily="18" charset="0"/>
                            <a:ea typeface="Cambria Math" panose="02040503050406030204" pitchFamily="18" charset="0"/>
                          </a:rPr>
                          <m:t>𝑝</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e>
                        </m:d>
                        <m:r>
                          <a:rPr lang="en-US" sz="1200" i="1">
                            <a:latin typeface="Cambria Math" panose="02040503050406030204" pitchFamily="18" charset="0"/>
                            <a:ea typeface="Cambria Math" panose="02040503050406030204" pitchFamily="18" charset="0"/>
                          </a:rPr>
                          <m:t>𝑥</m:t>
                        </m:r>
                      </m:e>
                    </m:nary>
                  </m:oMath>
                </a14:m>
                <a:endParaRPr lang="en-US" sz="1200" dirty="0">
                  <a:ea typeface="Cambria Math" panose="02040503050406030204" pitchFamily="18" charset="0"/>
                </a:endParaRPr>
              </a:p>
              <a:p>
                <a14:m>
                  <m:oMath xmlns:m="http://schemas.openxmlformats.org/officeDocument/2006/math">
                    <m:sSub>
                      <m:sSubPr>
                        <m:ctrlPr>
                          <a:rPr lang="en-US" sz="1200" dirty="0">
                            <a:latin typeface="Cambria Math" panose="02040503050406030204" pitchFamily="18" charset="0"/>
                          </a:rPr>
                        </m:ctrlPr>
                      </m:sSubPr>
                      <m:e>
                        <m:r>
                          <m:rPr>
                            <m:sty m:val="p"/>
                          </m:rPr>
                          <a:rPr lang="en-US" sz="1200" dirty="0">
                            <a:latin typeface="Cambria Math" panose="02040503050406030204" pitchFamily="18" charset="0"/>
                          </a:rPr>
                          <m:t>argmax</m:t>
                        </m:r>
                      </m:e>
                      <m:sub>
                        <m:r>
                          <m:rPr>
                            <m:sty m:val="p"/>
                          </m:rPr>
                          <a:rPr lang="en-US" sz="1200" dirty="0">
                            <a:latin typeface="Cambria Math" panose="02040503050406030204" pitchFamily="18" charset="0"/>
                          </a:rPr>
                          <m:t>a</m:t>
                        </m:r>
                      </m:sub>
                    </m:sSub>
                    <m:r>
                      <a:rPr lang="en-US" sz="1200" dirty="0">
                        <a:latin typeface="Cambria Math" panose="02040503050406030204" pitchFamily="18" charset="0"/>
                      </a:rPr>
                      <m:t> </m:t>
                    </m:r>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a value of action </a:t>
                </a:r>
                <a14:m>
                  <m:oMath xmlns:m="http://schemas.openxmlformats.org/officeDocument/2006/math">
                    <m:r>
                      <a:rPr lang="en-US" sz="1200" i="1" dirty="0">
                        <a:latin typeface="Cambria Math" panose="02040503050406030204" pitchFamily="18" charset="0"/>
                      </a:rPr>
                      <m:t>𝑎</m:t>
                    </m:r>
                  </m:oMath>
                </a14:m>
                <a:r>
                  <a:rPr lang="en-US" sz="1200" dirty="0"/>
                  <a:t> at which </a:t>
                </a:r>
                <a14:m>
                  <m:oMath xmlns:m="http://schemas.openxmlformats.org/officeDocument/2006/math">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takes its maximal value</a:t>
                </a:r>
              </a:p>
            </p:txBody>
          </p:sp>
        </mc:Choice>
        <mc:Fallback xmlns="">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a:spLocks noRot="1" noChangeAspect="1" noMove="1" noResize="1" noEditPoints="1" noAdjustHandles="1" noChangeArrowheads="1" noChangeShapeType="1" noTextEdit="1"/>
              </p:cNvSpPr>
              <p:nvPr/>
            </p:nvSpPr>
            <p:spPr>
              <a:xfrm>
                <a:off x="822820" y="1124198"/>
                <a:ext cx="5273179" cy="2308324"/>
              </a:xfrm>
              <a:prstGeom prst="rect">
                <a:avLst/>
              </a:prstGeom>
              <a:blipFill>
                <a:blip r:embed="rId3"/>
                <a:stretch>
                  <a:fillRect b="-94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p:cNvSpPr>
              <p:nvPr>
                <p:ph idx="1"/>
              </p:nvPr>
            </p:nvSpPr>
            <p:spPr>
              <a:xfrm>
                <a:off x="822817" y="3545635"/>
                <a:ext cx="5273179" cy="1902124"/>
              </a:xfrm>
            </p:spPr>
            <p:style>
              <a:lnRef idx="2">
                <a:schemeClr val="accent2"/>
              </a:lnRef>
              <a:fillRef idx="1">
                <a:schemeClr val="lt1"/>
              </a:fillRef>
              <a:effectRef idx="0">
                <a:schemeClr val="accent2"/>
              </a:effectRef>
              <a:fontRef idx="minor">
                <a:schemeClr val="dk1"/>
              </a:fontRef>
            </p:style>
            <p:txBody>
              <a:bodyPr>
                <a:spAutoFit/>
              </a:bodyPr>
              <a:lstStyle/>
              <a:p>
                <a:pPr marL="0" indent="0">
                  <a:lnSpc>
                    <a:spcPct val="100000"/>
                  </a:lnSpc>
                  <a:spcBef>
                    <a:spcPts val="0"/>
                  </a:spcBef>
                  <a:buNone/>
                </a:pPr>
                <a:r>
                  <a:rPr lang="en-US" sz="1200" b="1" dirty="0"/>
                  <a:t>Value Function</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𝐺</m:t>
                        </m:r>
                      </m:e>
                      <m:sub>
                        <m:r>
                          <a:rPr lang="en-US" sz="1200" i="1" dirty="0">
                            <a:latin typeface="Cambria Math" panose="02040503050406030204" pitchFamily="18" charset="0"/>
                          </a:rPr>
                          <m:t>𝑡</m:t>
                        </m:r>
                      </m:sub>
                    </m:sSub>
                  </m:oMath>
                </a14:m>
                <a:r>
                  <a:rPr lang="en-US" sz="1200" dirty="0"/>
                  <a:t> 	return (cumulative reward) following time </a:t>
                </a:r>
                <a14:m>
                  <m:oMath xmlns:m="http://schemas.openxmlformats.org/officeDocument/2006/math">
                    <m:r>
                      <a:rPr lang="en-US" sz="1200" i="1" dirty="0">
                        <a:latin typeface="Cambria Math" panose="02040503050406030204" pitchFamily="18" charset="0"/>
                      </a:rPr>
                      <m:t>𝑡</m:t>
                    </m:r>
                  </m:oMath>
                </a14:m>
                <a:endParaRPr lang="en-US" sz="1200" dirty="0"/>
              </a:p>
              <a:p>
                <a:pPr marL="0" indent="0">
                  <a:lnSpc>
                    <a:spcPct val="100000"/>
                  </a:lnSpc>
                  <a:spcBef>
                    <a:spcPts val="0"/>
                  </a:spcBef>
                  <a:buNone/>
                </a:pP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𝐺</m:t>
                        </m:r>
                      </m:e>
                      <m:sub>
                        <m:r>
                          <a:rPr lang="en-US" sz="1200" i="1" dirty="0">
                            <a:solidFill>
                              <a:schemeClr val="tx1"/>
                            </a:solidFill>
                            <a:latin typeface="Cambria Math" panose="02040503050406030204" pitchFamily="18" charset="0"/>
                          </a:rPr>
                          <m:t>𝑡</m:t>
                        </m:r>
                        <m:r>
                          <a:rPr lang="en-US" sz="1200" i="1" dirty="0">
                            <a:solidFill>
                              <a:schemeClr val="tx1"/>
                            </a:solidFill>
                            <a:latin typeface="Cambria Math" panose="02040503050406030204" pitchFamily="18" charset="0"/>
                          </a:rPr>
                          <m:t>:</m:t>
                        </m:r>
                        <m:r>
                          <a:rPr lang="en-US" sz="1200" i="1" dirty="0">
                            <a:solidFill>
                              <a:schemeClr val="tx1"/>
                            </a:solidFill>
                            <a:latin typeface="Cambria Math" panose="02040503050406030204" pitchFamily="18" charset="0"/>
                          </a:rPr>
                          <m:t>ℎ</m:t>
                        </m:r>
                      </m:sub>
                    </m:sSub>
                  </m:oMath>
                </a14:m>
                <a:r>
                  <a:rPr lang="en-US" sz="1200" dirty="0">
                    <a:solidFill>
                      <a:schemeClr val="tx1"/>
                    </a:solidFill>
                  </a:rPr>
                  <a:t>	return from </a:t>
                </a:r>
                <a14:m>
                  <m:oMath xmlns:m="http://schemas.openxmlformats.org/officeDocument/2006/math">
                    <m:r>
                      <a:rPr lang="en-US" sz="1200" i="1" dirty="0">
                        <a:solidFill>
                          <a:schemeClr val="tx1"/>
                        </a:solidFill>
                        <a:latin typeface="Cambria Math" panose="02040503050406030204" pitchFamily="18" charset="0"/>
                      </a:rPr>
                      <m:t>𝑡</m:t>
                    </m:r>
                  </m:oMath>
                </a14:m>
                <a:r>
                  <a:rPr lang="en-US" sz="1200" dirty="0">
                    <a:solidFill>
                      <a:schemeClr val="tx1"/>
                    </a:solidFill>
                  </a:rPr>
                  <a:t> to </a:t>
                </a:r>
                <a14:m>
                  <m:oMath xmlns:m="http://schemas.openxmlformats.org/officeDocument/2006/math">
                    <m:r>
                      <a:rPr lang="en-US" sz="1200" i="1" dirty="0">
                        <a:solidFill>
                          <a:schemeClr val="tx1"/>
                        </a:solidFill>
                        <a:latin typeface="Cambria Math" panose="02040503050406030204" pitchFamily="18" charset="0"/>
                      </a:rPr>
                      <m:t>ℎ</m:t>
                    </m:r>
                  </m:oMath>
                </a14:m>
                <a:r>
                  <a:rPr lang="en-US" sz="1200" dirty="0">
                    <a:solidFill>
                      <a:schemeClr val="tx1"/>
                    </a:solidFill>
                  </a:rPr>
                  <a:t> (discounted and corrected)</a:t>
                </a:r>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a:t>
                </a:r>
                <a14:m>
                  <m:oMath xmlns:m="http://schemas.openxmlformats.org/officeDocument/2006/math">
                    <m:r>
                      <a:rPr lang="en-US" sz="1200" i="1" dirty="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r>
                  <a:rPr lang="en-US" sz="1200" dirty="0"/>
                  <a:t> (expected return)</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s under the optimal policy</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endParaRPr lang="en-US" sz="1200" dirty="0"/>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the optimal policy</a:t>
                </a: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𝑉</m:t>
                    </m:r>
                    <m:r>
                      <a:rPr lang="en-US" sz="1200" i="1" dirty="0">
                        <a:solidFill>
                          <a:schemeClr val="tx1"/>
                        </a:solidFill>
                        <a:latin typeface="Cambria Math" panose="02040503050406030204" pitchFamily="18" charset="0"/>
                      </a:rPr>
                      <m:t>, </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𝑉</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state-value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r>
                      <a:rPr lang="en-US" sz="1200" i="1" dirty="0">
                        <a:solidFill>
                          <a:schemeClr val="tx1"/>
                        </a:solidFill>
                        <a:latin typeface="Cambria Math" panose="02040503050406030204" pitchFamily="18" charset="0"/>
                      </a:rPr>
                      <m:t> </m:t>
                    </m:r>
                  </m:oMath>
                </a14:m>
                <a:endParaRPr lang="en-US" sz="1200" dirty="0">
                  <a:solidFill>
                    <a:schemeClr val="tx1"/>
                  </a:solidFill>
                </a:endParaRP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𝑄</m:t>
                    </m:r>
                    <m:r>
                      <a:rPr lang="en-US" sz="1200" i="1" dirty="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𝑄</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action-value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𝑞</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oMath>
                </a14:m>
                <a:endParaRPr lang="en-US" sz="1200" dirty="0">
                  <a:solidFill>
                    <a:schemeClr val="tx1"/>
                  </a:solidFill>
                </a:endParaRPr>
              </a:p>
            </p:txBody>
          </p:sp>
        </mc:Choice>
        <mc:Fallback xmlns="">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noRot="1" noChangeAspect="1" noMove="1" noResize="1" noEditPoints="1" noAdjustHandles="1" noChangeArrowheads="1" noChangeShapeType="1" noTextEdit="1"/>
              </p:cNvSpPr>
              <p:nvPr>
                <p:ph idx="1"/>
              </p:nvPr>
            </p:nvSpPr>
            <p:spPr>
              <a:xfrm>
                <a:off x="822817" y="3545635"/>
                <a:ext cx="5273179" cy="1902124"/>
              </a:xfrm>
              <a:blipFill>
                <a:blip r:embed="rId2"/>
                <a:stretch>
                  <a:fillRect b="-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descr="Temporal Difference Learning. U sub t target for estimate at time t. delta sub t TD error">
                <a:extLst>
                  <a:ext uri="{FF2B5EF4-FFF2-40B4-BE49-F238E27FC236}">
                    <a16:creationId xmlns:a16="http://schemas.microsoft.com/office/drawing/2014/main" id="{4C5E539A-F9A7-F959-ACD3-4ADE5900F587}"/>
                  </a:ext>
                </a:extLst>
              </p:cNvPr>
              <p:cNvSpPr txBox="1">
                <a:spLocks/>
              </p:cNvSpPr>
              <p:nvPr/>
            </p:nvSpPr>
            <p:spPr>
              <a:xfrm>
                <a:off x="822817" y="5567468"/>
                <a:ext cx="5273179" cy="646331"/>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00000"/>
                  </a:lnSpc>
                  <a:spcBef>
                    <a:spcPts val="0"/>
                  </a:spcBef>
                  <a:buFont typeface="Arial" panose="020B0604020202020204" pitchFamily="34" charset="0"/>
                  <a:buNone/>
                </a:pPr>
                <a:r>
                  <a:rPr lang="en-US" sz="1200" b="1" dirty="0"/>
                  <a:t>Temporal Difference Learning</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𝑈</m:t>
                        </m:r>
                      </m:e>
                      <m:sub>
                        <m:r>
                          <a:rPr lang="en-US" sz="1200" i="1" dirty="0">
                            <a:solidFill>
                              <a:schemeClr val="tx1"/>
                            </a:solidFill>
                            <a:latin typeface="Cambria Math" panose="02040503050406030204" pitchFamily="18" charset="0"/>
                          </a:rPr>
                          <m:t>𝑡</m:t>
                        </m:r>
                      </m:sub>
                    </m:sSub>
                  </m:oMath>
                </a14:m>
                <a:r>
                  <a:rPr lang="en-US" sz="1200" dirty="0">
                    <a:solidFill>
                      <a:schemeClr val="tx1"/>
                    </a:solidFill>
                  </a:rPr>
                  <a:t>	target for estimate at time</a:t>
                </a:r>
                <a14:m>
                  <m:oMath xmlns:m="http://schemas.openxmlformats.org/officeDocument/2006/math">
                    <m:r>
                      <a:rPr lang="en-US" sz="1200" i="1" dirty="0">
                        <a:solidFill>
                          <a:schemeClr val="tx1"/>
                        </a:solidFill>
                        <a:latin typeface="Cambria Math" panose="02040503050406030204" pitchFamily="18" charset="0"/>
                      </a:rPr>
                      <m:t> </m:t>
                    </m:r>
                    <m:r>
                      <a:rPr lang="en-US" sz="1200" i="1" dirty="0">
                        <a:solidFill>
                          <a:schemeClr val="tx1"/>
                        </a:solidFill>
                        <a:latin typeface="Cambria Math" panose="02040503050406030204" pitchFamily="18" charset="0"/>
                      </a:rPr>
                      <m:t>𝑡</m:t>
                    </m:r>
                  </m:oMath>
                </a14:m>
                <a:endParaRPr lang="en-US" sz="1200" dirty="0">
                  <a:solidFill>
                    <a:schemeClr val="tx1"/>
                  </a:solidFill>
                </a:endParaRPr>
              </a:p>
              <a:p>
                <a:pPr marL="0" indent="0">
                  <a:lnSpc>
                    <a:spcPct val="100000"/>
                  </a:lnSpc>
                  <a:spcBef>
                    <a:spcPts val="0"/>
                  </a:spcBef>
                  <a:buNone/>
                </a:pPr>
                <a14:m>
                  <m:oMath xmlns:m="http://schemas.openxmlformats.org/officeDocument/2006/math">
                    <m:sSub>
                      <m:sSubPr>
                        <m:ctrlPr>
                          <a:rPr lang="en-US" sz="1200" b="0" i="1" dirty="0" smtClean="0">
                            <a:solidFill>
                              <a:schemeClr val="tx1"/>
                            </a:solidFill>
                            <a:latin typeface="Cambria Math" panose="02040503050406030204" pitchFamily="18" charset="0"/>
                          </a:rPr>
                        </m:ctrlPr>
                      </m:sSubPr>
                      <m:e>
                        <m:r>
                          <a:rPr lang="en-US" sz="1200" b="0" i="1" dirty="0" smtClean="0">
                            <a:solidFill>
                              <a:schemeClr val="tx1"/>
                            </a:solidFill>
                            <a:latin typeface="Cambria Math" panose="02040503050406030204" pitchFamily="18" charset="0"/>
                          </a:rPr>
                          <m:t>𝛿</m:t>
                        </m:r>
                      </m:e>
                      <m:sub>
                        <m:r>
                          <a:rPr lang="en-US" sz="1200" i="1" dirty="0">
                            <a:solidFill>
                              <a:schemeClr val="tx1"/>
                            </a:solidFill>
                            <a:latin typeface="Cambria Math" panose="02040503050406030204" pitchFamily="18" charset="0"/>
                          </a:rPr>
                          <m:t>𝑡</m:t>
                        </m:r>
                      </m:sub>
                    </m:sSub>
                  </m:oMath>
                </a14:m>
                <a:r>
                  <a:rPr lang="en-US" sz="1200" dirty="0">
                    <a:solidFill>
                      <a:schemeClr val="tx1"/>
                    </a:solidFill>
                  </a:rPr>
                  <a:t>	TD error</a:t>
                </a:r>
              </a:p>
            </p:txBody>
          </p:sp>
        </mc:Choice>
        <mc:Fallback xmlns="">
          <p:sp>
            <p:nvSpPr>
              <p:cNvPr id="4" name="Content Placeholder 2" descr="Temporal Difference Learning. U sub t target for estimate at time t. delta sub t TD error">
                <a:extLst>
                  <a:ext uri="{FF2B5EF4-FFF2-40B4-BE49-F238E27FC236}">
                    <a16:creationId xmlns:a16="http://schemas.microsoft.com/office/drawing/2014/main" id="{4C5E539A-F9A7-F959-ACD3-4ADE5900F587}"/>
                  </a:ext>
                </a:extLst>
              </p:cNvPr>
              <p:cNvSpPr txBox="1">
                <a:spLocks noRot="1" noChangeAspect="1" noMove="1" noResize="1" noEditPoints="1" noAdjustHandles="1" noChangeArrowheads="1" noChangeShapeType="1" noTextEdit="1"/>
              </p:cNvSpPr>
              <p:nvPr/>
            </p:nvSpPr>
            <p:spPr>
              <a:xfrm>
                <a:off x="822817" y="5567468"/>
                <a:ext cx="5273179" cy="646331"/>
              </a:xfrm>
              <a:prstGeom prst="rect">
                <a:avLst/>
              </a:prstGeom>
              <a:blipFill>
                <a:blip r:embed="rId5"/>
                <a:stretch>
                  <a:fillRect b="-4587"/>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09E7F800-DE58-B920-0E6E-9C32EEC84232}"/>
              </a:ext>
            </a:extLst>
          </p:cNvPr>
          <p:cNvSpPr txBox="1"/>
          <p:nvPr/>
        </p:nvSpPr>
        <p:spPr>
          <a:xfrm>
            <a:off x="822817" y="6308208"/>
            <a:ext cx="4907559"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*Some authors use a slightly different notation.</a:t>
            </a:r>
          </a:p>
        </p:txBody>
      </p:sp>
      <mc:AlternateContent xmlns:mc="http://schemas.openxmlformats.org/markup-compatibility/2006" xmlns:a14="http://schemas.microsoft.com/office/drawing/2010/main">
        <mc:Choice Requires="a14">
          <p:sp>
            <p:nvSpPr>
              <p:cNvPr id="5" name="Content Placeholder 2" descr="Approximation. mu (s) on policy distribution (fraction of time spent in state). alpha step size (gradient descent learning rate). v hat (s, w) approximate value function q hat (s, a, w) approximate action-value function pi (a given s, theta) approximate policy. VE hat mean squared value error. gradient of f(x) gradient of function f evaluated at x">
                <a:extLst>
                  <a:ext uri="{FF2B5EF4-FFF2-40B4-BE49-F238E27FC236}">
                    <a16:creationId xmlns:a16="http://schemas.microsoft.com/office/drawing/2014/main" id="{9FA76CFB-B55E-EFC6-DA3D-BEB7A8763838}"/>
                  </a:ext>
                </a:extLst>
              </p:cNvPr>
              <p:cNvSpPr txBox="1">
                <a:spLocks/>
              </p:cNvSpPr>
              <p:nvPr/>
            </p:nvSpPr>
            <p:spPr>
              <a:xfrm>
                <a:off x="6267338" y="4942028"/>
                <a:ext cx="5273179" cy="1597104"/>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00000"/>
                  </a:lnSpc>
                  <a:spcBef>
                    <a:spcPts val="0"/>
                  </a:spcBef>
                  <a:buFont typeface="Arial" panose="020B0604020202020204" pitchFamily="34" charset="0"/>
                  <a:buNone/>
                </a:pPr>
                <a:r>
                  <a:rPr lang="en-US" sz="1200" b="1" dirty="0"/>
                  <a:t>Approximation</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r>
                      <a:rPr lang="en-US" sz="1200" b="0" i="1" dirty="0" smtClean="0">
                        <a:solidFill>
                          <a:schemeClr val="tx1"/>
                        </a:solidFill>
                        <a:latin typeface="Cambria Math" panose="02040503050406030204" pitchFamily="18" charset="0"/>
                      </a:rPr>
                      <m:t>𝜇</m:t>
                    </m:r>
                    <m:r>
                      <a:rPr lang="en-US" sz="1200" b="0" i="1" dirty="0" smtClean="0">
                        <a:solidFill>
                          <a:schemeClr val="tx1"/>
                        </a:solidFill>
                        <a:latin typeface="Cambria Math" panose="02040503050406030204" pitchFamily="18" charset="0"/>
                      </a:rPr>
                      <m:t>(</m:t>
                    </m:r>
                    <m:r>
                      <a:rPr lang="en-US" sz="1200" b="0" i="1" dirty="0" smtClean="0">
                        <a:solidFill>
                          <a:schemeClr val="tx1"/>
                        </a:solidFill>
                        <a:latin typeface="Cambria Math" panose="02040503050406030204" pitchFamily="18" charset="0"/>
                      </a:rPr>
                      <m:t>𝑠</m:t>
                    </m:r>
                    <m:r>
                      <a:rPr lang="en-US" sz="1200" b="0" i="1" dirty="0" smtClean="0">
                        <a:solidFill>
                          <a:schemeClr val="tx1"/>
                        </a:solidFill>
                        <a:latin typeface="Cambria Math" panose="02040503050406030204" pitchFamily="18" charset="0"/>
                      </a:rPr>
                      <m:t>)</m:t>
                    </m:r>
                  </m:oMath>
                </a14:m>
                <a:r>
                  <a:rPr lang="en-US" sz="1200" dirty="0">
                    <a:solidFill>
                      <a:schemeClr val="tx1"/>
                    </a:solidFill>
                  </a:rPr>
                  <a:t>	on policy distribution (fraction of time spent in state)</a:t>
                </a:r>
              </a:p>
              <a:p>
                <a:pPr marL="0" indent="0">
                  <a:lnSpc>
                    <a:spcPct val="100000"/>
                  </a:lnSpc>
                  <a:spcBef>
                    <a:spcPts val="0"/>
                  </a:spcBef>
                  <a:buNone/>
                </a:pPr>
                <a14:m>
                  <m:oMath xmlns:m="http://schemas.openxmlformats.org/officeDocument/2006/math">
                    <m:r>
                      <a:rPr lang="en-US" sz="1200" i="1" dirty="0" smtClean="0">
                        <a:solidFill>
                          <a:schemeClr val="tx1"/>
                        </a:solidFill>
                        <a:latin typeface="Cambria Math" panose="02040503050406030204" pitchFamily="18" charset="0"/>
                      </a:rPr>
                      <m:t>𝛼</m:t>
                    </m:r>
                  </m:oMath>
                </a14:m>
                <a:r>
                  <a:rPr lang="en-US" sz="1200" dirty="0">
                    <a:solidFill>
                      <a:schemeClr val="tx1"/>
                    </a:solidFill>
                  </a:rPr>
                  <a:t>	step size (gradient descent learning rate)</a:t>
                </a:r>
              </a:p>
              <a:p>
                <a:pPr marL="0" indent="0">
                  <a:lnSpc>
                    <a:spcPct val="100000"/>
                  </a:lnSpc>
                  <a:spcBef>
                    <a:spcPts val="0"/>
                  </a:spcBef>
                  <a:buNone/>
                </a:pPr>
                <a14:m>
                  <m:oMath xmlns:m="http://schemas.openxmlformats.org/officeDocument/2006/math">
                    <m:acc>
                      <m:accPr>
                        <m:chr m:val="̂"/>
                        <m:ctrlPr>
                          <a:rPr lang="en-US" sz="1200" b="0" i="1" dirty="0" smtClean="0">
                            <a:solidFill>
                              <a:schemeClr val="tx1"/>
                            </a:solidFill>
                            <a:latin typeface="Cambria Math" panose="02040503050406030204" pitchFamily="18" charset="0"/>
                          </a:rPr>
                        </m:ctrlPr>
                      </m:accPr>
                      <m:e>
                        <m:r>
                          <a:rPr lang="en-US" sz="1200" b="0" i="1" dirty="0" smtClean="0">
                            <a:solidFill>
                              <a:schemeClr val="tx1"/>
                            </a:solidFill>
                            <a:latin typeface="Cambria Math" panose="02040503050406030204" pitchFamily="18" charset="0"/>
                          </a:rPr>
                          <m:t>𝑣</m:t>
                        </m:r>
                      </m:e>
                    </m:acc>
                    <m:r>
                      <a:rPr lang="en-US" sz="1200" b="0" i="1" dirty="0" smtClean="0">
                        <a:latin typeface="Cambria Math" panose="02040503050406030204" pitchFamily="18" charset="0"/>
                      </a:rPr>
                      <m:t>(</m:t>
                    </m:r>
                    <m:r>
                      <a:rPr lang="en-US" sz="1200" b="0" i="1" dirty="0" smtClean="0">
                        <a:latin typeface="Cambria Math" panose="02040503050406030204" pitchFamily="18" charset="0"/>
                      </a:rPr>
                      <m:t>𝑠</m:t>
                    </m:r>
                    <m:r>
                      <a:rPr lang="en-US" sz="1200" b="0" i="1" dirty="0" smtClean="0">
                        <a:latin typeface="Cambria Math" panose="02040503050406030204" pitchFamily="18" charset="0"/>
                      </a:rPr>
                      <m:t>, </m:t>
                    </m:r>
                    <m:r>
                      <a:rPr lang="en-US" sz="1200" b="1" i="1" dirty="0" smtClean="0">
                        <a:solidFill>
                          <a:schemeClr val="tx1"/>
                        </a:solidFill>
                        <a:latin typeface="Cambria Math" panose="02040503050406030204" pitchFamily="18" charset="0"/>
                      </a:rPr>
                      <m:t>𝒘</m:t>
                    </m:r>
                    <m:r>
                      <a:rPr lang="en-US" sz="1200" b="0" i="1" dirty="0" smtClean="0">
                        <a:solidFill>
                          <a:schemeClr val="tx1"/>
                        </a:solidFill>
                        <a:latin typeface="Cambria Math" panose="02040503050406030204" pitchFamily="18" charset="0"/>
                      </a:rPr>
                      <m:t>)</m:t>
                    </m:r>
                  </m:oMath>
                </a14:m>
                <a:r>
                  <a:rPr lang="en-US" sz="1200" dirty="0">
                    <a:solidFill>
                      <a:schemeClr val="tx1"/>
                    </a:solidFill>
                  </a:rPr>
                  <a:t>	approximate value function</a:t>
                </a:r>
                <a:br>
                  <a:rPr lang="en-US" sz="1200" dirty="0">
                    <a:solidFill>
                      <a:schemeClr val="tx1"/>
                    </a:solidFill>
                  </a:rPr>
                </a:br>
                <a14:m>
                  <m:oMath xmlns:m="http://schemas.openxmlformats.org/officeDocument/2006/math">
                    <m:acc>
                      <m:accPr>
                        <m:chr m:val="̂"/>
                        <m:ctrlPr>
                          <a:rPr lang="en-US" sz="1200" b="0" i="1" dirty="0" smtClean="0">
                            <a:solidFill>
                              <a:schemeClr val="tx1"/>
                            </a:solidFill>
                            <a:latin typeface="Cambria Math" panose="02040503050406030204" pitchFamily="18" charset="0"/>
                          </a:rPr>
                        </m:ctrlPr>
                      </m:accPr>
                      <m:e>
                        <m:r>
                          <a:rPr lang="en-US" sz="1200" b="0" i="1" dirty="0" smtClean="0">
                            <a:solidFill>
                              <a:schemeClr val="tx1"/>
                            </a:solidFill>
                            <a:latin typeface="Cambria Math" panose="02040503050406030204" pitchFamily="18" charset="0"/>
                          </a:rPr>
                          <m:t>𝑞</m:t>
                        </m:r>
                      </m:e>
                    </m:acc>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b="0" i="1" dirty="0" smtClean="0">
                        <a:latin typeface="Cambria Math" panose="02040503050406030204" pitchFamily="18" charset="0"/>
                      </a:rPr>
                      <m:t>𝑎</m:t>
                    </m:r>
                    <m:r>
                      <a:rPr lang="en-US" sz="1200" b="0" i="1" dirty="0" smtClean="0">
                        <a:latin typeface="Cambria Math" panose="02040503050406030204" pitchFamily="18" charset="0"/>
                      </a:rPr>
                      <m:t>, </m:t>
                    </m:r>
                    <m:r>
                      <a:rPr lang="en-US" sz="1200" b="1" i="1" dirty="0">
                        <a:solidFill>
                          <a:schemeClr val="tx1"/>
                        </a:solidFill>
                        <a:latin typeface="Cambria Math" panose="02040503050406030204" pitchFamily="18" charset="0"/>
                      </a:rPr>
                      <m:t>𝒘</m:t>
                    </m:r>
                    <m:r>
                      <a:rPr lang="en-US" sz="1200" i="1" dirty="0">
                        <a:solidFill>
                          <a:schemeClr val="tx1"/>
                        </a:solidFill>
                        <a:latin typeface="Cambria Math" panose="02040503050406030204" pitchFamily="18" charset="0"/>
                      </a:rPr>
                      <m:t>)</m:t>
                    </m:r>
                  </m:oMath>
                </a14:m>
                <a:r>
                  <a:rPr lang="en-US" sz="1200" dirty="0">
                    <a:solidFill>
                      <a:schemeClr val="tx1"/>
                    </a:solidFill>
                  </a:rPr>
                  <a:t>	approximate action-value function</a:t>
                </a:r>
                <a:br>
                  <a:rPr lang="en-US" sz="1200" dirty="0">
                    <a:solidFill>
                      <a:schemeClr val="tx1"/>
                    </a:solidFill>
                  </a:rPr>
                </a:br>
                <a14:m>
                  <m:oMath xmlns:m="http://schemas.openxmlformats.org/officeDocument/2006/math">
                    <m:r>
                      <a:rPr lang="en-US" sz="1200" b="0" i="1" smtClean="0">
                        <a:solidFill>
                          <a:schemeClr val="tx1"/>
                        </a:solidFill>
                        <a:latin typeface="Cambria Math" panose="02040503050406030204" pitchFamily="18" charset="0"/>
                      </a:rPr>
                      <m:t>𝜋</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𝑎</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𝑠</m:t>
                    </m:r>
                    <m:r>
                      <a:rPr lang="en-US" sz="1200" b="0" i="1" smtClean="0">
                        <a:solidFill>
                          <a:schemeClr val="tx1"/>
                        </a:solidFill>
                        <a:latin typeface="Cambria Math" panose="02040503050406030204" pitchFamily="18" charset="0"/>
                      </a:rPr>
                      <m:t>,</m:t>
                    </m:r>
                    <m:r>
                      <a:rPr lang="en-US" sz="1200" b="1" i="1" smtClean="0">
                        <a:solidFill>
                          <a:schemeClr val="tx1"/>
                        </a:solidFill>
                        <a:latin typeface="Cambria Math" panose="02040503050406030204" pitchFamily="18" charset="0"/>
                      </a:rPr>
                      <m:t>𝜽</m:t>
                    </m:r>
                    <m:r>
                      <a:rPr lang="en-US" sz="1200" b="0" i="1" smtClean="0">
                        <a:solidFill>
                          <a:schemeClr val="tx1"/>
                        </a:solidFill>
                        <a:latin typeface="Cambria Math" panose="02040503050406030204" pitchFamily="18" charset="0"/>
                      </a:rPr>
                      <m:t>)</m:t>
                    </m:r>
                  </m:oMath>
                </a14:m>
                <a:r>
                  <a:rPr lang="en-US" sz="1200" dirty="0">
                    <a:solidFill>
                      <a:schemeClr val="tx1"/>
                    </a:solidFill>
                  </a:rPr>
                  <a:t>	approximate policy</a:t>
                </a:r>
              </a:p>
              <a:p>
                <a:pPr marL="0" indent="0">
                  <a:lnSpc>
                    <a:spcPct val="100000"/>
                  </a:lnSpc>
                  <a:spcBef>
                    <a:spcPts val="0"/>
                  </a:spcBef>
                  <a:buNone/>
                </a:pPr>
                <a14:m>
                  <m:oMath xmlns:m="http://schemas.openxmlformats.org/officeDocument/2006/math">
                    <m:acc>
                      <m:accPr>
                        <m:chr m:val="̂"/>
                        <m:ctrlPr>
                          <a:rPr lang="en-US" sz="1200" b="0" i="1" dirty="0" smtClean="0">
                            <a:solidFill>
                              <a:schemeClr val="tx1"/>
                            </a:solidFill>
                            <a:latin typeface="Cambria Math" panose="02040503050406030204" pitchFamily="18" charset="0"/>
                          </a:rPr>
                        </m:ctrlPr>
                      </m:accPr>
                      <m:e>
                        <m:r>
                          <a:rPr lang="en-US" sz="1200" b="0" i="1" dirty="0" smtClean="0">
                            <a:solidFill>
                              <a:schemeClr val="tx1"/>
                            </a:solidFill>
                            <a:latin typeface="Cambria Math" panose="02040503050406030204" pitchFamily="18" charset="0"/>
                          </a:rPr>
                          <m:t>𝑉𝐸</m:t>
                        </m:r>
                      </m:e>
                    </m:acc>
                  </m:oMath>
                </a14:m>
                <a:r>
                  <a:rPr lang="en-US" sz="1200" dirty="0">
                    <a:solidFill>
                      <a:schemeClr val="tx1"/>
                    </a:solidFill>
                  </a:rPr>
                  <a:t>	mean squared value error</a:t>
                </a:r>
              </a:p>
              <a:p>
                <a:pPr marL="0" indent="0">
                  <a:lnSpc>
                    <a:spcPct val="100000"/>
                  </a:lnSpc>
                  <a:spcBef>
                    <a:spcPts val="0"/>
                  </a:spcBef>
                  <a:buNone/>
                </a:pPr>
                <a14:m>
                  <m:oMath xmlns:m="http://schemas.openxmlformats.org/officeDocument/2006/math">
                    <m:r>
                      <m:rPr>
                        <m:sty m:val="p"/>
                      </m:rPr>
                      <a:rPr lang="en-US" sz="1200" i="1" dirty="0" smtClean="0">
                        <a:solidFill>
                          <a:schemeClr val="tx1"/>
                        </a:solidFill>
                        <a:latin typeface="Cambria Math" panose="02040503050406030204" pitchFamily="18" charset="0"/>
                        <a:ea typeface="Cambria Math" panose="02040503050406030204" pitchFamily="18" charset="0"/>
                      </a:rPr>
                      <m:t>∇</m:t>
                    </m:r>
                    <m:r>
                      <a:rPr lang="en-US" sz="1200" b="0" i="1" dirty="0" smtClean="0">
                        <a:solidFill>
                          <a:schemeClr val="tx1"/>
                        </a:solidFill>
                        <a:latin typeface="Cambria Math" panose="02040503050406030204" pitchFamily="18" charset="0"/>
                        <a:ea typeface="Cambria Math" panose="02040503050406030204" pitchFamily="18" charset="0"/>
                      </a:rPr>
                      <m:t>𝑓</m:t>
                    </m:r>
                    <m:r>
                      <a:rPr lang="en-US" sz="1200" b="0" i="1" dirty="0" smtClean="0">
                        <a:solidFill>
                          <a:schemeClr val="tx1"/>
                        </a:solidFill>
                        <a:latin typeface="Cambria Math" panose="02040503050406030204" pitchFamily="18" charset="0"/>
                        <a:ea typeface="Cambria Math" panose="02040503050406030204" pitchFamily="18" charset="0"/>
                      </a:rPr>
                      <m:t>(</m:t>
                    </m:r>
                    <m:r>
                      <a:rPr lang="en-US" sz="1200" b="0" i="1" dirty="0" smtClean="0">
                        <a:solidFill>
                          <a:schemeClr val="tx1"/>
                        </a:solidFill>
                        <a:latin typeface="Cambria Math" panose="02040503050406030204" pitchFamily="18" charset="0"/>
                        <a:ea typeface="Cambria Math" panose="02040503050406030204" pitchFamily="18" charset="0"/>
                      </a:rPr>
                      <m:t>𝑥</m:t>
                    </m:r>
                    <m:r>
                      <a:rPr lang="en-US" sz="1200" b="0" i="1" dirty="0" smtClean="0">
                        <a:solidFill>
                          <a:schemeClr val="tx1"/>
                        </a:solidFill>
                        <a:latin typeface="Cambria Math" panose="02040503050406030204" pitchFamily="18" charset="0"/>
                        <a:ea typeface="Cambria Math" panose="02040503050406030204" pitchFamily="18" charset="0"/>
                      </a:rPr>
                      <m:t>)</m:t>
                    </m:r>
                  </m:oMath>
                </a14:m>
                <a:r>
                  <a:rPr lang="en-US" sz="1200" dirty="0">
                    <a:solidFill>
                      <a:schemeClr val="tx1"/>
                    </a:solidFill>
                  </a:rPr>
                  <a:t>	gradient of function </a:t>
                </a:r>
                <a14:m>
                  <m:oMath xmlns:m="http://schemas.openxmlformats.org/officeDocument/2006/math">
                    <m:r>
                      <a:rPr lang="en-US" sz="1200" b="0" i="1" smtClean="0">
                        <a:solidFill>
                          <a:schemeClr val="tx1"/>
                        </a:solidFill>
                        <a:latin typeface="Cambria Math" panose="02040503050406030204" pitchFamily="18" charset="0"/>
                      </a:rPr>
                      <m:t>𝑓</m:t>
                    </m:r>
                  </m:oMath>
                </a14:m>
                <a:r>
                  <a:rPr lang="en-US" sz="1200" dirty="0">
                    <a:solidFill>
                      <a:schemeClr val="tx1"/>
                    </a:solidFill>
                  </a:rPr>
                  <a:t> evaluated at </a:t>
                </a:r>
                <a14:m>
                  <m:oMath xmlns:m="http://schemas.openxmlformats.org/officeDocument/2006/math">
                    <m:r>
                      <a:rPr lang="en-US" sz="1200" b="0" i="1" smtClean="0">
                        <a:solidFill>
                          <a:schemeClr val="tx1"/>
                        </a:solidFill>
                        <a:latin typeface="Cambria Math" panose="02040503050406030204" pitchFamily="18" charset="0"/>
                      </a:rPr>
                      <m:t>𝑥</m:t>
                    </m:r>
                  </m:oMath>
                </a14:m>
                <a:endParaRPr lang="en-US" sz="1200" dirty="0">
                  <a:solidFill>
                    <a:schemeClr val="tx1"/>
                  </a:solidFill>
                </a:endParaRPr>
              </a:p>
            </p:txBody>
          </p:sp>
        </mc:Choice>
        <mc:Fallback xmlns="">
          <p:sp>
            <p:nvSpPr>
              <p:cNvPr id="5" name="Content Placeholder 2" descr="Approximation. mu (s) on policy distribution (fraction of time spent in state). alpha step size (gradient descent learning rate). v hat (s, w) approximate value function q hat (s, a, w) approximate action-value function pi (a given s, theta) approximate policy. VE hat mean squared value error. gradient of f(x) gradient of function f evaluated at x">
                <a:extLst>
                  <a:ext uri="{FF2B5EF4-FFF2-40B4-BE49-F238E27FC236}">
                    <a16:creationId xmlns:a16="http://schemas.microsoft.com/office/drawing/2014/main" id="{9FA76CFB-B55E-EFC6-DA3D-BEB7A8763838}"/>
                  </a:ext>
                </a:extLst>
              </p:cNvPr>
              <p:cNvSpPr txBox="1">
                <a:spLocks noRot="1" noChangeAspect="1" noMove="1" noResize="1" noEditPoints="1" noAdjustHandles="1" noChangeArrowheads="1" noChangeShapeType="1" noTextEdit="1"/>
              </p:cNvSpPr>
              <p:nvPr/>
            </p:nvSpPr>
            <p:spPr>
              <a:xfrm>
                <a:off x="6267338" y="4942028"/>
                <a:ext cx="5273179" cy="159710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Content Placeholder 2">
                <a:extLst>
                  <a:ext uri="{FF2B5EF4-FFF2-40B4-BE49-F238E27FC236}">
                    <a16:creationId xmlns:a16="http://schemas.microsoft.com/office/drawing/2014/main" id="{6F45EA4F-65F9-5141-0B09-C395CF9CA7A0}"/>
                  </a:ext>
                  <a:ext uri="{C183D7F6-B498-43B3-948B-1728B52AA6E4}">
                    <adec:decorative xmlns:adec="http://schemas.microsoft.com/office/drawing/2017/decorative" val="1"/>
                  </a:ext>
                </a:extLst>
              </p:cNvPr>
              <p:cNvSpPr txBox="1">
                <a:spLocks/>
              </p:cNvSpPr>
              <p:nvPr/>
            </p:nvSpPr>
            <p:spPr>
              <a:xfrm>
                <a:off x="6267338" y="1124198"/>
                <a:ext cx="5273179" cy="3693383"/>
              </a:xfrm>
              <a:prstGeom prst="rect">
                <a:avLst/>
              </a:prstGeom>
            </p:spPr>
            <p:style>
              <a:lnRef idx="2">
                <a:schemeClr val="accent2"/>
              </a:lnRef>
              <a:fillRef idx="1">
                <a:schemeClr val="lt1"/>
              </a:fillRef>
              <a:effectRef idx="0">
                <a:schemeClr val="accent2"/>
              </a:effectRef>
              <a:fontRef idx="minor">
                <a:schemeClr val="dk1"/>
              </a:fontRef>
            </p:style>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t>MDP</a:t>
                </a:r>
              </a:p>
              <a:p>
                <a:pPr marL="0" indent="0">
                  <a:spcBef>
                    <a:spcPts val="0"/>
                  </a:spcBef>
                  <a:buNone/>
                </a:pPr>
                <a14:m>
                  <m:oMath xmlns:m="http://schemas.openxmlformats.org/officeDocument/2006/math">
                    <m:r>
                      <a:rPr lang="en-US" sz="1200" i="1" dirty="0" smtClean="0">
                        <a:latin typeface="Cambria Math" panose="02040503050406030204" pitchFamily="18" charset="0"/>
                      </a:rPr>
                      <m:t>𝑠</m:t>
                    </m:r>
                    <m:r>
                      <a:rPr lang="en-US" sz="1200" i="1" dirty="0" smtClean="0">
                        <a:latin typeface="Cambria Math" panose="02040503050406030204" pitchFamily="18" charset="0"/>
                      </a:rPr>
                      <m:t>, </m:t>
                    </m:r>
                    <m:r>
                      <a:rPr lang="en-US" sz="1200" i="1" dirty="0" smtClean="0">
                        <a:latin typeface="Cambria Math" panose="02040503050406030204" pitchFamily="18" charset="0"/>
                      </a:rPr>
                      <m:t>𝑠</m:t>
                    </m:r>
                    <m:r>
                      <a:rPr lang="en-US" sz="1200" b="0" i="1" dirty="0" smtClean="0">
                        <a:latin typeface="Cambria Math" panose="02040503050406030204" pitchFamily="18" charset="0"/>
                      </a:rPr>
                      <m:t>′</m:t>
                    </m:r>
                  </m:oMath>
                </a14:m>
                <a:r>
                  <a:rPr lang="en-US" sz="1200" dirty="0"/>
                  <a:t> 	states</a:t>
                </a:r>
              </a:p>
              <a:p>
                <a:pPr marL="0" indent="0">
                  <a:spcBef>
                    <a:spcPts val="0"/>
                  </a:spcBef>
                  <a:buNone/>
                </a:pPr>
                <a14:m>
                  <m:oMath xmlns:m="http://schemas.openxmlformats.org/officeDocument/2006/math">
                    <m:r>
                      <a:rPr lang="en-US" sz="1200" i="1" dirty="0" smtClean="0">
                        <a:latin typeface="Cambria Math" panose="02040503050406030204" pitchFamily="18" charset="0"/>
                      </a:rPr>
                      <m:t>𝑎</m:t>
                    </m:r>
                  </m:oMath>
                </a14:m>
                <a:r>
                  <a:rPr lang="en-US" sz="1200" dirty="0"/>
                  <a:t> 	an action</a:t>
                </a:r>
              </a:p>
              <a:p>
                <a:pPr marL="0" indent="0">
                  <a:spcBef>
                    <a:spcPts val="0"/>
                  </a:spcBef>
                  <a:buNone/>
                </a:pPr>
                <a14:m>
                  <m:oMath xmlns:m="http://schemas.openxmlformats.org/officeDocument/2006/math">
                    <m:r>
                      <a:rPr lang="en-US" sz="1200" i="1" dirty="0" smtClean="0">
                        <a:latin typeface="Cambria Math" panose="02040503050406030204" pitchFamily="18" charset="0"/>
                      </a:rPr>
                      <m:t>𝑟</m:t>
                    </m:r>
                  </m:oMath>
                </a14:m>
                <a:r>
                  <a:rPr lang="en-US" sz="1200" dirty="0"/>
                  <a:t> 	a reward</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𝒮</m:t>
                    </m:r>
                  </m:oMath>
                </a14:m>
                <a:r>
                  <a:rPr lang="en-US" sz="1200" dirty="0"/>
                  <a:t> 	set of all (nonterminal) states, </a:t>
                </a:r>
                <a14:m>
                  <m:oMath xmlns:m="http://schemas.openxmlformats.org/officeDocument/2006/math">
                    <m:sSup>
                      <m:sSupPr>
                        <m:ctrlPr>
                          <a:rPr lang="en-US" sz="1200" i="1" dirty="0">
                            <a:latin typeface="Cambria Math" panose="02040503050406030204" pitchFamily="18" charset="0"/>
                            <a:ea typeface="Cambria Math" panose="02040503050406030204" pitchFamily="18" charset="0"/>
                          </a:rPr>
                        </m:ctrlPr>
                      </m:sSupPr>
                      <m:e>
                        <m:r>
                          <a:rPr lang="en-US" sz="1200" i="1" dirty="0">
                            <a:latin typeface="Cambria Math" panose="02040503050406030204" pitchFamily="18" charset="0"/>
                            <a:ea typeface="Cambria Math" panose="02040503050406030204" pitchFamily="18" charset="0"/>
                          </a:rPr>
                          <m:t>𝒮</m:t>
                        </m:r>
                      </m:e>
                      <m:sup>
                        <m:r>
                          <a:rPr lang="en-US" sz="1200" b="0" i="1" dirty="0" smtClean="0">
                            <a:latin typeface="Cambria Math" panose="02040503050406030204" pitchFamily="18" charset="0"/>
                            <a:ea typeface="Cambria Math" panose="02040503050406030204" pitchFamily="18" charset="0"/>
                          </a:rPr>
                          <m:t>+</m:t>
                        </m:r>
                      </m:sup>
                    </m:sSup>
                  </m:oMath>
                </a14:m>
                <a:r>
                  <a:rPr lang="en-US" sz="1200" dirty="0"/>
                  <a:t> are all states </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𝒜</m:t>
                    </m:r>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set of all actions available in state </a:t>
                </a:r>
                <a14:m>
                  <m:oMath xmlns:m="http://schemas.openxmlformats.org/officeDocument/2006/math">
                    <m:r>
                      <a:rPr lang="en-US" sz="1200" i="1" dirty="0" smtClean="0">
                        <a:latin typeface="Cambria Math" panose="02040503050406030204" pitchFamily="18" charset="0"/>
                      </a:rPr>
                      <m:t>𝑠</m:t>
                    </m:r>
                  </m:oMath>
                </a14:m>
                <a:endParaRPr lang="en-US" sz="1200" dirty="0"/>
              </a:p>
              <a:p>
                <a:pPr marL="0" indent="0">
                  <a:spcBef>
                    <a:spcPts val="0"/>
                  </a:spcBef>
                  <a:buNone/>
                </a:pPr>
                <a14:m>
                  <m:oMath xmlns:m="http://schemas.openxmlformats.org/officeDocument/2006/math">
                    <m:r>
                      <a:rPr lang="en-US" sz="1200" i="1">
                        <a:latin typeface="Cambria Math" panose="02040503050406030204" pitchFamily="18" charset="0"/>
                      </a:rPr>
                      <m:t>𝛾</m:t>
                    </m:r>
                  </m:oMath>
                </a14:m>
                <a:r>
                  <a:rPr lang="en-US" sz="1200" dirty="0"/>
                  <a:t> 	discount-rate parameter</a:t>
                </a: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𝑡</m:t>
                    </m:r>
                  </m:oMath>
                </a14:m>
                <a:r>
                  <a:rPr lang="en-US" sz="1200" dirty="0"/>
                  <a:t> 	discrete time step</a:t>
                </a:r>
              </a:p>
              <a:p>
                <a:pPr marL="0" indent="0">
                  <a:spcBef>
                    <a:spcPts val="0"/>
                  </a:spcBef>
                  <a:buNone/>
                </a:pPr>
                <a14:m>
                  <m:oMath xmlns:m="http://schemas.openxmlformats.org/officeDocument/2006/math">
                    <m:r>
                      <a:rPr lang="en-US" sz="1200" i="1" dirty="0" smtClean="0">
                        <a:latin typeface="Cambria Math" panose="02040503050406030204" pitchFamily="18" charset="0"/>
                      </a:rPr>
                      <m:t>𝑇</m:t>
                    </m:r>
                  </m:oMath>
                </a14:m>
                <a:r>
                  <a:rPr lang="en-US" sz="1200" dirty="0"/>
                  <a:t> 	final time step of an episode (a.k.a. horizon)</a:t>
                </a:r>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𝐴</m:t>
                        </m:r>
                      </m:e>
                      <m:sub>
                        <m:r>
                          <a:rPr lang="en-US" sz="1200" b="0" i="1" dirty="0" smtClean="0">
                            <a:latin typeface="Cambria Math" panose="02040503050406030204" pitchFamily="18" charset="0"/>
                          </a:rPr>
                          <m:t>𝑡</m:t>
                        </m:r>
                      </m:sub>
                    </m:sSub>
                  </m:oMath>
                </a14:m>
                <a:r>
                  <a:rPr lang="en-US" sz="1200" dirty="0"/>
                  <a:t> 	random variable for the action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𝑆</m:t>
                        </m:r>
                      </m:e>
                      <m:sub>
                        <m:r>
                          <a:rPr lang="en-US" sz="1200" b="0" i="1" dirty="0" smtClean="0">
                            <a:latin typeface="Cambria Math" panose="02040503050406030204" pitchFamily="18" charset="0"/>
                          </a:rPr>
                          <m:t>𝑡</m:t>
                        </m:r>
                      </m:sub>
                    </m:sSub>
                  </m:oMath>
                </a14:m>
                <a:r>
                  <a:rPr lang="en-US" sz="1200" dirty="0"/>
                  <a:t>	random variable for the state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𝑅</m:t>
                        </m:r>
                      </m:e>
                      <m:sub>
                        <m:r>
                          <a:rPr lang="en-US" sz="1200" b="0" i="1" dirty="0" smtClean="0">
                            <a:latin typeface="Cambria Math" panose="02040503050406030204" pitchFamily="18" charset="0"/>
                          </a:rPr>
                          <m:t>𝑡</m:t>
                        </m:r>
                      </m:sub>
                    </m:sSub>
                  </m:oMath>
                </a14:m>
                <a:r>
                  <a:rPr lang="en-US" sz="1200" dirty="0"/>
                  <a:t> 	random variable for the reward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r>
                          <a:rPr lang="en-US" sz="1200" b="0" i="1" dirty="0" smtClean="0">
                            <a:latin typeface="Cambria Math" panose="02040503050406030204" pitchFamily="18" charset="0"/>
                          </a:rPr>
                          <m:t>,</m:t>
                        </m:r>
                        <m:r>
                          <a:rPr lang="en-US" sz="1200" b="0" i="1" dirty="0" smtClean="0">
                            <a:latin typeface="Cambria Math" panose="02040503050406030204" pitchFamily="18" charset="0"/>
                          </a:rPr>
                          <m:t>𝑟</m:t>
                        </m:r>
                        <m:r>
                          <a:rPr lang="en-US" sz="1200" i="1" dirty="0">
                            <a:latin typeface="Cambria Math" panose="02040503050406030204" pitchFamily="18" charset="0"/>
                          </a:rPr>
                          <m:t> </m:t>
                        </m:r>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and receiving reward </a:t>
                </a:r>
                <a14:m>
                  <m:oMath xmlns:m="http://schemas.openxmlformats.org/officeDocument/2006/math">
                    <m:r>
                      <a:rPr lang="en-US" sz="1200" b="0" i="1" smtClean="0">
                        <a:latin typeface="Cambria Math" panose="02040503050406030204" pitchFamily="18" charset="0"/>
                      </a:rPr>
                      <m:t>𝑟</m:t>
                    </m:r>
                  </m:oMath>
                </a14:m>
                <a:r>
                  <a:rPr lang="en-US" sz="1200" dirty="0"/>
                  <a:t>, </a:t>
                </a:r>
                <a:br>
                  <a:rPr lang="en-US" sz="1200" dirty="0"/>
                </a:br>
                <a:r>
                  <a:rPr lang="en-US" sz="1200" dirty="0"/>
                  <a:t>	from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fom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b="0" i="1" smtClean="0">
                        <a:latin typeface="Cambria Math" panose="02040503050406030204" pitchFamily="18" charset="0"/>
                      </a:rPr>
                      <m:t>𝑟</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r>
                      <a:rPr lang="en-US" sz="1200" b="0" i="1" smtClean="0">
                        <a:latin typeface="Cambria Math" panose="02040503050406030204" pitchFamily="18" charset="0"/>
                      </a:rPr>
                      <m:t>𝑎</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after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b="0" dirty="0"/>
              </a:p>
              <a:p>
                <a:pPr marL="0" indent="0">
                  <a:lnSpc>
                    <a:spcPct val="100000"/>
                  </a:lnSpc>
                  <a:spcBef>
                    <a:spcPts val="0"/>
                  </a:spcBef>
                  <a:buNone/>
                </a:pPr>
                <a14:m>
                  <m:oMath xmlns:m="http://schemas.openxmlformats.org/officeDocument/2006/math">
                    <m:r>
                      <a:rPr lang="en-US" sz="1200" i="1">
                        <a:latin typeface="Cambria Math" panose="02040503050406030204" pitchFamily="18" charset="0"/>
                      </a:rPr>
                      <m:t>𝑟</m:t>
                    </m:r>
                    <m:r>
                      <a:rPr lang="en-US" sz="1200" i="1">
                        <a:latin typeface="Cambria Math" panose="02040503050406030204" pitchFamily="18" charset="0"/>
                      </a:rPr>
                      <m:t>(</m:t>
                    </m:r>
                    <m:r>
                      <a:rPr lang="en-US" sz="1200" i="1">
                        <a:latin typeface="Cambria Math" panose="02040503050406030204" pitchFamily="18" charset="0"/>
                      </a:rPr>
                      <m:t>𝑠</m:t>
                    </m:r>
                    <m:r>
                      <a:rPr lang="en-US" sz="1200" i="1">
                        <a:latin typeface="Cambria Math" panose="02040503050406030204" pitchFamily="18" charset="0"/>
                      </a:rPr>
                      <m:t>,</m:t>
                    </m:r>
                    <m:r>
                      <a:rPr lang="en-US" sz="1200" i="1">
                        <a:latin typeface="Cambria Math" panose="02040503050406030204" pitchFamily="18" charset="0"/>
                      </a:rPr>
                      <m:t>𝑎</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to </a:t>
                </a: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𝑠</m:t>
                        </m:r>
                      </m:e>
                      <m:sup>
                        <m:r>
                          <a:rPr lang="en-US" sz="1200" b="0" i="1" smtClean="0">
                            <a:latin typeface="Cambria Math" panose="02040503050406030204" pitchFamily="18" charset="0"/>
                          </a:rPr>
                          <m:t>′</m:t>
                        </m:r>
                      </m:sup>
                    </m:sSup>
                  </m:oMath>
                </a14:m>
                <a:r>
                  <a:rPr lang="en-US" sz="1200" dirty="0"/>
                  <a:t> with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i="1" dirty="0">
                  <a:latin typeface="Cambria Math" panose="02040503050406030204" pitchFamily="18" charset="0"/>
                </a:endParaRPr>
              </a:p>
              <a:p>
                <a:pPr marL="0" indent="0">
                  <a:spcBef>
                    <a:spcPts val="0"/>
                  </a:spcBef>
                  <a:buNone/>
                </a:pP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a:latin typeface="Cambria Math" panose="02040503050406030204" pitchFamily="18" charset="0"/>
                      </a:rPr>
                      <m:t>𝜋</m:t>
                    </m:r>
                    <m:r>
                      <a:rPr lang="en-US" sz="1200" i="1" dirty="0">
                        <a:latin typeface="Cambria Math" panose="02040503050406030204" pitchFamily="18" charset="0"/>
                      </a:rPr>
                      <m:t>(</m:t>
                    </m:r>
                    <m:r>
                      <a:rPr lang="en-US" sz="1200" i="1" dirty="0" err="1">
                        <a:latin typeface="Cambria Math" panose="02040503050406030204" pitchFamily="18" charset="0"/>
                      </a:rPr>
                      <m:t>𝑎</m:t>
                    </m:r>
                    <m:r>
                      <a:rPr lang="en-US" sz="1200" i="1" dirty="0" err="1">
                        <a:latin typeface="Cambria Math" panose="02040503050406030204" pitchFamily="18" charset="0"/>
                      </a:rPr>
                      <m:t>|</m:t>
                    </m:r>
                    <m:r>
                      <a:rPr lang="en-US" sz="1200" i="1" dirty="0" err="1">
                        <a:latin typeface="Cambria Math" panose="02040503050406030204" pitchFamily="18" charset="0"/>
                      </a:rPr>
                      <m:t>𝑠</m:t>
                    </m:r>
                    <m:r>
                      <a:rPr lang="en-US" sz="1200" i="1" dirty="0">
                        <a:latin typeface="Cambria Math" panose="02040503050406030204" pitchFamily="18" charset="0"/>
                      </a:rPr>
                      <m:t>)</m:t>
                    </m:r>
                  </m:oMath>
                </a14:m>
                <a:r>
                  <a:rPr lang="en-US" sz="1200" dirty="0"/>
                  <a:t>	probability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a:latin typeface="Cambria Math" panose="02040503050406030204" pitchFamily="18" charset="0"/>
                      </a:rPr>
                      <m:t>𝑠</m:t>
                    </m:r>
                  </m:oMath>
                </a14:m>
                <a:r>
                  <a:rPr lang="en-US" sz="1200" dirty="0"/>
                  <a:t> under stochastic policy </a:t>
                </a:r>
                <a14:m>
                  <m:oMath xmlns:m="http://schemas.openxmlformats.org/officeDocument/2006/math">
                    <m:r>
                      <a:rPr lang="en-US" sz="1200" i="1" dirty="0">
                        <a:latin typeface="Cambria Math" panose="02040503050406030204" pitchFamily="18" charset="0"/>
                      </a:rPr>
                      <m:t>𝜋</m:t>
                    </m:r>
                  </m:oMath>
                </a14:m>
                <a:endParaRPr lang="en-US" sz="1200" dirty="0">
                  <a:ea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𝜋</m:t>
                    </m:r>
                    <m:r>
                      <a:rPr lang="en-US" sz="1200" i="1" dirty="0" smtClean="0">
                        <a:latin typeface="Cambria Math" panose="02040503050406030204" pitchFamily="18" charset="0"/>
                      </a:rPr>
                      <m:t>(</m:t>
                    </m:r>
                    <m:r>
                      <a:rPr lang="en-US" sz="1200" i="1" dirty="0" smtClean="0">
                        <a:latin typeface="Cambria Math" panose="02040503050406030204" pitchFamily="18" charset="0"/>
                      </a:rPr>
                      <m:t>𝑠</m:t>
                    </m:r>
                    <m:r>
                      <a:rPr lang="en-US" sz="1200" i="1" dirty="0" smtClean="0">
                        <a:latin typeface="Cambria Math" panose="02040503050406030204" pitchFamily="18" charset="0"/>
                      </a:rPr>
                      <m:t>)</m:t>
                    </m:r>
                  </m:oMath>
                </a14:m>
                <a:r>
                  <a:rPr lang="en-US" sz="1200" dirty="0"/>
                  <a:t>	action taken in state </a:t>
                </a:r>
                <a14:m>
                  <m:oMath xmlns:m="http://schemas.openxmlformats.org/officeDocument/2006/math">
                    <m:r>
                      <a:rPr lang="en-US" sz="1200" i="1" dirty="0" smtClean="0">
                        <a:latin typeface="Cambria Math" panose="02040503050406030204" pitchFamily="18" charset="0"/>
                      </a:rPr>
                      <m:t>𝑠</m:t>
                    </m:r>
                  </m:oMath>
                </a14:m>
                <a:r>
                  <a:rPr lang="en-US" sz="1200" dirty="0"/>
                  <a:t> under deterministic policy </a:t>
                </a:r>
                <a14:m>
                  <m:oMath xmlns:m="http://schemas.openxmlformats.org/officeDocument/2006/math">
                    <m:r>
                      <a:rPr lang="en-US" sz="1200" b="0" i="1" dirty="0" smtClean="0">
                        <a:latin typeface="Cambria Math" panose="02040503050406030204" pitchFamily="18" charset="0"/>
                      </a:rPr>
                      <m:t>𝜋</m:t>
                    </m:r>
                  </m:oMath>
                </a14:m>
                <a:endParaRPr lang="en-US" sz="1200" dirty="0"/>
              </a:p>
            </p:txBody>
          </p:sp>
        </mc:Choice>
        <mc:Fallback>
          <p:sp>
            <p:nvSpPr>
              <p:cNvPr id="11" name="Content Placeholder 2">
                <a:extLst>
                  <a:ext uri="{FF2B5EF4-FFF2-40B4-BE49-F238E27FC236}">
                    <a16:creationId xmlns:a16="http://schemas.microsoft.com/office/drawing/2014/main" id="{6F45EA4F-65F9-5141-0B09-C395CF9CA7A0}"/>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267338" y="1124198"/>
                <a:ext cx="5273179" cy="3693383"/>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20694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393A2-3A52-0628-2793-673C8A990CFF}"/>
              </a:ext>
            </a:extLst>
          </p:cNvPr>
          <p:cNvSpPr>
            <a:spLocks noGrp="1"/>
          </p:cNvSpPr>
          <p:nvPr>
            <p:ph type="title"/>
          </p:nvPr>
        </p:nvSpPr>
        <p:spPr/>
        <p:txBody>
          <a:bodyPr/>
          <a:lstStyle/>
          <a:p>
            <a:r>
              <a:rPr lang="en-US" dirty="0"/>
              <a:t>From Tabular RL to Deep RL</a:t>
            </a:r>
          </a:p>
        </p:txBody>
      </p:sp>
      <p:sp>
        <p:nvSpPr>
          <p:cNvPr id="3" name="Content Placeholder 2">
            <a:extLst>
              <a:ext uri="{FF2B5EF4-FFF2-40B4-BE49-F238E27FC236}">
                <a16:creationId xmlns:a16="http://schemas.microsoft.com/office/drawing/2014/main" id="{5AC6B133-F6A6-FC0E-B898-C9D545BBB25D}"/>
              </a:ext>
            </a:extLst>
          </p:cNvPr>
          <p:cNvSpPr>
            <a:spLocks noGrp="1"/>
          </p:cNvSpPr>
          <p:nvPr>
            <p:ph idx="1"/>
          </p:nvPr>
        </p:nvSpPr>
        <p:spPr>
          <a:xfrm>
            <a:off x="1344389" y="1346215"/>
            <a:ext cx="2033424" cy="4429605"/>
          </a:xfrm>
        </p:spPr>
        <p:style>
          <a:lnRef idx="2">
            <a:schemeClr val="accent3">
              <a:shade val="15000"/>
            </a:schemeClr>
          </a:lnRef>
          <a:fillRef idx="1">
            <a:schemeClr val="accent3"/>
          </a:fillRef>
          <a:effectRef idx="0">
            <a:schemeClr val="accent3"/>
          </a:effectRef>
          <a:fontRef idx="minor">
            <a:schemeClr val="lt1"/>
          </a:fontRef>
        </p:style>
        <p:txBody>
          <a:bodyPr>
            <a:normAutofit fontScale="92500" lnSpcReduction="10000"/>
          </a:bodyPr>
          <a:lstStyle/>
          <a:p>
            <a:pPr marL="0" indent="0" algn="ctr">
              <a:buNone/>
            </a:pPr>
            <a:endParaRPr lang="en-US" sz="2000" b="1" dirty="0"/>
          </a:p>
          <a:p>
            <a:pPr marL="0" indent="0" algn="ctr">
              <a:buNone/>
            </a:pPr>
            <a:r>
              <a:rPr lang="en-US" sz="2000" b="1" dirty="0"/>
              <a:t>Tabular Methods </a:t>
            </a:r>
          </a:p>
          <a:p>
            <a:pPr marL="0" indent="0">
              <a:buNone/>
            </a:pPr>
            <a:endParaRPr lang="en-US" sz="2000" dirty="0"/>
          </a:p>
          <a:p>
            <a:pPr marL="0" indent="0">
              <a:buNone/>
            </a:pPr>
            <a:r>
              <a:rPr lang="en-US" sz="1800" dirty="0"/>
              <a:t>Table</a:t>
            </a:r>
          </a:p>
          <a:p>
            <a:pPr marL="0" indent="0">
              <a:buNone/>
            </a:pPr>
            <a:endParaRPr lang="en-US" sz="1800" dirty="0"/>
          </a:p>
          <a:p>
            <a:pPr marL="0" indent="0">
              <a:buNone/>
            </a:pPr>
            <a:r>
              <a:rPr lang="en-US" sz="1800" dirty="0"/>
              <a:t>Q-learning, Sarsa</a:t>
            </a:r>
          </a:p>
          <a:p>
            <a:pPr marL="0" indent="0">
              <a:buNone/>
            </a:pPr>
            <a:endParaRPr lang="en-US" sz="1800" dirty="0"/>
          </a:p>
          <a:p>
            <a:pPr marL="0" indent="0">
              <a:buNone/>
            </a:pPr>
            <a:r>
              <a:rPr lang="en-US" sz="1800" dirty="0"/>
              <a:t>With sufficient exploration, appropriate learning rates.</a:t>
            </a:r>
          </a:p>
          <a:p>
            <a:pPr marL="0" indent="0">
              <a:buNone/>
            </a:pPr>
            <a:endParaRPr lang="en-US" sz="1800" dirty="0"/>
          </a:p>
          <a:p>
            <a:pPr marL="0" indent="0">
              <a:buNone/>
            </a:pPr>
            <a:r>
              <a:rPr lang="en-US" sz="1800" dirty="0"/>
              <a:t>Table size for big state/action spaces.</a:t>
            </a:r>
          </a:p>
        </p:txBody>
      </p:sp>
      <p:sp>
        <p:nvSpPr>
          <p:cNvPr id="4" name="Content Placeholder 2">
            <a:extLst>
              <a:ext uri="{FF2B5EF4-FFF2-40B4-BE49-F238E27FC236}">
                <a16:creationId xmlns:a16="http://schemas.microsoft.com/office/drawing/2014/main" id="{652B1493-3CCF-6E7A-4B28-EB76CD56B373}"/>
              </a:ext>
            </a:extLst>
          </p:cNvPr>
          <p:cNvSpPr txBox="1">
            <a:spLocks/>
          </p:cNvSpPr>
          <p:nvPr/>
        </p:nvSpPr>
        <p:spPr>
          <a:xfrm>
            <a:off x="4850550" y="1346215"/>
            <a:ext cx="1990672" cy="446316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endParaRPr lang="en-US" sz="1900" b="1" dirty="0">
              <a:solidFill>
                <a:schemeClr val="lt1"/>
              </a:solidFill>
            </a:endParaRPr>
          </a:p>
          <a:p>
            <a:pPr marL="0" indent="0" algn="ctr">
              <a:buFont typeface="Arial" panose="020B0604020202020204" pitchFamily="34" charset="0"/>
              <a:buNone/>
            </a:pPr>
            <a:r>
              <a:rPr lang="en-US" sz="2300" b="1" dirty="0">
                <a:solidFill>
                  <a:schemeClr val="lt1"/>
                </a:solidFill>
              </a:rPr>
              <a:t>Linear Functions Approximation</a:t>
            </a:r>
          </a:p>
          <a:p>
            <a:endParaRPr lang="en-US" sz="1900" b="1" dirty="0">
              <a:solidFill>
                <a:schemeClr val="lt1"/>
              </a:solidFill>
            </a:endParaRPr>
          </a:p>
          <a:p>
            <a:pPr marL="0" indent="0">
              <a:buNone/>
            </a:pPr>
            <a:r>
              <a:rPr lang="en-US" sz="1900" dirty="0">
                <a:solidFill>
                  <a:schemeClr val="lt1"/>
                </a:solidFill>
              </a:rPr>
              <a:t>Linear combination of basis functions</a:t>
            </a:r>
          </a:p>
          <a:p>
            <a:pPr marL="0" indent="0">
              <a:buNone/>
            </a:pPr>
            <a:endParaRPr lang="en-US" sz="1900" dirty="0">
              <a:solidFill>
                <a:schemeClr val="lt1"/>
              </a:solidFill>
            </a:endParaRPr>
          </a:p>
          <a:p>
            <a:pPr marL="0" indent="0">
              <a:buNone/>
            </a:pPr>
            <a:r>
              <a:rPr lang="en-US" sz="1900" dirty="0">
                <a:solidFill>
                  <a:schemeClr val="lt1"/>
                </a:solidFill>
              </a:rPr>
              <a:t>Stochastic Gradient Descent (SGD) used in Sarsa</a:t>
            </a:r>
          </a:p>
          <a:p>
            <a:pPr marL="0" indent="0">
              <a:buNone/>
            </a:pPr>
            <a:endParaRPr lang="en-US" sz="1900" dirty="0">
              <a:solidFill>
                <a:schemeClr val="lt1"/>
              </a:solidFill>
            </a:endParaRPr>
          </a:p>
          <a:p>
            <a:pPr marL="0" indent="0">
              <a:buNone/>
            </a:pPr>
            <a:r>
              <a:rPr lang="en-US" sz="1900" dirty="0">
                <a:solidFill>
                  <a:schemeClr val="lt1"/>
                </a:solidFill>
              </a:rPr>
              <a:t>Can converge to a good approximation of the optimal value function or policy. </a:t>
            </a:r>
          </a:p>
          <a:p>
            <a:pPr marL="0" indent="0">
              <a:buNone/>
            </a:pPr>
            <a:endParaRPr lang="en-US" sz="1900" dirty="0">
              <a:solidFill>
                <a:schemeClr val="lt1"/>
              </a:solidFill>
            </a:endParaRPr>
          </a:p>
          <a:p>
            <a:pPr marL="0" indent="0">
              <a:buNone/>
            </a:pPr>
            <a:r>
              <a:rPr lang="en-US" sz="1900" dirty="0">
                <a:solidFill>
                  <a:schemeClr val="lt1"/>
                </a:solidFill>
              </a:rPr>
              <a:t>Performance depends on choice of basis functions.</a:t>
            </a:r>
          </a:p>
        </p:txBody>
      </p:sp>
      <p:sp>
        <p:nvSpPr>
          <p:cNvPr id="5" name="Content Placeholder 2">
            <a:extLst>
              <a:ext uri="{FF2B5EF4-FFF2-40B4-BE49-F238E27FC236}">
                <a16:creationId xmlns:a16="http://schemas.microsoft.com/office/drawing/2014/main" id="{4F618EC6-B70F-B1AA-A8ED-0BA8DD4642F8}"/>
              </a:ext>
            </a:extLst>
          </p:cNvPr>
          <p:cNvSpPr txBox="1">
            <a:spLocks/>
          </p:cNvSpPr>
          <p:nvPr/>
        </p:nvSpPr>
        <p:spPr>
          <a:xfrm>
            <a:off x="8563485" y="1368113"/>
            <a:ext cx="2073756" cy="444126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endParaRPr lang="en-US" sz="1800" b="1" dirty="0">
              <a:solidFill>
                <a:schemeClr val="lt1"/>
              </a:solidFill>
            </a:endParaRPr>
          </a:p>
          <a:p>
            <a:pPr marL="0" indent="0" algn="ctr">
              <a:buFont typeface="Arial" panose="020B0604020202020204" pitchFamily="34" charset="0"/>
              <a:buNone/>
            </a:pPr>
            <a:r>
              <a:rPr lang="en-US" sz="2600" b="1" dirty="0">
                <a:solidFill>
                  <a:schemeClr val="lt1"/>
                </a:solidFill>
              </a:rPr>
              <a:t>Deep RL (DRL)</a:t>
            </a:r>
          </a:p>
          <a:p>
            <a:endParaRPr lang="en-US" sz="1800" b="1" dirty="0">
              <a:solidFill>
                <a:schemeClr val="lt1"/>
              </a:solidFill>
            </a:endParaRPr>
          </a:p>
          <a:p>
            <a:pPr marL="0" indent="0">
              <a:buNone/>
            </a:pPr>
            <a:endParaRPr lang="en-US" sz="1800" dirty="0">
              <a:solidFill>
                <a:schemeClr val="lt1"/>
              </a:solidFill>
            </a:endParaRPr>
          </a:p>
          <a:p>
            <a:pPr marL="0" indent="0">
              <a:buNone/>
            </a:pPr>
            <a:r>
              <a:rPr lang="en-US" sz="1800" dirty="0">
                <a:solidFill>
                  <a:schemeClr val="lt1"/>
                </a:solidFill>
              </a:rPr>
              <a:t>Deep ANN </a:t>
            </a:r>
          </a:p>
          <a:p>
            <a:pPr marL="0" indent="0">
              <a:buNone/>
            </a:pPr>
            <a:endParaRPr lang="en-US" sz="1800" dirty="0">
              <a:solidFill>
                <a:schemeClr val="lt1"/>
              </a:solidFill>
            </a:endParaRPr>
          </a:p>
          <a:p>
            <a:pPr marL="0" indent="0">
              <a:buNone/>
            </a:pPr>
            <a:r>
              <a:rPr lang="en-US" sz="1800" dirty="0">
                <a:solidFill>
                  <a:schemeClr val="lt1"/>
                </a:solidFill>
              </a:rPr>
              <a:t>Stochastic Gradient Descent (SGD) used </a:t>
            </a:r>
            <a:r>
              <a:rPr lang="en-US" sz="1800">
                <a:solidFill>
                  <a:schemeClr val="lt1"/>
                </a:solidFill>
              </a:rPr>
              <a:t>in DQN </a:t>
            </a:r>
            <a:r>
              <a:rPr lang="en-US" sz="1800" dirty="0">
                <a:solidFill>
                  <a:schemeClr val="lt1"/>
                </a:solidFill>
              </a:rPr>
              <a:t>and Actor-Critic methods.</a:t>
            </a:r>
          </a:p>
          <a:p>
            <a:pPr marL="0" indent="0">
              <a:buNone/>
            </a:pPr>
            <a:endParaRPr lang="en-US" sz="1800" dirty="0">
              <a:solidFill>
                <a:schemeClr val="lt1"/>
              </a:solidFill>
            </a:endParaRPr>
          </a:p>
          <a:p>
            <a:pPr marL="0" indent="0">
              <a:buNone/>
            </a:pPr>
            <a:r>
              <a:rPr lang="en-US" sz="1800" dirty="0">
                <a:solidFill>
                  <a:schemeClr val="lt1"/>
                </a:solidFill>
              </a:rPr>
              <a:t>Non-linearity makes convergence challenging.</a:t>
            </a:r>
          </a:p>
          <a:p>
            <a:pPr marL="0" indent="0">
              <a:buNone/>
            </a:pPr>
            <a:endParaRPr lang="en-US" sz="1800" dirty="0">
              <a:solidFill>
                <a:schemeClr val="lt1"/>
              </a:solidFill>
            </a:endParaRPr>
          </a:p>
          <a:p>
            <a:pPr marL="0" indent="0">
              <a:buNone/>
            </a:pPr>
            <a:endParaRPr lang="en-US" sz="1800" dirty="0">
              <a:solidFill>
                <a:schemeClr val="lt1"/>
              </a:solidFill>
            </a:endParaRPr>
          </a:p>
          <a:p>
            <a:r>
              <a:rPr lang="en-US" sz="1400" dirty="0">
                <a:solidFill>
                  <a:schemeClr val="lt1"/>
                </a:solidFill>
              </a:rPr>
              <a:t>Converges to local optima</a:t>
            </a:r>
          </a:p>
          <a:p>
            <a:r>
              <a:rPr lang="en-US" sz="1400" dirty="0">
                <a:solidFill>
                  <a:schemeClr val="lt1"/>
                </a:solidFill>
              </a:rPr>
              <a:t>Instability</a:t>
            </a:r>
          </a:p>
          <a:p>
            <a:r>
              <a:rPr lang="en-US" sz="1400" dirty="0">
                <a:solidFill>
                  <a:schemeClr val="lt1"/>
                </a:solidFill>
              </a:rPr>
              <a:t>Hyperparameter sensitivity</a:t>
            </a:r>
          </a:p>
        </p:txBody>
      </p:sp>
      <p:sp>
        <p:nvSpPr>
          <p:cNvPr id="16" name="TextBox 15">
            <a:extLst>
              <a:ext uri="{FF2B5EF4-FFF2-40B4-BE49-F238E27FC236}">
                <a16:creationId xmlns:a16="http://schemas.microsoft.com/office/drawing/2014/main" id="{B34C628F-7D62-30F3-707E-27B50DB7CA6E}"/>
              </a:ext>
              <a:ext uri="{C183D7F6-B498-43B3-948B-1728B52AA6E4}">
                <adec:decorative xmlns:adec="http://schemas.microsoft.com/office/drawing/2017/decorative" val="1"/>
              </a:ext>
            </a:extLst>
          </p:cNvPr>
          <p:cNvSpPr txBox="1"/>
          <p:nvPr/>
        </p:nvSpPr>
        <p:spPr>
          <a:xfrm>
            <a:off x="76174" y="2206410"/>
            <a:ext cx="1238122" cy="646331"/>
          </a:xfrm>
          <a:prstGeom prst="rect">
            <a:avLst/>
          </a:prstGeom>
          <a:noFill/>
        </p:spPr>
        <p:txBody>
          <a:bodyPr wrap="square">
            <a:spAutoFit/>
          </a:bodyPr>
          <a:lstStyle/>
          <a:p>
            <a:pPr algn="ctr"/>
            <a:r>
              <a:rPr lang="en-US" sz="1200" dirty="0"/>
              <a:t>Representation</a:t>
            </a:r>
            <a:br>
              <a:rPr lang="en-US" sz="1200" dirty="0"/>
            </a:br>
            <a:r>
              <a:rPr lang="en-US" sz="1200" dirty="0"/>
              <a:t>(value function or policy)</a:t>
            </a:r>
          </a:p>
        </p:txBody>
      </p:sp>
      <p:cxnSp>
        <p:nvCxnSpPr>
          <p:cNvPr id="18" name="Straight Connector 17">
            <a:extLst>
              <a:ext uri="{FF2B5EF4-FFF2-40B4-BE49-F238E27FC236}">
                <a16:creationId xmlns:a16="http://schemas.microsoft.com/office/drawing/2014/main" id="{97D2E8DE-4746-FA54-6856-94C588AF19D4}"/>
              </a:ext>
              <a:ext uri="{C183D7F6-B498-43B3-948B-1728B52AA6E4}">
                <adec:decorative xmlns:adec="http://schemas.microsoft.com/office/drawing/2017/decorative" val="1"/>
              </a:ext>
            </a:extLst>
          </p:cNvPr>
          <p:cNvCxnSpPr/>
          <p:nvPr/>
        </p:nvCxnSpPr>
        <p:spPr>
          <a:xfrm>
            <a:off x="236799" y="2901486"/>
            <a:ext cx="11344203"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9D09500E-A0E9-0BBD-A2AC-129CC4B6188A}"/>
              </a:ext>
              <a:ext uri="{C183D7F6-B498-43B3-948B-1728B52AA6E4}">
                <adec:decorative xmlns:adec="http://schemas.microsoft.com/office/drawing/2017/decorative" val="1"/>
              </a:ext>
            </a:extLst>
          </p:cNvPr>
          <p:cNvSpPr txBox="1"/>
          <p:nvPr/>
        </p:nvSpPr>
        <p:spPr>
          <a:xfrm>
            <a:off x="319747" y="3186890"/>
            <a:ext cx="916718" cy="276999"/>
          </a:xfrm>
          <a:prstGeom prst="rect">
            <a:avLst/>
          </a:prstGeom>
          <a:noFill/>
        </p:spPr>
        <p:txBody>
          <a:bodyPr wrap="square">
            <a:spAutoFit/>
          </a:bodyPr>
          <a:lstStyle/>
          <a:p>
            <a:r>
              <a:rPr lang="en-US" sz="1200" dirty="0"/>
              <a:t>Methods</a:t>
            </a:r>
          </a:p>
        </p:txBody>
      </p:sp>
      <p:cxnSp>
        <p:nvCxnSpPr>
          <p:cNvPr id="19" name="Straight Connector 18">
            <a:extLst>
              <a:ext uri="{FF2B5EF4-FFF2-40B4-BE49-F238E27FC236}">
                <a16:creationId xmlns:a16="http://schemas.microsoft.com/office/drawing/2014/main" id="{76D89225-F495-82BE-4BF2-F3C0D79D9BC8}"/>
              </a:ext>
              <a:ext uri="{C183D7F6-B498-43B3-948B-1728B52AA6E4}">
                <adec:decorative xmlns:adec="http://schemas.microsoft.com/office/drawing/2017/decorative" val="1"/>
              </a:ext>
            </a:extLst>
          </p:cNvPr>
          <p:cNvCxnSpPr/>
          <p:nvPr/>
        </p:nvCxnSpPr>
        <p:spPr>
          <a:xfrm>
            <a:off x="236799" y="3691446"/>
            <a:ext cx="11344203"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Arrow: Right 5">
            <a:extLst>
              <a:ext uri="{FF2B5EF4-FFF2-40B4-BE49-F238E27FC236}">
                <a16:creationId xmlns:a16="http://schemas.microsoft.com/office/drawing/2014/main" id="{A4CE0E24-0C93-0473-04A2-7C91D905000E}"/>
              </a:ext>
              <a:ext uri="{C183D7F6-B498-43B3-948B-1728B52AA6E4}">
                <adec:decorative xmlns:adec="http://schemas.microsoft.com/office/drawing/2017/decorative" val="1"/>
              </a:ext>
            </a:extLst>
          </p:cNvPr>
          <p:cNvSpPr/>
          <p:nvPr/>
        </p:nvSpPr>
        <p:spPr>
          <a:xfrm>
            <a:off x="3703914" y="3325389"/>
            <a:ext cx="907420" cy="7590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0EFDC2A2-A59D-E4D4-D196-48A815D37A2C}"/>
              </a:ext>
              <a:ext uri="{C183D7F6-B498-43B3-948B-1728B52AA6E4}">
                <adec:decorative xmlns:adec="http://schemas.microsoft.com/office/drawing/2017/decorative" val="1"/>
              </a:ext>
            </a:extLst>
          </p:cNvPr>
          <p:cNvSpPr/>
          <p:nvPr/>
        </p:nvSpPr>
        <p:spPr>
          <a:xfrm>
            <a:off x="7188625" y="3311910"/>
            <a:ext cx="907420" cy="7590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6A66D07-2041-1F26-5CBE-44F830643AFF}"/>
              </a:ext>
              <a:ext uri="{C183D7F6-B498-43B3-948B-1728B52AA6E4}">
                <adec:decorative xmlns:adec="http://schemas.microsoft.com/office/drawing/2017/decorative" val="1"/>
              </a:ext>
            </a:extLst>
          </p:cNvPr>
          <p:cNvSpPr txBox="1"/>
          <p:nvPr/>
        </p:nvSpPr>
        <p:spPr>
          <a:xfrm>
            <a:off x="154005" y="4083554"/>
            <a:ext cx="1082460" cy="276999"/>
          </a:xfrm>
          <a:prstGeom prst="rect">
            <a:avLst/>
          </a:prstGeom>
          <a:noFill/>
        </p:spPr>
        <p:txBody>
          <a:bodyPr wrap="square">
            <a:spAutoFit/>
          </a:bodyPr>
          <a:lstStyle/>
          <a:p>
            <a:r>
              <a:rPr lang="en-US" sz="1200" dirty="0"/>
              <a:t>Convergence</a:t>
            </a:r>
          </a:p>
        </p:txBody>
      </p:sp>
      <p:cxnSp>
        <p:nvCxnSpPr>
          <p:cNvPr id="20" name="Straight Connector 19">
            <a:extLst>
              <a:ext uri="{FF2B5EF4-FFF2-40B4-BE49-F238E27FC236}">
                <a16:creationId xmlns:a16="http://schemas.microsoft.com/office/drawing/2014/main" id="{1442813E-9F01-2B55-212F-377D25E29DBE}"/>
              </a:ext>
              <a:ext uri="{C183D7F6-B498-43B3-948B-1728B52AA6E4}">
                <adec:decorative xmlns:adec="http://schemas.microsoft.com/office/drawing/2017/decorative" val="1"/>
              </a:ext>
            </a:extLst>
          </p:cNvPr>
          <p:cNvCxnSpPr/>
          <p:nvPr/>
        </p:nvCxnSpPr>
        <p:spPr>
          <a:xfrm>
            <a:off x="236799" y="4786213"/>
            <a:ext cx="11344203"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42E5C614-E299-9F4D-4716-1B91C940CC7D}"/>
              </a:ext>
              <a:ext uri="{C183D7F6-B498-43B3-948B-1728B52AA6E4}">
                <adec:decorative xmlns:adec="http://schemas.microsoft.com/office/drawing/2017/decorative" val="1"/>
              </a:ext>
            </a:extLst>
          </p:cNvPr>
          <p:cNvSpPr txBox="1"/>
          <p:nvPr/>
        </p:nvSpPr>
        <p:spPr>
          <a:xfrm>
            <a:off x="3537453" y="4222053"/>
            <a:ext cx="1148235" cy="138499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200" dirty="0"/>
              <a:t>+ scales to large state/action spaces</a:t>
            </a:r>
          </a:p>
          <a:p>
            <a:pPr algn="ctr"/>
            <a:endParaRPr lang="en-US" sz="1200" dirty="0"/>
          </a:p>
          <a:p>
            <a:pPr algn="ctr"/>
            <a:r>
              <a:rPr lang="en-US" sz="1200" dirty="0"/>
              <a:t>+ generalizes over states</a:t>
            </a:r>
          </a:p>
        </p:txBody>
      </p:sp>
      <p:sp>
        <p:nvSpPr>
          <p:cNvPr id="7" name="TextBox 6">
            <a:extLst>
              <a:ext uri="{FF2B5EF4-FFF2-40B4-BE49-F238E27FC236}">
                <a16:creationId xmlns:a16="http://schemas.microsoft.com/office/drawing/2014/main" id="{BD789D49-C5BF-68B5-59CB-8352F870EBD3}"/>
              </a:ext>
              <a:ext uri="{C183D7F6-B498-43B3-948B-1728B52AA6E4}">
                <adec:decorative xmlns:adec="http://schemas.microsoft.com/office/drawing/2017/decorative" val="1"/>
              </a:ext>
            </a:extLst>
          </p:cNvPr>
          <p:cNvSpPr txBox="1"/>
          <p:nvPr/>
        </p:nvSpPr>
        <p:spPr>
          <a:xfrm>
            <a:off x="7128236" y="4209469"/>
            <a:ext cx="1148235" cy="17543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200" dirty="0"/>
              <a:t>+ more powerful approximation for high-dimensional and continuous state and action spaces</a:t>
            </a:r>
          </a:p>
        </p:txBody>
      </p:sp>
      <p:sp>
        <p:nvSpPr>
          <p:cNvPr id="10" name="TextBox 9">
            <a:extLst>
              <a:ext uri="{FF2B5EF4-FFF2-40B4-BE49-F238E27FC236}">
                <a16:creationId xmlns:a16="http://schemas.microsoft.com/office/drawing/2014/main" id="{F619CB78-3A1E-E0AF-3A60-7F41B1573638}"/>
              </a:ext>
              <a:ext uri="{C183D7F6-B498-43B3-948B-1728B52AA6E4}">
                <adec:decorative xmlns:adec="http://schemas.microsoft.com/office/drawing/2017/decorative" val="1"/>
              </a:ext>
            </a:extLst>
          </p:cNvPr>
          <p:cNvSpPr txBox="1"/>
          <p:nvPr/>
        </p:nvSpPr>
        <p:spPr>
          <a:xfrm>
            <a:off x="217126" y="4998774"/>
            <a:ext cx="1029386" cy="461665"/>
          </a:xfrm>
          <a:prstGeom prst="rect">
            <a:avLst/>
          </a:prstGeom>
          <a:noFill/>
        </p:spPr>
        <p:txBody>
          <a:bodyPr wrap="square" rtlCol="0">
            <a:spAutoFit/>
          </a:bodyPr>
          <a:lstStyle/>
          <a:p>
            <a:br>
              <a:rPr lang="en-US" sz="1200" dirty="0"/>
            </a:br>
            <a:r>
              <a:rPr lang="en-US" sz="1200" dirty="0"/>
              <a:t>Limitations</a:t>
            </a:r>
          </a:p>
        </p:txBody>
      </p:sp>
    </p:spTree>
    <p:extLst>
      <p:ext uri="{BB962C8B-B14F-4D97-AF65-F5344CB8AC3E}">
        <p14:creationId xmlns:p14="http://schemas.microsoft.com/office/powerpoint/2010/main" val="3078183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B8486-FEED-3AE4-C050-283D1E4433EA}"/>
              </a:ext>
            </a:extLst>
          </p:cNvPr>
          <p:cNvSpPr>
            <a:spLocks noGrp="1"/>
          </p:cNvSpPr>
          <p:nvPr>
            <p:ph type="title"/>
          </p:nvPr>
        </p:nvSpPr>
        <p:spPr/>
        <p:txBody>
          <a:bodyPr/>
          <a:lstStyle/>
          <a:p>
            <a:r>
              <a:rPr lang="en-US" dirty="0"/>
              <a:t>Disclaimer: Convergence</a:t>
            </a:r>
          </a:p>
        </p:txBody>
      </p:sp>
      <p:sp>
        <p:nvSpPr>
          <p:cNvPr id="3" name="Content Placeholder 2">
            <a:extLst>
              <a:ext uri="{FF2B5EF4-FFF2-40B4-BE49-F238E27FC236}">
                <a16:creationId xmlns:a16="http://schemas.microsoft.com/office/drawing/2014/main" id="{7550E4EE-39BC-EA5B-575A-C11F6233075A}"/>
              </a:ext>
            </a:extLst>
          </p:cNvPr>
          <p:cNvSpPr>
            <a:spLocks noGrp="1"/>
          </p:cNvSpPr>
          <p:nvPr>
            <p:ph idx="1"/>
          </p:nvPr>
        </p:nvSpPr>
        <p:spPr/>
        <p:txBody>
          <a:bodyPr>
            <a:normAutofit fontScale="85000" lnSpcReduction="20000"/>
          </a:bodyPr>
          <a:lstStyle/>
          <a:p>
            <a:r>
              <a:rPr lang="en-US" dirty="0"/>
              <a:t>So far, we have had strong convergence guarantees:</a:t>
            </a:r>
          </a:p>
          <a:p>
            <a:pPr lvl="1"/>
            <a:r>
              <a:rPr lang="en-US" b="1" dirty="0"/>
              <a:t>Tabular RL </a:t>
            </a:r>
            <a:r>
              <a:rPr lang="en-US" dirty="0"/>
              <a:t>has the contraction mapping guarantee (Bellman Operator): guaranteed convergence to the optimal value function (a fixed point). The policy improvement theorem shows that the policy improves in every step.</a:t>
            </a:r>
          </a:p>
          <a:p>
            <a:pPr lvl="1"/>
            <a:r>
              <a:rPr lang="en-US" b="1" dirty="0"/>
              <a:t>TD/Q-learning </a:t>
            </a:r>
            <a:r>
              <a:rPr lang="en-US" dirty="0"/>
              <a:t>converges with sufficient exploration and diminishing learning rates.</a:t>
            </a:r>
          </a:p>
          <a:p>
            <a:pPr lvl="1"/>
            <a:r>
              <a:rPr lang="en-US" b="1" dirty="0"/>
              <a:t>Linear approximation: </a:t>
            </a:r>
            <a:r>
              <a:rPr lang="en-US" dirty="0"/>
              <a:t> Mean squared value error creates a convex optimization problem. On-policy learning converges to the global optimum.</a:t>
            </a:r>
            <a:br>
              <a:rPr lang="en-US" dirty="0"/>
            </a:br>
            <a:r>
              <a:rPr lang="en-US" dirty="0"/>
              <a:t>But off-Policy convergence is not guaranteed: Off-policy + bootstrapping + function approximation = </a:t>
            </a:r>
            <a:r>
              <a:rPr lang="en-US" b="1" dirty="0"/>
              <a:t>deadly triad</a:t>
            </a:r>
            <a:br>
              <a:rPr lang="en-US" dirty="0"/>
            </a:br>
            <a:br>
              <a:rPr lang="en-US" dirty="0"/>
            </a:br>
            <a:endParaRPr lang="en-US" dirty="0"/>
          </a:p>
          <a:p>
            <a:r>
              <a:rPr lang="en-US" dirty="0"/>
              <a:t>Non-linear approximation (DRL) breaks most guarantees in RL!</a:t>
            </a:r>
          </a:p>
          <a:p>
            <a:pPr lvl="1"/>
            <a:r>
              <a:rPr lang="en-US" b="1" dirty="0"/>
              <a:t>Loss of contraction mapping </a:t>
            </a:r>
            <a:r>
              <a:rPr lang="en-US" dirty="0"/>
              <a:t>due to a non-linear projection. A fixed point may not exist or be reachable.</a:t>
            </a:r>
          </a:p>
          <a:p>
            <a:pPr lvl="1"/>
            <a:r>
              <a:rPr lang="en-US" b="1" dirty="0"/>
              <a:t>Monotonic policy improvement is lost: </a:t>
            </a:r>
            <a:r>
              <a:rPr lang="en-US" dirty="0"/>
              <a:t>Policy can get worse.</a:t>
            </a:r>
          </a:p>
          <a:p>
            <a:pPr lvl="1"/>
            <a:r>
              <a:rPr lang="en-US" b="1" dirty="0"/>
              <a:t>Stochastic approximation guarantees break</a:t>
            </a:r>
            <a:r>
              <a:rPr lang="en-US" dirty="0"/>
              <a:t>: Targets depend on parameters (bootstrapping), and </a:t>
            </a:r>
            <a:r>
              <a:rPr lang="en-US" b="1" dirty="0"/>
              <a:t>gradients are biased.</a:t>
            </a:r>
            <a:endParaRPr lang="en-US" dirty="0"/>
          </a:p>
          <a:p>
            <a:endParaRPr lang="en-US" dirty="0"/>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1988025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9BDD76-DC2B-7000-DB38-1C210A26A9B9}"/>
              </a:ext>
            </a:extLst>
          </p:cNvPr>
          <p:cNvSpPr>
            <a:spLocks noGrp="1"/>
          </p:cNvSpPr>
          <p:nvPr>
            <p:ph type="title"/>
          </p:nvPr>
        </p:nvSpPr>
        <p:spPr/>
        <p:txBody>
          <a:bodyPr/>
          <a:lstStyle/>
          <a:p>
            <a:r>
              <a:rPr lang="en-US" dirty="0"/>
              <a:t>Value-based DRL Methods</a:t>
            </a:r>
          </a:p>
        </p:txBody>
      </p:sp>
      <p:sp>
        <p:nvSpPr>
          <p:cNvPr id="5" name="Text Placeholder 4">
            <a:extLst>
              <a:ext uri="{FF2B5EF4-FFF2-40B4-BE49-F238E27FC236}">
                <a16:creationId xmlns:a16="http://schemas.microsoft.com/office/drawing/2014/main" id="{1F4055AC-D358-1E88-DB0E-AB53A1BC0DEA}"/>
              </a:ext>
            </a:extLst>
          </p:cNvPr>
          <p:cNvSpPr>
            <a:spLocks noGrp="1"/>
          </p:cNvSpPr>
          <p:nvPr>
            <p:ph type="body" idx="1"/>
          </p:nvPr>
        </p:nvSpPr>
        <p:spPr/>
        <p:txBody>
          <a:bodyPr/>
          <a:lstStyle/>
          <a:p>
            <a:r>
              <a:rPr lang="en-US" dirty="0"/>
              <a:t>Use ANNs to represent a parameterized value function that is updated via gradient descent.</a:t>
            </a:r>
          </a:p>
        </p:txBody>
      </p:sp>
    </p:spTree>
    <p:extLst>
      <p:ext uri="{BB962C8B-B14F-4D97-AF65-F5344CB8AC3E}">
        <p14:creationId xmlns:p14="http://schemas.microsoft.com/office/powerpoint/2010/main" val="2046941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458EF6-A107-0A9A-1840-241EF37D18F1}"/>
              </a:ext>
            </a:extLst>
          </p:cNvPr>
          <p:cNvSpPr>
            <a:spLocks noGrp="1"/>
          </p:cNvSpPr>
          <p:nvPr>
            <p:ph type="title"/>
          </p:nvPr>
        </p:nvSpPr>
        <p:spPr/>
        <p:txBody>
          <a:bodyPr/>
          <a:lstStyle/>
          <a:p>
            <a:r>
              <a:rPr lang="en-US" dirty="0"/>
              <a:t>Remember: Value Functions</a:t>
            </a:r>
          </a:p>
        </p:txBody>
      </p:sp>
      <mc:AlternateContent xmlns:mc="http://schemas.openxmlformats.org/markup-compatibility/2006" xmlns:a14="http://schemas.microsoft.com/office/drawing/2010/main">
        <mc:Choice Requires="a14">
          <p:sp>
            <p:nvSpPr>
              <p:cNvPr id="5" name="Content Placeholder 4" descr="Immediate reward: r sub t equals r(s sub t,a sub t, s sub t plus 1). Value functions:. V to the power pi (s) equals E sub pi [the sum over k equals 0 to infinity, of gamma to the power k r sub t plus k, given S sub t equals s, pi]. Q to the power pi (s,a) equals E sub pi [the sum over k equals 0 to infinity, of gamma to the power k r sub t plus k, given S sub t equals s, A sub t equals a, pi]. Bellman equation:. Q to the power pi (s,a) equals the sum over s prime in S, of p (s,a,s prime) (r (s,a,s prime) plus gamma Q to the power pi (s prime,a equals pi (s prime))). Optimality condition:. V star (s) equals max over pi in Pi, of V to the power pi (s) and Q star (s,a) equals max over pi in Pi, of Q to the power pi (s,a). Optimal policy: pi star (s) equals argmax over a in A, of Q star (s,a)">
                <a:extLst>
                  <a:ext uri="{FF2B5EF4-FFF2-40B4-BE49-F238E27FC236}">
                    <a16:creationId xmlns:a16="http://schemas.microsoft.com/office/drawing/2014/main" id="{19498727-5D73-4D84-70D6-B2FAD0514526}"/>
                  </a:ext>
                </a:extLst>
              </p:cNvPr>
              <p:cNvSpPr>
                <a:spLocks noGrp="1"/>
              </p:cNvSpPr>
              <p:nvPr>
                <p:ph idx="1"/>
              </p:nvPr>
            </p:nvSpPr>
            <p:spPr/>
            <p:txBody>
              <a:bodyPr>
                <a:normAutofit fontScale="70000" lnSpcReduction="20000"/>
              </a:bodyPr>
              <a:lstStyle/>
              <a:p>
                <a:r>
                  <a:rPr lang="en-US" b="0" dirty="0"/>
                  <a:t>Immediate reward: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oMath>
                </a14:m>
                <a:endParaRPr lang="en-US" b="0" i="1" dirty="0">
                  <a:latin typeface="Cambria Math" panose="02040503050406030204" pitchFamily="18" charset="0"/>
                </a:endParaRPr>
              </a:p>
              <a:p>
                <a:endParaRPr lang="en-US" b="0" dirty="0"/>
              </a:p>
              <a:p>
                <a:r>
                  <a:rPr lang="en-US" b="0" dirty="0"/>
                  <a:t>Value functions: </a:t>
                </a:r>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𝜋</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𝔼</m:t>
                        </m:r>
                      </m:e>
                      <m:sub>
                        <m:r>
                          <a:rPr lang="en-US" b="0" i="1" smtClean="0">
                            <a:latin typeface="Cambria Math" panose="02040503050406030204" pitchFamily="18" charset="0"/>
                            <a:ea typeface="Cambria Math" panose="02040503050406030204" pitchFamily="18" charset="0"/>
                          </a:rPr>
                          <m:t>𝜋</m:t>
                        </m:r>
                      </m:sub>
                    </m:sSub>
                    <m:d>
                      <m:dPr>
                        <m:begChr m:val="["/>
                        <m:endChr m:val="]"/>
                        <m:ctrlPr>
                          <a:rPr lang="en-US" b="0" i="1" smtClean="0">
                            <a:latin typeface="Cambria Math" panose="02040503050406030204" pitchFamily="18" charset="0"/>
                            <a:ea typeface="Cambria Math" panose="02040503050406030204" pitchFamily="18" charset="0"/>
                          </a:rPr>
                        </m:ctrlPr>
                      </m:dPr>
                      <m:e>
                        <m:nary>
                          <m:naryPr>
                            <m:chr m:val="∑"/>
                            <m:limLoc m:val="subSup"/>
                            <m:ctrlPr>
                              <a:rPr lang="en-US" b="0" i="1" smtClean="0">
                                <a:latin typeface="Cambria Math" panose="02040503050406030204" pitchFamily="18" charset="0"/>
                                <a:ea typeface="Cambria Math" panose="02040503050406030204" pitchFamily="18" charset="0"/>
                              </a:rPr>
                            </m:ctrlPr>
                          </m:naryPr>
                          <m:sub>
                            <m:r>
                              <m:rPr>
                                <m:brk m:alnAt="25"/>
                              </m:rP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𝛾</m:t>
                                </m:r>
                              </m:e>
                              <m:sup>
                                <m:r>
                                  <a:rPr lang="en-US" b="0" i="1" smtClean="0">
                                    <a:latin typeface="Cambria Math" panose="02040503050406030204" pitchFamily="18" charset="0"/>
                                    <a:ea typeface="Cambria Math" panose="02040503050406030204" pitchFamily="18" charset="0"/>
                                  </a:rPr>
                                  <m:t>𝑘</m:t>
                                </m:r>
                              </m:sup>
                            </m:s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sub>
                            </m:sSub>
                            <m:r>
                              <a:rPr lang="en-US" b="0" i="1" smtClean="0">
                                <a:latin typeface="Cambria Math" panose="02040503050406030204" pitchFamily="18" charset="0"/>
                                <a:ea typeface="Cambria Math" panose="02040503050406030204" pitchFamily="18" charset="0"/>
                              </a:rPr>
                              <m:t> |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e>
                        </m:nary>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𝜋</m:t>
                        </m:r>
                      </m:e>
                    </m:d>
                  </m:oMath>
                </a14:m>
                <a:endParaRPr lang="en-US" dirty="0"/>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i="1">
                            <a:latin typeface="Cambria Math" panose="02040503050406030204" pitchFamily="18" charset="0"/>
                          </a:rPr>
                          <m:t>𝜋</m:t>
                        </m:r>
                      </m:sup>
                    </m:sSup>
                    <m:d>
                      <m:dPr>
                        <m:ctrlPr>
                          <a:rPr lang="en-US" i="1">
                            <a:latin typeface="Cambria Math" panose="02040503050406030204" pitchFamily="18" charset="0"/>
                          </a:rPr>
                        </m:ctrlPr>
                      </m:dPr>
                      <m:e>
                        <m:r>
                          <a:rPr lang="en-US" i="1">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b="0" i="1" smtClean="0">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nary>
                          <m:naryPr>
                            <m:chr m:val="∑"/>
                            <m:limLoc m:val="subSup"/>
                            <m:ctrlPr>
                              <a:rPr lang="en-US" i="1">
                                <a:latin typeface="Cambria Math" panose="02040503050406030204" pitchFamily="18" charset="0"/>
                                <a:ea typeface="Cambria Math" panose="02040503050406030204" pitchFamily="18" charset="0"/>
                              </a:rPr>
                            </m:ctrlPr>
                          </m:naryPr>
                          <m:sub>
                            <m:r>
                              <m:rPr>
                                <m:brk m:alnAt="25"/>
                              </m:rP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=0</m:t>
                            </m:r>
                          </m:sub>
                          <m:sup>
                            <m:r>
                              <a:rPr lang="en-US" i="1">
                                <a:latin typeface="Cambria Math" panose="02040503050406030204" pitchFamily="18" charset="0"/>
                                <a:ea typeface="Cambria Math" panose="02040503050406030204" pitchFamily="18" charset="0"/>
                              </a:rPr>
                              <m:t>∞</m:t>
                            </m:r>
                          </m:sup>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𝛾</m:t>
                                </m:r>
                              </m:e>
                              <m:sup>
                                <m:r>
                                  <a:rPr lang="en-US" i="1">
                                    <a:latin typeface="Cambria Math" panose="02040503050406030204" pitchFamily="18" charset="0"/>
                                    <a:ea typeface="Cambria Math" panose="02040503050406030204" pitchFamily="18" charset="0"/>
                                  </a:rPr>
                                  <m:t>𝑘</m:t>
                                </m:r>
                              </m:sup>
                            </m:s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𝑘</m:t>
                                </m:r>
                              </m:sub>
                            </m:sSub>
                            <m:r>
                              <a:rPr lang="en-US" i="1">
                                <a:latin typeface="Cambria Math" panose="02040503050406030204" pitchFamily="18" charset="0"/>
                                <a:ea typeface="Cambria Math" panose="02040503050406030204" pitchFamily="18" charset="0"/>
                              </a:rPr>
                              <m:t> |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nary>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𝜋</m:t>
                        </m:r>
                      </m:e>
                    </m:d>
                  </m:oMath>
                </a14:m>
                <a:endParaRPr lang="en-US" dirty="0"/>
              </a:p>
              <a:p>
                <a:endParaRPr lang="en-US" dirty="0"/>
              </a:p>
              <a:p>
                <a:r>
                  <a:rPr lang="en-US" dirty="0"/>
                  <a:t>Bellman equation:</a:t>
                </a:r>
              </a:p>
              <a:p>
                <a:pPr marL="457200" lvl="1" indent="0">
                  <a:buNone/>
                </a:pPr>
                <a14:m>
                  <m:oMathPara xmlns:m="http://schemas.openxmlformats.org/officeDocument/2006/math">
                    <m:oMath>
                      <m:sSup>
                        <m:sSupPr>
                          <m:ctrlPr>
                            <a:rPr lang="en-US" i="1" smtClean="0">
                              <a:latin typeface="Cambria Math" panose="02040503050406030204" pitchFamily="18" charset="0"/>
                            </a:rPr>
                          </m:ctrlPr>
                        </m:sSupPr>
                        <m:e>
                          <m:r>
                            <a:rPr lang="en-US" i="1" smtClean="0">
                              <a:latin typeface="Cambria Math" panose="02040503050406030204" pitchFamily="18" charset="0"/>
                            </a:rPr>
                            <m:t>𝑄</m:t>
                          </m:r>
                        </m:e>
                        <m:sup>
                          <m:r>
                            <a:rPr lang="en-US" i="1">
                              <a:latin typeface="Cambria Math" panose="02040503050406030204" pitchFamily="18" charset="0"/>
                            </a:rPr>
                            <m:t>𝜋</m:t>
                          </m:r>
                        </m:sup>
                      </m:sSup>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a:latin typeface="Cambria Math" panose="02040503050406030204" pitchFamily="18" charset="0"/>
                        </a:rPr>
                        <m:t>=</m:t>
                      </m:r>
                      <m:nary>
                        <m:naryPr>
                          <m:chr m:val="∑"/>
                          <m:supHide m:val="on"/>
                          <m:ctrlPr>
                            <a:rPr lang="en-US" b="0" i="1" smtClean="0">
                              <a:latin typeface="Cambria Math" panose="02040503050406030204" pitchFamily="18" charset="0"/>
                            </a:rPr>
                          </m:ctrlPr>
                        </m:naryPr>
                        <m:sub>
                          <m:sSup>
                            <m:sSupPr>
                              <m:ctrlPr>
                                <a:rPr lang="en-US" b="0" i="1" smtClean="0">
                                  <a:latin typeface="Cambria Math" panose="02040503050406030204" pitchFamily="18" charset="0"/>
                                </a:rPr>
                              </m:ctrlPr>
                            </m:sSupPr>
                            <m:e>
                              <m:r>
                                <m:rPr>
                                  <m:brk m:alnAt="7"/>
                                </m:rP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sub>
                        <m:sup/>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d>
                            <m:dPr>
                              <m:ctrlPr>
                                <a:rPr lang="en-US" b="0" i="1" smtClean="0">
                                  <a:latin typeface="Cambria Math" panose="02040503050406030204" pitchFamily="18" charset="0"/>
                                </a:rPr>
                              </m:ctrlPr>
                            </m:dPr>
                            <m:e>
                              <m:r>
                                <a:rPr lang="en-US" b="0" i="1" smtClean="0">
                                  <a:latin typeface="Cambria Math" panose="02040503050406030204" pitchFamily="18" charset="0"/>
                                </a:rPr>
                                <m:t>𝑟</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r>
                                <a:rPr lang="en-US" b="0" i="1" smtClean="0">
                                  <a:latin typeface="Cambria Math" panose="02040503050406030204" pitchFamily="18" charset="0"/>
                                </a:rPr>
                                <m:t>𝛾</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𝜋</m:t>
                                  </m:r>
                                </m:sup>
                              </m:sSup>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𝜋</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e>
                              </m:d>
                            </m:e>
                          </m:d>
                        </m:e>
                      </m:nary>
                    </m:oMath>
                  </m:oMathPara>
                </a14:m>
                <a:endParaRPr lang="en-US" dirty="0"/>
              </a:p>
              <a:p>
                <a:endParaRPr lang="en-US" dirty="0"/>
              </a:p>
              <a:p>
                <a:r>
                  <a:rPr lang="en-US" dirty="0"/>
                  <a:t>Optimality condition:</a:t>
                </a:r>
              </a:p>
              <a:p>
                <a:pPr marL="457200" lvl="1" indent="0">
                  <a:buNone/>
                </a:pPr>
                <a:r>
                  <a:rPr lang="en-US" b="0" dirty="0"/>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𝜋</m:t>
                            </m:r>
                            <m:r>
                              <a:rPr lang="en-US" b="0" i="1" smtClean="0">
                                <a:latin typeface="Cambria Math" panose="02040503050406030204" pitchFamily="18" charset="0"/>
                              </a:rPr>
                              <m:t>∈</m:t>
                            </m:r>
                            <m:r>
                              <m:rPr>
                                <m:sty m:val="p"/>
                              </m:rPr>
                              <a:rPr lang="en-US" b="0" i="0" smtClean="0">
                                <a:latin typeface="Cambria Math" panose="02040503050406030204" pitchFamily="18" charset="0"/>
                              </a:rPr>
                              <m:t>Π</m:t>
                            </m:r>
                          </m:lim>
                        </m:limLow>
                      </m:fNa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𝜋</m:t>
                            </m:r>
                          </m:sup>
                        </m:sSup>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e>
                    </m:func>
                  </m:oMath>
                </a14:m>
                <a:r>
                  <a:rPr lang="en-US" dirty="0"/>
                  <a:t>     and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i="1">
                        <a:latin typeface="Cambria Math" panose="02040503050406030204" pitchFamily="18" charset="0"/>
                      </a:rPr>
                      <m:t>=</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𝜋</m:t>
                            </m:r>
                            <m:r>
                              <a:rPr lang="en-US" i="1">
                                <a:latin typeface="Cambria Math" panose="02040503050406030204" pitchFamily="18" charset="0"/>
                              </a:rPr>
                              <m:t>∈</m:t>
                            </m:r>
                            <m:r>
                              <m:rPr>
                                <m:sty m:val="p"/>
                              </m:rPr>
                              <a:rPr lang="en-US">
                                <a:latin typeface="Cambria Math" panose="02040503050406030204" pitchFamily="18" charset="0"/>
                              </a:rPr>
                              <m:t>Π</m:t>
                            </m:r>
                          </m:lim>
                        </m:limLow>
                      </m:fNa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i="1">
                                <a:latin typeface="Cambria Math" panose="02040503050406030204" pitchFamily="18" charset="0"/>
                              </a:rPr>
                              <m:t>𝜋</m:t>
                            </m:r>
                          </m:sup>
                        </m:sSup>
                        <m:r>
                          <a:rPr lang="en-US" i="1">
                            <a:latin typeface="Cambria Math" panose="02040503050406030204" pitchFamily="18" charset="0"/>
                          </a:rPr>
                          <m:t>(</m:t>
                        </m:r>
                        <m:r>
                          <a:rPr lang="en-US" i="1">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i="1">
                            <a:latin typeface="Cambria Math" panose="02040503050406030204" pitchFamily="18" charset="0"/>
                          </a:rPr>
                          <m:t>)</m:t>
                        </m:r>
                      </m:e>
                    </m:func>
                  </m:oMath>
                </a14:m>
                <a:endParaRPr lang="en-US" dirty="0"/>
              </a:p>
              <a:p>
                <a:endParaRPr lang="en-US" dirty="0"/>
              </a:p>
              <a:p>
                <a:r>
                  <a:rPr lang="en-US" dirty="0"/>
                  <a:t>Optimal policy: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𝜋</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argmax</m:t>
                            </m:r>
                          </m:e>
                          <m:lim>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𝒜</m:t>
                            </m:r>
                          </m:lim>
                        </m:limLow>
                      </m:fNa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e>
                    </m:func>
                  </m:oMath>
                </a14:m>
                <a:endParaRPr lang="en-US" dirty="0"/>
              </a:p>
            </p:txBody>
          </p:sp>
        </mc:Choice>
        <mc:Fallback xmlns="">
          <p:sp>
            <p:nvSpPr>
              <p:cNvPr id="5" name="Content Placeholder 4" descr="Immediate reward: r sub t equals r(s sub t,a sub t, s sub t plus 1). Value functions:. V to the power pi (s) equals E sub pi [the sum over k equals 0 to infinity, of gamma to the power k r sub t plus k, given S sub t equals s, pi]. Q to the power pi (s,a) equals E sub pi [the sum over k equals 0 to infinity, of gamma to the power k r sub t plus k, given S sub t equals s, A sub t equals a, pi]. Bellman equation:. Q to the power pi (s,a) equals the sum over s prime in S, of p (s,a,s prime) (r (s,a,s prime) plus gamma Q to the power pi (s prime,a equals pi (s prime))). Optimality condition:. V star (s) equals max over pi in Pi, of V to the power pi (s) and Q star (s,a) equals max over pi in Pi, of Q to the power pi (s,a). Optimal policy: pi star (s) equals argmax over a in A, of Q star (s,a)">
                <a:extLst>
                  <a:ext uri="{FF2B5EF4-FFF2-40B4-BE49-F238E27FC236}">
                    <a16:creationId xmlns:a16="http://schemas.microsoft.com/office/drawing/2014/main" id="{19498727-5D73-4D84-70D6-B2FAD0514526}"/>
                  </a:ext>
                </a:extLst>
              </p:cNvPr>
              <p:cNvSpPr>
                <a:spLocks noGrp="1" noRot="1" noChangeAspect="1" noMove="1" noResize="1" noEditPoints="1" noAdjustHandles="1" noChangeArrowheads="1" noChangeShapeType="1" noTextEdit="1"/>
              </p:cNvSpPr>
              <p:nvPr>
                <p:ph idx="1"/>
              </p:nvPr>
            </p:nvSpPr>
            <p:spPr>
              <a:blipFill>
                <a:blip r:embed="rId2"/>
                <a:stretch>
                  <a:fillRect l="-522" t="-2168"/>
                </a:stretch>
              </a:blipFill>
            </p:spPr>
            <p:txBody>
              <a:bodyPr/>
              <a:lstStyle/>
              <a:p>
                <a:r>
                  <a:rPr lang="en-US">
                    <a:noFill/>
                  </a:rPr>
                  <a:t> </a:t>
                </a:r>
              </a:p>
            </p:txBody>
          </p:sp>
        </mc:Fallback>
      </mc:AlternateContent>
      <p:sp>
        <p:nvSpPr>
          <p:cNvPr id="2" name="Speech Bubble: Rectangle with Corners Rounded 1">
            <a:extLst>
              <a:ext uri="{FF2B5EF4-FFF2-40B4-BE49-F238E27FC236}">
                <a16:creationId xmlns:a16="http://schemas.microsoft.com/office/drawing/2014/main" id="{61437BC7-CDF4-31E8-14F6-91CFBC0BC7A9}"/>
              </a:ext>
            </a:extLst>
          </p:cNvPr>
          <p:cNvSpPr/>
          <p:nvPr/>
        </p:nvSpPr>
        <p:spPr>
          <a:xfrm>
            <a:off x="8380602" y="1765882"/>
            <a:ext cx="3150066" cy="1283515"/>
          </a:xfrm>
          <a:prstGeom prst="wedgeRoundRectCallout">
            <a:avLst>
              <a:gd name="adj1" fmla="val -129947"/>
              <a:gd name="adj2" fmla="val 1599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The expectation reflects all uncertainty: </a:t>
            </a:r>
          </a:p>
          <a:p>
            <a:pPr marL="285750" indent="-285750">
              <a:buFont typeface="Arial" panose="020B0604020202020204" pitchFamily="34" charset="0"/>
              <a:buChar char="•"/>
            </a:pPr>
            <a:r>
              <a:rPr lang="en-US" sz="1400" dirty="0"/>
              <a:t>Stochastic policy</a:t>
            </a:r>
          </a:p>
          <a:p>
            <a:pPr marL="285750" indent="-285750">
              <a:buFont typeface="Arial" panose="020B0604020202020204" pitchFamily="34" charset="0"/>
              <a:buChar char="•"/>
            </a:pPr>
            <a:r>
              <a:rPr lang="en-US" sz="1400" dirty="0"/>
              <a:t>Stochastic transitions</a:t>
            </a:r>
          </a:p>
          <a:p>
            <a:pPr marL="285750" indent="-285750">
              <a:buFont typeface="Arial" panose="020B0604020202020204" pitchFamily="34" charset="0"/>
              <a:buChar char="•"/>
            </a:pPr>
            <a:r>
              <a:rPr lang="en-US" sz="1400" dirty="0"/>
              <a:t>Stochastic reward model</a:t>
            </a:r>
          </a:p>
        </p:txBody>
      </p:sp>
    </p:spTree>
    <p:extLst>
      <p:ext uri="{BB962C8B-B14F-4D97-AF65-F5344CB8AC3E}">
        <p14:creationId xmlns:p14="http://schemas.microsoft.com/office/powerpoint/2010/main" val="198661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97FAA-94D1-C411-5F84-BD11DAFEAFA8}"/>
              </a:ext>
            </a:extLst>
          </p:cNvPr>
          <p:cNvSpPr>
            <a:spLocks noGrp="1"/>
          </p:cNvSpPr>
          <p:nvPr>
            <p:ph type="title"/>
          </p:nvPr>
        </p:nvSpPr>
        <p:spPr/>
        <p:txBody>
          <a:bodyPr/>
          <a:lstStyle/>
          <a:p>
            <a:r>
              <a:rPr lang="en-US" dirty="0"/>
              <a:t>Remember: Tabular Q-Learning</a:t>
            </a:r>
          </a:p>
        </p:txBody>
      </p:sp>
      <mc:AlternateContent xmlns:mc="http://schemas.openxmlformats.org/markup-compatibility/2006" xmlns:a14="http://schemas.microsoft.com/office/drawing/2010/main">
        <mc:Choice Requires="a14">
          <p:sp>
            <p:nvSpPr>
              <p:cNvPr id="3" name="Content Placeholder 2" descr="An extremely influential method developed by Watkins (1989). Tabular update rule only uses Sars:. Q (S sub t,A sub t) gets Q (S sub t,A sub t) plus alpha [R sub t plus 1, plus gamma max over a, of Q (S sub t plus 1,a) minus Q (S sub t,A sub t)]. Q directly approximates q sub star independent of the behavior policy being followed! to Off-policy. Converges to the optimal value function if. State-action pairs are represented discretely (in a table). All action are repeatedly sampled in all states (behavior policy keeps exploring). Issue: Q(s,a) can often not be represented in a table due to too many action-value pairs. Use a parameterized approximation Q(s,a; theta) . Deadly triade:. Bootstrapping. off-policy learning. function approximation. Linear approximation converges for special cases. Non-linear approximation is an issue!">
                <a:extLst>
                  <a:ext uri="{FF2B5EF4-FFF2-40B4-BE49-F238E27FC236}">
                    <a16:creationId xmlns:a16="http://schemas.microsoft.com/office/drawing/2014/main" id="{793FCB7B-AD2F-2F02-9738-B745C6FBC539}"/>
                  </a:ext>
                </a:extLst>
              </p:cNvPr>
              <p:cNvSpPr>
                <a:spLocks noGrp="1"/>
              </p:cNvSpPr>
              <p:nvPr>
                <p:ph idx="1"/>
              </p:nvPr>
            </p:nvSpPr>
            <p:spPr/>
            <p:txBody>
              <a:bodyPr>
                <a:normAutofit fontScale="55000" lnSpcReduction="20000"/>
              </a:bodyPr>
              <a:lstStyle/>
              <a:p>
                <a:r>
                  <a:rPr lang="en-US" dirty="0"/>
                  <a:t>An extremely influential method developed by Watkins (1989).</a:t>
                </a:r>
              </a:p>
              <a:p>
                <a:r>
                  <a:rPr lang="en-US" dirty="0"/>
                  <a:t>Tabular update rule only uses Sars:</a:t>
                </a:r>
              </a:p>
              <a:p>
                <a:endParaRPr lang="en-US" dirty="0"/>
              </a:p>
              <a:p>
                <a:pPr marL="0" indent="0" algn="ctr">
                  <a:buNone/>
                </a:pPr>
                <a14:m>
                  <m:oMathPara xmlns:m="http://schemas.openxmlformats.org/officeDocument/2006/math">
                    <m:oMath>
                      <m:r>
                        <a:rPr lang="en-US" i="1">
                          <a:latin typeface="Cambria Math" panose="02040503050406030204" pitchFamily="18" charset="0"/>
                        </a:rPr>
                        <m:t>𝑄</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r>
                        <a:rPr lang="en-US" b="0" i="1" smtClean="0">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r>
                        <a:rPr lang="en-US" i="1">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𝛾</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𝑎</m:t>
                              </m:r>
                            </m:lim>
                          </m:limLow>
                        </m:fName>
                        <m:e>
                          <m:r>
                            <a:rPr lang="en-US" i="1">
                              <a:latin typeface="Cambria Math" panose="02040503050406030204" pitchFamily="18" charset="0"/>
                            </a:rPr>
                            <m:t>𝑄</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𝑎</m:t>
                              </m:r>
                            </m:e>
                          </m:d>
                        </m:e>
                      </m:func>
                      <m:r>
                        <a:rPr lang="en-US" i="1">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r>
                        <a:rPr lang="en-US" i="1">
                          <a:latin typeface="Cambria Math" panose="02040503050406030204" pitchFamily="18" charset="0"/>
                        </a:rPr>
                        <m:t>]</m:t>
                      </m:r>
                    </m:oMath>
                  </m:oMathPara>
                </a14:m>
                <a:endParaRPr lang="en-US" i="1" dirty="0">
                  <a:latin typeface="Cambria Math" panose="02040503050406030204" pitchFamily="18" charset="0"/>
                </a:endParaRPr>
              </a:p>
              <a:p>
                <a:endParaRPr lang="en-US" dirty="0"/>
              </a:p>
              <a:p>
                <a:pPr marL="0" indent="0" algn="ctr">
                  <a:buNone/>
                </a:pPr>
                <a:endParaRPr lang="en-US" dirty="0"/>
              </a:p>
              <a:p>
                <a14:m>
                  <m:oMath xmlns:m="http://schemas.openxmlformats.org/officeDocument/2006/math">
                    <m:r>
                      <a:rPr lang="en-US" i="1" dirty="0" smtClean="0">
                        <a:latin typeface="Cambria Math" panose="02040503050406030204" pitchFamily="18" charset="0"/>
                      </a:rPr>
                      <m:t>𝑄</m:t>
                    </m:r>
                  </m:oMath>
                </a14:m>
                <a:r>
                  <a:rPr lang="en-US" dirty="0"/>
                  <a:t> directly approximates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m:t>
                        </m:r>
                      </m:sub>
                    </m:sSub>
                  </m:oMath>
                </a14:m>
                <a:r>
                  <a:rPr lang="en-US" dirty="0"/>
                  <a:t> independent of the behavior policy being followed! </a:t>
                </a:r>
                <a:br>
                  <a:rPr lang="en-US" dirty="0"/>
                </a:br>
                <a14:m>
                  <m:oMath xmlns:m="http://schemas.openxmlformats.org/officeDocument/2006/math">
                    <m:r>
                      <a:rPr lang="en-US" b="0" i="1" smtClean="0">
                        <a:latin typeface="Cambria Math" panose="02040503050406030204" pitchFamily="18" charset="0"/>
                      </a:rPr>
                      <m:t>→</m:t>
                    </m:r>
                  </m:oMath>
                </a14:m>
                <a:r>
                  <a:rPr lang="en-US" dirty="0"/>
                  <a:t> Off-policy</a:t>
                </a:r>
              </a:p>
              <a:p>
                <a:r>
                  <a:rPr lang="en-US" dirty="0"/>
                  <a:t>Converges to the optimal value function if</a:t>
                </a:r>
              </a:p>
              <a:p>
                <a:pPr lvl="1"/>
                <a:r>
                  <a:rPr lang="en-US" dirty="0"/>
                  <a:t>State-action pairs are represented discretely (in a table).</a:t>
                </a:r>
              </a:p>
              <a:p>
                <a:pPr lvl="1"/>
                <a:r>
                  <a:rPr lang="en-US" dirty="0"/>
                  <a:t>All action are repeatedly sampled in all states (behavior policy keeps exploring).</a:t>
                </a:r>
              </a:p>
              <a:p>
                <a:endParaRPr lang="en-US" b="1" dirty="0"/>
              </a:p>
              <a:p>
                <a:r>
                  <a:rPr lang="en-US" b="1" dirty="0"/>
                  <a:t>Issue</a:t>
                </a:r>
                <a:r>
                  <a:rPr lang="en-US" dirty="0"/>
                  <a:t>: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can often not be represented in a table due to too many action-value pairs. Use a parameterized approximation </a:t>
                </a:r>
                <a14:m>
                  <m:oMath xmlns:m="http://schemas.openxmlformats.org/officeDocument/2006/math">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b="0" i="1" smtClean="0">
                        <a:latin typeface="Cambria Math" panose="02040503050406030204" pitchFamily="18" charset="0"/>
                      </a:rPr>
                      <m:t>;</m:t>
                    </m:r>
                    <m:r>
                      <a:rPr lang="en-US" b="1" i="1" smtClean="0">
                        <a:latin typeface="Cambria Math" panose="02040503050406030204" pitchFamily="18" charset="0"/>
                      </a:rPr>
                      <m:t>𝜽</m:t>
                    </m:r>
                    <m:r>
                      <a:rPr lang="en-US" i="1">
                        <a:latin typeface="Cambria Math" panose="02040503050406030204" pitchFamily="18" charset="0"/>
                      </a:rPr>
                      <m:t>)</m:t>
                    </m:r>
                  </m:oMath>
                </a14:m>
                <a:r>
                  <a:rPr lang="en-US" dirty="0"/>
                  <a:t>. Deadly </a:t>
                </a:r>
                <a:r>
                  <a:rPr lang="en-US" dirty="0" err="1"/>
                  <a:t>triade</a:t>
                </a:r>
                <a:r>
                  <a:rPr lang="en-US" dirty="0"/>
                  <a:t>:  </a:t>
                </a:r>
              </a:p>
              <a:p>
                <a:pPr lvl="1"/>
                <a:r>
                  <a:rPr lang="en-US" dirty="0"/>
                  <a:t>Bootstrapping</a:t>
                </a:r>
              </a:p>
              <a:p>
                <a:pPr lvl="1"/>
                <a:r>
                  <a:rPr lang="en-US" dirty="0"/>
                  <a:t>off-policy learning</a:t>
                </a:r>
              </a:p>
              <a:p>
                <a:pPr lvl="1"/>
                <a:r>
                  <a:rPr lang="en-US" dirty="0"/>
                  <a:t>function approximation</a:t>
                </a:r>
              </a:p>
              <a:p>
                <a:r>
                  <a:rPr lang="en-US" dirty="0"/>
                  <a:t>Linear approximation converges for special cases. Non-linear approximation is an issue!</a:t>
                </a:r>
              </a:p>
            </p:txBody>
          </p:sp>
        </mc:Choice>
        <mc:Fallback xmlns="">
          <p:sp>
            <p:nvSpPr>
              <p:cNvPr id="3" name="Content Placeholder 2" descr="An extremely influential method developed by Watkins (1989). Tabular update rule only uses Sars:. Q (S sub t,A sub t) gets Q (S sub t,A sub t) plus alpha [R sub t plus 1, plus gamma max over a, of Q (S sub t plus 1,a) minus Q (S sub t,A sub t)]. Q directly approximates q sub star independent of the behavior policy being followed! to Off-policy. Converges to the optimal value function if. State-action pairs are represented discretely (in a table). All action are repeatedly sampled in all states (behavior policy keeps exploring). Issue: Q(s,a) can often not be represented in a table due to too many action-value pairs. Use a parameterized approximation Q(s,a; theta) . Deadly triade:. Bootstrapping. off-policy learning. function approximation. Linear approximation converges for special cases. Non-linear approximation is an issue!">
                <a:extLst>
                  <a:ext uri="{FF2B5EF4-FFF2-40B4-BE49-F238E27FC236}">
                    <a16:creationId xmlns:a16="http://schemas.microsoft.com/office/drawing/2014/main" id="{793FCB7B-AD2F-2F02-9738-B745C6FBC539}"/>
                  </a:ext>
                </a:extLst>
              </p:cNvPr>
              <p:cNvSpPr>
                <a:spLocks noGrp="1" noRot="1" noChangeAspect="1" noMove="1" noResize="1" noEditPoints="1" noAdjustHandles="1" noChangeArrowheads="1" noChangeShapeType="1" noTextEdit="1"/>
              </p:cNvSpPr>
              <p:nvPr>
                <p:ph idx="1"/>
              </p:nvPr>
            </p:nvSpPr>
            <p:spPr>
              <a:blipFill>
                <a:blip r:embed="rId2"/>
                <a:stretch>
                  <a:fillRect l="-174" t="-1276"/>
                </a:stretch>
              </a:blipFill>
            </p:spPr>
            <p:txBody>
              <a:bodyPr/>
              <a:lstStyle/>
              <a:p>
                <a:r>
                  <a:rPr lang="en-US">
                    <a:noFill/>
                  </a:rPr>
                  <a:t> </a:t>
                </a:r>
              </a:p>
            </p:txBody>
          </p:sp>
        </mc:Fallback>
      </mc:AlternateContent>
      <p:grpSp>
        <p:nvGrpSpPr>
          <p:cNvPr id="17" name="Group 16" descr="Labels on the Q-learning update rule: the term R_t+1 plus gamma times the max over a′ of Q(S_t+1, a′) is marked target, Q(S_t, A_t) is marked prediction, and their difference is marked TD-error.">
            <a:extLst>
              <a:ext uri="{FF2B5EF4-FFF2-40B4-BE49-F238E27FC236}">
                <a16:creationId xmlns:a16="http://schemas.microsoft.com/office/drawing/2014/main" id="{498327BA-1D9D-E7A5-5900-D16895A74482}"/>
              </a:ext>
            </a:extLst>
          </p:cNvPr>
          <p:cNvGrpSpPr/>
          <p:nvPr/>
        </p:nvGrpSpPr>
        <p:grpSpPr>
          <a:xfrm>
            <a:off x="5643135" y="1712423"/>
            <a:ext cx="3160042" cy="1158041"/>
            <a:chOff x="5502761" y="1996939"/>
            <a:chExt cx="4441087" cy="1242970"/>
          </a:xfrm>
        </p:grpSpPr>
        <p:sp>
          <p:nvSpPr>
            <p:cNvPr id="5" name="TextBox 4">
              <a:extLst>
                <a:ext uri="{FF2B5EF4-FFF2-40B4-BE49-F238E27FC236}">
                  <a16:creationId xmlns:a16="http://schemas.microsoft.com/office/drawing/2014/main" id="{F213D399-5436-DD5C-3C09-991F8AE5AA15}"/>
                </a:ext>
              </a:extLst>
            </p:cNvPr>
            <p:cNvSpPr txBox="1"/>
            <p:nvPr/>
          </p:nvSpPr>
          <p:spPr>
            <a:xfrm>
              <a:off x="6414761" y="1996939"/>
              <a:ext cx="933217" cy="330349"/>
            </a:xfrm>
            <a:prstGeom prst="rect">
              <a:avLst/>
            </a:prstGeom>
            <a:noFill/>
          </p:spPr>
          <p:txBody>
            <a:bodyPr wrap="none" rtlCol="0">
              <a:spAutoFit/>
            </a:bodyPr>
            <a:lstStyle/>
            <a:p>
              <a:r>
                <a:rPr lang="en-US" sz="1400" b="1" dirty="0">
                  <a:solidFill>
                    <a:schemeClr val="accent2"/>
                  </a:solidFill>
                </a:rPr>
                <a:t>target</a:t>
              </a:r>
            </a:p>
          </p:txBody>
        </p:sp>
        <p:sp>
          <p:nvSpPr>
            <p:cNvPr id="6" name="TextBox 5">
              <a:extLst>
                <a:ext uri="{FF2B5EF4-FFF2-40B4-BE49-F238E27FC236}">
                  <a16:creationId xmlns:a16="http://schemas.microsoft.com/office/drawing/2014/main" id="{6B2469E7-597A-6D5F-34FF-F1CEC74C31D2}"/>
                </a:ext>
              </a:extLst>
            </p:cNvPr>
            <p:cNvSpPr txBox="1"/>
            <p:nvPr/>
          </p:nvSpPr>
          <p:spPr>
            <a:xfrm>
              <a:off x="8504372" y="1996939"/>
              <a:ext cx="1439476" cy="330349"/>
            </a:xfrm>
            <a:prstGeom prst="rect">
              <a:avLst/>
            </a:prstGeom>
            <a:noFill/>
          </p:spPr>
          <p:txBody>
            <a:bodyPr wrap="none" rtlCol="0">
              <a:spAutoFit/>
            </a:bodyPr>
            <a:lstStyle/>
            <a:p>
              <a:r>
                <a:rPr lang="en-US" sz="1400" b="1" dirty="0">
                  <a:solidFill>
                    <a:schemeClr val="tx2"/>
                  </a:solidFill>
                </a:rPr>
                <a:t>prediction</a:t>
              </a:r>
            </a:p>
          </p:txBody>
        </p:sp>
        <p:cxnSp>
          <p:nvCxnSpPr>
            <p:cNvPr id="10" name="Straight Connector 9">
              <a:extLst>
                <a:ext uri="{FF2B5EF4-FFF2-40B4-BE49-F238E27FC236}">
                  <a16:creationId xmlns:a16="http://schemas.microsoft.com/office/drawing/2014/main" id="{E64E7F2E-CD37-E643-C336-282CA98C2197}"/>
                </a:ext>
                <a:ext uri="{C183D7F6-B498-43B3-948B-1728B52AA6E4}">
                  <adec:decorative xmlns:adec="http://schemas.microsoft.com/office/drawing/2017/decorative" val="1"/>
                </a:ext>
              </a:extLst>
            </p:cNvPr>
            <p:cNvCxnSpPr>
              <a:cxnSpLocks/>
            </p:cNvCxnSpPr>
            <p:nvPr/>
          </p:nvCxnSpPr>
          <p:spPr>
            <a:xfrm>
              <a:off x="5502762" y="2359291"/>
              <a:ext cx="2768719"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Straight Connector 10">
              <a:extLst>
                <a:ext uri="{FF2B5EF4-FFF2-40B4-BE49-F238E27FC236}">
                  <a16:creationId xmlns:a16="http://schemas.microsoft.com/office/drawing/2014/main" id="{E735DED0-7CD9-B356-3D6F-AE0DEAC31728}"/>
                </a:ext>
                <a:ext uri="{C183D7F6-B498-43B3-948B-1728B52AA6E4}">
                  <adec:decorative xmlns:adec="http://schemas.microsoft.com/office/drawing/2017/decorative" val="1"/>
                </a:ext>
              </a:extLst>
            </p:cNvPr>
            <p:cNvCxnSpPr>
              <a:cxnSpLocks/>
            </p:cNvCxnSpPr>
            <p:nvPr/>
          </p:nvCxnSpPr>
          <p:spPr>
            <a:xfrm>
              <a:off x="8570463" y="2359291"/>
              <a:ext cx="113194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C989D5A-3C84-7EFE-4075-12A7DF0B1EC4}"/>
                </a:ext>
                <a:ext uri="{C183D7F6-B498-43B3-948B-1728B52AA6E4}">
                  <adec:decorative xmlns:adec="http://schemas.microsoft.com/office/drawing/2017/decorative" val="1"/>
                </a:ext>
              </a:extLst>
            </p:cNvPr>
            <p:cNvCxnSpPr>
              <a:cxnSpLocks/>
            </p:cNvCxnSpPr>
            <p:nvPr/>
          </p:nvCxnSpPr>
          <p:spPr>
            <a:xfrm>
              <a:off x="5502761" y="2909560"/>
              <a:ext cx="4265740" cy="0"/>
            </a:xfrm>
            <a:prstGeom prst="line">
              <a:avLst/>
            </a:prstGeom>
          </p:spPr>
          <p:style>
            <a:lnRef idx="2">
              <a:schemeClr val="accent3"/>
            </a:lnRef>
            <a:fillRef idx="0">
              <a:schemeClr val="accent3"/>
            </a:fillRef>
            <a:effectRef idx="1">
              <a:schemeClr val="accent3"/>
            </a:effectRef>
            <a:fontRef idx="minor">
              <a:schemeClr val="tx1"/>
            </a:fontRef>
          </p:style>
        </p:cxnSp>
        <p:sp>
          <p:nvSpPr>
            <p:cNvPr id="16" name="TextBox 15">
              <a:extLst>
                <a:ext uri="{FF2B5EF4-FFF2-40B4-BE49-F238E27FC236}">
                  <a16:creationId xmlns:a16="http://schemas.microsoft.com/office/drawing/2014/main" id="{C2D040B2-06C2-0A8F-6120-ED33338A4B78}"/>
                </a:ext>
              </a:extLst>
            </p:cNvPr>
            <p:cNvSpPr txBox="1"/>
            <p:nvPr/>
          </p:nvSpPr>
          <p:spPr>
            <a:xfrm>
              <a:off x="7215301" y="2909560"/>
              <a:ext cx="1209685" cy="330349"/>
            </a:xfrm>
            <a:prstGeom prst="rect">
              <a:avLst/>
            </a:prstGeom>
            <a:noFill/>
          </p:spPr>
          <p:txBody>
            <a:bodyPr wrap="none" rtlCol="0">
              <a:spAutoFit/>
            </a:bodyPr>
            <a:lstStyle/>
            <a:p>
              <a:r>
                <a:rPr lang="en-US" sz="1400" b="1" dirty="0">
                  <a:solidFill>
                    <a:schemeClr val="accent3"/>
                  </a:solidFill>
                </a:rPr>
                <a:t>TD-error</a:t>
              </a:r>
            </a:p>
          </p:txBody>
        </p:sp>
      </p:grpSp>
    </p:spTree>
    <p:extLst>
      <p:ext uri="{BB962C8B-B14F-4D97-AF65-F5344CB8AC3E}">
        <p14:creationId xmlns:p14="http://schemas.microsoft.com/office/powerpoint/2010/main" val="4004526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01268-36EB-E39E-FDF7-3CEE63747468}"/>
              </a:ext>
            </a:extLst>
          </p:cNvPr>
          <p:cNvSpPr>
            <a:spLocks noGrp="1"/>
          </p:cNvSpPr>
          <p:nvPr>
            <p:ph type="title"/>
          </p:nvPr>
        </p:nvSpPr>
        <p:spPr/>
        <p:txBody>
          <a:bodyPr/>
          <a:lstStyle/>
          <a:p>
            <a:r>
              <a:rPr lang="en-US" dirty="0"/>
              <a:t>Alg. Tabular Q-Learning</a:t>
            </a:r>
          </a:p>
        </p:txBody>
      </p:sp>
      <p:pic>
        <p:nvPicPr>
          <p:cNvPr id="5" name="Content Placeholder 4" descr="Algorithm box: Q-learning (off-policy TD control) for estimating pi ≈ pi star. Algorithm parameters: step size alpha in (0, 1], small epsilon &gt; 0. Initialize Q(s, a), for all s in S plus, a in A(s), arbitrarily except that Q(terminal, ·) = 0. Loop for each episode: Initialize S; Loop for each step of episode: Choose A from S using policy derived from Q (e.g., epsilon-greedy); Take action A, observe R, S′; Q(S, A) ← Q(S, A) + alpha [R + gamma max over a of Q(S′, a) − Q(S, A)]; S ← S′; until S is terminal.">
            <a:extLst>
              <a:ext uri="{FF2B5EF4-FFF2-40B4-BE49-F238E27FC236}">
                <a16:creationId xmlns:a16="http://schemas.microsoft.com/office/drawing/2014/main" id="{C5B7A3C4-3DE2-A697-7764-609086D4B411}"/>
              </a:ext>
            </a:extLst>
          </p:cNvPr>
          <p:cNvPicPr>
            <a:picLocks noGrp="1" noChangeAspect="1"/>
          </p:cNvPicPr>
          <p:nvPr>
            <p:ph idx="1"/>
          </p:nvPr>
        </p:nvPicPr>
        <p:blipFill>
          <a:blip r:embed="rId2"/>
          <a:stretch>
            <a:fillRect/>
          </a:stretch>
        </p:blipFill>
        <p:spPr>
          <a:xfrm>
            <a:off x="2087336" y="1927972"/>
            <a:ext cx="8154789" cy="3427800"/>
          </a:xfrm>
          <a:prstGeom prst="rect">
            <a:avLst/>
          </a:prstGeom>
        </p:spPr>
      </p:pic>
    </p:spTree>
    <p:extLst>
      <p:ext uri="{BB962C8B-B14F-4D97-AF65-F5344CB8AC3E}">
        <p14:creationId xmlns:p14="http://schemas.microsoft.com/office/powerpoint/2010/main" val="81018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C2ADE-7CC7-3066-8F13-622CC5762D2A}"/>
              </a:ext>
            </a:extLst>
          </p:cNvPr>
          <p:cNvSpPr>
            <a:spLocks noGrp="1"/>
          </p:cNvSpPr>
          <p:nvPr>
            <p:ph type="title"/>
          </p:nvPr>
        </p:nvSpPr>
        <p:spPr/>
        <p:txBody>
          <a:bodyPr/>
          <a:lstStyle/>
          <a:p>
            <a:r>
              <a:rPr lang="en-US" dirty="0"/>
              <a:t>Fitted Q-Learning</a:t>
            </a:r>
          </a:p>
        </p:txBody>
      </p:sp>
      <mc:AlternateContent xmlns:mc="http://schemas.openxmlformats.org/markup-compatibility/2006" xmlns:a14="http://schemas.microsoft.com/office/drawing/2010/main">
        <mc:Choice Requires="a14">
          <p:sp>
            <p:nvSpPr>
              <p:cNvPr id="7" name="Rectangle: Rounded Corners 6" descr="Notation: DRL literature uses often Q where our textbook uses q hat">
                <a:extLst>
                  <a:ext uri="{FF2B5EF4-FFF2-40B4-BE49-F238E27FC236}">
                    <a16:creationId xmlns:a16="http://schemas.microsoft.com/office/drawing/2014/main" id="{D8CB0364-C457-08BE-C26F-39D883758D83}"/>
                  </a:ext>
                </a:extLst>
              </p:cNvPr>
              <p:cNvSpPr/>
              <p:nvPr/>
            </p:nvSpPr>
            <p:spPr>
              <a:xfrm>
                <a:off x="8154098" y="301501"/>
                <a:ext cx="3754074" cy="75907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t>Notation</a:t>
                </a:r>
                <a:r>
                  <a:rPr lang="en-US" dirty="0"/>
                  <a:t>: DRL literature uses often </a:t>
                </a:r>
                <a14:m>
                  <m:oMath xmlns:m="http://schemas.openxmlformats.org/officeDocument/2006/math">
                    <m:r>
                      <a:rPr lang="en-US" i="1" dirty="0" smtClean="0">
                        <a:latin typeface="Cambria Math" panose="02040503050406030204" pitchFamily="18" charset="0"/>
                      </a:rPr>
                      <m:t>𝑄</m:t>
                    </m:r>
                  </m:oMath>
                </a14:m>
                <a:r>
                  <a:rPr lang="en-US" dirty="0"/>
                  <a:t> where our textbook uses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oMath>
                </a14:m>
                <a:endParaRPr lang="en-US" i="1" dirty="0"/>
              </a:p>
            </p:txBody>
          </p:sp>
        </mc:Choice>
        <mc:Fallback xmlns="">
          <p:sp>
            <p:nvSpPr>
              <p:cNvPr id="7" name="Rectangle: Rounded Corners 6" descr="Notation: DRL literature uses often Q where our textbook uses q hat">
                <a:extLst>
                  <a:ext uri="{FF2B5EF4-FFF2-40B4-BE49-F238E27FC236}">
                    <a16:creationId xmlns:a16="http://schemas.microsoft.com/office/drawing/2014/main" id="{D8CB0364-C457-08BE-C26F-39D883758D83}"/>
                  </a:ext>
                </a:extLst>
              </p:cNvPr>
              <p:cNvSpPr>
                <a:spLocks noRot="1" noChangeAspect="1" noMove="1" noResize="1" noEditPoints="1" noAdjustHandles="1" noChangeArrowheads="1" noChangeShapeType="1" noTextEdit="1"/>
              </p:cNvSpPr>
              <p:nvPr/>
            </p:nvSpPr>
            <p:spPr>
              <a:xfrm>
                <a:off x="8154098" y="301501"/>
                <a:ext cx="3754074" cy="759072"/>
              </a:xfrm>
              <a:prstGeom prst="roundRect">
                <a:avLst/>
              </a:prstGeom>
              <a:blipFill>
                <a:blip r:embed="rId3"/>
                <a:stretch>
                  <a:fillRect r="-485" b="-39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Use a parameterized approximation Q(s,a; theta). Initial setting for theta sub 0 such that all Q-value are close to 0 (helps with learning). Bootstrapped target value at iteration k :. U sub k equals r plus gamma max over a prime, of Q(s prime,a prime; theta sub k). Update:. theta sub k plus 1, equals theta sub k plus alpha (U sub k minus Q (s,a, theta sub k)) gradient of Q (s,a, theta sub k). Linear approximation with transformed state features can be used. Next, we will consider an artificial neural network (ANN) as the approximator">
                <a:extLst>
                  <a:ext uri="{FF2B5EF4-FFF2-40B4-BE49-F238E27FC236}">
                    <a16:creationId xmlns:a16="http://schemas.microsoft.com/office/drawing/2014/main" id="{003A9D68-DE2F-5C7C-60D9-2E27F4D6A318}"/>
                  </a:ext>
                </a:extLst>
              </p:cNvPr>
              <p:cNvSpPr>
                <a:spLocks noGrp="1"/>
              </p:cNvSpPr>
              <p:nvPr>
                <p:ph idx="1"/>
              </p:nvPr>
            </p:nvSpPr>
            <p:spPr/>
            <p:txBody>
              <a:bodyPr>
                <a:normAutofit fontScale="77500" lnSpcReduction="20000"/>
              </a:bodyPr>
              <a:lstStyle/>
              <a:p>
                <a:r>
                  <a:rPr lang="en-US" dirty="0"/>
                  <a:t>Use a parameterized approximation </a:t>
                </a:r>
                <a14:m>
                  <m:oMath xmlns:m="http://schemas.openxmlformats.org/officeDocument/2006/math">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b="1" i="1">
                        <a:latin typeface="Cambria Math" panose="02040503050406030204" pitchFamily="18" charset="0"/>
                      </a:rPr>
                      <m:t>𝜽</m:t>
                    </m:r>
                    <m:r>
                      <a:rPr lang="en-US" i="1">
                        <a:latin typeface="Cambria Math" panose="02040503050406030204" pitchFamily="18" charset="0"/>
                      </a:rPr>
                      <m:t>)</m:t>
                    </m:r>
                  </m:oMath>
                </a14:m>
                <a:endParaRPr lang="en-US" dirty="0"/>
              </a:p>
              <a:p>
                <a:endParaRPr lang="en-US" dirty="0"/>
              </a:p>
              <a:p>
                <a:r>
                  <a:rPr lang="en-US" dirty="0"/>
                  <a:t>Initial setting for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0" i="1" smtClean="0">
                            <a:latin typeface="Cambria Math" panose="02040503050406030204" pitchFamily="18" charset="0"/>
                          </a:rPr>
                          <m:t>0</m:t>
                        </m:r>
                      </m:sub>
                    </m:sSub>
                  </m:oMath>
                </a14:m>
                <a:r>
                  <a:rPr lang="en-US" dirty="0"/>
                  <a:t> such that all Q-value are close to 0 (helps with learning).</a:t>
                </a:r>
              </a:p>
              <a:p>
                <a:endParaRPr lang="en-US" dirty="0"/>
              </a:p>
              <a:p>
                <a:r>
                  <a:rPr lang="en-US" dirty="0"/>
                  <a:t>Bootstrapped target value at iteration </a:t>
                </a:r>
                <a14:m>
                  <m:oMath xmlns:m="http://schemas.openxmlformats.org/officeDocument/2006/math">
                    <m:r>
                      <a:rPr lang="en-US" b="0" i="1" smtClean="0">
                        <a:latin typeface="Cambria Math" panose="02040503050406030204" pitchFamily="18" charset="0"/>
                      </a:rPr>
                      <m:t>𝑘</m:t>
                    </m:r>
                  </m:oMath>
                </a14:m>
                <a:r>
                  <a:rPr lang="en-US" dirty="0"/>
                  <a:t>:</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 </m:t>
                      </m:r>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max</m:t>
                              </m:r>
                            </m:e>
                            <m:lim>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lim>
                          </m:limLow>
                        </m:fName>
                        <m:e>
                          <m:r>
                            <a:rPr lang="en-US" i="1">
                              <a:latin typeface="Cambria Math" panose="02040503050406030204" pitchFamily="18" charset="0"/>
                            </a:rPr>
                            <m:t>𝑄</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𝑘</m:t>
                              </m:r>
                            </m:sub>
                          </m:sSub>
                          <m:r>
                            <a:rPr lang="en-US" i="1">
                              <a:latin typeface="Cambria Math" panose="02040503050406030204" pitchFamily="18" charset="0"/>
                            </a:rPr>
                            <m:t>)</m:t>
                          </m:r>
                        </m:e>
                      </m:func>
                    </m:oMath>
                  </m:oMathPara>
                </a14:m>
                <a:endParaRPr lang="en-US" dirty="0"/>
              </a:p>
              <a:p>
                <a:endParaRPr lang="en-US" dirty="0"/>
              </a:p>
              <a:p>
                <a:r>
                  <a:rPr lang="en-US" dirty="0"/>
                  <a:t>Update: </a:t>
                </a:r>
              </a:p>
              <a:p>
                <a:pPr marL="0" indent="0" algn="ctr">
                  <a:buNone/>
                </a:pP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𝑘</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𝛼</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𝑄</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𝑘</m:t>
                                </m:r>
                              </m:sub>
                            </m:sSub>
                          </m:e>
                        </m:d>
                      </m:e>
                    </m:d>
                    <m:r>
                      <m:rPr>
                        <m:sty m:val="p"/>
                      </m:rPr>
                      <a:rPr lang="en-US" b="0" i="1"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𝑘</m:t>
                            </m:r>
                          </m:sub>
                        </m:sSub>
                      </m:e>
                    </m:d>
                  </m:oMath>
                </a14:m>
                <a:endParaRPr lang="en-US" baseline="-25000" dirty="0"/>
              </a:p>
              <a:p>
                <a:pPr marL="0" indent="0" algn="ctr">
                  <a:buNone/>
                </a:pPr>
                <a:endParaRPr lang="en-US" baseline="-25000" dirty="0"/>
              </a:p>
              <a:p>
                <a:endParaRPr lang="en-US" dirty="0"/>
              </a:p>
              <a:p>
                <a:r>
                  <a:rPr lang="en-US" dirty="0"/>
                  <a:t>Linear approximation with transformed state features can be used.</a:t>
                </a:r>
              </a:p>
              <a:p>
                <a:r>
                  <a:rPr lang="en-US" dirty="0"/>
                  <a:t>Next, we will consider an artificial neural network (ANN) as the approximator. </a:t>
                </a:r>
              </a:p>
            </p:txBody>
          </p:sp>
        </mc:Choice>
        <mc:Fallback xmlns="">
          <p:sp>
            <p:nvSpPr>
              <p:cNvPr id="3" name="Content Placeholder 2" descr="Use a parameterized approximation Q(s,a; theta). Initial setting for theta sub 0 such that all Q-value are close to 0 (helps with learning). Bootstrapped target value at iteration k :. U sub k equals r plus gamma max over a prime, of Q(s prime,a prime; theta sub k). Update:. theta sub k plus 1, equals theta sub k plus alpha (U sub k minus Q (s,a, theta sub k)) gradient of Q (s,a, theta sub k). Linear approximation with transformed state features can be used. Next, we will consider an artificial neural network (ANN) as the approximator">
                <a:extLst>
                  <a:ext uri="{FF2B5EF4-FFF2-40B4-BE49-F238E27FC236}">
                    <a16:creationId xmlns:a16="http://schemas.microsoft.com/office/drawing/2014/main" id="{003A9D68-DE2F-5C7C-60D9-2E27F4D6A318}"/>
                  </a:ext>
                </a:extLst>
              </p:cNvPr>
              <p:cNvSpPr>
                <a:spLocks noGrp="1" noRot="1" noChangeAspect="1" noMove="1" noResize="1" noEditPoints="1" noAdjustHandles="1" noChangeArrowheads="1" noChangeShapeType="1" noTextEdit="1"/>
              </p:cNvSpPr>
              <p:nvPr>
                <p:ph idx="1"/>
              </p:nvPr>
            </p:nvSpPr>
            <p:spPr>
              <a:blipFill>
                <a:blip r:embed="rId2"/>
                <a:stretch>
                  <a:fillRect l="-696" t="-2551" b="-638"/>
                </a:stretch>
              </a:blipFill>
            </p:spPr>
            <p:txBody>
              <a:bodyPr/>
              <a:lstStyle/>
              <a:p>
                <a:r>
                  <a:rPr lang="en-US">
                    <a:noFill/>
                  </a:rPr>
                  <a:t> </a:t>
                </a:r>
              </a:p>
            </p:txBody>
          </p:sp>
        </mc:Fallback>
      </mc:AlternateContent>
      <p:sp>
        <p:nvSpPr>
          <p:cNvPr id="4" name="Speech Bubble: Rectangle with Corners Rounded 3">
            <a:extLst>
              <a:ext uri="{FF2B5EF4-FFF2-40B4-BE49-F238E27FC236}">
                <a16:creationId xmlns:a16="http://schemas.microsoft.com/office/drawing/2014/main" id="{9CF156B1-4DA9-C83B-FAA2-A2C18D6459FC}"/>
              </a:ext>
              <a:ext uri="{C183D7F6-B498-43B3-948B-1728B52AA6E4}">
                <adec:decorative xmlns:adec="http://schemas.microsoft.com/office/drawing/2017/decorative" val="1"/>
              </a:ext>
            </a:extLst>
          </p:cNvPr>
          <p:cNvSpPr/>
          <p:nvPr/>
        </p:nvSpPr>
        <p:spPr>
          <a:xfrm>
            <a:off x="7386507" y="3636145"/>
            <a:ext cx="2164360" cy="599812"/>
          </a:xfrm>
          <a:prstGeom prst="wedgeRoundRectCallout">
            <a:avLst>
              <a:gd name="adj1" fmla="val -99322"/>
              <a:gd name="adj2" fmla="val -8155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Q-learning assumes the best action will be taken</a:t>
            </a:r>
          </a:p>
        </p:txBody>
      </p:sp>
    </p:spTree>
    <p:extLst>
      <p:ext uri="{BB962C8B-B14F-4D97-AF65-F5344CB8AC3E}">
        <p14:creationId xmlns:p14="http://schemas.microsoft.com/office/powerpoint/2010/main" val="4012380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D7D0E-A67A-4382-B425-09B322BE189D}"/>
              </a:ext>
            </a:extLst>
          </p:cNvPr>
          <p:cNvSpPr>
            <a:spLocks noGrp="1"/>
          </p:cNvSpPr>
          <p:nvPr>
            <p:ph type="title"/>
          </p:nvPr>
        </p:nvSpPr>
        <p:spPr>
          <a:xfrm>
            <a:off x="838200" y="365126"/>
            <a:ext cx="8915400" cy="818384"/>
          </a:xfrm>
        </p:spPr>
        <p:txBody>
          <a:bodyPr>
            <a:normAutofit/>
          </a:bodyPr>
          <a:lstStyle/>
          <a:p>
            <a:r>
              <a:rPr lang="en-US" dirty="0"/>
              <a:t>Reminder: Artificial Neural Networks</a:t>
            </a:r>
          </a:p>
        </p:txBody>
      </p:sp>
      <p:grpSp>
        <p:nvGrpSpPr>
          <p:cNvPr id="13" name="Group 12" descr="A figure showing the topology of a neural network with a single hidden layer.">
            <a:extLst>
              <a:ext uri="{FF2B5EF4-FFF2-40B4-BE49-F238E27FC236}">
                <a16:creationId xmlns:a16="http://schemas.microsoft.com/office/drawing/2014/main" id="{75037A14-3AFB-5878-CDC0-BD0486D59593}"/>
              </a:ext>
            </a:extLst>
          </p:cNvPr>
          <p:cNvGrpSpPr/>
          <p:nvPr/>
        </p:nvGrpSpPr>
        <p:grpSpPr>
          <a:xfrm>
            <a:off x="45672" y="1164852"/>
            <a:ext cx="7992049" cy="5509792"/>
            <a:chOff x="45672" y="1164852"/>
            <a:chExt cx="7992049" cy="5509792"/>
          </a:xfrm>
        </p:grpSpPr>
        <p:pic>
          <p:nvPicPr>
            <p:cNvPr id="5" name="Picture 4" descr="(a) A small neural network: inputs x_1 and x_2 connect to hidden units 3 and 4 through weights w_1,3, w_1,4, w_2,3 and w_2,4; units 3 and 4 connect to output unit 5 through weights w_3,5 and w_4,5, which produces y hat. (b) The same network drawn as a computation graph: each hidden unit multiplies its inputs and a constant +1 by weights (w_0,3, w_1,3, w_2,3 for unit 3 and w_0,4, w_1,4, w_2,4 for unit 4), adds them, and applies an activation g_3 or g_4; the output unit multiplies g_3, g_4 and +1 by w_3,5, w_4,5 and w_0,5, adds them and applies g_5 to give y hat.">
              <a:extLst>
                <a:ext uri="{FF2B5EF4-FFF2-40B4-BE49-F238E27FC236}">
                  <a16:creationId xmlns:a16="http://schemas.microsoft.com/office/drawing/2014/main" id="{59C505E5-264D-4512-B738-64315008EC14}"/>
                </a:ext>
              </a:extLst>
            </p:cNvPr>
            <p:cNvPicPr>
              <a:picLocks noChangeAspect="1"/>
            </p:cNvPicPr>
            <p:nvPr/>
          </p:nvPicPr>
          <p:blipFill rotWithShape="1">
            <a:blip r:embed="rId2"/>
            <a:srcRect l="-2123" r="-1"/>
            <a:stretch/>
          </p:blipFill>
          <p:spPr>
            <a:xfrm>
              <a:off x="45672" y="1778000"/>
              <a:ext cx="7802930" cy="4576762"/>
            </a:xfrm>
            <a:prstGeom prst="rect">
              <a:avLst/>
            </a:prstGeom>
          </p:spPr>
        </p:pic>
        <p:sp>
          <p:nvSpPr>
            <p:cNvPr id="8" name="Speech Bubble: Rectangle 7">
              <a:extLst>
                <a:ext uri="{FF2B5EF4-FFF2-40B4-BE49-F238E27FC236}">
                  <a16:creationId xmlns:a16="http://schemas.microsoft.com/office/drawing/2014/main" id="{23257D05-D4F7-429A-8BEC-42DD062F3215}"/>
                </a:ext>
              </a:extLst>
            </p:cNvPr>
            <p:cNvSpPr/>
            <p:nvPr/>
          </p:nvSpPr>
          <p:spPr>
            <a:xfrm>
              <a:off x="2986312" y="6293644"/>
              <a:ext cx="976088" cy="381000"/>
            </a:xfrm>
            <a:prstGeom prst="wedgeRectCallout">
              <a:avLst>
                <a:gd name="adj1" fmla="val 58333"/>
                <a:gd name="adj2" fmla="val -124167"/>
              </a:avLst>
            </a:prstGeom>
            <a:solidFill>
              <a:srgbClr val="3D822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Bias term</a:t>
              </a:r>
            </a:p>
          </p:txBody>
        </p:sp>
        <p:sp>
          <p:nvSpPr>
            <p:cNvPr id="9" name="Speech Bubble: Rectangle 8">
              <a:extLst>
                <a:ext uri="{FF2B5EF4-FFF2-40B4-BE49-F238E27FC236}">
                  <a16:creationId xmlns:a16="http://schemas.microsoft.com/office/drawing/2014/main" id="{8CE8AF8D-75D9-4426-918B-179C915BDA88}"/>
                </a:ext>
              </a:extLst>
            </p:cNvPr>
            <p:cNvSpPr/>
            <p:nvPr/>
          </p:nvSpPr>
          <p:spPr>
            <a:xfrm>
              <a:off x="4405570" y="6113461"/>
              <a:ext cx="2425700" cy="482600"/>
            </a:xfrm>
            <a:prstGeom prst="wedgeRectCallout">
              <a:avLst>
                <a:gd name="adj1" fmla="val -15845"/>
                <a:gd name="adj2" fmla="val -257736"/>
              </a:avLst>
            </a:prstGeom>
            <a:solidFill>
              <a:srgbClr val="3D822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Non-linear activation function: often </a:t>
              </a:r>
              <a:r>
                <a:rPr lang="en-US" sz="1400" dirty="0" err="1"/>
                <a:t>ReLU</a:t>
              </a:r>
              <a:endParaRPr lang="en-US" sz="1400" dirty="0"/>
            </a:p>
          </p:txBody>
        </p:sp>
        <p:sp>
          <p:nvSpPr>
            <p:cNvPr id="11" name="Rectangle 10">
              <a:extLst>
                <a:ext uri="{FF2B5EF4-FFF2-40B4-BE49-F238E27FC236}">
                  <a16:creationId xmlns:a16="http://schemas.microsoft.com/office/drawing/2014/main" id="{AC5C019B-45E1-4EAF-A424-7EF300F014B2}"/>
                </a:ext>
                <a:ext uri="{C183D7F6-B498-43B3-948B-1728B52AA6E4}">
                  <adec:decorative xmlns:adec="http://schemas.microsoft.com/office/drawing/2017/decorative" val="1"/>
                </a:ext>
              </a:extLst>
            </p:cNvPr>
            <p:cNvSpPr/>
            <p:nvPr/>
          </p:nvSpPr>
          <p:spPr>
            <a:xfrm>
              <a:off x="1143000" y="2316162"/>
              <a:ext cx="838200" cy="3128962"/>
            </a:xfrm>
            <a:prstGeom prst="rect">
              <a:avLst/>
            </a:prstGeom>
            <a:solidFill>
              <a:srgbClr val="70AD47">
                <a:alpha val="20000"/>
              </a:srgbClr>
            </a:solidFill>
            <a:ln>
              <a:solidFill>
                <a:schemeClr val="accent6">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78A9B84-D447-4F07-A7BF-15162A2BC21C}"/>
                </a:ext>
              </a:extLst>
            </p:cNvPr>
            <p:cNvSpPr txBox="1"/>
            <p:nvPr/>
          </p:nvSpPr>
          <p:spPr>
            <a:xfrm>
              <a:off x="4240470" y="1164852"/>
              <a:ext cx="2590800" cy="369332"/>
            </a:xfrm>
            <a:prstGeom prst="rect">
              <a:avLst/>
            </a:prstGeom>
            <a:noFill/>
          </p:spPr>
          <p:txBody>
            <a:bodyPr wrap="square" rtlCol="0">
              <a:spAutoFit/>
            </a:bodyPr>
            <a:lstStyle/>
            <a:p>
              <a:r>
                <a:rPr lang="en-US" b="1" dirty="0"/>
                <a:t>Computational graph</a:t>
              </a:r>
            </a:p>
          </p:txBody>
        </p:sp>
        <p:sp>
          <p:nvSpPr>
            <p:cNvPr id="6" name="Speech Bubble: Rectangle 5">
              <a:extLst>
                <a:ext uri="{FF2B5EF4-FFF2-40B4-BE49-F238E27FC236}">
                  <a16:creationId xmlns:a16="http://schemas.microsoft.com/office/drawing/2014/main" id="{1D9991D3-82B3-3064-C52C-A229F1BFF3D7}"/>
                </a:ext>
              </a:extLst>
            </p:cNvPr>
            <p:cNvSpPr/>
            <p:nvPr/>
          </p:nvSpPr>
          <p:spPr>
            <a:xfrm>
              <a:off x="838200" y="6004187"/>
              <a:ext cx="1104900" cy="381000"/>
            </a:xfrm>
            <a:prstGeom prst="wedgeRectCallout">
              <a:avLst>
                <a:gd name="adj1" fmla="val 27371"/>
                <a:gd name="adj2" fmla="val -274915"/>
              </a:avLst>
            </a:prstGeom>
            <a:solidFill>
              <a:srgbClr val="3D822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Neuron</a:t>
              </a:r>
            </a:p>
          </p:txBody>
        </p:sp>
        <p:sp>
          <p:nvSpPr>
            <p:cNvPr id="7" name="Oval 6">
              <a:extLst>
                <a:ext uri="{FF2B5EF4-FFF2-40B4-BE49-F238E27FC236}">
                  <a16:creationId xmlns:a16="http://schemas.microsoft.com/office/drawing/2014/main" id="{617CB4B8-E50C-D9E2-1583-8D9F96D417B5}"/>
                </a:ext>
                <a:ext uri="{C183D7F6-B498-43B3-948B-1728B52AA6E4}">
                  <adec:decorative xmlns:adec="http://schemas.microsoft.com/office/drawing/2017/decorative" val="1"/>
                </a:ext>
              </a:extLst>
            </p:cNvPr>
            <p:cNvSpPr/>
            <p:nvPr/>
          </p:nvSpPr>
          <p:spPr>
            <a:xfrm>
              <a:off x="3516088" y="1503391"/>
              <a:ext cx="1943100" cy="2590800"/>
            </a:xfrm>
            <a:prstGeom prst="ellipse">
              <a:avLst/>
            </a:prstGeom>
            <a:solidFill>
              <a:srgbClr val="70AD47">
                <a:alpha val="20000"/>
              </a:srgbClr>
            </a:solidFill>
            <a:ln>
              <a:solidFill>
                <a:schemeClr val="accent6">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lt1"/>
                </a:solidFill>
              </a:endParaRPr>
            </a:p>
          </p:txBody>
        </p:sp>
        <p:cxnSp>
          <p:nvCxnSpPr>
            <p:cNvPr id="15" name="Straight Connector 14">
              <a:extLst>
                <a:ext uri="{FF2B5EF4-FFF2-40B4-BE49-F238E27FC236}">
                  <a16:creationId xmlns:a16="http://schemas.microsoft.com/office/drawing/2014/main" id="{B6AA2D06-82E0-6A3D-BC59-0D301E7633E2}"/>
                </a:ext>
                <a:ext uri="{C183D7F6-B498-43B3-948B-1728B52AA6E4}">
                  <adec:decorative xmlns:adec="http://schemas.microsoft.com/office/drawing/2017/decorative" val="1"/>
                </a:ext>
              </a:extLst>
            </p:cNvPr>
            <p:cNvCxnSpPr>
              <a:cxnSpLocks/>
            </p:cNvCxnSpPr>
            <p:nvPr/>
          </p:nvCxnSpPr>
          <p:spPr>
            <a:xfrm flipV="1">
              <a:off x="1611488" y="1586428"/>
              <a:ext cx="2409626" cy="1138266"/>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Straight Connector 17">
              <a:extLst>
                <a:ext uri="{FF2B5EF4-FFF2-40B4-BE49-F238E27FC236}">
                  <a16:creationId xmlns:a16="http://schemas.microsoft.com/office/drawing/2014/main" id="{89DDE38B-5A06-6C92-402E-28D279A27AE6}"/>
                </a:ext>
                <a:ext uri="{C183D7F6-B498-43B3-948B-1728B52AA6E4}">
                  <adec:decorative xmlns:adec="http://schemas.microsoft.com/office/drawing/2017/decorative" val="1"/>
                </a:ext>
              </a:extLst>
            </p:cNvPr>
            <p:cNvCxnSpPr>
              <a:cxnSpLocks/>
            </p:cNvCxnSpPr>
            <p:nvPr/>
          </p:nvCxnSpPr>
          <p:spPr>
            <a:xfrm>
              <a:off x="1611487" y="3054894"/>
              <a:ext cx="2323321" cy="891103"/>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Speech Bubble: Rectangle 18">
              <a:extLst>
                <a:ext uri="{FF2B5EF4-FFF2-40B4-BE49-F238E27FC236}">
                  <a16:creationId xmlns:a16="http://schemas.microsoft.com/office/drawing/2014/main" id="{DA8F59EF-0737-AEA9-B801-2196F0A75E2C}"/>
                </a:ext>
              </a:extLst>
            </p:cNvPr>
            <p:cNvSpPr/>
            <p:nvPr/>
          </p:nvSpPr>
          <p:spPr>
            <a:xfrm>
              <a:off x="1143000" y="1717664"/>
              <a:ext cx="1600200" cy="278481"/>
            </a:xfrm>
            <a:prstGeom prst="wedgeRectCallout">
              <a:avLst>
                <a:gd name="adj1" fmla="val -19445"/>
                <a:gd name="adj2" fmla="val 170713"/>
              </a:avLst>
            </a:prstGeom>
            <a:solidFill>
              <a:srgbClr val="3D822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Hidden Layer</a:t>
              </a:r>
            </a:p>
          </p:txBody>
        </p:sp>
        <p:sp>
          <p:nvSpPr>
            <p:cNvPr id="20" name="Speech Bubble: Rectangle 19">
              <a:extLst>
                <a:ext uri="{FF2B5EF4-FFF2-40B4-BE49-F238E27FC236}">
                  <a16:creationId xmlns:a16="http://schemas.microsoft.com/office/drawing/2014/main" id="{B94115DF-70E0-2559-C091-63FBF3DA0050}"/>
                </a:ext>
              </a:extLst>
            </p:cNvPr>
            <p:cNvSpPr/>
            <p:nvPr/>
          </p:nvSpPr>
          <p:spPr>
            <a:xfrm>
              <a:off x="5646560" y="1586428"/>
              <a:ext cx="2391161" cy="729734"/>
            </a:xfrm>
            <a:prstGeom prst="wedgeRectCallout">
              <a:avLst>
                <a:gd name="adj1" fmla="val 14694"/>
                <a:gd name="adj2" fmla="val 248730"/>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Used activation functions:</a:t>
              </a:r>
            </a:p>
            <a:p>
              <a:pPr algn="ctr"/>
              <a:r>
                <a:rPr lang="en-US" sz="1400" dirty="0"/>
                <a:t>Value function: linear</a:t>
              </a:r>
            </a:p>
            <a:p>
              <a:pPr algn="ctr"/>
              <a:r>
                <a:rPr lang="en-US" sz="1400" dirty="0"/>
                <a:t>Policy: </a:t>
              </a:r>
              <a:r>
                <a:rPr lang="en-US" sz="1400" dirty="0" err="1"/>
                <a:t>Softmax</a:t>
              </a:r>
              <a:endParaRPr lang="en-US" sz="1400" dirty="0"/>
            </a:p>
          </p:txBody>
        </p:sp>
      </p:grpSp>
      <p:sp>
        <p:nvSpPr>
          <p:cNvPr id="17" name="TextBox 16">
            <a:extLst>
              <a:ext uri="{FF2B5EF4-FFF2-40B4-BE49-F238E27FC236}">
                <a16:creationId xmlns:a16="http://schemas.microsoft.com/office/drawing/2014/main" id="{29E56341-A356-BD0B-2B28-DCEA6620EAE6}"/>
              </a:ext>
            </a:extLst>
          </p:cNvPr>
          <p:cNvSpPr txBox="1"/>
          <p:nvPr/>
        </p:nvSpPr>
        <p:spPr>
          <a:xfrm>
            <a:off x="511753" y="1104517"/>
            <a:ext cx="2590800" cy="369332"/>
          </a:xfrm>
          <a:prstGeom prst="rect">
            <a:avLst/>
          </a:prstGeom>
          <a:noFill/>
        </p:spPr>
        <p:txBody>
          <a:bodyPr wrap="square" rtlCol="0">
            <a:spAutoFit/>
          </a:bodyPr>
          <a:lstStyle/>
          <a:p>
            <a:pPr algn="ctr"/>
            <a:r>
              <a:rPr lang="en-US" b="1" dirty="0"/>
              <a:t>Network Topology</a:t>
            </a:r>
          </a:p>
        </p:txBody>
      </p:sp>
      <mc:AlternateContent xmlns:mc="http://schemas.openxmlformats.org/markup-compatibility/2006" xmlns:a14="http://schemas.microsoft.com/office/drawing/2010/main">
        <mc:Choice Requires="a14">
          <p:sp>
            <p:nvSpPr>
              <p:cNvPr id="3" name="Content Placeholder 2" descr="Represent y hat equals h (x) equals g to the power [2] (W to the power [2] g to the power [1] (W to the power [1] x)) as a network of weighted sums with non-linear activation functions g(times) (e.g., sigmoid, ReLU). Learn weight matrices W from examples using gradient descent with backpropagation of prediction errors L(y hat, y) . ANNs are universal approximators. Large networks can approximate any function (has no bias). Regularization is typically needed to avoid overfitting. End-to-end learning: The hidden layer performs “automatic feature engineering. Deep learning adds more hidden layers and layer types (e.g., convolution layers) for more efficient learning and transfer learning">
                <a:extLst>
                  <a:ext uri="{FF2B5EF4-FFF2-40B4-BE49-F238E27FC236}">
                    <a16:creationId xmlns:a16="http://schemas.microsoft.com/office/drawing/2014/main" id="{85970AAE-D0C1-4D69-AE5D-06F79663B2E1}"/>
                  </a:ext>
                </a:extLst>
              </p:cNvPr>
              <p:cNvSpPr>
                <a:spLocks noGrp="1"/>
              </p:cNvSpPr>
              <p:nvPr>
                <p:ph idx="1"/>
              </p:nvPr>
            </p:nvSpPr>
            <p:spPr>
              <a:xfrm>
                <a:off x="8035974" y="1452988"/>
                <a:ext cx="3503083" cy="4289276"/>
              </a:xfrm>
            </p:spPr>
            <p:txBody>
              <a:bodyPr>
                <a:normAutofit fontScale="92500" lnSpcReduction="20000"/>
              </a:bodyPr>
              <a:lstStyle/>
              <a:p>
                <a:r>
                  <a:rPr lang="en-US" sz="1600" dirty="0"/>
                  <a:t>Represent </a:t>
                </a:r>
                <a:br>
                  <a:rPr lang="en-US" sz="1600" dirty="0"/>
                </a:br>
                <a:r>
                  <a:rPr lang="en-US" sz="1600" dirty="0"/>
                  <a:t>   </a:t>
                </a:r>
                <a14:m>
                  <m:oMath xmlns:m="http://schemas.openxmlformats.org/officeDocument/2006/math">
                    <m:acc>
                      <m:accPr>
                        <m:chr m:val="̂"/>
                        <m:ctrlPr>
                          <a:rPr lang="en-US" sz="1600" b="0" i="1" dirty="0" smtClean="0">
                            <a:latin typeface="Cambria Math" panose="02040503050406030204" pitchFamily="18" charset="0"/>
                          </a:rPr>
                        </m:ctrlPr>
                      </m:accPr>
                      <m:e>
                        <m:r>
                          <a:rPr lang="en-US" sz="1600" b="0" i="1" dirty="0" smtClean="0">
                            <a:latin typeface="Cambria Math" panose="02040503050406030204" pitchFamily="18" charset="0"/>
                          </a:rPr>
                          <m:t>𝑦</m:t>
                        </m:r>
                      </m:e>
                    </m:acc>
                    <m:r>
                      <a:rPr lang="en-US" sz="1600" b="0" i="1" dirty="0" smtClean="0">
                        <a:latin typeface="Cambria Math" panose="02040503050406030204" pitchFamily="18" charset="0"/>
                      </a:rPr>
                      <m:t>=</m:t>
                    </m:r>
                    <m:r>
                      <a:rPr lang="en-US" sz="1600" b="0" i="1" dirty="0" smtClean="0">
                        <a:latin typeface="Cambria Math" panose="02040503050406030204" pitchFamily="18" charset="0"/>
                      </a:rPr>
                      <m:t>ℎ</m:t>
                    </m:r>
                    <m:d>
                      <m:dPr>
                        <m:ctrlPr>
                          <a:rPr lang="en-US" sz="1600" b="1" i="1" dirty="0" smtClean="0">
                            <a:latin typeface="Cambria Math" panose="02040503050406030204" pitchFamily="18" charset="0"/>
                          </a:rPr>
                        </m:ctrlPr>
                      </m:dPr>
                      <m:e>
                        <m:r>
                          <a:rPr lang="en-US" sz="1600" b="1" i="1" dirty="0" smtClean="0">
                            <a:latin typeface="Cambria Math" panose="02040503050406030204" pitchFamily="18" charset="0"/>
                          </a:rPr>
                          <m:t>𝒙</m:t>
                        </m:r>
                      </m:e>
                    </m:d>
                    <m:r>
                      <a:rPr lang="en-US" sz="1600" i="1">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𝑔</m:t>
                        </m:r>
                      </m:e>
                      <m:sup>
                        <m:r>
                          <a:rPr lang="en-US" sz="1600" b="0" i="1" smtClean="0">
                            <a:latin typeface="Cambria Math" panose="02040503050406030204" pitchFamily="18" charset="0"/>
                          </a:rPr>
                          <m:t>[2]</m:t>
                        </m:r>
                      </m:sup>
                    </m:sSup>
                    <m:d>
                      <m:dPr>
                        <m:ctrlPr>
                          <a:rPr lang="en-US" sz="1600" b="0" i="1" smtClean="0">
                            <a:latin typeface="Cambria Math" panose="02040503050406030204" pitchFamily="18" charset="0"/>
                          </a:rPr>
                        </m:ctrlPr>
                      </m:dPr>
                      <m:e>
                        <m:sSup>
                          <m:sSupPr>
                            <m:ctrlPr>
                              <a:rPr lang="en-US" sz="1600" b="1"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0" i="1" smtClean="0">
                                <a:latin typeface="Cambria Math" panose="02040503050406030204" pitchFamily="18" charset="0"/>
                              </a:rPr>
                              <m:t>[2]</m:t>
                            </m:r>
                          </m:sup>
                        </m:sSup>
                        <m:r>
                          <a:rPr lang="en-US" sz="1600" i="1">
                            <a:latin typeface="Cambria Math" panose="02040503050406030204" pitchFamily="18" charset="0"/>
                          </a:rPr>
                          <m:t>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𝑔</m:t>
                            </m:r>
                          </m:e>
                          <m:sup>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1</m:t>
                                </m:r>
                              </m:e>
                            </m:d>
                          </m:sup>
                        </m:sSup>
                        <m:d>
                          <m:dPr>
                            <m:ctrlPr>
                              <a:rPr lang="en-US" sz="1600" b="1" i="1" smtClean="0">
                                <a:latin typeface="Cambria Math" panose="02040503050406030204" pitchFamily="18" charset="0"/>
                              </a:rPr>
                            </m:ctrlPr>
                          </m:dPr>
                          <m:e>
                            <m:sSup>
                              <m:sSupPr>
                                <m:ctrlPr>
                                  <a:rPr lang="en-US" sz="1600" b="1" i="1" smtClean="0">
                                    <a:latin typeface="Cambria Math" panose="02040503050406030204" pitchFamily="18" charset="0"/>
                                  </a:rPr>
                                </m:ctrlPr>
                              </m:sSupPr>
                              <m:e>
                                <m:r>
                                  <a:rPr lang="en-US" sz="1600" b="1" i="1" smtClean="0">
                                    <a:latin typeface="Cambria Math" panose="02040503050406030204" pitchFamily="18" charset="0"/>
                                  </a:rPr>
                                  <m:t>𝑾</m:t>
                                </m:r>
                              </m:e>
                              <m:sup>
                                <m:r>
                                  <a:rPr lang="en-US" sz="1600" b="1" i="1" smtClean="0">
                                    <a:latin typeface="Cambria Math" panose="02040503050406030204" pitchFamily="18" charset="0"/>
                                  </a:rPr>
                                  <m:t>[</m:t>
                                </m:r>
                                <m:r>
                                  <a:rPr lang="en-US" sz="1600" b="0" i="1" smtClean="0">
                                    <a:latin typeface="Cambria Math" panose="02040503050406030204" pitchFamily="18" charset="0"/>
                                  </a:rPr>
                                  <m:t>1</m:t>
                                </m:r>
                                <m:r>
                                  <m:rPr>
                                    <m:lit/>
                                  </m:rPr>
                                  <a:rPr lang="en-US" sz="1600" b="0" i="1" smtClean="0">
                                    <a:latin typeface="Cambria Math" panose="02040503050406030204" pitchFamily="18" charset="0"/>
                                  </a:rPr>
                                  <m:t>]</m:t>
                                </m:r>
                              </m:sup>
                            </m:sSup>
                            <m:r>
                              <a:rPr lang="en-US" sz="1600" b="1" i="1">
                                <a:latin typeface="Cambria Math" panose="02040503050406030204" pitchFamily="18" charset="0"/>
                              </a:rPr>
                              <m:t>𝒙</m:t>
                            </m:r>
                          </m:e>
                        </m:d>
                      </m:e>
                    </m:d>
                  </m:oMath>
                </a14:m>
                <a:br>
                  <a:rPr lang="en-US" sz="1600" dirty="0"/>
                </a:br>
                <a:r>
                  <a:rPr lang="en-US" sz="1600" dirty="0"/>
                  <a:t>as a network of weighted sums with non-linear </a:t>
                </a:r>
                <a:r>
                  <a:rPr lang="en-US" sz="1600" b="1" dirty="0"/>
                  <a:t>activation functions </a:t>
                </a:r>
                <a14:m>
                  <m:oMath xmlns:m="http://schemas.openxmlformats.org/officeDocument/2006/math">
                    <m:r>
                      <a:rPr lang="en-US" sz="1600" i="1" dirty="0" smtClean="0">
                        <a:latin typeface="Cambria Math" panose="02040503050406030204" pitchFamily="18" charset="0"/>
                      </a:rPr>
                      <m:t>𝑔</m:t>
                    </m:r>
                    <m:r>
                      <a:rPr lang="en-US" sz="1600" b="0" i="1" dirty="0" smtClean="0">
                        <a:latin typeface="Cambria Math" panose="02040503050406030204" pitchFamily="18" charset="0"/>
                      </a:rPr>
                      <m:t>(⋅)</m:t>
                    </m:r>
                  </m:oMath>
                </a14:m>
                <a:r>
                  <a:rPr lang="en-US" sz="1600" dirty="0"/>
                  <a:t> (e.g., sigmoid, </a:t>
                </a:r>
                <a:r>
                  <a:rPr lang="en-US" sz="1600" dirty="0" err="1"/>
                  <a:t>ReLU</a:t>
                </a:r>
                <a:r>
                  <a:rPr lang="en-US" sz="1600" dirty="0"/>
                  <a:t>).</a:t>
                </a:r>
              </a:p>
              <a:p>
                <a:r>
                  <a:rPr lang="en-US" sz="1600" dirty="0"/>
                  <a:t>Learn weight matrices </a:t>
                </a:r>
                <a14:m>
                  <m:oMath xmlns:m="http://schemas.openxmlformats.org/officeDocument/2006/math">
                    <m:r>
                      <a:rPr lang="en-US" sz="1600" b="1" i="1" dirty="0" smtClean="0">
                        <a:latin typeface="Cambria Math" panose="02040503050406030204" pitchFamily="18" charset="0"/>
                      </a:rPr>
                      <m:t>𝑾</m:t>
                    </m:r>
                  </m:oMath>
                </a14:m>
                <a:r>
                  <a:rPr lang="en-US" sz="1600" dirty="0"/>
                  <a:t> from examples using gradient descent with </a:t>
                </a:r>
                <a:r>
                  <a:rPr lang="en-US" sz="1600" b="1" dirty="0"/>
                  <a:t>backpropagation</a:t>
                </a:r>
                <a:r>
                  <a:rPr lang="en-US" sz="1600" dirty="0"/>
                  <a:t> of prediction errors </a:t>
                </a:r>
                <a14:m>
                  <m:oMath xmlns:m="http://schemas.openxmlformats.org/officeDocument/2006/math">
                    <m:r>
                      <a:rPr lang="en-US" sz="1600" i="1" dirty="0">
                        <a:latin typeface="Cambria Math" panose="02040503050406030204" pitchFamily="18" charset="0"/>
                      </a:rPr>
                      <m:t>𝐿</m:t>
                    </m:r>
                    <m:r>
                      <a:rPr lang="en-US" sz="1600" b="0" i="0" dirty="0" smtClean="0">
                        <a:latin typeface="Cambria Math" panose="02040503050406030204" pitchFamily="18" charset="0"/>
                      </a:rPr>
                      <m:t>(</m:t>
                    </m:r>
                    <m:acc>
                      <m:accPr>
                        <m:chr m:val="̂"/>
                        <m:ctrlPr>
                          <a:rPr lang="en-US" sz="1600" b="0" i="1" dirty="0" smtClean="0">
                            <a:latin typeface="Cambria Math" panose="02040503050406030204" pitchFamily="18" charset="0"/>
                          </a:rPr>
                        </m:ctrlPr>
                      </m:accPr>
                      <m:e>
                        <m:r>
                          <a:rPr lang="en-US" sz="1600" b="0" i="1" dirty="0" smtClean="0">
                            <a:latin typeface="Cambria Math" panose="02040503050406030204" pitchFamily="18" charset="0"/>
                          </a:rPr>
                          <m:t>𝑦</m:t>
                        </m:r>
                      </m:e>
                    </m:acc>
                    <m:r>
                      <a:rPr lang="en-US" sz="1600" b="0" i="1" dirty="0" smtClean="0">
                        <a:latin typeface="Cambria Math" panose="02040503050406030204" pitchFamily="18" charset="0"/>
                      </a:rPr>
                      <m:t>, </m:t>
                    </m:r>
                    <m:r>
                      <a:rPr lang="en-US" sz="1600" b="0" i="1" dirty="0" smtClean="0">
                        <a:latin typeface="Cambria Math" panose="02040503050406030204" pitchFamily="18" charset="0"/>
                      </a:rPr>
                      <m:t>𝑦</m:t>
                    </m:r>
                    <m:r>
                      <a:rPr lang="en-US" sz="1600" b="0" i="1" dirty="0" smtClean="0">
                        <a:latin typeface="Cambria Math" panose="02040503050406030204" pitchFamily="18" charset="0"/>
                      </a:rPr>
                      <m:t>)</m:t>
                    </m:r>
                  </m:oMath>
                </a14:m>
                <a:r>
                  <a:rPr lang="en-US" sz="1600" dirty="0"/>
                  <a:t>.</a:t>
                </a:r>
              </a:p>
              <a:p>
                <a:r>
                  <a:rPr lang="en-US" sz="1600" dirty="0"/>
                  <a:t>ANNs are </a:t>
                </a:r>
                <a:r>
                  <a:rPr lang="en-US" sz="1600" b="1" dirty="0"/>
                  <a:t>universal approximators</a:t>
                </a:r>
                <a:r>
                  <a:rPr lang="en-US" sz="1600" dirty="0"/>
                  <a:t>. Large networks can approximate any function (has no bias). </a:t>
                </a:r>
                <a:r>
                  <a:rPr lang="en-US" sz="1600" b="1" dirty="0"/>
                  <a:t>Regularization</a:t>
                </a:r>
                <a:r>
                  <a:rPr lang="en-US" sz="1600" dirty="0"/>
                  <a:t> is typically needed to avoid overfitting.</a:t>
                </a:r>
              </a:p>
              <a:p>
                <a:r>
                  <a:rPr lang="en-US" sz="1600" b="1" dirty="0"/>
                  <a:t>End-to-end learning</a:t>
                </a:r>
                <a:r>
                  <a:rPr lang="en-US" sz="1600" dirty="0"/>
                  <a:t>: The hidden layer performs “automatic feature engineering.</a:t>
                </a:r>
              </a:p>
              <a:p>
                <a:r>
                  <a:rPr lang="en-US" sz="1600" b="1" dirty="0"/>
                  <a:t>Deep learning </a:t>
                </a:r>
                <a:r>
                  <a:rPr lang="en-US" sz="1600" dirty="0"/>
                  <a:t>adds more hidden layers and layer types (e.g., convolution layers) for more efficient learning and transfer learning.</a:t>
                </a:r>
              </a:p>
            </p:txBody>
          </p:sp>
        </mc:Choice>
        <mc:Fallback xmlns="">
          <p:sp>
            <p:nvSpPr>
              <p:cNvPr id="3" name="Content Placeholder 2" descr="Represent y hat equals h (x) equals g to the power [2] (W to the power [2] g to the power [1] (W to the power [1] x)) as a network of weighted sums with non-linear activation functions g(times) (e.g., sigmoid, ReLU). Learn weight matrices W from examples using gradient descent with backpropagation of prediction errors L(y hat, y) . ANNs are universal approximators. Large networks can approximate any function (has no bias). Regularization is typically needed to avoid overfitting. End-to-end learning: The hidden layer performs “automatic feature engineering. Deep learning adds more hidden layers and layer types (e.g., convolution layers) for more efficient learning and transfer learning">
                <a:extLst>
                  <a:ext uri="{FF2B5EF4-FFF2-40B4-BE49-F238E27FC236}">
                    <a16:creationId xmlns:a16="http://schemas.microsoft.com/office/drawing/2014/main" id="{85970AAE-D0C1-4D69-AE5D-06F79663B2E1}"/>
                  </a:ext>
                </a:extLst>
              </p:cNvPr>
              <p:cNvSpPr>
                <a:spLocks noGrp="1" noRot="1" noChangeAspect="1" noMove="1" noResize="1" noEditPoints="1" noAdjustHandles="1" noChangeArrowheads="1" noChangeShapeType="1" noTextEdit="1"/>
              </p:cNvSpPr>
              <p:nvPr>
                <p:ph idx="1"/>
              </p:nvPr>
            </p:nvSpPr>
            <p:spPr>
              <a:xfrm>
                <a:off x="8035974" y="1452988"/>
                <a:ext cx="3503083" cy="4289276"/>
              </a:xfrm>
              <a:blipFill>
                <a:blip r:embed="rId3"/>
                <a:stretch>
                  <a:fillRect l="-522" t="-1420" r="-1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Speech Bubble: Rectangle 13" descr="Superscript [n] means the layer. Layer weights are collected in a matrix">
                <a:extLst>
                  <a:ext uri="{FF2B5EF4-FFF2-40B4-BE49-F238E27FC236}">
                    <a16:creationId xmlns:a16="http://schemas.microsoft.com/office/drawing/2014/main" id="{52ECC6E1-4A8F-8EF9-32E5-F4AB2AA7DFAE}"/>
                  </a:ext>
                </a:extLst>
              </p:cNvPr>
              <p:cNvSpPr/>
              <p:nvPr/>
            </p:nvSpPr>
            <p:spPr>
              <a:xfrm>
                <a:off x="9487949" y="277041"/>
                <a:ext cx="2340527" cy="722142"/>
              </a:xfrm>
              <a:prstGeom prst="wedgeRectCallout">
                <a:avLst>
                  <a:gd name="adj1" fmla="val -29484"/>
                  <a:gd name="adj2" fmla="val 132010"/>
                </a:avLst>
              </a:prstGeom>
              <a:solidFill>
                <a:srgbClr val="3D822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Superscript </a:t>
                </a:r>
                <a14:m>
                  <m:oMath xmlns:m="http://schemas.openxmlformats.org/officeDocument/2006/math">
                    <m:r>
                      <a:rPr lang="en-US" sz="1400" i="1" dirty="0" smtClean="0">
                        <a:latin typeface="Cambria Math" panose="02040503050406030204" pitchFamily="18" charset="0"/>
                      </a:rPr>
                      <m:t>[</m:t>
                    </m:r>
                    <m:r>
                      <a:rPr lang="en-US" sz="1400" i="1" dirty="0" smtClean="0">
                        <a:latin typeface="Cambria Math" panose="02040503050406030204" pitchFamily="18" charset="0"/>
                      </a:rPr>
                      <m:t>𝑛</m:t>
                    </m:r>
                    <m:r>
                      <a:rPr lang="en-US" sz="1400" i="1" dirty="0" smtClean="0">
                        <a:latin typeface="Cambria Math" panose="02040503050406030204" pitchFamily="18" charset="0"/>
                      </a:rPr>
                      <m:t>] </m:t>
                    </m:r>
                  </m:oMath>
                </a14:m>
                <a:r>
                  <a:rPr lang="en-US" sz="1400" dirty="0"/>
                  <a:t>means the layer. Layer weights are collected in a matrix.</a:t>
                </a:r>
              </a:p>
            </p:txBody>
          </p:sp>
        </mc:Choice>
        <mc:Fallback xmlns="">
          <p:sp>
            <p:nvSpPr>
              <p:cNvPr id="14" name="Speech Bubble: Rectangle 13" descr="Superscript [n] means the layer. Layer weights are collected in a matrix">
                <a:extLst>
                  <a:ext uri="{FF2B5EF4-FFF2-40B4-BE49-F238E27FC236}">
                    <a16:creationId xmlns:a16="http://schemas.microsoft.com/office/drawing/2014/main" id="{52ECC6E1-4A8F-8EF9-32E5-F4AB2AA7DFAE}"/>
                  </a:ext>
                </a:extLst>
              </p:cNvPr>
              <p:cNvSpPr>
                <a:spLocks noRot="1" noChangeAspect="1" noMove="1" noResize="1" noEditPoints="1" noAdjustHandles="1" noChangeArrowheads="1" noChangeShapeType="1" noTextEdit="1"/>
              </p:cNvSpPr>
              <p:nvPr/>
            </p:nvSpPr>
            <p:spPr>
              <a:xfrm>
                <a:off x="9487949" y="277041"/>
                <a:ext cx="2340527" cy="722142"/>
              </a:xfrm>
              <a:prstGeom prst="wedgeRectCallout">
                <a:avLst>
                  <a:gd name="adj1" fmla="val -29484"/>
                  <a:gd name="adj2" fmla="val 132010"/>
                </a:avLst>
              </a:prstGeom>
              <a:blipFill>
                <a:blip r:embed="rId4"/>
                <a:stretch>
                  <a:fillRect t="-4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descr="Notation: We use for the network weights W often theta">
                <a:extLst>
                  <a:ext uri="{FF2B5EF4-FFF2-40B4-BE49-F238E27FC236}">
                    <a16:creationId xmlns:a16="http://schemas.microsoft.com/office/drawing/2014/main" id="{0020C5F7-04BC-D126-3FBC-549CF245ED02}"/>
                  </a:ext>
                </a:extLst>
              </p:cNvPr>
              <p:cNvSpPr txBox="1"/>
              <p:nvPr/>
            </p:nvSpPr>
            <p:spPr>
              <a:xfrm>
                <a:off x="8396681" y="5790295"/>
                <a:ext cx="2957119" cy="6463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Notation: We use for the network weights </a:t>
                </a:r>
                <a14:m>
                  <m:oMath xmlns:m="http://schemas.openxmlformats.org/officeDocument/2006/math">
                    <m:r>
                      <a:rPr lang="en-US" b="1" i="1" smtClean="0">
                        <a:latin typeface="Cambria Math" panose="02040503050406030204" pitchFamily="18" charset="0"/>
                      </a:rPr>
                      <m:t>𝑾</m:t>
                    </m:r>
                  </m:oMath>
                </a14:m>
                <a:r>
                  <a:rPr lang="en-US" dirty="0"/>
                  <a:t> often </a:t>
                </a:r>
                <a14:m>
                  <m:oMath xmlns:m="http://schemas.openxmlformats.org/officeDocument/2006/math">
                    <m:r>
                      <a:rPr lang="en-US" b="1" i="1" smtClean="0">
                        <a:latin typeface="Cambria Math" panose="02040503050406030204" pitchFamily="18" charset="0"/>
                      </a:rPr>
                      <m:t>𝜽</m:t>
                    </m:r>
                  </m:oMath>
                </a14:m>
                <a:endParaRPr lang="en-US" b="1" dirty="0"/>
              </a:p>
            </p:txBody>
          </p:sp>
        </mc:Choice>
        <mc:Fallback xmlns="">
          <p:sp>
            <p:nvSpPr>
              <p:cNvPr id="16" name="TextBox 15" descr="Notation: We use for the network weights W often theta">
                <a:extLst>
                  <a:ext uri="{FF2B5EF4-FFF2-40B4-BE49-F238E27FC236}">
                    <a16:creationId xmlns:a16="http://schemas.microsoft.com/office/drawing/2014/main" id="{0020C5F7-04BC-D126-3FBC-549CF245ED02}"/>
                  </a:ext>
                </a:extLst>
              </p:cNvPr>
              <p:cNvSpPr txBox="1">
                <a:spLocks noRot="1" noChangeAspect="1" noMove="1" noResize="1" noEditPoints="1" noAdjustHandles="1" noChangeArrowheads="1" noChangeShapeType="1" noTextEdit="1"/>
              </p:cNvSpPr>
              <p:nvPr/>
            </p:nvSpPr>
            <p:spPr>
              <a:xfrm>
                <a:off x="8396681" y="5790295"/>
                <a:ext cx="2957119" cy="646331"/>
              </a:xfrm>
              <a:prstGeom prst="rect">
                <a:avLst/>
              </a:prstGeom>
              <a:blipFill>
                <a:blip r:embed="rId5"/>
                <a:stretch>
                  <a:fillRect l="-1431" t="-3670" b="-12844"/>
                </a:stretch>
              </a:blipFill>
            </p:spPr>
            <p:txBody>
              <a:bodyPr/>
              <a:lstStyle/>
              <a:p>
                <a:r>
                  <a:rPr lang="en-US">
                    <a:noFill/>
                  </a:rPr>
                  <a:t> </a:t>
                </a:r>
              </a:p>
            </p:txBody>
          </p:sp>
        </mc:Fallback>
      </mc:AlternateContent>
    </p:spTree>
    <p:extLst>
      <p:ext uri="{BB962C8B-B14F-4D97-AF65-F5344CB8AC3E}">
        <p14:creationId xmlns:p14="http://schemas.microsoft.com/office/powerpoint/2010/main" val="4045130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AFC18-3C9C-73E2-BCA4-8AFB6039A28F}"/>
              </a:ext>
            </a:extLst>
          </p:cNvPr>
          <p:cNvSpPr>
            <a:spLocks noGrp="1"/>
          </p:cNvSpPr>
          <p:nvPr>
            <p:ph type="title"/>
          </p:nvPr>
        </p:nvSpPr>
        <p:spPr/>
        <p:txBody>
          <a:bodyPr>
            <a:normAutofit fontScale="90000"/>
          </a:bodyPr>
          <a:lstStyle/>
          <a:p>
            <a:r>
              <a:rPr lang="en-US" dirty="0"/>
              <a:t>Neural fitted Q-learning (NFQ; Riedmiller, 2005)</a:t>
            </a:r>
          </a:p>
        </p:txBody>
      </p:sp>
      <mc:AlternateContent xmlns:mc="http://schemas.openxmlformats.org/markup-compatibility/2006" xmlns:a14="http://schemas.microsoft.com/office/drawing/2010/main">
        <mc:Choice Requires="a14">
          <p:sp>
            <p:nvSpPr>
              <p:cNvPr id="3" name="Content Placeholder 2" descr="Use an ANN called the Q-network as the approximator for the Q-function. Issue: Online learning does not work well with our hardware. (GPUs only efficiently perform many matrix operations in parallel). Solution:. Learn the Q-network offline: batch learning with experience replay from a sample set of experience containing (s,a,r,s prime) tuples. Needs off-policy learning: Use supervised learning (regression) with a sample from a replay buffer as the training set. The regression target (Q-values) are estimated from the tuples using temporal differencing: Q (s,a) equals r plus gamma max over a prime, of Q(s prime,a prime). More issues:. May not converge or become unstable (uses non-linear approximation where the target moves). Q-values tend to be overestimated due to the max operator in the target">
                <a:extLst>
                  <a:ext uri="{FF2B5EF4-FFF2-40B4-BE49-F238E27FC236}">
                    <a16:creationId xmlns:a16="http://schemas.microsoft.com/office/drawing/2014/main" id="{96147778-6CD7-27C6-105F-34C01A6D7FF7}"/>
                  </a:ext>
                </a:extLst>
              </p:cNvPr>
              <p:cNvSpPr>
                <a:spLocks noGrp="1"/>
              </p:cNvSpPr>
              <p:nvPr>
                <p:ph idx="1"/>
              </p:nvPr>
            </p:nvSpPr>
            <p:spPr>
              <a:xfrm>
                <a:off x="838200" y="1444496"/>
                <a:ext cx="6483980" cy="4732467"/>
              </a:xfrm>
            </p:spPr>
            <p:txBody>
              <a:bodyPr>
                <a:normAutofit fontScale="62500" lnSpcReduction="20000"/>
              </a:bodyPr>
              <a:lstStyle/>
              <a:p>
                <a:r>
                  <a:rPr lang="en-US" dirty="0"/>
                  <a:t>Use an ANN called the </a:t>
                </a:r>
                <a:r>
                  <a:rPr lang="en-US" b="1" dirty="0"/>
                  <a:t>Q-network</a:t>
                </a:r>
                <a:r>
                  <a:rPr lang="en-US" dirty="0"/>
                  <a:t> as the approximator for the Q-function.</a:t>
                </a:r>
              </a:p>
              <a:p>
                <a:endParaRPr lang="en-US" dirty="0"/>
              </a:p>
              <a:p>
                <a:r>
                  <a:rPr lang="en-US" b="1" dirty="0"/>
                  <a:t>Issue</a:t>
                </a:r>
                <a:r>
                  <a:rPr lang="en-US" dirty="0"/>
                  <a:t>: Online learning does not work well with our hardware. (GPUs only efficiently perform </a:t>
                </a:r>
                <a:r>
                  <a:rPr lang="en-US" b="1" dirty="0"/>
                  <a:t>many </a:t>
                </a:r>
                <a:r>
                  <a:rPr lang="en-US" dirty="0"/>
                  <a:t>matrix operations in parallel) </a:t>
                </a:r>
              </a:p>
              <a:p>
                <a:endParaRPr lang="en-US" b="1" dirty="0"/>
              </a:p>
              <a:p>
                <a:r>
                  <a:rPr lang="en-US" b="1" dirty="0"/>
                  <a:t>Solution</a:t>
                </a:r>
                <a:r>
                  <a:rPr lang="en-US" dirty="0"/>
                  <a:t>: </a:t>
                </a:r>
              </a:p>
              <a:p>
                <a:pPr lvl="1"/>
                <a:r>
                  <a:rPr lang="en-US" dirty="0"/>
                  <a:t>Learn the Q-network offline: </a:t>
                </a:r>
                <a:r>
                  <a:rPr lang="en-US" b="1" dirty="0"/>
                  <a:t>batch learning </a:t>
                </a:r>
                <a:r>
                  <a:rPr lang="en-US" dirty="0"/>
                  <a:t>with </a:t>
                </a:r>
                <a:r>
                  <a:rPr lang="en-US" b="1" dirty="0"/>
                  <a:t>experience replay </a:t>
                </a:r>
                <a:r>
                  <a:rPr lang="en-US" dirty="0"/>
                  <a:t>from a sample set of experience containing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r>
                  <a:rPr lang="en-US" dirty="0"/>
                  <a:t> tuples.</a:t>
                </a:r>
              </a:p>
              <a:p>
                <a:pPr lvl="1"/>
                <a:r>
                  <a:rPr lang="en-US" dirty="0"/>
                  <a:t>Needs off-policy learning: Use </a:t>
                </a:r>
                <a:r>
                  <a:rPr lang="en-US" b="1" dirty="0"/>
                  <a:t>supervised learning</a:t>
                </a:r>
                <a:r>
                  <a:rPr lang="en-US" dirty="0"/>
                  <a:t> </a:t>
                </a:r>
                <a:r>
                  <a:rPr lang="en-US" b="1" dirty="0"/>
                  <a:t>(regression) </a:t>
                </a:r>
                <a:r>
                  <a:rPr lang="en-US" dirty="0"/>
                  <a:t>with a sample from a replay buffer as the training set. </a:t>
                </a:r>
              </a:p>
              <a:p>
                <a:pPr lvl="1"/>
                <a:r>
                  <a:rPr lang="en-US" dirty="0"/>
                  <a:t>The regression target (Q-values) are estimated from the tuples using </a:t>
                </a:r>
                <a:r>
                  <a:rPr lang="en-US" b="1" dirty="0"/>
                  <a:t>temporal differencing</a:t>
                </a:r>
                <a:r>
                  <a:rPr lang="en-US" dirty="0"/>
                  <a:t>: </a:t>
                </a:r>
                <a14:m>
                  <m:oMath xmlns:m="http://schemas.openxmlformats.org/officeDocument/2006/math">
                    <m:r>
                      <a:rPr lang="en-US" b="0" i="1" smtClean="0">
                        <a:latin typeface="Cambria Math" panose="02040503050406030204" pitchFamily="18" charset="0"/>
                      </a:rPr>
                      <m:t>𝑄</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𝛾</m:t>
                    </m:r>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𝑎</m:t>
                            </m:r>
                            <m:r>
                              <a:rPr lang="en-US" b="0" i="1" smtClean="0">
                                <a:latin typeface="Cambria Math" panose="02040503050406030204" pitchFamily="18" charset="0"/>
                              </a:rPr>
                              <m:t>′</m:t>
                            </m:r>
                          </m:lim>
                        </m:limLow>
                      </m:fName>
                      <m:e>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e>
                    </m:func>
                  </m:oMath>
                </a14:m>
                <a:br>
                  <a:rPr lang="en-US" dirty="0"/>
                </a:br>
                <a:endParaRPr lang="en-US" b="1" dirty="0"/>
              </a:p>
              <a:p>
                <a:r>
                  <a:rPr lang="en-US" b="1" dirty="0"/>
                  <a:t>More issues</a:t>
                </a:r>
                <a:r>
                  <a:rPr lang="en-US" dirty="0"/>
                  <a:t>: </a:t>
                </a:r>
              </a:p>
              <a:p>
                <a:pPr lvl="1"/>
                <a:r>
                  <a:rPr lang="en-US" dirty="0"/>
                  <a:t>May not converge or become unstable (uses non-linear approximation where the target moves).</a:t>
                </a:r>
              </a:p>
              <a:p>
                <a:pPr lvl="1"/>
                <a:r>
                  <a:rPr lang="en-US" dirty="0"/>
                  <a:t>Q-values tend to be overestimated due to the max operator in the target.</a:t>
                </a:r>
              </a:p>
            </p:txBody>
          </p:sp>
        </mc:Choice>
        <mc:Fallback xmlns="">
          <p:sp>
            <p:nvSpPr>
              <p:cNvPr id="3" name="Content Placeholder 2" descr="Use an ANN called the Q-network as the approximator for the Q-function. Issue: Online learning does not work well with our hardware. (GPUs only efficiently perform many matrix operations in parallel). Solution:. Learn the Q-network offline: batch learning with experience replay from a sample set of experience containing (s,a,r,s prime) tuples. Needs off-policy learning: Use supervised learning (regression) with a sample from a replay buffer as the training set. The regression target (Q-values) are estimated from the tuples using temporal differencing: Q (s,a) equals r plus gamma max over a prime, of Q(s prime,a prime). More issues:. May not converge or become unstable (uses non-linear approximation where the target moves). Q-values tend to be overestimated due to the max operator in the target">
                <a:extLst>
                  <a:ext uri="{FF2B5EF4-FFF2-40B4-BE49-F238E27FC236}">
                    <a16:creationId xmlns:a16="http://schemas.microsoft.com/office/drawing/2014/main" id="{96147778-6CD7-27C6-105F-34C01A6D7FF7}"/>
                  </a:ext>
                </a:extLst>
              </p:cNvPr>
              <p:cNvSpPr>
                <a:spLocks noGrp="1" noRot="1" noChangeAspect="1" noMove="1" noResize="1" noEditPoints="1" noAdjustHandles="1" noChangeArrowheads="1" noChangeShapeType="1" noTextEdit="1"/>
              </p:cNvSpPr>
              <p:nvPr>
                <p:ph idx="1"/>
              </p:nvPr>
            </p:nvSpPr>
            <p:spPr>
              <a:xfrm>
                <a:off x="838200" y="1444496"/>
                <a:ext cx="6483980" cy="4732467"/>
              </a:xfrm>
              <a:blipFill>
                <a:blip r:embed="rId2"/>
                <a:stretch>
                  <a:fillRect l="-659" t="-2062" r="-11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9" name="Table 78" descr="Table with 3 rows and 4 columns. Column headers: s, a, r, s prime. Row 1: blank, blank, blank, blank. Row 2: blank, blank, blank, blank.">
                <a:extLst>
                  <a:ext uri="{FF2B5EF4-FFF2-40B4-BE49-F238E27FC236}">
                    <a16:creationId xmlns:a16="http://schemas.microsoft.com/office/drawing/2014/main" id="{087F8568-16C0-C008-FD13-ADA22B9D38EF}"/>
                  </a:ext>
                </a:extLst>
              </p:cNvPr>
              <p:cNvGraphicFramePr>
                <a:graphicFrameLocks noGrp="1"/>
              </p:cNvGraphicFramePr>
              <p:nvPr>
                <p:extLst>
                  <p:ext uri="{D42A27DB-BD31-4B8C-83A1-F6EECF244321}">
                    <p14:modId xmlns:p14="http://schemas.microsoft.com/office/powerpoint/2010/main" val="1374245818"/>
                  </p:ext>
                </p:extLst>
              </p:nvPr>
            </p:nvGraphicFramePr>
            <p:xfrm>
              <a:off x="8665465" y="1327672"/>
              <a:ext cx="1237920" cy="914400"/>
            </p:xfrm>
            <a:graphic>
              <a:graphicData uri="http://schemas.openxmlformats.org/drawingml/2006/table">
                <a:tbl>
                  <a:tblPr firstRow="1" bandRow="1">
                    <a:tableStyleId>{5C22544A-7EE6-4342-B048-85BDC9FD1C3A}</a:tableStyleId>
                  </a:tblPr>
                  <a:tblGrid>
                    <a:gridCol w="309480">
                      <a:extLst>
                        <a:ext uri="{9D8B030D-6E8A-4147-A177-3AD203B41FA5}">
                          <a16:colId xmlns:a16="http://schemas.microsoft.com/office/drawing/2014/main" val="1277141722"/>
                        </a:ext>
                      </a:extLst>
                    </a:gridCol>
                    <a:gridCol w="309480">
                      <a:extLst>
                        <a:ext uri="{9D8B030D-6E8A-4147-A177-3AD203B41FA5}">
                          <a16:colId xmlns:a16="http://schemas.microsoft.com/office/drawing/2014/main" val="3481165758"/>
                        </a:ext>
                      </a:extLst>
                    </a:gridCol>
                    <a:gridCol w="309480">
                      <a:extLst>
                        <a:ext uri="{9D8B030D-6E8A-4147-A177-3AD203B41FA5}">
                          <a16:colId xmlns:a16="http://schemas.microsoft.com/office/drawing/2014/main" val="41284380"/>
                        </a:ext>
                      </a:extLst>
                    </a:gridCol>
                    <a:gridCol w="309480">
                      <a:extLst>
                        <a:ext uri="{9D8B030D-6E8A-4147-A177-3AD203B41FA5}">
                          <a16:colId xmlns:a16="http://schemas.microsoft.com/office/drawing/2014/main" val="417770"/>
                        </a:ext>
                      </a:extLst>
                    </a:gridCol>
                  </a:tblGrid>
                  <a:tr h="276823">
                    <a:tc>
                      <a:txBody>
                        <a:bodyPr/>
                        <a:lstStyle/>
                        <a:p>
                          <a:pPr/>
                          <a14:m>
                            <m:oMathPara xmlns:m="http://schemas.openxmlformats.org/officeDocument/2006/math">
                              <m:oMath>
                                <m:r>
                                  <a:rPr lang="en-US" sz="1400" i="1" dirty="0" smtClean="0">
                                    <a:latin typeface="Cambria Math" panose="02040503050406030204" pitchFamily="18" charset="0"/>
                                  </a:rPr>
                                  <m:t>𝑠</m:t>
                                </m:r>
                              </m:oMath>
                            </m:oMathPara>
                          </a14:m>
                          <a:endParaRPr lang="en-US" sz="1400" dirty="0"/>
                        </a:p>
                      </a:txBody>
                      <a:tcPr/>
                    </a:tc>
                    <a:tc>
                      <a:txBody>
                        <a:bodyPr/>
                        <a:lstStyle/>
                        <a:p>
                          <a:pPr/>
                          <a14:m>
                            <m:oMathPara xmlns:m="http://schemas.openxmlformats.org/officeDocument/2006/math">
                              <m:oMath>
                                <m:r>
                                  <a:rPr lang="en-US" sz="1400" i="1" dirty="0" smtClean="0">
                                    <a:latin typeface="Cambria Math" panose="02040503050406030204" pitchFamily="18" charset="0"/>
                                  </a:rPr>
                                  <m:t>𝑎</m:t>
                                </m:r>
                              </m:oMath>
                            </m:oMathPara>
                          </a14:m>
                          <a:endParaRPr lang="en-US" sz="1400" dirty="0"/>
                        </a:p>
                      </a:txBody>
                      <a:tcPr/>
                    </a:tc>
                    <a:tc>
                      <a:txBody>
                        <a:bodyPr/>
                        <a:lstStyle/>
                        <a:p>
                          <a:pPr/>
                          <a14:m>
                            <m:oMathPara xmlns:m="http://schemas.openxmlformats.org/officeDocument/2006/math">
                              <m:oMath>
                                <m:r>
                                  <a:rPr lang="en-US" sz="1400" i="1" dirty="0" smtClean="0">
                                    <a:latin typeface="Cambria Math" panose="02040503050406030204" pitchFamily="18" charset="0"/>
                                  </a:rPr>
                                  <m:t>𝑟</m:t>
                                </m:r>
                              </m:oMath>
                            </m:oMathPara>
                          </a14:m>
                          <a:endParaRPr lang="en-US" sz="1400" dirty="0"/>
                        </a:p>
                      </a:txBody>
                      <a:tcPr/>
                    </a:tc>
                    <a:tc>
                      <a:txBody>
                        <a:bodyPr/>
                        <a:lstStyle/>
                        <a:p>
                          <a:pPr/>
                          <a14:m>
                            <m:oMathPara xmlns:m="http://schemas.openxmlformats.org/officeDocument/2006/math">
                              <m:oMath>
                                <m:r>
                                  <a:rPr lang="en-US" sz="1400" i="1" dirty="0" smtClean="0">
                                    <a:latin typeface="Cambria Math" panose="02040503050406030204" pitchFamily="18" charset="0"/>
                                  </a:rPr>
                                  <m:t>𝑠</m:t>
                                </m:r>
                                <m:r>
                                  <a:rPr lang="en-US" sz="1400" i="1" dirty="0" smtClean="0">
                                    <a:latin typeface="Cambria Math" panose="02040503050406030204" pitchFamily="18" charset="0"/>
                                  </a:rPr>
                                  <m:t>’</m:t>
                                </m:r>
                              </m:oMath>
                            </m:oMathPara>
                          </a14:m>
                          <a:endParaRPr lang="en-US" sz="1400" dirty="0"/>
                        </a:p>
                      </a:txBody>
                      <a:tcPr/>
                    </a:tc>
                    <a:extLst>
                      <a:ext uri="{0D108BD9-81ED-4DB2-BD59-A6C34878D82A}">
                        <a16:rowId xmlns:a16="http://schemas.microsoft.com/office/drawing/2014/main" val="4230424128"/>
                      </a:ext>
                    </a:extLst>
                  </a:tr>
                  <a:tr h="276823">
                    <a:tc>
                      <a:txBody>
                        <a:bodyPr/>
                        <a:lstStyle/>
                        <a:p>
                          <a:endParaRPr lang="en-US" sz="1400"/>
                        </a:p>
                      </a:txBody>
                      <a:tcPr/>
                    </a:tc>
                    <a:tc>
                      <a:txBody>
                        <a:bodyPr/>
                        <a:lstStyle/>
                        <a:p>
                          <a:endParaRPr lang="en-US" sz="1400" dirty="0"/>
                        </a:p>
                      </a:txBody>
                      <a:tcPr/>
                    </a:tc>
                    <a:tc>
                      <a:txBody>
                        <a:bodyPr/>
                        <a:lstStyle/>
                        <a:p>
                          <a:endParaRPr lang="en-US" sz="1400"/>
                        </a:p>
                      </a:txBody>
                      <a:tcPr/>
                    </a:tc>
                    <a:tc>
                      <a:txBody>
                        <a:bodyPr/>
                        <a:lstStyle/>
                        <a:p>
                          <a:endParaRPr lang="en-US" sz="1400"/>
                        </a:p>
                      </a:txBody>
                      <a:tcPr/>
                    </a:tc>
                    <a:extLst>
                      <a:ext uri="{0D108BD9-81ED-4DB2-BD59-A6C34878D82A}">
                        <a16:rowId xmlns:a16="http://schemas.microsoft.com/office/drawing/2014/main" val="1628808855"/>
                      </a:ext>
                    </a:extLst>
                  </a:tr>
                  <a:tr h="276823">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dirty="0"/>
                        </a:p>
                      </a:txBody>
                      <a:tcPr/>
                    </a:tc>
                    <a:extLst>
                      <a:ext uri="{0D108BD9-81ED-4DB2-BD59-A6C34878D82A}">
                        <a16:rowId xmlns:a16="http://schemas.microsoft.com/office/drawing/2014/main" val="1234194062"/>
                      </a:ext>
                    </a:extLst>
                  </a:tr>
                </a:tbl>
              </a:graphicData>
            </a:graphic>
          </p:graphicFrame>
        </mc:Choice>
        <mc:Fallback xmlns="">
          <p:graphicFrame>
            <p:nvGraphicFramePr>
              <p:cNvPr id="79" name="Table 78">
                <a:extLst>
                  <a:ext uri="{FF2B5EF4-FFF2-40B4-BE49-F238E27FC236}">
                    <a16:creationId xmlns:a16="http://schemas.microsoft.com/office/drawing/2014/main" id="{087F8568-16C0-C008-FD13-ADA22B9D38EF}"/>
                  </a:ext>
                </a:extLst>
              </p:cNvPr>
              <p:cNvGraphicFramePr>
                <a:graphicFrameLocks noGrp="1"/>
              </p:cNvGraphicFramePr>
              <p:nvPr>
                <p:extLst>
                  <p:ext uri="{D42A27DB-BD31-4B8C-83A1-F6EECF244321}">
                    <p14:modId xmlns:p14="http://schemas.microsoft.com/office/powerpoint/2010/main" val="1374245818"/>
                  </p:ext>
                </p:extLst>
              </p:nvPr>
            </p:nvGraphicFramePr>
            <p:xfrm>
              <a:off x="8665465" y="1327672"/>
              <a:ext cx="1237920" cy="914400"/>
            </p:xfrm>
            <a:graphic>
              <a:graphicData uri="http://schemas.openxmlformats.org/drawingml/2006/table">
                <a:tbl>
                  <a:tblPr firstRow="1" bandRow="1">
                    <a:tableStyleId>{5C22544A-7EE6-4342-B048-85BDC9FD1C3A}</a:tableStyleId>
                  </a:tblPr>
                  <a:tblGrid>
                    <a:gridCol w="309480">
                      <a:extLst>
                        <a:ext uri="{9D8B030D-6E8A-4147-A177-3AD203B41FA5}">
                          <a16:colId xmlns:a16="http://schemas.microsoft.com/office/drawing/2014/main" val="1277141722"/>
                        </a:ext>
                      </a:extLst>
                    </a:gridCol>
                    <a:gridCol w="309480">
                      <a:extLst>
                        <a:ext uri="{9D8B030D-6E8A-4147-A177-3AD203B41FA5}">
                          <a16:colId xmlns:a16="http://schemas.microsoft.com/office/drawing/2014/main" val="3481165758"/>
                        </a:ext>
                      </a:extLst>
                    </a:gridCol>
                    <a:gridCol w="309480">
                      <a:extLst>
                        <a:ext uri="{9D8B030D-6E8A-4147-A177-3AD203B41FA5}">
                          <a16:colId xmlns:a16="http://schemas.microsoft.com/office/drawing/2014/main" val="41284380"/>
                        </a:ext>
                      </a:extLst>
                    </a:gridCol>
                    <a:gridCol w="309480">
                      <a:extLst>
                        <a:ext uri="{9D8B030D-6E8A-4147-A177-3AD203B41FA5}">
                          <a16:colId xmlns:a16="http://schemas.microsoft.com/office/drawing/2014/main" val="417770"/>
                        </a:ext>
                      </a:extLst>
                    </a:gridCol>
                  </a:tblGrid>
                  <a:tr h="304800">
                    <a:tc>
                      <a:txBody>
                        <a:bodyPr/>
                        <a:lstStyle/>
                        <a:p>
                          <a:endParaRPr lang="en-US"/>
                        </a:p>
                      </a:txBody>
                      <a:tcPr>
                        <a:blipFill>
                          <a:blip r:embed="rId11"/>
                          <a:stretch>
                            <a:fillRect l="-1961" t="-2000" r="-307843" b="-206000"/>
                          </a:stretch>
                        </a:blipFill>
                      </a:tcPr>
                    </a:tc>
                    <a:tc>
                      <a:txBody>
                        <a:bodyPr/>
                        <a:lstStyle/>
                        <a:p>
                          <a:endParaRPr lang="en-US"/>
                        </a:p>
                      </a:txBody>
                      <a:tcPr>
                        <a:blipFill>
                          <a:blip r:embed="rId11"/>
                          <a:stretch>
                            <a:fillRect l="-101961" t="-2000" r="-207843" b="-206000"/>
                          </a:stretch>
                        </a:blipFill>
                      </a:tcPr>
                    </a:tc>
                    <a:tc>
                      <a:txBody>
                        <a:bodyPr/>
                        <a:lstStyle/>
                        <a:p>
                          <a:endParaRPr lang="en-US"/>
                        </a:p>
                      </a:txBody>
                      <a:tcPr>
                        <a:blipFill>
                          <a:blip r:embed="rId11"/>
                          <a:stretch>
                            <a:fillRect l="-201961" t="-2000" r="-107843" b="-206000"/>
                          </a:stretch>
                        </a:blipFill>
                      </a:tcPr>
                    </a:tc>
                    <a:tc>
                      <a:txBody>
                        <a:bodyPr/>
                        <a:lstStyle/>
                        <a:p>
                          <a:endParaRPr lang="en-US"/>
                        </a:p>
                      </a:txBody>
                      <a:tcPr>
                        <a:blipFill>
                          <a:blip r:embed="rId11"/>
                          <a:stretch>
                            <a:fillRect l="-301961" t="-2000" r="-7843" b="-206000"/>
                          </a:stretch>
                        </a:blipFill>
                      </a:tcPr>
                    </a:tc>
                    <a:extLst>
                      <a:ext uri="{0D108BD9-81ED-4DB2-BD59-A6C34878D82A}">
                        <a16:rowId xmlns:a16="http://schemas.microsoft.com/office/drawing/2014/main" val="4230424128"/>
                      </a:ext>
                    </a:extLst>
                  </a:tr>
                  <a:tr h="304800">
                    <a:tc>
                      <a:txBody>
                        <a:bodyPr/>
                        <a:lstStyle/>
                        <a:p>
                          <a:endParaRPr lang="en-US" sz="1400"/>
                        </a:p>
                      </a:txBody>
                      <a:tcPr/>
                    </a:tc>
                    <a:tc>
                      <a:txBody>
                        <a:bodyPr/>
                        <a:lstStyle/>
                        <a:p>
                          <a:endParaRPr lang="en-US" sz="1400" dirty="0"/>
                        </a:p>
                      </a:txBody>
                      <a:tcPr/>
                    </a:tc>
                    <a:tc>
                      <a:txBody>
                        <a:bodyPr/>
                        <a:lstStyle/>
                        <a:p>
                          <a:endParaRPr lang="en-US" sz="1400"/>
                        </a:p>
                      </a:txBody>
                      <a:tcPr/>
                    </a:tc>
                    <a:tc>
                      <a:txBody>
                        <a:bodyPr/>
                        <a:lstStyle/>
                        <a:p>
                          <a:endParaRPr lang="en-US" sz="1400"/>
                        </a:p>
                      </a:txBody>
                      <a:tcPr/>
                    </a:tc>
                    <a:extLst>
                      <a:ext uri="{0D108BD9-81ED-4DB2-BD59-A6C34878D82A}">
                        <a16:rowId xmlns:a16="http://schemas.microsoft.com/office/drawing/2014/main" val="1628808855"/>
                      </a:ext>
                    </a:extLst>
                  </a:tr>
                  <a:tr h="304800">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dirty="0"/>
                        </a:p>
                      </a:txBody>
                      <a:tcPr/>
                    </a:tc>
                    <a:extLst>
                      <a:ext uri="{0D108BD9-81ED-4DB2-BD59-A6C34878D82A}">
                        <a16:rowId xmlns:a16="http://schemas.microsoft.com/office/drawing/2014/main" val="1234194062"/>
                      </a:ext>
                    </a:extLst>
                  </a:tr>
                </a:tbl>
              </a:graphicData>
            </a:graphic>
          </p:graphicFrame>
        </mc:Fallback>
      </mc:AlternateContent>
      <mc:AlternateContent xmlns:mc="http://schemas.openxmlformats.org/markup-compatibility/2006" xmlns:a14="http://schemas.microsoft.com/office/drawing/2010/main">
        <mc:Choice Requires="a14">
          <p:sp>
            <p:nvSpPr>
              <p:cNvPr id="80" name="TextBox 79" descr="Sampled Experience with current policy pi">
                <a:extLst>
                  <a:ext uri="{FF2B5EF4-FFF2-40B4-BE49-F238E27FC236}">
                    <a16:creationId xmlns:a16="http://schemas.microsoft.com/office/drawing/2014/main" id="{8D642152-092D-9EC9-388B-C882CC9E7688}"/>
                  </a:ext>
                </a:extLst>
              </p:cNvPr>
              <p:cNvSpPr txBox="1"/>
              <p:nvPr/>
            </p:nvSpPr>
            <p:spPr>
              <a:xfrm>
                <a:off x="10034680" y="1132079"/>
                <a:ext cx="1528223" cy="1200329"/>
              </a:xfrm>
              <a:prstGeom prst="rect">
                <a:avLst/>
              </a:prstGeom>
              <a:noFill/>
            </p:spPr>
            <p:txBody>
              <a:bodyPr wrap="square" rtlCol="0">
                <a:spAutoFit/>
              </a:bodyPr>
              <a:lstStyle/>
              <a:p>
                <a:pPr algn="ctr"/>
                <a:r>
                  <a:rPr lang="en-US" dirty="0"/>
                  <a:t>Sampled</a:t>
                </a:r>
                <a:br>
                  <a:rPr lang="en-US" dirty="0"/>
                </a:br>
                <a:r>
                  <a:rPr lang="en-US" dirty="0"/>
                  <a:t>Experience with current policy </a:t>
                </a:r>
                <a14:m>
                  <m:oMath xmlns:m="http://schemas.openxmlformats.org/officeDocument/2006/math">
                    <m:r>
                      <a:rPr lang="en-US" b="0" i="1" smtClean="0">
                        <a:latin typeface="Cambria Math" panose="02040503050406030204" pitchFamily="18" charset="0"/>
                      </a:rPr>
                      <m:t>𝜋</m:t>
                    </m:r>
                  </m:oMath>
                </a14:m>
                <a:endParaRPr lang="en-US" dirty="0"/>
              </a:p>
            </p:txBody>
          </p:sp>
        </mc:Choice>
        <mc:Fallback xmlns="">
          <p:sp>
            <p:nvSpPr>
              <p:cNvPr id="80" name="TextBox 79" descr="Sampled Experience with current policy pi">
                <a:extLst>
                  <a:ext uri="{FF2B5EF4-FFF2-40B4-BE49-F238E27FC236}">
                    <a16:creationId xmlns:a16="http://schemas.microsoft.com/office/drawing/2014/main" id="{8D642152-092D-9EC9-388B-C882CC9E7688}"/>
                  </a:ext>
                </a:extLst>
              </p:cNvPr>
              <p:cNvSpPr txBox="1">
                <a:spLocks noRot="1" noChangeAspect="1" noMove="1" noResize="1" noEditPoints="1" noAdjustHandles="1" noChangeArrowheads="1" noChangeShapeType="1" noTextEdit="1"/>
              </p:cNvSpPr>
              <p:nvPr/>
            </p:nvSpPr>
            <p:spPr>
              <a:xfrm>
                <a:off x="10034680" y="1132079"/>
                <a:ext cx="1528223" cy="1200329"/>
              </a:xfrm>
              <a:prstGeom prst="rect">
                <a:avLst/>
              </a:prstGeom>
              <a:blipFill>
                <a:blip r:embed="rId12"/>
                <a:stretch>
                  <a:fillRect t="-2538" r="-1195" b="-7614"/>
                </a:stretch>
              </a:blipFill>
            </p:spPr>
            <p:txBody>
              <a:bodyPr/>
              <a:lstStyle/>
              <a:p>
                <a:r>
                  <a:rPr lang="en-US">
                    <a:noFill/>
                  </a:rPr>
                  <a:t> </a:t>
                </a:r>
              </a:p>
            </p:txBody>
          </p:sp>
        </mc:Fallback>
      </mc:AlternateContent>
      <p:grpSp>
        <p:nvGrpSpPr>
          <p:cNvPr id="90" name="Group 89">
            <a:extLst>
              <a:ext uri="{FF2B5EF4-FFF2-40B4-BE49-F238E27FC236}">
                <a16:creationId xmlns:a16="http://schemas.microsoft.com/office/drawing/2014/main" id="{E56E8880-2A2B-A5EB-4A99-8FCBC027E06E}"/>
              </a:ext>
              <a:ext uri="{C183D7F6-B498-43B3-948B-1728B52AA6E4}">
                <adec:decorative xmlns:adec="http://schemas.microsoft.com/office/drawing/2017/decorative" val="1"/>
              </a:ext>
            </a:extLst>
          </p:cNvPr>
          <p:cNvGrpSpPr/>
          <p:nvPr/>
        </p:nvGrpSpPr>
        <p:grpSpPr>
          <a:xfrm>
            <a:off x="9297897" y="1936362"/>
            <a:ext cx="1051504" cy="611435"/>
            <a:chOff x="9297897" y="1936362"/>
            <a:chExt cx="1051504" cy="611435"/>
          </a:xfrm>
        </p:grpSpPr>
        <p:cxnSp>
          <p:nvCxnSpPr>
            <p:cNvPr id="85" name="Straight Arrow Connector 84">
              <a:extLst>
                <a:ext uri="{FF2B5EF4-FFF2-40B4-BE49-F238E27FC236}">
                  <a16:creationId xmlns:a16="http://schemas.microsoft.com/office/drawing/2014/main" id="{AD339D77-8053-455B-B3D5-470DB97F107A}"/>
                </a:ext>
                <a:ext uri="{C183D7F6-B498-43B3-948B-1728B52AA6E4}">
                  <adec:decorative xmlns:adec="http://schemas.microsoft.com/office/drawing/2017/decorative" val="1"/>
                </a:ext>
              </a:extLst>
            </p:cNvPr>
            <p:cNvCxnSpPr>
              <a:cxnSpLocks/>
              <a:endCxn id="81" idx="0"/>
            </p:cNvCxnSpPr>
            <p:nvPr/>
          </p:nvCxnSpPr>
          <p:spPr>
            <a:xfrm>
              <a:off x="9297897" y="1953638"/>
              <a:ext cx="0" cy="594159"/>
            </a:xfrm>
            <a:prstGeom prst="straightConnector1">
              <a:avLst/>
            </a:prstGeom>
            <a:noFill/>
            <a:ln w="57150">
              <a:solidFill>
                <a:schemeClr val="accent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sp>
          <p:nvSpPr>
            <p:cNvPr id="89" name="TextBox 88">
              <a:extLst>
                <a:ext uri="{FF2B5EF4-FFF2-40B4-BE49-F238E27FC236}">
                  <a16:creationId xmlns:a16="http://schemas.microsoft.com/office/drawing/2014/main" id="{3DA4157E-5444-B082-7D5D-6084402D77C1}"/>
                </a:ext>
              </a:extLst>
            </p:cNvPr>
            <p:cNvSpPr txBox="1"/>
            <p:nvPr/>
          </p:nvSpPr>
          <p:spPr>
            <a:xfrm>
              <a:off x="9304363" y="1936362"/>
              <a:ext cx="1045038" cy="523220"/>
            </a:xfrm>
            <a:prstGeom prst="rect">
              <a:avLst/>
            </a:prstGeom>
            <a:noFill/>
          </p:spPr>
          <p:txBody>
            <a:bodyPr wrap="square" rtlCol="0">
              <a:spAutoFit/>
            </a:bodyPr>
            <a:lstStyle/>
            <a:p>
              <a:r>
                <a:rPr lang="en-US" sz="1400" dirty="0">
                  <a:solidFill>
                    <a:srgbClr val="C35115"/>
                  </a:solidFill>
                </a:rPr>
                <a:t>Estimate Q-values</a:t>
              </a:r>
            </a:p>
          </p:txBody>
        </p:sp>
      </p:grpSp>
      <mc:AlternateContent xmlns:mc="http://schemas.openxmlformats.org/markup-compatibility/2006" xmlns:a14="http://schemas.microsoft.com/office/drawing/2010/main">
        <mc:Choice Requires="a14">
          <p:graphicFrame>
            <p:nvGraphicFramePr>
              <p:cNvPr id="81" name="Table 80" descr="Table with 3 rows and 4 columns. Column headers: s, Q(s,a sub 1), Q(s,a sub 2), dot dot dot. Row 1: blank, blank, blank, blank. Row 2: blank, blank, blank, blank.">
                <a:extLst>
                  <a:ext uri="{FF2B5EF4-FFF2-40B4-BE49-F238E27FC236}">
                    <a16:creationId xmlns:a16="http://schemas.microsoft.com/office/drawing/2014/main" id="{71E9565F-7E9F-A336-F5AA-820CA711CB63}"/>
                  </a:ext>
                </a:extLst>
              </p:cNvPr>
              <p:cNvGraphicFramePr>
                <a:graphicFrameLocks noGrp="1"/>
              </p:cNvGraphicFramePr>
              <p:nvPr>
                <p:extLst>
                  <p:ext uri="{D42A27DB-BD31-4B8C-83A1-F6EECF244321}">
                    <p14:modId xmlns:p14="http://schemas.microsoft.com/office/powerpoint/2010/main" val="801345900"/>
                  </p:ext>
                </p:extLst>
              </p:nvPr>
            </p:nvGraphicFramePr>
            <p:xfrm>
              <a:off x="8233106" y="2547797"/>
              <a:ext cx="2129583" cy="91440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277141722"/>
                        </a:ext>
                      </a:extLst>
                    </a:gridCol>
                    <a:gridCol w="744495">
                      <a:extLst>
                        <a:ext uri="{9D8B030D-6E8A-4147-A177-3AD203B41FA5}">
                          <a16:colId xmlns:a16="http://schemas.microsoft.com/office/drawing/2014/main" val="3481165758"/>
                        </a:ext>
                      </a:extLst>
                    </a:gridCol>
                    <a:gridCol w="718956">
                      <a:extLst>
                        <a:ext uri="{9D8B030D-6E8A-4147-A177-3AD203B41FA5}">
                          <a16:colId xmlns:a16="http://schemas.microsoft.com/office/drawing/2014/main" val="41284380"/>
                        </a:ext>
                      </a:extLst>
                    </a:gridCol>
                    <a:gridCol w="457852">
                      <a:extLst>
                        <a:ext uri="{9D8B030D-6E8A-4147-A177-3AD203B41FA5}">
                          <a16:colId xmlns:a16="http://schemas.microsoft.com/office/drawing/2014/main" val="417770"/>
                        </a:ext>
                      </a:extLst>
                    </a:gridCol>
                  </a:tblGrid>
                  <a:tr h="276823">
                    <a:tc>
                      <a:txBody>
                        <a:bodyPr/>
                        <a:lstStyle/>
                        <a:p>
                          <a:pPr/>
                          <a14:m>
                            <m:oMathPara xmlns:m="http://schemas.openxmlformats.org/officeDocument/2006/math">
                              <m:oMath>
                                <m:r>
                                  <a:rPr lang="en-US" sz="1400" i="1" dirty="0" smtClean="0">
                                    <a:latin typeface="Cambria Math" panose="02040503050406030204" pitchFamily="18" charset="0"/>
                                  </a:rPr>
                                  <m:t>𝑠</m:t>
                                </m:r>
                              </m:oMath>
                            </m:oMathPara>
                          </a14:m>
                          <a:endParaRPr lang="en-US" sz="1400" dirty="0"/>
                        </a:p>
                      </a:txBody>
                      <a:tcPr/>
                    </a:tc>
                    <a:tc>
                      <a:txBody>
                        <a:bodyPr/>
                        <a:lstStyle/>
                        <a:p>
                          <a:pPr/>
                          <a14:m>
                            <m:oMathPara xmlns:m="http://schemas.openxmlformats.org/officeDocument/2006/math">
                              <m:oMath>
                                <m:r>
                                  <a:rPr lang="en-US" sz="1400" b="0" i="1" dirty="0" smtClean="0">
                                    <a:latin typeface="Cambria Math" panose="02040503050406030204" pitchFamily="18" charset="0"/>
                                  </a:rPr>
                                  <m:t>𝑄</m:t>
                                </m:r>
                                <m:r>
                                  <a:rPr lang="en-US" sz="1400" b="0" i="1" dirty="0" smtClean="0">
                                    <a:latin typeface="Cambria Math" panose="02040503050406030204" pitchFamily="18" charset="0"/>
                                  </a:rPr>
                                  <m:t>(</m:t>
                                </m:r>
                                <m:r>
                                  <a:rPr lang="en-US" sz="1400" b="0" i="1" dirty="0" smtClean="0">
                                    <a:latin typeface="Cambria Math" panose="02040503050406030204" pitchFamily="18" charset="0"/>
                                  </a:rPr>
                                  <m:t>𝑠</m:t>
                                </m:r>
                                <m:r>
                                  <a:rPr lang="en-US" sz="1400" b="0" i="1" dirty="0" smtClean="0">
                                    <a:latin typeface="Cambria Math" panose="02040503050406030204" pitchFamily="18" charset="0"/>
                                  </a:rPr>
                                  <m:t>,</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1</m:t>
                                    </m:r>
                                  </m:sub>
                                </m:sSub>
                                <m:r>
                                  <a:rPr lang="en-US" sz="1400" b="0" i="1" dirty="0" smtClean="0">
                                    <a:latin typeface="Cambria Math" panose="02040503050406030204" pitchFamily="18" charset="0"/>
                                  </a:rPr>
                                  <m:t>)</m:t>
                                </m:r>
                              </m:oMath>
                            </m:oMathPara>
                          </a14:m>
                          <a:endParaRPr lang="en-US" sz="1400" b="0" dirty="0"/>
                        </a:p>
                      </a:txBody>
                      <a:tcPr/>
                    </a:tc>
                    <a:tc>
                      <a:txBody>
                        <a:bodyPr/>
                        <a:lstStyle/>
                        <a:p>
                          <a:pPr/>
                          <a14:m>
                            <m:oMathPara xmlns:m="http://schemas.openxmlformats.org/officeDocument/2006/math">
                              <m:oMath>
                                <m:r>
                                  <a:rPr lang="en-US" sz="1400" b="0" i="1" dirty="0" smtClean="0">
                                    <a:latin typeface="Cambria Math" panose="02040503050406030204" pitchFamily="18" charset="0"/>
                                  </a:rPr>
                                  <m:t>𝑄</m:t>
                                </m:r>
                                <m:r>
                                  <a:rPr lang="en-US" sz="1400" b="0" i="1" dirty="0" smtClean="0">
                                    <a:latin typeface="Cambria Math" panose="02040503050406030204" pitchFamily="18" charset="0"/>
                                  </a:rPr>
                                  <m:t>(</m:t>
                                </m:r>
                                <m:r>
                                  <a:rPr lang="en-US" sz="1400" b="0" i="1" dirty="0" smtClean="0">
                                    <a:latin typeface="Cambria Math" panose="02040503050406030204" pitchFamily="18" charset="0"/>
                                  </a:rPr>
                                  <m:t>𝑠</m:t>
                                </m:r>
                                <m:r>
                                  <a:rPr lang="en-US" sz="1400" b="0" i="1" dirty="0" smtClean="0">
                                    <a:latin typeface="Cambria Math" panose="02040503050406030204" pitchFamily="18" charset="0"/>
                                  </a:rPr>
                                  <m:t>,</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𝑎</m:t>
                                    </m:r>
                                  </m:e>
                                  <m:sub>
                                    <m:r>
                                      <a:rPr lang="en-US" sz="1400" b="0" i="1" dirty="0" smtClean="0">
                                        <a:latin typeface="Cambria Math" panose="02040503050406030204" pitchFamily="18" charset="0"/>
                                      </a:rPr>
                                      <m:t>2</m:t>
                                    </m:r>
                                  </m:sub>
                                </m:sSub>
                                <m:r>
                                  <a:rPr lang="en-US" sz="1400" b="0" i="1" dirty="0" smtClean="0">
                                    <a:latin typeface="Cambria Math" panose="02040503050406030204" pitchFamily="18" charset="0"/>
                                  </a:rPr>
                                  <m:t>)</m:t>
                                </m:r>
                              </m:oMath>
                            </m:oMathPara>
                          </a14:m>
                          <a:endParaRPr lang="en-US" sz="1400" b="0" dirty="0"/>
                        </a:p>
                      </a:txBody>
                      <a:tcPr/>
                    </a:tc>
                    <a:tc>
                      <a:txBody>
                        <a:bodyPr/>
                        <a:lstStyle/>
                        <a:p>
                          <a:pPr/>
                          <a14:m>
                            <m:oMathPara xmlns:m="http://schemas.openxmlformats.org/officeDocument/2006/math">
                              <m:oMath>
                                <m:r>
                                  <a:rPr lang="en-US" sz="1400" b="1" i="1" smtClean="0">
                                    <a:latin typeface="Cambria Math" panose="02040503050406030204" pitchFamily="18" charset="0"/>
                                  </a:rPr>
                                  <m:t>…</m:t>
                                </m:r>
                              </m:oMath>
                            </m:oMathPara>
                          </a14:m>
                          <a:endParaRPr lang="en-US" sz="1400" dirty="0"/>
                        </a:p>
                      </a:txBody>
                      <a:tcPr/>
                    </a:tc>
                    <a:extLst>
                      <a:ext uri="{0D108BD9-81ED-4DB2-BD59-A6C34878D82A}">
                        <a16:rowId xmlns:a16="http://schemas.microsoft.com/office/drawing/2014/main" val="4230424128"/>
                      </a:ext>
                    </a:extLst>
                  </a:tr>
                  <a:tr h="276823">
                    <a:tc>
                      <a:txBody>
                        <a:bodyPr/>
                        <a:lstStyle/>
                        <a:p>
                          <a:endParaRPr lang="en-US" sz="1400"/>
                        </a:p>
                      </a:txBody>
                      <a:tcPr/>
                    </a:tc>
                    <a:tc>
                      <a:txBody>
                        <a:bodyPr/>
                        <a:lstStyle/>
                        <a:p>
                          <a:endParaRPr lang="en-US" sz="1400" dirty="0"/>
                        </a:p>
                      </a:txBody>
                      <a:tcPr/>
                    </a:tc>
                    <a:tc>
                      <a:txBody>
                        <a:bodyPr/>
                        <a:lstStyle/>
                        <a:p>
                          <a:endParaRPr lang="en-US" sz="1400"/>
                        </a:p>
                      </a:txBody>
                      <a:tcPr/>
                    </a:tc>
                    <a:tc>
                      <a:txBody>
                        <a:bodyPr/>
                        <a:lstStyle/>
                        <a:p>
                          <a:endParaRPr lang="en-US" sz="1400" dirty="0"/>
                        </a:p>
                      </a:txBody>
                      <a:tcPr/>
                    </a:tc>
                    <a:extLst>
                      <a:ext uri="{0D108BD9-81ED-4DB2-BD59-A6C34878D82A}">
                        <a16:rowId xmlns:a16="http://schemas.microsoft.com/office/drawing/2014/main" val="1628808855"/>
                      </a:ext>
                    </a:extLst>
                  </a:tr>
                  <a:tr h="276823">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dirty="0"/>
                        </a:p>
                      </a:txBody>
                      <a:tcPr/>
                    </a:tc>
                    <a:extLst>
                      <a:ext uri="{0D108BD9-81ED-4DB2-BD59-A6C34878D82A}">
                        <a16:rowId xmlns:a16="http://schemas.microsoft.com/office/drawing/2014/main" val="1234194062"/>
                      </a:ext>
                    </a:extLst>
                  </a:tr>
                </a:tbl>
              </a:graphicData>
            </a:graphic>
          </p:graphicFrame>
        </mc:Choice>
        <mc:Fallback xmlns="">
          <p:graphicFrame>
            <p:nvGraphicFramePr>
              <p:cNvPr id="81" name="Table 80">
                <a:extLst>
                  <a:ext uri="{FF2B5EF4-FFF2-40B4-BE49-F238E27FC236}">
                    <a16:creationId xmlns:a16="http://schemas.microsoft.com/office/drawing/2014/main" id="{71E9565F-7E9F-A336-F5AA-820CA711CB63}"/>
                  </a:ext>
                </a:extLst>
              </p:cNvPr>
              <p:cNvGraphicFramePr>
                <a:graphicFrameLocks noGrp="1"/>
              </p:cNvGraphicFramePr>
              <p:nvPr>
                <p:extLst>
                  <p:ext uri="{D42A27DB-BD31-4B8C-83A1-F6EECF244321}">
                    <p14:modId xmlns:p14="http://schemas.microsoft.com/office/powerpoint/2010/main" val="801345900"/>
                  </p:ext>
                </p:extLst>
              </p:nvPr>
            </p:nvGraphicFramePr>
            <p:xfrm>
              <a:off x="8233106" y="2547797"/>
              <a:ext cx="2129583" cy="91440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277141722"/>
                        </a:ext>
                      </a:extLst>
                    </a:gridCol>
                    <a:gridCol w="744495">
                      <a:extLst>
                        <a:ext uri="{9D8B030D-6E8A-4147-A177-3AD203B41FA5}">
                          <a16:colId xmlns:a16="http://schemas.microsoft.com/office/drawing/2014/main" val="3481165758"/>
                        </a:ext>
                      </a:extLst>
                    </a:gridCol>
                    <a:gridCol w="718956">
                      <a:extLst>
                        <a:ext uri="{9D8B030D-6E8A-4147-A177-3AD203B41FA5}">
                          <a16:colId xmlns:a16="http://schemas.microsoft.com/office/drawing/2014/main" val="41284380"/>
                        </a:ext>
                      </a:extLst>
                    </a:gridCol>
                    <a:gridCol w="457852">
                      <a:extLst>
                        <a:ext uri="{9D8B030D-6E8A-4147-A177-3AD203B41FA5}">
                          <a16:colId xmlns:a16="http://schemas.microsoft.com/office/drawing/2014/main" val="417770"/>
                        </a:ext>
                      </a:extLst>
                    </a:gridCol>
                  </a:tblGrid>
                  <a:tr h="304800">
                    <a:tc>
                      <a:txBody>
                        <a:bodyPr/>
                        <a:lstStyle/>
                        <a:p>
                          <a:endParaRPr lang="en-US"/>
                        </a:p>
                      </a:txBody>
                      <a:tcPr>
                        <a:blipFill>
                          <a:blip r:embed="rId13"/>
                          <a:stretch>
                            <a:fillRect l="-2941" t="-2000" r="-944118" b="-208000"/>
                          </a:stretch>
                        </a:blipFill>
                      </a:tcPr>
                    </a:tc>
                    <a:tc>
                      <a:txBody>
                        <a:bodyPr/>
                        <a:lstStyle/>
                        <a:p>
                          <a:endParaRPr lang="en-US"/>
                        </a:p>
                      </a:txBody>
                      <a:tcPr>
                        <a:blipFill>
                          <a:blip r:embed="rId13"/>
                          <a:stretch>
                            <a:fillRect l="-28455" t="-2000" r="-160976" b="-208000"/>
                          </a:stretch>
                        </a:blipFill>
                      </a:tcPr>
                    </a:tc>
                    <a:tc>
                      <a:txBody>
                        <a:bodyPr/>
                        <a:lstStyle/>
                        <a:p>
                          <a:endParaRPr lang="en-US"/>
                        </a:p>
                      </a:txBody>
                      <a:tcPr>
                        <a:blipFill>
                          <a:blip r:embed="rId13"/>
                          <a:stretch>
                            <a:fillRect l="-133898" t="-2000" r="-67797" b="-208000"/>
                          </a:stretch>
                        </a:blipFill>
                      </a:tcPr>
                    </a:tc>
                    <a:tc>
                      <a:txBody>
                        <a:bodyPr/>
                        <a:lstStyle/>
                        <a:p>
                          <a:endParaRPr lang="en-US"/>
                        </a:p>
                      </a:txBody>
                      <a:tcPr>
                        <a:blipFill>
                          <a:blip r:embed="rId13"/>
                          <a:stretch>
                            <a:fillRect l="-368000" t="-2000" r="-6667" b="-208000"/>
                          </a:stretch>
                        </a:blipFill>
                      </a:tcPr>
                    </a:tc>
                    <a:extLst>
                      <a:ext uri="{0D108BD9-81ED-4DB2-BD59-A6C34878D82A}">
                        <a16:rowId xmlns:a16="http://schemas.microsoft.com/office/drawing/2014/main" val="4230424128"/>
                      </a:ext>
                    </a:extLst>
                  </a:tr>
                  <a:tr h="304800">
                    <a:tc>
                      <a:txBody>
                        <a:bodyPr/>
                        <a:lstStyle/>
                        <a:p>
                          <a:endParaRPr lang="en-US" sz="1400"/>
                        </a:p>
                      </a:txBody>
                      <a:tcPr/>
                    </a:tc>
                    <a:tc>
                      <a:txBody>
                        <a:bodyPr/>
                        <a:lstStyle/>
                        <a:p>
                          <a:endParaRPr lang="en-US" sz="1400" dirty="0"/>
                        </a:p>
                      </a:txBody>
                      <a:tcPr/>
                    </a:tc>
                    <a:tc>
                      <a:txBody>
                        <a:bodyPr/>
                        <a:lstStyle/>
                        <a:p>
                          <a:endParaRPr lang="en-US" sz="1400"/>
                        </a:p>
                      </a:txBody>
                      <a:tcPr/>
                    </a:tc>
                    <a:tc>
                      <a:txBody>
                        <a:bodyPr/>
                        <a:lstStyle/>
                        <a:p>
                          <a:endParaRPr lang="en-US" sz="1400" dirty="0"/>
                        </a:p>
                      </a:txBody>
                      <a:tcPr/>
                    </a:tc>
                    <a:extLst>
                      <a:ext uri="{0D108BD9-81ED-4DB2-BD59-A6C34878D82A}">
                        <a16:rowId xmlns:a16="http://schemas.microsoft.com/office/drawing/2014/main" val="1628808855"/>
                      </a:ext>
                    </a:extLst>
                  </a:tr>
                  <a:tr h="304800">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dirty="0"/>
                        </a:p>
                      </a:txBody>
                      <a:tcPr/>
                    </a:tc>
                    <a:extLst>
                      <a:ext uri="{0D108BD9-81ED-4DB2-BD59-A6C34878D82A}">
                        <a16:rowId xmlns:a16="http://schemas.microsoft.com/office/drawing/2014/main" val="1234194062"/>
                      </a:ext>
                    </a:extLst>
                  </a:tr>
                </a:tbl>
              </a:graphicData>
            </a:graphic>
          </p:graphicFrame>
        </mc:Fallback>
      </mc:AlternateContent>
      <p:sp>
        <p:nvSpPr>
          <p:cNvPr id="82" name="TextBox 81">
            <a:extLst>
              <a:ext uri="{FF2B5EF4-FFF2-40B4-BE49-F238E27FC236}">
                <a16:creationId xmlns:a16="http://schemas.microsoft.com/office/drawing/2014/main" id="{1D05005B-0C18-B507-AB1A-570FF1DE560B}"/>
              </a:ext>
            </a:extLst>
          </p:cNvPr>
          <p:cNvSpPr txBox="1"/>
          <p:nvPr/>
        </p:nvSpPr>
        <p:spPr>
          <a:xfrm>
            <a:off x="10374987" y="2820331"/>
            <a:ext cx="1987070" cy="369332"/>
          </a:xfrm>
          <a:prstGeom prst="rect">
            <a:avLst/>
          </a:prstGeom>
          <a:noFill/>
        </p:spPr>
        <p:txBody>
          <a:bodyPr wrap="square" rtlCol="0">
            <a:spAutoFit/>
          </a:bodyPr>
          <a:lstStyle/>
          <a:p>
            <a:r>
              <a:rPr lang="en-US" dirty="0"/>
              <a:t>Training data</a:t>
            </a:r>
          </a:p>
        </p:txBody>
      </p:sp>
      <p:grpSp>
        <p:nvGrpSpPr>
          <p:cNvPr id="76" name="Group 75" descr="Q-network: the state s enters a neural network (input layer S, hidden layers with weights theta_k, output layer A with linear activation) that outputs Q(s, a) for every action.">
            <a:extLst>
              <a:ext uri="{FF2B5EF4-FFF2-40B4-BE49-F238E27FC236}">
                <a16:creationId xmlns:a16="http://schemas.microsoft.com/office/drawing/2014/main" id="{1C8D63E2-853A-4D88-B50C-2C9161D01811}"/>
              </a:ext>
            </a:extLst>
          </p:cNvPr>
          <p:cNvGrpSpPr/>
          <p:nvPr/>
        </p:nvGrpSpPr>
        <p:grpSpPr>
          <a:xfrm>
            <a:off x="7649250" y="3875090"/>
            <a:ext cx="3920629" cy="2338707"/>
            <a:chOff x="7516627" y="1326818"/>
            <a:chExt cx="3920629" cy="2338707"/>
          </a:xfrm>
        </p:grpSpPr>
        <p:grpSp>
          <p:nvGrpSpPr>
            <p:cNvPr id="4" name="Group 3">
              <a:extLst>
                <a:ext uri="{FF2B5EF4-FFF2-40B4-BE49-F238E27FC236}">
                  <a16:creationId xmlns:a16="http://schemas.microsoft.com/office/drawing/2014/main" id="{BB54EC7C-D171-8AA9-BE89-738B6893D638}"/>
                </a:ext>
                <a:ext uri="{C183D7F6-B498-43B3-948B-1728B52AA6E4}">
                  <adec:decorative xmlns:adec="http://schemas.microsoft.com/office/drawing/2017/decorative" val="1"/>
                </a:ext>
              </a:extLst>
            </p:cNvPr>
            <p:cNvGrpSpPr/>
            <p:nvPr/>
          </p:nvGrpSpPr>
          <p:grpSpPr>
            <a:xfrm>
              <a:off x="7516627" y="1326818"/>
              <a:ext cx="3920629" cy="2338707"/>
              <a:chOff x="1129787" y="3714030"/>
              <a:chExt cx="3920629" cy="2338707"/>
            </a:xfrm>
          </p:grpSpPr>
          <p:sp>
            <p:nvSpPr>
              <p:cNvPr id="5" name="TextBox 4">
                <a:extLst>
                  <a:ext uri="{FF2B5EF4-FFF2-40B4-BE49-F238E27FC236}">
                    <a16:creationId xmlns:a16="http://schemas.microsoft.com/office/drawing/2014/main" id="{005E84E7-DFB6-3020-4E33-38B44F19DD63}"/>
                  </a:ext>
                  <a:ext uri="{C183D7F6-B498-43B3-948B-1728B52AA6E4}">
                    <adec:decorative xmlns:adec="http://schemas.microsoft.com/office/drawing/2017/decorative" val="0"/>
                  </a:ext>
                </a:extLst>
              </p:cNvPr>
              <p:cNvSpPr txBox="1"/>
              <p:nvPr/>
            </p:nvSpPr>
            <p:spPr>
              <a:xfrm>
                <a:off x="1913708" y="5683405"/>
                <a:ext cx="1911973" cy="369332"/>
              </a:xfrm>
              <a:prstGeom prst="rect">
                <a:avLst/>
              </a:prstGeom>
              <a:noFill/>
            </p:spPr>
            <p:txBody>
              <a:bodyPr wrap="square" rtlCol="0">
                <a:spAutoFit/>
              </a:bodyPr>
              <a:lstStyle/>
              <a:p>
                <a:pPr algn="ctr"/>
                <a:r>
                  <a:rPr lang="en-US" dirty="0"/>
                  <a:t>Q-network</a:t>
                </a:r>
              </a:p>
            </p:txBody>
          </p:sp>
          <p:grpSp>
            <p:nvGrpSpPr>
              <p:cNvPr id="6" name="Group 5">
                <a:extLst>
                  <a:ext uri="{FF2B5EF4-FFF2-40B4-BE49-F238E27FC236}">
                    <a16:creationId xmlns:a16="http://schemas.microsoft.com/office/drawing/2014/main" id="{82DEEEB8-946F-863C-1F36-4ADAA0DC985E}"/>
                  </a:ext>
                  <a:ext uri="{C183D7F6-B498-43B3-948B-1728B52AA6E4}">
                    <adec:decorative xmlns:adec="http://schemas.microsoft.com/office/drawing/2017/decorative" val="1"/>
                  </a:ext>
                </a:extLst>
              </p:cNvPr>
              <p:cNvGrpSpPr/>
              <p:nvPr/>
            </p:nvGrpSpPr>
            <p:grpSpPr>
              <a:xfrm>
                <a:off x="2124428" y="4079165"/>
                <a:ext cx="1295400" cy="1235724"/>
                <a:chOff x="4410942" y="4599774"/>
                <a:chExt cx="1577400" cy="1648626"/>
              </a:xfrm>
            </p:grpSpPr>
            <p:sp>
              <p:nvSpPr>
                <p:cNvPr id="14" name="Oval 13">
                  <a:extLst>
                    <a:ext uri="{FF2B5EF4-FFF2-40B4-BE49-F238E27FC236}">
                      <a16:creationId xmlns:a16="http://schemas.microsoft.com/office/drawing/2014/main" id="{3724566C-39D6-29B6-7905-FF3ECF58DA49}"/>
                    </a:ext>
                    <a:ext uri="{C183D7F6-B498-43B3-948B-1728B52AA6E4}">
                      <adec:decorative xmlns:adec="http://schemas.microsoft.com/office/drawing/2017/decorative" val="1"/>
                    </a:ext>
                  </a:extLst>
                </p:cNvPr>
                <p:cNvSpPr/>
                <p:nvPr/>
              </p:nvSpPr>
              <p:spPr>
                <a:xfrm>
                  <a:off x="4889892" y="4752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3A1418B-8EC5-4DF0-7BC4-02A7BC0A25BF}"/>
                    </a:ext>
                    <a:ext uri="{C183D7F6-B498-43B3-948B-1728B52AA6E4}">
                      <adec:decorative xmlns:adec="http://schemas.microsoft.com/office/drawing/2017/decorative" val="1"/>
                    </a:ext>
                  </a:extLst>
                </p:cNvPr>
                <p:cNvSpPr/>
                <p:nvPr/>
              </p:nvSpPr>
              <p:spPr>
                <a:xfrm>
                  <a:off x="4889892" y="5007830"/>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CF8CA08-2DA4-C01B-DDA2-F70CB99F92B9}"/>
                    </a:ext>
                    <a:ext uri="{C183D7F6-B498-43B3-948B-1728B52AA6E4}">
                      <adec:decorative xmlns:adec="http://schemas.microsoft.com/office/drawing/2017/decorative" val="1"/>
                    </a:ext>
                  </a:extLst>
                </p:cNvPr>
                <p:cNvSpPr/>
                <p:nvPr/>
              </p:nvSpPr>
              <p:spPr>
                <a:xfrm>
                  <a:off x="4889892" y="52855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EC891C6-1CCE-753E-3794-95F99F530C50}"/>
                    </a:ext>
                    <a:ext uri="{C183D7F6-B498-43B3-948B-1728B52AA6E4}">
                      <adec:decorative xmlns:adec="http://schemas.microsoft.com/office/drawing/2017/decorative" val="1"/>
                    </a:ext>
                  </a:extLst>
                </p:cNvPr>
                <p:cNvSpPr/>
                <p:nvPr/>
              </p:nvSpPr>
              <p:spPr>
                <a:xfrm>
                  <a:off x="4889892" y="55903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BC46EE-55B1-6DDA-7DBE-5DF25C7C8E42}"/>
                    </a:ext>
                    <a:ext uri="{C183D7F6-B498-43B3-948B-1728B52AA6E4}">
                      <adec:decorative xmlns:adec="http://schemas.microsoft.com/office/drawing/2017/decorative" val="1"/>
                    </a:ext>
                  </a:extLst>
                </p:cNvPr>
                <p:cNvSpPr/>
                <p:nvPr/>
              </p:nvSpPr>
              <p:spPr>
                <a:xfrm>
                  <a:off x="5347092" y="49045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85CB45A-F923-2CB5-5F39-9010029849EF}"/>
                    </a:ext>
                    <a:ext uri="{C183D7F6-B498-43B3-948B-1728B52AA6E4}">
                      <adec:decorative xmlns:adec="http://schemas.microsoft.com/office/drawing/2017/decorative" val="1"/>
                    </a:ext>
                  </a:extLst>
                </p:cNvPr>
                <p:cNvSpPr/>
                <p:nvPr/>
              </p:nvSpPr>
              <p:spPr>
                <a:xfrm>
                  <a:off x="5347092" y="5133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7DE9C07-2295-F229-8B9D-82B2E67F2678}"/>
                    </a:ext>
                    <a:ext uri="{C183D7F6-B498-43B3-948B-1728B52AA6E4}">
                      <adec:decorative xmlns:adec="http://schemas.microsoft.com/office/drawing/2017/decorative" val="1"/>
                    </a:ext>
                  </a:extLst>
                </p:cNvPr>
                <p:cNvSpPr/>
                <p:nvPr/>
              </p:nvSpPr>
              <p:spPr>
                <a:xfrm>
                  <a:off x="5347092" y="54379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A76387D-1AAD-7066-C2DE-01D6F748E57E}"/>
                    </a:ext>
                    <a:ext uri="{C183D7F6-B498-43B3-948B-1728B52AA6E4}">
                      <adec:decorative xmlns:adec="http://schemas.microsoft.com/office/drawing/2017/decorative" val="1"/>
                    </a:ext>
                  </a:extLst>
                </p:cNvPr>
                <p:cNvSpPr/>
                <p:nvPr/>
              </p:nvSpPr>
              <p:spPr>
                <a:xfrm>
                  <a:off x="5835942" y="4752949"/>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1B146F7-89F4-560D-D9E6-6C31C1896F33}"/>
                    </a:ext>
                    <a:ext uri="{C183D7F6-B498-43B3-948B-1728B52AA6E4}">
                      <adec:decorative xmlns:adec="http://schemas.microsoft.com/office/drawing/2017/decorative" val="1"/>
                    </a:ext>
                  </a:extLst>
                </p:cNvPr>
                <p:cNvSpPr/>
                <p:nvPr/>
              </p:nvSpPr>
              <p:spPr>
                <a:xfrm>
                  <a:off x="5835942" y="50306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CCBBE16-805D-4FE4-B85D-42CD0569D6D7}"/>
                    </a:ext>
                    <a:ext uri="{C183D7F6-B498-43B3-948B-1728B52AA6E4}">
                      <adec:decorative xmlns:adec="http://schemas.microsoft.com/office/drawing/2017/decorative" val="1"/>
                    </a:ext>
                  </a:extLst>
                </p:cNvPr>
                <p:cNvSpPr/>
                <p:nvPr/>
              </p:nvSpPr>
              <p:spPr>
                <a:xfrm>
                  <a:off x="5835942" y="53354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430EC34-EBF7-18C2-9397-3C6DD384F3D2}"/>
                    </a:ext>
                    <a:ext uri="{C183D7F6-B498-43B3-948B-1728B52AA6E4}">
                      <adec:decorative xmlns:adec="http://schemas.microsoft.com/office/drawing/2017/decorative" val="1"/>
                    </a:ext>
                  </a:extLst>
                </p:cNvPr>
                <p:cNvSpPr/>
                <p:nvPr/>
              </p:nvSpPr>
              <p:spPr>
                <a:xfrm>
                  <a:off x="5835942" y="56402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9AB3AED0-BA3F-21B5-EBD4-8C42D79E35E2}"/>
                    </a:ext>
                    <a:ext uri="{C183D7F6-B498-43B3-948B-1728B52AA6E4}">
                      <adec:decorative xmlns:adec="http://schemas.microsoft.com/office/drawing/2017/decorative" val="1"/>
                    </a:ext>
                  </a:extLst>
                </p:cNvPr>
                <p:cNvSpPr/>
                <p:nvPr/>
              </p:nvSpPr>
              <p:spPr>
                <a:xfrm>
                  <a:off x="4889892" y="5895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01A57BE-AD72-D8B1-FCC9-660A301D88A2}"/>
                    </a:ext>
                    <a:ext uri="{C183D7F6-B498-43B3-948B-1728B52AA6E4}">
                      <adec:decorative xmlns:adec="http://schemas.microsoft.com/office/drawing/2017/decorative" val="1"/>
                    </a:ext>
                  </a:extLst>
                </p:cNvPr>
                <p:cNvSpPr/>
                <p:nvPr/>
              </p:nvSpPr>
              <p:spPr>
                <a:xfrm>
                  <a:off x="5347092" y="57427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BDC0BF13-8D7D-00A6-0464-2039A00FC02F}"/>
                    </a:ext>
                    <a:ext uri="{C183D7F6-B498-43B3-948B-1728B52AA6E4}">
                      <adec:decorative xmlns:adec="http://schemas.microsoft.com/office/drawing/2017/decorative" val="1"/>
                    </a:ext>
                  </a:extLst>
                </p:cNvPr>
                <p:cNvSpPr/>
                <p:nvPr/>
              </p:nvSpPr>
              <p:spPr>
                <a:xfrm>
                  <a:off x="5835942" y="59450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B07AE736-DAFF-C59D-6A4D-BF8A0D53E205}"/>
                    </a:ext>
                    <a:ext uri="{C183D7F6-B498-43B3-948B-1728B52AA6E4}">
                      <adec:decorative xmlns:adec="http://schemas.microsoft.com/office/drawing/2017/decorative" val="1"/>
                    </a:ext>
                  </a:extLst>
                </p:cNvPr>
                <p:cNvCxnSpPr>
                  <a:cxnSpLocks/>
                  <a:stCxn id="14" idx="6"/>
                  <a:endCxn id="18" idx="1"/>
                </p:cNvCxnSpPr>
                <p:nvPr/>
              </p:nvCxnSpPr>
              <p:spPr>
                <a:xfrm>
                  <a:off x="5042292" y="4841902"/>
                  <a:ext cx="327118" cy="889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29" name="Straight Connector 28">
                  <a:extLst>
                    <a:ext uri="{FF2B5EF4-FFF2-40B4-BE49-F238E27FC236}">
                      <a16:creationId xmlns:a16="http://schemas.microsoft.com/office/drawing/2014/main" id="{7FD1CA27-B703-55B5-B157-50502A5C425A}"/>
                    </a:ext>
                    <a:ext uri="{C183D7F6-B498-43B3-948B-1728B52AA6E4}">
                      <adec:decorative xmlns:adec="http://schemas.microsoft.com/office/drawing/2017/decorative" val="1"/>
                    </a:ext>
                  </a:extLst>
                </p:cNvPr>
                <p:cNvCxnSpPr>
                  <a:cxnSpLocks/>
                  <a:stCxn id="15" idx="6"/>
                  <a:endCxn id="18" idx="2"/>
                </p:cNvCxnSpPr>
                <p:nvPr/>
              </p:nvCxnSpPr>
              <p:spPr>
                <a:xfrm flipV="1">
                  <a:off x="5042292" y="4994302"/>
                  <a:ext cx="304800" cy="103256"/>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0" name="Straight Connector 29">
                  <a:extLst>
                    <a:ext uri="{FF2B5EF4-FFF2-40B4-BE49-F238E27FC236}">
                      <a16:creationId xmlns:a16="http://schemas.microsoft.com/office/drawing/2014/main" id="{6C615A59-4692-7AD0-E640-992BC7E8052C}"/>
                    </a:ext>
                    <a:ext uri="{C183D7F6-B498-43B3-948B-1728B52AA6E4}">
                      <adec:decorative xmlns:adec="http://schemas.microsoft.com/office/drawing/2017/decorative" val="1"/>
                    </a:ext>
                  </a:extLst>
                </p:cNvPr>
                <p:cNvCxnSpPr>
                  <a:cxnSpLocks/>
                  <a:stCxn id="16" idx="6"/>
                  <a:endCxn id="19" idx="2"/>
                </p:cNvCxnSpPr>
                <p:nvPr/>
              </p:nvCxnSpPr>
              <p:spPr>
                <a:xfrm flipV="1">
                  <a:off x="5042292" y="52229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1" name="Straight Connector 30">
                  <a:extLst>
                    <a:ext uri="{FF2B5EF4-FFF2-40B4-BE49-F238E27FC236}">
                      <a16:creationId xmlns:a16="http://schemas.microsoft.com/office/drawing/2014/main" id="{E32F5CB1-7D2D-B526-816A-C1D660D8C5D7}"/>
                    </a:ext>
                    <a:ext uri="{C183D7F6-B498-43B3-948B-1728B52AA6E4}">
                      <adec:decorative xmlns:adec="http://schemas.microsoft.com/office/drawing/2017/decorative" val="1"/>
                    </a:ext>
                  </a:extLst>
                </p:cNvPr>
                <p:cNvCxnSpPr>
                  <a:cxnSpLocks/>
                  <a:stCxn id="15" idx="6"/>
                  <a:endCxn id="19" idx="2"/>
                </p:cNvCxnSpPr>
                <p:nvPr/>
              </p:nvCxnSpPr>
              <p:spPr>
                <a:xfrm>
                  <a:off x="5042292" y="5097558"/>
                  <a:ext cx="304800" cy="125344"/>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2" name="Straight Connector 31">
                  <a:extLst>
                    <a:ext uri="{FF2B5EF4-FFF2-40B4-BE49-F238E27FC236}">
                      <a16:creationId xmlns:a16="http://schemas.microsoft.com/office/drawing/2014/main" id="{F9C9614B-8C56-E2B1-05B1-F92C16F9AFBD}"/>
                    </a:ext>
                    <a:ext uri="{C183D7F6-B498-43B3-948B-1728B52AA6E4}">
                      <adec:decorative xmlns:adec="http://schemas.microsoft.com/office/drawing/2017/decorative" val="1"/>
                    </a:ext>
                  </a:extLst>
                </p:cNvPr>
                <p:cNvCxnSpPr>
                  <a:cxnSpLocks/>
                  <a:stCxn id="17" idx="6"/>
                  <a:endCxn id="20" idx="2"/>
                </p:cNvCxnSpPr>
                <p:nvPr/>
              </p:nvCxnSpPr>
              <p:spPr>
                <a:xfrm flipV="1">
                  <a:off x="5042292" y="55277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3" name="Straight Connector 32">
                  <a:extLst>
                    <a:ext uri="{FF2B5EF4-FFF2-40B4-BE49-F238E27FC236}">
                      <a16:creationId xmlns:a16="http://schemas.microsoft.com/office/drawing/2014/main" id="{E65478ED-700D-8D2E-8AF6-58A4637271DB}"/>
                    </a:ext>
                    <a:ext uri="{C183D7F6-B498-43B3-948B-1728B52AA6E4}">
                      <adec:decorative xmlns:adec="http://schemas.microsoft.com/office/drawing/2017/decorative" val="1"/>
                    </a:ext>
                  </a:extLst>
                </p:cNvPr>
                <p:cNvCxnSpPr>
                  <a:cxnSpLocks/>
                  <a:stCxn id="16" idx="6"/>
                  <a:endCxn id="20" idx="2"/>
                </p:cNvCxnSpPr>
                <p:nvPr/>
              </p:nvCxnSpPr>
              <p:spPr>
                <a:xfrm>
                  <a:off x="5042293" y="5375303"/>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4" name="Straight Connector 33">
                  <a:extLst>
                    <a:ext uri="{FF2B5EF4-FFF2-40B4-BE49-F238E27FC236}">
                      <a16:creationId xmlns:a16="http://schemas.microsoft.com/office/drawing/2014/main" id="{B74DD7C0-8915-F0EB-B1E6-0002B3E73819}"/>
                    </a:ext>
                    <a:ext uri="{C183D7F6-B498-43B3-948B-1728B52AA6E4}">
                      <adec:decorative xmlns:adec="http://schemas.microsoft.com/office/drawing/2017/decorative" val="1"/>
                    </a:ext>
                  </a:extLst>
                </p:cNvPr>
                <p:cNvCxnSpPr>
                  <a:cxnSpLocks/>
                  <a:stCxn id="17" idx="6"/>
                  <a:endCxn id="26" idx="2"/>
                </p:cNvCxnSpPr>
                <p:nvPr/>
              </p:nvCxnSpPr>
              <p:spPr>
                <a:xfrm>
                  <a:off x="5042292" y="56801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5" name="Straight Connector 34">
                  <a:extLst>
                    <a:ext uri="{FF2B5EF4-FFF2-40B4-BE49-F238E27FC236}">
                      <a16:creationId xmlns:a16="http://schemas.microsoft.com/office/drawing/2014/main" id="{5772D83A-3C14-7BD5-1ACE-59F105595135}"/>
                    </a:ext>
                    <a:ext uri="{C183D7F6-B498-43B3-948B-1728B52AA6E4}">
                      <adec:decorative xmlns:adec="http://schemas.microsoft.com/office/drawing/2017/decorative" val="1"/>
                    </a:ext>
                  </a:extLst>
                </p:cNvPr>
                <p:cNvCxnSpPr>
                  <a:cxnSpLocks/>
                  <a:stCxn id="25" idx="6"/>
                  <a:endCxn id="26" idx="2"/>
                </p:cNvCxnSpPr>
                <p:nvPr/>
              </p:nvCxnSpPr>
              <p:spPr>
                <a:xfrm flipV="1">
                  <a:off x="5042292" y="58325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6" name="Straight Connector 35">
                  <a:extLst>
                    <a:ext uri="{FF2B5EF4-FFF2-40B4-BE49-F238E27FC236}">
                      <a16:creationId xmlns:a16="http://schemas.microsoft.com/office/drawing/2014/main" id="{0DE98E75-626A-12A6-702D-A9D000A34A09}"/>
                    </a:ext>
                    <a:ext uri="{C183D7F6-B498-43B3-948B-1728B52AA6E4}">
                      <adec:decorative xmlns:adec="http://schemas.microsoft.com/office/drawing/2017/decorative" val="1"/>
                    </a:ext>
                  </a:extLst>
                </p:cNvPr>
                <p:cNvCxnSpPr>
                  <a:cxnSpLocks/>
                  <a:stCxn id="25" idx="6"/>
                  <a:endCxn id="20" idx="2"/>
                </p:cNvCxnSpPr>
                <p:nvPr/>
              </p:nvCxnSpPr>
              <p:spPr>
                <a:xfrm flipV="1">
                  <a:off x="5042292" y="5527702"/>
                  <a:ext cx="30480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7" name="Straight Connector 36">
                  <a:extLst>
                    <a:ext uri="{FF2B5EF4-FFF2-40B4-BE49-F238E27FC236}">
                      <a16:creationId xmlns:a16="http://schemas.microsoft.com/office/drawing/2014/main" id="{EF618B2A-BFB6-A5A7-688B-E29AFD94513B}"/>
                    </a:ext>
                    <a:ext uri="{C183D7F6-B498-43B3-948B-1728B52AA6E4}">
                      <adec:decorative xmlns:adec="http://schemas.microsoft.com/office/drawing/2017/decorative" val="1"/>
                    </a:ext>
                  </a:extLst>
                </p:cNvPr>
                <p:cNvCxnSpPr>
                  <a:cxnSpLocks/>
                  <a:stCxn id="17" idx="6"/>
                  <a:endCxn id="19" idx="3"/>
                </p:cNvCxnSpPr>
                <p:nvPr/>
              </p:nvCxnSpPr>
              <p:spPr>
                <a:xfrm flipV="1">
                  <a:off x="5042292" y="5286349"/>
                  <a:ext cx="327118" cy="3937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8" name="Straight Connector 37">
                  <a:extLst>
                    <a:ext uri="{FF2B5EF4-FFF2-40B4-BE49-F238E27FC236}">
                      <a16:creationId xmlns:a16="http://schemas.microsoft.com/office/drawing/2014/main" id="{3BCE3775-7F37-8D4E-0E76-1DC53AF13D30}"/>
                    </a:ext>
                    <a:ext uri="{C183D7F6-B498-43B3-948B-1728B52AA6E4}">
                      <adec:decorative xmlns:adec="http://schemas.microsoft.com/office/drawing/2017/decorative" val="1"/>
                    </a:ext>
                  </a:extLst>
                </p:cNvPr>
                <p:cNvCxnSpPr>
                  <a:cxnSpLocks/>
                  <a:stCxn id="16" idx="6"/>
                  <a:endCxn id="18" idx="3"/>
                </p:cNvCxnSpPr>
                <p:nvPr/>
              </p:nvCxnSpPr>
              <p:spPr>
                <a:xfrm flipV="1">
                  <a:off x="5042292" y="5057749"/>
                  <a:ext cx="327118" cy="3175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9" name="Straight Connector 38">
                  <a:extLst>
                    <a:ext uri="{FF2B5EF4-FFF2-40B4-BE49-F238E27FC236}">
                      <a16:creationId xmlns:a16="http://schemas.microsoft.com/office/drawing/2014/main" id="{07CA96D3-2BA8-49B3-26A0-348693617A99}"/>
                    </a:ext>
                    <a:ext uri="{C183D7F6-B498-43B3-948B-1728B52AA6E4}">
                      <adec:decorative xmlns:adec="http://schemas.microsoft.com/office/drawing/2017/decorative" val="1"/>
                    </a:ext>
                  </a:extLst>
                </p:cNvPr>
                <p:cNvCxnSpPr>
                  <a:cxnSpLocks/>
                  <a:stCxn id="14" idx="6"/>
                  <a:endCxn id="19" idx="1"/>
                </p:cNvCxnSpPr>
                <p:nvPr/>
              </p:nvCxnSpPr>
              <p:spPr>
                <a:xfrm>
                  <a:off x="5042292" y="4841902"/>
                  <a:ext cx="327118" cy="3175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0" name="Straight Connector 39">
                  <a:extLst>
                    <a:ext uri="{FF2B5EF4-FFF2-40B4-BE49-F238E27FC236}">
                      <a16:creationId xmlns:a16="http://schemas.microsoft.com/office/drawing/2014/main" id="{7BEECB36-27EC-1504-0A9D-A2A35C694419}"/>
                    </a:ext>
                    <a:ext uri="{C183D7F6-B498-43B3-948B-1728B52AA6E4}">
                      <adec:decorative xmlns:adec="http://schemas.microsoft.com/office/drawing/2017/decorative" val="1"/>
                    </a:ext>
                  </a:extLst>
                </p:cNvPr>
                <p:cNvCxnSpPr>
                  <a:cxnSpLocks/>
                  <a:stCxn id="16" idx="6"/>
                  <a:endCxn id="26" idx="2"/>
                </p:cNvCxnSpPr>
                <p:nvPr/>
              </p:nvCxnSpPr>
              <p:spPr>
                <a:xfrm>
                  <a:off x="5042292" y="5375302"/>
                  <a:ext cx="30480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1" name="Straight Connector 40">
                  <a:extLst>
                    <a:ext uri="{FF2B5EF4-FFF2-40B4-BE49-F238E27FC236}">
                      <a16:creationId xmlns:a16="http://schemas.microsoft.com/office/drawing/2014/main" id="{6794B48A-691F-C224-B536-C1DE040DA019}"/>
                    </a:ext>
                    <a:ext uri="{C183D7F6-B498-43B3-948B-1728B52AA6E4}">
                      <adec:decorative xmlns:adec="http://schemas.microsoft.com/office/drawing/2017/decorative" val="1"/>
                    </a:ext>
                  </a:extLst>
                </p:cNvPr>
                <p:cNvCxnSpPr>
                  <a:cxnSpLocks/>
                  <a:stCxn id="18" idx="6"/>
                  <a:endCxn id="21" idx="2"/>
                </p:cNvCxnSpPr>
                <p:nvPr/>
              </p:nvCxnSpPr>
              <p:spPr>
                <a:xfrm flipV="1">
                  <a:off x="5499492" y="4842677"/>
                  <a:ext cx="336450" cy="151625"/>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2" name="Straight Connector 41">
                  <a:extLst>
                    <a:ext uri="{FF2B5EF4-FFF2-40B4-BE49-F238E27FC236}">
                      <a16:creationId xmlns:a16="http://schemas.microsoft.com/office/drawing/2014/main" id="{CC97ADC0-ECB4-4339-E8CD-3CEFC3F31FA0}"/>
                    </a:ext>
                    <a:ext uri="{C183D7F6-B498-43B3-948B-1728B52AA6E4}">
                      <adec:decorative xmlns:adec="http://schemas.microsoft.com/office/drawing/2017/decorative" val="1"/>
                    </a:ext>
                  </a:extLst>
                </p:cNvPr>
                <p:cNvCxnSpPr>
                  <a:cxnSpLocks/>
                  <a:stCxn id="19" idx="6"/>
                  <a:endCxn id="21" idx="2"/>
                </p:cNvCxnSpPr>
                <p:nvPr/>
              </p:nvCxnSpPr>
              <p:spPr>
                <a:xfrm flipV="1">
                  <a:off x="5499492" y="4842677"/>
                  <a:ext cx="336450" cy="380225"/>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3" name="Straight Connector 42">
                  <a:extLst>
                    <a:ext uri="{FF2B5EF4-FFF2-40B4-BE49-F238E27FC236}">
                      <a16:creationId xmlns:a16="http://schemas.microsoft.com/office/drawing/2014/main" id="{F70AF1FE-D035-EB4C-FEF7-1B2C576EFA91}"/>
                    </a:ext>
                    <a:ext uri="{C183D7F6-B498-43B3-948B-1728B52AA6E4}">
                      <adec:decorative xmlns:adec="http://schemas.microsoft.com/office/drawing/2017/decorative" val="1"/>
                    </a:ext>
                  </a:extLst>
                </p:cNvPr>
                <p:cNvCxnSpPr>
                  <a:cxnSpLocks/>
                  <a:stCxn id="20" idx="6"/>
                  <a:endCxn id="22" idx="2"/>
                </p:cNvCxnSpPr>
                <p:nvPr/>
              </p:nvCxnSpPr>
              <p:spPr>
                <a:xfrm flipV="1">
                  <a:off x="5499492" y="5120421"/>
                  <a:ext cx="336450" cy="4072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4" name="Straight Connector 43">
                  <a:extLst>
                    <a:ext uri="{FF2B5EF4-FFF2-40B4-BE49-F238E27FC236}">
                      <a16:creationId xmlns:a16="http://schemas.microsoft.com/office/drawing/2014/main" id="{30E9A6A9-4562-94E1-B915-983E21D1C7AB}"/>
                    </a:ext>
                    <a:ext uri="{C183D7F6-B498-43B3-948B-1728B52AA6E4}">
                      <adec:decorative xmlns:adec="http://schemas.microsoft.com/office/drawing/2017/decorative" val="1"/>
                    </a:ext>
                  </a:extLst>
                </p:cNvPr>
                <p:cNvCxnSpPr>
                  <a:cxnSpLocks/>
                  <a:stCxn id="26" idx="6"/>
                  <a:endCxn id="23" idx="2"/>
                </p:cNvCxnSpPr>
                <p:nvPr/>
              </p:nvCxnSpPr>
              <p:spPr>
                <a:xfrm flipV="1">
                  <a:off x="5499492" y="5425221"/>
                  <a:ext cx="336450" cy="4072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5" name="Straight Connector 44">
                  <a:extLst>
                    <a:ext uri="{FF2B5EF4-FFF2-40B4-BE49-F238E27FC236}">
                      <a16:creationId xmlns:a16="http://schemas.microsoft.com/office/drawing/2014/main" id="{10810105-2A93-4C26-6A41-60E3B80A5053}"/>
                    </a:ext>
                    <a:ext uri="{C183D7F6-B498-43B3-948B-1728B52AA6E4}">
                      <adec:decorative xmlns:adec="http://schemas.microsoft.com/office/drawing/2017/decorative" val="1"/>
                    </a:ext>
                  </a:extLst>
                </p:cNvPr>
                <p:cNvCxnSpPr>
                  <a:cxnSpLocks/>
                  <a:stCxn id="26" idx="6"/>
                  <a:endCxn id="27" idx="1"/>
                </p:cNvCxnSpPr>
                <p:nvPr/>
              </p:nvCxnSpPr>
              <p:spPr>
                <a:xfrm>
                  <a:off x="5499492" y="5832502"/>
                  <a:ext cx="358768" cy="138872"/>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6" name="Straight Connector 45">
                  <a:extLst>
                    <a:ext uri="{FF2B5EF4-FFF2-40B4-BE49-F238E27FC236}">
                      <a16:creationId xmlns:a16="http://schemas.microsoft.com/office/drawing/2014/main" id="{5556E5D2-BD41-391D-F5A7-BFC99C740084}"/>
                    </a:ext>
                    <a:ext uri="{C183D7F6-B498-43B3-948B-1728B52AA6E4}">
                      <adec:decorative xmlns:adec="http://schemas.microsoft.com/office/drawing/2017/decorative" val="1"/>
                    </a:ext>
                  </a:extLst>
                </p:cNvPr>
                <p:cNvCxnSpPr>
                  <a:cxnSpLocks/>
                  <a:stCxn id="26" idx="6"/>
                  <a:endCxn id="24" idx="2"/>
                </p:cNvCxnSpPr>
                <p:nvPr/>
              </p:nvCxnSpPr>
              <p:spPr>
                <a:xfrm flipV="1">
                  <a:off x="5499492" y="5730021"/>
                  <a:ext cx="336450" cy="1024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7" name="Straight Connector 46">
                  <a:extLst>
                    <a:ext uri="{FF2B5EF4-FFF2-40B4-BE49-F238E27FC236}">
                      <a16:creationId xmlns:a16="http://schemas.microsoft.com/office/drawing/2014/main" id="{9355AFE1-21D2-6BE0-F9F5-2C66036235E6}"/>
                    </a:ext>
                    <a:ext uri="{C183D7F6-B498-43B3-948B-1728B52AA6E4}">
                      <adec:decorative xmlns:adec="http://schemas.microsoft.com/office/drawing/2017/decorative" val="1"/>
                    </a:ext>
                  </a:extLst>
                </p:cNvPr>
                <p:cNvCxnSpPr>
                  <a:cxnSpLocks/>
                  <a:stCxn id="20" idx="6"/>
                  <a:endCxn id="23" idx="2"/>
                </p:cNvCxnSpPr>
                <p:nvPr/>
              </p:nvCxnSpPr>
              <p:spPr>
                <a:xfrm flipV="1">
                  <a:off x="5499492" y="5425221"/>
                  <a:ext cx="336450" cy="1024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8" name="Straight Connector 47">
                  <a:extLst>
                    <a:ext uri="{FF2B5EF4-FFF2-40B4-BE49-F238E27FC236}">
                      <a16:creationId xmlns:a16="http://schemas.microsoft.com/office/drawing/2014/main" id="{AD2ACFED-B941-95FE-A48E-7CBF38EC4912}"/>
                    </a:ext>
                    <a:ext uri="{C183D7F6-B498-43B3-948B-1728B52AA6E4}">
                      <adec:decorative xmlns:adec="http://schemas.microsoft.com/office/drawing/2017/decorative" val="1"/>
                    </a:ext>
                  </a:extLst>
                </p:cNvPr>
                <p:cNvCxnSpPr>
                  <a:cxnSpLocks/>
                  <a:stCxn id="18" idx="6"/>
                  <a:endCxn id="22" idx="2"/>
                </p:cNvCxnSpPr>
                <p:nvPr/>
              </p:nvCxnSpPr>
              <p:spPr>
                <a:xfrm>
                  <a:off x="5499493" y="4994303"/>
                  <a:ext cx="336449" cy="1261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9" name="Straight Connector 48">
                  <a:extLst>
                    <a:ext uri="{FF2B5EF4-FFF2-40B4-BE49-F238E27FC236}">
                      <a16:creationId xmlns:a16="http://schemas.microsoft.com/office/drawing/2014/main" id="{2F714AB3-2FD6-C7BC-2B52-1AB15F88AD47}"/>
                    </a:ext>
                    <a:ext uri="{C183D7F6-B498-43B3-948B-1728B52AA6E4}">
                      <adec:decorative xmlns:adec="http://schemas.microsoft.com/office/drawing/2017/decorative" val="1"/>
                    </a:ext>
                  </a:extLst>
                </p:cNvPr>
                <p:cNvCxnSpPr>
                  <a:cxnSpLocks/>
                  <a:stCxn id="19" idx="6"/>
                  <a:endCxn id="23" idx="2"/>
                </p:cNvCxnSpPr>
                <p:nvPr/>
              </p:nvCxnSpPr>
              <p:spPr>
                <a:xfrm>
                  <a:off x="5499492" y="5222902"/>
                  <a:ext cx="336450" cy="2023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0" name="Straight Connector 49">
                  <a:extLst>
                    <a:ext uri="{FF2B5EF4-FFF2-40B4-BE49-F238E27FC236}">
                      <a16:creationId xmlns:a16="http://schemas.microsoft.com/office/drawing/2014/main" id="{FA4AF753-F75D-0295-A2FA-2D7E8BCD89AC}"/>
                    </a:ext>
                    <a:ext uri="{C183D7F6-B498-43B3-948B-1728B52AA6E4}">
                      <adec:decorative xmlns:adec="http://schemas.microsoft.com/office/drawing/2017/decorative" val="1"/>
                    </a:ext>
                  </a:extLst>
                </p:cNvPr>
                <p:cNvCxnSpPr>
                  <a:cxnSpLocks/>
                  <a:stCxn id="20" idx="6"/>
                  <a:endCxn id="24" idx="2"/>
                </p:cNvCxnSpPr>
                <p:nvPr/>
              </p:nvCxnSpPr>
              <p:spPr>
                <a:xfrm>
                  <a:off x="5499492" y="5527702"/>
                  <a:ext cx="336450" cy="2023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1" name="Straight Connector 50">
                  <a:extLst>
                    <a:ext uri="{FF2B5EF4-FFF2-40B4-BE49-F238E27FC236}">
                      <a16:creationId xmlns:a16="http://schemas.microsoft.com/office/drawing/2014/main" id="{CA5B85AD-F404-1EC9-72AD-6744361BF530}"/>
                    </a:ext>
                    <a:ext uri="{C183D7F6-B498-43B3-948B-1728B52AA6E4}">
                      <adec:decorative xmlns:adec="http://schemas.microsoft.com/office/drawing/2017/decorative" val="1"/>
                    </a:ext>
                  </a:extLst>
                </p:cNvPr>
                <p:cNvCxnSpPr>
                  <a:cxnSpLocks/>
                  <a:stCxn id="18" idx="6"/>
                  <a:endCxn id="23" idx="2"/>
                </p:cNvCxnSpPr>
                <p:nvPr/>
              </p:nvCxnSpPr>
              <p:spPr>
                <a:xfrm>
                  <a:off x="5499492" y="4994302"/>
                  <a:ext cx="336450" cy="4309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2" name="Straight Connector 51">
                  <a:extLst>
                    <a:ext uri="{FF2B5EF4-FFF2-40B4-BE49-F238E27FC236}">
                      <a16:creationId xmlns:a16="http://schemas.microsoft.com/office/drawing/2014/main" id="{5CE13E24-CC83-0EDD-369F-AC9D7840D0B9}"/>
                    </a:ext>
                    <a:ext uri="{C183D7F6-B498-43B3-948B-1728B52AA6E4}">
                      <adec:decorative xmlns:adec="http://schemas.microsoft.com/office/drawing/2017/decorative" val="1"/>
                    </a:ext>
                  </a:extLst>
                </p:cNvPr>
                <p:cNvCxnSpPr>
                  <a:cxnSpLocks/>
                  <a:stCxn id="20" idx="6"/>
                  <a:endCxn id="21" idx="2"/>
                </p:cNvCxnSpPr>
                <p:nvPr/>
              </p:nvCxnSpPr>
              <p:spPr>
                <a:xfrm flipV="1">
                  <a:off x="5499492" y="4842677"/>
                  <a:ext cx="336450" cy="685025"/>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3" name="Straight Connector 52">
                  <a:extLst>
                    <a:ext uri="{FF2B5EF4-FFF2-40B4-BE49-F238E27FC236}">
                      <a16:creationId xmlns:a16="http://schemas.microsoft.com/office/drawing/2014/main" id="{4CA8944F-C502-F238-AF91-EE23020FE21C}"/>
                    </a:ext>
                    <a:ext uri="{C183D7F6-B498-43B3-948B-1728B52AA6E4}">
                      <adec:decorative xmlns:adec="http://schemas.microsoft.com/office/drawing/2017/decorative" val="1"/>
                    </a:ext>
                  </a:extLst>
                </p:cNvPr>
                <p:cNvCxnSpPr>
                  <a:cxnSpLocks/>
                  <a:stCxn id="20" idx="6"/>
                  <a:endCxn id="27" idx="1"/>
                </p:cNvCxnSpPr>
                <p:nvPr/>
              </p:nvCxnSpPr>
              <p:spPr>
                <a:xfrm>
                  <a:off x="5499492" y="5527702"/>
                  <a:ext cx="358768" cy="443672"/>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4" name="Straight Connector 53">
                  <a:extLst>
                    <a:ext uri="{FF2B5EF4-FFF2-40B4-BE49-F238E27FC236}">
                      <a16:creationId xmlns:a16="http://schemas.microsoft.com/office/drawing/2014/main" id="{779112CF-89F9-C0E3-9673-25C81D3B17D0}"/>
                    </a:ext>
                    <a:ext uri="{C183D7F6-B498-43B3-948B-1728B52AA6E4}">
                      <adec:decorative xmlns:adec="http://schemas.microsoft.com/office/drawing/2017/decorative" val="1"/>
                    </a:ext>
                  </a:extLst>
                </p:cNvPr>
                <p:cNvCxnSpPr>
                  <a:cxnSpLocks/>
                  <a:stCxn id="26" idx="6"/>
                  <a:endCxn id="22" idx="2"/>
                </p:cNvCxnSpPr>
                <p:nvPr/>
              </p:nvCxnSpPr>
              <p:spPr>
                <a:xfrm flipV="1">
                  <a:off x="5499492" y="5120421"/>
                  <a:ext cx="336450" cy="7120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sp>
              <p:nvSpPr>
                <p:cNvPr id="55" name="Oval 54">
                  <a:extLst>
                    <a:ext uri="{FF2B5EF4-FFF2-40B4-BE49-F238E27FC236}">
                      <a16:creationId xmlns:a16="http://schemas.microsoft.com/office/drawing/2014/main" id="{E938FD58-9EA6-F1F8-6BDD-9744B77DFD5F}"/>
                    </a:ext>
                    <a:ext uri="{C183D7F6-B498-43B3-948B-1728B52AA6E4}">
                      <adec:decorative xmlns:adec="http://schemas.microsoft.com/office/drawing/2017/decorative" val="1"/>
                    </a:ext>
                  </a:extLst>
                </p:cNvPr>
                <p:cNvSpPr/>
                <p:nvPr/>
              </p:nvSpPr>
              <p:spPr>
                <a:xfrm>
                  <a:off x="4410942" y="45997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8CCB9014-6DB0-4172-3A96-B122F68C8C0E}"/>
                    </a:ext>
                    <a:ext uri="{C183D7F6-B498-43B3-948B-1728B52AA6E4}">
                      <adec:decorative xmlns:adec="http://schemas.microsoft.com/office/drawing/2017/decorative" val="1"/>
                    </a:ext>
                  </a:extLst>
                </p:cNvPr>
                <p:cNvSpPr/>
                <p:nvPr/>
              </p:nvSpPr>
              <p:spPr>
                <a:xfrm>
                  <a:off x="4410942" y="4855430"/>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D7661112-641C-448B-5717-9F7D6C408772}"/>
                    </a:ext>
                    <a:ext uri="{C183D7F6-B498-43B3-948B-1728B52AA6E4}">
                      <adec:decorative xmlns:adec="http://schemas.microsoft.com/office/drawing/2017/decorative" val="1"/>
                    </a:ext>
                  </a:extLst>
                </p:cNvPr>
                <p:cNvSpPr/>
                <p:nvPr/>
              </p:nvSpPr>
              <p:spPr>
                <a:xfrm>
                  <a:off x="4410942" y="5133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216AA8F4-C1C7-998E-E976-3F1BD17FB275}"/>
                    </a:ext>
                    <a:ext uri="{C183D7F6-B498-43B3-948B-1728B52AA6E4}">
                      <adec:decorative xmlns:adec="http://schemas.microsoft.com/office/drawing/2017/decorative" val="1"/>
                    </a:ext>
                  </a:extLst>
                </p:cNvPr>
                <p:cNvSpPr/>
                <p:nvPr/>
              </p:nvSpPr>
              <p:spPr>
                <a:xfrm>
                  <a:off x="4410942" y="54379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4071B329-36EA-0B29-5DEC-6A25709AB7E8}"/>
                    </a:ext>
                    <a:ext uri="{C183D7F6-B498-43B3-948B-1728B52AA6E4}">
                      <adec:decorative xmlns:adec="http://schemas.microsoft.com/office/drawing/2017/decorative" val="1"/>
                    </a:ext>
                  </a:extLst>
                </p:cNvPr>
                <p:cNvSpPr/>
                <p:nvPr/>
              </p:nvSpPr>
              <p:spPr>
                <a:xfrm>
                  <a:off x="4410942" y="57427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73A15E36-6BEE-8ACA-5018-2BCAC5A58861}"/>
                    </a:ext>
                    <a:ext uri="{C183D7F6-B498-43B3-948B-1728B52AA6E4}">
                      <adec:decorative xmlns:adec="http://schemas.microsoft.com/office/drawing/2017/decorative" val="1"/>
                    </a:ext>
                  </a:extLst>
                </p:cNvPr>
                <p:cNvSpPr/>
                <p:nvPr/>
              </p:nvSpPr>
              <p:spPr>
                <a:xfrm>
                  <a:off x="4419600" y="606894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20AD8FDB-F8B0-1680-5131-FF31B650E347}"/>
                    </a:ext>
                    <a:ext uri="{C183D7F6-B498-43B3-948B-1728B52AA6E4}">
                      <adec:decorative xmlns:adec="http://schemas.microsoft.com/office/drawing/2017/decorative" val="1"/>
                    </a:ext>
                  </a:extLst>
                </p:cNvPr>
                <p:cNvCxnSpPr>
                  <a:cxnSpLocks/>
                  <a:stCxn id="55" idx="6"/>
                  <a:endCxn id="14" idx="2"/>
                </p:cNvCxnSpPr>
                <p:nvPr/>
              </p:nvCxnSpPr>
              <p:spPr>
                <a:xfrm>
                  <a:off x="4563342" y="46895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2" name="Straight Connector 61">
                  <a:extLst>
                    <a:ext uri="{FF2B5EF4-FFF2-40B4-BE49-F238E27FC236}">
                      <a16:creationId xmlns:a16="http://schemas.microsoft.com/office/drawing/2014/main" id="{9097E652-DD2B-BE45-7390-54DB0EAE2837}"/>
                    </a:ext>
                    <a:ext uri="{C183D7F6-B498-43B3-948B-1728B52AA6E4}">
                      <adec:decorative xmlns:adec="http://schemas.microsoft.com/office/drawing/2017/decorative" val="1"/>
                    </a:ext>
                  </a:extLst>
                </p:cNvPr>
                <p:cNvCxnSpPr>
                  <a:cxnSpLocks/>
                  <a:stCxn id="56" idx="6"/>
                  <a:endCxn id="15" idx="2"/>
                </p:cNvCxnSpPr>
                <p:nvPr/>
              </p:nvCxnSpPr>
              <p:spPr>
                <a:xfrm>
                  <a:off x="4563342" y="4945158"/>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3" name="Straight Connector 62">
                  <a:extLst>
                    <a:ext uri="{FF2B5EF4-FFF2-40B4-BE49-F238E27FC236}">
                      <a16:creationId xmlns:a16="http://schemas.microsoft.com/office/drawing/2014/main" id="{01FD235B-FA9F-C8B7-E698-5887A05A7000}"/>
                    </a:ext>
                    <a:ext uri="{C183D7F6-B498-43B3-948B-1728B52AA6E4}">
                      <adec:decorative xmlns:adec="http://schemas.microsoft.com/office/drawing/2017/decorative" val="1"/>
                    </a:ext>
                  </a:extLst>
                </p:cNvPr>
                <p:cNvCxnSpPr>
                  <a:cxnSpLocks/>
                  <a:stCxn id="57" idx="6"/>
                  <a:endCxn id="16" idx="2"/>
                </p:cNvCxnSpPr>
                <p:nvPr/>
              </p:nvCxnSpPr>
              <p:spPr>
                <a:xfrm>
                  <a:off x="4563342" y="52229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4" name="Straight Connector 63">
                  <a:extLst>
                    <a:ext uri="{FF2B5EF4-FFF2-40B4-BE49-F238E27FC236}">
                      <a16:creationId xmlns:a16="http://schemas.microsoft.com/office/drawing/2014/main" id="{88724F59-E73E-A0AC-7C1A-37613B07DECD}"/>
                    </a:ext>
                    <a:ext uri="{C183D7F6-B498-43B3-948B-1728B52AA6E4}">
                      <adec:decorative xmlns:adec="http://schemas.microsoft.com/office/drawing/2017/decorative" val="1"/>
                    </a:ext>
                  </a:extLst>
                </p:cNvPr>
                <p:cNvCxnSpPr>
                  <a:cxnSpLocks/>
                  <a:stCxn id="58" idx="6"/>
                  <a:endCxn id="17" idx="2"/>
                </p:cNvCxnSpPr>
                <p:nvPr/>
              </p:nvCxnSpPr>
              <p:spPr>
                <a:xfrm>
                  <a:off x="4563342" y="55277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5" name="Straight Connector 64">
                  <a:extLst>
                    <a:ext uri="{FF2B5EF4-FFF2-40B4-BE49-F238E27FC236}">
                      <a16:creationId xmlns:a16="http://schemas.microsoft.com/office/drawing/2014/main" id="{B97CD670-87AB-B003-AE3D-8587CA2EC231}"/>
                    </a:ext>
                    <a:ext uri="{C183D7F6-B498-43B3-948B-1728B52AA6E4}">
                      <adec:decorative xmlns:adec="http://schemas.microsoft.com/office/drawing/2017/decorative" val="1"/>
                    </a:ext>
                  </a:extLst>
                </p:cNvPr>
                <p:cNvCxnSpPr>
                  <a:cxnSpLocks/>
                  <a:stCxn id="59" idx="6"/>
                  <a:endCxn id="25" idx="2"/>
                </p:cNvCxnSpPr>
                <p:nvPr/>
              </p:nvCxnSpPr>
              <p:spPr>
                <a:xfrm>
                  <a:off x="4563342" y="58325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6" name="Straight Connector 65">
                  <a:extLst>
                    <a:ext uri="{FF2B5EF4-FFF2-40B4-BE49-F238E27FC236}">
                      <a16:creationId xmlns:a16="http://schemas.microsoft.com/office/drawing/2014/main" id="{DA88C51B-395A-15EE-54C8-3C33D63F0C26}"/>
                    </a:ext>
                    <a:ext uri="{C183D7F6-B498-43B3-948B-1728B52AA6E4}">
                      <adec:decorative xmlns:adec="http://schemas.microsoft.com/office/drawing/2017/decorative" val="1"/>
                    </a:ext>
                  </a:extLst>
                </p:cNvPr>
                <p:cNvCxnSpPr>
                  <a:cxnSpLocks/>
                  <a:stCxn id="60" idx="6"/>
                  <a:endCxn id="25" idx="2"/>
                </p:cNvCxnSpPr>
                <p:nvPr/>
              </p:nvCxnSpPr>
              <p:spPr>
                <a:xfrm flipV="1">
                  <a:off x="4572000" y="5984902"/>
                  <a:ext cx="317892" cy="17377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7" name="Straight Connector 66">
                  <a:extLst>
                    <a:ext uri="{FF2B5EF4-FFF2-40B4-BE49-F238E27FC236}">
                      <a16:creationId xmlns:a16="http://schemas.microsoft.com/office/drawing/2014/main" id="{CD900165-2F3A-55EB-1A74-E22F5E9DC551}"/>
                    </a:ext>
                    <a:ext uri="{C183D7F6-B498-43B3-948B-1728B52AA6E4}">
                      <adec:decorative xmlns:adec="http://schemas.microsoft.com/office/drawing/2017/decorative" val="1"/>
                    </a:ext>
                  </a:extLst>
                </p:cNvPr>
                <p:cNvCxnSpPr>
                  <a:cxnSpLocks/>
                  <a:stCxn id="59" idx="6"/>
                  <a:endCxn id="17" idx="2"/>
                </p:cNvCxnSpPr>
                <p:nvPr/>
              </p:nvCxnSpPr>
              <p:spPr>
                <a:xfrm flipV="1">
                  <a:off x="4563342" y="56801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8" name="Straight Connector 67">
                  <a:extLst>
                    <a:ext uri="{FF2B5EF4-FFF2-40B4-BE49-F238E27FC236}">
                      <a16:creationId xmlns:a16="http://schemas.microsoft.com/office/drawing/2014/main" id="{407B90F0-B901-9B68-A086-504AAEEF73B0}"/>
                    </a:ext>
                    <a:ext uri="{C183D7F6-B498-43B3-948B-1728B52AA6E4}">
                      <adec:decorative xmlns:adec="http://schemas.microsoft.com/office/drawing/2017/decorative" val="1"/>
                    </a:ext>
                  </a:extLst>
                </p:cNvPr>
                <p:cNvCxnSpPr>
                  <a:cxnSpLocks/>
                  <a:stCxn id="57" idx="6"/>
                  <a:endCxn id="15" idx="2"/>
                </p:cNvCxnSpPr>
                <p:nvPr/>
              </p:nvCxnSpPr>
              <p:spPr>
                <a:xfrm flipV="1">
                  <a:off x="4563342" y="5097558"/>
                  <a:ext cx="326550" cy="125344"/>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9" name="Straight Connector 68">
                  <a:extLst>
                    <a:ext uri="{FF2B5EF4-FFF2-40B4-BE49-F238E27FC236}">
                      <a16:creationId xmlns:a16="http://schemas.microsoft.com/office/drawing/2014/main" id="{679748F9-EABB-530F-BEDB-CC3AEB4EFC0F}"/>
                    </a:ext>
                    <a:ext uri="{C183D7F6-B498-43B3-948B-1728B52AA6E4}">
                      <adec:decorative xmlns:adec="http://schemas.microsoft.com/office/drawing/2017/decorative" val="1"/>
                    </a:ext>
                  </a:extLst>
                </p:cNvPr>
                <p:cNvCxnSpPr>
                  <a:cxnSpLocks/>
                  <a:stCxn id="56" idx="6"/>
                  <a:endCxn id="14" idx="2"/>
                </p:cNvCxnSpPr>
                <p:nvPr/>
              </p:nvCxnSpPr>
              <p:spPr>
                <a:xfrm flipV="1">
                  <a:off x="4563342" y="4841902"/>
                  <a:ext cx="326550" cy="103256"/>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0" name="Straight Connector 69">
                  <a:extLst>
                    <a:ext uri="{FF2B5EF4-FFF2-40B4-BE49-F238E27FC236}">
                      <a16:creationId xmlns:a16="http://schemas.microsoft.com/office/drawing/2014/main" id="{EB156037-C1E7-0256-8F83-67DDCC67770B}"/>
                    </a:ext>
                    <a:ext uri="{C183D7F6-B498-43B3-948B-1728B52AA6E4}">
                      <adec:decorative xmlns:adec="http://schemas.microsoft.com/office/drawing/2017/decorative" val="1"/>
                    </a:ext>
                  </a:extLst>
                </p:cNvPr>
                <p:cNvCxnSpPr>
                  <a:cxnSpLocks/>
                  <a:stCxn id="58" idx="6"/>
                  <a:endCxn id="25" idx="2"/>
                </p:cNvCxnSpPr>
                <p:nvPr/>
              </p:nvCxnSpPr>
              <p:spPr>
                <a:xfrm>
                  <a:off x="4563342" y="5527702"/>
                  <a:ext cx="32655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1" name="Straight Connector 70">
                  <a:extLst>
                    <a:ext uri="{FF2B5EF4-FFF2-40B4-BE49-F238E27FC236}">
                      <a16:creationId xmlns:a16="http://schemas.microsoft.com/office/drawing/2014/main" id="{DF42772B-E325-4704-F3E5-11BB7E904198}"/>
                    </a:ext>
                    <a:ext uri="{C183D7F6-B498-43B3-948B-1728B52AA6E4}">
                      <adec:decorative xmlns:adec="http://schemas.microsoft.com/office/drawing/2017/decorative" val="1"/>
                    </a:ext>
                  </a:extLst>
                </p:cNvPr>
                <p:cNvCxnSpPr>
                  <a:cxnSpLocks/>
                  <a:stCxn id="56" idx="6"/>
                  <a:endCxn id="17" idx="2"/>
                </p:cNvCxnSpPr>
                <p:nvPr/>
              </p:nvCxnSpPr>
              <p:spPr>
                <a:xfrm>
                  <a:off x="4563342" y="4945158"/>
                  <a:ext cx="326550" cy="734944"/>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2" name="Straight Connector 71">
                  <a:extLst>
                    <a:ext uri="{FF2B5EF4-FFF2-40B4-BE49-F238E27FC236}">
                      <a16:creationId xmlns:a16="http://schemas.microsoft.com/office/drawing/2014/main" id="{B26C2193-670E-4D28-13A0-4C768D60E12D}"/>
                    </a:ext>
                    <a:ext uri="{C183D7F6-B498-43B3-948B-1728B52AA6E4}">
                      <adec:decorative xmlns:adec="http://schemas.microsoft.com/office/drawing/2017/decorative" val="1"/>
                    </a:ext>
                  </a:extLst>
                </p:cNvPr>
                <p:cNvCxnSpPr>
                  <a:cxnSpLocks/>
                  <a:stCxn id="58" idx="6"/>
                  <a:endCxn id="14" idx="2"/>
                </p:cNvCxnSpPr>
                <p:nvPr/>
              </p:nvCxnSpPr>
              <p:spPr>
                <a:xfrm flipV="1">
                  <a:off x="4563342" y="4841902"/>
                  <a:ext cx="326550" cy="6858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3" name="Straight Connector 72">
                  <a:extLst>
                    <a:ext uri="{FF2B5EF4-FFF2-40B4-BE49-F238E27FC236}">
                      <a16:creationId xmlns:a16="http://schemas.microsoft.com/office/drawing/2014/main" id="{8BC8CE9F-AB24-C3D8-7480-92E14F4ED2CA}"/>
                    </a:ext>
                    <a:ext uri="{C183D7F6-B498-43B3-948B-1728B52AA6E4}">
                      <adec:decorative xmlns:adec="http://schemas.microsoft.com/office/drawing/2017/decorative" val="1"/>
                    </a:ext>
                  </a:extLst>
                </p:cNvPr>
                <p:cNvCxnSpPr>
                  <a:cxnSpLocks/>
                  <a:stCxn id="60" idx="6"/>
                  <a:endCxn id="17" idx="2"/>
                </p:cNvCxnSpPr>
                <p:nvPr/>
              </p:nvCxnSpPr>
              <p:spPr>
                <a:xfrm flipV="1">
                  <a:off x="4572000" y="5680102"/>
                  <a:ext cx="317892" cy="47857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4" name="Straight Connector 73">
                  <a:extLst>
                    <a:ext uri="{FF2B5EF4-FFF2-40B4-BE49-F238E27FC236}">
                      <a16:creationId xmlns:a16="http://schemas.microsoft.com/office/drawing/2014/main" id="{A9B77FB3-47AF-3096-790F-27BA98E1A553}"/>
                    </a:ext>
                    <a:ext uri="{C183D7F6-B498-43B3-948B-1728B52AA6E4}">
                      <adec:decorative xmlns:adec="http://schemas.microsoft.com/office/drawing/2017/decorative" val="1"/>
                    </a:ext>
                  </a:extLst>
                </p:cNvPr>
                <p:cNvCxnSpPr>
                  <a:cxnSpLocks/>
                  <a:stCxn id="59" idx="6"/>
                  <a:endCxn id="16" idx="2"/>
                </p:cNvCxnSpPr>
                <p:nvPr/>
              </p:nvCxnSpPr>
              <p:spPr>
                <a:xfrm flipV="1">
                  <a:off x="4563342" y="5375302"/>
                  <a:ext cx="32655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grpSp>
          <p:sp>
            <p:nvSpPr>
              <p:cNvPr id="7" name="Arrow: Right 6">
                <a:extLst>
                  <a:ext uri="{FF2B5EF4-FFF2-40B4-BE49-F238E27FC236}">
                    <a16:creationId xmlns:a16="http://schemas.microsoft.com/office/drawing/2014/main" id="{258A3AE2-74DB-4569-1133-E2B2F3DE5EBC}"/>
                  </a:ext>
                  <a:ext uri="{C183D7F6-B498-43B3-948B-1728B52AA6E4}">
                    <adec:decorative xmlns:adec="http://schemas.microsoft.com/office/drawing/2017/decorative" val="1"/>
                  </a:ext>
                </a:extLst>
              </p:cNvPr>
              <p:cNvSpPr/>
              <p:nvPr/>
            </p:nvSpPr>
            <p:spPr>
              <a:xfrm>
                <a:off x="1442560" y="4430327"/>
                <a:ext cx="425911" cy="533400"/>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descr="Equation: s">
                    <a:extLst>
                      <a:ext uri="{FF2B5EF4-FFF2-40B4-BE49-F238E27FC236}">
                        <a16:creationId xmlns:a16="http://schemas.microsoft.com/office/drawing/2014/main" id="{96771D4B-B2A6-3805-B9FD-93491A1AD9CA}"/>
                      </a:ext>
                    </a:extLst>
                  </p:cNvPr>
                  <p:cNvSpPr txBox="1"/>
                  <p:nvPr/>
                </p:nvSpPr>
                <p:spPr>
                  <a:xfrm>
                    <a:off x="1129787" y="4514865"/>
                    <a:ext cx="349711" cy="369332"/>
                  </a:xfrm>
                  <a:prstGeom prst="rect">
                    <a:avLst/>
                  </a:prstGeom>
                  <a:noFill/>
                </p:spPr>
                <p:txBody>
                  <a:bodyPr wrap="none" rtlCol="0">
                    <a:spAutoFit/>
                  </a:bodyPr>
                  <a:lstStyle/>
                  <a:p>
                    <a:pPr/>
                    <a14:m>
                      <m:oMathPara xmlns:m="http://schemas.openxmlformats.org/officeDocument/2006/math">
                        <m:oMath>
                          <m:r>
                            <a:rPr lang="en-US" i="1" dirty="0" smtClean="0">
                              <a:latin typeface="Cambria Math" panose="02040503050406030204" pitchFamily="18" charset="0"/>
                            </a:rPr>
                            <m:t>𝑠</m:t>
                          </m:r>
                        </m:oMath>
                      </m:oMathPara>
                    </a14:m>
                    <a:endParaRPr lang="en-US" dirty="0"/>
                  </a:p>
                </p:txBody>
              </p:sp>
            </mc:Choice>
            <mc:Fallback xmlns="">
              <p:sp>
                <p:nvSpPr>
                  <p:cNvPr id="194" name="TextBox 193">
                    <a:extLst>
                      <a:ext uri="{FF2B5EF4-FFF2-40B4-BE49-F238E27FC236}">
                        <a16:creationId xmlns:a16="http://schemas.microsoft.com/office/drawing/2014/main" id="{5FAAFD66-2140-E45A-471D-39F874312E32}"/>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129787" y="4514865"/>
                    <a:ext cx="349711" cy="369332"/>
                  </a:xfrm>
                  <a:prstGeom prst="rect">
                    <a:avLst/>
                  </a:prstGeom>
                  <a:blipFill>
                    <a:blip r:embed="rId6"/>
                    <a:stretch>
                      <a:fillRect/>
                    </a:stretch>
                  </a:blipFill>
                </p:spPr>
                <p:txBody>
                  <a:bodyPr/>
                  <a:lstStyle/>
                  <a:p>
                    <a:r>
                      <a:rPr lang="en-US">
                        <a:noFill/>
                      </a:rPr>
                      <a:t> </a:t>
                    </a:r>
                  </a:p>
                </p:txBody>
              </p:sp>
            </mc:Fallback>
          </mc:AlternateContent>
          <p:sp>
            <p:nvSpPr>
              <p:cNvPr id="9" name="Arrow: Right 8">
                <a:extLst>
                  <a:ext uri="{FF2B5EF4-FFF2-40B4-BE49-F238E27FC236}">
                    <a16:creationId xmlns:a16="http://schemas.microsoft.com/office/drawing/2014/main" id="{05AEA83A-9A19-7F8B-4BF8-85421685A42D}"/>
                  </a:ext>
                  <a:ext uri="{C183D7F6-B498-43B3-948B-1728B52AA6E4}">
                    <adec:decorative xmlns:adec="http://schemas.microsoft.com/office/drawing/2017/decorative" val="1"/>
                  </a:ext>
                </a:extLst>
              </p:cNvPr>
              <p:cNvSpPr/>
              <p:nvPr/>
            </p:nvSpPr>
            <p:spPr>
              <a:xfrm>
                <a:off x="3810000" y="4491358"/>
                <a:ext cx="384215" cy="503703"/>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descr="Equation: Q(s, a)">
                    <a:extLst>
                      <a:ext uri="{FF2B5EF4-FFF2-40B4-BE49-F238E27FC236}">
                        <a16:creationId xmlns:a16="http://schemas.microsoft.com/office/drawing/2014/main" id="{2E10DA38-164C-6BE0-439E-83677CA4F1E4}"/>
                      </a:ext>
                    </a:extLst>
                  </p:cNvPr>
                  <p:cNvSpPr txBox="1"/>
                  <p:nvPr/>
                </p:nvSpPr>
                <p:spPr>
                  <a:xfrm>
                    <a:off x="4125676" y="4556563"/>
                    <a:ext cx="924740" cy="369332"/>
                  </a:xfrm>
                  <a:prstGeom prst="rect">
                    <a:avLst/>
                  </a:prstGeom>
                  <a:noFill/>
                </p:spPr>
                <p:txBody>
                  <a:bodyPr wrap="none" rtlCol="0">
                    <a:spAutoFit/>
                  </a:bodyPr>
                  <a:lstStyle/>
                  <a:p>
                    <a:pPr/>
                    <a14:m>
                      <m:oMathPara xmlns:m="http://schemas.openxmlformats.org/officeDocument/2006/math">
                        <m:oMath>
                          <m:r>
                            <a:rPr lang="en-US" b="0" i="1" dirty="0" smtClean="0">
                              <a:latin typeface="Cambria Math" panose="02040503050406030204" pitchFamily="18" charset="0"/>
                            </a:rPr>
                            <m:t>𝑄</m:t>
                          </m:r>
                          <m:r>
                            <a:rPr lang="en-US" b="0"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 </m:t>
                          </m:r>
                          <m:r>
                            <a:rPr lang="en-US" i="1" dirty="0">
                              <a:latin typeface="Cambria Math" panose="02040503050406030204" pitchFamily="18" charset="0"/>
                            </a:rPr>
                            <m:t>𝑎</m:t>
                          </m:r>
                          <m:r>
                            <a:rPr lang="en-US" b="0" i="1" dirty="0" smtClean="0">
                              <a:latin typeface="Cambria Math" panose="02040503050406030204" pitchFamily="18" charset="0"/>
                            </a:rPr>
                            <m:t>)</m:t>
                          </m:r>
                        </m:oMath>
                      </m:oMathPara>
                    </a14:m>
                    <a:endParaRPr lang="en-US" dirty="0"/>
                  </a:p>
                </p:txBody>
              </p:sp>
            </mc:Choice>
            <mc:Fallback xmlns="">
              <p:sp>
                <p:nvSpPr>
                  <p:cNvPr id="196" name="TextBox 195">
                    <a:extLst>
                      <a:ext uri="{FF2B5EF4-FFF2-40B4-BE49-F238E27FC236}">
                        <a16:creationId xmlns:a16="http://schemas.microsoft.com/office/drawing/2014/main" id="{D64E343A-1D3A-216C-1B9D-C48B77179E88}"/>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4125676" y="4556563"/>
                    <a:ext cx="924740" cy="369332"/>
                  </a:xfrm>
                  <a:prstGeom prst="rect">
                    <a:avLst/>
                  </a:prstGeom>
                  <a:blipFill>
                    <a:blip r:embed="rId7"/>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descr="Equation: S">
                    <a:extLst>
                      <a:ext uri="{FF2B5EF4-FFF2-40B4-BE49-F238E27FC236}">
                        <a16:creationId xmlns:a16="http://schemas.microsoft.com/office/drawing/2014/main" id="{AF0E4FA8-539B-1428-8C95-AC97DD783E40}"/>
                      </a:ext>
                    </a:extLst>
                  </p:cNvPr>
                  <p:cNvSpPr txBox="1"/>
                  <p:nvPr/>
                </p:nvSpPr>
                <p:spPr>
                  <a:xfrm>
                    <a:off x="1994915" y="3714030"/>
                    <a:ext cx="363881" cy="369332"/>
                  </a:xfrm>
                  <a:prstGeom prst="rect">
                    <a:avLst/>
                  </a:prstGeom>
                  <a:noFill/>
                </p:spPr>
                <p:txBody>
                  <a:bodyPr wrap="none" rtlCol="0">
                    <a:spAutoFit/>
                  </a:bodyPr>
                  <a:lstStyle/>
                  <a:p>
                    <a:pPr/>
                    <a14:m>
                      <m:oMathPara xmlns:m="http://schemas.openxmlformats.org/officeDocument/2006/math">
                        <m:oMath>
                          <m:r>
                            <a:rPr lang="en-US" b="0" i="1" dirty="0" smtClean="0">
                              <a:latin typeface="Cambria Math" panose="02040503050406030204" pitchFamily="18" charset="0"/>
                            </a:rPr>
                            <m:t>𝑆</m:t>
                          </m:r>
                        </m:oMath>
                      </m:oMathPara>
                    </a14:m>
                    <a:endParaRPr lang="en-US" dirty="0"/>
                  </a:p>
                </p:txBody>
              </p:sp>
            </mc:Choice>
            <mc:Fallback xmlns="">
              <p:sp>
                <p:nvSpPr>
                  <p:cNvPr id="197" name="TextBox 196">
                    <a:extLst>
                      <a:ext uri="{FF2B5EF4-FFF2-40B4-BE49-F238E27FC236}">
                        <a16:creationId xmlns:a16="http://schemas.microsoft.com/office/drawing/2014/main" id="{25BA0203-B417-18D9-5155-AC948C3DB147}"/>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994915" y="3714030"/>
                    <a:ext cx="36388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descr="Equation: A">
                    <a:extLst>
                      <a:ext uri="{FF2B5EF4-FFF2-40B4-BE49-F238E27FC236}">
                        <a16:creationId xmlns:a16="http://schemas.microsoft.com/office/drawing/2014/main" id="{5CD6321C-F194-F363-0C4C-0B4453F807EC}"/>
                      </a:ext>
                    </a:extLst>
                  </p:cNvPr>
                  <p:cNvSpPr txBox="1"/>
                  <p:nvPr/>
                </p:nvSpPr>
                <p:spPr>
                  <a:xfrm>
                    <a:off x="3182394" y="3851318"/>
                    <a:ext cx="385683" cy="369332"/>
                  </a:xfrm>
                  <a:prstGeom prst="rect">
                    <a:avLst/>
                  </a:prstGeom>
                  <a:noFill/>
                </p:spPr>
                <p:txBody>
                  <a:bodyPr wrap="none" rtlCol="0">
                    <a:spAutoFit/>
                  </a:bodyPr>
                  <a:lstStyle/>
                  <a:p>
                    <a:pPr/>
                    <a14:m>
                      <m:oMathPara xmlns:m="http://schemas.openxmlformats.org/officeDocument/2006/math">
                        <m:oMath>
                          <m:r>
                            <a:rPr lang="en-US" b="0" i="1" dirty="0" smtClean="0">
                              <a:latin typeface="Cambria Math" panose="02040503050406030204" pitchFamily="18" charset="0"/>
                            </a:rPr>
                            <m:t>𝐴</m:t>
                          </m:r>
                        </m:oMath>
                      </m:oMathPara>
                    </a14:m>
                    <a:endParaRPr lang="en-US" dirty="0"/>
                  </a:p>
                </p:txBody>
              </p:sp>
            </mc:Choice>
            <mc:Fallback xmlns="">
              <p:sp>
                <p:nvSpPr>
                  <p:cNvPr id="198" name="TextBox 197">
                    <a:extLst>
                      <a:ext uri="{FF2B5EF4-FFF2-40B4-BE49-F238E27FC236}">
                        <a16:creationId xmlns:a16="http://schemas.microsoft.com/office/drawing/2014/main" id="{5F8BBD95-CC36-0F7B-4420-D48D811414FE}"/>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182394" y="3851318"/>
                    <a:ext cx="385683" cy="369332"/>
                  </a:xfrm>
                  <a:prstGeom prst="rect">
                    <a:avLst/>
                  </a:prstGeom>
                  <a:blipFill>
                    <a:blip r:embed="rId9"/>
                    <a:stretch>
                      <a:fillRect/>
                    </a:stretch>
                  </a:blipFill>
                </p:spPr>
                <p:txBody>
                  <a:bodyPr/>
                  <a:lstStyle/>
                  <a:p>
                    <a:r>
                      <a:rPr lang="en-US">
                        <a:noFill/>
                      </a:rPr>
                      <a:t> </a:t>
                    </a:r>
                  </a:p>
                </p:txBody>
              </p:sp>
            </mc:Fallback>
          </mc:AlternateContent>
          <p:sp>
            <p:nvSpPr>
              <p:cNvPr id="13" name="Right Brace 12">
                <a:extLst>
                  <a:ext uri="{FF2B5EF4-FFF2-40B4-BE49-F238E27FC236}">
                    <a16:creationId xmlns:a16="http://schemas.microsoft.com/office/drawing/2014/main" id="{81798DE3-3E7D-6BAA-CB17-973E94621903}"/>
                  </a:ext>
                  <a:ext uri="{C183D7F6-B498-43B3-948B-1728B52AA6E4}">
                    <adec:decorative xmlns:adec="http://schemas.microsoft.com/office/drawing/2017/decorative" val="1"/>
                  </a:ext>
                </a:extLst>
              </p:cNvPr>
              <p:cNvSpPr/>
              <p:nvPr/>
            </p:nvSpPr>
            <p:spPr>
              <a:xfrm>
                <a:off x="3515217" y="4209556"/>
                <a:ext cx="113460" cy="1038077"/>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75" name="TextBox 74" descr="Equation: theta sub k, to the power">
                  <a:extLst>
                    <a:ext uri="{FF2B5EF4-FFF2-40B4-BE49-F238E27FC236}">
                      <a16:creationId xmlns:a16="http://schemas.microsoft.com/office/drawing/2014/main" id="{1A4002B5-28B5-0BFD-E5E5-BFAEEA34D8D8}"/>
                    </a:ext>
                  </a:extLst>
                </p:cNvPr>
                <p:cNvSpPr txBox="1"/>
                <p:nvPr/>
              </p:nvSpPr>
              <p:spPr>
                <a:xfrm>
                  <a:off x="8909426" y="2084168"/>
                  <a:ext cx="629958" cy="404791"/>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14:m>
                    <m:oMathPara xmlns:m="http://schemas.openxmlformats.org/officeDocument/2006/math">
                      <m:oMath>
                        <m:sSubSup>
                          <m:sSubSupPr>
                            <m:ctrlPr>
                              <a:rPr lang="en-US" b="1" i="1">
                                <a:latin typeface="Cambria Math" panose="02040503050406030204" pitchFamily="18" charset="0"/>
                              </a:rPr>
                            </m:ctrlPr>
                          </m:sSubSupPr>
                          <m:e>
                            <m:r>
                              <a:rPr lang="en-US" b="1" i="1">
                                <a:latin typeface="Cambria Math" panose="02040503050406030204" pitchFamily="18" charset="0"/>
                              </a:rPr>
                              <m:t>𝜽</m:t>
                            </m:r>
                          </m:e>
                          <m:sub>
                            <m:r>
                              <a:rPr lang="en-US" i="1">
                                <a:latin typeface="Cambria Math" panose="02040503050406030204" pitchFamily="18" charset="0"/>
                              </a:rPr>
                              <m:t>𝑘</m:t>
                            </m:r>
                          </m:sub>
                          <m:sup/>
                        </m:sSubSup>
                      </m:oMath>
                    </m:oMathPara>
                  </a14:m>
                  <a:endParaRPr lang="en-US" dirty="0"/>
                </a:p>
              </p:txBody>
            </p:sp>
          </mc:Choice>
          <mc:Fallback xmlns="">
            <p:sp>
              <p:nvSpPr>
                <p:cNvPr id="75" name="TextBox 74" descr="Equation: theta sub k, to the power">
                  <a:extLst>
                    <a:ext uri="{FF2B5EF4-FFF2-40B4-BE49-F238E27FC236}">
                      <a16:creationId xmlns:a16="http://schemas.microsoft.com/office/drawing/2014/main" id="{1A4002B5-28B5-0BFD-E5E5-BFAEEA34D8D8}"/>
                    </a:ext>
                  </a:extLst>
                </p:cNvPr>
                <p:cNvSpPr txBox="1">
                  <a:spLocks noRot="1" noChangeAspect="1" noMove="1" noResize="1" noEditPoints="1" noAdjustHandles="1" noChangeArrowheads="1" noChangeShapeType="1" noTextEdit="1"/>
                </p:cNvSpPr>
                <p:nvPr/>
              </p:nvSpPr>
              <p:spPr>
                <a:xfrm>
                  <a:off x="8909426" y="2084168"/>
                  <a:ext cx="629958" cy="404791"/>
                </a:xfrm>
                <a:prstGeom prst="rect">
                  <a:avLst/>
                </a:prstGeom>
                <a:blipFill>
                  <a:blip r:embed="rId10"/>
                  <a:stretch>
                    <a:fillRect/>
                  </a:stretch>
                </a:blipFill>
              </p:spPr>
              <p:txBody>
                <a:bodyPr/>
                <a:lstStyle/>
                <a:p>
                  <a:r>
                    <a:rPr lang="en-US">
                      <a:noFill/>
                    </a:rPr>
                    <a:t> </a:t>
                  </a:r>
                </a:p>
              </p:txBody>
            </p:sp>
          </mc:Fallback>
        </mc:AlternateContent>
      </p:grpSp>
      <p:grpSp>
        <p:nvGrpSpPr>
          <p:cNvPr id="91" name="Group 90">
            <a:extLst>
              <a:ext uri="{FF2B5EF4-FFF2-40B4-BE49-F238E27FC236}">
                <a16:creationId xmlns:a16="http://schemas.microsoft.com/office/drawing/2014/main" id="{C984E1BA-B2A1-B813-0951-74D460478FA0}"/>
              </a:ext>
              <a:ext uri="{C183D7F6-B498-43B3-948B-1728B52AA6E4}">
                <adec:decorative xmlns:adec="http://schemas.microsoft.com/office/drawing/2017/decorative" val="1"/>
              </a:ext>
            </a:extLst>
          </p:cNvPr>
          <p:cNvGrpSpPr/>
          <p:nvPr/>
        </p:nvGrpSpPr>
        <p:grpSpPr>
          <a:xfrm>
            <a:off x="9327619" y="3499663"/>
            <a:ext cx="905285" cy="988724"/>
            <a:chOff x="9327619" y="3499663"/>
            <a:chExt cx="905285" cy="988724"/>
          </a:xfrm>
        </p:grpSpPr>
        <p:cxnSp>
          <p:nvCxnSpPr>
            <p:cNvPr id="83" name="Straight Arrow Connector 82">
              <a:extLst>
                <a:ext uri="{FF2B5EF4-FFF2-40B4-BE49-F238E27FC236}">
                  <a16:creationId xmlns:a16="http://schemas.microsoft.com/office/drawing/2014/main" id="{A0F94964-1510-AC08-C3A0-7AC38CF5908E}"/>
                </a:ext>
                <a:ext uri="{C183D7F6-B498-43B3-948B-1728B52AA6E4}">
                  <adec:decorative xmlns:adec="http://schemas.microsoft.com/office/drawing/2017/decorative" val="1"/>
                </a:ext>
              </a:extLst>
            </p:cNvPr>
            <p:cNvCxnSpPr>
              <a:cxnSpLocks/>
            </p:cNvCxnSpPr>
            <p:nvPr/>
          </p:nvCxnSpPr>
          <p:spPr>
            <a:xfrm>
              <a:off x="9327619" y="3499663"/>
              <a:ext cx="0" cy="988724"/>
            </a:xfrm>
            <a:prstGeom prst="straightConnector1">
              <a:avLst/>
            </a:prstGeom>
            <a:noFill/>
            <a:ln w="57150">
              <a:solidFill>
                <a:schemeClr val="accent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sp>
          <p:nvSpPr>
            <p:cNvPr id="88" name="TextBox 87">
              <a:extLst>
                <a:ext uri="{FF2B5EF4-FFF2-40B4-BE49-F238E27FC236}">
                  <a16:creationId xmlns:a16="http://schemas.microsoft.com/office/drawing/2014/main" id="{973FB76E-0D9C-0C3C-4C6C-C1294267BA93}"/>
                </a:ext>
              </a:extLst>
            </p:cNvPr>
            <p:cNvSpPr txBox="1"/>
            <p:nvPr/>
          </p:nvSpPr>
          <p:spPr>
            <a:xfrm>
              <a:off x="9390105" y="3556468"/>
              <a:ext cx="842799" cy="523220"/>
            </a:xfrm>
            <a:prstGeom prst="rect">
              <a:avLst/>
            </a:prstGeom>
            <a:noFill/>
          </p:spPr>
          <p:txBody>
            <a:bodyPr wrap="square" rtlCol="0">
              <a:spAutoFit/>
            </a:bodyPr>
            <a:lstStyle/>
            <a:p>
              <a:r>
                <a:rPr lang="en-US" sz="1400" dirty="0">
                  <a:solidFill>
                    <a:srgbClr val="C35115"/>
                  </a:solidFill>
                </a:rPr>
                <a:t>Update network</a:t>
              </a:r>
            </a:p>
          </p:txBody>
        </p:sp>
      </p:grpSp>
      <p:sp>
        <p:nvSpPr>
          <p:cNvPr id="77" name="TextBox 76">
            <a:extLst>
              <a:ext uri="{FF2B5EF4-FFF2-40B4-BE49-F238E27FC236}">
                <a16:creationId xmlns:a16="http://schemas.microsoft.com/office/drawing/2014/main" id="{6C5CD441-FBD1-9136-5AAE-986DF45097F6}"/>
              </a:ext>
            </a:extLst>
          </p:cNvPr>
          <p:cNvSpPr txBox="1"/>
          <p:nvPr/>
        </p:nvSpPr>
        <p:spPr>
          <a:xfrm>
            <a:off x="9225466" y="5351320"/>
            <a:ext cx="1327053" cy="430887"/>
          </a:xfrm>
          <a:prstGeom prst="rect">
            <a:avLst/>
          </a:prstGeom>
          <a:noFill/>
        </p:spPr>
        <p:txBody>
          <a:bodyPr wrap="square" rtlCol="0">
            <a:spAutoFit/>
          </a:bodyPr>
          <a:lstStyle/>
          <a:p>
            <a:pPr algn="ctr"/>
            <a:r>
              <a:rPr lang="en-US" sz="1100" dirty="0"/>
              <a:t>Linear </a:t>
            </a:r>
            <a:br>
              <a:rPr lang="en-US" sz="1100" dirty="0"/>
            </a:br>
            <a:r>
              <a:rPr lang="en-US" sz="1100" dirty="0"/>
              <a:t>activation</a:t>
            </a:r>
          </a:p>
        </p:txBody>
      </p:sp>
    </p:spTree>
    <p:extLst>
      <p:ext uri="{BB962C8B-B14F-4D97-AF65-F5344CB8AC3E}">
        <p14:creationId xmlns:p14="http://schemas.microsoft.com/office/powerpoint/2010/main" val="2434878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P spid="8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B4F2E-6E5B-41A1-D21E-B8654373A4DC}"/>
              </a:ext>
            </a:extLst>
          </p:cNvPr>
          <p:cNvSpPr>
            <a:spLocks noGrp="1"/>
          </p:cNvSpPr>
          <p:nvPr>
            <p:ph type="title"/>
          </p:nvPr>
        </p:nvSpPr>
        <p:spPr/>
        <p:txBody>
          <a:bodyPr/>
          <a:lstStyle/>
          <a:p>
            <a:r>
              <a:rPr lang="en-US" dirty="0"/>
              <a:t>Deep Q-Network (DQN; Minh et al, 2015)</a:t>
            </a:r>
          </a:p>
        </p:txBody>
      </p:sp>
      <mc:AlternateContent xmlns:mc="http://schemas.openxmlformats.org/markup-compatibility/2006" xmlns:a14="http://schemas.microsoft.com/office/drawing/2010/main">
        <mc:Choice Requires="a14">
          <p:sp>
            <p:nvSpPr>
              <p:cNvPr id="3" name="Content Placeholder 2" descr="DNQ addresses the instability of NFQ. Idea: reduce instability by calculating the target from a second Q-network that is updated slowly: U sub k equals r plus gamma max over a prime, of Q(s prime,a prime; theta sub k, to the power minus). Updates:. theta sub k, to the power is updated every iteration: theta sub k plus 1, equals theta sub k plus alpha (U sub k minus Q (s,a, theta sub k)) gradient of Q (s,a, theta sub k). theta sub k, to the power minus is updated only every C iterations by theta sub k, to the power minus, equals theta sub k, to the power . Effect: Target U sub k estimates are kept constant for C iterations, instabilities cannot propagate quickly">
                <a:extLst>
                  <a:ext uri="{FF2B5EF4-FFF2-40B4-BE49-F238E27FC236}">
                    <a16:creationId xmlns:a16="http://schemas.microsoft.com/office/drawing/2014/main" id="{200386F8-3239-738F-814D-CCD921E328EA}"/>
                  </a:ext>
                </a:extLst>
              </p:cNvPr>
              <p:cNvSpPr>
                <a:spLocks noGrp="1"/>
              </p:cNvSpPr>
              <p:nvPr>
                <p:ph idx="1"/>
              </p:nvPr>
            </p:nvSpPr>
            <p:spPr>
              <a:xfrm>
                <a:off x="838200" y="1397330"/>
                <a:ext cx="6754875" cy="4779633"/>
              </a:xfrm>
            </p:spPr>
            <p:txBody>
              <a:bodyPr>
                <a:normAutofit fontScale="85000" lnSpcReduction="20000"/>
              </a:bodyPr>
              <a:lstStyle/>
              <a:p>
                <a:r>
                  <a:rPr lang="en-US" dirty="0"/>
                  <a:t>DNQ addresses the </a:t>
                </a:r>
                <a:r>
                  <a:rPr lang="en-US" b="1" dirty="0"/>
                  <a:t>instability</a:t>
                </a:r>
                <a:r>
                  <a:rPr lang="en-US" dirty="0"/>
                  <a:t> of NFQ.</a:t>
                </a:r>
              </a:p>
              <a:p>
                <a:r>
                  <a:rPr lang="en-US" b="1" dirty="0"/>
                  <a:t>Idea</a:t>
                </a:r>
                <a:r>
                  <a:rPr lang="en-US" dirty="0"/>
                  <a:t>: reduce instability by calculating the target from a second Q-network that is updated slowly:</a:t>
                </a:r>
                <a:br>
                  <a:rPr lang="en-US" dirty="0"/>
                </a:br>
                <a:br>
                  <a:rPr lang="en-US"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𝛾</m:t>
                    </m:r>
                    <m:r>
                      <a:rPr lang="en-US" i="1">
                        <a:latin typeface="Cambria Math" panose="02040503050406030204" pitchFamily="18" charset="0"/>
                      </a:rPr>
                      <m:t> </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lim>
                        </m:limLow>
                      </m:fName>
                      <m:e>
                        <m:r>
                          <a:rPr lang="en-US" i="1">
                            <a:latin typeface="Cambria Math" panose="02040503050406030204" pitchFamily="18" charset="0"/>
                          </a:rPr>
                          <m:t>𝑄</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r>
                          <a:rPr lang="en-US" i="1">
                            <a:latin typeface="Cambria Math" panose="02040503050406030204" pitchFamily="18" charset="0"/>
                          </a:rPr>
                          <m:t>;</m:t>
                        </m:r>
                        <m:sSubSup>
                          <m:sSubSupPr>
                            <m:ctrlPr>
                              <a:rPr lang="en-US" b="1" i="1">
                                <a:latin typeface="Cambria Math" panose="02040503050406030204" pitchFamily="18" charset="0"/>
                              </a:rPr>
                            </m:ctrlPr>
                          </m:sSubSupPr>
                          <m:e>
                            <m:r>
                              <a:rPr lang="en-US" b="1" i="1">
                                <a:latin typeface="Cambria Math" panose="02040503050406030204" pitchFamily="18" charset="0"/>
                              </a:rPr>
                              <m:t>𝜽</m:t>
                            </m:r>
                          </m:e>
                          <m:sub>
                            <m:r>
                              <a:rPr lang="en-US" i="1">
                                <a:latin typeface="Cambria Math" panose="02040503050406030204" pitchFamily="18" charset="0"/>
                              </a:rPr>
                              <m:t>𝑘</m:t>
                            </m:r>
                          </m:sub>
                          <m:sup>
                            <m:r>
                              <a:rPr lang="en-US" b="0" i="1" smtClean="0">
                                <a:latin typeface="Cambria Math" panose="02040503050406030204" pitchFamily="18" charset="0"/>
                              </a:rPr>
                              <m:t>−</m:t>
                            </m:r>
                          </m:sup>
                        </m:sSubSup>
                        <m:r>
                          <a:rPr lang="en-US" i="1">
                            <a:latin typeface="Cambria Math" panose="02040503050406030204" pitchFamily="18" charset="0"/>
                          </a:rPr>
                          <m:t>)</m:t>
                        </m:r>
                      </m:e>
                    </m:func>
                  </m:oMath>
                </a14:m>
                <a:endParaRPr lang="en-US" i="1" dirty="0">
                  <a:latin typeface="Cambria Math" panose="02040503050406030204" pitchFamily="18" charset="0"/>
                </a:endParaRPr>
              </a:p>
              <a:p>
                <a:endParaRPr lang="en-US" dirty="0"/>
              </a:p>
              <a:p>
                <a:r>
                  <a:rPr lang="en-US" b="1" dirty="0"/>
                  <a:t>Updates</a:t>
                </a:r>
                <a:r>
                  <a:rPr lang="en-US" dirty="0"/>
                  <a:t>:    </a:t>
                </a:r>
              </a:p>
              <a:p>
                <a:pPr lvl="1"/>
                <a14:m>
                  <m:oMath xmlns:m="http://schemas.openxmlformats.org/officeDocument/2006/math">
                    <m:sSubSup>
                      <m:sSubSupPr>
                        <m:ctrlPr>
                          <a:rPr lang="en-US" b="1" i="1">
                            <a:latin typeface="Cambria Math" panose="02040503050406030204" pitchFamily="18" charset="0"/>
                          </a:rPr>
                        </m:ctrlPr>
                      </m:sSubSupPr>
                      <m:e>
                        <m:r>
                          <a:rPr lang="en-US" b="1" i="1">
                            <a:latin typeface="Cambria Math" panose="02040503050406030204" pitchFamily="18" charset="0"/>
                          </a:rPr>
                          <m:t>𝜽</m:t>
                        </m:r>
                      </m:e>
                      <m:sub>
                        <m:r>
                          <a:rPr lang="en-US" i="1">
                            <a:latin typeface="Cambria Math" panose="02040503050406030204" pitchFamily="18" charset="0"/>
                          </a:rPr>
                          <m:t>𝑘</m:t>
                        </m:r>
                      </m:sub>
                      <m:sup/>
                    </m:sSubSup>
                    <m:r>
                      <a:rPr lang="en-US" i="1">
                        <a:latin typeface="Cambria Math" panose="02040503050406030204" pitchFamily="18" charset="0"/>
                      </a:rPr>
                      <m:t> </m:t>
                    </m:r>
                  </m:oMath>
                </a14:m>
                <a:r>
                  <a:rPr lang="en-US" dirty="0"/>
                  <a:t>is updated every iteration: </a:t>
                </a:r>
                <a:br>
                  <a:rPr lang="en-US" dirty="0"/>
                </a:br>
                <a:r>
                  <a:rPr lang="en-US"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𝑘</m:t>
                        </m:r>
                        <m:r>
                          <a:rPr lang="en-US" i="1">
                            <a:latin typeface="Cambria Math" panose="02040503050406030204" pitchFamily="18" charset="0"/>
                          </a:rPr>
                          <m:t>+1</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𝑘</m:t>
                                </m:r>
                              </m:sub>
                            </m:sSub>
                          </m:e>
                        </m:d>
                      </m:e>
                    </m:d>
                    <m:r>
                      <m:rPr>
                        <m:sty m:val="p"/>
                      </m:rPr>
                      <a:rPr lang="en-US" i="1">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𝑘</m:t>
                            </m:r>
                          </m:sub>
                        </m:sSub>
                      </m:e>
                    </m:d>
                  </m:oMath>
                </a14:m>
                <a:endParaRPr lang="en-US" dirty="0"/>
              </a:p>
              <a:p>
                <a:pPr lvl="1"/>
                <a14:m>
                  <m:oMath xmlns:m="http://schemas.openxmlformats.org/officeDocument/2006/math">
                    <m:sSubSup>
                      <m:sSubSupPr>
                        <m:ctrlPr>
                          <a:rPr lang="en-US" b="1" i="1">
                            <a:latin typeface="Cambria Math" panose="02040503050406030204" pitchFamily="18" charset="0"/>
                          </a:rPr>
                        </m:ctrlPr>
                      </m:sSubSupPr>
                      <m:e>
                        <m:r>
                          <a:rPr lang="en-US" b="1" i="1">
                            <a:latin typeface="Cambria Math" panose="02040503050406030204" pitchFamily="18" charset="0"/>
                          </a:rPr>
                          <m:t>𝜽</m:t>
                        </m:r>
                      </m:e>
                      <m:sub>
                        <m:r>
                          <a:rPr lang="en-US" i="1">
                            <a:latin typeface="Cambria Math" panose="02040503050406030204" pitchFamily="18" charset="0"/>
                          </a:rPr>
                          <m:t>𝑘</m:t>
                        </m:r>
                      </m:sub>
                      <m:sup>
                        <m:r>
                          <a:rPr lang="en-US" i="1">
                            <a:latin typeface="Cambria Math" panose="02040503050406030204" pitchFamily="18" charset="0"/>
                          </a:rPr>
                          <m:t>−</m:t>
                        </m:r>
                      </m:sup>
                    </m:sSubSup>
                  </m:oMath>
                </a14:m>
                <a:r>
                  <a:rPr lang="en-US" dirty="0"/>
                  <a:t> is updated only every </a:t>
                </a:r>
                <a14:m>
                  <m:oMath xmlns:m="http://schemas.openxmlformats.org/officeDocument/2006/math">
                    <m:r>
                      <a:rPr lang="en-US" b="0" i="1" smtClean="0">
                        <a:latin typeface="Cambria Math" panose="02040503050406030204" pitchFamily="18" charset="0"/>
                      </a:rPr>
                      <m:t>𝐶</m:t>
                    </m:r>
                  </m:oMath>
                </a14:m>
                <a:r>
                  <a:rPr lang="en-US" dirty="0"/>
                  <a:t> iterations by  </a:t>
                </a:r>
                <a14:m>
                  <m:oMath xmlns:m="http://schemas.openxmlformats.org/officeDocument/2006/math">
                    <m:sSubSup>
                      <m:sSubSupPr>
                        <m:ctrlPr>
                          <a:rPr lang="en-US" i="1">
                            <a:latin typeface="Cambria Math" panose="02040503050406030204" pitchFamily="18" charset="0"/>
                          </a:rPr>
                        </m:ctrlPr>
                      </m:sSubSupPr>
                      <m:e>
                        <m:sSubSup>
                          <m:sSubSupPr>
                            <m:ctrlPr>
                              <a:rPr lang="en-US" b="1" i="1">
                                <a:latin typeface="Cambria Math" panose="02040503050406030204" pitchFamily="18" charset="0"/>
                              </a:rPr>
                            </m:ctrlPr>
                          </m:sSubSupPr>
                          <m:e>
                            <m:r>
                              <a:rPr lang="en-US" b="1" i="1">
                                <a:latin typeface="Cambria Math" panose="02040503050406030204" pitchFamily="18" charset="0"/>
                              </a:rPr>
                              <m:t>𝜽</m:t>
                            </m:r>
                          </m:e>
                          <m:sub>
                            <m:r>
                              <a:rPr lang="en-US" i="1">
                                <a:latin typeface="Cambria Math" panose="02040503050406030204" pitchFamily="18" charset="0"/>
                              </a:rPr>
                              <m:t>𝑘</m:t>
                            </m:r>
                          </m:sub>
                          <m:sup>
                            <m:r>
                              <a:rPr lang="en-US" i="1">
                                <a:latin typeface="Cambria Math" panose="02040503050406030204" pitchFamily="18" charset="0"/>
                              </a:rPr>
                              <m:t>−</m:t>
                            </m:r>
                          </m:sup>
                        </m:sSubSup>
                        <m:r>
                          <a:rPr lang="en-US" b="0" i="1" smtClean="0">
                            <a:latin typeface="Cambria Math" panose="02040503050406030204" pitchFamily="18" charset="0"/>
                          </a:rPr>
                          <m:t>=</m:t>
                        </m:r>
                        <m:r>
                          <a:rPr lang="en-US" b="1" i="1">
                            <a:latin typeface="Cambria Math" panose="02040503050406030204" pitchFamily="18" charset="0"/>
                          </a:rPr>
                          <m:t>𝜽</m:t>
                        </m:r>
                      </m:e>
                      <m:sub>
                        <m:r>
                          <a:rPr lang="en-US" i="1">
                            <a:latin typeface="Cambria Math" panose="02040503050406030204" pitchFamily="18" charset="0"/>
                          </a:rPr>
                          <m:t>𝑘</m:t>
                        </m:r>
                      </m:sub>
                      <m:sup/>
                    </m:sSubSup>
                  </m:oMath>
                </a14:m>
                <a:r>
                  <a:rPr lang="en-US" dirty="0"/>
                  <a:t>.</a:t>
                </a:r>
              </a:p>
              <a:p>
                <a:endParaRPr lang="en-US" b="1" dirty="0"/>
              </a:p>
              <a:p>
                <a:r>
                  <a:rPr lang="en-US" b="1" dirty="0"/>
                  <a:t>Effect</a:t>
                </a:r>
                <a:r>
                  <a:rPr lang="en-US" dirty="0"/>
                  <a:t>: Target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𝑘</m:t>
                        </m:r>
                      </m:sub>
                    </m:sSub>
                  </m:oMath>
                </a14:m>
                <a:r>
                  <a:rPr lang="en-US" dirty="0"/>
                  <a:t> estimates are kept constant for </a:t>
                </a:r>
                <a14:m>
                  <m:oMath xmlns:m="http://schemas.openxmlformats.org/officeDocument/2006/math">
                    <m:r>
                      <a:rPr lang="en-US" b="0" i="1" smtClean="0">
                        <a:latin typeface="Cambria Math" panose="02040503050406030204" pitchFamily="18" charset="0"/>
                      </a:rPr>
                      <m:t>𝐶</m:t>
                    </m:r>
                  </m:oMath>
                </a14:m>
                <a:r>
                  <a:rPr lang="en-US" dirty="0"/>
                  <a:t> iterations, instabilities cannot propagate quickly. </a:t>
                </a:r>
              </a:p>
              <a:p>
                <a:endParaRPr lang="en-US" dirty="0"/>
              </a:p>
            </p:txBody>
          </p:sp>
        </mc:Choice>
        <mc:Fallback xmlns="">
          <p:sp>
            <p:nvSpPr>
              <p:cNvPr id="3" name="Content Placeholder 2" descr="DNQ addresses the instability of NFQ. Idea: reduce instability by calculating the target from a second Q-network that is updated slowly: U sub k equals r plus gamma max over a prime, of Q(s prime,a prime; theta sub k, to the power minus). Updates:. theta sub k, to the power is updated every iteration: theta sub k plus 1, equals theta sub k plus alpha (U sub k minus Q (s,a, theta sub k)) gradient of Q (s,a, theta sub k). theta sub k, to the power minus is updated only every C iterations by theta sub k, to the power minus, equals theta sub k, to the power . Effect: Target U sub k estimates are kept constant for C iterations, instabilities cannot propagate quickly">
                <a:extLst>
                  <a:ext uri="{FF2B5EF4-FFF2-40B4-BE49-F238E27FC236}">
                    <a16:creationId xmlns:a16="http://schemas.microsoft.com/office/drawing/2014/main" id="{200386F8-3239-738F-814D-CCD921E328EA}"/>
                  </a:ext>
                </a:extLst>
              </p:cNvPr>
              <p:cNvSpPr>
                <a:spLocks noGrp="1" noRot="1" noChangeAspect="1" noMove="1" noResize="1" noEditPoints="1" noAdjustHandles="1" noChangeArrowheads="1" noChangeShapeType="1" noTextEdit="1"/>
              </p:cNvSpPr>
              <p:nvPr>
                <p:ph idx="1"/>
              </p:nvPr>
            </p:nvSpPr>
            <p:spPr>
              <a:xfrm>
                <a:off x="838200" y="1397330"/>
                <a:ext cx="6754875" cy="4779633"/>
              </a:xfrm>
              <a:blipFill>
                <a:blip r:embed="rId2"/>
                <a:stretch>
                  <a:fillRect l="-1264" t="-2806" r="-1534"/>
                </a:stretch>
              </a:blipFill>
            </p:spPr>
            <p:txBody>
              <a:bodyPr/>
              <a:lstStyle/>
              <a:p>
                <a:r>
                  <a:rPr lang="en-US">
                    <a:noFill/>
                  </a:rPr>
                  <a:t> </a:t>
                </a:r>
              </a:p>
            </p:txBody>
          </p:sp>
        </mc:Fallback>
      </mc:AlternateContent>
      <p:grpSp>
        <p:nvGrpSpPr>
          <p:cNvPr id="150" name="Group 149" descr="Prediction Q-network (fast updates): state s enters a neural network with weights theta_k that outputs Q(s, a; theta_k).">
            <a:extLst>
              <a:ext uri="{FF2B5EF4-FFF2-40B4-BE49-F238E27FC236}">
                <a16:creationId xmlns:a16="http://schemas.microsoft.com/office/drawing/2014/main" id="{2638D313-55B0-4CE5-BE23-F9273293A176}"/>
              </a:ext>
            </a:extLst>
          </p:cNvPr>
          <p:cNvGrpSpPr/>
          <p:nvPr/>
        </p:nvGrpSpPr>
        <p:grpSpPr>
          <a:xfrm>
            <a:off x="7580237" y="1165565"/>
            <a:ext cx="4322919" cy="2172703"/>
            <a:chOff x="7678230" y="878146"/>
            <a:chExt cx="4322919" cy="2172703"/>
          </a:xfrm>
        </p:grpSpPr>
        <p:grpSp>
          <p:nvGrpSpPr>
            <p:cNvPr id="4" name="Group 3">
              <a:extLst>
                <a:ext uri="{FF2B5EF4-FFF2-40B4-BE49-F238E27FC236}">
                  <a16:creationId xmlns:a16="http://schemas.microsoft.com/office/drawing/2014/main" id="{BCFF53E6-1258-AA36-8607-9E89FD06AB3D}"/>
                </a:ext>
                <a:ext uri="{C183D7F6-B498-43B3-948B-1728B52AA6E4}">
                  <adec:decorative xmlns:adec="http://schemas.microsoft.com/office/drawing/2017/decorative" val="1"/>
                </a:ext>
              </a:extLst>
            </p:cNvPr>
            <p:cNvGrpSpPr/>
            <p:nvPr/>
          </p:nvGrpSpPr>
          <p:grpSpPr>
            <a:xfrm>
              <a:off x="7678230" y="878146"/>
              <a:ext cx="4322919" cy="2172703"/>
              <a:chOff x="1129787" y="3142186"/>
              <a:chExt cx="4322919" cy="2172703"/>
            </a:xfrm>
          </p:grpSpPr>
          <p:sp>
            <p:nvSpPr>
              <p:cNvPr id="5" name="TextBox 4">
                <a:extLst>
                  <a:ext uri="{FF2B5EF4-FFF2-40B4-BE49-F238E27FC236}">
                    <a16:creationId xmlns:a16="http://schemas.microsoft.com/office/drawing/2014/main" id="{49AC26CF-A932-4106-C104-07850D73EFA9}"/>
                  </a:ext>
                  <a:ext uri="{C183D7F6-B498-43B3-948B-1728B52AA6E4}">
                    <adec:decorative xmlns:adec="http://schemas.microsoft.com/office/drawing/2017/decorative" val="0"/>
                  </a:ext>
                </a:extLst>
              </p:cNvPr>
              <p:cNvSpPr txBox="1"/>
              <p:nvPr/>
            </p:nvSpPr>
            <p:spPr>
              <a:xfrm>
                <a:off x="1655515" y="3142186"/>
                <a:ext cx="2492939" cy="646331"/>
              </a:xfrm>
              <a:prstGeom prst="rect">
                <a:avLst/>
              </a:prstGeom>
              <a:noFill/>
            </p:spPr>
            <p:txBody>
              <a:bodyPr wrap="square" rtlCol="0">
                <a:spAutoFit/>
              </a:bodyPr>
              <a:lstStyle/>
              <a:p>
                <a:pPr algn="ctr"/>
                <a:r>
                  <a:rPr lang="en-US" dirty="0"/>
                  <a:t>Prediction Q-network </a:t>
                </a:r>
                <a:br>
                  <a:rPr lang="en-US" dirty="0"/>
                </a:br>
                <a:r>
                  <a:rPr lang="en-US" dirty="0"/>
                  <a:t>(fast updates)</a:t>
                </a:r>
              </a:p>
            </p:txBody>
          </p:sp>
          <p:grpSp>
            <p:nvGrpSpPr>
              <p:cNvPr id="6" name="Group 5">
                <a:extLst>
                  <a:ext uri="{FF2B5EF4-FFF2-40B4-BE49-F238E27FC236}">
                    <a16:creationId xmlns:a16="http://schemas.microsoft.com/office/drawing/2014/main" id="{4A78A1E6-7BE5-7A99-2C6D-ACA9DC714DEC}"/>
                  </a:ext>
                  <a:ext uri="{C183D7F6-B498-43B3-948B-1728B52AA6E4}">
                    <adec:decorative xmlns:adec="http://schemas.microsoft.com/office/drawing/2017/decorative" val="1"/>
                  </a:ext>
                </a:extLst>
              </p:cNvPr>
              <p:cNvGrpSpPr/>
              <p:nvPr/>
            </p:nvGrpSpPr>
            <p:grpSpPr>
              <a:xfrm>
                <a:off x="2124428" y="4079165"/>
                <a:ext cx="1295400" cy="1235724"/>
                <a:chOff x="4410942" y="4599774"/>
                <a:chExt cx="1577400" cy="1648626"/>
              </a:xfrm>
            </p:grpSpPr>
            <p:sp>
              <p:nvSpPr>
                <p:cNvPr id="14" name="Oval 13">
                  <a:extLst>
                    <a:ext uri="{FF2B5EF4-FFF2-40B4-BE49-F238E27FC236}">
                      <a16:creationId xmlns:a16="http://schemas.microsoft.com/office/drawing/2014/main" id="{FBFA378B-5601-E75E-45DB-CD0B4F7860A5}"/>
                    </a:ext>
                    <a:ext uri="{C183D7F6-B498-43B3-948B-1728B52AA6E4}">
                      <adec:decorative xmlns:adec="http://schemas.microsoft.com/office/drawing/2017/decorative" val="1"/>
                    </a:ext>
                  </a:extLst>
                </p:cNvPr>
                <p:cNvSpPr/>
                <p:nvPr/>
              </p:nvSpPr>
              <p:spPr>
                <a:xfrm>
                  <a:off x="4889892" y="4752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DBE6A94-E514-8BFC-8E3C-72F5B8094310}"/>
                    </a:ext>
                    <a:ext uri="{C183D7F6-B498-43B3-948B-1728B52AA6E4}">
                      <adec:decorative xmlns:adec="http://schemas.microsoft.com/office/drawing/2017/decorative" val="1"/>
                    </a:ext>
                  </a:extLst>
                </p:cNvPr>
                <p:cNvSpPr/>
                <p:nvPr/>
              </p:nvSpPr>
              <p:spPr>
                <a:xfrm>
                  <a:off x="4889892" y="5007830"/>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663EE61-2212-A93D-6AF2-30A6AAD53415}"/>
                    </a:ext>
                    <a:ext uri="{C183D7F6-B498-43B3-948B-1728B52AA6E4}">
                      <adec:decorative xmlns:adec="http://schemas.microsoft.com/office/drawing/2017/decorative" val="1"/>
                    </a:ext>
                  </a:extLst>
                </p:cNvPr>
                <p:cNvSpPr/>
                <p:nvPr/>
              </p:nvSpPr>
              <p:spPr>
                <a:xfrm>
                  <a:off x="4889892" y="52855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A1F6D70-270A-F392-85EC-6A84C23FADF3}"/>
                    </a:ext>
                    <a:ext uri="{C183D7F6-B498-43B3-948B-1728B52AA6E4}">
                      <adec:decorative xmlns:adec="http://schemas.microsoft.com/office/drawing/2017/decorative" val="1"/>
                    </a:ext>
                  </a:extLst>
                </p:cNvPr>
                <p:cNvSpPr/>
                <p:nvPr/>
              </p:nvSpPr>
              <p:spPr>
                <a:xfrm>
                  <a:off x="4889892" y="55903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0117B64-1840-14E2-4FA8-8F15132903ED}"/>
                    </a:ext>
                    <a:ext uri="{C183D7F6-B498-43B3-948B-1728B52AA6E4}">
                      <adec:decorative xmlns:adec="http://schemas.microsoft.com/office/drawing/2017/decorative" val="1"/>
                    </a:ext>
                  </a:extLst>
                </p:cNvPr>
                <p:cNvSpPr/>
                <p:nvPr/>
              </p:nvSpPr>
              <p:spPr>
                <a:xfrm>
                  <a:off x="5347092" y="49045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E4929AA-0DB0-5538-F6AB-81F3154048EB}"/>
                    </a:ext>
                    <a:ext uri="{C183D7F6-B498-43B3-948B-1728B52AA6E4}">
                      <adec:decorative xmlns:adec="http://schemas.microsoft.com/office/drawing/2017/decorative" val="1"/>
                    </a:ext>
                  </a:extLst>
                </p:cNvPr>
                <p:cNvSpPr/>
                <p:nvPr/>
              </p:nvSpPr>
              <p:spPr>
                <a:xfrm>
                  <a:off x="5347092" y="5133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6F71936-17DE-39D2-B7D0-C8C5E4ADC820}"/>
                    </a:ext>
                    <a:ext uri="{C183D7F6-B498-43B3-948B-1728B52AA6E4}">
                      <adec:decorative xmlns:adec="http://schemas.microsoft.com/office/drawing/2017/decorative" val="1"/>
                    </a:ext>
                  </a:extLst>
                </p:cNvPr>
                <p:cNvSpPr/>
                <p:nvPr/>
              </p:nvSpPr>
              <p:spPr>
                <a:xfrm>
                  <a:off x="5347092" y="54379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A1286EC-908E-1E47-D8B5-5A05B1A54C98}"/>
                    </a:ext>
                    <a:ext uri="{C183D7F6-B498-43B3-948B-1728B52AA6E4}">
                      <adec:decorative xmlns:adec="http://schemas.microsoft.com/office/drawing/2017/decorative" val="1"/>
                    </a:ext>
                  </a:extLst>
                </p:cNvPr>
                <p:cNvSpPr/>
                <p:nvPr/>
              </p:nvSpPr>
              <p:spPr>
                <a:xfrm>
                  <a:off x="5835942" y="4752949"/>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9D2EF4C-2FB3-82C0-0E45-99D0EABB9E8C}"/>
                    </a:ext>
                    <a:ext uri="{C183D7F6-B498-43B3-948B-1728B52AA6E4}">
                      <adec:decorative xmlns:adec="http://schemas.microsoft.com/office/drawing/2017/decorative" val="1"/>
                    </a:ext>
                  </a:extLst>
                </p:cNvPr>
                <p:cNvSpPr/>
                <p:nvPr/>
              </p:nvSpPr>
              <p:spPr>
                <a:xfrm>
                  <a:off x="5835942" y="50306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A7C2B93-F450-2269-6586-58F964CF81DC}"/>
                    </a:ext>
                    <a:ext uri="{C183D7F6-B498-43B3-948B-1728B52AA6E4}">
                      <adec:decorative xmlns:adec="http://schemas.microsoft.com/office/drawing/2017/decorative" val="1"/>
                    </a:ext>
                  </a:extLst>
                </p:cNvPr>
                <p:cNvSpPr/>
                <p:nvPr/>
              </p:nvSpPr>
              <p:spPr>
                <a:xfrm>
                  <a:off x="5835942" y="53354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142E9DB-665B-DE63-C77E-F7BA319955C0}"/>
                    </a:ext>
                    <a:ext uri="{C183D7F6-B498-43B3-948B-1728B52AA6E4}">
                      <adec:decorative xmlns:adec="http://schemas.microsoft.com/office/drawing/2017/decorative" val="1"/>
                    </a:ext>
                  </a:extLst>
                </p:cNvPr>
                <p:cNvSpPr/>
                <p:nvPr/>
              </p:nvSpPr>
              <p:spPr>
                <a:xfrm>
                  <a:off x="5835942" y="56402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A85CDE0-BDA5-9594-C890-76CBE6BFCA0D}"/>
                    </a:ext>
                    <a:ext uri="{C183D7F6-B498-43B3-948B-1728B52AA6E4}">
                      <adec:decorative xmlns:adec="http://schemas.microsoft.com/office/drawing/2017/decorative" val="1"/>
                    </a:ext>
                  </a:extLst>
                </p:cNvPr>
                <p:cNvSpPr/>
                <p:nvPr/>
              </p:nvSpPr>
              <p:spPr>
                <a:xfrm>
                  <a:off x="4889892" y="5895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0FC17D0-0550-ED2E-7CC3-C7EA352772C2}"/>
                    </a:ext>
                    <a:ext uri="{C183D7F6-B498-43B3-948B-1728B52AA6E4}">
                      <adec:decorative xmlns:adec="http://schemas.microsoft.com/office/drawing/2017/decorative" val="1"/>
                    </a:ext>
                  </a:extLst>
                </p:cNvPr>
                <p:cNvSpPr/>
                <p:nvPr/>
              </p:nvSpPr>
              <p:spPr>
                <a:xfrm>
                  <a:off x="5347092" y="57427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563A177-903A-3ED8-3CCF-01E0D63F56FD}"/>
                    </a:ext>
                    <a:ext uri="{C183D7F6-B498-43B3-948B-1728B52AA6E4}">
                      <adec:decorative xmlns:adec="http://schemas.microsoft.com/office/drawing/2017/decorative" val="1"/>
                    </a:ext>
                  </a:extLst>
                </p:cNvPr>
                <p:cNvSpPr/>
                <p:nvPr/>
              </p:nvSpPr>
              <p:spPr>
                <a:xfrm>
                  <a:off x="5835942" y="59450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7F7ECC0D-F47F-1E9E-0FCC-8C72E8BEBF4D}"/>
                    </a:ext>
                    <a:ext uri="{C183D7F6-B498-43B3-948B-1728B52AA6E4}">
                      <adec:decorative xmlns:adec="http://schemas.microsoft.com/office/drawing/2017/decorative" val="1"/>
                    </a:ext>
                  </a:extLst>
                </p:cNvPr>
                <p:cNvCxnSpPr>
                  <a:cxnSpLocks/>
                  <a:stCxn id="14" idx="6"/>
                  <a:endCxn id="18" idx="1"/>
                </p:cNvCxnSpPr>
                <p:nvPr/>
              </p:nvCxnSpPr>
              <p:spPr>
                <a:xfrm>
                  <a:off x="5042292" y="4841902"/>
                  <a:ext cx="327118" cy="889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29" name="Straight Connector 28">
                  <a:extLst>
                    <a:ext uri="{FF2B5EF4-FFF2-40B4-BE49-F238E27FC236}">
                      <a16:creationId xmlns:a16="http://schemas.microsoft.com/office/drawing/2014/main" id="{EDB66A27-8863-47FF-AA63-056A192E48ED}"/>
                    </a:ext>
                    <a:ext uri="{C183D7F6-B498-43B3-948B-1728B52AA6E4}">
                      <adec:decorative xmlns:adec="http://schemas.microsoft.com/office/drawing/2017/decorative" val="1"/>
                    </a:ext>
                  </a:extLst>
                </p:cNvPr>
                <p:cNvCxnSpPr>
                  <a:cxnSpLocks/>
                  <a:stCxn id="15" idx="6"/>
                  <a:endCxn id="18" idx="2"/>
                </p:cNvCxnSpPr>
                <p:nvPr/>
              </p:nvCxnSpPr>
              <p:spPr>
                <a:xfrm flipV="1">
                  <a:off x="5042292" y="4994302"/>
                  <a:ext cx="304800" cy="103256"/>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0" name="Straight Connector 29">
                  <a:extLst>
                    <a:ext uri="{FF2B5EF4-FFF2-40B4-BE49-F238E27FC236}">
                      <a16:creationId xmlns:a16="http://schemas.microsoft.com/office/drawing/2014/main" id="{84C6C656-9AFB-6441-2BBA-AA01F61ED083}"/>
                    </a:ext>
                    <a:ext uri="{C183D7F6-B498-43B3-948B-1728B52AA6E4}">
                      <adec:decorative xmlns:adec="http://schemas.microsoft.com/office/drawing/2017/decorative" val="1"/>
                    </a:ext>
                  </a:extLst>
                </p:cNvPr>
                <p:cNvCxnSpPr>
                  <a:cxnSpLocks/>
                  <a:stCxn id="16" idx="6"/>
                  <a:endCxn id="19" idx="2"/>
                </p:cNvCxnSpPr>
                <p:nvPr/>
              </p:nvCxnSpPr>
              <p:spPr>
                <a:xfrm flipV="1">
                  <a:off x="5042292" y="52229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1" name="Straight Connector 30">
                  <a:extLst>
                    <a:ext uri="{FF2B5EF4-FFF2-40B4-BE49-F238E27FC236}">
                      <a16:creationId xmlns:a16="http://schemas.microsoft.com/office/drawing/2014/main" id="{5D97206B-25D3-38A0-7291-885A28B90F17}"/>
                    </a:ext>
                    <a:ext uri="{C183D7F6-B498-43B3-948B-1728B52AA6E4}">
                      <adec:decorative xmlns:adec="http://schemas.microsoft.com/office/drawing/2017/decorative" val="1"/>
                    </a:ext>
                  </a:extLst>
                </p:cNvPr>
                <p:cNvCxnSpPr>
                  <a:cxnSpLocks/>
                  <a:stCxn id="15" idx="6"/>
                  <a:endCxn id="19" idx="2"/>
                </p:cNvCxnSpPr>
                <p:nvPr/>
              </p:nvCxnSpPr>
              <p:spPr>
                <a:xfrm>
                  <a:off x="5042292" y="5097558"/>
                  <a:ext cx="304800" cy="125344"/>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2" name="Straight Connector 31">
                  <a:extLst>
                    <a:ext uri="{FF2B5EF4-FFF2-40B4-BE49-F238E27FC236}">
                      <a16:creationId xmlns:a16="http://schemas.microsoft.com/office/drawing/2014/main" id="{39A68EFB-97E3-8F2E-4D52-6B3971E12C5C}"/>
                    </a:ext>
                    <a:ext uri="{C183D7F6-B498-43B3-948B-1728B52AA6E4}">
                      <adec:decorative xmlns:adec="http://schemas.microsoft.com/office/drawing/2017/decorative" val="1"/>
                    </a:ext>
                  </a:extLst>
                </p:cNvPr>
                <p:cNvCxnSpPr>
                  <a:cxnSpLocks/>
                  <a:stCxn id="17" idx="6"/>
                  <a:endCxn id="20" idx="2"/>
                </p:cNvCxnSpPr>
                <p:nvPr/>
              </p:nvCxnSpPr>
              <p:spPr>
                <a:xfrm flipV="1">
                  <a:off x="5042292" y="55277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3" name="Straight Connector 32">
                  <a:extLst>
                    <a:ext uri="{FF2B5EF4-FFF2-40B4-BE49-F238E27FC236}">
                      <a16:creationId xmlns:a16="http://schemas.microsoft.com/office/drawing/2014/main" id="{0FB23C3F-4676-38B5-E171-5FD80555044A}"/>
                    </a:ext>
                    <a:ext uri="{C183D7F6-B498-43B3-948B-1728B52AA6E4}">
                      <adec:decorative xmlns:adec="http://schemas.microsoft.com/office/drawing/2017/decorative" val="1"/>
                    </a:ext>
                  </a:extLst>
                </p:cNvPr>
                <p:cNvCxnSpPr>
                  <a:cxnSpLocks/>
                  <a:stCxn id="16" idx="6"/>
                  <a:endCxn id="20" idx="2"/>
                </p:cNvCxnSpPr>
                <p:nvPr/>
              </p:nvCxnSpPr>
              <p:spPr>
                <a:xfrm>
                  <a:off x="5042293" y="5375303"/>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4" name="Straight Connector 33">
                  <a:extLst>
                    <a:ext uri="{FF2B5EF4-FFF2-40B4-BE49-F238E27FC236}">
                      <a16:creationId xmlns:a16="http://schemas.microsoft.com/office/drawing/2014/main" id="{DA341D57-AD6A-6B73-AD85-8A718DE53D8F}"/>
                    </a:ext>
                    <a:ext uri="{C183D7F6-B498-43B3-948B-1728B52AA6E4}">
                      <adec:decorative xmlns:adec="http://schemas.microsoft.com/office/drawing/2017/decorative" val="1"/>
                    </a:ext>
                  </a:extLst>
                </p:cNvPr>
                <p:cNvCxnSpPr>
                  <a:cxnSpLocks/>
                  <a:stCxn id="17" idx="6"/>
                  <a:endCxn id="26" idx="2"/>
                </p:cNvCxnSpPr>
                <p:nvPr/>
              </p:nvCxnSpPr>
              <p:spPr>
                <a:xfrm>
                  <a:off x="5042292" y="56801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5" name="Straight Connector 34">
                  <a:extLst>
                    <a:ext uri="{FF2B5EF4-FFF2-40B4-BE49-F238E27FC236}">
                      <a16:creationId xmlns:a16="http://schemas.microsoft.com/office/drawing/2014/main" id="{0DD54631-D113-EB29-D352-6E6D93B4B521}"/>
                    </a:ext>
                    <a:ext uri="{C183D7F6-B498-43B3-948B-1728B52AA6E4}">
                      <adec:decorative xmlns:adec="http://schemas.microsoft.com/office/drawing/2017/decorative" val="1"/>
                    </a:ext>
                  </a:extLst>
                </p:cNvPr>
                <p:cNvCxnSpPr>
                  <a:cxnSpLocks/>
                  <a:stCxn id="25" idx="6"/>
                  <a:endCxn id="26" idx="2"/>
                </p:cNvCxnSpPr>
                <p:nvPr/>
              </p:nvCxnSpPr>
              <p:spPr>
                <a:xfrm flipV="1">
                  <a:off x="5042292" y="58325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6" name="Straight Connector 35">
                  <a:extLst>
                    <a:ext uri="{FF2B5EF4-FFF2-40B4-BE49-F238E27FC236}">
                      <a16:creationId xmlns:a16="http://schemas.microsoft.com/office/drawing/2014/main" id="{CB6F8F83-A371-B7C3-9A78-6C71D0870207}"/>
                    </a:ext>
                    <a:ext uri="{C183D7F6-B498-43B3-948B-1728B52AA6E4}">
                      <adec:decorative xmlns:adec="http://schemas.microsoft.com/office/drawing/2017/decorative" val="1"/>
                    </a:ext>
                  </a:extLst>
                </p:cNvPr>
                <p:cNvCxnSpPr>
                  <a:cxnSpLocks/>
                  <a:stCxn id="25" idx="6"/>
                  <a:endCxn id="20" idx="2"/>
                </p:cNvCxnSpPr>
                <p:nvPr/>
              </p:nvCxnSpPr>
              <p:spPr>
                <a:xfrm flipV="1">
                  <a:off x="5042292" y="5527702"/>
                  <a:ext cx="30480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7" name="Straight Connector 36">
                  <a:extLst>
                    <a:ext uri="{FF2B5EF4-FFF2-40B4-BE49-F238E27FC236}">
                      <a16:creationId xmlns:a16="http://schemas.microsoft.com/office/drawing/2014/main" id="{51123978-C095-7A44-4F8B-A91AAF978535}"/>
                    </a:ext>
                    <a:ext uri="{C183D7F6-B498-43B3-948B-1728B52AA6E4}">
                      <adec:decorative xmlns:adec="http://schemas.microsoft.com/office/drawing/2017/decorative" val="1"/>
                    </a:ext>
                  </a:extLst>
                </p:cNvPr>
                <p:cNvCxnSpPr>
                  <a:cxnSpLocks/>
                  <a:stCxn id="17" idx="6"/>
                  <a:endCxn id="19" idx="3"/>
                </p:cNvCxnSpPr>
                <p:nvPr/>
              </p:nvCxnSpPr>
              <p:spPr>
                <a:xfrm flipV="1">
                  <a:off x="5042292" y="5286349"/>
                  <a:ext cx="327118" cy="3937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8" name="Straight Connector 37">
                  <a:extLst>
                    <a:ext uri="{FF2B5EF4-FFF2-40B4-BE49-F238E27FC236}">
                      <a16:creationId xmlns:a16="http://schemas.microsoft.com/office/drawing/2014/main" id="{993B9A35-D2FB-FD37-4944-D51A592119B4}"/>
                    </a:ext>
                    <a:ext uri="{C183D7F6-B498-43B3-948B-1728B52AA6E4}">
                      <adec:decorative xmlns:adec="http://schemas.microsoft.com/office/drawing/2017/decorative" val="1"/>
                    </a:ext>
                  </a:extLst>
                </p:cNvPr>
                <p:cNvCxnSpPr>
                  <a:cxnSpLocks/>
                  <a:stCxn id="16" idx="6"/>
                  <a:endCxn id="18" idx="3"/>
                </p:cNvCxnSpPr>
                <p:nvPr/>
              </p:nvCxnSpPr>
              <p:spPr>
                <a:xfrm flipV="1">
                  <a:off x="5042292" y="5057749"/>
                  <a:ext cx="327118" cy="3175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9" name="Straight Connector 38">
                  <a:extLst>
                    <a:ext uri="{FF2B5EF4-FFF2-40B4-BE49-F238E27FC236}">
                      <a16:creationId xmlns:a16="http://schemas.microsoft.com/office/drawing/2014/main" id="{BD6A63A1-798C-173C-BA37-CE3CBA2BA3D4}"/>
                    </a:ext>
                    <a:ext uri="{C183D7F6-B498-43B3-948B-1728B52AA6E4}">
                      <adec:decorative xmlns:adec="http://schemas.microsoft.com/office/drawing/2017/decorative" val="1"/>
                    </a:ext>
                  </a:extLst>
                </p:cNvPr>
                <p:cNvCxnSpPr>
                  <a:cxnSpLocks/>
                  <a:stCxn id="14" idx="6"/>
                  <a:endCxn id="19" idx="1"/>
                </p:cNvCxnSpPr>
                <p:nvPr/>
              </p:nvCxnSpPr>
              <p:spPr>
                <a:xfrm>
                  <a:off x="5042292" y="4841902"/>
                  <a:ext cx="327118" cy="3175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0" name="Straight Connector 39">
                  <a:extLst>
                    <a:ext uri="{FF2B5EF4-FFF2-40B4-BE49-F238E27FC236}">
                      <a16:creationId xmlns:a16="http://schemas.microsoft.com/office/drawing/2014/main" id="{2F10B29E-F519-DE27-4EA2-754E960C7C53}"/>
                    </a:ext>
                    <a:ext uri="{C183D7F6-B498-43B3-948B-1728B52AA6E4}">
                      <adec:decorative xmlns:adec="http://schemas.microsoft.com/office/drawing/2017/decorative" val="1"/>
                    </a:ext>
                  </a:extLst>
                </p:cNvPr>
                <p:cNvCxnSpPr>
                  <a:cxnSpLocks/>
                  <a:stCxn id="16" idx="6"/>
                  <a:endCxn id="26" idx="2"/>
                </p:cNvCxnSpPr>
                <p:nvPr/>
              </p:nvCxnSpPr>
              <p:spPr>
                <a:xfrm>
                  <a:off x="5042292" y="5375302"/>
                  <a:ext cx="30480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1" name="Straight Connector 40">
                  <a:extLst>
                    <a:ext uri="{FF2B5EF4-FFF2-40B4-BE49-F238E27FC236}">
                      <a16:creationId xmlns:a16="http://schemas.microsoft.com/office/drawing/2014/main" id="{D8371E46-2549-17B4-00B4-8BC99B2059C9}"/>
                    </a:ext>
                    <a:ext uri="{C183D7F6-B498-43B3-948B-1728B52AA6E4}">
                      <adec:decorative xmlns:adec="http://schemas.microsoft.com/office/drawing/2017/decorative" val="1"/>
                    </a:ext>
                  </a:extLst>
                </p:cNvPr>
                <p:cNvCxnSpPr>
                  <a:cxnSpLocks/>
                  <a:stCxn id="18" idx="6"/>
                  <a:endCxn id="21" idx="2"/>
                </p:cNvCxnSpPr>
                <p:nvPr/>
              </p:nvCxnSpPr>
              <p:spPr>
                <a:xfrm flipV="1">
                  <a:off x="5499492" y="4842677"/>
                  <a:ext cx="336450" cy="151625"/>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2" name="Straight Connector 41">
                  <a:extLst>
                    <a:ext uri="{FF2B5EF4-FFF2-40B4-BE49-F238E27FC236}">
                      <a16:creationId xmlns:a16="http://schemas.microsoft.com/office/drawing/2014/main" id="{BA5A5EA9-37A9-8996-1C3A-B201CB52BC6C}"/>
                    </a:ext>
                    <a:ext uri="{C183D7F6-B498-43B3-948B-1728B52AA6E4}">
                      <adec:decorative xmlns:adec="http://schemas.microsoft.com/office/drawing/2017/decorative" val="1"/>
                    </a:ext>
                  </a:extLst>
                </p:cNvPr>
                <p:cNvCxnSpPr>
                  <a:cxnSpLocks/>
                  <a:stCxn id="19" idx="6"/>
                  <a:endCxn id="21" idx="2"/>
                </p:cNvCxnSpPr>
                <p:nvPr/>
              </p:nvCxnSpPr>
              <p:spPr>
                <a:xfrm flipV="1">
                  <a:off x="5499492" y="4842677"/>
                  <a:ext cx="336450" cy="380225"/>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3" name="Straight Connector 42">
                  <a:extLst>
                    <a:ext uri="{FF2B5EF4-FFF2-40B4-BE49-F238E27FC236}">
                      <a16:creationId xmlns:a16="http://schemas.microsoft.com/office/drawing/2014/main" id="{CCAF399D-0128-EDF8-00EB-F0CAFD8DCF3D}"/>
                    </a:ext>
                    <a:ext uri="{C183D7F6-B498-43B3-948B-1728B52AA6E4}">
                      <adec:decorative xmlns:adec="http://schemas.microsoft.com/office/drawing/2017/decorative" val="1"/>
                    </a:ext>
                  </a:extLst>
                </p:cNvPr>
                <p:cNvCxnSpPr>
                  <a:cxnSpLocks/>
                  <a:stCxn id="20" idx="6"/>
                  <a:endCxn id="22" idx="2"/>
                </p:cNvCxnSpPr>
                <p:nvPr/>
              </p:nvCxnSpPr>
              <p:spPr>
                <a:xfrm flipV="1">
                  <a:off x="5499492" y="5120421"/>
                  <a:ext cx="336450" cy="4072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4" name="Straight Connector 43">
                  <a:extLst>
                    <a:ext uri="{FF2B5EF4-FFF2-40B4-BE49-F238E27FC236}">
                      <a16:creationId xmlns:a16="http://schemas.microsoft.com/office/drawing/2014/main" id="{734D7B0C-31AD-6414-97B7-99611D152C57}"/>
                    </a:ext>
                    <a:ext uri="{C183D7F6-B498-43B3-948B-1728B52AA6E4}">
                      <adec:decorative xmlns:adec="http://schemas.microsoft.com/office/drawing/2017/decorative" val="1"/>
                    </a:ext>
                  </a:extLst>
                </p:cNvPr>
                <p:cNvCxnSpPr>
                  <a:cxnSpLocks/>
                  <a:stCxn id="26" idx="6"/>
                  <a:endCxn id="23" idx="2"/>
                </p:cNvCxnSpPr>
                <p:nvPr/>
              </p:nvCxnSpPr>
              <p:spPr>
                <a:xfrm flipV="1">
                  <a:off x="5499492" y="5425221"/>
                  <a:ext cx="336450" cy="4072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5" name="Straight Connector 44">
                  <a:extLst>
                    <a:ext uri="{FF2B5EF4-FFF2-40B4-BE49-F238E27FC236}">
                      <a16:creationId xmlns:a16="http://schemas.microsoft.com/office/drawing/2014/main" id="{67D8073E-C69A-2035-8ED3-19D58D709179}"/>
                    </a:ext>
                    <a:ext uri="{C183D7F6-B498-43B3-948B-1728B52AA6E4}">
                      <adec:decorative xmlns:adec="http://schemas.microsoft.com/office/drawing/2017/decorative" val="1"/>
                    </a:ext>
                  </a:extLst>
                </p:cNvPr>
                <p:cNvCxnSpPr>
                  <a:cxnSpLocks/>
                  <a:stCxn id="26" idx="6"/>
                  <a:endCxn id="27" idx="1"/>
                </p:cNvCxnSpPr>
                <p:nvPr/>
              </p:nvCxnSpPr>
              <p:spPr>
                <a:xfrm>
                  <a:off x="5499492" y="5832502"/>
                  <a:ext cx="358768" cy="138872"/>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6" name="Straight Connector 45">
                  <a:extLst>
                    <a:ext uri="{FF2B5EF4-FFF2-40B4-BE49-F238E27FC236}">
                      <a16:creationId xmlns:a16="http://schemas.microsoft.com/office/drawing/2014/main" id="{8752B82E-0366-09F4-0925-5D8D05904379}"/>
                    </a:ext>
                    <a:ext uri="{C183D7F6-B498-43B3-948B-1728B52AA6E4}">
                      <adec:decorative xmlns:adec="http://schemas.microsoft.com/office/drawing/2017/decorative" val="1"/>
                    </a:ext>
                  </a:extLst>
                </p:cNvPr>
                <p:cNvCxnSpPr>
                  <a:cxnSpLocks/>
                  <a:stCxn id="26" idx="6"/>
                  <a:endCxn id="24" idx="2"/>
                </p:cNvCxnSpPr>
                <p:nvPr/>
              </p:nvCxnSpPr>
              <p:spPr>
                <a:xfrm flipV="1">
                  <a:off x="5499492" y="5730021"/>
                  <a:ext cx="336450" cy="1024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7" name="Straight Connector 46">
                  <a:extLst>
                    <a:ext uri="{FF2B5EF4-FFF2-40B4-BE49-F238E27FC236}">
                      <a16:creationId xmlns:a16="http://schemas.microsoft.com/office/drawing/2014/main" id="{CC341615-5EAF-EA2F-ABAA-0B41C9D32670}"/>
                    </a:ext>
                    <a:ext uri="{C183D7F6-B498-43B3-948B-1728B52AA6E4}">
                      <adec:decorative xmlns:adec="http://schemas.microsoft.com/office/drawing/2017/decorative" val="1"/>
                    </a:ext>
                  </a:extLst>
                </p:cNvPr>
                <p:cNvCxnSpPr>
                  <a:cxnSpLocks/>
                  <a:stCxn id="20" idx="6"/>
                  <a:endCxn id="23" idx="2"/>
                </p:cNvCxnSpPr>
                <p:nvPr/>
              </p:nvCxnSpPr>
              <p:spPr>
                <a:xfrm flipV="1">
                  <a:off x="5499492" y="5425221"/>
                  <a:ext cx="336450" cy="1024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8" name="Straight Connector 47">
                  <a:extLst>
                    <a:ext uri="{FF2B5EF4-FFF2-40B4-BE49-F238E27FC236}">
                      <a16:creationId xmlns:a16="http://schemas.microsoft.com/office/drawing/2014/main" id="{5BBC305C-894F-9AB4-F977-0A2BB464AA23}"/>
                    </a:ext>
                    <a:ext uri="{C183D7F6-B498-43B3-948B-1728B52AA6E4}">
                      <adec:decorative xmlns:adec="http://schemas.microsoft.com/office/drawing/2017/decorative" val="1"/>
                    </a:ext>
                  </a:extLst>
                </p:cNvPr>
                <p:cNvCxnSpPr>
                  <a:cxnSpLocks/>
                  <a:stCxn id="18" idx="6"/>
                  <a:endCxn id="22" idx="2"/>
                </p:cNvCxnSpPr>
                <p:nvPr/>
              </p:nvCxnSpPr>
              <p:spPr>
                <a:xfrm>
                  <a:off x="5499493" y="4994303"/>
                  <a:ext cx="336449" cy="1261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9" name="Straight Connector 48">
                  <a:extLst>
                    <a:ext uri="{FF2B5EF4-FFF2-40B4-BE49-F238E27FC236}">
                      <a16:creationId xmlns:a16="http://schemas.microsoft.com/office/drawing/2014/main" id="{956A20A6-8F56-B7D0-79E7-FC5B3FD4EBE6}"/>
                    </a:ext>
                    <a:ext uri="{C183D7F6-B498-43B3-948B-1728B52AA6E4}">
                      <adec:decorative xmlns:adec="http://schemas.microsoft.com/office/drawing/2017/decorative" val="1"/>
                    </a:ext>
                  </a:extLst>
                </p:cNvPr>
                <p:cNvCxnSpPr>
                  <a:cxnSpLocks/>
                  <a:stCxn id="19" idx="6"/>
                  <a:endCxn id="23" idx="2"/>
                </p:cNvCxnSpPr>
                <p:nvPr/>
              </p:nvCxnSpPr>
              <p:spPr>
                <a:xfrm>
                  <a:off x="5499492" y="5222902"/>
                  <a:ext cx="336450" cy="2023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0" name="Straight Connector 49">
                  <a:extLst>
                    <a:ext uri="{FF2B5EF4-FFF2-40B4-BE49-F238E27FC236}">
                      <a16:creationId xmlns:a16="http://schemas.microsoft.com/office/drawing/2014/main" id="{A1CB0EFD-3FE9-DE43-EDC2-CDFC48E01E33}"/>
                    </a:ext>
                    <a:ext uri="{C183D7F6-B498-43B3-948B-1728B52AA6E4}">
                      <adec:decorative xmlns:adec="http://schemas.microsoft.com/office/drawing/2017/decorative" val="1"/>
                    </a:ext>
                  </a:extLst>
                </p:cNvPr>
                <p:cNvCxnSpPr>
                  <a:cxnSpLocks/>
                  <a:stCxn id="20" idx="6"/>
                  <a:endCxn id="24" idx="2"/>
                </p:cNvCxnSpPr>
                <p:nvPr/>
              </p:nvCxnSpPr>
              <p:spPr>
                <a:xfrm>
                  <a:off x="5499492" y="5527702"/>
                  <a:ext cx="336450" cy="2023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1" name="Straight Connector 50">
                  <a:extLst>
                    <a:ext uri="{FF2B5EF4-FFF2-40B4-BE49-F238E27FC236}">
                      <a16:creationId xmlns:a16="http://schemas.microsoft.com/office/drawing/2014/main" id="{E61D3EF6-F6B3-E3B8-11E7-9EA85D01E69E}"/>
                    </a:ext>
                    <a:ext uri="{C183D7F6-B498-43B3-948B-1728B52AA6E4}">
                      <adec:decorative xmlns:adec="http://schemas.microsoft.com/office/drawing/2017/decorative" val="1"/>
                    </a:ext>
                  </a:extLst>
                </p:cNvPr>
                <p:cNvCxnSpPr>
                  <a:cxnSpLocks/>
                  <a:stCxn id="18" idx="6"/>
                  <a:endCxn id="23" idx="2"/>
                </p:cNvCxnSpPr>
                <p:nvPr/>
              </p:nvCxnSpPr>
              <p:spPr>
                <a:xfrm>
                  <a:off x="5499492" y="4994302"/>
                  <a:ext cx="336450" cy="4309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2" name="Straight Connector 51">
                  <a:extLst>
                    <a:ext uri="{FF2B5EF4-FFF2-40B4-BE49-F238E27FC236}">
                      <a16:creationId xmlns:a16="http://schemas.microsoft.com/office/drawing/2014/main" id="{E31970A3-CFC2-1E4F-C8BD-5DDC62645E2F}"/>
                    </a:ext>
                    <a:ext uri="{C183D7F6-B498-43B3-948B-1728B52AA6E4}">
                      <adec:decorative xmlns:adec="http://schemas.microsoft.com/office/drawing/2017/decorative" val="1"/>
                    </a:ext>
                  </a:extLst>
                </p:cNvPr>
                <p:cNvCxnSpPr>
                  <a:cxnSpLocks/>
                  <a:stCxn id="20" idx="6"/>
                  <a:endCxn id="21" idx="2"/>
                </p:cNvCxnSpPr>
                <p:nvPr/>
              </p:nvCxnSpPr>
              <p:spPr>
                <a:xfrm flipV="1">
                  <a:off x="5499492" y="4842677"/>
                  <a:ext cx="336450" cy="685025"/>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3" name="Straight Connector 52">
                  <a:extLst>
                    <a:ext uri="{FF2B5EF4-FFF2-40B4-BE49-F238E27FC236}">
                      <a16:creationId xmlns:a16="http://schemas.microsoft.com/office/drawing/2014/main" id="{9F29710B-71F7-39B5-8B03-F94F311AEE1B}"/>
                    </a:ext>
                    <a:ext uri="{C183D7F6-B498-43B3-948B-1728B52AA6E4}">
                      <adec:decorative xmlns:adec="http://schemas.microsoft.com/office/drawing/2017/decorative" val="1"/>
                    </a:ext>
                  </a:extLst>
                </p:cNvPr>
                <p:cNvCxnSpPr>
                  <a:cxnSpLocks/>
                  <a:stCxn id="20" idx="6"/>
                  <a:endCxn id="27" idx="1"/>
                </p:cNvCxnSpPr>
                <p:nvPr/>
              </p:nvCxnSpPr>
              <p:spPr>
                <a:xfrm>
                  <a:off x="5499492" y="5527702"/>
                  <a:ext cx="358768" cy="443672"/>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4" name="Straight Connector 53">
                  <a:extLst>
                    <a:ext uri="{FF2B5EF4-FFF2-40B4-BE49-F238E27FC236}">
                      <a16:creationId xmlns:a16="http://schemas.microsoft.com/office/drawing/2014/main" id="{F69DBE57-A99E-7FCE-0FD5-1FC3F93D06C2}"/>
                    </a:ext>
                    <a:ext uri="{C183D7F6-B498-43B3-948B-1728B52AA6E4}">
                      <adec:decorative xmlns:adec="http://schemas.microsoft.com/office/drawing/2017/decorative" val="1"/>
                    </a:ext>
                  </a:extLst>
                </p:cNvPr>
                <p:cNvCxnSpPr>
                  <a:cxnSpLocks/>
                  <a:stCxn id="26" idx="6"/>
                  <a:endCxn id="22" idx="2"/>
                </p:cNvCxnSpPr>
                <p:nvPr/>
              </p:nvCxnSpPr>
              <p:spPr>
                <a:xfrm flipV="1">
                  <a:off x="5499492" y="5120421"/>
                  <a:ext cx="336450" cy="7120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sp>
              <p:nvSpPr>
                <p:cNvPr id="55" name="Oval 54">
                  <a:extLst>
                    <a:ext uri="{FF2B5EF4-FFF2-40B4-BE49-F238E27FC236}">
                      <a16:creationId xmlns:a16="http://schemas.microsoft.com/office/drawing/2014/main" id="{89043505-47B7-EA28-3AF4-5AB03D533FC0}"/>
                    </a:ext>
                    <a:ext uri="{C183D7F6-B498-43B3-948B-1728B52AA6E4}">
                      <adec:decorative xmlns:adec="http://schemas.microsoft.com/office/drawing/2017/decorative" val="1"/>
                    </a:ext>
                  </a:extLst>
                </p:cNvPr>
                <p:cNvSpPr/>
                <p:nvPr/>
              </p:nvSpPr>
              <p:spPr>
                <a:xfrm>
                  <a:off x="4410942" y="45997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AC1B8C40-CDD3-3DC0-CB5B-253A081B6A90}"/>
                    </a:ext>
                    <a:ext uri="{C183D7F6-B498-43B3-948B-1728B52AA6E4}">
                      <adec:decorative xmlns:adec="http://schemas.microsoft.com/office/drawing/2017/decorative" val="1"/>
                    </a:ext>
                  </a:extLst>
                </p:cNvPr>
                <p:cNvSpPr/>
                <p:nvPr/>
              </p:nvSpPr>
              <p:spPr>
                <a:xfrm>
                  <a:off x="4410942" y="4855430"/>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1F910D10-EEB9-0626-A307-D1FFFD54B6BC}"/>
                    </a:ext>
                    <a:ext uri="{C183D7F6-B498-43B3-948B-1728B52AA6E4}">
                      <adec:decorative xmlns:adec="http://schemas.microsoft.com/office/drawing/2017/decorative" val="1"/>
                    </a:ext>
                  </a:extLst>
                </p:cNvPr>
                <p:cNvSpPr/>
                <p:nvPr/>
              </p:nvSpPr>
              <p:spPr>
                <a:xfrm>
                  <a:off x="4410942" y="5133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918366DF-A3C7-2D18-97D8-3EFB88A5A4F5}"/>
                    </a:ext>
                    <a:ext uri="{C183D7F6-B498-43B3-948B-1728B52AA6E4}">
                      <adec:decorative xmlns:adec="http://schemas.microsoft.com/office/drawing/2017/decorative" val="1"/>
                    </a:ext>
                  </a:extLst>
                </p:cNvPr>
                <p:cNvSpPr/>
                <p:nvPr/>
              </p:nvSpPr>
              <p:spPr>
                <a:xfrm>
                  <a:off x="4410942" y="54379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760086A9-2F6C-7DF1-6ED3-C0B2F666EA08}"/>
                    </a:ext>
                    <a:ext uri="{C183D7F6-B498-43B3-948B-1728B52AA6E4}">
                      <adec:decorative xmlns:adec="http://schemas.microsoft.com/office/drawing/2017/decorative" val="1"/>
                    </a:ext>
                  </a:extLst>
                </p:cNvPr>
                <p:cNvSpPr/>
                <p:nvPr/>
              </p:nvSpPr>
              <p:spPr>
                <a:xfrm>
                  <a:off x="4410942" y="57427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225A7C9F-4D4A-557A-3B70-EE5574A4908B}"/>
                    </a:ext>
                    <a:ext uri="{C183D7F6-B498-43B3-948B-1728B52AA6E4}">
                      <adec:decorative xmlns:adec="http://schemas.microsoft.com/office/drawing/2017/decorative" val="1"/>
                    </a:ext>
                  </a:extLst>
                </p:cNvPr>
                <p:cNvSpPr/>
                <p:nvPr/>
              </p:nvSpPr>
              <p:spPr>
                <a:xfrm>
                  <a:off x="4419600" y="606894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084B519D-7D1E-2083-4963-45CC73EE5763}"/>
                    </a:ext>
                    <a:ext uri="{C183D7F6-B498-43B3-948B-1728B52AA6E4}">
                      <adec:decorative xmlns:adec="http://schemas.microsoft.com/office/drawing/2017/decorative" val="1"/>
                    </a:ext>
                  </a:extLst>
                </p:cNvPr>
                <p:cNvCxnSpPr>
                  <a:cxnSpLocks/>
                  <a:stCxn id="55" idx="6"/>
                  <a:endCxn id="14" idx="2"/>
                </p:cNvCxnSpPr>
                <p:nvPr/>
              </p:nvCxnSpPr>
              <p:spPr>
                <a:xfrm>
                  <a:off x="4563342" y="46895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2" name="Straight Connector 61">
                  <a:extLst>
                    <a:ext uri="{FF2B5EF4-FFF2-40B4-BE49-F238E27FC236}">
                      <a16:creationId xmlns:a16="http://schemas.microsoft.com/office/drawing/2014/main" id="{FE7124D0-330D-9B22-1E36-95E86D084DD1}"/>
                    </a:ext>
                    <a:ext uri="{C183D7F6-B498-43B3-948B-1728B52AA6E4}">
                      <adec:decorative xmlns:adec="http://schemas.microsoft.com/office/drawing/2017/decorative" val="1"/>
                    </a:ext>
                  </a:extLst>
                </p:cNvPr>
                <p:cNvCxnSpPr>
                  <a:cxnSpLocks/>
                  <a:stCxn id="56" idx="6"/>
                  <a:endCxn id="15" idx="2"/>
                </p:cNvCxnSpPr>
                <p:nvPr/>
              </p:nvCxnSpPr>
              <p:spPr>
                <a:xfrm>
                  <a:off x="4563342" y="4945158"/>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3" name="Straight Connector 62">
                  <a:extLst>
                    <a:ext uri="{FF2B5EF4-FFF2-40B4-BE49-F238E27FC236}">
                      <a16:creationId xmlns:a16="http://schemas.microsoft.com/office/drawing/2014/main" id="{2F7D347D-083D-9E82-40EF-93E1E018B63C}"/>
                    </a:ext>
                    <a:ext uri="{C183D7F6-B498-43B3-948B-1728B52AA6E4}">
                      <adec:decorative xmlns:adec="http://schemas.microsoft.com/office/drawing/2017/decorative" val="1"/>
                    </a:ext>
                  </a:extLst>
                </p:cNvPr>
                <p:cNvCxnSpPr>
                  <a:cxnSpLocks/>
                  <a:stCxn id="57" idx="6"/>
                  <a:endCxn id="16" idx="2"/>
                </p:cNvCxnSpPr>
                <p:nvPr/>
              </p:nvCxnSpPr>
              <p:spPr>
                <a:xfrm>
                  <a:off x="4563342" y="52229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4" name="Straight Connector 63">
                  <a:extLst>
                    <a:ext uri="{FF2B5EF4-FFF2-40B4-BE49-F238E27FC236}">
                      <a16:creationId xmlns:a16="http://schemas.microsoft.com/office/drawing/2014/main" id="{7A4C01EE-80D6-B137-A50F-7287537E9027}"/>
                    </a:ext>
                    <a:ext uri="{C183D7F6-B498-43B3-948B-1728B52AA6E4}">
                      <adec:decorative xmlns:adec="http://schemas.microsoft.com/office/drawing/2017/decorative" val="1"/>
                    </a:ext>
                  </a:extLst>
                </p:cNvPr>
                <p:cNvCxnSpPr>
                  <a:cxnSpLocks/>
                  <a:stCxn id="58" idx="6"/>
                  <a:endCxn id="17" idx="2"/>
                </p:cNvCxnSpPr>
                <p:nvPr/>
              </p:nvCxnSpPr>
              <p:spPr>
                <a:xfrm>
                  <a:off x="4563342" y="55277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5" name="Straight Connector 64">
                  <a:extLst>
                    <a:ext uri="{FF2B5EF4-FFF2-40B4-BE49-F238E27FC236}">
                      <a16:creationId xmlns:a16="http://schemas.microsoft.com/office/drawing/2014/main" id="{E766549F-23BF-87D3-E0EC-94ACB573C747}"/>
                    </a:ext>
                    <a:ext uri="{C183D7F6-B498-43B3-948B-1728B52AA6E4}">
                      <adec:decorative xmlns:adec="http://schemas.microsoft.com/office/drawing/2017/decorative" val="1"/>
                    </a:ext>
                  </a:extLst>
                </p:cNvPr>
                <p:cNvCxnSpPr>
                  <a:cxnSpLocks/>
                  <a:stCxn id="59" idx="6"/>
                  <a:endCxn id="25" idx="2"/>
                </p:cNvCxnSpPr>
                <p:nvPr/>
              </p:nvCxnSpPr>
              <p:spPr>
                <a:xfrm>
                  <a:off x="4563342" y="58325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6" name="Straight Connector 65">
                  <a:extLst>
                    <a:ext uri="{FF2B5EF4-FFF2-40B4-BE49-F238E27FC236}">
                      <a16:creationId xmlns:a16="http://schemas.microsoft.com/office/drawing/2014/main" id="{C7CBEA83-0B6A-9070-8216-B595DB40C288}"/>
                    </a:ext>
                    <a:ext uri="{C183D7F6-B498-43B3-948B-1728B52AA6E4}">
                      <adec:decorative xmlns:adec="http://schemas.microsoft.com/office/drawing/2017/decorative" val="1"/>
                    </a:ext>
                  </a:extLst>
                </p:cNvPr>
                <p:cNvCxnSpPr>
                  <a:cxnSpLocks/>
                  <a:stCxn id="60" idx="6"/>
                  <a:endCxn id="25" idx="2"/>
                </p:cNvCxnSpPr>
                <p:nvPr/>
              </p:nvCxnSpPr>
              <p:spPr>
                <a:xfrm flipV="1">
                  <a:off x="4572000" y="5984902"/>
                  <a:ext cx="317892" cy="17377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7" name="Straight Connector 66">
                  <a:extLst>
                    <a:ext uri="{FF2B5EF4-FFF2-40B4-BE49-F238E27FC236}">
                      <a16:creationId xmlns:a16="http://schemas.microsoft.com/office/drawing/2014/main" id="{257023F4-3FCB-01C0-B421-BAE84E3EC143}"/>
                    </a:ext>
                    <a:ext uri="{C183D7F6-B498-43B3-948B-1728B52AA6E4}">
                      <adec:decorative xmlns:adec="http://schemas.microsoft.com/office/drawing/2017/decorative" val="1"/>
                    </a:ext>
                  </a:extLst>
                </p:cNvPr>
                <p:cNvCxnSpPr>
                  <a:cxnSpLocks/>
                  <a:stCxn id="59" idx="6"/>
                  <a:endCxn id="17" idx="2"/>
                </p:cNvCxnSpPr>
                <p:nvPr/>
              </p:nvCxnSpPr>
              <p:spPr>
                <a:xfrm flipV="1">
                  <a:off x="4563342" y="56801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8" name="Straight Connector 67">
                  <a:extLst>
                    <a:ext uri="{FF2B5EF4-FFF2-40B4-BE49-F238E27FC236}">
                      <a16:creationId xmlns:a16="http://schemas.microsoft.com/office/drawing/2014/main" id="{8CB20997-922F-5436-881E-2894DA5E0341}"/>
                    </a:ext>
                    <a:ext uri="{C183D7F6-B498-43B3-948B-1728B52AA6E4}">
                      <adec:decorative xmlns:adec="http://schemas.microsoft.com/office/drawing/2017/decorative" val="1"/>
                    </a:ext>
                  </a:extLst>
                </p:cNvPr>
                <p:cNvCxnSpPr>
                  <a:cxnSpLocks/>
                  <a:stCxn id="57" idx="6"/>
                  <a:endCxn id="15" idx="2"/>
                </p:cNvCxnSpPr>
                <p:nvPr/>
              </p:nvCxnSpPr>
              <p:spPr>
                <a:xfrm flipV="1">
                  <a:off x="4563342" y="5097558"/>
                  <a:ext cx="326550" cy="125344"/>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9" name="Straight Connector 68">
                  <a:extLst>
                    <a:ext uri="{FF2B5EF4-FFF2-40B4-BE49-F238E27FC236}">
                      <a16:creationId xmlns:a16="http://schemas.microsoft.com/office/drawing/2014/main" id="{E0EE9119-8A47-5FDF-D687-F8B52B97D368}"/>
                    </a:ext>
                    <a:ext uri="{C183D7F6-B498-43B3-948B-1728B52AA6E4}">
                      <adec:decorative xmlns:adec="http://schemas.microsoft.com/office/drawing/2017/decorative" val="1"/>
                    </a:ext>
                  </a:extLst>
                </p:cNvPr>
                <p:cNvCxnSpPr>
                  <a:cxnSpLocks/>
                  <a:stCxn id="56" idx="6"/>
                  <a:endCxn id="14" idx="2"/>
                </p:cNvCxnSpPr>
                <p:nvPr/>
              </p:nvCxnSpPr>
              <p:spPr>
                <a:xfrm flipV="1">
                  <a:off x="4563342" y="4841902"/>
                  <a:ext cx="326550" cy="103256"/>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0" name="Straight Connector 69">
                  <a:extLst>
                    <a:ext uri="{FF2B5EF4-FFF2-40B4-BE49-F238E27FC236}">
                      <a16:creationId xmlns:a16="http://schemas.microsoft.com/office/drawing/2014/main" id="{94A0C115-C5D5-DF91-DB72-28E3A8A73333}"/>
                    </a:ext>
                    <a:ext uri="{C183D7F6-B498-43B3-948B-1728B52AA6E4}">
                      <adec:decorative xmlns:adec="http://schemas.microsoft.com/office/drawing/2017/decorative" val="1"/>
                    </a:ext>
                  </a:extLst>
                </p:cNvPr>
                <p:cNvCxnSpPr>
                  <a:cxnSpLocks/>
                  <a:stCxn id="58" idx="6"/>
                  <a:endCxn id="25" idx="2"/>
                </p:cNvCxnSpPr>
                <p:nvPr/>
              </p:nvCxnSpPr>
              <p:spPr>
                <a:xfrm>
                  <a:off x="4563342" y="5527702"/>
                  <a:ext cx="32655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1" name="Straight Connector 70">
                  <a:extLst>
                    <a:ext uri="{FF2B5EF4-FFF2-40B4-BE49-F238E27FC236}">
                      <a16:creationId xmlns:a16="http://schemas.microsoft.com/office/drawing/2014/main" id="{D10522BB-474C-2668-34D8-3C405A94639A}"/>
                    </a:ext>
                    <a:ext uri="{C183D7F6-B498-43B3-948B-1728B52AA6E4}">
                      <adec:decorative xmlns:adec="http://schemas.microsoft.com/office/drawing/2017/decorative" val="1"/>
                    </a:ext>
                  </a:extLst>
                </p:cNvPr>
                <p:cNvCxnSpPr>
                  <a:cxnSpLocks/>
                  <a:stCxn id="56" idx="6"/>
                  <a:endCxn id="17" idx="2"/>
                </p:cNvCxnSpPr>
                <p:nvPr/>
              </p:nvCxnSpPr>
              <p:spPr>
                <a:xfrm>
                  <a:off x="4563342" y="4945158"/>
                  <a:ext cx="326550" cy="734944"/>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2" name="Straight Connector 71">
                  <a:extLst>
                    <a:ext uri="{FF2B5EF4-FFF2-40B4-BE49-F238E27FC236}">
                      <a16:creationId xmlns:a16="http://schemas.microsoft.com/office/drawing/2014/main" id="{D12D8991-6247-371D-90CD-FB4327368979}"/>
                    </a:ext>
                    <a:ext uri="{C183D7F6-B498-43B3-948B-1728B52AA6E4}">
                      <adec:decorative xmlns:adec="http://schemas.microsoft.com/office/drawing/2017/decorative" val="1"/>
                    </a:ext>
                  </a:extLst>
                </p:cNvPr>
                <p:cNvCxnSpPr>
                  <a:cxnSpLocks/>
                  <a:stCxn id="58" idx="6"/>
                  <a:endCxn id="14" idx="2"/>
                </p:cNvCxnSpPr>
                <p:nvPr/>
              </p:nvCxnSpPr>
              <p:spPr>
                <a:xfrm flipV="1">
                  <a:off x="4563342" y="4841902"/>
                  <a:ext cx="326550" cy="6858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3" name="Straight Connector 72">
                  <a:extLst>
                    <a:ext uri="{FF2B5EF4-FFF2-40B4-BE49-F238E27FC236}">
                      <a16:creationId xmlns:a16="http://schemas.microsoft.com/office/drawing/2014/main" id="{3567297C-EA18-34F1-94D1-6F0C5FD45737}"/>
                    </a:ext>
                    <a:ext uri="{C183D7F6-B498-43B3-948B-1728B52AA6E4}">
                      <adec:decorative xmlns:adec="http://schemas.microsoft.com/office/drawing/2017/decorative" val="1"/>
                    </a:ext>
                  </a:extLst>
                </p:cNvPr>
                <p:cNvCxnSpPr>
                  <a:cxnSpLocks/>
                  <a:stCxn id="60" idx="6"/>
                  <a:endCxn id="17" idx="2"/>
                </p:cNvCxnSpPr>
                <p:nvPr/>
              </p:nvCxnSpPr>
              <p:spPr>
                <a:xfrm flipV="1">
                  <a:off x="4572000" y="5680102"/>
                  <a:ext cx="317892" cy="47857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4" name="Straight Connector 73">
                  <a:extLst>
                    <a:ext uri="{FF2B5EF4-FFF2-40B4-BE49-F238E27FC236}">
                      <a16:creationId xmlns:a16="http://schemas.microsoft.com/office/drawing/2014/main" id="{49CEA3F1-70E2-179C-B1A5-B39E2162A718}"/>
                    </a:ext>
                    <a:ext uri="{C183D7F6-B498-43B3-948B-1728B52AA6E4}">
                      <adec:decorative xmlns:adec="http://schemas.microsoft.com/office/drawing/2017/decorative" val="1"/>
                    </a:ext>
                  </a:extLst>
                </p:cNvPr>
                <p:cNvCxnSpPr>
                  <a:cxnSpLocks/>
                  <a:stCxn id="59" idx="6"/>
                  <a:endCxn id="16" idx="2"/>
                </p:cNvCxnSpPr>
                <p:nvPr/>
              </p:nvCxnSpPr>
              <p:spPr>
                <a:xfrm flipV="1">
                  <a:off x="4563342" y="5375302"/>
                  <a:ext cx="32655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grpSp>
          <p:sp>
            <p:nvSpPr>
              <p:cNvPr id="7" name="Arrow: Right 6">
                <a:extLst>
                  <a:ext uri="{FF2B5EF4-FFF2-40B4-BE49-F238E27FC236}">
                    <a16:creationId xmlns:a16="http://schemas.microsoft.com/office/drawing/2014/main" id="{BF6BD3C9-7AA0-A3B0-5B46-F54940A2784F}"/>
                  </a:ext>
                  <a:ext uri="{C183D7F6-B498-43B3-948B-1728B52AA6E4}">
                    <adec:decorative xmlns:adec="http://schemas.microsoft.com/office/drawing/2017/decorative" val="1"/>
                  </a:ext>
                </a:extLst>
              </p:cNvPr>
              <p:cNvSpPr/>
              <p:nvPr/>
            </p:nvSpPr>
            <p:spPr>
              <a:xfrm>
                <a:off x="1442560" y="4430327"/>
                <a:ext cx="425911" cy="533400"/>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descr="Equation: s">
                    <a:extLst>
                      <a:ext uri="{FF2B5EF4-FFF2-40B4-BE49-F238E27FC236}">
                        <a16:creationId xmlns:a16="http://schemas.microsoft.com/office/drawing/2014/main" id="{F07E70A4-2967-9C72-ED54-660990C19C8D}"/>
                      </a:ext>
                    </a:extLst>
                  </p:cNvPr>
                  <p:cNvSpPr txBox="1"/>
                  <p:nvPr/>
                </p:nvSpPr>
                <p:spPr>
                  <a:xfrm>
                    <a:off x="1129787" y="4514865"/>
                    <a:ext cx="349711" cy="369332"/>
                  </a:xfrm>
                  <a:prstGeom prst="rect">
                    <a:avLst/>
                  </a:prstGeom>
                  <a:noFill/>
                </p:spPr>
                <p:txBody>
                  <a:bodyPr wrap="none" rtlCol="0">
                    <a:spAutoFit/>
                  </a:bodyPr>
                  <a:lstStyle/>
                  <a:p>
                    <a:pPr/>
                    <a14:m>
                      <m:oMathPara xmlns:m="http://schemas.openxmlformats.org/officeDocument/2006/math">
                        <m:oMath>
                          <m:r>
                            <a:rPr lang="en-US" i="1" dirty="0" smtClean="0">
                              <a:latin typeface="Cambria Math" panose="02040503050406030204" pitchFamily="18" charset="0"/>
                            </a:rPr>
                            <m:t>𝑠</m:t>
                          </m:r>
                        </m:oMath>
                      </m:oMathPara>
                    </a14:m>
                    <a:endParaRPr lang="en-US" dirty="0"/>
                  </a:p>
                </p:txBody>
              </p:sp>
            </mc:Choice>
            <mc:Fallback xmlns="">
              <p:sp>
                <p:nvSpPr>
                  <p:cNvPr id="194" name="TextBox 193">
                    <a:extLst>
                      <a:ext uri="{FF2B5EF4-FFF2-40B4-BE49-F238E27FC236}">
                        <a16:creationId xmlns:a16="http://schemas.microsoft.com/office/drawing/2014/main" id="{5FAAFD66-2140-E45A-471D-39F874312E32}"/>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129787" y="4514865"/>
                    <a:ext cx="349711" cy="369332"/>
                  </a:xfrm>
                  <a:prstGeom prst="rect">
                    <a:avLst/>
                  </a:prstGeom>
                  <a:blipFill>
                    <a:blip r:embed="rId6"/>
                    <a:stretch>
                      <a:fillRect/>
                    </a:stretch>
                  </a:blipFill>
                </p:spPr>
                <p:txBody>
                  <a:bodyPr/>
                  <a:lstStyle/>
                  <a:p>
                    <a:r>
                      <a:rPr lang="en-US">
                        <a:noFill/>
                      </a:rPr>
                      <a:t> </a:t>
                    </a:r>
                  </a:p>
                </p:txBody>
              </p:sp>
            </mc:Fallback>
          </mc:AlternateContent>
          <p:sp>
            <p:nvSpPr>
              <p:cNvPr id="9" name="Arrow: Right 8">
                <a:extLst>
                  <a:ext uri="{FF2B5EF4-FFF2-40B4-BE49-F238E27FC236}">
                    <a16:creationId xmlns:a16="http://schemas.microsoft.com/office/drawing/2014/main" id="{757CB128-7A94-D900-F090-5091C5C259BC}"/>
                  </a:ext>
                  <a:ext uri="{C183D7F6-B498-43B3-948B-1728B52AA6E4}">
                    <adec:decorative xmlns:adec="http://schemas.microsoft.com/office/drawing/2017/decorative" val="1"/>
                  </a:ext>
                </a:extLst>
              </p:cNvPr>
              <p:cNvSpPr/>
              <p:nvPr/>
            </p:nvSpPr>
            <p:spPr>
              <a:xfrm>
                <a:off x="3810000" y="4491358"/>
                <a:ext cx="384215" cy="503703"/>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descr="Equation: Q(s, a; theta sub k, to the power)">
                    <a:extLst>
                      <a:ext uri="{FF2B5EF4-FFF2-40B4-BE49-F238E27FC236}">
                        <a16:creationId xmlns:a16="http://schemas.microsoft.com/office/drawing/2014/main" id="{70E2E66A-A399-9CD1-935E-BA528D1A9A71}"/>
                      </a:ext>
                    </a:extLst>
                  </p:cNvPr>
                  <p:cNvSpPr txBox="1"/>
                  <p:nvPr/>
                </p:nvSpPr>
                <p:spPr>
                  <a:xfrm>
                    <a:off x="4125676" y="4556563"/>
                    <a:ext cx="1327030" cy="404791"/>
                  </a:xfrm>
                  <a:prstGeom prst="rect">
                    <a:avLst/>
                  </a:prstGeom>
                  <a:noFill/>
                </p:spPr>
                <p:txBody>
                  <a:bodyPr wrap="none" rtlCol="0">
                    <a:spAutoFit/>
                  </a:bodyPr>
                  <a:lstStyle/>
                  <a:p>
                    <a:pPr/>
                    <a14:m>
                      <m:oMathPara xmlns:m="http://schemas.openxmlformats.org/officeDocument/2006/math">
                        <m:oMath>
                          <m:r>
                            <a:rPr lang="en-US" b="0" i="1" dirty="0" smtClean="0">
                              <a:latin typeface="Cambria Math" panose="02040503050406030204" pitchFamily="18" charset="0"/>
                            </a:rPr>
                            <m:t>𝑄</m:t>
                          </m:r>
                          <m:r>
                            <a:rPr lang="en-US" b="0"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 </m:t>
                          </m:r>
                          <m:r>
                            <a:rPr lang="en-US" i="1" dirty="0">
                              <a:latin typeface="Cambria Math" panose="02040503050406030204" pitchFamily="18" charset="0"/>
                            </a:rPr>
                            <m:t>𝑎</m:t>
                          </m:r>
                          <m:r>
                            <a:rPr lang="en-US" i="1" dirty="0">
                              <a:latin typeface="Cambria Math" panose="02040503050406030204" pitchFamily="18" charset="0"/>
                            </a:rPr>
                            <m:t>;</m:t>
                          </m:r>
                          <m:sSubSup>
                            <m:sSubSupPr>
                              <m:ctrlPr>
                                <a:rPr lang="en-US" b="1" i="1">
                                  <a:latin typeface="Cambria Math" panose="02040503050406030204" pitchFamily="18" charset="0"/>
                                </a:rPr>
                              </m:ctrlPr>
                            </m:sSubSupPr>
                            <m:e>
                              <m:r>
                                <a:rPr lang="en-US" b="1" i="1">
                                  <a:latin typeface="Cambria Math" panose="02040503050406030204" pitchFamily="18" charset="0"/>
                                </a:rPr>
                                <m:t>𝜽</m:t>
                              </m:r>
                            </m:e>
                            <m:sub>
                              <m:r>
                                <a:rPr lang="en-US" i="1">
                                  <a:latin typeface="Cambria Math" panose="02040503050406030204" pitchFamily="18" charset="0"/>
                                </a:rPr>
                                <m:t>𝑘</m:t>
                              </m:r>
                            </m:sub>
                            <m:sup/>
                          </m:sSubSup>
                          <m:r>
                            <a:rPr lang="en-US" b="0" i="1" dirty="0" smtClean="0">
                              <a:latin typeface="Cambria Math" panose="02040503050406030204" pitchFamily="18" charset="0"/>
                            </a:rPr>
                            <m:t>)</m:t>
                          </m:r>
                        </m:oMath>
                      </m:oMathPara>
                    </a14:m>
                    <a:endParaRPr lang="en-US" dirty="0"/>
                  </a:p>
                </p:txBody>
              </p:sp>
            </mc:Choice>
            <mc:Fallback xmlns="">
              <p:sp>
                <p:nvSpPr>
                  <p:cNvPr id="10" name="TextBox 9" descr="Equation: Q(s, a; theta sub k, to the power)">
                    <a:extLst>
                      <a:ext uri="{FF2B5EF4-FFF2-40B4-BE49-F238E27FC236}">
                        <a16:creationId xmlns:a16="http://schemas.microsoft.com/office/drawing/2014/main" id="{70E2E66A-A399-9CD1-935E-BA528D1A9A71}"/>
                      </a:ext>
                    </a:extLst>
                  </p:cNvPr>
                  <p:cNvSpPr txBox="1">
                    <a:spLocks noRot="1" noChangeAspect="1" noMove="1" noResize="1" noEditPoints="1" noAdjustHandles="1" noChangeArrowheads="1" noChangeShapeType="1" noTextEdit="1"/>
                  </p:cNvSpPr>
                  <p:nvPr/>
                </p:nvSpPr>
                <p:spPr>
                  <a:xfrm>
                    <a:off x="4125676" y="4556563"/>
                    <a:ext cx="1327030" cy="404791"/>
                  </a:xfrm>
                  <a:prstGeom prst="rect">
                    <a:avLst/>
                  </a:prstGeom>
                  <a:blipFill>
                    <a:blip r:embed="rId11"/>
                    <a:stretch>
                      <a:fillRect b="-119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descr="Equation: S">
                    <a:extLst>
                      <a:ext uri="{FF2B5EF4-FFF2-40B4-BE49-F238E27FC236}">
                        <a16:creationId xmlns:a16="http://schemas.microsoft.com/office/drawing/2014/main" id="{2FD54B5D-922B-C9F1-EF9F-DA360C2F91AB}"/>
                      </a:ext>
                    </a:extLst>
                  </p:cNvPr>
                  <p:cNvSpPr txBox="1"/>
                  <p:nvPr/>
                </p:nvSpPr>
                <p:spPr>
                  <a:xfrm>
                    <a:off x="1994915" y="3714030"/>
                    <a:ext cx="363881" cy="369332"/>
                  </a:xfrm>
                  <a:prstGeom prst="rect">
                    <a:avLst/>
                  </a:prstGeom>
                  <a:noFill/>
                </p:spPr>
                <p:txBody>
                  <a:bodyPr wrap="none" rtlCol="0">
                    <a:spAutoFit/>
                  </a:bodyPr>
                  <a:lstStyle/>
                  <a:p>
                    <a:pPr/>
                    <a14:m>
                      <m:oMathPara xmlns:m="http://schemas.openxmlformats.org/officeDocument/2006/math">
                        <m:oMath>
                          <m:r>
                            <a:rPr lang="en-US" b="0" i="1" dirty="0" smtClean="0">
                              <a:latin typeface="Cambria Math" panose="02040503050406030204" pitchFamily="18" charset="0"/>
                            </a:rPr>
                            <m:t>𝑆</m:t>
                          </m:r>
                        </m:oMath>
                      </m:oMathPara>
                    </a14:m>
                    <a:endParaRPr lang="en-US" dirty="0"/>
                  </a:p>
                </p:txBody>
              </p:sp>
            </mc:Choice>
            <mc:Fallback xmlns="">
              <p:sp>
                <p:nvSpPr>
                  <p:cNvPr id="197" name="TextBox 196">
                    <a:extLst>
                      <a:ext uri="{FF2B5EF4-FFF2-40B4-BE49-F238E27FC236}">
                        <a16:creationId xmlns:a16="http://schemas.microsoft.com/office/drawing/2014/main" id="{25BA0203-B417-18D9-5155-AC948C3DB147}"/>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994915" y="3714030"/>
                    <a:ext cx="36388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descr="Equation: A">
                    <a:extLst>
                      <a:ext uri="{FF2B5EF4-FFF2-40B4-BE49-F238E27FC236}">
                        <a16:creationId xmlns:a16="http://schemas.microsoft.com/office/drawing/2014/main" id="{E65FE383-5C49-D70F-9731-401B621D7593}"/>
                      </a:ext>
                    </a:extLst>
                  </p:cNvPr>
                  <p:cNvSpPr txBox="1"/>
                  <p:nvPr/>
                </p:nvSpPr>
                <p:spPr>
                  <a:xfrm>
                    <a:off x="3182394" y="3851318"/>
                    <a:ext cx="385683" cy="369332"/>
                  </a:xfrm>
                  <a:prstGeom prst="rect">
                    <a:avLst/>
                  </a:prstGeom>
                  <a:noFill/>
                </p:spPr>
                <p:txBody>
                  <a:bodyPr wrap="none" rtlCol="0">
                    <a:spAutoFit/>
                  </a:bodyPr>
                  <a:lstStyle/>
                  <a:p>
                    <a:pPr/>
                    <a14:m>
                      <m:oMathPara xmlns:m="http://schemas.openxmlformats.org/officeDocument/2006/math">
                        <m:oMath>
                          <m:r>
                            <a:rPr lang="en-US" b="0" i="1" dirty="0" smtClean="0">
                              <a:latin typeface="Cambria Math" panose="02040503050406030204" pitchFamily="18" charset="0"/>
                            </a:rPr>
                            <m:t>𝐴</m:t>
                          </m:r>
                        </m:oMath>
                      </m:oMathPara>
                    </a14:m>
                    <a:endParaRPr lang="en-US" dirty="0"/>
                  </a:p>
                </p:txBody>
              </p:sp>
            </mc:Choice>
            <mc:Fallback xmlns="">
              <p:sp>
                <p:nvSpPr>
                  <p:cNvPr id="198" name="TextBox 197">
                    <a:extLst>
                      <a:ext uri="{FF2B5EF4-FFF2-40B4-BE49-F238E27FC236}">
                        <a16:creationId xmlns:a16="http://schemas.microsoft.com/office/drawing/2014/main" id="{5F8BBD95-CC36-0F7B-4420-D48D811414FE}"/>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182394" y="3851318"/>
                    <a:ext cx="385683" cy="369332"/>
                  </a:xfrm>
                  <a:prstGeom prst="rect">
                    <a:avLst/>
                  </a:prstGeom>
                  <a:blipFill>
                    <a:blip r:embed="rId9"/>
                    <a:stretch>
                      <a:fillRect/>
                    </a:stretch>
                  </a:blipFill>
                </p:spPr>
                <p:txBody>
                  <a:bodyPr/>
                  <a:lstStyle/>
                  <a:p>
                    <a:r>
                      <a:rPr lang="en-US">
                        <a:noFill/>
                      </a:rPr>
                      <a:t> </a:t>
                    </a:r>
                  </a:p>
                </p:txBody>
              </p:sp>
            </mc:Fallback>
          </mc:AlternateContent>
          <p:sp>
            <p:nvSpPr>
              <p:cNvPr id="13" name="Right Brace 12">
                <a:extLst>
                  <a:ext uri="{FF2B5EF4-FFF2-40B4-BE49-F238E27FC236}">
                    <a16:creationId xmlns:a16="http://schemas.microsoft.com/office/drawing/2014/main" id="{3D13B5F6-CFCD-6F25-2658-70FBA0B7D26F}"/>
                  </a:ext>
                  <a:ext uri="{C183D7F6-B498-43B3-948B-1728B52AA6E4}">
                    <adec:decorative xmlns:adec="http://schemas.microsoft.com/office/drawing/2017/decorative" val="1"/>
                  </a:ext>
                </a:extLst>
              </p:cNvPr>
              <p:cNvSpPr/>
              <p:nvPr/>
            </p:nvSpPr>
            <p:spPr>
              <a:xfrm>
                <a:off x="3515217" y="4209556"/>
                <a:ext cx="113460" cy="1038077"/>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48" name="TextBox 147" descr="Equation: theta sub k, to the power">
                  <a:extLst>
                    <a:ext uri="{FF2B5EF4-FFF2-40B4-BE49-F238E27FC236}">
                      <a16:creationId xmlns:a16="http://schemas.microsoft.com/office/drawing/2014/main" id="{5DE21D42-5BF0-B9AB-A9DA-D642AFD08B7B}"/>
                    </a:ext>
                  </a:extLst>
                </p:cNvPr>
                <p:cNvSpPr txBox="1"/>
                <p:nvPr/>
              </p:nvSpPr>
              <p:spPr>
                <a:xfrm>
                  <a:off x="9076066" y="2236436"/>
                  <a:ext cx="629958" cy="404791"/>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14:m>
                    <m:oMathPara xmlns:m="http://schemas.openxmlformats.org/officeDocument/2006/math">
                      <m:oMath>
                        <m:sSubSup>
                          <m:sSubSupPr>
                            <m:ctrlPr>
                              <a:rPr lang="en-US" b="1" i="1">
                                <a:latin typeface="Cambria Math" panose="02040503050406030204" pitchFamily="18" charset="0"/>
                              </a:rPr>
                            </m:ctrlPr>
                          </m:sSubSupPr>
                          <m:e>
                            <m:r>
                              <a:rPr lang="en-US" b="1" i="1">
                                <a:latin typeface="Cambria Math" panose="02040503050406030204" pitchFamily="18" charset="0"/>
                              </a:rPr>
                              <m:t>𝜽</m:t>
                            </m:r>
                          </m:e>
                          <m:sub>
                            <m:r>
                              <a:rPr lang="en-US" i="1">
                                <a:latin typeface="Cambria Math" panose="02040503050406030204" pitchFamily="18" charset="0"/>
                              </a:rPr>
                              <m:t>𝑘</m:t>
                            </m:r>
                          </m:sub>
                          <m:sup/>
                        </m:sSubSup>
                      </m:oMath>
                    </m:oMathPara>
                  </a14:m>
                  <a:endParaRPr lang="en-US" dirty="0"/>
                </a:p>
              </p:txBody>
            </p:sp>
          </mc:Choice>
          <mc:Fallback xmlns="">
            <p:sp>
              <p:nvSpPr>
                <p:cNvPr id="148" name="TextBox 147" descr="Equation: theta sub k, to the power">
                  <a:extLst>
                    <a:ext uri="{FF2B5EF4-FFF2-40B4-BE49-F238E27FC236}">
                      <a16:creationId xmlns:a16="http://schemas.microsoft.com/office/drawing/2014/main" id="{5DE21D42-5BF0-B9AB-A9DA-D642AFD08B7B}"/>
                    </a:ext>
                  </a:extLst>
                </p:cNvPr>
                <p:cNvSpPr txBox="1">
                  <a:spLocks noRot="1" noChangeAspect="1" noMove="1" noResize="1" noEditPoints="1" noAdjustHandles="1" noChangeArrowheads="1" noChangeShapeType="1" noTextEdit="1"/>
                </p:cNvSpPr>
                <p:nvPr/>
              </p:nvSpPr>
              <p:spPr>
                <a:xfrm>
                  <a:off x="9076066" y="2236436"/>
                  <a:ext cx="629958" cy="404791"/>
                </a:xfrm>
                <a:prstGeom prst="rect">
                  <a:avLst/>
                </a:prstGeom>
                <a:blipFill>
                  <a:blip r:embed="rId12"/>
                  <a:stretch>
                    <a:fillRect/>
                  </a:stretch>
                </a:blipFill>
              </p:spPr>
              <p:txBody>
                <a:bodyPr/>
                <a:lstStyle/>
                <a:p>
                  <a:r>
                    <a:rPr lang="en-US">
                      <a:noFill/>
                    </a:rPr>
                    <a:t> </a:t>
                  </a:r>
                </a:p>
              </p:txBody>
            </p:sp>
          </mc:Fallback>
        </mc:AlternateContent>
      </p:grpSp>
      <p:grpSp>
        <p:nvGrpSpPr>
          <p:cNvPr id="149" name="Group 148" descr="Target Q-network (slow updates): next state s′ enters a copy of the network with weights theta_k minus that outputs Q(s′, a′; theta_k minus).">
            <a:extLst>
              <a:ext uri="{FF2B5EF4-FFF2-40B4-BE49-F238E27FC236}">
                <a16:creationId xmlns:a16="http://schemas.microsoft.com/office/drawing/2014/main" id="{75F9EDBD-F79D-4B23-35B4-8E6A4C5882D9}"/>
              </a:ext>
            </a:extLst>
          </p:cNvPr>
          <p:cNvGrpSpPr/>
          <p:nvPr/>
        </p:nvGrpSpPr>
        <p:grpSpPr>
          <a:xfrm>
            <a:off x="7653675" y="3990120"/>
            <a:ext cx="4433206" cy="2296381"/>
            <a:chOff x="7689090" y="3699477"/>
            <a:chExt cx="4433206" cy="2296381"/>
          </a:xfrm>
        </p:grpSpPr>
        <p:grpSp>
          <p:nvGrpSpPr>
            <p:cNvPr id="75" name="Group 74">
              <a:extLst>
                <a:ext uri="{FF2B5EF4-FFF2-40B4-BE49-F238E27FC236}">
                  <a16:creationId xmlns:a16="http://schemas.microsoft.com/office/drawing/2014/main" id="{17B071E3-7BFD-D1A5-5568-571D7F49A5BB}"/>
                </a:ext>
                <a:ext uri="{C183D7F6-B498-43B3-948B-1728B52AA6E4}">
                  <adec:decorative xmlns:adec="http://schemas.microsoft.com/office/drawing/2017/decorative" val="1"/>
                </a:ext>
              </a:extLst>
            </p:cNvPr>
            <p:cNvGrpSpPr/>
            <p:nvPr/>
          </p:nvGrpSpPr>
          <p:grpSpPr>
            <a:xfrm>
              <a:off x="7689090" y="3699477"/>
              <a:ext cx="4433206" cy="2296381"/>
              <a:chOff x="1129787" y="3714030"/>
              <a:chExt cx="4433206" cy="2296381"/>
            </a:xfrm>
          </p:grpSpPr>
          <p:sp>
            <p:nvSpPr>
              <p:cNvPr id="76" name="TextBox 75">
                <a:extLst>
                  <a:ext uri="{FF2B5EF4-FFF2-40B4-BE49-F238E27FC236}">
                    <a16:creationId xmlns:a16="http://schemas.microsoft.com/office/drawing/2014/main" id="{8137BB8D-431E-5930-D01B-1B5F67E50FA3}"/>
                  </a:ext>
                  <a:ext uri="{C183D7F6-B498-43B3-948B-1728B52AA6E4}">
                    <adec:decorative xmlns:adec="http://schemas.microsoft.com/office/drawing/2017/decorative" val="0"/>
                  </a:ext>
                </a:extLst>
              </p:cNvPr>
              <p:cNvSpPr txBox="1"/>
              <p:nvPr/>
            </p:nvSpPr>
            <p:spPr>
              <a:xfrm>
                <a:off x="1889929" y="5364080"/>
                <a:ext cx="1911973" cy="646331"/>
              </a:xfrm>
              <a:prstGeom prst="rect">
                <a:avLst/>
              </a:prstGeom>
              <a:noFill/>
            </p:spPr>
            <p:txBody>
              <a:bodyPr wrap="square" rtlCol="0">
                <a:spAutoFit/>
              </a:bodyPr>
              <a:lstStyle/>
              <a:p>
                <a:pPr algn="ctr"/>
                <a:r>
                  <a:rPr lang="en-US" dirty="0"/>
                  <a:t>Target Q-network</a:t>
                </a:r>
                <a:br>
                  <a:rPr lang="en-US" dirty="0"/>
                </a:br>
                <a:r>
                  <a:rPr lang="en-US" dirty="0"/>
                  <a:t>(slow updates)</a:t>
                </a:r>
              </a:p>
            </p:txBody>
          </p:sp>
          <p:grpSp>
            <p:nvGrpSpPr>
              <p:cNvPr id="77" name="Group 76">
                <a:extLst>
                  <a:ext uri="{FF2B5EF4-FFF2-40B4-BE49-F238E27FC236}">
                    <a16:creationId xmlns:a16="http://schemas.microsoft.com/office/drawing/2014/main" id="{E3B73F39-A1D0-E80E-0719-3F4DA6534EF9}"/>
                  </a:ext>
                  <a:ext uri="{C183D7F6-B498-43B3-948B-1728B52AA6E4}">
                    <adec:decorative xmlns:adec="http://schemas.microsoft.com/office/drawing/2017/decorative" val="1"/>
                  </a:ext>
                </a:extLst>
              </p:cNvPr>
              <p:cNvGrpSpPr/>
              <p:nvPr/>
            </p:nvGrpSpPr>
            <p:grpSpPr>
              <a:xfrm>
                <a:off x="2124428" y="4079165"/>
                <a:ext cx="1295400" cy="1235724"/>
                <a:chOff x="4410942" y="4599774"/>
                <a:chExt cx="1577400" cy="1648626"/>
              </a:xfrm>
            </p:grpSpPr>
            <p:sp>
              <p:nvSpPr>
                <p:cNvPr id="85" name="Oval 84">
                  <a:extLst>
                    <a:ext uri="{FF2B5EF4-FFF2-40B4-BE49-F238E27FC236}">
                      <a16:creationId xmlns:a16="http://schemas.microsoft.com/office/drawing/2014/main" id="{07E42B9D-A8F3-9FAB-83AA-59CEEBD8B17C}"/>
                    </a:ext>
                    <a:ext uri="{C183D7F6-B498-43B3-948B-1728B52AA6E4}">
                      <adec:decorative xmlns:adec="http://schemas.microsoft.com/office/drawing/2017/decorative" val="1"/>
                    </a:ext>
                  </a:extLst>
                </p:cNvPr>
                <p:cNvSpPr/>
                <p:nvPr/>
              </p:nvSpPr>
              <p:spPr>
                <a:xfrm>
                  <a:off x="4889892" y="4752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4ED06E3D-9D9D-F904-0BAE-EC18019B3750}"/>
                    </a:ext>
                    <a:ext uri="{C183D7F6-B498-43B3-948B-1728B52AA6E4}">
                      <adec:decorative xmlns:adec="http://schemas.microsoft.com/office/drawing/2017/decorative" val="1"/>
                    </a:ext>
                  </a:extLst>
                </p:cNvPr>
                <p:cNvSpPr/>
                <p:nvPr/>
              </p:nvSpPr>
              <p:spPr>
                <a:xfrm>
                  <a:off x="4889892" y="5007830"/>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6A7922CB-2515-7F56-8ED7-4616CC4A0AE3}"/>
                    </a:ext>
                    <a:ext uri="{C183D7F6-B498-43B3-948B-1728B52AA6E4}">
                      <adec:decorative xmlns:adec="http://schemas.microsoft.com/office/drawing/2017/decorative" val="1"/>
                    </a:ext>
                  </a:extLst>
                </p:cNvPr>
                <p:cNvSpPr/>
                <p:nvPr/>
              </p:nvSpPr>
              <p:spPr>
                <a:xfrm>
                  <a:off x="4889892" y="52855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C337098A-5DDA-FA1D-2BDD-C55C44A168B2}"/>
                    </a:ext>
                    <a:ext uri="{C183D7F6-B498-43B3-948B-1728B52AA6E4}">
                      <adec:decorative xmlns:adec="http://schemas.microsoft.com/office/drawing/2017/decorative" val="1"/>
                    </a:ext>
                  </a:extLst>
                </p:cNvPr>
                <p:cNvSpPr/>
                <p:nvPr/>
              </p:nvSpPr>
              <p:spPr>
                <a:xfrm>
                  <a:off x="4889892" y="55903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29F6737C-47E0-8199-1B89-78D69695DA7D}"/>
                    </a:ext>
                    <a:ext uri="{C183D7F6-B498-43B3-948B-1728B52AA6E4}">
                      <adec:decorative xmlns:adec="http://schemas.microsoft.com/office/drawing/2017/decorative" val="1"/>
                    </a:ext>
                  </a:extLst>
                </p:cNvPr>
                <p:cNvSpPr/>
                <p:nvPr/>
              </p:nvSpPr>
              <p:spPr>
                <a:xfrm>
                  <a:off x="5347092" y="49045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898DAB0A-9C1C-9E09-96E7-BC3B08981EA7}"/>
                    </a:ext>
                    <a:ext uri="{C183D7F6-B498-43B3-948B-1728B52AA6E4}">
                      <adec:decorative xmlns:adec="http://schemas.microsoft.com/office/drawing/2017/decorative" val="1"/>
                    </a:ext>
                  </a:extLst>
                </p:cNvPr>
                <p:cNvSpPr/>
                <p:nvPr/>
              </p:nvSpPr>
              <p:spPr>
                <a:xfrm>
                  <a:off x="5347092" y="5133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E15CADC4-2A09-0F50-89C7-3DC90B3021BF}"/>
                    </a:ext>
                    <a:ext uri="{C183D7F6-B498-43B3-948B-1728B52AA6E4}">
                      <adec:decorative xmlns:adec="http://schemas.microsoft.com/office/drawing/2017/decorative" val="1"/>
                    </a:ext>
                  </a:extLst>
                </p:cNvPr>
                <p:cNvSpPr/>
                <p:nvPr/>
              </p:nvSpPr>
              <p:spPr>
                <a:xfrm>
                  <a:off x="5347092" y="54379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74E6B00B-5436-A649-27FD-06D391894B99}"/>
                    </a:ext>
                    <a:ext uri="{C183D7F6-B498-43B3-948B-1728B52AA6E4}">
                      <adec:decorative xmlns:adec="http://schemas.microsoft.com/office/drawing/2017/decorative" val="1"/>
                    </a:ext>
                  </a:extLst>
                </p:cNvPr>
                <p:cNvSpPr/>
                <p:nvPr/>
              </p:nvSpPr>
              <p:spPr>
                <a:xfrm>
                  <a:off x="5835942" y="4752949"/>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C76D074A-0404-86F5-AACC-E049A34A6E42}"/>
                    </a:ext>
                    <a:ext uri="{C183D7F6-B498-43B3-948B-1728B52AA6E4}">
                      <adec:decorative xmlns:adec="http://schemas.microsoft.com/office/drawing/2017/decorative" val="1"/>
                    </a:ext>
                  </a:extLst>
                </p:cNvPr>
                <p:cNvSpPr/>
                <p:nvPr/>
              </p:nvSpPr>
              <p:spPr>
                <a:xfrm>
                  <a:off x="5835942" y="50306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13B8A852-A991-1289-3116-1633D5C9C8E9}"/>
                    </a:ext>
                    <a:ext uri="{C183D7F6-B498-43B3-948B-1728B52AA6E4}">
                      <adec:decorative xmlns:adec="http://schemas.microsoft.com/office/drawing/2017/decorative" val="1"/>
                    </a:ext>
                  </a:extLst>
                </p:cNvPr>
                <p:cNvSpPr/>
                <p:nvPr/>
              </p:nvSpPr>
              <p:spPr>
                <a:xfrm>
                  <a:off x="5835942" y="53354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2BE43843-A69A-42A9-8F35-F1025E2BB726}"/>
                    </a:ext>
                    <a:ext uri="{C183D7F6-B498-43B3-948B-1728B52AA6E4}">
                      <adec:decorative xmlns:adec="http://schemas.microsoft.com/office/drawing/2017/decorative" val="1"/>
                    </a:ext>
                  </a:extLst>
                </p:cNvPr>
                <p:cNvSpPr/>
                <p:nvPr/>
              </p:nvSpPr>
              <p:spPr>
                <a:xfrm>
                  <a:off x="5835942" y="56402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00DDD4D2-7698-8FCD-C21C-9137378E73D5}"/>
                    </a:ext>
                    <a:ext uri="{C183D7F6-B498-43B3-948B-1728B52AA6E4}">
                      <adec:decorative xmlns:adec="http://schemas.microsoft.com/office/drawing/2017/decorative" val="1"/>
                    </a:ext>
                  </a:extLst>
                </p:cNvPr>
                <p:cNvSpPr/>
                <p:nvPr/>
              </p:nvSpPr>
              <p:spPr>
                <a:xfrm>
                  <a:off x="4889892" y="5895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9D178A9C-B523-D6D7-6958-4ACA8B483EF3}"/>
                    </a:ext>
                    <a:ext uri="{C183D7F6-B498-43B3-948B-1728B52AA6E4}">
                      <adec:decorative xmlns:adec="http://schemas.microsoft.com/office/drawing/2017/decorative" val="1"/>
                    </a:ext>
                  </a:extLst>
                </p:cNvPr>
                <p:cNvSpPr/>
                <p:nvPr/>
              </p:nvSpPr>
              <p:spPr>
                <a:xfrm>
                  <a:off x="5347092" y="57427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86D1A020-95EC-6834-EE56-66012F2E6EDC}"/>
                    </a:ext>
                    <a:ext uri="{C183D7F6-B498-43B3-948B-1728B52AA6E4}">
                      <adec:decorative xmlns:adec="http://schemas.microsoft.com/office/drawing/2017/decorative" val="1"/>
                    </a:ext>
                  </a:extLst>
                </p:cNvPr>
                <p:cNvSpPr/>
                <p:nvPr/>
              </p:nvSpPr>
              <p:spPr>
                <a:xfrm>
                  <a:off x="5835942" y="59450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B7EE9705-5B7B-BFFF-AC43-B46D432CC32B}"/>
                    </a:ext>
                    <a:ext uri="{C183D7F6-B498-43B3-948B-1728B52AA6E4}">
                      <adec:decorative xmlns:adec="http://schemas.microsoft.com/office/drawing/2017/decorative" val="1"/>
                    </a:ext>
                  </a:extLst>
                </p:cNvPr>
                <p:cNvCxnSpPr>
                  <a:cxnSpLocks/>
                  <a:stCxn id="85" idx="6"/>
                  <a:endCxn id="89" idx="1"/>
                </p:cNvCxnSpPr>
                <p:nvPr/>
              </p:nvCxnSpPr>
              <p:spPr>
                <a:xfrm>
                  <a:off x="5042292" y="4841902"/>
                  <a:ext cx="327118" cy="889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00" name="Straight Connector 99">
                  <a:extLst>
                    <a:ext uri="{FF2B5EF4-FFF2-40B4-BE49-F238E27FC236}">
                      <a16:creationId xmlns:a16="http://schemas.microsoft.com/office/drawing/2014/main" id="{E91DB885-6230-F976-1AF0-D5F824889A76}"/>
                    </a:ext>
                    <a:ext uri="{C183D7F6-B498-43B3-948B-1728B52AA6E4}">
                      <adec:decorative xmlns:adec="http://schemas.microsoft.com/office/drawing/2017/decorative" val="1"/>
                    </a:ext>
                  </a:extLst>
                </p:cNvPr>
                <p:cNvCxnSpPr>
                  <a:cxnSpLocks/>
                  <a:stCxn id="86" idx="6"/>
                  <a:endCxn id="89" idx="2"/>
                </p:cNvCxnSpPr>
                <p:nvPr/>
              </p:nvCxnSpPr>
              <p:spPr>
                <a:xfrm flipV="1">
                  <a:off x="5042292" y="4994302"/>
                  <a:ext cx="304800" cy="103256"/>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01" name="Straight Connector 100">
                  <a:extLst>
                    <a:ext uri="{FF2B5EF4-FFF2-40B4-BE49-F238E27FC236}">
                      <a16:creationId xmlns:a16="http://schemas.microsoft.com/office/drawing/2014/main" id="{7362765A-2B12-1C06-8B2D-E00F9B959BEC}"/>
                    </a:ext>
                    <a:ext uri="{C183D7F6-B498-43B3-948B-1728B52AA6E4}">
                      <adec:decorative xmlns:adec="http://schemas.microsoft.com/office/drawing/2017/decorative" val="1"/>
                    </a:ext>
                  </a:extLst>
                </p:cNvPr>
                <p:cNvCxnSpPr>
                  <a:cxnSpLocks/>
                  <a:stCxn id="87" idx="6"/>
                  <a:endCxn id="90" idx="2"/>
                </p:cNvCxnSpPr>
                <p:nvPr/>
              </p:nvCxnSpPr>
              <p:spPr>
                <a:xfrm flipV="1">
                  <a:off x="5042292" y="52229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02" name="Straight Connector 101">
                  <a:extLst>
                    <a:ext uri="{FF2B5EF4-FFF2-40B4-BE49-F238E27FC236}">
                      <a16:creationId xmlns:a16="http://schemas.microsoft.com/office/drawing/2014/main" id="{A4520809-F04E-31DF-A742-4BBDDDA4E083}"/>
                    </a:ext>
                    <a:ext uri="{C183D7F6-B498-43B3-948B-1728B52AA6E4}">
                      <adec:decorative xmlns:adec="http://schemas.microsoft.com/office/drawing/2017/decorative" val="1"/>
                    </a:ext>
                  </a:extLst>
                </p:cNvPr>
                <p:cNvCxnSpPr>
                  <a:cxnSpLocks/>
                  <a:stCxn id="86" idx="6"/>
                  <a:endCxn id="90" idx="2"/>
                </p:cNvCxnSpPr>
                <p:nvPr/>
              </p:nvCxnSpPr>
              <p:spPr>
                <a:xfrm>
                  <a:off x="5042292" y="5097558"/>
                  <a:ext cx="304800" cy="125344"/>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03" name="Straight Connector 102">
                  <a:extLst>
                    <a:ext uri="{FF2B5EF4-FFF2-40B4-BE49-F238E27FC236}">
                      <a16:creationId xmlns:a16="http://schemas.microsoft.com/office/drawing/2014/main" id="{617A8CD0-4B05-9CAC-5ABB-B8CD814D49D9}"/>
                    </a:ext>
                    <a:ext uri="{C183D7F6-B498-43B3-948B-1728B52AA6E4}">
                      <adec:decorative xmlns:adec="http://schemas.microsoft.com/office/drawing/2017/decorative" val="1"/>
                    </a:ext>
                  </a:extLst>
                </p:cNvPr>
                <p:cNvCxnSpPr>
                  <a:cxnSpLocks/>
                  <a:stCxn id="88" idx="6"/>
                  <a:endCxn id="91" idx="2"/>
                </p:cNvCxnSpPr>
                <p:nvPr/>
              </p:nvCxnSpPr>
              <p:spPr>
                <a:xfrm flipV="1">
                  <a:off x="5042292" y="55277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04" name="Straight Connector 103">
                  <a:extLst>
                    <a:ext uri="{FF2B5EF4-FFF2-40B4-BE49-F238E27FC236}">
                      <a16:creationId xmlns:a16="http://schemas.microsoft.com/office/drawing/2014/main" id="{A06399DD-3867-E6CB-EC14-4EED01436CEC}"/>
                    </a:ext>
                    <a:ext uri="{C183D7F6-B498-43B3-948B-1728B52AA6E4}">
                      <adec:decorative xmlns:adec="http://schemas.microsoft.com/office/drawing/2017/decorative" val="1"/>
                    </a:ext>
                  </a:extLst>
                </p:cNvPr>
                <p:cNvCxnSpPr>
                  <a:cxnSpLocks/>
                  <a:stCxn id="87" idx="6"/>
                  <a:endCxn id="91" idx="2"/>
                </p:cNvCxnSpPr>
                <p:nvPr/>
              </p:nvCxnSpPr>
              <p:spPr>
                <a:xfrm>
                  <a:off x="5042293" y="5375303"/>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05" name="Straight Connector 104">
                  <a:extLst>
                    <a:ext uri="{FF2B5EF4-FFF2-40B4-BE49-F238E27FC236}">
                      <a16:creationId xmlns:a16="http://schemas.microsoft.com/office/drawing/2014/main" id="{187A3D28-F17B-5431-D230-6F5DA196F00B}"/>
                    </a:ext>
                    <a:ext uri="{C183D7F6-B498-43B3-948B-1728B52AA6E4}">
                      <adec:decorative xmlns:adec="http://schemas.microsoft.com/office/drawing/2017/decorative" val="1"/>
                    </a:ext>
                  </a:extLst>
                </p:cNvPr>
                <p:cNvCxnSpPr>
                  <a:cxnSpLocks/>
                  <a:stCxn id="88" idx="6"/>
                  <a:endCxn id="97" idx="2"/>
                </p:cNvCxnSpPr>
                <p:nvPr/>
              </p:nvCxnSpPr>
              <p:spPr>
                <a:xfrm>
                  <a:off x="5042292" y="56801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06" name="Straight Connector 105">
                  <a:extLst>
                    <a:ext uri="{FF2B5EF4-FFF2-40B4-BE49-F238E27FC236}">
                      <a16:creationId xmlns:a16="http://schemas.microsoft.com/office/drawing/2014/main" id="{A3189F60-BF15-F448-062C-22119F52F418}"/>
                    </a:ext>
                    <a:ext uri="{C183D7F6-B498-43B3-948B-1728B52AA6E4}">
                      <adec:decorative xmlns:adec="http://schemas.microsoft.com/office/drawing/2017/decorative" val="1"/>
                    </a:ext>
                  </a:extLst>
                </p:cNvPr>
                <p:cNvCxnSpPr>
                  <a:cxnSpLocks/>
                  <a:stCxn id="96" idx="6"/>
                  <a:endCxn id="97" idx="2"/>
                </p:cNvCxnSpPr>
                <p:nvPr/>
              </p:nvCxnSpPr>
              <p:spPr>
                <a:xfrm flipV="1">
                  <a:off x="5042292" y="58325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07" name="Straight Connector 106">
                  <a:extLst>
                    <a:ext uri="{FF2B5EF4-FFF2-40B4-BE49-F238E27FC236}">
                      <a16:creationId xmlns:a16="http://schemas.microsoft.com/office/drawing/2014/main" id="{587E4CB9-6E37-96C2-C00F-E236EB24E163}"/>
                    </a:ext>
                    <a:ext uri="{C183D7F6-B498-43B3-948B-1728B52AA6E4}">
                      <adec:decorative xmlns:adec="http://schemas.microsoft.com/office/drawing/2017/decorative" val="1"/>
                    </a:ext>
                  </a:extLst>
                </p:cNvPr>
                <p:cNvCxnSpPr>
                  <a:cxnSpLocks/>
                  <a:stCxn id="96" idx="6"/>
                  <a:endCxn id="91" idx="2"/>
                </p:cNvCxnSpPr>
                <p:nvPr/>
              </p:nvCxnSpPr>
              <p:spPr>
                <a:xfrm flipV="1">
                  <a:off x="5042292" y="5527702"/>
                  <a:ext cx="30480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08" name="Straight Connector 107">
                  <a:extLst>
                    <a:ext uri="{FF2B5EF4-FFF2-40B4-BE49-F238E27FC236}">
                      <a16:creationId xmlns:a16="http://schemas.microsoft.com/office/drawing/2014/main" id="{46FFDF35-CE72-2D5B-9FB8-EC0D9D0A2714}"/>
                    </a:ext>
                    <a:ext uri="{C183D7F6-B498-43B3-948B-1728B52AA6E4}">
                      <adec:decorative xmlns:adec="http://schemas.microsoft.com/office/drawing/2017/decorative" val="1"/>
                    </a:ext>
                  </a:extLst>
                </p:cNvPr>
                <p:cNvCxnSpPr>
                  <a:cxnSpLocks/>
                  <a:stCxn id="88" idx="6"/>
                  <a:endCxn id="90" idx="3"/>
                </p:cNvCxnSpPr>
                <p:nvPr/>
              </p:nvCxnSpPr>
              <p:spPr>
                <a:xfrm flipV="1">
                  <a:off x="5042292" y="5286349"/>
                  <a:ext cx="327118" cy="3937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09" name="Straight Connector 108">
                  <a:extLst>
                    <a:ext uri="{FF2B5EF4-FFF2-40B4-BE49-F238E27FC236}">
                      <a16:creationId xmlns:a16="http://schemas.microsoft.com/office/drawing/2014/main" id="{D2BD0F76-D3B1-CF6D-BDAC-F08A0F06AA5A}"/>
                    </a:ext>
                    <a:ext uri="{C183D7F6-B498-43B3-948B-1728B52AA6E4}">
                      <adec:decorative xmlns:adec="http://schemas.microsoft.com/office/drawing/2017/decorative" val="1"/>
                    </a:ext>
                  </a:extLst>
                </p:cNvPr>
                <p:cNvCxnSpPr>
                  <a:cxnSpLocks/>
                  <a:stCxn id="87" idx="6"/>
                  <a:endCxn id="89" idx="3"/>
                </p:cNvCxnSpPr>
                <p:nvPr/>
              </p:nvCxnSpPr>
              <p:spPr>
                <a:xfrm flipV="1">
                  <a:off x="5042292" y="5057749"/>
                  <a:ext cx="327118" cy="3175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10" name="Straight Connector 109">
                  <a:extLst>
                    <a:ext uri="{FF2B5EF4-FFF2-40B4-BE49-F238E27FC236}">
                      <a16:creationId xmlns:a16="http://schemas.microsoft.com/office/drawing/2014/main" id="{144D9BCC-A917-F44C-5749-288395654195}"/>
                    </a:ext>
                    <a:ext uri="{C183D7F6-B498-43B3-948B-1728B52AA6E4}">
                      <adec:decorative xmlns:adec="http://schemas.microsoft.com/office/drawing/2017/decorative" val="1"/>
                    </a:ext>
                  </a:extLst>
                </p:cNvPr>
                <p:cNvCxnSpPr>
                  <a:cxnSpLocks/>
                  <a:stCxn id="85" idx="6"/>
                  <a:endCxn id="90" idx="1"/>
                </p:cNvCxnSpPr>
                <p:nvPr/>
              </p:nvCxnSpPr>
              <p:spPr>
                <a:xfrm>
                  <a:off x="5042292" y="4841902"/>
                  <a:ext cx="327118" cy="3175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11" name="Straight Connector 110">
                  <a:extLst>
                    <a:ext uri="{FF2B5EF4-FFF2-40B4-BE49-F238E27FC236}">
                      <a16:creationId xmlns:a16="http://schemas.microsoft.com/office/drawing/2014/main" id="{E9BC331C-C277-5885-4997-659489902AA0}"/>
                    </a:ext>
                    <a:ext uri="{C183D7F6-B498-43B3-948B-1728B52AA6E4}">
                      <adec:decorative xmlns:adec="http://schemas.microsoft.com/office/drawing/2017/decorative" val="1"/>
                    </a:ext>
                  </a:extLst>
                </p:cNvPr>
                <p:cNvCxnSpPr>
                  <a:cxnSpLocks/>
                  <a:stCxn id="87" idx="6"/>
                  <a:endCxn id="97" idx="2"/>
                </p:cNvCxnSpPr>
                <p:nvPr/>
              </p:nvCxnSpPr>
              <p:spPr>
                <a:xfrm>
                  <a:off x="5042292" y="5375302"/>
                  <a:ext cx="30480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12" name="Straight Connector 111">
                  <a:extLst>
                    <a:ext uri="{FF2B5EF4-FFF2-40B4-BE49-F238E27FC236}">
                      <a16:creationId xmlns:a16="http://schemas.microsoft.com/office/drawing/2014/main" id="{233D3B38-B518-4129-466B-3AC1A439F48A}"/>
                    </a:ext>
                    <a:ext uri="{C183D7F6-B498-43B3-948B-1728B52AA6E4}">
                      <adec:decorative xmlns:adec="http://schemas.microsoft.com/office/drawing/2017/decorative" val="1"/>
                    </a:ext>
                  </a:extLst>
                </p:cNvPr>
                <p:cNvCxnSpPr>
                  <a:cxnSpLocks/>
                  <a:stCxn id="89" idx="6"/>
                  <a:endCxn id="92" idx="2"/>
                </p:cNvCxnSpPr>
                <p:nvPr/>
              </p:nvCxnSpPr>
              <p:spPr>
                <a:xfrm flipV="1">
                  <a:off x="5499492" y="4842677"/>
                  <a:ext cx="336450" cy="151625"/>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13" name="Straight Connector 112">
                  <a:extLst>
                    <a:ext uri="{FF2B5EF4-FFF2-40B4-BE49-F238E27FC236}">
                      <a16:creationId xmlns:a16="http://schemas.microsoft.com/office/drawing/2014/main" id="{B0BE2B9C-1220-AC5A-2145-F7C4FC4F2888}"/>
                    </a:ext>
                    <a:ext uri="{C183D7F6-B498-43B3-948B-1728B52AA6E4}">
                      <adec:decorative xmlns:adec="http://schemas.microsoft.com/office/drawing/2017/decorative" val="1"/>
                    </a:ext>
                  </a:extLst>
                </p:cNvPr>
                <p:cNvCxnSpPr>
                  <a:cxnSpLocks/>
                  <a:stCxn id="90" idx="6"/>
                  <a:endCxn id="92" idx="2"/>
                </p:cNvCxnSpPr>
                <p:nvPr/>
              </p:nvCxnSpPr>
              <p:spPr>
                <a:xfrm flipV="1">
                  <a:off x="5499492" y="4842677"/>
                  <a:ext cx="336450" cy="380225"/>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14" name="Straight Connector 113">
                  <a:extLst>
                    <a:ext uri="{FF2B5EF4-FFF2-40B4-BE49-F238E27FC236}">
                      <a16:creationId xmlns:a16="http://schemas.microsoft.com/office/drawing/2014/main" id="{F4852322-F2E7-2CBE-BB2E-E557D652846D}"/>
                    </a:ext>
                    <a:ext uri="{C183D7F6-B498-43B3-948B-1728B52AA6E4}">
                      <adec:decorative xmlns:adec="http://schemas.microsoft.com/office/drawing/2017/decorative" val="1"/>
                    </a:ext>
                  </a:extLst>
                </p:cNvPr>
                <p:cNvCxnSpPr>
                  <a:cxnSpLocks/>
                  <a:stCxn id="91" idx="6"/>
                  <a:endCxn id="93" idx="2"/>
                </p:cNvCxnSpPr>
                <p:nvPr/>
              </p:nvCxnSpPr>
              <p:spPr>
                <a:xfrm flipV="1">
                  <a:off x="5499492" y="5120421"/>
                  <a:ext cx="336450" cy="4072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15" name="Straight Connector 114">
                  <a:extLst>
                    <a:ext uri="{FF2B5EF4-FFF2-40B4-BE49-F238E27FC236}">
                      <a16:creationId xmlns:a16="http://schemas.microsoft.com/office/drawing/2014/main" id="{DC56FED8-23C0-A743-6908-83E71EE9EDFB}"/>
                    </a:ext>
                    <a:ext uri="{C183D7F6-B498-43B3-948B-1728B52AA6E4}">
                      <adec:decorative xmlns:adec="http://schemas.microsoft.com/office/drawing/2017/decorative" val="1"/>
                    </a:ext>
                  </a:extLst>
                </p:cNvPr>
                <p:cNvCxnSpPr>
                  <a:cxnSpLocks/>
                  <a:stCxn id="97" idx="6"/>
                  <a:endCxn id="94" idx="2"/>
                </p:cNvCxnSpPr>
                <p:nvPr/>
              </p:nvCxnSpPr>
              <p:spPr>
                <a:xfrm flipV="1">
                  <a:off x="5499492" y="5425221"/>
                  <a:ext cx="336450" cy="4072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16" name="Straight Connector 115">
                  <a:extLst>
                    <a:ext uri="{FF2B5EF4-FFF2-40B4-BE49-F238E27FC236}">
                      <a16:creationId xmlns:a16="http://schemas.microsoft.com/office/drawing/2014/main" id="{D6DE6AE1-C28C-0920-FCEA-0858CD297C0F}"/>
                    </a:ext>
                    <a:ext uri="{C183D7F6-B498-43B3-948B-1728B52AA6E4}">
                      <adec:decorative xmlns:adec="http://schemas.microsoft.com/office/drawing/2017/decorative" val="1"/>
                    </a:ext>
                  </a:extLst>
                </p:cNvPr>
                <p:cNvCxnSpPr>
                  <a:cxnSpLocks/>
                  <a:stCxn id="97" idx="6"/>
                  <a:endCxn id="98" idx="1"/>
                </p:cNvCxnSpPr>
                <p:nvPr/>
              </p:nvCxnSpPr>
              <p:spPr>
                <a:xfrm>
                  <a:off x="5499492" y="5832502"/>
                  <a:ext cx="358768" cy="138872"/>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17" name="Straight Connector 116">
                  <a:extLst>
                    <a:ext uri="{FF2B5EF4-FFF2-40B4-BE49-F238E27FC236}">
                      <a16:creationId xmlns:a16="http://schemas.microsoft.com/office/drawing/2014/main" id="{17DE63D0-41C1-CBD1-88AF-7256700502D2}"/>
                    </a:ext>
                    <a:ext uri="{C183D7F6-B498-43B3-948B-1728B52AA6E4}">
                      <adec:decorative xmlns:adec="http://schemas.microsoft.com/office/drawing/2017/decorative" val="1"/>
                    </a:ext>
                  </a:extLst>
                </p:cNvPr>
                <p:cNvCxnSpPr>
                  <a:cxnSpLocks/>
                  <a:stCxn id="97" idx="6"/>
                  <a:endCxn id="95" idx="2"/>
                </p:cNvCxnSpPr>
                <p:nvPr/>
              </p:nvCxnSpPr>
              <p:spPr>
                <a:xfrm flipV="1">
                  <a:off x="5499492" y="5730021"/>
                  <a:ext cx="336450" cy="1024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18" name="Straight Connector 117">
                  <a:extLst>
                    <a:ext uri="{FF2B5EF4-FFF2-40B4-BE49-F238E27FC236}">
                      <a16:creationId xmlns:a16="http://schemas.microsoft.com/office/drawing/2014/main" id="{5DF7CEE8-CBCD-0A94-91AA-35B5F6A3DB28}"/>
                    </a:ext>
                    <a:ext uri="{C183D7F6-B498-43B3-948B-1728B52AA6E4}">
                      <adec:decorative xmlns:adec="http://schemas.microsoft.com/office/drawing/2017/decorative" val="1"/>
                    </a:ext>
                  </a:extLst>
                </p:cNvPr>
                <p:cNvCxnSpPr>
                  <a:cxnSpLocks/>
                  <a:stCxn id="91" idx="6"/>
                  <a:endCxn id="94" idx="2"/>
                </p:cNvCxnSpPr>
                <p:nvPr/>
              </p:nvCxnSpPr>
              <p:spPr>
                <a:xfrm flipV="1">
                  <a:off x="5499492" y="5425221"/>
                  <a:ext cx="336450" cy="1024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19" name="Straight Connector 118">
                  <a:extLst>
                    <a:ext uri="{FF2B5EF4-FFF2-40B4-BE49-F238E27FC236}">
                      <a16:creationId xmlns:a16="http://schemas.microsoft.com/office/drawing/2014/main" id="{AC16034E-11E9-2B42-1815-FAFDB0A00871}"/>
                    </a:ext>
                    <a:ext uri="{C183D7F6-B498-43B3-948B-1728B52AA6E4}">
                      <adec:decorative xmlns:adec="http://schemas.microsoft.com/office/drawing/2017/decorative" val="1"/>
                    </a:ext>
                  </a:extLst>
                </p:cNvPr>
                <p:cNvCxnSpPr>
                  <a:cxnSpLocks/>
                  <a:stCxn id="89" idx="6"/>
                  <a:endCxn id="93" idx="2"/>
                </p:cNvCxnSpPr>
                <p:nvPr/>
              </p:nvCxnSpPr>
              <p:spPr>
                <a:xfrm>
                  <a:off x="5499493" y="4994303"/>
                  <a:ext cx="336449" cy="1261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20" name="Straight Connector 119">
                  <a:extLst>
                    <a:ext uri="{FF2B5EF4-FFF2-40B4-BE49-F238E27FC236}">
                      <a16:creationId xmlns:a16="http://schemas.microsoft.com/office/drawing/2014/main" id="{C7BB65B6-12F0-EF49-427B-361BDB6A4174}"/>
                    </a:ext>
                    <a:ext uri="{C183D7F6-B498-43B3-948B-1728B52AA6E4}">
                      <adec:decorative xmlns:adec="http://schemas.microsoft.com/office/drawing/2017/decorative" val="1"/>
                    </a:ext>
                  </a:extLst>
                </p:cNvPr>
                <p:cNvCxnSpPr>
                  <a:cxnSpLocks/>
                  <a:stCxn id="90" idx="6"/>
                  <a:endCxn id="94" idx="2"/>
                </p:cNvCxnSpPr>
                <p:nvPr/>
              </p:nvCxnSpPr>
              <p:spPr>
                <a:xfrm>
                  <a:off x="5499492" y="5222902"/>
                  <a:ext cx="336450" cy="2023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21" name="Straight Connector 120">
                  <a:extLst>
                    <a:ext uri="{FF2B5EF4-FFF2-40B4-BE49-F238E27FC236}">
                      <a16:creationId xmlns:a16="http://schemas.microsoft.com/office/drawing/2014/main" id="{62D6EF11-EB3B-B08B-44A8-DB0EEC9B2FA5}"/>
                    </a:ext>
                    <a:ext uri="{C183D7F6-B498-43B3-948B-1728B52AA6E4}">
                      <adec:decorative xmlns:adec="http://schemas.microsoft.com/office/drawing/2017/decorative" val="1"/>
                    </a:ext>
                  </a:extLst>
                </p:cNvPr>
                <p:cNvCxnSpPr>
                  <a:cxnSpLocks/>
                  <a:stCxn id="91" idx="6"/>
                  <a:endCxn id="95" idx="2"/>
                </p:cNvCxnSpPr>
                <p:nvPr/>
              </p:nvCxnSpPr>
              <p:spPr>
                <a:xfrm>
                  <a:off x="5499492" y="5527702"/>
                  <a:ext cx="336450" cy="2023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22" name="Straight Connector 121">
                  <a:extLst>
                    <a:ext uri="{FF2B5EF4-FFF2-40B4-BE49-F238E27FC236}">
                      <a16:creationId xmlns:a16="http://schemas.microsoft.com/office/drawing/2014/main" id="{8BDECBC5-04C3-4C17-6394-8969BB10A279}"/>
                    </a:ext>
                    <a:ext uri="{C183D7F6-B498-43B3-948B-1728B52AA6E4}">
                      <adec:decorative xmlns:adec="http://schemas.microsoft.com/office/drawing/2017/decorative" val="1"/>
                    </a:ext>
                  </a:extLst>
                </p:cNvPr>
                <p:cNvCxnSpPr>
                  <a:cxnSpLocks/>
                  <a:stCxn id="89" idx="6"/>
                  <a:endCxn id="94" idx="2"/>
                </p:cNvCxnSpPr>
                <p:nvPr/>
              </p:nvCxnSpPr>
              <p:spPr>
                <a:xfrm>
                  <a:off x="5499492" y="4994302"/>
                  <a:ext cx="336450" cy="4309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23" name="Straight Connector 122">
                  <a:extLst>
                    <a:ext uri="{FF2B5EF4-FFF2-40B4-BE49-F238E27FC236}">
                      <a16:creationId xmlns:a16="http://schemas.microsoft.com/office/drawing/2014/main" id="{FF30C031-713B-C485-F0A2-A8A212145E2E}"/>
                    </a:ext>
                    <a:ext uri="{C183D7F6-B498-43B3-948B-1728B52AA6E4}">
                      <adec:decorative xmlns:adec="http://schemas.microsoft.com/office/drawing/2017/decorative" val="1"/>
                    </a:ext>
                  </a:extLst>
                </p:cNvPr>
                <p:cNvCxnSpPr>
                  <a:cxnSpLocks/>
                  <a:stCxn id="91" idx="6"/>
                  <a:endCxn id="92" idx="2"/>
                </p:cNvCxnSpPr>
                <p:nvPr/>
              </p:nvCxnSpPr>
              <p:spPr>
                <a:xfrm flipV="1">
                  <a:off x="5499492" y="4842677"/>
                  <a:ext cx="336450" cy="685025"/>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24" name="Straight Connector 123">
                  <a:extLst>
                    <a:ext uri="{FF2B5EF4-FFF2-40B4-BE49-F238E27FC236}">
                      <a16:creationId xmlns:a16="http://schemas.microsoft.com/office/drawing/2014/main" id="{E6C3E0DE-99BF-BE6F-94CD-B1DE7CB686B4}"/>
                    </a:ext>
                    <a:ext uri="{C183D7F6-B498-43B3-948B-1728B52AA6E4}">
                      <adec:decorative xmlns:adec="http://schemas.microsoft.com/office/drawing/2017/decorative" val="1"/>
                    </a:ext>
                  </a:extLst>
                </p:cNvPr>
                <p:cNvCxnSpPr>
                  <a:cxnSpLocks/>
                  <a:stCxn id="91" idx="6"/>
                  <a:endCxn id="98" idx="1"/>
                </p:cNvCxnSpPr>
                <p:nvPr/>
              </p:nvCxnSpPr>
              <p:spPr>
                <a:xfrm>
                  <a:off x="5499492" y="5527702"/>
                  <a:ext cx="358768" cy="443672"/>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25" name="Straight Connector 124">
                  <a:extLst>
                    <a:ext uri="{FF2B5EF4-FFF2-40B4-BE49-F238E27FC236}">
                      <a16:creationId xmlns:a16="http://schemas.microsoft.com/office/drawing/2014/main" id="{D101F243-0B69-1408-3235-938F7446B43E}"/>
                    </a:ext>
                    <a:ext uri="{C183D7F6-B498-43B3-948B-1728B52AA6E4}">
                      <adec:decorative xmlns:adec="http://schemas.microsoft.com/office/drawing/2017/decorative" val="1"/>
                    </a:ext>
                  </a:extLst>
                </p:cNvPr>
                <p:cNvCxnSpPr>
                  <a:cxnSpLocks/>
                  <a:stCxn id="97" idx="6"/>
                  <a:endCxn id="93" idx="2"/>
                </p:cNvCxnSpPr>
                <p:nvPr/>
              </p:nvCxnSpPr>
              <p:spPr>
                <a:xfrm flipV="1">
                  <a:off x="5499492" y="5120421"/>
                  <a:ext cx="336450" cy="7120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sp>
              <p:nvSpPr>
                <p:cNvPr id="126" name="Oval 125">
                  <a:extLst>
                    <a:ext uri="{FF2B5EF4-FFF2-40B4-BE49-F238E27FC236}">
                      <a16:creationId xmlns:a16="http://schemas.microsoft.com/office/drawing/2014/main" id="{0728937D-2289-CB1D-B0E2-8C16F5CE007E}"/>
                    </a:ext>
                    <a:ext uri="{C183D7F6-B498-43B3-948B-1728B52AA6E4}">
                      <adec:decorative xmlns:adec="http://schemas.microsoft.com/office/drawing/2017/decorative" val="1"/>
                    </a:ext>
                  </a:extLst>
                </p:cNvPr>
                <p:cNvSpPr/>
                <p:nvPr/>
              </p:nvSpPr>
              <p:spPr>
                <a:xfrm>
                  <a:off x="4410942" y="45997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302EAB97-67A2-E198-5E4C-E212C2EF7E4F}"/>
                    </a:ext>
                    <a:ext uri="{C183D7F6-B498-43B3-948B-1728B52AA6E4}">
                      <adec:decorative xmlns:adec="http://schemas.microsoft.com/office/drawing/2017/decorative" val="1"/>
                    </a:ext>
                  </a:extLst>
                </p:cNvPr>
                <p:cNvSpPr/>
                <p:nvPr/>
              </p:nvSpPr>
              <p:spPr>
                <a:xfrm>
                  <a:off x="4410942" y="4855430"/>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C025C051-035D-3832-057E-C800DDD0BF8C}"/>
                    </a:ext>
                    <a:ext uri="{C183D7F6-B498-43B3-948B-1728B52AA6E4}">
                      <adec:decorative xmlns:adec="http://schemas.microsoft.com/office/drawing/2017/decorative" val="1"/>
                    </a:ext>
                  </a:extLst>
                </p:cNvPr>
                <p:cNvSpPr/>
                <p:nvPr/>
              </p:nvSpPr>
              <p:spPr>
                <a:xfrm>
                  <a:off x="4410942" y="5133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A873EFAB-2035-D17B-683A-B04DFF13E035}"/>
                    </a:ext>
                    <a:ext uri="{C183D7F6-B498-43B3-948B-1728B52AA6E4}">
                      <adec:decorative xmlns:adec="http://schemas.microsoft.com/office/drawing/2017/decorative" val="1"/>
                    </a:ext>
                  </a:extLst>
                </p:cNvPr>
                <p:cNvSpPr/>
                <p:nvPr/>
              </p:nvSpPr>
              <p:spPr>
                <a:xfrm>
                  <a:off x="4410942" y="54379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CCDBB7E1-1FC0-D57E-6A7C-F026A79EA1F9}"/>
                    </a:ext>
                    <a:ext uri="{C183D7F6-B498-43B3-948B-1728B52AA6E4}">
                      <adec:decorative xmlns:adec="http://schemas.microsoft.com/office/drawing/2017/decorative" val="1"/>
                    </a:ext>
                  </a:extLst>
                </p:cNvPr>
                <p:cNvSpPr/>
                <p:nvPr/>
              </p:nvSpPr>
              <p:spPr>
                <a:xfrm>
                  <a:off x="4410942" y="57427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E7A2B2E8-870B-3314-C6F1-A94508022E28}"/>
                    </a:ext>
                    <a:ext uri="{C183D7F6-B498-43B3-948B-1728B52AA6E4}">
                      <adec:decorative xmlns:adec="http://schemas.microsoft.com/office/drawing/2017/decorative" val="1"/>
                    </a:ext>
                  </a:extLst>
                </p:cNvPr>
                <p:cNvSpPr/>
                <p:nvPr/>
              </p:nvSpPr>
              <p:spPr>
                <a:xfrm>
                  <a:off x="4419600" y="606894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32" name="Straight Connector 131">
                  <a:extLst>
                    <a:ext uri="{FF2B5EF4-FFF2-40B4-BE49-F238E27FC236}">
                      <a16:creationId xmlns:a16="http://schemas.microsoft.com/office/drawing/2014/main" id="{7BD2FF29-149A-DD1B-0127-A7F4EF631C6C}"/>
                    </a:ext>
                    <a:ext uri="{C183D7F6-B498-43B3-948B-1728B52AA6E4}">
                      <adec:decorative xmlns:adec="http://schemas.microsoft.com/office/drawing/2017/decorative" val="1"/>
                    </a:ext>
                  </a:extLst>
                </p:cNvPr>
                <p:cNvCxnSpPr>
                  <a:cxnSpLocks/>
                  <a:stCxn id="126" idx="6"/>
                  <a:endCxn id="85" idx="2"/>
                </p:cNvCxnSpPr>
                <p:nvPr/>
              </p:nvCxnSpPr>
              <p:spPr>
                <a:xfrm>
                  <a:off x="4563342" y="46895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33" name="Straight Connector 132">
                  <a:extLst>
                    <a:ext uri="{FF2B5EF4-FFF2-40B4-BE49-F238E27FC236}">
                      <a16:creationId xmlns:a16="http://schemas.microsoft.com/office/drawing/2014/main" id="{98E645E6-9BEE-2462-51C4-2630423213E1}"/>
                    </a:ext>
                    <a:ext uri="{C183D7F6-B498-43B3-948B-1728B52AA6E4}">
                      <adec:decorative xmlns:adec="http://schemas.microsoft.com/office/drawing/2017/decorative" val="1"/>
                    </a:ext>
                  </a:extLst>
                </p:cNvPr>
                <p:cNvCxnSpPr>
                  <a:cxnSpLocks/>
                  <a:stCxn id="127" idx="6"/>
                  <a:endCxn id="86" idx="2"/>
                </p:cNvCxnSpPr>
                <p:nvPr/>
              </p:nvCxnSpPr>
              <p:spPr>
                <a:xfrm>
                  <a:off x="4563342" y="4945158"/>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34" name="Straight Connector 133">
                  <a:extLst>
                    <a:ext uri="{FF2B5EF4-FFF2-40B4-BE49-F238E27FC236}">
                      <a16:creationId xmlns:a16="http://schemas.microsoft.com/office/drawing/2014/main" id="{0B6A2464-55AB-3D6F-C3AA-2E3C34B39216}"/>
                    </a:ext>
                    <a:ext uri="{C183D7F6-B498-43B3-948B-1728B52AA6E4}">
                      <adec:decorative xmlns:adec="http://schemas.microsoft.com/office/drawing/2017/decorative" val="1"/>
                    </a:ext>
                  </a:extLst>
                </p:cNvPr>
                <p:cNvCxnSpPr>
                  <a:cxnSpLocks/>
                  <a:stCxn id="128" idx="6"/>
                  <a:endCxn id="87" idx="2"/>
                </p:cNvCxnSpPr>
                <p:nvPr/>
              </p:nvCxnSpPr>
              <p:spPr>
                <a:xfrm>
                  <a:off x="4563342" y="52229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35" name="Straight Connector 134">
                  <a:extLst>
                    <a:ext uri="{FF2B5EF4-FFF2-40B4-BE49-F238E27FC236}">
                      <a16:creationId xmlns:a16="http://schemas.microsoft.com/office/drawing/2014/main" id="{9A2C0D35-6B37-93BE-92B5-62B61B0E7145}"/>
                    </a:ext>
                    <a:ext uri="{C183D7F6-B498-43B3-948B-1728B52AA6E4}">
                      <adec:decorative xmlns:adec="http://schemas.microsoft.com/office/drawing/2017/decorative" val="1"/>
                    </a:ext>
                  </a:extLst>
                </p:cNvPr>
                <p:cNvCxnSpPr>
                  <a:cxnSpLocks/>
                  <a:stCxn id="129" idx="6"/>
                  <a:endCxn id="88" idx="2"/>
                </p:cNvCxnSpPr>
                <p:nvPr/>
              </p:nvCxnSpPr>
              <p:spPr>
                <a:xfrm>
                  <a:off x="4563342" y="55277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36" name="Straight Connector 135">
                  <a:extLst>
                    <a:ext uri="{FF2B5EF4-FFF2-40B4-BE49-F238E27FC236}">
                      <a16:creationId xmlns:a16="http://schemas.microsoft.com/office/drawing/2014/main" id="{D5F106E0-EF48-9BAE-4FB4-58D167C1270A}"/>
                    </a:ext>
                    <a:ext uri="{C183D7F6-B498-43B3-948B-1728B52AA6E4}">
                      <adec:decorative xmlns:adec="http://schemas.microsoft.com/office/drawing/2017/decorative" val="1"/>
                    </a:ext>
                  </a:extLst>
                </p:cNvPr>
                <p:cNvCxnSpPr>
                  <a:cxnSpLocks/>
                  <a:stCxn id="130" idx="6"/>
                  <a:endCxn id="96" idx="2"/>
                </p:cNvCxnSpPr>
                <p:nvPr/>
              </p:nvCxnSpPr>
              <p:spPr>
                <a:xfrm>
                  <a:off x="4563342" y="58325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37" name="Straight Connector 136">
                  <a:extLst>
                    <a:ext uri="{FF2B5EF4-FFF2-40B4-BE49-F238E27FC236}">
                      <a16:creationId xmlns:a16="http://schemas.microsoft.com/office/drawing/2014/main" id="{D684E00F-6433-AD04-B3A3-A767EDABCFC8}"/>
                    </a:ext>
                    <a:ext uri="{C183D7F6-B498-43B3-948B-1728B52AA6E4}">
                      <adec:decorative xmlns:adec="http://schemas.microsoft.com/office/drawing/2017/decorative" val="1"/>
                    </a:ext>
                  </a:extLst>
                </p:cNvPr>
                <p:cNvCxnSpPr>
                  <a:cxnSpLocks/>
                  <a:stCxn id="131" idx="6"/>
                  <a:endCxn id="96" idx="2"/>
                </p:cNvCxnSpPr>
                <p:nvPr/>
              </p:nvCxnSpPr>
              <p:spPr>
                <a:xfrm flipV="1">
                  <a:off x="4572000" y="5984902"/>
                  <a:ext cx="317892" cy="17377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38" name="Straight Connector 137">
                  <a:extLst>
                    <a:ext uri="{FF2B5EF4-FFF2-40B4-BE49-F238E27FC236}">
                      <a16:creationId xmlns:a16="http://schemas.microsoft.com/office/drawing/2014/main" id="{C5EFBF30-83AC-A030-533A-9E8F11B2C582}"/>
                    </a:ext>
                    <a:ext uri="{C183D7F6-B498-43B3-948B-1728B52AA6E4}">
                      <adec:decorative xmlns:adec="http://schemas.microsoft.com/office/drawing/2017/decorative" val="1"/>
                    </a:ext>
                  </a:extLst>
                </p:cNvPr>
                <p:cNvCxnSpPr>
                  <a:cxnSpLocks/>
                  <a:stCxn id="130" idx="6"/>
                  <a:endCxn id="88" idx="2"/>
                </p:cNvCxnSpPr>
                <p:nvPr/>
              </p:nvCxnSpPr>
              <p:spPr>
                <a:xfrm flipV="1">
                  <a:off x="4563342" y="56801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39" name="Straight Connector 138">
                  <a:extLst>
                    <a:ext uri="{FF2B5EF4-FFF2-40B4-BE49-F238E27FC236}">
                      <a16:creationId xmlns:a16="http://schemas.microsoft.com/office/drawing/2014/main" id="{153ABF5A-8223-601C-E619-FCD54C671F74}"/>
                    </a:ext>
                    <a:ext uri="{C183D7F6-B498-43B3-948B-1728B52AA6E4}">
                      <adec:decorative xmlns:adec="http://schemas.microsoft.com/office/drawing/2017/decorative" val="1"/>
                    </a:ext>
                  </a:extLst>
                </p:cNvPr>
                <p:cNvCxnSpPr>
                  <a:cxnSpLocks/>
                  <a:stCxn id="128" idx="6"/>
                  <a:endCxn id="86" idx="2"/>
                </p:cNvCxnSpPr>
                <p:nvPr/>
              </p:nvCxnSpPr>
              <p:spPr>
                <a:xfrm flipV="1">
                  <a:off x="4563342" y="5097558"/>
                  <a:ext cx="326550" cy="125344"/>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40" name="Straight Connector 139">
                  <a:extLst>
                    <a:ext uri="{FF2B5EF4-FFF2-40B4-BE49-F238E27FC236}">
                      <a16:creationId xmlns:a16="http://schemas.microsoft.com/office/drawing/2014/main" id="{06429D10-30F1-9F74-CE2A-2BA86F5B4137}"/>
                    </a:ext>
                    <a:ext uri="{C183D7F6-B498-43B3-948B-1728B52AA6E4}">
                      <adec:decorative xmlns:adec="http://schemas.microsoft.com/office/drawing/2017/decorative" val="1"/>
                    </a:ext>
                  </a:extLst>
                </p:cNvPr>
                <p:cNvCxnSpPr>
                  <a:cxnSpLocks/>
                  <a:stCxn id="127" idx="6"/>
                  <a:endCxn id="85" idx="2"/>
                </p:cNvCxnSpPr>
                <p:nvPr/>
              </p:nvCxnSpPr>
              <p:spPr>
                <a:xfrm flipV="1">
                  <a:off x="4563342" y="4841902"/>
                  <a:ext cx="326550" cy="103256"/>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41" name="Straight Connector 140">
                  <a:extLst>
                    <a:ext uri="{FF2B5EF4-FFF2-40B4-BE49-F238E27FC236}">
                      <a16:creationId xmlns:a16="http://schemas.microsoft.com/office/drawing/2014/main" id="{624D76A1-BB36-122F-EAFF-9A53D64FB552}"/>
                    </a:ext>
                    <a:ext uri="{C183D7F6-B498-43B3-948B-1728B52AA6E4}">
                      <adec:decorative xmlns:adec="http://schemas.microsoft.com/office/drawing/2017/decorative" val="1"/>
                    </a:ext>
                  </a:extLst>
                </p:cNvPr>
                <p:cNvCxnSpPr>
                  <a:cxnSpLocks/>
                  <a:stCxn id="129" idx="6"/>
                  <a:endCxn id="96" idx="2"/>
                </p:cNvCxnSpPr>
                <p:nvPr/>
              </p:nvCxnSpPr>
              <p:spPr>
                <a:xfrm>
                  <a:off x="4563342" y="5527702"/>
                  <a:ext cx="32655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42" name="Straight Connector 141">
                  <a:extLst>
                    <a:ext uri="{FF2B5EF4-FFF2-40B4-BE49-F238E27FC236}">
                      <a16:creationId xmlns:a16="http://schemas.microsoft.com/office/drawing/2014/main" id="{FDEB9E69-B567-CC12-72AE-BDFC312072CF}"/>
                    </a:ext>
                    <a:ext uri="{C183D7F6-B498-43B3-948B-1728B52AA6E4}">
                      <adec:decorative xmlns:adec="http://schemas.microsoft.com/office/drawing/2017/decorative" val="1"/>
                    </a:ext>
                  </a:extLst>
                </p:cNvPr>
                <p:cNvCxnSpPr>
                  <a:cxnSpLocks/>
                  <a:stCxn id="127" idx="6"/>
                  <a:endCxn id="88" idx="2"/>
                </p:cNvCxnSpPr>
                <p:nvPr/>
              </p:nvCxnSpPr>
              <p:spPr>
                <a:xfrm>
                  <a:off x="4563342" y="4945158"/>
                  <a:ext cx="326550" cy="734944"/>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43" name="Straight Connector 142">
                  <a:extLst>
                    <a:ext uri="{FF2B5EF4-FFF2-40B4-BE49-F238E27FC236}">
                      <a16:creationId xmlns:a16="http://schemas.microsoft.com/office/drawing/2014/main" id="{4C8818CD-D843-3703-41E6-2AA41A322D2F}"/>
                    </a:ext>
                    <a:ext uri="{C183D7F6-B498-43B3-948B-1728B52AA6E4}">
                      <adec:decorative xmlns:adec="http://schemas.microsoft.com/office/drawing/2017/decorative" val="1"/>
                    </a:ext>
                  </a:extLst>
                </p:cNvPr>
                <p:cNvCxnSpPr>
                  <a:cxnSpLocks/>
                </p:cNvCxnSpPr>
                <p:nvPr/>
              </p:nvCxnSpPr>
              <p:spPr>
                <a:xfrm flipV="1">
                  <a:off x="4787051" y="5181058"/>
                  <a:ext cx="326550" cy="6858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44" name="Straight Connector 143">
                  <a:extLst>
                    <a:ext uri="{FF2B5EF4-FFF2-40B4-BE49-F238E27FC236}">
                      <a16:creationId xmlns:a16="http://schemas.microsoft.com/office/drawing/2014/main" id="{0748769B-1BB4-92F0-D084-4651F4B8B704}"/>
                    </a:ext>
                    <a:ext uri="{C183D7F6-B498-43B3-948B-1728B52AA6E4}">
                      <adec:decorative xmlns:adec="http://schemas.microsoft.com/office/drawing/2017/decorative" val="1"/>
                    </a:ext>
                  </a:extLst>
                </p:cNvPr>
                <p:cNvCxnSpPr>
                  <a:cxnSpLocks/>
                  <a:stCxn id="131" idx="6"/>
                  <a:endCxn id="88" idx="2"/>
                </p:cNvCxnSpPr>
                <p:nvPr/>
              </p:nvCxnSpPr>
              <p:spPr>
                <a:xfrm flipV="1">
                  <a:off x="4572000" y="5680102"/>
                  <a:ext cx="317892" cy="47857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145" name="Straight Connector 144">
                  <a:extLst>
                    <a:ext uri="{FF2B5EF4-FFF2-40B4-BE49-F238E27FC236}">
                      <a16:creationId xmlns:a16="http://schemas.microsoft.com/office/drawing/2014/main" id="{D2179119-114B-F2AD-0405-603CA452FCA2}"/>
                    </a:ext>
                    <a:ext uri="{C183D7F6-B498-43B3-948B-1728B52AA6E4}">
                      <adec:decorative xmlns:adec="http://schemas.microsoft.com/office/drawing/2017/decorative" val="1"/>
                    </a:ext>
                  </a:extLst>
                </p:cNvPr>
                <p:cNvCxnSpPr>
                  <a:cxnSpLocks/>
                  <a:stCxn id="130" idx="6"/>
                  <a:endCxn id="87" idx="2"/>
                </p:cNvCxnSpPr>
                <p:nvPr/>
              </p:nvCxnSpPr>
              <p:spPr>
                <a:xfrm flipV="1">
                  <a:off x="4563342" y="5375302"/>
                  <a:ext cx="32655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grpSp>
          <p:sp>
            <p:nvSpPr>
              <p:cNvPr id="78" name="Arrow: Right 77">
                <a:extLst>
                  <a:ext uri="{FF2B5EF4-FFF2-40B4-BE49-F238E27FC236}">
                    <a16:creationId xmlns:a16="http://schemas.microsoft.com/office/drawing/2014/main" id="{4C13843C-57A2-1F6A-7902-111CCFD124F9}"/>
                  </a:ext>
                  <a:ext uri="{C183D7F6-B498-43B3-948B-1728B52AA6E4}">
                    <adec:decorative xmlns:adec="http://schemas.microsoft.com/office/drawing/2017/decorative" val="1"/>
                  </a:ext>
                </a:extLst>
              </p:cNvPr>
              <p:cNvSpPr/>
              <p:nvPr/>
            </p:nvSpPr>
            <p:spPr>
              <a:xfrm>
                <a:off x="1442560" y="4430327"/>
                <a:ext cx="425911" cy="533400"/>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9" name="TextBox 78" descr="Equation: s">
                    <a:extLst>
                      <a:ext uri="{FF2B5EF4-FFF2-40B4-BE49-F238E27FC236}">
                        <a16:creationId xmlns:a16="http://schemas.microsoft.com/office/drawing/2014/main" id="{15F74D2E-6858-EB2F-F12B-B1B771911CD6}"/>
                      </a:ext>
                    </a:extLst>
                  </p:cNvPr>
                  <p:cNvSpPr txBox="1"/>
                  <p:nvPr/>
                </p:nvSpPr>
                <p:spPr>
                  <a:xfrm>
                    <a:off x="1129787" y="4514865"/>
                    <a:ext cx="349711" cy="369332"/>
                  </a:xfrm>
                  <a:prstGeom prst="rect">
                    <a:avLst/>
                  </a:prstGeom>
                  <a:noFill/>
                </p:spPr>
                <p:txBody>
                  <a:bodyPr wrap="none" rtlCol="0">
                    <a:spAutoFit/>
                  </a:bodyPr>
                  <a:lstStyle/>
                  <a:p>
                    <a:pPr/>
                    <a14:m>
                      <m:oMathPara xmlns:m="http://schemas.openxmlformats.org/officeDocument/2006/math">
                        <m:oMath>
                          <m:r>
                            <a:rPr lang="en-US" i="1" dirty="0" smtClean="0">
                              <a:latin typeface="Cambria Math" panose="02040503050406030204" pitchFamily="18" charset="0"/>
                            </a:rPr>
                            <m:t>𝑠</m:t>
                          </m:r>
                        </m:oMath>
                      </m:oMathPara>
                    </a14:m>
                    <a:endParaRPr lang="en-US" dirty="0"/>
                  </a:p>
                </p:txBody>
              </p:sp>
            </mc:Choice>
            <mc:Fallback xmlns="">
              <p:sp>
                <p:nvSpPr>
                  <p:cNvPr id="194" name="TextBox 193">
                    <a:extLst>
                      <a:ext uri="{FF2B5EF4-FFF2-40B4-BE49-F238E27FC236}">
                        <a16:creationId xmlns:a16="http://schemas.microsoft.com/office/drawing/2014/main" id="{5FAAFD66-2140-E45A-471D-39F874312E32}"/>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129787" y="4514865"/>
                    <a:ext cx="349711" cy="369332"/>
                  </a:xfrm>
                  <a:prstGeom prst="rect">
                    <a:avLst/>
                  </a:prstGeom>
                  <a:blipFill>
                    <a:blip r:embed="rId6"/>
                    <a:stretch>
                      <a:fillRect/>
                    </a:stretch>
                  </a:blipFill>
                </p:spPr>
                <p:txBody>
                  <a:bodyPr/>
                  <a:lstStyle/>
                  <a:p>
                    <a:r>
                      <a:rPr lang="en-US">
                        <a:noFill/>
                      </a:rPr>
                      <a:t> </a:t>
                    </a:r>
                  </a:p>
                </p:txBody>
              </p:sp>
            </mc:Fallback>
          </mc:AlternateContent>
          <p:sp>
            <p:nvSpPr>
              <p:cNvPr id="80" name="Arrow: Right 79">
                <a:extLst>
                  <a:ext uri="{FF2B5EF4-FFF2-40B4-BE49-F238E27FC236}">
                    <a16:creationId xmlns:a16="http://schemas.microsoft.com/office/drawing/2014/main" id="{D06714FA-AD58-50CF-4B8A-F6966B2E784E}"/>
                  </a:ext>
                  <a:ext uri="{C183D7F6-B498-43B3-948B-1728B52AA6E4}">
                    <adec:decorative xmlns:adec="http://schemas.microsoft.com/office/drawing/2017/decorative" val="1"/>
                  </a:ext>
                </a:extLst>
              </p:cNvPr>
              <p:cNvSpPr/>
              <p:nvPr/>
            </p:nvSpPr>
            <p:spPr>
              <a:xfrm>
                <a:off x="3810000" y="4491358"/>
                <a:ext cx="384215" cy="503703"/>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1" name="TextBox 80" descr="Equation: Q(s prime, a prime; theta sub k, to the power minus)">
                    <a:extLst>
                      <a:ext uri="{FF2B5EF4-FFF2-40B4-BE49-F238E27FC236}">
                        <a16:creationId xmlns:a16="http://schemas.microsoft.com/office/drawing/2014/main" id="{BC8D477E-6F57-237D-2B37-A109E7CC4AE3}"/>
                      </a:ext>
                    </a:extLst>
                  </p:cNvPr>
                  <p:cNvSpPr txBox="1"/>
                  <p:nvPr/>
                </p:nvSpPr>
                <p:spPr>
                  <a:xfrm>
                    <a:off x="4125676" y="4556563"/>
                    <a:ext cx="1437317" cy="369332"/>
                  </a:xfrm>
                  <a:prstGeom prst="rect">
                    <a:avLst/>
                  </a:prstGeom>
                  <a:noFill/>
                </p:spPr>
                <p:txBody>
                  <a:bodyPr wrap="none" rtlCol="0">
                    <a:spAutoFit/>
                  </a:bodyPr>
                  <a:lstStyle/>
                  <a:p>
                    <a:pPr/>
                    <a14:m>
                      <m:oMathPara xmlns:m="http://schemas.openxmlformats.org/officeDocument/2006/math">
                        <m:oMath>
                          <m:r>
                            <a:rPr lang="en-US" b="0" i="1" dirty="0" smtClean="0">
                              <a:latin typeface="Cambria Math" panose="02040503050406030204" pitchFamily="18" charset="0"/>
                            </a:rPr>
                            <m:t>𝑄</m:t>
                          </m:r>
                          <m:r>
                            <a:rPr lang="en-US" b="0" i="1" dirty="0" smtClean="0">
                              <a:latin typeface="Cambria Math" panose="02040503050406030204" pitchFamily="18" charset="0"/>
                            </a:rPr>
                            <m:t>(</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𝑠</m:t>
                              </m:r>
                            </m:e>
                            <m:sup>
                              <m:r>
                                <a:rPr lang="en-US" b="0" i="1" dirty="0" smtClean="0">
                                  <a:latin typeface="Cambria Math" panose="02040503050406030204" pitchFamily="18" charset="0"/>
                                </a:rPr>
                                <m:t>′</m:t>
                              </m:r>
                            </m:sup>
                          </m:sSup>
                          <m:r>
                            <a:rPr lang="en-US" i="1" dirty="0" smtClean="0">
                              <a:latin typeface="Cambria Math" panose="02040503050406030204" pitchFamily="18" charset="0"/>
                            </a:rPr>
                            <m:t>, </m:t>
                          </m:r>
                          <m:sSup>
                            <m:sSupPr>
                              <m:ctrlPr>
                                <a:rPr lang="en-US" i="1" dirty="0">
                                  <a:latin typeface="Cambria Math" panose="02040503050406030204" pitchFamily="18" charset="0"/>
                                </a:rPr>
                              </m:ctrlPr>
                            </m:sSupPr>
                            <m:e>
                              <m:r>
                                <a:rPr lang="en-US" i="1" dirty="0">
                                  <a:latin typeface="Cambria Math" panose="02040503050406030204" pitchFamily="18" charset="0"/>
                                </a:rPr>
                                <m:t>𝑎</m:t>
                              </m:r>
                            </m:e>
                            <m:sup>
                              <m:r>
                                <a:rPr lang="en-US" b="0" i="1" dirty="0" smtClean="0">
                                  <a:latin typeface="Cambria Math" panose="02040503050406030204" pitchFamily="18" charset="0"/>
                                </a:rPr>
                                <m:t>′</m:t>
                              </m:r>
                            </m:sup>
                          </m:sSup>
                          <m:r>
                            <a:rPr lang="en-US" b="0" i="1" dirty="0" smtClean="0">
                              <a:latin typeface="Cambria Math" panose="02040503050406030204" pitchFamily="18" charset="0"/>
                            </a:rPr>
                            <m:t>;</m:t>
                          </m:r>
                          <m:sSubSup>
                            <m:sSubSupPr>
                              <m:ctrlPr>
                                <a:rPr lang="en-US" b="1" i="1">
                                  <a:latin typeface="Cambria Math" panose="02040503050406030204" pitchFamily="18" charset="0"/>
                                </a:rPr>
                              </m:ctrlPr>
                            </m:sSubSupPr>
                            <m:e>
                              <m:r>
                                <a:rPr lang="en-US" b="1" i="1">
                                  <a:latin typeface="Cambria Math" panose="02040503050406030204" pitchFamily="18" charset="0"/>
                                </a:rPr>
                                <m:t>𝜽</m:t>
                              </m:r>
                            </m:e>
                            <m:sub>
                              <m:r>
                                <a:rPr lang="en-US" i="1">
                                  <a:latin typeface="Cambria Math" panose="02040503050406030204" pitchFamily="18" charset="0"/>
                                </a:rPr>
                                <m:t>𝑘</m:t>
                              </m:r>
                            </m:sub>
                            <m:sup>
                              <m:r>
                                <a:rPr lang="en-US" i="1">
                                  <a:latin typeface="Cambria Math" panose="02040503050406030204" pitchFamily="18" charset="0"/>
                                </a:rPr>
                                <m:t>−</m:t>
                              </m:r>
                            </m:sup>
                          </m:sSubSup>
                          <m:r>
                            <a:rPr lang="en-US" b="0" i="1" dirty="0" smtClean="0">
                              <a:latin typeface="Cambria Math" panose="02040503050406030204" pitchFamily="18" charset="0"/>
                            </a:rPr>
                            <m:t>)</m:t>
                          </m:r>
                        </m:oMath>
                      </m:oMathPara>
                    </a14:m>
                    <a:endParaRPr lang="en-US" dirty="0"/>
                  </a:p>
                </p:txBody>
              </p:sp>
            </mc:Choice>
            <mc:Fallback xmlns="">
              <p:sp>
                <p:nvSpPr>
                  <p:cNvPr id="81" name="TextBox 80" descr="Equation: Q(s prime, a prime; theta sub k, to the power minus)">
                    <a:extLst>
                      <a:ext uri="{FF2B5EF4-FFF2-40B4-BE49-F238E27FC236}">
                        <a16:creationId xmlns:a16="http://schemas.microsoft.com/office/drawing/2014/main" id="{BC8D477E-6F57-237D-2B37-A109E7CC4AE3}"/>
                      </a:ext>
                    </a:extLst>
                  </p:cNvPr>
                  <p:cNvSpPr txBox="1">
                    <a:spLocks noRot="1" noChangeAspect="1" noMove="1" noResize="1" noEditPoints="1" noAdjustHandles="1" noChangeArrowheads="1" noChangeShapeType="1" noTextEdit="1"/>
                  </p:cNvSpPr>
                  <p:nvPr/>
                </p:nvSpPr>
                <p:spPr>
                  <a:xfrm>
                    <a:off x="4125676" y="4556563"/>
                    <a:ext cx="1437317" cy="369332"/>
                  </a:xfrm>
                  <a:prstGeom prst="rect">
                    <a:avLst/>
                  </a:prstGeom>
                  <a:blipFill>
                    <a:blip r:embed="rId7"/>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descr="Equation: S">
                    <a:extLst>
                      <a:ext uri="{FF2B5EF4-FFF2-40B4-BE49-F238E27FC236}">
                        <a16:creationId xmlns:a16="http://schemas.microsoft.com/office/drawing/2014/main" id="{7E3F3479-6484-8A71-9DEC-CDD5474DC1A4}"/>
                      </a:ext>
                    </a:extLst>
                  </p:cNvPr>
                  <p:cNvSpPr txBox="1"/>
                  <p:nvPr/>
                </p:nvSpPr>
                <p:spPr>
                  <a:xfrm>
                    <a:off x="1994915" y="3714030"/>
                    <a:ext cx="363881" cy="369332"/>
                  </a:xfrm>
                  <a:prstGeom prst="rect">
                    <a:avLst/>
                  </a:prstGeom>
                  <a:noFill/>
                </p:spPr>
                <p:txBody>
                  <a:bodyPr wrap="none" rtlCol="0">
                    <a:spAutoFit/>
                  </a:bodyPr>
                  <a:lstStyle/>
                  <a:p>
                    <a:pPr/>
                    <a14:m>
                      <m:oMathPara xmlns:m="http://schemas.openxmlformats.org/officeDocument/2006/math">
                        <m:oMath>
                          <m:r>
                            <a:rPr lang="en-US" b="0" i="1" dirty="0" smtClean="0">
                              <a:latin typeface="Cambria Math" panose="02040503050406030204" pitchFamily="18" charset="0"/>
                            </a:rPr>
                            <m:t>𝑆</m:t>
                          </m:r>
                        </m:oMath>
                      </m:oMathPara>
                    </a14:m>
                    <a:endParaRPr lang="en-US" dirty="0"/>
                  </a:p>
                </p:txBody>
              </p:sp>
            </mc:Choice>
            <mc:Fallback xmlns="">
              <p:sp>
                <p:nvSpPr>
                  <p:cNvPr id="197" name="TextBox 196">
                    <a:extLst>
                      <a:ext uri="{FF2B5EF4-FFF2-40B4-BE49-F238E27FC236}">
                        <a16:creationId xmlns:a16="http://schemas.microsoft.com/office/drawing/2014/main" id="{25BA0203-B417-18D9-5155-AC948C3DB147}"/>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994915" y="3714030"/>
                    <a:ext cx="36388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descr="Equation: A">
                    <a:extLst>
                      <a:ext uri="{FF2B5EF4-FFF2-40B4-BE49-F238E27FC236}">
                        <a16:creationId xmlns:a16="http://schemas.microsoft.com/office/drawing/2014/main" id="{7C5F5CFF-2096-0224-3ACE-B83048721FEE}"/>
                      </a:ext>
                    </a:extLst>
                  </p:cNvPr>
                  <p:cNvSpPr txBox="1"/>
                  <p:nvPr/>
                </p:nvSpPr>
                <p:spPr>
                  <a:xfrm>
                    <a:off x="3182394" y="3851318"/>
                    <a:ext cx="385683" cy="369332"/>
                  </a:xfrm>
                  <a:prstGeom prst="rect">
                    <a:avLst/>
                  </a:prstGeom>
                  <a:noFill/>
                </p:spPr>
                <p:txBody>
                  <a:bodyPr wrap="none" rtlCol="0">
                    <a:spAutoFit/>
                  </a:bodyPr>
                  <a:lstStyle/>
                  <a:p>
                    <a:pPr/>
                    <a14:m>
                      <m:oMathPara xmlns:m="http://schemas.openxmlformats.org/officeDocument/2006/math">
                        <m:oMath>
                          <m:r>
                            <a:rPr lang="en-US" b="0" i="1" dirty="0" smtClean="0">
                              <a:latin typeface="Cambria Math" panose="02040503050406030204" pitchFamily="18" charset="0"/>
                            </a:rPr>
                            <m:t>𝐴</m:t>
                          </m:r>
                        </m:oMath>
                      </m:oMathPara>
                    </a14:m>
                    <a:endParaRPr lang="en-US" dirty="0"/>
                  </a:p>
                </p:txBody>
              </p:sp>
            </mc:Choice>
            <mc:Fallback xmlns="">
              <p:sp>
                <p:nvSpPr>
                  <p:cNvPr id="198" name="TextBox 197">
                    <a:extLst>
                      <a:ext uri="{FF2B5EF4-FFF2-40B4-BE49-F238E27FC236}">
                        <a16:creationId xmlns:a16="http://schemas.microsoft.com/office/drawing/2014/main" id="{5F8BBD95-CC36-0F7B-4420-D48D811414FE}"/>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182394" y="3851318"/>
                    <a:ext cx="385683" cy="369332"/>
                  </a:xfrm>
                  <a:prstGeom prst="rect">
                    <a:avLst/>
                  </a:prstGeom>
                  <a:blipFill>
                    <a:blip r:embed="rId9"/>
                    <a:stretch>
                      <a:fillRect/>
                    </a:stretch>
                  </a:blipFill>
                </p:spPr>
                <p:txBody>
                  <a:bodyPr/>
                  <a:lstStyle/>
                  <a:p>
                    <a:r>
                      <a:rPr lang="en-US">
                        <a:noFill/>
                      </a:rPr>
                      <a:t> </a:t>
                    </a:r>
                  </a:p>
                </p:txBody>
              </p:sp>
            </mc:Fallback>
          </mc:AlternateContent>
          <p:sp>
            <p:nvSpPr>
              <p:cNvPr id="84" name="Right Brace 83">
                <a:extLst>
                  <a:ext uri="{FF2B5EF4-FFF2-40B4-BE49-F238E27FC236}">
                    <a16:creationId xmlns:a16="http://schemas.microsoft.com/office/drawing/2014/main" id="{9EE6A799-DA3B-0FD1-0208-54C74C128968}"/>
                  </a:ext>
                  <a:ext uri="{C183D7F6-B498-43B3-948B-1728B52AA6E4}">
                    <adec:decorative xmlns:adec="http://schemas.microsoft.com/office/drawing/2017/decorative" val="1"/>
                  </a:ext>
                </a:extLst>
              </p:cNvPr>
              <p:cNvSpPr/>
              <p:nvPr/>
            </p:nvSpPr>
            <p:spPr>
              <a:xfrm>
                <a:off x="3515217" y="4209556"/>
                <a:ext cx="113460" cy="1038077"/>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47" name="TextBox 146" descr="Equation: theta sub k, to the power minus">
                  <a:extLst>
                    <a:ext uri="{FF2B5EF4-FFF2-40B4-BE49-F238E27FC236}">
                      <a16:creationId xmlns:a16="http://schemas.microsoft.com/office/drawing/2014/main" id="{7373CFF3-70E1-2A4C-0371-7B953A8185A0}"/>
                    </a:ext>
                  </a:extLst>
                </p:cNvPr>
                <p:cNvSpPr txBox="1"/>
                <p:nvPr/>
              </p:nvSpPr>
              <p:spPr>
                <a:xfrm>
                  <a:off x="9038922" y="4476805"/>
                  <a:ext cx="629958" cy="369332"/>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14:m>
                    <m:oMathPara xmlns:m="http://schemas.openxmlformats.org/officeDocument/2006/math">
                      <m:oMath>
                        <m:sSubSup>
                          <m:sSubSupPr>
                            <m:ctrlPr>
                              <a:rPr lang="en-US" b="1" i="1">
                                <a:latin typeface="Cambria Math" panose="02040503050406030204" pitchFamily="18" charset="0"/>
                              </a:rPr>
                            </m:ctrlPr>
                          </m:sSubSupPr>
                          <m:e>
                            <m:r>
                              <a:rPr lang="en-US" b="1" i="1">
                                <a:latin typeface="Cambria Math" panose="02040503050406030204" pitchFamily="18" charset="0"/>
                              </a:rPr>
                              <m:t>𝜽</m:t>
                            </m:r>
                          </m:e>
                          <m:sub>
                            <m:r>
                              <a:rPr lang="en-US" i="1">
                                <a:latin typeface="Cambria Math" panose="02040503050406030204" pitchFamily="18" charset="0"/>
                              </a:rPr>
                              <m:t>𝑘</m:t>
                            </m:r>
                          </m:sub>
                          <m:sup>
                            <m:r>
                              <a:rPr lang="en-US" i="1">
                                <a:latin typeface="Cambria Math" panose="02040503050406030204" pitchFamily="18" charset="0"/>
                              </a:rPr>
                              <m:t>−</m:t>
                            </m:r>
                          </m:sup>
                        </m:sSubSup>
                      </m:oMath>
                    </m:oMathPara>
                  </a14:m>
                  <a:endParaRPr lang="en-US" dirty="0"/>
                </a:p>
              </p:txBody>
            </p:sp>
          </mc:Choice>
          <mc:Fallback xmlns="">
            <p:sp>
              <p:nvSpPr>
                <p:cNvPr id="147" name="TextBox 146" descr="Equation: theta sub k, to the power minus">
                  <a:extLst>
                    <a:ext uri="{FF2B5EF4-FFF2-40B4-BE49-F238E27FC236}">
                      <a16:creationId xmlns:a16="http://schemas.microsoft.com/office/drawing/2014/main" id="{7373CFF3-70E1-2A4C-0371-7B953A8185A0}"/>
                    </a:ext>
                  </a:extLst>
                </p:cNvPr>
                <p:cNvSpPr txBox="1">
                  <a:spLocks noRot="1" noChangeAspect="1" noMove="1" noResize="1" noEditPoints="1" noAdjustHandles="1" noChangeArrowheads="1" noChangeShapeType="1" noTextEdit="1"/>
                </p:cNvSpPr>
                <p:nvPr/>
              </p:nvSpPr>
              <p:spPr>
                <a:xfrm>
                  <a:off x="9038922" y="4476805"/>
                  <a:ext cx="629958" cy="369332"/>
                </a:xfrm>
                <a:prstGeom prst="rect">
                  <a:avLst/>
                </a:prstGeom>
                <a:blipFill>
                  <a:blip r:embed="rId10"/>
                  <a:stretch>
                    <a:fillRect/>
                  </a:stretch>
                </a:blipFill>
              </p:spPr>
              <p:txBody>
                <a:bodyPr/>
                <a:lstStyle/>
                <a:p>
                  <a:r>
                    <a:rPr lang="en-US">
                      <a:noFill/>
                    </a:rPr>
                    <a:t> </a:t>
                  </a:r>
                </a:p>
              </p:txBody>
            </p:sp>
          </mc:Fallback>
        </mc:AlternateContent>
      </p:grpSp>
      <p:cxnSp>
        <p:nvCxnSpPr>
          <p:cNvPr id="161" name="Straight Arrow Connector 160">
            <a:extLst>
              <a:ext uri="{FF2B5EF4-FFF2-40B4-BE49-F238E27FC236}">
                <a16:creationId xmlns:a16="http://schemas.microsoft.com/office/drawing/2014/main" id="{9A8053FA-5BB8-0F1E-F093-4E17C9234D64}"/>
              </a:ext>
              <a:ext uri="{C183D7F6-B498-43B3-948B-1728B52AA6E4}">
                <adec:decorative xmlns:adec="http://schemas.microsoft.com/office/drawing/2017/decorative" val="1"/>
              </a:ext>
            </a:extLst>
          </p:cNvPr>
          <p:cNvCxnSpPr>
            <a:endCxn id="86" idx="7"/>
          </p:cNvCxnSpPr>
          <p:nvPr/>
        </p:nvCxnSpPr>
        <p:spPr>
          <a:xfrm>
            <a:off x="9104452" y="2998280"/>
            <a:ext cx="44016" cy="1682531"/>
          </a:xfrm>
          <a:prstGeom prst="straightConnector1">
            <a:avLst/>
          </a:prstGeom>
          <a:noFill/>
          <a:ln w="57150">
            <a:solidFill>
              <a:schemeClr val="accent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grpSp>
        <p:nvGrpSpPr>
          <p:cNvPr id="162" name="Group 161">
            <a:extLst>
              <a:ext uri="{FF2B5EF4-FFF2-40B4-BE49-F238E27FC236}">
                <a16:creationId xmlns:a16="http://schemas.microsoft.com/office/drawing/2014/main" id="{44215EF4-AB94-4544-8517-9B99EE4DC971}"/>
              </a:ext>
              <a:ext uri="{C183D7F6-B498-43B3-948B-1728B52AA6E4}">
                <adec:decorative xmlns:adec="http://schemas.microsoft.com/office/drawing/2017/decorative" val="1"/>
              </a:ext>
            </a:extLst>
          </p:cNvPr>
          <p:cNvGrpSpPr/>
          <p:nvPr/>
        </p:nvGrpSpPr>
        <p:grpSpPr>
          <a:xfrm>
            <a:off x="9374345" y="2959585"/>
            <a:ext cx="1800822" cy="1873068"/>
            <a:chOff x="9374345" y="2959585"/>
            <a:chExt cx="1703157" cy="1765978"/>
          </a:xfrm>
        </p:grpSpPr>
        <p:sp>
          <p:nvSpPr>
            <p:cNvPr id="151" name="Freeform: Shape 150">
              <a:extLst>
                <a:ext uri="{FF2B5EF4-FFF2-40B4-BE49-F238E27FC236}">
                  <a16:creationId xmlns:a16="http://schemas.microsoft.com/office/drawing/2014/main" id="{639805B6-EEA9-43C4-BB54-D4112D7B2D22}"/>
                </a:ext>
                <a:ext uri="{C183D7F6-B498-43B3-948B-1728B52AA6E4}">
                  <adec:decorative xmlns:adec="http://schemas.microsoft.com/office/drawing/2017/decorative" val="1"/>
                </a:ext>
              </a:extLst>
            </p:cNvPr>
            <p:cNvSpPr/>
            <p:nvPr/>
          </p:nvSpPr>
          <p:spPr>
            <a:xfrm>
              <a:off x="9499988" y="2959585"/>
              <a:ext cx="1451872" cy="677462"/>
            </a:xfrm>
            <a:custGeom>
              <a:avLst/>
              <a:gdLst>
                <a:gd name="connsiteX0" fmla="*/ 1451872 w 1451872"/>
                <a:gd name="connsiteY0" fmla="*/ 76781 h 677462"/>
                <a:gd name="connsiteX1" fmla="*/ 621233 w 1451872"/>
                <a:gd name="connsiteY1" fmla="*/ 677075 h 677462"/>
                <a:gd name="connsiteX2" fmla="*/ 0 w 1451872"/>
                <a:gd name="connsiteY2" fmla="*/ 0 h 677462"/>
              </a:gdLst>
              <a:ahLst/>
              <a:cxnLst>
                <a:cxn ang="0">
                  <a:pos x="connsiteX0" y="connsiteY0"/>
                </a:cxn>
                <a:cxn ang="0">
                  <a:pos x="connsiteX1" y="connsiteY1"/>
                </a:cxn>
                <a:cxn ang="0">
                  <a:pos x="connsiteX2" y="connsiteY2"/>
                </a:cxn>
              </a:cxnLst>
              <a:rect l="l" t="t" r="r" b="b"/>
              <a:pathLst>
                <a:path w="1451872" h="677462">
                  <a:moveTo>
                    <a:pt x="1451872" y="76781"/>
                  </a:moveTo>
                  <a:cubicBezTo>
                    <a:pt x="1157542" y="383326"/>
                    <a:pt x="863212" y="689872"/>
                    <a:pt x="621233" y="677075"/>
                  </a:cubicBezTo>
                  <a:cubicBezTo>
                    <a:pt x="379254" y="664278"/>
                    <a:pt x="189627" y="332139"/>
                    <a:pt x="0" y="0"/>
                  </a:cubicBezTo>
                </a:path>
              </a:pathLst>
            </a:custGeom>
            <a:noFill/>
            <a:ln w="57150">
              <a:solidFill>
                <a:schemeClr val="accent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Freeform: Shape 158">
              <a:extLst>
                <a:ext uri="{FF2B5EF4-FFF2-40B4-BE49-F238E27FC236}">
                  <a16:creationId xmlns:a16="http://schemas.microsoft.com/office/drawing/2014/main" id="{97BFB5F1-F07E-64E7-1A6D-15F6253D3783}"/>
                </a:ext>
                <a:ext uri="{C183D7F6-B498-43B3-948B-1728B52AA6E4}">
                  <adec:decorative xmlns:adec="http://schemas.microsoft.com/office/drawing/2017/decorative" val="1"/>
                </a:ext>
              </a:extLst>
            </p:cNvPr>
            <p:cNvSpPr/>
            <p:nvPr/>
          </p:nvSpPr>
          <p:spPr>
            <a:xfrm>
              <a:off x="9374345" y="3043347"/>
              <a:ext cx="1703157" cy="1682216"/>
            </a:xfrm>
            <a:custGeom>
              <a:avLst/>
              <a:gdLst>
                <a:gd name="connsiteX0" fmla="*/ 1703157 w 1703157"/>
                <a:gd name="connsiteY0" fmla="*/ 1682216 h 1682216"/>
                <a:gd name="connsiteX1" fmla="*/ 328067 w 1703157"/>
                <a:gd name="connsiteY1" fmla="*/ 1088903 h 1682216"/>
                <a:gd name="connsiteX2" fmla="*/ 0 w 1703157"/>
                <a:gd name="connsiteY2" fmla="*/ 0 h 1682216"/>
                <a:gd name="connsiteX3" fmla="*/ 0 w 1703157"/>
                <a:gd name="connsiteY3" fmla="*/ 0 h 1682216"/>
              </a:gdLst>
              <a:ahLst/>
              <a:cxnLst>
                <a:cxn ang="0">
                  <a:pos x="connsiteX0" y="connsiteY0"/>
                </a:cxn>
                <a:cxn ang="0">
                  <a:pos x="connsiteX1" y="connsiteY1"/>
                </a:cxn>
                <a:cxn ang="0">
                  <a:pos x="connsiteX2" y="connsiteY2"/>
                </a:cxn>
                <a:cxn ang="0">
                  <a:pos x="connsiteX3" y="connsiteY3"/>
                </a:cxn>
              </a:cxnLst>
              <a:rect l="l" t="t" r="r" b="b"/>
              <a:pathLst>
                <a:path w="1703157" h="1682216">
                  <a:moveTo>
                    <a:pt x="1703157" y="1682216"/>
                  </a:moveTo>
                  <a:cubicBezTo>
                    <a:pt x="1157541" y="1525744"/>
                    <a:pt x="611926" y="1369272"/>
                    <a:pt x="328067" y="1088903"/>
                  </a:cubicBezTo>
                  <a:cubicBezTo>
                    <a:pt x="44208" y="808534"/>
                    <a:pt x="0" y="0"/>
                    <a:pt x="0" y="0"/>
                  </a:cubicBezTo>
                  <a:lnTo>
                    <a:pt x="0" y="0"/>
                  </a:lnTo>
                </a:path>
              </a:pathLst>
            </a:custGeom>
            <a:noFill/>
            <a:ln w="57150">
              <a:solidFill>
                <a:schemeClr val="accent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11547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DD004-9735-AB0A-131E-22E68B791D50}"/>
              </a:ext>
            </a:extLst>
          </p:cNvPr>
          <p:cNvSpPr>
            <a:spLocks noGrp="1"/>
          </p:cNvSpPr>
          <p:nvPr>
            <p:ph type="title"/>
          </p:nvPr>
        </p:nvSpPr>
        <p:spPr>
          <a:xfrm>
            <a:off x="838200" y="365126"/>
            <a:ext cx="5037006" cy="1484614"/>
          </a:xfrm>
        </p:spPr>
        <p:txBody>
          <a:bodyPr>
            <a:normAutofit/>
          </a:bodyPr>
          <a:lstStyle/>
          <a:p>
            <a:r>
              <a:rPr lang="en-US" dirty="0"/>
              <a:t>DQN is Not a Truly  </a:t>
            </a:r>
            <a:br>
              <a:rPr lang="en-US" dirty="0"/>
            </a:br>
            <a:r>
              <a:rPr lang="en-US" dirty="0"/>
              <a:t>Online Algorithm</a:t>
            </a:r>
          </a:p>
        </p:txBody>
      </p:sp>
      <p:grpSp>
        <p:nvGrpSpPr>
          <p:cNvPr id="10" name="Group 9" descr="Deep Q-network training loop: the policy interacts with the environment and stores transitions in a replay buffer, drawn as three gray boxes of sampled states and actions s_1 … s_N replay, a_1 … a_N replay, rewards r_1 … r_N replay, and next states. A green box computes the target r_t + gamma times the max over a′ in A of Q(s_t+1, a′; theta_k minus), using the target network. A blue circle &quot;Update Q(s, a; theta_k)&quot; trains the network on these targets and feeds back into the policy, and a second blue circle &quot;Every C: theta_k minus := theta_k&quot; copies the weights into the target network every C steps. Labels: Target; Replay memory; Prediction.">
            <a:extLst>
              <a:ext uri="{FF2B5EF4-FFF2-40B4-BE49-F238E27FC236}">
                <a16:creationId xmlns:a16="http://schemas.microsoft.com/office/drawing/2014/main" id="{242D2E24-5C82-BA01-086B-446BBBD9CD5E}"/>
              </a:ext>
            </a:extLst>
          </p:cNvPr>
          <p:cNvGrpSpPr/>
          <p:nvPr/>
        </p:nvGrpSpPr>
        <p:grpSpPr>
          <a:xfrm>
            <a:off x="5901695" y="521020"/>
            <a:ext cx="6069029" cy="2468491"/>
            <a:chOff x="5901695" y="521020"/>
            <a:chExt cx="6069029" cy="2468491"/>
          </a:xfrm>
        </p:grpSpPr>
        <p:pic>
          <p:nvPicPr>
            <p:cNvPr id="5" name="Picture 4" descr="Deep Q-network training loop: the policy interacts with the environment and stores transitions in a replay buffer, drawn as three gray boxes of sampled states and actions s_1 … s_N replay, a_1 … a_N replay, rewards r_1 … r_N replay, and next states. A green box computes the target r_t + gamma times the max over a′ in A of Q(s_t+1, a′; theta_k minus), using the target network. A blue circle &quot;Update Q(s, a; theta_k)&quot; trains the network on these targets and feeds back into the policy, and a second blue circle &quot;Every C: theta_k minus := theta_k&quot; copies the weights into the target network every C steps.">
              <a:extLst>
                <a:ext uri="{FF2B5EF4-FFF2-40B4-BE49-F238E27FC236}">
                  <a16:creationId xmlns:a16="http://schemas.microsoft.com/office/drawing/2014/main" id="{BA20CA2E-FC5C-5EB6-DD2C-F9DFA076A739}"/>
                </a:ext>
              </a:extLst>
            </p:cNvPr>
            <p:cNvPicPr>
              <a:picLocks noChangeAspect="1"/>
            </p:cNvPicPr>
            <p:nvPr/>
          </p:nvPicPr>
          <p:blipFill>
            <a:blip r:embed="rId2"/>
            <a:stretch>
              <a:fillRect/>
            </a:stretch>
          </p:blipFill>
          <p:spPr>
            <a:xfrm>
              <a:off x="5901695" y="521020"/>
              <a:ext cx="6069029" cy="2468491"/>
            </a:xfrm>
            <a:prstGeom prst="rect">
              <a:avLst/>
            </a:prstGeom>
          </p:spPr>
        </p:pic>
        <p:sp>
          <p:nvSpPr>
            <p:cNvPr id="6" name="TextBox 5">
              <a:extLst>
                <a:ext uri="{FF2B5EF4-FFF2-40B4-BE49-F238E27FC236}">
                  <a16:creationId xmlns:a16="http://schemas.microsoft.com/office/drawing/2014/main" id="{8BB5DC80-D0CF-2E8A-5694-A4E4F6D57B4F}"/>
                </a:ext>
              </a:extLst>
            </p:cNvPr>
            <p:cNvSpPr txBox="1"/>
            <p:nvPr/>
          </p:nvSpPr>
          <p:spPr>
            <a:xfrm>
              <a:off x="10923940" y="2463994"/>
              <a:ext cx="732916" cy="307777"/>
            </a:xfrm>
            <a:prstGeom prst="rect">
              <a:avLst/>
            </a:prstGeom>
            <a:noFill/>
          </p:spPr>
          <p:txBody>
            <a:bodyPr wrap="square" rtlCol="0">
              <a:spAutoFit/>
            </a:bodyPr>
            <a:lstStyle/>
            <a:p>
              <a:r>
                <a:rPr lang="en-US" sz="1400" dirty="0"/>
                <a:t>Target</a:t>
              </a:r>
            </a:p>
          </p:txBody>
        </p:sp>
        <p:sp>
          <p:nvSpPr>
            <p:cNvPr id="7" name="TextBox 6">
              <a:extLst>
                <a:ext uri="{FF2B5EF4-FFF2-40B4-BE49-F238E27FC236}">
                  <a16:creationId xmlns:a16="http://schemas.microsoft.com/office/drawing/2014/main" id="{D19F3AA1-E6A1-3E05-E750-26656A461929}"/>
                </a:ext>
              </a:extLst>
            </p:cNvPr>
            <p:cNvSpPr txBox="1"/>
            <p:nvPr/>
          </p:nvSpPr>
          <p:spPr>
            <a:xfrm>
              <a:off x="7385453" y="898550"/>
              <a:ext cx="1550756" cy="307777"/>
            </a:xfrm>
            <a:prstGeom prst="rect">
              <a:avLst/>
            </a:prstGeom>
            <a:noFill/>
          </p:spPr>
          <p:txBody>
            <a:bodyPr wrap="square" rtlCol="0">
              <a:spAutoFit/>
            </a:bodyPr>
            <a:lstStyle/>
            <a:p>
              <a:r>
                <a:rPr lang="en-US" sz="1400" dirty="0"/>
                <a:t>Replay memory</a:t>
              </a:r>
            </a:p>
          </p:txBody>
        </p:sp>
        <p:sp>
          <p:nvSpPr>
            <p:cNvPr id="9" name="TextBox 8">
              <a:extLst>
                <a:ext uri="{FF2B5EF4-FFF2-40B4-BE49-F238E27FC236}">
                  <a16:creationId xmlns:a16="http://schemas.microsoft.com/office/drawing/2014/main" id="{0F164F65-DF76-A956-6F7F-87E56C8F40D9}"/>
                </a:ext>
              </a:extLst>
            </p:cNvPr>
            <p:cNvSpPr txBox="1"/>
            <p:nvPr/>
          </p:nvSpPr>
          <p:spPr>
            <a:xfrm>
              <a:off x="9421751" y="744662"/>
              <a:ext cx="1038726" cy="307777"/>
            </a:xfrm>
            <a:prstGeom prst="rect">
              <a:avLst/>
            </a:prstGeom>
            <a:noFill/>
          </p:spPr>
          <p:txBody>
            <a:bodyPr wrap="square" rtlCol="0">
              <a:spAutoFit/>
            </a:bodyPr>
            <a:lstStyle/>
            <a:p>
              <a:pPr algn="ctr"/>
              <a:r>
                <a:rPr lang="en-US" sz="1400" dirty="0"/>
                <a:t>Prediction</a:t>
              </a:r>
            </a:p>
          </p:txBody>
        </p:sp>
      </p:grpSp>
      <p:cxnSp>
        <p:nvCxnSpPr>
          <p:cNvPr id="8" name="Straight Arrow Connector 7">
            <a:extLst>
              <a:ext uri="{FF2B5EF4-FFF2-40B4-BE49-F238E27FC236}">
                <a16:creationId xmlns:a16="http://schemas.microsoft.com/office/drawing/2014/main" id="{B1D2CB56-3297-E3A0-338F-9B9ED69B0324}"/>
              </a:ext>
              <a:ext uri="{C183D7F6-B498-43B3-948B-1728B52AA6E4}">
                <adec:decorative xmlns:adec="http://schemas.microsoft.com/office/drawing/2017/decorative" val="1"/>
              </a:ext>
            </a:extLst>
          </p:cNvPr>
          <p:cNvCxnSpPr/>
          <p:nvPr/>
        </p:nvCxnSpPr>
        <p:spPr>
          <a:xfrm>
            <a:off x="6433127" y="727023"/>
            <a:ext cx="0" cy="94438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3" name="Content Placeholder 2" descr="Algorithm: DQN. Initialize theta equals theta sub, to the power minus so that all Q(s,a; theta) are close to 0. Use an epsilon -greedy policy based on the current theta to collect experience in the form (s,a,r,s prime) tuples and add them to the replay memory. If the memory is full, then old tuples will be overwritten. Mini-batches (e.g., 32 elements) are taken randomly from the replay memory calculate gradients and to update theta sub . theta sub, to the power minus is set to theta every C iterations. Go back to step 2 till the maximum number of iterations is reached">
                <a:extLst>
                  <a:ext uri="{FF2B5EF4-FFF2-40B4-BE49-F238E27FC236}">
                    <a16:creationId xmlns:a16="http://schemas.microsoft.com/office/drawing/2014/main" id="{B34BB5A9-7380-AA26-8171-CDEB9C35D940}"/>
                  </a:ext>
                </a:extLst>
              </p:cNvPr>
              <p:cNvSpPr>
                <a:spLocks noGrp="1"/>
              </p:cNvSpPr>
              <p:nvPr>
                <p:ph idx="1"/>
              </p:nvPr>
            </p:nvSpPr>
            <p:spPr>
              <a:xfrm>
                <a:off x="838200" y="3343493"/>
                <a:ext cx="10515600" cy="2993487"/>
              </a:xfrm>
              <a:solidFill>
                <a:schemeClr val="bg1">
                  <a:lumMod val="95000"/>
                </a:schemeClr>
              </a:solidFill>
            </p:spPr>
            <p:style>
              <a:lnRef idx="2">
                <a:schemeClr val="dk1"/>
              </a:lnRef>
              <a:fillRef idx="1">
                <a:schemeClr val="lt1"/>
              </a:fillRef>
              <a:effectRef idx="0">
                <a:schemeClr val="dk1"/>
              </a:effectRef>
              <a:fontRef idx="minor">
                <a:schemeClr val="dk1"/>
              </a:fontRef>
            </p:style>
            <p:txBody>
              <a:bodyPr>
                <a:normAutofit fontScale="62500" lnSpcReduction="20000"/>
              </a:bodyPr>
              <a:lstStyle/>
              <a:p>
                <a:pPr marL="0" indent="0">
                  <a:buNone/>
                </a:pPr>
                <a:r>
                  <a:rPr lang="en-US" b="1" dirty="0"/>
                  <a:t>Algorithm: DQN</a:t>
                </a:r>
              </a:p>
              <a:p>
                <a:pPr marL="0" indent="0">
                  <a:buNone/>
                </a:pPr>
                <a:endParaRPr lang="en-US" dirty="0"/>
              </a:p>
              <a:p>
                <a:pPr marL="514350" indent="-514350">
                  <a:buFont typeface="+mj-lt"/>
                  <a:buAutoNum type="arabicPeriod"/>
                </a:pPr>
                <a:r>
                  <a:rPr lang="en-US" dirty="0"/>
                  <a:t>Initialize </a:t>
                </a:r>
                <a14:m>
                  <m:oMath xmlns:m="http://schemas.openxmlformats.org/officeDocument/2006/math">
                    <m:r>
                      <a:rPr lang="en-US" b="1" i="1">
                        <a:latin typeface="Cambria Math" panose="02040503050406030204" pitchFamily="18" charset="0"/>
                      </a:rPr>
                      <m:t>𝜽</m:t>
                    </m:r>
                    <m:r>
                      <a:rPr lang="en-US" b="0" i="0" smtClean="0">
                        <a:latin typeface="Cambria Math" panose="02040503050406030204" pitchFamily="18" charset="0"/>
                      </a:rPr>
                      <m:t>=</m:t>
                    </m:r>
                    <m:sSubSup>
                      <m:sSubSupPr>
                        <m:ctrlPr>
                          <a:rPr lang="en-US" b="1" i="1">
                            <a:latin typeface="Cambria Math" panose="02040503050406030204" pitchFamily="18" charset="0"/>
                          </a:rPr>
                        </m:ctrlPr>
                      </m:sSubSupPr>
                      <m:e>
                        <m:r>
                          <a:rPr lang="en-US" b="1" i="1">
                            <a:latin typeface="Cambria Math" panose="02040503050406030204" pitchFamily="18" charset="0"/>
                          </a:rPr>
                          <m:t>𝜽</m:t>
                        </m:r>
                      </m:e>
                      <m:sub/>
                      <m:sup>
                        <m:r>
                          <a:rPr lang="en-US" b="0" i="1" smtClean="0">
                            <a:latin typeface="Cambria Math" panose="02040503050406030204" pitchFamily="18" charset="0"/>
                          </a:rPr>
                          <m:t>−</m:t>
                        </m:r>
                      </m:sup>
                    </m:sSubSup>
                  </m:oMath>
                </a14:m>
                <a:r>
                  <a:rPr lang="en-US" b="1" dirty="0"/>
                  <a:t> </a:t>
                </a:r>
                <a:r>
                  <a:rPr lang="en-US" dirty="0"/>
                  <a:t>so that all </a:t>
                </a:r>
                <a14:m>
                  <m:oMath xmlns:m="http://schemas.openxmlformats.org/officeDocument/2006/math">
                    <m:r>
                      <a:rPr lang="en-US" i="1" dirty="0" smtClean="0">
                        <a:latin typeface="Cambria Math" panose="02040503050406030204" pitchFamily="18" charset="0"/>
                      </a:rPr>
                      <m:t>𝑄</m:t>
                    </m:r>
                    <m:r>
                      <a:rPr lang="en-US" i="1" dirty="0" smtClean="0">
                        <a:latin typeface="Cambria Math" panose="02040503050406030204" pitchFamily="18" charset="0"/>
                      </a:rPr>
                      <m:t>(</m:t>
                    </m:r>
                    <m:r>
                      <a:rPr lang="en-US" i="1" dirty="0" err="1" smtClean="0">
                        <a:latin typeface="Cambria Math" panose="02040503050406030204" pitchFamily="18" charset="0"/>
                      </a:rPr>
                      <m:t>𝑠</m:t>
                    </m:r>
                    <m:r>
                      <a:rPr lang="en-US" i="1" dirty="0" err="1" smtClean="0">
                        <a:latin typeface="Cambria Math" panose="02040503050406030204" pitchFamily="18" charset="0"/>
                      </a:rPr>
                      <m:t>,</m:t>
                    </m:r>
                    <m:r>
                      <a:rPr lang="en-US" i="1" dirty="0" err="1" smtClean="0">
                        <a:latin typeface="Cambria Math" panose="02040503050406030204" pitchFamily="18" charset="0"/>
                      </a:rPr>
                      <m:t>𝑎</m:t>
                    </m:r>
                    <m:r>
                      <a:rPr lang="en-US" b="1" i="1" dirty="0" smtClean="0">
                        <a:latin typeface="Cambria Math" panose="02040503050406030204" pitchFamily="18" charset="0"/>
                      </a:rPr>
                      <m:t>;</m:t>
                    </m:r>
                    <m:r>
                      <a:rPr lang="en-US" b="1" i="1">
                        <a:latin typeface="Cambria Math" panose="02040503050406030204" pitchFamily="18" charset="0"/>
                      </a:rPr>
                      <m:t>𝜽</m:t>
                    </m:r>
                    <m:r>
                      <a:rPr lang="en-US" i="1" dirty="0" smtClean="0">
                        <a:latin typeface="Cambria Math" panose="02040503050406030204" pitchFamily="18" charset="0"/>
                      </a:rPr>
                      <m:t>)</m:t>
                    </m:r>
                  </m:oMath>
                </a14:m>
                <a:r>
                  <a:rPr lang="en-US" dirty="0"/>
                  <a:t> are close to 0.</a:t>
                </a:r>
              </a:p>
              <a:p>
                <a:pPr marL="514350" indent="-514350">
                  <a:buFont typeface="+mj-lt"/>
                  <a:buAutoNum type="arabicPeriod"/>
                </a:pPr>
                <a:r>
                  <a:rPr lang="en-US" dirty="0"/>
                  <a:t>Use an </a:t>
                </a:r>
                <a14:m>
                  <m:oMath xmlns:m="http://schemas.openxmlformats.org/officeDocument/2006/math">
                    <m:r>
                      <a:rPr lang="en-US" b="0" i="1" smtClean="0">
                        <a:latin typeface="Cambria Math" panose="02040503050406030204" pitchFamily="18" charset="0"/>
                      </a:rPr>
                      <m:t>𝜖</m:t>
                    </m:r>
                  </m:oMath>
                </a14:m>
                <a:r>
                  <a:rPr lang="en-US" dirty="0"/>
                  <a:t>-greedy policy based on the current </a:t>
                </a:r>
                <a14:m>
                  <m:oMath xmlns:m="http://schemas.openxmlformats.org/officeDocument/2006/math">
                    <m:r>
                      <a:rPr lang="en-US" b="1" i="1">
                        <a:latin typeface="Cambria Math" panose="02040503050406030204" pitchFamily="18" charset="0"/>
                      </a:rPr>
                      <m:t>𝜽</m:t>
                    </m:r>
                  </m:oMath>
                </a14:m>
                <a:r>
                  <a:rPr lang="en-US" dirty="0"/>
                  <a:t> to collect experience in the form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r>
                  <a:rPr lang="en-US" dirty="0"/>
                  <a:t> tuples and add them to the replay memory. If the memory is full, then old tuples will be overwritten.</a:t>
                </a:r>
              </a:p>
              <a:p>
                <a:pPr marL="514350" indent="-514350">
                  <a:buFont typeface="+mj-lt"/>
                  <a:buAutoNum type="arabicPeriod"/>
                </a:pPr>
                <a:r>
                  <a:rPr lang="en-US" dirty="0"/>
                  <a:t>Mini-batches (e.g., 32 elements) are taken randomly from the replay memory calculate gradients and to update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sSub>
                  </m:oMath>
                </a14:m>
                <a:r>
                  <a:rPr lang="en-US" b="1" dirty="0"/>
                  <a:t>.</a:t>
                </a:r>
              </a:p>
              <a:p>
                <a:pPr marL="514350" indent="-514350">
                  <a:buFont typeface="+mj-lt"/>
                  <a:buAutoNum type="arabicPeriod"/>
                </a:pPr>
                <a14:m>
                  <m:oMath xmlns:m="http://schemas.openxmlformats.org/officeDocument/2006/math">
                    <m:sSubSup>
                      <m:sSubSupPr>
                        <m:ctrlPr>
                          <a:rPr lang="en-US" b="1" i="1">
                            <a:latin typeface="Cambria Math" panose="02040503050406030204" pitchFamily="18" charset="0"/>
                          </a:rPr>
                        </m:ctrlPr>
                      </m:sSubSupPr>
                      <m:e>
                        <m:r>
                          <a:rPr lang="en-US" b="1" i="1">
                            <a:latin typeface="Cambria Math" panose="02040503050406030204" pitchFamily="18" charset="0"/>
                          </a:rPr>
                          <m:t>𝜽</m:t>
                        </m:r>
                      </m:e>
                      <m:sub/>
                      <m:sup>
                        <m:r>
                          <a:rPr lang="en-US" i="1">
                            <a:latin typeface="Cambria Math" panose="02040503050406030204" pitchFamily="18" charset="0"/>
                          </a:rPr>
                          <m:t>−</m:t>
                        </m:r>
                      </m:sup>
                    </m:sSubSup>
                  </m:oMath>
                </a14:m>
                <a:r>
                  <a:rPr lang="en-US" b="1" dirty="0"/>
                  <a:t> </a:t>
                </a:r>
                <a:r>
                  <a:rPr lang="en-US" dirty="0"/>
                  <a:t>is set to </a:t>
                </a:r>
                <a14:m>
                  <m:oMath xmlns:m="http://schemas.openxmlformats.org/officeDocument/2006/math">
                    <m:r>
                      <a:rPr lang="en-US" b="1" i="1">
                        <a:latin typeface="Cambria Math" panose="02040503050406030204" pitchFamily="18" charset="0"/>
                      </a:rPr>
                      <m:t>𝜽</m:t>
                    </m:r>
                    <m:r>
                      <a:rPr lang="en-US" b="1" i="1">
                        <a:latin typeface="Cambria Math" panose="02040503050406030204" pitchFamily="18" charset="0"/>
                      </a:rPr>
                      <m:t> </m:t>
                    </m:r>
                  </m:oMath>
                </a14:m>
                <a:r>
                  <a:rPr lang="en-US" dirty="0"/>
                  <a:t>every </a:t>
                </a:r>
                <a14:m>
                  <m:oMath xmlns:m="http://schemas.openxmlformats.org/officeDocument/2006/math">
                    <m:r>
                      <a:rPr lang="en-US" b="0" i="1" smtClean="0">
                        <a:latin typeface="Cambria Math" panose="02040503050406030204" pitchFamily="18" charset="0"/>
                      </a:rPr>
                      <m:t>𝐶</m:t>
                    </m:r>
                  </m:oMath>
                </a14:m>
                <a:r>
                  <a:rPr lang="en-US" b="1" dirty="0"/>
                  <a:t> </a:t>
                </a:r>
                <a:r>
                  <a:rPr lang="en-US" dirty="0"/>
                  <a:t>iterations.</a:t>
                </a:r>
              </a:p>
              <a:p>
                <a:pPr marL="514350" indent="-514350">
                  <a:buFont typeface="+mj-lt"/>
                  <a:buAutoNum type="arabicPeriod"/>
                </a:pPr>
                <a:r>
                  <a:rPr lang="en-US" dirty="0"/>
                  <a:t>Go back to step 2 till the maximum number of iterations is reached.</a:t>
                </a:r>
              </a:p>
            </p:txBody>
          </p:sp>
        </mc:Choice>
        <mc:Fallback xmlns="">
          <p:sp>
            <p:nvSpPr>
              <p:cNvPr id="3" name="Content Placeholder 2" descr="Algorithm: DQN. Initialize theta equals theta sub, to the power minus so that all Q(s,a; theta) are close to 0. Use an epsilon -greedy policy based on the current theta to collect experience in the form (s,a,r,s prime) tuples and add them to the replay memory. If the memory is full, then old tuples will be overwritten. Mini-batches (e.g., 32 elements) are taken randomly from the replay memory calculate gradients and to update theta sub . theta sub, to the power minus is set to theta every C iterations. Go back to step 2 till the maximum number of iterations is reached">
                <a:extLst>
                  <a:ext uri="{FF2B5EF4-FFF2-40B4-BE49-F238E27FC236}">
                    <a16:creationId xmlns:a16="http://schemas.microsoft.com/office/drawing/2014/main" id="{B34BB5A9-7380-AA26-8171-CDEB9C35D940}"/>
                  </a:ext>
                </a:extLst>
              </p:cNvPr>
              <p:cNvSpPr>
                <a:spLocks noGrp="1" noRot="1" noChangeAspect="1" noMove="1" noResize="1" noEditPoints="1" noAdjustHandles="1" noChangeArrowheads="1" noChangeShapeType="1" noTextEdit="1"/>
              </p:cNvSpPr>
              <p:nvPr>
                <p:ph idx="1"/>
              </p:nvPr>
            </p:nvSpPr>
            <p:spPr>
              <a:xfrm>
                <a:off x="838200" y="3343493"/>
                <a:ext cx="10515600" cy="2993487"/>
              </a:xfrm>
              <a:blipFill>
                <a:blip r:embed="rId3"/>
                <a:stretch>
                  <a:fillRect l="-463" t="-2828" r="-694"/>
                </a:stretch>
              </a:blipFill>
            </p:spPr>
            <p:txBody>
              <a:bodyPr/>
              <a:lstStyle/>
              <a:p>
                <a:r>
                  <a:rPr lang="en-US">
                    <a:noFill/>
                  </a:rPr>
                  <a:t> </a:t>
                </a:r>
              </a:p>
            </p:txBody>
          </p:sp>
        </mc:Fallback>
      </mc:AlternateContent>
    </p:spTree>
    <p:extLst>
      <p:ext uri="{BB962C8B-B14F-4D97-AF65-F5344CB8AC3E}">
        <p14:creationId xmlns:p14="http://schemas.microsoft.com/office/powerpoint/2010/main" val="2938057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72FFE-7C05-73D9-58B6-2C419BA0CF9B}"/>
              </a:ext>
            </a:extLst>
          </p:cNvPr>
          <p:cNvSpPr>
            <a:spLocks noGrp="1"/>
          </p:cNvSpPr>
          <p:nvPr>
            <p:ph type="title"/>
          </p:nvPr>
        </p:nvSpPr>
        <p:spPr/>
        <p:txBody>
          <a:bodyPr/>
          <a:lstStyle/>
          <a:p>
            <a:r>
              <a:rPr lang="en-US" dirty="0"/>
              <a:t>Double DQN (DDQN; Van Hasselt, 2016) </a:t>
            </a:r>
          </a:p>
        </p:txBody>
      </p:sp>
      <mc:AlternateContent xmlns:mc="http://schemas.openxmlformats.org/markup-compatibility/2006" xmlns:a14="http://schemas.microsoft.com/office/drawing/2010/main">
        <mc:Choice Requires="a14">
          <p:sp>
            <p:nvSpPr>
              <p:cNvPr id="3" name="Content Placeholder 2" descr="Issue: Q-learning and DQN use one function in the target to choose the action and evaluate its value. The max creates an overestimation bias. theta sub k plus 1, equals theta sub k plus alpha (r plus gamma max over a prime, of Q(s prime,a prime; theta sub k) minus Q (s,a, theta sub k)) gradient of Q (s,a, theta sub k). DDQN decoupling the action selection and evaluation by using different parameters:. U sub k equals r plus gamma Q(s prime, argmax over a, of Q (s prime,a prime; theta sub k); theta sub k, to the power minus)">
                <a:extLst>
                  <a:ext uri="{FF2B5EF4-FFF2-40B4-BE49-F238E27FC236}">
                    <a16:creationId xmlns:a16="http://schemas.microsoft.com/office/drawing/2014/main" id="{F84FCEF7-86B6-3B1D-7590-0BC7DB544076}"/>
                  </a:ext>
                </a:extLst>
              </p:cNvPr>
              <p:cNvSpPr>
                <a:spLocks noGrp="1"/>
              </p:cNvSpPr>
              <p:nvPr>
                <p:ph idx="1"/>
              </p:nvPr>
            </p:nvSpPr>
            <p:spPr>
              <a:xfrm>
                <a:off x="838200" y="1397331"/>
                <a:ext cx="10515600" cy="4172832"/>
              </a:xfrm>
            </p:spPr>
            <p:txBody>
              <a:bodyPr>
                <a:normAutofit fontScale="92500" lnSpcReduction="20000"/>
              </a:bodyPr>
              <a:lstStyle/>
              <a:p>
                <a:r>
                  <a:rPr lang="en-US" b="1" dirty="0"/>
                  <a:t>Issue</a:t>
                </a:r>
                <a:r>
                  <a:rPr lang="en-US" dirty="0"/>
                  <a:t>: Q-learning and DQN use one function in the target to choose the action and evaluate its value. The max creates an </a:t>
                </a:r>
                <a:r>
                  <a:rPr lang="en-US" b="1" dirty="0"/>
                  <a:t>overestimation bias</a:t>
                </a:r>
                <a:r>
                  <a:rPr lang="en-US" dirty="0"/>
                  <a:t>.</a:t>
                </a:r>
              </a:p>
              <a:p>
                <a:endParaRPr lang="en-US" dirty="0"/>
              </a:p>
              <a:p>
                <a:pPr marL="0" indent="0" algn="ctr">
                  <a:buNone/>
                </a:pP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𝑘</m:t>
                        </m:r>
                        <m:r>
                          <a:rPr lang="en-US" i="1">
                            <a:latin typeface="Cambria Math" panose="02040503050406030204" pitchFamily="18" charset="0"/>
                          </a:rPr>
                          <m:t>+1</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𝛼</m:t>
                    </m:r>
                    <m:d>
                      <m:dPr>
                        <m:ctrlPr>
                          <a:rPr lang="en-US" i="1">
                            <a:latin typeface="Cambria Math" panose="02040503050406030204" pitchFamily="18" charset="0"/>
                          </a:rPr>
                        </m:ctrlPr>
                      </m:dPr>
                      <m:e>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𝛾</m:t>
                        </m:r>
                        <m:r>
                          <a:rPr lang="en-US" i="1">
                            <a:latin typeface="Cambria Math" panose="02040503050406030204" pitchFamily="18" charset="0"/>
                          </a:rPr>
                          <m:t> </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lim>
                            </m:limLow>
                          </m:fName>
                          <m:e>
                            <m:r>
                              <a:rPr lang="en-US" i="1">
                                <a:latin typeface="Cambria Math" panose="02040503050406030204" pitchFamily="18" charset="0"/>
                              </a:rPr>
                              <m:t>𝑄</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𝑘</m:t>
                                </m:r>
                              </m:sub>
                            </m:sSub>
                            <m:r>
                              <a:rPr lang="en-US" i="1">
                                <a:latin typeface="Cambria Math" panose="02040503050406030204" pitchFamily="18" charset="0"/>
                              </a:rPr>
                              <m:t>)</m:t>
                            </m:r>
                          </m:e>
                        </m:func>
                        <m:r>
                          <a:rPr lang="en-US" i="1">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𝑘</m:t>
                                </m:r>
                              </m:sub>
                            </m:sSub>
                          </m:e>
                        </m:d>
                      </m:e>
                    </m:d>
                    <m:r>
                      <m:rPr>
                        <m:sty m:val="p"/>
                      </m:rPr>
                      <a:rPr lang="en-US" i="1">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𝑘</m:t>
                            </m:r>
                          </m:sub>
                        </m:sSub>
                      </m:e>
                    </m:d>
                  </m:oMath>
                </a14:m>
                <a:endParaRPr lang="en-US" dirty="0"/>
              </a:p>
              <a:p>
                <a:pPr marL="0" indent="0" algn="ctr">
                  <a:buNone/>
                </a:pPr>
                <a:endParaRPr lang="en-US" dirty="0"/>
              </a:p>
              <a:p>
                <a:endParaRPr lang="en-US" dirty="0"/>
              </a:p>
              <a:p>
                <a:r>
                  <a:rPr lang="en-US" dirty="0"/>
                  <a:t>DDQN </a:t>
                </a:r>
                <a:r>
                  <a:rPr lang="en-US" b="1" dirty="0"/>
                  <a:t>decoupling the action selection and evaluation </a:t>
                </a:r>
                <a:r>
                  <a:rPr lang="en-US" dirty="0"/>
                  <a:t>by using different parameters:</a:t>
                </a: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
                      <m:sSub>
                        <m:sSubPr>
                          <m:ctrlPr>
                            <a:rPr lang="en-US" i="1" smtClean="0">
                              <a:latin typeface="Cambria Math" panose="02040503050406030204" pitchFamily="18" charset="0"/>
                            </a:rPr>
                          </m:ctrlPr>
                        </m:sSubPr>
                        <m:e>
                          <m:r>
                            <a:rPr lang="en-US" i="1" smtClean="0">
                              <a:latin typeface="Cambria Math" panose="02040503050406030204" pitchFamily="18" charset="0"/>
                            </a:rPr>
                            <m:t>𝑈</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𝛾</m:t>
                      </m:r>
                      <m:r>
                        <a:rPr lang="en-US" i="1">
                          <a:latin typeface="Cambria Math" panose="02040503050406030204" pitchFamily="18" charset="0"/>
                        </a:rPr>
                        <m:t>𝑄</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argmax</m:t>
                              </m:r>
                            </m:e>
                            <m:lim>
                              <m:r>
                                <a:rPr lang="en-US" i="1">
                                  <a:latin typeface="Cambria Math" panose="02040503050406030204" pitchFamily="18" charset="0"/>
                                </a:rPr>
                                <m:t>𝑎</m:t>
                              </m:r>
                            </m:lim>
                          </m:limLow>
                        </m:fName>
                        <m:e>
                          <m:r>
                            <a:rPr lang="en-US" i="1">
                              <a:latin typeface="Cambria Math" panose="02040503050406030204" pitchFamily="18" charset="0"/>
                            </a:rPr>
                            <m:t>𝑄</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𝑘</m:t>
                                  </m:r>
                                </m:sub>
                              </m:sSub>
                            </m:e>
                          </m:d>
                        </m:e>
                      </m:func>
                      <m:r>
                        <a:rPr lang="en-US" i="1">
                          <a:latin typeface="Cambria Math" panose="02040503050406030204" pitchFamily="18" charset="0"/>
                        </a:rPr>
                        <m:t>;</m:t>
                      </m:r>
                      <m:sSubSup>
                        <m:sSubSupPr>
                          <m:ctrlPr>
                            <a:rPr lang="en-US" b="1" i="1">
                              <a:latin typeface="Cambria Math" panose="02040503050406030204" pitchFamily="18" charset="0"/>
                            </a:rPr>
                          </m:ctrlPr>
                        </m:sSubSupPr>
                        <m:e>
                          <m:r>
                            <a:rPr lang="en-US" b="1" i="1">
                              <a:latin typeface="Cambria Math" panose="02040503050406030204" pitchFamily="18" charset="0"/>
                            </a:rPr>
                            <m:t>𝜽</m:t>
                          </m:r>
                        </m:e>
                        <m:sub>
                          <m:r>
                            <a:rPr lang="en-US" i="1">
                              <a:latin typeface="Cambria Math" panose="02040503050406030204" pitchFamily="18" charset="0"/>
                            </a:rPr>
                            <m:t>𝑘</m:t>
                          </m:r>
                        </m:sub>
                        <m:sup>
                          <m:r>
                            <a:rPr lang="en-US" i="1">
                              <a:latin typeface="Cambria Math" panose="02040503050406030204" pitchFamily="18" charset="0"/>
                            </a:rPr>
                            <m:t>−</m:t>
                          </m:r>
                        </m:sup>
                      </m:sSubSup>
                      <m:r>
                        <a:rPr lang="en-US" b="0" i="1" smtClean="0">
                          <a:latin typeface="Cambria Math" panose="02040503050406030204" pitchFamily="18" charset="0"/>
                        </a:rPr>
                        <m:t>)</m:t>
                      </m:r>
                    </m:oMath>
                  </m:oMathPara>
                </a14:m>
                <a:endParaRPr lang="en-US" dirty="0"/>
              </a:p>
            </p:txBody>
          </p:sp>
        </mc:Choice>
        <mc:Fallback xmlns="">
          <p:sp>
            <p:nvSpPr>
              <p:cNvPr id="3" name="Content Placeholder 2" descr="Issue: Q-learning and DQN use one function in the target to choose the action and evaluate its value. The max creates an overestimation bias. theta sub k plus 1, equals theta sub k plus alpha (r plus gamma max over a prime, of Q(s prime,a prime; theta sub k) minus Q (s,a, theta sub k)) gradient of Q (s,a, theta sub k). DDQN decoupling the action selection and evaluation by using different parameters:. U sub k equals r plus gamma Q(s prime, argmax over a, of Q (s prime,a prime; theta sub k); theta sub k, to the power minus)">
                <a:extLst>
                  <a:ext uri="{FF2B5EF4-FFF2-40B4-BE49-F238E27FC236}">
                    <a16:creationId xmlns:a16="http://schemas.microsoft.com/office/drawing/2014/main" id="{F84FCEF7-86B6-3B1D-7590-0BC7DB544076}"/>
                  </a:ext>
                </a:extLst>
              </p:cNvPr>
              <p:cNvSpPr>
                <a:spLocks noGrp="1" noRot="1" noChangeAspect="1" noMove="1" noResize="1" noEditPoints="1" noAdjustHandles="1" noChangeArrowheads="1" noChangeShapeType="1" noTextEdit="1"/>
              </p:cNvSpPr>
              <p:nvPr>
                <p:ph idx="1"/>
              </p:nvPr>
            </p:nvSpPr>
            <p:spPr>
              <a:xfrm>
                <a:off x="838200" y="1397331"/>
                <a:ext cx="10515600" cy="4172832"/>
              </a:xfrm>
              <a:blipFill>
                <a:blip r:embed="rId2"/>
                <a:stretch>
                  <a:fillRect l="-928" t="-3650" r="-1275"/>
                </a:stretch>
              </a:blipFill>
            </p:spPr>
            <p:txBody>
              <a:bodyPr/>
              <a:lstStyle/>
              <a:p>
                <a:r>
                  <a:rPr lang="en-US">
                    <a:noFill/>
                  </a:rPr>
                  <a:t> </a:t>
                </a:r>
              </a:p>
            </p:txBody>
          </p:sp>
        </mc:Fallback>
      </mc:AlternateContent>
      <p:grpSp>
        <p:nvGrpSpPr>
          <p:cNvPr id="4" name="Group 3" descr="Labels on the Q-learning update rule: the term R_t+1 plus gamma times the max over a′ of Q(S_t+1, a′) is marked target, Q(S_t, A_t) is marked prediction, and their difference is marked TD-error.">
            <a:extLst>
              <a:ext uri="{FF2B5EF4-FFF2-40B4-BE49-F238E27FC236}">
                <a16:creationId xmlns:a16="http://schemas.microsoft.com/office/drawing/2014/main" id="{1E097796-E62F-E6B1-D6A2-67F49518C848}"/>
              </a:ext>
            </a:extLst>
          </p:cNvPr>
          <p:cNvGrpSpPr/>
          <p:nvPr/>
        </p:nvGrpSpPr>
        <p:grpSpPr>
          <a:xfrm>
            <a:off x="3708861" y="2016100"/>
            <a:ext cx="5463059" cy="1407596"/>
            <a:chOff x="5502761" y="1871296"/>
            <a:chExt cx="4320949" cy="1407596"/>
          </a:xfrm>
        </p:grpSpPr>
        <p:sp>
          <p:nvSpPr>
            <p:cNvPr id="5" name="TextBox 4">
              <a:extLst>
                <a:ext uri="{FF2B5EF4-FFF2-40B4-BE49-F238E27FC236}">
                  <a16:creationId xmlns:a16="http://schemas.microsoft.com/office/drawing/2014/main" id="{A155D0C3-9EF2-C45E-2C11-60D96C510ABC}"/>
                </a:ext>
              </a:extLst>
            </p:cNvPr>
            <p:cNvSpPr txBox="1"/>
            <p:nvPr/>
          </p:nvSpPr>
          <p:spPr>
            <a:xfrm>
              <a:off x="6684781" y="1871296"/>
              <a:ext cx="800540" cy="369332"/>
            </a:xfrm>
            <a:prstGeom prst="rect">
              <a:avLst/>
            </a:prstGeom>
            <a:noFill/>
          </p:spPr>
          <p:txBody>
            <a:bodyPr wrap="none" rtlCol="0">
              <a:spAutoFit/>
            </a:bodyPr>
            <a:lstStyle/>
            <a:p>
              <a:r>
                <a:rPr lang="en-US" b="1" dirty="0">
                  <a:solidFill>
                    <a:schemeClr val="accent2"/>
                  </a:solidFill>
                </a:rPr>
                <a:t>target</a:t>
              </a:r>
            </a:p>
          </p:txBody>
        </p:sp>
        <p:sp>
          <p:nvSpPr>
            <p:cNvPr id="6" name="TextBox 5">
              <a:extLst>
                <a:ext uri="{FF2B5EF4-FFF2-40B4-BE49-F238E27FC236}">
                  <a16:creationId xmlns:a16="http://schemas.microsoft.com/office/drawing/2014/main" id="{66220656-2E44-CD86-BC7D-295D0BAF3BB0}"/>
                </a:ext>
              </a:extLst>
            </p:cNvPr>
            <p:cNvSpPr txBox="1"/>
            <p:nvPr/>
          </p:nvSpPr>
          <p:spPr>
            <a:xfrm>
              <a:off x="8559581" y="1871296"/>
              <a:ext cx="1264129" cy="369332"/>
            </a:xfrm>
            <a:prstGeom prst="rect">
              <a:avLst/>
            </a:prstGeom>
            <a:noFill/>
          </p:spPr>
          <p:txBody>
            <a:bodyPr wrap="none" rtlCol="0">
              <a:spAutoFit/>
            </a:bodyPr>
            <a:lstStyle/>
            <a:p>
              <a:r>
                <a:rPr lang="en-US" b="1" dirty="0">
                  <a:solidFill>
                    <a:schemeClr val="tx2"/>
                  </a:solidFill>
                </a:rPr>
                <a:t>prediction</a:t>
              </a:r>
            </a:p>
          </p:txBody>
        </p:sp>
        <p:cxnSp>
          <p:nvCxnSpPr>
            <p:cNvPr id="7" name="Straight Connector 6">
              <a:extLst>
                <a:ext uri="{FF2B5EF4-FFF2-40B4-BE49-F238E27FC236}">
                  <a16:creationId xmlns:a16="http://schemas.microsoft.com/office/drawing/2014/main" id="{DC397B37-3CF0-08E8-7284-099769C58D52}"/>
                </a:ext>
                <a:ext uri="{C183D7F6-B498-43B3-948B-1728B52AA6E4}">
                  <adec:decorative xmlns:adec="http://schemas.microsoft.com/office/drawing/2017/decorative" val="1"/>
                </a:ext>
              </a:extLst>
            </p:cNvPr>
            <p:cNvCxnSpPr>
              <a:cxnSpLocks/>
            </p:cNvCxnSpPr>
            <p:nvPr/>
          </p:nvCxnSpPr>
          <p:spPr>
            <a:xfrm>
              <a:off x="5502761" y="2240628"/>
              <a:ext cx="2768719"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8" name="Straight Connector 7">
              <a:extLst>
                <a:ext uri="{FF2B5EF4-FFF2-40B4-BE49-F238E27FC236}">
                  <a16:creationId xmlns:a16="http://schemas.microsoft.com/office/drawing/2014/main" id="{054022BA-E787-4F2C-F30A-4B8F521FEEAE}"/>
                </a:ext>
                <a:ext uri="{C183D7F6-B498-43B3-948B-1728B52AA6E4}">
                  <adec:decorative xmlns:adec="http://schemas.microsoft.com/office/drawing/2017/decorative" val="1"/>
                </a:ext>
              </a:extLst>
            </p:cNvPr>
            <p:cNvCxnSpPr>
              <a:cxnSpLocks/>
            </p:cNvCxnSpPr>
            <p:nvPr/>
          </p:nvCxnSpPr>
          <p:spPr>
            <a:xfrm>
              <a:off x="8504372" y="2244152"/>
              <a:ext cx="113194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4614A7A-72A3-245F-866E-B423DBB26AFA}"/>
                </a:ext>
                <a:ext uri="{C183D7F6-B498-43B3-948B-1728B52AA6E4}">
                  <adec:decorative xmlns:adec="http://schemas.microsoft.com/office/drawing/2017/decorative" val="1"/>
                </a:ext>
              </a:extLst>
            </p:cNvPr>
            <p:cNvCxnSpPr>
              <a:cxnSpLocks/>
            </p:cNvCxnSpPr>
            <p:nvPr/>
          </p:nvCxnSpPr>
          <p:spPr>
            <a:xfrm>
              <a:off x="5502761" y="2909560"/>
              <a:ext cx="4265740" cy="0"/>
            </a:xfrm>
            <a:prstGeom prst="line">
              <a:avLst/>
            </a:prstGeom>
          </p:spPr>
          <p:style>
            <a:lnRef idx="2">
              <a:schemeClr val="accent3"/>
            </a:lnRef>
            <a:fillRef idx="0">
              <a:schemeClr val="accent3"/>
            </a:fillRef>
            <a:effectRef idx="1">
              <a:schemeClr val="accent3"/>
            </a:effectRef>
            <a:fontRef idx="minor">
              <a:schemeClr val="tx1"/>
            </a:fontRef>
          </p:style>
        </p:cxnSp>
        <p:sp>
          <p:nvSpPr>
            <p:cNvPr id="10" name="TextBox 9">
              <a:extLst>
                <a:ext uri="{FF2B5EF4-FFF2-40B4-BE49-F238E27FC236}">
                  <a16:creationId xmlns:a16="http://schemas.microsoft.com/office/drawing/2014/main" id="{E60F5A8C-B3CA-BA99-82D6-37EB8271853A}"/>
                </a:ext>
              </a:extLst>
            </p:cNvPr>
            <p:cNvSpPr txBox="1"/>
            <p:nvPr/>
          </p:nvSpPr>
          <p:spPr>
            <a:xfrm>
              <a:off x="7215301" y="2909560"/>
              <a:ext cx="1057341" cy="369332"/>
            </a:xfrm>
            <a:prstGeom prst="rect">
              <a:avLst/>
            </a:prstGeom>
            <a:noFill/>
          </p:spPr>
          <p:txBody>
            <a:bodyPr wrap="none" rtlCol="0">
              <a:spAutoFit/>
            </a:bodyPr>
            <a:lstStyle/>
            <a:p>
              <a:r>
                <a:rPr lang="en-US" b="1" dirty="0">
                  <a:solidFill>
                    <a:schemeClr val="accent3"/>
                  </a:solidFill>
                </a:rPr>
                <a:t>TD-error</a:t>
              </a:r>
            </a:p>
          </p:txBody>
        </p:sp>
      </p:grpSp>
      <p:sp>
        <p:nvSpPr>
          <p:cNvPr id="11" name="Rectangle 10">
            <a:extLst>
              <a:ext uri="{FF2B5EF4-FFF2-40B4-BE49-F238E27FC236}">
                <a16:creationId xmlns:a16="http://schemas.microsoft.com/office/drawing/2014/main" id="{2EFC944D-66A9-83F5-8011-DAE32D2AAF1F}"/>
              </a:ext>
              <a:ext uri="{C183D7F6-B498-43B3-948B-1728B52AA6E4}">
                <adec:decorative xmlns:adec="http://schemas.microsoft.com/office/drawing/2017/decorative" val="1"/>
              </a:ext>
            </a:extLst>
          </p:cNvPr>
          <p:cNvSpPr/>
          <p:nvPr/>
        </p:nvSpPr>
        <p:spPr>
          <a:xfrm>
            <a:off x="4544078" y="2444181"/>
            <a:ext cx="2484935" cy="551432"/>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2" name="Speech Bubble: Rectangle with Corners Rounded 11">
                <a:extLst>
                  <a:ext uri="{FF2B5EF4-FFF2-40B4-BE49-F238E27FC236}">
                    <a16:creationId xmlns:a16="http://schemas.microsoft.com/office/drawing/2014/main" id="{5B7FF2EB-2D85-C205-877A-05671A8E90F8}"/>
                  </a:ext>
                  <a:ext uri="{C183D7F6-B498-43B3-948B-1728B52AA6E4}">
                    <adec:decorative xmlns:adec="http://schemas.microsoft.com/office/drawing/2017/decorative" val="1"/>
                  </a:ext>
                </a:extLst>
              </p:cNvPr>
              <p:cNvSpPr/>
              <p:nvPr/>
            </p:nvSpPr>
            <p:spPr>
              <a:xfrm>
                <a:off x="6530230" y="5733615"/>
                <a:ext cx="2126590" cy="600289"/>
              </a:xfrm>
              <a:prstGeom prst="wedgeRoundRectCallout">
                <a:avLst>
                  <a:gd name="adj1" fmla="val -37775"/>
                  <a:gd name="adj2" fmla="val -12936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Action selection uses </a:t>
                </a:r>
                <a14:m>
                  <m:oMath xmlns:m="http://schemas.openxmlformats.org/officeDocument/2006/math">
                    <m:sSubSup>
                      <m:sSubSupPr>
                        <m:ctrlPr>
                          <a:rPr lang="en-US" b="1" i="1">
                            <a:latin typeface="Cambria Math" panose="02040503050406030204" pitchFamily="18" charset="0"/>
                          </a:rPr>
                        </m:ctrlPr>
                      </m:sSubSupPr>
                      <m:e>
                        <m:r>
                          <a:rPr lang="en-US" b="1" i="1">
                            <a:latin typeface="Cambria Math" panose="02040503050406030204" pitchFamily="18" charset="0"/>
                          </a:rPr>
                          <m:t>𝜽</m:t>
                        </m:r>
                      </m:e>
                      <m:sub>
                        <m:r>
                          <a:rPr lang="en-US" i="1">
                            <a:latin typeface="Cambria Math" panose="02040503050406030204" pitchFamily="18" charset="0"/>
                          </a:rPr>
                          <m:t>𝑘</m:t>
                        </m:r>
                      </m:sub>
                      <m:sup/>
                    </m:sSubSup>
                  </m:oMath>
                </a14:m>
                <a:endParaRPr lang="en-US" dirty="0"/>
              </a:p>
            </p:txBody>
          </p:sp>
        </mc:Choice>
        <mc:Fallback>
          <p:sp>
            <p:nvSpPr>
              <p:cNvPr id="12" name="Speech Bubble: Rectangle with Corners Rounded 11">
                <a:extLst>
                  <a:ext uri="{FF2B5EF4-FFF2-40B4-BE49-F238E27FC236}">
                    <a16:creationId xmlns:a16="http://schemas.microsoft.com/office/drawing/2014/main" id="{5B7FF2EB-2D85-C205-877A-05671A8E90F8}"/>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6530230" y="5733615"/>
                <a:ext cx="2126590" cy="600289"/>
              </a:xfrm>
              <a:prstGeom prst="wedgeRoundRectCallout">
                <a:avLst>
                  <a:gd name="adj1" fmla="val -37775"/>
                  <a:gd name="adj2" fmla="val -129362"/>
                  <a:gd name="adj3" fmla="val 16667"/>
                </a:avLst>
              </a:prstGeom>
              <a:blipFill>
                <a:blip r:embed="rId3"/>
                <a:stretch>
                  <a:fillRect b="-1136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Speech Bubble: Rectangle with Corners Rounded 12">
                <a:extLst>
                  <a:ext uri="{FF2B5EF4-FFF2-40B4-BE49-F238E27FC236}">
                    <a16:creationId xmlns:a16="http://schemas.microsoft.com/office/drawing/2014/main" id="{C5C8C09D-AF70-EC54-16B6-DF710A156EAC}"/>
                  </a:ext>
                  <a:ext uri="{C183D7F6-B498-43B3-948B-1728B52AA6E4}">
                    <adec:decorative xmlns:adec="http://schemas.microsoft.com/office/drawing/2017/decorative" val="1"/>
                  </a:ext>
                </a:extLst>
              </p:cNvPr>
              <p:cNvSpPr/>
              <p:nvPr/>
            </p:nvSpPr>
            <p:spPr>
              <a:xfrm>
                <a:off x="2773180" y="5712673"/>
                <a:ext cx="2615497" cy="600289"/>
              </a:xfrm>
              <a:prstGeom prst="wedgeRoundRectCallout">
                <a:avLst>
                  <a:gd name="adj1" fmla="val 28519"/>
                  <a:gd name="adj2" fmla="val -13228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Action evaluation uses more stable  </a:t>
                </a:r>
                <a14:m>
                  <m:oMath xmlns:m="http://schemas.openxmlformats.org/officeDocument/2006/math">
                    <m:sSubSup>
                      <m:sSubSupPr>
                        <m:ctrlPr>
                          <a:rPr lang="en-US" b="1" i="1">
                            <a:latin typeface="Cambria Math" panose="02040503050406030204" pitchFamily="18" charset="0"/>
                          </a:rPr>
                        </m:ctrlPr>
                      </m:sSubSupPr>
                      <m:e>
                        <m:r>
                          <a:rPr lang="en-US" b="1" i="1">
                            <a:latin typeface="Cambria Math" panose="02040503050406030204" pitchFamily="18" charset="0"/>
                          </a:rPr>
                          <m:t>𝜽</m:t>
                        </m:r>
                      </m:e>
                      <m:sub>
                        <m:r>
                          <a:rPr lang="en-US" i="1">
                            <a:latin typeface="Cambria Math" panose="02040503050406030204" pitchFamily="18" charset="0"/>
                          </a:rPr>
                          <m:t>𝑘</m:t>
                        </m:r>
                      </m:sub>
                      <m:sup>
                        <m:r>
                          <a:rPr lang="en-US" i="1">
                            <a:latin typeface="Cambria Math" panose="02040503050406030204" pitchFamily="18" charset="0"/>
                          </a:rPr>
                          <m:t>−</m:t>
                        </m:r>
                      </m:sup>
                    </m:sSubSup>
                  </m:oMath>
                </a14:m>
                <a:endParaRPr lang="en-US" dirty="0"/>
              </a:p>
            </p:txBody>
          </p:sp>
        </mc:Choice>
        <mc:Fallback>
          <p:sp>
            <p:nvSpPr>
              <p:cNvPr id="13" name="Speech Bubble: Rectangle with Corners Rounded 12">
                <a:extLst>
                  <a:ext uri="{FF2B5EF4-FFF2-40B4-BE49-F238E27FC236}">
                    <a16:creationId xmlns:a16="http://schemas.microsoft.com/office/drawing/2014/main" id="{C5C8C09D-AF70-EC54-16B6-DF710A156EAC}"/>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2773180" y="5712673"/>
                <a:ext cx="2615497" cy="600289"/>
              </a:xfrm>
              <a:prstGeom prst="wedgeRoundRectCallout">
                <a:avLst>
                  <a:gd name="adj1" fmla="val 28519"/>
                  <a:gd name="adj2" fmla="val -132288"/>
                  <a:gd name="adj3" fmla="val 16667"/>
                </a:avLst>
              </a:prstGeom>
              <a:blipFill>
                <a:blip r:embed="rId4"/>
                <a:stretch>
                  <a:fillRect b="-7778"/>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B5214B32-9B72-354C-3EDF-797EE94CB9AC}"/>
              </a:ext>
              <a:ext uri="{C183D7F6-B498-43B3-948B-1728B52AA6E4}">
                <adec:decorative xmlns:adec="http://schemas.microsoft.com/office/drawing/2017/decorative" val="1"/>
              </a:ext>
            </a:extLst>
          </p:cNvPr>
          <p:cNvSpPr/>
          <p:nvPr/>
        </p:nvSpPr>
        <p:spPr>
          <a:xfrm>
            <a:off x="4675506" y="4743016"/>
            <a:ext cx="4426612" cy="551432"/>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4222192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DE2CB-D8A5-D8DB-65EA-BEEFA20710CE}"/>
              </a:ext>
            </a:extLst>
          </p:cNvPr>
          <p:cNvSpPr>
            <a:spLocks noGrp="1"/>
          </p:cNvSpPr>
          <p:nvPr>
            <p:ph type="title"/>
          </p:nvPr>
        </p:nvSpPr>
        <p:spPr/>
        <p:txBody>
          <a:bodyPr/>
          <a:lstStyle/>
          <a:p>
            <a:r>
              <a:rPr lang="en-US" dirty="0"/>
              <a:t>Advantage Function</a:t>
            </a:r>
          </a:p>
        </p:txBody>
      </p:sp>
      <mc:AlternateContent xmlns:mc="http://schemas.openxmlformats.org/markup-compatibility/2006" xmlns:a14="http://schemas.microsoft.com/office/drawing/2010/main">
        <mc:Choice Requires="a14">
          <p:sp>
            <p:nvSpPr>
              <p:cNvPr id="3" name="Content Placeholder 2" descr="The “advantage” of choosing action a over the baseline given by the state value is A to the power pi (s,a) equals Q to the power pi (s,a) minus V to the power pi (s). Positive advantage means action a is better than the action that pi (s) chooses. For the optimal pi star :. A to the power pi star, (s,a) equals cases: 0 if s equals s star; is less than 0 otherwise. Benefit: Advantage typically produces a stronger, lower variance signal to improve the policy">
                <a:extLst>
                  <a:ext uri="{FF2B5EF4-FFF2-40B4-BE49-F238E27FC236}">
                    <a16:creationId xmlns:a16="http://schemas.microsoft.com/office/drawing/2014/main" id="{954B048F-2414-B0FC-139F-67B8DC01B7BB}"/>
                  </a:ext>
                </a:extLst>
              </p:cNvPr>
              <p:cNvSpPr>
                <a:spLocks noGrp="1"/>
              </p:cNvSpPr>
              <p:nvPr>
                <p:ph idx="1"/>
              </p:nvPr>
            </p:nvSpPr>
            <p:spPr/>
            <p:txBody>
              <a:bodyPr>
                <a:normAutofit fontScale="92500" lnSpcReduction="20000"/>
              </a:bodyPr>
              <a:lstStyle/>
              <a:p>
                <a:r>
                  <a:rPr lang="en-US" dirty="0"/>
                  <a:t>The “advantage” of choosing action </a:t>
                </a:r>
                <a14:m>
                  <m:oMath xmlns:m="http://schemas.openxmlformats.org/officeDocument/2006/math">
                    <m:r>
                      <a:rPr lang="en-US" i="1" dirty="0">
                        <a:latin typeface="Cambria Math" panose="02040503050406030204" pitchFamily="18" charset="0"/>
                      </a:rPr>
                      <m:t>𝑎</m:t>
                    </m:r>
                  </m:oMath>
                </a14:m>
                <a:r>
                  <a:rPr lang="en-US" dirty="0"/>
                  <a:t> over the baseline given by the state value is</a:t>
                </a:r>
                <a:br>
                  <a:rPr lang="en-US" dirty="0"/>
                </a:br>
                <a:br>
                  <a:rPr lang="en-US" dirty="0"/>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𝜋</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𝜋</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𝜋</m:t>
                        </m:r>
                      </m:sup>
                    </m:sSup>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dirty="0"/>
              </a:p>
              <a:p>
                <a:pPr marL="0" indent="0">
                  <a:buNone/>
                </a:pPr>
                <a:endParaRPr lang="en-US" dirty="0"/>
              </a:p>
              <a:p>
                <a:r>
                  <a:rPr lang="en-US" dirty="0"/>
                  <a:t>Positive advantage means action </a:t>
                </a:r>
                <a14:m>
                  <m:oMath xmlns:m="http://schemas.openxmlformats.org/officeDocument/2006/math">
                    <m:r>
                      <a:rPr lang="en-US" b="0" i="1" smtClean="0">
                        <a:latin typeface="Cambria Math" panose="02040503050406030204" pitchFamily="18" charset="0"/>
                      </a:rPr>
                      <m:t>𝑎</m:t>
                    </m:r>
                  </m:oMath>
                </a14:m>
                <a:r>
                  <a:rPr lang="en-US" dirty="0"/>
                  <a:t> is better than the action that  </a:t>
                </a:r>
                <a14:m>
                  <m:oMath xmlns:m="http://schemas.openxmlformats.org/officeDocument/2006/math">
                    <m:r>
                      <a:rPr lang="en-US" b="0" i="1" smtClean="0">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r>
                  <a:rPr lang="en-US" b="0" dirty="0"/>
                  <a:t> chooses.</a:t>
                </a:r>
                <a:br>
                  <a:rPr lang="en-US" b="0" dirty="0"/>
                </a:br>
                <a:br>
                  <a:rPr lang="en-US" b="0" dirty="0"/>
                </a:br>
                <a:r>
                  <a:rPr lang="en-US" dirty="0"/>
                  <a:t>For the optimal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𝜋</m:t>
                        </m:r>
                      </m:e>
                      <m:sup>
                        <m:r>
                          <a:rPr lang="en-US" b="0" i="1" smtClean="0">
                            <a:latin typeface="Cambria Math" panose="02040503050406030204" pitchFamily="18" charset="0"/>
                          </a:rPr>
                          <m:t>∗</m:t>
                        </m:r>
                      </m:sup>
                    </m:sSup>
                  </m:oMath>
                </a14:m>
                <a:r>
                  <a:rPr lang="en-US" dirty="0"/>
                  <a:t>:</a:t>
                </a:r>
              </a:p>
              <a:p>
                <a:pPr marL="457200" lvl="1" indent="0">
                  <a:buNone/>
                </a:pPr>
                <a14:m>
                  <m:oMathPara xmlns:m="http://schemas.openxmlformats.org/officeDocument/2006/math">
                    <m:oMath>
                      <m:sSup>
                        <m:sSupPr>
                          <m:ctrlPr>
                            <a:rPr lang="en-US" i="1">
                              <a:latin typeface="Cambria Math" panose="02040503050406030204" pitchFamily="18" charset="0"/>
                            </a:rPr>
                          </m:ctrlPr>
                        </m:sSupPr>
                        <m:e>
                          <m:r>
                            <a:rPr lang="en-US" i="1">
                              <a:latin typeface="Cambria Math" panose="02040503050406030204" pitchFamily="18" charset="0"/>
                            </a:rPr>
                            <m:t>𝐴</m:t>
                          </m:r>
                        </m:e>
                        <m:sup>
                          <m:sSup>
                            <m:sSupPr>
                              <m:ctrlPr>
                                <a:rPr lang="en-US" i="1">
                                  <a:latin typeface="Cambria Math" panose="02040503050406030204" pitchFamily="18" charset="0"/>
                                </a:rPr>
                              </m:ctrlPr>
                            </m:sSupPr>
                            <m:e>
                              <m:r>
                                <a:rPr lang="en-US" i="1">
                                  <a:latin typeface="Cambria Math" panose="02040503050406030204" pitchFamily="18" charset="0"/>
                                </a:rPr>
                                <m:t>𝜋</m:t>
                              </m:r>
                            </m:e>
                            <m:sup>
                              <m:r>
                                <a:rPr lang="en-US" b="0" i="1" smtClean="0">
                                  <a:latin typeface="Cambria Math" panose="02040503050406030204" pitchFamily="18" charset="0"/>
                                </a:rPr>
                                <m:t>∗</m:t>
                              </m:r>
                            </m:sup>
                          </m:sSup>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0 </m:t>
                              </m:r>
                              <m:r>
                                <m:rPr>
                                  <m:nor/>
                                </m:rPr>
                                <a:rPr lang="en-US" b="0" i="0" smtClean="0">
                                  <a:latin typeface="Cambria Math" panose="02040503050406030204" pitchFamily="18" charset="0"/>
                                </a:rPr>
                                <m:t>   if</m:t>
                              </m:r>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 </m:t>
                              </m:r>
                            </m:e>
                            <m:e>
                              <m:r>
                                <a:rPr lang="en-US" b="0" i="1" smtClean="0">
                                  <a:latin typeface="Cambria Math" panose="02040503050406030204" pitchFamily="18" charset="0"/>
                                </a:rPr>
                                <m:t>&lt;0  </m:t>
                              </m:r>
                              <m:r>
                                <m:rPr>
                                  <m:nor/>
                                </m:rPr>
                                <a:rPr lang="en-US" b="0" i="0" smtClean="0">
                                  <a:latin typeface="Cambria Math" panose="02040503050406030204" pitchFamily="18" charset="0"/>
                                </a:rPr>
                                <m:t>otherwise</m:t>
                              </m:r>
                              <m:r>
                                <a:rPr lang="en-US" b="0" i="1" smtClean="0">
                                  <a:latin typeface="Cambria Math" panose="02040503050406030204" pitchFamily="18" charset="0"/>
                                </a:rPr>
                                <m:t>.</m:t>
                              </m:r>
                            </m:e>
                          </m:eqArr>
                        </m:e>
                      </m:d>
                    </m:oMath>
                  </m:oMathPara>
                </a14:m>
                <a:endParaRPr lang="en-US" dirty="0"/>
              </a:p>
              <a:p>
                <a:endParaRPr lang="en-US" dirty="0"/>
              </a:p>
              <a:p>
                <a:r>
                  <a:rPr lang="en-US" b="1" dirty="0"/>
                  <a:t>Benefit</a:t>
                </a:r>
                <a:r>
                  <a:rPr lang="en-US" dirty="0"/>
                  <a:t>: Advantage typically produces a </a:t>
                </a:r>
                <a:r>
                  <a:rPr lang="en-US" b="1" dirty="0"/>
                  <a:t>stronger, lower variance signal </a:t>
                </a:r>
                <a:r>
                  <a:rPr lang="en-US" dirty="0"/>
                  <a:t>to improve the policy. </a:t>
                </a:r>
              </a:p>
              <a:p>
                <a:pPr marL="0" indent="0">
                  <a:buNone/>
                </a:pPr>
                <a:endParaRPr lang="en-US" dirty="0"/>
              </a:p>
              <a:p>
                <a:pPr marL="0" indent="0">
                  <a:buNone/>
                </a:pPr>
                <a:endParaRPr lang="en-US" dirty="0"/>
              </a:p>
            </p:txBody>
          </p:sp>
        </mc:Choice>
        <mc:Fallback xmlns="">
          <p:sp>
            <p:nvSpPr>
              <p:cNvPr id="3" name="Content Placeholder 2" descr="The “advantage” of choosing action a over the baseline given by the state value is A to the power pi (s,a) equals Q to the power pi (s,a) minus V to the power pi (s). Positive advantage means action a is better than the action that pi (s) chooses. For the optimal pi star :. A to the power pi star, (s,a) equals cases: 0 if s equals s star; is less than 0 otherwise. Benefit: Advantage typically produces a stronger, lower variance signal to improve the policy">
                <a:extLst>
                  <a:ext uri="{FF2B5EF4-FFF2-40B4-BE49-F238E27FC236}">
                    <a16:creationId xmlns:a16="http://schemas.microsoft.com/office/drawing/2014/main" id="{954B048F-2414-B0FC-139F-67B8DC01B7BB}"/>
                  </a:ext>
                </a:extLst>
              </p:cNvPr>
              <p:cNvSpPr>
                <a:spLocks noGrp="1" noRot="1" noChangeAspect="1" noMove="1" noResize="1" noEditPoints="1" noAdjustHandles="1" noChangeArrowheads="1" noChangeShapeType="1" noTextEdit="1"/>
              </p:cNvSpPr>
              <p:nvPr>
                <p:ph idx="1"/>
              </p:nvPr>
            </p:nvSpPr>
            <p:spPr>
              <a:blipFill>
                <a:blip r:embed="rId2"/>
                <a:stretch>
                  <a:fillRect l="-928" t="-3189"/>
                </a:stretch>
              </a:blipFill>
            </p:spPr>
            <p:txBody>
              <a:bodyPr/>
              <a:lstStyle/>
              <a:p>
                <a:r>
                  <a:rPr lang="en-US">
                    <a:noFill/>
                  </a:rPr>
                  <a:t> </a:t>
                </a:r>
              </a:p>
            </p:txBody>
          </p:sp>
        </mc:Fallback>
      </mc:AlternateContent>
    </p:spTree>
    <p:extLst>
      <p:ext uri="{BB962C8B-B14F-4D97-AF65-F5344CB8AC3E}">
        <p14:creationId xmlns:p14="http://schemas.microsoft.com/office/powerpoint/2010/main" val="1807693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08A56-9868-C99D-54A8-B273672667DC}"/>
              </a:ext>
            </a:extLst>
          </p:cNvPr>
          <p:cNvSpPr>
            <a:spLocks noGrp="1"/>
          </p:cNvSpPr>
          <p:nvPr>
            <p:ph type="title"/>
          </p:nvPr>
        </p:nvSpPr>
        <p:spPr/>
        <p:txBody>
          <a:bodyPr>
            <a:normAutofit/>
          </a:bodyPr>
          <a:lstStyle/>
          <a:p>
            <a:r>
              <a:rPr lang="en-US" dirty="0"/>
              <a:t>Dueling Network Architecture (Wang, 2015)</a:t>
            </a:r>
          </a:p>
        </p:txBody>
      </p:sp>
      <mc:AlternateContent xmlns:mc="http://schemas.openxmlformats.org/markup-compatibility/2006" xmlns:a14="http://schemas.microsoft.com/office/drawing/2010/main">
        <mc:Choice Requires="a14">
          <p:sp>
            <p:nvSpPr>
              <p:cNvPr id="3" name="Content Placeholder 2" descr="Dueling Network Architecture only changes the ANN architecture. It learns two components:. Value network V(s; theta to the power (1), theta to the power (3)). Advantage network A(s, a prime; theta to the power (1), theta to the power (3)). Q(s,a) is calculated using the equation below. Reminder: Advantage function A to the power pi (s, a) equals Q to the power pi (s,a) minus V to the power pi (s) gives the “advantage” of choosing action a over the state value. This approach typically leads to improved performance">
                <a:extLst>
                  <a:ext uri="{FF2B5EF4-FFF2-40B4-BE49-F238E27FC236}">
                    <a16:creationId xmlns:a16="http://schemas.microsoft.com/office/drawing/2014/main" id="{4F513638-CFC7-6B54-0B7F-4B2B5E12AF63}"/>
                  </a:ext>
                </a:extLst>
              </p:cNvPr>
              <p:cNvSpPr>
                <a:spLocks noGrp="1"/>
              </p:cNvSpPr>
              <p:nvPr>
                <p:ph idx="1"/>
              </p:nvPr>
            </p:nvSpPr>
            <p:spPr>
              <a:xfrm>
                <a:off x="838199" y="1397331"/>
                <a:ext cx="5243113" cy="4096050"/>
              </a:xfrm>
            </p:spPr>
            <p:txBody>
              <a:bodyPr>
                <a:normAutofit fontScale="62500" lnSpcReduction="20000"/>
              </a:bodyPr>
              <a:lstStyle/>
              <a:p>
                <a:r>
                  <a:rPr lang="en-US" dirty="0"/>
                  <a:t>Dueling Network Architecture only changes the ANN architecture. It learns two components:</a:t>
                </a:r>
              </a:p>
              <a:p>
                <a:pPr lvl="1"/>
                <a:r>
                  <a:rPr lang="en-US" dirty="0"/>
                  <a:t>Value network </a:t>
                </a:r>
                <a14:m>
                  <m:oMath xmlns:m="http://schemas.openxmlformats.org/officeDocument/2006/math">
                    <m:r>
                      <a:rPr lang="en-US" i="1">
                        <a:latin typeface="Cambria Math" panose="02040503050406030204" pitchFamily="18" charset="0"/>
                      </a:rPr>
                      <m:t>𝑉</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𝜽</m:t>
                        </m:r>
                      </m:e>
                      <m:sup>
                        <m:d>
                          <m:dPr>
                            <m:ctrlPr>
                              <a:rPr lang="en-US" i="1">
                                <a:latin typeface="Cambria Math" panose="02040503050406030204" pitchFamily="18" charset="0"/>
                              </a:rPr>
                            </m:ctrlPr>
                          </m:dPr>
                          <m:e>
                            <m:r>
                              <a:rPr lang="en-US" i="1">
                                <a:latin typeface="Cambria Math" panose="02040503050406030204" pitchFamily="18" charset="0"/>
                              </a:rPr>
                              <m:t>1</m:t>
                            </m:r>
                          </m:e>
                        </m:d>
                      </m:sup>
                    </m:sSup>
                    <m:r>
                      <a:rPr lang="en-US" i="1">
                        <a:latin typeface="Cambria Math" panose="02040503050406030204" pitchFamily="18" charset="0"/>
                      </a:rPr>
                      <m:t>, </m:t>
                    </m:r>
                    <m:sSup>
                      <m:sSupPr>
                        <m:ctrlPr>
                          <a:rPr lang="en-US" b="1" i="1">
                            <a:latin typeface="Cambria Math" panose="02040503050406030204" pitchFamily="18" charset="0"/>
                          </a:rPr>
                        </m:ctrlPr>
                      </m:sSupPr>
                      <m:e>
                        <m:r>
                          <a:rPr lang="en-US" b="1" i="1">
                            <a:latin typeface="Cambria Math" panose="02040503050406030204" pitchFamily="18" charset="0"/>
                          </a:rPr>
                          <m:t>𝜽</m:t>
                        </m:r>
                      </m:e>
                      <m:sup>
                        <m:d>
                          <m:dPr>
                            <m:ctrlPr>
                              <a:rPr lang="en-US" i="1">
                                <a:latin typeface="Cambria Math" panose="02040503050406030204" pitchFamily="18" charset="0"/>
                              </a:rPr>
                            </m:ctrlPr>
                          </m:dPr>
                          <m:e>
                            <m:r>
                              <a:rPr lang="en-US" i="1">
                                <a:latin typeface="Cambria Math" panose="02040503050406030204" pitchFamily="18" charset="0"/>
                              </a:rPr>
                              <m:t>3</m:t>
                            </m:r>
                          </m:e>
                        </m:d>
                      </m:sup>
                    </m:sSup>
                    <m:r>
                      <a:rPr lang="en-US" i="1">
                        <a:latin typeface="Cambria Math" panose="02040503050406030204" pitchFamily="18" charset="0"/>
                      </a:rPr>
                      <m:t>) </m:t>
                    </m:r>
                  </m:oMath>
                </a14:m>
                <a:endParaRPr lang="en-US" dirty="0"/>
              </a:p>
              <a:p>
                <a:pPr lvl="1"/>
                <a:r>
                  <a:rPr lang="en-US" dirty="0"/>
                  <a:t>Advantage network </a:t>
                </a:r>
                <a14:m>
                  <m:oMath xmlns:m="http://schemas.openxmlformats.org/officeDocument/2006/math">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𝜽</m:t>
                        </m:r>
                      </m:e>
                      <m:sup>
                        <m:d>
                          <m:dPr>
                            <m:ctrlPr>
                              <a:rPr lang="en-US" i="1">
                                <a:latin typeface="Cambria Math" panose="02040503050406030204" pitchFamily="18" charset="0"/>
                              </a:rPr>
                            </m:ctrlPr>
                          </m:dPr>
                          <m:e>
                            <m:r>
                              <a:rPr lang="en-US" i="1">
                                <a:latin typeface="Cambria Math" panose="02040503050406030204" pitchFamily="18" charset="0"/>
                              </a:rPr>
                              <m:t>1</m:t>
                            </m:r>
                          </m:e>
                        </m:d>
                      </m:sup>
                    </m:sSup>
                    <m:r>
                      <a:rPr lang="en-US" i="1">
                        <a:latin typeface="Cambria Math" panose="02040503050406030204" pitchFamily="18" charset="0"/>
                      </a:rPr>
                      <m:t>,  </m:t>
                    </m:r>
                    <m:sSup>
                      <m:sSupPr>
                        <m:ctrlPr>
                          <a:rPr lang="en-US" b="1" i="1">
                            <a:latin typeface="Cambria Math" panose="02040503050406030204" pitchFamily="18" charset="0"/>
                          </a:rPr>
                        </m:ctrlPr>
                      </m:sSupPr>
                      <m:e>
                        <m:r>
                          <a:rPr lang="en-US" b="1" i="1">
                            <a:latin typeface="Cambria Math" panose="02040503050406030204" pitchFamily="18" charset="0"/>
                          </a:rPr>
                          <m:t>𝜽</m:t>
                        </m:r>
                      </m:e>
                      <m:sup>
                        <m:d>
                          <m:dPr>
                            <m:ctrlPr>
                              <a:rPr lang="en-US" i="1">
                                <a:latin typeface="Cambria Math" panose="02040503050406030204" pitchFamily="18" charset="0"/>
                              </a:rPr>
                            </m:ctrlPr>
                          </m:dPr>
                          <m:e>
                            <m:r>
                              <a:rPr lang="en-US" i="1">
                                <a:latin typeface="Cambria Math" panose="02040503050406030204" pitchFamily="18" charset="0"/>
                              </a:rPr>
                              <m:t>3</m:t>
                            </m:r>
                          </m:e>
                        </m:d>
                      </m:sup>
                    </m:sSup>
                    <m:r>
                      <a:rPr lang="en-US" i="1">
                        <a:latin typeface="Cambria Math" panose="02040503050406030204" pitchFamily="18" charset="0"/>
                      </a:rPr>
                      <m:t>)</m:t>
                    </m:r>
                  </m:oMath>
                </a14:m>
                <a:endParaRPr lang="en-US" dirty="0"/>
              </a:p>
              <a:p>
                <a14:m>
                  <m:oMath xmlns:m="http://schemas.openxmlformats.org/officeDocument/2006/math">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oMath>
                </a14:m>
                <a:r>
                  <a:rPr lang="en-US" dirty="0"/>
                  <a:t> is calculated using the equation below.</a:t>
                </a:r>
              </a:p>
              <a:p>
                <a:endParaRPr lang="en-US" dirty="0"/>
              </a:p>
              <a:p>
                <a:r>
                  <a:rPr lang="en-US" dirty="0"/>
                  <a:t>Reminder: Advantage function</a:t>
                </a:r>
                <a:br>
                  <a:rPr lang="en-US" dirty="0"/>
                </a:br>
                <a:br>
                  <a:rPr lang="en-US" dirty="0"/>
                </a:b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𝜋</m:t>
                        </m:r>
                      </m:sup>
                    </m:sSup>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 </m:t>
                        </m:r>
                        <m:r>
                          <a:rPr lang="en-US" i="1">
                            <a:latin typeface="Cambria Math" panose="02040503050406030204" pitchFamily="18" charset="0"/>
                          </a:rPr>
                          <m:t>𝑎</m:t>
                        </m:r>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𝑄</m:t>
                        </m:r>
                      </m:e>
                      <m:sup>
                        <m:r>
                          <a:rPr lang="en-US" i="1">
                            <a:latin typeface="Cambria Math" panose="02040503050406030204" pitchFamily="18" charset="0"/>
                          </a:rPr>
                          <m:t>𝜋</m:t>
                        </m:r>
                      </m:sup>
                    </m:sSup>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𝜋</m:t>
                        </m:r>
                      </m:sup>
                    </m:sSup>
                    <m:d>
                      <m:dPr>
                        <m:ctrlPr>
                          <a:rPr lang="en-US" i="1">
                            <a:latin typeface="Cambria Math" panose="02040503050406030204" pitchFamily="18" charset="0"/>
                          </a:rPr>
                        </m:ctrlPr>
                      </m:dPr>
                      <m:e>
                        <m:r>
                          <a:rPr lang="en-US" i="1">
                            <a:latin typeface="Cambria Math" panose="02040503050406030204" pitchFamily="18" charset="0"/>
                          </a:rPr>
                          <m:t>𝑠</m:t>
                        </m:r>
                      </m:e>
                    </m:d>
                  </m:oMath>
                </a14:m>
                <a:br>
                  <a:rPr lang="en-US" dirty="0"/>
                </a:br>
                <a:br>
                  <a:rPr lang="en-US" dirty="0"/>
                </a:br>
                <a:r>
                  <a:rPr lang="en-US" dirty="0"/>
                  <a:t>gives the “advantage” of choosing action </a:t>
                </a:r>
                <a14:m>
                  <m:oMath xmlns:m="http://schemas.openxmlformats.org/officeDocument/2006/math">
                    <m:r>
                      <a:rPr lang="en-US" i="1" dirty="0">
                        <a:latin typeface="Cambria Math" panose="02040503050406030204" pitchFamily="18" charset="0"/>
                      </a:rPr>
                      <m:t>𝑎</m:t>
                    </m:r>
                  </m:oMath>
                </a14:m>
                <a:r>
                  <a:rPr lang="en-US" dirty="0"/>
                  <a:t> over the state value. </a:t>
                </a:r>
              </a:p>
              <a:p>
                <a:pPr marL="0" indent="0">
                  <a:buNone/>
                </a:pPr>
                <a:endParaRPr lang="en-US" dirty="0"/>
              </a:p>
              <a:p>
                <a:r>
                  <a:rPr lang="en-US" dirty="0"/>
                  <a:t>This approach typically leads to improved performance.</a:t>
                </a:r>
              </a:p>
            </p:txBody>
          </p:sp>
        </mc:Choice>
        <mc:Fallback xmlns="">
          <p:sp>
            <p:nvSpPr>
              <p:cNvPr id="3" name="Content Placeholder 2" descr="Dueling Network Architecture only changes the ANN architecture. It learns two components:. Value network V(s; theta to the power (1), theta to the power (3)). Advantage network A(s, a prime; theta to the power (1), theta to the power (3)). Q(s,a) is calculated using the equation below. Reminder: Advantage function A to the power pi (s, a) equals Q to the power pi (s,a) minus V to the power pi (s) gives the “advantage” of choosing action a over the state value. This approach typically leads to improved performance">
                <a:extLst>
                  <a:ext uri="{FF2B5EF4-FFF2-40B4-BE49-F238E27FC236}">
                    <a16:creationId xmlns:a16="http://schemas.microsoft.com/office/drawing/2014/main" id="{4F513638-CFC7-6B54-0B7F-4B2B5E12AF63}"/>
                  </a:ext>
                </a:extLst>
              </p:cNvPr>
              <p:cNvSpPr>
                <a:spLocks noGrp="1" noRot="1" noChangeAspect="1" noMove="1" noResize="1" noEditPoints="1" noAdjustHandles="1" noChangeArrowheads="1" noChangeShapeType="1" noTextEdit="1"/>
              </p:cNvSpPr>
              <p:nvPr>
                <p:ph idx="1"/>
              </p:nvPr>
            </p:nvSpPr>
            <p:spPr>
              <a:xfrm>
                <a:off x="838199" y="1397331"/>
                <a:ext cx="5243113" cy="4096050"/>
              </a:xfrm>
              <a:blipFill>
                <a:blip r:embed="rId2"/>
                <a:stretch>
                  <a:fillRect l="-697" t="-2232"/>
                </a:stretch>
              </a:blipFill>
            </p:spPr>
            <p:txBody>
              <a:bodyPr/>
              <a:lstStyle/>
              <a:p>
                <a:r>
                  <a:rPr lang="en-US">
                    <a:noFill/>
                  </a:rPr>
                  <a:t> </a:t>
                </a:r>
              </a:p>
            </p:txBody>
          </p:sp>
        </mc:Fallback>
      </mc:AlternateContent>
      <p:grpSp>
        <p:nvGrpSpPr>
          <p:cNvPr id="11" name="Group 10" descr="Dueling network architecture: a shared stack of layers with parameters theta 1 (teal) splits into two streams. The value stream with parameters theta 3 (blue) outputs a single state value V(s); the advantage stream with parameters theta 2 (green) outputs one advantage A(s, a) per action. The two streams are combined into the action values Q(s, a) (gray). Labels: shared.">
            <a:extLst>
              <a:ext uri="{FF2B5EF4-FFF2-40B4-BE49-F238E27FC236}">
                <a16:creationId xmlns:a16="http://schemas.microsoft.com/office/drawing/2014/main" id="{5B9D4F09-A3F5-D275-00EC-1B526CF09BB5}"/>
              </a:ext>
            </a:extLst>
          </p:cNvPr>
          <p:cNvGrpSpPr/>
          <p:nvPr/>
        </p:nvGrpSpPr>
        <p:grpSpPr>
          <a:xfrm>
            <a:off x="5762066" y="1034289"/>
            <a:ext cx="5591734" cy="4542454"/>
            <a:chOff x="5762066" y="1034289"/>
            <a:chExt cx="5591734" cy="4542454"/>
          </a:xfrm>
        </p:grpSpPr>
        <p:pic>
          <p:nvPicPr>
            <p:cNvPr id="5" name="Picture 4" descr="Dueling network architecture: a shared stack of layers with parameters theta 1 (teal) splits into two streams. The value stream with parameters theta 3 (blue) outputs a single state value V(s); the advantage stream with parameters theta 2 (green) outputs one advantage A(s, a) per action. The two streams are combined into the action values Q(s, a) (gray).">
              <a:extLst>
                <a:ext uri="{FF2B5EF4-FFF2-40B4-BE49-F238E27FC236}">
                  <a16:creationId xmlns:a16="http://schemas.microsoft.com/office/drawing/2014/main" id="{CE22A800-3431-0EE8-619E-6A2627C3BF83}"/>
                </a:ext>
              </a:extLst>
            </p:cNvPr>
            <p:cNvPicPr>
              <a:picLocks noChangeAspect="1"/>
            </p:cNvPicPr>
            <p:nvPr/>
          </p:nvPicPr>
          <p:blipFill>
            <a:blip r:embed="rId3"/>
            <a:stretch>
              <a:fillRect/>
            </a:stretch>
          </p:blipFill>
          <p:spPr>
            <a:xfrm>
              <a:off x="5762066" y="1034289"/>
              <a:ext cx="5591734" cy="4542454"/>
            </a:xfrm>
            <a:prstGeom prst="rect">
              <a:avLst/>
            </a:prstGeom>
          </p:spPr>
        </p:pic>
        <p:sp>
          <p:nvSpPr>
            <p:cNvPr id="12" name="Freeform: Shape 11">
              <a:extLst>
                <a:ext uri="{FF2B5EF4-FFF2-40B4-BE49-F238E27FC236}">
                  <a16:creationId xmlns:a16="http://schemas.microsoft.com/office/drawing/2014/main" id="{AC49063A-A00B-11AA-F830-45F8920527FB}"/>
                </a:ext>
                <a:ext uri="{C183D7F6-B498-43B3-948B-1728B52AA6E4}">
                  <adec:decorative xmlns:adec="http://schemas.microsoft.com/office/drawing/2017/decorative" val="1"/>
                </a:ext>
              </a:extLst>
            </p:cNvPr>
            <p:cNvSpPr/>
            <p:nvPr/>
          </p:nvSpPr>
          <p:spPr>
            <a:xfrm>
              <a:off x="7252379" y="3050327"/>
              <a:ext cx="2205728" cy="1089934"/>
            </a:xfrm>
            <a:custGeom>
              <a:avLst/>
              <a:gdLst>
                <a:gd name="connsiteX0" fmla="*/ 0 w 2205728"/>
                <a:gd name="connsiteY0" fmla="*/ 0 h 1089934"/>
                <a:gd name="connsiteX1" fmla="*/ 1074943 w 2205728"/>
                <a:gd name="connsiteY1" fmla="*/ 1033062 h 1089934"/>
                <a:gd name="connsiteX2" fmla="*/ 2205728 w 2205728"/>
                <a:gd name="connsiteY2" fmla="*/ 963261 h 1089934"/>
                <a:gd name="connsiteX3" fmla="*/ 2205728 w 2205728"/>
                <a:gd name="connsiteY3" fmla="*/ 963261 h 1089934"/>
              </a:gdLst>
              <a:ahLst/>
              <a:cxnLst>
                <a:cxn ang="0">
                  <a:pos x="connsiteX0" y="connsiteY0"/>
                </a:cxn>
                <a:cxn ang="0">
                  <a:pos x="connsiteX1" y="connsiteY1"/>
                </a:cxn>
                <a:cxn ang="0">
                  <a:pos x="connsiteX2" y="connsiteY2"/>
                </a:cxn>
                <a:cxn ang="0">
                  <a:pos x="connsiteX3" y="connsiteY3"/>
                </a:cxn>
              </a:cxnLst>
              <a:rect l="l" t="t" r="r" b="b"/>
              <a:pathLst>
                <a:path w="2205728" h="1089934">
                  <a:moveTo>
                    <a:pt x="0" y="0"/>
                  </a:moveTo>
                  <a:cubicBezTo>
                    <a:pt x="353661" y="436259"/>
                    <a:pt x="707322" y="872519"/>
                    <a:pt x="1074943" y="1033062"/>
                  </a:cubicBezTo>
                  <a:cubicBezTo>
                    <a:pt x="1442564" y="1193605"/>
                    <a:pt x="2205728" y="963261"/>
                    <a:pt x="2205728" y="963261"/>
                  </a:cubicBezTo>
                  <a:lnTo>
                    <a:pt x="2205728" y="963261"/>
                  </a:lnTo>
                </a:path>
              </a:pathLst>
            </a:custGeom>
            <a:ln w="57150">
              <a:solidFill>
                <a:schemeClr val="accent2"/>
              </a:solidFill>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6" name="Freeform: Shape 5">
              <a:extLst>
                <a:ext uri="{FF2B5EF4-FFF2-40B4-BE49-F238E27FC236}">
                  <a16:creationId xmlns:a16="http://schemas.microsoft.com/office/drawing/2014/main" id="{23A7DFC3-0E21-748F-7AF5-C562BD92D9F0}"/>
                </a:ext>
                <a:ext uri="{C183D7F6-B498-43B3-948B-1728B52AA6E4}">
                  <adec:decorative xmlns:adec="http://schemas.microsoft.com/office/drawing/2017/decorative" val="1"/>
                </a:ext>
              </a:extLst>
            </p:cNvPr>
            <p:cNvSpPr/>
            <p:nvPr/>
          </p:nvSpPr>
          <p:spPr>
            <a:xfrm flipV="1">
              <a:off x="7231906" y="2224269"/>
              <a:ext cx="2205728" cy="636938"/>
            </a:xfrm>
            <a:custGeom>
              <a:avLst/>
              <a:gdLst>
                <a:gd name="connsiteX0" fmla="*/ 0 w 2205728"/>
                <a:gd name="connsiteY0" fmla="*/ 0 h 1089934"/>
                <a:gd name="connsiteX1" fmla="*/ 1074943 w 2205728"/>
                <a:gd name="connsiteY1" fmla="*/ 1033062 h 1089934"/>
                <a:gd name="connsiteX2" fmla="*/ 2205728 w 2205728"/>
                <a:gd name="connsiteY2" fmla="*/ 963261 h 1089934"/>
                <a:gd name="connsiteX3" fmla="*/ 2205728 w 2205728"/>
                <a:gd name="connsiteY3" fmla="*/ 963261 h 1089934"/>
              </a:gdLst>
              <a:ahLst/>
              <a:cxnLst>
                <a:cxn ang="0">
                  <a:pos x="connsiteX0" y="connsiteY0"/>
                </a:cxn>
                <a:cxn ang="0">
                  <a:pos x="connsiteX1" y="connsiteY1"/>
                </a:cxn>
                <a:cxn ang="0">
                  <a:pos x="connsiteX2" y="connsiteY2"/>
                </a:cxn>
                <a:cxn ang="0">
                  <a:pos x="connsiteX3" y="connsiteY3"/>
                </a:cxn>
              </a:cxnLst>
              <a:rect l="l" t="t" r="r" b="b"/>
              <a:pathLst>
                <a:path w="2205728" h="1089934">
                  <a:moveTo>
                    <a:pt x="0" y="0"/>
                  </a:moveTo>
                  <a:cubicBezTo>
                    <a:pt x="353661" y="436259"/>
                    <a:pt x="707322" y="872519"/>
                    <a:pt x="1074943" y="1033062"/>
                  </a:cubicBezTo>
                  <a:cubicBezTo>
                    <a:pt x="1442564" y="1193605"/>
                    <a:pt x="2205728" y="963261"/>
                    <a:pt x="2205728" y="963261"/>
                  </a:cubicBezTo>
                  <a:lnTo>
                    <a:pt x="2205728" y="963261"/>
                  </a:lnTo>
                </a:path>
              </a:pathLst>
            </a:custGeom>
            <a:ln w="57150">
              <a:solidFill>
                <a:schemeClr val="accent2"/>
              </a:solidFill>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10" name="Speech Bubble: Rectangle with Corners Rounded 9">
              <a:extLst>
                <a:ext uri="{FF2B5EF4-FFF2-40B4-BE49-F238E27FC236}">
                  <a16:creationId xmlns:a16="http://schemas.microsoft.com/office/drawing/2014/main" id="{FAAAD2B2-BFA8-BF78-7863-4C4115E8D199}"/>
                </a:ext>
              </a:extLst>
            </p:cNvPr>
            <p:cNvSpPr/>
            <p:nvPr/>
          </p:nvSpPr>
          <p:spPr>
            <a:xfrm>
              <a:off x="6758854" y="1357141"/>
              <a:ext cx="836970" cy="344389"/>
            </a:xfrm>
            <a:prstGeom prst="wedgeRoundRectCallout">
              <a:avLst>
                <a:gd name="adj1" fmla="val 25689"/>
                <a:gd name="adj2" fmla="val 278935"/>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shared</a:t>
              </a:r>
            </a:p>
          </p:txBody>
        </p:sp>
      </p:grpSp>
      <p:sp>
        <p:nvSpPr>
          <p:cNvPr id="13" name="Freeform: Shape 12">
            <a:extLst>
              <a:ext uri="{FF2B5EF4-FFF2-40B4-BE49-F238E27FC236}">
                <a16:creationId xmlns:a16="http://schemas.microsoft.com/office/drawing/2014/main" id="{5AF2F485-520A-5766-2FE9-A0D9972EBAE1}"/>
              </a:ext>
              <a:ext uri="{C183D7F6-B498-43B3-948B-1728B52AA6E4}">
                <adec:decorative xmlns:adec="http://schemas.microsoft.com/office/drawing/2017/decorative" val="1"/>
              </a:ext>
            </a:extLst>
          </p:cNvPr>
          <p:cNvSpPr/>
          <p:nvPr/>
        </p:nvSpPr>
        <p:spPr>
          <a:xfrm flipV="1">
            <a:off x="7216168" y="2224269"/>
            <a:ext cx="2205728" cy="636938"/>
          </a:xfrm>
          <a:custGeom>
            <a:avLst/>
            <a:gdLst>
              <a:gd name="connsiteX0" fmla="*/ 0 w 2205728"/>
              <a:gd name="connsiteY0" fmla="*/ 0 h 1089934"/>
              <a:gd name="connsiteX1" fmla="*/ 1074943 w 2205728"/>
              <a:gd name="connsiteY1" fmla="*/ 1033062 h 1089934"/>
              <a:gd name="connsiteX2" fmla="*/ 2205728 w 2205728"/>
              <a:gd name="connsiteY2" fmla="*/ 963261 h 1089934"/>
              <a:gd name="connsiteX3" fmla="*/ 2205728 w 2205728"/>
              <a:gd name="connsiteY3" fmla="*/ 963261 h 1089934"/>
            </a:gdLst>
            <a:ahLst/>
            <a:cxnLst>
              <a:cxn ang="0">
                <a:pos x="connsiteX0" y="connsiteY0"/>
              </a:cxn>
              <a:cxn ang="0">
                <a:pos x="connsiteX1" y="connsiteY1"/>
              </a:cxn>
              <a:cxn ang="0">
                <a:pos x="connsiteX2" y="connsiteY2"/>
              </a:cxn>
              <a:cxn ang="0">
                <a:pos x="connsiteX3" y="connsiteY3"/>
              </a:cxn>
            </a:cxnLst>
            <a:rect l="l" t="t" r="r" b="b"/>
            <a:pathLst>
              <a:path w="2205728" h="1089934">
                <a:moveTo>
                  <a:pt x="0" y="0"/>
                </a:moveTo>
                <a:cubicBezTo>
                  <a:pt x="353661" y="436259"/>
                  <a:pt x="707322" y="872519"/>
                  <a:pt x="1074943" y="1033062"/>
                </a:cubicBezTo>
                <a:cubicBezTo>
                  <a:pt x="1442564" y="1193605"/>
                  <a:pt x="2205728" y="963261"/>
                  <a:pt x="2205728" y="963261"/>
                </a:cubicBezTo>
                <a:lnTo>
                  <a:pt x="2205728" y="963261"/>
                </a:lnTo>
              </a:path>
            </a:pathLst>
          </a:custGeom>
          <a:ln w="57150">
            <a:solidFill>
              <a:schemeClr val="accent2"/>
            </a:solidFill>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AB8EC7D9-C864-EA1F-681E-59561F65E206}"/>
              </a:ext>
              <a:ext uri="{C183D7F6-B498-43B3-948B-1728B52AA6E4}">
                <adec:decorative xmlns:adec="http://schemas.microsoft.com/office/drawing/2017/decorative" val="1"/>
              </a:ext>
            </a:extLst>
          </p:cNvPr>
          <p:cNvCxnSpPr/>
          <p:nvPr/>
        </p:nvCxnSpPr>
        <p:spPr>
          <a:xfrm>
            <a:off x="9618650" y="2224269"/>
            <a:ext cx="600294" cy="5747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Rectangle 16">
            <a:extLst>
              <a:ext uri="{FF2B5EF4-FFF2-40B4-BE49-F238E27FC236}">
                <a16:creationId xmlns:a16="http://schemas.microsoft.com/office/drawing/2014/main" id="{7478D395-591A-56CD-D7CE-4EAE938304A8}"/>
              </a:ext>
              <a:ext uri="{C183D7F6-B498-43B3-948B-1728B52AA6E4}">
                <adec:decorative xmlns:adec="http://schemas.microsoft.com/office/drawing/2017/decorative" val="1"/>
              </a:ext>
            </a:extLst>
          </p:cNvPr>
          <p:cNvSpPr/>
          <p:nvPr/>
        </p:nvSpPr>
        <p:spPr>
          <a:xfrm>
            <a:off x="10218944" y="2477954"/>
            <a:ext cx="538293" cy="127197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16703875-FB79-26B3-A1ED-3A25D441F192}"/>
              </a:ext>
              <a:ext uri="{C183D7F6-B498-43B3-948B-1728B52AA6E4}">
                <adec:decorative xmlns:adec="http://schemas.microsoft.com/office/drawing/2017/decorative" val="1"/>
              </a:ext>
            </a:extLst>
          </p:cNvPr>
          <p:cNvCxnSpPr>
            <a:cxnSpLocks/>
          </p:cNvCxnSpPr>
          <p:nvPr/>
        </p:nvCxnSpPr>
        <p:spPr>
          <a:xfrm flipV="1">
            <a:off x="9618650" y="3190680"/>
            <a:ext cx="600294" cy="67473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 name="TextBox 6" descr="Equation: Q (s,a; theta to the power (1), theta to the power (2), theta to the power (3)) equals V (s; theta to the power (1), theta to the power (3)) plus (A (s,a; theta to the power (1), theta to the power (2)) minus max over a prime in A, of A (s,a prime; theta to the power (1), theta to the power (2)))">
                <a:extLst>
                  <a:ext uri="{FF2B5EF4-FFF2-40B4-BE49-F238E27FC236}">
                    <a16:creationId xmlns:a16="http://schemas.microsoft.com/office/drawing/2014/main" id="{5961F24E-40ED-CD44-ADBB-882D0AE0613D}"/>
                  </a:ext>
                </a:extLst>
              </p:cNvPr>
              <p:cNvSpPr txBox="1"/>
              <p:nvPr/>
            </p:nvSpPr>
            <p:spPr>
              <a:xfrm>
                <a:off x="1691981" y="5558801"/>
                <a:ext cx="8587166" cy="58214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14:m>
                  <m:oMathPara xmlns:m="http://schemas.openxmlformats.org/officeDocument/2006/math">
                    <m:oMath>
                      <m:r>
                        <a:rPr lang="en-US" b="0" i="1" smtClean="0">
                          <a:latin typeface="Cambria Math" panose="02040503050406030204" pitchFamily="18" charset="0"/>
                        </a:rPr>
                        <m:t>𝑄</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𝜽</m:t>
                              </m:r>
                            </m:e>
                            <m:sup>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p>
                          </m:sSup>
                          <m:r>
                            <a:rPr lang="en-US" b="0" i="1" smtClean="0">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𝜽</m:t>
                              </m:r>
                            </m:e>
                            <m:sup>
                              <m:d>
                                <m:dPr>
                                  <m:ctrlPr>
                                    <a:rPr lang="en-US" b="0" i="1" smtClean="0">
                                      <a:latin typeface="Cambria Math" panose="02040503050406030204" pitchFamily="18" charset="0"/>
                                    </a:rPr>
                                  </m:ctrlPr>
                                </m:dPr>
                                <m:e>
                                  <m:r>
                                    <a:rPr lang="en-US" b="0" i="1" smtClean="0">
                                      <a:latin typeface="Cambria Math" panose="02040503050406030204" pitchFamily="18" charset="0"/>
                                    </a:rPr>
                                    <m:t>2</m:t>
                                  </m:r>
                                </m:e>
                              </m:d>
                            </m:sup>
                          </m:sSup>
                          <m:r>
                            <a:rPr lang="en-US" b="0" i="1" smtClean="0">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𝜽</m:t>
                              </m:r>
                            </m:e>
                            <m:sup>
                              <m:d>
                                <m:dPr>
                                  <m:ctrlPr>
                                    <a:rPr lang="en-US" b="0" i="1" smtClean="0">
                                      <a:latin typeface="Cambria Math" panose="02040503050406030204" pitchFamily="18" charset="0"/>
                                    </a:rPr>
                                  </m:ctrlPr>
                                </m:dPr>
                                <m:e>
                                  <m:r>
                                    <a:rPr lang="en-US" b="0" i="1" smtClean="0">
                                      <a:latin typeface="Cambria Math" panose="02040503050406030204" pitchFamily="18" charset="0"/>
                                    </a:rPr>
                                    <m:t>3</m:t>
                                  </m:r>
                                </m:e>
                              </m:d>
                            </m:sup>
                          </m:sSup>
                        </m:e>
                      </m:d>
                      <m:r>
                        <a:rPr lang="en-US" b="0" i="1" smtClean="0">
                          <a:latin typeface="Cambria Math" panose="02040503050406030204" pitchFamily="18" charset="0"/>
                        </a:rPr>
                        <m:t>=</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𝜽</m:t>
                              </m:r>
                            </m:e>
                            <m:sup>
                              <m:d>
                                <m:dPr>
                                  <m:ctrlPr>
                                    <a:rPr lang="en-US" i="1">
                                      <a:latin typeface="Cambria Math" panose="02040503050406030204" pitchFamily="18" charset="0"/>
                                    </a:rPr>
                                  </m:ctrlPr>
                                </m:dPr>
                                <m:e>
                                  <m:r>
                                    <a:rPr lang="en-US" i="1">
                                      <a:latin typeface="Cambria Math" panose="02040503050406030204" pitchFamily="18" charset="0"/>
                                    </a:rPr>
                                    <m:t>1</m:t>
                                  </m:r>
                                </m:e>
                              </m:d>
                            </m:sup>
                          </m:sSup>
                          <m:r>
                            <a:rPr lang="en-US" b="0" i="1" smtClean="0">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𝜽</m:t>
                              </m:r>
                            </m:e>
                            <m:sup>
                              <m:d>
                                <m:dPr>
                                  <m:ctrlPr>
                                    <a:rPr lang="en-US" b="0" i="1" smtClean="0">
                                      <a:latin typeface="Cambria Math" panose="02040503050406030204" pitchFamily="18" charset="0"/>
                                    </a:rPr>
                                  </m:ctrlPr>
                                </m:dPr>
                                <m:e>
                                  <m:r>
                                    <a:rPr lang="en-US" b="0" i="1" smtClean="0">
                                      <a:latin typeface="Cambria Math" panose="02040503050406030204" pitchFamily="18" charset="0"/>
                                    </a:rPr>
                                    <m:t>3</m:t>
                                  </m:r>
                                </m:e>
                              </m:d>
                            </m:sup>
                          </m:sSup>
                        </m:e>
                      </m:d>
                      <m:r>
                        <a:rPr lang="en-US" b="0" i="0" smtClean="0">
                          <a:latin typeface="Cambria Math" panose="02040503050406030204" pitchFamily="18" charset="0"/>
                        </a:rPr>
                        <m:t>+</m:t>
                      </m:r>
                      <m:d>
                        <m:dPr>
                          <m:ctrlPr>
                            <a:rPr lang="en-US">
                              <a:latin typeface="Cambria Math" panose="02040503050406030204" pitchFamily="18" charset="0"/>
                            </a:rPr>
                          </m:ctrlPr>
                        </m:dPr>
                        <m:e>
                          <m:r>
                            <m:rPr>
                              <m:sty m:val="p"/>
                            </m:rPr>
                            <a:rPr lang="en-US">
                              <a:latin typeface="Cambria Math" panose="02040503050406030204" pitchFamily="18" charset="0"/>
                            </a:rPr>
                            <m:t>A</m:t>
                          </m:r>
                          <m:d>
                            <m:dPr>
                              <m:ctrlPr>
                                <a:rPr lang="en-US">
                                  <a:latin typeface="Cambria Math" panose="02040503050406030204" pitchFamily="18" charset="0"/>
                                </a:rPr>
                              </m:ctrlPr>
                            </m:dPr>
                            <m:e>
                              <m:r>
                                <m:rPr>
                                  <m:sty m:val="p"/>
                                </m:rPr>
                                <a:rPr lang="en-US">
                                  <a:latin typeface="Cambria Math" panose="02040503050406030204" pitchFamily="18" charset="0"/>
                                </a:rPr>
                                <m:t>s</m:t>
                              </m:r>
                              <m:r>
                                <a:rPr lang="en-US">
                                  <a:latin typeface="Cambria Math" panose="02040503050406030204" pitchFamily="18" charset="0"/>
                                </a:rPr>
                                <m:t>,</m:t>
                              </m:r>
                              <m:r>
                                <m:rPr>
                                  <m:sty m:val="p"/>
                                </m:rPr>
                                <a:rPr lang="en-US">
                                  <a:latin typeface="Cambria Math" panose="02040503050406030204" pitchFamily="18" charset="0"/>
                                </a:rPr>
                                <m:t>a</m:t>
                              </m:r>
                              <m:r>
                                <a:rPr lang="en-US">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𝜽</m:t>
                                  </m:r>
                                </m:e>
                                <m:sup>
                                  <m:d>
                                    <m:dPr>
                                      <m:ctrlPr>
                                        <a:rPr lang="en-US" i="1">
                                          <a:latin typeface="Cambria Math" panose="02040503050406030204" pitchFamily="18" charset="0"/>
                                        </a:rPr>
                                      </m:ctrlPr>
                                    </m:dPr>
                                    <m:e>
                                      <m:r>
                                        <a:rPr lang="en-US" i="1">
                                          <a:latin typeface="Cambria Math" panose="02040503050406030204" pitchFamily="18" charset="0"/>
                                        </a:rPr>
                                        <m:t>1</m:t>
                                      </m:r>
                                    </m:e>
                                  </m:d>
                                </m:sup>
                              </m:sSup>
                              <m:r>
                                <a:rPr lang="en-US" i="1">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𝜽</m:t>
                                  </m:r>
                                </m:e>
                                <m:sup>
                                  <m:d>
                                    <m:dPr>
                                      <m:ctrlPr>
                                        <a:rPr lang="en-US" i="1">
                                          <a:latin typeface="Cambria Math" panose="02040503050406030204" pitchFamily="18" charset="0"/>
                                        </a:rPr>
                                      </m:ctrlPr>
                                    </m:dPr>
                                    <m:e>
                                      <m:r>
                                        <a:rPr lang="en-US" i="1">
                                          <a:latin typeface="Cambria Math" panose="02040503050406030204" pitchFamily="18" charset="0"/>
                                        </a:rPr>
                                        <m:t>2</m:t>
                                      </m:r>
                                    </m:e>
                                  </m:d>
                                </m:sup>
                              </m:sSup>
                            </m:e>
                          </m:d>
                          <m:r>
                            <a:rPr lang="en-US" b="0" i="0"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max</m:t>
                                  </m:r>
                                </m:e>
                                <m:lim>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𝒜</m:t>
                                  </m:r>
                                </m:lim>
                              </m:limLow>
                            </m:fName>
                            <m:e>
                              <m:r>
                                <m:rPr>
                                  <m:sty m:val="p"/>
                                </m:rPr>
                                <a:rPr lang="en-US">
                                  <a:latin typeface="Cambria Math" panose="02040503050406030204" pitchFamily="18" charset="0"/>
                                </a:rPr>
                                <m:t>A</m:t>
                              </m:r>
                              <m:d>
                                <m:dPr>
                                  <m:ctrlPr>
                                    <a:rPr lang="en-US">
                                      <a:latin typeface="Cambria Math" panose="02040503050406030204" pitchFamily="18" charset="0"/>
                                    </a:rPr>
                                  </m:ctrlPr>
                                </m:dPr>
                                <m:e>
                                  <m:r>
                                    <m:rPr>
                                      <m:sty m:val="p"/>
                                    </m:rPr>
                                    <a:rPr lang="en-US">
                                      <a:latin typeface="Cambria Math" panose="02040503050406030204" pitchFamily="18" charset="0"/>
                                    </a:rPr>
                                    <m:t>s</m:t>
                                  </m:r>
                                  <m:r>
                                    <a:rPr lang="en-US">
                                      <a:latin typeface="Cambria Math" panose="02040503050406030204" pitchFamily="18" charset="0"/>
                                    </a:rPr>
                                    <m:t>,</m:t>
                                  </m:r>
                                  <m:r>
                                    <m:rPr>
                                      <m:sty m:val="p"/>
                                    </m:rPr>
                                    <a:rPr lang="en-US">
                                      <a:latin typeface="Cambria Math" panose="02040503050406030204" pitchFamily="18" charset="0"/>
                                    </a:rPr>
                                    <m:t>a</m:t>
                                  </m:r>
                                  <m:r>
                                    <a:rPr lang="en-US" b="0" i="0" smtClean="0">
                                      <a:latin typeface="Cambria Math" panose="02040503050406030204" pitchFamily="18" charset="0"/>
                                    </a:rPr>
                                    <m:t>′</m:t>
                                  </m:r>
                                  <m:r>
                                    <a:rPr lang="en-US">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𝜽</m:t>
                                      </m:r>
                                    </m:e>
                                    <m:sup>
                                      <m:d>
                                        <m:dPr>
                                          <m:ctrlPr>
                                            <a:rPr lang="en-US" i="1">
                                              <a:latin typeface="Cambria Math" panose="02040503050406030204" pitchFamily="18" charset="0"/>
                                            </a:rPr>
                                          </m:ctrlPr>
                                        </m:dPr>
                                        <m:e>
                                          <m:r>
                                            <a:rPr lang="en-US" i="1">
                                              <a:latin typeface="Cambria Math" panose="02040503050406030204" pitchFamily="18" charset="0"/>
                                            </a:rPr>
                                            <m:t>1</m:t>
                                          </m:r>
                                        </m:e>
                                      </m:d>
                                    </m:sup>
                                  </m:sSup>
                                  <m:r>
                                    <a:rPr lang="en-US" i="1">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𝜽</m:t>
                                      </m:r>
                                    </m:e>
                                    <m:sup>
                                      <m:d>
                                        <m:dPr>
                                          <m:ctrlPr>
                                            <a:rPr lang="en-US" i="1">
                                              <a:latin typeface="Cambria Math" panose="02040503050406030204" pitchFamily="18" charset="0"/>
                                            </a:rPr>
                                          </m:ctrlPr>
                                        </m:dPr>
                                        <m:e>
                                          <m:r>
                                            <a:rPr lang="en-US" i="1">
                                              <a:latin typeface="Cambria Math" panose="02040503050406030204" pitchFamily="18" charset="0"/>
                                            </a:rPr>
                                            <m:t>2</m:t>
                                          </m:r>
                                        </m:e>
                                      </m:d>
                                    </m:sup>
                                  </m:sSup>
                                </m:e>
                              </m:d>
                            </m:e>
                          </m:func>
                        </m:e>
                      </m:d>
                    </m:oMath>
                  </m:oMathPara>
                </a14:m>
                <a:endParaRPr lang="en-US" dirty="0"/>
              </a:p>
            </p:txBody>
          </p:sp>
        </mc:Choice>
        <mc:Fallback xmlns="">
          <p:sp>
            <p:nvSpPr>
              <p:cNvPr id="7" name="TextBox 6" descr="Equation: Q (s,a; theta to the power (1), theta to the power (2), theta to the power (3)) equals V (s; theta to the power (1), theta to the power (3)) plus (A (s,a; theta to the power (1), theta to the power (2)) minus max over a prime in A, of A (s,a prime; theta to the power (1), theta to the power (2)))">
                <a:extLst>
                  <a:ext uri="{FF2B5EF4-FFF2-40B4-BE49-F238E27FC236}">
                    <a16:creationId xmlns:a16="http://schemas.microsoft.com/office/drawing/2014/main" id="{5961F24E-40ED-CD44-ADBB-882D0AE0613D}"/>
                  </a:ext>
                </a:extLst>
              </p:cNvPr>
              <p:cNvSpPr txBox="1">
                <a:spLocks noRot="1" noChangeAspect="1" noMove="1" noResize="1" noEditPoints="1" noAdjustHandles="1" noChangeArrowheads="1" noChangeShapeType="1" noTextEdit="1"/>
              </p:cNvSpPr>
              <p:nvPr/>
            </p:nvSpPr>
            <p:spPr>
              <a:xfrm>
                <a:off x="1691981" y="5558801"/>
                <a:ext cx="8587166" cy="582147"/>
              </a:xfrm>
              <a:prstGeom prst="rect">
                <a:avLst/>
              </a:prstGeom>
              <a:blipFill>
                <a:blip r:embed="rId4"/>
                <a:stretch>
                  <a:fillRect/>
                </a:stretch>
              </a:blipFill>
            </p:spPr>
            <p:txBody>
              <a:bodyPr/>
              <a:lstStyle/>
              <a:p>
                <a:r>
                  <a:rPr lang="en-US">
                    <a:noFill/>
                  </a:rPr>
                  <a:t> </a:t>
                </a:r>
              </a:p>
            </p:txBody>
          </p:sp>
        </mc:Fallback>
      </mc:AlternateContent>
      <p:sp>
        <p:nvSpPr>
          <p:cNvPr id="8" name="Right Brace 7">
            <a:extLst>
              <a:ext uri="{FF2B5EF4-FFF2-40B4-BE49-F238E27FC236}">
                <a16:creationId xmlns:a16="http://schemas.microsoft.com/office/drawing/2014/main" id="{3D1D6CD2-DC69-97EC-FAD0-0A338B4A03D4}"/>
              </a:ext>
              <a:ext uri="{C183D7F6-B498-43B3-948B-1728B52AA6E4}">
                <adec:decorative xmlns:adec="http://schemas.microsoft.com/office/drawing/2017/decorative" val="1"/>
              </a:ext>
            </a:extLst>
          </p:cNvPr>
          <p:cNvSpPr/>
          <p:nvPr/>
        </p:nvSpPr>
        <p:spPr>
          <a:xfrm rot="5400000">
            <a:off x="7935894" y="4110771"/>
            <a:ext cx="241844" cy="432425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Freeform: Shape 15">
            <a:extLst>
              <a:ext uri="{FF2B5EF4-FFF2-40B4-BE49-F238E27FC236}">
                <a16:creationId xmlns:a16="http://schemas.microsoft.com/office/drawing/2014/main" id="{E1BF4EDC-516B-55FD-19B0-6076A0C6D999}"/>
              </a:ext>
              <a:ext uri="{C183D7F6-B498-43B3-948B-1728B52AA6E4}">
                <adec:decorative xmlns:adec="http://schemas.microsoft.com/office/drawing/2017/decorative" val="1"/>
              </a:ext>
            </a:extLst>
          </p:cNvPr>
          <p:cNvSpPr/>
          <p:nvPr/>
        </p:nvSpPr>
        <p:spPr>
          <a:xfrm>
            <a:off x="10115176" y="4006608"/>
            <a:ext cx="384843" cy="1877661"/>
          </a:xfrm>
          <a:custGeom>
            <a:avLst/>
            <a:gdLst>
              <a:gd name="connsiteX0" fmla="*/ 0 w 384843"/>
              <a:gd name="connsiteY0" fmla="*/ 1710137 h 1710137"/>
              <a:gd name="connsiteX1" fmla="*/ 335048 w 384843"/>
              <a:gd name="connsiteY1" fmla="*/ 1228506 h 1710137"/>
              <a:gd name="connsiteX2" fmla="*/ 376929 w 384843"/>
              <a:gd name="connsiteY2" fmla="*/ 0 h 1710137"/>
            </a:gdLst>
            <a:ahLst/>
            <a:cxnLst>
              <a:cxn ang="0">
                <a:pos x="connsiteX0" y="connsiteY0"/>
              </a:cxn>
              <a:cxn ang="0">
                <a:pos x="connsiteX1" y="connsiteY1"/>
              </a:cxn>
              <a:cxn ang="0">
                <a:pos x="connsiteX2" y="connsiteY2"/>
              </a:cxn>
            </a:cxnLst>
            <a:rect l="l" t="t" r="r" b="b"/>
            <a:pathLst>
              <a:path w="384843" h="1710137">
                <a:moveTo>
                  <a:pt x="0" y="1710137"/>
                </a:moveTo>
                <a:cubicBezTo>
                  <a:pt x="136113" y="1611833"/>
                  <a:pt x="272227" y="1513529"/>
                  <a:pt x="335048" y="1228506"/>
                </a:cubicBezTo>
                <a:cubicBezTo>
                  <a:pt x="397869" y="943483"/>
                  <a:pt x="387399" y="471741"/>
                  <a:pt x="376929" y="0"/>
                </a:cubicBezTo>
              </a:path>
            </a:pathLst>
          </a:custGeom>
          <a:noFill/>
          <a:ln w="57150">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descr="Becomes 0 for a equals a star">
                <a:extLst>
                  <a:ext uri="{FF2B5EF4-FFF2-40B4-BE49-F238E27FC236}">
                    <a16:creationId xmlns:a16="http://schemas.microsoft.com/office/drawing/2014/main" id="{26574524-DD76-B303-75C8-B0EF9D64B95C}"/>
                  </a:ext>
                </a:extLst>
              </p:cNvPr>
              <p:cNvSpPr txBox="1"/>
              <p:nvPr/>
            </p:nvSpPr>
            <p:spPr>
              <a:xfrm>
                <a:off x="6819610" y="6393820"/>
                <a:ext cx="2352312" cy="369332"/>
              </a:xfrm>
              <a:prstGeom prst="rect">
                <a:avLst/>
              </a:prstGeom>
              <a:noFill/>
            </p:spPr>
            <p:txBody>
              <a:bodyPr wrap="square" rtlCol="0">
                <a:spAutoFit/>
              </a:bodyPr>
              <a:lstStyle/>
              <a:p>
                <a:r>
                  <a:rPr lang="en-US" dirty="0"/>
                  <a:t>Becomes 0 for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oMath>
                </a14:m>
                <a:endParaRPr lang="en-US" dirty="0"/>
              </a:p>
            </p:txBody>
          </p:sp>
        </mc:Choice>
        <mc:Fallback xmlns="">
          <p:sp>
            <p:nvSpPr>
              <p:cNvPr id="9" name="TextBox 8" descr="Becomes 0 for a equals a star">
                <a:extLst>
                  <a:ext uri="{FF2B5EF4-FFF2-40B4-BE49-F238E27FC236}">
                    <a16:creationId xmlns:a16="http://schemas.microsoft.com/office/drawing/2014/main" id="{26574524-DD76-B303-75C8-B0EF9D64B95C}"/>
                  </a:ext>
                </a:extLst>
              </p:cNvPr>
              <p:cNvSpPr txBox="1">
                <a:spLocks noRot="1" noChangeAspect="1" noMove="1" noResize="1" noEditPoints="1" noAdjustHandles="1" noChangeArrowheads="1" noChangeShapeType="1" noTextEdit="1"/>
              </p:cNvSpPr>
              <p:nvPr/>
            </p:nvSpPr>
            <p:spPr>
              <a:xfrm>
                <a:off x="6819610" y="6393820"/>
                <a:ext cx="2352312" cy="369332"/>
              </a:xfrm>
              <a:prstGeom prst="rect">
                <a:avLst/>
              </a:prstGeom>
              <a:blipFill>
                <a:blip r:embed="rId5"/>
                <a:stretch>
                  <a:fillRect l="-2332" t="-8333" b="-28333"/>
                </a:stretch>
              </a:blipFill>
            </p:spPr>
            <p:txBody>
              <a:bodyPr/>
              <a:lstStyle/>
              <a:p>
                <a:r>
                  <a:rPr lang="en-US">
                    <a:noFill/>
                  </a:rPr>
                  <a:t> </a:t>
                </a:r>
              </a:p>
            </p:txBody>
          </p:sp>
        </mc:Fallback>
      </mc:AlternateContent>
      <p:sp>
        <p:nvSpPr>
          <p:cNvPr id="4" name="Speech Bubble: Rectangle with Corners Rounded 3">
            <a:extLst>
              <a:ext uri="{FF2B5EF4-FFF2-40B4-BE49-F238E27FC236}">
                <a16:creationId xmlns:a16="http://schemas.microsoft.com/office/drawing/2014/main" id="{C6B66CC1-9ED6-8E81-EB92-CE4F091D27F5}"/>
              </a:ext>
              <a:ext uri="{C183D7F6-B498-43B3-948B-1728B52AA6E4}">
                <adec:decorative xmlns:adec="http://schemas.microsoft.com/office/drawing/2017/decorative" val="1"/>
              </a:ext>
            </a:extLst>
          </p:cNvPr>
          <p:cNvSpPr/>
          <p:nvPr/>
        </p:nvSpPr>
        <p:spPr>
          <a:xfrm>
            <a:off x="6743116" y="1357141"/>
            <a:ext cx="836970" cy="344389"/>
          </a:xfrm>
          <a:prstGeom prst="wedgeRoundRectCallout">
            <a:avLst>
              <a:gd name="adj1" fmla="val 25689"/>
              <a:gd name="adj2" fmla="val 278935"/>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shared</a:t>
            </a:r>
          </a:p>
        </p:txBody>
      </p:sp>
    </p:spTree>
    <p:extLst>
      <p:ext uri="{BB962C8B-B14F-4D97-AF65-F5344CB8AC3E}">
        <p14:creationId xmlns:p14="http://schemas.microsoft.com/office/powerpoint/2010/main" val="1903537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descr="n -step Methods in DQN-type Algorithms">
                <a:extLst>
                  <a:ext uri="{FF2B5EF4-FFF2-40B4-BE49-F238E27FC236}">
                    <a16:creationId xmlns:a16="http://schemas.microsoft.com/office/drawing/2014/main" id="{D67A84E8-1615-9449-0CE4-1037DEA58695}"/>
                  </a:ext>
                </a:extLst>
              </p:cNvPr>
              <p:cNvSpPr>
                <a:spLocks noGrp="1"/>
              </p:cNvSpPr>
              <p:nvPr>
                <p:ph type="title"/>
              </p:nvPr>
            </p:nvSpPr>
            <p:spPr/>
            <p:txBody>
              <a:bodyPr/>
              <a:lstStyle/>
              <a:p>
                <a14:m>
                  <m:oMath xmlns:m="http://schemas.openxmlformats.org/officeDocument/2006/math">
                    <m:r>
                      <a:rPr lang="en-US" b="0" i="1" dirty="0" smtClean="0">
                        <a:latin typeface="Cambria Math" panose="02040503050406030204" pitchFamily="18" charset="0"/>
                      </a:rPr>
                      <m:t>𝑛</m:t>
                    </m:r>
                  </m:oMath>
                </a14:m>
                <a:r>
                  <a:rPr lang="en-US" dirty="0"/>
                  <a:t>-step Methods in DQN-type Algorithms</a:t>
                </a:r>
              </a:p>
            </p:txBody>
          </p:sp>
        </mc:Choice>
        <mc:Fallback xmlns="">
          <p:sp>
            <p:nvSpPr>
              <p:cNvPr id="2" name="Title 1" descr="n -step Methods in DQN-type Algorithms">
                <a:extLst>
                  <a:ext uri="{FF2B5EF4-FFF2-40B4-BE49-F238E27FC236}">
                    <a16:creationId xmlns:a16="http://schemas.microsoft.com/office/drawing/2014/main" id="{D67A84E8-1615-9449-0CE4-1037DEA58695}"/>
                  </a:ext>
                </a:extLst>
              </p:cNvPr>
              <p:cNvSpPr>
                <a:spLocks noGrp="1" noRot="1" noChangeAspect="1" noMove="1" noResize="1" noEditPoints="1" noAdjustHandles="1" noChangeArrowheads="1" noChangeShapeType="1" noTextEdit="1"/>
              </p:cNvSpPr>
              <p:nvPr>
                <p:ph type="title"/>
              </p:nvPr>
            </p:nvSpPr>
            <p:spPr>
              <a:blipFill>
                <a:blip r:embed="rId2"/>
                <a:stretch>
                  <a:fillRect t="-20161" b="-35484"/>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99912B6C-BFEF-847D-F6D9-B1C21791920C}"/>
              </a:ext>
            </a:extLst>
          </p:cNvPr>
          <p:cNvSpPr txBox="1"/>
          <p:nvPr/>
        </p:nvSpPr>
        <p:spPr>
          <a:xfrm>
            <a:off x="583371" y="1394648"/>
            <a:ext cx="3586345" cy="175432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b="1" dirty="0"/>
              <a:t>Bootstrapping (one-step)</a:t>
            </a:r>
          </a:p>
          <a:p>
            <a:endParaRPr lang="en-US" dirty="0"/>
          </a:p>
          <a:p>
            <a:pPr marL="285750" indent="-285750">
              <a:buFontTx/>
              <a:buChar char="-"/>
            </a:pPr>
            <a:r>
              <a:rPr lang="en-US" u="sng" dirty="0"/>
              <a:t>Instability</a:t>
            </a:r>
            <a:r>
              <a:rPr lang="en-US" dirty="0"/>
              <a:t> with function approximation (uses its own prediction).</a:t>
            </a:r>
          </a:p>
          <a:p>
            <a:r>
              <a:rPr lang="en-US" dirty="0"/>
              <a:t>+    Can use </a:t>
            </a:r>
            <a:r>
              <a:rPr lang="en-US" u="sng" dirty="0"/>
              <a:t>off-policy learning</a:t>
            </a:r>
            <a:r>
              <a:rPr lang="en-US" dirty="0"/>
              <a:t>.</a:t>
            </a:r>
          </a:p>
        </p:txBody>
      </p:sp>
      <mc:AlternateContent xmlns:mc="http://schemas.openxmlformats.org/markup-compatibility/2006" xmlns:a14="http://schemas.microsoft.com/office/drawing/2010/main">
        <mc:Choice Requires="a14">
          <p:sp>
            <p:nvSpPr>
              <p:cNvPr id="10" name="TextBox 9" descr="Less Bootstrapping (n -step). + Less instability. + Quicker information propagation for delayed rewards">
                <a:extLst>
                  <a:ext uri="{FF2B5EF4-FFF2-40B4-BE49-F238E27FC236}">
                    <a16:creationId xmlns:a16="http://schemas.microsoft.com/office/drawing/2014/main" id="{CCACAA29-D5E9-0B02-1CF9-BA39F2B431F4}"/>
                  </a:ext>
                </a:extLst>
              </p:cNvPr>
              <p:cNvSpPr txBox="1"/>
              <p:nvPr/>
            </p:nvSpPr>
            <p:spPr>
              <a:xfrm>
                <a:off x="4374177" y="1394648"/>
                <a:ext cx="3447614" cy="175432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b="1" dirty="0"/>
                  <a:t>Less Bootstrapping (</a:t>
                </a:r>
                <a14:m>
                  <m:oMath xmlns:m="http://schemas.openxmlformats.org/officeDocument/2006/math">
                    <m:r>
                      <a:rPr lang="en-US" b="1" i="1" dirty="0" smtClean="0">
                        <a:latin typeface="Cambria Math" panose="02040503050406030204" pitchFamily="18" charset="0"/>
                      </a:rPr>
                      <m:t>𝒏</m:t>
                    </m:r>
                  </m:oMath>
                </a14:m>
                <a:r>
                  <a:rPr lang="en-US" b="1" dirty="0"/>
                  <a:t>-step)</a:t>
                </a:r>
              </a:p>
              <a:p>
                <a:endParaRPr lang="en-US" dirty="0"/>
              </a:p>
              <a:p>
                <a:r>
                  <a:rPr lang="en-US" dirty="0"/>
                  <a:t>+    </a:t>
                </a:r>
                <a:r>
                  <a:rPr lang="en-US" u="sng" dirty="0"/>
                  <a:t>Less instability</a:t>
                </a:r>
              </a:p>
              <a:p>
                <a:r>
                  <a:rPr lang="en-US" dirty="0"/>
                  <a:t>+    Quicker information </a:t>
                </a:r>
                <a:br>
                  <a:rPr lang="en-US" dirty="0"/>
                </a:br>
                <a:r>
                  <a:rPr lang="en-US" dirty="0"/>
                  <a:t>       propagation   </a:t>
                </a:r>
                <a:br>
                  <a:rPr lang="en-US" dirty="0"/>
                </a:br>
                <a:r>
                  <a:rPr lang="en-US" dirty="0"/>
                  <a:t>       for </a:t>
                </a:r>
                <a:r>
                  <a:rPr lang="en-US" u="sng" dirty="0"/>
                  <a:t>delayed rewards</a:t>
                </a:r>
                <a:r>
                  <a:rPr lang="en-US" dirty="0"/>
                  <a:t>.</a:t>
                </a:r>
              </a:p>
            </p:txBody>
          </p:sp>
        </mc:Choice>
        <mc:Fallback xmlns="">
          <p:sp>
            <p:nvSpPr>
              <p:cNvPr id="10" name="TextBox 9" descr="Less Bootstrapping (n -step). + Less instability. + Quicker information propagation for delayed rewards">
                <a:extLst>
                  <a:ext uri="{FF2B5EF4-FFF2-40B4-BE49-F238E27FC236}">
                    <a16:creationId xmlns:a16="http://schemas.microsoft.com/office/drawing/2014/main" id="{CCACAA29-D5E9-0B02-1CF9-BA39F2B431F4}"/>
                  </a:ext>
                </a:extLst>
              </p:cNvPr>
              <p:cNvSpPr txBox="1">
                <a:spLocks noRot="1" noChangeAspect="1" noMove="1" noResize="1" noEditPoints="1" noAdjustHandles="1" noChangeArrowheads="1" noChangeShapeType="1" noTextEdit="1"/>
              </p:cNvSpPr>
              <p:nvPr/>
            </p:nvSpPr>
            <p:spPr>
              <a:xfrm>
                <a:off x="4374177" y="1394648"/>
                <a:ext cx="3447614" cy="1754326"/>
              </a:xfrm>
              <a:prstGeom prst="rect">
                <a:avLst/>
              </a:prstGeom>
              <a:blipFill>
                <a:blip r:embed="rId4"/>
                <a:stretch>
                  <a:fillRect l="-1408" t="-1375" b="-4124"/>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78764291-FF90-CA4D-2C21-61F8F992C5D0}"/>
              </a:ext>
            </a:extLst>
          </p:cNvPr>
          <p:cNvSpPr txBox="1"/>
          <p:nvPr/>
        </p:nvSpPr>
        <p:spPr>
          <a:xfrm>
            <a:off x="8026252" y="1394648"/>
            <a:ext cx="3751251" cy="175432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b="1" dirty="0"/>
              <a:t>MC (no bootstrapping)</a:t>
            </a:r>
          </a:p>
          <a:p>
            <a:endParaRPr lang="en-US" dirty="0"/>
          </a:p>
          <a:p>
            <a:r>
              <a:rPr lang="en-US" dirty="0"/>
              <a:t>+    </a:t>
            </a:r>
            <a:r>
              <a:rPr lang="en-US" u="sng" dirty="0"/>
              <a:t>Stable</a:t>
            </a:r>
          </a:p>
          <a:p>
            <a:r>
              <a:rPr lang="en-US" dirty="0"/>
              <a:t>-     Only on-policy learning leads to</a:t>
            </a:r>
            <a:br>
              <a:rPr lang="en-US" dirty="0"/>
            </a:br>
            <a:r>
              <a:rPr lang="en-US" dirty="0"/>
              <a:t>       sample inefficiency </a:t>
            </a:r>
            <a:br>
              <a:rPr lang="en-US" dirty="0"/>
            </a:br>
            <a:r>
              <a:rPr lang="en-US" dirty="0"/>
              <a:t>       (cannot use replay memory).</a:t>
            </a:r>
          </a:p>
        </p:txBody>
      </p:sp>
      <p:sp>
        <p:nvSpPr>
          <p:cNvPr id="12" name="Arrow: Left-Right 11">
            <a:extLst>
              <a:ext uri="{FF2B5EF4-FFF2-40B4-BE49-F238E27FC236}">
                <a16:creationId xmlns:a16="http://schemas.microsoft.com/office/drawing/2014/main" id="{E7867777-EEB4-08ED-78B0-A64540D4C39F}"/>
              </a:ext>
              <a:ext uri="{C183D7F6-B498-43B3-948B-1728B52AA6E4}">
                <adec:decorative xmlns:adec="http://schemas.microsoft.com/office/drawing/2017/decorative" val="1"/>
              </a:ext>
            </a:extLst>
          </p:cNvPr>
          <p:cNvSpPr/>
          <p:nvPr/>
        </p:nvSpPr>
        <p:spPr>
          <a:xfrm>
            <a:off x="1503860" y="3056167"/>
            <a:ext cx="9004397" cy="46069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descr="n -step methods are between Q-learning (one-step) and MC, which does not bootstrap. Use n -step target for DQN-type algorithms: U sub k, to the power n, equals the sum over t equals 0 to n minus 1, of gamma to the power t r sub t plus gamma to the power n max over a prime in A, of Q(s sub n,a prime; theta sub k, to the power). Traces can also be used">
                <a:extLst>
                  <a:ext uri="{FF2B5EF4-FFF2-40B4-BE49-F238E27FC236}">
                    <a16:creationId xmlns:a16="http://schemas.microsoft.com/office/drawing/2014/main" id="{593D9D0D-F042-181A-EF17-8ABC2143A7A2}"/>
                  </a:ext>
                </a:extLst>
              </p:cNvPr>
              <p:cNvSpPr>
                <a:spLocks noGrp="1"/>
              </p:cNvSpPr>
              <p:nvPr>
                <p:ph idx="1"/>
              </p:nvPr>
            </p:nvSpPr>
            <p:spPr>
              <a:xfrm>
                <a:off x="748259" y="3728300"/>
                <a:ext cx="10515600" cy="2623238"/>
              </a:xfrm>
            </p:spPr>
            <p:txBody>
              <a:bodyPr>
                <a:normAutofit fontScale="77500" lnSpcReduction="20000"/>
              </a:bodyPr>
              <a:lstStyle/>
              <a:p>
                <a14:m>
                  <m:oMath xmlns:m="http://schemas.openxmlformats.org/officeDocument/2006/math">
                    <m:r>
                      <a:rPr lang="en-US" b="1" i="1" dirty="0" smtClean="0">
                        <a:latin typeface="Cambria Math" panose="02040503050406030204" pitchFamily="18" charset="0"/>
                      </a:rPr>
                      <m:t>𝒏</m:t>
                    </m:r>
                  </m:oMath>
                </a14:m>
                <a:r>
                  <a:rPr lang="en-US" b="1" dirty="0"/>
                  <a:t>-step </a:t>
                </a:r>
                <a:r>
                  <a:rPr lang="en-US" dirty="0"/>
                  <a:t>methods are between Q-learning (one-step) and MC, which does not bootstrap.</a:t>
                </a:r>
              </a:p>
              <a:p>
                <a:r>
                  <a:rPr lang="en-US" dirty="0"/>
                  <a:t>Use </a:t>
                </a:r>
                <a14:m>
                  <m:oMath xmlns:m="http://schemas.openxmlformats.org/officeDocument/2006/math">
                    <m:r>
                      <a:rPr lang="en-US" b="0" i="1" smtClean="0">
                        <a:latin typeface="Cambria Math" panose="02040503050406030204" pitchFamily="18" charset="0"/>
                      </a:rPr>
                      <m:t>𝑛</m:t>
                    </m:r>
                  </m:oMath>
                </a14:m>
                <a:r>
                  <a:rPr lang="en-US" dirty="0"/>
                  <a:t>-step target for DQN-type algorithms:</a:t>
                </a:r>
                <a:br>
                  <a:rPr lang="en-US" dirty="0"/>
                </a:br>
                <a:br>
                  <a:rPr lang="en-US" dirty="0"/>
                </a:b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𝑈</m:t>
                        </m:r>
                      </m:e>
                      <m:sub>
                        <m:r>
                          <a:rPr lang="en-US" i="1">
                            <a:latin typeface="Cambria Math" panose="02040503050406030204" pitchFamily="18" charset="0"/>
                          </a:rPr>
                          <m:t>𝑘</m:t>
                        </m:r>
                      </m:sub>
                      <m:sup>
                        <m:r>
                          <a:rPr lang="en-US" b="0" i="1" smtClean="0">
                            <a:latin typeface="Cambria Math" panose="02040503050406030204" pitchFamily="18" charset="0"/>
                          </a:rPr>
                          <m:t>𝑛</m:t>
                        </m:r>
                      </m:sup>
                    </m:sSubSup>
                    <m:r>
                      <a:rPr lang="en-US" i="1">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𝑡</m:t>
                        </m:r>
                        <m:r>
                          <a:rPr lang="en-US" b="0" i="1" smtClean="0">
                            <a:latin typeface="Cambria Math" panose="02040503050406030204" pitchFamily="18" charset="0"/>
                          </a:rPr>
                          <m:t>=0</m:t>
                        </m:r>
                      </m:sub>
                      <m:sup>
                        <m:r>
                          <a:rPr lang="en-US" b="0" i="1" smtClean="0">
                            <a:latin typeface="Cambria Math" panose="02040503050406030204" pitchFamily="18" charset="0"/>
                          </a:rPr>
                          <m:t>𝑛</m:t>
                        </m:r>
                        <m:r>
                          <a:rPr lang="en-US" b="0" i="1" smtClean="0">
                            <a:latin typeface="Cambria Math" panose="02040503050406030204" pitchFamily="18" charset="0"/>
                          </a:rPr>
                          <m:t>−1</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𝛾</m:t>
                            </m:r>
                          </m:e>
                          <m:sup>
                            <m:r>
                              <a:rPr lang="en-US" b="0" i="1" smtClean="0">
                                <a:latin typeface="Cambria Math" panose="02040503050406030204" pitchFamily="18" charset="0"/>
                              </a:rPr>
                              <m:t>𝑡</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e>
                    </m:nary>
                    <m:r>
                      <a:rPr lang="en-US" b="0" i="1" smtClean="0">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b="0" i="1" smtClean="0">
                            <a:latin typeface="Cambria Math" panose="02040503050406030204" pitchFamily="18" charset="0"/>
                          </a:rPr>
                          <m:t>𝑛</m:t>
                        </m:r>
                      </m:sup>
                    </m:sSup>
                    <m:r>
                      <a:rPr lang="en-US" i="1">
                        <a:latin typeface="Cambria Math" panose="02040503050406030204" pitchFamily="18" charset="0"/>
                      </a:rPr>
                      <m:t> </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𝒜</m:t>
                            </m:r>
                          </m:lim>
                        </m:limLow>
                      </m:fName>
                      <m:e>
                        <m:r>
                          <a:rPr lang="en-US" i="1">
                            <a:latin typeface="Cambria Math" panose="02040503050406030204" pitchFamily="18" charset="0"/>
                          </a:rPr>
                          <m:t>𝑄</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𝑛</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r>
                          <a:rPr lang="en-US" i="1">
                            <a:latin typeface="Cambria Math" panose="02040503050406030204" pitchFamily="18" charset="0"/>
                          </a:rPr>
                          <m:t>;</m:t>
                        </m:r>
                        <m:sSubSup>
                          <m:sSubSupPr>
                            <m:ctrlPr>
                              <a:rPr lang="en-US" b="1" i="1">
                                <a:latin typeface="Cambria Math" panose="02040503050406030204" pitchFamily="18" charset="0"/>
                              </a:rPr>
                            </m:ctrlPr>
                          </m:sSubSupPr>
                          <m:e>
                            <m:r>
                              <a:rPr lang="en-US" b="1" i="1">
                                <a:latin typeface="Cambria Math" panose="02040503050406030204" pitchFamily="18" charset="0"/>
                              </a:rPr>
                              <m:t>𝜽</m:t>
                            </m:r>
                          </m:e>
                          <m:sub>
                            <m:r>
                              <a:rPr lang="en-US" i="1">
                                <a:latin typeface="Cambria Math" panose="02040503050406030204" pitchFamily="18" charset="0"/>
                              </a:rPr>
                              <m:t>𝑘</m:t>
                            </m:r>
                          </m:sub>
                          <m:sup/>
                        </m:sSubSup>
                        <m:r>
                          <a:rPr lang="en-US" i="1">
                            <a:latin typeface="Cambria Math" panose="02040503050406030204" pitchFamily="18" charset="0"/>
                          </a:rPr>
                          <m:t>)</m:t>
                        </m:r>
                      </m:e>
                    </m:func>
                  </m:oMath>
                </a14:m>
                <a:endParaRPr lang="en-US" dirty="0"/>
              </a:p>
              <a:p>
                <a:endParaRPr lang="en-US" b="1"/>
              </a:p>
              <a:p>
                <a:r>
                  <a:rPr lang="en-US" b="1"/>
                  <a:t>Traces</a:t>
                </a:r>
                <a:r>
                  <a:rPr lang="en-US"/>
                  <a:t> </a:t>
                </a:r>
                <a:r>
                  <a:rPr lang="en-US" dirty="0"/>
                  <a:t>can also be used.</a:t>
                </a:r>
              </a:p>
            </p:txBody>
          </p:sp>
        </mc:Choice>
        <mc:Fallback xmlns="">
          <p:sp>
            <p:nvSpPr>
              <p:cNvPr id="3" name="Content Placeholder 2" descr="n -step methods are between Q-learning (one-step) and MC, which does not bootstrap. Use n -step target for DQN-type algorithms: U sub k, to the power n, equals the sum over t equals 0 to n minus 1, of gamma to the power t r sub t plus gamma to the power n max over a prime in A, of Q(s sub n,a prime; theta sub k, to the power). Traces can also be used">
                <a:extLst>
                  <a:ext uri="{FF2B5EF4-FFF2-40B4-BE49-F238E27FC236}">
                    <a16:creationId xmlns:a16="http://schemas.microsoft.com/office/drawing/2014/main" id="{593D9D0D-F042-181A-EF17-8ABC2143A7A2}"/>
                  </a:ext>
                </a:extLst>
              </p:cNvPr>
              <p:cNvSpPr>
                <a:spLocks noGrp="1" noRot="1" noChangeAspect="1" noMove="1" noResize="1" noEditPoints="1" noAdjustHandles="1" noChangeArrowheads="1" noChangeShapeType="1" noTextEdit="1"/>
              </p:cNvSpPr>
              <p:nvPr>
                <p:ph idx="1"/>
              </p:nvPr>
            </p:nvSpPr>
            <p:spPr>
              <a:xfrm>
                <a:off x="748259" y="3728300"/>
                <a:ext cx="10515600" cy="2623238"/>
              </a:xfrm>
              <a:blipFill>
                <a:blip r:embed="rId3"/>
                <a:stretch>
                  <a:fillRect l="-696" t="-8140" b="-35349"/>
                </a:stretch>
              </a:blipFill>
            </p:spPr>
            <p:txBody>
              <a:bodyPr/>
              <a:lstStyle/>
              <a:p>
                <a:r>
                  <a:rPr lang="en-US">
                    <a:noFill/>
                  </a:rPr>
                  <a:t> </a:t>
                </a:r>
              </a:p>
            </p:txBody>
          </p:sp>
        </mc:Fallback>
      </mc:AlternateContent>
    </p:spTree>
    <p:extLst>
      <p:ext uri="{BB962C8B-B14F-4D97-AF65-F5344CB8AC3E}">
        <p14:creationId xmlns:p14="http://schemas.microsoft.com/office/powerpoint/2010/main" val="45212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BE940-853F-395A-280D-A3FCED07E9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583AD1-9E59-C08F-55E1-5694B3A94A42}"/>
              </a:ext>
            </a:extLst>
          </p:cNvPr>
          <p:cNvSpPr>
            <a:spLocks noGrp="1"/>
          </p:cNvSpPr>
          <p:nvPr>
            <p:ph type="title"/>
          </p:nvPr>
        </p:nvSpPr>
        <p:spPr/>
        <p:txBody>
          <a:bodyPr/>
          <a:lstStyle/>
          <a:p>
            <a:r>
              <a:rPr lang="en-US" dirty="0"/>
              <a:t>Policy Gradient DRL Methods</a:t>
            </a:r>
          </a:p>
        </p:txBody>
      </p:sp>
      <p:sp>
        <p:nvSpPr>
          <p:cNvPr id="5" name="Text Placeholder 4">
            <a:extLst>
              <a:ext uri="{FF2B5EF4-FFF2-40B4-BE49-F238E27FC236}">
                <a16:creationId xmlns:a16="http://schemas.microsoft.com/office/drawing/2014/main" id="{B6E1A29D-88B4-7A4C-10EF-DE50F3A370D3}"/>
              </a:ext>
            </a:extLst>
          </p:cNvPr>
          <p:cNvSpPr>
            <a:spLocks noGrp="1"/>
          </p:cNvSpPr>
          <p:nvPr>
            <p:ph type="body" idx="1"/>
          </p:nvPr>
        </p:nvSpPr>
        <p:spPr/>
        <p:txBody>
          <a:bodyPr/>
          <a:lstStyle/>
          <a:p>
            <a:r>
              <a:rPr lang="en-US" dirty="0"/>
              <a:t>Use ANNs to represent and learn a parameterized policy.</a:t>
            </a:r>
          </a:p>
          <a:p>
            <a:endParaRPr lang="en-US" dirty="0"/>
          </a:p>
        </p:txBody>
      </p:sp>
    </p:spTree>
    <p:extLst>
      <p:ext uri="{BB962C8B-B14F-4D97-AF65-F5344CB8AC3E}">
        <p14:creationId xmlns:p14="http://schemas.microsoft.com/office/powerpoint/2010/main" val="1330068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D5E72-C906-6C2F-5031-49860A43AF08}"/>
              </a:ext>
            </a:extLst>
          </p:cNvPr>
          <p:cNvSpPr>
            <a:spLocks noGrp="1"/>
          </p:cNvSpPr>
          <p:nvPr>
            <p:ph type="title"/>
          </p:nvPr>
        </p:nvSpPr>
        <p:spPr/>
        <p:txBody>
          <a:bodyPr>
            <a:normAutofit/>
          </a:bodyPr>
          <a:lstStyle/>
          <a:p>
            <a:r>
              <a:rPr lang="en-US" dirty="0"/>
              <a:t>Remember: Policy Gradient Theorem</a:t>
            </a:r>
          </a:p>
        </p:txBody>
      </p:sp>
      <mc:AlternateContent xmlns:mc="http://schemas.openxmlformats.org/markup-compatibility/2006" xmlns:a14="http://schemas.microsoft.com/office/drawing/2010/main">
        <mc:Choice Requires="a14">
          <p:sp>
            <p:nvSpPr>
              <p:cNvPr id="3" name="Content Placeholder 2" descr="We define the performance measure as the true value of following pi sub theta from the start state s sub 0 J (theta) is defined as v sub pi sub theta, (s sub 0) equals E sub pi sub theta, [the sum over t equals 0 to infinity, of gamma to the power t R sub t given S sub 0 equals s sub 0]. The policy gradient theorem gives us an analytical expression for the unbiased gradient of the performance with respect to the policy parameters: gradient of J (theta) equals E sub pi [q sub pi (s,a) gradient of log of pi (a given s)] is proportional to the sum over s, of mu (s) the sum over a, of q sub pi (s,a) gradient of pi (a given s, theta). Convergence?. Does NOT guarantee: convergence to (global) optimum, fast convergence or stability!. REINFORCE provides some guarantees of convergence to local optima only for linear approximation">
                <a:extLst>
                  <a:ext uri="{FF2B5EF4-FFF2-40B4-BE49-F238E27FC236}">
                    <a16:creationId xmlns:a16="http://schemas.microsoft.com/office/drawing/2014/main" id="{DC916755-DC24-827E-6C02-5FFE23FDC906}"/>
                  </a:ext>
                </a:extLst>
              </p:cNvPr>
              <p:cNvSpPr>
                <a:spLocks noGrp="1"/>
              </p:cNvSpPr>
              <p:nvPr>
                <p:ph idx="1"/>
              </p:nvPr>
            </p:nvSpPr>
            <p:spPr>
              <a:xfrm>
                <a:off x="838200" y="1675237"/>
                <a:ext cx="10515600" cy="4613881"/>
              </a:xfrm>
            </p:spPr>
            <p:txBody>
              <a:bodyPr>
                <a:normAutofit fontScale="62500" lnSpcReduction="20000"/>
              </a:bodyPr>
              <a:lstStyle/>
              <a:p>
                <a:r>
                  <a:rPr lang="en-US" dirty="0"/>
                  <a:t>We define the performance measure as the true value of following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𝜃</m:t>
                        </m:r>
                      </m:sub>
                    </m:sSub>
                  </m:oMath>
                </a14:m>
                <a:r>
                  <a:rPr lang="en-US" dirty="0"/>
                  <a:t> from the start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a14:m>
                <a:br>
                  <a:rPr lang="en-US" dirty="0"/>
                </a:br>
                <a:br>
                  <a:rPr lang="en-US" dirty="0"/>
                </a:br>
                <a14:m>
                  <m:oMath xmlns:m="http://schemas.openxmlformats.org/officeDocument/2006/math">
                    <m:r>
                      <a:rPr lang="en-US" b="0" i="1" smtClean="0">
                        <a:latin typeface="Cambria Math" panose="02040503050406030204" pitchFamily="18" charset="0"/>
                      </a:rPr>
                      <m:t>𝐽</m:t>
                    </m:r>
                    <m:d>
                      <m:dPr>
                        <m:ctrlPr>
                          <a:rPr lang="en-US" b="1" i="1" smtClean="0">
                            <a:latin typeface="Cambria Math" panose="02040503050406030204" pitchFamily="18" charset="0"/>
                          </a:rPr>
                        </m:ctrlPr>
                      </m:dPr>
                      <m:e>
                        <m:r>
                          <a:rPr lang="en-US" b="1" i="1" smtClean="0">
                            <a:latin typeface="Cambria Math" panose="02040503050406030204" pitchFamily="18" charset="0"/>
                          </a:rPr>
                          <m:t>𝜽</m:t>
                        </m:r>
                      </m:e>
                    </m:d>
                    <m:r>
                      <a:rPr lang="en-US" b="1"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𝜃</m:t>
                            </m:r>
                          </m:sub>
                        </m:sSub>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𝔼</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𝜃</m:t>
                            </m:r>
                          </m:sub>
                        </m:sSub>
                      </m:sub>
                    </m:sSub>
                    <m:d>
                      <m:dPr>
                        <m:begChr m:val="["/>
                        <m:endChr m:val="]"/>
                        <m:ctrlPr>
                          <a:rPr lang="en-US" b="0" i="1" smtClean="0">
                            <a:latin typeface="Cambria Math" panose="02040503050406030204" pitchFamily="18" charset="0"/>
                            <a:ea typeface="Cambria Math" panose="02040503050406030204" pitchFamily="18" charset="0"/>
                          </a:rPr>
                        </m:ctrlPr>
                      </m:dPr>
                      <m:e>
                        <m:nary>
                          <m:naryPr>
                            <m:chr m:val="∑"/>
                            <m:limLoc m:val="subSup"/>
                            <m:ctrlPr>
                              <a:rPr lang="en-US" b="0" i="1" smtClean="0">
                                <a:latin typeface="Cambria Math" panose="02040503050406030204" pitchFamily="18" charset="0"/>
                                <a:ea typeface="Cambria Math" panose="02040503050406030204" pitchFamily="18" charset="0"/>
                              </a:rPr>
                            </m:ctrlPr>
                          </m:naryPr>
                          <m:sub>
                            <m:r>
                              <m:rPr>
                                <m:brk m:alnAt="25"/>
                              </m:rP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𝛾</m:t>
                                </m:r>
                              </m:e>
                              <m:sup>
                                <m:r>
                                  <a:rPr lang="en-US" b="0" i="1" smtClean="0">
                                    <a:latin typeface="Cambria Math" panose="02040503050406030204" pitchFamily="18" charset="0"/>
                                    <a:ea typeface="Cambria Math" panose="02040503050406030204" pitchFamily="18" charset="0"/>
                                  </a:rPr>
                                  <m:t>𝑡</m:t>
                                </m:r>
                              </m:sup>
                            </m:s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 |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0</m:t>
                                </m:r>
                              </m:sub>
                            </m:sSub>
                          </m:e>
                        </m:nary>
                      </m:e>
                    </m:d>
                  </m:oMath>
                </a14:m>
                <a:endParaRPr lang="en-US" dirty="0"/>
              </a:p>
              <a:p>
                <a:pPr marL="0" indent="0">
                  <a:buNone/>
                </a:pPr>
                <a:endParaRPr lang="en-US" i="1" dirty="0">
                  <a:latin typeface="Cambria Math" panose="02040503050406030204" pitchFamily="18" charset="0"/>
                  <a:ea typeface="Cambria Math" panose="02040503050406030204" pitchFamily="18" charset="0"/>
                </a:endParaRPr>
              </a:p>
              <a:p>
                <a:r>
                  <a:rPr lang="en-US" dirty="0"/>
                  <a:t>The </a:t>
                </a:r>
                <a:r>
                  <a:rPr lang="en-US" b="1" dirty="0"/>
                  <a:t>policy gradient theorem </a:t>
                </a:r>
                <a:r>
                  <a:rPr lang="en-US" dirty="0"/>
                  <a:t>gives us an analytical expression for the unbiased gradient of the performance with respect to the policy parameters:  </a:t>
                </a:r>
                <a:br>
                  <a:rPr lang="en-US" dirty="0"/>
                </a:br>
                <a:br>
                  <a:rPr lang="en-US" dirty="0"/>
                </a:br>
                <a14:m>
                  <m:oMath xmlns:m="http://schemas.openxmlformats.org/officeDocument/2006/math">
                    <m:r>
                      <m:rPr>
                        <m:sty m:val="p"/>
                      </m:rPr>
                      <a:rPr lang="en-US" i="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𝐽</m:t>
                    </m:r>
                    <m:d>
                      <m:dPr>
                        <m:ctrlPr>
                          <a:rPr lang="en-US" b="1"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𝜽</m:t>
                        </m:r>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b="0" i="1" smtClean="0">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i="1">
                                <a:latin typeface="Cambria Math" panose="02040503050406030204" pitchFamily="18" charset="0"/>
                                <a:ea typeface="Cambria Math" panose="02040503050406030204" pitchFamily="18" charset="0"/>
                              </a:rPr>
                              <m:t>𝜋</m:t>
                            </m:r>
                          </m:sub>
                        </m:sSub>
                        <m:r>
                          <a:rPr lang="en-US" i="1">
                            <a:latin typeface="Cambria Math" panose="02040503050406030204" pitchFamily="18" charset="0"/>
                            <a:ea typeface="Cambria Math" panose="02040503050406030204" pitchFamily="18" charset="0"/>
                          </a:rPr>
                          <m:t> </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e>
                        </m:d>
                        <m:r>
                          <m:rPr>
                            <m:sty m:val="p"/>
                          </m:rPr>
                          <a:rPr lang="en-US">
                            <a:latin typeface="Cambria Math" panose="02040503050406030204" pitchFamily="18" charset="0"/>
                            <a:ea typeface="Cambria Math" panose="02040503050406030204" pitchFamily="18" charset="0"/>
                          </a:rPr>
                          <m:t>∇</m:t>
                        </m:r>
                        <m:func>
                          <m:funcPr>
                            <m:ctrlPr>
                              <a:rPr lang="en-US" b="0" i="0"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e>
                        </m:func>
                      </m:e>
                    </m:d>
                    <m:r>
                      <a:rPr lang="en-US" i="1">
                        <a:latin typeface="Cambria Math" panose="02040503050406030204" pitchFamily="18" charset="0"/>
                        <a:ea typeface="Cambria Math" panose="02040503050406030204" pitchFamily="18" charset="0"/>
                      </a:rPr>
                      <m:t>∝</m:t>
                    </m:r>
                    <m:nary>
                      <m:naryPr>
                        <m:chr m:val="∑"/>
                        <m:supHide m:val="on"/>
                        <m:ctrlPr>
                          <a:rPr lang="en-US" b="0" i="1" smtClean="0">
                            <a:latin typeface="Cambria Math" panose="02040503050406030204" pitchFamily="18" charset="0"/>
                            <a:ea typeface="Cambria Math" panose="02040503050406030204" pitchFamily="18" charset="0"/>
                          </a:rPr>
                        </m:ctrlPr>
                      </m:naryPr>
                      <m:sub>
                        <m:r>
                          <a:rPr lang="en-US" b="0" i="1" smtClean="0">
                            <a:latin typeface="Cambria Math" panose="02040503050406030204" pitchFamily="18" charset="0"/>
                            <a:ea typeface="Cambria Math" panose="02040503050406030204" pitchFamily="18" charset="0"/>
                          </a:rPr>
                          <m:t>𝑠</m:t>
                        </m:r>
                      </m:sub>
                      <m:sup/>
                      <m:e>
                        <m:r>
                          <a:rPr lang="en-US" b="0" i="1" smtClean="0">
                            <a:latin typeface="Cambria Math" panose="02040503050406030204" pitchFamily="18" charset="0"/>
                            <a:ea typeface="Cambria Math" panose="02040503050406030204" pitchFamily="18" charset="0"/>
                          </a:rPr>
                          <m:t>𝜇</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e>
                        </m:d>
                        <m:nary>
                          <m:naryPr>
                            <m:chr m:val="∑"/>
                            <m:supHide m:val="on"/>
                            <m:ctrlPr>
                              <a:rPr lang="en-US" b="0" i="1" smtClean="0">
                                <a:latin typeface="Cambria Math" panose="02040503050406030204" pitchFamily="18" charset="0"/>
                                <a:ea typeface="Cambria Math" panose="02040503050406030204" pitchFamily="18" charset="0"/>
                              </a:rPr>
                            </m:ctrlPr>
                          </m:naryPr>
                          <m:sub>
                            <m:r>
                              <a:rPr lang="en-US" b="0" i="1" smtClean="0">
                                <a:latin typeface="Cambria Math" panose="02040503050406030204" pitchFamily="18" charset="0"/>
                                <a:ea typeface="Cambria Math" panose="02040503050406030204" pitchFamily="18" charset="0"/>
                              </a:rPr>
                              <m:t>𝑎</m:t>
                            </m:r>
                          </m:sub>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𝑞</m:t>
                                </m:r>
                              </m:e>
                              <m:sub>
                                <m:r>
                                  <a:rPr lang="en-US" b="0" i="1" smtClean="0">
                                    <a:latin typeface="Cambria Math" panose="02040503050406030204" pitchFamily="18" charset="0"/>
                                    <a:ea typeface="Cambria Math" panose="02040503050406030204" pitchFamily="18" charset="0"/>
                                  </a:rPr>
                                  <m:t>𝜋</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d>
                            <m:r>
                              <m:rPr>
                                <m:sty m:val="p"/>
                              </m:rPr>
                              <a:rPr lang="en-US" b="0" i="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𝜋</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e>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𝜽</m:t>
                                </m:r>
                              </m:e>
                            </m:d>
                          </m:e>
                        </m:nary>
                      </m:e>
                    </m:nary>
                  </m:oMath>
                </a14:m>
                <a:endParaRPr lang="en-US" dirty="0"/>
              </a:p>
              <a:p>
                <a:endParaRPr lang="en-US" dirty="0"/>
              </a:p>
              <a:p>
                <a:endParaRPr lang="en-US" dirty="0"/>
              </a:p>
              <a:p>
                <a:endParaRPr lang="en-US" dirty="0"/>
              </a:p>
              <a:p>
                <a:pPr marL="0" indent="0">
                  <a:buNone/>
                </a:pPr>
                <a:endParaRPr lang="en-US" b="1" dirty="0"/>
              </a:p>
              <a:p>
                <a:r>
                  <a:rPr lang="en-US" b="1" dirty="0"/>
                  <a:t>Convergence?</a:t>
                </a:r>
              </a:p>
              <a:p>
                <a:pPr lvl="1"/>
                <a:r>
                  <a:rPr lang="en-US" dirty="0"/>
                  <a:t>Does </a:t>
                </a:r>
                <a:r>
                  <a:rPr lang="en-US" b="1" dirty="0"/>
                  <a:t>NOT</a:t>
                </a:r>
                <a:r>
                  <a:rPr lang="en-US" dirty="0"/>
                  <a:t> guarantee: convergence to (global) optimum, fast convergence or stability!</a:t>
                </a:r>
              </a:p>
              <a:p>
                <a:pPr lvl="1"/>
                <a:r>
                  <a:rPr lang="en-US" dirty="0"/>
                  <a:t>REINFORCE provides some guarantees of convergence to local optima </a:t>
                </a:r>
                <a:r>
                  <a:rPr lang="en-US" b="1" dirty="0"/>
                  <a:t>only for linear approximation</a:t>
                </a:r>
                <a:r>
                  <a:rPr lang="en-US" dirty="0"/>
                  <a:t>.</a:t>
                </a:r>
              </a:p>
            </p:txBody>
          </p:sp>
        </mc:Choice>
        <mc:Fallback xmlns="">
          <p:sp>
            <p:nvSpPr>
              <p:cNvPr id="3" name="Content Placeholder 2" descr="We define the performance measure as the true value of following pi sub theta from the start state s sub 0 J (theta) is defined as v sub pi sub theta, (s sub 0) equals E sub pi sub theta, [the sum over t equals 0 to infinity, of gamma to the power t R sub t given S sub 0 equals s sub 0]. The policy gradient theorem gives us an analytical expression for the unbiased gradient of the performance with respect to the policy parameters: gradient of J (theta) equals E sub pi [q sub pi (s,a) gradient of log of pi (a given s)] is proportional to the sum over s, of mu (s) the sum over a, of q sub pi (s,a) gradient of pi (a given s, theta). Convergence?. Does NOT guarantee: convergence to (global) optimum, fast convergence or stability!. REINFORCE provides some guarantees of convergence to local optima only for linear approximation">
                <a:extLst>
                  <a:ext uri="{FF2B5EF4-FFF2-40B4-BE49-F238E27FC236}">
                    <a16:creationId xmlns:a16="http://schemas.microsoft.com/office/drawing/2014/main" id="{DC916755-DC24-827E-6C02-5FFE23FDC906}"/>
                  </a:ext>
                </a:extLst>
              </p:cNvPr>
              <p:cNvSpPr>
                <a:spLocks noGrp="1" noRot="1" noChangeAspect="1" noMove="1" noResize="1" noEditPoints="1" noAdjustHandles="1" noChangeArrowheads="1" noChangeShapeType="1" noTextEdit="1"/>
              </p:cNvSpPr>
              <p:nvPr>
                <p:ph idx="1"/>
              </p:nvPr>
            </p:nvSpPr>
            <p:spPr>
              <a:xfrm>
                <a:off x="838200" y="1675237"/>
                <a:ext cx="10515600" cy="4613881"/>
              </a:xfrm>
              <a:blipFill>
                <a:blip r:embed="rId2"/>
                <a:stretch>
                  <a:fillRect l="-406" t="-1532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Speech Bubble: Rectangle with Corners Rounded 3">
                <a:extLst>
                  <a:ext uri="{FF2B5EF4-FFF2-40B4-BE49-F238E27FC236}">
                    <a16:creationId xmlns:a16="http://schemas.microsoft.com/office/drawing/2014/main" id="{F64E8030-CB20-D32A-3DF5-495F0FBC37E1}"/>
                  </a:ext>
                  <a:ext uri="{C183D7F6-B498-43B3-948B-1728B52AA6E4}">
                    <adec:decorative xmlns:adec="http://schemas.microsoft.com/office/drawing/2017/decorative" val="1"/>
                  </a:ext>
                </a:extLst>
              </p:cNvPr>
              <p:cNvSpPr/>
              <p:nvPr/>
            </p:nvSpPr>
            <p:spPr>
              <a:xfrm>
                <a:off x="4680110" y="4359765"/>
                <a:ext cx="2013018" cy="540281"/>
              </a:xfrm>
              <a:prstGeom prst="wedgeRoundRectCallout">
                <a:avLst>
                  <a:gd name="adj1" fmla="val 49742"/>
                  <a:gd name="adj2" fmla="val -111724"/>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On-policy distribution under </a:t>
                </a:r>
                <a14:m>
                  <m:oMath xmlns:m="http://schemas.openxmlformats.org/officeDocument/2006/math">
                    <m:r>
                      <a:rPr lang="en-US" sz="1600" b="0" i="1" smtClean="0">
                        <a:latin typeface="Cambria Math" panose="02040503050406030204" pitchFamily="18" charset="0"/>
                      </a:rPr>
                      <m:t>𝜋</m:t>
                    </m:r>
                  </m:oMath>
                </a14:m>
                <a:endParaRPr lang="en-US" sz="1600" dirty="0"/>
              </a:p>
            </p:txBody>
          </p:sp>
        </mc:Choice>
        <mc:Fallback>
          <p:sp>
            <p:nvSpPr>
              <p:cNvPr id="4" name="Speech Bubble: Rectangle with Corners Rounded 3">
                <a:extLst>
                  <a:ext uri="{FF2B5EF4-FFF2-40B4-BE49-F238E27FC236}">
                    <a16:creationId xmlns:a16="http://schemas.microsoft.com/office/drawing/2014/main" id="{F64E8030-CB20-D32A-3DF5-495F0FBC37E1}"/>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4680110" y="4359765"/>
                <a:ext cx="2013018" cy="540281"/>
              </a:xfrm>
              <a:prstGeom prst="wedgeRoundRectCallout">
                <a:avLst>
                  <a:gd name="adj1" fmla="val 49742"/>
                  <a:gd name="adj2" fmla="val -111724"/>
                  <a:gd name="adj3" fmla="val 16667"/>
                </a:avLst>
              </a:prstGeom>
              <a:blipFill>
                <a:blip r:embed="rId3"/>
                <a:stretch>
                  <a:fillRect b="-9589"/>
                </a:stretch>
              </a:blipFill>
            </p:spPr>
            <p:txBody>
              <a:bodyPr/>
              <a:lstStyle/>
              <a:p>
                <a:r>
                  <a:rPr lang="en-US">
                    <a:noFill/>
                  </a:rPr>
                  <a:t> </a:t>
                </a:r>
              </a:p>
            </p:txBody>
          </p:sp>
        </mc:Fallback>
      </mc:AlternateContent>
      <p:sp>
        <p:nvSpPr>
          <p:cNvPr id="5" name="Speech Bubble: Rectangle with Corners Rounded 4">
            <a:extLst>
              <a:ext uri="{FF2B5EF4-FFF2-40B4-BE49-F238E27FC236}">
                <a16:creationId xmlns:a16="http://schemas.microsoft.com/office/drawing/2014/main" id="{697DAF61-031E-194F-48E3-7DEA0929C087}"/>
              </a:ext>
              <a:ext uri="{C183D7F6-B498-43B3-948B-1728B52AA6E4}">
                <adec:decorative xmlns:adec="http://schemas.microsoft.com/office/drawing/2017/decorative" val="1"/>
              </a:ext>
            </a:extLst>
          </p:cNvPr>
          <p:cNvSpPr/>
          <p:nvPr/>
        </p:nvSpPr>
        <p:spPr>
          <a:xfrm>
            <a:off x="8875851" y="4355175"/>
            <a:ext cx="2459919" cy="540281"/>
          </a:xfrm>
          <a:prstGeom prst="wedgeRoundRectCallout">
            <a:avLst>
              <a:gd name="adj1" fmla="val -49892"/>
              <a:gd name="adj2" fmla="val -127564"/>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t>Gradient of the policy approximation function.</a:t>
            </a:r>
            <a:endParaRPr lang="en-US" sz="1400" dirty="0"/>
          </a:p>
        </p:txBody>
      </p:sp>
      <mc:AlternateContent xmlns:mc="http://schemas.openxmlformats.org/markup-compatibility/2006">
        <mc:Choice xmlns:a14="http://schemas.microsoft.com/office/drawing/2010/main" Requires="a14">
          <p:sp>
            <p:nvSpPr>
              <p:cNvPr id="10" name="Speech Bubble: Rectangle with Corners Rounded 9">
                <a:extLst>
                  <a:ext uri="{FF2B5EF4-FFF2-40B4-BE49-F238E27FC236}">
                    <a16:creationId xmlns:a16="http://schemas.microsoft.com/office/drawing/2014/main" id="{8CBD3B62-118E-3C2C-74E7-15BD5B192BE0}"/>
                  </a:ext>
                  <a:ext uri="{C183D7F6-B498-43B3-948B-1728B52AA6E4}">
                    <adec:decorative xmlns:adec="http://schemas.microsoft.com/office/drawing/2017/decorative" val="1"/>
                  </a:ext>
                </a:extLst>
              </p:cNvPr>
              <p:cNvSpPr/>
              <p:nvPr/>
            </p:nvSpPr>
            <p:spPr>
              <a:xfrm>
                <a:off x="6897647" y="4350789"/>
                <a:ext cx="1873502" cy="540281"/>
              </a:xfrm>
              <a:prstGeom prst="wedgeRoundRectCallout">
                <a:avLst>
                  <a:gd name="adj1" fmla="val -7224"/>
                  <a:gd name="adj2" fmla="val -116348"/>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Depends on estimates for </a:t>
                </a:r>
                <a14:m>
                  <m:oMath xmlns:m="http://schemas.openxmlformats.org/officeDocument/2006/math">
                    <m:r>
                      <a:rPr lang="en-US" sz="1600" i="1" dirty="0" smtClean="0">
                        <a:latin typeface="Cambria Math" panose="02040503050406030204" pitchFamily="18" charset="0"/>
                      </a:rPr>
                      <m:t>𝑞</m:t>
                    </m:r>
                  </m:oMath>
                </a14:m>
                <a:endParaRPr lang="en-US" sz="1600" dirty="0"/>
              </a:p>
            </p:txBody>
          </p:sp>
        </mc:Choice>
        <mc:Fallback>
          <p:sp>
            <p:nvSpPr>
              <p:cNvPr id="10" name="Speech Bubble: Rectangle with Corners Rounded 9">
                <a:extLst>
                  <a:ext uri="{FF2B5EF4-FFF2-40B4-BE49-F238E27FC236}">
                    <a16:creationId xmlns:a16="http://schemas.microsoft.com/office/drawing/2014/main" id="{8CBD3B62-118E-3C2C-74E7-15BD5B192BE0}"/>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6897647" y="4350789"/>
                <a:ext cx="1873502" cy="540281"/>
              </a:xfrm>
              <a:prstGeom prst="wedgeRoundRectCallout">
                <a:avLst>
                  <a:gd name="adj1" fmla="val -7224"/>
                  <a:gd name="adj2" fmla="val -116348"/>
                  <a:gd name="adj3" fmla="val 16667"/>
                </a:avLst>
              </a:prstGeom>
              <a:blipFill>
                <a:blip r:embed="rId4"/>
                <a:stretch>
                  <a:fillRect b="-9589"/>
                </a:stretch>
              </a:blipFill>
            </p:spPr>
            <p:txBody>
              <a:bodyPr/>
              <a:lstStyle/>
              <a:p>
                <a:r>
                  <a:rPr lang="en-US">
                    <a:noFill/>
                  </a:rPr>
                  <a:t> </a:t>
                </a:r>
              </a:p>
            </p:txBody>
          </p:sp>
        </mc:Fallback>
      </mc:AlternateContent>
    </p:spTree>
    <p:extLst>
      <p:ext uri="{BB962C8B-B14F-4D97-AF65-F5344CB8AC3E}">
        <p14:creationId xmlns:p14="http://schemas.microsoft.com/office/powerpoint/2010/main" val="141868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490FF7-FB80-1D9B-38E9-C97243C86788}"/>
              </a:ext>
            </a:extLst>
          </p:cNvPr>
          <p:cNvSpPr>
            <a:spLocks noGrp="1"/>
          </p:cNvSpPr>
          <p:nvPr>
            <p:ph type="title"/>
          </p:nvPr>
        </p:nvSpPr>
        <p:spPr/>
        <p:txBody>
          <a:bodyPr/>
          <a:lstStyle/>
          <a:p>
            <a:r>
              <a:rPr lang="en-US" dirty="0"/>
              <a:t>Policy Network</a:t>
            </a:r>
          </a:p>
        </p:txBody>
      </p:sp>
      <p:grpSp>
        <p:nvGrpSpPr>
          <p:cNvPr id="88" name="Group 87" descr="Policy network: the state s enters a neural network (input layer S, hidden layers with weights theta, output layer A with softmax activation) that outputs a stochastic policy pi(a | s).">
            <a:extLst>
              <a:ext uri="{FF2B5EF4-FFF2-40B4-BE49-F238E27FC236}">
                <a16:creationId xmlns:a16="http://schemas.microsoft.com/office/drawing/2014/main" id="{B01567BB-EC09-BA34-E1AB-5633074E95C9}"/>
              </a:ext>
            </a:extLst>
          </p:cNvPr>
          <p:cNvGrpSpPr/>
          <p:nvPr/>
        </p:nvGrpSpPr>
        <p:grpSpPr>
          <a:xfrm>
            <a:off x="3559888" y="1124198"/>
            <a:ext cx="5948606" cy="2760290"/>
            <a:chOff x="3559888" y="1124198"/>
            <a:chExt cx="5948606" cy="2760290"/>
          </a:xfrm>
        </p:grpSpPr>
        <p:grpSp>
          <p:nvGrpSpPr>
            <p:cNvPr id="6" name="Group 5" descr="Brace annotation: s; Stochastic Policy. pi (a given s); S; A; theta.">
              <a:extLst>
                <a:ext uri="{FF2B5EF4-FFF2-40B4-BE49-F238E27FC236}">
                  <a16:creationId xmlns:a16="http://schemas.microsoft.com/office/drawing/2014/main" id="{056E614C-B6FC-DC99-2196-DF822E73A6BB}"/>
                </a:ext>
              </a:extLst>
            </p:cNvPr>
            <p:cNvGrpSpPr/>
            <p:nvPr/>
          </p:nvGrpSpPr>
          <p:grpSpPr>
            <a:xfrm>
              <a:off x="3559888" y="1124198"/>
              <a:ext cx="5948606" cy="2088193"/>
              <a:chOff x="7516627" y="1326818"/>
              <a:chExt cx="4487639" cy="1600859"/>
            </a:xfrm>
          </p:grpSpPr>
          <p:grpSp>
            <p:nvGrpSpPr>
              <p:cNvPr id="7" name="Group 6">
                <a:extLst>
                  <a:ext uri="{FF2B5EF4-FFF2-40B4-BE49-F238E27FC236}">
                    <a16:creationId xmlns:a16="http://schemas.microsoft.com/office/drawing/2014/main" id="{7C684DB7-75BD-74CA-C546-6F1967A6E51A}"/>
                  </a:ext>
                  <a:ext uri="{C183D7F6-B498-43B3-948B-1728B52AA6E4}">
                    <adec:decorative xmlns:adec="http://schemas.microsoft.com/office/drawing/2017/decorative" val="1"/>
                  </a:ext>
                </a:extLst>
              </p:cNvPr>
              <p:cNvGrpSpPr/>
              <p:nvPr/>
            </p:nvGrpSpPr>
            <p:grpSpPr>
              <a:xfrm>
                <a:off x="7516627" y="1326818"/>
                <a:ext cx="4487639" cy="1600859"/>
                <a:chOff x="1129787" y="3714030"/>
                <a:chExt cx="4487639" cy="1600859"/>
              </a:xfrm>
            </p:grpSpPr>
            <p:grpSp>
              <p:nvGrpSpPr>
                <p:cNvPr id="10" name="Group 9">
                  <a:extLst>
                    <a:ext uri="{FF2B5EF4-FFF2-40B4-BE49-F238E27FC236}">
                      <a16:creationId xmlns:a16="http://schemas.microsoft.com/office/drawing/2014/main" id="{1328A43F-FE56-1454-9ACE-D81B2FC2D426}"/>
                    </a:ext>
                    <a:ext uri="{C183D7F6-B498-43B3-948B-1728B52AA6E4}">
                      <adec:decorative xmlns:adec="http://schemas.microsoft.com/office/drawing/2017/decorative" val="1"/>
                    </a:ext>
                  </a:extLst>
                </p:cNvPr>
                <p:cNvGrpSpPr/>
                <p:nvPr/>
              </p:nvGrpSpPr>
              <p:grpSpPr>
                <a:xfrm>
                  <a:off x="2124428" y="4079165"/>
                  <a:ext cx="1295400" cy="1235724"/>
                  <a:chOff x="4410942" y="4599774"/>
                  <a:chExt cx="1577400" cy="1648626"/>
                </a:xfrm>
              </p:grpSpPr>
              <p:sp>
                <p:nvSpPr>
                  <p:cNvPr id="18" name="Oval 17">
                    <a:extLst>
                      <a:ext uri="{FF2B5EF4-FFF2-40B4-BE49-F238E27FC236}">
                        <a16:creationId xmlns:a16="http://schemas.microsoft.com/office/drawing/2014/main" id="{B38843E2-E3B4-A26B-8D7E-F5447B3CD7FA}"/>
                      </a:ext>
                      <a:ext uri="{C183D7F6-B498-43B3-948B-1728B52AA6E4}">
                        <adec:decorative xmlns:adec="http://schemas.microsoft.com/office/drawing/2017/decorative" val="1"/>
                      </a:ext>
                    </a:extLst>
                  </p:cNvPr>
                  <p:cNvSpPr/>
                  <p:nvPr/>
                </p:nvSpPr>
                <p:spPr>
                  <a:xfrm>
                    <a:off x="4889892" y="4752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BE1555D-A11A-805A-6309-E71C5B658705}"/>
                      </a:ext>
                      <a:ext uri="{C183D7F6-B498-43B3-948B-1728B52AA6E4}">
                        <adec:decorative xmlns:adec="http://schemas.microsoft.com/office/drawing/2017/decorative" val="1"/>
                      </a:ext>
                    </a:extLst>
                  </p:cNvPr>
                  <p:cNvSpPr/>
                  <p:nvPr/>
                </p:nvSpPr>
                <p:spPr>
                  <a:xfrm>
                    <a:off x="4889892" y="5007830"/>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67E8634-32E0-2550-D5D5-60B53B063355}"/>
                      </a:ext>
                      <a:ext uri="{C183D7F6-B498-43B3-948B-1728B52AA6E4}">
                        <adec:decorative xmlns:adec="http://schemas.microsoft.com/office/drawing/2017/decorative" val="1"/>
                      </a:ext>
                    </a:extLst>
                  </p:cNvPr>
                  <p:cNvSpPr/>
                  <p:nvPr/>
                </p:nvSpPr>
                <p:spPr>
                  <a:xfrm>
                    <a:off x="4889892" y="52855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4D262169-C419-ACFF-1432-DACA77B83A82}"/>
                      </a:ext>
                      <a:ext uri="{C183D7F6-B498-43B3-948B-1728B52AA6E4}">
                        <adec:decorative xmlns:adec="http://schemas.microsoft.com/office/drawing/2017/decorative" val="1"/>
                      </a:ext>
                    </a:extLst>
                  </p:cNvPr>
                  <p:cNvSpPr/>
                  <p:nvPr/>
                </p:nvSpPr>
                <p:spPr>
                  <a:xfrm>
                    <a:off x="4889892" y="55903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8F5014A-0A63-BE50-A656-1929EEEE8412}"/>
                      </a:ext>
                      <a:ext uri="{C183D7F6-B498-43B3-948B-1728B52AA6E4}">
                        <adec:decorative xmlns:adec="http://schemas.microsoft.com/office/drawing/2017/decorative" val="1"/>
                      </a:ext>
                    </a:extLst>
                  </p:cNvPr>
                  <p:cNvSpPr/>
                  <p:nvPr/>
                </p:nvSpPr>
                <p:spPr>
                  <a:xfrm>
                    <a:off x="5347092" y="49045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0D81911-0706-1164-8AC3-81814F8719C5}"/>
                      </a:ext>
                      <a:ext uri="{C183D7F6-B498-43B3-948B-1728B52AA6E4}">
                        <adec:decorative xmlns:adec="http://schemas.microsoft.com/office/drawing/2017/decorative" val="1"/>
                      </a:ext>
                    </a:extLst>
                  </p:cNvPr>
                  <p:cNvSpPr/>
                  <p:nvPr/>
                </p:nvSpPr>
                <p:spPr>
                  <a:xfrm>
                    <a:off x="5347092" y="5133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3AFAA28-D56F-9865-B174-EC00CBDB762E}"/>
                      </a:ext>
                      <a:ext uri="{C183D7F6-B498-43B3-948B-1728B52AA6E4}">
                        <adec:decorative xmlns:adec="http://schemas.microsoft.com/office/drawing/2017/decorative" val="1"/>
                      </a:ext>
                    </a:extLst>
                  </p:cNvPr>
                  <p:cNvSpPr/>
                  <p:nvPr/>
                </p:nvSpPr>
                <p:spPr>
                  <a:xfrm>
                    <a:off x="5347092" y="54379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94576E24-775C-B2C7-87F6-2295224B3690}"/>
                      </a:ext>
                      <a:ext uri="{C183D7F6-B498-43B3-948B-1728B52AA6E4}">
                        <adec:decorative xmlns:adec="http://schemas.microsoft.com/office/drawing/2017/decorative" val="1"/>
                      </a:ext>
                    </a:extLst>
                  </p:cNvPr>
                  <p:cNvSpPr/>
                  <p:nvPr/>
                </p:nvSpPr>
                <p:spPr>
                  <a:xfrm>
                    <a:off x="5835942" y="4752949"/>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3CA994B-1BCC-4160-F83C-950BE27D14B1}"/>
                      </a:ext>
                      <a:ext uri="{C183D7F6-B498-43B3-948B-1728B52AA6E4}">
                        <adec:decorative xmlns:adec="http://schemas.microsoft.com/office/drawing/2017/decorative" val="1"/>
                      </a:ext>
                    </a:extLst>
                  </p:cNvPr>
                  <p:cNvSpPr/>
                  <p:nvPr/>
                </p:nvSpPr>
                <p:spPr>
                  <a:xfrm>
                    <a:off x="5835942" y="50306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04A7097-CBDA-4AC7-BCF2-A8BA0E20A299}"/>
                      </a:ext>
                      <a:ext uri="{C183D7F6-B498-43B3-948B-1728B52AA6E4}">
                        <adec:decorative xmlns:adec="http://schemas.microsoft.com/office/drawing/2017/decorative" val="1"/>
                      </a:ext>
                    </a:extLst>
                  </p:cNvPr>
                  <p:cNvSpPr/>
                  <p:nvPr/>
                </p:nvSpPr>
                <p:spPr>
                  <a:xfrm>
                    <a:off x="5835942" y="53354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49DD7F9-6C90-CE19-35DF-4A8191DE3A46}"/>
                      </a:ext>
                      <a:ext uri="{C183D7F6-B498-43B3-948B-1728B52AA6E4}">
                        <adec:decorative xmlns:adec="http://schemas.microsoft.com/office/drawing/2017/decorative" val="1"/>
                      </a:ext>
                    </a:extLst>
                  </p:cNvPr>
                  <p:cNvSpPr/>
                  <p:nvPr/>
                </p:nvSpPr>
                <p:spPr>
                  <a:xfrm>
                    <a:off x="5835942" y="56402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35C6F2CE-5451-0CEE-AD72-F23E157C3C6F}"/>
                      </a:ext>
                      <a:ext uri="{C183D7F6-B498-43B3-948B-1728B52AA6E4}">
                        <adec:decorative xmlns:adec="http://schemas.microsoft.com/office/drawing/2017/decorative" val="1"/>
                      </a:ext>
                    </a:extLst>
                  </p:cNvPr>
                  <p:cNvSpPr/>
                  <p:nvPr/>
                </p:nvSpPr>
                <p:spPr>
                  <a:xfrm>
                    <a:off x="4889892" y="5895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1A8D09CD-7BF6-9A57-29A2-77F65DAD45C7}"/>
                      </a:ext>
                      <a:ext uri="{C183D7F6-B498-43B3-948B-1728B52AA6E4}">
                        <adec:decorative xmlns:adec="http://schemas.microsoft.com/office/drawing/2017/decorative" val="1"/>
                      </a:ext>
                    </a:extLst>
                  </p:cNvPr>
                  <p:cNvSpPr/>
                  <p:nvPr/>
                </p:nvSpPr>
                <p:spPr>
                  <a:xfrm>
                    <a:off x="5347092" y="57427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F65FABDF-894F-8882-B067-2FEBBA93460E}"/>
                      </a:ext>
                      <a:ext uri="{C183D7F6-B498-43B3-948B-1728B52AA6E4}">
                        <adec:decorative xmlns:adec="http://schemas.microsoft.com/office/drawing/2017/decorative" val="1"/>
                      </a:ext>
                    </a:extLst>
                  </p:cNvPr>
                  <p:cNvSpPr/>
                  <p:nvPr/>
                </p:nvSpPr>
                <p:spPr>
                  <a:xfrm>
                    <a:off x="5835942" y="59450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D6755D28-B168-1E43-21FA-0C61EDC42B45}"/>
                      </a:ext>
                      <a:ext uri="{C183D7F6-B498-43B3-948B-1728B52AA6E4}">
                        <adec:decorative xmlns:adec="http://schemas.microsoft.com/office/drawing/2017/decorative" val="1"/>
                      </a:ext>
                    </a:extLst>
                  </p:cNvPr>
                  <p:cNvCxnSpPr>
                    <a:cxnSpLocks/>
                    <a:stCxn id="18" idx="6"/>
                    <a:endCxn id="22" idx="1"/>
                  </p:cNvCxnSpPr>
                  <p:nvPr/>
                </p:nvCxnSpPr>
                <p:spPr>
                  <a:xfrm>
                    <a:off x="5042292" y="4841902"/>
                    <a:ext cx="327118" cy="889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3" name="Straight Connector 32">
                    <a:extLst>
                      <a:ext uri="{FF2B5EF4-FFF2-40B4-BE49-F238E27FC236}">
                        <a16:creationId xmlns:a16="http://schemas.microsoft.com/office/drawing/2014/main" id="{B04535CE-B657-8299-8441-93DD47F29F94}"/>
                      </a:ext>
                      <a:ext uri="{C183D7F6-B498-43B3-948B-1728B52AA6E4}">
                        <adec:decorative xmlns:adec="http://schemas.microsoft.com/office/drawing/2017/decorative" val="1"/>
                      </a:ext>
                    </a:extLst>
                  </p:cNvPr>
                  <p:cNvCxnSpPr>
                    <a:cxnSpLocks/>
                    <a:stCxn id="19" idx="6"/>
                    <a:endCxn id="22" idx="2"/>
                  </p:cNvCxnSpPr>
                  <p:nvPr/>
                </p:nvCxnSpPr>
                <p:spPr>
                  <a:xfrm flipV="1">
                    <a:off x="5042292" y="4994302"/>
                    <a:ext cx="304800" cy="103256"/>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4" name="Straight Connector 33">
                    <a:extLst>
                      <a:ext uri="{FF2B5EF4-FFF2-40B4-BE49-F238E27FC236}">
                        <a16:creationId xmlns:a16="http://schemas.microsoft.com/office/drawing/2014/main" id="{9D560AEA-1C37-606A-6125-2E9542C98491}"/>
                      </a:ext>
                      <a:ext uri="{C183D7F6-B498-43B3-948B-1728B52AA6E4}">
                        <adec:decorative xmlns:adec="http://schemas.microsoft.com/office/drawing/2017/decorative" val="1"/>
                      </a:ext>
                    </a:extLst>
                  </p:cNvPr>
                  <p:cNvCxnSpPr>
                    <a:cxnSpLocks/>
                    <a:stCxn id="20" idx="6"/>
                    <a:endCxn id="23" idx="2"/>
                  </p:cNvCxnSpPr>
                  <p:nvPr/>
                </p:nvCxnSpPr>
                <p:spPr>
                  <a:xfrm flipV="1">
                    <a:off x="5042292" y="52229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5" name="Straight Connector 34">
                    <a:extLst>
                      <a:ext uri="{FF2B5EF4-FFF2-40B4-BE49-F238E27FC236}">
                        <a16:creationId xmlns:a16="http://schemas.microsoft.com/office/drawing/2014/main" id="{EE97423B-8F96-960A-3CA1-303478427027}"/>
                      </a:ext>
                      <a:ext uri="{C183D7F6-B498-43B3-948B-1728B52AA6E4}">
                        <adec:decorative xmlns:adec="http://schemas.microsoft.com/office/drawing/2017/decorative" val="1"/>
                      </a:ext>
                    </a:extLst>
                  </p:cNvPr>
                  <p:cNvCxnSpPr>
                    <a:cxnSpLocks/>
                    <a:stCxn id="19" idx="6"/>
                    <a:endCxn id="23" idx="2"/>
                  </p:cNvCxnSpPr>
                  <p:nvPr/>
                </p:nvCxnSpPr>
                <p:spPr>
                  <a:xfrm>
                    <a:off x="5042292" y="5097558"/>
                    <a:ext cx="304800" cy="125344"/>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6" name="Straight Connector 35">
                    <a:extLst>
                      <a:ext uri="{FF2B5EF4-FFF2-40B4-BE49-F238E27FC236}">
                        <a16:creationId xmlns:a16="http://schemas.microsoft.com/office/drawing/2014/main" id="{A6197898-D4CC-8AF9-AA5A-66011356C20D}"/>
                      </a:ext>
                      <a:ext uri="{C183D7F6-B498-43B3-948B-1728B52AA6E4}">
                        <adec:decorative xmlns:adec="http://schemas.microsoft.com/office/drawing/2017/decorative" val="1"/>
                      </a:ext>
                    </a:extLst>
                  </p:cNvPr>
                  <p:cNvCxnSpPr>
                    <a:cxnSpLocks/>
                    <a:stCxn id="21" idx="6"/>
                    <a:endCxn id="24" idx="2"/>
                  </p:cNvCxnSpPr>
                  <p:nvPr/>
                </p:nvCxnSpPr>
                <p:spPr>
                  <a:xfrm flipV="1">
                    <a:off x="5042292" y="55277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7" name="Straight Connector 36">
                    <a:extLst>
                      <a:ext uri="{FF2B5EF4-FFF2-40B4-BE49-F238E27FC236}">
                        <a16:creationId xmlns:a16="http://schemas.microsoft.com/office/drawing/2014/main" id="{D0410EA1-C3AA-989D-FFE4-52BA388BD0BF}"/>
                      </a:ext>
                      <a:ext uri="{C183D7F6-B498-43B3-948B-1728B52AA6E4}">
                        <adec:decorative xmlns:adec="http://schemas.microsoft.com/office/drawing/2017/decorative" val="1"/>
                      </a:ext>
                    </a:extLst>
                  </p:cNvPr>
                  <p:cNvCxnSpPr>
                    <a:cxnSpLocks/>
                    <a:stCxn id="20" idx="6"/>
                    <a:endCxn id="24" idx="2"/>
                  </p:cNvCxnSpPr>
                  <p:nvPr/>
                </p:nvCxnSpPr>
                <p:spPr>
                  <a:xfrm>
                    <a:off x="5042293" y="5375303"/>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8" name="Straight Connector 37">
                    <a:extLst>
                      <a:ext uri="{FF2B5EF4-FFF2-40B4-BE49-F238E27FC236}">
                        <a16:creationId xmlns:a16="http://schemas.microsoft.com/office/drawing/2014/main" id="{C0F67036-40AB-A885-8CA7-4C0D715F1E66}"/>
                      </a:ext>
                      <a:ext uri="{C183D7F6-B498-43B3-948B-1728B52AA6E4}">
                        <adec:decorative xmlns:adec="http://schemas.microsoft.com/office/drawing/2017/decorative" val="1"/>
                      </a:ext>
                    </a:extLst>
                  </p:cNvPr>
                  <p:cNvCxnSpPr>
                    <a:cxnSpLocks/>
                    <a:stCxn id="21" idx="6"/>
                    <a:endCxn id="30" idx="2"/>
                  </p:cNvCxnSpPr>
                  <p:nvPr/>
                </p:nvCxnSpPr>
                <p:spPr>
                  <a:xfrm>
                    <a:off x="5042292" y="56801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9" name="Straight Connector 38">
                    <a:extLst>
                      <a:ext uri="{FF2B5EF4-FFF2-40B4-BE49-F238E27FC236}">
                        <a16:creationId xmlns:a16="http://schemas.microsoft.com/office/drawing/2014/main" id="{D1B940C5-0D5F-420A-B7B8-D6800A37C8BB}"/>
                      </a:ext>
                      <a:ext uri="{C183D7F6-B498-43B3-948B-1728B52AA6E4}">
                        <adec:decorative xmlns:adec="http://schemas.microsoft.com/office/drawing/2017/decorative" val="1"/>
                      </a:ext>
                    </a:extLst>
                  </p:cNvPr>
                  <p:cNvCxnSpPr>
                    <a:cxnSpLocks/>
                    <a:stCxn id="29" idx="6"/>
                    <a:endCxn id="30" idx="2"/>
                  </p:cNvCxnSpPr>
                  <p:nvPr/>
                </p:nvCxnSpPr>
                <p:spPr>
                  <a:xfrm flipV="1">
                    <a:off x="5042292" y="58325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0" name="Straight Connector 39">
                    <a:extLst>
                      <a:ext uri="{FF2B5EF4-FFF2-40B4-BE49-F238E27FC236}">
                        <a16:creationId xmlns:a16="http://schemas.microsoft.com/office/drawing/2014/main" id="{C8E0B099-FEE8-5ECE-0394-05AD67FAE6FE}"/>
                      </a:ext>
                      <a:ext uri="{C183D7F6-B498-43B3-948B-1728B52AA6E4}">
                        <adec:decorative xmlns:adec="http://schemas.microsoft.com/office/drawing/2017/decorative" val="1"/>
                      </a:ext>
                    </a:extLst>
                  </p:cNvPr>
                  <p:cNvCxnSpPr>
                    <a:cxnSpLocks/>
                    <a:stCxn id="29" idx="6"/>
                    <a:endCxn id="24" idx="2"/>
                  </p:cNvCxnSpPr>
                  <p:nvPr/>
                </p:nvCxnSpPr>
                <p:spPr>
                  <a:xfrm flipV="1">
                    <a:off x="5042292" y="5527702"/>
                    <a:ext cx="30480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1" name="Straight Connector 40">
                    <a:extLst>
                      <a:ext uri="{FF2B5EF4-FFF2-40B4-BE49-F238E27FC236}">
                        <a16:creationId xmlns:a16="http://schemas.microsoft.com/office/drawing/2014/main" id="{8D700F35-DFD0-3F9D-9ED2-78B5DE027326}"/>
                      </a:ext>
                      <a:ext uri="{C183D7F6-B498-43B3-948B-1728B52AA6E4}">
                        <adec:decorative xmlns:adec="http://schemas.microsoft.com/office/drawing/2017/decorative" val="1"/>
                      </a:ext>
                    </a:extLst>
                  </p:cNvPr>
                  <p:cNvCxnSpPr>
                    <a:cxnSpLocks/>
                    <a:stCxn id="21" idx="6"/>
                    <a:endCxn id="23" idx="3"/>
                  </p:cNvCxnSpPr>
                  <p:nvPr/>
                </p:nvCxnSpPr>
                <p:spPr>
                  <a:xfrm flipV="1">
                    <a:off x="5042292" y="5286349"/>
                    <a:ext cx="327118" cy="3937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2" name="Straight Connector 41">
                    <a:extLst>
                      <a:ext uri="{FF2B5EF4-FFF2-40B4-BE49-F238E27FC236}">
                        <a16:creationId xmlns:a16="http://schemas.microsoft.com/office/drawing/2014/main" id="{4EB1210E-FB9B-816E-33E2-768DC1432076}"/>
                      </a:ext>
                      <a:ext uri="{C183D7F6-B498-43B3-948B-1728B52AA6E4}">
                        <adec:decorative xmlns:adec="http://schemas.microsoft.com/office/drawing/2017/decorative" val="1"/>
                      </a:ext>
                    </a:extLst>
                  </p:cNvPr>
                  <p:cNvCxnSpPr>
                    <a:cxnSpLocks/>
                    <a:stCxn id="20" idx="6"/>
                    <a:endCxn id="22" idx="3"/>
                  </p:cNvCxnSpPr>
                  <p:nvPr/>
                </p:nvCxnSpPr>
                <p:spPr>
                  <a:xfrm flipV="1">
                    <a:off x="5042292" y="5057749"/>
                    <a:ext cx="327118" cy="3175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3" name="Straight Connector 42">
                    <a:extLst>
                      <a:ext uri="{FF2B5EF4-FFF2-40B4-BE49-F238E27FC236}">
                        <a16:creationId xmlns:a16="http://schemas.microsoft.com/office/drawing/2014/main" id="{205016AB-0C14-69C8-9B84-B5DA9681ED9D}"/>
                      </a:ext>
                      <a:ext uri="{C183D7F6-B498-43B3-948B-1728B52AA6E4}">
                        <adec:decorative xmlns:adec="http://schemas.microsoft.com/office/drawing/2017/decorative" val="1"/>
                      </a:ext>
                    </a:extLst>
                  </p:cNvPr>
                  <p:cNvCxnSpPr>
                    <a:cxnSpLocks/>
                    <a:stCxn id="18" idx="6"/>
                    <a:endCxn id="23" idx="1"/>
                  </p:cNvCxnSpPr>
                  <p:nvPr/>
                </p:nvCxnSpPr>
                <p:spPr>
                  <a:xfrm>
                    <a:off x="5042292" y="4841902"/>
                    <a:ext cx="327118" cy="3175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4" name="Straight Connector 43">
                    <a:extLst>
                      <a:ext uri="{FF2B5EF4-FFF2-40B4-BE49-F238E27FC236}">
                        <a16:creationId xmlns:a16="http://schemas.microsoft.com/office/drawing/2014/main" id="{4153C3D4-6C40-F42D-9CF2-63878BE8A937}"/>
                      </a:ext>
                      <a:ext uri="{C183D7F6-B498-43B3-948B-1728B52AA6E4}">
                        <adec:decorative xmlns:adec="http://schemas.microsoft.com/office/drawing/2017/decorative" val="1"/>
                      </a:ext>
                    </a:extLst>
                  </p:cNvPr>
                  <p:cNvCxnSpPr>
                    <a:cxnSpLocks/>
                    <a:stCxn id="20" idx="6"/>
                    <a:endCxn id="30" idx="2"/>
                  </p:cNvCxnSpPr>
                  <p:nvPr/>
                </p:nvCxnSpPr>
                <p:spPr>
                  <a:xfrm>
                    <a:off x="5042292" y="5375302"/>
                    <a:ext cx="30480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5" name="Straight Connector 44">
                    <a:extLst>
                      <a:ext uri="{FF2B5EF4-FFF2-40B4-BE49-F238E27FC236}">
                        <a16:creationId xmlns:a16="http://schemas.microsoft.com/office/drawing/2014/main" id="{EE82DF43-CB97-6893-00D5-B3D40774E6B8}"/>
                      </a:ext>
                      <a:ext uri="{C183D7F6-B498-43B3-948B-1728B52AA6E4}">
                        <adec:decorative xmlns:adec="http://schemas.microsoft.com/office/drawing/2017/decorative" val="1"/>
                      </a:ext>
                    </a:extLst>
                  </p:cNvPr>
                  <p:cNvCxnSpPr>
                    <a:cxnSpLocks/>
                    <a:stCxn id="22" idx="6"/>
                    <a:endCxn id="25" idx="2"/>
                  </p:cNvCxnSpPr>
                  <p:nvPr/>
                </p:nvCxnSpPr>
                <p:spPr>
                  <a:xfrm flipV="1">
                    <a:off x="5499492" y="4842677"/>
                    <a:ext cx="336450" cy="151625"/>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6" name="Straight Connector 45">
                    <a:extLst>
                      <a:ext uri="{FF2B5EF4-FFF2-40B4-BE49-F238E27FC236}">
                        <a16:creationId xmlns:a16="http://schemas.microsoft.com/office/drawing/2014/main" id="{074C30DD-D7E9-9619-4469-B864E5818E34}"/>
                      </a:ext>
                      <a:ext uri="{C183D7F6-B498-43B3-948B-1728B52AA6E4}">
                        <adec:decorative xmlns:adec="http://schemas.microsoft.com/office/drawing/2017/decorative" val="1"/>
                      </a:ext>
                    </a:extLst>
                  </p:cNvPr>
                  <p:cNvCxnSpPr>
                    <a:cxnSpLocks/>
                    <a:stCxn id="23" idx="6"/>
                    <a:endCxn id="25" idx="2"/>
                  </p:cNvCxnSpPr>
                  <p:nvPr/>
                </p:nvCxnSpPr>
                <p:spPr>
                  <a:xfrm flipV="1">
                    <a:off x="5499492" y="4842677"/>
                    <a:ext cx="336450" cy="380225"/>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7" name="Straight Connector 46">
                    <a:extLst>
                      <a:ext uri="{FF2B5EF4-FFF2-40B4-BE49-F238E27FC236}">
                        <a16:creationId xmlns:a16="http://schemas.microsoft.com/office/drawing/2014/main" id="{940A84DD-AB69-1AE2-CDA3-E3BF8266FA4B}"/>
                      </a:ext>
                      <a:ext uri="{C183D7F6-B498-43B3-948B-1728B52AA6E4}">
                        <adec:decorative xmlns:adec="http://schemas.microsoft.com/office/drawing/2017/decorative" val="1"/>
                      </a:ext>
                    </a:extLst>
                  </p:cNvPr>
                  <p:cNvCxnSpPr>
                    <a:cxnSpLocks/>
                    <a:stCxn id="24" idx="6"/>
                    <a:endCxn id="26" idx="2"/>
                  </p:cNvCxnSpPr>
                  <p:nvPr/>
                </p:nvCxnSpPr>
                <p:spPr>
                  <a:xfrm flipV="1">
                    <a:off x="5499492" y="5120421"/>
                    <a:ext cx="336450" cy="4072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8" name="Straight Connector 47">
                    <a:extLst>
                      <a:ext uri="{FF2B5EF4-FFF2-40B4-BE49-F238E27FC236}">
                        <a16:creationId xmlns:a16="http://schemas.microsoft.com/office/drawing/2014/main" id="{968CDC8C-673C-B028-5DBA-13F66A8C9D1E}"/>
                      </a:ext>
                      <a:ext uri="{C183D7F6-B498-43B3-948B-1728B52AA6E4}">
                        <adec:decorative xmlns:adec="http://schemas.microsoft.com/office/drawing/2017/decorative" val="1"/>
                      </a:ext>
                    </a:extLst>
                  </p:cNvPr>
                  <p:cNvCxnSpPr>
                    <a:cxnSpLocks/>
                    <a:stCxn id="30" idx="6"/>
                    <a:endCxn id="27" idx="2"/>
                  </p:cNvCxnSpPr>
                  <p:nvPr/>
                </p:nvCxnSpPr>
                <p:spPr>
                  <a:xfrm flipV="1">
                    <a:off x="5499492" y="5425221"/>
                    <a:ext cx="336450" cy="4072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9" name="Straight Connector 48">
                    <a:extLst>
                      <a:ext uri="{FF2B5EF4-FFF2-40B4-BE49-F238E27FC236}">
                        <a16:creationId xmlns:a16="http://schemas.microsoft.com/office/drawing/2014/main" id="{C7C66528-7A5E-5C60-1D76-A7FF391194AF}"/>
                      </a:ext>
                      <a:ext uri="{C183D7F6-B498-43B3-948B-1728B52AA6E4}">
                        <adec:decorative xmlns:adec="http://schemas.microsoft.com/office/drawing/2017/decorative" val="1"/>
                      </a:ext>
                    </a:extLst>
                  </p:cNvPr>
                  <p:cNvCxnSpPr>
                    <a:cxnSpLocks/>
                    <a:stCxn id="30" idx="6"/>
                    <a:endCxn id="31" idx="1"/>
                  </p:cNvCxnSpPr>
                  <p:nvPr/>
                </p:nvCxnSpPr>
                <p:spPr>
                  <a:xfrm>
                    <a:off x="5499492" y="5832502"/>
                    <a:ext cx="358768" cy="138872"/>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0" name="Straight Connector 49">
                    <a:extLst>
                      <a:ext uri="{FF2B5EF4-FFF2-40B4-BE49-F238E27FC236}">
                        <a16:creationId xmlns:a16="http://schemas.microsoft.com/office/drawing/2014/main" id="{AC552767-5D23-11F1-B50A-D04A62B640F4}"/>
                      </a:ext>
                      <a:ext uri="{C183D7F6-B498-43B3-948B-1728B52AA6E4}">
                        <adec:decorative xmlns:adec="http://schemas.microsoft.com/office/drawing/2017/decorative" val="1"/>
                      </a:ext>
                    </a:extLst>
                  </p:cNvPr>
                  <p:cNvCxnSpPr>
                    <a:cxnSpLocks/>
                    <a:stCxn id="30" idx="6"/>
                    <a:endCxn id="28" idx="2"/>
                  </p:cNvCxnSpPr>
                  <p:nvPr/>
                </p:nvCxnSpPr>
                <p:spPr>
                  <a:xfrm flipV="1">
                    <a:off x="5499492" y="5730021"/>
                    <a:ext cx="336450" cy="1024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1" name="Straight Connector 50">
                    <a:extLst>
                      <a:ext uri="{FF2B5EF4-FFF2-40B4-BE49-F238E27FC236}">
                        <a16:creationId xmlns:a16="http://schemas.microsoft.com/office/drawing/2014/main" id="{0039CAD9-5434-1A4E-BFA1-A7A8725B9048}"/>
                      </a:ext>
                      <a:ext uri="{C183D7F6-B498-43B3-948B-1728B52AA6E4}">
                        <adec:decorative xmlns:adec="http://schemas.microsoft.com/office/drawing/2017/decorative" val="1"/>
                      </a:ext>
                    </a:extLst>
                  </p:cNvPr>
                  <p:cNvCxnSpPr>
                    <a:cxnSpLocks/>
                    <a:stCxn id="24" idx="6"/>
                    <a:endCxn id="27" idx="2"/>
                  </p:cNvCxnSpPr>
                  <p:nvPr/>
                </p:nvCxnSpPr>
                <p:spPr>
                  <a:xfrm flipV="1">
                    <a:off x="5499492" y="5425221"/>
                    <a:ext cx="336450" cy="1024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2" name="Straight Connector 51">
                    <a:extLst>
                      <a:ext uri="{FF2B5EF4-FFF2-40B4-BE49-F238E27FC236}">
                        <a16:creationId xmlns:a16="http://schemas.microsoft.com/office/drawing/2014/main" id="{A18AF778-75AB-0B75-62E4-2E2B17F3BB49}"/>
                      </a:ext>
                      <a:ext uri="{C183D7F6-B498-43B3-948B-1728B52AA6E4}">
                        <adec:decorative xmlns:adec="http://schemas.microsoft.com/office/drawing/2017/decorative" val="1"/>
                      </a:ext>
                    </a:extLst>
                  </p:cNvPr>
                  <p:cNvCxnSpPr>
                    <a:cxnSpLocks/>
                    <a:stCxn id="22" idx="6"/>
                    <a:endCxn id="26" idx="2"/>
                  </p:cNvCxnSpPr>
                  <p:nvPr/>
                </p:nvCxnSpPr>
                <p:spPr>
                  <a:xfrm>
                    <a:off x="5499493" y="4994303"/>
                    <a:ext cx="336449" cy="1261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3" name="Straight Connector 52">
                    <a:extLst>
                      <a:ext uri="{FF2B5EF4-FFF2-40B4-BE49-F238E27FC236}">
                        <a16:creationId xmlns:a16="http://schemas.microsoft.com/office/drawing/2014/main" id="{CFF393A3-E9B3-11EC-31D6-FE357CC4D151}"/>
                      </a:ext>
                      <a:ext uri="{C183D7F6-B498-43B3-948B-1728B52AA6E4}">
                        <adec:decorative xmlns:adec="http://schemas.microsoft.com/office/drawing/2017/decorative" val="1"/>
                      </a:ext>
                    </a:extLst>
                  </p:cNvPr>
                  <p:cNvCxnSpPr>
                    <a:cxnSpLocks/>
                    <a:stCxn id="23" idx="6"/>
                    <a:endCxn id="27" idx="2"/>
                  </p:cNvCxnSpPr>
                  <p:nvPr/>
                </p:nvCxnSpPr>
                <p:spPr>
                  <a:xfrm>
                    <a:off x="5499492" y="5222902"/>
                    <a:ext cx="336450" cy="2023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4" name="Straight Connector 53">
                    <a:extLst>
                      <a:ext uri="{FF2B5EF4-FFF2-40B4-BE49-F238E27FC236}">
                        <a16:creationId xmlns:a16="http://schemas.microsoft.com/office/drawing/2014/main" id="{C9406BC8-EBC0-4E26-524A-8784C41D1D6E}"/>
                      </a:ext>
                      <a:ext uri="{C183D7F6-B498-43B3-948B-1728B52AA6E4}">
                        <adec:decorative xmlns:adec="http://schemas.microsoft.com/office/drawing/2017/decorative" val="1"/>
                      </a:ext>
                    </a:extLst>
                  </p:cNvPr>
                  <p:cNvCxnSpPr>
                    <a:cxnSpLocks/>
                    <a:stCxn id="24" idx="6"/>
                    <a:endCxn id="28" idx="2"/>
                  </p:cNvCxnSpPr>
                  <p:nvPr/>
                </p:nvCxnSpPr>
                <p:spPr>
                  <a:xfrm>
                    <a:off x="5499492" y="5527702"/>
                    <a:ext cx="336450" cy="2023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5" name="Straight Connector 54">
                    <a:extLst>
                      <a:ext uri="{FF2B5EF4-FFF2-40B4-BE49-F238E27FC236}">
                        <a16:creationId xmlns:a16="http://schemas.microsoft.com/office/drawing/2014/main" id="{B0C82BFF-D16A-81D5-B83A-BBEFA80A6C56}"/>
                      </a:ext>
                      <a:ext uri="{C183D7F6-B498-43B3-948B-1728B52AA6E4}">
                        <adec:decorative xmlns:adec="http://schemas.microsoft.com/office/drawing/2017/decorative" val="1"/>
                      </a:ext>
                    </a:extLst>
                  </p:cNvPr>
                  <p:cNvCxnSpPr>
                    <a:cxnSpLocks/>
                    <a:stCxn id="22" idx="6"/>
                    <a:endCxn id="27" idx="2"/>
                  </p:cNvCxnSpPr>
                  <p:nvPr/>
                </p:nvCxnSpPr>
                <p:spPr>
                  <a:xfrm>
                    <a:off x="5499492" y="4994302"/>
                    <a:ext cx="336450" cy="4309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6" name="Straight Connector 55">
                    <a:extLst>
                      <a:ext uri="{FF2B5EF4-FFF2-40B4-BE49-F238E27FC236}">
                        <a16:creationId xmlns:a16="http://schemas.microsoft.com/office/drawing/2014/main" id="{EC7F004F-A54E-A6B1-6AD6-D728047DE606}"/>
                      </a:ext>
                      <a:ext uri="{C183D7F6-B498-43B3-948B-1728B52AA6E4}">
                        <adec:decorative xmlns:adec="http://schemas.microsoft.com/office/drawing/2017/decorative" val="1"/>
                      </a:ext>
                    </a:extLst>
                  </p:cNvPr>
                  <p:cNvCxnSpPr>
                    <a:cxnSpLocks/>
                    <a:stCxn id="24" idx="6"/>
                    <a:endCxn id="25" idx="2"/>
                  </p:cNvCxnSpPr>
                  <p:nvPr/>
                </p:nvCxnSpPr>
                <p:spPr>
                  <a:xfrm flipV="1">
                    <a:off x="5499492" y="4842677"/>
                    <a:ext cx="336450" cy="685025"/>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7" name="Straight Connector 56">
                    <a:extLst>
                      <a:ext uri="{FF2B5EF4-FFF2-40B4-BE49-F238E27FC236}">
                        <a16:creationId xmlns:a16="http://schemas.microsoft.com/office/drawing/2014/main" id="{7490D471-CE68-0AD5-3657-E90F84C926B8}"/>
                      </a:ext>
                      <a:ext uri="{C183D7F6-B498-43B3-948B-1728B52AA6E4}">
                        <adec:decorative xmlns:adec="http://schemas.microsoft.com/office/drawing/2017/decorative" val="1"/>
                      </a:ext>
                    </a:extLst>
                  </p:cNvPr>
                  <p:cNvCxnSpPr>
                    <a:cxnSpLocks/>
                    <a:stCxn id="24" idx="6"/>
                    <a:endCxn id="31" idx="1"/>
                  </p:cNvCxnSpPr>
                  <p:nvPr/>
                </p:nvCxnSpPr>
                <p:spPr>
                  <a:xfrm>
                    <a:off x="5499492" y="5527702"/>
                    <a:ext cx="358768" cy="443672"/>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8" name="Straight Connector 57">
                    <a:extLst>
                      <a:ext uri="{FF2B5EF4-FFF2-40B4-BE49-F238E27FC236}">
                        <a16:creationId xmlns:a16="http://schemas.microsoft.com/office/drawing/2014/main" id="{98B1212C-FB9A-6B05-8AF7-DEA3B9CA2E24}"/>
                      </a:ext>
                      <a:ext uri="{C183D7F6-B498-43B3-948B-1728B52AA6E4}">
                        <adec:decorative xmlns:adec="http://schemas.microsoft.com/office/drawing/2017/decorative" val="1"/>
                      </a:ext>
                    </a:extLst>
                  </p:cNvPr>
                  <p:cNvCxnSpPr>
                    <a:cxnSpLocks/>
                    <a:stCxn id="30" idx="6"/>
                    <a:endCxn id="26" idx="2"/>
                  </p:cNvCxnSpPr>
                  <p:nvPr/>
                </p:nvCxnSpPr>
                <p:spPr>
                  <a:xfrm flipV="1">
                    <a:off x="5499492" y="5120421"/>
                    <a:ext cx="336450" cy="7120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sp>
                <p:nvSpPr>
                  <p:cNvPr id="59" name="Oval 58">
                    <a:extLst>
                      <a:ext uri="{FF2B5EF4-FFF2-40B4-BE49-F238E27FC236}">
                        <a16:creationId xmlns:a16="http://schemas.microsoft.com/office/drawing/2014/main" id="{5CE20097-55F4-EF7D-0A82-DEA4D8035A88}"/>
                      </a:ext>
                      <a:ext uri="{C183D7F6-B498-43B3-948B-1728B52AA6E4}">
                        <adec:decorative xmlns:adec="http://schemas.microsoft.com/office/drawing/2017/decorative" val="1"/>
                      </a:ext>
                    </a:extLst>
                  </p:cNvPr>
                  <p:cNvSpPr/>
                  <p:nvPr/>
                </p:nvSpPr>
                <p:spPr>
                  <a:xfrm>
                    <a:off x="4410942" y="45997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FEF1D8EB-9C47-0FA5-968C-E17B13F99BD8}"/>
                      </a:ext>
                      <a:ext uri="{C183D7F6-B498-43B3-948B-1728B52AA6E4}">
                        <adec:decorative xmlns:adec="http://schemas.microsoft.com/office/drawing/2017/decorative" val="1"/>
                      </a:ext>
                    </a:extLst>
                  </p:cNvPr>
                  <p:cNvSpPr/>
                  <p:nvPr/>
                </p:nvSpPr>
                <p:spPr>
                  <a:xfrm>
                    <a:off x="4410942" y="4855430"/>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C6BF6D64-CED0-FA8C-D07D-EB88CC7E0CB3}"/>
                      </a:ext>
                      <a:ext uri="{C183D7F6-B498-43B3-948B-1728B52AA6E4}">
                        <adec:decorative xmlns:adec="http://schemas.microsoft.com/office/drawing/2017/decorative" val="1"/>
                      </a:ext>
                    </a:extLst>
                  </p:cNvPr>
                  <p:cNvSpPr/>
                  <p:nvPr/>
                </p:nvSpPr>
                <p:spPr>
                  <a:xfrm>
                    <a:off x="4410942" y="5133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5CC692BA-F646-0F37-6CC0-069F69A500A4}"/>
                      </a:ext>
                      <a:ext uri="{C183D7F6-B498-43B3-948B-1728B52AA6E4}">
                        <adec:decorative xmlns:adec="http://schemas.microsoft.com/office/drawing/2017/decorative" val="1"/>
                      </a:ext>
                    </a:extLst>
                  </p:cNvPr>
                  <p:cNvSpPr/>
                  <p:nvPr/>
                </p:nvSpPr>
                <p:spPr>
                  <a:xfrm>
                    <a:off x="4410942" y="54379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AB4EAF1B-45F1-6876-4C79-B5EDA911CF0B}"/>
                      </a:ext>
                      <a:ext uri="{C183D7F6-B498-43B3-948B-1728B52AA6E4}">
                        <adec:decorative xmlns:adec="http://schemas.microsoft.com/office/drawing/2017/decorative" val="1"/>
                      </a:ext>
                    </a:extLst>
                  </p:cNvPr>
                  <p:cNvSpPr/>
                  <p:nvPr/>
                </p:nvSpPr>
                <p:spPr>
                  <a:xfrm>
                    <a:off x="4410942" y="57427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7E48E036-FFD0-5659-B255-527C0E321666}"/>
                      </a:ext>
                      <a:ext uri="{C183D7F6-B498-43B3-948B-1728B52AA6E4}">
                        <adec:decorative xmlns:adec="http://schemas.microsoft.com/office/drawing/2017/decorative" val="1"/>
                      </a:ext>
                    </a:extLst>
                  </p:cNvPr>
                  <p:cNvSpPr/>
                  <p:nvPr/>
                </p:nvSpPr>
                <p:spPr>
                  <a:xfrm>
                    <a:off x="4419600" y="606894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65" name="Straight Connector 64">
                    <a:extLst>
                      <a:ext uri="{FF2B5EF4-FFF2-40B4-BE49-F238E27FC236}">
                        <a16:creationId xmlns:a16="http://schemas.microsoft.com/office/drawing/2014/main" id="{6A69E911-5FBF-8700-4A41-66D934E56CD4}"/>
                      </a:ext>
                      <a:ext uri="{C183D7F6-B498-43B3-948B-1728B52AA6E4}">
                        <adec:decorative xmlns:adec="http://schemas.microsoft.com/office/drawing/2017/decorative" val="1"/>
                      </a:ext>
                    </a:extLst>
                  </p:cNvPr>
                  <p:cNvCxnSpPr>
                    <a:cxnSpLocks/>
                    <a:stCxn id="59" idx="6"/>
                    <a:endCxn id="18" idx="2"/>
                  </p:cNvCxnSpPr>
                  <p:nvPr/>
                </p:nvCxnSpPr>
                <p:spPr>
                  <a:xfrm>
                    <a:off x="4563342" y="46895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6" name="Straight Connector 65">
                    <a:extLst>
                      <a:ext uri="{FF2B5EF4-FFF2-40B4-BE49-F238E27FC236}">
                        <a16:creationId xmlns:a16="http://schemas.microsoft.com/office/drawing/2014/main" id="{58649232-0CE9-BB9C-698D-3E5E8CA9A0E0}"/>
                      </a:ext>
                      <a:ext uri="{C183D7F6-B498-43B3-948B-1728B52AA6E4}">
                        <adec:decorative xmlns:adec="http://schemas.microsoft.com/office/drawing/2017/decorative" val="1"/>
                      </a:ext>
                    </a:extLst>
                  </p:cNvPr>
                  <p:cNvCxnSpPr>
                    <a:cxnSpLocks/>
                    <a:stCxn id="60" idx="6"/>
                    <a:endCxn id="19" idx="2"/>
                  </p:cNvCxnSpPr>
                  <p:nvPr/>
                </p:nvCxnSpPr>
                <p:spPr>
                  <a:xfrm>
                    <a:off x="4563342" y="4945158"/>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7" name="Straight Connector 66">
                    <a:extLst>
                      <a:ext uri="{FF2B5EF4-FFF2-40B4-BE49-F238E27FC236}">
                        <a16:creationId xmlns:a16="http://schemas.microsoft.com/office/drawing/2014/main" id="{893A9EB9-0FFF-15D3-2AF3-AAC6B9338717}"/>
                      </a:ext>
                      <a:ext uri="{C183D7F6-B498-43B3-948B-1728B52AA6E4}">
                        <adec:decorative xmlns:adec="http://schemas.microsoft.com/office/drawing/2017/decorative" val="1"/>
                      </a:ext>
                    </a:extLst>
                  </p:cNvPr>
                  <p:cNvCxnSpPr>
                    <a:cxnSpLocks/>
                    <a:stCxn id="61" idx="6"/>
                    <a:endCxn id="20" idx="2"/>
                  </p:cNvCxnSpPr>
                  <p:nvPr/>
                </p:nvCxnSpPr>
                <p:spPr>
                  <a:xfrm>
                    <a:off x="4563342" y="52229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8" name="Straight Connector 67">
                    <a:extLst>
                      <a:ext uri="{FF2B5EF4-FFF2-40B4-BE49-F238E27FC236}">
                        <a16:creationId xmlns:a16="http://schemas.microsoft.com/office/drawing/2014/main" id="{B3621B44-848E-6DCD-1AC3-925F3EAE8D79}"/>
                      </a:ext>
                      <a:ext uri="{C183D7F6-B498-43B3-948B-1728B52AA6E4}">
                        <adec:decorative xmlns:adec="http://schemas.microsoft.com/office/drawing/2017/decorative" val="1"/>
                      </a:ext>
                    </a:extLst>
                  </p:cNvPr>
                  <p:cNvCxnSpPr>
                    <a:cxnSpLocks/>
                    <a:stCxn id="62" idx="6"/>
                    <a:endCxn id="21" idx="2"/>
                  </p:cNvCxnSpPr>
                  <p:nvPr/>
                </p:nvCxnSpPr>
                <p:spPr>
                  <a:xfrm>
                    <a:off x="4563342" y="55277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9" name="Straight Connector 68">
                    <a:extLst>
                      <a:ext uri="{FF2B5EF4-FFF2-40B4-BE49-F238E27FC236}">
                        <a16:creationId xmlns:a16="http://schemas.microsoft.com/office/drawing/2014/main" id="{56572019-AA5A-1FBD-C063-7007674ED064}"/>
                      </a:ext>
                      <a:ext uri="{C183D7F6-B498-43B3-948B-1728B52AA6E4}">
                        <adec:decorative xmlns:adec="http://schemas.microsoft.com/office/drawing/2017/decorative" val="1"/>
                      </a:ext>
                    </a:extLst>
                  </p:cNvPr>
                  <p:cNvCxnSpPr>
                    <a:cxnSpLocks/>
                    <a:stCxn id="63" idx="6"/>
                    <a:endCxn id="29" idx="2"/>
                  </p:cNvCxnSpPr>
                  <p:nvPr/>
                </p:nvCxnSpPr>
                <p:spPr>
                  <a:xfrm>
                    <a:off x="4563342" y="58325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0" name="Straight Connector 69">
                    <a:extLst>
                      <a:ext uri="{FF2B5EF4-FFF2-40B4-BE49-F238E27FC236}">
                        <a16:creationId xmlns:a16="http://schemas.microsoft.com/office/drawing/2014/main" id="{7D3B3180-FC31-3ECF-D436-CEC01C7FDA90}"/>
                      </a:ext>
                      <a:ext uri="{C183D7F6-B498-43B3-948B-1728B52AA6E4}">
                        <adec:decorative xmlns:adec="http://schemas.microsoft.com/office/drawing/2017/decorative" val="1"/>
                      </a:ext>
                    </a:extLst>
                  </p:cNvPr>
                  <p:cNvCxnSpPr>
                    <a:cxnSpLocks/>
                    <a:stCxn id="64" idx="6"/>
                    <a:endCxn id="29" idx="2"/>
                  </p:cNvCxnSpPr>
                  <p:nvPr/>
                </p:nvCxnSpPr>
                <p:spPr>
                  <a:xfrm flipV="1">
                    <a:off x="4572000" y="5984902"/>
                    <a:ext cx="317892" cy="17377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1" name="Straight Connector 70">
                    <a:extLst>
                      <a:ext uri="{FF2B5EF4-FFF2-40B4-BE49-F238E27FC236}">
                        <a16:creationId xmlns:a16="http://schemas.microsoft.com/office/drawing/2014/main" id="{852348F5-9411-A35F-67CB-775F51AABF34}"/>
                      </a:ext>
                      <a:ext uri="{C183D7F6-B498-43B3-948B-1728B52AA6E4}">
                        <adec:decorative xmlns:adec="http://schemas.microsoft.com/office/drawing/2017/decorative" val="1"/>
                      </a:ext>
                    </a:extLst>
                  </p:cNvPr>
                  <p:cNvCxnSpPr>
                    <a:cxnSpLocks/>
                    <a:stCxn id="63" idx="6"/>
                    <a:endCxn id="21" idx="2"/>
                  </p:cNvCxnSpPr>
                  <p:nvPr/>
                </p:nvCxnSpPr>
                <p:spPr>
                  <a:xfrm flipV="1">
                    <a:off x="4563342" y="56801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2" name="Straight Connector 71">
                    <a:extLst>
                      <a:ext uri="{FF2B5EF4-FFF2-40B4-BE49-F238E27FC236}">
                        <a16:creationId xmlns:a16="http://schemas.microsoft.com/office/drawing/2014/main" id="{5476176C-A402-5900-AD63-1FD970220E84}"/>
                      </a:ext>
                      <a:ext uri="{C183D7F6-B498-43B3-948B-1728B52AA6E4}">
                        <adec:decorative xmlns:adec="http://schemas.microsoft.com/office/drawing/2017/decorative" val="1"/>
                      </a:ext>
                    </a:extLst>
                  </p:cNvPr>
                  <p:cNvCxnSpPr>
                    <a:cxnSpLocks/>
                    <a:stCxn id="61" idx="6"/>
                    <a:endCxn id="19" idx="2"/>
                  </p:cNvCxnSpPr>
                  <p:nvPr/>
                </p:nvCxnSpPr>
                <p:spPr>
                  <a:xfrm flipV="1">
                    <a:off x="4563342" y="5097558"/>
                    <a:ext cx="326550" cy="125344"/>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3" name="Straight Connector 72">
                    <a:extLst>
                      <a:ext uri="{FF2B5EF4-FFF2-40B4-BE49-F238E27FC236}">
                        <a16:creationId xmlns:a16="http://schemas.microsoft.com/office/drawing/2014/main" id="{74E5BBB2-219C-B0DA-1CBF-3927171DFA08}"/>
                      </a:ext>
                      <a:ext uri="{C183D7F6-B498-43B3-948B-1728B52AA6E4}">
                        <adec:decorative xmlns:adec="http://schemas.microsoft.com/office/drawing/2017/decorative" val="1"/>
                      </a:ext>
                    </a:extLst>
                  </p:cNvPr>
                  <p:cNvCxnSpPr>
                    <a:cxnSpLocks/>
                    <a:stCxn id="60" idx="6"/>
                    <a:endCxn id="18" idx="2"/>
                  </p:cNvCxnSpPr>
                  <p:nvPr/>
                </p:nvCxnSpPr>
                <p:spPr>
                  <a:xfrm flipV="1">
                    <a:off x="4563342" y="4841902"/>
                    <a:ext cx="326550" cy="103256"/>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4" name="Straight Connector 73">
                    <a:extLst>
                      <a:ext uri="{FF2B5EF4-FFF2-40B4-BE49-F238E27FC236}">
                        <a16:creationId xmlns:a16="http://schemas.microsoft.com/office/drawing/2014/main" id="{F28C30CC-E0B4-1A07-D20E-607986AACD14}"/>
                      </a:ext>
                      <a:ext uri="{C183D7F6-B498-43B3-948B-1728B52AA6E4}">
                        <adec:decorative xmlns:adec="http://schemas.microsoft.com/office/drawing/2017/decorative" val="1"/>
                      </a:ext>
                    </a:extLst>
                  </p:cNvPr>
                  <p:cNvCxnSpPr>
                    <a:cxnSpLocks/>
                    <a:stCxn id="62" idx="6"/>
                    <a:endCxn id="29" idx="2"/>
                  </p:cNvCxnSpPr>
                  <p:nvPr/>
                </p:nvCxnSpPr>
                <p:spPr>
                  <a:xfrm>
                    <a:off x="4563342" y="5527702"/>
                    <a:ext cx="32655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5" name="Straight Connector 74">
                    <a:extLst>
                      <a:ext uri="{FF2B5EF4-FFF2-40B4-BE49-F238E27FC236}">
                        <a16:creationId xmlns:a16="http://schemas.microsoft.com/office/drawing/2014/main" id="{0BE3FB96-1AA8-12F4-A62A-4F1A1D75A44D}"/>
                      </a:ext>
                      <a:ext uri="{C183D7F6-B498-43B3-948B-1728B52AA6E4}">
                        <adec:decorative xmlns:adec="http://schemas.microsoft.com/office/drawing/2017/decorative" val="1"/>
                      </a:ext>
                    </a:extLst>
                  </p:cNvPr>
                  <p:cNvCxnSpPr>
                    <a:cxnSpLocks/>
                    <a:stCxn id="60" idx="6"/>
                    <a:endCxn id="21" idx="2"/>
                  </p:cNvCxnSpPr>
                  <p:nvPr/>
                </p:nvCxnSpPr>
                <p:spPr>
                  <a:xfrm>
                    <a:off x="4563342" y="4945158"/>
                    <a:ext cx="326550" cy="734944"/>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6" name="Straight Connector 75">
                    <a:extLst>
                      <a:ext uri="{FF2B5EF4-FFF2-40B4-BE49-F238E27FC236}">
                        <a16:creationId xmlns:a16="http://schemas.microsoft.com/office/drawing/2014/main" id="{9CA45C5E-81FB-B53A-2C2A-28E92ED688B6}"/>
                      </a:ext>
                      <a:ext uri="{C183D7F6-B498-43B3-948B-1728B52AA6E4}">
                        <adec:decorative xmlns:adec="http://schemas.microsoft.com/office/drawing/2017/decorative" val="1"/>
                      </a:ext>
                    </a:extLst>
                  </p:cNvPr>
                  <p:cNvCxnSpPr>
                    <a:cxnSpLocks/>
                    <a:stCxn id="62" idx="6"/>
                    <a:endCxn id="18" idx="2"/>
                  </p:cNvCxnSpPr>
                  <p:nvPr/>
                </p:nvCxnSpPr>
                <p:spPr>
                  <a:xfrm flipV="1">
                    <a:off x="4563342" y="4841902"/>
                    <a:ext cx="326550" cy="6858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7" name="Straight Connector 76">
                    <a:extLst>
                      <a:ext uri="{FF2B5EF4-FFF2-40B4-BE49-F238E27FC236}">
                        <a16:creationId xmlns:a16="http://schemas.microsoft.com/office/drawing/2014/main" id="{E8DAE0A9-B4BB-44AD-6A59-2C6946BCEF05}"/>
                      </a:ext>
                      <a:ext uri="{C183D7F6-B498-43B3-948B-1728B52AA6E4}">
                        <adec:decorative xmlns:adec="http://schemas.microsoft.com/office/drawing/2017/decorative" val="1"/>
                      </a:ext>
                    </a:extLst>
                  </p:cNvPr>
                  <p:cNvCxnSpPr>
                    <a:cxnSpLocks/>
                    <a:stCxn id="64" idx="6"/>
                    <a:endCxn id="21" idx="2"/>
                  </p:cNvCxnSpPr>
                  <p:nvPr/>
                </p:nvCxnSpPr>
                <p:spPr>
                  <a:xfrm flipV="1">
                    <a:off x="4572000" y="5680102"/>
                    <a:ext cx="317892" cy="47857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8" name="Straight Connector 77">
                    <a:extLst>
                      <a:ext uri="{FF2B5EF4-FFF2-40B4-BE49-F238E27FC236}">
                        <a16:creationId xmlns:a16="http://schemas.microsoft.com/office/drawing/2014/main" id="{55089B56-946C-924D-38E2-BAADD3A1B31A}"/>
                      </a:ext>
                      <a:ext uri="{C183D7F6-B498-43B3-948B-1728B52AA6E4}">
                        <adec:decorative xmlns:adec="http://schemas.microsoft.com/office/drawing/2017/decorative" val="1"/>
                      </a:ext>
                    </a:extLst>
                  </p:cNvPr>
                  <p:cNvCxnSpPr>
                    <a:cxnSpLocks/>
                    <a:stCxn id="63" idx="6"/>
                    <a:endCxn id="20" idx="2"/>
                  </p:cNvCxnSpPr>
                  <p:nvPr/>
                </p:nvCxnSpPr>
                <p:spPr>
                  <a:xfrm flipV="1">
                    <a:off x="4563342" y="5375302"/>
                    <a:ext cx="32655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grpSp>
            <p:sp>
              <p:nvSpPr>
                <p:cNvPr id="11" name="Arrow: Right 10">
                  <a:extLst>
                    <a:ext uri="{FF2B5EF4-FFF2-40B4-BE49-F238E27FC236}">
                      <a16:creationId xmlns:a16="http://schemas.microsoft.com/office/drawing/2014/main" id="{83EE3A9B-58AA-10F5-C17C-063957BEBF6D}"/>
                    </a:ext>
                    <a:ext uri="{C183D7F6-B498-43B3-948B-1728B52AA6E4}">
                      <adec:decorative xmlns:adec="http://schemas.microsoft.com/office/drawing/2017/decorative" val="1"/>
                    </a:ext>
                  </a:extLst>
                </p:cNvPr>
                <p:cNvSpPr/>
                <p:nvPr/>
              </p:nvSpPr>
              <p:spPr>
                <a:xfrm>
                  <a:off x="1442560" y="4430327"/>
                  <a:ext cx="425911" cy="533400"/>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descr="Equation: s">
                      <a:extLst>
                        <a:ext uri="{FF2B5EF4-FFF2-40B4-BE49-F238E27FC236}">
                          <a16:creationId xmlns:a16="http://schemas.microsoft.com/office/drawing/2014/main" id="{6E77607E-FCE6-7380-E032-853C20EDFC9D}"/>
                        </a:ext>
                      </a:extLst>
                    </p:cNvPr>
                    <p:cNvSpPr txBox="1"/>
                    <p:nvPr/>
                  </p:nvSpPr>
                  <p:spPr>
                    <a:xfrm>
                      <a:off x="1129787" y="4514865"/>
                      <a:ext cx="349711" cy="369332"/>
                    </a:xfrm>
                    <a:prstGeom prst="rect">
                      <a:avLst/>
                    </a:prstGeom>
                    <a:noFill/>
                  </p:spPr>
                  <p:txBody>
                    <a:bodyPr wrap="none" rtlCol="0">
                      <a:spAutoFit/>
                    </a:bodyPr>
                    <a:lstStyle/>
                    <a:p>
                      <a:pPr/>
                      <a14:m>
                        <m:oMathPara xmlns:m="http://schemas.openxmlformats.org/officeDocument/2006/math">
                          <m:oMath>
                            <m:r>
                              <a:rPr lang="en-US" i="1" dirty="0" smtClean="0">
                                <a:latin typeface="Cambria Math" panose="02040503050406030204" pitchFamily="18" charset="0"/>
                              </a:rPr>
                              <m:t>𝑠</m:t>
                            </m:r>
                          </m:oMath>
                        </m:oMathPara>
                      </a14:m>
                      <a:endParaRPr lang="en-US" dirty="0"/>
                    </a:p>
                  </p:txBody>
                </p:sp>
              </mc:Choice>
              <mc:Fallback xmlns="">
                <p:sp>
                  <p:nvSpPr>
                    <p:cNvPr id="194" name="TextBox 193">
                      <a:extLst>
                        <a:ext uri="{FF2B5EF4-FFF2-40B4-BE49-F238E27FC236}">
                          <a16:creationId xmlns:a16="http://schemas.microsoft.com/office/drawing/2014/main" id="{5FAAFD66-2140-E45A-471D-39F874312E32}"/>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129787" y="4514865"/>
                      <a:ext cx="349711" cy="369332"/>
                    </a:xfrm>
                    <a:prstGeom prst="rect">
                      <a:avLst/>
                    </a:prstGeom>
                    <a:blipFill>
                      <a:blip r:embed="rId6"/>
                      <a:stretch>
                        <a:fillRect/>
                      </a:stretch>
                    </a:blipFill>
                  </p:spPr>
                  <p:txBody>
                    <a:bodyPr/>
                    <a:lstStyle/>
                    <a:p>
                      <a:r>
                        <a:rPr lang="en-US">
                          <a:noFill/>
                        </a:rPr>
                        <a:t> </a:t>
                      </a:r>
                    </a:p>
                  </p:txBody>
                </p:sp>
              </mc:Fallback>
            </mc:AlternateContent>
            <p:sp>
              <p:nvSpPr>
                <p:cNvPr id="13" name="Arrow: Right 12">
                  <a:extLst>
                    <a:ext uri="{FF2B5EF4-FFF2-40B4-BE49-F238E27FC236}">
                      <a16:creationId xmlns:a16="http://schemas.microsoft.com/office/drawing/2014/main" id="{B129BAC3-6F47-0881-BBC2-1D963667FD5D}"/>
                    </a:ext>
                    <a:ext uri="{C183D7F6-B498-43B3-948B-1728B52AA6E4}">
                      <adec:decorative xmlns:adec="http://schemas.microsoft.com/office/drawing/2017/decorative" val="1"/>
                    </a:ext>
                  </a:extLst>
                </p:cNvPr>
                <p:cNvSpPr/>
                <p:nvPr/>
              </p:nvSpPr>
              <p:spPr>
                <a:xfrm>
                  <a:off x="3810000" y="4491358"/>
                  <a:ext cx="384215" cy="503703"/>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 name="TextBox 13" descr="Stochastic Policy. pi (a given s)">
                      <a:extLst>
                        <a:ext uri="{FF2B5EF4-FFF2-40B4-BE49-F238E27FC236}">
                          <a16:creationId xmlns:a16="http://schemas.microsoft.com/office/drawing/2014/main" id="{A4C0F609-44D6-0314-CA4F-8C87486BC408}"/>
                        </a:ext>
                      </a:extLst>
                    </p:cNvPr>
                    <p:cNvSpPr txBox="1"/>
                    <p:nvPr/>
                  </p:nvSpPr>
                  <p:spPr>
                    <a:xfrm>
                      <a:off x="4194215" y="4430845"/>
                      <a:ext cx="1423211" cy="495493"/>
                    </a:xfrm>
                    <a:prstGeom prst="rect">
                      <a:avLst/>
                    </a:prstGeom>
                    <a:noFill/>
                  </p:spPr>
                  <p:txBody>
                    <a:bodyPr wrap="none" rtlCol="0">
                      <a:spAutoFit/>
                    </a:bodyPr>
                    <a:lstStyle/>
                    <a:p>
                      <a:r>
                        <a:rPr lang="en-US" dirty="0"/>
                        <a:t>Stochastic Policy</a:t>
                      </a:r>
                    </a:p>
                    <a:p>
                      <a:pPr/>
                      <a14:m>
                        <m:oMathPara xmlns:m="http://schemas.openxmlformats.org/officeDocument/2006/math">
                          <m:oMath>
                            <m:r>
                              <a:rPr lang="en-US" b="0" i="1" dirty="0" smtClean="0">
                                <a:latin typeface="Cambria Math" panose="02040503050406030204" pitchFamily="18" charset="0"/>
                              </a:rPr>
                              <m:t>𝜋</m:t>
                            </m:r>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0" i="1" dirty="0" smtClean="0">
                                <a:latin typeface="Cambria Math" panose="02040503050406030204" pitchFamily="18" charset="0"/>
                              </a:rPr>
                              <m:t>𝑠</m:t>
                            </m:r>
                            <m:r>
                              <a:rPr lang="en-US" b="0" i="1" dirty="0" smtClean="0">
                                <a:latin typeface="Cambria Math" panose="02040503050406030204" pitchFamily="18" charset="0"/>
                              </a:rPr>
                              <m:t>)</m:t>
                            </m:r>
                          </m:oMath>
                        </m:oMathPara>
                      </a14:m>
                      <a:endParaRPr lang="en-US" dirty="0"/>
                    </a:p>
                  </p:txBody>
                </p:sp>
              </mc:Choice>
              <mc:Fallback xmlns="">
                <p:sp>
                  <p:nvSpPr>
                    <p:cNvPr id="14" name="TextBox 13" descr="Stochastic Policy. pi (a given s)">
                      <a:extLst>
                        <a:ext uri="{FF2B5EF4-FFF2-40B4-BE49-F238E27FC236}">
                          <a16:creationId xmlns:a16="http://schemas.microsoft.com/office/drawing/2014/main" id="{A4C0F609-44D6-0314-CA4F-8C87486BC408}"/>
                        </a:ext>
                      </a:extLst>
                    </p:cNvPr>
                    <p:cNvSpPr txBox="1">
                      <a:spLocks noRot="1" noChangeAspect="1" noMove="1" noResize="1" noEditPoints="1" noAdjustHandles="1" noChangeArrowheads="1" noChangeShapeType="1" noTextEdit="1"/>
                    </p:cNvSpPr>
                    <p:nvPr/>
                  </p:nvSpPr>
                  <p:spPr>
                    <a:xfrm>
                      <a:off x="4194215" y="4430845"/>
                      <a:ext cx="1423211" cy="495493"/>
                    </a:xfrm>
                    <a:prstGeom prst="rect">
                      <a:avLst/>
                    </a:prstGeom>
                    <a:blipFill>
                      <a:blip r:embed="rId7"/>
                      <a:stretch>
                        <a:fillRect l="-2581" t="-4717" r="-2581" b="-66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descr="Equation: S">
                      <a:extLst>
                        <a:ext uri="{FF2B5EF4-FFF2-40B4-BE49-F238E27FC236}">
                          <a16:creationId xmlns:a16="http://schemas.microsoft.com/office/drawing/2014/main" id="{537665EB-0BC7-F108-E105-22123F60CD99}"/>
                        </a:ext>
                      </a:extLst>
                    </p:cNvPr>
                    <p:cNvSpPr txBox="1"/>
                    <p:nvPr/>
                  </p:nvSpPr>
                  <p:spPr>
                    <a:xfrm>
                      <a:off x="1994915" y="3714030"/>
                      <a:ext cx="363881" cy="369332"/>
                    </a:xfrm>
                    <a:prstGeom prst="rect">
                      <a:avLst/>
                    </a:prstGeom>
                    <a:noFill/>
                  </p:spPr>
                  <p:txBody>
                    <a:bodyPr wrap="none" rtlCol="0">
                      <a:spAutoFit/>
                    </a:bodyPr>
                    <a:lstStyle/>
                    <a:p>
                      <a:pPr/>
                      <a14:m>
                        <m:oMathPara xmlns:m="http://schemas.openxmlformats.org/officeDocument/2006/math">
                          <m:oMath>
                            <m:r>
                              <a:rPr lang="en-US" b="0" i="1" dirty="0" smtClean="0">
                                <a:latin typeface="Cambria Math" panose="02040503050406030204" pitchFamily="18" charset="0"/>
                              </a:rPr>
                              <m:t>𝑆</m:t>
                            </m:r>
                          </m:oMath>
                        </m:oMathPara>
                      </a14:m>
                      <a:endParaRPr lang="en-US" dirty="0"/>
                    </a:p>
                  </p:txBody>
                </p:sp>
              </mc:Choice>
              <mc:Fallback xmlns="">
                <p:sp>
                  <p:nvSpPr>
                    <p:cNvPr id="197" name="TextBox 196">
                      <a:extLst>
                        <a:ext uri="{FF2B5EF4-FFF2-40B4-BE49-F238E27FC236}">
                          <a16:creationId xmlns:a16="http://schemas.microsoft.com/office/drawing/2014/main" id="{25BA0203-B417-18D9-5155-AC948C3DB147}"/>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994915" y="3714030"/>
                      <a:ext cx="36388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descr="Equation: A">
                      <a:extLst>
                        <a:ext uri="{FF2B5EF4-FFF2-40B4-BE49-F238E27FC236}">
                          <a16:creationId xmlns:a16="http://schemas.microsoft.com/office/drawing/2014/main" id="{F2DE7CDB-0594-A78F-634E-73F48DB93B05}"/>
                        </a:ext>
                      </a:extLst>
                    </p:cNvPr>
                    <p:cNvSpPr txBox="1"/>
                    <p:nvPr/>
                  </p:nvSpPr>
                  <p:spPr>
                    <a:xfrm>
                      <a:off x="3182394" y="3851318"/>
                      <a:ext cx="385683" cy="369332"/>
                    </a:xfrm>
                    <a:prstGeom prst="rect">
                      <a:avLst/>
                    </a:prstGeom>
                    <a:noFill/>
                  </p:spPr>
                  <p:txBody>
                    <a:bodyPr wrap="none" rtlCol="0">
                      <a:spAutoFit/>
                    </a:bodyPr>
                    <a:lstStyle/>
                    <a:p>
                      <a:pPr/>
                      <a14:m>
                        <m:oMathPara xmlns:m="http://schemas.openxmlformats.org/officeDocument/2006/math">
                          <m:oMath>
                            <m:r>
                              <a:rPr lang="en-US" b="0" i="1" dirty="0" smtClean="0">
                                <a:latin typeface="Cambria Math" panose="02040503050406030204" pitchFamily="18" charset="0"/>
                              </a:rPr>
                              <m:t>𝐴</m:t>
                            </m:r>
                          </m:oMath>
                        </m:oMathPara>
                      </a14:m>
                      <a:endParaRPr lang="en-US" dirty="0"/>
                    </a:p>
                  </p:txBody>
                </p:sp>
              </mc:Choice>
              <mc:Fallback xmlns="">
                <p:sp>
                  <p:nvSpPr>
                    <p:cNvPr id="198" name="TextBox 197">
                      <a:extLst>
                        <a:ext uri="{FF2B5EF4-FFF2-40B4-BE49-F238E27FC236}">
                          <a16:creationId xmlns:a16="http://schemas.microsoft.com/office/drawing/2014/main" id="{5F8BBD95-CC36-0F7B-4420-D48D811414FE}"/>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182394" y="3851318"/>
                      <a:ext cx="385683" cy="369332"/>
                    </a:xfrm>
                    <a:prstGeom prst="rect">
                      <a:avLst/>
                    </a:prstGeom>
                    <a:blipFill>
                      <a:blip r:embed="rId9"/>
                      <a:stretch>
                        <a:fillRect/>
                      </a:stretch>
                    </a:blipFill>
                  </p:spPr>
                  <p:txBody>
                    <a:bodyPr/>
                    <a:lstStyle/>
                    <a:p>
                      <a:r>
                        <a:rPr lang="en-US">
                          <a:noFill/>
                        </a:rPr>
                        <a:t> </a:t>
                      </a:r>
                    </a:p>
                  </p:txBody>
                </p:sp>
              </mc:Fallback>
            </mc:AlternateContent>
            <p:sp>
              <p:nvSpPr>
                <p:cNvPr id="17" name="Right Brace 16">
                  <a:extLst>
                    <a:ext uri="{FF2B5EF4-FFF2-40B4-BE49-F238E27FC236}">
                      <a16:creationId xmlns:a16="http://schemas.microsoft.com/office/drawing/2014/main" id="{B0056B51-6525-5F1D-332C-25FE43E811DB}"/>
                    </a:ext>
                    <a:ext uri="{C183D7F6-B498-43B3-948B-1728B52AA6E4}">
                      <adec:decorative xmlns:adec="http://schemas.microsoft.com/office/drawing/2017/decorative" val="1"/>
                    </a:ext>
                  </a:extLst>
                </p:cNvPr>
                <p:cNvSpPr/>
                <p:nvPr/>
              </p:nvSpPr>
              <p:spPr>
                <a:xfrm>
                  <a:off x="3515217" y="4209556"/>
                  <a:ext cx="113460" cy="1038077"/>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8" name="TextBox 7" descr="Equation: theta">
                    <a:extLst>
                      <a:ext uri="{FF2B5EF4-FFF2-40B4-BE49-F238E27FC236}">
                        <a16:creationId xmlns:a16="http://schemas.microsoft.com/office/drawing/2014/main" id="{1F3FC51C-4913-4AA3-7157-CD1870665EE2}"/>
                      </a:ext>
                    </a:extLst>
                  </p:cNvPr>
                  <p:cNvSpPr txBox="1"/>
                  <p:nvPr/>
                </p:nvSpPr>
                <p:spPr>
                  <a:xfrm>
                    <a:off x="8909426" y="2084168"/>
                    <a:ext cx="629958" cy="283139"/>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14:m>
                      <m:oMathPara xmlns:m="http://schemas.openxmlformats.org/officeDocument/2006/math">
                        <m:oMath>
                          <m:r>
                            <a:rPr lang="en-US" i="1" smtClean="0">
                              <a:latin typeface="Cambria Math" panose="02040503050406030204" pitchFamily="18" charset="0"/>
                            </a:rPr>
                            <m:t>𝜃</m:t>
                          </m:r>
                        </m:oMath>
                      </m:oMathPara>
                    </a14:m>
                    <a:endParaRPr lang="en-US" dirty="0"/>
                  </a:p>
                </p:txBody>
              </p:sp>
            </mc:Choice>
            <mc:Fallback xmlns="">
              <p:sp>
                <p:nvSpPr>
                  <p:cNvPr id="8" name="TextBox 7" descr="Equation: theta">
                    <a:extLst>
                      <a:ext uri="{FF2B5EF4-FFF2-40B4-BE49-F238E27FC236}">
                        <a16:creationId xmlns:a16="http://schemas.microsoft.com/office/drawing/2014/main" id="{1F3FC51C-4913-4AA3-7157-CD1870665EE2}"/>
                      </a:ext>
                    </a:extLst>
                  </p:cNvPr>
                  <p:cNvSpPr txBox="1">
                    <a:spLocks noRot="1" noChangeAspect="1" noMove="1" noResize="1" noEditPoints="1" noAdjustHandles="1" noChangeArrowheads="1" noChangeShapeType="1" noTextEdit="1"/>
                  </p:cNvSpPr>
                  <p:nvPr/>
                </p:nvSpPr>
                <p:spPr>
                  <a:xfrm>
                    <a:off x="8909426" y="2084168"/>
                    <a:ext cx="629958" cy="283139"/>
                  </a:xfrm>
                  <a:prstGeom prst="rect">
                    <a:avLst/>
                  </a:prstGeom>
                  <a:blipFill>
                    <a:blip r:embed="rId10"/>
                    <a:stretch>
                      <a:fillRect/>
                    </a:stretch>
                  </a:blipFill>
                </p:spPr>
                <p:txBody>
                  <a:bodyPr/>
                  <a:lstStyle/>
                  <a:p>
                    <a:r>
                      <a:rPr lang="en-US">
                        <a:noFill/>
                      </a:rPr>
                      <a:t> </a:t>
                    </a:r>
                  </a:p>
                </p:txBody>
              </p:sp>
            </mc:Fallback>
          </mc:AlternateContent>
        </p:grpSp>
        <p:sp>
          <p:nvSpPr>
            <p:cNvPr id="2" name="TextBox 1">
              <a:extLst>
                <a:ext uri="{FF2B5EF4-FFF2-40B4-BE49-F238E27FC236}">
                  <a16:creationId xmlns:a16="http://schemas.microsoft.com/office/drawing/2014/main" id="{E3621200-6B4F-6018-514A-5A74990CC3FC}"/>
                </a:ext>
              </a:extLst>
            </p:cNvPr>
            <p:cNvSpPr txBox="1"/>
            <p:nvPr/>
          </p:nvSpPr>
          <p:spPr>
            <a:xfrm>
              <a:off x="6022689" y="3361268"/>
              <a:ext cx="1007285" cy="523220"/>
            </a:xfrm>
            <a:prstGeom prst="rect">
              <a:avLst/>
            </a:prstGeom>
            <a:noFill/>
          </p:spPr>
          <p:txBody>
            <a:bodyPr wrap="square" rtlCol="0">
              <a:spAutoFit/>
            </a:bodyPr>
            <a:lstStyle/>
            <a:p>
              <a:pPr algn="ctr"/>
              <a:r>
                <a:rPr lang="en-US" sz="1400" dirty="0" err="1"/>
                <a:t>Softmax</a:t>
              </a:r>
              <a:br>
                <a:rPr lang="en-US" sz="1400" dirty="0"/>
              </a:br>
              <a:r>
                <a:rPr lang="en-US" sz="1400" dirty="0"/>
                <a:t>activation</a:t>
              </a:r>
              <a:endParaRPr lang="en-US" sz="1600" dirty="0"/>
            </a:p>
          </p:txBody>
        </p:sp>
        <p:cxnSp>
          <p:nvCxnSpPr>
            <p:cNvPr id="82" name="Straight Arrow Connector 81">
              <a:extLst>
                <a:ext uri="{FF2B5EF4-FFF2-40B4-BE49-F238E27FC236}">
                  <a16:creationId xmlns:a16="http://schemas.microsoft.com/office/drawing/2014/main" id="{DD8681B6-A915-9F9F-B147-E37470DF4526}"/>
                </a:ext>
                <a:ext uri="{C183D7F6-B498-43B3-948B-1728B52AA6E4}">
                  <adec:decorative xmlns:adec="http://schemas.microsoft.com/office/drawing/2017/decorative" val="1"/>
                </a:ext>
              </a:extLst>
            </p:cNvPr>
            <p:cNvCxnSpPr>
              <a:cxnSpLocks/>
              <a:stCxn id="2" idx="0"/>
            </p:cNvCxnSpPr>
            <p:nvPr/>
          </p:nvCxnSpPr>
          <p:spPr>
            <a:xfrm flipV="1">
              <a:off x="6526332" y="3201382"/>
              <a:ext cx="0" cy="1598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5" name="Content Placeholder 4" descr="Use an ANN to approximate a stochastic policy. Output layer uses softmax activation to produce the probability distribution for a stochastic policy. Goal: J (theta) is defined as v sub pi sub theta, (s sub 0). Loss: L (theta) equals minus ln pi (A sub t given S sub t, theta) G. Update: theta gets theta minus alpha gradient of sub theta L (theta)">
                <a:extLst>
                  <a:ext uri="{FF2B5EF4-FFF2-40B4-BE49-F238E27FC236}">
                    <a16:creationId xmlns:a16="http://schemas.microsoft.com/office/drawing/2014/main" id="{ACDCDF42-FC2C-CA0A-5BD4-2A1393E66032}"/>
                  </a:ext>
                </a:extLst>
              </p:cNvPr>
              <p:cNvSpPr>
                <a:spLocks noGrp="1"/>
              </p:cNvSpPr>
              <p:nvPr>
                <p:ph idx="1"/>
              </p:nvPr>
            </p:nvSpPr>
            <p:spPr>
              <a:xfrm>
                <a:off x="838200" y="3982164"/>
                <a:ext cx="10515600" cy="2194799"/>
              </a:xfrm>
            </p:spPr>
            <p:txBody>
              <a:bodyPr>
                <a:normAutofit fontScale="62500" lnSpcReduction="20000"/>
              </a:bodyPr>
              <a:lstStyle/>
              <a:p>
                <a:r>
                  <a:rPr lang="en-US" dirty="0"/>
                  <a:t>Use an ANN to approximate a </a:t>
                </a:r>
                <a:r>
                  <a:rPr lang="en-US" b="1" dirty="0"/>
                  <a:t>stochastic policy</a:t>
                </a:r>
                <a:r>
                  <a:rPr lang="en-US" dirty="0"/>
                  <a:t>.</a:t>
                </a:r>
              </a:p>
              <a:p>
                <a:r>
                  <a:rPr lang="en-US" dirty="0"/>
                  <a:t>Output layer uses </a:t>
                </a:r>
                <a:r>
                  <a:rPr lang="en-US" b="1" dirty="0" err="1"/>
                  <a:t>softmax</a:t>
                </a:r>
                <a:r>
                  <a:rPr lang="en-US" b="1" dirty="0"/>
                  <a:t> activation </a:t>
                </a:r>
                <a:r>
                  <a:rPr lang="en-US" dirty="0"/>
                  <a:t>to produce the probability distribution for a stochastic policy.</a:t>
                </a:r>
              </a:p>
              <a:p>
                <a:endParaRPr lang="en-US" b="1" dirty="0"/>
              </a:p>
              <a:p>
                <a:r>
                  <a:rPr lang="en-US" b="1" dirty="0"/>
                  <a:t>Goal</a:t>
                </a:r>
                <a:r>
                  <a:rPr lang="en-US" dirty="0"/>
                  <a:t>:         </a:t>
                </a:r>
                <a14:m>
                  <m:oMath xmlns:m="http://schemas.openxmlformats.org/officeDocument/2006/math">
                    <m:r>
                      <a:rPr lang="en-US" i="1">
                        <a:latin typeface="Cambria Math" panose="02040503050406030204" pitchFamily="18" charset="0"/>
                      </a:rPr>
                      <m:t>𝐽</m:t>
                    </m:r>
                    <m:d>
                      <m:dPr>
                        <m:ctrlPr>
                          <a:rPr lang="en-US" b="1" i="1">
                            <a:latin typeface="Cambria Math" panose="02040503050406030204" pitchFamily="18" charset="0"/>
                          </a:rPr>
                        </m:ctrlPr>
                      </m:dPr>
                      <m:e>
                        <m:r>
                          <a:rPr lang="en-US" b="1" i="1">
                            <a:latin typeface="Cambria Math" panose="02040503050406030204" pitchFamily="18" charset="0"/>
                          </a:rPr>
                          <m:t>𝜽</m:t>
                        </m:r>
                      </m:e>
                    </m:d>
                    <m:r>
                      <a:rPr lang="en-US" b="1"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𝜃</m:t>
                            </m:r>
                          </m:sub>
                        </m:sSub>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0</m:t>
                            </m:r>
                          </m:sub>
                        </m:sSub>
                      </m:e>
                    </m:d>
                    <m:r>
                      <a:rPr lang="en-US" i="1">
                        <a:latin typeface="Cambria Math" panose="02040503050406030204" pitchFamily="18" charset="0"/>
                        <a:ea typeface="Cambria Math" panose="02040503050406030204" pitchFamily="18" charset="0"/>
                      </a:rPr>
                      <m:t> </m:t>
                    </m:r>
                  </m:oMath>
                </a14:m>
                <a:endParaRPr lang="en-US" b="1" dirty="0">
                  <a:ea typeface="Cambria Math" panose="02040503050406030204" pitchFamily="18" charset="0"/>
                </a:endParaRPr>
              </a:p>
              <a:p>
                <a:r>
                  <a:rPr lang="en-US" b="1" dirty="0">
                    <a:ea typeface="Cambria Math" panose="02040503050406030204" pitchFamily="18" charset="0"/>
                  </a:rPr>
                  <a:t>Loss</a:t>
                </a:r>
                <a:r>
                  <a:rPr lang="en-US" dirty="0">
                    <a:ea typeface="Cambria Math" panose="02040503050406030204" pitchFamily="18" charset="0"/>
                  </a:rPr>
                  <a:t>:        </a:t>
                </a:r>
                <a14:m>
                  <m:oMath xmlns:m="http://schemas.openxmlformats.org/officeDocument/2006/math">
                    <m:r>
                      <a:rPr lang="en-US" i="1" dirty="0">
                        <a:latin typeface="Cambria Math" panose="02040503050406030204" pitchFamily="18" charset="0"/>
                        <a:ea typeface="Cambria Math" panose="02040503050406030204" pitchFamily="18" charset="0"/>
                      </a:rPr>
                      <m:t>𝐿</m:t>
                    </m:r>
                    <m:d>
                      <m:dPr>
                        <m:ctrlPr>
                          <a:rPr lang="en-US" i="1" dirty="0">
                            <a:latin typeface="Cambria Math" panose="02040503050406030204" pitchFamily="18" charset="0"/>
                            <a:ea typeface="Cambria Math" panose="02040503050406030204" pitchFamily="18" charset="0"/>
                          </a:rPr>
                        </m:ctrlPr>
                      </m:dPr>
                      <m:e>
                        <m:r>
                          <a:rPr lang="en-US" i="1" dirty="0">
                            <a:latin typeface="Cambria Math" panose="02040503050406030204" pitchFamily="18" charset="0"/>
                            <a:ea typeface="Cambria Math" panose="02040503050406030204" pitchFamily="18" charset="0"/>
                          </a:rPr>
                          <m:t>𝜃</m:t>
                        </m:r>
                      </m:e>
                    </m:d>
                    <m:r>
                      <a:rPr lang="en-US" i="1" dirty="0">
                        <a:latin typeface="Cambria Math" panose="02040503050406030204" pitchFamily="18" charset="0"/>
                        <a:ea typeface="Cambria Math" panose="02040503050406030204" pitchFamily="18" charset="0"/>
                      </a:rPr>
                      <m:t>= − </m:t>
                    </m:r>
                    <m:r>
                      <m:rPr>
                        <m:sty m:val="p"/>
                      </m:rPr>
                      <a:rPr lang="en-US" i="1" dirty="0">
                        <a:latin typeface="Cambria Math" panose="02040503050406030204" pitchFamily="18" charset="0"/>
                        <a:ea typeface="Cambria Math" panose="02040503050406030204" pitchFamily="18" charset="0"/>
                      </a:rPr>
                      <m:t>ln</m:t>
                    </m:r>
                    <m:r>
                      <a:rPr lang="en-US" i="1" dirty="0">
                        <a:latin typeface="Cambria Math" panose="02040503050406030204" pitchFamily="18" charset="0"/>
                        <a:ea typeface="Cambria Math" panose="02040503050406030204" pitchFamily="18" charset="0"/>
                      </a:rPr>
                      <m:t> </m:t>
                    </m:r>
                    <m:r>
                      <a:rPr lang="en-US" i="1" dirty="0">
                        <a:latin typeface="Cambria Math" panose="02040503050406030204" pitchFamily="18" charset="0"/>
                        <a:ea typeface="Cambria Math" panose="02040503050406030204" pitchFamily="18" charset="0"/>
                      </a:rPr>
                      <m:t>𝜋</m:t>
                    </m:r>
                    <m:d>
                      <m:dPr>
                        <m:ctrlPr>
                          <a:rPr lang="en-US" i="1" dirty="0" err="1">
                            <a:latin typeface="Cambria Math" panose="02040503050406030204" pitchFamily="18" charset="0"/>
                            <a:ea typeface="Cambria Math" panose="02040503050406030204" pitchFamily="18" charset="0"/>
                          </a:rPr>
                        </m:ctrlPr>
                      </m:dPr>
                      <m:e>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𝐴</m:t>
                            </m:r>
                          </m:e>
                          <m:sub>
                            <m:r>
                              <a:rPr lang="en-US" i="1" dirty="0" err="1">
                                <a:latin typeface="Cambria Math" panose="02040503050406030204" pitchFamily="18" charset="0"/>
                                <a:ea typeface="Cambria Math" panose="02040503050406030204" pitchFamily="18" charset="0"/>
                              </a:rPr>
                              <m:t>𝑡</m:t>
                            </m:r>
                          </m:sub>
                        </m:sSub>
                      </m:e>
                      <m:e>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𝑆</m:t>
                            </m:r>
                          </m:e>
                          <m:sub>
                            <m:r>
                              <a:rPr lang="en-US" i="1" dirty="0" err="1">
                                <a:latin typeface="Cambria Math" panose="02040503050406030204" pitchFamily="18" charset="0"/>
                                <a:ea typeface="Cambria Math" panose="02040503050406030204" pitchFamily="18" charset="0"/>
                              </a:rPr>
                              <m:t>𝑡</m:t>
                            </m:r>
                          </m:sub>
                        </m:sSub>
                        <m:r>
                          <a:rPr lang="en-US" i="1" dirty="0">
                            <a:latin typeface="Cambria Math" panose="02040503050406030204" pitchFamily="18" charset="0"/>
                            <a:ea typeface="Cambria Math" panose="02040503050406030204" pitchFamily="18" charset="0"/>
                          </a:rPr>
                          <m:t>, </m:t>
                        </m:r>
                        <m:r>
                          <a:rPr lang="en-US" i="1" dirty="0">
                            <a:latin typeface="Cambria Math" panose="02040503050406030204" pitchFamily="18" charset="0"/>
                            <a:ea typeface="Cambria Math" panose="02040503050406030204" pitchFamily="18" charset="0"/>
                          </a:rPr>
                          <m:t>𝜃</m:t>
                        </m:r>
                      </m:e>
                    </m:d>
                    <m:r>
                      <a:rPr lang="en-US" i="1" dirty="0">
                        <a:latin typeface="Cambria Math" panose="02040503050406030204" pitchFamily="18" charset="0"/>
                        <a:ea typeface="Cambria Math" panose="02040503050406030204" pitchFamily="18" charset="0"/>
                      </a:rPr>
                      <m:t> </m:t>
                    </m:r>
                    <m:r>
                      <a:rPr lang="en-US" i="1" dirty="0" err="1">
                        <a:latin typeface="Cambria Math" panose="02040503050406030204" pitchFamily="18" charset="0"/>
                        <a:ea typeface="Cambria Math" panose="02040503050406030204" pitchFamily="18" charset="0"/>
                      </a:rPr>
                      <m:t>𝐺</m:t>
                    </m:r>
                  </m:oMath>
                </a14:m>
                <a:endParaRPr lang="en-US" i="1" dirty="0">
                  <a:latin typeface="Cambria Math" panose="02040503050406030204" pitchFamily="18" charset="0"/>
                  <a:ea typeface="Cambria Math" panose="02040503050406030204" pitchFamily="18" charset="0"/>
                </a:endParaRPr>
              </a:p>
              <a:p>
                <a:r>
                  <a:rPr lang="en-US" b="1" dirty="0">
                    <a:ea typeface="Cambria Math" panose="02040503050406030204" pitchFamily="18" charset="0"/>
                  </a:rPr>
                  <a:t>Update</a:t>
                </a:r>
                <a:r>
                  <a:rPr lang="en-US" dirty="0">
                    <a:ea typeface="Cambria Math" panose="02040503050406030204" pitchFamily="18" charset="0"/>
                  </a:rPr>
                  <a:t>: </a:t>
                </a:r>
                <a14:m>
                  <m:oMath xmlns:m="http://schemas.openxmlformats.org/officeDocument/2006/math">
                    <m:r>
                      <a:rPr lang="en-US" b="0" i="0"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𝜃</m:t>
                    </m:r>
                    <m:r>
                      <m:rPr>
                        <m:nor/>
                      </m:rPr>
                      <a:rPr lang="en-US" i="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m:t>
                    </m:r>
                    <m:r>
                      <m:rPr>
                        <m:nor/>
                      </m:rPr>
                      <a:rPr lang="en-US" i="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r>
                      <m:rPr>
                        <m:nor/>
                      </m:rPr>
                      <a:rPr lang="en-US" i="0">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𝜃</m:t>
                        </m:r>
                      </m:sub>
                    </m:sSub>
                    <m:r>
                      <a:rPr lang="en-US" i="1" dirty="0">
                        <a:latin typeface="Cambria Math" panose="02040503050406030204" pitchFamily="18" charset="0"/>
                        <a:ea typeface="Cambria Math" panose="02040503050406030204" pitchFamily="18" charset="0"/>
                      </a:rPr>
                      <m:t>𝐿</m:t>
                    </m:r>
                    <m:d>
                      <m:dPr>
                        <m:ctrlPr>
                          <a:rPr lang="en-US" i="1" dirty="0">
                            <a:latin typeface="Cambria Math" panose="02040503050406030204" pitchFamily="18" charset="0"/>
                            <a:ea typeface="Cambria Math" panose="02040503050406030204" pitchFamily="18" charset="0"/>
                          </a:rPr>
                        </m:ctrlPr>
                      </m:dPr>
                      <m:e>
                        <m:r>
                          <a:rPr lang="en-US" i="1" dirty="0">
                            <a:latin typeface="Cambria Math" panose="02040503050406030204" pitchFamily="18" charset="0"/>
                            <a:ea typeface="Cambria Math" panose="02040503050406030204" pitchFamily="18" charset="0"/>
                          </a:rPr>
                          <m:t>𝜃</m:t>
                        </m:r>
                      </m:e>
                    </m:d>
                  </m:oMath>
                </a14:m>
                <a:endParaRPr lang="en-US" dirty="0">
                  <a:latin typeface="Cambria Math" panose="02040503050406030204" pitchFamily="18" charset="0"/>
                  <a:ea typeface="Cambria Math" panose="02040503050406030204" pitchFamily="18" charset="0"/>
                </a:endParaRPr>
              </a:p>
              <a:p>
                <a:endParaRPr lang="en-US" dirty="0"/>
              </a:p>
            </p:txBody>
          </p:sp>
        </mc:Choice>
        <mc:Fallback xmlns="">
          <p:sp>
            <p:nvSpPr>
              <p:cNvPr id="5" name="Content Placeholder 4" descr="Use an ANN to approximate a stochastic policy. Output layer uses softmax activation to produce the probability distribution for a stochastic policy. Goal: J (theta) is defined as v sub pi sub theta, (s sub 0). Loss: L (theta) equals minus ln pi (A sub t given S sub t, theta) G. Update: theta gets theta minus alpha gradient of sub theta L (theta)">
                <a:extLst>
                  <a:ext uri="{FF2B5EF4-FFF2-40B4-BE49-F238E27FC236}">
                    <a16:creationId xmlns:a16="http://schemas.microsoft.com/office/drawing/2014/main" id="{ACDCDF42-FC2C-CA0A-5BD4-2A1393E66032}"/>
                  </a:ext>
                </a:extLst>
              </p:cNvPr>
              <p:cNvSpPr>
                <a:spLocks noGrp="1" noRot="1" noChangeAspect="1" noMove="1" noResize="1" noEditPoints="1" noAdjustHandles="1" noChangeArrowheads="1" noChangeShapeType="1" noTextEdit="1"/>
              </p:cNvSpPr>
              <p:nvPr>
                <p:ph idx="1"/>
              </p:nvPr>
            </p:nvSpPr>
            <p:spPr>
              <a:xfrm>
                <a:off x="838200" y="3982164"/>
                <a:ext cx="10515600" cy="2194799"/>
              </a:xfrm>
              <a:blipFill>
                <a:blip r:embed="rId2"/>
                <a:stretch>
                  <a:fillRect l="-406" t="-4167"/>
                </a:stretch>
              </a:blipFill>
            </p:spPr>
            <p:txBody>
              <a:bodyPr/>
              <a:lstStyle/>
              <a:p>
                <a:r>
                  <a:rPr lang="en-US">
                    <a:noFill/>
                  </a:rPr>
                  <a:t> </a:t>
                </a:r>
              </a:p>
            </p:txBody>
          </p:sp>
        </mc:Fallback>
      </mc:AlternateContent>
      <p:sp>
        <p:nvSpPr>
          <p:cNvPr id="89" name="Speech Bubble: Rectangle with Corners Rounded 88">
            <a:extLst>
              <a:ext uri="{FF2B5EF4-FFF2-40B4-BE49-F238E27FC236}">
                <a16:creationId xmlns:a16="http://schemas.microsoft.com/office/drawing/2014/main" id="{F7F689BC-52A4-7689-B8ED-49688B14F270}"/>
              </a:ext>
            </a:extLst>
          </p:cNvPr>
          <p:cNvSpPr/>
          <p:nvPr/>
        </p:nvSpPr>
        <p:spPr>
          <a:xfrm>
            <a:off x="6646343" y="4953505"/>
            <a:ext cx="2761909" cy="1029122"/>
          </a:xfrm>
          <a:prstGeom prst="wedgeRoundRectCallout">
            <a:avLst>
              <a:gd name="adj1" fmla="val -156311"/>
              <a:gd name="adj2" fmla="val -3980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t>Means that the highest probability action leads to the largest return. Can be reformulated as a loss.</a:t>
            </a:r>
          </a:p>
        </p:txBody>
      </p:sp>
    </p:spTree>
    <p:extLst>
      <p:ext uri="{BB962C8B-B14F-4D97-AF65-F5344CB8AC3E}">
        <p14:creationId xmlns:p14="http://schemas.microsoft.com/office/powerpoint/2010/main" val="701213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846B-68DA-9665-F3C8-EFD6C97E6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2F899-1499-8E06-0445-BD2138EDB85A}"/>
              </a:ext>
            </a:extLst>
          </p:cNvPr>
          <p:cNvSpPr>
            <a:spLocks noGrp="1"/>
          </p:cNvSpPr>
          <p:nvPr>
            <p:ph type="title"/>
          </p:nvPr>
        </p:nvSpPr>
        <p:spPr/>
        <p:txBody>
          <a:bodyPr/>
          <a:lstStyle/>
          <a:p>
            <a:r>
              <a:rPr lang="en-US" dirty="0"/>
              <a:t>REINFORCE With Policy Network</a:t>
            </a:r>
          </a:p>
        </p:txBody>
      </p:sp>
      <p:grpSp>
        <p:nvGrpSpPr>
          <p:cNvPr id="10" name="Group 9" descr="Algorithm box: REINFORCE: Monte-Carlo Policy-Gradient Control (episodic) for pi star. Input: a differentiable policy parameterization pi(a | s, theta). Algorithm parameter: step size alpha &gt; 0. Initialize policy parameter theta in R^d′ (e.g., to 0). Loop forever (for each episode): Generate an episode S_0, A_0, R_1, …, S_T−1, A_T−1, R_T, following pi(· | ·, theta); Loop for each step of the episode t = 0, 1, …, T − 1: G ← sum from k = t + 1 to T of gamma to the power k − t − 1 times R_k, giving G_t; theta ← theta + alpha gamma to the t times G times the gradient of ln pi(A_t | S_t, theta). Labels: Represent the policy as a policy network. This is equivalent to :. L (theta) equals minus ln pi (A sub t given S sub t, theta) G; theta gets theta minus alpha gradient of sub theta L (theta).">
            <a:extLst>
              <a:ext uri="{FF2B5EF4-FFF2-40B4-BE49-F238E27FC236}">
                <a16:creationId xmlns:a16="http://schemas.microsoft.com/office/drawing/2014/main" id="{A8D09B2D-712D-AE80-53DC-7F52CE6976E7}"/>
              </a:ext>
            </a:extLst>
          </p:cNvPr>
          <p:cNvGrpSpPr/>
          <p:nvPr/>
        </p:nvGrpSpPr>
        <p:grpSpPr>
          <a:xfrm>
            <a:off x="1216159" y="1375484"/>
            <a:ext cx="9759682" cy="4373514"/>
            <a:chOff x="1216159" y="1375484"/>
            <a:chExt cx="9759682" cy="4373514"/>
          </a:xfrm>
        </p:grpSpPr>
        <p:pic>
          <p:nvPicPr>
            <p:cNvPr id="5" name="Picture 4" descr="Algorithm box: REINFORCE: Monte-Carlo Policy-Gradient Control (episodic) for pi star. Input: a differentiable policy parameterization pi(a | s, theta). Algorithm parameter: step size alpha &gt; 0. Initialize policy parameter theta in R^d′ (e.g., to 0). Loop forever (for each episode): Generate an episode S_0, A_0, R_1, …, S_T−1, A_T−1, R_T, following pi(· | ·, theta); Loop for each step of the episode t = 0, 1, …, T − 1: G ← sum from k = t + 1 to T of gamma to the power k − t − 1 times R_k, giving G_t; theta ← theta + alpha gamma to the t times G times the gradient of ln pi(A_t | S_t, theta).">
              <a:extLst>
                <a:ext uri="{FF2B5EF4-FFF2-40B4-BE49-F238E27FC236}">
                  <a16:creationId xmlns:a16="http://schemas.microsoft.com/office/drawing/2014/main" id="{7A46DFC6-5448-DD38-1C4B-9AD716BBC796}"/>
                </a:ext>
              </a:extLst>
            </p:cNvPr>
            <p:cNvPicPr>
              <a:picLocks noChangeAspect="1"/>
            </p:cNvPicPr>
            <p:nvPr/>
          </p:nvPicPr>
          <p:blipFill>
            <a:blip r:embed="rId2"/>
            <a:stretch>
              <a:fillRect/>
            </a:stretch>
          </p:blipFill>
          <p:spPr>
            <a:xfrm>
              <a:off x="1216159" y="1375484"/>
              <a:ext cx="9759682" cy="3596860"/>
            </a:xfrm>
            <a:prstGeom prst="rect">
              <a:avLst/>
            </a:prstGeom>
          </p:spPr>
        </p:pic>
        <mc:AlternateContent xmlns:mc="http://schemas.openxmlformats.org/markup-compatibility/2006" xmlns:a14="http://schemas.microsoft.com/office/drawing/2010/main">
          <mc:Choice Requires="a14">
            <p:sp>
              <p:nvSpPr>
                <p:cNvPr id="3" name="Speech Bubble: Rectangle with Corners Rounded 2" descr="Represent the policy as a policy network. This is equivalent to :. L (theta) equals minus ln pi (A sub t given S sub t, theta) G; theta gets theta minus alpha gradient of sub theta L (theta)">
                  <a:extLst>
                    <a:ext uri="{FF2B5EF4-FFF2-40B4-BE49-F238E27FC236}">
                      <a16:creationId xmlns:a16="http://schemas.microsoft.com/office/drawing/2014/main" id="{76A60ADD-253C-A167-3E0C-CB59A308D338}"/>
                    </a:ext>
                  </a:extLst>
                </p:cNvPr>
                <p:cNvSpPr/>
                <p:nvPr/>
              </p:nvSpPr>
              <p:spPr>
                <a:xfrm>
                  <a:off x="6245375" y="4600136"/>
                  <a:ext cx="3911499" cy="1148862"/>
                </a:xfrm>
                <a:prstGeom prst="wedgeRoundRectCallout">
                  <a:avLst>
                    <a:gd name="adj1" fmla="val -72231"/>
                    <a:gd name="adj2" fmla="val -42086"/>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en-US" sz="1600" dirty="0"/>
                    <a:t>Represent the policy as a policy network.  </a:t>
                  </a:r>
                  <a:br>
                    <a:rPr lang="en-US" sz="1600" dirty="0"/>
                  </a:br>
                  <a:r>
                    <a:rPr lang="en-US" sz="1600" dirty="0"/>
                    <a:t>This is equivalent to : </a:t>
                  </a:r>
                </a:p>
                <a:p>
                  <a:pPr/>
                  <a14:m>
                    <m:oMathPara xmlns:m="http://schemas.openxmlformats.org/officeDocument/2006/math">
                      <m:oMath>
                        <m:r>
                          <a:rPr lang="en-US" sz="1600" i="1" dirty="0">
                            <a:latin typeface="Cambria Math" panose="02040503050406030204" pitchFamily="18" charset="0"/>
                            <a:ea typeface="Cambria Math" panose="02040503050406030204" pitchFamily="18" charset="0"/>
                          </a:rPr>
                          <m:t>𝐿</m:t>
                        </m:r>
                        <m:d>
                          <m:dPr>
                            <m:ctrlPr>
                              <a:rPr lang="en-US" sz="1600" i="1" dirty="0">
                                <a:latin typeface="Cambria Math" panose="02040503050406030204" pitchFamily="18" charset="0"/>
                                <a:ea typeface="Cambria Math" panose="02040503050406030204" pitchFamily="18" charset="0"/>
                              </a:rPr>
                            </m:ctrlPr>
                          </m:dPr>
                          <m:e>
                            <m:r>
                              <a:rPr lang="en-US" sz="1600" i="1" dirty="0">
                                <a:latin typeface="Cambria Math" panose="02040503050406030204" pitchFamily="18" charset="0"/>
                                <a:ea typeface="Cambria Math" panose="02040503050406030204" pitchFamily="18" charset="0"/>
                              </a:rPr>
                              <m:t>𝜃</m:t>
                            </m:r>
                          </m:e>
                        </m:d>
                        <m:r>
                          <a:rPr lang="en-US" sz="1600" i="1" dirty="0">
                            <a:latin typeface="Cambria Math" panose="02040503050406030204" pitchFamily="18" charset="0"/>
                            <a:ea typeface="Cambria Math" panose="02040503050406030204" pitchFamily="18" charset="0"/>
                          </a:rPr>
                          <m:t>= − </m:t>
                        </m:r>
                        <m:r>
                          <m:rPr>
                            <m:sty m:val="p"/>
                          </m:rPr>
                          <a:rPr lang="en-US" sz="1600" i="1" dirty="0">
                            <a:latin typeface="Cambria Math" panose="02040503050406030204" pitchFamily="18" charset="0"/>
                            <a:ea typeface="Cambria Math" panose="02040503050406030204" pitchFamily="18" charset="0"/>
                          </a:rPr>
                          <m:t>ln</m:t>
                        </m:r>
                        <m:r>
                          <a:rPr lang="en-US" sz="1600" i="1" dirty="0">
                            <a:latin typeface="Cambria Math" panose="02040503050406030204" pitchFamily="18" charset="0"/>
                            <a:ea typeface="Cambria Math" panose="02040503050406030204" pitchFamily="18" charset="0"/>
                          </a:rPr>
                          <m:t> </m:t>
                        </m:r>
                        <m:r>
                          <a:rPr lang="en-US" sz="1600" i="1" dirty="0">
                            <a:latin typeface="Cambria Math" panose="02040503050406030204" pitchFamily="18" charset="0"/>
                            <a:ea typeface="Cambria Math" panose="02040503050406030204" pitchFamily="18" charset="0"/>
                          </a:rPr>
                          <m:t>𝜋</m:t>
                        </m:r>
                        <m:d>
                          <m:dPr>
                            <m:ctrlPr>
                              <a:rPr lang="en-US" sz="1600" i="1" dirty="0" err="1">
                                <a:latin typeface="Cambria Math" panose="02040503050406030204" pitchFamily="18" charset="0"/>
                                <a:ea typeface="Cambria Math" panose="02040503050406030204" pitchFamily="18" charset="0"/>
                              </a:rPr>
                            </m:ctrlPr>
                          </m:dPr>
                          <m:e>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𝐴</m:t>
                                </m:r>
                              </m:e>
                              <m:sub>
                                <m:r>
                                  <a:rPr lang="en-US" sz="1600" i="1" dirty="0" err="1">
                                    <a:latin typeface="Cambria Math" panose="02040503050406030204" pitchFamily="18" charset="0"/>
                                    <a:ea typeface="Cambria Math" panose="02040503050406030204" pitchFamily="18" charset="0"/>
                                  </a:rPr>
                                  <m:t>𝑡</m:t>
                                </m:r>
                              </m:sub>
                            </m:sSub>
                          </m:e>
                          <m:e>
                            <m:sSub>
                              <m:sSubPr>
                                <m:ctrlPr>
                                  <a:rPr lang="en-US" sz="1600" i="1" dirty="0">
                                    <a:latin typeface="Cambria Math" panose="02040503050406030204" pitchFamily="18" charset="0"/>
                                    <a:ea typeface="Cambria Math" panose="02040503050406030204" pitchFamily="18" charset="0"/>
                                  </a:rPr>
                                </m:ctrlPr>
                              </m:sSubPr>
                              <m:e>
                                <m:r>
                                  <a:rPr lang="en-US" sz="1600" i="1" dirty="0">
                                    <a:latin typeface="Cambria Math" panose="02040503050406030204" pitchFamily="18" charset="0"/>
                                    <a:ea typeface="Cambria Math" panose="02040503050406030204" pitchFamily="18" charset="0"/>
                                  </a:rPr>
                                  <m:t>𝑆</m:t>
                                </m:r>
                              </m:e>
                              <m:sub>
                                <m:r>
                                  <a:rPr lang="en-US" sz="1600" i="1" dirty="0" err="1">
                                    <a:latin typeface="Cambria Math" panose="02040503050406030204" pitchFamily="18" charset="0"/>
                                    <a:ea typeface="Cambria Math" panose="02040503050406030204" pitchFamily="18" charset="0"/>
                                  </a:rPr>
                                  <m:t>𝑡</m:t>
                                </m:r>
                              </m:sub>
                            </m:sSub>
                            <m:r>
                              <a:rPr lang="en-US" sz="1600" i="1" dirty="0">
                                <a:latin typeface="Cambria Math" panose="02040503050406030204" pitchFamily="18" charset="0"/>
                                <a:ea typeface="Cambria Math" panose="02040503050406030204" pitchFamily="18" charset="0"/>
                              </a:rPr>
                              <m:t>, </m:t>
                            </m:r>
                            <m:r>
                              <a:rPr lang="en-US" sz="1600" i="1" dirty="0">
                                <a:latin typeface="Cambria Math" panose="02040503050406030204" pitchFamily="18" charset="0"/>
                                <a:ea typeface="Cambria Math" panose="02040503050406030204" pitchFamily="18" charset="0"/>
                              </a:rPr>
                              <m:t>𝜃</m:t>
                            </m:r>
                          </m:e>
                        </m:d>
                        <m:r>
                          <a:rPr lang="en-US" sz="1600" i="1" dirty="0">
                            <a:latin typeface="Cambria Math" panose="02040503050406030204" pitchFamily="18" charset="0"/>
                            <a:ea typeface="Cambria Math" panose="02040503050406030204" pitchFamily="18" charset="0"/>
                          </a:rPr>
                          <m:t> </m:t>
                        </m:r>
                        <m:r>
                          <a:rPr lang="en-US" sz="1600" i="1" dirty="0" err="1">
                            <a:latin typeface="Cambria Math" panose="02040503050406030204" pitchFamily="18" charset="0"/>
                            <a:ea typeface="Cambria Math" panose="02040503050406030204" pitchFamily="18" charset="0"/>
                          </a:rPr>
                          <m:t>𝐺</m:t>
                        </m:r>
                      </m:oMath>
                      <m:oMath>
                        <m:r>
                          <a:rPr lang="en-US" sz="1600" i="1">
                            <a:latin typeface="Cambria Math" panose="02040503050406030204" pitchFamily="18" charset="0"/>
                            <a:ea typeface="Cambria Math" panose="02040503050406030204" pitchFamily="18" charset="0"/>
                          </a:rPr>
                          <m:t>𝜃</m:t>
                        </m:r>
                        <m:r>
                          <m:rPr>
                            <m:nor/>
                          </m:rPr>
                          <a:rPr lang="en-US" sz="1600" i="0">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m:t>
                        </m:r>
                        <m:r>
                          <m:rPr>
                            <m:nor/>
                          </m:rPr>
                          <a:rPr lang="en-US" sz="1600" i="0">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𝜃</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𝛼</m:t>
                        </m:r>
                        <m:r>
                          <m:rPr>
                            <m:nor/>
                          </m:rPr>
                          <a:rPr lang="en-US" sz="1600" i="0">
                            <a:latin typeface="Cambria Math" panose="02040503050406030204" pitchFamily="18" charset="0"/>
                            <a:ea typeface="Cambria Math" panose="02040503050406030204" pitchFamily="18" charset="0"/>
                          </a:rPr>
                          <m:t> </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m:t>
                            </m:r>
                          </m:e>
                          <m:sub>
                            <m:r>
                              <a:rPr lang="en-US" sz="1600" i="1">
                                <a:latin typeface="Cambria Math" panose="02040503050406030204" pitchFamily="18" charset="0"/>
                                <a:ea typeface="Cambria Math" panose="02040503050406030204" pitchFamily="18" charset="0"/>
                              </a:rPr>
                              <m:t>𝜃</m:t>
                            </m:r>
                          </m:sub>
                        </m:sSub>
                        <m:r>
                          <a:rPr lang="en-US" sz="1600" i="1" dirty="0">
                            <a:latin typeface="Cambria Math" panose="02040503050406030204" pitchFamily="18" charset="0"/>
                            <a:ea typeface="Cambria Math" panose="02040503050406030204" pitchFamily="18" charset="0"/>
                          </a:rPr>
                          <m:t>𝐿</m:t>
                        </m:r>
                        <m:d>
                          <m:dPr>
                            <m:ctrlPr>
                              <a:rPr lang="en-US" sz="1600" i="1" dirty="0">
                                <a:latin typeface="Cambria Math" panose="02040503050406030204" pitchFamily="18" charset="0"/>
                                <a:ea typeface="Cambria Math" panose="02040503050406030204" pitchFamily="18" charset="0"/>
                              </a:rPr>
                            </m:ctrlPr>
                          </m:dPr>
                          <m:e>
                            <m:r>
                              <a:rPr lang="en-US" sz="1600" i="1" dirty="0">
                                <a:latin typeface="Cambria Math" panose="02040503050406030204" pitchFamily="18" charset="0"/>
                                <a:ea typeface="Cambria Math" panose="02040503050406030204" pitchFamily="18" charset="0"/>
                              </a:rPr>
                              <m:t>𝜃</m:t>
                            </m:r>
                          </m:e>
                        </m:d>
                      </m:oMath>
                    </m:oMathPara>
                  </a14:m>
                  <a:endParaRPr lang="en-US" sz="1600" dirty="0">
                    <a:latin typeface="Cambria Math" panose="02040503050406030204" pitchFamily="18" charset="0"/>
                    <a:ea typeface="Cambria Math" panose="02040503050406030204" pitchFamily="18" charset="0"/>
                  </a:endParaRPr>
                </a:p>
              </p:txBody>
            </p:sp>
          </mc:Choice>
          <mc:Fallback xmlns="">
            <p:sp>
              <p:nvSpPr>
                <p:cNvPr id="3" name="Speech Bubble: Rectangle with Corners Rounded 2" descr="Represent the policy as a policy network. This is equivalent to :. L (theta) equals minus ln pi (A sub t given S sub t, theta) G; theta gets theta minus alpha gradient of sub theta L (theta)">
                  <a:extLst>
                    <a:ext uri="{FF2B5EF4-FFF2-40B4-BE49-F238E27FC236}">
                      <a16:creationId xmlns:a16="http://schemas.microsoft.com/office/drawing/2014/main" id="{76A60ADD-253C-A167-3E0C-CB59A308D338}"/>
                    </a:ext>
                  </a:extLst>
                </p:cNvPr>
                <p:cNvSpPr>
                  <a:spLocks noRot="1" noChangeAspect="1" noMove="1" noResize="1" noEditPoints="1" noAdjustHandles="1" noChangeArrowheads="1" noChangeShapeType="1" noTextEdit="1"/>
                </p:cNvSpPr>
                <p:nvPr/>
              </p:nvSpPr>
              <p:spPr>
                <a:xfrm>
                  <a:off x="6245375" y="4600136"/>
                  <a:ext cx="3911499" cy="1148862"/>
                </a:xfrm>
                <a:prstGeom prst="wedgeRoundRectCallout">
                  <a:avLst>
                    <a:gd name="adj1" fmla="val -72231"/>
                    <a:gd name="adj2" fmla="val -42086"/>
                    <a:gd name="adj3" fmla="val 16667"/>
                  </a:avLst>
                </a:prstGeom>
                <a:blipFill>
                  <a:blip r:embed="rId3"/>
                  <a:stretch>
                    <a:fillRect/>
                  </a:stretch>
                </a:blipFill>
              </p:spPr>
              <p:txBody>
                <a:bodyPr/>
                <a:lstStyle/>
                <a:p>
                  <a:r>
                    <a:rPr lang="en-US">
                      <a:noFill/>
                    </a:rPr>
                    <a:t> </a:t>
                  </a:r>
                </a:p>
              </p:txBody>
            </p:sp>
          </mc:Fallback>
        </mc:AlternateContent>
      </p:grpSp>
      <p:sp>
        <p:nvSpPr>
          <p:cNvPr id="6" name="TextBox 5">
            <a:extLst>
              <a:ext uri="{FF2B5EF4-FFF2-40B4-BE49-F238E27FC236}">
                <a16:creationId xmlns:a16="http://schemas.microsoft.com/office/drawing/2014/main" id="{B810A3E2-C03E-42BB-0B6B-06421786D8CF}"/>
              </a:ext>
            </a:extLst>
          </p:cNvPr>
          <p:cNvSpPr txBox="1"/>
          <p:nvPr/>
        </p:nvSpPr>
        <p:spPr>
          <a:xfrm>
            <a:off x="1383430" y="5903148"/>
            <a:ext cx="5033394" cy="369332"/>
          </a:xfrm>
          <a:prstGeom prst="rect">
            <a:avLst/>
          </a:prstGeom>
          <a:noFill/>
        </p:spPr>
        <p:txBody>
          <a:bodyPr wrap="square" rtlCol="0">
            <a:spAutoFit/>
          </a:bodyPr>
          <a:lstStyle/>
          <a:p>
            <a:r>
              <a:rPr lang="en-US" dirty="0"/>
              <a:t>Note: MC leads to instability!</a:t>
            </a:r>
          </a:p>
        </p:txBody>
      </p:sp>
    </p:spTree>
    <p:extLst>
      <p:ext uri="{BB962C8B-B14F-4D97-AF65-F5344CB8AC3E}">
        <p14:creationId xmlns:p14="http://schemas.microsoft.com/office/powerpoint/2010/main" val="26934999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1620C6-C80F-5592-8155-B389EE672C5C}"/>
              </a:ext>
            </a:extLst>
          </p:cNvPr>
          <p:cNvSpPr>
            <a:spLocks noGrp="1"/>
          </p:cNvSpPr>
          <p:nvPr>
            <p:ph type="title"/>
          </p:nvPr>
        </p:nvSpPr>
        <p:spPr/>
        <p:txBody>
          <a:bodyPr/>
          <a:lstStyle/>
          <a:p>
            <a:r>
              <a:rPr lang="en-US" dirty="0"/>
              <a:t>Stochastic Policy Gradient</a:t>
            </a:r>
          </a:p>
        </p:txBody>
      </p:sp>
      <mc:AlternateContent xmlns:mc="http://schemas.openxmlformats.org/markup-compatibility/2006" xmlns:a14="http://schemas.microsoft.com/office/drawing/2010/main">
        <mc:Choice Requires="a14">
          <p:sp>
            <p:nvSpPr>
              <p:cNvPr id="5" name="Content Placeholder 4" descr="A stochastic policy pi sub w is parameterized using parameter vector w . Expected return V to the power pi (s sub 0) equals the integral over S, of mu to the power pi (s) (the integral over A, of pi (s,a) R prime (s,a) da) ds. with R prime (s,a) equals the integral over s prime in S, of p (a,s,a prime) r(s,a,s prime) and mu to the power pi (s) equals the sum over t equals 0 to infinity, of gamma to the power t Pr of {S sub t equals s given s sub 0, pi}. Gradient: gradient of sub w V to the power pi sub w, (s sub 0) equals the integral over S, of mu to the power pi sub w, (s) (the integral over A, of gradient of sub w pi sub w (s,a) Q to the power pi sub w, (s,a) da) ds. Estimate: gradient of sub w V to the power pi sub w, (s sub 0) equals E sub s~ mu to the power pi sub w,a~ pi sub w, [gradient of sub w (log of pi sub w (s,a)) Q to the power pi sub w, (s,a)]. Update w (the ANN): w sub t plus 1, equals w sub t minus alpha (U sub t minus V to the power pi sub w sub t, (S sub t)) gradient of sub w V to the power pi sub w, (s sub 0)">
                <a:extLst>
                  <a:ext uri="{FF2B5EF4-FFF2-40B4-BE49-F238E27FC236}">
                    <a16:creationId xmlns:a16="http://schemas.microsoft.com/office/drawing/2014/main" id="{FE6BD750-A7A5-B3CD-0CB1-69EC41046BA9}"/>
                  </a:ext>
                </a:extLst>
              </p:cNvPr>
              <p:cNvSpPr>
                <a:spLocks noGrp="1"/>
              </p:cNvSpPr>
              <p:nvPr>
                <p:ph idx="1"/>
              </p:nvPr>
            </p:nvSpPr>
            <p:spPr>
              <a:xfrm>
                <a:off x="838200" y="1397330"/>
                <a:ext cx="8703669" cy="5095544"/>
              </a:xfrm>
            </p:spPr>
            <p:txBody>
              <a:bodyPr>
                <a:normAutofit fontScale="77500" lnSpcReduction="20000"/>
              </a:bodyPr>
              <a:lstStyle/>
              <a:p>
                <a:r>
                  <a:rPr lang="en-US" dirty="0"/>
                  <a:t>A stochastic policy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𝑤</m:t>
                        </m:r>
                      </m:sub>
                    </m:sSub>
                  </m:oMath>
                </a14:m>
                <a:r>
                  <a:rPr lang="en-US" dirty="0"/>
                  <a:t> is parameterized using parameter vector </a:t>
                </a:r>
                <a14:m>
                  <m:oMath xmlns:m="http://schemas.openxmlformats.org/officeDocument/2006/math">
                    <m:r>
                      <a:rPr lang="en-US" b="1" i="1" smtClean="0">
                        <a:latin typeface="Cambria Math" panose="02040503050406030204" pitchFamily="18" charset="0"/>
                      </a:rPr>
                      <m:t>𝒘</m:t>
                    </m:r>
                  </m:oMath>
                </a14:m>
                <a:r>
                  <a:rPr lang="en-US" b="1" dirty="0"/>
                  <a:t>.</a:t>
                </a:r>
              </a:p>
              <a:p>
                <a:r>
                  <a:rPr lang="en-US" dirty="0"/>
                  <a:t>Expected return</a:t>
                </a:r>
                <a:br>
                  <a:rPr lang="en-US" dirty="0"/>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𝜋</m:t>
                        </m:r>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𝒮</m:t>
                        </m: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𝜇</m:t>
                            </m:r>
                          </m:e>
                          <m:sup>
                            <m:r>
                              <a:rPr lang="en-US" b="0" i="1" smtClean="0">
                                <a:latin typeface="Cambria Math" panose="02040503050406030204" pitchFamily="18" charset="0"/>
                              </a:rPr>
                              <m:t>𝜋</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e>
                    </m:nary>
                    <m:d>
                      <m:dPr>
                        <m:ctrlPr>
                          <a:rPr lang="en-US" i="1">
                            <a:latin typeface="Cambria Math" panose="02040503050406030204" pitchFamily="18" charset="0"/>
                          </a:rPr>
                        </m:ctrlPr>
                      </m:dPr>
                      <m:e>
                        <m:nary>
                          <m:naryPr>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𝒜</m:t>
                            </m:r>
                          </m:sub>
                          <m:sup/>
                          <m:e>
                            <m:r>
                              <a:rPr lang="en-US" b="0" i="1" smtClean="0">
                                <a:latin typeface="Cambria Math" panose="02040503050406030204" pitchFamily="18" charset="0"/>
                                <a:ea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smtClean="0">
                                <a:latin typeface="Cambria Math" panose="02040503050406030204" pitchFamily="18" charset="0"/>
                              </a:rPr>
                              <m:t>𝑅</m:t>
                            </m:r>
                            <m:r>
                              <a:rPr lang="en-US" b="0" i="1" smtClean="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a:latin typeface="Cambria Math" panose="02040503050406030204" pitchFamily="18" charset="0"/>
                              </a:rPr>
                              <m:t> </m:t>
                            </m:r>
                            <m:r>
                              <a:rPr lang="en-US" i="1">
                                <a:latin typeface="Cambria Math" panose="02040503050406030204" pitchFamily="18" charset="0"/>
                              </a:rPr>
                              <m:t>𝑑𝑎</m:t>
                            </m:r>
                          </m:e>
                        </m:nary>
                      </m:e>
                    </m:d>
                    <m:r>
                      <a:rPr lang="en-US" b="0" i="1" smtClean="0">
                        <a:latin typeface="Cambria Math" panose="02040503050406030204" pitchFamily="18" charset="0"/>
                      </a:rPr>
                      <m:t>𝑑𝑠</m:t>
                    </m:r>
                  </m:oMath>
                </a14:m>
                <a:endParaRPr lang="en-US" dirty="0"/>
              </a:p>
              <a:p>
                <a:pPr marL="457200" lvl="1" indent="0">
                  <a:buNone/>
                </a:pPr>
                <a:r>
                  <a:rPr lang="en-US" dirty="0"/>
                  <a:t>w</a:t>
                </a:r>
                <a:r>
                  <a:rPr lang="en-US" b="0" dirty="0"/>
                  <a:t>ith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sSup>
                          <m:sSupPr>
                            <m:ctrlPr>
                              <a:rPr lang="en-US" b="0" i="1" smtClean="0">
                                <a:latin typeface="Cambria Math" panose="02040503050406030204" pitchFamily="18" charset="0"/>
                              </a:rPr>
                            </m:ctrlPr>
                          </m:sSupPr>
                          <m:e>
                            <m:r>
                              <m:rPr>
                                <m:brk m:alnAt="23"/>
                              </m:rP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sub>
                      <m:sup/>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e>
                        </m:d>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e>
                    </m:nary>
                  </m:oMath>
                </a14:m>
                <a:r>
                  <a:rPr lang="en-US" dirty="0"/>
                  <a:t> and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𝜇</m:t>
                        </m:r>
                      </m:e>
                      <m:sup>
                        <m:r>
                          <a:rPr lang="en-US" b="0" i="1" smtClean="0">
                            <a:latin typeface="Cambria Math" panose="02040503050406030204" pitchFamily="18" charset="0"/>
                          </a:rPr>
                          <m:t>𝜋</m:t>
                        </m:r>
                      </m:sup>
                    </m:sSup>
                    <m:d>
                      <m:dPr>
                        <m:ctrlPr>
                          <a:rPr lang="en-US" i="1">
                            <a:latin typeface="Cambria Math" panose="02040503050406030204" pitchFamily="18" charset="0"/>
                          </a:rPr>
                        </m:ctrlPr>
                      </m:dPr>
                      <m:e>
                        <m:r>
                          <a:rPr lang="en-US" i="1">
                            <a:latin typeface="Cambria Math" panose="02040503050406030204" pitchFamily="18" charset="0"/>
                          </a:rPr>
                          <m:t>𝑠</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𝑡</m:t>
                        </m:r>
                        <m:r>
                          <a:rPr lang="en-US" b="0" i="1" smtClean="0">
                            <a:latin typeface="Cambria Math" panose="02040503050406030204" pitchFamily="18" charset="0"/>
                          </a:rPr>
                          <m:t>=0</m:t>
                        </m:r>
                      </m:sub>
                      <m:sup>
                        <m:r>
                          <a:rPr lang="en-US" b="0" i="1" smtClean="0">
                            <a:latin typeface="Cambria Math" panose="02040503050406030204" pitchFamily="18" charset="0"/>
                          </a:rPr>
                          <m:t>∞</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𝛾</m:t>
                            </m:r>
                          </m:e>
                          <m:sup>
                            <m:r>
                              <a:rPr lang="en-US" b="0" i="1" smtClean="0">
                                <a:latin typeface="Cambria Math" panose="02040503050406030204" pitchFamily="18" charset="0"/>
                              </a:rPr>
                              <m:t>𝑡</m:t>
                            </m:r>
                          </m:sup>
                        </m:sSup>
                        <m:func>
                          <m:funcPr>
                            <m:ctrlPr>
                              <a:rPr lang="en-US" b="0" i="1" smtClean="0">
                                <a:latin typeface="Cambria Math" panose="02040503050406030204" pitchFamily="18" charset="0"/>
                              </a:rPr>
                            </m:ctrlPr>
                          </m:funcPr>
                          <m:fName>
                            <m:r>
                              <a:rPr lang="en-US" b="0" i="1" smtClean="0">
                                <a:latin typeface="Cambria Math" panose="02040503050406030204" pitchFamily="18" charset="0"/>
                              </a:rPr>
                              <m:t>𝑃𝑟</m:t>
                            </m:r>
                          </m:fName>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𝜋</m:t>
                                </m:r>
                              </m:e>
                            </m:d>
                          </m:e>
                        </m:func>
                      </m:e>
                    </m:nary>
                  </m:oMath>
                </a14:m>
                <a:endParaRPr lang="en-US" dirty="0"/>
              </a:p>
              <a:p>
                <a:endParaRPr lang="en-US" dirty="0"/>
              </a:p>
              <a:p>
                <a:r>
                  <a:rPr lang="en-US" dirty="0"/>
                  <a:t>Gradient: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m:rPr>
                            <m:sty m:val="p"/>
                          </m:rPr>
                          <a:rPr lang="en-US"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𝑤</m:t>
                        </m:r>
                      </m:sub>
                    </m:s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𝑉</m:t>
                        </m:r>
                      </m:e>
                      <m: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𝑤</m:t>
                            </m:r>
                          </m:sub>
                        </m:sSub>
                      </m:sup>
                    </m:sSup>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0</m:t>
                            </m:r>
                          </m:sub>
                        </m:sSub>
                      </m:e>
                    </m:d>
                    <m:r>
                      <a:rPr lang="en-US" b="0" i="1" smtClean="0">
                        <a:latin typeface="Cambria Math" panose="02040503050406030204" pitchFamily="18" charset="0"/>
                        <a:ea typeface="Cambria Math" panose="02040503050406030204" pitchFamily="18" charset="0"/>
                      </a:rPr>
                      <m:t>=</m:t>
                    </m:r>
                    <m:nary>
                      <m:naryPr>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𝒮</m:t>
                        </m:r>
                      </m:sub>
                      <m:sup/>
                      <m:e>
                        <m:sSup>
                          <m:sSupPr>
                            <m:ctrlPr>
                              <a:rPr lang="en-US" i="1">
                                <a:latin typeface="Cambria Math" panose="02040503050406030204" pitchFamily="18" charset="0"/>
                              </a:rPr>
                            </m:ctrlPr>
                          </m:sSupPr>
                          <m:e>
                            <m:r>
                              <a:rPr lang="en-US" i="1">
                                <a:latin typeface="Cambria Math" panose="02040503050406030204" pitchFamily="18" charset="0"/>
                              </a:rPr>
                              <m:t>𝜇</m:t>
                            </m:r>
                          </m:e>
                          <m:sup>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𝑤</m:t>
                                </m:r>
                              </m:sub>
                            </m:sSub>
                          </m:sup>
                        </m:sSup>
                        <m:d>
                          <m:dPr>
                            <m:ctrlPr>
                              <a:rPr lang="en-US" i="1">
                                <a:latin typeface="Cambria Math" panose="02040503050406030204" pitchFamily="18" charset="0"/>
                              </a:rPr>
                            </m:ctrlPr>
                          </m:dPr>
                          <m:e>
                            <m:r>
                              <a:rPr lang="en-US" i="1">
                                <a:latin typeface="Cambria Math" panose="02040503050406030204" pitchFamily="18" charset="0"/>
                              </a:rPr>
                              <m:t>𝑠</m:t>
                            </m:r>
                          </m:e>
                        </m:d>
                      </m:e>
                    </m:nary>
                    <m:d>
                      <m:dPr>
                        <m:ctrlPr>
                          <a:rPr lang="en-US" i="1">
                            <a:latin typeface="Cambria Math" panose="02040503050406030204" pitchFamily="18" charset="0"/>
                          </a:rPr>
                        </m:ctrlPr>
                      </m:dPr>
                      <m:e>
                        <m:nary>
                          <m:naryPr>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𝒜</m:t>
                            </m:r>
                          </m:sub>
                          <m:sup/>
                          <m:e>
                            <m:sSub>
                              <m:sSubPr>
                                <m:ctrlPr>
                                  <a:rPr lang="en-US" i="1" smtClean="0">
                                    <a:latin typeface="Cambria Math" panose="02040503050406030204" pitchFamily="18" charset="0"/>
                                    <a:ea typeface="Cambria Math" panose="02040503050406030204" pitchFamily="18" charset="0"/>
                                  </a:rPr>
                                </m:ctrlPr>
                              </m:sSubPr>
                              <m:e>
                                <m:r>
                                  <m:rPr>
                                    <m:sty m:val="p"/>
                                  </m:rPr>
                                  <a:rPr lang="en-US"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𝑤</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𝑤</m:t>
                                </m:r>
                              </m:sub>
                            </m:sSub>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𝑤</m:t>
                                    </m:r>
                                  </m:sub>
                                </m:sSub>
                              </m:sup>
                            </m:sSup>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a:latin typeface="Cambria Math" panose="02040503050406030204" pitchFamily="18" charset="0"/>
                              </a:rPr>
                              <m:t> </m:t>
                            </m:r>
                            <m:r>
                              <a:rPr lang="en-US" i="1">
                                <a:latin typeface="Cambria Math" panose="02040503050406030204" pitchFamily="18" charset="0"/>
                              </a:rPr>
                              <m:t>𝑑𝑎</m:t>
                            </m:r>
                          </m:e>
                        </m:nary>
                      </m:e>
                    </m:d>
                    <m:r>
                      <a:rPr lang="en-US" i="1">
                        <a:latin typeface="Cambria Math" panose="02040503050406030204" pitchFamily="18" charset="0"/>
                      </a:rPr>
                      <m:t>𝑑𝑠</m:t>
                    </m:r>
                  </m:oMath>
                </a14:m>
                <a:endParaRPr lang="en-US" dirty="0"/>
              </a:p>
              <a:p>
                <a:endParaRPr lang="en-US" dirty="0"/>
              </a:p>
              <a:p>
                <a:r>
                  <a:rPr lang="en-US" dirty="0"/>
                  <a:t>Estimate: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m:rPr>
                            <m:sty m:val="p"/>
                          </m:rPr>
                          <a:rPr lang="en-US" i="1">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𝑤</m:t>
                        </m:r>
                      </m:sub>
                    </m:sSub>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𝑉</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𝑤</m:t>
                            </m:r>
                          </m:sub>
                        </m:sSub>
                      </m:sup>
                    </m:sSup>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𝑠</m:t>
                            </m:r>
                          </m:e>
                          <m:sub>
                            <m:r>
                              <a:rPr lang="en-US" i="1">
                                <a:latin typeface="Cambria Math" panose="02040503050406030204" pitchFamily="18" charset="0"/>
                                <a:ea typeface="Cambria Math" panose="02040503050406030204" pitchFamily="18" charset="0"/>
                              </a:rPr>
                              <m:t>0</m:t>
                            </m:r>
                          </m:sub>
                        </m:sSub>
                      </m:e>
                    </m:d>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𝔼</m:t>
                        </m:r>
                      </m:e>
                      <m:sub>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𝜇</m:t>
                            </m:r>
                          </m:e>
                          <m: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𝑤</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𝑤</m:t>
                            </m:r>
                          </m:sub>
                        </m:sSub>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m:rPr>
                                <m:sty m:val="p"/>
                              </m:rPr>
                              <a:rPr lang="en-US" i="1">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𝑤</m:t>
                            </m:r>
                          </m:sub>
                        </m:sSub>
                        <m:d>
                          <m:dPr>
                            <m:ctrlPr>
                              <a:rPr lang="en-US" i="1" smtClean="0">
                                <a:latin typeface="Cambria Math" panose="02040503050406030204" pitchFamily="18" charset="0"/>
                                <a:ea typeface="Cambria Math" panose="02040503050406030204" pitchFamily="18" charset="0"/>
                              </a:rPr>
                            </m:ctrlPr>
                          </m:dPr>
                          <m:e>
                            <m:func>
                              <m:funcPr>
                                <m:ctrlPr>
                                  <a:rPr lang="en-US" b="0" i="0"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𝑤</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e>
                            </m:func>
                          </m:e>
                        </m:d>
                        <m:sSup>
                          <m:sSupPr>
                            <m:ctrlPr>
                              <a:rPr lang="en-US" i="1">
                                <a:latin typeface="Cambria Math" panose="02040503050406030204" pitchFamily="18" charset="0"/>
                              </a:rPr>
                            </m:ctrlPr>
                          </m:sSupPr>
                          <m:e>
                            <m:r>
                              <a:rPr lang="en-US" i="1">
                                <a:latin typeface="Cambria Math" panose="02040503050406030204" pitchFamily="18" charset="0"/>
                              </a:rPr>
                              <m:t>𝑄</m:t>
                            </m:r>
                          </m:e>
                          <m:sup>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𝑤</m:t>
                                </m:r>
                              </m:sub>
                            </m:sSub>
                          </m:sup>
                        </m:sSup>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e>
                    </m:d>
                  </m:oMath>
                </a14:m>
                <a:endParaRPr lang="en-US" dirty="0"/>
              </a:p>
              <a:p>
                <a:endParaRPr lang="en-US" dirty="0"/>
              </a:p>
              <a:p>
                <a:endParaRPr lang="en-US" dirty="0"/>
              </a:p>
              <a:p>
                <a:r>
                  <a:rPr lang="en-US" dirty="0"/>
                  <a:t>Update </a:t>
                </a:r>
                <a14:m>
                  <m:oMath xmlns:m="http://schemas.openxmlformats.org/officeDocument/2006/math">
                    <m:r>
                      <a:rPr lang="en-US" b="1" i="1" smtClean="0">
                        <a:latin typeface="Cambria Math" panose="02040503050406030204" pitchFamily="18" charset="0"/>
                      </a:rPr>
                      <m:t>𝒘</m:t>
                    </m:r>
                  </m:oMath>
                </a14:m>
                <a:r>
                  <a:rPr lang="en-US" dirty="0"/>
                  <a:t> (the ANN):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𝛼</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𝑉</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𝑡</m:t>
                                    </m:r>
                                  </m:sub>
                                </m:sSub>
                              </m:sub>
                            </m:sSub>
                          </m:sup>
                        </m:sSup>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smtClean="0">
                                <a:latin typeface="Cambria Math" panose="02040503050406030204" pitchFamily="18" charset="0"/>
                                <a:ea typeface="Cambria Math" panose="02040503050406030204" pitchFamily="18" charset="0"/>
                              </a:rPr>
                              <m:t> </m:t>
                            </m:r>
                          </m:e>
                        </m:d>
                      </m:e>
                    </m:d>
                    <m:sSub>
                      <m:sSubPr>
                        <m:ctrlPr>
                          <a:rPr lang="en-US" i="1">
                            <a:latin typeface="Cambria Math" panose="02040503050406030204" pitchFamily="18" charset="0"/>
                            <a:ea typeface="Cambria Math" panose="02040503050406030204" pitchFamily="18" charset="0"/>
                          </a:rPr>
                        </m:ctrlPr>
                      </m:sSubPr>
                      <m:e>
                        <m:r>
                          <m:rPr>
                            <m:sty m:val="p"/>
                          </m:rPr>
                          <a:rPr lang="en-US" i="1">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𝑤</m:t>
                        </m:r>
                      </m:sub>
                    </m:sSub>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𝑉</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𝑤</m:t>
                            </m:r>
                          </m:sub>
                        </m:sSub>
                      </m:sup>
                    </m:sSup>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0</m:t>
                            </m:r>
                          </m:sub>
                        </m:sSub>
                      </m:e>
                    </m:d>
                  </m:oMath>
                </a14:m>
                <a:endParaRPr lang="en-US" b="1" dirty="0"/>
              </a:p>
            </p:txBody>
          </p:sp>
        </mc:Choice>
        <mc:Fallback xmlns="">
          <p:sp>
            <p:nvSpPr>
              <p:cNvPr id="5" name="Content Placeholder 4" descr="A stochastic policy pi sub w is parameterized using parameter vector w . Expected return V to the power pi (s sub 0) equals the integral over S, of mu to the power pi (s) (the integral over A, of pi (s,a) R prime (s,a) da) ds. with R prime (s,a) equals the integral over s prime in S, of p (a,s,a prime) r(s,a,s prime) and mu to the power pi (s) equals the sum over t equals 0 to infinity, of gamma to the power t Pr of {S sub t equals s given s sub 0, pi}. Gradient: gradient of sub w V to the power pi sub w, (s sub 0) equals the integral over S, of mu to the power pi sub w, (s) (the integral over A, of gradient of sub w pi sub w (s,a) Q to the power pi sub w, (s,a) da) ds. Estimate: gradient of sub w V to the power pi sub w, (s sub 0) equals E sub s~ mu to the power pi sub w,a~ pi sub w, [gradient of sub w (log of pi sub w (s,a)) Q to the power pi sub w, (s,a)]. Update w (the ANN): w sub t plus 1, equals w sub t minus alpha (U sub t minus V to the power pi sub w sub t, (S sub t)) gradient of sub w V to the power pi sub w, (s sub 0)">
                <a:extLst>
                  <a:ext uri="{FF2B5EF4-FFF2-40B4-BE49-F238E27FC236}">
                    <a16:creationId xmlns:a16="http://schemas.microsoft.com/office/drawing/2014/main" id="{FE6BD750-A7A5-B3CD-0CB1-69EC41046BA9}"/>
                  </a:ext>
                </a:extLst>
              </p:cNvPr>
              <p:cNvSpPr>
                <a:spLocks noGrp="1" noRot="1" noChangeAspect="1" noMove="1" noResize="1" noEditPoints="1" noAdjustHandles="1" noChangeArrowheads="1" noChangeShapeType="1" noTextEdit="1"/>
              </p:cNvSpPr>
              <p:nvPr>
                <p:ph idx="1"/>
              </p:nvPr>
            </p:nvSpPr>
            <p:spPr>
              <a:xfrm>
                <a:off x="838200" y="1397330"/>
                <a:ext cx="8703669" cy="5095544"/>
              </a:xfrm>
              <a:blipFill>
                <a:blip r:embed="rId2"/>
                <a:stretch>
                  <a:fillRect l="-841" t="-17703"/>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FDC560BF-3963-5C9B-02DB-0D3E3718D787}"/>
              </a:ext>
            </a:extLst>
          </p:cNvPr>
          <p:cNvSpPr txBox="1"/>
          <p:nvPr/>
        </p:nvSpPr>
        <p:spPr>
          <a:xfrm>
            <a:off x="9669858" y="813679"/>
            <a:ext cx="2149887" cy="147732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Integrals work for cont. state and action spaces. Replace with sums for discrete spaces.</a:t>
            </a:r>
          </a:p>
        </p:txBody>
      </p:sp>
      <p:cxnSp>
        <p:nvCxnSpPr>
          <p:cNvPr id="8" name="Straight Arrow Connector 7">
            <a:extLst>
              <a:ext uri="{FF2B5EF4-FFF2-40B4-BE49-F238E27FC236}">
                <a16:creationId xmlns:a16="http://schemas.microsoft.com/office/drawing/2014/main" id="{E553B616-DCF3-E9A4-0923-E0155A385B10}"/>
              </a:ext>
              <a:ext uri="{C183D7F6-B498-43B3-948B-1728B52AA6E4}">
                <adec:decorative xmlns:adec="http://schemas.microsoft.com/office/drawing/2017/decorative" val="1"/>
              </a:ext>
            </a:extLst>
          </p:cNvPr>
          <p:cNvCxnSpPr>
            <a:cxnSpLocks/>
          </p:cNvCxnSpPr>
          <p:nvPr/>
        </p:nvCxnSpPr>
        <p:spPr>
          <a:xfrm flipH="1">
            <a:off x="4516108" y="3849599"/>
            <a:ext cx="223672" cy="4747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AA75C525-A7EC-CA1F-1EC7-2FE3C5631389}"/>
              </a:ext>
              <a:ext uri="{C183D7F6-B498-43B3-948B-1728B52AA6E4}">
                <adec:decorative xmlns:adec="http://schemas.microsoft.com/office/drawing/2017/decorative" val="1"/>
              </a:ext>
            </a:extLst>
          </p:cNvPr>
          <p:cNvCxnSpPr>
            <a:cxnSpLocks/>
          </p:cNvCxnSpPr>
          <p:nvPr/>
        </p:nvCxnSpPr>
        <p:spPr>
          <a:xfrm flipH="1">
            <a:off x="5101922" y="3849599"/>
            <a:ext cx="852348" cy="4988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C39B8FA0-CBBB-D39E-709B-816BE35AB319}"/>
              </a:ext>
              <a:ext uri="{C183D7F6-B498-43B3-948B-1728B52AA6E4}">
                <adec:decorative xmlns:adec="http://schemas.microsoft.com/office/drawing/2017/decorative" val="1"/>
              </a:ext>
            </a:extLst>
          </p:cNvPr>
          <p:cNvCxnSpPr>
            <a:cxnSpLocks/>
          </p:cNvCxnSpPr>
          <p:nvPr/>
        </p:nvCxnSpPr>
        <p:spPr>
          <a:xfrm>
            <a:off x="6000261" y="3849599"/>
            <a:ext cx="147962" cy="3711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29FEE30A-C51E-5516-7DED-4969A3D51A8D}"/>
              </a:ext>
              <a:ext uri="{C183D7F6-B498-43B3-948B-1728B52AA6E4}">
                <adec:decorative xmlns:adec="http://schemas.microsoft.com/office/drawing/2017/decorative" val="1"/>
              </a:ext>
            </a:extLst>
          </p:cNvPr>
          <p:cNvCxnSpPr>
            <a:cxnSpLocks/>
          </p:cNvCxnSpPr>
          <p:nvPr/>
        </p:nvCxnSpPr>
        <p:spPr>
          <a:xfrm>
            <a:off x="7472984" y="3826593"/>
            <a:ext cx="427096" cy="4193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974916E7-6917-C309-943A-0B5958442C08}"/>
                  </a:ext>
                  <a:ext uri="{C183D7F6-B498-43B3-948B-1728B52AA6E4}">
                    <adec:decorative xmlns:adec="http://schemas.microsoft.com/office/drawing/2017/decorative" val="1"/>
                  </a:ext>
                </a:extLst>
              </p:cNvPr>
              <p:cNvSpPr txBox="1"/>
              <p:nvPr/>
            </p:nvSpPr>
            <p:spPr>
              <a:xfrm>
                <a:off x="9669858" y="4220711"/>
                <a:ext cx="2352310" cy="91698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Math trick:</a:t>
                </a:r>
                <a:br>
                  <a:rPr lang="en-US" dirty="0"/>
                </a:b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m:rPr>
                            <m:sty m:val="p"/>
                          </m:rPr>
                          <a:rPr lang="en-US" i="1">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𝑤</m:t>
                        </m:r>
                      </m:sub>
                    </m:sSub>
                    <m:r>
                      <a:rPr lang="en-US" i="1">
                        <a:latin typeface="Cambria Math" panose="02040503050406030204" pitchFamily="18" charset="0"/>
                        <a:ea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sSub>
                      <m:sSubPr>
                        <m:ctrlPr>
                          <a:rPr lang="en-US" i="1">
                            <a:latin typeface="Cambria Math" panose="02040503050406030204" pitchFamily="18" charset="0"/>
                            <a:ea typeface="Cambria Math" panose="02040503050406030204" pitchFamily="18" charset="0"/>
                          </a:rPr>
                        </m:ctrlPr>
                      </m:sSubPr>
                      <m:e>
                        <m:r>
                          <m:rPr>
                            <m:sty m:val="p"/>
                          </m:rPr>
                          <a:rPr lang="en-US" i="1">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𝑤</m:t>
                        </m:r>
                      </m:sub>
                    </m:sSub>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log</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oMath>
                </a14:m>
                <a:r>
                  <a:rPr lang="en-US" dirty="0"/>
                  <a:t>)</a:t>
                </a:r>
              </a:p>
            </p:txBody>
          </p:sp>
        </mc:Choice>
        <mc:Fallback>
          <p:sp>
            <p:nvSpPr>
              <p:cNvPr id="18" name="TextBox 17">
                <a:extLst>
                  <a:ext uri="{FF2B5EF4-FFF2-40B4-BE49-F238E27FC236}">
                    <a16:creationId xmlns:a16="http://schemas.microsoft.com/office/drawing/2014/main" id="{974916E7-6917-C309-943A-0B5958442C08}"/>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9669858" y="4220711"/>
                <a:ext cx="2352310" cy="916982"/>
              </a:xfrm>
              <a:prstGeom prst="rect">
                <a:avLst/>
              </a:prstGeom>
              <a:blipFill>
                <a:blip r:embed="rId3"/>
                <a:stretch>
                  <a:fillRect l="-1596" t="-1333" b="-8000"/>
                </a:stretch>
              </a:blipFill>
            </p:spPr>
            <p:txBody>
              <a:bodyPr/>
              <a:lstStyle/>
              <a:p>
                <a:r>
                  <a:rPr lang="en-US">
                    <a:noFill/>
                  </a:rPr>
                  <a:t> </a:t>
                </a:r>
              </a:p>
            </p:txBody>
          </p:sp>
        </mc:Fallback>
      </mc:AlternateContent>
      <p:sp>
        <p:nvSpPr>
          <p:cNvPr id="23" name="Speech Bubble: Rectangle with Corners Rounded 22">
            <a:extLst>
              <a:ext uri="{FF2B5EF4-FFF2-40B4-BE49-F238E27FC236}">
                <a16:creationId xmlns:a16="http://schemas.microsoft.com/office/drawing/2014/main" id="{69F3F36E-4E02-3F6B-263C-922607CB2DC4}"/>
              </a:ext>
              <a:ext uri="{C183D7F6-B498-43B3-948B-1728B52AA6E4}">
                <adec:decorative xmlns:adec="http://schemas.microsoft.com/office/drawing/2017/decorative" val="1"/>
              </a:ext>
            </a:extLst>
          </p:cNvPr>
          <p:cNvSpPr/>
          <p:nvPr/>
        </p:nvSpPr>
        <p:spPr>
          <a:xfrm>
            <a:off x="2571226" y="6098796"/>
            <a:ext cx="2705449" cy="574646"/>
          </a:xfrm>
          <a:prstGeom prst="wedgeRoundRectCallout">
            <a:avLst>
              <a:gd name="adj1" fmla="val 66565"/>
              <a:gd name="adj2" fmla="val -106114"/>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Can be estimated with MC roll outs or TD</a:t>
            </a:r>
          </a:p>
        </p:txBody>
      </p:sp>
      <p:sp>
        <p:nvSpPr>
          <p:cNvPr id="24" name="Speech Bubble: Rectangle with Corners Rounded 23">
            <a:extLst>
              <a:ext uri="{FF2B5EF4-FFF2-40B4-BE49-F238E27FC236}">
                <a16:creationId xmlns:a16="http://schemas.microsoft.com/office/drawing/2014/main" id="{3C91998E-A716-D963-0C25-03A93ED60C42}"/>
              </a:ext>
              <a:ext uri="{C183D7F6-B498-43B3-948B-1728B52AA6E4}">
                <adec:decorative xmlns:adec="http://schemas.microsoft.com/office/drawing/2017/decorative" val="1"/>
              </a:ext>
            </a:extLst>
          </p:cNvPr>
          <p:cNvSpPr/>
          <p:nvPr/>
        </p:nvSpPr>
        <p:spPr>
          <a:xfrm>
            <a:off x="5528096" y="6098796"/>
            <a:ext cx="2705449" cy="574646"/>
          </a:xfrm>
          <a:prstGeom prst="wedgeRoundRectCallout">
            <a:avLst>
              <a:gd name="adj1" fmla="val 829"/>
              <a:gd name="adj2" fmla="val -109034"/>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Needed: Value function estimate</a:t>
            </a:r>
          </a:p>
        </p:txBody>
      </p:sp>
      <p:sp>
        <p:nvSpPr>
          <p:cNvPr id="25" name="Speech Bubble: Rectangle with Corners Rounded 24">
            <a:extLst>
              <a:ext uri="{FF2B5EF4-FFF2-40B4-BE49-F238E27FC236}">
                <a16:creationId xmlns:a16="http://schemas.microsoft.com/office/drawing/2014/main" id="{13861FF8-FD25-6673-0789-B14F8B771B34}"/>
              </a:ext>
              <a:ext uri="{C183D7F6-B498-43B3-948B-1728B52AA6E4}">
                <adec:decorative xmlns:adec="http://schemas.microsoft.com/office/drawing/2017/decorative" val="1"/>
              </a:ext>
            </a:extLst>
          </p:cNvPr>
          <p:cNvSpPr/>
          <p:nvPr/>
        </p:nvSpPr>
        <p:spPr>
          <a:xfrm>
            <a:off x="8384589" y="6098796"/>
            <a:ext cx="2705449" cy="574646"/>
          </a:xfrm>
          <a:prstGeom prst="wedgeRoundRectCallout">
            <a:avLst>
              <a:gd name="adj1" fmla="val -57776"/>
              <a:gd name="adj2" fmla="val -112684"/>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Needed: Policy gradient</a:t>
            </a:r>
          </a:p>
        </p:txBody>
      </p:sp>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FECD22A5-5F40-D497-8630-6E9352F633B8}"/>
                  </a:ext>
                  <a:ext uri="{C183D7F6-B498-43B3-948B-1728B52AA6E4}">
                    <adec:decorative xmlns:adec="http://schemas.microsoft.com/office/drawing/2017/decorative" val="1"/>
                  </a:ext>
                </a:extLst>
              </p:cNvPr>
              <p:cNvSpPr txBox="1"/>
              <p:nvPr/>
            </p:nvSpPr>
            <p:spPr>
              <a:xfrm>
                <a:off x="9669857" y="2467774"/>
                <a:ext cx="2149887" cy="147732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marL="285750" indent="-285750">
                  <a:buFont typeface="Arial" panose="020B0604020202020204" pitchFamily="34" charset="0"/>
                  <a:buChar char="•"/>
                </a:pP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oMath>
                </a14:m>
                <a:r>
                  <a:rPr lang="en-US" dirty="0"/>
                  <a:t> is the expected reward</a:t>
                </a:r>
                <a:endParaRPr lang="en-US"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𝜇</m:t>
                        </m:r>
                      </m:e>
                      <m:sup>
                        <m:r>
                          <a:rPr lang="en-US" i="1">
                            <a:latin typeface="Cambria Math" panose="02040503050406030204" pitchFamily="18" charset="0"/>
                          </a:rPr>
                          <m:t>𝜋</m:t>
                        </m:r>
                      </m:sup>
                    </m:sSup>
                  </m:oMath>
                </a14:m>
                <a:r>
                  <a:rPr lang="en-US" dirty="0"/>
                  <a:t> is the state distribution under policy </a:t>
                </a:r>
                <a14:m>
                  <m:oMath xmlns:m="http://schemas.openxmlformats.org/officeDocument/2006/math">
                    <m:r>
                      <a:rPr lang="en-US" b="0" i="1" smtClean="0">
                        <a:latin typeface="Cambria Math" panose="02040503050406030204" pitchFamily="18" charset="0"/>
                      </a:rPr>
                      <m:t>𝜋</m:t>
                    </m:r>
                  </m:oMath>
                </a14:m>
                <a:endParaRPr lang="en-US" b="0" dirty="0"/>
              </a:p>
            </p:txBody>
          </p:sp>
        </mc:Choice>
        <mc:Fallback>
          <p:sp>
            <p:nvSpPr>
              <p:cNvPr id="26" name="TextBox 25">
                <a:extLst>
                  <a:ext uri="{FF2B5EF4-FFF2-40B4-BE49-F238E27FC236}">
                    <a16:creationId xmlns:a16="http://schemas.microsoft.com/office/drawing/2014/main" id="{FECD22A5-5F40-D497-8630-6E9352F633B8}"/>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9669857" y="2467774"/>
                <a:ext cx="2149887" cy="1477328"/>
              </a:xfrm>
              <a:prstGeom prst="rect">
                <a:avLst/>
              </a:prstGeom>
              <a:blipFill>
                <a:blip r:embed="rId4"/>
                <a:stretch>
                  <a:fillRect l="-1163" t="-840" b="-5042"/>
                </a:stretch>
              </a:blipFill>
            </p:spPr>
            <p:txBody>
              <a:bodyPr/>
              <a:lstStyle/>
              <a:p>
                <a:r>
                  <a:rPr lang="en-US">
                    <a:noFill/>
                  </a:rPr>
                  <a:t> </a:t>
                </a:r>
              </a:p>
            </p:txBody>
          </p:sp>
        </mc:Fallback>
      </mc:AlternateContent>
    </p:spTree>
    <p:extLst>
      <p:ext uri="{BB962C8B-B14F-4D97-AF65-F5344CB8AC3E}">
        <p14:creationId xmlns:p14="http://schemas.microsoft.com/office/powerpoint/2010/main" val="2276875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50240-7BA9-7642-1F93-C6143DD4F992}"/>
              </a:ext>
            </a:extLst>
          </p:cNvPr>
          <p:cNvSpPr>
            <a:spLocks noGrp="1"/>
          </p:cNvSpPr>
          <p:nvPr>
            <p:ph type="title"/>
          </p:nvPr>
        </p:nvSpPr>
        <p:spPr/>
        <p:txBody>
          <a:bodyPr/>
          <a:lstStyle/>
          <a:p>
            <a:r>
              <a:rPr lang="en-US" dirty="0"/>
              <a:t>Policy Gradient</a:t>
            </a:r>
          </a:p>
        </p:txBody>
      </p:sp>
      <mc:AlternateContent xmlns:mc="http://schemas.openxmlformats.org/markup-compatibility/2006" xmlns:a14="http://schemas.microsoft.com/office/drawing/2010/main">
        <mc:Choice Requires="a14">
          <p:sp>
            <p:nvSpPr>
              <p:cNvPr id="8" name="Content Placeholder 7" descr="Following the ideas of REINFORCE. Gradient of a stochastic policy. gradient of sub w v sub pi sub w, (s sub 0) equals E sub s~ mu sub pi sub w,a~ pi sub w, [gradient of sub w (log of pi sub w (s,a)) Q to the power pi sub w, (s,a)]. Gradient of a differentiable deterministic policy. gradient of sub w v sub pi sub w, (s sub 0) equals E sub s~ mu sub pi sub w, [gradient of sub w (pi sub w) gradient of sub a (Q to the power pi sub w, (s,a)) given a equals pi sub w (s)]">
                <a:extLst>
                  <a:ext uri="{FF2B5EF4-FFF2-40B4-BE49-F238E27FC236}">
                    <a16:creationId xmlns:a16="http://schemas.microsoft.com/office/drawing/2014/main" id="{1466E1B6-24E8-6321-946D-84853845B0FE}"/>
                  </a:ext>
                </a:extLst>
              </p:cNvPr>
              <p:cNvSpPr>
                <a:spLocks noGrp="1"/>
              </p:cNvSpPr>
              <p:nvPr>
                <p:ph idx="1"/>
              </p:nvPr>
            </p:nvSpPr>
            <p:spPr>
              <a:xfrm>
                <a:off x="838200" y="1397331"/>
                <a:ext cx="10515600" cy="4021614"/>
              </a:xfrm>
            </p:spPr>
            <p:txBody>
              <a:bodyPr>
                <a:normAutofit fontScale="92500" lnSpcReduction="10000"/>
              </a:bodyPr>
              <a:lstStyle/>
              <a:p>
                <a:r>
                  <a:rPr lang="en-US" dirty="0"/>
                  <a:t>Following the ideas of REINFORCE.</a:t>
                </a:r>
              </a:p>
              <a:p>
                <a:r>
                  <a:rPr lang="en-US" dirty="0"/>
                  <a:t>Gradient of a stochastic policy</a:t>
                </a:r>
              </a:p>
              <a:p>
                <a:endParaRPr lang="en-US" dirty="0">
                  <a:ea typeface="Cambria Math" panose="02040503050406030204" pitchFamily="18" charset="0"/>
                </a:endParaRPr>
              </a:p>
              <a:p>
                <a:pPr marL="0" indent="0">
                  <a:buNone/>
                </a:pPr>
                <a14:m>
                  <m:oMathPara xmlns:m="http://schemas.openxmlformats.org/officeDocument/2006/math">
                    <m:oMathParaPr>
                      <m:jc m:val="center"/>
                    </m:oMathParaPr>
                    <m:oMath>
                      <m:sSub>
                        <m:sSubPr>
                          <m:ctrlPr>
                            <a:rPr lang="en-US" i="0" smtClean="0">
                              <a:latin typeface="Cambria Math" panose="02040503050406030204" pitchFamily="18" charset="0"/>
                              <a:ea typeface="Cambria Math" panose="02040503050406030204" pitchFamily="18" charset="0"/>
                            </a:rPr>
                          </m:ctrlPr>
                        </m:sSubPr>
                        <m:e>
                          <m:r>
                            <m:rPr>
                              <m:sty m:val="p"/>
                            </m:rPr>
                            <a:rPr lang="en-US" i="0"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𝑤</m:t>
                          </m:r>
                        </m:sub>
                      </m:sSub>
                      <m:sSub>
                        <m:sSubPr>
                          <m:ctrlPr>
                            <a:rPr lang="en-US" i="1">
                              <a:latin typeface="Cambria Math" panose="02040503050406030204" pitchFamily="18" charset="0"/>
                            </a:rPr>
                          </m:ctrlPr>
                        </m:sSubPr>
                        <m:e>
                          <m:r>
                            <a:rPr lang="en-US" i="1">
                              <a:latin typeface="Cambria Math" panose="02040503050406030204" pitchFamily="18" charset="0"/>
                            </a:rPr>
                            <m:t>𝑣</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b="0" i="1" smtClean="0">
                                  <a:latin typeface="Cambria Math" panose="02040503050406030204" pitchFamily="18" charset="0"/>
                                </a:rPr>
                                <m:t>𝑤</m:t>
                              </m:r>
                            </m:sub>
                          </m:sSub>
                        </m:sub>
                      </m:sSub>
                      <m:d>
                        <m:dPr>
                          <m:ctrlPr>
                            <a:rPr lang="en-US" b="0"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0</m:t>
                              </m:r>
                            </m:sub>
                          </m:sSub>
                        </m:e>
                      </m:d>
                      <m:r>
                        <a:rPr lang="en-US" b="0" i="1" smtClean="0">
                          <a:latin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𝔼</m:t>
                          </m:r>
                        </m:e>
                        <m:sub>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𝑤</m:t>
                                  </m:r>
                                </m:sub>
                              </m:sSub>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𝑤</m:t>
                              </m:r>
                            </m:sub>
                          </m:sSub>
                        </m:sub>
                      </m:sSub>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i="0">
                                  <a:latin typeface="Cambria Math" panose="02040503050406030204" pitchFamily="18" charset="0"/>
                                  <a:ea typeface="Cambria Math" panose="02040503050406030204" pitchFamily="18" charset="0"/>
                                </a:rPr>
                              </m:ctrlPr>
                            </m:sSubPr>
                            <m:e>
                              <m:r>
                                <m:rPr>
                                  <m:sty m:val="p"/>
                                </m:rPr>
                                <a:rPr lang="en-US" i="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𝑤</m:t>
                              </m:r>
                            </m:sub>
                          </m:sSub>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func>
                                <m:funcPr>
                                  <m:ctrlPr>
                                    <a:rPr lang="en-US" b="0" i="0"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𝑤</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d>
                                </m:e>
                              </m:func>
                            </m:e>
                          </m:d>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𝑄</m:t>
                              </m:r>
                            </m:e>
                            <m: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𝑤</m:t>
                                  </m:r>
                                </m:sub>
                              </m:sSub>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d>
                        </m:e>
                      </m:d>
                    </m:oMath>
                  </m:oMathPara>
                </a14:m>
                <a:endParaRPr lang="en-US" dirty="0">
                  <a:ea typeface="Cambria Math" panose="02040503050406030204" pitchFamily="18" charset="0"/>
                </a:endParaRPr>
              </a:p>
              <a:p>
                <a:pPr marL="0" indent="0">
                  <a:buNone/>
                </a:pPr>
                <a:endParaRPr lang="en-US" dirty="0">
                  <a:ea typeface="Cambria Math" panose="02040503050406030204" pitchFamily="18" charset="0"/>
                </a:endParaRPr>
              </a:p>
              <a:p>
                <a:endParaRPr lang="en-US" dirty="0">
                  <a:ea typeface="Cambria Math" panose="02040503050406030204" pitchFamily="18" charset="0"/>
                </a:endParaRPr>
              </a:p>
              <a:p>
                <a:r>
                  <a:rPr lang="en-US" dirty="0">
                    <a:ea typeface="Cambria Math" panose="02040503050406030204" pitchFamily="18" charset="0"/>
                  </a:rPr>
                  <a:t>Gradient of a differentiable deterministic policy  </a:t>
                </a:r>
              </a:p>
              <a:p>
                <a:endParaRPr lang="en-US" dirty="0">
                  <a:ea typeface="Cambria Math" panose="02040503050406030204" pitchFamily="18" charset="0"/>
                </a:endParaRPr>
              </a:p>
              <a:p>
                <a:pPr marL="0" indent="0">
                  <a:buNone/>
                </a:pPr>
                <a14:m>
                  <m:oMathPara xmlns:m="http://schemas.openxmlformats.org/officeDocument/2006/math">
                    <m:oMath>
                      <m:sSub>
                        <m:sSubPr>
                          <m:ctrlPr>
                            <a:rPr lang="en-US">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𝑤</m:t>
                          </m:r>
                        </m:sub>
                      </m:sSub>
                      <m:sSub>
                        <m:sSubPr>
                          <m:ctrlPr>
                            <a:rPr lang="en-US" i="1">
                              <a:latin typeface="Cambria Math" panose="02040503050406030204" pitchFamily="18" charset="0"/>
                            </a:rPr>
                          </m:ctrlPr>
                        </m:sSubPr>
                        <m:e>
                          <m:r>
                            <a:rPr lang="en-US" i="1">
                              <a:latin typeface="Cambria Math" panose="02040503050406030204" pitchFamily="18" charset="0"/>
                            </a:rPr>
                            <m:t>𝑣</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𝑤</m:t>
                              </m:r>
                            </m:sub>
                          </m:sSub>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0</m:t>
                              </m:r>
                            </m:sub>
                          </m:sSub>
                        </m:e>
                      </m:d>
                      <m: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𝑤</m:t>
                                  </m:r>
                                </m:sub>
                              </m:sSub>
                            </m:sub>
                          </m:sSub>
                          <m:r>
                            <a:rPr lang="en-US" i="1" smtClean="0">
                              <a:latin typeface="Cambria Math" panose="02040503050406030204" pitchFamily="18" charset="0"/>
                              <a:ea typeface="Cambria Math" panose="02040503050406030204" pitchFamily="18" charset="0"/>
                            </a:rPr>
                            <m:t> </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sSub>
                                <m:sSubPr>
                                  <m:ctrlPr>
                                    <a:rPr lang="en-US">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𝑤</m:t>
                                  </m:r>
                                </m:sub>
                              </m:sSub>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𝑤</m:t>
                                      </m:r>
                                    </m:sub>
                                  </m:sSub>
                                </m:e>
                              </m:d>
                              <m:r>
                                <a:rPr lang="en-US" b="0" i="1" smtClean="0">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𝑎</m:t>
                              </m:r>
                            </m:sub>
                          </m:sSub>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𝑄</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𝑤</m:t>
                                  </m:r>
                                </m:sub>
                              </m:sSub>
                            </m:sup>
                          </m:s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e>
                          </m:d>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𝑤</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e>
                      </m:d>
                    </m:oMath>
                  </m:oMathPara>
                </a14:m>
                <a:endParaRPr lang="en-US" dirty="0"/>
              </a:p>
            </p:txBody>
          </p:sp>
        </mc:Choice>
        <mc:Fallback xmlns="">
          <p:sp>
            <p:nvSpPr>
              <p:cNvPr id="8" name="Content Placeholder 7" descr="Following the ideas of REINFORCE. Gradient of a stochastic policy. gradient of sub w v sub pi sub w, (s sub 0) equals E sub s~ mu sub pi sub w,a~ pi sub w, [gradient of sub w (log of pi sub w (s,a)) Q to the power pi sub w, (s,a)]. Gradient of a differentiable deterministic policy. gradient of sub w v sub pi sub w, (s sub 0) equals E sub s~ mu sub pi sub w, [gradient of sub w (pi sub w) gradient of sub a (Q to the power pi sub w, (s,a)) given a equals pi sub w (s)]">
                <a:extLst>
                  <a:ext uri="{FF2B5EF4-FFF2-40B4-BE49-F238E27FC236}">
                    <a16:creationId xmlns:a16="http://schemas.microsoft.com/office/drawing/2014/main" id="{1466E1B6-24E8-6321-946D-84853845B0FE}"/>
                  </a:ext>
                </a:extLst>
              </p:cNvPr>
              <p:cNvSpPr>
                <a:spLocks noGrp="1" noRot="1" noChangeAspect="1" noMove="1" noResize="1" noEditPoints="1" noAdjustHandles="1" noChangeArrowheads="1" noChangeShapeType="1" noTextEdit="1"/>
              </p:cNvSpPr>
              <p:nvPr>
                <p:ph idx="1"/>
              </p:nvPr>
            </p:nvSpPr>
            <p:spPr>
              <a:xfrm>
                <a:off x="838200" y="1397331"/>
                <a:ext cx="10515600" cy="4021614"/>
              </a:xfrm>
              <a:blipFill>
                <a:blip r:embed="rId2"/>
                <a:stretch>
                  <a:fillRect l="-928" t="-3030"/>
                </a:stretch>
              </a:blipFill>
            </p:spPr>
            <p:txBody>
              <a:bodyPr/>
              <a:lstStyle/>
              <a:p>
                <a:r>
                  <a:rPr lang="en-US">
                    <a:noFill/>
                  </a:rPr>
                  <a:t> </a:t>
                </a:r>
              </a:p>
            </p:txBody>
          </p:sp>
        </mc:Fallback>
      </mc:AlternateContent>
      <p:sp>
        <p:nvSpPr>
          <p:cNvPr id="12" name="Speech Bubble: Rectangle with Corners Rounded 11">
            <a:extLst>
              <a:ext uri="{FF2B5EF4-FFF2-40B4-BE49-F238E27FC236}">
                <a16:creationId xmlns:a16="http://schemas.microsoft.com/office/drawing/2014/main" id="{67A4CE81-DDBA-44FC-8527-846777D3CE97}"/>
              </a:ext>
              <a:ext uri="{C183D7F6-B498-43B3-948B-1728B52AA6E4}">
                <adec:decorative xmlns:adec="http://schemas.microsoft.com/office/drawing/2017/decorative" val="1"/>
              </a:ext>
            </a:extLst>
          </p:cNvPr>
          <p:cNvSpPr/>
          <p:nvPr/>
        </p:nvSpPr>
        <p:spPr>
          <a:xfrm>
            <a:off x="5868649" y="5673777"/>
            <a:ext cx="2121108" cy="667062"/>
          </a:xfrm>
          <a:prstGeom prst="wedgeRoundRectCallout">
            <a:avLst>
              <a:gd name="adj1" fmla="val -17653"/>
              <a:gd name="adj2" fmla="val -11390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Also requires this gradient!</a:t>
            </a:r>
          </a:p>
        </p:txBody>
      </p:sp>
      <p:sp>
        <p:nvSpPr>
          <p:cNvPr id="13" name="Speech Bubble: Rectangle with Corners Rounded 12">
            <a:extLst>
              <a:ext uri="{FF2B5EF4-FFF2-40B4-BE49-F238E27FC236}">
                <a16:creationId xmlns:a16="http://schemas.microsoft.com/office/drawing/2014/main" id="{97703D44-BC96-F918-65BE-C2CB45056AF4}"/>
              </a:ext>
              <a:ext uri="{C183D7F6-B498-43B3-948B-1728B52AA6E4}">
                <adec:decorative xmlns:adec="http://schemas.microsoft.com/office/drawing/2017/decorative" val="1"/>
              </a:ext>
            </a:extLst>
          </p:cNvPr>
          <p:cNvSpPr/>
          <p:nvPr/>
        </p:nvSpPr>
        <p:spPr>
          <a:xfrm>
            <a:off x="3896193" y="3247869"/>
            <a:ext cx="4399613" cy="667062"/>
          </a:xfrm>
          <a:prstGeom prst="wedgeRoundRectCallout">
            <a:avLst>
              <a:gd name="adj1" fmla="val -24013"/>
              <a:gd name="adj2" fmla="val -6783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Sample state from the on-policy distribution and action from the policy</a:t>
            </a:r>
          </a:p>
        </p:txBody>
      </p:sp>
      <p:sp>
        <p:nvSpPr>
          <p:cNvPr id="14" name="Speech Bubble: Rectangle with Corners Rounded 13">
            <a:extLst>
              <a:ext uri="{FF2B5EF4-FFF2-40B4-BE49-F238E27FC236}">
                <a16:creationId xmlns:a16="http://schemas.microsoft.com/office/drawing/2014/main" id="{D48A573E-50A2-B4E7-A1E9-437EB77764C7}"/>
              </a:ext>
              <a:ext uri="{C183D7F6-B498-43B3-948B-1728B52AA6E4}">
                <adec:decorative xmlns:adec="http://schemas.microsoft.com/office/drawing/2017/decorative" val="1"/>
              </a:ext>
            </a:extLst>
          </p:cNvPr>
          <p:cNvSpPr/>
          <p:nvPr/>
        </p:nvSpPr>
        <p:spPr>
          <a:xfrm>
            <a:off x="8170889" y="1743855"/>
            <a:ext cx="2104870" cy="667062"/>
          </a:xfrm>
          <a:prstGeom prst="wedgeRoundRectCallout">
            <a:avLst>
              <a:gd name="adj1" fmla="val -21164"/>
              <a:gd name="adj2" fmla="val 7823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Needs a value function estimate</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6EA3526-E926-7E48-B6E5-B8BDA4021C8C}"/>
                  </a:ext>
                  <a:ext uri="{C183D7F6-B498-43B3-948B-1728B52AA6E4}">
                    <adec:decorative xmlns:adec="http://schemas.microsoft.com/office/drawing/2017/decorative" val="1"/>
                  </a:ext>
                </a:extLst>
              </p:cNvPr>
              <p:cNvSpPr txBox="1"/>
              <p:nvPr/>
            </p:nvSpPr>
            <p:spPr>
              <a:xfrm>
                <a:off x="8451908" y="180460"/>
                <a:ext cx="337140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Notation: </a:t>
                </a:r>
                <a14:m>
                  <m:oMath xmlns:m="http://schemas.openxmlformats.org/officeDocument/2006/math">
                    <m:r>
                      <a:rPr lang="en-US" b="0" i="1" smtClean="0">
                        <a:latin typeface="Cambria Math" panose="02040503050406030204" pitchFamily="18" charset="0"/>
                      </a:rPr>
                      <m:t>𝜃</m:t>
                    </m:r>
                  </m:oMath>
                </a14:m>
                <a:r>
                  <a:rPr lang="en-US" dirty="0"/>
                  <a:t> and </a:t>
                </a:r>
                <a14:m>
                  <m:oMath xmlns:m="http://schemas.openxmlformats.org/officeDocument/2006/math">
                    <m:r>
                      <a:rPr lang="en-US" i="1" dirty="0" smtClean="0">
                        <a:latin typeface="Cambria Math" panose="02040503050406030204" pitchFamily="18" charset="0"/>
                      </a:rPr>
                      <m:t>𝑤</m:t>
                    </m:r>
                  </m:oMath>
                </a14:m>
                <a:r>
                  <a:rPr lang="en-US" dirty="0"/>
                  <a:t> are often used interchangeably!</a:t>
                </a:r>
              </a:p>
            </p:txBody>
          </p:sp>
        </mc:Choice>
        <mc:Fallback>
          <p:sp>
            <p:nvSpPr>
              <p:cNvPr id="4" name="TextBox 3">
                <a:extLst>
                  <a:ext uri="{FF2B5EF4-FFF2-40B4-BE49-F238E27FC236}">
                    <a16:creationId xmlns:a16="http://schemas.microsoft.com/office/drawing/2014/main" id="{06EA3526-E926-7E48-B6E5-B8BDA4021C8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8451908" y="180460"/>
                <a:ext cx="3371402" cy="646331"/>
              </a:xfrm>
              <a:prstGeom prst="rect">
                <a:avLst/>
              </a:prstGeom>
              <a:blipFill>
                <a:blip r:embed="rId3"/>
                <a:stretch>
                  <a:fillRect t="-1852" b="-9259"/>
                </a:stretch>
              </a:blipFill>
            </p:spPr>
            <p:txBody>
              <a:bodyPr/>
              <a:lstStyle/>
              <a:p>
                <a:r>
                  <a:rPr lang="en-US">
                    <a:noFill/>
                  </a:rPr>
                  <a:t> </a:t>
                </a:r>
              </a:p>
            </p:txBody>
          </p:sp>
        </mc:Fallback>
      </mc:AlternateContent>
    </p:spTree>
    <p:extLst>
      <p:ext uri="{BB962C8B-B14F-4D97-AF65-F5344CB8AC3E}">
        <p14:creationId xmlns:p14="http://schemas.microsoft.com/office/powerpoint/2010/main" val="127318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5DEE8-3A5A-1680-25D9-56A4677DFF93}"/>
              </a:ext>
            </a:extLst>
          </p:cNvPr>
          <p:cNvSpPr>
            <a:spLocks noGrp="1"/>
          </p:cNvSpPr>
          <p:nvPr>
            <p:ph type="title"/>
          </p:nvPr>
        </p:nvSpPr>
        <p:spPr/>
        <p:txBody>
          <a:bodyPr/>
          <a:lstStyle/>
          <a:p>
            <a:r>
              <a:rPr lang="en-US" dirty="0"/>
              <a:t>Remember: The Policy Gradient Update Signal</a:t>
            </a:r>
          </a:p>
        </p:txBody>
      </p:sp>
      <mc:AlternateContent xmlns:mc="http://schemas.openxmlformats.org/markup-compatibility/2006" xmlns:a14="http://schemas.microsoft.com/office/drawing/2010/main">
        <mc:Choice Requires="a14">
          <p:sp>
            <p:nvSpPr>
              <p:cNvPr id="3" name="Content Placeholder 2" descr="True policy gradient gradient of J (theta) equals E sub pi [q sub pi (s,a) gradient of log of pi (a given s)]. The update can use any signal X gradient of J (theta) is proportional to E sub pi [X gradient of log of pi (a given s)] as long as E sub pi [X given s,a] is proportional to q sub pi (s,a), i.e., if it tells us how good an action is. Examples of valid signals:. MC (REINFORCE): X equals G sub t. Advantage function: X equals A(s,a) equals q(s,a) minus v(s). TD error: X equals delta sub t equals R sub t plus 1, plus gamma v (S sub t plus 1) minus v(S sub t)">
                <a:extLst>
                  <a:ext uri="{FF2B5EF4-FFF2-40B4-BE49-F238E27FC236}">
                    <a16:creationId xmlns:a16="http://schemas.microsoft.com/office/drawing/2014/main" id="{B72662DD-E598-030D-12ED-27652D3DF7F1}"/>
                  </a:ext>
                </a:extLst>
              </p:cNvPr>
              <p:cNvSpPr>
                <a:spLocks noGrp="1"/>
              </p:cNvSpPr>
              <p:nvPr>
                <p:ph idx="1"/>
              </p:nvPr>
            </p:nvSpPr>
            <p:spPr/>
            <p:txBody>
              <a:bodyPr>
                <a:normAutofit fontScale="92500" lnSpcReduction="20000"/>
              </a:bodyPr>
              <a:lstStyle/>
              <a:p>
                <a:r>
                  <a:rPr lang="en-US" dirty="0"/>
                  <a:t>True policy gradient</a:t>
                </a:r>
                <a:br>
                  <a:rPr lang="en-US" dirty="0"/>
                </a:br>
                <a:br>
                  <a:rPr lang="en-US" dirty="0"/>
                </a:br>
                <a14:m>
                  <m:oMath xmlns:m="http://schemas.openxmlformats.org/officeDocument/2006/math">
                    <m:r>
                      <m:rPr>
                        <m:sty m:val="p"/>
                      </m:rP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𝐽</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𝜽</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i="1">
                                <a:latin typeface="Cambria Math" panose="02040503050406030204" pitchFamily="18" charset="0"/>
                                <a:ea typeface="Cambria Math" panose="02040503050406030204" pitchFamily="18" charset="0"/>
                              </a:rPr>
                              <m:t>𝜋</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e>
                        </m:d>
                        <m:r>
                          <a:rPr lang="en-US" b="0" i="1" smtClean="0">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m:t>
                        </m:r>
                        <m:func>
                          <m:funcPr>
                            <m:ctrlPr>
                              <a:rPr lang="en-US">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e>
                        </m:func>
                      </m:e>
                    </m:d>
                  </m:oMath>
                </a14:m>
                <a:endParaRPr lang="en-US" i="1" dirty="0">
                  <a:latin typeface="Cambria Math" panose="02040503050406030204" pitchFamily="18" charset="0"/>
                  <a:ea typeface="Cambria Math" panose="02040503050406030204" pitchFamily="18" charset="0"/>
                </a:endParaRPr>
              </a:p>
              <a:p>
                <a:endParaRPr lang="en-US" i="1" dirty="0">
                  <a:latin typeface="Cambria Math" panose="02040503050406030204" pitchFamily="18" charset="0"/>
                  <a:ea typeface="Cambria Math" panose="02040503050406030204" pitchFamily="18" charset="0"/>
                </a:endParaRPr>
              </a:p>
              <a:p>
                <a:r>
                  <a:rPr lang="en-US" dirty="0"/>
                  <a:t>The update can use any signal </a:t>
                </a:r>
                <a14:m>
                  <m:oMath xmlns:m="http://schemas.openxmlformats.org/officeDocument/2006/math">
                    <m:r>
                      <a:rPr lang="en-US" i="1" dirty="0" smtClean="0">
                        <a:latin typeface="Cambria Math" panose="02040503050406030204" pitchFamily="18" charset="0"/>
                      </a:rPr>
                      <m:t>𝑋</m:t>
                    </m:r>
                  </m:oMath>
                </a14:m>
                <a:br>
                  <a:rPr lang="en-US" dirty="0"/>
                </a:br>
                <a:br>
                  <a:rPr lang="en-US" dirty="0"/>
                </a:br>
                <a14:m>
                  <m:oMath xmlns:m="http://schemas.openxmlformats.org/officeDocument/2006/math">
                    <m:r>
                      <m:rPr>
                        <m:sty m:val="p"/>
                      </m:rP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𝐽</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𝜽</m:t>
                        </m:r>
                      </m:e>
                    </m:d>
                    <m:r>
                      <m:rPr>
                        <m:aln/>
                      </m:rP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m:t>
                        </m:r>
                        <m:func>
                          <m:funcPr>
                            <m:ctrlPr>
                              <a:rPr lang="en-US">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e>
                        </m:func>
                      </m:e>
                    </m:d>
                  </m:oMath>
                </a14:m>
                <a:br>
                  <a:rPr lang="en-US" i="1" dirty="0">
                    <a:latin typeface="Cambria Math" panose="02040503050406030204" pitchFamily="18" charset="0"/>
                    <a:ea typeface="Cambria Math" panose="02040503050406030204" pitchFamily="18" charset="0"/>
                  </a:rPr>
                </a:br>
                <a:br>
                  <a:rPr lang="en-US" i="1" dirty="0">
                    <a:latin typeface="Cambria Math" panose="02040503050406030204" pitchFamily="18" charset="0"/>
                    <a:ea typeface="Cambria Math" panose="02040503050406030204" pitchFamily="18" charset="0"/>
                  </a:rPr>
                </a:br>
                <a:r>
                  <a:rPr lang="en-US" dirty="0"/>
                  <a:t>as long as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𝑋</m:t>
                        </m:r>
                      </m:e>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d>
                    <m:r>
                      <m:rPr>
                        <m:aln/>
                      </m:rP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𝑞</m:t>
                        </m:r>
                      </m:e>
                      <m:sub>
                        <m:r>
                          <a:rPr lang="en-US" b="0" i="1" smtClean="0">
                            <a:latin typeface="Cambria Math" panose="02040503050406030204" pitchFamily="18" charset="0"/>
                            <a:ea typeface="Cambria Math" panose="02040503050406030204" pitchFamily="18" charset="0"/>
                          </a:rPr>
                          <m:t>𝜋</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d>
                  </m:oMath>
                </a14:m>
                <a:r>
                  <a:rPr lang="en-US" dirty="0"/>
                  <a:t>, i.e., if it tells us how good an action is.</a:t>
                </a:r>
              </a:p>
              <a:p>
                <a:endParaRPr lang="en-US" i="1" dirty="0">
                  <a:latin typeface="Cambria Math" panose="02040503050406030204" pitchFamily="18" charset="0"/>
                  <a:ea typeface="Cambria Math" panose="02040503050406030204" pitchFamily="18" charset="0"/>
                </a:endParaRPr>
              </a:p>
              <a:p>
                <a:r>
                  <a:rPr lang="en-US" dirty="0"/>
                  <a:t>Examples of valid signals:</a:t>
                </a:r>
              </a:p>
              <a:p>
                <a:pPr lvl="1"/>
                <a:r>
                  <a:rPr lang="en-US" dirty="0"/>
                  <a:t>MC (REINFORCE):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oMath>
                </a14:m>
                <a:endParaRPr lang="en-US" dirty="0"/>
              </a:p>
              <a:p>
                <a:pPr lvl="1"/>
                <a:r>
                  <a:rPr lang="en-US" dirty="0"/>
                  <a:t>Advantage function: </a:t>
                </a:r>
                <a14:m>
                  <m:oMath xmlns:m="http://schemas.openxmlformats.org/officeDocument/2006/math">
                    <m:r>
                      <a:rPr lang="pt-BR" i="1" dirty="0" smtClean="0">
                        <a:latin typeface="Cambria Math" panose="02040503050406030204" pitchFamily="18" charset="0"/>
                      </a:rPr>
                      <m:t>𝑋</m:t>
                    </m:r>
                    <m:r>
                      <a:rPr lang="pt-BR" i="1" dirty="0" smtClean="0">
                        <a:latin typeface="Cambria Math" panose="02040503050406030204" pitchFamily="18" charset="0"/>
                      </a:rPr>
                      <m:t>=</m:t>
                    </m:r>
                    <m:r>
                      <a:rPr lang="pt-BR" i="1" dirty="0" smtClean="0">
                        <a:latin typeface="Cambria Math" panose="02040503050406030204" pitchFamily="18" charset="0"/>
                      </a:rPr>
                      <m:t>𝐴</m:t>
                    </m:r>
                    <m:r>
                      <a:rPr lang="pt-BR" i="1" dirty="0" smtClean="0">
                        <a:latin typeface="Cambria Math" panose="02040503050406030204" pitchFamily="18" charset="0"/>
                      </a:rPr>
                      <m:t>(</m:t>
                    </m:r>
                    <m:r>
                      <a:rPr lang="pt-BR" i="1" dirty="0" smtClean="0">
                        <a:latin typeface="Cambria Math" panose="02040503050406030204" pitchFamily="18" charset="0"/>
                      </a:rPr>
                      <m:t>𝑠</m:t>
                    </m:r>
                    <m:r>
                      <a:rPr lang="pt-BR" i="1" dirty="0" smtClean="0">
                        <a:latin typeface="Cambria Math" panose="02040503050406030204" pitchFamily="18" charset="0"/>
                      </a:rPr>
                      <m:t>,</m:t>
                    </m:r>
                    <m:r>
                      <a:rPr lang="pt-BR" i="1" dirty="0" smtClean="0">
                        <a:latin typeface="Cambria Math" panose="02040503050406030204" pitchFamily="18" charset="0"/>
                      </a:rPr>
                      <m:t>𝑎</m:t>
                    </m:r>
                    <m:r>
                      <a:rPr lang="pt-BR" i="1" dirty="0" smtClean="0">
                        <a:latin typeface="Cambria Math" panose="02040503050406030204" pitchFamily="18" charset="0"/>
                      </a:rPr>
                      <m:t>)=</m:t>
                    </m:r>
                    <m:r>
                      <a:rPr lang="en-US" b="0" i="1" dirty="0" smtClean="0">
                        <a:latin typeface="Cambria Math" panose="02040503050406030204" pitchFamily="18" charset="0"/>
                      </a:rPr>
                      <m:t>𝑞</m:t>
                    </m:r>
                    <m:r>
                      <a:rPr lang="pt-BR" i="1" dirty="0" smtClean="0">
                        <a:latin typeface="Cambria Math" panose="02040503050406030204" pitchFamily="18" charset="0"/>
                      </a:rPr>
                      <m:t>(</m:t>
                    </m:r>
                    <m:r>
                      <a:rPr lang="pt-BR" i="1" dirty="0" smtClean="0">
                        <a:latin typeface="Cambria Math" panose="02040503050406030204" pitchFamily="18" charset="0"/>
                      </a:rPr>
                      <m:t>𝑠</m:t>
                    </m:r>
                    <m:r>
                      <a:rPr lang="pt-BR" i="1" dirty="0" smtClean="0">
                        <a:latin typeface="Cambria Math" panose="02040503050406030204" pitchFamily="18" charset="0"/>
                      </a:rPr>
                      <m:t>,</m:t>
                    </m:r>
                    <m:r>
                      <a:rPr lang="pt-BR" i="1" dirty="0" smtClean="0">
                        <a:latin typeface="Cambria Math" panose="02040503050406030204" pitchFamily="18" charset="0"/>
                      </a:rPr>
                      <m:t>𝑎</m:t>
                    </m:r>
                    <m:r>
                      <a:rPr lang="pt-BR" i="1" dirty="0" smtClean="0">
                        <a:latin typeface="Cambria Math" panose="02040503050406030204" pitchFamily="18" charset="0"/>
                      </a:rPr>
                      <m:t>)−</m:t>
                    </m:r>
                    <m:r>
                      <a:rPr lang="en-US" b="0" i="1" dirty="0" smtClean="0">
                        <a:latin typeface="Cambria Math" panose="02040503050406030204" pitchFamily="18" charset="0"/>
                      </a:rPr>
                      <m:t>𝑣</m:t>
                    </m:r>
                    <m:r>
                      <a:rPr lang="pt-BR" i="1" dirty="0" smtClean="0">
                        <a:latin typeface="Cambria Math" panose="02040503050406030204" pitchFamily="18" charset="0"/>
                      </a:rPr>
                      <m:t>(</m:t>
                    </m:r>
                    <m:r>
                      <a:rPr lang="pt-BR" i="1" dirty="0" smtClean="0">
                        <a:latin typeface="Cambria Math" panose="02040503050406030204" pitchFamily="18" charset="0"/>
                      </a:rPr>
                      <m:t>𝑠</m:t>
                    </m:r>
                    <m:r>
                      <a:rPr lang="pt-BR" i="1" dirty="0" smtClean="0">
                        <a:latin typeface="Cambria Math" panose="02040503050406030204" pitchFamily="18" charset="0"/>
                      </a:rPr>
                      <m:t>)</m:t>
                    </m:r>
                  </m:oMath>
                </a14:m>
                <a:endParaRPr lang="en-US" dirty="0"/>
              </a:p>
              <a:p>
                <a:pPr lvl="1"/>
                <a:r>
                  <a:rPr lang="en-US" dirty="0"/>
                  <a:t>TD error: </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𝑋</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𝛾</m:t>
                    </m:r>
                    <m:r>
                      <a:rPr lang="en-US" i="1">
                        <a:latin typeface="Cambria Math" panose="02040503050406030204" pitchFamily="18" charset="0"/>
                      </a:rPr>
                      <m:t>𝑣</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+1</m:t>
                            </m:r>
                          </m:sub>
                        </m:sSub>
                      </m:e>
                    </m:d>
                    <m:r>
                      <a:rPr lang="en-US" i="1">
                        <a:latin typeface="Cambria Math" panose="02040503050406030204" pitchFamily="18" charset="0"/>
                      </a:rPr>
                      <m:t>−</m:t>
                    </m:r>
                    <m:r>
                      <a:rPr lang="en-US" i="1">
                        <a:latin typeface="Cambria Math" panose="02040503050406030204" pitchFamily="18" charset="0"/>
                      </a:rPr>
                      <m:t>𝑣</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oMath>
                </a14:m>
                <a:endParaRPr lang="en-US" dirty="0"/>
              </a:p>
              <a:p>
                <a:endParaRPr lang="en-US" dirty="0"/>
              </a:p>
              <a:p>
                <a:endParaRPr lang="en-US" dirty="0"/>
              </a:p>
            </p:txBody>
          </p:sp>
        </mc:Choice>
        <mc:Fallback xmlns="">
          <p:sp>
            <p:nvSpPr>
              <p:cNvPr id="3" name="Content Placeholder 2" descr="True policy gradient gradient of J (theta) equals E sub pi [q sub pi (s,a) gradient of log of pi (a given s)]. The update can use any signal X gradient of J (theta) is proportional to E sub pi [X gradient of log of pi (a given s)] as long as E sub pi [X given s,a] is proportional to q sub pi (s,a), i.e., if it tells us how good an action is. Examples of valid signals:. MC (REINFORCE): X equals G sub t. Advantage function: X equals A(s,a) equals q(s,a) minus v(s). TD error: X equals delta sub t equals R sub t plus 1, plus gamma v (S sub t plus 1) minus v(S sub t)">
                <a:extLst>
                  <a:ext uri="{FF2B5EF4-FFF2-40B4-BE49-F238E27FC236}">
                    <a16:creationId xmlns:a16="http://schemas.microsoft.com/office/drawing/2014/main" id="{B72662DD-E598-030D-12ED-27652D3DF7F1}"/>
                  </a:ext>
                </a:extLst>
              </p:cNvPr>
              <p:cNvSpPr>
                <a:spLocks noGrp="1" noRot="1" noChangeAspect="1" noMove="1" noResize="1" noEditPoints="1" noAdjustHandles="1" noChangeArrowheads="1" noChangeShapeType="1" noTextEdit="1"/>
              </p:cNvSpPr>
              <p:nvPr>
                <p:ph idx="1"/>
              </p:nvPr>
            </p:nvSpPr>
            <p:spPr>
              <a:blipFill>
                <a:blip r:embed="rId2"/>
                <a:stretch>
                  <a:fillRect l="-928" t="-31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Speech Bubble: Rectangle with Corners Rounded 3" descr="Advantage: Measures how much better a is compared with the current action in pi (s)">
                <a:extLst>
                  <a:ext uri="{FF2B5EF4-FFF2-40B4-BE49-F238E27FC236}">
                    <a16:creationId xmlns:a16="http://schemas.microsoft.com/office/drawing/2014/main" id="{4DDDB97C-A0EC-DBE3-8245-FF3B04A2682A}"/>
                  </a:ext>
                </a:extLst>
              </p:cNvPr>
              <p:cNvSpPr/>
              <p:nvPr/>
            </p:nvSpPr>
            <p:spPr>
              <a:xfrm>
                <a:off x="9613783" y="4655890"/>
                <a:ext cx="2369890" cy="935372"/>
              </a:xfrm>
              <a:prstGeom prst="wedgeRoundRectCallout">
                <a:avLst>
                  <a:gd name="adj1" fmla="val -134651"/>
                  <a:gd name="adj2" fmla="val 3200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Advantage: Measures how much better </a:t>
                </a:r>
                <a14:m>
                  <m:oMath xmlns:m="http://schemas.openxmlformats.org/officeDocument/2006/math">
                    <m:r>
                      <a:rPr lang="en-US" sz="1400" i="1" dirty="0" smtClean="0">
                        <a:latin typeface="Cambria Math" panose="02040503050406030204" pitchFamily="18" charset="0"/>
                      </a:rPr>
                      <m:t>𝑎</m:t>
                    </m:r>
                  </m:oMath>
                </a14:m>
                <a:r>
                  <a:rPr lang="en-US" sz="1400" dirty="0"/>
                  <a:t> is compared with the current action in </a:t>
                </a:r>
                <a14:m>
                  <m:oMath xmlns:m="http://schemas.openxmlformats.org/officeDocument/2006/math">
                    <m:r>
                      <a:rPr lang="en-US" sz="1400" b="0" i="1" smtClean="0">
                        <a:latin typeface="Cambria Math" panose="02040503050406030204" pitchFamily="18" charset="0"/>
                      </a:rPr>
                      <m:t>𝜋</m:t>
                    </m:r>
                    <m:r>
                      <a:rPr lang="en-US" sz="1400" b="0" i="1" smtClean="0">
                        <a:latin typeface="Cambria Math" panose="02040503050406030204" pitchFamily="18" charset="0"/>
                      </a:rPr>
                      <m:t>(</m:t>
                    </m:r>
                    <m:r>
                      <a:rPr lang="en-US" sz="1400" b="0" i="1" smtClean="0">
                        <a:latin typeface="Cambria Math" panose="02040503050406030204" pitchFamily="18" charset="0"/>
                      </a:rPr>
                      <m:t>𝑠</m:t>
                    </m:r>
                    <m:r>
                      <a:rPr lang="en-US" sz="1400" b="0" i="1" smtClean="0">
                        <a:latin typeface="Cambria Math" panose="02040503050406030204" pitchFamily="18" charset="0"/>
                      </a:rPr>
                      <m:t>)</m:t>
                    </m:r>
                  </m:oMath>
                </a14:m>
                <a:r>
                  <a:rPr lang="en-US" sz="1400" dirty="0"/>
                  <a:t>.</a:t>
                </a:r>
              </a:p>
            </p:txBody>
          </p:sp>
        </mc:Choice>
        <mc:Fallback xmlns="">
          <p:sp>
            <p:nvSpPr>
              <p:cNvPr id="4" name="Speech Bubble: Rectangle with Corners Rounded 3" descr="Advantage: Measures how much better a is compared with the current action in pi (s)">
                <a:extLst>
                  <a:ext uri="{FF2B5EF4-FFF2-40B4-BE49-F238E27FC236}">
                    <a16:creationId xmlns:a16="http://schemas.microsoft.com/office/drawing/2014/main" id="{4DDDB97C-A0EC-DBE3-8245-FF3B04A2682A}"/>
                  </a:ext>
                </a:extLst>
              </p:cNvPr>
              <p:cNvSpPr>
                <a:spLocks noRot="1" noChangeAspect="1" noMove="1" noResize="1" noEditPoints="1" noAdjustHandles="1" noChangeArrowheads="1" noChangeShapeType="1" noTextEdit="1"/>
              </p:cNvSpPr>
              <p:nvPr/>
            </p:nvSpPr>
            <p:spPr>
              <a:xfrm>
                <a:off x="9613783" y="4655890"/>
                <a:ext cx="2369890" cy="935372"/>
              </a:xfrm>
              <a:prstGeom prst="wedgeRoundRectCallout">
                <a:avLst>
                  <a:gd name="adj1" fmla="val -134651"/>
                  <a:gd name="adj2" fmla="val 32007"/>
                  <a:gd name="adj3" fmla="val 16667"/>
                </a:avLst>
              </a:prstGeom>
              <a:blipFill>
                <a:blip r:embed="rId3"/>
                <a:stretch>
                  <a:fillRect t="-1282" b="-5769"/>
                </a:stretch>
              </a:blipFill>
            </p:spPr>
            <p:txBody>
              <a:bodyPr/>
              <a:lstStyle/>
              <a:p>
                <a:r>
                  <a:rPr lang="en-US">
                    <a:noFill/>
                  </a:rPr>
                  <a:t> </a:t>
                </a:r>
              </a:p>
            </p:txBody>
          </p:sp>
        </mc:Fallback>
      </mc:AlternateContent>
    </p:spTree>
    <p:extLst>
      <p:ext uri="{BB962C8B-B14F-4D97-AF65-F5344CB8AC3E}">
        <p14:creationId xmlns:p14="http://schemas.microsoft.com/office/powerpoint/2010/main" val="1108715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03CD8-DFE9-4B6E-0E58-23708485BBE5}"/>
              </a:ext>
            </a:extLst>
          </p:cNvPr>
          <p:cNvSpPr>
            <a:spLocks noGrp="1"/>
          </p:cNvSpPr>
          <p:nvPr>
            <p:ph type="title"/>
          </p:nvPr>
        </p:nvSpPr>
        <p:spPr/>
        <p:txBody>
          <a:bodyPr/>
          <a:lstStyle/>
          <a:p>
            <a:r>
              <a:rPr lang="en-US" dirty="0"/>
              <a:t>Neural Actor-Critic Method</a:t>
            </a:r>
          </a:p>
        </p:txBody>
      </p:sp>
      <p:sp>
        <p:nvSpPr>
          <p:cNvPr id="17" name="Content Placeholder 16">
            <a:extLst>
              <a:ext uri="{FF2B5EF4-FFF2-40B4-BE49-F238E27FC236}">
                <a16:creationId xmlns:a16="http://schemas.microsoft.com/office/drawing/2014/main" id="{1BEC5BA6-C4ED-6B21-2C2F-53E8C37311ED}"/>
              </a:ext>
            </a:extLst>
          </p:cNvPr>
          <p:cNvSpPr>
            <a:spLocks noGrp="1"/>
          </p:cNvSpPr>
          <p:nvPr>
            <p:ph idx="1"/>
          </p:nvPr>
        </p:nvSpPr>
        <p:spPr>
          <a:xfrm>
            <a:off x="838200" y="1168011"/>
            <a:ext cx="10515600" cy="638209"/>
          </a:xfrm>
        </p:spPr>
        <p:txBody>
          <a:bodyPr>
            <a:normAutofit/>
          </a:bodyPr>
          <a:lstStyle/>
          <a:p>
            <a:pPr marL="0" indent="0">
              <a:buNone/>
            </a:pPr>
            <a:r>
              <a:rPr lang="en-US" dirty="0"/>
              <a:t>Use a value network and a policy network for </a:t>
            </a:r>
            <a:r>
              <a:rPr lang="en-US" b="1" dirty="0"/>
              <a:t>on-policy</a:t>
            </a:r>
            <a:r>
              <a:rPr lang="en-US" dirty="0"/>
              <a:t> control.</a:t>
            </a:r>
          </a:p>
        </p:txBody>
      </p:sp>
      <p:grpSp>
        <p:nvGrpSpPr>
          <p:cNvPr id="3" name="Group 2" descr="Actor–critic architecture: the environment sends states, or stimuli, x_1 to x_n to both the critic and the actor, and a reward to the critic. The critic maps the states to a value V and computes the TD error delta, which is sent to both the critic and the actor as the learning signal. The actor maps the states to actions A_1 to A_k, which are sent back to the environment. Labels: Section 15.7 in Sutton and Barto (2018); Observations:; w; theta; Hidden layers.">
            <a:extLst>
              <a:ext uri="{FF2B5EF4-FFF2-40B4-BE49-F238E27FC236}">
                <a16:creationId xmlns:a16="http://schemas.microsoft.com/office/drawing/2014/main" id="{0A1DAEDB-09C3-52FA-9051-6791E5321F1B}"/>
              </a:ext>
            </a:extLst>
          </p:cNvPr>
          <p:cNvGrpSpPr/>
          <p:nvPr/>
        </p:nvGrpSpPr>
        <p:grpSpPr>
          <a:xfrm>
            <a:off x="2916454" y="1983074"/>
            <a:ext cx="3966523" cy="4684149"/>
            <a:chOff x="2916454" y="1983074"/>
            <a:chExt cx="3966523" cy="4684149"/>
          </a:xfrm>
        </p:grpSpPr>
        <p:grpSp>
          <p:nvGrpSpPr>
            <p:cNvPr id="13" name="Group 12" descr="Actor–critic architecture: the environment sends states, or stimuli, x_1 to x_n to both the critic and the actor, and a reward to the critic. The critic maps the states to a value V and computes the TD error delta, which is sent to both the critic and the actor as the learning signal. The actor maps the states to actions A_1 to A_k, which are sent back to the environment. Labels: Section 15.7 in Sutton and Barto (2018).">
              <a:extLst>
                <a:ext uri="{FF2B5EF4-FFF2-40B4-BE49-F238E27FC236}">
                  <a16:creationId xmlns:a16="http://schemas.microsoft.com/office/drawing/2014/main" id="{54CA59DA-C384-9934-DA31-D690B06CC7F8}"/>
                </a:ext>
              </a:extLst>
            </p:cNvPr>
            <p:cNvGrpSpPr/>
            <p:nvPr/>
          </p:nvGrpSpPr>
          <p:grpSpPr>
            <a:xfrm>
              <a:off x="2916454" y="1983074"/>
              <a:ext cx="3966523" cy="4684149"/>
              <a:chOff x="4672668" y="1864394"/>
              <a:chExt cx="3966523" cy="4684149"/>
            </a:xfrm>
          </p:grpSpPr>
          <p:grpSp>
            <p:nvGrpSpPr>
              <p:cNvPr id="6" name="Group 5" descr="Actor–critic architecture: the environment sends states, or stimuli, x_1 to x_n to both the critic and the actor, and a reward to the critic. The critic maps the states to a value V and computes the TD error delta, which is sent to both the critic and the actor as the learning signal. The actor maps the states to actions A_1 to A_k, which are sent back to the environment. Labels: Section 15.7 in Sutton and Barto (2018).">
                <a:extLst>
                  <a:ext uri="{FF2B5EF4-FFF2-40B4-BE49-F238E27FC236}">
                    <a16:creationId xmlns:a16="http://schemas.microsoft.com/office/drawing/2014/main" id="{03733CC3-7D80-20C7-49C7-43D9925CE693}"/>
                  </a:ext>
                </a:extLst>
              </p:cNvPr>
              <p:cNvGrpSpPr/>
              <p:nvPr/>
            </p:nvGrpSpPr>
            <p:grpSpPr>
              <a:xfrm>
                <a:off x="4672668" y="1864394"/>
                <a:ext cx="3966523" cy="4684149"/>
                <a:chOff x="7053631" y="365126"/>
                <a:chExt cx="4526399" cy="5335476"/>
              </a:xfrm>
            </p:grpSpPr>
            <p:pic>
              <p:nvPicPr>
                <p:cNvPr id="7" name="Picture 6" descr="Actor–critic architecture: the environment sends states, or stimuli, x_1 to x_n to both the critic and the actor, and a reward to the critic. The critic maps the states to a value V and computes the TD error delta, which is sent to both the critic and the actor as the learning signal. The actor maps the states to actions A_1 to A_k, which are sent back to the environment.">
                  <a:extLst>
                    <a:ext uri="{FF2B5EF4-FFF2-40B4-BE49-F238E27FC236}">
                      <a16:creationId xmlns:a16="http://schemas.microsoft.com/office/drawing/2014/main" id="{469FE11E-8F30-F6C6-F507-D07E7D80E3F6}"/>
                    </a:ext>
                  </a:extLst>
                </p:cNvPr>
                <p:cNvPicPr>
                  <a:picLocks noChangeAspect="1"/>
                </p:cNvPicPr>
                <p:nvPr/>
              </p:nvPicPr>
              <p:blipFill>
                <a:blip r:embed="rId2"/>
                <a:stretch>
                  <a:fillRect/>
                </a:stretch>
              </p:blipFill>
              <p:spPr>
                <a:xfrm>
                  <a:off x="7053631" y="365126"/>
                  <a:ext cx="4526399" cy="5046046"/>
                </a:xfrm>
                <a:prstGeom prst="rect">
                  <a:avLst/>
                </a:prstGeom>
              </p:spPr>
            </p:pic>
            <p:sp>
              <p:nvSpPr>
                <p:cNvPr id="8" name="TextBox 7">
                  <a:extLst>
                    <a:ext uri="{FF2B5EF4-FFF2-40B4-BE49-F238E27FC236}">
                      <a16:creationId xmlns:a16="http://schemas.microsoft.com/office/drawing/2014/main" id="{28131A2D-4FF9-A481-0B8C-8F0A4204D406}"/>
                    </a:ext>
                  </a:extLst>
                </p:cNvPr>
                <p:cNvSpPr txBox="1"/>
                <p:nvPr/>
              </p:nvSpPr>
              <p:spPr>
                <a:xfrm>
                  <a:off x="7381698" y="5314972"/>
                  <a:ext cx="4135554" cy="385630"/>
                </a:xfrm>
                <a:prstGeom prst="rect">
                  <a:avLst/>
                </a:prstGeom>
                <a:noFill/>
              </p:spPr>
              <p:txBody>
                <a:bodyPr wrap="square">
                  <a:spAutoFit/>
                </a:bodyPr>
                <a:lstStyle/>
                <a:p>
                  <a:pPr algn="ctr"/>
                  <a:r>
                    <a:rPr lang="en-US" sz="1600" dirty="0"/>
                    <a:t>Section 15.7 in Sutton and Barto (2018)</a:t>
                  </a:r>
                </a:p>
              </p:txBody>
            </p:sp>
          </p:grpSp>
          <p:cxnSp>
            <p:nvCxnSpPr>
              <p:cNvPr id="12" name="Straight Arrow Connector 11">
                <a:extLst>
                  <a:ext uri="{FF2B5EF4-FFF2-40B4-BE49-F238E27FC236}">
                    <a16:creationId xmlns:a16="http://schemas.microsoft.com/office/drawing/2014/main" id="{50F0FC97-1FE2-9C5B-F39D-4646836564D9}"/>
                  </a:ext>
                  <a:ext uri="{C183D7F6-B498-43B3-948B-1728B52AA6E4}">
                    <adec:decorative xmlns:adec="http://schemas.microsoft.com/office/drawing/2017/decorative" val="1"/>
                  </a:ext>
                </a:extLst>
              </p:cNvPr>
              <p:cNvCxnSpPr/>
              <p:nvPr/>
            </p:nvCxnSpPr>
            <p:spPr>
              <a:xfrm>
                <a:off x="7436840" y="2743200"/>
                <a:ext cx="0" cy="71725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14" name="TextBox 13">
              <a:extLst>
                <a:ext uri="{FF2B5EF4-FFF2-40B4-BE49-F238E27FC236}">
                  <a16:creationId xmlns:a16="http://schemas.microsoft.com/office/drawing/2014/main" id="{201514E9-2007-E74A-0CE5-5D9D02E57689}"/>
                </a:ext>
              </a:extLst>
            </p:cNvPr>
            <p:cNvSpPr txBox="1"/>
            <p:nvPr/>
          </p:nvSpPr>
          <p:spPr>
            <a:xfrm rot="16200000">
              <a:off x="2625511" y="4668373"/>
              <a:ext cx="1138498" cy="276999"/>
            </a:xfrm>
            <a:prstGeom prst="rect">
              <a:avLst/>
            </a:prstGeom>
            <a:noFill/>
          </p:spPr>
          <p:txBody>
            <a:bodyPr wrap="square" rtlCol="0">
              <a:spAutoFit/>
            </a:bodyPr>
            <a:lstStyle/>
            <a:p>
              <a:r>
                <a:rPr lang="en-US" sz="1200" dirty="0"/>
                <a:t>Observations:</a:t>
              </a:r>
            </a:p>
          </p:txBody>
        </p:sp>
        <mc:AlternateContent xmlns:mc="http://schemas.openxmlformats.org/markup-compatibility/2006" xmlns:a14="http://schemas.microsoft.com/office/drawing/2010/main">
          <mc:Choice Requires="a14">
            <p:sp>
              <p:nvSpPr>
                <p:cNvPr id="4" name="Rectangle 3" descr="Equation: w">
                  <a:extLst>
                    <a:ext uri="{FF2B5EF4-FFF2-40B4-BE49-F238E27FC236}">
                      <a16:creationId xmlns:a16="http://schemas.microsoft.com/office/drawing/2014/main" id="{4C3A2928-5C6C-6F91-1904-2D893A5AFCA6}"/>
                    </a:ext>
                  </a:extLst>
                </p:cNvPr>
                <p:cNvSpPr/>
                <p:nvPr/>
              </p:nvSpPr>
              <p:spPr>
                <a:xfrm>
                  <a:off x="4238488" y="3557242"/>
                  <a:ext cx="279584" cy="5986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US" sz="1400" b="1" i="1" dirty="0" smtClean="0">
                            <a:latin typeface="Cambria Math" panose="02040503050406030204" pitchFamily="18" charset="0"/>
                          </a:rPr>
                          <m:t> </m:t>
                        </m:r>
                        <m:r>
                          <a:rPr lang="en-US" sz="1400" b="1" i="1" dirty="0">
                            <a:latin typeface="Cambria Math" panose="02040503050406030204" pitchFamily="18" charset="0"/>
                          </a:rPr>
                          <m:t>𝒘</m:t>
                        </m:r>
                      </m:oMath>
                    </m:oMathPara>
                  </a14:m>
                  <a:endParaRPr lang="en-US" sz="1400" dirty="0"/>
                </a:p>
              </p:txBody>
            </p:sp>
          </mc:Choice>
          <mc:Fallback xmlns="">
            <p:sp>
              <p:nvSpPr>
                <p:cNvPr id="4" name="Rectangle 3" descr="Equation: w">
                  <a:extLst>
                    <a:ext uri="{FF2B5EF4-FFF2-40B4-BE49-F238E27FC236}">
                      <a16:creationId xmlns:a16="http://schemas.microsoft.com/office/drawing/2014/main" id="{4C3A2928-5C6C-6F91-1904-2D893A5AFCA6}"/>
                    </a:ext>
                  </a:extLst>
                </p:cNvPr>
                <p:cNvSpPr>
                  <a:spLocks noRot="1" noChangeAspect="1" noMove="1" noResize="1" noEditPoints="1" noAdjustHandles="1" noChangeArrowheads="1" noChangeShapeType="1" noTextEdit="1"/>
                </p:cNvSpPr>
                <p:nvPr/>
              </p:nvSpPr>
              <p:spPr>
                <a:xfrm>
                  <a:off x="4238488" y="3557242"/>
                  <a:ext cx="279584" cy="59862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descr="Equation: theta">
                  <a:extLst>
                    <a:ext uri="{FF2B5EF4-FFF2-40B4-BE49-F238E27FC236}">
                      <a16:creationId xmlns:a16="http://schemas.microsoft.com/office/drawing/2014/main" id="{ADC93DDE-27E4-F76F-A38A-5653BDD3F106}"/>
                    </a:ext>
                  </a:extLst>
                </p:cNvPr>
                <p:cNvSpPr/>
                <p:nvPr/>
              </p:nvSpPr>
              <p:spPr>
                <a:xfrm>
                  <a:off x="4238488" y="4573708"/>
                  <a:ext cx="279584" cy="127761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US" b="0" i="1" smtClean="0">
                            <a:latin typeface="Cambria Math" panose="02040503050406030204" pitchFamily="18" charset="0"/>
                          </a:rPr>
                          <m:t> </m:t>
                        </m:r>
                        <m:r>
                          <a:rPr lang="en-US" b="0" i="1" smtClean="0">
                            <a:latin typeface="Cambria Math" panose="02040503050406030204" pitchFamily="18" charset="0"/>
                          </a:rPr>
                          <m:t>𝜃</m:t>
                        </m:r>
                      </m:oMath>
                    </m:oMathPara>
                  </a14:m>
                  <a:endParaRPr lang="en-US" dirty="0"/>
                </a:p>
              </p:txBody>
            </p:sp>
          </mc:Choice>
          <mc:Fallback xmlns="">
            <p:sp>
              <p:nvSpPr>
                <p:cNvPr id="5" name="Rectangle 4" descr="Equation: theta">
                  <a:extLst>
                    <a:ext uri="{FF2B5EF4-FFF2-40B4-BE49-F238E27FC236}">
                      <a16:creationId xmlns:a16="http://schemas.microsoft.com/office/drawing/2014/main" id="{ADC93DDE-27E4-F76F-A38A-5653BDD3F106}"/>
                    </a:ext>
                  </a:extLst>
                </p:cNvPr>
                <p:cNvSpPr>
                  <a:spLocks noRot="1" noChangeAspect="1" noMove="1" noResize="1" noEditPoints="1" noAdjustHandles="1" noChangeArrowheads="1" noChangeShapeType="1" noTextEdit="1"/>
                </p:cNvSpPr>
                <p:nvPr/>
              </p:nvSpPr>
              <p:spPr>
                <a:xfrm>
                  <a:off x="4238488" y="4573708"/>
                  <a:ext cx="279584" cy="1277613"/>
                </a:xfrm>
                <a:prstGeom prst="rect">
                  <a:avLst/>
                </a:prstGeom>
                <a:blipFill>
                  <a:blip r:embed="rId6"/>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38A4AD9D-54CF-9DD7-A506-B2544DF8C76C}"/>
                </a:ext>
              </a:extLst>
            </p:cNvPr>
            <p:cNvSpPr txBox="1"/>
            <p:nvPr/>
          </p:nvSpPr>
          <p:spPr>
            <a:xfrm>
              <a:off x="4027062" y="4155871"/>
              <a:ext cx="702436" cy="461665"/>
            </a:xfrm>
            <a:prstGeom prst="rect">
              <a:avLst/>
            </a:prstGeom>
            <a:solidFill>
              <a:srgbClr val="747474"/>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pPr algn="ctr"/>
              <a:r>
                <a:rPr lang="en-US" sz="1200" dirty="0"/>
                <a:t>Hidden </a:t>
              </a:r>
              <a:br>
                <a:rPr lang="en-US" sz="1200" dirty="0"/>
              </a:br>
              <a:r>
                <a:rPr lang="en-US" sz="1200" dirty="0"/>
                <a:t>layers</a:t>
              </a:r>
            </a:p>
          </p:txBody>
        </p:sp>
      </p:grpSp>
      <mc:AlternateContent xmlns:mc="http://schemas.openxmlformats.org/markup-compatibility/2006" xmlns:a14="http://schemas.microsoft.com/office/drawing/2010/main">
        <mc:Choice Requires="a14">
          <p:sp>
            <p:nvSpPr>
              <p:cNvPr id="10" name="Speech Bubble: Rectangle with Corners Rounded 9" descr="Critic. Value network approximates the value function v hat (s,w). Produces the TD error from the reward signal using its network’s state-value predictions. Adjusts the state-value network using the TD error. Does not select actions!">
                <a:extLst>
                  <a:ext uri="{FF2B5EF4-FFF2-40B4-BE49-F238E27FC236}">
                    <a16:creationId xmlns:a16="http://schemas.microsoft.com/office/drawing/2014/main" id="{08EE161B-EA62-43B2-B217-194D2485ED38}"/>
                  </a:ext>
                </a:extLst>
              </p:cNvPr>
              <p:cNvSpPr/>
              <p:nvPr/>
            </p:nvSpPr>
            <p:spPr>
              <a:xfrm>
                <a:off x="7174226" y="2290194"/>
                <a:ext cx="3223928" cy="1947430"/>
              </a:xfrm>
              <a:prstGeom prst="wedgeRoundRectCallout">
                <a:avLst>
                  <a:gd name="adj1" fmla="val -85666"/>
                  <a:gd name="adj2" fmla="val 22824"/>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Critic</a:t>
                </a:r>
                <a:endParaRPr lang="en-US" sz="1400" dirty="0"/>
              </a:p>
              <a:p>
                <a:pPr marL="285750" indent="-285750">
                  <a:buFont typeface="Arial" panose="020B0604020202020204" pitchFamily="34" charset="0"/>
                  <a:buChar char="•"/>
                </a:pPr>
                <a:r>
                  <a:rPr lang="en-US" sz="1400" b="1" dirty="0"/>
                  <a:t>Value network </a:t>
                </a:r>
                <a:r>
                  <a:rPr lang="en-US" sz="1400" dirty="0"/>
                  <a:t>approximates the value function </a:t>
                </a:r>
                <a14:m>
                  <m:oMath xmlns:m="http://schemas.openxmlformats.org/officeDocument/2006/math">
                    <m:acc>
                      <m:accPr>
                        <m:chr m:val="̂"/>
                        <m:ctrlPr>
                          <a:rPr lang="en-US" sz="1400" b="0" i="1" dirty="0" smtClean="0">
                            <a:latin typeface="Cambria Math" panose="02040503050406030204" pitchFamily="18" charset="0"/>
                          </a:rPr>
                        </m:ctrlPr>
                      </m:accPr>
                      <m:e>
                        <m:r>
                          <a:rPr lang="en-US" sz="1400" b="0" i="1" dirty="0" smtClean="0">
                            <a:latin typeface="Cambria Math" panose="02040503050406030204" pitchFamily="18" charset="0"/>
                          </a:rPr>
                          <m:t>𝑣</m:t>
                        </m:r>
                      </m:e>
                    </m:acc>
                    <m:r>
                      <a:rPr lang="en-US" sz="1400" b="0" i="1" dirty="0" smtClean="0">
                        <a:latin typeface="Cambria Math" panose="02040503050406030204" pitchFamily="18" charset="0"/>
                      </a:rPr>
                      <m:t>(</m:t>
                    </m:r>
                    <m:r>
                      <a:rPr lang="en-US" sz="1400" b="0" i="1" dirty="0" smtClean="0">
                        <a:latin typeface="Cambria Math" panose="02040503050406030204" pitchFamily="18" charset="0"/>
                      </a:rPr>
                      <m:t>𝑠</m:t>
                    </m:r>
                    <m:r>
                      <a:rPr lang="en-US" sz="1400" b="0" i="1" dirty="0" smtClean="0">
                        <a:latin typeface="Cambria Math" panose="02040503050406030204" pitchFamily="18" charset="0"/>
                      </a:rPr>
                      <m:t>,</m:t>
                    </m:r>
                    <m:r>
                      <a:rPr lang="en-US" sz="1400" b="1" i="1" dirty="0" smtClean="0">
                        <a:latin typeface="Cambria Math" panose="02040503050406030204" pitchFamily="18" charset="0"/>
                      </a:rPr>
                      <m:t>𝒘</m:t>
                    </m:r>
                    <m:r>
                      <a:rPr lang="en-US" sz="1400" b="1" i="1" dirty="0" smtClean="0">
                        <a:latin typeface="Cambria Math" panose="02040503050406030204" pitchFamily="18" charset="0"/>
                      </a:rPr>
                      <m:t>)</m:t>
                    </m:r>
                  </m:oMath>
                </a14:m>
                <a:endParaRPr lang="en-US" sz="1400" dirty="0"/>
              </a:p>
              <a:p>
                <a:pPr marL="285750" indent="-285750">
                  <a:buFont typeface="Arial" panose="020B0604020202020204" pitchFamily="34" charset="0"/>
                  <a:buChar char="•"/>
                </a:pPr>
                <a:r>
                  <a:rPr lang="en-US" sz="1400" dirty="0"/>
                  <a:t>Produces the TD error from the reward signal using its network’s state-value predictions.</a:t>
                </a:r>
              </a:p>
              <a:p>
                <a:pPr marL="285750" indent="-285750">
                  <a:buFont typeface="Arial" panose="020B0604020202020204" pitchFamily="34" charset="0"/>
                  <a:buChar char="•"/>
                </a:pPr>
                <a:r>
                  <a:rPr lang="en-US" sz="1400" dirty="0"/>
                  <a:t>Adjusts the state-value network using the TD error.</a:t>
                </a:r>
              </a:p>
              <a:p>
                <a:pPr marL="285750" indent="-285750">
                  <a:buFont typeface="Arial" panose="020B0604020202020204" pitchFamily="34" charset="0"/>
                  <a:buChar char="•"/>
                </a:pPr>
                <a:r>
                  <a:rPr lang="en-US" sz="1400" dirty="0"/>
                  <a:t>Does not select actions!</a:t>
                </a:r>
              </a:p>
            </p:txBody>
          </p:sp>
        </mc:Choice>
        <mc:Fallback xmlns="">
          <p:sp>
            <p:nvSpPr>
              <p:cNvPr id="10" name="Speech Bubble: Rectangle with Corners Rounded 9" descr="Critic. Value network approximates the value function v hat (s,w). Produces the TD error from the reward signal using its network’s state-value predictions. Adjusts the state-value network using the TD error. Does not select actions!">
                <a:extLst>
                  <a:ext uri="{FF2B5EF4-FFF2-40B4-BE49-F238E27FC236}">
                    <a16:creationId xmlns:a16="http://schemas.microsoft.com/office/drawing/2014/main" id="{08EE161B-EA62-43B2-B217-194D2485ED38}"/>
                  </a:ext>
                </a:extLst>
              </p:cNvPr>
              <p:cNvSpPr>
                <a:spLocks noRot="1" noChangeAspect="1" noMove="1" noResize="1" noEditPoints="1" noAdjustHandles="1" noChangeArrowheads="1" noChangeShapeType="1" noTextEdit="1"/>
              </p:cNvSpPr>
              <p:nvPr/>
            </p:nvSpPr>
            <p:spPr>
              <a:xfrm>
                <a:off x="7174226" y="2290194"/>
                <a:ext cx="3223928" cy="1947430"/>
              </a:xfrm>
              <a:prstGeom prst="wedgeRoundRectCallout">
                <a:avLst>
                  <a:gd name="adj1" fmla="val -85666"/>
                  <a:gd name="adj2" fmla="val 22824"/>
                  <a:gd name="adj3" fmla="val 16667"/>
                </a:avLst>
              </a:prstGeom>
              <a:blipFill>
                <a:blip r:embed="rId7"/>
                <a:stretch>
                  <a:fillRect t="-1863"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Speech Bubble: Rectangle with Corners Rounded 8" descr="Actor. Policy network approximates the policy pi sub theta. Selects actions. Adjusts the policy network based on the TD error. No direct access to reward signal!">
                <a:extLst>
                  <a:ext uri="{FF2B5EF4-FFF2-40B4-BE49-F238E27FC236}">
                    <a16:creationId xmlns:a16="http://schemas.microsoft.com/office/drawing/2014/main" id="{A6894DC4-71AF-0A61-4961-533BFE6FE45F}"/>
                  </a:ext>
                </a:extLst>
              </p:cNvPr>
              <p:cNvSpPr/>
              <p:nvPr/>
            </p:nvSpPr>
            <p:spPr>
              <a:xfrm>
                <a:off x="7174225" y="4530064"/>
                <a:ext cx="3324597" cy="1589705"/>
              </a:xfrm>
              <a:prstGeom prst="wedgeRoundRectCallout">
                <a:avLst>
                  <a:gd name="adj1" fmla="val -113307"/>
                  <a:gd name="adj2" fmla="val 7931"/>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b="1" dirty="0"/>
                  <a:t>Actor</a:t>
                </a:r>
                <a:endParaRPr lang="en-US" sz="1400" dirty="0"/>
              </a:p>
              <a:p>
                <a:pPr marL="285750" indent="-285750">
                  <a:buFont typeface="Arial" panose="020B0604020202020204" pitchFamily="34" charset="0"/>
                  <a:buChar char="•"/>
                </a:pPr>
                <a:r>
                  <a:rPr lang="en-US" sz="1400" b="1" dirty="0"/>
                  <a:t>Policy network </a:t>
                </a:r>
                <a:r>
                  <a:rPr lang="en-US" sz="1400" dirty="0"/>
                  <a:t>approximates the policy </a:t>
                </a:r>
                <a14:m>
                  <m:oMath xmlns:m="http://schemas.openxmlformats.org/officeDocument/2006/math">
                    <m:sSub>
                      <m:sSubPr>
                        <m:ctrlPr>
                          <a:rPr lang="en-US" sz="1400" i="1" dirty="0">
                            <a:latin typeface="Cambria Math" panose="02040503050406030204" pitchFamily="18" charset="0"/>
                          </a:rPr>
                        </m:ctrlPr>
                      </m:sSubPr>
                      <m:e>
                        <m:r>
                          <a:rPr lang="en-US" sz="1400" i="1" dirty="0">
                            <a:latin typeface="Cambria Math" panose="02040503050406030204" pitchFamily="18" charset="0"/>
                          </a:rPr>
                          <m:t>𝜋</m:t>
                        </m:r>
                      </m:e>
                      <m:sub>
                        <m:r>
                          <a:rPr lang="en-US" sz="1400" b="0" i="1" dirty="0" smtClean="0">
                            <a:latin typeface="Cambria Math" panose="02040503050406030204" pitchFamily="18" charset="0"/>
                          </a:rPr>
                          <m:t>𝜃</m:t>
                        </m:r>
                      </m:sub>
                    </m:sSub>
                  </m:oMath>
                </a14:m>
                <a:endParaRPr lang="en-US" sz="1400" dirty="0"/>
              </a:p>
              <a:p>
                <a:pPr marL="285750" indent="-285750">
                  <a:buFont typeface="Arial" panose="020B0604020202020204" pitchFamily="34" charset="0"/>
                  <a:buChar char="•"/>
                </a:pPr>
                <a:r>
                  <a:rPr lang="en-US" sz="1400" dirty="0"/>
                  <a:t>Selects actions.</a:t>
                </a:r>
              </a:p>
              <a:p>
                <a:pPr marL="285750" indent="-285750">
                  <a:buFont typeface="Arial" panose="020B0604020202020204" pitchFamily="34" charset="0"/>
                  <a:buChar char="•"/>
                </a:pPr>
                <a:r>
                  <a:rPr lang="en-US" sz="1400" dirty="0"/>
                  <a:t>Adjusts the policy network based on the TD error.</a:t>
                </a:r>
              </a:p>
              <a:p>
                <a:pPr marL="285750" indent="-285750">
                  <a:buFont typeface="Arial" panose="020B0604020202020204" pitchFamily="34" charset="0"/>
                  <a:buChar char="•"/>
                </a:pPr>
                <a:r>
                  <a:rPr lang="en-US" sz="1400" dirty="0"/>
                  <a:t>No direct access to reward signal!</a:t>
                </a:r>
              </a:p>
            </p:txBody>
          </p:sp>
        </mc:Choice>
        <mc:Fallback xmlns="">
          <p:sp>
            <p:nvSpPr>
              <p:cNvPr id="9" name="Speech Bubble: Rectangle with Corners Rounded 8" descr="Actor. Policy network approximates the policy pi sub theta. Selects actions. Adjusts the policy network based on the TD error. No direct access to reward signal!">
                <a:extLst>
                  <a:ext uri="{FF2B5EF4-FFF2-40B4-BE49-F238E27FC236}">
                    <a16:creationId xmlns:a16="http://schemas.microsoft.com/office/drawing/2014/main" id="{A6894DC4-71AF-0A61-4961-533BFE6FE45F}"/>
                  </a:ext>
                </a:extLst>
              </p:cNvPr>
              <p:cNvSpPr>
                <a:spLocks noRot="1" noChangeAspect="1" noMove="1" noResize="1" noEditPoints="1" noAdjustHandles="1" noChangeArrowheads="1" noChangeShapeType="1" noTextEdit="1"/>
              </p:cNvSpPr>
              <p:nvPr/>
            </p:nvSpPr>
            <p:spPr>
              <a:xfrm>
                <a:off x="7174225" y="4530064"/>
                <a:ext cx="3324597" cy="1589705"/>
              </a:xfrm>
              <a:prstGeom prst="wedgeRoundRectCallout">
                <a:avLst>
                  <a:gd name="adj1" fmla="val -113307"/>
                  <a:gd name="adj2" fmla="val 7931"/>
                  <a:gd name="adj3" fmla="val 16667"/>
                </a:avLst>
              </a:prstGeom>
              <a:blipFill>
                <a:blip r:embed="rId8"/>
                <a:stretch>
                  <a:fillRect b="-3030"/>
                </a:stretch>
              </a:blipFill>
            </p:spPr>
            <p:txBody>
              <a:bodyPr/>
              <a:lstStyle/>
              <a:p>
                <a:r>
                  <a:rPr lang="en-US">
                    <a:noFill/>
                  </a:rPr>
                  <a:t> </a:t>
                </a:r>
              </a:p>
            </p:txBody>
          </p:sp>
        </mc:Fallback>
      </mc:AlternateContent>
    </p:spTree>
    <p:extLst>
      <p:ext uri="{BB962C8B-B14F-4D97-AF65-F5344CB8AC3E}">
        <p14:creationId xmlns:p14="http://schemas.microsoft.com/office/powerpoint/2010/main" val="18035620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2DFE1-72DC-68CD-CBDF-6806168FD6EE}"/>
              </a:ext>
            </a:extLst>
          </p:cNvPr>
          <p:cNvSpPr>
            <a:spLocks noGrp="1"/>
          </p:cNvSpPr>
          <p:nvPr>
            <p:ph type="title"/>
          </p:nvPr>
        </p:nvSpPr>
        <p:spPr/>
        <p:txBody>
          <a:bodyPr>
            <a:normAutofit fontScale="90000"/>
          </a:bodyPr>
          <a:lstStyle/>
          <a:p>
            <a:r>
              <a:rPr lang="en-US" dirty="0"/>
              <a:t>Neural Actor-Critic Method: One-Step Algorithm</a:t>
            </a:r>
          </a:p>
        </p:txBody>
      </p:sp>
      <p:pic>
        <p:nvPicPr>
          <p:cNvPr id="7" name="Picture 6" descr="Algorithm box: One-step Actor–Critic (episodic), for estimating pi_theta ≈ pi star. Input: a differentiable policy parameterization pi(a | s, theta). Input: a differentiable state-value function parameterization v hat(s, w). Parameters: step sizes alpha theta &gt; 0, alpha w &gt; 0. Initialize policy parameter theta in R^d′ and state-value weights w in R^d (e.g., to 0). Loop forever (for each episode): Initialize S (first state of episode); I ← 1; Loop while S is not terminal (for each time step): A ~ pi(· | S, theta); Take action A, observe S′, R; delta ← R + gamma v hat(S′, w) − v hat(S, w) (if S′ is terminal, then v hat(S′, w) = 0); w ← w + alpha w times delta times the gradient of v hat(S, w); theta ← theta + alpha theta times I delta times the gradient of ln pi(A | S, theta); I ← gamma I; S ← S′.">
            <a:extLst>
              <a:ext uri="{FF2B5EF4-FFF2-40B4-BE49-F238E27FC236}">
                <a16:creationId xmlns:a16="http://schemas.microsoft.com/office/drawing/2014/main" id="{2C127B90-B61D-6A2E-A61B-CCCEFCCC5B63}"/>
              </a:ext>
            </a:extLst>
          </p:cNvPr>
          <p:cNvPicPr>
            <a:picLocks noChangeAspect="1"/>
          </p:cNvPicPr>
          <p:nvPr/>
        </p:nvPicPr>
        <p:blipFill>
          <a:blip r:embed="rId3"/>
          <a:stretch>
            <a:fillRect/>
          </a:stretch>
        </p:blipFill>
        <p:spPr>
          <a:xfrm>
            <a:off x="1836302" y="1255362"/>
            <a:ext cx="8537689" cy="4736005"/>
          </a:xfrm>
          <a:prstGeom prst="rect">
            <a:avLst/>
          </a:prstGeom>
        </p:spPr>
      </p:pic>
      <p:sp>
        <p:nvSpPr>
          <p:cNvPr id="5" name="Speech Bubble: Rectangle with Corners Rounded 4">
            <a:extLst>
              <a:ext uri="{FF2B5EF4-FFF2-40B4-BE49-F238E27FC236}">
                <a16:creationId xmlns:a16="http://schemas.microsoft.com/office/drawing/2014/main" id="{D8C230AF-79C2-A184-7ED5-1506ABF95837}"/>
              </a:ext>
              <a:ext uri="{C183D7F6-B498-43B3-948B-1728B52AA6E4}">
                <adec:decorative xmlns:adec="http://schemas.microsoft.com/office/drawing/2017/decorative" val="1"/>
              </a:ext>
            </a:extLst>
          </p:cNvPr>
          <p:cNvSpPr/>
          <p:nvPr/>
        </p:nvSpPr>
        <p:spPr>
          <a:xfrm>
            <a:off x="8997357" y="2158177"/>
            <a:ext cx="865538" cy="259172"/>
          </a:xfrm>
          <a:prstGeom prst="wedgeRoundRectCallout">
            <a:avLst>
              <a:gd name="adj1" fmla="val -84315"/>
              <a:gd name="adj2" fmla="val 24880"/>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critic</a:t>
            </a:r>
          </a:p>
        </p:txBody>
      </p:sp>
      <p:sp>
        <p:nvSpPr>
          <p:cNvPr id="4" name="Speech Bubble: Rectangle with Corners Rounded 3">
            <a:extLst>
              <a:ext uri="{FF2B5EF4-FFF2-40B4-BE49-F238E27FC236}">
                <a16:creationId xmlns:a16="http://schemas.microsoft.com/office/drawing/2014/main" id="{F7A4F288-A0A2-EAB0-0BC3-B1E0033FD846}"/>
              </a:ext>
              <a:ext uri="{C183D7F6-B498-43B3-948B-1728B52AA6E4}">
                <adec:decorative xmlns:adec="http://schemas.microsoft.com/office/drawing/2017/decorative" val="1"/>
              </a:ext>
            </a:extLst>
          </p:cNvPr>
          <p:cNvSpPr/>
          <p:nvPr/>
        </p:nvSpPr>
        <p:spPr>
          <a:xfrm>
            <a:off x="8131819" y="1733051"/>
            <a:ext cx="865538" cy="259172"/>
          </a:xfrm>
          <a:prstGeom prst="wedgeRoundRectCallout">
            <a:avLst>
              <a:gd name="adj1" fmla="val -121411"/>
              <a:gd name="adj2" fmla="val 67368"/>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actor</a:t>
            </a:r>
          </a:p>
        </p:txBody>
      </p:sp>
      <mc:AlternateContent xmlns:mc="http://schemas.openxmlformats.org/markup-compatibility/2006">
        <mc:Choice xmlns:a14="http://schemas.microsoft.com/office/drawing/2010/main" Requires="a14">
          <p:sp>
            <p:nvSpPr>
              <p:cNvPr id="10" name="Speech Bubble: Rectangle with Corners Rounded 9">
                <a:extLst>
                  <a:ext uri="{FF2B5EF4-FFF2-40B4-BE49-F238E27FC236}">
                    <a16:creationId xmlns:a16="http://schemas.microsoft.com/office/drawing/2014/main" id="{13A4B9D4-E0AA-951D-C0AB-75C0453EEC3C}"/>
                  </a:ext>
                  <a:ext uri="{C183D7F6-B498-43B3-948B-1728B52AA6E4}">
                    <adec:decorative xmlns:adec="http://schemas.microsoft.com/office/drawing/2017/decorative" val="1"/>
                  </a:ext>
                </a:extLst>
              </p:cNvPr>
              <p:cNvSpPr/>
              <p:nvPr/>
            </p:nvSpPr>
            <p:spPr>
              <a:xfrm>
                <a:off x="315592" y="3056965"/>
                <a:ext cx="1758998" cy="670095"/>
              </a:xfrm>
              <a:prstGeom prst="wedgeRoundRectCallout">
                <a:avLst>
                  <a:gd name="adj1" fmla="val 73313"/>
                  <a:gd name="adj2" fmla="val 22694"/>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Takes care of discounting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𝛾</m:t>
                        </m:r>
                      </m:e>
                      <m:sup>
                        <m:r>
                          <a:rPr lang="en-US" b="0" i="1" smtClean="0">
                            <a:latin typeface="Cambria Math" panose="02040503050406030204" pitchFamily="18" charset="0"/>
                          </a:rPr>
                          <m:t>𝑡</m:t>
                        </m:r>
                      </m:sup>
                    </m:sSup>
                  </m:oMath>
                </a14:m>
                <a:endParaRPr lang="en-US" dirty="0"/>
              </a:p>
            </p:txBody>
          </p:sp>
        </mc:Choice>
        <mc:Fallback>
          <p:sp>
            <p:nvSpPr>
              <p:cNvPr id="10" name="Speech Bubble: Rectangle with Corners Rounded 9">
                <a:extLst>
                  <a:ext uri="{FF2B5EF4-FFF2-40B4-BE49-F238E27FC236}">
                    <a16:creationId xmlns:a16="http://schemas.microsoft.com/office/drawing/2014/main" id="{13A4B9D4-E0AA-951D-C0AB-75C0453EEC3C}"/>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315592" y="3056965"/>
                <a:ext cx="1758998" cy="670095"/>
              </a:xfrm>
              <a:prstGeom prst="wedgeRoundRectCallout">
                <a:avLst>
                  <a:gd name="adj1" fmla="val 73313"/>
                  <a:gd name="adj2" fmla="val 22694"/>
                  <a:gd name="adj3" fmla="val 16667"/>
                </a:avLst>
              </a:prstGeom>
              <a:blipFill>
                <a:blip r:embed="rId4"/>
                <a:stretch>
                  <a:fillRect t="-1818" b="-9091"/>
                </a:stretch>
              </a:blipFill>
            </p:spPr>
            <p:txBody>
              <a:bodyPr/>
              <a:lstStyle/>
              <a:p>
                <a:r>
                  <a:rPr lang="en-US">
                    <a:noFill/>
                  </a:rPr>
                  <a:t> </a:t>
                </a:r>
              </a:p>
            </p:txBody>
          </p:sp>
        </mc:Fallback>
      </mc:AlternateContent>
      <p:grpSp>
        <p:nvGrpSpPr>
          <p:cNvPr id="15" name="Group 14" descr="Callout: TD error: uses v hat estimates.">
            <a:extLst>
              <a:ext uri="{FF2B5EF4-FFF2-40B4-BE49-F238E27FC236}">
                <a16:creationId xmlns:a16="http://schemas.microsoft.com/office/drawing/2014/main" id="{A146F52F-E240-1E59-4A1F-E600F82492DF}"/>
              </a:ext>
            </a:extLst>
          </p:cNvPr>
          <p:cNvGrpSpPr/>
          <p:nvPr/>
        </p:nvGrpSpPr>
        <p:grpSpPr>
          <a:xfrm>
            <a:off x="2644590" y="4018446"/>
            <a:ext cx="7564407" cy="696309"/>
            <a:chOff x="2644590" y="4018446"/>
            <a:chExt cx="7564407" cy="696309"/>
          </a:xfrm>
        </p:grpSpPr>
        <p:sp>
          <p:nvSpPr>
            <p:cNvPr id="11" name="Rectangle 10">
              <a:extLst>
                <a:ext uri="{FF2B5EF4-FFF2-40B4-BE49-F238E27FC236}">
                  <a16:creationId xmlns:a16="http://schemas.microsoft.com/office/drawing/2014/main" id="{05DCB902-4519-6052-12CC-ADD3BFE4DF5D}"/>
                </a:ext>
                <a:ext uri="{C183D7F6-B498-43B3-948B-1728B52AA6E4}">
                  <adec:decorative xmlns:adec="http://schemas.microsoft.com/office/drawing/2017/decorative" val="1"/>
                </a:ext>
              </a:extLst>
            </p:cNvPr>
            <p:cNvSpPr/>
            <p:nvPr/>
          </p:nvSpPr>
          <p:spPr>
            <a:xfrm>
              <a:off x="2644590" y="4442529"/>
              <a:ext cx="3093036" cy="272226"/>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Speech Bubble: Rectangle with Corners Rounded 11" descr="TD error: uses v hat estimates">
                  <a:extLst>
                    <a:ext uri="{FF2B5EF4-FFF2-40B4-BE49-F238E27FC236}">
                      <a16:creationId xmlns:a16="http://schemas.microsoft.com/office/drawing/2014/main" id="{A8ECFCE4-C642-EBAF-5270-39245F140766}"/>
                    </a:ext>
                  </a:extLst>
                </p:cNvPr>
                <p:cNvSpPr/>
                <p:nvPr/>
              </p:nvSpPr>
              <p:spPr>
                <a:xfrm>
                  <a:off x="6696811" y="4018446"/>
                  <a:ext cx="3512186" cy="336241"/>
                </a:xfrm>
                <a:prstGeom prst="wedgeRoundRectCallout">
                  <a:avLst>
                    <a:gd name="adj1" fmla="val -77776"/>
                    <a:gd name="adj2" fmla="val 104104"/>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TD error: uses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oMath>
                  </a14:m>
                  <a:r>
                    <a:rPr lang="en-US" dirty="0"/>
                    <a:t> estimates </a:t>
                  </a:r>
                </a:p>
              </p:txBody>
            </p:sp>
          </mc:Choice>
          <mc:Fallback xmlns="">
            <p:sp>
              <p:nvSpPr>
                <p:cNvPr id="12" name="Speech Bubble: Rectangle with Corners Rounded 11" descr="TD error: uses v hat estimates">
                  <a:extLst>
                    <a:ext uri="{FF2B5EF4-FFF2-40B4-BE49-F238E27FC236}">
                      <a16:creationId xmlns:a16="http://schemas.microsoft.com/office/drawing/2014/main" id="{A8ECFCE4-C642-EBAF-5270-39245F140766}"/>
                    </a:ext>
                  </a:extLst>
                </p:cNvPr>
                <p:cNvSpPr>
                  <a:spLocks noRot="1" noChangeAspect="1" noMove="1" noResize="1" noEditPoints="1" noAdjustHandles="1" noChangeArrowheads="1" noChangeShapeType="1" noTextEdit="1"/>
                </p:cNvSpPr>
                <p:nvPr/>
              </p:nvSpPr>
              <p:spPr>
                <a:xfrm>
                  <a:off x="6696811" y="4018446"/>
                  <a:ext cx="3512186" cy="336241"/>
                </a:xfrm>
                <a:prstGeom prst="wedgeRoundRectCallout">
                  <a:avLst>
                    <a:gd name="adj1" fmla="val -77776"/>
                    <a:gd name="adj2" fmla="val 104104"/>
                    <a:gd name="adj3" fmla="val 16667"/>
                  </a:avLst>
                </a:prstGeom>
                <a:blipFill>
                  <a:blip r:embed="rId5"/>
                  <a:stretch>
                    <a:fillRect t="-6742"/>
                  </a:stretch>
                </a:blipFill>
              </p:spPr>
              <p:txBody>
                <a:bodyPr/>
                <a:lstStyle/>
                <a:p>
                  <a:r>
                    <a:rPr lang="en-US">
                      <a:noFill/>
                    </a:rPr>
                    <a:t> </a:t>
                  </a:r>
                </a:p>
              </p:txBody>
            </p:sp>
          </mc:Fallback>
        </mc:AlternateContent>
      </p:grpSp>
      <p:grpSp>
        <p:nvGrpSpPr>
          <p:cNvPr id="17" name="Group 16" descr="Callout: Update the actor (policy) using the TD error signal.">
            <a:extLst>
              <a:ext uri="{FF2B5EF4-FFF2-40B4-BE49-F238E27FC236}">
                <a16:creationId xmlns:a16="http://schemas.microsoft.com/office/drawing/2014/main" id="{AEFDDE62-37B8-8AE6-C508-A5CA844C8CD1}"/>
              </a:ext>
            </a:extLst>
          </p:cNvPr>
          <p:cNvGrpSpPr/>
          <p:nvPr/>
        </p:nvGrpSpPr>
        <p:grpSpPr>
          <a:xfrm>
            <a:off x="2644590" y="5010293"/>
            <a:ext cx="9213248" cy="603425"/>
            <a:chOff x="2644590" y="5010293"/>
            <a:chExt cx="9213248" cy="603425"/>
          </a:xfrm>
        </p:grpSpPr>
        <p:sp>
          <p:nvSpPr>
            <p:cNvPr id="13" name="Rectangle 12">
              <a:extLst>
                <a:ext uri="{FF2B5EF4-FFF2-40B4-BE49-F238E27FC236}">
                  <a16:creationId xmlns:a16="http://schemas.microsoft.com/office/drawing/2014/main" id="{44E06FFA-E200-E681-2E5D-039A57F537AC}"/>
                </a:ext>
                <a:ext uri="{C183D7F6-B498-43B3-948B-1728B52AA6E4}">
                  <adec:decorative xmlns:adec="http://schemas.microsoft.com/office/drawing/2017/decorative" val="1"/>
                </a:ext>
              </a:extLst>
            </p:cNvPr>
            <p:cNvSpPr/>
            <p:nvPr/>
          </p:nvSpPr>
          <p:spPr>
            <a:xfrm>
              <a:off x="2644590" y="5010293"/>
              <a:ext cx="3093036" cy="272226"/>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4" name="Speech Bubble: Rectangle with Corners Rounded 13">
              <a:extLst>
                <a:ext uri="{FF2B5EF4-FFF2-40B4-BE49-F238E27FC236}">
                  <a16:creationId xmlns:a16="http://schemas.microsoft.com/office/drawing/2014/main" id="{E94F9DD5-BDBE-9FDD-3254-2C368EE7BF6A}"/>
                </a:ext>
              </a:extLst>
            </p:cNvPr>
            <p:cNvSpPr/>
            <p:nvPr/>
          </p:nvSpPr>
          <p:spPr>
            <a:xfrm>
              <a:off x="6696811" y="5277477"/>
              <a:ext cx="5161027" cy="336241"/>
            </a:xfrm>
            <a:prstGeom prst="wedgeRoundRectCallout">
              <a:avLst>
                <a:gd name="adj1" fmla="val -80690"/>
                <a:gd name="adj2" fmla="val -60063"/>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Update the actor (policy) using the TD error signal</a:t>
              </a:r>
            </a:p>
          </p:txBody>
        </p:sp>
      </p:grpSp>
      <p:grpSp>
        <p:nvGrpSpPr>
          <p:cNvPr id="16" name="Group 15" descr="Callout: Update the critic (value function) = TD(0).">
            <a:extLst>
              <a:ext uri="{FF2B5EF4-FFF2-40B4-BE49-F238E27FC236}">
                <a16:creationId xmlns:a16="http://schemas.microsoft.com/office/drawing/2014/main" id="{D4E8E4FE-D741-F70F-D289-64B26A24413C}"/>
              </a:ext>
            </a:extLst>
          </p:cNvPr>
          <p:cNvGrpSpPr/>
          <p:nvPr/>
        </p:nvGrpSpPr>
        <p:grpSpPr>
          <a:xfrm>
            <a:off x="2644590" y="4759038"/>
            <a:ext cx="9213248" cy="439726"/>
            <a:chOff x="2644590" y="4759038"/>
            <a:chExt cx="9213248" cy="439726"/>
          </a:xfrm>
        </p:grpSpPr>
        <p:sp>
          <p:nvSpPr>
            <p:cNvPr id="3" name="Rectangle 2">
              <a:extLst>
                <a:ext uri="{FF2B5EF4-FFF2-40B4-BE49-F238E27FC236}">
                  <a16:creationId xmlns:a16="http://schemas.microsoft.com/office/drawing/2014/main" id="{7975E55E-B47E-0E56-E14A-333A3D6DE67C}"/>
                </a:ext>
                <a:ext uri="{C183D7F6-B498-43B3-948B-1728B52AA6E4}">
                  <adec:decorative xmlns:adec="http://schemas.microsoft.com/office/drawing/2017/decorative" val="1"/>
                </a:ext>
              </a:extLst>
            </p:cNvPr>
            <p:cNvSpPr/>
            <p:nvPr/>
          </p:nvSpPr>
          <p:spPr>
            <a:xfrm>
              <a:off x="2644590" y="4759038"/>
              <a:ext cx="3093036" cy="206971"/>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Speech Bubble: Rectangle with Corners Rounded 5" descr="Update the critic (value function) = TD(0)">
                  <a:extLst>
                    <a:ext uri="{FF2B5EF4-FFF2-40B4-BE49-F238E27FC236}">
                      <a16:creationId xmlns:a16="http://schemas.microsoft.com/office/drawing/2014/main" id="{4E143229-2BAE-E79E-F2D9-252EB18CD2C7}"/>
                    </a:ext>
                  </a:extLst>
                </p:cNvPr>
                <p:cNvSpPr/>
                <p:nvPr/>
              </p:nvSpPr>
              <p:spPr>
                <a:xfrm>
                  <a:off x="6696812" y="4862523"/>
                  <a:ext cx="5161026" cy="336241"/>
                </a:xfrm>
                <a:prstGeom prst="wedgeRoundRectCallout">
                  <a:avLst>
                    <a:gd name="adj1" fmla="val -79021"/>
                    <a:gd name="adj2" fmla="val -47607"/>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Update the critic (value function) = </a:t>
                  </a:r>
                  <a14:m>
                    <m:oMath xmlns:m="http://schemas.openxmlformats.org/officeDocument/2006/math">
                      <m:r>
                        <a:rPr lang="en-US" i="1" dirty="0" smtClean="0">
                          <a:latin typeface="Cambria Math" panose="02040503050406030204" pitchFamily="18" charset="0"/>
                        </a:rPr>
                        <m:t>𝑇𝐷</m:t>
                      </m:r>
                      <m:r>
                        <a:rPr lang="en-US" i="1" dirty="0" smtClean="0">
                          <a:latin typeface="Cambria Math" panose="02040503050406030204" pitchFamily="18" charset="0"/>
                        </a:rPr>
                        <m:t>(0)</m:t>
                      </m:r>
                    </m:oMath>
                  </a14:m>
                  <a:endParaRPr lang="en-US" dirty="0"/>
                </a:p>
              </p:txBody>
            </p:sp>
          </mc:Choice>
          <mc:Fallback xmlns="">
            <p:sp>
              <p:nvSpPr>
                <p:cNvPr id="6" name="Speech Bubble: Rectangle with Corners Rounded 5" descr="Update the critic (value function) = TD(0)">
                  <a:extLst>
                    <a:ext uri="{FF2B5EF4-FFF2-40B4-BE49-F238E27FC236}">
                      <a16:creationId xmlns:a16="http://schemas.microsoft.com/office/drawing/2014/main" id="{4E143229-2BAE-E79E-F2D9-252EB18CD2C7}"/>
                    </a:ext>
                  </a:extLst>
                </p:cNvPr>
                <p:cNvSpPr>
                  <a:spLocks noRot="1" noChangeAspect="1" noMove="1" noResize="1" noEditPoints="1" noAdjustHandles="1" noChangeArrowheads="1" noChangeShapeType="1" noTextEdit="1"/>
                </p:cNvSpPr>
                <p:nvPr/>
              </p:nvSpPr>
              <p:spPr>
                <a:xfrm>
                  <a:off x="6696812" y="4862523"/>
                  <a:ext cx="5161026" cy="336241"/>
                </a:xfrm>
                <a:prstGeom prst="wedgeRoundRectCallout">
                  <a:avLst>
                    <a:gd name="adj1" fmla="val -79021"/>
                    <a:gd name="adj2" fmla="val -47607"/>
                    <a:gd name="adj3" fmla="val 16667"/>
                  </a:avLst>
                </a:prstGeom>
                <a:blipFill>
                  <a:blip r:embed="rId6"/>
                  <a:stretch>
                    <a:fillRect t="-10345" b="-29310"/>
                  </a:stretch>
                </a:blipFill>
              </p:spPr>
              <p:txBody>
                <a:bodyPr/>
                <a:lstStyle/>
                <a:p>
                  <a:r>
                    <a:rPr lang="en-US">
                      <a:noFill/>
                    </a:rPr>
                    <a:t> </a:t>
                  </a:r>
                </a:p>
              </p:txBody>
            </p:sp>
          </mc:Fallback>
        </mc:AlternateContent>
      </p:grpSp>
      <p:sp>
        <p:nvSpPr>
          <p:cNvPr id="8" name="Speech Bubble: Rectangle with Corners Rounded 7">
            <a:extLst>
              <a:ext uri="{FF2B5EF4-FFF2-40B4-BE49-F238E27FC236}">
                <a16:creationId xmlns:a16="http://schemas.microsoft.com/office/drawing/2014/main" id="{DB0DF44A-46ED-82B8-4CCC-2A620842003F}"/>
              </a:ext>
              <a:ext uri="{C183D7F6-B498-43B3-948B-1728B52AA6E4}">
                <adec:decorative xmlns:adec="http://schemas.microsoft.com/office/drawing/2017/decorative" val="1"/>
              </a:ext>
            </a:extLst>
          </p:cNvPr>
          <p:cNvSpPr/>
          <p:nvPr/>
        </p:nvSpPr>
        <p:spPr>
          <a:xfrm>
            <a:off x="315592" y="4294911"/>
            <a:ext cx="1960260" cy="915825"/>
          </a:xfrm>
          <a:prstGeom prst="wedgeRoundRectCallout">
            <a:avLst>
              <a:gd name="adj1" fmla="val 73862"/>
              <a:gd name="adj2" fmla="val -68427"/>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Policy approximation is soft, so it explores!</a:t>
            </a:r>
          </a:p>
        </p:txBody>
      </p:sp>
      <p:sp>
        <p:nvSpPr>
          <p:cNvPr id="9" name="Speech Bubble: Rectangle with Corners Rounded 8">
            <a:extLst>
              <a:ext uri="{FF2B5EF4-FFF2-40B4-BE49-F238E27FC236}">
                <a16:creationId xmlns:a16="http://schemas.microsoft.com/office/drawing/2014/main" id="{BE71158B-90A3-B3DE-9C48-CA8BC3287868}"/>
              </a:ext>
              <a:ext uri="{C183D7F6-B498-43B3-948B-1728B52AA6E4}">
                <adec:decorative xmlns:adec="http://schemas.microsoft.com/office/drawing/2017/decorative" val="1"/>
              </a:ext>
            </a:extLst>
          </p:cNvPr>
          <p:cNvSpPr/>
          <p:nvPr/>
        </p:nvSpPr>
        <p:spPr>
          <a:xfrm>
            <a:off x="3004671" y="6070081"/>
            <a:ext cx="3507811" cy="651806"/>
          </a:xfrm>
          <a:prstGeom prst="wedgeRoundRectCallout">
            <a:avLst>
              <a:gd name="adj1" fmla="val -11859"/>
              <a:gd name="adj2" fmla="val -178390"/>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Replace these with a value network and a policy network.</a:t>
            </a:r>
          </a:p>
        </p:txBody>
      </p:sp>
    </p:spTree>
    <p:extLst>
      <p:ext uri="{BB962C8B-B14F-4D97-AF65-F5344CB8AC3E}">
        <p14:creationId xmlns:p14="http://schemas.microsoft.com/office/powerpoint/2010/main" val="2787183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10" grpId="0" animBg="1"/>
      <p:bldP spid="8"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4BB681-4236-4A02-FFD4-5ABC83096A0B}"/>
              </a:ext>
            </a:extLst>
          </p:cNvPr>
          <p:cNvSpPr>
            <a:spLocks noGrp="1"/>
          </p:cNvSpPr>
          <p:nvPr>
            <p:ph type="title"/>
          </p:nvPr>
        </p:nvSpPr>
        <p:spPr/>
        <p:txBody>
          <a:bodyPr/>
          <a:lstStyle/>
          <a:p>
            <a:r>
              <a:rPr lang="en-US" dirty="0"/>
              <a:t>Advantage Actor Critic: A2C</a:t>
            </a:r>
          </a:p>
        </p:txBody>
      </p:sp>
      <p:sp>
        <p:nvSpPr>
          <p:cNvPr id="2" name="Content Placeholder 1">
            <a:extLst>
              <a:ext uri="{FF2B5EF4-FFF2-40B4-BE49-F238E27FC236}">
                <a16:creationId xmlns:a16="http://schemas.microsoft.com/office/drawing/2014/main" id="{0A9C8AD7-91CA-FBEA-E498-0EA570A9CA8F}"/>
              </a:ext>
            </a:extLst>
          </p:cNvPr>
          <p:cNvSpPr>
            <a:spLocks noGrp="1"/>
          </p:cNvSpPr>
          <p:nvPr>
            <p:ph idx="1"/>
          </p:nvPr>
        </p:nvSpPr>
        <p:spPr>
          <a:xfrm>
            <a:off x="838200" y="1264575"/>
            <a:ext cx="7824169" cy="606106"/>
          </a:xfrm>
        </p:spPr>
        <p:txBody>
          <a:bodyPr>
            <a:normAutofit fontScale="77500" lnSpcReduction="20000"/>
          </a:bodyPr>
          <a:lstStyle/>
          <a:p>
            <a:pPr marL="0" indent="0">
              <a:buNone/>
            </a:pPr>
            <a:r>
              <a:rPr lang="en-US" dirty="0"/>
              <a:t>A popular synchronous version of Asynchronous Advantage Actor Critic (A3C).</a:t>
            </a:r>
          </a:p>
        </p:txBody>
      </p:sp>
      <p:grpSp>
        <p:nvGrpSpPr>
          <p:cNvPr id="14" name="Group 13" descr="Algorithm 7.2, Advantage Actor-Critic (A2C) Algorithm. 1: input: Policy parameters theta, value function parameters w. Learning rates alpha theta, alpha w, discount factor gamma and entropy coefficient beta. 2: for each iterative step do 3: Collect trajectories with transitions (s_t, a_t, r_t, s_t+1, d) for t = 0, 1, …, T with a_t ~ pi(s_t; theta). 4: for each trajectory (or episode) do 5: Compute Advantage: A(s_t, a_t) = r_t+1 + gamma V(s_t+1; w) times (1 − d) − V(s_t; w) (equation 7.12); comment: A(s_t, a_t) ≈ delta_t, the TD error. 6: Update Critic: w ← w + alpha w times the gradient with respect to w of V(s_t; w) times A(s, a) (7.13); comment: Critic minimises TD error. 7: Update Actor: theta ← theta + alpha theta times the gradient with respect to theta of log pi(a | s; theta) times A(s, a) + beta H(pi_theta(s_t)) (7.14); comment: maximises actor loss function (7.11). 8: end for 9: end for. Labels: Source: https://medium.com/@kswagat1979/advantage-actor-critic-a2c-models-ab188ddfcb72; E[delta sub t given s,a] equals A(s,a); This is the 1-step estimate of Q(s sub t,a sub t).">
            <a:extLst>
              <a:ext uri="{FF2B5EF4-FFF2-40B4-BE49-F238E27FC236}">
                <a16:creationId xmlns:a16="http://schemas.microsoft.com/office/drawing/2014/main" id="{16609923-229E-CA87-4667-30841CFE71BE}"/>
              </a:ext>
            </a:extLst>
          </p:cNvPr>
          <p:cNvGrpSpPr/>
          <p:nvPr/>
        </p:nvGrpSpPr>
        <p:grpSpPr>
          <a:xfrm>
            <a:off x="853190" y="1950604"/>
            <a:ext cx="8635327" cy="4561766"/>
            <a:chOff x="853190" y="1671400"/>
            <a:chExt cx="8635327" cy="4561766"/>
          </a:xfrm>
        </p:grpSpPr>
        <p:pic>
          <p:nvPicPr>
            <p:cNvPr id="1026" name="Picture 2" descr="Algorithm 7.2, Advantage Actor-Critic (A2C) Algorithm. 1: input: Policy parameters theta, value function parameters w. Learning rates alpha theta, alpha w, discount factor gamma and entropy coefficient beta. 2: for each iterative step do 3: Collect trajectories with transitions (s_t, a_t, r_t, s_t+1, d) for t = 0, 1, …, T with a_t ~ pi(s_t; theta). 4: for each trajectory (or episode) do 5: Compute Advantage: A(s_t, a_t) = r_t+1 + gamma V(s_t+1; w) times (1 − d) − V(s_t; w) (equation 7.12); comment: A(s_t, a_t) ≈ delta_t, the TD error. 6: Update Critic: w ← w + alpha w times the gradient with respect to w of V(s_t; w) times A(s, a) (7.13); comment: Critic minimises TD error. 7: Update Actor: theta ← theta + alpha theta times the gradient with respect to theta of log pi(a | s; theta) times A(s, a) + beta H(pi_theta(s_t)) (7.14); comment: maximises actor loss function (7.11). 8: end for 9: end for.">
              <a:extLst>
                <a:ext uri="{FF2B5EF4-FFF2-40B4-BE49-F238E27FC236}">
                  <a16:creationId xmlns:a16="http://schemas.microsoft.com/office/drawing/2014/main" id="{D612D537-1EBE-5F11-F576-5CE19DEDA4D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853190" y="1671400"/>
              <a:ext cx="8635327" cy="428476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0BF2D66-2E4E-B6BD-4DB5-C3C1D70852E4}"/>
                </a:ext>
              </a:extLst>
            </p:cNvPr>
            <p:cNvSpPr txBox="1"/>
            <p:nvPr/>
          </p:nvSpPr>
          <p:spPr>
            <a:xfrm>
              <a:off x="929390" y="5956167"/>
              <a:ext cx="6648138" cy="276999"/>
            </a:xfrm>
            <a:prstGeom prst="rect">
              <a:avLst/>
            </a:prstGeom>
            <a:noFill/>
          </p:spPr>
          <p:txBody>
            <a:bodyPr wrap="square" rtlCol="0">
              <a:spAutoFit/>
            </a:bodyPr>
            <a:lstStyle/>
            <a:p>
              <a:r>
                <a:rPr lang="en-US" sz="1200" dirty="0"/>
                <a:t>Source: </a:t>
              </a:r>
              <a:r>
                <a:rPr lang="en-US" sz="1200" dirty="0">
                  <a:hlinkClick r:id="rId4"/>
                </a:rPr>
                <a:t>https://medium.com/@kswagat1979/advantage-actor-critic-a2c-models-ab188ddfcb72</a:t>
              </a:r>
              <a:r>
                <a:rPr lang="en-US" sz="1200" dirty="0"/>
                <a:t> </a:t>
              </a:r>
            </a:p>
          </p:txBody>
        </p:sp>
        <mc:AlternateContent xmlns:mc="http://schemas.openxmlformats.org/markup-compatibility/2006" xmlns:a14="http://schemas.microsoft.com/office/drawing/2010/main">
          <mc:Choice Requires="a14">
            <p:sp>
              <p:nvSpPr>
                <p:cNvPr id="9" name="TextBox 8" descr="Equation: E[delta sub t given s,a] equals A(s,a)">
                  <a:extLst>
                    <a:ext uri="{FF2B5EF4-FFF2-40B4-BE49-F238E27FC236}">
                      <a16:creationId xmlns:a16="http://schemas.microsoft.com/office/drawing/2014/main" id="{C869B2AC-1DCC-D2BC-A2DF-9E3714739C1A}"/>
                    </a:ext>
                  </a:extLst>
                </p:cNvPr>
                <p:cNvSpPr txBox="1"/>
                <p:nvPr/>
              </p:nvSpPr>
              <p:spPr>
                <a:xfrm>
                  <a:off x="7577528" y="4072264"/>
                  <a:ext cx="1771124" cy="30777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14:m>
                    <m:oMathPara xmlns:m="http://schemas.openxmlformats.org/officeDocument/2006/math">
                      <m:oMath>
                        <m:r>
                          <a:rPr lang="pt-BR" sz="1400" i="1" dirty="0" smtClean="0">
                            <a:latin typeface="Cambria Math" panose="02040503050406030204" pitchFamily="18" charset="0"/>
                            <a:ea typeface="Cambria Math" panose="02040503050406030204" pitchFamily="18" charset="0"/>
                          </a:rPr>
                          <m:t>𝔼</m:t>
                        </m:r>
                        <m:r>
                          <a:rPr lang="pt-BR" sz="1400" i="1" dirty="0" smtClean="0">
                            <a:latin typeface="Cambria Math" panose="02040503050406030204" pitchFamily="18" charset="0"/>
                          </a:rPr>
                          <m:t>[</m:t>
                        </m:r>
                        <m:sSub>
                          <m:sSubPr>
                            <m:ctrlPr>
                              <a:rPr lang="pt-BR" sz="1400" i="1" dirty="0" smtClean="0">
                                <a:latin typeface="Cambria Math" panose="02040503050406030204" pitchFamily="18" charset="0"/>
                              </a:rPr>
                            </m:ctrlPr>
                          </m:sSubPr>
                          <m:e>
                            <m:r>
                              <a:rPr lang="pt-BR" sz="1400" i="1" dirty="0" smtClean="0">
                                <a:latin typeface="Cambria Math" panose="02040503050406030204" pitchFamily="18" charset="0"/>
                              </a:rPr>
                              <m:t>𝛿</m:t>
                            </m:r>
                          </m:e>
                          <m:sub>
                            <m:r>
                              <a:rPr lang="en-US" sz="1400" b="0" i="1" dirty="0" smtClean="0">
                                <a:latin typeface="Cambria Math" panose="02040503050406030204" pitchFamily="18" charset="0"/>
                              </a:rPr>
                              <m:t>𝑡</m:t>
                            </m:r>
                          </m:sub>
                        </m:sSub>
                        <m:r>
                          <a:rPr lang="pt-BR" sz="1400" i="1" dirty="0" smtClean="0">
                            <a:latin typeface="Cambria Math" panose="02040503050406030204" pitchFamily="18" charset="0"/>
                          </a:rPr>
                          <m:t>​∣</m:t>
                        </m:r>
                        <m:r>
                          <a:rPr lang="pt-BR" sz="1400" i="1" dirty="0" smtClean="0">
                            <a:latin typeface="Cambria Math" panose="02040503050406030204" pitchFamily="18" charset="0"/>
                          </a:rPr>
                          <m:t>𝑠</m:t>
                        </m:r>
                        <m:r>
                          <a:rPr lang="pt-BR" sz="1400" i="1" dirty="0" smtClean="0">
                            <a:latin typeface="Cambria Math" panose="02040503050406030204" pitchFamily="18" charset="0"/>
                          </a:rPr>
                          <m:t>,</m:t>
                        </m:r>
                        <m:r>
                          <a:rPr lang="pt-BR" sz="1400" i="1" dirty="0" smtClean="0">
                            <a:latin typeface="Cambria Math" panose="02040503050406030204" pitchFamily="18" charset="0"/>
                          </a:rPr>
                          <m:t>𝑎</m:t>
                        </m:r>
                        <m:r>
                          <a:rPr lang="pt-BR" sz="1400" i="1" dirty="0" smtClean="0">
                            <a:latin typeface="Cambria Math" panose="02040503050406030204" pitchFamily="18" charset="0"/>
                          </a:rPr>
                          <m:t>]=</m:t>
                        </m:r>
                        <m:r>
                          <a:rPr lang="pt-BR" sz="1400" i="1" dirty="0" smtClean="0">
                            <a:latin typeface="Cambria Math" panose="02040503050406030204" pitchFamily="18" charset="0"/>
                          </a:rPr>
                          <m:t>𝐴</m:t>
                        </m:r>
                        <m:r>
                          <a:rPr lang="pt-BR" sz="1400" i="1" dirty="0" smtClean="0">
                            <a:latin typeface="Cambria Math" panose="02040503050406030204" pitchFamily="18" charset="0"/>
                          </a:rPr>
                          <m:t>(</m:t>
                        </m:r>
                        <m:r>
                          <a:rPr lang="pt-BR" sz="1400" i="1" dirty="0" smtClean="0">
                            <a:latin typeface="Cambria Math" panose="02040503050406030204" pitchFamily="18" charset="0"/>
                          </a:rPr>
                          <m:t>𝑠</m:t>
                        </m:r>
                        <m:r>
                          <a:rPr lang="pt-BR" sz="1400" i="1" dirty="0" smtClean="0">
                            <a:latin typeface="Cambria Math" panose="02040503050406030204" pitchFamily="18" charset="0"/>
                          </a:rPr>
                          <m:t>,</m:t>
                        </m:r>
                        <m:r>
                          <a:rPr lang="pt-BR" sz="1400" i="1" dirty="0" smtClean="0">
                            <a:latin typeface="Cambria Math" panose="02040503050406030204" pitchFamily="18" charset="0"/>
                          </a:rPr>
                          <m:t>𝑎</m:t>
                        </m:r>
                        <m:r>
                          <a:rPr lang="pt-BR" sz="1400" i="1" dirty="0" smtClean="0">
                            <a:latin typeface="Cambria Math" panose="02040503050406030204" pitchFamily="18" charset="0"/>
                          </a:rPr>
                          <m:t>)</m:t>
                        </m:r>
                      </m:oMath>
                    </m:oMathPara>
                  </a14:m>
                  <a:endParaRPr lang="en-US" sz="1400" dirty="0"/>
                </a:p>
              </p:txBody>
            </p:sp>
          </mc:Choice>
          <mc:Fallback xmlns="">
            <p:sp>
              <p:nvSpPr>
                <p:cNvPr id="9" name="TextBox 8" descr="Equation: E[delta sub t given s,a] equals A(s,a)">
                  <a:extLst>
                    <a:ext uri="{FF2B5EF4-FFF2-40B4-BE49-F238E27FC236}">
                      <a16:creationId xmlns:a16="http://schemas.microsoft.com/office/drawing/2014/main" id="{C869B2AC-1DCC-D2BC-A2DF-9E3714739C1A}"/>
                    </a:ext>
                  </a:extLst>
                </p:cNvPr>
                <p:cNvSpPr txBox="1">
                  <a:spLocks noRot="1" noChangeAspect="1" noMove="1" noResize="1" noEditPoints="1" noAdjustHandles="1" noChangeArrowheads="1" noChangeShapeType="1" noTextEdit="1"/>
                </p:cNvSpPr>
                <p:nvPr/>
              </p:nvSpPr>
              <p:spPr>
                <a:xfrm>
                  <a:off x="7577528" y="4072264"/>
                  <a:ext cx="1771124" cy="307777"/>
                </a:xfrm>
                <a:prstGeom prst="rect">
                  <a:avLst/>
                </a:prstGeom>
                <a:blipFill>
                  <a:blip r:embed="rId6"/>
                  <a:stretch>
                    <a:fillRect b="-3704"/>
                  </a:stretch>
                </a:blipFill>
              </p:spPr>
              <p:txBody>
                <a:bodyPr/>
                <a:lstStyle/>
                <a:p>
                  <a:r>
                    <a:rPr lang="en-US">
                      <a:noFill/>
                    </a:rPr>
                    <a:t> </a:t>
                  </a:r>
                </a:p>
              </p:txBody>
            </p:sp>
          </mc:Fallback>
        </mc:AlternateContent>
        <p:sp>
          <p:nvSpPr>
            <p:cNvPr id="8" name="Right Brace 7">
              <a:extLst>
                <a:ext uri="{FF2B5EF4-FFF2-40B4-BE49-F238E27FC236}">
                  <a16:creationId xmlns:a16="http://schemas.microsoft.com/office/drawing/2014/main" id="{900304A6-B3A2-A77E-A2AD-707D1FADA63B}"/>
                </a:ext>
                <a:ext uri="{C183D7F6-B498-43B3-948B-1728B52AA6E4}">
                  <adec:decorative xmlns:adec="http://schemas.microsoft.com/office/drawing/2017/decorative" val="1"/>
                </a:ext>
              </a:extLst>
            </p:cNvPr>
            <p:cNvSpPr/>
            <p:nvPr/>
          </p:nvSpPr>
          <p:spPr>
            <a:xfrm rot="5400000">
              <a:off x="4825766" y="2966152"/>
              <a:ext cx="188754" cy="155196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extBox 10" descr="This is the 1-step estimate of Q(s sub t,a sub t)">
                  <a:extLst>
                    <a:ext uri="{FF2B5EF4-FFF2-40B4-BE49-F238E27FC236}">
                      <a16:creationId xmlns:a16="http://schemas.microsoft.com/office/drawing/2014/main" id="{FF2DE0BF-EE77-8E5F-6FAB-076BAC640583}"/>
                    </a:ext>
                  </a:extLst>
                </p:cNvPr>
                <p:cNvSpPr txBox="1"/>
                <p:nvPr/>
              </p:nvSpPr>
              <p:spPr>
                <a:xfrm>
                  <a:off x="3498450" y="3792384"/>
                  <a:ext cx="2780710" cy="276999"/>
                </a:xfrm>
                <a:prstGeom prst="rect">
                  <a:avLst/>
                </a:prstGeom>
                <a:noFill/>
              </p:spPr>
              <p:txBody>
                <a:bodyPr wrap="square" rtlCol="0">
                  <a:spAutoFit/>
                </a:bodyPr>
                <a:lstStyle/>
                <a:p>
                  <a:pPr algn="ctr"/>
                  <a:r>
                    <a:rPr lang="en-US" sz="1200" dirty="0">
                      <a:solidFill>
                        <a:schemeClr val="accent1"/>
                      </a:solidFill>
                    </a:rPr>
                    <a:t>This is the 1-step estimate of  </a:t>
                  </a:r>
                  <a14:m>
                    <m:oMath xmlns:m="http://schemas.openxmlformats.org/officeDocument/2006/math">
                      <m:r>
                        <a:rPr lang="en-US" sz="1200" b="0" i="1" smtClean="0">
                          <a:solidFill>
                            <a:schemeClr val="accent1"/>
                          </a:solidFill>
                          <a:latin typeface="Cambria Math" panose="02040503050406030204" pitchFamily="18" charset="0"/>
                        </a:rPr>
                        <m:t>𝑄</m:t>
                      </m:r>
                      <m:r>
                        <a:rPr lang="en-US" sz="1200" b="0" i="1" smtClean="0">
                          <a:solidFill>
                            <a:schemeClr val="accent1"/>
                          </a:solidFill>
                          <a:latin typeface="Cambria Math" panose="02040503050406030204" pitchFamily="18" charset="0"/>
                        </a:rPr>
                        <m:t>(</m:t>
                      </m:r>
                      <m:sSub>
                        <m:sSubPr>
                          <m:ctrlPr>
                            <a:rPr lang="en-US" sz="1200" b="0" i="1" smtClean="0">
                              <a:solidFill>
                                <a:schemeClr val="accent1"/>
                              </a:solidFill>
                              <a:latin typeface="Cambria Math" panose="02040503050406030204" pitchFamily="18" charset="0"/>
                            </a:rPr>
                          </m:ctrlPr>
                        </m:sSubPr>
                        <m:e>
                          <m:r>
                            <a:rPr lang="en-US" sz="1200" b="0" i="1" smtClean="0">
                              <a:solidFill>
                                <a:schemeClr val="accent1"/>
                              </a:solidFill>
                              <a:latin typeface="Cambria Math" panose="02040503050406030204" pitchFamily="18" charset="0"/>
                            </a:rPr>
                            <m:t>𝑠</m:t>
                          </m:r>
                        </m:e>
                        <m:sub>
                          <m:r>
                            <a:rPr lang="en-US" sz="1200" b="0" i="1" smtClean="0">
                              <a:solidFill>
                                <a:schemeClr val="accent1"/>
                              </a:solidFill>
                              <a:latin typeface="Cambria Math" panose="02040503050406030204" pitchFamily="18" charset="0"/>
                            </a:rPr>
                            <m:t>𝑡</m:t>
                          </m:r>
                        </m:sub>
                      </m:sSub>
                      <m:r>
                        <a:rPr lang="en-US" sz="1200" b="0" i="1" smtClean="0">
                          <a:solidFill>
                            <a:schemeClr val="accent1"/>
                          </a:solidFill>
                          <a:latin typeface="Cambria Math" panose="02040503050406030204" pitchFamily="18" charset="0"/>
                        </a:rPr>
                        <m:t>,</m:t>
                      </m:r>
                      <m:sSub>
                        <m:sSubPr>
                          <m:ctrlPr>
                            <a:rPr lang="en-US" sz="1200" b="0" i="1" smtClean="0">
                              <a:solidFill>
                                <a:schemeClr val="accent1"/>
                              </a:solidFill>
                              <a:latin typeface="Cambria Math" panose="02040503050406030204" pitchFamily="18" charset="0"/>
                            </a:rPr>
                          </m:ctrlPr>
                        </m:sSubPr>
                        <m:e>
                          <m:r>
                            <a:rPr lang="en-US" sz="1200" b="0" i="1" smtClean="0">
                              <a:solidFill>
                                <a:schemeClr val="accent1"/>
                              </a:solidFill>
                              <a:latin typeface="Cambria Math" panose="02040503050406030204" pitchFamily="18" charset="0"/>
                            </a:rPr>
                            <m:t>𝑎</m:t>
                          </m:r>
                        </m:e>
                        <m:sub>
                          <m:r>
                            <a:rPr lang="en-US" sz="1200" b="0" i="1" smtClean="0">
                              <a:solidFill>
                                <a:schemeClr val="accent1"/>
                              </a:solidFill>
                              <a:latin typeface="Cambria Math" panose="02040503050406030204" pitchFamily="18" charset="0"/>
                            </a:rPr>
                            <m:t>𝑡</m:t>
                          </m:r>
                        </m:sub>
                      </m:sSub>
                      <m:r>
                        <a:rPr lang="en-US" sz="1200" b="0" i="1" smtClean="0">
                          <a:solidFill>
                            <a:schemeClr val="accent1"/>
                          </a:solidFill>
                          <a:latin typeface="Cambria Math" panose="02040503050406030204" pitchFamily="18" charset="0"/>
                        </a:rPr>
                        <m:t>)</m:t>
                      </m:r>
                    </m:oMath>
                  </a14:m>
                  <a:endParaRPr lang="en-US" sz="1200" dirty="0">
                    <a:solidFill>
                      <a:schemeClr val="accent1"/>
                    </a:solidFill>
                  </a:endParaRPr>
                </a:p>
              </p:txBody>
            </p:sp>
          </mc:Choice>
          <mc:Fallback xmlns="">
            <p:sp>
              <p:nvSpPr>
                <p:cNvPr id="11" name="TextBox 10" descr="This is the 1-step estimate of Q(s sub t,a sub t)">
                  <a:extLst>
                    <a:ext uri="{FF2B5EF4-FFF2-40B4-BE49-F238E27FC236}">
                      <a16:creationId xmlns:a16="http://schemas.microsoft.com/office/drawing/2014/main" id="{FF2DE0BF-EE77-8E5F-6FAB-076BAC640583}"/>
                    </a:ext>
                  </a:extLst>
                </p:cNvPr>
                <p:cNvSpPr txBox="1">
                  <a:spLocks noRot="1" noChangeAspect="1" noMove="1" noResize="1" noEditPoints="1" noAdjustHandles="1" noChangeArrowheads="1" noChangeShapeType="1" noTextEdit="1"/>
                </p:cNvSpPr>
                <p:nvPr/>
              </p:nvSpPr>
              <p:spPr>
                <a:xfrm>
                  <a:off x="3498450" y="3792384"/>
                  <a:ext cx="2780710" cy="276999"/>
                </a:xfrm>
                <a:prstGeom prst="rect">
                  <a:avLst/>
                </a:prstGeom>
                <a:blipFill>
                  <a:blip r:embed="rId7"/>
                  <a:stretch>
                    <a:fillRect b="-15217"/>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816117E7-65A2-6EA8-A15E-89F31F7C11A6}"/>
                </a:ext>
                <a:ext uri="{C183D7F6-B498-43B3-948B-1728B52AA6E4}">
                  <adec:decorative xmlns:adec="http://schemas.microsoft.com/office/drawing/2017/decorative" val="1"/>
                </a:ext>
              </a:extLst>
            </p:cNvPr>
            <p:cNvCxnSpPr/>
            <p:nvPr/>
          </p:nvCxnSpPr>
          <p:spPr>
            <a:xfrm>
              <a:off x="5956184" y="4458749"/>
              <a:ext cx="465589" cy="0"/>
            </a:xfrm>
            <a:prstGeom prst="line">
              <a:avLst/>
            </a:prstGeom>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5" name="Speech Bubble: Rectangle with Corners Rounded 4" descr="Note: d is a done indicator for the episode end">
                <a:extLst>
                  <a:ext uri="{FF2B5EF4-FFF2-40B4-BE49-F238E27FC236}">
                    <a16:creationId xmlns:a16="http://schemas.microsoft.com/office/drawing/2014/main" id="{4FBEC75A-8785-3A1A-0AE0-F3908796110E}"/>
                  </a:ext>
                </a:extLst>
              </p:cNvPr>
              <p:cNvSpPr/>
              <p:nvPr/>
            </p:nvSpPr>
            <p:spPr>
              <a:xfrm>
                <a:off x="9608696" y="2547756"/>
                <a:ext cx="2344708" cy="565391"/>
              </a:xfrm>
              <a:prstGeom prst="wedgeRoundRectCallout">
                <a:avLst>
                  <a:gd name="adj1" fmla="val -103856"/>
                  <a:gd name="adj2" fmla="val 24174"/>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Note: </a:t>
                </a:r>
                <a14:m>
                  <m:oMath xmlns:m="http://schemas.openxmlformats.org/officeDocument/2006/math">
                    <m:r>
                      <a:rPr lang="en-US" sz="1400" i="1">
                        <a:latin typeface="Cambria Math" panose="02040503050406030204" pitchFamily="18" charset="0"/>
                      </a:rPr>
                      <m:t>𝑑</m:t>
                    </m:r>
                  </m:oMath>
                </a14:m>
                <a:r>
                  <a:rPr lang="en-US" sz="1400" dirty="0"/>
                  <a:t> is a done indicator for the episode end</a:t>
                </a:r>
              </a:p>
            </p:txBody>
          </p:sp>
        </mc:Choice>
        <mc:Fallback xmlns="">
          <p:sp>
            <p:nvSpPr>
              <p:cNvPr id="5" name="Speech Bubble: Rectangle with Corners Rounded 4" descr="Note: d is a done indicator for the episode end">
                <a:extLst>
                  <a:ext uri="{FF2B5EF4-FFF2-40B4-BE49-F238E27FC236}">
                    <a16:creationId xmlns:a16="http://schemas.microsoft.com/office/drawing/2014/main" id="{4FBEC75A-8785-3A1A-0AE0-F3908796110E}"/>
                  </a:ext>
                </a:extLst>
              </p:cNvPr>
              <p:cNvSpPr>
                <a:spLocks noRot="1" noChangeAspect="1" noMove="1" noResize="1" noEditPoints="1" noAdjustHandles="1" noChangeArrowheads="1" noChangeShapeType="1" noTextEdit="1"/>
              </p:cNvSpPr>
              <p:nvPr/>
            </p:nvSpPr>
            <p:spPr>
              <a:xfrm>
                <a:off x="9608696" y="2547756"/>
                <a:ext cx="2344708" cy="565391"/>
              </a:xfrm>
              <a:prstGeom prst="wedgeRoundRectCallout">
                <a:avLst>
                  <a:gd name="adj1" fmla="val -103856"/>
                  <a:gd name="adj2" fmla="val 24174"/>
                  <a:gd name="adj3" fmla="val 16667"/>
                </a:avLst>
              </a:prstGeom>
              <a:blipFill>
                <a:blip r:embed="rId8"/>
                <a:stretch>
                  <a:fillRect b="-4167"/>
                </a:stretch>
              </a:blipFill>
            </p:spPr>
            <p:txBody>
              <a:bodyPr/>
              <a:lstStyle/>
              <a:p>
                <a:r>
                  <a:rPr lang="en-US">
                    <a:noFill/>
                  </a:rPr>
                  <a:t> </a:t>
                </a:r>
              </a:p>
            </p:txBody>
          </p:sp>
        </mc:Fallback>
      </mc:AlternateContent>
      <p:sp>
        <p:nvSpPr>
          <p:cNvPr id="6" name="Speech Bubble: Rectangle with Corners Rounded 5">
            <a:extLst>
              <a:ext uri="{FF2B5EF4-FFF2-40B4-BE49-F238E27FC236}">
                <a16:creationId xmlns:a16="http://schemas.microsoft.com/office/drawing/2014/main" id="{9D4FB8B7-BB91-EBDD-27B7-EBEEB93DD8BB}"/>
              </a:ext>
            </a:extLst>
          </p:cNvPr>
          <p:cNvSpPr/>
          <p:nvPr/>
        </p:nvSpPr>
        <p:spPr>
          <a:xfrm>
            <a:off x="9608695" y="3449622"/>
            <a:ext cx="2344709" cy="1791324"/>
          </a:xfrm>
          <a:prstGeom prst="wedgeRoundRectCallout">
            <a:avLst>
              <a:gd name="adj1" fmla="val -64497"/>
              <a:gd name="adj2" fmla="val -29061"/>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Advantage </a:t>
            </a:r>
            <a:r>
              <a:rPr lang="en-US" sz="1400" dirty="0"/>
              <a:t>provides a better, lower variance  signal by focusing on relative action quality.</a:t>
            </a:r>
          </a:p>
          <a:p>
            <a:pPr algn="ctr"/>
            <a:r>
              <a:rPr lang="en-US" sz="1400" dirty="0"/>
              <a:t>Could use multi-step bootstrapping for more stability and faster reward propagation.</a:t>
            </a:r>
          </a:p>
        </p:txBody>
      </p:sp>
      <p:sp>
        <p:nvSpPr>
          <p:cNvPr id="10" name="Speech Bubble: Rectangle with Corners Rounded 9">
            <a:extLst>
              <a:ext uri="{FF2B5EF4-FFF2-40B4-BE49-F238E27FC236}">
                <a16:creationId xmlns:a16="http://schemas.microsoft.com/office/drawing/2014/main" id="{6CD88DE7-1973-CF65-785F-43361EA3EAFF}"/>
              </a:ext>
            </a:extLst>
          </p:cNvPr>
          <p:cNvSpPr/>
          <p:nvPr/>
        </p:nvSpPr>
        <p:spPr>
          <a:xfrm>
            <a:off x="9564717" y="5345877"/>
            <a:ext cx="2344708" cy="1334129"/>
          </a:xfrm>
          <a:prstGeom prst="wedgeRoundRectCallout">
            <a:avLst>
              <a:gd name="adj1" fmla="val -175325"/>
              <a:gd name="adj2" fmla="val -41489"/>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Optional</a:t>
            </a:r>
          </a:p>
          <a:p>
            <a:pPr algn="ctr"/>
            <a:r>
              <a:rPr lang="en-US" sz="1400" b="1" dirty="0"/>
              <a:t>Entropy regularization:</a:t>
            </a:r>
            <a:r>
              <a:rPr lang="en-US" sz="1400" dirty="0"/>
              <a:t> encourages the policy to stay uncertain/spread out and explore. (Not all implementations do this)</a:t>
            </a:r>
          </a:p>
        </p:txBody>
      </p:sp>
      <p:sp>
        <p:nvSpPr>
          <p:cNvPr id="3" name="Rectangle 2">
            <a:extLst>
              <a:ext uri="{FF2B5EF4-FFF2-40B4-BE49-F238E27FC236}">
                <a16:creationId xmlns:a16="http://schemas.microsoft.com/office/drawing/2014/main" id="{79E62B10-EBF7-87F1-1B7E-403429EED7A0}"/>
              </a:ext>
              <a:ext uri="{C183D7F6-B498-43B3-948B-1728B52AA6E4}">
                <adec:decorative xmlns:adec="http://schemas.microsoft.com/office/drawing/2017/decorative" val="1"/>
              </a:ext>
            </a:extLst>
          </p:cNvPr>
          <p:cNvSpPr/>
          <p:nvPr/>
        </p:nvSpPr>
        <p:spPr>
          <a:xfrm>
            <a:off x="5956184" y="5175082"/>
            <a:ext cx="1077662" cy="272226"/>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41725005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F84F5-CD59-9523-62E5-0BA0B4E4411A}"/>
              </a:ext>
            </a:extLst>
          </p:cNvPr>
          <p:cNvSpPr>
            <a:spLocks noGrp="1"/>
          </p:cNvSpPr>
          <p:nvPr>
            <p:ph type="title"/>
          </p:nvPr>
        </p:nvSpPr>
        <p:spPr/>
        <p:txBody>
          <a:bodyPr/>
          <a:lstStyle/>
          <a:p>
            <a:r>
              <a:rPr lang="en-US" dirty="0"/>
              <a:t>Natural Policy Gradients (NPG)</a:t>
            </a:r>
          </a:p>
        </p:txBody>
      </p:sp>
      <mc:AlternateContent xmlns:mc="http://schemas.openxmlformats.org/markup-compatibility/2006" xmlns:a14="http://schemas.microsoft.com/office/drawing/2010/main">
        <mc:Choice Requires="a14">
          <p:sp>
            <p:nvSpPr>
              <p:cNvPr id="4" name="TextBox 3" descr="Notation: theta and w are often used interchangeably!">
                <a:extLst>
                  <a:ext uri="{FF2B5EF4-FFF2-40B4-BE49-F238E27FC236}">
                    <a16:creationId xmlns:a16="http://schemas.microsoft.com/office/drawing/2014/main" id="{3DDEA009-5DF2-9CDE-2186-6F8195DC35FC}"/>
                  </a:ext>
                </a:extLst>
              </p:cNvPr>
              <p:cNvSpPr txBox="1"/>
              <p:nvPr/>
            </p:nvSpPr>
            <p:spPr>
              <a:xfrm>
                <a:off x="8451908" y="180460"/>
                <a:ext cx="337140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Notation: </a:t>
                </a:r>
                <a14:m>
                  <m:oMath xmlns:m="http://schemas.openxmlformats.org/officeDocument/2006/math">
                    <m:r>
                      <a:rPr lang="en-US" b="0" i="1" smtClean="0">
                        <a:latin typeface="Cambria Math" panose="02040503050406030204" pitchFamily="18" charset="0"/>
                      </a:rPr>
                      <m:t>𝜃</m:t>
                    </m:r>
                  </m:oMath>
                </a14:m>
                <a:r>
                  <a:rPr lang="en-US" dirty="0"/>
                  <a:t> and </a:t>
                </a:r>
                <a14:m>
                  <m:oMath xmlns:m="http://schemas.openxmlformats.org/officeDocument/2006/math">
                    <m:r>
                      <a:rPr lang="en-US" i="1" dirty="0" smtClean="0">
                        <a:latin typeface="Cambria Math" panose="02040503050406030204" pitchFamily="18" charset="0"/>
                      </a:rPr>
                      <m:t>𝑤</m:t>
                    </m:r>
                  </m:oMath>
                </a14:m>
                <a:r>
                  <a:rPr lang="en-US" dirty="0"/>
                  <a:t> are often used interchangeably!</a:t>
                </a:r>
              </a:p>
            </p:txBody>
          </p:sp>
        </mc:Choice>
        <mc:Fallback xmlns="">
          <p:sp>
            <p:nvSpPr>
              <p:cNvPr id="4" name="TextBox 3" descr="Notation: theta and w are often used interchangeably!">
                <a:extLst>
                  <a:ext uri="{FF2B5EF4-FFF2-40B4-BE49-F238E27FC236}">
                    <a16:creationId xmlns:a16="http://schemas.microsoft.com/office/drawing/2014/main" id="{3DDEA009-5DF2-9CDE-2186-6F8195DC35FC}"/>
                  </a:ext>
                </a:extLst>
              </p:cNvPr>
              <p:cNvSpPr txBox="1">
                <a:spLocks noRot="1" noChangeAspect="1" noMove="1" noResize="1" noEditPoints="1" noAdjustHandles="1" noChangeArrowheads="1" noChangeShapeType="1" noTextEdit="1"/>
              </p:cNvSpPr>
              <p:nvPr/>
            </p:nvSpPr>
            <p:spPr>
              <a:xfrm>
                <a:off x="8451908" y="180460"/>
                <a:ext cx="3371402" cy="646331"/>
              </a:xfrm>
              <a:prstGeom prst="rect">
                <a:avLst/>
              </a:prstGeom>
              <a:blipFill>
                <a:blip r:embed="rId3"/>
                <a:stretch>
                  <a:fillRect t="-3670" b="-12844"/>
                </a:stretch>
              </a:blipFill>
            </p:spPr>
            <p:txBody>
              <a:bodyPr/>
              <a:lstStyle/>
              <a:p>
                <a:r>
                  <a:rPr lang="en-US">
                    <a:noFill/>
                  </a:rPr>
                  <a:t> </a:t>
                </a:r>
              </a:p>
            </p:txBody>
          </p:sp>
        </mc:Fallback>
      </mc:AlternateContent>
      <p:grpSp>
        <p:nvGrpSpPr>
          <p:cNvPr id="49" name="Group 48" descr="Plot in parameter space with axes w1 and w2: a circle around the current parameters w shows the allowed step size, the norm of delta w.">
            <a:extLst>
              <a:ext uri="{FF2B5EF4-FFF2-40B4-BE49-F238E27FC236}">
                <a16:creationId xmlns:a16="http://schemas.microsoft.com/office/drawing/2014/main" id="{E3D6A336-64C7-AA40-CEEF-589628051FEE}"/>
              </a:ext>
            </a:extLst>
          </p:cNvPr>
          <p:cNvGrpSpPr/>
          <p:nvPr/>
        </p:nvGrpSpPr>
        <p:grpSpPr>
          <a:xfrm>
            <a:off x="9138985" y="917128"/>
            <a:ext cx="2219642" cy="1725897"/>
            <a:chOff x="8544196" y="865608"/>
            <a:chExt cx="2625612" cy="1950628"/>
          </a:xfrm>
        </p:grpSpPr>
        <p:cxnSp>
          <p:nvCxnSpPr>
            <p:cNvPr id="34" name="Straight Arrow Connector 33">
              <a:extLst>
                <a:ext uri="{FF2B5EF4-FFF2-40B4-BE49-F238E27FC236}">
                  <a16:creationId xmlns:a16="http://schemas.microsoft.com/office/drawing/2014/main" id="{D2E75184-343E-0B33-9349-9154469CB2A5}"/>
                </a:ext>
                <a:ext uri="{C183D7F6-B498-43B3-948B-1728B52AA6E4}">
                  <adec:decorative xmlns:adec="http://schemas.microsoft.com/office/drawing/2017/decorative" val="1"/>
                </a:ext>
              </a:extLst>
            </p:cNvPr>
            <p:cNvCxnSpPr/>
            <p:nvPr/>
          </p:nvCxnSpPr>
          <p:spPr>
            <a:xfrm flipH="1" flipV="1">
              <a:off x="8929413" y="1124198"/>
              <a:ext cx="13650" cy="14915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68FEC363-ED9C-36DC-480F-C574D7AA35ED}"/>
                </a:ext>
                <a:ext uri="{C183D7F6-B498-43B3-948B-1728B52AA6E4}">
                  <adec:decorative xmlns:adec="http://schemas.microsoft.com/office/drawing/2017/decorative" val="1"/>
                </a:ext>
              </a:extLst>
            </p:cNvPr>
            <p:cNvCxnSpPr/>
            <p:nvPr/>
          </p:nvCxnSpPr>
          <p:spPr>
            <a:xfrm>
              <a:off x="8935568" y="2630774"/>
              <a:ext cx="18423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Oval 36">
              <a:extLst>
                <a:ext uri="{FF2B5EF4-FFF2-40B4-BE49-F238E27FC236}">
                  <a16:creationId xmlns:a16="http://schemas.microsoft.com/office/drawing/2014/main" id="{C62D7733-0F20-A22D-04A0-C5BCFF464541}"/>
                </a:ext>
                <a:ext uri="{C183D7F6-B498-43B3-948B-1728B52AA6E4}">
                  <adec:decorative xmlns:adec="http://schemas.microsoft.com/office/drawing/2017/decorative" val="1"/>
                </a:ext>
              </a:extLst>
            </p:cNvPr>
            <p:cNvSpPr/>
            <p:nvPr/>
          </p:nvSpPr>
          <p:spPr>
            <a:xfrm>
              <a:off x="9211390" y="1314276"/>
              <a:ext cx="1124332" cy="1109242"/>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39" name="TextBox 38" descr="Equation: the norm of Delta w sub 2">
                  <a:extLst>
                    <a:ext uri="{FF2B5EF4-FFF2-40B4-BE49-F238E27FC236}">
                      <a16:creationId xmlns:a16="http://schemas.microsoft.com/office/drawing/2014/main" id="{C3A90B0C-16C9-38A2-90C5-AE98055374CF}"/>
                    </a:ext>
                  </a:extLst>
                </p:cNvPr>
                <p:cNvSpPr txBox="1"/>
                <p:nvPr/>
              </p:nvSpPr>
              <p:spPr>
                <a:xfrm>
                  <a:off x="9867786" y="1612079"/>
                  <a:ext cx="893788" cy="347853"/>
                </a:xfrm>
                <a:prstGeom prst="rect">
                  <a:avLst/>
                </a:prstGeom>
                <a:noFill/>
              </p:spPr>
              <p:txBody>
                <a:bodyPr wrap="square">
                  <a:spAutoFit/>
                </a:bodyPr>
                <a:lstStyle/>
                <a:p>
                  <a:pPr/>
                  <a14:m>
                    <m:oMathPara xmlns:m="http://schemas.openxmlformats.org/officeDocument/2006/math">
                      <m:oMath>
                        <m:sSub>
                          <m:sSubPr>
                            <m:ctrlPr>
                              <a:rPr lang="en-US" sz="1400" b="1" i="1" smtClean="0">
                                <a:latin typeface="Cambria Math" panose="02040503050406030204" pitchFamily="18" charset="0"/>
                              </a:rPr>
                            </m:ctrlPr>
                          </m:sSubPr>
                          <m:e>
                            <m:d>
                              <m:dPr>
                                <m:begChr m:val="‖"/>
                                <m:endChr m:val="‖"/>
                                <m:ctrlPr>
                                  <a:rPr lang="en-US" sz="1400" b="1" i="1" smtClean="0">
                                    <a:latin typeface="Cambria Math" panose="02040503050406030204" pitchFamily="18" charset="0"/>
                                    <a:ea typeface="Cambria Math" panose="02040503050406030204" pitchFamily="18" charset="0"/>
                                  </a:rPr>
                                </m:ctrlPr>
                              </m:dPr>
                              <m:e>
                                <m:r>
                                  <a:rPr lang="en-US" sz="1400" b="1" i="1" smtClean="0">
                                    <a:latin typeface="Cambria Math" panose="02040503050406030204" pitchFamily="18" charset="0"/>
                                    <a:ea typeface="Cambria Math" panose="02040503050406030204" pitchFamily="18" charset="0"/>
                                  </a:rPr>
                                  <m:t>∆</m:t>
                                </m:r>
                                <m:r>
                                  <a:rPr lang="en-US" sz="1400" b="1" i="1" smtClean="0">
                                    <a:latin typeface="Cambria Math" panose="02040503050406030204" pitchFamily="18" charset="0"/>
                                    <a:ea typeface="Cambria Math" panose="02040503050406030204" pitchFamily="18" charset="0"/>
                                  </a:rPr>
                                  <m:t>𝒘</m:t>
                                </m:r>
                              </m:e>
                            </m:d>
                          </m:e>
                          <m:sub>
                            <m:r>
                              <a:rPr lang="en-US" sz="1400" b="0" i="1" smtClean="0">
                                <a:latin typeface="Cambria Math" panose="02040503050406030204" pitchFamily="18" charset="0"/>
                              </a:rPr>
                              <m:t>2</m:t>
                            </m:r>
                          </m:sub>
                        </m:sSub>
                      </m:oMath>
                    </m:oMathPara>
                  </a14:m>
                  <a:endParaRPr lang="en-US" sz="1400" dirty="0"/>
                </a:p>
              </p:txBody>
            </p:sp>
          </mc:Choice>
          <mc:Fallback xmlns="">
            <p:sp>
              <p:nvSpPr>
                <p:cNvPr id="39" name="TextBox 38" descr="Equation: the norm of Delta w sub 2">
                  <a:extLst>
                    <a:ext uri="{FF2B5EF4-FFF2-40B4-BE49-F238E27FC236}">
                      <a16:creationId xmlns:a16="http://schemas.microsoft.com/office/drawing/2014/main" id="{C3A90B0C-16C9-38A2-90C5-AE98055374CF}"/>
                    </a:ext>
                  </a:extLst>
                </p:cNvPr>
                <p:cNvSpPr txBox="1">
                  <a:spLocks noRot="1" noChangeAspect="1" noMove="1" noResize="1" noEditPoints="1" noAdjustHandles="1" noChangeArrowheads="1" noChangeShapeType="1" noTextEdit="1"/>
                </p:cNvSpPr>
                <p:nvPr/>
              </p:nvSpPr>
              <p:spPr>
                <a:xfrm>
                  <a:off x="9867786" y="1612079"/>
                  <a:ext cx="893788" cy="347853"/>
                </a:xfrm>
                <a:prstGeom prst="rect">
                  <a:avLst/>
                </a:prstGeom>
                <a:blipFill>
                  <a:blip r:embed="rId134"/>
                  <a:stretch>
                    <a:fillRect/>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4D092709-6AFA-35F7-ACB9-BFC07B91C0E3}"/>
                </a:ext>
                <a:ext uri="{C183D7F6-B498-43B3-948B-1728B52AA6E4}">
                  <adec:decorative xmlns:adec="http://schemas.microsoft.com/office/drawing/2017/decorative" val="1"/>
                </a:ext>
              </a:extLst>
            </p:cNvPr>
            <p:cNvCxnSpPr>
              <a:cxnSpLocks/>
              <a:endCxn id="37" idx="7"/>
            </p:cNvCxnSpPr>
            <p:nvPr/>
          </p:nvCxnSpPr>
          <p:spPr>
            <a:xfrm flipV="1">
              <a:off x="9804010" y="1476721"/>
              <a:ext cx="367057" cy="40655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44" name="TextBox 43" descr="w +">
                  <a:extLst>
                    <a:ext uri="{FF2B5EF4-FFF2-40B4-BE49-F238E27FC236}">
                      <a16:creationId xmlns:a16="http://schemas.microsoft.com/office/drawing/2014/main" id="{75919C24-167B-DEF2-8879-C49C8A20216D}"/>
                    </a:ext>
                  </a:extLst>
                </p:cNvPr>
                <p:cNvSpPr txBox="1"/>
                <p:nvPr/>
              </p:nvSpPr>
              <p:spPr>
                <a:xfrm>
                  <a:off x="9434888" y="1688380"/>
                  <a:ext cx="580275" cy="347853"/>
                </a:xfrm>
                <a:prstGeom prst="rect">
                  <a:avLst/>
                </a:prstGeom>
                <a:noFill/>
              </p:spPr>
              <p:txBody>
                <a:bodyPr wrap="square">
                  <a:spAutoFit/>
                </a:bodyPr>
                <a:lstStyle/>
                <a:p>
                  <a14:m>
                    <m:oMath xmlns:m="http://schemas.openxmlformats.org/officeDocument/2006/math">
                      <m:r>
                        <a:rPr lang="en-US" sz="1400" b="1" i="1" smtClean="0">
                          <a:latin typeface="Cambria Math" panose="02040503050406030204" pitchFamily="18" charset="0"/>
                        </a:rPr>
                        <m:t>𝒘</m:t>
                      </m:r>
                    </m:oMath>
                  </a14:m>
                  <a:r>
                    <a:rPr lang="en-US" sz="1400" b="1" dirty="0"/>
                    <a:t> +</a:t>
                  </a:r>
                </a:p>
              </p:txBody>
            </p:sp>
          </mc:Choice>
          <mc:Fallback xmlns="">
            <p:sp>
              <p:nvSpPr>
                <p:cNvPr id="44" name="TextBox 43" descr="w +">
                  <a:extLst>
                    <a:ext uri="{FF2B5EF4-FFF2-40B4-BE49-F238E27FC236}">
                      <a16:creationId xmlns:a16="http://schemas.microsoft.com/office/drawing/2014/main" id="{75919C24-167B-DEF2-8879-C49C8A20216D}"/>
                    </a:ext>
                  </a:extLst>
                </p:cNvPr>
                <p:cNvSpPr txBox="1">
                  <a:spLocks noRot="1" noChangeAspect="1" noMove="1" noResize="1" noEditPoints="1" noAdjustHandles="1" noChangeArrowheads="1" noChangeShapeType="1" noTextEdit="1"/>
                </p:cNvSpPr>
                <p:nvPr/>
              </p:nvSpPr>
              <p:spPr>
                <a:xfrm>
                  <a:off x="9434888" y="1688380"/>
                  <a:ext cx="580275" cy="347853"/>
                </a:xfrm>
                <a:prstGeom prst="rect">
                  <a:avLst/>
                </a:prstGeom>
                <a:blipFill>
                  <a:blip r:embed="rId135"/>
                  <a:stretch>
                    <a:fillRect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descr="Equation: w sub 1">
                  <a:extLst>
                    <a:ext uri="{FF2B5EF4-FFF2-40B4-BE49-F238E27FC236}">
                      <a16:creationId xmlns:a16="http://schemas.microsoft.com/office/drawing/2014/main" id="{E0BBE52B-3BA9-DEE2-3B83-068AA2D06A38}"/>
                    </a:ext>
                  </a:extLst>
                </p:cNvPr>
                <p:cNvSpPr txBox="1"/>
                <p:nvPr/>
              </p:nvSpPr>
              <p:spPr>
                <a:xfrm>
                  <a:off x="10726329" y="2468383"/>
                  <a:ext cx="443479" cy="347853"/>
                </a:xfrm>
                <a:prstGeom prst="rect">
                  <a:avLst/>
                </a:prstGeom>
                <a:noFill/>
              </p:spPr>
              <p:txBody>
                <a:bodyPr wrap="square">
                  <a:spAutoFit/>
                </a:bodyPr>
                <a:lstStyle/>
                <a:p>
                  <a:pP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𝑤</m:t>
                            </m:r>
                          </m:e>
                          <m:sub>
                            <m:r>
                              <a:rPr lang="en-US" sz="1400" b="0" i="1" smtClean="0">
                                <a:latin typeface="Cambria Math" panose="02040503050406030204" pitchFamily="18" charset="0"/>
                              </a:rPr>
                              <m:t>1</m:t>
                            </m:r>
                          </m:sub>
                        </m:sSub>
                      </m:oMath>
                    </m:oMathPara>
                  </a14:m>
                  <a:endParaRPr lang="en-US" sz="1400" dirty="0"/>
                </a:p>
              </p:txBody>
            </p:sp>
          </mc:Choice>
          <mc:Fallback xmlns="">
            <p:sp>
              <p:nvSpPr>
                <p:cNvPr id="47" name="TextBox 46" descr="Equation: w sub 1">
                  <a:extLst>
                    <a:ext uri="{FF2B5EF4-FFF2-40B4-BE49-F238E27FC236}">
                      <a16:creationId xmlns:a16="http://schemas.microsoft.com/office/drawing/2014/main" id="{E0BBE52B-3BA9-DEE2-3B83-068AA2D06A38}"/>
                    </a:ext>
                  </a:extLst>
                </p:cNvPr>
                <p:cNvSpPr txBox="1">
                  <a:spLocks noRot="1" noChangeAspect="1" noMove="1" noResize="1" noEditPoints="1" noAdjustHandles="1" noChangeArrowheads="1" noChangeShapeType="1" noTextEdit="1"/>
                </p:cNvSpPr>
                <p:nvPr/>
              </p:nvSpPr>
              <p:spPr>
                <a:xfrm>
                  <a:off x="10726329" y="2468383"/>
                  <a:ext cx="443479" cy="347853"/>
                </a:xfrm>
                <a:prstGeom prst="rect">
                  <a:avLst/>
                </a:prstGeom>
                <a:blipFill>
                  <a:blip r:embed="rId13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descr="Equation: w sub 2">
                  <a:extLst>
                    <a:ext uri="{FF2B5EF4-FFF2-40B4-BE49-F238E27FC236}">
                      <a16:creationId xmlns:a16="http://schemas.microsoft.com/office/drawing/2014/main" id="{99CAEC20-332C-8AD2-BEC6-EFD1D33D616E}"/>
                    </a:ext>
                  </a:extLst>
                </p:cNvPr>
                <p:cNvSpPr txBox="1"/>
                <p:nvPr/>
              </p:nvSpPr>
              <p:spPr>
                <a:xfrm>
                  <a:off x="8544196" y="865608"/>
                  <a:ext cx="443479" cy="347853"/>
                </a:xfrm>
                <a:prstGeom prst="rect">
                  <a:avLst/>
                </a:prstGeom>
                <a:noFill/>
              </p:spPr>
              <p:txBody>
                <a:bodyPr wrap="square">
                  <a:spAutoFit/>
                </a:bodyPr>
                <a:lstStyle/>
                <a:p>
                  <a:pP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𝑤</m:t>
                            </m:r>
                          </m:e>
                          <m:sub>
                            <m:r>
                              <a:rPr lang="en-US" sz="1400" b="0" i="1" smtClean="0">
                                <a:latin typeface="Cambria Math" panose="02040503050406030204" pitchFamily="18" charset="0"/>
                              </a:rPr>
                              <m:t>2</m:t>
                            </m:r>
                          </m:sub>
                        </m:sSub>
                      </m:oMath>
                    </m:oMathPara>
                  </a14:m>
                  <a:endParaRPr lang="en-US" sz="1400" dirty="0"/>
                </a:p>
              </p:txBody>
            </p:sp>
          </mc:Choice>
          <mc:Fallback xmlns="">
            <p:sp>
              <p:nvSpPr>
                <p:cNvPr id="48" name="TextBox 47" descr="Equation: w sub 2">
                  <a:extLst>
                    <a:ext uri="{FF2B5EF4-FFF2-40B4-BE49-F238E27FC236}">
                      <a16:creationId xmlns:a16="http://schemas.microsoft.com/office/drawing/2014/main" id="{99CAEC20-332C-8AD2-BEC6-EFD1D33D616E}"/>
                    </a:ext>
                  </a:extLst>
                </p:cNvPr>
                <p:cNvSpPr txBox="1">
                  <a:spLocks noRot="1" noChangeAspect="1" noMove="1" noResize="1" noEditPoints="1" noAdjustHandles="1" noChangeArrowheads="1" noChangeShapeType="1" noTextEdit="1"/>
                </p:cNvSpPr>
                <p:nvPr/>
              </p:nvSpPr>
              <p:spPr>
                <a:xfrm>
                  <a:off x="8544196" y="865608"/>
                  <a:ext cx="443479" cy="347853"/>
                </a:xfrm>
                <a:prstGeom prst="rect">
                  <a:avLst/>
                </a:prstGeom>
                <a:blipFill>
                  <a:blip r:embed="rId137"/>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 name="Content Placeholder 2" descr="Regular policy gradient methods. Update policy parameters w in the direction of the steepest ascent of the performance measure J (w) is defined as v sub pi sub w, (s sub 0). The update changes the parameters Delta w is proportional to gradient of sub w J(w) . The step size alpha restricts moves in the parameter space to some the norm of Delta w sub 2 . Issue: The same amount of change in the parameter space w can have very different effects on the change of the stochastic policy pi sub w (the probability distribution over actions). This can cause instability. Idea: Natural policy gradients take the geometry of the policy (a probability manifold) into account. Measure of the difference between two policies’ action probability distributions: Kullback-Leibler (KL) divergence D sub KL (pi sub w given | pi sub w plus Delta w). Constraint Delta w by a maximum allowable policy change using D sub KL (pi sub w given | pi sub w plus Delta w) is less than or equal to delta . Local approximation: The Fisher information criterion can be used to the steepness of the gradient for changes in policy distribution. alpha is now controls how much the policy changes: Delta w is proportional to F sub w, to the power minus 1, gradient of sub w J (w). Problem: Calculating the Fisher information matrix (F sub w) is too expensive for deep learning models. We need an approximation for the approximation! This idea inspired several state-of-the-art methods:. Trust Region Optimization (TRPO). Proximal Policy optimization (PPO)">
                <a:extLst>
                  <a:ext uri="{FF2B5EF4-FFF2-40B4-BE49-F238E27FC236}">
                    <a16:creationId xmlns:a16="http://schemas.microsoft.com/office/drawing/2014/main" id="{6B07DDD2-4699-D642-2370-F5897128134E}"/>
                  </a:ext>
                </a:extLst>
              </p:cNvPr>
              <p:cNvSpPr>
                <a:spLocks noGrp="1"/>
              </p:cNvSpPr>
              <p:nvPr>
                <p:ph idx="1"/>
              </p:nvPr>
            </p:nvSpPr>
            <p:spPr>
              <a:xfrm>
                <a:off x="838200" y="1176728"/>
                <a:ext cx="7781144" cy="5381469"/>
              </a:xfrm>
            </p:spPr>
            <p:txBody>
              <a:bodyPr>
                <a:normAutofit fontScale="62500" lnSpcReduction="20000"/>
              </a:bodyPr>
              <a:lstStyle/>
              <a:p>
                <a:r>
                  <a:rPr lang="en-US" dirty="0"/>
                  <a:t>Regular policy gradient methods</a:t>
                </a:r>
              </a:p>
              <a:p>
                <a:pPr lvl="1"/>
                <a:r>
                  <a:rPr lang="en-US" dirty="0"/>
                  <a:t>Update policy parameters </a:t>
                </a:r>
                <a14:m>
                  <m:oMath xmlns:m="http://schemas.openxmlformats.org/officeDocument/2006/math">
                    <m:r>
                      <a:rPr lang="en-US" b="1" i="1">
                        <a:latin typeface="Cambria Math" panose="02040503050406030204" pitchFamily="18" charset="0"/>
                      </a:rPr>
                      <m:t>𝒘</m:t>
                    </m:r>
                  </m:oMath>
                </a14:m>
                <a:r>
                  <a:rPr lang="en-US" dirty="0"/>
                  <a:t> in the direction of the steepest ascent of the performance measure </a:t>
                </a:r>
                <a14:m>
                  <m:oMath xmlns:m="http://schemas.openxmlformats.org/officeDocument/2006/math">
                    <m:r>
                      <a:rPr lang="en-US" i="1">
                        <a:latin typeface="Cambria Math" panose="02040503050406030204" pitchFamily="18" charset="0"/>
                      </a:rPr>
                      <m:t>𝐽</m:t>
                    </m:r>
                    <m:d>
                      <m:dPr>
                        <m:ctrlPr>
                          <a:rPr lang="en-US" b="1" i="1" smtClean="0">
                            <a:latin typeface="Cambria Math" panose="02040503050406030204" pitchFamily="18" charset="0"/>
                          </a:rPr>
                        </m:ctrlPr>
                      </m:dPr>
                      <m:e>
                        <m:r>
                          <a:rPr lang="en-US" b="1" i="1" smtClean="0">
                            <a:latin typeface="Cambria Math" panose="02040503050406030204" pitchFamily="18" charset="0"/>
                          </a:rPr>
                          <m:t>𝒘</m:t>
                        </m:r>
                      </m:e>
                    </m:d>
                    <m:r>
                      <a:rPr lang="en-US" b="1"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b="0" i="1" smtClean="0">
                                <a:latin typeface="Cambria Math" panose="02040503050406030204" pitchFamily="18" charset="0"/>
                              </a:rPr>
                              <m:t>𝑤</m:t>
                            </m:r>
                          </m:sub>
                        </m:sSub>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0</m:t>
                            </m:r>
                          </m:sub>
                        </m:sSub>
                      </m:e>
                    </m:d>
                  </m:oMath>
                </a14:m>
                <a:endParaRPr lang="en-US" dirty="0"/>
              </a:p>
              <a:p>
                <a:pPr lvl="1"/>
                <a:r>
                  <a:rPr lang="en-US" dirty="0"/>
                  <a:t>The update changes the parameters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𝒘</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m:rPr>
                            <m:sty m:val="p"/>
                          </m:rP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𝑤</m:t>
                        </m:r>
                      </m:sub>
                    </m:sSub>
                    <m:r>
                      <a:rPr lang="en-US" b="0" i="1" smtClean="0">
                        <a:latin typeface="Cambria Math" panose="02040503050406030204" pitchFamily="18" charset="0"/>
                        <a:ea typeface="Cambria Math" panose="02040503050406030204" pitchFamily="18" charset="0"/>
                      </a:rPr>
                      <m:t>𝐽</m:t>
                    </m:r>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𝒘</m:t>
                    </m:r>
                    <m:r>
                      <a:rPr lang="en-US" b="0" i="1" smtClean="0">
                        <a:latin typeface="Cambria Math" panose="02040503050406030204" pitchFamily="18" charset="0"/>
                        <a:ea typeface="Cambria Math" panose="02040503050406030204" pitchFamily="18" charset="0"/>
                      </a:rPr>
                      <m:t>)</m:t>
                    </m:r>
                  </m:oMath>
                </a14:m>
                <a:r>
                  <a:rPr lang="en-US" dirty="0"/>
                  <a:t>. The step size </a:t>
                </a:r>
                <a14:m>
                  <m:oMath xmlns:m="http://schemas.openxmlformats.org/officeDocument/2006/math">
                    <m:r>
                      <a:rPr lang="en-US" b="0" i="1" smtClean="0">
                        <a:latin typeface="Cambria Math" panose="02040503050406030204" pitchFamily="18" charset="0"/>
                      </a:rPr>
                      <m:t>𝛼</m:t>
                    </m:r>
                  </m:oMath>
                </a14:m>
                <a:r>
                  <a:rPr lang="en-US" b="1" dirty="0"/>
                  <a:t> </a:t>
                </a:r>
                <a:r>
                  <a:rPr lang="en-US" dirty="0"/>
                  <a:t>restricts</a:t>
                </a:r>
                <a:r>
                  <a:rPr lang="en-US" b="1" dirty="0"/>
                  <a:t> moves in the parameter space </a:t>
                </a:r>
                <a:r>
                  <a:rPr lang="en-US" dirty="0"/>
                  <a:t>to some </a:t>
                </a:r>
                <a14:m>
                  <m:oMath xmlns:m="http://schemas.openxmlformats.org/officeDocument/2006/math">
                    <m:sSub>
                      <m:sSubPr>
                        <m:ctrlPr>
                          <a:rPr lang="en-US" b="1" i="1" smtClean="0">
                            <a:latin typeface="Cambria Math" panose="02040503050406030204" pitchFamily="18" charset="0"/>
                          </a:rPr>
                        </m:ctrlPr>
                      </m:sSubPr>
                      <m:e>
                        <m:d>
                          <m:dPr>
                            <m:begChr m:val="‖"/>
                            <m:endChr m:val="‖"/>
                            <m:ctrlPr>
                              <a:rPr lang="en-US" b="1"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𝒘</m:t>
                            </m:r>
                          </m:e>
                        </m:d>
                      </m:e>
                      <m:sub>
                        <m:r>
                          <a:rPr lang="en-US" b="0" i="1" smtClean="0">
                            <a:latin typeface="Cambria Math" panose="02040503050406030204" pitchFamily="18" charset="0"/>
                          </a:rPr>
                          <m:t>2</m:t>
                        </m:r>
                      </m:sub>
                    </m:sSub>
                  </m:oMath>
                </a14:m>
                <a:r>
                  <a:rPr lang="en-US" dirty="0"/>
                  <a:t>.</a:t>
                </a:r>
              </a:p>
              <a:p>
                <a:r>
                  <a:rPr lang="en-US" b="1" dirty="0"/>
                  <a:t>Issue</a:t>
                </a:r>
                <a:r>
                  <a:rPr lang="en-US" dirty="0"/>
                  <a:t>: The same amount of change in the parameter space </a:t>
                </a:r>
                <a14:m>
                  <m:oMath xmlns:m="http://schemas.openxmlformats.org/officeDocument/2006/math">
                    <m:r>
                      <a:rPr lang="en-US" b="1" i="1" smtClean="0">
                        <a:latin typeface="Cambria Math" panose="02040503050406030204" pitchFamily="18" charset="0"/>
                      </a:rPr>
                      <m:t>𝒘</m:t>
                    </m:r>
                    <m:r>
                      <a:rPr lang="en-US" b="1" i="1" smtClean="0">
                        <a:latin typeface="Cambria Math" panose="02040503050406030204" pitchFamily="18" charset="0"/>
                      </a:rPr>
                      <m:t> </m:t>
                    </m:r>
                  </m:oMath>
                </a14:m>
                <a:r>
                  <a:rPr lang="en-US" dirty="0"/>
                  <a:t>can have very different effects on the change of the stochastic policy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b="0" i="1" smtClean="0">
                            <a:latin typeface="Cambria Math" panose="02040503050406030204" pitchFamily="18" charset="0"/>
                          </a:rPr>
                          <m:t>𝑤</m:t>
                        </m:r>
                      </m:sub>
                    </m:sSub>
                  </m:oMath>
                </a14:m>
                <a:r>
                  <a:rPr lang="en-US" dirty="0"/>
                  <a:t> (the probability distribution over actions). This can cause </a:t>
                </a:r>
                <a:r>
                  <a:rPr lang="en-US" b="1" dirty="0"/>
                  <a:t>instability</a:t>
                </a:r>
                <a:r>
                  <a:rPr lang="en-US" dirty="0"/>
                  <a:t>.</a:t>
                </a:r>
                <a:endParaRPr lang="en-US" b="1" dirty="0"/>
              </a:p>
              <a:p>
                <a:r>
                  <a:rPr lang="en-US" b="1" dirty="0"/>
                  <a:t>Idea</a:t>
                </a:r>
                <a:r>
                  <a:rPr lang="en-US" dirty="0"/>
                  <a:t>: Natural policy gradients take the geometry of the policy (a probability manifold) into account.</a:t>
                </a:r>
              </a:p>
              <a:p>
                <a:pPr lvl="1"/>
                <a:r>
                  <a:rPr lang="en-US" b="1" dirty="0"/>
                  <a:t>Measure of the difference between two policies</a:t>
                </a:r>
                <a:r>
                  <a:rPr lang="en-US" dirty="0"/>
                  <a:t>’ action probability distributions</a:t>
                </a:r>
                <a:r>
                  <a:rPr lang="en-US" b="1" dirty="0"/>
                  <a:t>:</a:t>
                </a:r>
                <a:r>
                  <a:rPr lang="en-US" dirty="0"/>
                  <a:t> </a:t>
                </a:r>
                <a:r>
                  <a:rPr lang="en-US" dirty="0" err="1"/>
                  <a:t>Kullback</a:t>
                </a:r>
                <a:r>
                  <a:rPr lang="en-US" dirty="0"/>
                  <a:t>-Leibler (KL) divergence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𝐾𝐿</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𝑤</m:t>
                        </m:r>
                      </m:sub>
                    </m:sSub>
                    <m:r>
                      <a:rPr lang="en-US" b="0" i="1" smtClean="0">
                        <a:latin typeface="Cambria Math" panose="02040503050406030204" pitchFamily="18" charset="0"/>
                      </a:rPr>
                      <m:t>|</m:t>
                    </m:r>
                    <m:d>
                      <m:dPr>
                        <m:beg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𝑤</m:t>
                            </m:r>
                          </m:sub>
                        </m:sSub>
                      </m:e>
                    </m:d>
                  </m:oMath>
                </a14:m>
                <a:r>
                  <a:rPr lang="en-US" dirty="0"/>
                  <a:t> </a:t>
                </a:r>
              </a:p>
              <a:p>
                <a:pPr lvl="1"/>
                <a:r>
                  <a:rPr lang="en-US" dirty="0"/>
                  <a:t>Constraint </a:t>
                </a:r>
                <a14:m>
                  <m:oMath xmlns:m="http://schemas.openxmlformats.org/officeDocument/2006/math">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𝒘</m:t>
                    </m:r>
                  </m:oMath>
                </a14:m>
                <a:r>
                  <a:rPr lang="en-US" dirty="0"/>
                  <a:t> by a maximum allowable policy change using</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𝐷</m:t>
                        </m:r>
                      </m:e>
                      <m:sub>
                        <m:r>
                          <a:rPr lang="en-US" i="1">
                            <a:latin typeface="Cambria Math" panose="02040503050406030204" pitchFamily="18" charset="0"/>
                          </a:rPr>
                          <m:t>𝐾𝐿</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𝑤</m:t>
                        </m:r>
                      </m:sub>
                    </m:sSub>
                    <m:r>
                      <a:rPr lang="en-US" i="1">
                        <a:latin typeface="Cambria Math" panose="02040503050406030204" pitchFamily="18" charset="0"/>
                      </a:rPr>
                      <m:t>|</m:t>
                    </m:r>
                    <m:d>
                      <m:dPr>
                        <m:beg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𝑤</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𝑤</m:t>
                            </m:r>
                          </m:sub>
                        </m:sSub>
                      </m:e>
                    </m:d>
                    <m:r>
                      <a:rPr lang="en-US" i="1">
                        <a:latin typeface="Cambria Math" panose="02040503050406030204" pitchFamily="18" charset="0"/>
                      </a:rPr>
                      <m:t>≤</m:t>
                    </m:r>
                    <m:r>
                      <a:rPr lang="en-US" i="1">
                        <a:latin typeface="Cambria Math" panose="02040503050406030204" pitchFamily="18" charset="0"/>
                      </a:rPr>
                      <m:t>𝛿</m:t>
                    </m:r>
                  </m:oMath>
                </a14:m>
                <a:r>
                  <a:rPr lang="en-US" dirty="0"/>
                  <a:t>.</a:t>
                </a:r>
              </a:p>
              <a:p>
                <a:r>
                  <a:rPr lang="en-US" dirty="0"/>
                  <a:t>Local approximation: The Fisher information criterion can be used to </a:t>
                </a:r>
                <a:r>
                  <a:rPr lang="en-US" b="1" dirty="0"/>
                  <a:t>the steepness of the gradient </a:t>
                </a:r>
                <a:r>
                  <a:rPr lang="en-US" dirty="0"/>
                  <a:t>for changes in policy distribution. </a:t>
                </a:r>
                <a14:m>
                  <m:oMath xmlns:m="http://schemas.openxmlformats.org/officeDocument/2006/math">
                    <m:r>
                      <a:rPr lang="en-US" b="0" i="1" smtClean="0">
                        <a:latin typeface="Cambria Math" panose="02040503050406030204" pitchFamily="18" charset="0"/>
                      </a:rPr>
                      <m:t>𝛼</m:t>
                    </m:r>
                  </m:oMath>
                </a14:m>
                <a:r>
                  <a:rPr lang="en-US" dirty="0"/>
                  <a:t> is now controls how much the  policy changes:</a:t>
                </a:r>
                <a:br>
                  <a:rPr lang="en-US" dirty="0"/>
                </a:br>
                <a:br>
                  <a:rPr lang="en-US" dirty="0"/>
                </a:br>
                <a14:m>
                  <m:oMath xmlns:m="http://schemas.openxmlformats.org/officeDocument/2006/math">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𝒘</m:t>
                    </m:r>
                    <m:r>
                      <a:rPr lang="en-US" i="1">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𝐹</m:t>
                            </m:r>
                          </m:e>
                          <m:sub>
                            <m:r>
                              <a:rPr lang="en-US" b="0" i="1" smtClean="0">
                                <a:latin typeface="Cambria Math" panose="02040503050406030204" pitchFamily="18" charset="0"/>
                                <a:ea typeface="Cambria Math" panose="02040503050406030204" pitchFamily="18" charset="0"/>
                              </a:rPr>
                              <m:t>𝑤</m:t>
                            </m:r>
                          </m:sub>
                          <m:sup>
                            <m:r>
                              <a:rPr lang="en-US" b="0" i="1" smtClean="0">
                                <a:latin typeface="Cambria Math" panose="02040503050406030204" pitchFamily="18" charset="0"/>
                                <a:ea typeface="Cambria Math" panose="02040503050406030204" pitchFamily="18" charset="0"/>
                              </a:rPr>
                              <m:t>−1</m:t>
                            </m:r>
                          </m:sup>
                        </m:sSubSup>
                        <m:r>
                          <a:rPr lang="en-US" b="0" i="1" smtClean="0">
                            <a:latin typeface="Cambria Math" panose="02040503050406030204" pitchFamily="18" charset="0"/>
                            <a:ea typeface="Cambria Math" panose="02040503050406030204" pitchFamily="18" charset="0"/>
                          </a:rPr>
                          <m:t> </m:t>
                        </m:r>
                        <m:r>
                          <m:rPr>
                            <m:sty m:val="p"/>
                          </m:rPr>
                          <a:rPr lang="en-US" i="1">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𝑤</m:t>
                        </m:r>
                      </m:sub>
                    </m:sSub>
                    <m:r>
                      <a:rPr lang="en-US" i="1">
                        <a:latin typeface="Cambria Math" panose="02040503050406030204" pitchFamily="18" charset="0"/>
                        <a:ea typeface="Cambria Math" panose="02040503050406030204" pitchFamily="18" charset="0"/>
                      </a:rPr>
                      <m:t>𝐽</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𝒘</m:t>
                        </m:r>
                      </m:e>
                    </m:d>
                  </m:oMath>
                </a14:m>
                <a:br>
                  <a:rPr lang="en-US" i="1" dirty="0">
                    <a:latin typeface="Cambria Math" panose="02040503050406030204" pitchFamily="18" charset="0"/>
                    <a:ea typeface="Cambria Math" panose="02040503050406030204" pitchFamily="18" charset="0"/>
                  </a:rPr>
                </a:br>
                <a:endParaRPr lang="en-US" b="1" dirty="0"/>
              </a:p>
              <a:p>
                <a:r>
                  <a:rPr lang="en-US" b="1" dirty="0"/>
                  <a:t>Problem</a:t>
                </a:r>
                <a:r>
                  <a:rPr lang="en-US" dirty="0"/>
                  <a:t>: Calculating the Fisher information matrix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𝑤</m:t>
                        </m:r>
                      </m:sub>
                    </m:sSub>
                  </m:oMath>
                </a14:m>
                <a:r>
                  <a:rPr lang="en-US" dirty="0"/>
                  <a:t>) is too expensive for  deep learning models. We need an approximation for the approximation!</a:t>
                </a:r>
                <a:br>
                  <a:rPr lang="en-US" dirty="0"/>
                </a:br>
                <a:br>
                  <a:rPr lang="en-US" dirty="0"/>
                </a:br>
                <a:r>
                  <a:rPr lang="en-US" dirty="0"/>
                  <a:t>This idea inspired several state-of-the-art methods: </a:t>
                </a:r>
              </a:p>
              <a:p>
                <a:pPr lvl="1"/>
                <a:r>
                  <a:rPr lang="en-US" dirty="0"/>
                  <a:t>Trust Region Optimization (TRPO)</a:t>
                </a:r>
              </a:p>
              <a:p>
                <a:pPr lvl="1"/>
                <a:r>
                  <a:rPr lang="en-US" dirty="0"/>
                  <a:t>Proximal Policy optimization (PPO)</a:t>
                </a:r>
              </a:p>
            </p:txBody>
          </p:sp>
        </mc:Choice>
        <mc:Fallback xmlns="">
          <p:sp>
            <p:nvSpPr>
              <p:cNvPr id="3" name="Content Placeholder 2" descr="Regular policy gradient methods. Update policy parameters w in the direction of the steepest ascent of the performance measure J (w) is defined as v sub pi sub w, (s sub 0). The update changes the parameters Delta w is proportional to gradient of sub w J(w) . The step size alpha restricts moves in the parameter space to some the norm of Delta w sub 2 . Issue: The same amount of change in the parameter space w can have very different effects on the change of the stochastic policy pi sub w (the probability distribution over actions). This can cause instability. Idea: Natural policy gradients take the geometry of the policy (a probability manifold) into account. Measure of the difference between two policies’ action probability distributions: Kullback-Leibler (KL) divergence D sub KL (pi sub w given | pi sub w plus Delta w). Constraint Delta w by a maximum allowable policy change using D sub KL (pi sub w given | pi sub w plus Delta w) is less than or equal to delta . Local approximation: The Fisher information criterion can be used to the steepness of the gradient for changes in policy distribution. alpha is now controls how much the policy changes: Delta w is proportional to F sub w, to the power minus 1, gradient of sub w J (w). Problem: Calculating the Fisher information matrix (F sub w) is too expensive for deep learning models. We need an approximation for the approximation! This idea inspired several state-of-the-art methods:. Trust Region Optimization (TRPO). Proximal Policy optimization (PPO)">
                <a:extLst>
                  <a:ext uri="{FF2B5EF4-FFF2-40B4-BE49-F238E27FC236}">
                    <a16:creationId xmlns:a16="http://schemas.microsoft.com/office/drawing/2014/main" id="{6B07DDD2-4699-D642-2370-F5897128134E}"/>
                  </a:ext>
                </a:extLst>
              </p:cNvPr>
              <p:cNvSpPr>
                <a:spLocks noGrp="1" noRot="1" noChangeAspect="1" noMove="1" noResize="1" noEditPoints="1" noAdjustHandles="1" noChangeArrowheads="1" noChangeShapeType="1" noTextEdit="1"/>
              </p:cNvSpPr>
              <p:nvPr>
                <p:ph idx="1"/>
              </p:nvPr>
            </p:nvSpPr>
            <p:spPr>
              <a:xfrm>
                <a:off x="838200" y="1176728"/>
                <a:ext cx="7781144" cy="5381469"/>
              </a:xfrm>
              <a:blipFill>
                <a:blip r:embed="rId2"/>
                <a:stretch>
                  <a:fillRect l="-549" t="-1699" r="-1567" b="-340"/>
                </a:stretch>
              </a:blipFill>
            </p:spPr>
            <p:txBody>
              <a:bodyPr/>
              <a:lstStyle/>
              <a:p>
                <a:r>
                  <a:rPr lang="en-US">
                    <a:noFill/>
                  </a:rPr>
                  <a:t> </a:t>
                </a:r>
              </a:p>
            </p:txBody>
          </p:sp>
        </mc:Fallback>
      </mc:AlternateContent>
      <p:grpSp>
        <p:nvGrpSpPr>
          <p:cNvPr id="30" name="Group 29" descr="Two bar charts of action probabilities for actions a1, a2 and a3: one for the current policy pi_w and one for the updated policy pi_w+delta w. Their difference is measured by the KL divergence D_KL(pi_w || pi_w+delta w).">
            <a:extLst>
              <a:ext uri="{FF2B5EF4-FFF2-40B4-BE49-F238E27FC236}">
                <a16:creationId xmlns:a16="http://schemas.microsoft.com/office/drawing/2014/main" id="{6E1671AD-A7B4-05F4-DA03-88565DCF3E21}"/>
              </a:ext>
            </a:extLst>
          </p:cNvPr>
          <p:cNvGrpSpPr/>
          <p:nvPr/>
        </p:nvGrpSpPr>
        <p:grpSpPr>
          <a:xfrm>
            <a:off x="9004699" y="2985425"/>
            <a:ext cx="2363606" cy="1604361"/>
            <a:chOff x="9029648" y="3143202"/>
            <a:chExt cx="2247324" cy="2298486"/>
          </a:xfrm>
        </p:grpSpPr>
        <p:grpSp>
          <p:nvGrpSpPr>
            <p:cNvPr id="5" name="Group 4" descr="Brace annotation: a sub 1; a sub 2; a sub 3; pi sub w; pi sub w plus Delta w; D sub KL (pi sub w given given pi sub w plus Delta w).">
              <a:extLst>
                <a:ext uri="{FF2B5EF4-FFF2-40B4-BE49-F238E27FC236}">
                  <a16:creationId xmlns:a16="http://schemas.microsoft.com/office/drawing/2014/main" id="{EE6055FB-8E19-E897-894E-066B6DE091ED}"/>
                </a:ext>
              </a:extLst>
            </p:cNvPr>
            <p:cNvGrpSpPr/>
            <p:nvPr/>
          </p:nvGrpSpPr>
          <p:grpSpPr>
            <a:xfrm>
              <a:off x="9029648" y="3494615"/>
              <a:ext cx="2247324" cy="1947073"/>
              <a:chOff x="8729470" y="3258054"/>
              <a:chExt cx="2736706" cy="2360724"/>
            </a:xfrm>
          </p:grpSpPr>
          <p:grpSp>
            <p:nvGrpSpPr>
              <p:cNvPr id="6" name="Group 5" descr="Diagram with labels: a sub 1; a sub 2; a sub 3; pi sub w.">
                <a:extLst>
                  <a:ext uri="{FF2B5EF4-FFF2-40B4-BE49-F238E27FC236}">
                    <a16:creationId xmlns:a16="http://schemas.microsoft.com/office/drawing/2014/main" id="{EEE46BC1-6552-A21F-BB7F-2C76A8EC3432}"/>
                  </a:ext>
                </a:extLst>
              </p:cNvPr>
              <p:cNvGrpSpPr/>
              <p:nvPr/>
            </p:nvGrpSpPr>
            <p:grpSpPr>
              <a:xfrm>
                <a:off x="8729470" y="3258054"/>
                <a:ext cx="1426093" cy="1548917"/>
                <a:chOff x="9050557" y="3145014"/>
                <a:chExt cx="1426093" cy="1548917"/>
              </a:xfrm>
            </p:grpSpPr>
            <p:cxnSp>
              <p:nvCxnSpPr>
                <p:cNvPr id="19" name="Straight Connector 18">
                  <a:extLst>
                    <a:ext uri="{FF2B5EF4-FFF2-40B4-BE49-F238E27FC236}">
                      <a16:creationId xmlns:a16="http://schemas.microsoft.com/office/drawing/2014/main" id="{BD5872E9-F592-135F-09AA-575CB4C35BDB}"/>
                    </a:ext>
                    <a:ext uri="{C183D7F6-B498-43B3-948B-1728B52AA6E4}">
                      <adec:decorative xmlns:adec="http://schemas.microsoft.com/office/drawing/2017/decorative" val="1"/>
                    </a:ext>
                  </a:extLst>
                </p:cNvPr>
                <p:cNvCxnSpPr>
                  <a:cxnSpLocks/>
                </p:cNvCxnSpPr>
                <p:nvPr/>
              </p:nvCxnSpPr>
              <p:spPr>
                <a:xfrm>
                  <a:off x="9427464" y="3146256"/>
                  <a:ext cx="0" cy="1373040"/>
                </a:xfrm>
                <a:prstGeom prst="line">
                  <a:avLst/>
                </a:prstGeom>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0E3CDA1B-B164-6EF9-FB38-2C5DA56E108A}"/>
                    </a:ext>
                    <a:ext uri="{C183D7F6-B498-43B3-948B-1728B52AA6E4}">
                      <adec:decorative xmlns:adec="http://schemas.microsoft.com/office/drawing/2017/decorative" val="1"/>
                    </a:ext>
                  </a:extLst>
                </p:cNvPr>
                <p:cNvSpPr/>
                <p:nvPr/>
              </p:nvSpPr>
              <p:spPr>
                <a:xfrm>
                  <a:off x="9436608" y="3265704"/>
                  <a:ext cx="740664" cy="2554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1" name="Rectangle 20">
                  <a:extLst>
                    <a:ext uri="{FF2B5EF4-FFF2-40B4-BE49-F238E27FC236}">
                      <a16:creationId xmlns:a16="http://schemas.microsoft.com/office/drawing/2014/main" id="{A8B821E5-38CE-7289-2C17-813220C4687A}"/>
                    </a:ext>
                    <a:ext uri="{C183D7F6-B498-43B3-948B-1728B52AA6E4}">
                      <adec:decorative xmlns:adec="http://schemas.microsoft.com/office/drawing/2017/decorative" val="1"/>
                    </a:ext>
                  </a:extLst>
                </p:cNvPr>
                <p:cNvSpPr/>
                <p:nvPr/>
              </p:nvSpPr>
              <p:spPr>
                <a:xfrm>
                  <a:off x="9436609" y="3645768"/>
                  <a:ext cx="248566" cy="2554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 name="Rectangle 21">
                  <a:extLst>
                    <a:ext uri="{FF2B5EF4-FFF2-40B4-BE49-F238E27FC236}">
                      <a16:creationId xmlns:a16="http://schemas.microsoft.com/office/drawing/2014/main" id="{C99C4D12-FBA4-A1E3-24A7-CA450730FE48}"/>
                    </a:ext>
                    <a:ext uri="{C183D7F6-B498-43B3-948B-1728B52AA6E4}">
                      <adec:decorative xmlns:adec="http://schemas.microsoft.com/office/drawing/2017/decorative" val="1"/>
                    </a:ext>
                  </a:extLst>
                </p:cNvPr>
                <p:cNvSpPr/>
                <p:nvPr/>
              </p:nvSpPr>
              <p:spPr>
                <a:xfrm>
                  <a:off x="9436608" y="4047336"/>
                  <a:ext cx="147096" cy="2554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23" name="TextBox 22" descr="Equation: a sub 1">
                      <a:extLst>
                        <a:ext uri="{FF2B5EF4-FFF2-40B4-BE49-F238E27FC236}">
                          <a16:creationId xmlns:a16="http://schemas.microsoft.com/office/drawing/2014/main" id="{F4C6523A-1FAD-BE3E-4A88-71A73396BFDE}"/>
                        </a:ext>
                      </a:extLst>
                    </p:cNvPr>
                    <p:cNvSpPr txBox="1"/>
                    <p:nvPr/>
                  </p:nvSpPr>
                  <p:spPr>
                    <a:xfrm>
                      <a:off x="9067179" y="3172572"/>
                      <a:ext cx="461408" cy="481150"/>
                    </a:xfrm>
                    <a:prstGeom prst="rect">
                      <a:avLst/>
                    </a:prstGeom>
                    <a:noFill/>
                  </p:spPr>
                  <p:txBody>
                    <a:bodyPr wrap="square" rtlCol="0">
                      <a:spAutoFit/>
                    </a:bodyPr>
                    <a:lstStyle/>
                    <a:p>
                      <a:pPr/>
                      <a14:m>
                        <m:oMathPara xmlns:m="http://schemas.openxmlformats.org/officeDocument/2006/math">
                          <m:o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1</m:t>
                                </m:r>
                              </m:sub>
                            </m:sSub>
                          </m:oMath>
                        </m:oMathPara>
                      </a14:m>
                      <a:endParaRPr lang="en-US" sz="1200" dirty="0"/>
                    </a:p>
                  </p:txBody>
                </p:sp>
              </mc:Choice>
              <mc:Fallback xmlns="">
                <p:sp>
                  <p:nvSpPr>
                    <p:cNvPr id="23" name="TextBox 22" descr="Equation: a sub 1">
                      <a:extLst>
                        <a:ext uri="{FF2B5EF4-FFF2-40B4-BE49-F238E27FC236}">
                          <a16:creationId xmlns:a16="http://schemas.microsoft.com/office/drawing/2014/main" id="{F4C6523A-1FAD-BE3E-4A88-71A73396BFDE}"/>
                        </a:ext>
                      </a:extLst>
                    </p:cNvPr>
                    <p:cNvSpPr txBox="1">
                      <a:spLocks noRot="1" noChangeAspect="1" noMove="1" noResize="1" noEditPoints="1" noAdjustHandles="1" noChangeArrowheads="1" noChangeShapeType="1" noTextEdit="1"/>
                    </p:cNvSpPr>
                    <p:nvPr/>
                  </p:nvSpPr>
                  <p:spPr>
                    <a:xfrm>
                      <a:off x="9067179" y="3172572"/>
                      <a:ext cx="461408" cy="48115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descr="Equation: a sub 2">
                      <a:extLst>
                        <a:ext uri="{FF2B5EF4-FFF2-40B4-BE49-F238E27FC236}">
                          <a16:creationId xmlns:a16="http://schemas.microsoft.com/office/drawing/2014/main" id="{B06E6167-1A67-0DB1-E3D3-B13C1C020750}"/>
                        </a:ext>
                      </a:extLst>
                    </p:cNvPr>
                    <p:cNvSpPr txBox="1"/>
                    <p:nvPr/>
                  </p:nvSpPr>
                  <p:spPr>
                    <a:xfrm>
                      <a:off x="9050557" y="3510398"/>
                      <a:ext cx="466730" cy="481150"/>
                    </a:xfrm>
                    <a:prstGeom prst="rect">
                      <a:avLst/>
                    </a:prstGeom>
                    <a:noFill/>
                  </p:spPr>
                  <p:txBody>
                    <a:bodyPr wrap="square" rtlCol="0">
                      <a:spAutoFit/>
                    </a:bodyPr>
                    <a:lstStyle/>
                    <a:p>
                      <a:pPr/>
                      <a14:m>
                        <m:oMathPara xmlns:m="http://schemas.openxmlformats.org/officeDocument/2006/math">
                          <m:o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2</m:t>
                                </m:r>
                              </m:sub>
                            </m:sSub>
                          </m:oMath>
                        </m:oMathPara>
                      </a14:m>
                      <a:endParaRPr lang="en-US" sz="1200" dirty="0"/>
                    </a:p>
                  </p:txBody>
                </p:sp>
              </mc:Choice>
              <mc:Fallback xmlns="">
                <p:sp>
                  <p:nvSpPr>
                    <p:cNvPr id="24" name="TextBox 23" descr="Equation: a sub 2">
                      <a:extLst>
                        <a:ext uri="{FF2B5EF4-FFF2-40B4-BE49-F238E27FC236}">
                          <a16:creationId xmlns:a16="http://schemas.microsoft.com/office/drawing/2014/main" id="{B06E6167-1A67-0DB1-E3D3-B13C1C020750}"/>
                        </a:ext>
                      </a:extLst>
                    </p:cNvPr>
                    <p:cNvSpPr txBox="1">
                      <a:spLocks noRot="1" noChangeAspect="1" noMove="1" noResize="1" noEditPoints="1" noAdjustHandles="1" noChangeArrowheads="1" noChangeShapeType="1" noTextEdit="1"/>
                    </p:cNvSpPr>
                    <p:nvPr/>
                  </p:nvSpPr>
                  <p:spPr>
                    <a:xfrm>
                      <a:off x="9050557" y="3510398"/>
                      <a:ext cx="466730" cy="48115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descr="Equation: a sub 3">
                      <a:extLst>
                        <a:ext uri="{FF2B5EF4-FFF2-40B4-BE49-F238E27FC236}">
                          <a16:creationId xmlns:a16="http://schemas.microsoft.com/office/drawing/2014/main" id="{88B51318-620F-5E06-C940-4D64E73F06A8}"/>
                        </a:ext>
                      </a:extLst>
                    </p:cNvPr>
                    <p:cNvSpPr txBox="1"/>
                    <p:nvPr/>
                  </p:nvSpPr>
                  <p:spPr>
                    <a:xfrm>
                      <a:off x="9074328" y="3863391"/>
                      <a:ext cx="466731" cy="481150"/>
                    </a:xfrm>
                    <a:prstGeom prst="rect">
                      <a:avLst/>
                    </a:prstGeom>
                    <a:noFill/>
                  </p:spPr>
                  <p:txBody>
                    <a:bodyPr wrap="square" rtlCol="0">
                      <a:spAutoFit/>
                    </a:bodyPr>
                    <a:lstStyle/>
                    <a:p>
                      <a:pPr/>
                      <a14:m>
                        <m:oMathPara xmlns:m="http://schemas.openxmlformats.org/officeDocument/2006/math">
                          <m:o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3</m:t>
                                </m:r>
                              </m:sub>
                            </m:sSub>
                          </m:oMath>
                        </m:oMathPara>
                      </a14:m>
                      <a:endParaRPr lang="en-US" sz="1200" dirty="0"/>
                    </a:p>
                  </p:txBody>
                </p:sp>
              </mc:Choice>
              <mc:Fallback xmlns="">
                <p:sp>
                  <p:nvSpPr>
                    <p:cNvPr id="25" name="TextBox 24" descr="Equation: a sub 3">
                      <a:extLst>
                        <a:ext uri="{FF2B5EF4-FFF2-40B4-BE49-F238E27FC236}">
                          <a16:creationId xmlns:a16="http://schemas.microsoft.com/office/drawing/2014/main" id="{88B51318-620F-5E06-C940-4D64E73F06A8}"/>
                        </a:ext>
                      </a:extLst>
                    </p:cNvPr>
                    <p:cNvSpPr txBox="1">
                      <a:spLocks noRot="1" noChangeAspect="1" noMove="1" noResize="1" noEditPoints="1" noAdjustHandles="1" noChangeArrowheads="1" noChangeShapeType="1" noTextEdit="1"/>
                    </p:cNvSpPr>
                    <p:nvPr/>
                  </p:nvSpPr>
                  <p:spPr>
                    <a:xfrm>
                      <a:off x="9074328" y="3863391"/>
                      <a:ext cx="466731" cy="481150"/>
                    </a:xfrm>
                    <a:prstGeom prst="rect">
                      <a:avLst/>
                    </a:prstGeom>
                    <a:blipFill>
                      <a:blip r:embed="rId6"/>
                      <a:stretch>
                        <a:fillRect/>
                      </a:stretch>
                    </a:blipFill>
                  </p:spPr>
                  <p:txBody>
                    <a:bodyPr/>
                    <a:lstStyle/>
                    <a:p>
                      <a:r>
                        <a:rPr lang="en-US">
                          <a:noFill/>
                        </a:rPr>
                        <a:t> </a:t>
                      </a:r>
                    </a:p>
                  </p:txBody>
                </p:sp>
              </mc:Fallback>
            </mc:AlternateContent>
            <p:cxnSp>
              <p:nvCxnSpPr>
                <p:cNvPr id="26" name="Straight Arrow Connector 25">
                  <a:extLst>
                    <a:ext uri="{FF2B5EF4-FFF2-40B4-BE49-F238E27FC236}">
                      <a16:creationId xmlns:a16="http://schemas.microsoft.com/office/drawing/2014/main" id="{6AF7AF6B-3472-333E-F26D-7D06C55B9547}"/>
                    </a:ext>
                    <a:ext uri="{C183D7F6-B498-43B3-948B-1728B52AA6E4}">
                      <adec:decorative xmlns:adec="http://schemas.microsoft.com/office/drawing/2017/decorative" val="1"/>
                    </a:ext>
                  </a:extLst>
                </p:cNvPr>
                <p:cNvCxnSpPr>
                  <a:cxnSpLocks/>
                </p:cNvCxnSpPr>
                <p:nvPr/>
              </p:nvCxnSpPr>
              <p:spPr>
                <a:xfrm>
                  <a:off x="9436608" y="3145014"/>
                  <a:ext cx="10400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descr="Equation: pi sub w">
                      <a:extLst>
                        <a:ext uri="{FF2B5EF4-FFF2-40B4-BE49-F238E27FC236}">
                          <a16:creationId xmlns:a16="http://schemas.microsoft.com/office/drawing/2014/main" id="{279CA4BD-2F5D-DAF9-6542-0443F3611DFE}"/>
                        </a:ext>
                      </a:extLst>
                    </p:cNvPr>
                    <p:cNvSpPr txBox="1"/>
                    <p:nvPr/>
                  </p:nvSpPr>
                  <p:spPr>
                    <a:xfrm>
                      <a:off x="9557514" y="4320767"/>
                      <a:ext cx="783520" cy="373164"/>
                    </a:xfrm>
                    <a:prstGeom prst="rect">
                      <a:avLst/>
                    </a:prstGeom>
                    <a:noFill/>
                  </p:spPr>
                  <p:txBody>
                    <a:bodyPr wrap="square">
                      <a:spAutoFit/>
                    </a:bodyPr>
                    <a:lstStyle/>
                    <a:p>
                      <a:pP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𝑤</m:t>
                                </m:r>
                              </m:sub>
                            </m:sSub>
                          </m:oMath>
                        </m:oMathPara>
                      </a14:m>
                      <a:endParaRPr lang="en-US" sz="1400" dirty="0"/>
                    </a:p>
                  </p:txBody>
                </p:sp>
              </mc:Choice>
              <mc:Fallback xmlns="">
                <p:sp>
                  <p:nvSpPr>
                    <p:cNvPr id="27" name="TextBox 26" descr="Equation: pi sub w">
                      <a:extLst>
                        <a:ext uri="{FF2B5EF4-FFF2-40B4-BE49-F238E27FC236}">
                          <a16:creationId xmlns:a16="http://schemas.microsoft.com/office/drawing/2014/main" id="{279CA4BD-2F5D-DAF9-6542-0443F3611DFE}"/>
                        </a:ext>
                      </a:extLst>
                    </p:cNvPr>
                    <p:cNvSpPr txBox="1">
                      <a:spLocks noRot="1" noChangeAspect="1" noMove="1" noResize="1" noEditPoints="1" noAdjustHandles="1" noChangeArrowheads="1" noChangeShapeType="1" noTextEdit="1"/>
                    </p:cNvSpPr>
                    <p:nvPr/>
                  </p:nvSpPr>
                  <p:spPr>
                    <a:xfrm>
                      <a:off x="9557514" y="4320767"/>
                      <a:ext cx="783520" cy="373164"/>
                    </a:xfrm>
                    <a:prstGeom prst="rect">
                      <a:avLst/>
                    </a:prstGeom>
                    <a:blipFill>
                      <a:blip r:embed="rId129"/>
                      <a:stretch>
                        <a:fillRect/>
                      </a:stretch>
                    </a:blipFill>
                  </p:spPr>
                  <p:txBody>
                    <a:bodyPr/>
                    <a:lstStyle/>
                    <a:p>
                      <a:r>
                        <a:rPr lang="en-US">
                          <a:noFill/>
                        </a:rPr>
                        <a:t> </a:t>
                      </a:r>
                    </a:p>
                  </p:txBody>
                </p:sp>
              </mc:Fallback>
            </mc:AlternateContent>
          </p:grpSp>
          <p:grpSp>
            <p:nvGrpSpPr>
              <p:cNvPr id="7" name="Group 6" descr="Diagram with labels: a sub 1; a sub 2; a sub 3; pi sub w plus Delta w.">
                <a:extLst>
                  <a:ext uri="{FF2B5EF4-FFF2-40B4-BE49-F238E27FC236}">
                    <a16:creationId xmlns:a16="http://schemas.microsoft.com/office/drawing/2014/main" id="{E7419FFD-FFAE-AC28-8BA5-DF16C09F7354}"/>
                  </a:ext>
                </a:extLst>
              </p:cNvPr>
              <p:cNvGrpSpPr/>
              <p:nvPr/>
            </p:nvGrpSpPr>
            <p:grpSpPr>
              <a:xfrm>
                <a:off x="9877200" y="3258054"/>
                <a:ext cx="1438629" cy="1548917"/>
                <a:chOff x="9038021" y="3145014"/>
                <a:chExt cx="1438629" cy="1548917"/>
              </a:xfrm>
            </p:grpSpPr>
            <p:cxnSp>
              <p:nvCxnSpPr>
                <p:cNvPr id="10" name="Straight Connector 9">
                  <a:extLst>
                    <a:ext uri="{FF2B5EF4-FFF2-40B4-BE49-F238E27FC236}">
                      <a16:creationId xmlns:a16="http://schemas.microsoft.com/office/drawing/2014/main" id="{20280EC0-7EAF-BEE7-D207-AD738F8D5B0A}"/>
                    </a:ext>
                    <a:ext uri="{C183D7F6-B498-43B3-948B-1728B52AA6E4}">
                      <adec:decorative xmlns:adec="http://schemas.microsoft.com/office/drawing/2017/decorative" val="1"/>
                    </a:ext>
                  </a:extLst>
                </p:cNvPr>
                <p:cNvCxnSpPr>
                  <a:cxnSpLocks/>
                </p:cNvCxnSpPr>
                <p:nvPr/>
              </p:nvCxnSpPr>
              <p:spPr>
                <a:xfrm>
                  <a:off x="9427464" y="3146256"/>
                  <a:ext cx="0" cy="1373040"/>
                </a:xfrm>
                <a:prstGeom prst="line">
                  <a:avLst/>
                </a:prstGeom>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CDFC9048-B6E9-2D83-554E-1544F3FF31A0}"/>
                    </a:ext>
                    <a:ext uri="{C183D7F6-B498-43B3-948B-1728B52AA6E4}">
                      <adec:decorative xmlns:adec="http://schemas.microsoft.com/office/drawing/2017/decorative" val="1"/>
                    </a:ext>
                  </a:extLst>
                </p:cNvPr>
                <p:cNvSpPr/>
                <p:nvPr/>
              </p:nvSpPr>
              <p:spPr>
                <a:xfrm>
                  <a:off x="9436608" y="3306429"/>
                  <a:ext cx="237553" cy="2271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Rectangle 11">
                  <a:extLst>
                    <a:ext uri="{FF2B5EF4-FFF2-40B4-BE49-F238E27FC236}">
                      <a16:creationId xmlns:a16="http://schemas.microsoft.com/office/drawing/2014/main" id="{4FC43CD6-8D8E-95E2-75A7-56B158156A78}"/>
                    </a:ext>
                    <a:ext uri="{C183D7F6-B498-43B3-948B-1728B52AA6E4}">
                      <adec:decorative xmlns:adec="http://schemas.microsoft.com/office/drawing/2017/decorative" val="1"/>
                    </a:ext>
                  </a:extLst>
                </p:cNvPr>
                <p:cNvSpPr/>
                <p:nvPr/>
              </p:nvSpPr>
              <p:spPr>
                <a:xfrm>
                  <a:off x="9436609" y="3645768"/>
                  <a:ext cx="173501" cy="269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Rectangle 12">
                  <a:extLst>
                    <a:ext uri="{FF2B5EF4-FFF2-40B4-BE49-F238E27FC236}">
                      <a16:creationId xmlns:a16="http://schemas.microsoft.com/office/drawing/2014/main" id="{C675118B-38E7-F42E-2B38-261D73E507F2}"/>
                    </a:ext>
                    <a:ext uri="{C183D7F6-B498-43B3-948B-1728B52AA6E4}">
                      <adec:decorative xmlns:adec="http://schemas.microsoft.com/office/drawing/2017/decorative" val="1"/>
                    </a:ext>
                  </a:extLst>
                </p:cNvPr>
                <p:cNvSpPr/>
                <p:nvPr/>
              </p:nvSpPr>
              <p:spPr>
                <a:xfrm>
                  <a:off x="9436606" y="4047334"/>
                  <a:ext cx="779592" cy="2317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4" name="TextBox 13" descr="Equation: a sub 1">
                      <a:extLst>
                        <a:ext uri="{FF2B5EF4-FFF2-40B4-BE49-F238E27FC236}">
                          <a16:creationId xmlns:a16="http://schemas.microsoft.com/office/drawing/2014/main" id="{0D3BB9BA-3848-62B3-E7BB-52A2AA2C6FDA}"/>
                        </a:ext>
                      </a:extLst>
                    </p:cNvPr>
                    <p:cNvSpPr txBox="1"/>
                    <p:nvPr/>
                  </p:nvSpPr>
                  <p:spPr>
                    <a:xfrm>
                      <a:off x="9059684" y="3209375"/>
                      <a:ext cx="461408" cy="481150"/>
                    </a:xfrm>
                    <a:prstGeom prst="rect">
                      <a:avLst/>
                    </a:prstGeom>
                    <a:noFill/>
                  </p:spPr>
                  <p:txBody>
                    <a:bodyPr wrap="square" rtlCol="0">
                      <a:spAutoFit/>
                    </a:bodyPr>
                    <a:lstStyle/>
                    <a:p>
                      <a:pPr/>
                      <a14:m>
                        <m:oMathPara xmlns:m="http://schemas.openxmlformats.org/officeDocument/2006/math">
                          <m:o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1</m:t>
                                </m:r>
                              </m:sub>
                            </m:sSub>
                          </m:oMath>
                        </m:oMathPara>
                      </a14:m>
                      <a:endParaRPr lang="en-US" sz="1400" dirty="0"/>
                    </a:p>
                  </p:txBody>
                </p:sp>
              </mc:Choice>
              <mc:Fallback xmlns="">
                <p:sp>
                  <p:nvSpPr>
                    <p:cNvPr id="14" name="TextBox 13" descr="Equation: a sub 1">
                      <a:extLst>
                        <a:ext uri="{FF2B5EF4-FFF2-40B4-BE49-F238E27FC236}">
                          <a16:creationId xmlns:a16="http://schemas.microsoft.com/office/drawing/2014/main" id="{0D3BB9BA-3848-62B3-E7BB-52A2AA2C6FDA}"/>
                        </a:ext>
                      </a:extLst>
                    </p:cNvPr>
                    <p:cNvSpPr txBox="1">
                      <a:spLocks noRot="1" noChangeAspect="1" noMove="1" noResize="1" noEditPoints="1" noAdjustHandles="1" noChangeArrowheads="1" noChangeShapeType="1" noTextEdit="1"/>
                    </p:cNvSpPr>
                    <p:nvPr/>
                  </p:nvSpPr>
                  <p:spPr>
                    <a:xfrm>
                      <a:off x="9059684" y="3209375"/>
                      <a:ext cx="461408" cy="481150"/>
                    </a:xfrm>
                    <a:prstGeom prst="rect">
                      <a:avLst/>
                    </a:prstGeom>
                    <a:blipFill>
                      <a:blip r:embed="rId1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descr="Equation: a sub 2">
                      <a:extLst>
                        <a:ext uri="{FF2B5EF4-FFF2-40B4-BE49-F238E27FC236}">
                          <a16:creationId xmlns:a16="http://schemas.microsoft.com/office/drawing/2014/main" id="{71BEE33C-1400-9BED-94AA-90DBAF7E5113}"/>
                        </a:ext>
                      </a:extLst>
                    </p:cNvPr>
                    <p:cNvSpPr txBox="1"/>
                    <p:nvPr/>
                  </p:nvSpPr>
                  <p:spPr>
                    <a:xfrm>
                      <a:off x="9038021" y="3595294"/>
                      <a:ext cx="466730" cy="481150"/>
                    </a:xfrm>
                    <a:prstGeom prst="rect">
                      <a:avLst/>
                    </a:prstGeom>
                    <a:noFill/>
                  </p:spPr>
                  <p:txBody>
                    <a:bodyPr wrap="square" rtlCol="0">
                      <a:spAutoFit/>
                    </a:bodyPr>
                    <a:lstStyle/>
                    <a:p>
                      <a:pPr/>
                      <a14:m>
                        <m:oMathPara xmlns:m="http://schemas.openxmlformats.org/officeDocument/2006/math">
                          <m:o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2</m:t>
                                </m:r>
                              </m:sub>
                            </m:sSub>
                          </m:oMath>
                        </m:oMathPara>
                      </a14:m>
                      <a:endParaRPr lang="en-US" sz="1200" dirty="0"/>
                    </a:p>
                  </p:txBody>
                </p:sp>
              </mc:Choice>
              <mc:Fallback xmlns="">
                <p:sp>
                  <p:nvSpPr>
                    <p:cNvPr id="15" name="TextBox 14" descr="Equation: a sub 2">
                      <a:extLst>
                        <a:ext uri="{FF2B5EF4-FFF2-40B4-BE49-F238E27FC236}">
                          <a16:creationId xmlns:a16="http://schemas.microsoft.com/office/drawing/2014/main" id="{71BEE33C-1400-9BED-94AA-90DBAF7E5113}"/>
                        </a:ext>
                      </a:extLst>
                    </p:cNvPr>
                    <p:cNvSpPr txBox="1">
                      <a:spLocks noRot="1" noChangeAspect="1" noMove="1" noResize="1" noEditPoints="1" noAdjustHandles="1" noChangeArrowheads="1" noChangeShapeType="1" noTextEdit="1"/>
                    </p:cNvSpPr>
                    <p:nvPr/>
                  </p:nvSpPr>
                  <p:spPr>
                    <a:xfrm>
                      <a:off x="9038021" y="3595294"/>
                      <a:ext cx="466730" cy="48115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descr="Equation: a sub 3">
                      <a:extLst>
                        <a:ext uri="{FF2B5EF4-FFF2-40B4-BE49-F238E27FC236}">
                          <a16:creationId xmlns:a16="http://schemas.microsoft.com/office/drawing/2014/main" id="{5B09632B-0D3D-5B6E-00D7-5F1274A65BDD}"/>
                        </a:ext>
                      </a:extLst>
                    </p:cNvPr>
                    <p:cNvSpPr txBox="1"/>
                    <p:nvPr/>
                  </p:nvSpPr>
                  <p:spPr>
                    <a:xfrm>
                      <a:off x="9061791" y="3948288"/>
                      <a:ext cx="466731" cy="481150"/>
                    </a:xfrm>
                    <a:prstGeom prst="rect">
                      <a:avLst/>
                    </a:prstGeom>
                    <a:noFill/>
                  </p:spPr>
                  <p:txBody>
                    <a:bodyPr wrap="square" rtlCol="0">
                      <a:spAutoFit/>
                    </a:bodyPr>
                    <a:lstStyle/>
                    <a:p>
                      <a:pPr/>
                      <a14:m>
                        <m:oMathPara xmlns:m="http://schemas.openxmlformats.org/officeDocument/2006/math">
                          <m:o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3</m:t>
                                </m:r>
                              </m:sub>
                            </m:sSub>
                          </m:oMath>
                        </m:oMathPara>
                      </a14:m>
                      <a:endParaRPr lang="en-US" sz="1400" dirty="0"/>
                    </a:p>
                  </p:txBody>
                </p:sp>
              </mc:Choice>
              <mc:Fallback xmlns="">
                <p:sp>
                  <p:nvSpPr>
                    <p:cNvPr id="16" name="TextBox 15" descr="Equation: a sub 3">
                      <a:extLst>
                        <a:ext uri="{FF2B5EF4-FFF2-40B4-BE49-F238E27FC236}">
                          <a16:creationId xmlns:a16="http://schemas.microsoft.com/office/drawing/2014/main" id="{5B09632B-0D3D-5B6E-00D7-5F1274A65BDD}"/>
                        </a:ext>
                      </a:extLst>
                    </p:cNvPr>
                    <p:cNvSpPr txBox="1">
                      <a:spLocks noRot="1" noChangeAspect="1" noMove="1" noResize="1" noEditPoints="1" noAdjustHandles="1" noChangeArrowheads="1" noChangeShapeType="1" noTextEdit="1"/>
                    </p:cNvSpPr>
                    <p:nvPr/>
                  </p:nvSpPr>
                  <p:spPr>
                    <a:xfrm>
                      <a:off x="9061791" y="3948288"/>
                      <a:ext cx="466731" cy="481150"/>
                    </a:xfrm>
                    <a:prstGeom prst="rect">
                      <a:avLst/>
                    </a:prstGeom>
                    <a:blipFill>
                      <a:blip r:embed="rId6"/>
                      <a:stretch>
                        <a:fillRect/>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CD4BD875-4E13-D4D3-864F-C79D55F937D6}"/>
                    </a:ext>
                    <a:ext uri="{C183D7F6-B498-43B3-948B-1728B52AA6E4}">
                      <adec:decorative xmlns:adec="http://schemas.microsoft.com/office/drawing/2017/decorative" val="1"/>
                    </a:ext>
                  </a:extLst>
                </p:cNvPr>
                <p:cNvCxnSpPr>
                  <a:cxnSpLocks/>
                </p:cNvCxnSpPr>
                <p:nvPr/>
              </p:nvCxnSpPr>
              <p:spPr>
                <a:xfrm>
                  <a:off x="9436608" y="3145014"/>
                  <a:ext cx="10400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descr="Equation: pi sub w plus Delta w">
                      <a:extLst>
                        <a:ext uri="{FF2B5EF4-FFF2-40B4-BE49-F238E27FC236}">
                          <a16:creationId xmlns:a16="http://schemas.microsoft.com/office/drawing/2014/main" id="{C387ADF2-C15A-5402-E2A1-CDBDB0A8DACA}"/>
                        </a:ext>
                      </a:extLst>
                    </p:cNvPr>
                    <p:cNvSpPr txBox="1"/>
                    <p:nvPr/>
                  </p:nvSpPr>
                  <p:spPr>
                    <a:xfrm>
                      <a:off x="9516051" y="4320767"/>
                      <a:ext cx="783520" cy="373164"/>
                    </a:xfrm>
                    <a:prstGeom prst="rect">
                      <a:avLst/>
                    </a:prstGeom>
                    <a:noFill/>
                  </p:spPr>
                  <p:txBody>
                    <a:bodyPr wrap="square">
                      <a:spAutoFit/>
                    </a:bodyPr>
                    <a:lstStyle/>
                    <a:p>
                      <a:pP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𝑤</m:t>
                                </m:r>
                                <m:r>
                                  <a:rPr lang="en-US" sz="1400" b="0" i="1" smtClean="0">
                                    <a:latin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𝑤</m:t>
                                </m:r>
                              </m:sub>
                            </m:sSub>
                          </m:oMath>
                        </m:oMathPara>
                      </a14:m>
                      <a:endParaRPr lang="en-US" sz="1400" dirty="0"/>
                    </a:p>
                  </p:txBody>
                </p:sp>
              </mc:Choice>
              <mc:Fallback xmlns="">
                <p:sp>
                  <p:nvSpPr>
                    <p:cNvPr id="18" name="TextBox 17" descr="Equation: pi sub w plus Delta w">
                      <a:extLst>
                        <a:ext uri="{FF2B5EF4-FFF2-40B4-BE49-F238E27FC236}">
                          <a16:creationId xmlns:a16="http://schemas.microsoft.com/office/drawing/2014/main" id="{C387ADF2-C15A-5402-E2A1-CDBDB0A8DACA}"/>
                        </a:ext>
                      </a:extLst>
                    </p:cNvPr>
                    <p:cNvSpPr txBox="1">
                      <a:spLocks noRot="1" noChangeAspect="1" noMove="1" noResize="1" noEditPoints="1" noAdjustHandles="1" noChangeArrowheads="1" noChangeShapeType="1" noTextEdit="1"/>
                    </p:cNvSpPr>
                    <p:nvPr/>
                  </p:nvSpPr>
                  <p:spPr>
                    <a:xfrm>
                      <a:off x="9516051" y="4320767"/>
                      <a:ext cx="783520" cy="373164"/>
                    </a:xfrm>
                    <a:prstGeom prst="rect">
                      <a:avLst/>
                    </a:prstGeom>
                    <a:blipFill>
                      <a:blip r:embed="rId132"/>
                      <a:stretch>
                        <a:fillRect/>
                      </a:stretch>
                    </a:blipFill>
                  </p:spPr>
                  <p:txBody>
                    <a:bodyPr/>
                    <a:lstStyle/>
                    <a:p>
                      <a:r>
                        <a:rPr lang="en-US">
                          <a:noFill/>
                        </a:rPr>
                        <a:t> </a:t>
                      </a:r>
                    </a:p>
                  </p:txBody>
                </p:sp>
              </mc:Fallback>
            </mc:AlternateContent>
          </p:grpSp>
          <p:sp>
            <p:nvSpPr>
              <p:cNvPr id="8" name="Right Brace 7">
                <a:extLst>
                  <a:ext uri="{FF2B5EF4-FFF2-40B4-BE49-F238E27FC236}">
                    <a16:creationId xmlns:a16="http://schemas.microsoft.com/office/drawing/2014/main" id="{2757911A-B355-93EE-0A60-B64B5D121540}"/>
                  </a:ext>
                  <a:ext uri="{C183D7F6-B498-43B3-948B-1728B52AA6E4}">
                    <adec:decorative xmlns:adec="http://schemas.microsoft.com/office/drawing/2017/decorative" val="1"/>
                  </a:ext>
                </a:extLst>
              </p:cNvPr>
              <p:cNvSpPr/>
              <p:nvPr/>
            </p:nvSpPr>
            <p:spPr>
              <a:xfrm rot="5400000">
                <a:off x="10088066" y="3976945"/>
                <a:ext cx="422298" cy="228251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descr="Equation: D sub KL (pi sub w given given pi sub w plus Delta w)">
                    <a:extLst>
                      <a:ext uri="{FF2B5EF4-FFF2-40B4-BE49-F238E27FC236}">
                        <a16:creationId xmlns:a16="http://schemas.microsoft.com/office/drawing/2014/main" id="{EC93498F-1B00-9CDE-8112-70BF6DD1A917}"/>
                      </a:ext>
                    </a:extLst>
                  </p:cNvPr>
                  <p:cNvSpPr txBox="1"/>
                  <p:nvPr/>
                </p:nvSpPr>
                <p:spPr>
                  <a:xfrm>
                    <a:off x="9202862" y="5249446"/>
                    <a:ext cx="2263314" cy="369332"/>
                  </a:xfrm>
                  <a:prstGeom prst="rect">
                    <a:avLst/>
                  </a:prstGeom>
                  <a:noFill/>
                </p:spPr>
                <p:txBody>
                  <a:bodyPr wrap="square">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𝐾𝐿</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𝑤</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𝑤</m:t>
                              </m:r>
                            </m:sub>
                          </m:sSub>
                          <m:r>
                            <a:rPr lang="en-US" b="0" i="1" smtClean="0">
                              <a:latin typeface="Cambria Math" panose="02040503050406030204" pitchFamily="18" charset="0"/>
                            </a:rPr>
                            <m:t>)</m:t>
                          </m:r>
                        </m:oMath>
                      </m:oMathPara>
                    </a14:m>
                    <a:endParaRPr lang="en-US" dirty="0"/>
                  </a:p>
                </p:txBody>
              </p:sp>
            </mc:Choice>
            <mc:Fallback xmlns="">
              <p:sp>
                <p:nvSpPr>
                  <p:cNvPr id="9" name="TextBox 8" descr="Equation: D sub KL (pi sub w given given pi sub w plus Delta w)">
                    <a:extLst>
                      <a:ext uri="{FF2B5EF4-FFF2-40B4-BE49-F238E27FC236}">
                        <a16:creationId xmlns:a16="http://schemas.microsoft.com/office/drawing/2014/main" id="{EC93498F-1B00-9CDE-8112-70BF6DD1A917}"/>
                      </a:ext>
                    </a:extLst>
                  </p:cNvPr>
                  <p:cNvSpPr txBox="1">
                    <a:spLocks noRot="1" noChangeAspect="1" noMove="1" noResize="1" noEditPoints="1" noAdjustHandles="1" noChangeArrowheads="1" noChangeShapeType="1" noTextEdit="1"/>
                  </p:cNvSpPr>
                  <p:nvPr/>
                </p:nvSpPr>
                <p:spPr>
                  <a:xfrm>
                    <a:off x="9202862" y="5249446"/>
                    <a:ext cx="2263314" cy="369332"/>
                  </a:xfrm>
                  <a:prstGeom prst="rect">
                    <a:avLst/>
                  </a:prstGeom>
                  <a:blipFill>
                    <a:blip r:embed="rId133"/>
                    <a:stretch>
                      <a:fillRect b="-97143"/>
                    </a:stretch>
                  </a:blipFill>
                </p:spPr>
                <p:txBody>
                  <a:bodyPr/>
                  <a:lstStyle/>
                  <a:p>
                    <a:r>
                      <a:rPr lang="en-US">
                        <a:noFill/>
                      </a:rPr>
                      <a:t> </a:t>
                    </a:r>
                  </a:p>
                </p:txBody>
              </p:sp>
            </mc:Fallback>
          </mc:AlternateContent>
        </p:grpSp>
        <p:sp>
          <p:nvSpPr>
            <p:cNvPr id="28" name="TextBox 27">
              <a:extLst>
                <a:ext uri="{FF2B5EF4-FFF2-40B4-BE49-F238E27FC236}">
                  <a16:creationId xmlns:a16="http://schemas.microsoft.com/office/drawing/2014/main" id="{2693A34B-8FD0-D3CE-5317-5BB5DBC8D799}"/>
                </a:ext>
              </a:extLst>
            </p:cNvPr>
            <p:cNvSpPr txBox="1"/>
            <p:nvPr/>
          </p:nvSpPr>
          <p:spPr>
            <a:xfrm>
              <a:off x="9421833" y="3143398"/>
              <a:ext cx="643410" cy="307777"/>
            </a:xfrm>
            <a:prstGeom prst="rect">
              <a:avLst/>
            </a:prstGeom>
            <a:noFill/>
          </p:spPr>
          <p:txBody>
            <a:bodyPr wrap="square">
              <a:spAutoFit/>
            </a:bodyPr>
            <a:lstStyle/>
            <a:p>
              <a:r>
                <a:rPr lang="en-US" sz="1400" dirty="0"/>
                <a:t>Prob.</a:t>
              </a:r>
            </a:p>
          </p:txBody>
        </p:sp>
        <p:sp>
          <p:nvSpPr>
            <p:cNvPr id="29" name="TextBox 28">
              <a:extLst>
                <a:ext uri="{FF2B5EF4-FFF2-40B4-BE49-F238E27FC236}">
                  <a16:creationId xmlns:a16="http://schemas.microsoft.com/office/drawing/2014/main" id="{088124B2-8D80-4B85-80C1-EF855619EF8E}"/>
                </a:ext>
              </a:extLst>
            </p:cNvPr>
            <p:cNvSpPr txBox="1"/>
            <p:nvPr/>
          </p:nvSpPr>
          <p:spPr>
            <a:xfrm>
              <a:off x="10326570" y="3143202"/>
              <a:ext cx="643410" cy="307777"/>
            </a:xfrm>
            <a:prstGeom prst="rect">
              <a:avLst/>
            </a:prstGeom>
            <a:noFill/>
          </p:spPr>
          <p:txBody>
            <a:bodyPr wrap="square">
              <a:spAutoFit/>
            </a:bodyPr>
            <a:lstStyle/>
            <a:p>
              <a:r>
                <a:rPr lang="en-US" sz="1400" dirty="0"/>
                <a:t>Prob.</a:t>
              </a:r>
            </a:p>
          </p:txBody>
        </p:sp>
      </p:grpSp>
      <p:grpSp>
        <p:nvGrpSpPr>
          <p:cNvPr id="59" name="Group 58" descr="Plot in parameter space with axes w1 and w2: an irregular region around w shows the steps for which the KL divergence between the old and new policy stays below delta; it is not a circle, because equal changes in parameters can have very different effects on the policy.">
            <a:extLst>
              <a:ext uri="{FF2B5EF4-FFF2-40B4-BE49-F238E27FC236}">
                <a16:creationId xmlns:a16="http://schemas.microsoft.com/office/drawing/2014/main" id="{9EF42874-E7CB-ACB9-4D59-6A58F1430EE3}"/>
              </a:ext>
            </a:extLst>
          </p:cNvPr>
          <p:cNvGrpSpPr/>
          <p:nvPr/>
        </p:nvGrpSpPr>
        <p:grpSpPr>
          <a:xfrm>
            <a:off x="9197324" y="4793014"/>
            <a:ext cx="2764902" cy="1725897"/>
            <a:chOff x="9197324" y="4793014"/>
            <a:chExt cx="2764902" cy="1725897"/>
          </a:xfrm>
        </p:grpSpPr>
        <p:grpSp>
          <p:nvGrpSpPr>
            <p:cNvPr id="46" name="Group 45" descr="Diagram with labels: D sub KL (pi sub w given | pi sub w plus Delta w) is less than or equal to delta; w +; w sub 1; w sub 2.">
              <a:extLst>
                <a:ext uri="{FF2B5EF4-FFF2-40B4-BE49-F238E27FC236}">
                  <a16:creationId xmlns:a16="http://schemas.microsoft.com/office/drawing/2014/main" id="{ABA05613-AFFE-F7C0-9D90-E13EE0786074}"/>
                </a:ext>
              </a:extLst>
            </p:cNvPr>
            <p:cNvGrpSpPr/>
            <p:nvPr/>
          </p:nvGrpSpPr>
          <p:grpSpPr>
            <a:xfrm>
              <a:off x="9197324" y="4793014"/>
              <a:ext cx="2764902" cy="1725897"/>
              <a:chOff x="8544196" y="865608"/>
              <a:chExt cx="3270600" cy="1950628"/>
            </a:xfrm>
          </p:grpSpPr>
          <p:cxnSp>
            <p:nvCxnSpPr>
              <p:cNvPr id="50" name="Straight Arrow Connector 49">
                <a:extLst>
                  <a:ext uri="{FF2B5EF4-FFF2-40B4-BE49-F238E27FC236}">
                    <a16:creationId xmlns:a16="http://schemas.microsoft.com/office/drawing/2014/main" id="{431AB99B-B073-B1EC-459D-60A7CC72868A}"/>
                  </a:ext>
                  <a:ext uri="{C183D7F6-B498-43B3-948B-1728B52AA6E4}">
                    <adec:decorative xmlns:adec="http://schemas.microsoft.com/office/drawing/2017/decorative" val="1"/>
                  </a:ext>
                </a:extLst>
              </p:cNvPr>
              <p:cNvCxnSpPr/>
              <p:nvPr/>
            </p:nvCxnSpPr>
            <p:spPr>
              <a:xfrm flipH="1" flipV="1">
                <a:off x="8929413" y="1124198"/>
                <a:ext cx="13650" cy="14915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DDEABD15-59AB-2B61-B6D7-114B71E2BF85}"/>
                  </a:ext>
                  <a:ext uri="{C183D7F6-B498-43B3-948B-1728B52AA6E4}">
                    <adec:decorative xmlns:adec="http://schemas.microsoft.com/office/drawing/2017/decorative" val="1"/>
                  </a:ext>
                </a:extLst>
              </p:cNvPr>
              <p:cNvCxnSpPr/>
              <p:nvPr/>
            </p:nvCxnSpPr>
            <p:spPr>
              <a:xfrm>
                <a:off x="8935568" y="2630774"/>
                <a:ext cx="18423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descr="Equation: D sub KL (pi sub w given | pi sub w plus Delta w) is less than or equal to delta">
                    <a:extLst>
                      <a:ext uri="{FF2B5EF4-FFF2-40B4-BE49-F238E27FC236}">
                        <a16:creationId xmlns:a16="http://schemas.microsoft.com/office/drawing/2014/main" id="{D576B5FE-F16D-9B4D-C50A-FEF25652384A}"/>
                      </a:ext>
                    </a:extLst>
                  </p:cNvPr>
                  <p:cNvSpPr txBox="1"/>
                  <p:nvPr/>
                </p:nvSpPr>
                <p:spPr>
                  <a:xfrm>
                    <a:off x="9867786" y="1612079"/>
                    <a:ext cx="1947010" cy="313067"/>
                  </a:xfrm>
                  <a:prstGeom prst="rect">
                    <a:avLst/>
                  </a:prstGeom>
                  <a:noFill/>
                </p:spPr>
                <p:txBody>
                  <a:bodyPr wrap="square">
                    <a:spAutoFit/>
                  </a:bodyPr>
                  <a:lstStyle/>
                  <a:p>
                    <a:pPr/>
                    <a14:m>
                      <m:oMathPara xmlns:m="http://schemas.openxmlformats.org/officeDocument/2006/math">
                        <m:oMath>
                          <m:sSub>
                            <m:sSubPr>
                              <m:ctrlPr>
                                <a:rPr lang="en-US" sz="1200" i="1">
                                  <a:latin typeface="Cambria Math" panose="02040503050406030204" pitchFamily="18" charset="0"/>
                                </a:rPr>
                              </m:ctrlPr>
                            </m:sSubPr>
                            <m:e>
                              <m:r>
                                <a:rPr lang="en-US" sz="1200" i="1">
                                  <a:latin typeface="Cambria Math" panose="02040503050406030204" pitchFamily="18" charset="0"/>
                                </a:rPr>
                                <m:t>𝐷</m:t>
                              </m:r>
                            </m:e>
                            <m:sub>
                              <m:r>
                                <a:rPr lang="en-US" sz="1200" i="1">
                                  <a:latin typeface="Cambria Math" panose="02040503050406030204" pitchFamily="18" charset="0"/>
                                </a:rPr>
                                <m:t>𝐾𝐿</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𝜋</m:t>
                              </m:r>
                            </m:e>
                            <m:sub>
                              <m:r>
                                <a:rPr lang="en-US" sz="1200" i="1">
                                  <a:latin typeface="Cambria Math" panose="02040503050406030204" pitchFamily="18" charset="0"/>
                                </a:rPr>
                                <m:t>𝑤</m:t>
                              </m:r>
                            </m:sub>
                          </m:sSub>
                          <m:r>
                            <a:rPr lang="en-US" sz="1200" i="1">
                              <a:latin typeface="Cambria Math" panose="02040503050406030204" pitchFamily="18" charset="0"/>
                            </a:rPr>
                            <m:t>|</m:t>
                          </m:r>
                          <m:d>
                            <m:dPr>
                              <m:begChr m:val="|"/>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𝜋</m:t>
                                  </m:r>
                                </m:e>
                                <m:sub>
                                  <m:r>
                                    <a:rPr lang="en-US" sz="1200" i="1">
                                      <a:latin typeface="Cambria Math" panose="02040503050406030204" pitchFamily="18" charset="0"/>
                                    </a:rPr>
                                    <m:t>𝑤</m:t>
                                  </m:r>
                                  <m:r>
                                    <a:rPr lang="en-US" sz="1200" i="1">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𝑤</m:t>
                                  </m:r>
                                </m:sub>
                              </m:sSub>
                            </m:e>
                          </m:d>
                          <m:r>
                            <a:rPr lang="en-US" sz="1200" b="0" i="1" smtClean="0">
                              <a:latin typeface="Cambria Math" panose="02040503050406030204" pitchFamily="18" charset="0"/>
                            </a:rPr>
                            <m:t>≤</m:t>
                          </m:r>
                          <m:r>
                            <a:rPr lang="en-US" sz="1200" b="0" i="1" smtClean="0">
                              <a:latin typeface="Cambria Math" panose="02040503050406030204" pitchFamily="18" charset="0"/>
                            </a:rPr>
                            <m:t>𝛿</m:t>
                          </m:r>
                        </m:oMath>
                      </m:oMathPara>
                    </a14:m>
                    <a:endParaRPr lang="en-US" sz="1200" dirty="0"/>
                  </a:p>
                </p:txBody>
              </p:sp>
            </mc:Choice>
            <mc:Fallback xmlns="">
              <p:sp>
                <p:nvSpPr>
                  <p:cNvPr id="53" name="TextBox 52" descr="Equation: D sub KL (pi sub w given | pi sub w plus Delta w) is less than or equal to delta">
                    <a:extLst>
                      <a:ext uri="{FF2B5EF4-FFF2-40B4-BE49-F238E27FC236}">
                        <a16:creationId xmlns:a16="http://schemas.microsoft.com/office/drawing/2014/main" id="{D576B5FE-F16D-9B4D-C50A-FEF25652384A}"/>
                      </a:ext>
                    </a:extLst>
                  </p:cNvPr>
                  <p:cNvSpPr txBox="1">
                    <a:spLocks noRot="1" noChangeAspect="1" noMove="1" noResize="1" noEditPoints="1" noAdjustHandles="1" noChangeArrowheads="1" noChangeShapeType="1" noTextEdit="1"/>
                  </p:cNvSpPr>
                  <p:nvPr/>
                </p:nvSpPr>
                <p:spPr>
                  <a:xfrm>
                    <a:off x="9867786" y="1612079"/>
                    <a:ext cx="1947010" cy="313067"/>
                  </a:xfrm>
                  <a:prstGeom prst="rect">
                    <a:avLst/>
                  </a:prstGeom>
                  <a:blipFill>
                    <a:blip r:embed="rId138"/>
                    <a:stretch>
                      <a:fillRect b="-8889"/>
                    </a:stretch>
                  </a:blipFill>
                </p:spPr>
                <p:txBody>
                  <a:bodyPr/>
                  <a:lstStyle/>
                  <a:p>
                    <a:r>
                      <a:rPr lang="en-US">
                        <a:noFill/>
                      </a:rPr>
                      <a:t> </a:t>
                    </a:r>
                  </a:p>
                </p:txBody>
              </p:sp>
            </mc:Fallback>
          </mc:AlternateContent>
          <p:cxnSp>
            <p:nvCxnSpPr>
              <p:cNvPr id="54" name="Straight Arrow Connector 53">
                <a:extLst>
                  <a:ext uri="{FF2B5EF4-FFF2-40B4-BE49-F238E27FC236}">
                    <a16:creationId xmlns:a16="http://schemas.microsoft.com/office/drawing/2014/main" id="{BCA8A756-CA72-DCEF-EC50-72202FCCDA3E}"/>
                  </a:ext>
                  <a:ext uri="{C183D7F6-B498-43B3-948B-1728B52AA6E4}">
                    <adec:decorative xmlns:adec="http://schemas.microsoft.com/office/drawing/2017/decorative" val="1"/>
                  </a:ext>
                </a:extLst>
              </p:cNvPr>
              <p:cNvCxnSpPr>
                <a:cxnSpLocks/>
              </p:cNvCxnSpPr>
              <p:nvPr/>
            </p:nvCxnSpPr>
            <p:spPr>
              <a:xfrm flipV="1">
                <a:off x="9804010" y="1476721"/>
                <a:ext cx="367057" cy="40655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55" name="TextBox 54" descr="w +">
                    <a:extLst>
                      <a:ext uri="{FF2B5EF4-FFF2-40B4-BE49-F238E27FC236}">
                        <a16:creationId xmlns:a16="http://schemas.microsoft.com/office/drawing/2014/main" id="{69243FC8-5662-1C32-F34D-A4A50C0A6612}"/>
                      </a:ext>
                    </a:extLst>
                  </p:cNvPr>
                  <p:cNvSpPr txBox="1"/>
                  <p:nvPr/>
                </p:nvSpPr>
                <p:spPr>
                  <a:xfrm>
                    <a:off x="9434888" y="1688380"/>
                    <a:ext cx="580275" cy="347853"/>
                  </a:xfrm>
                  <a:prstGeom prst="rect">
                    <a:avLst/>
                  </a:prstGeom>
                  <a:noFill/>
                </p:spPr>
                <p:txBody>
                  <a:bodyPr wrap="square">
                    <a:spAutoFit/>
                  </a:bodyPr>
                  <a:lstStyle/>
                  <a:p>
                    <a14:m>
                      <m:oMath xmlns:m="http://schemas.openxmlformats.org/officeDocument/2006/math">
                        <m:r>
                          <a:rPr lang="en-US" sz="1400" b="1" i="1" smtClean="0">
                            <a:latin typeface="Cambria Math" panose="02040503050406030204" pitchFamily="18" charset="0"/>
                          </a:rPr>
                          <m:t>𝒘</m:t>
                        </m:r>
                      </m:oMath>
                    </a14:m>
                    <a:r>
                      <a:rPr lang="en-US" sz="1400" b="1" dirty="0"/>
                      <a:t> +</a:t>
                    </a:r>
                  </a:p>
                </p:txBody>
              </p:sp>
            </mc:Choice>
            <mc:Fallback xmlns="">
              <p:sp>
                <p:nvSpPr>
                  <p:cNvPr id="55" name="TextBox 54" descr="w +">
                    <a:extLst>
                      <a:ext uri="{FF2B5EF4-FFF2-40B4-BE49-F238E27FC236}">
                        <a16:creationId xmlns:a16="http://schemas.microsoft.com/office/drawing/2014/main" id="{69243FC8-5662-1C32-F34D-A4A50C0A6612}"/>
                      </a:ext>
                    </a:extLst>
                  </p:cNvPr>
                  <p:cNvSpPr txBox="1">
                    <a:spLocks noRot="1" noChangeAspect="1" noMove="1" noResize="1" noEditPoints="1" noAdjustHandles="1" noChangeArrowheads="1" noChangeShapeType="1" noTextEdit="1"/>
                  </p:cNvSpPr>
                  <p:nvPr/>
                </p:nvSpPr>
                <p:spPr>
                  <a:xfrm>
                    <a:off x="9434888" y="1688380"/>
                    <a:ext cx="580275" cy="347853"/>
                  </a:xfrm>
                  <a:prstGeom prst="rect">
                    <a:avLst/>
                  </a:prstGeom>
                  <a:blipFill>
                    <a:blip r:embed="rId139"/>
                    <a:stretch>
                      <a:fillRect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descr="Equation: w sub 1">
                    <a:extLst>
                      <a:ext uri="{FF2B5EF4-FFF2-40B4-BE49-F238E27FC236}">
                        <a16:creationId xmlns:a16="http://schemas.microsoft.com/office/drawing/2014/main" id="{3C10188C-B9AF-E7B0-BBD5-020600A69C38}"/>
                      </a:ext>
                    </a:extLst>
                  </p:cNvPr>
                  <p:cNvSpPr txBox="1"/>
                  <p:nvPr/>
                </p:nvSpPr>
                <p:spPr>
                  <a:xfrm>
                    <a:off x="10726329" y="2468383"/>
                    <a:ext cx="443479" cy="347853"/>
                  </a:xfrm>
                  <a:prstGeom prst="rect">
                    <a:avLst/>
                  </a:prstGeom>
                  <a:noFill/>
                </p:spPr>
                <p:txBody>
                  <a:bodyPr wrap="square">
                    <a:spAutoFit/>
                  </a:bodyPr>
                  <a:lstStyle/>
                  <a:p>
                    <a:pP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𝑤</m:t>
                              </m:r>
                            </m:e>
                            <m:sub>
                              <m:r>
                                <a:rPr lang="en-US" sz="1400" b="0" i="1" smtClean="0">
                                  <a:latin typeface="Cambria Math" panose="02040503050406030204" pitchFamily="18" charset="0"/>
                                </a:rPr>
                                <m:t>1</m:t>
                              </m:r>
                            </m:sub>
                          </m:sSub>
                        </m:oMath>
                      </m:oMathPara>
                    </a14:m>
                    <a:endParaRPr lang="en-US" sz="1400" dirty="0"/>
                  </a:p>
                </p:txBody>
              </p:sp>
            </mc:Choice>
            <mc:Fallback xmlns="">
              <p:sp>
                <p:nvSpPr>
                  <p:cNvPr id="56" name="TextBox 55" descr="Equation: w sub 1">
                    <a:extLst>
                      <a:ext uri="{FF2B5EF4-FFF2-40B4-BE49-F238E27FC236}">
                        <a16:creationId xmlns:a16="http://schemas.microsoft.com/office/drawing/2014/main" id="{3C10188C-B9AF-E7B0-BBD5-020600A69C38}"/>
                      </a:ext>
                    </a:extLst>
                  </p:cNvPr>
                  <p:cNvSpPr txBox="1">
                    <a:spLocks noRot="1" noChangeAspect="1" noMove="1" noResize="1" noEditPoints="1" noAdjustHandles="1" noChangeArrowheads="1" noChangeShapeType="1" noTextEdit="1"/>
                  </p:cNvSpPr>
                  <p:nvPr/>
                </p:nvSpPr>
                <p:spPr>
                  <a:xfrm>
                    <a:off x="10726329" y="2468383"/>
                    <a:ext cx="443479" cy="347853"/>
                  </a:xfrm>
                  <a:prstGeom prst="rect">
                    <a:avLst/>
                  </a:prstGeom>
                  <a:blipFill>
                    <a:blip r:embed="rId14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descr="Equation: w sub 2">
                    <a:extLst>
                      <a:ext uri="{FF2B5EF4-FFF2-40B4-BE49-F238E27FC236}">
                        <a16:creationId xmlns:a16="http://schemas.microsoft.com/office/drawing/2014/main" id="{68DDFD1E-C050-64C9-0433-8B53947E8A5F}"/>
                      </a:ext>
                    </a:extLst>
                  </p:cNvPr>
                  <p:cNvSpPr txBox="1"/>
                  <p:nvPr/>
                </p:nvSpPr>
                <p:spPr>
                  <a:xfrm>
                    <a:off x="8544196" y="865608"/>
                    <a:ext cx="443479" cy="347853"/>
                  </a:xfrm>
                  <a:prstGeom prst="rect">
                    <a:avLst/>
                  </a:prstGeom>
                  <a:noFill/>
                </p:spPr>
                <p:txBody>
                  <a:bodyPr wrap="square">
                    <a:spAutoFit/>
                  </a:bodyPr>
                  <a:lstStyle/>
                  <a:p>
                    <a:pP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𝑤</m:t>
                              </m:r>
                            </m:e>
                            <m:sub>
                              <m:r>
                                <a:rPr lang="en-US" sz="1400" b="0" i="1" smtClean="0">
                                  <a:latin typeface="Cambria Math" panose="02040503050406030204" pitchFamily="18" charset="0"/>
                                </a:rPr>
                                <m:t>2</m:t>
                              </m:r>
                            </m:sub>
                          </m:sSub>
                        </m:oMath>
                      </m:oMathPara>
                    </a14:m>
                    <a:endParaRPr lang="en-US" sz="1400" dirty="0"/>
                  </a:p>
                </p:txBody>
              </p:sp>
            </mc:Choice>
            <mc:Fallback xmlns="">
              <p:sp>
                <p:nvSpPr>
                  <p:cNvPr id="57" name="TextBox 56" descr="Equation: w sub 2">
                    <a:extLst>
                      <a:ext uri="{FF2B5EF4-FFF2-40B4-BE49-F238E27FC236}">
                        <a16:creationId xmlns:a16="http://schemas.microsoft.com/office/drawing/2014/main" id="{68DDFD1E-C050-64C9-0433-8B53947E8A5F}"/>
                      </a:ext>
                    </a:extLst>
                  </p:cNvPr>
                  <p:cNvSpPr txBox="1">
                    <a:spLocks noRot="1" noChangeAspect="1" noMove="1" noResize="1" noEditPoints="1" noAdjustHandles="1" noChangeArrowheads="1" noChangeShapeType="1" noTextEdit="1"/>
                  </p:cNvSpPr>
                  <p:nvPr/>
                </p:nvSpPr>
                <p:spPr>
                  <a:xfrm>
                    <a:off x="8544196" y="865608"/>
                    <a:ext cx="443479" cy="347853"/>
                  </a:xfrm>
                  <a:prstGeom prst="rect">
                    <a:avLst/>
                  </a:prstGeom>
                  <a:blipFill>
                    <a:blip r:embed="rId141"/>
                    <a:stretch>
                      <a:fillRect/>
                    </a:stretch>
                  </a:blipFill>
                </p:spPr>
                <p:txBody>
                  <a:bodyPr/>
                  <a:lstStyle/>
                  <a:p>
                    <a:r>
                      <a:rPr lang="en-US">
                        <a:noFill/>
                      </a:rPr>
                      <a:t> </a:t>
                    </a:r>
                  </a:p>
                </p:txBody>
              </p:sp>
            </mc:Fallback>
          </mc:AlternateContent>
        </p:grpSp>
        <p:sp>
          <p:nvSpPr>
            <p:cNvPr id="58" name="Freeform: Shape 57">
              <a:extLst>
                <a:ext uri="{FF2B5EF4-FFF2-40B4-BE49-F238E27FC236}">
                  <a16:creationId xmlns:a16="http://schemas.microsoft.com/office/drawing/2014/main" id="{BC48FCE7-DBA1-80A1-5EA6-BECF0BF2518B}"/>
                </a:ext>
                <a:ext uri="{C183D7F6-B498-43B3-948B-1728B52AA6E4}">
                  <adec:decorative xmlns:adec="http://schemas.microsoft.com/office/drawing/2017/decorative" val="1"/>
                </a:ext>
              </a:extLst>
            </p:cNvPr>
            <p:cNvSpPr/>
            <p:nvPr/>
          </p:nvSpPr>
          <p:spPr>
            <a:xfrm>
              <a:off x="9851348" y="5239145"/>
              <a:ext cx="784370" cy="977318"/>
            </a:xfrm>
            <a:custGeom>
              <a:avLst/>
              <a:gdLst>
                <a:gd name="csX0" fmla="*/ 708869 w 784370"/>
                <a:gd name="csY0" fmla="*/ 79696 h 977318"/>
                <a:gd name="csX1" fmla="*/ 591424 w 784370"/>
                <a:gd name="csY1" fmla="*/ 37751 h 977318"/>
                <a:gd name="csX2" fmla="*/ 541090 w 784370"/>
                <a:gd name="csY2" fmla="*/ 16778 h 977318"/>
                <a:gd name="csX3" fmla="*/ 457200 w 784370"/>
                <a:gd name="csY3" fmla="*/ 0 h 977318"/>
                <a:gd name="csX4" fmla="*/ 419449 w 784370"/>
                <a:gd name="csY4" fmla="*/ 8389 h 977318"/>
                <a:gd name="csX5" fmla="*/ 390088 w 784370"/>
                <a:gd name="csY5" fmla="*/ 41945 h 977318"/>
                <a:gd name="csX6" fmla="*/ 381699 w 784370"/>
                <a:gd name="csY6" fmla="*/ 58723 h 977318"/>
                <a:gd name="csX7" fmla="*/ 385893 w 784370"/>
                <a:gd name="csY7" fmla="*/ 180364 h 977318"/>
                <a:gd name="csX8" fmla="*/ 394282 w 784370"/>
                <a:gd name="csY8" fmla="*/ 209725 h 977318"/>
                <a:gd name="csX9" fmla="*/ 406866 w 784370"/>
                <a:gd name="csY9" fmla="*/ 243281 h 977318"/>
                <a:gd name="csX10" fmla="*/ 390088 w 784370"/>
                <a:gd name="csY10" fmla="*/ 268448 h 977318"/>
                <a:gd name="csX11" fmla="*/ 377504 w 784370"/>
                <a:gd name="csY11" fmla="*/ 272642 h 977318"/>
                <a:gd name="csX12" fmla="*/ 339754 w 784370"/>
                <a:gd name="csY12" fmla="*/ 285226 h 977318"/>
                <a:gd name="csX13" fmla="*/ 318781 w 784370"/>
                <a:gd name="csY13" fmla="*/ 293615 h 977318"/>
                <a:gd name="csX14" fmla="*/ 302003 w 784370"/>
                <a:gd name="csY14" fmla="*/ 306198 h 977318"/>
                <a:gd name="csX15" fmla="*/ 264253 w 784370"/>
                <a:gd name="csY15" fmla="*/ 310393 h 977318"/>
                <a:gd name="csX16" fmla="*/ 243280 w 784370"/>
                <a:gd name="csY16" fmla="*/ 322976 h 977318"/>
                <a:gd name="csX17" fmla="*/ 218113 w 784370"/>
                <a:gd name="csY17" fmla="*/ 335560 h 977318"/>
                <a:gd name="csX18" fmla="*/ 201336 w 784370"/>
                <a:gd name="csY18" fmla="*/ 348143 h 977318"/>
                <a:gd name="csX19" fmla="*/ 142613 w 784370"/>
                <a:gd name="csY19" fmla="*/ 369116 h 977318"/>
                <a:gd name="csX20" fmla="*/ 113251 w 784370"/>
                <a:gd name="csY20" fmla="*/ 373310 h 977318"/>
                <a:gd name="csX21" fmla="*/ 75501 w 784370"/>
                <a:gd name="csY21" fmla="*/ 385894 h 977318"/>
                <a:gd name="csX22" fmla="*/ 29361 w 784370"/>
                <a:gd name="csY22" fmla="*/ 406866 h 977318"/>
                <a:gd name="csX23" fmla="*/ 16778 w 784370"/>
                <a:gd name="csY23" fmla="*/ 419450 h 977318"/>
                <a:gd name="csX24" fmla="*/ 12583 w 784370"/>
                <a:gd name="csY24" fmla="*/ 436228 h 977318"/>
                <a:gd name="csX25" fmla="*/ 0 w 784370"/>
                <a:gd name="csY25" fmla="*/ 469784 h 977318"/>
                <a:gd name="csX26" fmla="*/ 4194 w 784370"/>
                <a:gd name="csY26" fmla="*/ 536896 h 977318"/>
                <a:gd name="csX27" fmla="*/ 20972 w 784370"/>
                <a:gd name="csY27" fmla="*/ 562063 h 977318"/>
                <a:gd name="csX28" fmla="*/ 29361 w 784370"/>
                <a:gd name="csY28" fmla="*/ 595619 h 977318"/>
                <a:gd name="csX29" fmla="*/ 41945 w 784370"/>
                <a:gd name="csY29" fmla="*/ 612397 h 977318"/>
                <a:gd name="csX30" fmla="*/ 79695 w 784370"/>
                <a:gd name="csY30" fmla="*/ 658536 h 977318"/>
                <a:gd name="csX31" fmla="*/ 92279 w 784370"/>
                <a:gd name="csY31" fmla="*/ 662731 h 977318"/>
                <a:gd name="csX32" fmla="*/ 117446 w 784370"/>
                <a:gd name="csY32" fmla="*/ 675314 h 977318"/>
                <a:gd name="csX33" fmla="*/ 134224 w 784370"/>
                <a:gd name="csY33" fmla="*/ 687897 h 977318"/>
                <a:gd name="csX34" fmla="*/ 167780 w 784370"/>
                <a:gd name="csY34" fmla="*/ 708870 h 977318"/>
                <a:gd name="csX35" fmla="*/ 209724 w 784370"/>
                <a:gd name="csY35" fmla="*/ 734037 h 977318"/>
                <a:gd name="csX36" fmla="*/ 230697 w 784370"/>
                <a:gd name="csY36" fmla="*/ 738231 h 977318"/>
                <a:gd name="csX37" fmla="*/ 255864 w 784370"/>
                <a:gd name="csY37" fmla="*/ 763398 h 977318"/>
                <a:gd name="csX38" fmla="*/ 272642 w 784370"/>
                <a:gd name="csY38" fmla="*/ 775982 h 977318"/>
                <a:gd name="csX39" fmla="*/ 293614 w 784370"/>
                <a:gd name="csY39" fmla="*/ 801149 h 977318"/>
                <a:gd name="csX40" fmla="*/ 310392 w 784370"/>
                <a:gd name="csY40" fmla="*/ 813732 h 977318"/>
                <a:gd name="csX41" fmla="*/ 322976 w 784370"/>
                <a:gd name="csY41" fmla="*/ 826316 h 977318"/>
                <a:gd name="csX42" fmla="*/ 356532 w 784370"/>
                <a:gd name="csY42" fmla="*/ 864066 h 977318"/>
                <a:gd name="csX43" fmla="*/ 373310 w 784370"/>
                <a:gd name="csY43" fmla="*/ 889233 h 977318"/>
                <a:gd name="csX44" fmla="*/ 398477 w 784370"/>
                <a:gd name="csY44" fmla="*/ 901817 h 977318"/>
                <a:gd name="csX45" fmla="*/ 448811 w 784370"/>
                <a:gd name="csY45" fmla="*/ 939567 h 977318"/>
                <a:gd name="csX46" fmla="*/ 549479 w 784370"/>
                <a:gd name="csY46" fmla="*/ 977318 h 977318"/>
                <a:gd name="csX47" fmla="*/ 620785 w 784370"/>
                <a:gd name="csY47" fmla="*/ 960540 h 977318"/>
                <a:gd name="csX48" fmla="*/ 633369 w 784370"/>
                <a:gd name="csY48" fmla="*/ 922789 h 977318"/>
                <a:gd name="csX49" fmla="*/ 658536 w 784370"/>
                <a:gd name="csY49" fmla="*/ 843094 h 977318"/>
                <a:gd name="csX50" fmla="*/ 658536 w 784370"/>
                <a:gd name="csY50" fmla="*/ 683703 h 977318"/>
                <a:gd name="csX51" fmla="*/ 641758 w 784370"/>
                <a:gd name="csY51" fmla="*/ 666925 h 977318"/>
                <a:gd name="csX52" fmla="*/ 633369 w 784370"/>
                <a:gd name="csY52" fmla="*/ 641758 h 977318"/>
                <a:gd name="csX53" fmla="*/ 620785 w 784370"/>
                <a:gd name="csY53" fmla="*/ 629175 h 977318"/>
                <a:gd name="csX54" fmla="*/ 624980 w 784370"/>
                <a:gd name="csY54" fmla="*/ 570452 h 977318"/>
                <a:gd name="csX55" fmla="*/ 658536 w 784370"/>
                <a:gd name="csY55" fmla="*/ 545285 h 977318"/>
                <a:gd name="csX56" fmla="*/ 683702 w 784370"/>
                <a:gd name="csY56" fmla="*/ 528507 h 977318"/>
                <a:gd name="csX57" fmla="*/ 725647 w 784370"/>
                <a:gd name="csY57" fmla="*/ 515923 h 977318"/>
                <a:gd name="csX58" fmla="*/ 771787 w 784370"/>
                <a:gd name="csY58" fmla="*/ 478173 h 977318"/>
                <a:gd name="csX59" fmla="*/ 784370 w 784370"/>
                <a:gd name="csY59" fmla="*/ 314587 h 977318"/>
                <a:gd name="csX60" fmla="*/ 780176 w 784370"/>
                <a:gd name="csY60" fmla="*/ 125835 h 977318"/>
                <a:gd name="csX61" fmla="*/ 771787 w 784370"/>
                <a:gd name="csY61" fmla="*/ 104863 h 977318"/>
                <a:gd name="csX62" fmla="*/ 708869 w 784370"/>
                <a:gd name="csY62" fmla="*/ 79696 h 9773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Lst>
              <a:rect l="l" t="t" r="r" b="b"/>
              <a:pathLst>
                <a:path w="784370" h="977318">
                  <a:moveTo>
                    <a:pt x="708869" y="79696"/>
                  </a:moveTo>
                  <a:cubicBezTo>
                    <a:pt x="678809" y="68511"/>
                    <a:pt x="690479" y="78539"/>
                    <a:pt x="591424" y="37751"/>
                  </a:cubicBezTo>
                  <a:cubicBezTo>
                    <a:pt x="574617" y="30830"/>
                    <a:pt x="558626" y="21560"/>
                    <a:pt x="541090" y="16778"/>
                  </a:cubicBezTo>
                  <a:cubicBezTo>
                    <a:pt x="482735" y="864"/>
                    <a:pt x="510794" y="5956"/>
                    <a:pt x="457200" y="0"/>
                  </a:cubicBezTo>
                  <a:cubicBezTo>
                    <a:pt x="444616" y="2796"/>
                    <a:pt x="431480" y="3761"/>
                    <a:pt x="419449" y="8389"/>
                  </a:cubicBezTo>
                  <a:cubicBezTo>
                    <a:pt x="403471" y="14534"/>
                    <a:pt x="397729" y="28191"/>
                    <a:pt x="390088" y="41945"/>
                  </a:cubicBezTo>
                  <a:cubicBezTo>
                    <a:pt x="387051" y="47411"/>
                    <a:pt x="384495" y="53130"/>
                    <a:pt x="381699" y="58723"/>
                  </a:cubicBezTo>
                  <a:cubicBezTo>
                    <a:pt x="372909" y="111456"/>
                    <a:pt x="374063" y="91640"/>
                    <a:pt x="385893" y="180364"/>
                  </a:cubicBezTo>
                  <a:cubicBezTo>
                    <a:pt x="387238" y="190453"/>
                    <a:pt x="391813" y="199850"/>
                    <a:pt x="394282" y="209725"/>
                  </a:cubicBezTo>
                  <a:cubicBezTo>
                    <a:pt x="401539" y="238750"/>
                    <a:pt x="393057" y="222566"/>
                    <a:pt x="406866" y="243281"/>
                  </a:cubicBezTo>
                  <a:cubicBezTo>
                    <a:pt x="401273" y="251670"/>
                    <a:pt x="397217" y="261319"/>
                    <a:pt x="390088" y="268448"/>
                  </a:cubicBezTo>
                  <a:cubicBezTo>
                    <a:pt x="386961" y="271574"/>
                    <a:pt x="381459" y="270665"/>
                    <a:pt x="377504" y="272642"/>
                  </a:cubicBezTo>
                  <a:cubicBezTo>
                    <a:pt x="348011" y="287388"/>
                    <a:pt x="386484" y="277437"/>
                    <a:pt x="339754" y="285226"/>
                  </a:cubicBezTo>
                  <a:cubicBezTo>
                    <a:pt x="332763" y="288022"/>
                    <a:pt x="325363" y="289958"/>
                    <a:pt x="318781" y="293615"/>
                  </a:cubicBezTo>
                  <a:cubicBezTo>
                    <a:pt x="312670" y="297010"/>
                    <a:pt x="308685" y="304142"/>
                    <a:pt x="302003" y="306198"/>
                  </a:cubicBezTo>
                  <a:cubicBezTo>
                    <a:pt x="289902" y="309921"/>
                    <a:pt x="276836" y="308995"/>
                    <a:pt x="264253" y="310393"/>
                  </a:cubicBezTo>
                  <a:cubicBezTo>
                    <a:pt x="257262" y="314587"/>
                    <a:pt x="250437" y="319072"/>
                    <a:pt x="243280" y="322976"/>
                  </a:cubicBezTo>
                  <a:cubicBezTo>
                    <a:pt x="235046" y="327467"/>
                    <a:pt x="226156" y="330734"/>
                    <a:pt x="218113" y="335560"/>
                  </a:cubicBezTo>
                  <a:cubicBezTo>
                    <a:pt x="212119" y="339157"/>
                    <a:pt x="207588" y="345017"/>
                    <a:pt x="201336" y="348143"/>
                  </a:cubicBezTo>
                  <a:cubicBezTo>
                    <a:pt x="197707" y="349958"/>
                    <a:pt x="150831" y="367220"/>
                    <a:pt x="142613" y="369116"/>
                  </a:cubicBezTo>
                  <a:cubicBezTo>
                    <a:pt x="132979" y="371339"/>
                    <a:pt x="123038" y="371912"/>
                    <a:pt x="113251" y="373310"/>
                  </a:cubicBezTo>
                  <a:cubicBezTo>
                    <a:pt x="100668" y="377505"/>
                    <a:pt x="87693" y="380669"/>
                    <a:pt x="75501" y="385894"/>
                  </a:cubicBezTo>
                  <a:cubicBezTo>
                    <a:pt x="-4444" y="420156"/>
                    <a:pt x="118001" y="377319"/>
                    <a:pt x="29361" y="406866"/>
                  </a:cubicBezTo>
                  <a:cubicBezTo>
                    <a:pt x="25167" y="411061"/>
                    <a:pt x="19721" y="414300"/>
                    <a:pt x="16778" y="419450"/>
                  </a:cubicBezTo>
                  <a:cubicBezTo>
                    <a:pt x="13918" y="424455"/>
                    <a:pt x="14406" y="430759"/>
                    <a:pt x="12583" y="436228"/>
                  </a:cubicBezTo>
                  <a:cubicBezTo>
                    <a:pt x="8805" y="447561"/>
                    <a:pt x="4194" y="458599"/>
                    <a:pt x="0" y="469784"/>
                  </a:cubicBezTo>
                  <a:cubicBezTo>
                    <a:pt x="1398" y="492155"/>
                    <a:pt x="-773" y="515039"/>
                    <a:pt x="4194" y="536896"/>
                  </a:cubicBezTo>
                  <a:cubicBezTo>
                    <a:pt x="6428" y="546728"/>
                    <a:pt x="17000" y="552796"/>
                    <a:pt x="20972" y="562063"/>
                  </a:cubicBezTo>
                  <a:cubicBezTo>
                    <a:pt x="25514" y="572660"/>
                    <a:pt x="24926" y="584976"/>
                    <a:pt x="29361" y="595619"/>
                  </a:cubicBezTo>
                  <a:cubicBezTo>
                    <a:pt x="32050" y="602072"/>
                    <a:pt x="37936" y="606670"/>
                    <a:pt x="41945" y="612397"/>
                  </a:cubicBezTo>
                  <a:cubicBezTo>
                    <a:pt x="55992" y="632464"/>
                    <a:pt x="59649" y="643501"/>
                    <a:pt x="79695" y="658536"/>
                  </a:cubicBezTo>
                  <a:cubicBezTo>
                    <a:pt x="83232" y="661189"/>
                    <a:pt x="88238" y="660935"/>
                    <a:pt x="92279" y="662731"/>
                  </a:cubicBezTo>
                  <a:cubicBezTo>
                    <a:pt x="100850" y="666540"/>
                    <a:pt x="109403" y="670489"/>
                    <a:pt x="117446" y="675314"/>
                  </a:cubicBezTo>
                  <a:cubicBezTo>
                    <a:pt x="123441" y="678911"/>
                    <a:pt x="128407" y="684019"/>
                    <a:pt x="134224" y="687897"/>
                  </a:cubicBezTo>
                  <a:cubicBezTo>
                    <a:pt x="145199" y="695214"/>
                    <a:pt x="156805" y="701553"/>
                    <a:pt x="167780" y="708870"/>
                  </a:cubicBezTo>
                  <a:cubicBezTo>
                    <a:pt x="188195" y="722480"/>
                    <a:pt x="183492" y="724498"/>
                    <a:pt x="209724" y="734037"/>
                  </a:cubicBezTo>
                  <a:cubicBezTo>
                    <a:pt x="216424" y="736473"/>
                    <a:pt x="223706" y="736833"/>
                    <a:pt x="230697" y="738231"/>
                  </a:cubicBezTo>
                  <a:cubicBezTo>
                    <a:pt x="239086" y="746620"/>
                    <a:pt x="247046" y="755461"/>
                    <a:pt x="255864" y="763398"/>
                  </a:cubicBezTo>
                  <a:cubicBezTo>
                    <a:pt x="261060" y="768075"/>
                    <a:pt x="267699" y="771039"/>
                    <a:pt x="272642" y="775982"/>
                  </a:cubicBezTo>
                  <a:cubicBezTo>
                    <a:pt x="280363" y="783704"/>
                    <a:pt x="285892" y="793427"/>
                    <a:pt x="293614" y="801149"/>
                  </a:cubicBezTo>
                  <a:cubicBezTo>
                    <a:pt x="298557" y="806092"/>
                    <a:pt x="305084" y="809183"/>
                    <a:pt x="310392" y="813732"/>
                  </a:cubicBezTo>
                  <a:cubicBezTo>
                    <a:pt x="314896" y="817593"/>
                    <a:pt x="318781" y="822121"/>
                    <a:pt x="322976" y="826316"/>
                  </a:cubicBezTo>
                  <a:cubicBezTo>
                    <a:pt x="340326" y="869690"/>
                    <a:pt x="318115" y="825649"/>
                    <a:pt x="356532" y="864066"/>
                  </a:cubicBezTo>
                  <a:cubicBezTo>
                    <a:pt x="363661" y="871195"/>
                    <a:pt x="365816" y="882488"/>
                    <a:pt x="373310" y="889233"/>
                  </a:cubicBezTo>
                  <a:cubicBezTo>
                    <a:pt x="380282" y="895507"/>
                    <a:pt x="390673" y="896614"/>
                    <a:pt x="398477" y="901817"/>
                  </a:cubicBezTo>
                  <a:cubicBezTo>
                    <a:pt x="415927" y="913450"/>
                    <a:pt x="430645" y="929087"/>
                    <a:pt x="448811" y="939567"/>
                  </a:cubicBezTo>
                  <a:cubicBezTo>
                    <a:pt x="482303" y="958889"/>
                    <a:pt x="513627" y="966562"/>
                    <a:pt x="549479" y="977318"/>
                  </a:cubicBezTo>
                  <a:cubicBezTo>
                    <a:pt x="573248" y="971725"/>
                    <a:pt x="600312" y="973847"/>
                    <a:pt x="620785" y="960540"/>
                  </a:cubicBezTo>
                  <a:cubicBezTo>
                    <a:pt x="631906" y="953311"/>
                    <a:pt x="628783" y="935236"/>
                    <a:pt x="633369" y="922789"/>
                  </a:cubicBezTo>
                  <a:cubicBezTo>
                    <a:pt x="657522" y="857232"/>
                    <a:pt x="644665" y="905511"/>
                    <a:pt x="658536" y="843094"/>
                  </a:cubicBezTo>
                  <a:cubicBezTo>
                    <a:pt x="662374" y="789359"/>
                    <a:pt x="668251" y="738109"/>
                    <a:pt x="658536" y="683703"/>
                  </a:cubicBezTo>
                  <a:cubicBezTo>
                    <a:pt x="657146" y="675917"/>
                    <a:pt x="647351" y="672518"/>
                    <a:pt x="641758" y="666925"/>
                  </a:cubicBezTo>
                  <a:cubicBezTo>
                    <a:pt x="638962" y="658536"/>
                    <a:pt x="637664" y="649488"/>
                    <a:pt x="633369" y="641758"/>
                  </a:cubicBezTo>
                  <a:cubicBezTo>
                    <a:pt x="630488" y="636573"/>
                    <a:pt x="621478" y="635066"/>
                    <a:pt x="620785" y="629175"/>
                  </a:cubicBezTo>
                  <a:cubicBezTo>
                    <a:pt x="618492" y="609685"/>
                    <a:pt x="620485" y="589555"/>
                    <a:pt x="624980" y="570452"/>
                  </a:cubicBezTo>
                  <a:cubicBezTo>
                    <a:pt x="627018" y="561792"/>
                    <a:pt x="654892" y="547604"/>
                    <a:pt x="658536" y="545285"/>
                  </a:cubicBezTo>
                  <a:cubicBezTo>
                    <a:pt x="667042" y="539872"/>
                    <a:pt x="674684" y="533016"/>
                    <a:pt x="683702" y="528507"/>
                  </a:cubicBezTo>
                  <a:cubicBezTo>
                    <a:pt x="693911" y="523402"/>
                    <a:pt x="713607" y="518933"/>
                    <a:pt x="725647" y="515923"/>
                  </a:cubicBezTo>
                  <a:cubicBezTo>
                    <a:pt x="741027" y="503340"/>
                    <a:pt x="770842" y="498022"/>
                    <a:pt x="771787" y="478173"/>
                  </a:cubicBezTo>
                  <a:cubicBezTo>
                    <a:pt x="777185" y="364795"/>
                    <a:pt x="772735" y="419303"/>
                    <a:pt x="784370" y="314587"/>
                  </a:cubicBezTo>
                  <a:cubicBezTo>
                    <a:pt x="782972" y="251670"/>
                    <a:pt x="783945" y="188655"/>
                    <a:pt x="780176" y="125835"/>
                  </a:cubicBezTo>
                  <a:cubicBezTo>
                    <a:pt x="779725" y="118319"/>
                    <a:pt x="778641" y="107979"/>
                    <a:pt x="771787" y="104863"/>
                  </a:cubicBezTo>
                  <a:cubicBezTo>
                    <a:pt x="760331" y="99656"/>
                    <a:pt x="738929" y="90881"/>
                    <a:pt x="708869" y="79696"/>
                  </a:cubicBez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8459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EAA3-7B15-7C66-C9C5-62CF6CF9AD0F}"/>
              </a:ext>
            </a:extLst>
          </p:cNvPr>
          <p:cNvSpPr>
            <a:spLocks noGrp="1"/>
          </p:cNvSpPr>
          <p:nvPr>
            <p:ph type="title"/>
          </p:nvPr>
        </p:nvSpPr>
        <p:spPr/>
        <p:txBody>
          <a:bodyPr>
            <a:normAutofit fontScale="90000"/>
          </a:bodyPr>
          <a:lstStyle/>
          <a:p>
            <a:r>
              <a:rPr lang="en-US" dirty="0"/>
              <a:t>Trust Region Policy Optimization </a:t>
            </a:r>
            <a:br>
              <a:rPr lang="en-US" dirty="0"/>
            </a:br>
            <a:r>
              <a:rPr lang="en-US" dirty="0"/>
              <a:t>(TRPO; Schulman et al, 2015)</a:t>
            </a:r>
          </a:p>
        </p:txBody>
      </p:sp>
      <mc:AlternateContent xmlns:mc="http://schemas.openxmlformats.org/markup-compatibility/2006" xmlns:a14="http://schemas.microsoft.com/office/drawing/2010/main">
        <mc:Choice Requires="a14">
          <p:sp>
            <p:nvSpPr>
              <p:cNvPr id="5" name="TextBox 4" descr="Notation: theta and w are often used interchangeably!">
                <a:extLst>
                  <a:ext uri="{FF2B5EF4-FFF2-40B4-BE49-F238E27FC236}">
                    <a16:creationId xmlns:a16="http://schemas.microsoft.com/office/drawing/2014/main" id="{6740AAF6-B2BA-8AFC-A54A-3FBA103F9C85}"/>
                  </a:ext>
                </a:extLst>
              </p:cNvPr>
              <p:cNvSpPr txBox="1"/>
              <p:nvPr/>
            </p:nvSpPr>
            <p:spPr>
              <a:xfrm>
                <a:off x="8451908" y="180460"/>
                <a:ext cx="337140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Notation: </a:t>
                </a:r>
                <a14:m>
                  <m:oMath xmlns:m="http://schemas.openxmlformats.org/officeDocument/2006/math">
                    <m:r>
                      <a:rPr lang="en-US" b="0" i="1" smtClean="0">
                        <a:latin typeface="Cambria Math" panose="02040503050406030204" pitchFamily="18" charset="0"/>
                      </a:rPr>
                      <m:t>𝜃</m:t>
                    </m:r>
                  </m:oMath>
                </a14:m>
                <a:r>
                  <a:rPr lang="en-US" dirty="0"/>
                  <a:t> and </a:t>
                </a:r>
                <a14:m>
                  <m:oMath xmlns:m="http://schemas.openxmlformats.org/officeDocument/2006/math">
                    <m:r>
                      <a:rPr lang="en-US" i="1" dirty="0" smtClean="0">
                        <a:latin typeface="Cambria Math" panose="02040503050406030204" pitchFamily="18" charset="0"/>
                      </a:rPr>
                      <m:t>𝑤</m:t>
                    </m:r>
                  </m:oMath>
                </a14:m>
                <a:r>
                  <a:rPr lang="en-US" dirty="0"/>
                  <a:t> are often used interchangeably!</a:t>
                </a:r>
              </a:p>
            </p:txBody>
          </p:sp>
        </mc:Choice>
        <mc:Fallback xmlns="">
          <p:sp>
            <p:nvSpPr>
              <p:cNvPr id="5" name="TextBox 4" descr="Notation: theta and w are often used interchangeably!">
                <a:extLst>
                  <a:ext uri="{FF2B5EF4-FFF2-40B4-BE49-F238E27FC236}">
                    <a16:creationId xmlns:a16="http://schemas.microsoft.com/office/drawing/2014/main" id="{6740AAF6-B2BA-8AFC-A54A-3FBA103F9C85}"/>
                  </a:ext>
                </a:extLst>
              </p:cNvPr>
              <p:cNvSpPr txBox="1">
                <a:spLocks noRot="1" noChangeAspect="1" noMove="1" noResize="1" noEditPoints="1" noAdjustHandles="1" noChangeArrowheads="1" noChangeShapeType="1" noTextEdit="1"/>
              </p:cNvSpPr>
              <p:nvPr/>
            </p:nvSpPr>
            <p:spPr>
              <a:xfrm>
                <a:off x="8451908" y="180460"/>
                <a:ext cx="3371402" cy="646331"/>
              </a:xfrm>
              <a:prstGeom prst="rect">
                <a:avLst/>
              </a:prstGeom>
              <a:blipFill>
                <a:blip r:embed="rId3"/>
                <a:stretch>
                  <a:fillRect t="-3670" b="-128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An actor critic method using a simplification of the natural policy gradient. Surrogate objective. Instead of directly maximizing the value function, it uses the probability ratio of choosing an action before and after the update weighed by the advantage. It prefers updates that increases the probability of picking high-advantage actions. max over Delta w, of E sub pi sub w, [the fraction pi sub w plus Delta w, (s,a), over pi sub w (s,a), end fraction A to the power pi sub w, (s,a)]. Under a constrain that explicitly bound of the policy change per update step. E [D sub KL (pi sub w (s, times) given given pi sub w plus Delta w, (s, times))] is less than or equal to delta. delta is a tune-able hyperparameter specifying the size of the safe “trust region.” This prevents destructive large changes in the policy">
                <a:extLst>
                  <a:ext uri="{FF2B5EF4-FFF2-40B4-BE49-F238E27FC236}">
                    <a16:creationId xmlns:a16="http://schemas.microsoft.com/office/drawing/2014/main" id="{E434D68B-6971-F57D-C935-CC54CC438549}"/>
                  </a:ext>
                </a:extLst>
              </p:cNvPr>
              <p:cNvSpPr>
                <a:spLocks noGrp="1"/>
              </p:cNvSpPr>
              <p:nvPr>
                <p:ph idx="1"/>
              </p:nvPr>
            </p:nvSpPr>
            <p:spPr>
              <a:xfrm>
                <a:off x="838200" y="1701384"/>
                <a:ext cx="10515600" cy="4475579"/>
              </a:xfrm>
            </p:spPr>
            <p:txBody>
              <a:bodyPr>
                <a:normAutofit fontScale="70000" lnSpcReduction="20000"/>
              </a:bodyPr>
              <a:lstStyle/>
              <a:p>
                <a:r>
                  <a:rPr lang="en-US" dirty="0"/>
                  <a:t>An actor critic method using a simplification of the natural policy gradient.</a:t>
                </a:r>
              </a:p>
              <a:p>
                <a:r>
                  <a:rPr lang="en-US" dirty="0"/>
                  <a:t>Surrogate objective. Instead of directly maximizing the value function, it uses the </a:t>
                </a:r>
                <a:r>
                  <a:rPr lang="en-US" b="1" dirty="0"/>
                  <a:t>probability ratio of choosing an action </a:t>
                </a:r>
                <a:r>
                  <a:rPr lang="en-US" dirty="0"/>
                  <a:t>before and after the update weighed by the advantage.</a:t>
                </a:r>
              </a:p>
              <a:p>
                <a:r>
                  <a:rPr lang="en-US" dirty="0"/>
                  <a:t>It prefers updates that increases the probability of picking high-advantage actions.</a:t>
                </a:r>
              </a:p>
              <a:p>
                <a:endParaRPr lang="en-US" dirty="0"/>
              </a:p>
              <a:p>
                <a:pPr marL="0" indent="0">
                  <a:buNone/>
                </a:pPr>
                <a14:m>
                  <m:oMathPara xmlns:m="http://schemas.openxmlformats.org/officeDocument/2006/math">
                    <m:o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max</m:t>
                              </m:r>
                            </m:e>
                            <m:li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𝑤</m:t>
                              </m:r>
                            </m:lim>
                          </m:limLow>
                        </m:fName>
                        <m:e>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𝔼</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𝑤</m:t>
                                  </m:r>
                                </m:sub>
                              </m:sSub>
                            </m:sub>
                          </m:sSub>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𝑤</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𝑤</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𝑤</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den>
                              </m:f>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𝐴</m:t>
                                  </m:r>
                                </m:e>
                                <m: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𝑤</m:t>
                                      </m:r>
                                    </m:sub>
                                  </m:sSub>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e>
                          </m:d>
                        </m:e>
                      </m:func>
                    </m:oMath>
                  </m:oMathPara>
                </a14:m>
                <a:endParaRPr lang="en-US" dirty="0"/>
              </a:p>
              <a:p>
                <a:pPr marL="0" indent="0">
                  <a:buNone/>
                </a:pPr>
                <a:endParaRPr lang="en-US" dirty="0"/>
              </a:p>
              <a:p>
                <a:r>
                  <a:rPr lang="en-US" dirty="0"/>
                  <a:t>Under a constrain that explicitly bound of the policy change per update step.</a:t>
                </a:r>
                <a:br>
                  <a:rPr lang="en-US" dirty="0"/>
                </a:br>
                <a:endParaRPr lang="en-US" dirty="0"/>
              </a:p>
              <a:p>
                <a:pPr marL="0" indent="0">
                  <a:buNone/>
                </a:pPr>
                <a14:m>
                  <m:oMathPara xmlns:m="http://schemas.openxmlformats.org/officeDocument/2006/math">
                    <m:oMath>
                      <m:r>
                        <a:rPr lang="en-US" i="1" smtClean="0">
                          <a:latin typeface="Cambria Math" panose="02040503050406030204" pitchFamily="18" charset="0"/>
                          <a:ea typeface="Cambria Math" panose="02040503050406030204" pitchFamily="18" charset="0"/>
                        </a:rPr>
                        <m:t>𝔼</m:t>
                      </m:r>
                      <m:r>
                        <a:rPr lang="en-US" b="0" i="1" smtClean="0">
                          <a:latin typeface="Cambria Math" panose="02040503050406030204" pitchFamily="18" charset="0"/>
                          <a:ea typeface="Cambria Math" panose="02040503050406030204" pitchFamily="18" charset="0"/>
                        </a:rPr>
                        <m:t> </m:t>
                      </m:r>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𝐷</m:t>
                              </m:r>
                            </m:e>
                            <m:sub>
                              <m:r>
                                <a:rPr lang="en-US" i="1">
                                  <a:latin typeface="Cambria Math" panose="02040503050406030204" pitchFamily="18" charset="0"/>
                                  <a:ea typeface="Cambria Math" panose="02040503050406030204" pitchFamily="18" charset="0"/>
                                </a:rPr>
                                <m:t>𝐾𝐿</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𝑤</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𝑤</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𝑤</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e>
                          </m:d>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𝛿</m:t>
                      </m:r>
                    </m:oMath>
                  </m:oMathPara>
                </a14:m>
                <a:endParaRPr lang="en-US" dirty="0"/>
              </a:p>
              <a:p>
                <a:endParaRPr lang="en-US" dirty="0"/>
              </a:p>
              <a:p>
                <a14:m>
                  <m:oMath xmlns:m="http://schemas.openxmlformats.org/officeDocument/2006/math">
                    <m:r>
                      <a:rPr lang="en-US" b="0" i="1" smtClean="0">
                        <a:latin typeface="Cambria Math" panose="02040503050406030204" pitchFamily="18" charset="0"/>
                      </a:rPr>
                      <m:t>𝛿</m:t>
                    </m:r>
                  </m:oMath>
                </a14:m>
                <a:r>
                  <a:rPr lang="en-US" dirty="0"/>
                  <a:t> is a tune-able hyperparameter specifying the size of the safe “trust region.” </a:t>
                </a:r>
                <a:br>
                  <a:rPr lang="en-US" dirty="0"/>
                </a:br>
                <a:r>
                  <a:rPr lang="en-US" dirty="0"/>
                  <a:t>This prevents destructive large changes in the policy.</a:t>
                </a:r>
              </a:p>
            </p:txBody>
          </p:sp>
        </mc:Choice>
        <mc:Fallback xmlns="">
          <p:sp>
            <p:nvSpPr>
              <p:cNvPr id="3" name="Content Placeholder 2" descr="An actor critic method using a simplification of the natural policy gradient. Surrogate objective. Instead of directly maximizing the value function, it uses the probability ratio of choosing an action before and after the update weighed by the advantage. It prefers updates that increases the probability of picking high-advantage actions. max over Delta w, of E sub pi sub w, [the fraction pi sub w plus Delta w, (s,a), over pi sub w (s,a), end fraction A to the power pi sub w, (s,a)]. Under a constrain that explicitly bound of the policy change per update step. E [D sub KL (pi sub w (s, times) given given pi sub w plus Delta w, (s, times))] is less than or equal to delta. delta is a tune-able hyperparameter specifying the size of the safe “trust region.” This prevents destructive large changes in the policy">
                <a:extLst>
                  <a:ext uri="{FF2B5EF4-FFF2-40B4-BE49-F238E27FC236}">
                    <a16:creationId xmlns:a16="http://schemas.microsoft.com/office/drawing/2014/main" id="{E434D68B-6971-F57D-C935-CC54CC438549}"/>
                  </a:ext>
                </a:extLst>
              </p:cNvPr>
              <p:cNvSpPr>
                <a:spLocks noGrp="1" noRot="1" noChangeAspect="1" noMove="1" noResize="1" noEditPoints="1" noAdjustHandles="1" noChangeArrowheads="1" noChangeShapeType="1" noTextEdit="1"/>
              </p:cNvSpPr>
              <p:nvPr>
                <p:ph idx="1"/>
              </p:nvPr>
            </p:nvSpPr>
            <p:spPr>
              <a:xfrm>
                <a:off x="838200" y="1701384"/>
                <a:ext cx="10515600" cy="4475579"/>
              </a:xfrm>
              <a:blipFill>
                <a:blip r:embed="rId2"/>
                <a:stretch>
                  <a:fillRect l="-522" t="-2316" r="-522"/>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EF8D9568-F69C-1590-C412-5CE53C7B601D}"/>
              </a:ext>
              <a:ext uri="{C183D7F6-B498-43B3-948B-1728B52AA6E4}">
                <adec:decorative xmlns:adec="http://schemas.microsoft.com/office/drawing/2017/decorative" val="1"/>
              </a:ext>
            </a:extLst>
          </p:cNvPr>
          <p:cNvSpPr/>
          <p:nvPr/>
        </p:nvSpPr>
        <p:spPr>
          <a:xfrm>
            <a:off x="5304644" y="3110394"/>
            <a:ext cx="1442803" cy="771994"/>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28B1DFC-13DA-CCD8-A38A-E0EC962F24BA}"/>
              </a:ext>
              <a:ext uri="{C183D7F6-B498-43B3-948B-1728B52AA6E4}">
                <adec:decorative xmlns:adec="http://schemas.microsoft.com/office/drawing/2017/decorative" val="1"/>
              </a:ext>
            </a:extLst>
          </p:cNvPr>
          <p:cNvCxnSpPr>
            <a:cxnSpLocks/>
          </p:cNvCxnSpPr>
          <p:nvPr/>
        </p:nvCxnSpPr>
        <p:spPr>
          <a:xfrm flipV="1">
            <a:off x="5919269" y="3882388"/>
            <a:ext cx="134911" cy="77199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0498659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77DA5-4B94-BB57-4818-1206425CE464}"/>
              </a:ext>
            </a:extLst>
          </p:cNvPr>
          <p:cNvSpPr>
            <a:spLocks noGrp="1"/>
          </p:cNvSpPr>
          <p:nvPr>
            <p:ph type="title"/>
          </p:nvPr>
        </p:nvSpPr>
        <p:spPr/>
        <p:txBody>
          <a:bodyPr>
            <a:normAutofit fontScale="90000"/>
          </a:bodyPr>
          <a:lstStyle/>
          <a:p>
            <a:r>
              <a:rPr lang="en-US" dirty="0"/>
              <a:t>Proximal Policy Optimization </a:t>
            </a:r>
            <a:br>
              <a:rPr lang="en-US" dirty="0"/>
            </a:br>
            <a:r>
              <a:rPr lang="en-US" dirty="0"/>
              <a:t>(PPO; Schulman et al, 2017)</a:t>
            </a:r>
          </a:p>
        </p:txBody>
      </p:sp>
      <mc:AlternateContent xmlns:mc="http://schemas.openxmlformats.org/markup-compatibility/2006" xmlns:a14="http://schemas.microsoft.com/office/drawing/2010/main">
        <mc:Choice Requires="a14">
          <p:sp>
            <p:nvSpPr>
              <p:cNvPr id="4" name="TextBox 3" descr="Notation: theta and w are often used interchangeably!">
                <a:extLst>
                  <a:ext uri="{FF2B5EF4-FFF2-40B4-BE49-F238E27FC236}">
                    <a16:creationId xmlns:a16="http://schemas.microsoft.com/office/drawing/2014/main" id="{573A7FB0-2FDE-17B4-2C38-6EBDC8E28E26}"/>
                  </a:ext>
                </a:extLst>
              </p:cNvPr>
              <p:cNvSpPr txBox="1"/>
              <p:nvPr/>
            </p:nvSpPr>
            <p:spPr>
              <a:xfrm>
                <a:off x="8451908" y="180460"/>
                <a:ext cx="337140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Notation: </a:t>
                </a:r>
                <a14:m>
                  <m:oMath xmlns:m="http://schemas.openxmlformats.org/officeDocument/2006/math">
                    <m:r>
                      <a:rPr lang="en-US" b="0" i="1" smtClean="0">
                        <a:latin typeface="Cambria Math" panose="02040503050406030204" pitchFamily="18" charset="0"/>
                      </a:rPr>
                      <m:t>𝜃</m:t>
                    </m:r>
                  </m:oMath>
                </a14:m>
                <a:r>
                  <a:rPr lang="en-US" dirty="0"/>
                  <a:t> and </a:t>
                </a:r>
                <a14:m>
                  <m:oMath xmlns:m="http://schemas.openxmlformats.org/officeDocument/2006/math">
                    <m:r>
                      <a:rPr lang="en-US" i="1" dirty="0" smtClean="0">
                        <a:latin typeface="Cambria Math" panose="02040503050406030204" pitchFamily="18" charset="0"/>
                      </a:rPr>
                      <m:t>𝑤</m:t>
                    </m:r>
                  </m:oMath>
                </a14:m>
                <a:r>
                  <a:rPr lang="en-US" dirty="0"/>
                  <a:t> are often used interchangeably!</a:t>
                </a:r>
              </a:p>
            </p:txBody>
          </p:sp>
        </mc:Choice>
        <mc:Fallback xmlns="">
          <p:sp>
            <p:nvSpPr>
              <p:cNvPr id="4" name="TextBox 3" descr="Notation: theta and w are often used interchangeably!">
                <a:extLst>
                  <a:ext uri="{FF2B5EF4-FFF2-40B4-BE49-F238E27FC236}">
                    <a16:creationId xmlns:a16="http://schemas.microsoft.com/office/drawing/2014/main" id="{573A7FB0-2FDE-17B4-2C38-6EBDC8E28E26}"/>
                  </a:ext>
                </a:extLst>
              </p:cNvPr>
              <p:cNvSpPr txBox="1">
                <a:spLocks noRot="1" noChangeAspect="1" noMove="1" noResize="1" noEditPoints="1" noAdjustHandles="1" noChangeArrowheads="1" noChangeShapeType="1" noTextEdit="1"/>
              </p:cNvSpPr>
              <p:nvPr/>
            </p:nvSpPr>
            <p:spPr>
              <a:xfrm>
                <a:off x="8451908" y="180460"/>
                <a:ext cx="3371402" cy="646331"/>
              </a:xfrm>
              <a:prstGeom prst="rect">
                <a:avLst/>
              </a:prstGeom>
              <a:blipFill>
                <a:blip r:embed="rId3"/>
                <a:stretch>
                  <a:fillRect t="-3670" b="-128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A popular and more practical variant of TRPO. Also uses the probability ratio of choosing an action weighted by the advantage. Replaces the expensive KL-divergence constraint with a clipped surrogate objective function that keeps the policy changes within a probability ratio of [1 minus epsilon,1 plus epsilon]. max over Delta w, of E sub pi sub w, [min over of (the fraction pi sub w plus Delta w, (s,a), over pi sub w (s,a), end fraction A to the power pi sub w, (s,a), clip sub 1 plus or minus epsilon, (the fraction pi sub w plus Delta w, (s,a), over pi sub w (s,a), end fraction) A to the power pi sub w, (s,a))]. epsilon is a tunable hyperparameter. Typically achieves much of the stability of NPG methods like TRPO without the computational cost of calculating the KL divergence or the Fisher information matrix">
                <a:extLst>
                  <a:ext uri="{FF2B5EF4-FFF2-40B4-BE49-F238E27FC236}">
                    <a16:creationId xmlns:a16="http://schemas.microsoft.com/office/drawing/2014/main" id="{5B28F139-D574-F62E-F035-2EED2FA96C35}"/>
                  </a:ext>
                </a:extLst>
              </p:cNvPr>
              <p:cNvSpPr>
                <a:spLocks noGrp="1"/>
              </p:cNvSpPr>
              <p:nvPr>
                <p:ph idx="1"/>
              </p:nvPr>
            </p:nvSpPr>
            <p:spPr>
              <a:xfrm>
                <a:off x="838200" y="1611442"/>
                <a:ext cx="10515600" cy="4376706"/>
              </a:xfrm>
            </p:spPr>
            <p:txBody>
              <a:bodyPr>
                <a:normAutofit fontScale="77500" lnSpcReduction="20000"/>
              </a:bodyPr>
              <a:lstStyle/>
              <a:p>
                <a:r>
                  <a:rPr lang="en-US" dirty="0"/>
                  <a:t>A popular and more practical variant of TRPO.</a:t>
                </a:r>
              </a:p>
              <a:p>
                <a:r>
                  <a:rPr lang="en-US" dirty="0"/>
                  <a:t>Also uses the probability ratio of choosing an action weighted by the advantage.</a:t>
                </a:r>
              </a:p>
              <a:p>
                <a:r>
                  <a:rPr lang="en-US" dirty="0"/>
                  <a:t>Replaces the expensive KL-divergence constraint with a clipped surrogate objective function that keeps the policy changes within a probability ratio of </a:t>
                </a:r>
                <a14:m>
                  <m:oMath xmlns:m="http://schemas.openxmlformats.org/officeDocument/2006/math">
                    <m:r>
                      <a:rPr lang="en-US" b="0" i="0" smtClean="0">
                        <a:latin typeface="Cambria Math" panose="02040503050406030204" pitchFamily="18" charset="0"/>
                        <a:ea typeface="Cambria Math" panose="02040503050406030204" pitchFamily="18" charset="0"/>
                      </a:rPr>
                      <m:t>[</m:t>
                    </m:r>
                    <m:r>
                      <a:rPr lang="en-US">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𝜖</m:t>
                    </m:r>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𝜖</m:t>
                    </m:r>
                  </m:oMath>
                </a14:m>
                <a:r>
                  <a:rPr lang="en-US" dirty="0"/>
                  <a:t>]</a:t>
                </a:r>
              </a:p>
              <a:p>
                <a:endParaRPr lang="en-US" dirty="0"/>
              </a:p>
              <a:p>
                <a:pPr marL="0" indent="0">
                  <a:buNone/>
                </a:pPr>
                <a:endParaRPr lang="en-US" i="1" dirty="0">
                  <a:latin typeface="Cambria Math" panose="02040503050406030204" pitchFamily="18" charset="0"/>
                </a:endParaRPr>
              </a:p>
              <a:p>
                <a:pPr marL="0" indent="0">
                  <a:buNone/>
                </a:pPr>
                <a14:m>
                  <m:oMathPara xmlns:m="http://schemas.openxmlformats.org/officeDocument/2006/math">
                    <m:oMath>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𝑤</m:t>
                              </m:r>
                            </m:lim>
                          </m:limLow>
                        </m:fNa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𝑤</m:t>
                                  </m:r>
                                </m:sub>
                              </m:sSub>
                            </m:sub>
                          </m:sSub>
                          <m:d>
                            <m:dPr>
                              <m:begChr m:val="["/>
                              <m:endChr m:val="]"/>
                              <m:ctrlPr>
                                <a:rPr lang="en-US" i="1" smtClean="0">
                                  <a:latin typeface="Cambria Math" panose="02040503050406030204" pitchFamily="18" charset="0"/>
                                  <a:ea typeface="Cambria Math" panose="02040503050406030204" pitchFamily="18" charset="0"/>
                                </a:rPr>
                              </m:ctrlPr>
                            </m:dPr>
                            <m:e>
                              <m:func>
                                <m:funcPr>
                                  <m:ctrlPr>
                                    <a:rPr lang="en-US" i="1" smtClean="0">
                                      <a:latin typeface="Cambria Math" panose="02040503050406030204" pitchFamily="18" charset="0"/>
                                      <a:ea typeface="Cambria Math" panose="02040503050406030204" pitchFamily="18" charset="0"/>
                                    </a:rPr>
                                  </m:ctrlPr>
                                </m:funcPr>
                                <m:fName>
                                  <m:limLow>
                                    <m:limLowPr>
                                      <m:ctrlPr>
                                        <a:rPr lang="en-US" i="0" smtClean="0">
                                          <a:latin typeface="Cambria Math" panose="02040503050406030204" pitchFamily="18" charset="0"/>
                                          <a:ea typeface="Cambria Math" panose="02040503050406030204" pitchFamily="18" charset="0"/>
                                        </a:rPr>
                                      </m:ctrlPr>
                                    </m:limLowPr>
                                    <m:e>
                                      <m:r>
                                        <m:rPr>
                                          <m:sty m:val="p"/>
                                        </m:rPr>
                                        <a:rPr lang="en-US" i="0" smtClean="0">
                                          <a:latin typeface="Cambria Math" panose="02040503050406030204" pitchFamily="18" charset="0"/>
                                          <a:ea typeface="Cambria Math" panose="02040503050406030204" pitchFamily="18" charset="0"/>
                                        </a:rPr>
                                        <m:t>min</m:t>
                                      </m:r>
                                    </m:e>
                                    <m:lim/>
                                  </m:limLow>
                                </m:fName>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𝑤</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𝑤</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𝑤</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den>
                                      </m:f>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𝐴</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𝑤</m:t>
                                              </m:r>
                                            </m:sub>
                                          </m:sSub>
                                        </m:sup>
                                      </m:s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e>
                                      </m:d>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 </m:t>
                                      </m:r>
                                      <m:sSub>
                                        <m:sSubPr>
                                          <m:ctrlPr>
                                            <a:rPr lang="en-US" b="0" i="0" smtClean="0">
                                              <a:latin typeface="Cambria Math" panose="02040503050406030204" pitchFamily="18" charset="0"/>
                                              <a:ea typeface="Cambria Math" panose="02040503050406030204" pitchFamily="18" charset="0"/>
                                            </a:rPr>
                                          </m:ctrlPr>
                                        </m:sSubPr>
                                        <m:e>
                                          <m:r>
                                            <m:rPr>
                                              <m:nor/>
                                            </m:rPr>
                                            <a:rPr lang="en-US" b="0" i="0" smtClean="0">
                                              <a:latin typeface="Cambria Math" panose="02040503050406030204" pitchFamily="18" charset="0"/>
                                              <a:ea typeface="Cambria Math" panose="02040503050406030204" pitchFamily="18" charset="0"/>
                                            </a:rPr>
                                            <m:t>clip</m:t>
                                          </m:r>
                                        </m:e>
                                        <m:sub>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𝜖</m:t>
                                          </m:r>
                                        </m:sub>
                                      </m:sSub>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𝑤</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𝑤</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𝑤</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den>
                                          </m:f>
                                        </m:e>
                                      </m:d>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𝐴</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𝑤</m:t>
                                              </m:r>
                                            </m:sub>
                                          </m:sSub>
                                        </m:sup>
                                      </m:s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e>
                                      </m:d>
                                    </m:e>
                                  </m:d>
                                </m:e>
                              </m:func>
                            </m:e>
                          </m:d>
                        </m:e>
                      </m:func>
                    </m:oMath>
                  </m:oMathPara>
                </a14:m>
                <a:endParaRPr lang="en-US" dirty="0"/>
              </a:p>
              <a:p>
                <a:endParaRPr lang="en-US" dirty="0"/>
              </a:p>
              <a:p>
                <a14:m>
                  <m:oMath xmlns:m="http://schemas.openxmlformats.org/officeDocument/2006/math">
                    <m:r>
                      <a:rPr lang="en-US" b="0" i="1" smtClean="0">
                        <a:latin typeface="Cambria Math" panose="02040503050406030204" pitchFamily="18" charset="0"/>
                      </a:rPr>
                      <m:t>𝜖</m:t>
                    </m:r>
                  </m:oMath>
                </a14:m>
                <a:r>
                  <a:rPr lang="en-US" dirty="0"/>
                  <a:t> is a tunable hyperparameter.</a:t>
                </a:r>
              </a:p>
              <a:p>
                <a:r>
                  <a:rPr lang="en-US" dirty="0"/>
                  <a:t>Typically achieves much of the stability of NPG methods like TRPO without the computational cost of calculating the KL divergence or the Fisher information matrix.</a:t>
                </a:r>
              </a:p>
            </p:txBody>
          </p:sp>
        </mc:Choice>
        <mc:Fallback xmlns="">
          <p:sp>
            <p:nvSpPr>
              <p:cNvPr id="3" name="Content Placeholder 2" descr="A popular and more practical variant of TRPO. Also uses the probability ratio of choosing an action weighted by the advantage. Replaces the expensive KL-divergence constraint with a clipped surrogate objective function that keeps the policy changes within a probability ratio of [1 minus epsilon,1 plus epsilon]. max over Delta w, of E sub pi sub w, [min over of (the fraction pi sub w plus Delta w, (s,a), over pi sub w (s,a), end fraction A to the power pi sub w, (s,a), clip sub 1 plus or minus epsilon, (the fraction pi sub w plus Delta w, (s,a), over pi sub w (s,a), end fraction) A to the power pi sub w, (s,a))]. epsilon is a tunable hyperparameter. Typically achieves much of the stability of NPG methods like TRPO without the computational cost of calculating the KL divergence or the Fisher information matrix">
                <a:extLst>
                  <a:ext uri="{FF2B5EF4-FFF2-40B4-BE49-F238E27FC236}">
                    <a16:creationId xmlns:a16="http://schemas.microsoft.com/office/drawing/2014/main" id="{5B28F139-D574-F62E-F035-2EED2FA96C35}"/>
                  </a:ext>
                </a:extLst>
              </p:cNvPr>
              <p:cNvSpPr>
                <a:spLocks noGrp="1" noRot="1" noChangeAspect="1" noMove="1" noResize="1" noEditPoints="1" noAdjustHandles="1" noChangeArrowheads="1" noChangeShapeType="1" noTextEdit="1"/>
              </p:cNvSpPr>
              <p:nvPr>
                <p:ph idx="1"/>
              </p:nvPr>
            </p:nvSpPr>
            <p:spPr>
              <a:xfrm>
                <a:off x="838200" y="1611442"/>
                <a:ext cx="10515600" cy="4376706"/>
              </a:xfrm>
              <a:blipFill>
                <a:blip r:embed="rId2"/>
                <a:stretch>
                  <a:fillRect l="-696" t="-2646" r="-116" b="-2646"/>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71A656B6-5739-3CBB-B674-E28A9A26A4AE}"/>
              </a:ext>
              <a:ext uri="{C183D7F6-B498-43B3-948B-1728B52AA6E4}">
                <adec:decorative xmlns:adec="http://schemas.microsoft.com/office/drawing/2017/decorative" val="1"/>
              </a:ext>
            </a:extLst>
          </p:cNvPr>
          <p:cNvSpPr/>
          <p:nvPr/>
        </p:nvSpPr>
        <p:spPr>
          <a:xfrm>
            <a:off x="6344529" y="3531491"/>
            <a:ext cx="3831101" cy="914400"/>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30911128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2D8BB-01C3-BB3D-FED4-F2BCC60AF3E0}"/>
              </a:ext>
            </a:extLst>
          </p:cNvPr>
          <p:cNvSpPr>
            <a:spLocks noGrp="1"/>
          </p:cNvSpPr>
          <p:nvPr>
            <p:ph type="title"/>
          </p:nvPr>
        </p:nvSpPr>
        <p:spPr/>
        <p:txBody>
          <a:bodyPr/>
          <a:lstStyle/>
          <a:p>
            <a:r>
              <a:rPr lang="en-US" dirty="0"/>
              <a:t>PPO Algorithm</a:t>
            </a:r>
          </a:p>
        </p:txBody>
      </p:sp>
      <p:pic>
        <p:nvPicPr>
          <p:cNvPr id="5" name="Picture 4" descr="Algorithm 1, PPO-Clip. 1: Input: initial policy parameters theta_0, initial value function parameters phi_0. 2: for k = 0, 1, 2, … do 3: Collect set of trajectories D_k = {tau_i} by running policy pi_k = pi(theta_k) in the environment. 4: Compute rewards-to-go R hat_t. 5: Compute advantage estimates, A hat_t (using any method of advantage estimation) based on the current value function V_phi_k. 6: Update the policy by maximizing the PPO-Clip objective: theta_k+1 = argmax over theta of 1 / (|D_k| T) times the sum over tau in D_k and t = 0 to T of min( pi_theta(a_t | s_t) / pi_theta_k(a_t | s_t) times A^pi_theta_k(s_t, a_t), g(epsilon, A^pi_theta_k(s_t, a_t)) ), typically via stochastic gradient ascent with Adam. 7: Fit value function by regression on mean-squared error: phi_k+1 = argmin over phi of 1 / (|D_k| T) times the sum over tau in D_k and t = 0 to T of (V_phi(s_t) − R hat_t) squared, typically via some gradient descent algorithm. 8: end for.">
            <a:extLst>
              <a:ext uri="{FF2B5EF4-FFF2-40B4-BE49-F238E27FC236}">
                <a16:creationId xmlns:a16="http://schemas.microsoft.com/office/drawing/2014/main" id="{FD556BD7-C007-4D5F-AFDE-EBF6ED9CF176}"/>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892203" y="1244410"/>
            <a:ext cx="8033556" cy="4952281"/>
          </a:xfrm>
          <a:prstGeom prst="rect">
            <a:avLst/>
          </a:prstGeom>
        </p:spPr>
      </p:pic>
      <p:sp>
        <p:nvSpPr>
          <p:cNvPr id="6" name="Rectangle 5">
            <a:extLst>
              <a:ext uri="{FF2B5EF4-FFF2-40B4-BE49-F238E27FC236}">
                <a16:creationId xmlns:a16="http://schemas.microsoft.com/office/drawing/2014/main" id="{E4A03C53-5431-5BAA-3317-F6CB2F370BE6}"/>
              </a:ext>
              <a:ext uri="{C183D7F6-B498-43B3-948B-1728B52AA6E4}">
                <adec:decorative xmlns:adec="http://schemas.microsoft.com/office/drawing/2017/decorative" val="1"/>
              </a:ext>
            </a:extLst>
          </p:cNvPr>
          <p:cNvSpPr/>
          <p:nvPr/>
        </p:nvSpPr>
        <p:spPr>
          <a:xfrm>
            <a:off x="5308120" y="3270202"/>
            <a:ext cx="4087166" cy="914400"/>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7" name="Speech Bubble: Rectangle with Corners Rounded 6">
            <a:extLst>
              <a:ext uri="{FF2B5EF4-FFF2-40B4-BE49-F238E27FC236}">
                <a16:creationId xmlns:a16="http://schemas.microsoft.com/office/drawing/2014/main" id="{D009A71C-3902-E82F-BF4A-3B76BAE59313}"/>
              </a:ext>
              <a:ext uri="{C183D7F6-B498-43B3-948B-1728B52AA6E4}">
                <adec:decorative xmlns:adec="http://schemas.microsoft.com/office/drawing/2017/decorative" val="1"/>
              </a:ext>
            </a:extLst>
          </p:cNvPr>
          <p:cNvSpPr/>
          <p:nvPr/>
        </p:nvSpPr>
        <p:spPr>
          <a:xfrm>
            <a:off x="9590730" y="3856227"/>
            <a:ext cx="2281164" cy="1500732"/>
          </a:xfrm>
          <a:prstGeom prst="wedgeRoundRectCallout">
            <a:avLst>
              <a:gd name="adj1" fmla="val -72095"/>
              <a:gd name="adj2" fmla="val -40249"/>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Clipping approximates the expensive </a:t>
            </a:r>
            <a:r>
              <a:rPr lang="en-US" b="1" dirty="0"/>
              <a:t>natural-gradient</a:t>
            </a:r>
            <a:r>
              <a:rPr lang="en-US" dirty="0"/>
              <a:t> computation.</a:t>
            </a:r>
          </a:p>
        </p:txBody>
      </p:sp>
      <p:sp>
        <p:nvSpPr>
          <p:cNvPr id="8" name="TextBox 7">
            <a:extLst>
              <a:ext uri="{FF2B5EF4-FFF2-40B4-BE49-F238E27FC236}">
                <a16:creationId xmlns:a16="http://schemas.microsoft.com/office/drawing/2014/main" id="{939CF53A-7E2F-1986-235C-BC2DEF748E57}"/>
              </a:ext>
              <a:ext uri="{C183D7F6-B498-43B3-948B-1728B52AA6E4}">
                <adec:decorative xmlns:adec="http://schemas.microsoft.com/office/drawing/2017/decorative" val="1"/>
              </a:ext>
            </a:extLst>
          </p:cNvPr>
          <p:cNvSpPr txBox="1"/>
          <p:nvPr/>
        </p:nvSpPr>
        <p:spPr>
          <a:xfrm>
            <a:off x="838200" y="3486895"/>
            <a:ext cx="720518"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none" rtlCol="0">
            <a:spAutoFit/>
          </a:bodyPr>
          <a:lstStyle/>
          <a:p>
            <a:r>
              <a:rPr lang="en-US" dirty="0"/>
              <a:t>Actor</a:t>
            </a:r>
          </a:p>
        </p:txBody>
      </p:sp>
      <p:sp>
        <p:nvSpPr>
          <p:cNvPr id="9" name="TextBox 8">
            <a:extLst>
              <a:ext uri="{FF2B5EF4-FFF2-40B4-BE49-F238E27FC236}">
                <a16:creationId xmlns:a16="http://schemas.microsoft.com/office/drawing/2014/main" id="{51BB683F-C418-59D6-1B3B-2E41AF0E3D7D}"/>
              </a:ext>
              <a:ext uri="{C183D7F6-B498-43B3-948B-1728B52AA6E4}">
                <adec:decorative xmlns:adec="http://schemas.microsoft.com/office/drawing/2017/decorative" val="1"/>
              </a:ext>
            </a:extLst>
          </p:cNvPr>
          <p:cNvSpPr txBox="1"/>
          <p:nvPr/>
        </p:nvSpPr>
        <p:spPr>
          <a:xfrm>
            <a:off x="838200" y="4965524"/>
            <a:ext cx="728084"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none" rtlCol="0">
            <a:spAutoFit/>
          </a:bodyPr>
          <a:lstStyle/>
          <a:p>
            <a:r>
              <a:rPr lang="en-US" dirty="0"/>
              <a:t>Critic</a:t>
            </a:r>
          </a:p>
        </p:txBody>
      </p:sp>
      <p:sp>
        <p:nvSpPr>
          <p:cNvPr id="3" name="Speech Bubble: Rectangle with Corners Rounded 2">
            <a:extLst>
              <a:ext uri="{FF2B5EF4-FFF2-40B4-BE49-F238E27FC236}">
                <a16:creationId xmlns:a16="http://schemas.microsoft.com/office/drawing/2014/main" id="{9FDF81BA-A707-0ABF-3105-AD2898694C9F}"/>
              </a:ext>
              <a:ext uri="{C183D7F6-B498-43B3-948B-1728B52AA6E4}">
                <adec:decorative xmlns:adec="http://schemas.microsoft.com/office/drawing/2017/decorative" val="1"/>
              </a:ext>
            </a:extLst>
          </p:cNvPr>
          <p:cNvSpPr/>
          <p:nvPr/>
        </p:nvSpPr>
        <p:spPr>
          <a:xfrm>
            <a:off x="9590730" y="2930502"/>
            <a:ext cx="2281164" cy="556393"/>
          </a:xfrm>
          <a:prstGeom prst="wedgeRoundRectCallout">
            <a:avLst>
              <a:gd name="adj1" fmla="val -66281"/>
              <a:gd name="adj2" fmla="val 30005"/>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Advantage is more stable</a:t>
            </a:r>
          </a:p>
        </p:txBody>
      </p:sp>
    </p:spTree>
    <p:extLst>
      <p:ext uri="{BB962C8B-B14F-4D97-AF65-F5344CB8AC3E}">
        <p14:creationId xmlns:p14="http://schemas.microsoft.com/office/powerpoint/2010/main" val="5317834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4C0ED-7148-87F7-C67D-69873B796A06}"/>
              </a:ext>
            </a:extLst>
          </p:cNvPr>
          <p:cNvSpPr>
            <a:spLocks noGrp="1"/>
          </p:cNvSpPr>
          <p:nvPr>
            <p:ph type="title"/>
          </p:nvPr>
        </p:nvSpPr>
        <p:spPr/>
        <p:txBody>
          <a:bodyPr/>
          <a:lstStyle/>
          <a:p>
            <a:r>
              <a:rPr lang="en-US" dirty="0"/>
              <a:t>Soft Actor-Critic (SAC)</a:t>
            </a:r>
          </a:p>
        </p:txBody>
      </p:sp>
      <mc:AlternateContent xmlns:mc="http://schemas.openxmlformats.org/markup-compatibility/2006" xmlns:a14="http://schemas.microsoft.com/office/drawing/2010/main">
        <mc:Choice Requires="a14">
          <p:sp>
            <p:nvSpPr>
              <p:cNvPr id="3" name="Content Placeholder 2" descr="Soft Actor-Critic (SAC) is a popular method that is off-policy and for continuous action space. SAC uses a large set of enhancements that can also be used in other algorithms:. Maximum entropy objective: Adds policy entropy regularization to encourage exploration: J (theta) equals E [the sum over t, of r (S sub t,A sub t) plus alpha H (pi sub theta (times given S sub t))] The temperature alpha to balance exploration and exploitation is automatically tunes. Reparameterization trick for actor policy: Instead of using a~ pi sub theta (a given s), it samples from a equals f sub theta (epsilon,s), epsilon equals N (0,1) where a is a continuous action and f sub theta is a learned ANN. This Gaussian actor is a popular choice since it has a closed-form solution for the entropy used in the objective and allows for backpropagation through actions. Replay buffer: Improve sample efficiency and updates can be done in batches on GPUs. Possible since it is off-policy. Twin Q-networks: The critic learns two Q-networks and used min(Q sub 1 (s,a),Q sub 2 (s,a)) to reduce the maximization bias. Slow update of target network: theta sub target gets tau theta plus (1 minus tau) theta sub target">
                <a:extLst>
                  <a:ext uri="{FF2B5EF4-FFF2-40B4-BE49-F238E27FC236}">
                    <a16:creationId xmlns:a16="http://schemas.microsoft.com/office/drawing/2014/main" id="{97C1BF17-CA04-DF95-E233-3342D8CBBB1A}"/>
                  </a:ext>
                </a:extLst>
              </p:cNvPr>
              <p:cNvSpPr>
                <a:spLocks noGrp="1"/>
              </p:cNvSpPr>
              <p:nvPr>
                <p:ph idx="1"/>
              </p:nvPr>
            </p:nvSpPr>
            <p:spPr/>
            <p:txBody>
              <a:bodyPr>
                <a:normAutofit fontScale="55000" lnSpcReduction="20000"/>
              </a:bodyPr>
              <a:lstStyle/>
              <a:p>
                <a:pPr marL="0" indent="0">
                  <a:buNone/>
                </a:pPr>
                <a:r>
                  <a:rPr lang="en-US" b="1" dirty="0"/>
                  <a:t>Soft Actor-Critic (SAC)</a:t>
                </a:r>
                <a:r>
                  <a:rPr lang="en-US" dirty="0"/>
                  <a:t> is a popular method that is </a:t>
                </a:r>
                <a:r>
                  <a:rPr lang="en-US" b="1" dirty="0"/>
                  <a:t>off-policy </a:t>
                </a:r>
                <a:r>
                  <a:rPr lang="en-US" dirty="0"/>
                  <a:t>and for </a:t>
                </a:r>
                <a:r>
                  <a:rPr lang="en-US" b="1" dirty="0"/>
                  <a:t>continuous action space.</a:t>
                </a:r>
              </a:p>
              <a:p>
                <a:pPr marL="0" indent="0">
                  <a:buNone/>
                </a:pPr>
                <a:endParaRPr lang="en-US" dirty="0"/>
              </a:p>
              <a:p>
                <a:pPr marL="0" indent="0">
                  <a:buNone/>
                </a:pPr>
                <a:r>
                  <a:rPr lang="en-US" dirty="0"/>
                  <a:t>SAC uses a large set of enhancements that can also be used in other algorithms:</a:t>
                </a:r>
              </a:p>
              <a:p>
                <a:r>
                  <a:rPr lang="en-US" b="1" dirty="0"/>
                  <a:t>Maximum entropy objective: </a:t>
                </a:r>
                <a:r>
                  <a:rPr lang="en-US" dirty="0"/>
                  <a:t>Adds policy entropy regularization to encourage exploration:</a:t>
                </a:r>
                <a:br>
                  <a:rPr lang="en-US" dirty="0"/>
                </a:br>
                <a:br>
                  <a:rPr lang="en-US" dirty="0"/>
                </a:br>
                <a14:m>
                  <m:oMath xmlns:m="http://schemas.openxmlformats.org/officeDocument/2006/math">
                    <m:r>
                      <m:rPr>
                        <m:sty m:val="p"/>
                      </m:rPr>
                      <a:rPr lang="en-US" b="0" i="0" dirty="0" smtClean="0">
                        <a:latin typeface="Cambria Math" panose="02040503050406030204" pitchFamily="18" charset="0"/>
                        <a:ea typeface="Cambria Math" panose="02040503050406030204" pitchFamily="18" charset="0"/>
                      </a:rPr>
                      <m:t>J</m:t>
                    </m:r>
                    <m:d>
                      <m:dPr>
                        <m:ctrlPr>
                          <a:rPr lang="en-US" b="0" i="1" dirty="0" smtClean="0">
                            <a:latin typeface="Cambria Math" panose="02040503050406030204" pitchFamily="18" charset="0"/>
                            <a:ea typeface="Cambria Math" panose="02040503050406030204" pitchFamily="18" charset="0"/>
                          </a:rPr>
                        </m:ctrlPr>
                      </m:dPr>
                      <m:e>
                        <m:r>
                          <a:rPr lang="en-US" b="0" i="1" dirty="0" smtClean="0">
                            <a:latin typeface="Cambria Math" panose="02040503050406030204" pitchFamily="18" charset="0"/>
                            <a:ea typeface="Cambria Math" panose="02040503050406030204" pitchFamily="18" charset="0"/>
                          </a:rPr>
                          <m:t>𝜃</m:t>
                        </m:r>
                      </m:e>
                    </m:d>
                    <m:r>
                      <a:rPr lang="en-US" b="0" i="0"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ea typeface="Cambria Math" panose="02040503050406030204" pitchFamily="18" charset="0"/>
                      </a:rPr>
                      <m:t>𝔼</m:t>
                    </m:r>
                    <m:d>
                      <m:dPr>
                        <m:begChr m:val="["/>
                        <m:endChr m:val="]"/>
                        <m:ctrlPr>
                          <a:rPr lang="en-US" b="0" i="1" dirty="0" smtClean="0">
                            <a:latin typeface="Cambria Math" panose="02040503050406030204" pitchFamily="18" charset="0"/>
                            <a:ea typeface="Cambria Math" panose="02040503050406030204" pitchFamily="18" charset="0"/>
                          </a:rPr>
                        </m:ctrlPr>
                      </m:dPr>
                      <m:e>
                        <m:nary>
                          <m:naryPr>
                            <m:chr m:val="∑"/>
                            <m:supHide m:val="on"/>
                            <m:ctrlPr>
                              <a:rPr lang="en-US" b="0" i="1" dirty="0" smtClean="0">
                                <a:latin typeface="Cambria Math" panose="02040503050406030204" pitchFamily="18" charset="0"/>
                                <a:ea typeface="Cambria Math" panose="02040503050406030204" pitchFamily="18" charset="0"/>
                              </a:rPr>
                            </m:ctrlPr>
                          </m:naryPr>
                          <m:sub>
                            <m:r>
                              <a:rPr lang="en-US" b="0" i="1" dirty="0" smtClean="0">
                                <a:latin typeface="Cambria Math" panose="02040503050406030204" pitchFamily="18" charset="0"/>
                                <a:ea typeface="Cambria Math" panose="02040503050406030204" pitchFamily="18" charset="0"/>
                              </a:rPr>
                              <m:t>𝑡</m:t>
                            </m:r>
                          </m:sub>
                          <m:sup/>
                          <m:e>
                            <m:r>
                              <a:rPr lang="en-US" b="0" i="1" dirty="0" smtClean="0">
                                <a:latin typeface="Cambria Math" panose="02040503050406030204" pitchFamily="18" charset="0"/>
                                <a:ea typeface="Cambria Math" panose="02040503050406030204" pitchFamily="18" charset="0"/>
                              </a:rPr>
                              <m:t>𝑟</m:t>
                            </m:r>
                            <m:d>
                              <m:dPr>
                                <m:ctrlPr>
                                  <a:rPr lang="en-US" b="0" i="1" dirty="0" smtClean="0">
                                    <a:latin typeface="Cambria Math" panose="02040503050406030204" pitchFamily="18" charset="0"/>
                                    <a:ea typeface="Cambria Math" panose="02040503050406030204" pitchFamily="18" charset="0"/>
                                  </a:rPr>
                                </m:ctrlPr>
                              </m:dPr>
                              <m:e>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𝑆</m:t>
                                    </m:r>
                                  </m:e>
                                  <m:sub>
                                    <m:r>
                                      <a:rPr lang="en-US" b="0" i="1" dirty="0" smtClean="0">
                                        <a:latin typeface="Cambria Math" panose="02040503050406030204" pitchFamily="18" charset="0"/>
                                        <a:ea typeface="Cambria Math" panose="02040503050406030204" pitchFamily="18" charset="0"/>
                                      </a:rPr>
                                      <m:t>𝑡</m:t>
                                    </m:r>
                                  </m:sub>
                                </m:sSub>
                                <m:r>
                                  <a:rPr lang="en-US" b="0" i="1" dirty="0" smtClean="0">
                                    <a:latin typeface="Cambria Math" panose="02040503050406030204" pitchFamily="18" charset="0"/>
                                    <a:ea typeface="Cambria Math" panose="02040503050406030204" pitchFamily="18" charset="0"/>
                                  </a:rPr>
                                  <m:t>,</m:t>
                                </m:r>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𝐴</m:t>
                                    </m:r>
                                  </m:e>
                                  <m:sub>
                                    <m:r>
                                      <a:rPr lang="en-US" b="0" i="1" dirty="0" smtClean="0">
                                        <a:latin typeface="Cambria Math" panose="02040503050406030204" pitchFamily="18" charset="0"/>
                                        <a:ea typeface="Cambria Math" panose="02040503050406030204" pitchFamily="18" charset="0"/>
                                      </a:rPr>
                                      <m:t>𝑡</m:t>
                                    </m:r>
                                  </m:sub>
                                </m:sSub>
                              </m:e>
                            </m:d>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𝛼</m:t>
                            </m:r>
                            <m:r>
                              <a:rPr lang="en-US" b="0" i="1" dirty="0" smtClean="0">
                                <a:latin typeface="Cambria Math" panose="02040503050406030204" pitchFamily="18" charset="0"/>
                                <a:ea typeface="Cambria Math" panose="02040503050406030204" pitchFamily="18" charset="0"/>
                              </a:rPr>
                              <m:t>ℋ</m:t>
                            </m:r>
                            <m:d>
                              <m:dPr>
                                <m:ctrlPr>
                                  <a:rPr lang="en-US" i="1" dirty="0">
                                    <a:latin typeface="Cambria Math" panose="02040503050406030204" pitchFamily="18" charset="0"/>
                                    <a:ea typeface="Cambria Math" panose="02040503050406030204" pitchFamily="18" charset="0"/>
                                  </a:rPr>
                                </m:ctrlPr>
                              </m:dPr>
                              <m:e>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𝜋</m:t>
                                    </m:r>
                                  </m:e>
                                  <m:sub>
                                    <m:r>
                                      <a:rPr lang="en-US" i="1" dirty="0">
                                        <a:latin typeface="Cambria Math" panose="02040503050406030204" pitchFamily="18" charset="0"/>
                                        <a:ea typeface="Cambria Math" panose="02040503050406030204" pitchFamily="18" charset="0"/>
                                      </a:rPr>
                                      <m:t>𝜃</m:t>
                                    </m:r>
                                  </m:sub>
                                </m:sSub>
                                <m:r>
                                  <a:rPr lang="en-US" i="1" dirty="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𝑆</m:t>
                                    </m:r>
                                  </m:e>
                                  <m:sub>
                                    <m:r>
                                      <a:rPr lang="en-US" i="1" dirty="0">
                                        <a:latin typeface="Cambria Math" panose="02040503050406030204" pitchFamily="18" charset="0"/>
                                        <a:ea typeface="Cambria Math" panose="02040503050406030204" pitchFamily="18" charset="0"/>
                                      </a:rPr>
                                      <m:t>𝑡</m:t>
                                    </m:r>
                                  </m:sub>
                                </m:sSub>
                                <m:r>
                                  <a:rPr lang="en-US" b="0" i="1" dirty="0" smtClean="0">
                                    <a:latin typeface="Cambria Math" panose="02040503050406030204" pitchFamily="18" charset="0"/>
                                    <a:ea typeface="Cambria Math" panose="02040503050406030204" pitchFamily="18" charset="0"/>
                                  </a:rPr>
                                  <m:t>)</m:t>
                                </m:r>
                              </m:e>
                            </m:d>
                          </m:e>
                        </m:nary>
                      </m:e>
                    </m:d>
                  </m:oMath>
                </a14:m>
                <a:br>
                  <a:rPr lang="en-US" b="1" dirty="0"/>
                </a:br>
                <a:br>
                  <a:rPr lang="en-US" b="1" dirty="0"/>
                </a:br>
                <a:r>
                  <a:rPr lang="en-US" dirty="0"/>
                  <a:t>The temperature </a:t>
                </a:r>
                <a14:m>
                  <m:oMath xmlns:m="http://schemas.openxmlformats.org/officeDocument/2006/math">
                    <m:r>
                      <a:rPr lang="en-US" i="1">
                        <a:latin typeface="Cambria Math" panose="02040503050406030204" pitchFamily="18" charset="0"/>
                      </a:rPr>
                      <m:t>𝛼</m:t>
                    </m:r>
                  </m:oMath>
                </a14:m>
                <a:r>
                  <a:rPr lang="en-US" dirty="0"/>
                  <a:t> to balance exploration and exploitation is automatically tunes.</a:t>
                </a:r>
                <a:br>
                  <a:rPr lang="en-US" b="1" dirty="0"/>
                </a:br>
                <a:endParaRPr lang="en-US" b="1" dirty="0"/>
              </a:p>
              <a:p>
                <a:r>
                  <a:rPr lang="en-US" b="1" dirty="0"/>
                  <a:t>Reparameterization trick </a:t>
                </a:r>
                <a:r>
                  <a:rPr lang="en-US" dirty="0"/>
                  <a:t>for actor policy: Instead of using </a:t>
                </a:r>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𝜃</m:t>
                        </m:r>
                      </m:sub>
                    </m:sSub>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a14:m>
                <a:r>
                  <a:rPr lang="en-US" dirty="0"/>
                  <a:t>, it samples from</a:t>
                </a:r>
                <a:br>
                  <a:rPr lang="en-US" dirty="0"/>
                </a:br>
                <a:r>
                  <a:rPr lang="en-US" dirty="0"/>
                  <a:t> </a:t>
                </a:r>
                <a:br>
                  <a:rPr lang="en-US" i="1" dirty="0">
                    <a:latin typeface="Cambria Math" panose="02040503050406030204" pitchFamily="18" charset="0"/>
                  </a:rPr>
                </a:br>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𝜃</m:t>
                        </m:r>
                      </m:sub>
                    </m:sSub>
                    <m:d>
                      <m:dPr>
                        <m:ctrlPr>
                          <a:rPr lang="en-US" i="1">
                            <a:latin typeface="Cambria Math" panose="02040503050406030204" pitchFamily="18" charset="0"/>
                          </a:rPr>
                        </m:ctrlPr>
                      </m:dPr>
                      <m:e>
                        <m:r>
                          <a:rPr lang="en-US" i="1">
                            <a:latin typeface="Cambria Math" panose="02040503050406030204" pitchFamily="18" charset="0"/>
                          </a:rPr>
                          <m:t>𝜖</m:t>
                        </m:r>
                        <m:r>
                          <a:rPr lang="en-US" i="1">
                            <a:latin typeface="Cambria Math" panose="02040503050406030204" pitchFamily="18" charset="0"/>
                          </a:rPr>
                          <m:t>,</m:t>
                        </m:r>
                        <m:r>
                          <a:rPr lang="en-US" i="1">
                            <a:latin typeface="Cambria Math" panose="02040503050406030204" pitchFamily="18" charset="0"/>
                          </a:rPr>
                          <m:t>𝑠</m:t>
                        </m:r>
                      </m:e>
                    </m:d>
                    <m:r>
                      <a:rPr lang="en-US" i="1">
                        <a:latin typeface="Cambria Math" panose="02040503050406030204" pitchFamily="18" charset="0"/>
                      </a:rPr>
                      <m:t>,  </m:t>
                    </m:r>
                    <m:r>
                      <a:rPr lang="en-US" i="1">
                        <a:latin typeface="Cambria Math" panose="02040503050406030204" pitchFamily="18" charset="0"/>
                      </a:rPr>
                      <m:t>𝜖</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𝒩</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0,1</m:t>
                        </m:r>
                      </m:e>
                    </m:d>
                  </m:oMath>
                </a14:m>
                <a:br>
                  <a:rPr lang="en-US" dirty="0"/>
                </a:br>
                <a:br>
                  <a:rPr lang="en-US" dirty="0"/>
                </a:br>
                <a:r>
                  <a:rPr lang="en-US" dirty="0"/>
                  <a:t>where </a:t>
                </a:r>
                <a14:m>
                  <m:oMath xmlns:m="http://schemas.openxmlformats.org/officeDocument/2006/math">
                    <m:r>
                      <a:rPr lang="en-US" b="0" i="1" smtClean="0">
                        <a:latin typeface="Cambria Math" panose="02040503050406030204" pitchFamily="18" charset="0"/>
                      </a:rPr>
                      <m:t>𝑎</m:t>
                    </m:r>
                  </m:oMath>
                </a14:m>
                <a:r>
                  <a:rPr lang="en-US" dirty="0"/>
                  <a:t> is a continuous action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𝜃</m:t>
                        </m:r>
                      </m:sub>
                    </m:sSub>
                  </m:oMath>
                </a14:m>
                <a:r>
                  <a:rPr lang="en-US" dirty="0"/>
                  <a:t> is a learned ANN. This Gaussian actor is a popular choice since it has a closed-form solution for the entropy used in the objective and allows for backpropagation through actions.</a:t>
                </a:r>
                <a:endParaRPr lang="en-US" b="1" dirty="0"/>
              </a:p>
              <a:p>
                <a:r>
                  <a:rPr lang="en-US" b="1" dirty="0"/>
                  <a:t>Replay buffer: </a:t>
                </a:r>
                <a:r>
                  <a:rPr lang="en-US" dirty="0"/>
                  <a:t>Improve sample efficiency and updates can be done in batches on GPUs. Possible since it is off-policy.</a:t>
                </a:r>
                <a:endParaRPr lang="en-US" b="1" dirty="0"/>
              </a:p>
              <a:p>
                <a:r>
                  <a:rPr lang="en-US" b="1" dirty="0"/>
                  <a:t>Twin Q-networks</a:t>
                </a:r>
                <a:r>
                  <a:rPr lang="en-US" dirty="0"/>
                  <a:t>: The critic learns two Q-networks and used </a:t>
                </a:r>
                <a14:m>
                  <m:oMath xmlns:m="http://schemas.openxmlformats.org/officeDocument/2006/math">
                    <m:r>
                      <m:rPr>
                        <m:sty m:val="p"/>
                      </m:rPr>
                      <a:rPr lang="en-US" b="0" i="0" smtClean="0">
                        <a:latin typeface="Cambria Math" panose="02040503050406030204" pitchFamily="18" charset="0"/>
                      </a:rPr>
                      <m:t>min</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to reduce the maximization bias.</a:t>
                </a:r>
                <a:endParaRPr lang="en-US" b="1" dirty="0"/>
              </a:p>
              <a:p>
                <a:r>
                  <a:rPr lang="en-US" b="1" dirty="0"/>
                  <a:t>Slow update </a:t>
                </a:r>
                <a:r>
                  <a:rPr lang="en-US" dirty="0"/>
                  <a:t>of target network: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m:rPr>
                            <m:nor/>
                          </m:rPr>
                          <a:rPr lang="en-US" b="0" i="0" smtClean="0">
                            <a:latin typeface="Cambria Math" panose="02040503050406030204" pitchFamily="18" charset="0"/>
                          </a:rPr>
                          <m:t>target</m:t>
                        </m:r>
                      </m:sub>
                    </m:sSub>
                    <m:r>
                      <a:rPr lang="en-US" b="0" i="1" smtClean="0">
                        <a:latin typeface="Cambria Math" panose="02040503050406030204" pitchFamily="18" charset="0"/>
                      </a:rPr>
                      <m:t>←</m:t>
                    </m:r>
                    <m:r>
                      <a:rPr lang="en-US" b="0" i="1" smtClean="0">
                        <a:latin typeface="Cambria Math" panose="02040503050406030204" pitchFamily="18" charset="0"/>
                      </a:rPr>
                      <m:t>𝜏𝜃</m:t>
                    </m:r>
                    <m:r>
                      <a:rPr lang="en-US" b="0" i="1" smtClean="0">
                        <a:latin typeface="Cambria Math" panose="02040503050406030204" pitchFamily="18" charset="0"/>
                      </a:rPr>
                      <m:t>+(1−</m:t>
                    </m:r>
                    <m:r>
                      <a:rPr lang="en-US" b="0" i="1" smtClean="0">
                        <a:latin typeface="Cambria Math" panose="02040503050406030204" pitchFamily="18" charset="0"/>
                      </a:rPr>
                      <m:t>𝜏</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m:rPr>
                            <m:nor/>
                          </m:rPr>
                          <a:rPr lang="en-US" i="0">
                            <a:latin typeface="Cambria Math" panose="02040503050406030204" pitchFamily="18" charset="0"/>
                          </a:rPr>
                          <m:t>target</m:t>
                        </m:r>
                      </m:sub>
                    </m:sSub>
                  </m:oMath>
                </a14:m>
                <a:endParaRPr lang="en-US" b="1" dirty="0"/>
              </a:p>
            </p:txBody>
          </p:sp>
        </mc:Choice>
        <mc:Fallback xmlns="">
          <p:sp>
            <p:nvSpPr>
              <p:cNvPr id="3" name="Content Placeholder 2" descr="Soft Actor-Critic (SAC) is a popular method that is off-policy and for continuous action space. SAC uses a large set of enhancements that can also be used in other algorithms:. Maximum entropy objective: Adds policy entropy regularization to encourage exploration: J (theta) equals E [the sum over t, of r (S sub t,A sub t) plus alpha H (pi sub theta (times given S sub t))] The temperature alpha to balance exploration and exploitation is automatically tunes. Reparameterization trick for actor policy: Instead of using a~ pi sub theta (a given s), it samples from a equals f sub theta (epsilon,s), epsilon equals N (0,1) where a is a continuous action and f sub theta is a learned ANN. This Gaussian actor is a popular choice since it has a closed-form solution for the entropy used in the objective and allows for backpropagation through actions. Replay buffer: Improve sample efficiency and updates can be done in batches on GPUs. Possible since it is off-policy. Twin Q-networks: The critic learns two Q-networks and used min(Q sub 1 (s,a),Q sub 2 (s,a)) to reduce the maximization bias. Slow update of target network: theta sub target gets tau theta plus (1 minus tau) theta sub target">
                <a:extLst>
                  <a:ext uri="{FF2B5EF4-FFF2-40B4-BE49-F238E27FC236}">
                    <a16:creationId xmlns:a16="http://schemas.microsoft.com/office/drawing/2014/main" id="{97C1BF17-CA04-DF95-E233-3342D8CBBB1A}"/>
                  </a:ext>
                </a:extLst>
              </p:cNvPr>
              <p:cNvSpPr>
                <a:spLocks noGrp="1" noRot="1" noChangeAspect="1" noMove="1" noResize="1" noEditPoints="1" noAdjustHandles="1" noChangeArrowheads="1" noChangeShapeType="1" noTextEdit="1"/>
              </p:cNvSpPr>
              <p:nvPr>
                <p:ph idx="1"/>
              </p:nvPr>
            </p:nvSpPr>
            <p:spPr>
              <a:blipFill>
                <a:blip r:embed="rId2"/>
                <a:stretch>
                  <a:fillRect l="-232" t="-12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Speech Bubble: Rectangle with Corners Rounded 4" descr="H is the policy’s entropy measuring how spread out the policy probability distribution is">
                <a:extLst>
                  <a:ext uri="{FF2B5EF4-FFF2-40B4-BE49-F238E27FC236}">
                    <a16:creationId xmlns:a16="http://schemas.microsoft.com/office/drawing/2014/main" id="{04F7241C-D38D-9CF0-F437-CCCA6A559D7F}"/>
                  </a:ext>
                </a:extLst>
              </p:cNvPr>
              <p:cNvSpPr/>
              <p:nvPr/>
            </p:nvSpPr>
            <p:spPr>
              <a:xfrm>
                <a:off x="8770034" y="2325858"/>
                <a:ext cx="2671689" cy="1041009"/>
              </a:xfrm>
              <a:prstGeom prst="wedgeRoundRectCallout">
                <a:avLst>
                  <a:gd name="adj1" fmla="val -94296"/>
                  <a:gd name="adj2" fmla="val -533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1600" i="1" dirty="0" smtClean="0">
                        <a:latin typeface="Cambria Math" panose="02040503050406030204" pitchFamily="18" charset="0"/>
                        <a:ea typeface="Cambria Math" panose="02040503050406030204" pitchFamily="18" charset="0"/>
                      </a:rPr>
                      <m:t>ℋ</m:t>
                    </m:r>
                    <m:r>
                      <a:rPr lang="en-US" sz="1600" b="0" i="1" dirty="0" smtClean="0">
                        <a:latin typeface="Cambria Math" panose="02040503050406030204" pitchFamily="18" charset="0"/>
                        <a:ea typeface="Cambria Math" panose="02040503050406030204" pitchFamily="18" charset="0"/>
                      </a:rPr>
                      <m:t> </m:t>
                    </m:r>
                  </m:oMath>
                </a14:m>
                <a:r>
                  <a:rPr lang="en-US" sz="1600" dirty="0"/>
                  <a:t>is the policy’s entropy</a:t>
                </a:r>
                <a:br>
                  <a:rPr lang="en-US" sz="1600" dirty="0"/>
                </a:br>
                <a:r>
                  <a:rPr lang="en-US" sz="1600" dirty="0"/>
                  <a:t>measuring how spread out the policy probability distribution is.</a:t>
                </a:r>
              </a:p>
            </p:txBody>
          </p:sp>
        </mc:Choice>
        <mc:Fallback xmlns="">
          <p:sp>
            <p:nvSpPr>
              <p:cNvPr id="5" name="Speech Bubble: Rectangle with Corners Rounded 4" descr="H is the policy’s entropy measuring how spread out the policy probability distribution is">
                <a:extLst>
                  <a:ext uri="{FF2B5EF4-FFF2-40B4-BE49-F238E27FC236}">
                    <a16:creationId xmlns:a16="http://schemas.microsoft.com/office/drawing/2014/main" id="{04F7241C-D38D-9CF0-F437-CCCA6A559D7F}"/>
                  </a:ext>
                </a:extLst>
              </p:cNvPr>
              <p:cNvSpPr>
                <a:spLocks noRot="1" noChangeAspect="1" noMove="1" noResize="1" noEditPoints="1" noAdjustHandles="1" noChangeArrowheads="1" noChangeShapeType="1" noTextEdit="1"/>
              </p:cNvSpPr>
              <p:nvPr/>
            </p:nvSpPr>
            <p:spPr>
              <a:xfrm>
                <a:off x="8770034" y="2325858"/>
                <a:ext cx="2671689" cy="1041009"/>
              </a:xfrm>
              <a:prstGeom prst="wedgeRoundRectCallout">
                <a:avLst>
                  <a:gd name="adj1" fmla="val -94296"/>
                  <a:gd name="adj2" fmla="val -5336"/>
                  <a:gd name="adj3" fmla="val 16667"/>
                </a:avLst>
              </a:prstGeom>
              <a:blipFill>
                <a:blip r:embed="rId3"/>
                <a:stretch>
                  <a:fillRect t="-2890" b="-7514"/>
                </a:stretch>
              </a:blipFill>
            </p:spPr>
            <p:txBody>
              <a:bodyPr/>
              <a:lstStyle/>
              <a:p>
                <a:r>
                  <a:rPr lang="en-US">
                    <a:noFill/>
                  </a:rPr>
                  <a:t> </a:t>
                </a:r>
              </a:p>
            </p:txBody>
          </p:sp>
        </mc:Fallback>
      </mc:AlternateContent>
      <p:sp>
        <p:nvSpPr>
          <p:cNvPr id="4" name="Speech Bubble: Rectangle with Corners Rounded 3">
            <a:extLst>
              <a:ext uri="{FF2B5EF4-FFF2-40B4-BE49-F238E27FC236}">
                <a16:creationId xmlns:a16="http://schemas.microsoft.com/office/drawing/2014/main" id="{64F8EA9E-1FF4-AFAA-AF91-AD1319379DDC}"/>
              </a:ext>
            </a:extLst>
          </p:cNvPr>
          <p:cNvSpPr/>
          <p:nvPr/>
        </p:nvSpPr>
        <p:spPr>
          <a:xfrm>
            <a:off x="9692641" y="5315304"/>
            <a:ext cx="2114842" cy="729809"/>
          </a:xfrm>
          <a:prstGeom prst="wedgeRoundRectCallout">
            <a:avLst>
              <a:gd name="adj1" fmla="val -46997"/>
              <a:gd name="adj2" fmla="val -6536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Idea from double Q-learning.</a:t>
            </a:r>
          </a:p>
        </p:txBody>
      </p:sp>
      <p:sp>
        <p:nvSpPr>
          <p:cNvPr id="6" name="Speech Bubble: Rectangle with Corners Rounded 5">
            <a:extLst>
              <a:ext uri="{FF2B5EF4-FFF2-40B4-BE49-F238E27FC236}">
                <a16:creationId xmlns:a16="http://schemas.microsoft.com/office/drawing/2014/main" id="{A6BD44F9-C2C6-F760-9E86-E768394F046D}"/>
              </a:ext>
            </a:extLst>
          </p:cNvPr>
          <p:cNvSpPr/>
          <p:nvPr/>
        </p:nvSpPr>
        <p:spPr>
          <a:xfrm>
            <a:off x="4269545" y="5812058"/>
            <a:ext cx="2114842" cy="729809"/>
          </a:xfrm>
          <a:prstGeom prst="wedgeRoundRectCallout">
            <a:avLst>
              <a:gd name="adj1" fmla="val -27484"/>
              <a:gd name="adj2" fmla="val -9299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Instead of copying the network every C timesteps.</a:t>
            </a:r>
          </a:p>
        </p:txBody>
      </p:sp>
    </p:spTree>
    <p:extLst>
      <p:ext uri="{BB962C8B-B14F-4D97-AF65-F5344CB8AC3E}">
        <p14:creationId xmlns:p14="http://schemas.microsoft.com/office/powerpoint/2010/main" val="10583687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5DDB1-C5AB-D832-FD4A-6E3C92F42545}"/>
              </a:ext>
            </a:extLst>
          </p:cNvPr>
          <p:cNvSpPr>
            <a:spLocks noGrp="1"/>
          </p:cNvSpPr>
          <p:nvPr>
            <p:ph type="title"/>
          </p:nvPr>
        </p:nvSpPr>
        <p:spPr/>
        <p:txBody>
          <a:bodyPr/>
          <a:lstStyle/>
          <a:p>
            <a:r>
              <a:rPr lang="en-US" dirty="0"/>
              <a:t>Comparison of Popular DRL Methods</a:t>
            </a:r>
          </a:p>
        </p:txBody>
      </p:sp>
      <p:graphicFrame>
        <p:nvGraphicFramePr>
          <p:cNvPr id="4" name="Content Placeholder 3" descr="Table with 12 rows and 7 columns. Column headers: Method, Type, On/Off Policy, Action Space, Key Idea, Strengths, Weaknesses. Row 1: DQN, Value-based, Off-policy, Discrete, Learn Q(s,a) with neural net, Simple, foundational, Unstable, overestimation bias. Row 2: Double DQN, Value-based, Off-policy, Discrete, Reduces Q overestimation, More stable than DQN, Still limited to discrete. Row 3: Dueling DQN, Value-based, Off-policy, Discrete, Separates value &amp; advantage, Better learning efficiency, More complex. Row 4: REINFORCE, Policy gradient, On-policy, Both, Monte Carlo policy gradient, Conceptually simple, High variance. Row 5: TRPO, Policy gradient / Actor-critic, On-policy, Both, Constrained updates (KL bound), Stable updates, Complex, slow. Row 6: PPO ⭐, Actor-critic, On-policy, Both, Clipped objective for stability, Easy, robust, widely used, Less sample efficient. Row 7: A2C, Actor-critic, On-policy, Both, Advantage-based updates, Simpler than PPO, Less stable. Row 8: A3C, Actor-critic, On-policy, Both, Parallel workers, Faster training, Harder to implement. Row 9: DDPG, Actor-critic, Off-policy, Continuous, Deterministic policy + Q-learning, Works for continuous control, Unstable, sensitive. Row 10: TD3 ⭐, Actor-critic, Off-policy, Continuous, Twin critics + delayed updates, More stable than DDPG, Still sensitive. Row 11: SAC ⭐, Actor-critic, Off-policy, Continuous, Max entropy RL + twin critics, Very stable, sample efficient, More computation.">
            <a:extLst>
              <a:ext uri="{FF2B5EF4-FFF2-40B4-BE49-F238E27FC236}">
                <a16:creationId xmlns:a16="http://schemas.microsoft.com/office/drawing/2014/main" id="{D90D0D41-A7FC-5CB6-9898-6BB75B68FD3F}"/>
              </a:ext>
            </a:extLst>
          </p:cNvPr>
          <p:cNvGraphicFramePr>
            <a:graphicFrameLocks noGrp="1"/>
          </p:cNvGraphicFramePr>
          <p:nvPr>
            <p:ph idx="1"/>
            <p:extLst>
              <p:ext uri="{D42A27DB-BD31-4B8C-83A1-F6EECF244321}">
                <p14:modId xmlns:p14="http://schemas.microsoft.com/office/powerpoint/2010/main" val="3028409114"/>
              </p:ext>
            </p:extLst>
          </p:nvPr>
        </p:nvGraphicFramePr>
        <p:xfrm>
          <a:off x="838199" y="1214509"/>
          <a:ext cx="10515600" cy="4964276"/>
        </p:xfrm>
        <a:graphic>
          <a:graphicData uri="http://schemas.openxmlformats.org/drawingml/2006/table">
            <a:tbl>
              <a:tblPr firstRow="1" firstCol="1">
                <a:tableStyleId>{793D81CF-94F2-401A-BA57-92F5A7B2D0C5}</a:tableStyleId>
              </a:tblPr>
              <a:tblGrid>
                <a:gridCol w="1219056">
                  <a:extLst>
                    <a:ext uri="{9D8B030D-6E8A-4147-A177-3AD203B41FA5}">
                      <a16:colId xmlns:a16="http://schemas.microsoft.com/office/drawing/2014/main" val="3513620065"/>
                    </a:ext>
                  </a:extLst>
                </a:gridCol>
                <a:gridCol w="1339492">
                  <a:extLst>
                    <a:ext uri="{9D8B030D-6E8A-4147-A177-3AD203B41FA5}">
                      <a16:colId xmlns:a16="http://schemas.microsoft.com/office/drawing/2014/main" val="2480231683"/>
                    </a:ext>
                  </a:extLst>
                </a:gridCol>
                <a:gridCol w="1156193">
                  <a:extLst>
                    <a:ext uri="{9D8B030D-6E8A-4147-A177-3AD203B41FA5}">
                      <a16:colId xmlns:a16="http://schemas.microsoft.com/office/drawing/2014/main" val="1446849569"/>
                    </a:ext>
                  </a:extLst>
                </a:gridCol>
                <a:gridCol w="1170293">
                  <a:extLst>
                    <a:ext uri="{9D8B030D-6E8A-4147-A177-3AD203B41FA5}">
                      <a16:colId xmlns:a16="http://schemas.microsoft.com/office/drawing/2014/main" val="1702536543"/>
                    </a:ext>
                  </a:extLst>
                </a:gridCol>
                <a:gridCol w="2114988">
                  <a:extLst>
                    <a:ext uri="{9D8B030D-6E8A-4147-A177-3AD203B41FA5}">
                      <a16:colId xmlns:a16="http://schemas.microsoft.com/office/drawing/2014/main" val="3036474462"/>
                    </a:ext>
                  </a:extLst>
                </a:gridCol>
                <a:gridCol w="1615481">
                  <a:extLst>
                    <a:ext uri="{9D8B030D-6E8A-4147-A177-3AD203B41FA5}">
                      <a16:colId xmlns:a16="http://schemas.microsoft.com/office/drawing/2014/main" val="3834932698"/>
                    </a:ext>
                  </a:extLst>
                </a:gridCol>
                <a:gridCol w="1900097">
                  <a:extLst>
                    <a:ext uri="{9D8B030D-6E8A-4147-A177-3AD203B41FA5}">
                      <a16:colId xmlns:a16="http://schemas.microsoft.com/office/drawing/2014/main" val="1236287303"/>
                    </a:ext>
                  </a:extLst>
                </a:gridCol>
              </a:tblGrid>
              <a:tr h="132777">
                <a:tc>
                  <a:txBody>
                    <a:bodyPr/>
                    <a:lstStyle/>
                    <a:p>
                      <a:pPr>
                        <a:buNone/>
                      </a:pPr>
                      <a:r>
                        <a:rPr lang="en-US" sz="1400"/>
                        <a:t>Method</a:t>
                      </a:r>
                    </a:p>
                  </a:txBody>
                  <a:tcPr marL="33194" marR="33194" marT="16597" marB="16597" anchor="ctr"/>
                </a:tc>
                <a:tc>
                  <a:txBody>
                    <a:bodyPr/>
                    <a:lstStyle/>
                    <a:p>
                      <a:pPr>
                        <a:buNone/>
                      </a:pPr>
                      <a:r>
                        <a:rPr lang="en-US" sz="1400"/>
                        <a:t>Type</a:t>
                      </a:r>
                    </a:p>
                  </a:txBody>
                  <a:tcPr marL="33194" marR="33194" marT="16597" marB="16597" anchor="ctr"/>
                </a:tc>
                <a:tc>
                  <a:txBody>
                    <a:bodyPr/>
                    <a:lstStyle/>
                    <a:p>
                      <a:pPr>
                        <a:buNone/>
                      </a:pPr>
                      <a:r>
                        <a:rPr lang="en-US" sz="1400"/>
                        <a:t>On/Off Policy</a:t>
                      </a:r>
                    </a:p>
                  </a:txBody>
                  <a:tcPr marL="33194" marR="33194" marT="16597" marB="16597" anchor="ctr"/>
                </a:tc>
                <a:tc>
                  <a:txBody>
                    <a:bodyPr/>
                    <a:lstStyle/>
                    <a:p>
                      <a:pPr>
                        <a:buNone/>
                      </a:pPr>
                      <a:r>
                        <a:rPr lang="en-US" sz="1400" dirty="0"/>
                        <a:t>Action Space</a:t>
                      </a:r>
                    </a:p>
                  </a:txBody>
                  <a:tcPr marL="33194" marR="33194" marT="16597" marB="16597" anchor="ctr"/>
                </a:tc>
                <a:tc>
                  <a:txBody>
                    <a:bodyPr/>
                    <a:lstStyle/>
                    <a:p>
                      <a:pPr>
                        <a:buNone/>
                      </a:pPr>
                      <a:r>
                        <a:rPr lang="en-US" sz="1400"/>
                        <a:t>Key Idea</a:t>
                      </a:r>
                    </a:p>
                  </a:txBody>
                  <a:tcPr marL="33194" marR="33194" marT="16597" marB="16597" anchor="ctr"/>
                </a:tc>
                <a:tc>
                  <a:txBody>
                    <a:bodyPr/>
                    <a:lstStyle/>
                    <a:p>
                      <a:pPr>
                        <a:buNone/>
                      </a:pPr>
                      <a:r>
                        <a:rPr lang="en-US" sz="1400"/>
                        <a:t>Strengths</a:t>
                      </a:r>
                    </a:p>
                  </a:txBody>
                  <a:tcPr marL="33194" marR="33194" marT="16597" marB="16597" anchor="ctr"/>
                </a:tc>
                <a:tc>
                  <a:txBody>
                    <a:bodyPr/>
                    <a:lstStyle/>
                    <a:p>
                      <a:pPr>
                        <a:buNone/>
                      </a:pPr>
                      <a:r>
                        <a:rPr lang="en-US" sz="1400"/>
                        <a:t>Weaknesses</a:t>
                      </a:r>
                    </a:p>
                  </a:txBody>
                  <a:tcPr marL="33194" marR="33194" marT="16597" marB="16597" anchor="ctr"/>
                </a:tc>
                <a:extLst>
                  <a:ext uri="{0D108BD9-81ED-4DB2-BD59-A6C34878D82A}">
                    <a16:rowId xmlns:a16="http://schemas.microsoft.com/office/drawing/2014/main" val="1203809670"/>
                  </a:ext>
                </a:extLst>
              </a:tr>
              <a:tr h="331942">
                <a:tc>
                  <a:txBody>
                    <a:bodyPr/>
                    <a:lstStyle/>
                    <a:p>
                      <a:pPr>
                        <a:buNone/>
                      </a:pPr>
                      <a:r>
                        <a:rPr lang="en-US" sz="1400" b="1" dirty="0"/>
                        <a:t>DQN</a:t>
                      </a:r>
                      <a:endParaRPr lang="en-US" sz="1400" dirty="0"/>
                    </a:p>
                  </a:txBody>
                  <a:tcPr marL="33194" marR="33194" marT="16597" marB="16597" anchor="ctr">
                    <a:solidFill>
                      <a:schemeClr val="accent3">
                        <a:lumMod val="20000"/>
                        <a:lumOff val="80000"/>
                      </a:schemeClr>
                    </a:solidFill>
                  </a:tcPr>
                </a:tc>
                <a:tc>
                  <a:txBody>
                    <a:bodyPr/>
                    <a:lstStyle/>
                    <a:p>
                      <a:pPr>
                        <a:buNone/>
                      </a:pPr>
                      <a:r>
                        <a:rPr lang="en-US" sz="1400" dirty="0"/>
                        <a:t>Value-based</a:t>
                      </a:r>
                    </a:p>
                  </a:txBody>
                  <a:tcPr marL="33194" marR="33194" marT="16597" marB="16597" anchor="ctr">
                    <a:solidFill>
                      <a:schemeClr val="accent3">
                        <a:lumMod val="20000"/>
                        <a:lumOff val="80000"/>
                      </a:schemeClr>
                    </a:solidFill>
                  </a:tcPr>
                </a:tc>
                <a:tc>
                  <a:txBody>
                    <a:bodyPr/>
                    <a:lstStyle/>
                    <a:p>
                      <a:pPr>
                        <a:buNone/>
                      </a:pPr>
                      <a:r>
                        <a:rPr lang="en-US" sz="1400"/>
                        <a:t>Off-policy</a:t>
                      </a:r>
                    </a:p>
                  </a:txBody>
                  <a:tcPr marL="33194" marR="33194" marT="16597" marB="16597" anchor="ctr">
                    <a:solidFill>
                      <a:schemeClr val="accent3">
                        <a:lumMod val="20000"/>
                        <a:lumOff val="80000"/>
                      </a:schemeClr>
                    </a:solidFill>
                  </a:tcPr>
                </a:tc>
                <a:tc>
                  <a:txBody>
                    <a:bodyPr/>
                    <a:lstStyle/>
                    <a:p>
                      <a:pPr>
                        <a:buNone/>
                      </a:pPr>
                      <a:r>
                        <a:rPr lang="en-US" sz="1400"/>
                        <a:t>Discrete</a:t>
                      </a:r>
                    </a:p>
                  </a:txBody>
                  <a:tcPr marL="33194" marR="33194" marT="16597" marB="16597" anchor="ctr">
                    <a:solidFill>
                      <a:schemeClr val="accent3">
                        <a:lumMod val="20000"/>
                        <a:lumOff val="80000"/>
                      </a:schemeClr>
                    </a:solidFill>
                  </a:tcPr>
                </a:tc>
                <a:tc>
                  <a:txBody>
                    <a:bodyPr/>
                    <a:lstStyle/>
                    <a:p>
                      <a:pPr>
                        <a:buNone/>
                      </a:pPr>
                      <a:r>
                        <a:rPr lang="en-US" sz="1400"/>
                        <a:t>Learn Q(s,a) with neural net</a:t>
                      </a:r>
                    </a:p>
                  </a:txBody>
                  <a:tcPr marL="33194" marR="33194" marT="16597" marB="16597" anchor="ctr">
                    <a:solidFill>
                      <a:schemeClr val="accent3">
                        <a:lumMod val="20000"/>
                        <a:lumOff val="80000"/>
                      </a:schemeClr>
                    </a:solidFill>
                  </a:tcPr>
                </a:tc>
                <a:tc>
                  <a:txBody>
                    <a:bodyPr/>
                    <a:lstStyle/>
                    <a:p>
                      <a:pPr>
                        <a:buNone/>
                      </a:pPr>
                      <a:r>
                        <a:rPr lang="en-US" sz="1400"/>
                        <a:t>Simple, foundational</a:t>
                      </a:r>
                    </a:p>
                  </a:txBody>
                  <a:tcPr marL="33194" marR="33194" marT="16597" marB="16597" anchor="ctr">
                    <a:solidFill>
                      <a:schemeClr val="accent3">
                        <a:lumMod val="20000"/>
                        <a:lumOff val="80000"/>
                      </a:schemeClr>
                    </a:solidFill>
                  </a:tcPr>
                </a:tc>
                <a:tc>
                  <a:txBody>
                    <a:bodyPr/>
                    <a:lstStyle/>
                    <a:p>
                      <a:pPr>
                        <a:buNone/>
                      </a:pPr>
                      <a:r>
                        <a:rPr lang="en-US" sz="1400"/>
                        <a:t>Unstable, overestimation bias</a:t>
                      </a:r>
                    </a:p>
                  </a:txBody>
                  <a:tcPr marL="33194" marR="33194" marT="16597" marB="16597" anchor="ctr">
                    <a:solidFill>
                      <a:schemeClr val="accent3">
                        <a:lumMod val="20000"/>
                        <a:lumOff val="80000"/>
                      </a:schemeClr>
                    </a:solidFill>
                  </a:tcPr>
                </a:tc>
                <a:extLst>
                  <a:ext uri="{0D108BD9-81ED-4DB2-BD59-A6C34878D82A}">
                    <a16:rowId xmlns:a16="http://schemas.microsoft.com/office/drawing/2014/main" val="1566242849"/>
                  </a:ext>
                </a:extLst>
              </a:tr>
              <a:tr h="331942">
                <a:tc>
                  <a:txBody>
                    <a:bodyPr/>
                    <a:lstStyle/>
                    <a:p>
                      <a:pPr>
                        <a:buNone/>
                      </a:pPr>
                      <a:r>
                        <a:rPr lang="en-US" sz="1400" b="1"/>
                        <a:t>Double DQN</a:t>
                      </a:r>
                      <a:endParaRPr lang="en-US" sz="1400"/>
                    </a:p>
                  </a:txBody>
                  <a:tcPr marL="33194" marR="33194" marT="16597" marB="16597" anchor="ctr">
                    <a:solidFill>
                      <a:schemeClr val="accent3">
                        <a:lumMod val="20000"/>
                        <a:lumOff val="80000"/>
                      </a:schemeClr>
                    </a:solidFill>
                  </a:tcPr>
                </a:tc>
                <a:tc>
                  <a:txBody>
                    <a:bodyPr/>
                    <a:lstStyle/>
                    <a:p>
                      <a:pPr>
                        <a:buNone/>
                      </a:pPr>
                      <a:r>
                        <a:rPr lang="en-US" sz="1400"/>
                        <a:t>Value-based</a:t>
                      </a:r>
                    </a:p>
                  </a:txBody>
                  <a:tcPr marL="33194" marR="33194" marT="16597" marB="16597" anchor="ctr">
                    <a:solidFill>
                      <a:schemeClr val="accent3">
                        <a:lumMod val="20000"/>
                        <a:lumOff val="80000"/>
                      </a:schemeClr>
                    </a:solidFill>
                  </a:tcPr>
                </a:tc>
                <a:tc>
                  <a:txBody>
                    <a:bodyPr/>
                    <a:lstStyle/>
                    <a:p>
                      <a:pPr>
                        <a:buNone/>
                      </a:pPr>
                      <a:r>
                        <a:rPr lang="en-US" sz="1400" dirty="0"/>
                        <a:t>Off-policy</a:t>
                      </a:r>
                    </a:p>
                  </a:txBody>
                  <a:tcPr marL="33194" marR="33194" marT="16597" marB="16597" anchor="ctr">
                    <a:solidFill>
                      <a:schemeClr val="accent3">
                        <a:lumMod val="20000"/>
                        <a:lumOff val="80000"/>
                      </a:schemeClr>
                    </a:solidFill>
                  </a:tcPr>
                </a:tc>
                <a:tc>
                  <a:txBody>
                    <a:bodyPr/>
                    <a:lstStyle/>
                    <a:p>
                      <a:pPr>
                        <a:buNone/>
                      </a:pPr>
                      <a:r>
                        <a:rPr lang="en-US" sz="1400" dirty="0"/>
                        <a:t>Discrete</a:t>
                      </a:r>
                    </a:p>
                  </a:txBody>
                  <a:tcPr marL="33194" marR="33194" marT="16597" marB="16597" anchor="ctr">
                    <a:solidFill>
                      <a:schemeClr val="accent3">
                        <a:lumMod val="20000"/>
                        <a:lumOff val="80000"/>
                      </a:schemeClr>
                    </a:solidFill>
                  </a:tcPr>
                </a:tc>
                <a:tc>
                  <a:txBody>
                    <a:bodyPr/>
                    <a:lstStyle/>
                    <a:p>
                      <a:pPr>
                        <a:buNone/>
                      </a:pPr>
                      <a:r>
                        <a:rPr lang="en-US" sz="1400" dirty="0"/>
                        <a:t>Reduces Q overestimation</a:t>
                      </a:r>
                    </a:p>
                  </a:txBody>
                  <a:tcPr marL="33194" marR="33194" marT="16597" marB="16597" anchor="ctr">
                    <a:solidFill>
                      <a:schemeClr val="accent3">
                        <a:lumMod val="20000"/>
                        <a:lumOff val="80000"/>
                      </a:schemeClr>
                    </a:solidFill>
                  </a:tcPr>
                </a:tc>
                <a:tc>
                  <a:txBody>
                    <a:bodyPr/>
                    <a:lstStyle/>
                    <a:p>
                      <a:pPr>
                        <a:buNone/>
                      </a:pPr>
                      <a:r>
                        <a:rPr lang="en-US" sz="1400" dirty="0"/>
                        <a:t>More stable than DQN</a:t>
                      </a:r>
                    </a:p>
                  </a:txBody>
                  <a:tcPr marL="33194" marR="33194" marT="16597" marB="16597" anchor="ctr">
                    <a:solidFill>
                      <a:schemeClr val="accent3">
                        <a:lumMod val="20000"/>
                        <a:lumOff val="80000"/>
                      </a:schemeClr>
                    </a:solidFill>
                  </a:tcPr>
                </a:tc>
                <a:tc>
                  <a:txBody>
                    <a:bodyPr/>
                    <a:lstStyle/>
                    <a:p>
                      <a:pPr>
                        <a:buNone/>
                      </a:pPr>
                      <a:r>
                        <a:rPr lang="en-US" sz="1400"/>
                        <a:t>Still limited to discrete</a:t>
                      </a:r>
                    </a:p>
                  </a:txBody>
                  <a:tcPr marL="33194" marR="33194" marT="16597" marB="16597" anchor="ctr">
                    <a:solidFill>
                      <a:schemeClr val="accent3">
                        <a:lumMod val="20000"/>
                        <a:lumOff val="80000"/>
                      </a:schemeClr>
                    </a:solidFill>
                  </a:tcPr>
                </a:tc>
                <a:extLst>
                  <a:ext uri="{0D108BD9-81ED-4DB2-BD59-A6C34878D82A}">
                    <a16:rowId xmlns:a16="http://schemas.microsoft.com/office/drawing/2014/main" val="1872924584"/>
                  </a:ext>
                </a:extLst>
              </a:tr>
              <a:tr h="331942">
                <a:tc>
                  <a:txBody>
                    <a:bodyPr/>
                    <a:lstStyle/>
                    <a:p>
                      <a:pPr>
                        <a:buNone/>
                      </a:pPr>
                      <a:r>
                        <a:rPr lang="en-US" sz="1400" b="1" dirty="0"/>
                        <a:t>Dueling DQN</a:t>
                      </a:r>
                      <a:endParaRPr lang="en-US" sz="1400" dirty="0"/>
                    </a:p>
                  </a:txBody>
                  <a:tcPr marL="33194" marR="33194" marT="16597" marB="16597" anchor="ctr">
                    <a:solidFill>
                      <a:schemeClr val="accent3">
                        <a:lumMod val="20000"/>
                        <a:lumOff val="80000"/>
                      </a:schemeClr>
                    </a:solidFill>
                  </a:tcPr>
                </a:tc>
                <a:tc>
                  <a:txBody>
                    <a:bodyPr/>
                    <a:lstStyle/>
                    <a:p>
                      <a:pPr>
                        <a:buNone/>
                      </a:pPr>
                      <a:r>
                        <a:rPr lang="en-US" sz="1400"/>
                        <a:t>Value-based</a:t>
                      </a:r>
                    </a:p>
                  </a:txBody>
                  <a:tcPr marL="33194" marR="33194" marT="16597" marB="16597" anchor="ctr">
                    <a:solidFill>
                      <a:schemeClr val="accent3">
                        <a:lumMod val="20000"/>
                        <a:lumOff val="80000"/>
                      </a:schemeClr>
                    </a:solidFill>
                  </a:tcPr>
                </a:tc>
                <a:tc>
                  <a:txBody>
                    <a:bodyPr/>
                    <a:lstStyle/>
                    <a:p>
                      <a:pPr>
                        <a:buNone/>
                      </a:pPr>
                      <a:r>
                        <a:rPr lang="en-US" sz="1400"/>
                        <a:t>Off-policy</a:t>
                      </a:r>
                    </a:p>
                  </a:txBody>
                  <a:tcPr marL="33194" marR="33194" marT="16597" marB="16597" anchor="ctr">
                    <a:solidFill>
                      <a:schemeClr val="accent3">
                        <a:lumMod val="20000"/>
                        <a:lumOff val="80000"/>
                      </a:schemeClr>
                    </a:solidFill>
                  </a:tcPr>
                </a:tc>
                <a:tc>
                  <a:txBody>
                    <a:bodyPr/>
                    <a:lstStyle/>
                    <a:p>
                      <a:pPr>
                        <a:buNone/>
                      </a:pPr>
                      <a:r>
                        <a:rPr lang="en-US" sz="1400"/>
                        <a:t>Discrete</a:t>
                      </a:r>
                    </a:p>
                  </a:txBody>
                  <a:tcPr marL="33194" marR="33194" marT="16597" marB="16597" anchor="ctr">
                    <a:solidFill>
                      <a:schemeClr val="accent3">
                        <a:lumMod val="20000"/>
                        <a:lumOff val="80000"/>
                      </a:schemeClr>
                    </a:solidFill>
                  </a:tcPr>
                </a:tc>
                <a:tc>
                  <a:txBody>
                    <a:bodyPr/>
                    <a:lstStyle/>
                    <a:p>
                      <a:pPr>
                        <a:buNone/>
                      </a:pPr>
                      <a:r>
                        <a:rPr lang="en-US" sz="1400"/>
                        <a:t>Separates value &amp; advantage</a:t>
                      </a:r>
                    </a:p>
                  </a:txBody>
                  <a:tcPr marL="33194" marR="33194" marT="16597" marB="16597" anchor="ctr">
                    <a:solidFill>
                      <a:schemeClr val="accent3">
                        <a:lumMod val="20000"/>
                        <a:lumOff val="80000"/>
                      </a:schemeClr>
                    </a:solidFill>
                  </a:tcPr>
                </a:tc>
                <a:tc>
                  <a:txBody>
                    <a:bodyPr/>
                    <a:lstStyle/>
                    <a:p>
                      <a:pPr>
                        <a:buNone/>
                      </a:pPr>
                      <a:r>
                        <a:rPr lang="en-US" sz="1400" dirty="0"/>
                        <a:t>Better learning efficiency</a:t>
                      </a:r>
                    </a:p>
                  </a:txBody>
                  <a:tcPr marL="33194" marR="33194" marT="16597" marB="16597" anchor="ctr">
                    <a:solidFill>
                      <a:schemeClr val="accent3">
                        <a:lumMod val="20000"/>
                        <a:lumOff val="80000"/>
                      </a:schemeClr>
                    </a:solidFill>
                  </a:tcPr>
                </a:tc>
                <a:tc>
                  <a:txBody>
                    <a:bodyPr/>
                    <a:lstStyle/>
                    <a:p>
                      <a:pPr>
                        <a:buNone/>
                      </a:pPr>
                      <a:r>
                        <a:rPr lang="en-US" sz="1400" dirty="0"/>
                        <a:t>More complex</a:t>
                      </a:r>
                    </a:p>
                  </a:txBody>
                  <a:tcPr marL="33194" marR="33194" marT="16597" marB="16597" anchor="ctr">
                    <a:solidFill>
                      <a:schemeClr val="accent3">
                        <a:lumMod val="20000"/>
                        <a:lumOff val="80000"/>
                      </a:schemeClr>
                    </a:solidFill>
                  </a:tcPr>
                </a:tc>
                <a:extLst>
                  <a:ext uri="{0D108BD9-81ED-4DB2-BD59-A6C34878D82A}">
                    <a16:rowId xmlns:a16="http://schemas.microsoft.com/office/drawing/2014/main" val="3534944602"/>
                  </a:ext>
                </a:extLst>
              </a:tr>
              <a:tr h="331942">
                <a:tc>
                  <a:txBody>
                    <a:bodyPr/>
                    <a:lstStyle/>
                    <a:p>
                      <a:pPr>
                        <a:buNone/>
                      </a:pPr>
                      <a:r>
                        <a:rPr lang="en-US" sz="1400" b="1"/>
                        <a:t>REINFORCE</a:t>
                      </a:r>
                      <a:endParaRPr lang="en-US" sz="1400"/>
                    </a:p>
                  </a:txBody>
                  <a:tcPr marL="33194" marR="33194" marT="16597" marB="16597" anchor="ctr"/>
                </a:tc>
                <a:tc>
                  <a:txBody>
                    <a:bodyPr/>
                    <a:lstStyle/>
                    <a:p>
                      <a:pPr>
                        <a:buNone/>
                      </a:pPr>
                      <a:r>
                        <a:rPr lang="en-US" sz="1400"/>
                        <a:t>Policy gradient</a:t>
                      </a:r>
                    </a:p>
                  </a:txBody>
                  <a:tcPr marL="33194" marR="33194" marT="16597" marB="16597" anchor="ctr"/>
                </a:tc>
                <a:tc>
                  <a:txBody>
                    <a:bodyPr/>
                    <a:lstStyle/>
                    <a:p>
                      <a:pPr>
                        <a:buNone/>
                      </a:pPr>
                      <a:r>
                        <a:rPr lang="en-US" sz="1400"/>
                        <a:t>On-policy</a:t>
                      </a:r>
                    </a:p>
                  </a:txBody>
                  <a:tcPr marL="33194" marR="33194" marT="16597" marB="16597" anchor="ctr"/>
                </a:tc>
                <a:tc>
                  <a:txBody>
                    <a:bodyPr/>
                    <a:lstStyle/>
                    <a:p>
                      <a:pPr>
                        <a:buNone/>
                      </a:pPr>
                      <a:r>
                        <a:rPr lang="en-US" sz="1400"/>
                        <a:t>Both</a:t>
                      </a:r>
                    </a:p>
                  </a:txBody>
                  <a:tcPr marL="33194" marR="33194" marT="16597" marB="16597" anchor="ctr"/>
                </a:tc>
                <a:tc>
                  <a:txBody>
                    <a:bodyPr/>
                    <a:lstStyle/>
                    <a:p>
                      <a:pPr>
                        <a:buNone/>
                      </a:pPr>
                      <a:r>
                        <a:rPr lang="en-US" sz="1400"/>
                        <a:t>Monte Carlo policy gradient</a:t>
                      </a:r>
                    </a:p>
                  </a:txBody>
                  <a:tcPr marL="33194" marR="33194" marT="16597" marB="16597" anchor="ctr"/>
                </a:tc>
                <a:tc>
                  <a:txBody>
                    <a:bodyPr/>
                    <a:lstStyle/>
                    <a:p>
                      <a:pPr>
                        <a:buNone/>
                      </a:pPr>
                      <a:r>
                        <a:rPr lang="en-US" sz="1400"/>
                        <a:t>Conceptually simple</a:t>
                      </a:r>
                    </a:p>
                  </a:txBody>
                  <a:tcPr marL="33194" marR="33194" marT="16597" marB="16597" anchor="ctr"/>
                </a:tc>
                <a:tc>
                  <a:txBody>
                    <a:bodyPr/>
                    <a:lstStyle/>
                    <a:p>
                      <a:pPr>
                        <a:buNone/>
                      </a:pPr>
                      <a:r>
                        <a:rPr lang="en-US" sz="1400" dirty="0"/>
                        <a:t>High variance</a:t>
                      </a:r>
                    </a:p>
                  </a:txBody>
                  <a:tcPr marL="33194" marR="33194" marT="16597" marB="16597" anchor="ctr"/>
                </a:tc>
                <a:extLst>
                  <a:ext uri="{0D108BD9-81ED-4DB2-BD59-A6C34878D82A}">
                    <a16:rowId xmlns:a16="http://schemas.microsoft.com/office/drawing/2014/main" val="1960738578"/>
                  </a:ext>
                </a:extLst>
              </a:tr>
              <a:tr h="331942">
                <a:tc>
                  <a:txBody>
                    <a:bodyPr/>
                    <a:lstStyle/>
                    <a:p>
                      <a:pPr>
                        <a:buNone/>
                      </a:pPr>
                      <a:r>
                        <a:rPr lang="en-US" sz="1400" b="1" dirty="0"/>
                        <a:t>TRPO</a:t>
                      </a:r>
                      <a:endParaRPr lang="en-US" sz="1400" dirty="0"/>
                    </a:p>
                  </a:txBody>
                  <a:tcPr marL="33194" marR="33194" marT="16597" marB="16597" anchor="ctr">
                    <a:solidFill>
                      <a:schemeClr val="accent2">
                        <a:lumMod val="20000"/>
                        <a:lumOff val="80000"/>
                      </a:schemeClr>
                    </a:solidFill>
                  </a:tcPr>
                </a:tc>
                <a:tc>
                  <a:txBody>
                    <a:bodyPr/>
                    <a:lstStyle/>
                    <a:p>
                      <a:pPr>
                        <a:buNone/>
                      </a:pPr>
                      <a:r>
                        <a:rPr lang="en-US" sz="1400" dirty="0"/>
                        <a:t>Policy gradient / Actor-critic</a:t>
                      </a:r>
                    </a:p>
                  </a:txBody>
                  <a:tcPr marL="33194" marR="33194" marT="16597" marB="16597" anchor="ctr">
                    <a:solidFill>
                      <a:schemeClr val="accent2">
                        <a:lumMod val="20000"/>
                        <a:lumOff val="80000"/>
                      </a:schemeClr>
                    </a:solidFill>
                  </a:tcPr>
                </a:tc>
                <a:tc>
                  <a:txBody>
                    <a:bodyPr/>
                    <a:lstStyle/>
                    <a:p>
                      <a:pPr>
                        <a:buNone/>
                      </a:pPr>
                      <a:r>
                        <a:rPr lang="en-US" sz="1400"/>
                        <a:t>On-policy</a:t>
                      </a:r>
                    </a:p>
                  </a:txBody>
                  <a:tcPr marL="33194" marR="33194" marT="16597" marB="16597" anchor="ctr">
                    <a:solidFill>
                      <a:schemeClr val="accent2">
                        <a:lumMod val="20000"/>
                        <a:lumOff val="80000"/>
                      </a:schemeClr>
                    </a:solidFill>
                  </a:tcPr>
                </a:tc>
                <a:tc>
                  <a:txBody>
                    <a:bodyPr/>
                    <a:lstStyle/>
                    <a:p>
                      <a:pPr>
                        <a:buNone/>
                      </a:pPr>
                      <a:r>
                        <a:rPr lang="en-US" sz="1400"/>
                        <a:t>Both</a:t>
                      </a:r>
                    </a:p>
                  </a:txBody>
                  <a:tcPr marL="33194" marR="33194" marT="16597" marB="16597" anchor="ctr">
                    <a:solidFill>
                      <a:schemeClr val="accent2">
                        <a:lumMod val="20000"/>
                        <a:lumOff val="80000"/>
                      </a:schemeClr>
                    </a:solidFill>
                  </a:tcPr>
                </a:tc>
                <a:tc>
                  <a:txBody>
                    <a:bodyPr/>
                    <a:lstStyle/>
                    <a:p>
                      <a:pPr>
                        <a:buNone/>
                      </a:pPr>
                      <a:r>
                        <a:rPr lang="en-US" sz="1400"/>
                        <a:t>Constrained updates (KL bound)</a:t>
                      </a:r>
                    </a:p>
                  </a:txBody>
                  <a:tcPr marL="33194" marR="33194" marT="16597" marB="16597" anchor="ctr">
                    <a:solidFill>
                      <a:schemeClr val="accent2">
                        <a:lumMod val="20000"/>
                        <a:lumOff val="80000"/>
                      </a:schemeClr>
                    </a:solidFill>
                  </a:tcPr>
                </a:tc>
                <a:tc>
                  <a:txBody>
                    <a:bodyPr/>
                    <a:lstStyle/>
                    <a:p>
                      <a:pPr>
                        <a:buNone/>
                      </a:pPr>
                      <a:r>
                        <a:rPr lang="en-US" sz="1400"/>
                        <a:t>Stable updates</a:t>
                      </a:r>
                    </a:p>
                  </a:txBody>
                  <a:tcPr marL="33194" marR="33194" marT="16597" marB="16597" anchor="ctr">
                    <a:solidFill>
                      <a:schemeClr val="accent2">
                        <a:lumMod val="20000"/>
                        <a:lumOff val="80000"/>
                      </a:schemeClr>
                    </a:solidFill>
                  </a:tcPr>
                </a:tc>
                <a:tc>
                  <a:txBody>
                    <a:bodyPr/>
                    <a:lstStyle/>
                    <a:p>
                      <a:pPr>
                        <a:buNone/>
                      </a:pPr>
                      <a:r>
                        <a:rPr lang="en-US" sz="1400"/>
                        <a:t>Complex, slow</a:t>
                      </a:r>
                    </a:p>
                  </a:txBody>
                  <a:tcPr marL="33194" marR="33194" marT="16597" marB="16597" anchor="ctr">
                    <a:solidFill>
                      <a:schemeClr val="accent2">
                        <a:lumMod val="20000"/>
                        <a:lumOff val="80000"/>
                      </a:schemeClr>
                    </a:solidFill>
                  </a:tcPr>
                </a:tc>
                <a:extLst>
                  <a:ext uri="{0D108BD9-81ED-4DB2-BD59-A6C34878D82A}">
                    <a16:rowId xmlns:a16="http://schemas.microsoft.com/office/drawing/2014/main" val="693721371"/>
                  </a:ext>
                </a:extLst>
              </a:tr>
              <a:tr h="331942">
                <a:tc>
                  <a:txBody>
                    <a:bodyPr/>
                    <a:lstStyle/>
                    <a:p>
                      <a:pPr>
                        <a:buNone/>
                      </a:pPr>
                      <a:r>
                        <a:rPr lang="en-US" sz="1400" b="1" dirty="0"/>
                        <a:t>PPO</a:t>
                      </a:r>
                      <a:r>
                        <a:rPr lang="en-US" sz="1400" dirty="0"/>
                        <a:t> ⭐</a:t>
                      </a:r>
                    </a:p>
                  </a:txBody>
                  <a:tcPr marL="33194" marR="33194" marT="16597" marB="16597" anchor="ctr">
                    <a:solidFill>
                      <a:schemeClr val="accent2">
                        <a:lumMod val="20000"/>
                        <a:lumOff val="80000"/>
                      </a:schemeClr>
                    </a:solidFill>
                  </a:tcPr>
                </a:tc>
                <a:tc>
                  <a:txBody>
                    <a:bodyPr/>
                    <a:lstStyle/>
                    <a:p>
                      <a:pPr>
                        <a:buNone/>
                      </a:pPr>
                      <a:r>
                        <a:rPr lang="en-US" sz="1400" dirty="0"/>
                        <a:t>Actor-critic</a:t>
                      </a:r>
                    </a:p>
                  </a:txBody>
                  <a:tcPr marL="33194" marR="33194" marT="16597" marB="16597" anchor="ctr">
                    <a:solidFill>
                      <a:schemeClr val="accent2">
                        <a:lumMod val="20000"/>
                        <a:lumOff val="80000"/>
                      </a:schemeClr>
                    </a:solidFill>
                  </a:tcPr>
                </a:tc>
                <a:tc>
                  <a:txBody>
                    <a:bodyPr/>
                    <a:lstStyle/>
                    <a:p>
                      <a:pPr>
                        <a:buNone/>
                      </a:pPr>
                      <a:r>
                        <a:rPr lang="en-US" sz="1400" dirty="0"/>
                        <a:t>On-policy</a:t>
                      </a:r>
                    </a:p>
                  </a:txBody>
                  <a:tcPr marL="33194" marR="33194" marT="16597" marB="16597" anchor="ctr">
                    <a:solidFill>
                      <a:schemeClr val="accent2">
                        <a:lumMod val="20000"/>
                        <a:lumOff val="80000"/>
                      </a:schemeClr>
                    </a:solidFill>
                  </a:tcPr>
                </a:tc>
                <a:tc>
                  <a:txBody>
                    <a:bodyPr/>
                    <a:lstStyle/>
                    <a:p>
                      <a:pPr>
                        <a:buNone/>
                      </a:pPr>
                      <a:r>
                        <a:rPr lang="en-US" sz="1400"/>
                        <a:t>Both</a:t>
                      </a:r>
                    </a:p>
                  </a:txBody>
                  <a:tcPr marL="33194" marR="33194" marT="16597" marB="16597" anchor="ctr">
                    <a:solidFill>
                      <a:schemeClr val="accent2">
                        <a:lumMod val="20000"/>
                        <a:lumOff val="80000"/>
                      </a:schemeClr>
                    </a:solidFill>
                  </a:tcPr>
                </a:tc>
                <a:tc>
                  <a:txBody>
                    <a:bodyPr/>
                    <a:lstStyle/>
                    <a:p>
                      <a:pPr>
                        <a:buNone/>
                      </a:pPr>
                      <a:r>
                        <a:rPr lang="en-US" sz="1400"/>
                        <a:t>Clipped objective for stability</a:t>
                      </a:r>
                    </a:p>
                  </a:txBody>
                  <a:tcPr marL="33194" marR="33194" marT="16597" marB="16597" anchor="ctr">
                    <a:solidFill>
                      <a:schemeClr val="accent2">
                        <a:lumMod val="20000"/>
                        <a:lumOff val="80000"/>
                      </a:schemeClr>
                    </a:solidFill>
                  </a:tcPr>
                </a:tc>
                <a:tc>
                  <a:txBody>
                    <a:bodyPr/>
                    <a:lstStyle/>
                    <a:p>
                      <a:pPr>
                        <a:buNone/>
                      </a:pPr>
                      <a:r>
                        <a:rPr lang="en-US" sz="1400"/>
                        <a:t>Easy, robust, widely used</a:t>
                      </a:r>
                    </a:p>
                  </a:txBody>
                  <a:tcPr marL="33194" marR="33194" marT="16597" marB="16597" anchor="ctr">
                    <a:solidFill>
                      <a:schemeClr val="accent2">
                        <a:lumMod val="20000"/>
                        <a:lumOff val="80000"/>
                      </a:schemeClr>
                    </a:solidFill>
                  </a:tcPr>
                </a:tc>
                <a:tc>
                  <a:txBody>
                    <a:bodyPr/>
                    <a:lstStyle/>
                    <a:p>
                      <a:pPr>
                        <a:buNone/>
                      </a:pPr>
                      <a:r>
                        <a:rPr lang="en-US" sz="1400"/>
                        <a:t>Less sample efficient</a:t>
                      </a:r>
                    </a:p>
                  </a:txBody>
                  <a:tcPr marL="33194" marR="33194" marT="16597" marB="16597" anchor="ctr">
                    <a:solidFill>
                      <a:schemeClr val="accent2">
                        <a:lumMod val="20000"/>
                        <a:lumOff val="80000"/>
                      </a:schemeClr>
                    </a:solidFill>
                  </a:tcPr>
                </a:tc>
                <a:extLst>
                  <a:ext uri="{0D108BD9-81ED-4DB2-BD59-A6C34878D82A}">
                    <a16:rowId xmlns:a16="http://schemas.microsoft.com/office/drawing/2014/main" val="821896337"/>
                  </a:ext>
                </a:extLst>
              </a:tr>
              <a:tr h="331942">
                <a:tc>
                  <a:txBody>
                    <a:bodyPr/>
                    <a:lstStyle/>
                    <a:p>
                      <a:pPr>
                        <a:buNone/>
                      </a:pPr>
                      <a:r>
                        <a:rPr lang="en-US" sz="1400" b="1"/>
                        <a:t>A2C</a:t>
                      </a:r>
                      <a:endParaRPr lang="en-US" sz="1400"/>
                    </a:p>
                  </a:txBody>
                  <a:tcPr marL="33194" marR="33194" marT="16597" marB="16597" anchor="ctr">
                    <a:solidFill>
                      <a:schemeClr val="accent2">
                        <a:lumMod val="20000"/>
                        <a:lumOff val="80000"/>
                      </a:schemeClr>
                    </a:solidFill>
                  </a:tcPr>
                </a:tc>
                <a:tc>
                  <a:txBody>
                    <a:bodyPr/>
                    <a:lstStyle/>
                    <a:p>
                      <a:pPr>
                        <a:buNone/>
                      </a:pPr>
                      <a:r>
                        <a:rPr lang="en-US" sz="1400" dirty="0"/>
                        <a:t>Actor-critic</a:t>
                      </a:r>
                    </a:p>
                  </a:txBody>
                  <a:tcPr marL="33194" marR="33194" marT="16597" marB="16597" anchor="ctr">
                    <a:solidFill>
                      <a:schemeClr val="accent2">
                        <a:lumMod val="20000"/>
                        <a:lumOff val="80000"/>
                      </a:schemeClr>
                    </a:solidFill>
                  </a:tcPr>
                </a:tc>
                <a:tc>
                  <a:txBody>
                    <a:bodyPr/>
                    <a:lstStyle/>
                    <a:p>
                      <a:pPr>
                        <a:buNone/>
                      </a:pPr>
                      <a:r>
                        <a:rPr lang="en-US" sz="1400"/>
                        <a:t>On-policy</a:t>
                      </a:r>
                    </a:p>
                  </a:txBody>
                  <a:tcPr marL="33194" marR="33194" marT="16597" marB="16597" anchor="ctr">
                    <a:solidFill>
                      <a:schemeClr val="accent2">
                        <a:lumMod val="20000"/>
                        <a:lumOff val="80000"/>
                      </a:schemeClr>
                    </a:solidFill>
                  </a:tcPr>
                </a:tc>
                <a:tc>
                  <a:txBody>
                    <a:bodyPr/>
                    <a:lstStyle/>
                    <a:p>
                      <a:pPr>
                        <a:buNone/>
                      </a:pPr>
                      <a:r>
                        <a:rPr lang="en-US" sz="1400" dirty="0"/>
                        <a:t>Both</a:t>
                      </a:r>
                    </a:p>
                  </a:txBody>
                  <a:tcPr marL="33194" marR="33194" marT="16597" marB="16597" anchor="ctr">
                    <a:solidFill>
                      <a:schemeClr val="accent2">
                        <a:lumMod val="20000"/>
                        <a:lumOff val="80000"/>
                      </a:schemeClr>
                    </a:solidFill>
                  </a:tcPr>
                </a:tc>
                <a:tc>
                  <a:txBody>
                    <a:bodyPr/>
                    <a:lstStyle/>
                    <a:p>
                      <a:pPr>
                        <a:buNone/>
                      </a:pPr>
                      <a:r>
                        <a:rPr lang="en-US" sz="1400"/>
                        <a:t>Advantage-based updates</a:t>
                      </a:r>
                    </a:p>
                  </a:txBody>
                  <a:tcPr marL="33194" marR="33194" marT="16597" marB="16597" anchor="ctr">
                    <a:solidFill>
                      <a:schemeClr val="accent2">
                        <a:lumMod val="20000"/>
                        <a:lumOff val="80000"/>
                      </a:schemeClr>
                    </a:solidFill>
                  </a:tcPr>
                </a:tc>
                <a:tc>
                  <a:txBody>
                    <a:bodyPr/>
                    <a:lstStyle/>
                    <a:p>
                      <a:pPr>
                        <a:buNone/>
                      </a:pPr>
                      <a:r>
                        <a:rPr lang="en-US" sz="1400"/>
                        <a:t>Simpler than PPO</a:t>
                      </a:r>
                    </a:p>
                  </a:txBody>
                  <a:tcPr marL="33194" marR="33194" marT="16597" marB="16597" anchor="ctr">
                    <a:solidFill>
                      <a:schemeClr val="accent2">
                        <a:lumMod val="20000"/>
                        <a:lumOff val="80000"/>
                      </a:schemeClr>
                    </a:solidFill>
                  </a:tcPr>
                </a:tc>
                <a:tc>
                  <a:txBody>
                    <a:bodyPr/>
                    <a:lstStyle/>
                    <a:p>
                      <a:pPr>
                        <a:buNone/>
                      </a:pPr>
                      <a:r>
                        <a:rPr lang="en-US" sz="1400"/>
                        <a:t>Less stable</a:t>
                      </a:r>
                    </a:p>
                  </a:txBody>
                  <a:tcPr marL="33194" marR="33194" marT="16597" marB="16597" anchor="ctr">
                    <a:solidFill>
                      <a:schemeClr val="accent2">
                        <a:lumMod val="20000"/>
                        <a:lumOff val="80000"/>
                      </a:schemeClr>
                    </a:solidFill>
                  </a:tcPr>
                </a:tc>
                <a:extLst>
                  <a:ext uri="{0D108BD9-81ED-4DB2-BD59-A6C34878D82A}">
                    <a16:rowId xmlns:a16="http://schemas.microsoft.com/office/drawing/2014/main" val="2448719827"/>
                  </a:ext>
                </a:extLst>
              </a:tr>
              <a:tr h="232359">
                <a:tc>
                  <a:txBody>
                    <a:bodyPr/>
                    <a:lstStyle/>
                    <a:p>
                      <a:pPr>
                        <a:buNone/>
                      </a:pPr>
                      <a:r>
                        <a:rPr lang="en-US" sz="1400" b="1"/>
                        <a:t>A3C</a:t>
                      </a:r>
                      <a:endParaRPr lang="en-US" sz="1400"/>
                    </a:p>
                  </a:txBody>
                  <a:tcPr marL="33194" marR="33194" marT="16597" marB="16597" anchor="ctr">
                    <a:solidFill>
                      <a:schemeClr val="accent2">
                        <a:lumMod val="20000"/>
                        <a:lumOff val="80000"/>
                      </a:schemeClr>
                    </a:solidFill>
                  </a:tcPr>
                </a:tc>
                <a:tc>
                  <a:txBody>
                    <a:bodyPr/>
                    <a:lstStyle/>
                    <a:p>
                      <a:pPr>
                        <a:buNone/>
                      </a:pPr>
                      <a:r>
                        <a:rPr lang="en-US" sz="1400" dirty="0"/>
                        <a:t>Actor-critic</a:t>
                      </a:r>
                    </a:p>
                  </a:txBody>
                  <a:tcPr marL="33194" marR="33194" marT="16597" marB="16597" anchor="ctr">
                    <a:solidFill>
                      <a:schemeClr val="accent2">
                        <a:lumMod val="20000"/>
                        <a:lumOff val="80000"/>
                      </a:schemeClr>
                    </a:solidFill>
                  </a:tcPr>
                </a:tc>
                <a:tc>
                  <a:txBody>
                    <a:bodyPr/>
                    <a:lstStyle/>
                    <a:p>
                      <a:pPr>
                        <a:buNone/>
                      </a:pPr>
                      <a:r>
                        <a:rPr lang="en-US" sz="1400"/>
                        <a:t>On-policy</a:t>
                      </a:r>
                    </a:p>
                  </a:txBody>
                  <a:tcPr marL="33194" marR="33194" marT="16597" marB="16597" anchor="ctr">
                    <a:solidFill>
                      <a:schemeClr val="accent2">
                        <a:lumMod val="20000"/>
                        <a:lumOff val="80000"/>
                      </a:schemeClr>
                    </a:solidFill>
                  </a:tcPr>
                </a:tc>
                <a:tc>
                  <a:txBody>
                    <a:bodyPr/>
                    <a:lstStyle/>
                    <a:p>
                      <a:pPr>
                        <a:buNone/>
                      </a:pPr>
                      <a:r>
                        <a:rPr lang="en-US" sz="1400"/>
                        <a:t>Both</a:t>
                      </a:r>
                    </a:p>
                  </a:txBody>
                  <a:tcPr marL="33194" marR="33194" marT="16597" marB="16597" anchor="ctr">
                    <a:solidFill>
                      <a:schemeClr val="accent2">
                        <a:lumMod val="20000"/>
                        <a:lumOff val="80000"/>
                      </a:schemeClr>
                    </a:solidFill>
                  </a:tcPr>
                </a:tc>
                <a:tc>
                  <a:txBody>
                    <a:bodyPr/>
                    <a:lstStyle/>
                    <a:p>
                      <a:pPr>
                        <a:buNone/>
                      </a:pPr>
                      <a:r>
                        <a:rPr lang="en-US" sz="1400" dirty="0"/>
                        <a:t>Parallel workers</a:t>
                      </a:r>
                    </a:p>
                  </a:txBody>
                  <a:tcPr marL="33194" marR="33194" marT="16597" marB="16597" anchor="ctr">
                    <a:solidFill>
                      <a:schemeClr val="accent2">
                        <a:lumMod val="20000"/>
                        <a:lumOff val="80000"/>
                      </a:schemeClr>
                    </a:solidFill>
                  </a:tcPr>
                </a:tc>
                <a:tc>
                  <a:txBody>
                    <a:bodyPr/>
                    <a:lstStyle/>
                    <a:p>
                      <a:pPr>
                        <a:buNone/>
                      </a:pPr>
                      <a:r>
                        <a:rPr lang="en-US" sz="1400"/>
                        <a:t>Faster training</a:t>
                      </a:r>
                    </a:p>
                  </a:txBody>
                  <a:tcPr marL="33194" marR="33194" marT="16597" marB="16597" anchor="ctr">
                    <a:solidFill>
                      <a:schemeClr val="accent2">
                        <a:lumMod val="20000"/>
                        <a:lumOff val="80000"/>
                      </a:schemeClr>
                    </a:solidFill>
                  </a:tcPr>
                </a:tc>
                <a:tc>
                  <a:txBody>
                    <a:bodyPr/>
                    <a:lstStyle/>
                    <a:p>
                      <a:pPr>
                        <a:buNone/>
                      </a:pPr>
                      <a:r>
                        <a:rPr lang="en-US" sz="1400"/>
                        <a:t>Harder to implement</a:t>
                      </a:r>
                    </a:p>
                  </a:txBody>
                  <a:tcPr marL="33194" marR="33194" marT="16597" marB="16597" anchor="ctr">
                    <a:solidFill>
                      <a:schemeClr val="accent2">
                        <a:lumMod val="20000"/>
                        <a:lumOff val="80000"/>
                      </a:schemeClr>
                    </a:solidFill>
                  </a:tcPr>
                </a:tc>
                <a:extLst>
                  <a:ext uri="{0D108BD9-81ED-4DB2-BD59-A6C34878D82A}">
                    <a16:rowId xmlns:a16="http://schemas.microsoft.com/office/drawing/2014/main" val="3077392259"/>
                  </a:ext>
                </a:extLst>
              </a:tr>
              <a:tr h="331942">
                <a:tc>
                  <a:txBody>
                    <a:bodyPr/>
                    <a:lstStyle/>
                    <a:p>
                      <a:pPr>
                        <a:buNone/>
                      </a:pPr>
                      <a:r>
                        <a:rPr lang="en-US" sz="1400" b="1"/>
                        <a:t>DDPG</a:t>
                      </a:r>
                      <a:endParaRPr lang="en-US" sz="1400"/>
                    </a:p>
                  </a:txBody>
                  <a:tcPr marL="33194" marR="33194" marT="16597" marB="16597" anchor="ctr">
                    <a:solidFill>
                      <a:schemeClr val="accent2">
                        <a:lumMod val="20000"/>
                        <a:lumOff val="80000"/>
                      </a:schemeClr>
                    </a:solidFill>
                  </a:tcPr>
                </a:tc>
                <a:tc>
                  <a:txBody>
                    <a:bodyPr/>
                    <a:lstStyle/>
                    <a:p>
                      <a:pPr>
                        <a:buNone/>
                      </a:pPr>
                      <a:r>
                        <a:rPr lang="en-US" sz="1400" dirty="0"/>
                        <a:t>Actor-critic</a:t>
                      </a:r>
                    </a:p>
                  </a:txBody>
                  <a:tcPr marL="33194" marR="33194" marT="16597" marB="16597" anchor="ctr">
                    <a:solidFill>
                      <a:schemeClr val="accent2">
                        <a:lumMod val="20000"/>
                        <a:lumOff val="80000"/>
                      </a:schemeClr>
                    </a:solidFill>
                  </a:tcPr>
                </a:tc>
                <a:tc>
                  <a:txBody>
                    <a:bodyPr/>
                    <a:lstStyle/>
                    <a:p>
                      <a:pPr>
                        <a:buNone/>
                      </a:pPr>
                      <a:r>
                        <a:rPr lang="en-US" sz="1400"/>
                        <a:t>Off-policy</a:t>
                      </a:r>
                    </a:p>
                  </a:txBody>
                  <a:tcPr marL="33194" marR="33194" marT="16597" marB="16597" anchor="ctr">
                    <a:solidFill>
                      <a:schemeClr val="accent2">
                        <a:lumMod val="20000"/>
                        <a:lumOff val="80000"/>
                      </a:schemeClr>
                    </a:solidFill>
                  </a:tcPr>
                </a:tc>
                <a:tc>
                  <a:txBody>
                    <a:bodyPr/>
                    <a:lstStyle/>
                    <a:p>
                      <a:pPr>
                        <a:buNone/>
                      </a:pPr>
                      <a:r>
                        <a:rPr lang="en-US" sz="1400"/>
                        <a:t>Continuous</a:t>
                      </a:r>
                    </a:p>
                  </a:txBody>
                  <a:tcPr marL="33194" marR="33194" marT="16597" marB="16597" anchor="ctr">
                    <a:solidFill>
                      <a:schemeClr val="accent2">
                        <a:lumMod val="20000"/>
                        <a:lumOff val="80000"/>
                      </a:schemeClr>
                    </a:solidFill>
                  </a:tcPr>
                </a:tc>
                <a:tc>
                  <a:txBody>
                    <a:bodyPr/>
                    <a:lstStyle/>
                    <a:p>
                      <a:pPr>
                        <a:buNone/>
                      </a:pPr>
                      <a:r>
                        <a:rPr lang="en-US" sz="1400" dirty="0"/>
                        <a:t>Deterministic policy + Q-learning</a:t>
                      </a:r>
                    </a:p>
                  </a:txBody>
                  <a:tcPr marL="33194" marR="33194" marT="16597" marB="16597" anchor="ctr">
                    <a:solidFill>
                      <a:schemeClr val="accent2">
                        <a:lumMod val="20000"/>
                        <a:lumOff val="80000"/>
                      </a:schemeClr>
                    </a:solidFill>
                  </a:tcPr>
                </a:tc>
                <a:tc>
                  <a:txBody>
                    <a:bodyPr/>
                    <a:lstStyle/>
                    <a:p>
                      <a:pPr>
                        <a:buNone/>
                      </a:pPr>
                      <a:r>
                        <a:rPr lang="en-US" sz="1400"/>
                        <a:t>Works for continuous control</a:t>
                      </a:r>
                    </a:p>
                  </a:txBody>
                  <a:tcPr marL="33194" marR="33194" marT="16597" marB="16597" anchor="ctr">
                    <a:solidFill>
                      <a:schemeClr val="accent2">
                        <a:lumMod val="20000"/>
                        <a:lumOff val="80000"/>
                      </a:schemeClr>
                    </a:solidFill>
                  </a:tcPr>
                </a:tc>
                <a:tc>
                  <a:txBody>
                    <a:bodyPr/>
                    <a:lstStyle/>
                    <a:p>
                      <a:pPr>
                        <a:buNone/>
                      </a:pPr>
                      <a:r>
                        <a:rPr lang="en-US" sz="1400"/>
                        <a:t>Unstable, sensitive</a:t>
                      </a:r>
                    </a:p>
                  </a:txBody>
                  <a:tcPr marL="33194" marR="33194" marT="16597" marB="16597" anchor="ctr">
                    <a:solidFill>
                      <a:schemeClr val="accent2">
                        <a:lumMod val="20000"/>
                        <a:lumOff val="80000"/>
                      </a:schemeClr>
                    </a:solidFill>
                  </a:tcPr>
                </a:tc>
                <a:extLst>
                  <a:ext uri="{0D108BD9-81ED-4DB2-BD59-A6C34878D82A}">
                    <a16:rowId xmlns:a16="http://schemas.microsoft.com/office/drawing/2014/main" val="1836609670"/>
                  </a:ext>
                </a:extLst>
              </a:tr>
              <a:tr h="331942">
                <a:tc>
                  <a:txBody>
                    <a:bodyPr/>
                    <a:lstStyle/>
                    <a:p>
                      <a:pPr>
                        <a:buNone/>
                      </a:pPr>
                      <a:r>
                        <a:rPr lang="en-US" sz="1400" b="1"/>
                        <a:t>TD3</a:t>
                      </a:r>
                      <a:r>
                        <a:rPr lang="en-US" sz="1400"/>
                        <a:t> ⭐</a:t>
                      </a:r>
                    </a:p>
                  </a:txBody>
                  <a:tcPr marL="33194" marR="33194" marT="16597" marB="16597" anchor="ctr">
                    <a:solidFill>
                      <a:schemeClr val="accent2">
                        <a:lumMod val="20000"/>
                        <a:lumOff val="80000"/>
                      </a:schemeClr>
                    </a:solidFill>
                  </a:tcPr>
                </a:tc>
                <a:tc>
                  <a:txBody>
                    <a:bodyPr/>
                    <a:lstStyle/>
                    <a:p>
                      <a:pPr>
                        <a:buNone/>
                      </a:pPr>
                      <a:r>
                        <a:rPr lang="en-US" sz="1400" dirty="0"/>
                        <a:t>Actor-critic</a:t>
                      </a:r>
                    </a:p>
                  </a:txBody>
                  <a:tcPr marL="33194" marR="33194" marT="16597" marB="16597" anchor="ctr">
                    <a:solidFill>
                      <a:schemeClr val="accent2">
                        <a:lumMod val="20000"/>
                        <a:lumOff val="80000"/>
                      </a:schemeClr>
                    </a:solidFill>
                  </a:tcPr>
                </a:tc>
                <a:tc>
                  <a:txBody>
                    <a:bodyPr/>
                    <a:lstStyle/>
                    <a:p>
                      <a:pPr>
                        <a:buNone/>
                      </a:pPr>
                      <a:r>
                        <a:rPr lang="en-US" sz="1400"/>
                        <a:t>Off-policy</a:t>
                      </a:r>
                    </a:p>
                  </a:txBody>
                  <a:tcPr marL="33194" marR="33194" marT="16597" marB="16597" anchor="ctr">
                    <a:solidFill>
                      <a:schemeClr val="accent2">
                        <a:lumMod val="20000"/>
                        <a:lumOff val="80000"/>
                      </a:schemeClr>
                    </a:solidFill>
                  </a:tcPr>
                </a:tc>
                <a:tc>
                  <a:txBody>
                    <a:bodyPr/>
                    <a:lstStyle/>
                    <a:p>
                      <a:pPr>
                        <a:buNone/>
                      </a:pPr>
                      <a:r>
                        <a:rPr lang="en-US" sz="1400"/>
                        <a:t>Continuous</a:t>
                      </a:r>
                    </a:p>
                  </a:txBody>
                  <a:tcPr marL="33194" marR="33194" marT="16597" marB="16597" anchor="ctr">
                    <a:solidFill>
                      <a:schemeClr val="accent2">
                        <a:lumMod val="20000"/>
                        <a:lumOff val="80000"/>
                      </a:schemeClr>
                    </a:solidFill>
                  </a:tcPr>
                </a:tc>
                <a:tc>
                  <a:txBody>
                    <a:bodyPr/>
                    <a:lstStyle/>
                    <a:p>
                      <a:pPr>
                        <a:buNone/>
                      </a:pPr>
                      <a:r>
                        <a:rPr lang="en-US" sz="1400"/>
                        <a:t>Twin critics + delayed updates</a:t>
                      </a:r>
                    </a:p>
                  </a:txBody>
                  <a:tcPr marL="33194" marR="33194" marT="16597" marB="16597" anchor="ctr">
                    <a:solidFill>
                      <a:schemeClr val="accent2">
                        <a:lumMod val="20000"/>
                        <a:lumOff val="80000"/>
                      </a:schemeClr>
                    </a:solidFill>
                  </a:tcPr>
                </a:tc>
                <a:tc>
                  <a:txBody>
                    <a:bodyPr/>
                    <a:lstStyle/>
                    <a:p>
                      <a:pPr>
                        <a:buNone/>
                      </a:pPr>
                      <a:r>
                        <a:rPr lang="en-US" sz="1400" dirty="0"/>
                        <a:t>More stable than DDPG</a:t>
                      </a:r>
                    </a:p>
                  </a:txBody>
                  <a:tcPr marL="33194" marR="33194" marT="16597" marB="16597" anchor="ctr">
                    <a:solidFill>
                      <a:schemeClr val="accent2">
                        <a:lumMod val="20000"/>
                        <a:lumOff val="80000"/>
                      </a:schemeClr>
                    </a:solidFill>
                  </a:tcPr>
                </a:tc>
                <a:tc>
                  <a:txBody>
                    <a:bodyPr/>
                    <a:lstStyle/>
                    <a:p>
                      <a:pPr>
                        <a:buNone/>
                      </a:pPr>
                      <a:r>
                        <a:rPr lang="en-US" sz="1400" dirty="0"/>
                        <a:t>Still sensitive</a:t>
                      </a:r>
                    </a:p>
                  </a:txBody>
                  <a:tcPr marL="33194" marR="33194" marT="16597" marB="16597" anchor="ctr">
                    <a:solidFill>
                      <a:schemeClr val="accent2">
                        <a:lumMod val="20000"/>
                        <a:lumOff val="80000"/>
                      </a:schemeClr>
                    </a:solidFill>
                  </a:tcPr>
                </a:tc>
                <a:extLst>
                  <a:ext uri="{0D108BD9-81ED-4DB2-BD59-A6C34878D82A}">
                    <a16:rowId xmlns:a16="http://schemas.microsoft.com/office/drawing/2014/main" val="323529619"/>
                  </a:ext>
                </a:extLst>
              </a:tr>
              <a:tr h="331942">
                <a:tc>
                  <a:txBody>
                    <a:bodyPr/>
                    <a:lstStyle/>
                    <a:p>
                      <a:pPr>
                        <a:buNone/>
                      </a:pPr>
                      <a:r>
                        <a:rPr lang="en-US" sz="1400" b="1"/>
                        <a:t>SAC</a:t>
                      </a:r>
                      <a:r>
                        <a:rPr lang="en-US" sz="1400"/>
                        <a:t> ⭐</a:t>
                      </a:r>
                    </a:p>
                  </a:txBody>
                  <a:tcPr marL="33194" marR="33194" marT="16597" marB="16597" anchor="ctr">
                    <a:solidFill>
                      <a:schemeClr val="accent2">
                        <a:lumMod val="20000"/>
                        <a:lumOff val="80000"/>
                      </a:schemeClr>
                    </a:solidFill>
                  </a:tcPr>
                </a:tc>
                <a:tc>
                  <a:txBody>
                    <a:bodyPr/>
                    <a:lstStyle/>
                    <a:p>
                      <a:pPr>
                        <a:buNone/>
                      </a:pPr>
                      <a:r>
                        <a:rPr lang="en-US" sz="1400" dirty="0"/>
                        <a:t>Actor-critic</a:t>
                      </a:r>
                    </a:p>
                  </a:txBody>
                  <a:tcPr marL="33194" marR="33194" marT="16597" marB="16597" anchor="ctr">
                    <a:solidFill>
                      <a:schemeClr val="accent2">
                        <a:lumMod val="20000"/>
                        <a:lumOff val="80000"/>
                      </a:schemeClr>
                    </a:solidFill>
                  </a:tcPr>
                </a:tc>
                <a:tc>
                  <a:txBody>
                    <a:bodyPr/>
                    <a:lstStyle/>
                    <a:p>
                      <a:pPr>
                        <a:buNone/>
                      </a:pPr>
                      <a:r>
                        <a:rPr lang="en-US" sz="1400"/>
                        <a:t>Off-policy</a:t>
                      </a:r>
                    </a:p>
                  </a:txBody>
                  <a:tcPr marL="33194" marR="33194" marT="16597" marB="16597" anchor="ctr">
                    <a:solidFill>
                      <a:schemeClr val="accent2">
                        <a:lumMod val="20000"/>
                        <a:lumOff val="80000"/>
                      </a:schemeClr>
                    </a:solidFill>
                  </a:tcPr>
                </a:tc>
                <a:tc>
                  <a:txBody>
                    <a:bodyPr/>
                    <a:lstStyle/>
                    <a:p>
                      <a:pPr>
                        <a:buNone/>
                      </a:pPr>
                      <a:r>
                        <a:rPr lang="en-US" sz="1400"/>
                        <a:t>Continuous</a:t>
                      </a:r>
                    </a:p>
                  </a:txBody>
                  <a:tcPr marL="33194" marR="33194" marT="16597" marB="16597" anchor="ctr">
                    <a:solidFill>
                      <a:schemeClr val="accent2">
                        <a:lumMod val="20000"/>
                        <a:lumOff val="80000"/>
                      </a:schemeClr>
                    </a:solidFill>
                  </a:tcPr>
                </a:tc>
                <a:tc>
                  <a:txBody>
                    <a:bodyPr/>
                    <a:lstStyle/>
                    <a:p>
                      <a:pPr>
                        <a:buNone/>
                      </a:pPr>
                      <a:r>
                        <a:rPr lang="en-US" sz="1400" dirty="0"/>
                        <a:t>Max entropy RL + twin critics</a:t>
                      </a:r>
                    </a:p>
                  </a:txBody>
                  <a:tcPr marL="33194" marR="33194" marT="16597" marB="16597" anchor="ctr">
                    <a:solidFill>
                      <a:schemeClr val="accent2">
                        <a:lumMod val="20000"/>
                        <a:lumOff val="80000"/>
                      </a:schemeClr>
                    </a:solidFill>
                  </a:tcPr>
                </a:tc>
                <a:tc>
                  <a:txBody>
                    <a:bodyPr/>
                    <a:lstStyle/>
                    <a:p>
                      <a:pPr>
                        <a:buNone/>
                      </a:pPr>
                      <a:r>
                        <a:rPr lang="en-US" sz="1400" dirty="0"/>
                        <a:t>Very stable, sample efficient</a:t>
                      </a:r>
                    </a:p>
                  </a:txBody>
                  <a:tcPr marL="33194" marR="33194" marT="16597" marB="16597" anchor="ctr">
                    <a:solidFill>
                      <a:schemeClr val="accent2">
                        <a:lumMod val="20000"/>
                        <a:lumOff val="80000"/>
                      </a:schemeClr>
                    </a:solidFill>
                  </a:tcPr>
                </a:tc>
                <a:tc>
                  <a:txBody>
                    <a:bodyPr/>
                    <a:lstStyle/>
                    <a:p>
                      <a:pPr>
                        <a:buNone/>
                      </a:pPr>
                      <a:r>
                        <a:rPr lang="en-US" sz="1400" dirty="0"/>
                        <a:t>More computation</a:t>
                      </a:r>
                    </a:p>
                  </a:txBody>
                  <a:tcPr marL="33194" marR="33194" marT="16597" marB="16597" anchor="ctr">
                    <a:solidFill>
                      <a:schemeClr val="accent2">
                        <a:lumMod val="20000"/>
                        <a:lumOff val="80000"/>
                      </a:schemeClr>
                    </a:solidFill>
                  </a:tcPr>
                </a:tc>
                <a:extLst>
                  <a:ext uri="{0D108BD9-81ED-4DB2-BD59-A6C34878D82A}">
                    <a16:rowId xmlns:a16="http://schemas.microsoft.com/office/drawing/2014/main" val="182183431"/>
                  </a:ext>
                </a:extLst>
              </a:tr>
            </a:tbl>
          </a:graphicData>
        </a:graphic>
      </p:graphicFrame>
      <p:sp>
        <p:nvSpPr>
          <p:cNvPr id="5" name="TextBox 4">
            <a:extLst>
              <a:ext uri="{FF2B5EF4-FFF2-40B4-BE49-F238E27FC236}">
                <a16:creationId xmlns:a16="http://schemas.microsoft.com/office/drawing/2014/main" id="{F1F15405-A2F4-915F-31AB-A41334653CB9}"/>
              </a:ext>
            </a:extLst>
          </p:cNvPr>
          <p:cNvSpPr txBox="1"/>
          <p:nvPr/>
        </p:nvSpPr>
        <p:spPr>
          <a:xfrm>
            <a:off x="767817" y="6269096"/>
            <a:ext cx="2463994" cy="307777"/>
          </a:xfrm>
          <a:prstGeom prst="rect">
            <a:avLst/>
          </a:prstGeom>
          <a:noFill/>
        </p:spPr>
        <p:txBody>
          <a:bodyPr wrap="square" rtlCol="0">
            <a:spAutoFit/>
          </a:bodyPr>
          <a:lstStyle/>
          <a:p>
            <a:r>
              <a:rPr lang="en-US" sz="1400" dirty="0"/>
              <a:t>⭐= most popular</a:t>
            </a:r>
          </a:p>
        </p:txBody>
      </p:sp>
    </p:spTree>
    <p:extLst>
      <p:ext uri="{BB962C8B-B14F-4D97-AF65-F5344CB8AC3E}">
        <p14:creationId xmlns:p14="http://schemas.microsoft.com/office/powerpoint/2010/main" val="38588936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CC296-95F9-268D-AD36-6457783AACD1}"/>
              </a:ext>
            </a:extLst>
          </p:cNvPr>
          <p:cNvSpPr>
            <a:spLocks noGrp="1"/>
          </p:cNvSpPr>
          <p:nvPr>
            <p:ph type="title"/>
          </p:nvPr>
        </p:nvSpPr>
        <p:spPr/>
        <p:txBody>
          <a:bodyPr/>
          <a:lstStyle/>
          <a:p>
            <a:r>
              <a:rPr lang="en-US" dirty="0"/>
              <a:t>Method Used in DRL</a:t>
            </a:r>
          </a:p>
        </p:txBody>
      </p:sp>
      <mc:AlternateContent xmlns:mc="http://schemas.openxmlformats.org/markup-compatibility/2006" xmlns:a14="http://schemas.microsoft.com/office/drawing/2010/main">
        <mc:Choice Requires="a14">
          <p:sp>
            <p:nvSpPr>
              <p:cNvPr id="3" name="Content Placeholder 2" descr="Policy Gradients (REINFORCE and all actor-critic methods). Natural Policy Gradients (TRPO, PPO). Actor–Critic Framework (A2C, PPO, SAC, TD3, DDPG). Stochastic policies (PPO, SAC). Advantage estimation to reduce variance (PPO, A2C, TRPO). Target Networks to stabilize training (DQN, DDPG, TD3, SAC). Experience Replay for off-policy methods to improve sample efficiency and use hardware efficiently (DQN, DDPG, TD3, SAC). Entropy Regularization to prevent premature convergence of policy (SAC and sometimes in PPO). New approaches use model learning to learn environment dynamics (p) (Dreamer, MuZero)">
                <a:extLst>
                  <a:ext uri="{FF2B5EF4-FFF2-40B4-BE49-F238E27FC236}">
                    <a16:creationId xmlns:a16="http://schemas.microsoft.com/office/drawing/2014/main" id="{28B54EF6-63A5-29FF-447E-7EA86305CE3C}"/>
                  </a:ext>
                </a:extLst>
              </p:cNvPr>
              <p:cNvSpPr>
                <a:spLocks noGrp="1"/>
              </p:cNvSpPr>
              <p:nvPr>
                <p:ph idx="1"/>
              </p:nvPr>
            </p:nvSpPr>
            <p:spPr/>
            <p:txBody>
              <a:bodyPr>
                <a:normAutofit fontScale="92500" lnSpcReduction="20000"/>
              </a:bodyPr>
              <a:lstStyle/>
              <a:p>
                <a:r>
                  <a:rPr lang="en-US" b="1" dirty="0"/>
                  <a:t>Policy Gradients </a:t>
                </a:r>
                <a:r>
                  <a:rPr lang="en-US" dirty="0">
                    <a:solidFill>
                      <a:schemeClr val="bg2">
                        <a:lumMod val="50000"/>
                      </a:schemeClr>
                    </a:solidFill>
                  </a:rPr>
                  <a:t>(REINFORCE and all actor-critic methods)</a:t>
                </a:r>
              </a:p>
              <a:p>
                <a:r>
                  <a:rPr lang="en-US" b="1" dirty="0"/>
                  <a:t>Natural Policy Gradients </a:t>
                </a:r>
                <a:r>
                  <a:rPr lang="en-US" dirty="0">
                    <a:solidFill>
                      <a:schemeClr val="bg2">
                        <a:lumMod val="50000"/>
                      </a:schemeClr>
                    </a:solidFill>
                  </a:rPr>
                  <a:t>(TRPO, PPO)</a:t>
                </a:r>
                <a:endParaRPr lang="en-US" b="1" dirty="0"/>
              </a:p>
              <a:p>
                <a:r>
                  <a:rPr lang="en-US" b="1" dirty="0"/>
                  <a:t>Actor–Critic Framework </a:t>
                </a:r>
                <a:r>
                  <a:rPr lang="en-US" dirty="0">
                    <a:solidFill>
                      <a:schemeClr val="bg2">
                        <a:lumMod val="50000"/>
                      </a:schemeClr>
                    </a:solidFill>
                  </a:rPr>
                  <a:t>(</a:t>
                </a:r>
                <a:r>
                  <a:rPr lang="it-IT" dirty="0">
                    <a:solidFill>
                      <a:schemeClr val="bg2">
                        <a:lumMod val="50000"/>
                      </a:schemeClr>
                    </a:solidFill>
                  </a:rPr>
                  <a:t>A2C, PPO, SAC, TD3, DDPG</a:t>
                </a:r>
                <a:r>
                  <a:rPr lang="en-US" dirty="0">
                    <a:solidFill>
                      <a:schemeClr val="bg2">
                        <a:lumMod val="50000"/>
                      </a:schemeClr>
                    </a:solidFill>
                  </a:rPr>
                  <a:t>)</a:t>
                </a:r>
              </a:p>
              <a:p>
                <a:r>
                  <a:rPr lang="en-US" b="1" dirty="0"/>
                  <a:t>Stochastic policies </a:t>
                </a:r>
                <a:r>
                  <a:rPr lang="en-US" dirty="0">
                    <a:solidFill>
                      <a:schemeClr val="bg2">
                        <a:lumMod val="50000"/>
                      </a:schemeClr>
                    </a:solidFill>
                  </a:rPr>
                  <a:t>(PPO, SAC)</a:t>
                </a:r>
              </a:p>
              <a:p>
                <a:r>
                  <a:rPr lang="en-US" b="1" dirty="0"/>
                  <a:t>Advantage </a:t>
                </a:r>
                <a:r>
                  <a:rPr lang="en-US" dirty="0"/>
                  <a:t>estimation to reduce variance </a:t>
                </a:r>
                <a:r>
                  <a:rPr lang="en-US" dirty="0">
                    <a:solidFill>
                      <a:schemeClr val="bg2">
                        <a:lumMod val="50000"/>
                      </a:schemeClr>
                    </a:solidFill>
                  </a:rPr>
                  <a:t>(PPO, A2C, TRPO)</a:t>
                </a:r>
              </a:p>
              <a:p>
                <a:r>
                  <a:rPr lang="en-US" b="1" dirty="0"/>
                  <a:t>Target Networks</a:t>
                </a:r>
                <a:r>
                  <a:rPr lang="en-US" dirty="0"/>
                  <a:t> to stabilize training </a:t>
                </a:r>
                <a:r>
                  <a:rPr lang="en-US" dirty="0">
                    <a:solidFill>
                      <a:schemeClr val="bg2">
                        <a:lumMod val="50000"/>
                      </a:schemeClr>
                    </a:solidFill>
                  </a:rPr>
                  <a:t>(DQN, DDPG, TD3, SAC)</a:t>
                </a:r>
              </a:p>
              <a:p>
                <a:r>
                  <a:rPr lang="en-US" b="1" dirty="0"/>
                  <a:t>Experience Replay </a:t>
                </a:r>
                <a:r>
                  <a:rPr lang="en-US" dirty="0"/>
                  <a:t>for off-policy methods to improve sample efficiency and use hardware efficiently </a:t>
                </a:r>
                <a:r>
                  <a:rPr lang="en-US" dirty="0">
                    <a:solidFill>
                      <a:schemeClr val="bg2">
                        <a:lumMod val="50000"/>
                      </a:schemeClr>
                    </a:solidFill>
                  </a:rPr>
                  <a:t>(DQN, DDPG, TD3, SAC)</a:t>
                </a:r>
              </a:p>
              <a:p>
                <a:r>
                  <a:rPr lang="en-US" b="1" dirty="0"/>
                  <a:t>Entropy Regularization</a:t>
                </a:r>
                <a:r>
                  <a:rPr lang="en-US" dirty="0"/>
                  <a:t> to prevent premature convergence of policy </a:t>
                </a:r>
                <a:r>
                  <a:rPr lang="en-US" dirty="0">
                    <a:solidFill>
                      <a:schemeClr val="bg2">
                        <a:lumMod val="50000"/>
                      </a:schemeClr>
                    </a:solidFill>
                  </a:rPr>
                  <a:t>(SAC and sometimes in PPO)</a:t>
                </a:r>
              </a:p>
              <a:p>
                <a:r>
                  <a:rPr lang="en-US" dirty="0"/>
                  <a:t>New approaches use </a:t>
                </a:r>
                <a:r>
                  <a:rPr lang="en-US" b="1" dirty="0"/>
                  <a:t>model learning</a:t>
                </a:r>
                <a:r>
                  <a:rPr lang="en-US" dirty="0"/>
                  <a:t> to learn environment dynamics (</a:t>
                </a:r>
                <a14:m>
                  <m:oMath xmlns:m="http://schemas.openxmlformats.org/officeDocument/2006/math">
                    <m:r>
                      <a:rPr lang="en-US" b="0" i="1" smtClean="0">
                        <a:latin typeface="Cambria Math" panose="02040503050406030204" pitchFamily="18" charset="0"/>
                      </a:rPr>
                      <m:t>𝑝</m:t>
                    </m:r>
                  </m:oMath>
                </a14:m>
                <a:r>
                  <a:rPr lang="en-US" dirty="0"/>
                  <a:t>) </a:t>
                </a:r>
                <a:r>
                  <a:rPr lang="en-US" dirty="0">
                    <a:solidFill>
                      <a:schemeClr val="bg2">
                        <a:lumMod val="50000"/>
                      </a:schemeClr>
                    </a:solidFill>
                  </a:rPr>
                  <a:t>(Dreamer, </a:t>
                </a:r>
                <a:r>
                  <a:rPr lang="en-US" dirty="0" err="1">
                    <a:solidFill>
                      <a:schemeClr val="bg2">
                        <a:lumMod val="50000"/>
                      </a:schemeClr>
                    </a:solidFill>
                  </a:rPr>
                  <a:t>MuZero</a:t>
                </a:r>
                <a:r>
                  <a:rPr lang="en-US" dirty="0">
                    <a:solidFill>
                      <a:schemeClr val="bg2">
                        <a:lumMod val="50000"/>
                      </a:schemeClr>
                    </a:solidFill>
                  </a:rPr>
                  <a:t>)</a:t>
                </a:r>
              </a:p>
              <a:p>
                <a:endParaRPr lang="en-US" dirty="0"/>
              </a:p>
              <a:p>
                <a:endParaRPr lang="en-US" dirty="0"/>
              </a:p>
              <a:p>
                <a:endParaRPr lang="en-US" dirty="0"/>
              </a:p>
            </p:txBody>
          </p:sp>
        </mc:Choice>
        <mc:Fallback xmlns="">
          <p:sp>
            <p:nvSpPr>
              <p:cNvPr id="3" name="Content Placeholder 2" descr="Policy Gradients (REINFORCE and all actor-critic methods). Natural Policy Gradients (TRPO, PPO). Actor–Critic Framework (A2C, PPO, SAC, TD3, DDPG). Stochastic policies (PPO, SAC). Advantage estimation to reduce variance (PPO, A2C, TRPO). Target Networks to stabilize training (DQN, DDPG, TD3, SAC). Experience Replay for off-policy methods to improve sample efficiency and use hardware efficiently (DQN, DDPG, TD3, SAC). Entropy Regularization to prevent premature convergence of policy (SAC and sometimes in PPO). New approaches use model learning to learn environment dynamics (p) (Dreamer, MuZero)">
                <a:extLst>
                  <a:ext uri="{FF2B5EF4-FFF2-40B4-BE49-F238E27FC236}">
                    <a16:creationId xmlns:a16="http://schemas.microsoft.com/office/drawing/2014/main" id="{28B54EF6-63A5-29FF-447E-7EA86305CE3C}"/>
                  </a:ext>
                </a:extLst>
              </p:cNvPr>
              <p:cNvSpPr>
                <a:spLocks noGrp="1" noRot="1" noChangeAspect="1" noMove="1" noResize="1" noEditPoints="1" noAdjustHandles="1" noChangeArrowheads="1" noChangeShapeType="1" noTextEdit="1"/>
              </p:cNvSpPr>
              <p:nvPr>
                <p:ph idx="1"/>
              </p:nvPr>
            </p:nvSpPr>
            <p:spPr>
              <a:blipFill>
                <a:blip r:embed="rId2"/>
                <a:stretch>
                  <a:fillRect l="-928" t="-3189"/>
                </a:stretch>
              </a:blipFill>
            </p:spPr>
            <p:txBody>
              <a:bodyPr/>
              <a:lstStyle/>
              <a:p>
                <a:r>
                  <a:rPr lang="en-US">
                    <a:noFill/>
                  </a:rPr>
                  <a:t> </a:t>
                </a:r>
              </a:p>
            </p:txBody>
          </p:sp>
        </mc:Fallback>
      </mc:AlternateContent>
    </p:spTree>
    <p:extLst>
      <p:ext uri="{BB962C8B-B14F-4D97-AF65-F5344CB8AC3E}">
        <p14:creationId xmlns:p14="http://schemas.microsoft.com/office/powerpoint/2010/main" val="1045806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F91581C-5E33-FC9B-4089-A0868CD27CF8}"/>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882" b="-1"/>
          <a:stretch>
            <a:fillRect/>
          </a:stretch>
        </p:blipFill>
        <p:spPr bwMode="auto">
          <a:xfrm>
            <a:off x="6653875" y="15501"/>
            <a:ext cx="6965723" cy="563460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CA8B475-685F-94B8-3649-09843460B0BD}"/>
              </a:ext>
            </a:extLst>
          </p:cNvPr>
          <p:cNvSpPr>
            <a:spLocks noGrp="1"/>
          </p:cNvSpPr>
          <p:nvPr>
            <p:ph type="title"/>
          </p:nvPr>
        </p:nvSpPr>
        <p:spPr>
          <a:xfrm>
            <a:off x="590843" y="241099"/>
            <a:ext cx="5272038" cy="1097418"/>
          </a:xfrm>
        </p:spPr>
        <p:txBody>
          <a:bodyPr>
            <a:normAutofit/>
          </a:bodyPr>
          <a:lstStyle/>
          <a:p>
            <a:r>
              <a:rPr lang="en-US" sz="4000" dirty="0"/>
              <a:t>What you Should Know</a:t>
            </a:r>
          </a:p>
        </p:txBody>
      </p:sp>
      <p:sp>
        <p:nvSpPr>
          <p:cNvPr id="3" name="Content Placeholder 2">
            <a:extLst>
              <a:ext uri="{FF2B5EF4-FFF2-40B4-BE49-F238E27FC236}">
                <a16:creationId xmlns:a16="http://schemas.microsoft.com/office/drawing/2014/main" id="{49105FA9-2229-5639-DC01-FDD06BE28550}"/>
              </a:ext>
            </a:extLst>
          </p:cNvPr>
          <p:cNvSpPr>
            <a:spLocks noGrp="1"/>
          </p:cNvSpPr>
          <p:nvPr>
            <p:ph idx="1"/>
          </p:nvPr>
        </p:nvSpPr>
        <p:spPr>
          <a:xfrm>
            <a:off x="630942" y="1207898"/>
            <a:ext cx="7390263" cy="5261317"/>
          </a:xfrm>
        </p:spPr>
        <p:txBody>
          <a:bodyPr>
            <a:normAutofit fontScale="85000" lnSpcReduction="20000"/>
          </a:bodyPr>
          <a:lstStyle/>
          <a:p>
            <a:r>
              <a:rPr lang="en-US" sz="2000" dirty="0"/>
              <a:t>DRL uses neural networks for non-linear value function or policy approximation, resulting in:</a:t>
            </a:r>
          </a:p>
          <a:p>
            <a:pPr lvl="1"/>
            <a:r>
              <a:rPr lang="en-US" sz="1600" dirty="0"/>
              <a:t>more powerful for high-dimensional and continuous state and action spaces, and </a:t>
            </a:r>
          </a:p>
          <a:p>
            <a:pPr lvl="1"/>
            <a:r>
              <a:rPr lang="en-US" sz="1600" dirty="0"/>
              <a:t>does not need explicit state feature engineering.</a:t>
            </a:r>
          </a:p>
          <a:p>
            <a:pPr lvl="1"/>
            <a:r>
              <a:rPr lang="en-US" sz="1600" dirty="0"/>
              <a:t>However, most convergence guarantees are gone (for semi-gradient methods, for linear approximation, </a:t>
            </a:r>
            <a:r>
              <a:rPr lang="en-US" sz="1600" dirty="0" err="1"/>
              <a:t>etc</a:t>
            </a:r>
            <a:r>
              <a:rPr lang="en-US" sz="1600" dirty="0"/>
              <a:t>).</a:t>
            </a:r>
            <a:endParaRPr lang="en-US" sz="2000" dirty="0"/>
          </a:p>
          <a:p>
            <a:r>
              <a:rPr lang="en-US" sz="2000" dirty="0"/>
              <a:t>Instability from the “Deadly Triad” (e.g., in DQN)</a:t>
            </a:r>
          </a:p>
          <a:p>
            <a:pPr lvl="1"/>
            <a:r>
              <a:rPr lang="en-US" sz="1600" dirty="0"/>
              <a:t>Function approximation </a:t>
            </a:r>
          </a:p>
          <a:p>
            <a:pPr lvl="1"/>
            <a:r>
              <a:rPr lang="en-US" sz="1600" dirty="0"/>
              <a:t>Bootstrapping (moving targets using current estimates)</a:t>
            </a:r>
          </a:p>
          <a:p>
            <a:pPr lvl="1"/>
            <a:r>
              <a:rPr lang="en-US" sz="1600" dirty="0"/>
              <a:t>Off-policy learning (learning from data generated by a different policy)</a:t>
            </a:r>
          </a:p>
          <a:p>
            <a:r>
              <a:rPr lang="en-US" sz="2000" dirty="0"/>
              <a:t>Lead to</a:t>
            </a:r>
          </a:p>
          <a:p>
            <a:pPr lvl="1"/>
            <a:r>
              <a:rPr lang="en-US" sz="1600" dirty="0"/>
              <a:t>Non-linear approximation means that small errors can get amplified through bootstrapping</a:t>
            </a:r>
          </a:p>
          <a:p>
            <a:pPr lvl="1"/>
            <a:r>
              <a:rPr lang="en-US" sz="1600" dirty="0"/>
              <a:t>The network chases a moving target.</a:t>
            </a:r>
          </a:p>
          <a:p>
            <a:pPr lvl="1"/>
            <a:r>
              <a:rPr lang="en-US" sz="1600" dirty="0"/>
              <a:t>Training can diverge or oscillate wildly.</a:t>
            </a:r>
          </a:p>
          <a:p>
            <a:pPr lvl="1"/>
            <a:endParaRPr lang="en-US" sz="1600" dirty="0"/>
          </a:p>
          <a:p>
            <a:r>
              <a:rPr lang="en-US" sz="2000" dirty="0"/>
              <a:t>Many tricks are needed</a:t>
            </a:r>
          </a:p>
          <a:p>
            <a:pPr lvl="1"/>
            <a:r>
              <a:rPr lang="en-US" sz="1600" dirty="0"/>
              <a:t>Experience replay → decorrelate data, improve sample efficiency, requires off-policy learning</a:t>
            </a:r>
          </a:p>
          <a:p>
            <a:pPr lvl="1"/>
            <a:r>
              <a:rPr lang="en-US" sz="1600" dirty="0"/>
              <a:t>DQN uses slower-moving target networks → reduce instability due to moving targets</a:t>
            </a:r>
          </a:p>
          <a:p>
            <a:pPr lvl="1"/>
            <a:r>
              <a:rPr lang="en-US" sz="1600" dirty="0"/>
              <a:t>Double DQN → decouple next action selection and q-value estimation to reduce overestimation bias</a:t>
            </a:r>
          </a:p>
          <a:p>
            <a:pPr lvl="1"/>
            <a:r>
              <a:rPr lang="en-US" sz="1600" dirty="0"/>
              <a:t>Advantage normalization → reduce variance</a:t>
            </a:r>
          </a:p>
          <a:p>
            <a:pPr lvl="1"/>
            <a:r>
              <a:rPr lang="en-US" sz="1600" dirty="0"/>
              <a:t>Natural policy gradients → improve stability</a:t>
            </a:r>
          </a:p>
        </p:txBody>
      </p:sp>
    </p:spTree>
    <p:extLst>
      <p:ext uri="{BB962C8B-B14F-4D97-AF65-F5344CB8AC3E}">
        <p14:creationId xmlns:p14="http://schemas.microsoft.com/office/powerpoint/2010/main" val="3790620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5" end="15"/>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28726</TotalTime>
  <Words>4502</Words>
  <Application>Microsoft Macintosh PowerPoint</Application>
  <PresentationFormat>Widescreen</PresentationFormat>
  <Paragraphs>618</Paragraphs>
  <Slides>36</Slides>
  <Notes>1</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Aptos</vt:lpstr>
      <vt:lpstr>Aptos Display</vt:lpstr>
      <vt:lpstr>Arial</vt:lpstr>
      <vt:lpstr>Calibri</vt:lpstr>
      <vt:lpstr>Cambria Math</vt:lpstr>
      <vt:lpstr>Office Theme</vt:lpstr>
      <vt:lpstr>Reinforcement Learning  Deep Reinforcement Learning Based on An Introduction to Deep Reinforcement Learning**  + Sutton/Barto* Sections 9.7 and 15.7</vt:lpstr>
      <vt:lpstr>Topics of this Course</vt:lpstr>
      <vt:lpstr>Summary of Notation*</vt:lpstr>
      <vt:lpstr>From Tabular RL to Deep RL</vt:lpstr>
      <vt:lpstr>Disclaimer: Convergence</vt:lpstr>
      <vt:lpstr>Value-based DRL Methods</vt:lpstr>
      <vt:lpstr>Remember: Value Functions</vt:lpstr>
      <vt:lpstr>Remember: Tabular Q-Learning</vt:lpstr>
      <vt:lpstr>Alg. Tabular Q-Learning</vt:lpstr>
      <vt:lpstr>Fitted Q-Learning</vt:lpstr>
      <vt:lpstr>Reminder: Artificial Neural Networks</vt:lpstr>
      <vt:lpstr>Neural fitted Q-learning (NFQ; Riedmiller, 2005)</vt:lpstr>
      <vt:lpstr>Deep Q-Network (DQN; Minh et al, 2015)</vt:lpstr>
      <vt:lpstr>DQN is Not a Truly   Online Algorithm</vt:lpstr>
      <vt:lpstr>Double DQN (DDQN; Van Hasselt, 2016) </vt:lpstr>
      <vt:lpstr>Advantage Function</vt:lpstr>
      <vt:lpstr>Dueling Network Architecture (Wang, 2015)</vt:lpstr>
      <vt:lpstr>n-step Methods in DQN-type Algorithms</vt:lpstr>
      <vt:lpstr>Policy Gradient DRL Methods</vt:lpstr>
      <vt:lpstr>Remember: Policy Gradient Theorem</vt:lpstr>
      <vt:lpstr>Policy Network</vt:lpstr>
      <vt:lpstr>REINFORCE With Policy Network</vt:lpstr>
      <vt:lpstr>Stochastic Policy Gradient</vt:lpstr>
      <vt:lpstr>Policy Gradient</vt:lpstr>
      <vt:lpstr>Remember: The Policy Gradient Update Signal</vt:lpstr>
      <vt:lpstr>Neural Actor-Critic Method</vt:lpstr>
      <vt:lpstr>Neural Actor-Critic Method: One-Step Algorithm</vt:lpstr>
      <vt:lpstr>Advantage Actor Critic: A2C</vt:lpstr>
      <vt:lpstr>Natural Policy Gradients (NPG)</vt:lpstr>
      <vt:lpstr>Trust Region Policy Optimization  (TRPO; Schulman et al, 2015)</vt:lpstr>
      <vt:lpstr>Proximal Policy Optimization  (PPO; Schulman et al, 2017)</vt:lpstr>
      <vt:lpstr>PPO Algorithm</vt:lpstr>
      <vt:lpstr>Soft Actor-Critic (SAC)</vt:lpstr>
      <vt:lpstr>Comparison of Popular DRL Methods</vt:lpstr>
      <vt:lpstr>Method Used in DRL</vt:lpstr>
      <vt:lpstr>What you Should Know</vt:lpstr>
    </vt:vector>
  </TitlesOfParts>
  <Company>Southern Methodist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Hahsler, Michael</dc:creator>
  <cp:lastModifiedBy>Munoth, Prerna</cp:lastModifiedBy>
  <cp:revision>319</cp:revision>
  <dcterms:created xsi:type="dcterms:W3CDTF">2025-09-08T14:44:49Z</dcterms:created>
  <dcterms:modified xsi:type="dcterms:W3CDTF">2026-10-15T22:57:40Z</dcterms:modified>
</cp:coreProperties>
</file>